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Talabalarga hayot va o‘lim bog‘liqligini eslatib, ma’ruza rejasini qisqacha tanishtiring. Bu bo‘limlar darslikning 8.1-8.13 bo‘limlariga mos keladi.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Atamaning kelib chiqishini doskada yozib ko‘rsating: thanatos + logos. Atamani Mechnikov kiritganini alohida ta’kidlang.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Umumiy, xususiy va sud-tibbiy tanatologiyani farqlashga e’tibor bering. Sud-tibbiy tanatologiyaning amaliy maqsadi huquqni muhofaza etuvchi idoralar savollariga javob berish ekanini ayting.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Avval bosqichlar ketma-ketligini sxema bo‘yicha ayting. Keyingi ikki slaydda dastlabki uch bosqich batafsil ko‘riladi.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Talabalar ikki bosqichni davomiyligi bo‘yicha taqqoslasin: preagoniya daqiqalardan kunlargacha, terminal pauza soniyalardan 3-4 daqiqagacha.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Agoniyadagi nafas va pulsning tiklanishi sog‘ayish alomati emasligini ta’kidlang. Facies hippocratica belgilarini talabalar o‘zlari sanab bersin.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5-6 daqiqa muddatining sababini (po‘stloqdagi qaytmas o‘zgarishlar) alohida ta’kidlang. Klinik va biologik o‘lim farqini «qaytish mumkinmi?» savoli orqali tushuntiring.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Talabalardan har bir tipga misol keltirishni so‘rang. Jadvalni doskada talabalar bilan birga to‘ldirish mumkin.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Avval atamaning kelib chiqishi va asl ma’nosini aytib, keyingi slaydlarda turlariga o‘ting. Bu slaydda faqat tushuncha va tarixini beramiz.</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Bevosita va bilvosita turlarni farqlashda asosiy mezon o‘limni tezlashtirish maqsadi borligini ta’kidlang. Huquqiy bahoni misol bilan tushuntiring.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To‘rt turni jadval bilan solishtiring. Tor ma’nodagi tushuncha faqat aktiv va passiv turlarni o‘z ichiga olishini alohida ta’kidlang.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uchun avval aynan po‘stloq zarar ko‘rishini filogenetik yosh bilan bog‘lab tushuntiring. 20 soatlik oraliq davr transplantatsiya uchun muhimligini ta’kidlang.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Miya o‘limi bilan vegetativ holat farqiga e’tibor qarating. Transplantatsiya uchun a’zoni erta olish muhimligini ta’kidlang.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 belgilar yagona o‘zi bilan o‘limni isbotlamasligini, shuning uchun ularni "ehtimoliy" deb atashini tushuntiring.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Beloglazov simptomini amaliy ko‘rsating va uning vaqt chegarasini ta’kidlang. Ishonchli belgilar ehtimoliy belgilardan keyin paydo bo‘lishini eslating.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Jadvalni doskada chizib, talabalardan har bir qatorga misol keltirishni so‘rang. Nozo‘raki o‘limda xil ajratilmasligini alohida ta’kidlang.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Ekspert tibbiy tomonni (toifa, tur), huquqni muhofaza organlari esa qasd bilan bog‘liq huquqiy tomonni (xil) hal qilishini farqlang.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oraliqlarini ketma-ketlikda eslatib o‘ting: 1-2 soat – qisqarish, 10 soatgacha – o‘sma, 10-11 soat – chuqurcha. Amaliy mashg‘ulotda ko‘rsatish mumkin.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Talabalarga muddatlarni yodlash shart emasligini, asosiy g‘oya reaksiya vaqt o‘tishi bilan susayishi va o‘lim muddatini aniqlashda qo‘llanishini ta’kidlang. Atropin va pilokarpin ta’sirini qarama-qarshi juftlik sifatida eslatib o‘ting.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Sxemani doskada chizib, har bir guruhga talabalardan misol aytishni so‘rang. Sun’iy o‘zgarishlar o‘lim muddatini aniqlashda ishlatilmasligini alohida ta’kidlang.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Sovush o‘lim muddatini aniqlashda eng ko‘p ishlatiladigan belgilardan biri ekanini eslating. Tenglashish muddatlari (16, 19, 25 soat) xona sharoiti uchun ekanini va tashqi omillar ularni o‘zgartirishini ta’kidlang.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Qurishning sovush bilan bog'liqligini va soch, soqol, timoqlar o'sganligi haqidagi soxta tasavvurni (terining tortilishi sababli) eslatib o'ting (kitob, 225-bet). Pergament dog'ini shilinmadan farqlashning sodda usulini talabalarga amalda ko'rsating.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Mexanizmning to'liq ochilmaganini ta'kidlang va AUF zanjirini (parchalanish - qisqarish, resintez - bo'shashish) doskada chizib tushuntiring.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Jadvaldagi muddatlarni dinamika sifatida o'rgating, qotishning buzilishini murda holati o'zgartirilganini aniqlash bilan bog'lang. Kataleptik qotishni oddiy qotishdan keskin farqlang.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Omillarni “sust” va “tez” guruhlarga bo‘lib doskada yozing. Talabalardan sportchi va keksa murdani solishtirishni so‘rang.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Jadvalni “bosish sinovi” bilan bog‘lang: bosqich o‘tgan sari dog‘ barqarorroq bo‘ladi. Bu holat murda holati o‘zgartirilganligini aniqlashda foydali.</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Dog‘lar rangini o‘lim sababi bilan bog‘lab, zaharlanishni taxmin qilish mumkinligini ta’kidlang. Qontalash bilan farqini kesma misolida tushuntiring.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Autolizni chirishdan farqlang: autolizda asosiy rolni o'z fermentlari o'ynaydi, mikroorganizmlar emas. Talabalarga oshqozon shilliq qavatidagi autolitik o'zgarishni zaharlanish bilan adashtirish xavfini ta'kidlang.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Kasper indeksini (1:2:8) tartib bilan eslatib turing: havo, suv, yer. Chaqaloq murdasi o'z mikroflorasiga ega bo'lmagani uchun sekin chirishini alohida ayting.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Belgilarni vaqt ketma-ketligida (1-kun hid, 2-kun yashil, 3-4-kun venoz to'r, 4-6-kun pufaklar) aytib bering. Uch tipni asosiy kasallik bilan bog'lab o'rgating: sepsis, shishlar bilan kechadigan kasalliklar va kaxeksiya.</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Hasharotlar (entomofauna) o‘lim muddatini aniqlashda ahamiyatli ekanini, hayvon, qush va baliq ta’sirida esa bunday imkon yo‘qligini talabalarga taqqoslab ko‘rsating.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Jadvalni uch xil sharoit (quruq-issiq, nam-sovuq, torfli botqoq) bo‘yicha solishtirib tushuntiring. Darslikda torfli oshlash uchun aniq muddat berilmaganini aytib o‘ting.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Defenziv va offenziv qismlashning maqsadini farqlashga e’tibor qarating. Sun’iy o‘zgarishlar o‘lim muddatini baholashga asos bo‘lmasligini ta’kidlang.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Talabalarga bitta usulga tayanib bo‘lmasligini va vaqt o‘tishi bilan xatolik oralig‘i kengayishini ta’kidlang. Jadval va formulalarni qisqacha ko‘rsating, yodlatish shart emas.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Sxema bo‘yicha bosqichlar ketma-ketligini so‘rang. Xulosaning uch qismini va kim imzolashini alohida takrorlang.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Jadvaldagi misollar bo‘yicha talabalarga o‘zlari uzoq, oraliq va yaqin sababni ajratib ko‘rsatishni topshiring. Raqobatning huquqiy ahamiyatini va klinitsistlar uchun qadrini eslatib o‘ting.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Barcha holatlarda asosiy maqsad shaxsni aniqlash ekanini ta’kidlang. Eksgumatsiyaning qonuniy, tasodifiy va jinoiy turlarini ham eslatib o‘ting.</a:t>
            </a:r>
          </a:p>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Jadvalni talabalar bilan qatorma-qator solishtiring. Sud-tibbiy ekspertizaning protsessual xususiyatini alohida urg‘ulang.</a:t>
            </a:r>
          </a:p>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Asosiy tushunchalarni qisqa takrorlang va talabalarga savol bering. Amaliy ahamiyatga e’tibor qarating: murda ekspertizasi, shaxsni aniqlash va o‘lim sababini to‘g‘ri baholash.</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94560"/>
            <a:ext cx="10698480" cy="1828800"/>
          </a:xfrm>
          <a:prstGeom prst="rect">
            <a:avLst/>
          </a:prstGeom>
          <a:noFill/>
        </p:spPr>
        <p:txBody>
          <a:bodyPr wrap="square">
            <a:spAutoFit/>
          </a:bodyPr>
          <a:lstStyle/>
          <a:p>
            <a:r>
              <a:rPr sz="3800" b="1">
                <a:solidFill>
                  <a:srgbClr val="FFFFFF"/>
                </a:solidFill>
                <a:latin typeface="Georgia"/>
              </a:rPr>
              <a:t>№1. Ma’ruza: Sud-tibbiy tanatologiya.</a:t>
            </a:r>
          </a:p>
        </p:txBody>
      </p:sp>
      <p:sp>
        <p:nvSpPr>
          <p:cNvPr id="4" name="Rectangle 3"/>
          <p:cNvSpPr/>
          <p:nvPr/>
        </p:nvSpPr>
        <p:spPr>
          <a:xfrm>
            <a:off x="731520" y="4114800"/>
            <a:ext cx="2286000" cy="64008"/>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0B1F3A"/>
                </a:solidFill>
                <a:latin typeface="Georgia"/>
              </a:rPr>
              <a:t>Mavzuning dolzarbligi va ma’ruza rejasi</a:t>
            </a:r>
          </a:p>
        </p:txBody>
      </p:sp>
      <p:sp>
        <p:nvSpPr>
          <p:cNvPr id="3" name="Rectangle 2"/>
          <p:cNvSpPr/>
          <p:nvPr/>
        </p:nvSpPr>
        <p:spPr>
          <a:xfrm>
            <a:off x="548640" y="1234440"/>
            <a:ext cx="164592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508760"/>
            <a:ext cx="11064240" cy="4297680"/>
          </a:xfrm>
          <a:prstGeom prst="rect">
            <a:avLst/>
          </a:prstGeom>
          <a:noFill/>
        </p:spPr>
        <p:txBody>
          <a:bodyPr wrap="square">
            <a:spAutoFit/>
          </a:bodyPr>
          <a:lstStyle/>
          <a:p>
            <a:pPr>
              <a:spcAft>
                <a:spcPts val="800"/>
              </a:spcAft>
            </a:pPr>
            <a:r>
              <a:rPr sz="1800" b="0">
                <a:solidFill>
                  <a:srgbClr val="222222"/>
                </a:solidFill>
                <a:latin typeface="Calibri"/>
              </a:rPr>
              <a:t/>
            </a:r>
            <a:r>
              <a:rPr sz="1800">
                <a:solidFill>
                  <a:srgbClr val="222222"/>
                </a:solidFill>
                <a:latin typeface="Calibri"/>
              </a:rPr>
              <a:t>• “Hayot va o‘lim” tushunchalari uzviy bog‘liq: o‘lim hayotning mantiqiy yakunidir. O‘limsiz hayot bo‘lmagani kabi, hayotsiz o‘lim ham bo‘lmaydi.</a:t>
            </a:r>
          </a:p>
          <a:p>
            <a:pPr>
              <a:spcAft>
                <a:spcPts val="800"/>
              </a:spcAft>
            </a:pPr>
            <a:r>
              <a:rPr sz="1800">
                <a:solidFill>
                  <a:srgbClr val="222222"/>
                </a:solidFill>
                <a:latin typeface="Calibri"/>
              </a:rPr>
              <a:t>• Sud-tibbiy tanatologiya o‘lim bilan bog‘liq masalalarni surishtiruv, tergov va sud idoralari faoliyatida vujudga keladigan savollarni hal etish uchun o‘rganadi.</a:t>
            </a:r>
          </a:p>
          <a:p>
            <a:pPr>
              <a:spcAft>
                <a:spcPts val="800"/>
              </a:spcAft>
            </a:pPr>
            <a:r>
              <a:rPr sz="1800">
                <a:solidFill>
                  <a:srgbClr val="222222"/>
                </a:solidFill>
                <a:latin typeface="Calibri"/>
              </a:rPr>
              <a:t>• Ma’ruza bo‘limlari: o‘lish va terminal holatlar, evtanaziya, o‘limni aniqlash va sud-tibbiy tasnifi, supravital reaksiyalar, murda o‘zgarishlari.</a:t>
            </a:r>
          </a:p>
          <a:p>
            <a:pPr>
              <a:spcAft>
                <a:spcPts val="800"/>
              </a:spcAft>
            </a:pPr>
            <a:r>
              <a:rPr sz="1800">
                <a:solidFill>
                  <a:srgbClr val="222222"/>
                </a:solidFill>
                <a:latin typeface="Calibri"/>
              </a:rPr>
              <a:t>• Davomi: o‘lim muddatini aniqlash, murda ekspertizasi va uni hujjatlashtirish, tanatogenez, noma’lum va eksgumatsiya qilingan murdalar, patologo-anatomik tekshiruvdan farqlar.</a:t>
            </a:r>
          </a:p>
        </p:txBody>
      </p:sp>
      <p:sp>
        <p:nvSpPr>
          <p:cNvPr id="5" name="TextBox 4"/>
          <p:cNvSpPr txBox="1"/>
          <p:nvPr/>
        </p:nvSpPr>
        <p:spPr>
          <a:xfrm>
            <a:off x="548640" y="6126480"/>
            <a:ext cx="11064240" cy="548640"/>
          </a:xfrm>
          <a:prstGeom prst="rect">
            <a:avLst/>
          </a:prstGeom>
          <a:noFill/>
        </p:spPr>
        <p:txBody>
          <a:bodyPr wrap="square">
            <a:spAutoFit/>
          </a:bodyPr>
          <a:lstStyle/>
          <a:p>
            <a:r>
              <a:rPr sz="1000" b="0">
                <a:solidFill>
                  <a:srgbClr val="666666"/>
                </a:solidFill>
                <a:latin typeface="Calibri"/>
              </a:rPr>
              <a:t>Manba: [G‘iyosov Z.A., Sud tibbiyoti (Tibbiyot oliy o‘quv yurtlari talabalari uchun darslik), Toshkent: Global Books nashriyoti, 217]; [G‘iyosov Z.A., Sud tibbiyoti (Tibbiyot oliy o‘quv yurtlari talabalari uchun darslik), Toshkent: Global Books nashriyoti, 217-246]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0B1F3A"/>
                </a:solidFill>
                <a:latin typeface="Georgia"/>
              </a:rPr>
              <a:t>Tanatologiya tushunchasi va tarixi</a:t>
            </a:r>
          </a:p>
        </p:txBody>
      </p:sp>
      <p:sp>
        <p:nvSpPr>
          <p:cNvPr id="3" name="Rectangle 2"/>
          <p:cNvSpPr/>
          <p:nvPr/>
        </p:nvSpPr>
        <p:spPr>
          <a:xfrm>
            <a:off x="548640" y="1234440"/>
            <a:ext cx="164592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508760"/>
            <a:ext cx="11064240" cy="4297680"/>
          </a:xfrm>
          <a:prstGeom prst="rect">
            <a:avLst/>
          </a:prstGeom>
          <a:noFill/>
        </p:spPr>
        <p:txBody>
          <a:bodyPr wrap="square">
            <a:spAutoFit/>
          </a:bodyPr>
          <a:lstStyle/>
          <a:p>
            <a:pPr>
              <a:spcAft>
                <a:spcPts val="800"/>
              </a:spcAft>
            </a:pPr>
            <a:r>
              <a:rPr sz="1800" b="0">
                <a:solidFill>
                  <a:srgbClr val="222222"/>
                </a:solidFill>
                <a:latin typeface="Calibri"/>
              </a:rPr>
              <a:t/>
            </a:r>
            <a:r>
              <a:rPr sz="1800">
                <a:solidFill>
                  <a:srgbClr val="222222"/>
                </a:solidFill>
                <a:latin typeface="Calibri"/>
              </a:rPr>
              <a:t>• “Tanatologiya” atamasi tibbiyotga I.I.Mechnikov tomonidan kiritilgan. U o‘lim haqidagi ta’limotni anglatadi.</a:t>
            </a:r>
          </a:p>
          <a:p>
            <a:pPr>
              <a:spcAft>
                <a:spcPts val="800"/>
              </a:spcAft>
            </a:pPr>
            <a:r>
              <a:rPr sz="1800">
                <a:solidFill>
                  <a:srgbClr val="222222"/>
                </a:solidFill>
                <a:latin typeface="Calibri"/>
              </a:rPr>
              <a:t>• Atama grek tilidan olingan: thanatos — o‘lim xudosining nomi, logos — ta’limot.</a:t>
            </a:r>
          </a:p>
          <a:p>
            <a:pPr>
              <a:spcAft>
                <a:spcPts val="800"/>
              </a:spcAft>
            </a:pPr>
            <a:r>
              <a:rPr sz="1800">
                <a:solidFill>
                  <a:srgbClr val="222222"/>
                </a:solidFill>
                <a:latin typeface="Calibri"/>
              </a:rPr>
              <a:t>• Tanatologiya biologiya fanining tarkibiy qismi hisoblanadi.</a:t>
            </a:r>
          </a:p>
        </p:txBody>
      </p:sp>
      <p:sp>
        <p:nvSpPr>
          <p:cNvPr id="5" name="TextBox 4"/>
          <p:cNvSpPr txBox="1"/>
          <p:nvPr/>
        </p:nvSpPr>
        <p:spPr>
          <a:xfrm>
            <a:off x="548640" y="6126480"/>
            <a:ext cx="11064240" cy="548640"/>
          </a:xfrm>
          <a:prstGeom prst="rect">
            <a:avLst/>
          </a:prstGeom>
          <a:noFill/>
        </p:spPr>
        <p:txBody>
          <a:bodyPr wrap="square">
            <a:spAutoFit/>
          </a:bodyPr>
          <a:lstStyle/>
          <a:p>
            <a:r>
              <a:rPr sz="1000" b="0">
                <a:solidFill>
                  <a:srgbClr val="666666"/>
                </a:solidFill>
                <a:latin typeface="Calibri"/>
              </a:rPr>
              <a:t>Manba: [G‘iyosov Z.A., Sud tibbiyoti (Tibbiyot oliy o‘quv yurtlari talabalari uchun darslik), Toshkent: Global Books nashriyoti, 217]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0B1F3A"/>
                </a:solidFill>
                <a:latin typeface="Georgia"/>
              </a:rPr>
              <a:t>Tanatologiyaning predmeti va turlari</a:t>
            </a:r>
          </a:p>
        </p:txBody>
      </p:sp>
      <p:sp>
        <p:nvSpPr>
          <p:cNvPr id="3" name="Rectangle 2"/>
          <p:cNvSpPr/>
          <p:nvPr/>
        </p:nvSpPr>
        <p:spPr>
          <a:xfrm>
            <a:off x="548640" y="1234440"/>
            <a:ext cx="164592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508760"/>
            <a:ext cx="11064240" cy="4297680"/>
          </a:xfrm>
          <a:prstGeom prst="rect">
            <a:avLst/>
          </a:prstGeom>
          <a:noFill/>
        </p:spPr>
        <p:txBody>
          <a:bodyPr wrap="square">
            <a:spAutoFit/>
          </a:bodyPr>
          <a:lstStyle/>
          <a:p>
            <a:pPr>
              <a:spcAft>
                <a:spcPts val="800"/>
              </a:spcAft>
            </a:pPr>
            <a:r>
              <a:rPr sz="1800" b="0">
                <a:solidFill>
                  <a:srgbClr val="222222"/>
                </a:solidFill>
                <a:latin typeface="Calibri"/>
              </a:rPr>
              <a:t/>
            </a:r>
            <a:r>
              <a:rPr sz="1800">
                <a:solidFill>
                  <a:srgbClr val="222222"/>
                </a:solidFill>
                <a:latin typeface="Calibri"/>
              </a:rPr>
              <a:t>• Tanatologiya o‘lish jarayonini va undagi klinik, morfologik, biokimyoviy o‘zgarishlarni o‘rganadi. U o‘lim faktini aniqlash va o‘lim sabablarini ham o‘rganadi.</a:t>
            </a:r>
          </a:p>
          <a:p>
            <a:pPr>
              <a:spcAft>
                <a:spcPts val="800"/>
              </a:spcAft>
            </a:pPr>
            <a:r>
              <a:rPr sz="1800">
                <a:solidFill>
                  <a:srgbClr val="222222"/>
                </a:solidFill>
                <a:latin typeface="Calibri"/>
              </a:rPr>
              <a:t>• Shuningdek, o‘limdan keyingi murda o‘zgarishlari, ularga tashqi va ichki omillar ta’siri, murdani dafn etish va konservatsiya qilish masalalarini o‘rganadi.</a:t>
            </a:r>
          </a:p>
          <a:p>
            <a:pPr>
              <a:spcAft>
                <a:spcPts val="800"/>
              </a:spcAft>
            </a:pPr>
            <a:r>
              <a:rPr sz="1800">
                <a:solidFill>
                  <a:srgbClr val="222222"/>
                </a:solidFill>
                <a:latin typeface="Calibri"/>
              </a:rPr>
              <a:t>• Umumiy tanatologiya bu masalalarning umumiy jihatlarini, xususiy tanatologiya esa o‘limning muayyan turlari nuqtai nazaridan ko‘rib chiqadi.</a:t>
            </a:r>
          </a:p>
          <a:p>
            <a:pPr>
              <a:spcAft>
                <a:spcPts val="800"/>
              </a:spcAft>
            </a:pPr>
            <a:r>
              <a:rPr sz="1800">
                <a:solidFill>
                  <a:srgbClr val="222222"/>
                </a:solidFill>
                <a:latin typeface="Calibri"/>
              </a:rPr>
              <a:t>• Sud-tibbiy tanatologiya shu masalalarni surishtiruv, tergov va sud idoralari faoliyatida vujudga keladigan savollarni hal etish maqsadida o‘rganadi.</a:t>
            </a:r>
          </a:p>
        </p:txBody>
      </p:sp>
      <p:sp>
        <p:nvSpPr>
          <p:cNvPr id="5" name="TextBox 4"/>
          <p:cNvSpPr txBox="1"/>
          <p:nvPr/>
        </p:nvSpPr>
        <p:spPr>
          <a:xfrm>
            <a:off x="548640" y="6126480"/>
            <a:ext cx="11064240" cy="548640"/>
          </a:xfrm>
          <a:prstGeom prst="rect">
            <a:avLst/>
          </a:prstGeom>
          <a:noFill/>
        </p:spPr>
        <p:txBody>
          <a:bodyPr wrap="square">
            <a:spAutoFit/>
          </a:bodyPr>
          <a:lstStyle/>
          <a:p>
            <a:r>
              <a:rPr sz="1000" b="0">
                <a:solidFill>
                  <a:srgbClr val="666666"/>
                </a:solidFill>
                <a:latin typeface="Calibri"/>
              </a:rPr>
              <a:t>Manba: [G‘iyosov Z.A., Sud tibbiyoti (Tibbiyot oliy o‘quv yurtlari talabalari uchun darslik), Toshkent: Global Books nashriyoti, 217]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0B1F3A"/>
                </a:solidFill>
                <a:latin typeface="Georgia"/>
              </a:rPr>
              <a:t>O‘lish va terminal holatlar</a:t>
            </a:r>
          </a:p>
        </p:txBody>
      </p:sp>
      <p:sp>
        <p:nvSpPr>
          <p:cNvPr id="3" name="Rectangle 2"/>
          <p:cNvSpPr/>
          <p:nvPr/>
        </p:nvSpPr>
        <p:spPr>
          <a:xfrm>
            <a:off x="548640" y="1234440"/>
            <a:ext cx="164592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508760"/>
            <a:ext cx="11064240" cy="4297680"/>
          </a:xfrm>
          <a:prstGeom prst="rect">
            <a:avLst/>
          </a:prstGeom>
          <a:noFill/>
        </p:spPr>
        <p:txBody>
          <a:bodyPr wrap="square">
            <a:spAutoFit/>
          </a:bodyPr>
          <a:lstStyle/>
          <a:p>
            <a:pPr>
              <a:spcAft>
                <a:spcPts val="800"/>
              </a:spcAft>
            </a:pPr>
            <a:r>
              <a:rPr sz="1800" b="0">
                <a:solidFill>
                  <a:srgbClr val="222222"/>
                </a:solidFill>
                <a:latin typeface="Calibri"/>
              </a:rPr>
              <a:t/>
            </a:r>
            <a:r>
              <a:rPr sz="1800">
                <a:solidFill>
                  <a:srgbClr val="222222"/>
                </a:solidFill>
                <a:latin typeface="Calibri"/>
              </a:rPr>
              <a:t>• O‘lish ma’lum bir davomiylikdagi jarayon bo‘lib, u terminal yoki chegara holatlar deb nomlanadi. [G‘iyosov Z.A., Sud tibbiyoti, 217-bet]</a:t>
            </a:r>
          </a:p>
          <a:p>
            <a:pPr>
              <a:spcAft>
                <a:spcPts val="800"/>
              </a:spcAft>
            </a:pPr>
            <a:r>
              <a:rPr sz="1800">
                <a:solidFill>
                  <a:srgbClr val="222222"/>
                </a:solidFill>
                <a:latin typeface="Calibri"/>
              </a:rPr>
              <a:t>• Jarayon bosqichlarga bo‘linadi: preagoniya, terminal pauza, agoniya, klinik o‘lim va biologik o‘lim. [G‘iyosov Z.A., Sud tibbiyoti, 217-218-betlar]</a:t>
            </a:r>
          </a:p>
          <a:p>
            <a:pPr>
              <a:spcAft>
                <a:spcPts val="800"/>
              </a:spcAft>
            </a:pPr>
            <a:r>
              <a:rPr sz="1800">
                <a:solidFill>
                  <a:srgbClr val="222222"/>
                </a:solidFill>
                <a:latin typeface="Calibri"/>
              </a:rPr>
              <a:t>• Klinik o‘lim yurak urishi to‘xtagandan so‘ng boshlanadi. Biologik o‘limda a’zo va to‘qimalarda, avvalo bosh miyada, tiklab bo‘lmaydigan o‘zgarishlar sodir bo‘ladi. [G‘iyosov Z.A., Sud tibbiyoti, 218-bet]</a:t>
            </a:r>
          </a:p>
        </p:txBody>
      </p:sp>
      <p:sp>
        <p:nvSpPr>
          <p:cNvPr id="5" name="Rounded Rectangle 4"/>
          <p:cNvSpPr/>
          <p:nvPr/>
        </p:nvSpPr>
        <p:spPr>
          <a:xfrm>
            <a:off x="548640" y="4023360"/>
            <a:ext cx="1920240" cy="1188720"/>
          </a:xfrm>
          <a:prstGeom prst="round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r>
              <a:rPr sz="1300">
                <a:solidFill>
                  <a:srgbClr val="FFFFFF"/>
                </a:solidFill>
              </a:rPr>
              <a:t>Preagoniya</a:t>
            </a:r>
          </a:p>
        </p:txBody>
      </p:sp>
      <p:sp>
        <p:nvSpPr>
          <p:cNvPr id="6" name="Right Arrow 5"/>
          <p:cNvSpPr/>
          <p:nvPr/>
        </p:nvSpPr>
        <p:spPr>
          <a:xfrm>
            <a:off x="2468880" y="4480560"/>
            <a:ext cx="365760" cy="274320"/>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834640" y="4023360"/>
            <a:ext cx="1920240" cy="1188720"/>
          </a:xfrm>
          <a:prstGeom prst="round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r>
              <a:rPr sz="1300">
                <a:solidFill>
                  <a:srgbClr val="FFFFFF"/>
                </a:solidFill>
              </a:rPr>
              <a:t>Terminal pauza</a:t>
            </a:r>
          </a:p>
        </p:txBody>
      </p:sp>
      <p:sp>
        <p:nvSpPr>
          <p:cNvPr id="8" name="Right Arrow 7"/>
          <p:cNvSpPr/>
          <p:nvPr/>
        </p:nvSpPr>
        <p:spPr>
          <a:xfrm>
            <a:off x="4754880" y="4480560"/>
            <a:ext cx="365760" cy="274320"/>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120640" y="4023360"/>
            <a:ext cx="1920240" cy="1188720"/>
          </a:xfrm>
          <a:prstGeom prst="round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r>
              <a:rPr sz="1300">
                <a:solidFill>
                  <a:srgbClr val="FFFFFF"/>
                </a:solidFill>
              </a:rPr>
              <a:t>Agoniya</a:t>
            </a:r>
          </a:p>
        </p:txBody>
      </p:sp>
      <p:sp>
        <p:nvSpPr>
          <p:cNvPr id="10" name="Right Arrow 9"/>
          <p:cNvSpPr/>
          <p:nvPr/>
        </p:nvSpPr>
        <p:spPr>
          <a:xfrm>
            <a:off x="7040880" y="4480560"/>
            <a:ext cx="365760" cy="274320"/>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406640" y="4023360"/>
            <a:ext cx="1920240" cy="1188720"/>
          </a:xfrm>
          <a:prstGeom prst="round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r>
              <a:rPr sz="1300">
                <a:solidFill>
                  <a:srgbClr val="FFFFFF"/>
                </a:solidFill>
              </a:rPr>
              <a:t>Klinik o‘lim</a:t>
            </a:r>
          </a:p>
        </p:txBody>
      </p:sp>
      <p:sp>
        <p:nvSpPr>
          <p:cNvPr id="12" name="Right Arrow 11"/>
          <p:cNvSpPr/>
          <p:nvPr/>
        </p:nvSpPr>
        <p:spPr>
          <a:xfrm>
            <a:off x="9326880" y="4480560"/>
            <a:ext cx="365760" cy="274320"/>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692640" y="4023360"/>
            <a:ext cx="1920240" cy="1188720"/>
          </a:xfrm>
          <a:prstGeom prst="round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r>
              <a:rPr sz="1300">
                <a:solidFill>
                  <a:srgbClr val="FFFFFF"/>
                </a:solidFill>
              </a:rPr>
              <a:t>Biologik o‘lim</a:t>
            </a:r>
          </a:p>
        </p:txBody>
      </p:sp>
      <p:sp>
        <p:nvSpPr>
          <p:cNvPr id="14" name="TextBox 13"/>
          <p:cNvSpPr txBox="1"/>
          <p:nvPr/>
        </p:nvSpPr>
        <p:spPr>
          <a:xfrm>
            <a:off x="548640" y="5669280"/>
            <a:ext cx="11064240" cy="365760"/>
          </a:xfrm>
          <a:prstGeom prst="rect">
            <a:avLst/>
          </a:prstGeom>
          <a:noFill/>
        </p:spPr>
        <p:txBody>
          <a:bodyPr wrap="square">
            <a:spAutoFit/>
          </a:bodyPr>
          <a:lstStyle/>
          <a:p>
            <a:r>
              <a:rPr sz="1100" b="0">
                <a:solidFill>
                  <a:srgbClr val="666666"/>
                </a:solidFill>
                <a:latin typeface="Calibri"/>
              </a:rPr>
              <a:t>Terminal holatlar bosqichlarining ketma-ketligi</a:t>
            </a:r>
          </a:p>
        </p:txBody>
      </p:sp>
      <p:sp>
        <p:nvSpPr>
          <p:cNvPr id="15" name="TextBox 14"/>
          <p:cNvSpPr txBox="1"/>
          <p:nvPr/>
        </p:nvSpPr>
        <p:spPr>
          <a:xfrm>
            <a:off x="548640" y="6126480"/>
            <a:ext cx="11064240" cy="548640"/>
          </a:xfrm>
          <a:prstGeom prst="rect">
            <a:avLst/>
          </a:prstGeom>
          <a:noFill/>
        </p:spPr>
        <p:txBody>
          <a:bodyPr wrap="square">
            <a:spAutoFit/>
          </a:bodyPr>
          <a:lstStyle/>
          <a:p>
            <a:r>
              <a:rPr sz="1000" b="0">
                <a:solidFill>
                  <a:srgbClr val="666666"/>
                </a:solidFill>
                <a:latin typeface="Calibri"/>
              </a:rPr>
              <a:t>Manba: [G‘iyosov Z.A., Sud tibbiyoti (Tibbiyot oliy o‘quv yurtlari talabalari uchun darslik), Toshkent: Global Books nashriyoti, 217]; [G‘iyosov Z.A., Sud tibbiyoti (Tibbiyot oliy o‘quv yurtlari talabalari uchun darslik), Toshkent: Global Books nashriyoti, 217-218]; [G‘iyosov Z.A., Sud tibbiyoti (Tibbiyot oliy o‘quv yurtlari talabalari uchun darslik), Toshkent: Global Books nashriyoti, 218]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0B1F3A"/>
                </a:solidFill>
                <a:latin typeface="Georgia"/>
              </a:rPr>
              <a:t>Preagoniya va terminal pauza</a:t>
            </a:r>
          </a:p>
        </p:txBody>
      </p:sp>
      <p:sp>
        <p:nvSpPr>
          <p:cNvPr id="3" name="Rectangle 2"/>
          <p:cNvSpPr/>
          <p:nvPr/>
        </p:nvSpPr>
        <p:spPr>
          <a:xfrm>
            <a:off x="548640" y="1234440"/>
            <a:ext cx="164592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508760"/>
            <a:ext cx="11064240" cy="4297680"/>
          </a:xfrm>
          <a:prstGeom prst="rect">
            <a:avLst/>
          </a:prstGeom>
          <a:noFill/>
        </p:spPr>
        <p:txBody>
          <a:bodyPr wrap="square">
            <a:spAutoFit/>
          </a:bodyPr>
          <a:lstStyle/>
          <a:p>
            <a:pPr>
              <a:spcAft>
                <a:spcPts val="800"/>
              </a:spcAft>
            </a:pPr>
            <a:r>
              <a:rPr sz="1800" b="0">
                <a:solidFill>
                  <a:srgbClr val="222222"/>
                </a:solidFill>
                <a:latin typeface="Calibri"/>
              </a:rPr>
              <a:t/>
            </a:r>
            <a:r>
              <a:rPr sz="1800">
                <a:solidFill>
                  <a:srgbClr val="222222"/>
                </a:solidFill>
                <a:latin typeface="Calibri"/>
              </a:rPr>
              <a:t>• Preagoniyada MNT oliy bo‘limlari tormozlanadi, qon aylanishi va nafas tizimlari faoliyati keskin buziladi. Natijada to‘qimalarda atsidoz va gipoksiya paydo bo‘ladi. [G‘iyosov Z.A., Sud tibbiyoti, 217-bet]</a:t>
            </a:r>
          </a:p>
          <a:p>
            <a:pPr>
              <a:spcAft>
                <a:spcPts val="800"/>
              </a:spcAft>
            </a:pPr>
            <a:r>
              <a:rPr sz="1800">
                <a:solidFill>
                  <a:srgbClr val="222222"/>
                </a:solidFill>
                <a:latin typeface="Calibri"/>
              </a:rPr>
              <a:t>• Hush xiralashadi yoki yo‘qoladi, arterial bosim tushadi, puls faqat uyqu va son arteriyalarida aniqlanadi. Teri oqaradi, yuz ko‘kimtir tusga kiradi, hansirash kuzatiladi. [G‘iyosov Z.A., Sud tibbiyoti, 217-bet]</a:t>
            </a:r>
          </a:p>
          <a:p>
            <a:pPr>
              <a:spcAft>
                <a:spcPts val="800"/>
              </a:spcAft>
            </a:pPr>
            <a:r>
              <a:rPr sz="1800">
                <a:solidFill>
                  <a:srgbClr val="222222"/>
                </a:solidFill>
                <a:latin typeface="Calibri"/>
              </a:rPr>
              <a:t>• Preagoniya bir necha daqiqadan bir necha kungacha davom etishi mumkin. [G‘iyosov Z.A., Sud tibbiyoti, 217-bet]</a:t>
            </a:r>
          </a:p>
          <a:p>
            <a:pPr>
              <a:spcAft>
                <a:spcPts val="800"/>
              </a:spcAft>
            </a:pPr>
            <a:r>
              <a:rPr sz="1800">
                <a:solidFill>
                  <a:srgbClr val="222222"/>
                </a:solidFill>
                <a:latin typeface="Calibri"/>
              </a:rPr>
              <a:t>• Terminal pauzada nafas to‘satdan to‘xtaydi va yurak faoliyati keskin buziladi. Qorachiqlar kengayib nurga reaksiya bermaydi, boshqa reflekslar so‘nadi. Bosqich bir necha soniyadan 3-4 daqiqagacha davom etadi. [G‘iyosov Z.A., Sud tibbiyoti, 217-bet]</a:t>
            </a:r>
          </a:p>
        </p:txBody>
      </p:sp>
      <p:sp>
        <p:nvSpPr>
          <p:cNvPr id="5" name="TextBox 4"/>
          <p:cNvSpPr txBox="1"/>
          <p:nvPr/>
        </p:nvSpPr>
        <p:spPr>
          <a:xfrm>
            <a:off x="548640" y="6126480"/>
            <a:ext cx="11064240" cy="548640"/>
          </a:xfrm>
          <a:prstGeom prst="rect">
            <a:avLst/>
          </a:prstGeom>
          <a:noFill/>
        </p:spPr>
        <p:txBody>
          <a:bodyPr wrap="square">
            <a:spAutoFit/>
          </a:bodyPr>
          <a:lstStyle/>
          <a:p>
            <a:r>
              <a:rPr sz="1000" b="0">
                <a:solidFill>
                  <a:srgbClr val="666666"/>
                </a:solidFill>
                <a:latin typeface="Calibri"/>
              </a:rPr>
              <a:t>Manba: [G‘iyosov Z.A., Sud tibbiyoti (Tibbiyot oliy o‘quv yurtlari talabalari uchun darslik), Toshkent: Global Books nashriyoti, 217]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0B1F3A"/>
                </a:solidFill>
                <a:latin typeface="Georgia"/>
              </a:rPr>
              <a:t>Agoniya va facies hippocratica</a:t>
            </a:r>
          </a:p>
        </p:txBody>
      </p:sp>
      <p:sp>
        <p:nvSpPr>
          <p:cNvPr id="3" name="Rectangle 2"/>
          <p:cNvSpPr/>
          <p:nvPr/>
        </p:nvSpPr>
        <p:spPr>
          <a:xfrm>
            <a:off x="548640" y="1234440"/>
            <a:ext cx="164592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508760"/>
            <a:ext cx="11064240" cy="4297680"/>
          </a:xfrm>
          <a:prstGeom prst="rect">
            <a:avLst/>
          </a:prstGeom>
          <a:noFill/>
        </p:spPr>
        <p:txBody>
          <a:bodyPr wrap="square">
            <a:spAutoFit/>
          </a:bodyPr>
          <a:lstStyle/>
          <a:p>
            <a:pPr>
              <a:spcAft>
                <a:spcPts val="800"/>
              </a:spcAft>
            </a:pPr>
            <a:r>
              <a:rPr sz="1800" b="0">
                <a:solidFill>
                  <a:srgbClr val="222222"/>
                </a:solidFill>
                <a:latin typeface="Calibri"/>
              </a:rPr>
              <a:t/>
            </a:r>
            <a:r>
              <a:rPr sz="1800">
                <a:solidFill>
                  <a:srgbClr val="222222"/>
                </a:solidFill>
                <a:latin typeface="Calibri"/>
              </a:rPr>
              <a:t>• Agoniya bir necha daqiqadan bir necha kungacha davom etishi mumkin. Bosh miya oliy markazlari tormozlangani uchun ularning vazifasini miyaning past joylashgan nomukammal markazlari o‘z zimmasiga oladi. [G‘iyosov Z.A., Sud tibbiyoti, 217-bet]</a:t>
            </a:r>
          </a:p>
          <a:p>
            <a:pPr>
              <a:spcAft>
                <a:spcPts val="800"/>
              </a:spcAft>
            </a:pPr>
            <a:r>
              <a:rPr sz="1800">
                <a:solidFill>
                  <a:srgbClr val="222222"/>
                </a:solidFill>
                <a:latin typeface="Calibri"/>
              </a:rPr>
              <a:t>• Nafas tiklanadi, arterial bosim biroz (ba’zan subnormal ko‘rsatkichlargacha) ko‘tariladi, puls aniqlana boshlaydi. [G‘iyosov Z.A., Sud tibbiyoti, 217-bet]</a:t>
            </a:r>
          </a:p>
          <a:p>
            <a:pPr>
              <a:spcAft>
                <a:spcPts val="800"/>
              </a:spcAft>
            </a:pPr>
            <a:r>
              <a:rPr sz="1800">
                <a:solidFill>
                  <a:srgbClr val="222222"/>
                </a:solidFill>
                <a:latin typeface="Calibri"/>
              </a:rPr>
              <a:t>• Agoniya hayotga qaytish uchun kurashdagi so‘nggi urinish sifatida qaraladi. Bosqich oxirida avval nafas, keyin yurak urishi to‘xtaydi. [G‘iyosov Z.A., Sud tibbiyoti, 217-bet]</a:t>
            </a:r>
          </a:p>
          <a:p>
            <a:pPr>
              <a:spcAft>
                <a:spcPts val="800"/>
              </a:spcAft>
            </a:pPr>
            <a:r>
              <a:rPr sz="1800">
                <a:solidFill>
                  <a:srgbClr val="222222"/>
                </a:solidFill>
                <a:latin typeface="Calibri"/>
              </a:rPr>
              <a:t>• O‘layotgan shaxsning yuzi oqarib tuproqsimon tusga kiradi, ko‘z olmalari chuqurlashadi, pastki jag‘ osilib og‘iz ochilib qoladi (facies hippocratica). [G‘iyosov Z.A., Sud tibbiyoti, 218-bet]</a:t>
            </a:r>
          </a:p>
        </p:txBody>
      </p:sp>
      <p:sp>
        <p:nvSpPr>
          <p:cNvPr id="5" name="TextBox 4"/>
          <p:cNvSpPr txBox="1"/>
          <p:nvPr/>
        </p:nvSpPr>
        <p:spPr>
          <a:xfrm>
            <a:off x="548640" y="6126480"/>
            <a:ext cx="11064240" cy="548640"/>
          </a:xfrm>
          <a:prstGeom prst="rect">
            <a:avLst/>
          </a:prstGeom>
          <a:noFill/>
        </p:spPr>
        <p:txBody>
          <a:bodyPr wrap="square">
            <a:spAutoFit/>
          </a:bodyPr>
          <a:lstStyle/>
          <a:p>
            <a:r>
              <a:rPr sz="1000" b="0">
                <a:solidFill>
                  <a:srgbClr val="666666"/>
                </a:solidFill>
                <a:latin typeface="Calibri"/>
              </a:rPr>
              <a:t>Manba: [G‘iyosov Z.A., Sud tibbiyoti (Tibbiyot oliy o‘quv yurtlari talabalari uchun darslik), Toshkent: Global Books nashriyoti, 217]; [G‘iyosov Z.A., Sud tibbiyoti (Tibbiyot oliy o‘quv yurtlari talabalari uchun darslik), Toshkent: Global Books nashriyoti, 218]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0B1F3A"/>
                </a:solidFill>
                <a:latin typeface="Georgia"/>
              </a:rPr>
              <a:t>Klinik va biologik o‘lim</a:t>
            </a:r>
          </a:p>
        </p:txBody>
      </p:sp>
      <p:sp>
        <p:nvSpPr>
          <p:cNvPr id="3" name="Rectangle 2"/>
          <p:cNvSpPr/>
          <p:nvPr/>
        </p:nvSpPr>
        <p:spPr>
          <a:xfrm>
            <a:off x="548640" y="1234440"/>
            <a:ext cx="164592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508760"/>
            <a:ext cx="11064240" cy="4297680"/>
          </a:xfrm>
          <a:prstGeom prst="rect">
            <a:avLst/>
          </a:prstGeom>
          <a:noFill/>
        </p:spPr>
        <p:txBody>
          <a:bodyPr wrap="square">
            <a:spAutoFit/>
          </a:bodyPr>
          <a:lstStyle/>
          <a:p>
            <a:pPr>
              <a:spcAft>
                <a:spcPts val="800"/>
              </a:spcAft>
            </a:pPr>
            <a:r>
              <a:rPr sz="1800" b="0">
                <a:solidFill>
                  <a:srgbClr val="222222"/>
                </a:solidFill>
                <a:latin typeface="Calibri"/>
              </a:rPr>
              <a:t/>
            </a:r>
            <a:r>
              <a:rPr sz="1800">
                <a:solidFill>
                  <a:srgbClr val="222222"/>
                </a:solidFill>
                <a:latin typeface="Calibri"/>
              </a:rPr>
              <a:t>• Klinik o‘lim yurak urishi to‘xtagandan so‘ng boshlanadi. Bosh miya va uning stvoli chuqur buzilgan bo‘lsa ham, faoliyatni tiklash imkoniyati bor.</a:t>
            </a:r>
          </a:p>
          <a:p>
            <a:pPr>
              <a:spcAft>
                <a:spcPts val="800"/>
              </a:spcAft>
            </a:pPr>
            <a:r>
              <a:rPr sz="1800">
                <a:solidFill>
                  <a:srgbClr val="222222"/>
                </a:solidFill>
                <a:latin typeface="Calibri"/>
              </a:rPr>
              <a:t>• Klinik o‘limda organizmning bir butunligi yo‘qoladi, lekin alohida a’zo va to‘qimalar faoliyati saqlanadi.</a:t>
            </a:r>
          </a:p>
          <a:p>
            <a:pPr>
              <a:spcAft>
                <a:spcPts val="800"/>
              </a:spcAft>
            </a:pPr>
            <a:r>
              <a:rPr sz="1800">
                <a:solidFill>
                  <a:srgbClr val="222222"/>
                </a:solidFill>
                <a:latin typeface="Calibri"/>
              </a:rPr>
              <a:t>• Odatdagi sharoitda klinik o‘lim 5-6 daqiqagacha davom etadi, chunki undan keyin bosh miya po‘stlog‘ida tiklab bo‘lmaydigan o‘zgarishlar rivojlanadi. Past haroratda bu muddat 30 daqiqagacha cho‘zilishi mumkin.</a:t>
            </a:r>
          </a:p>
          <a:p>
            <a:pPr>
              <a:spcAft>
                <a:spcPts val="800"/>
              </a:spcAft>
            </a:pPr>
            <a:r>
              <a:rPr sz="1800">
                <a:solidFill>
                  <a:srgbClr val="222222"/>
                </a:solidFill>
                <a:latin typeface="Calibri"/>
              </a:rPr>
              <a:t>• Davomiylik kasallik yoki jarohat xususiyatiga, yoshga va salomatlik holatiga bog‘liq. Klinik o‘limda hayotga qaytarish imkoniyati reanimatologiya fanining paydo bo‘lishiga asos bo‘ldi. Oxirgi bosqich — biologik o‘limda a’zo va to‘qimalarda, avvalo bosh miyada, tiklab bo‘lmaydigan o‘zgarishlar sodir bo‘ladi.</a:t>
            </a:r>
          </a:p>
        </p:txBody>
      </p:sp>
      <p:sp>
        <p:nvSpPr>
          <p:cNvPr id="5" name="TextBox 4"/>
          <p:cNvSpPr txBox="1"/>
          <p:nvPr/>
        </p:nvSpPr>
        <p:spPr>
          <a:xfrm>
            <a:off x="548640" y="6126480"/>
            <a:ext cx="11064240" cy="548640"/>
          </a:xfrm>
          <a:prstGeom prst="rect">
            <a:avLst/>
          </a:prstGeom>
          <a:noFill/>
        </p:spPr>
        <p:txBody>
          <a:bodyPr wrap="square">
            <a:spAutoFit/>
          </a:bodyPr>
          <a:lstStyle/>
          <a:p>
            <a:r>
              <a:rPr sz="1000" b="0">
                <a:solidFill>
                  <a:srgbClr val="666666"/>
                </a:solidFill>
                <a:latin typeface="Calibri"/>
              </a:rPr>
              <a:t>Manba: [G‘iyosov Z.A., Sud tibbiyoti (Tibbiyot oliy o‘quv yurtlari talabalari uchun darslik), Toshkent: Global Books nashriyoti, 218]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0B1F3A"/>
                </a:solidFill>
                <a:latin typeface="Georgia"/>
              </a:rPr>
              <a:t>O‘limning jadalligi va agoniya tiplari</a:t>
            </a:r>
          </a:p>
        </p:txBody>
      </p:sp>
      <p:sp>
        <p:nvSpPr>
          <p:cNvPr id="3" name="Rectangle 2"/>
          <p:cNvSpPr/>
          <p:nvPr/>
        </p:nvSpPr>
        <p:spPr>
          <a:xfrm>
            <a:off x="548640" y="1234440"/>
            <a:ext cx="164592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508760"/>
            <a:ext cx="11064240" cy="4297680"/>
          </a:xfrm>
          <a:prstGeom prst="rect">
            <a:avLst/>
          </a:prstGeom>
          <a:noFill/>
        </p:spPr>
        <p:txBody>
          <a:bodyPr wrap="square">
            <a:spAutoFit/>
          </a:bodyPr>
          <a:lstStyle/>
          <a:p>
            <a:pPr>
              <a:spcAft>
                <a:spcPts val="800"/>
              </a:spcAft>
            </a:pPr>
            <a:r>
              <a:rPr sz="1800" b="0">
                <a:solidFill>
                  <a:srgbClr val="222222"/>
                </a:solidFill>
                <a:latin typeface="Calibri"/>
              </a:rPr>
              <a:t/>
            </a:r>
            <a:r>
              <a:rPr sz="1800">
                <a:solidFill>
                  <a:srgbClr val="222222"/>
                </a:solidFill>
                <a:latin typeface="Calibri"/>
              </a:rPr>
              <a:t>• Jadalligi bo‘yicha tez va sekin o‘lim farqlanadi. Tez o‘lim asosan elektrotravma, mexanik asfiksiya, anafilaktik shokda kuzatiladi.</a:t>
            </a:r>
          </a:p>
          <a:p>
            <a:pPr>
              <a:spcAft>
                <a:spcPts val="800"/>
              </a:spcAft>
            </a:pPr>
            <a:r>
              <a:rPr sz="1800">
                <a:solidFill>
                  <a:srgbClr val="222222"/>
                </a:solidFill>
                <a:latin typeface="Calibri"/>
              </a:rPr>
              <a:t>• Sekin o‘lim qatoriga turli kasalliklar bilan bog‘liq holatlar kiradi.</a:t>
            </a:r>
          </a:p>
          <a:p>
            <a:pPr>
              <a:spcAft>
                <a:spcPts val="800"/>
              </a:spcAft>
            </a:pPr>
            <a:r>
              <a:rPr sz="1800">
                <a:solidFill>
                  <a:srgbClr val="222222"/>
                </a:solidFill>
                <a:latin typeface="Calibri"/>
              </a:rPr>
              <a:t>• W. Lawes va S. Berg (1965) agoniyaning davomiyligi bo‘yicha to‘rt tipini ajratadi: agoniyasiz, qisqa agoniyali, uzoq agoniyali va sun’iy uzaytirilgan agoniyali o‘lim.</a:t>
            </a:r>
          </a:p>
        </p:txBody>
      </p:sp>
      <p:graphicFrame>
        <p:nvGraphicFramePr>
          <p:cNvPr id="5" name="Table 4"/>
          <p:cNvGraphicFramePr>
            <a:graphicFrameLocks noGrp="1"/>
          </p:cNvGraphicFramePr>
          <p:nvPr/>
        </p:nvGraphicFramePr>
        <p:xfrm>
          <a:off x="548640" y="40233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a:t>Tip</a:t>
                      </a:r>
                    </a:p>
                  </a:txBody>
                  <a:tcPr/>
                </a:tc>
                <a:tc>
                  <a:txBody>
                    <a:bodyPr/>
                    <a:lstStyle/>
                    <a:p>
                      <a:r>
                        <a:rPr sz="1200"/>
                        <a:t>Agoniya davomiyligi</a:t>
                      </a:r>
                    </a:p>
                  </a:txBody>
                  <a:tcPr/>
                </a:tc>
                <a:tc>
                  <a:txBody>
                    <a:bodyPr/>
                    <a:lstStyle/>
                    <a:p>
                      <a:r>
                        <a:rPr sz="1200"/>
                        <a:t>Qachon kuzatiladi</a:t>
                      </a:r>
                    </a:p>
                  </a:txBody>
                  <a:tcPr/>
                </a:tc>
              </a:tr>
              <a:tr h="365760">
                <a:tc>
                  <a:txBody>
                    <a:bodyPr/>
                    <a:lstStyle/>
                    <a:p>
                      <a:r>
                        <a:rPr sz="1200"/>
                        <a:t>Agoniyasiz o‘lim</a:t>
                      </a:r>
                    </a:p>
                  </a:txBody>
                  <a:tcPr/>
                </a:tc>
                <a:tc>
                  <a:txBody>
                    <a:bodyPr/>
                    <a:lstStyle/>
                    <a:p>
                      <a:r>
                        <a:rPr sz="1200"/>
                        <a:t>Bir zumda, darhol</a:t>
                      </a:r>
                    </a:p>
                  </a:txBody>
                  <a:tcPr/>
                </a:tc>
                <a:tc>
                  <a:txBody>
                    <a:bodyPr/>
                    <a:lstStyle/>
                    <a:p>
                      <a:r>
                        <a:rPr sz="1200"/>
                        <a:t>Hayot bilan nomutanosib jarohatlar, tananing parchalanishi</a:t>
                      </a:r>
                    </a:p>
                  </a:txBody>
                  <a:tcPr/>
                </a:tc>
              </a:tr>
              <a:tr h="365760">
                <a:tc>
                  <a:txBody>
                    <a:bodyPr/>
                    <a:lstStyle/>
                    <a:p>
                      <a:r>
                        <a:rPr sz="1200"/>
                        <a:t>Qisqa agoniyali o‘lim</a:t>
                      </a:r>
                    </a:p>
                  </a:txBody>
                  <a:tcPr/>
                </a:tc>
                <a:tc>
                  <a:txBody>
                    <a:bodyPr/>
                    <a:lstStyle/>
                    <a:p>
                      <a:r>
                        <a:rPr sz="1200"/>
                        <a:t>4-5 daqiqa</a:t>
                      </a:r>
                    </a:p>
                  </a:txBody>
                  <a:tcPr/>
                </a:tc>
                <a:tc>
                  <a:txBody>
                    <a:bodyPr/>
                    <a:lstStyle/>
                    <a:p>
                      <a:r>
                        <a:rPr sz="1200"/>
                        <a:t>Mexanik asfiksiya, elektrotravma</a:t>
                      </a:r>
                    </a:p>
                  </a:txBody>
                  <a:tcPr/>
                </a:tc>
              </a:tr>
              <a:tr h="365760">
                <a:tc>
                  <a:txBody>
                    <a:bodyPr/>
                    <a:lstStyle/>
                    <a:p>
                      <a:r>
                        <a:rPr sz="1200"/>
                        <a:t>Uzoq agoniyali o‘lim</a:t>
                      </a:r>
                    </a:p>
                  </a:txBody>
                  <a:tcPr/>
                </a:tc>
                <a:tc>
                  <a:txBody>
                    <a:bodyPr/>
                    <a:lstStyle/>
                    <a:p>
                      <a:r>
                        <a:rPr sz="1200"/>
                        <a:t>Bir necha soat, kun</a:t>
                      </a:r>
                    </a:p>
                  </a:txBody>
                  <a:tcPr/>
                </a:tc>
                <a:tc>
                  <a:txBody>
                    <a:bodyPr/>
                    <a:lstStyle/>
                    <a:p>
                      <a:r>
                        <a:rPr sz="1200"/>
                        <a:t>Turli kasallik yoki shikastlanish holatlari</a:t>
                      </a:r>
                    </a:p>
                  </a:txBody>
                  <a:tcPr/>
                </a:tc>
              </a:tr>
              <a:tr h="365760">
                <a:tc>
                  <a:txBody>
                    <a:bodyPr/>
                    <a:lstStyle/>
                    <a:p>
                      <a:r>
                        <a:rPr sz="1200"/>
                        <a:t>Sun’iy uzaytirilgan agoniyali o‘lim</a:t>
                      </a:r>
                    </a:p>
                  </a:txBody>
                  <a:tcPr/>
                </a:tc>
                <a:tc>
                  <a:txBody>
                    <a:bodyPr/>
                    <a:lstStyle/>
                    <a:p>
                      <a:r>
                        <a:rPr sz="1200"/>
                        <a:t>Bir necha hafta, oy, hatto yillar</a:t>
                      </a:r>
                    </a:p>
                  </a:txBody>
                  <a:tcPr/>
                </a:tc>
                <a:tc>
                  <a:txBody>
                    <a:bodyPr/>
                    <a:lstStyle/>
                    <a:p>
                      <a:r>
                        <a:rPr sz="1200"/>
                        <a:t>Tegishli tibbiy muolajalar yordamida</a:t>
                      </a:r>
                    </a:p>
                  </a:txBody>
                  <a:tcPr/>
                </a:tc>
              </a:tr>
            </a:tbl>
          </a:graphicData>
        </a:graphic>
      </p:graphicFrame>
      <p:sp>
        <p:nvSpPr>
          <p:cNvPr id="6" name="TextBox 5"/>
          <p:cNvSpPr txBox="1"/>
          <p:nvPr/>
        </p:nvSpPr>
        <p:spPr>
          <a:xfrm>
            <a:off x="548640" y="5669280"/>
            <a:ext cx="11064240" cy="365760"/>
          </a:xfrm>
          <a:prstGeom prst="rect">
            <a:avLst/>
          </a:prstGeom>
          <a:noFill/>
        </p:spPr>
        <p:txBody>
          <a:bodyPr wrap="square">
            <a:spAutoFit/>
          </a:bodyPr>
          <a:lstStyle/>
          <a:p>
            <a:r>
              <a:rPr sz="1100" b="0">
                <a:solidFill>
                  <a:srgbClr val="666666"/>
                </a:solidFill>
                <a:latin typeface="Calibri"/>
              </a:rPr>
              <a:t>Agoniyaning to‘rt tipi (W. Lawes va S. Berg, 1965)</a:t>
            </a:r>
          </a:p>
        </p:txBody>
      </p:sp>
      <p:sp>
        <p:nvSpPr>
          <p:cNvPr id="7" name="TextBox 6"/>
          <p:cNvSpPr txBox="1"/>
          <p:nvPr/>
        </p:nvSpPr>
        <p:spPr>
          <a:xfrm>
            <a:off x="548640" y="6126480"/>
            <a:ext cx="11064240" cy="548640"/>
          </a:xfrm>
          <a:prstGeom prst="rect">
            <a:avLst/>
          </a:prstGeom>
          <a:noFill/>
        </p:spPr>
        <p:txBody>
          <a:bodyPr wrap="square">
            <a:spAutoFit/>
          </a:bodyPr>
          <a:lstStyle/>
          <a:p>
            <a:r>
              <a:rPr sz="1000" b="0">
                <a:solidFill>
                  <a:srgbClr val="666666"/>
                </a:solidFill>
                <a:latin typeface="Calibri"/>
              </a:rPr>
              <a:t>Manba: [G‘iyosov Z.A., Sud tibbiyoti (Tibbiyot oliy o‘quv yurtlari talabalari uchun darslik), Toshkent: Global Books nashriyoti, 218]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0B1F3A"/>
                </a:solidFill>
                <a:latin typeface="Georgia"/>
              </a:rPr>
              <a:t>Evtanaziya tushunchasi va tarixi</a:t>
            </a:r>
          </a:p>
        </p:txBody>
      </p:sp>
      <p:sp>
        <p:nvSpPr>
          <p:cNvPr id="3" name="Rectangle 2"/>
          <p:cNvSpPr/>
          <p:nvPr/>
        </p:nvSpPr>
        <p:spPr>
          <a:xfrm>
            <a:off x="548640" y="1234440"/>
            <a:ext cx="164592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508760"/>
            <a:ext cx="11064240" cy="4297680"/>
          </a:xfrm>
          <a:prstGeom prst="rect">
            <a:avLst/>
          </a:prstGeom>
          <a:noFill/>
        </p:spPr>
        <p:txBody>
          <a:bodyPr wrap="square">
            <a:spAutoFit/>
          </a:bodyPr>
          <a:lstStyle/>
          <a:p>
            <a:pPr>
              <a:spcAft>
                <a:spcPts val="800"/>
              </a:spcAft>
            </a:pPr>
            <a:r>
              <a:rPr sz="1800" b="0">
                <a:solidFill>
                  <a:srgbClr val="222222"/>
                </a:solidFill>
                <a:latin typeface="Calibri"/>
              </a:rPr>
              <a:t/>
            </a:r>
            <a:r>
              <a:rPr sz="1800">
                <a:solidFill>
                  <a:srgbClr val="222222"/>
                </a:solidFill>
                <a:latin typeface="Calibri"/>
              </a:rPr>
              <a:t>• Evtanaziya atamasini XVI asrda ingliz faylasufi F.Bekon kiritgan.</a:t>
            </a:r>
          </a:p>
          <a:p>
            <a:pPr>
              <a:spcAft>
                <a:spcPts val="800"/>
              </a:spcAft>
            </a:pPr>
            <a:r>
              <a:rPr sz="1800">
                <a:solidFill>
                  <a:srgbClr val="222222"/>
                </a:solidFill>
                <a:latin typeface="Calibri"/>
              </a:rPr>
              <a:t>• Atama grek tilidan olingan: eu — yaxshi, thanatos — o‘lim xudosining nomi, o‘lim. Ma’nosi — «yaxshi o‘lim».</a:t>
            </a:r>
          </a:p>
          <a:p>
            <a:pPr>
              <a:spcAft>
                <a:spcPts val="800"/>
              </a:spcAft>
            </a:pPr>
            <a:r>
              <a:rPr sz="1800">
                <a:solidFill>
                  <a:srgbClr val="222222"/>
                </a:solidFill>
                <a:latin typeface="Calibri"/>
              </a:rPr>
              <a:t>• Evtanaziyaning tub ma’nosi — o‘limga mahkum bemorlarning azob-uqubatlarini yengillashtirish. Darslikda evtanaziyaning to‘rt turi farqlanadi (jadval 8.1).</a:t>
            </a:r>
          </a:p>
        </p:txBody>
      </p:sp>
      <p:sp>
        <p:nvSpPr>
          <p:cNvPr id="5" name="TextBox 4"/>
          <p:cNvSpPr txBox="1"/>
          <p:nvPr/>
        </p:nvSpPr>
        <p:spPr>
          <a:xfrm>
            <a:off x="548640" y="6126480"/>
            <a:ext cx="11064240" cy="548640"/>
          </a:xfrm>
          <a:prstGeom prst="rect">
            <a:avLst/>
          </a:prstGeom>
          <a:noFill/>
        </p:spPr>
        <p:txBody>
          <a:bodyPr wrap="square">
            <a:spAutoFit/>
          </a:bodyPr>
          <a:lstStyle/>
          <a:p>
            <a:r>
              <a:rPr sz="1000" b="0">
                <a:solidFill>
                  <a:srgbClr val="666666"/>
                </a:solidFill>
                <a:latin typeface="Calibri"/>
              </a:rPr>
              <a:t>Manba: [G‘iyosov Z.A., Sud tibbiyoti (Tibbiyot oliy o‘quv yurtlari talabalari uchun darslik), Toshkent: Global Books nashriyoti, 218]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0B1F3A"/>
                </a:solidFill>
                <a:latin typeface="Georgia"/>
              </a:rPr>
              <a:t>Aktiv evtanaziya</a:t>
            </a:r>
          </a:p>
        </p:txBody>
      </p:sp>
      <p:sp>
        <p:nvSpPr>
          <p:cNvPr id="3" name="Rectangle 2"/>
          <p:cNvSpPr/>
          <p:nvPr/>
        </p:nvSpPr>
        <p:spPr>
          <a:xfrm>
            <a:off x="548640" y="1234440"/>
            <a:ext cx="164592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508760"/>
            <a:ext cx="11064240" cy="4297680"/>
          </a:xfrm>
          <a:prstGeom prst="rect">
            <a:avLst/>
          </a:prstGeom>
          <a:noFill/>
        </p:spPr>
        <p:txBody>
          <a:bodyPr wrap="square">
            <a:spAutoFit/>
          </a:bodyPr>
          <a:lstStyle/>
          <a:p>
            <a:pPr>
              <a:spcAft>
                <a:spcPts val="800"/>
              </a:spcAft>
            </a:pPr>
            <a:r>
              <a:rPr sz="1800" b="0">
                <a:solidFill>
                  <a:srgbClr val="222222"/>
                </a:solidFill>
                <a:latin typeface="Calibri"/>
              </a:rPr>
              <a:t/>
            </a:r>
            <a:r>
              <a:rPr sz="1800">
                <a:solidFill>
                  <a:srgbClr val="222222"/>
                </a:solidFill>
                <a:latin typeface="Calibri"/>
              </a:rPr>
              <a:t>• Evtanaziya atamasini XVI asrda ingliz faylasufi F.Bekon kiritgan. U "yaxshi o‘lim" degan ma’noni bildiradi. Uning tub ma’nosi o‘limga mahkum bemorlarning azobini yengillashtirishdir.</a:t>
            </a:r>
          </a:p>
          <a:p>
            <a:pPr>
              <a:spcAft>
                <a:spcPts val="800"/>
              </a:spcAft>
            </a:pPr>
            <a:r>
              <a:rPr sz="1800">
                <a:solidFill>
                  <a:srgbClr val="222222"/>
                </a:solidFill>
                <a:latin typeface="Calibri"/>
              </a:rPr>
              <a:t>• Aktiv evtanaziya ma’lum bir harakat orqali o‘limni tezlashtirishdir.</a:t>
            </a:r>
          </a:p>
          <a:p>
            <a:pPr>
              <a:spcAft>
                <a:spcPts val="800"/>
              </a:spcAft>
            </a:pPr>
            <a:r>
              <a:rPr sz="1800">
                <a:solidFill>
                  <a:srgbClr val="222222"/>
                </a:solidFill>
                <a:latin typeface="Calibri"/>
              </a:rPr>
              <a:t>• Bevosita aktiv evtanaziya o‘limni tezlashtirish maqsadida qilingan harakatdir. U qotillik yoki o‘z-o‘zini o‘ldirish ko‘rinishida bo‘ladi.</a:t>
            </a:r>
          </a:p>
          <a:p>
            <a:pPr>
              <a:spcAft>
                <a:spcPts val="800"/>
              </a:spcAft>
            </a:pPr>
            <a:r>
              <a:rPr sz="1800">
                <a:solidFill>
                  <a:srgbClr val="222222"/>
                </a:solidFill>
                <a:latin typeface="Calibri"/>
              </a:rPr>
              <a:t>• Bilvosita aktiv evtanaziyada o‘limni tezlashtirish maqsadi bo‘lmaydi. O‘lim ehtiyotsizlik orqasida odam o‘ldirish yoki baxtsiz hodisa deb baholanadi. Misol: og‘riqni kamaytirish uchun vrach yoki bemor og‘riq qoldiruvchi preparatni katta dozada yuboradi yoki qabul qiladi.</a:t>
            </a:r>
          </a:p>
        </p:txBody>
      </p:sp>
      <p:sp>
        <p:nvSpPr>
          <p:cNvPr id="5" name="TextBox 4"/>
          <p:cNvSpPr txBox="1"/>
          <p:nvPr/>
        </p:nvSpPr>
        <p:spPr>
          <a:xfrm>
            <a:off x="548640" y="6126480"/>
            <a:ext cx="11064240" cy="548640"/>
          </a:xfrm>
          <a:prstGeom prst="rect">
            <a:avLst/>
          </a:prstGeom>
          <a:noFill/>
        </p:spPr>
        <p:txBody>
          <a:bodyPr wrap="square">
            <a:spAutoFit/>
          </a:bodyPr>
          <a:lstStyle/>
          <a:p>
            <a:r>
              <a:rPr sz="1000" b="0">
                <a:solidFill>
                  <a:srgbClr val="666666"/>
                </a:solidFill>
                <a:latin typeface="Calibri"/>
              </a:rPr>
              <a:t>Manba: [G‘iyosov Z.A., Sud tibbiyoti (Tibbiyot oliy o‘quv yurtlari talabalari uchun darslik), Toshkent: Global Books nashriyoti, 218]; [G‘iyosov Z.A., Sud tibbiyoti (Tibbiyot oliy o‘quv yurtlari talabalari uchun darslik), Toshkent: Global Books nashriyoti, 218-219]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0B1F3A"/>
                </a:solidFill>
                <a:latin typeface="Georgia"/>
              </a:rPr>
              <a:t>Passiv evtanaziya, medikotanaziya, distanaziya</a:t>
            </a:r>
          </a:p>
        </p:txBody>
      </p:sp>
      <p:sp>
        <p:nvSpPr>
          <p:cNvPr id="3" name="Rectangle 2"/>
          <p:cNvSpPr/>
          <p:nvPr/>
        </p:nvSpPr>
        <p:spPr>
          <a:xfrm>
            <a:off x="548640" y="1234440"/>
            <a:ext cx="164592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508760"/>
            <a:ext cx="11064240" cy="4297680"/>
          </a:xfrm>
          <a:prstGeom prst="rect">
            <a:avLst/>
          </a:prstGeom>
          <a:noFill/>
        </p:spPr>
        <p:txBody>
          <a:bodyPr wrap="square">
            <a:spAutoFit/>
          </a:bodyPr>
          <a:lstStyle/>
          <a:p>
            <a:pPr>
              <a:spcAft>
                <a:spcPts val="800"/>
              </a:spcAft>
            </a:pPr>
            <a:r>
              <a:rPr sz="1800" b="0">
                <a:solidFill>
                  <a:srgbClr val="222222"/>
                </a:solidFill>
                <a:latin typeface="Calibri"/>
              </a:rPr>
              <a:t/>
            </a:r>
            <a:r>
              <a:rPr sz="1800">
                <a:solidFill>
                  <a:srgbClr val="222222"/>
                </a:solidFill>
                <a:latin typeface="Calibri"/>
              </a:rPr>
              <a:t>• Passiv evtanaziya (ortotanaziya) o‘limga mahkum bemorga tibbiy yordamni cheklash yoki to‘xtatish natijasida o‘limning tezroq sodir bo‘lishidir. Jinoyat qonunchiligida bu xizmat vazifasini lozim darajada bajarmaslik yoki hayotni xavf ostida qoldirish deb baholanadi.</a:t>
            </a:r>
          </a:p>
          <a:p>
            <a:pPr>
              <a:spcAft>
                <a:spcPts val="800"/>
              </a:spcAft>
            </a:pPr>
            <a:r>
              <a:rPr sz="1800">
                <a:solidFill>
                  <a:srgbClr val="222222"/>
                </a:solidFill>
                <a:latin typeface="Calibri"/>
              </a:rPr>
              <a:t>• Medikotanaziya dori-darmonlar yordamida o‘limga mahkum bemorning azobini yengillashtirib, hayot sifatini imkon qadar yaxshilashdir.</a:t>
            </a:r>
          </a:p>
          <a:p>
            <a:pPr>
              <a:spcAft>
                <a:spcPts val="800"/>
              </a:spcAft>
            </a:pPr>
            <a:r>
              <a:rPr sz="1800">
                <a:solidFill>
                  <a:srgbClr val="222222"/>
                </a:solidFill>
                <a:latin typeface="Calibri"/>
              </a:rPr>
              <a:t>• Distanaziya azobni yengillashtirgan holda bemor hayotini nafaqat palliativ, balki radikal muolajalar bilan ham maksimal uzaytirishni anglatadi.</a:t>
            </a:r>
          </a:p>
          <a:p>
            <a:pPr>
              <a:spcAft>
                <a:spcPts val="800"/>
              </a:spcAft>
            </a:pPr>
            <a:r>
              <a:rPr sz="1800">
                <a:solidFill>
                  <a:srgbClr val="222222"/>
                </a:solidFill>
                <a:latin typeface="Calibri"/>
              </a:rPr>
              <a:t>• Ko‘pchilik evtanaziyani tor ma’noda tushunadi. Unga faqat aktiv va passiv evtanaziyani kiritadi, ya’ni o‘limni aktiv choralar bilan yoki passiv ravishda tezlashtirish deb hisoblaydi.</a:t>
            </a:r>
          </a:p>
        </p:txBody>
      </p:sp>
      <p:graphicFrame>
        <p:nvGraphicFramePr>
          <p:cNvPr id="5" name="Table 4"/>
          <p:cNvGraphicFramePr>
            <a:graphicFrameLocks noGrp="1"/>
          </p:cNvGraphicFramePr>
          <p:nvPr/>
        </p:nvGraphicFramePr>
        <p:xfrm>
          <a:off x="548640" y="4023360"/>
          <a:ext cx="11064240" cy="182880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200"/>
                        <a:t>Turi</a:t>
                      </a:r>
                    </a:p>
                  </a:txBody>
                  <a:tcPr/>
                </a:tc>
                <a:tc>
                  <a:txBody>
                    <a:bodyPr/>
                    <a:lstStyle/>
                    <a:p>
                      <a:r>
                        <a:rPr sz="1200"/>
                        <a:t>Mohiyati</a:t>
                      </a:r>
                    </a:p>
                  </a:txBody>
                  <a:tcPr/>
                </a:tc>
              </a:tr>
              <a:tr h="365760">
                <a:tc>
                  <a:txBody>
                    <a:bodyPr/>
                    <a:lstStyle/>
                    <a:p>
                      <a:r>
                        <a:rPr sz="1200"/>
                        <a:t>Aktiv evtanaziya</a:t>
                      </a:r>
                    </a:p>
                  </a:txBody>
                  <a:tcPr/>
                </a:tc>
                <a:tc>
                  <a:txBody>
                    <a:bodyPr/>
                    <a:lstStyle/>
                    <a:p>
                      <a:r>
                        <a:rPr sz="1200"/>
                        <a:t>Harakat orqali o‘limni tezlashtirish (bevosita yoki bilvosita)</a:t>
                      </a:r>
                    </a:p>
                  </a:txBody>
                  <a:tcPr/>
                </a:tc>
              </a:tr>
              <a:tr h="365760">
                <a:tc>
                  <a:txBody>
                    <a:bodyPr/>
                    <a:lstStyle/>
                    <a:p>
                      <a:r>
                        <a:rPr sz="1200"/>
                        <a:t>Passiv evtanaziya (ortotanaziya)</a:t>
                      </a:r>
                    </a:p>
                  </a:txBody>
                  <a:tcPr/>
                </a:tc>
                <a:tc>
                  <a:txBody>
                    <a:bodyPr/>
                    <a:lstStyle/>
                    <a:p>
                      <a:r>
                        <a:rPr sz="1200"/>
                        <a:t>Tibbiy yordamni cheklash yoki to‘xtatish</a:t>
                      </a:r>
                    </a:p>
                  </a:txBody>
                  <a:tcPr/>
                </a:tc>
              </a:tr>
              <a:tr h="365760">
                <a:tc>
                  <a:txBody>
                    <a:bodyPr/>
                    <a:lstStyle/>
                    <a:p>
                      <a:r>
                        <a:rPr sz="1200"/>
                        <a:t>Medikotanaziya</a:t>
                      </a:r>
                    </a:p>
                  </a:txBody>
                  <a:tcPr/>
                </a:tc>
                <a:tc>
                  <a:txBody>
                    <a:bodyPr/>
                    <a:lstStyle/>
                    <a:p>
                      <a:r>
                        <a:rPr sz="1200"/>
                        <a:t>Dori-darmon bilan azobni yengillashtirish, hayot sifatini yaxshilash</a:t>
                      </a:r>
                    </a:p>
                  </a:txBody>
                  <a:tcPr/>
                </a:tc>
              </a:tr>
              <a:tr h="365760">
                <a:tc>
                  <a:txBody>
                    <a:bodyPr/>
                    <a:lstStyle/>
                    <a:p>
                      <a:r>
                        <a:rPr sz="1200"/>
                        <a:t>Distanaziya</a:t>
                      </a:r>
                    </a:p>
                  </a:txBody>
                  <a:tcPr/>
                </a:tc>
                <a:tc>
                  <a:txBody>
                    <a:bodyPr/>
                    <a:lstStyle/>
                    <a:p>
                      <a:r>
                        <a:rPr sz="1200"/>
                        <a:t>Azobni yengillashtirib, hayotni palliativ va radikal muolajalar bilan maksimal uzaytirish</a:t>
                      </a:r>
                    </a:p>
                  </a:txBody>
                  <a:tcPr/>
                </a:tc>
              </a:tr>
            </a:tbl>
          </a:graphicData>
        </a:graphic>
      </p:graphicFrame>
      <p:sp>
        <p:nvSpPr>
          <p:cNvPr id="6" name="TextBox 5"/>
          <p:cNvSpPr txBox="1"/>
          <p:nvPr/>
        </p:nvSpPr>
        <p:spPr>
          <a:xfrm>
            <a:off x="548640" y="5669280"/>
            <a:ext cx="11064240" cy="365760"/>
          </a:xfrm>
          <a:prstGeom prst="rect">
            <a:avLst/>
          </a:prstGeom>
          <a:noFill/>
        </p:spPr>
        <p:txBody>
          <a:bodyPr wrap="square">
            <a:spAutoFit/>
          </a:bodyPr>
          <a:lstStyle/>
          <a:p>
            <a:r>
              <a:rPr sz="1100" b="0">
                <a:solidFill>
                  <a:srgbClr val="666666"/>
                </a:solidFill>
                <a:latin typeface="Calibri"/>
              </a:rPr>
              <a:t>Evtanaziya turlari (darslikdagi 8.1-jadval asosida qayta tuzilgan sodda sxema)</a:t>
            </a:r>
          </a:p>
        </p:txBody>
      </p:sp>
      <p:sp>
        <p:nvSpPr>
          <p:cNvPr id="7" name="TextBox 6"/>
          <p:cNvSpPr txBox="1"/>
          <p:nvPr/>
        </p:nvSpPr>
        <p:spPr>
          <a:xfrm>
            <a:off x="548640" y="6126480"/>
            <a:ext cx="11064240" cy="548640"/>
          </a:xfrm>
          <a:prstGeom prst="rect">
            <a:avLst/>
          </a:prstGeom>
          <a:noFill/>
        </p:spPr>
        <p:txBody>
          <a:bodyPr wrap="square">
            <a:spAutoFit/>
          </a:bodyPr>
          <a:lstStyle/>
          <a:p>
            <a:r>
              <a:rPr sz="1000" b="0">
                <a:solidFill>
                  <a:srgbClr val="666666"/>
                </a:solidFill>
                <a:latin typeface="Calibri"/>
              </a:rPr>
              <a:t>Manba: [G‘iyosov Z.A., Sud tibbiyoti (Tibbiyot oliy o‘quv yurtlari talabalari uchun darslik), Toshkent: Global Books nashriyoti, 219]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0B1F3A"/>
                </a:solidFill>
                <a:latin typeface="Georgia"/>
              </a:rPr>
              <a:t>Bosh miya po‘stlog‘i o‘limi va individual o‘lim</a:t>
            </a:r>
          </a:p>
        </p:txBody>
      </p:sp>
      <p:sp>
        <p:nvSpPr>
          <p:cNvPr id="3" name="Rectangle 2"/>
          <p:cNvSpPr/>
          <p:nvPr/>
        </p:nvSpPr>
        <p:spPr>
          <a:xfrm>
            <a:off x="548640" y="1234440"/>
            <a:ext cx="164592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508760"/>
            <a:ext cx="11064240" cy="4297680"/>
          </a:xfrm>
          <a:prstGeom prst="rect">
            <a:avLst/>
          </a:prstGeom>
          <a:noFill/>
        </p:spPr>
        <p:txBody>
          <a:bodyPr wrap="square">
            <a:spAutoFit/>
          </a:bodyPr>
          <a:lstStyle/>
          <a:p>
            <a:pPr>
              <a:spcAft>
                <a:spcPts val="800"/>
              </a:spcAft>
            </a:pPr>
            <a:r>
              <a:rPr sz="1800" b="0">
                <a:solidFill>
                  <a:srgbClr val="222222"/>
                </a:solidFill>
                <a:latin typeface="Calibri"/>
              </a:rPr>
              <a:t/>
            </a:r>
            <a:r>
              <a:rPr sz="1800">
                <a:solidFill>
                  <a:srgbClr val="222222"/>
                </a:solidFill>
                <a:latin typeface="Calibri"/>
              </a:rPr>
              <a:t>• A’zo va to‘qimalar filogenetik yoshi turlicha bo‘lgani uchun ulardagi qaytmas o‘zgarishlar bir vaqtda yuz bermaydi. Filogenetik yosh to‘qimalar ta’sirga sezgir bo‘lgani sababli, qaytmas o‘zgarishlar avval bosh miya po‘stlog‘ida boshlanadi.</a:t>
            </a:r>
          </a:p>
          <a:p>
            <a:pPr>
              <a:spcAft>
                <a:spcPts val="800"/>
              </a:spcAft>
            </a:pPr>
            <a:r>
              <a:rPr sz="1800">
                <a:solidFill>
                  <a:srgbClr val="222222"/>
                </a:solidFill>
                <a:latin typeface="Calibri"/>
              </a:rPr>
              <a:t>• Bosh miya po‘stlog‘ining o‘limi biologik o‘limning boshlanishi hisoblanadi va "miya o‘limi" deb qabul qilinadi. W. Durwald (1981) bu holatni "individual o‘lim" deb atagan.</a:t>
            </a:r>
          </a:p>
          <a:p>
            <a:pPr>
              <a:spcAft>
                <a:spcPts val="800"/>
              </a:spcAft>
            </a:pPr>
            <a:r>
              <a:rPr sz="1800">
                <a:solidFill>
                  <a:srgbClr val="222222"/>
                </a:solidFill>
                <a:latin typeface="Calibri"/>
              </a:rPr>
              <a:t>• Bunda boshqa a’zolar faoliyati davom etishi yoki muolaja bilan tiklanishi mumkin, lekin organizm bir butunlik xususiyatini yo‘qotadi. Po‘stloq o‘limi bilan boshqa a’zolar o‘limi orasidagi oraliq davr 20 soatga yaqin. Murdadan a’zo olib transplantatsiya qilish shu xususiyatga asoslangan.</a:t>
            </a:r>
          </a:p>
          <a:p>
            <a:pPr>
              <a:spcAft>
                <a:spcPts val="800"/>
              </a:spcAft>
            </a:pPr>
            <a:r>
              <a:rPr sz="1800">
                <a:solidFill>
                  <a:srgbClr val="222222"/>
                </a:solidFill>
                <a:latin typeface="Calibri"/>
              </a:rPr>
              <a:t>• Po‘stloq o‘limi shaxsning o‘limi deb hisoblanadi, organizm hayot faoliyati esa vegetativ holatda davom etadi. Zamonaviy reanimatsiya choralari bilan organizmni yillar davomida shu holatda saqlash mumkin.</a:t>
            </a:r>
          </a:p>
        </p:txBody>
      </p:sp>
      <p:sp>
        <p:nvSpPr>
          <p:cNvPr id="5" name="TextBox 4"/>
          <p:cNvSpPr txBox="1"/>
          <p:nvPr/>
        </p:nvSpPr>
        <p:spPr>
          <a:xfrm>
            <a:off x="548640" y="6126480"/>
            <a:ext cx="11064240" cy="548640"/>
          </a:xfrm>
          <a:prstGeom prst="rect">
            <a:avLst/>
          </a:prstGeom>
          <a:noFill/>
        </p:spPr>
        <p:txBody>
          <a:bodyPr wrap="square">
            <a:spAutoFit/>
          </a:bodyPr>
          <a:lstStyle/>
          <a:p>
            <a:r>
              <a:rPr sz="1000" b="0">
                <a:solidFill>
                  <a:srgbClr val="666666"/>
                </a:solidFill>
                <a:latin typeface="Calibri"/>
              </a:rPr>
              <a:t>Manba: [G‘iyosov Z.A., Sud tibbiyoti (Tibbiyot oliy o‘quv yurtlari talabalari uchun darslik), Toshkent: Global Books nashriyoti, 219-220]; [G‘iyosov Z.A., Sud tibbiyoti (Tibbiyot oliy o‘quv yurtlari talabalari uchun darslik), Toshkent: Global Books nashriyoti, 220]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0B1F3A"/>
                </a:solidFill>
                <a:latin typeface="Georgia"/>
              </a:rPr>
              <a:t>Miya o‘limi va transplantatsiya</a:t>
            </a:r>
          </a:p>
        </p:txBody>
      </p:sp>
      <p:sp>
        <p:nvSpPr>
          <p:cNvPr id="3" name="Rectangle 2"/>
          <p:cNvSpPr/>
          <p:nvPr/>
        </p:nvSpPr>
        <p:spPr>
          <a:xfrm>
            <a:off x="548640" y="1234440"/>
            <a:ext cx="164592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508760"/>
            <a:ext cx="11064240" cy="4297680"/>
          </a:xfrm>
          <a:prstGeom prst="rect">
            <a:avLst/>
          </a:prstGeom>
          <a:noFill/>
        </p:spPr>
        <p:txBody>
          <a:bodyPr wrap="square">
            <a:spAutoFit/>
          </a:bodyPr>
          <a:lstStyle/>
          <a:p>
            <a:pPr>
              <a:spcAft>
                <a:spcPts val="800"/>
              </a:spcAft>
            </a:pPr>
            <a:r>
              <a:rPr sz="1800" b="0">
                <a:solidFill>
                  <a:srgbClr val="222222"/>
                </a:solidFill>
                <a:latin typeface="Calibri"/>
              </a:rPr>
              <a:t/>
            </a:r>
            <a:r>
              <a:rPr sz="1800">
                <a:solidFill>
                  <a:srgbClr val="222222"/>
                </a:solidFill>
                <a:latin typeface="Calibri"/>
              </a:rPr>
              <a:t>• Bosh miya po‘stlog‘ining o‘limi biologik o‘limning boshlanishi hisoblanadi va "miya o‘limi" deb qabul qilinadi. Bunda organizm o‘zining bir butunlik xususiyatini yo‘qotadi.</a:t>
            </a:r>
          </a:p>
          <a:p>
            <a:pPr>
              <a:spcAft>
                <a:spcPts val="800"/>
              </a:spcAft>
            </a:pPr>
            <a:r>
              <a:rPr sz="1800">
                <a:solidFill>
                  <a:srgbClr val="222222"/>
                </a:solidFill>
                <a:latin typeface="Calibri"/>
              </a:rPr>
              <a:t>• Aksariyat mamlakatlarda bosh miyaning tiklab bo‘lmaydigan o‘zgarishlar bilan kechadigan o‘limi insonning biologik o‘limi deb baholanadi. Qonun hujjatlariga binoan bunda reanimatsion tadbirlarni to‘xtatishga va ko‘chirib o‘tkazish uchun a’zo hamda to‘qima olishga ruxsat etiladi.</a:t>
            </a:r>
          </a:p>
          <a:p>
            <a:pPr>
              <a:spcAft>
                <a:spcPts val="800"/>
              </a:spcAft>
            </a:pPr>
            <a:r>
              <a:rPr sz="1800">
                <a:solidFill>
                  <a:srgbClr val="222222"/>
                </a:solidFill>
                <a:latin typeface="Calibri"/>
              </a:rPr>
              <a:t>• Miya o‘limi belgilangan tartibda aniqlanadi, bu tartibni Sog‘liqni saqlash vazirligi ishlab chiqadi. Davolash muassasalarida uni odatda malakali reanimatolog va nevrologlar aniqlaydi, bunda apparatura va asbob-uskuna kerak bo‘ladi.</a:t>
            </a:r>
          </a:p>
          <a:p>
            <a:pPr>
              <a:spcAft>
                <a:spcPts val="800"/>
              </a:spcAft>
            </a:pPr>
            <a:r>
              <a:rPr sz="1800">
                <a:solidFill>
                  <a:srgbClr val="222222"/>
                </a:solidFill>
                <a:latin typeface="Calibri"/>
              </a:rPr>
              <a:t>• Biologik o‘limdan so‘ng a’zo va to‘qimalar qanchalik erta olinsa, ko‘chirib o‘tkazish natijasi shunchalik samarali bo‘ladi. Bunday imkoniyat bo‘lmasa, biologik o‘lim asosan murda o‘zgarishlari bo‘yicha aniqlanadi.</a:t>
            </a:r>
          </a:p>
        </p:txBody>
      </p:sp>
      <p:sp>
        <p:nvSpPr>
          <p:cNvPr id="5" name="TextBox 4"/>
          <p:cNvSpPr txBox="1"/>
          <p:nvPr/>
        </p:nvSpPr>
        <p:spPr>
          <a:xfrm>
            <a:off x="548640" y="6126480"/>
            <a:ext cx="11064240" cy="548640"/>
          </a:xfrm>
          <a:prstGeom prst="rect">
            <a:avLst/>
          </a:prstGeom>
          <a:noFill/>
        </p:spPr>
        <p:txBody>
          <a:bodyPr wrap="square">
            <a:spAutoFit/>
          </a:bodyPr>
          <a:lstStyle/>
          <a:p>
            <a:r>
              <a:rPr sz="1000" b="0">
                <a:solidFill>
                  <a:srgbClr val="666666"/>
                </a:solidFill>
                <a:latin typeface="Calibri"/>
              </a:rPr>
              <a:t>Manba: [G‘iyosov Z.A., Sud tibbiyoti (Tibbiyot oliy o‘quv yurtlari talabalari uchun darslik), Toshkent: Global Books nashriyoti, 220]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0B1F3A"/>
                </a:solidFill>
                <a:latin typeface="Georgia"/>
              </a:rPr>
              <a:t>O‘limning dastlabki va ehtimoliy belgilari</a:t>
            </a:r>
          </a:p>
        </p:txBody>
      </p:sp>
      <p:sp>
        <p:nvSpPr>
          <p:cNvPr id="3" name="Rectangle 2"/>
          <p:cNvSpPr/>
          <p:nvPr/>
        </p:nvSpPr>
        <p:spPr>
          <a:xfrm>
            <a:off x="548640" y="1234440"/>
            <a:ext cx="164592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508760"/>
            <a:ext cx="11064240" cy="4297680"/>
          </a:xfrm>
          <a:prstGeom prst="rect">
            <a:avLst/>
          </a:prstGeom>
          <a:noFill/>
        </p:spPr>
        <p:txBody>
          <a:bodyPr wrap="square">
            <a:spAutoFit/>
          </a:bodyPr>
          <a:lstStyle/>
          <a:p>
            <a:pPr>
              <a:spcAft>
                <a:spcPts val="800"/>
              </a:spcAft>
            </a:pPr>
            <a:r>
              <a:rPr sz="1800" b="0">
                <a:solidFill>
                  <a:srgbClr val="222222"/>
                </a:solidFill>
                <a:latin typeface="Calibri"/>
              </a:rPr>
              <a:t/>
            </a:r>
            <a:r>
              <a:rPr sz="1800">
                <a:solidFill>
                  <a:srgbClr val="222222"/>
                </a:solidFill>
                <a:latin typeface="Calibri"/>
              </a:rPr>
              <a:t>• Dastlabki belgilar o‘limdan so‘ng darhol aniqlanadi, ammo ular faqat ehtimoliy xususiyatga ega.</a:t>
            </a:r>
          </a:p>
          <a:p>
            <a:pPr>
              <a:spcAft>
                <a:spcPts val="800"/>
              </a:spcAft>
            </a:pPr>
            <a:r>
              <a:rPr sz="1800">
                <a:solidFill>
                  <a:srgbClr val="222222"/>
                </a:solidFill>
                <a:latin typeface="Calibri"/>
              </a:rPr>
              <a:t>• Ularga tananing passiv, harakatsiz holati va teri qoplamlarining oqarishi kiradi.</a:t>
            </a:r>
          </a:p>
          <a:p>
            <a:pPr>
              <a:spcAft>
                <a:spcPts val="800"/>
              </a:spcAft>
            </a:pPr>
            <a:r>
              <a:rPr sz="1800">
                <a:solidFill>
                  <a:srgbClr val="222222"/>
                </a:solidFill>
                <a:latin typeface="Calibri"/>
              </a:rPr>
              <a:t>• Shuningdek hush, nafas va yurak urishining yo‘qligi, tananing biroz sovushi hamda tashqi ta’sirlarga javob reaksiyasining bo‘lmasligi ham shu guruhga kiradi.</a:t>
            </a:r>
          </a:p>
        </p:txBody>
      </p:sp>
      <p:sp>
        <p:nvSpPr>
          <p:cNvPr id="5" name="TextBox 4"/>
          <p:cNvSpPr txBox="1"/>
          <p:nvPr/>
        </p:nvSpPr>
        <p:spPr>
          <a:xfrm>
            <a:off x="548640" y="6126480"/>
            <a:ext cx="11064240" cy="548640"/>
          </a:xfrm>
          <a:prstGeom prst="rect">
            <a:avLst/>
          </a:prstGeom>
          <a:noFill/>
        </p:spPr>
        <p:txBody>
          <a:bodyPr wrap="square">
            <a:spAutoFit/>
          </a:bodyPr>
          <a:lstStyle/>
          <a:p>
            <a:r>
              <a:rPr sz="1000" b="0">
                <a:solidFill>
                  <a:srgbClr val="666666"/>
                </a:solidFill>
                <a:latin typeface="Calibri"/>
              </a:rPr>
              <a:t>Manba: [G‘iyosov Z.A., Sud tibbiyoti (Tibbiyot oliy o‘quv yurtlari talabalari uchun darslik), Toshkent: Global Books nashriyoti, 220]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0B1F3A"/>
                </a:solidFill>
                <a:latin typeface="Georgia"/>
              </a:rPr>
              <a:t>O‘limning ishonchli belgilari</a:t>
            </a:r>
          </a:p>
        </p:txBody>
      </p:sp>
      <p:sp>
        <p:nvSpPr>
          <p:cNvPr id="3" name="Rectangle 2"/>
          <p:cNvSpPr/>
          <p:nvPr/>
        </p:nvSpPr>
        <p:spPr>
          <a:xfrm>
            <a:off x="548640" y="1234440"/>
            <a:ext cx="164592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508760"/>
            <a:ext cx="11064240" cy="4297680"/>
          </a:xfrm>
          <a:prstGeom prst="rect">
            <a:avLst/>
          </a:prstGeom>
          <a:noFill/>
        </p:spPr>
        <p:txBody>
          <a:bodyPr wrap="square">
            <a:spAutoFit/>
          </a:bodyPr>
          <a:lstStyle/>
          <a:p>
            <a:pPr>
              <a:spcAft>
                <a:spcPts val="800"/>
              </a:spcAft>
            </a:pPr>
            <a:r>
              <a:rPr sz="1800" b="0">
                <a:solidFill>
                  <a:srgbClr val="222222"/>
                </a:solidFill>
                <a:latin typeface="Calibri"/>
              </a:rPr>
              <a:t/>
            </a:r>
            <a:r>
              <a:rPr sz="1800">
                <a:solidFill>
                  <a:srgbClr val="222222"/>
                </a:solidFill>
                <a:latin typeface="Calibri"/>
              </a:rPr>
              <a:t>• Ishonchli belgilar biroz muddatdan so‘ng paydo bo‘ladi. Eng erta ishonchli belgi — Beloglazov simptomi ("mushuk ko‘zi"), u 15-20 daqiqadan so‘ng aniqlanadi.</a:t>
            </a:r>
          </a:p>
          <a:p>
            <a:pPr>
              <a:spcAft>
                <a:spcPts val="800"/>
              </a:spcAft>
            </a:pPr>
            <a:r>
              <a:rPr sz="1800">
                <a:solidFill>
                  <a:srgbClr val="222222"/>
                </a:solidFill>
                <a:latin typeface="Calibri"/>
              </a:rPr>
              <a:t>• Bu simptomda ko‘z olmasi yon tomonlardan siqilganda qorachiq ovalsimon shaklni oladi. O‘limdan 1,5-2,0 soat so‘ng qorachiq mushaklarining qotishi tufayli simptom aniqlanmasligi mumkin.</a:t>
            </a:r>
          </a:p>
          <a:p>
            <a:pPr>
              <a:spcAft>
                <a:spcPts val="800"/>
              </a:spcAft>
            </a:pPr>
            <a:r>
              <a:rPr sz="1800">
                <a:solidFill>
                  <a:srgbClr val="222222"/>
                </a:solidFill>
                <a:latin typeface="Calibri"/>
              </a:rPr>
              <a:t>• Tana haroratining 23 gradusgacha va undan pastroq sovushi ham o‘limning ishonchli belgisi hisoblanadi.</a:t>
            </a:r>
          </a:p>
          <a:p>
            <a:pPr>
              <a:spcAft>
                <a:spcPts val="800"/>
              </a:spcAft>
            </a:pPr>
            <a:r>
              <a:rPr sz="1800">
                <a:solidFill>
                  <a:srgbClr val="222222"/>
                </a:solidFill>
                <a:latin typeface="Calibri"/>
              </a:rPr>
              <a:t>• Shu guruhga murdaning boshqa ilk o‘zgarishlari — murda dog‘lari, murdaning qotishi va qurishi ham kiradi.</a:t>
            </a:r>
          </a:p>
        </p:txBody>
      </p:sp>
      <p:sp>
        <p:nvSpPr>
          <p:cNvPr id="5" name="TextBox 4"/>
          <p:cNvSpPr txBox="1"/>
          <p:nvPr/>
        </p:nvSpPr>
        <p:spPr>
          <a:xfrm>
            <a:off x="548640" y="6126480"/>
            <a:ext cx="11064240" cy="548640"/>
          </a:xfrm>
          <a:prstGeom prst="rect">
            <a:avLst/>
          </a:prstGeom>
          <a:noFill/>
        </p:spPr>
        <p:txBody>
          <a:bodyPr wrap="square">
            <a:spAutoFit/>
          </a:bodyPr>
          <a:lstStyle/>
          <a:p>
            <a:r>
              <a:rPr sz="1000" b="0">
                <a:solidFill>
                  <a:srgbClr val="666666"/>
                </a:solidFill>
                <a:latin typeface="Calibri"/>
              </a:rPr>
              <a:t>Manba: [G‘iyosov Z.A., Sud tibbiyoti (Tibbiyot oliy o‘quv yurtlari talabalari uchun darslik), Toshkent: Global Books nashriyoti, 220]; [G‘iyosov Z.A., Sud tibbiyoti (Tibbiyot oliy o‘quv yurtlari talabalari uchun darslik), Toshkent: Global Books nashriyoti, 221]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0B1F3A"/>
                </a:solidFill>
                <a:latin typeface="Georgia"/>
              </a:rPr>
              <a:t>O‘limning sud-tibbiy tasnifi</a:t>
            </a:r>
          </a:p>
        </p:txBody>
      </p:sp>
      <p:sp>
        <p:nvSpPr>
          <p:cNvPr id="3" name="Rectangle 2"/>
          <p:cNvSpPr/>
          <p:nvPr/>
        </p:nvSpPr>
        <p:spPr>
          <a:xfrm>
            <a:off x="548640" y="1234440"/>
            <a:ext cx="164592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508760"/>
            <a:ext cx="11064240" cy="4297680"/>
          </a:xfrm>
          <a:prstGeom prst="rect">
            <a:avLst/>
          </a:prstGeom>
          <a:noFill/>
        </p:spPr>
        <p:txBody>
          <a:bodyPr wrap="square">
            <a:spAutoFit/>
          </a:bodyPr>
          <a:lstStyle/>
          <a:p>
            <a:pPr>
              <a:spcAft>
                <a:spcPts val="800"/>
              </a:spcAft>
            </a:pPr>
            <a:r>
              <a:rPr sz="1800" b="0">
                <a:solidFill>
                  <a:srgbClr val="222222"/>
                </a:solidFill>
                <a:latin typeface="Calibri"/>
              </a:rPr>
              <a:t/>
            </a:r>
            <a:r>
              <a:rPr sz="1800">
                <a:solidFill>
                  <a:srgbClr val="222222"/>
                </a:solidFill>
                <a:latin typeface="Calibri"/>
              </a:rPr>
              <a:t>• Sud-tibbiy nuqtai nazardan o‘limning toifasi, xili va turi farqlanadi.</a:t>
            </a:r>
          </a:p>
          <a:p>
            <a:pPr>
              <a:spcAft>
                <a:spcPts val="800"/>
              </a:spcAft>
            </a:pPr>
            <a:r>
              <a:rPr sz="1800">
                <a:solidFill>
                  <a:srgbClr val="222222"/>
                </a:solidFill>
                <a:latin typeface="Calibri"/>
              </a:rPr>
              <a:t>• Toifa bo‘yicha o‘lim zo‘raki va nozo‘raki bo‘ladi. Zo‘raki o‘lim biron-bir tashqi ta’sir natijasida yuz beradi, nozo‘raki o‘lim esa turli kasalliklardan sodir bo‘ladi.</a:t>
            </a:r>
          </a:p>
          <a:p>
            <a:pPr>
              <a:spcAft>
                <a:spcPts val="800"/>
              </a:spcAft>
            </a:pPr>
            <a:r>
              <a:rPr sz="1800">
                <a:solidFill>
                  <a:srgbClr val="222222"/>
                </a:solidFill>
                <a:latin typeface="Calibri"/>
              </a:rPr>
              <a:t>• Zo‘raki o‘lim xil bo‘yicha qotillik, o‘z-o‘zini o‘ldirish va baxtsiz hodisaga bo‘linadi. Nozo‘raki o‘lim turlarga bo‘linmaydi.</a:t>
            </a:r>
          </a:p>
          <a:p>
            <a:pPr>
              <a:spcAft>
                <a:spcPts val="800"/>
              </a:spcAft>
            </a:pPr>
            <a:r>
              <a:rPr sz="1800">
                <a:solidFill>
                  <a:srgbClr val="222222"/>
                </a:solidFill>
                <a:latin typeface="Calibri"/>
              </a:rPr>
              <a:t>• Zo‘raki o‘lim turlari: mexanik jarohat, mexanik asfiksiya, zaharlanish, yuqori va past harorat, elektr toki va boshqa omillar. Nozo‘raki o‘lim sabab bo‘lgan kasalliklar bo‘yicha turlarga bo‘linadi.</a:t>
            </a:r>
          </a:p>
        </p:txBody>
      </p:sp>
      <p:graphicFrame>
        <p:nvGraphicFramePr>
          <p:cNvPr id="5" name="Table 4"/>
          <p:cNvGraphicFramePr>
            <a:graphicFrameLocks noGrp="1"/>
          </p:cNvGraphicFramePr>
          <p:nvPr/>
        </p:nvGraphicFramePr>
        <p:xfrm>
          <a:off x="548640" y="4023360"/>
          <a:ext cx="11064240" cy="14630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a:t>Tasnif belgisi</a:t>
                      </a:r>
                    </a:p>
                  </a:txBody>
                  <a:tcPr/>
                </a:tc>
                <a:tc>
                  <a:txBody>
                    <a:bodyPr/>
                    <a:lstStyle/>
                    <a:p>
                      <a:r>
                        <a:rPr sz="1200"/>
                        <a:t>Zo‘raki o‘lim</a:t>
                      </a:r>
                    </a:p>
                  </a:txBody>
                  <a:tcPr/>
                </a:tc>
                <a:tc>
                  <a:txBody>
                    <a:bodyPr/>
                    <a:lstStyle/>
                    <a:p>
                      <a:r>
                        <a:rPr sz="1200"/>
                        <a:t>Nozo‘raki o‘lim</a:t>
                      </a:r>
                    </a:p>
                  </a:txBody>
                  <a:tcPr/>
                </a:tc>
              </a:tr>
              <a:tr h="365760">
                <a:tc>
                  <a:txBody>
                    <a:bodyPr/>
                    <a:lstStyle/>
                    <a:p>
                      <a:r>
                        <a:rPr sz="1200"/>
                        <a:t>Toifa bo‘yicha</a:t>
                      </a:r>
                    </a:p>
                  </a:txBody>
                  <a:tcPr/>
                </a:tc>
                <a:tc>
                  <a:txBody>
                    <a:bodyPr/>
                    <a:lstStyle/>
                    <a:p>
                      <a:r>
                        <a:rPr sz="1200"/>
                        <a:t>Tashqi ta’sir natijasida</a:t>
                      </a:r>
                    </a:p>
                  </a:txBody>
                  <a:tcPr/>
                </a:tc>
                <a:tc>
                  <a:txBody>
                    <a:bodyPr/>
                    <a:lstStyle/>
                    <a:p>
                      <a:r>
                        <a:rPr sz="1200"/>
                        <a:t>Kasalliklardan</a:t>
                      </a:r>
                    </a:p>
                  </a:txBody>
                  <a:tcPr/>
                </a:tc>
              </a:tr>
              <a:tr h="365760">
                <a:tc>
                  <a:txBody>
                    <a:bodyPr/>
                    <a:lstStyle/>
                    <a:p>
                      <a:r>
                        <a:rPr sz="1200"/>
                        <a:t>Xil bo‘yicha</a:t>
                      </a:r>
                    </a:p>
                  </a:txBody>
                  <a:tcPr/>
                </a:tc>
                <a:tc>
                  <a:txBody>
                    <a:bodyPr/>
                    <a:lstStyle/>
                    <a:p>
                      <a:r>
                        <a:rPr sz="1200"/>
                        <a:t>Qotillik, o‘z-o‘zini o‘ldirish, baxtsiz hodisa</a:t>
                      </a:r>
                    </a:p>
                  </a:txBody>
                  <a:tcPr/>
                </a:tc>
                <a:tc>
                  <a:txBody>
                    <a:bodyPr/>
                    <a:lstStyle/>
                    <a:p>
                      <a:r>
                        <a:rPr sz="1200"/>
                        <a:t>Xillarga bo‘linmaydi</a:t>
                      </a:r>
                    </a:p>
                  </a:txBody>
                  <a:tcPr/>
                </a:tc>
              </a:tr>
              <a:tr h="365760">
                <a:tc>
                  <a:txBody>
                    <a:bodyPr/>
                    <a:lstStyle/>
                    <a:p>
                      <a:r>
                        <a:rPr sz="1200"/>
                        <a:t>Tur bo‘yicha</a:t>
                      </a:r>
                    </a:p>
                  </a:txBody>
                  <a:tcPr/>
                </a:tc>
                <a:tc>
                  <a:txBody>
                    <a:bodyPr/>
                    <a:lstStyle/>
                    <a:p>
                      <a:r>
                        <a:rPr sz="1200"/>
                        <a:t>Mexanik jarohat, mexanik asfiksiya, zaharlanish, harorat, elektr toki, boshqa omillar</a:t>
                      </a:r>
                    </a:p>
                  </a:txBody>
                  <a:tcPr/>
                </a:tc>
                <a:tc>
                  <a:txBody>
                    <a:bodyPr/>
                    <a:lstStyle/>
                    <a:p>
                      <a:r>
                        <a:rPr sz="1200"/>
                        <a:t>Yurak-qon tomir, nafas, ovqat hazm qilish, endokrin, siydik chiqarish a’zolari va boshqa kasalliklar</a:t>
                      </a:r>
                    </a:p>
                  </a:txBody>
                  <a:tcPr/>
                </a:tc>
              </a:tr>
            </a:tbl>
          </a:graphicData>
        </a:graphic>
      </p:graphicFrame>
      <p:sp>
        <p:nvSpPr>
          <p:cNvPr id="6" name="TextBox 5"/>
          <p:cNvSpPr txBox="1"/>
          <p:nvPr/>
        </p:nvSpPr>
        <p:spPr>
          <a:xfrm>
            <a:off x="548640" y="5669280"/>
            <a:ext cx="11064240" cy="365760"/>
          </a:xfrm>
          <a:prstGeom prst="rect">
            <a:avLst/>
          </a:prstGeom>
          <a:noFill/>
        </p:spPr>
        <p:txBody>
          <a:bodyPr wrap="square">
            <a:spAutoFit/>
          </a:bodyPr>
          <a:lstStyle/>
          <a:p>
            <a:r>
              <a:rPr sz="1100" b="0">
                <a:solidFill>
                  <a:srgbClr val="666666"/>
                </a:solidFill>
                <a:latin typeface="Calibri"/>
              </a:rPr>
              <a:t>O‘limning sud-tibbiy tasnifi (jadval 8.2 asosida qayta tuzilgan sxema)</a:t>
            </a:r>
          </a:p>
        </p:txBody>
      </p:sp>
      <p:sp>
        <p:nvSpPr>
          <p:cNvPr id="7" name="TextBox 6"/>
          <p:cNvSpPr txBox="1"/>
          <p:nvPr/>
        </p:nvSpPr>
        <p:spPr>
          <a:xfrm>
            <a:off x="548640" y="6126480"/>
            <a:ext cx="11064240" cy="548640"/>
          </a:xfrm>
          <a:prstGeom prst="rect">
            <a:avLst/>
          </a:prstGeom>
          <a:noFill/>
        </p:spPr>
        <p:txBody>
          <a:bodyPr wrap="square">
            <a:spAutoFit/>
          </a:bodyPr>
          <a:lstStyle/>
          <a:p>
            <a:r>
              <a:rPr sz="1000" b="0">
                <a:solidFill>
                  <a:srgbClr val="666666"/>
                </a:solidFill>
                <a:latin typeface="Calibri"/>
              </a:rPr>
              <a:t>Manba: [G‘iyosov Z.A., Sud tibbiyoti (Tibbiyot oliy o‘quv yurtlari talabalari uchun darslik), Toshkent: Global Books nashriyoti, 221]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0B1F3A"/>
                </a:solidFill>
                <a:latin typeface="Georgia"/>
              </a:rPr>
              <a:t>Toifa, xil va turni kim aniqlaydi</a:t>
            </a:r>
          </a:p>
        </p:txBody>
      </p:sp>
      <p:sp>
        <p:nvSpPr>
          <p:cNvPr id="3" name="Rectangle 2"/>
          <p:cNvSpPr/>
          <p:nvPr/>
        </p:nvSpPr>
        <p:spPr>
          <a:xfrm>
            <a:off x="548640" y="1234440"/>
            <a:ext cx="164592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508760"/>
            <a:ext cx="11064240" cy="4297680"/>
          </a:xfrm>
          <a:prstGeom prst="rect">
            <a:avLst/>
          </a:prstGeom>
          <a:noFill/>
        </p:spPr>
        <p:txBody>
          <a:bodyPr wrap="square">
            <a:spAutoFit/>
          </a:bodyPr>
          <a:lstStyle/>
          <a:p>
            <a:pPr>
              <a:spcAft>
                <a:spcPts val="800"/>
              </a:spcAft>
            </a:pPr>
            <a:r>
              <a:rPr sz="1800" b="0">
                <a:solidFill>
                  <a:srgbClr val="222222"/>
                </a:solidFill>
                <a:latin typeface="Calibri"/>
              </a:rPr>
              <a:t/>
            </a:r>
            <a:r>
              <a:rPr sz="1800">
                <a:solidFill>
                  <a:srgbClr val="222222"/>
                </a:solidFill>
                <a:latin typeface="Calibri"/>
              </a:rPr>
              <a:t>• O‘limning toifasi va turini sud-tibbiy ekspertlar aniqlaydi.</a:t>
            </a:r>
          </a:p>
          <a:p>
            <a:pPr>
              <a:spcAft>
                <a:spcPts val="800"/>
              </a:spcAft>
            </a:pPr>
            <a:r>
              <a:rPr sz="1800">
                <a:solidFill>
                  <a:srgbClr val="222222"/>
                </a:solidFill>
                <a:latin typeface="Calibri"/>
              </a:rPr>
              <a:t>• O‘limning xilini aniqlash huquqni muhofaza etuvchi idoralar xodimlarining vakolatiga kiradi.</a:t>
            </a:r>
          </a:p>
          <a:p>
            <a:pPr>
              <a:spcAft>
                <a:spcPts val="800"/>
              </a:spcAft>
            </a:pPr>
            <a:r>
              <a:rPr sz="1800">
                <a:solidFill>
                  <a:srgbClr val="222222"/>
                </a:solidFill>
                <a:latin typeface="Calibri"/>
              </a:rPr>
              <a:t>• Sababi shuki, xilni aniqlashning asosini qasdning mavjudligini aniqlash tashkil etadi.</a:t>
            </a:r>
          </a:p>
        </p:txBody>
      </p:sp>
      <p:sp>
        <p:nvSpPr>
          <p:cNvPr id="5" name="TextBox 4"/>
          <p:cNvSpPr txBox="1"/>
          <p:nvPr/>
        </p:nvSpPr>
        <p:spPr>
          <a:xfrm>
            <a:off x="548640" y="6126480"/>
            <a:ext cx="11064240" cy="548640"/>
          </a:xfrm>
          <a:prstGeom prst="rect">
            <a:avLst/>
          </a:prstGeom>
          <a:noFill/>
        </p:spPr>
        <p:txBody>
          <a:bodyPr wrap="square">
            <a:spAutoFit/>
          </a:bodyPr>
          <a:lstStyle/>
          <a:p>
            <a:r>
              <a:rPr sz="1000" b="0">
                <a:solidFill>
                  <a:srgbClr val="666666"/>
                </a:solidFill>
                <a:latin typeface="Calibri"/>
              </a:rPr>
              <a:t>Manba: [G‘iyosov Z.A., Sud tibbiyoti (Tibbiyot oliy o‘quv yurtlari talabalari uchun darslik), Toshkent: Global Books nashriyoti, 221]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0B1F3A"/>
                </a:solidFill>
                <a:latin typeface="Georgia"/>
              </a:rPr>
              <a:t>Supravital reaksiyalar: mexanik ta’sir</a:t>
            </a:r>
          </a:p>
        </p:txBody>
      </p:sp>
      <p:sp>
        <p:nvSpPr>
          <p:cNvPr id="3" name="Rectangle 2"/>
          <p:cNvSpPr/>
          <p:nvPr/>
        </p:nvSpPr>
        <p:spPr>
          <a:xfrm>
            <a:off x="548640" y="1234440"/>
            <a:ext cx="164592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508760"/>
            <a:ext cx="11064240" cy="4297680"/>
          </a:xfrm>
          <a:prstGeom prst="rect">
            <a:avLst/>
          </a:prstGeom>
          <a:noFill/>
        </p:spPr>
        <p:txBody>
          <a:bodyPr wrap="square">
            <a:spAutoFit/>
          </a:bodyPr>
          <a:lstStyle/>
          <a:p>
            <a:pPr>
              <a:spcAft>
                <a:spcPts val="800"/>
              </a:spcAft>
            </a:pPr>
            <a:r>
              <a:rPr sz="1800" b="0">
                <a:solidFill>
                  <a:srgbClr val="222222"/>
                </a:solidFill>
                <a:latin typeface="Calibri"/>
              </a:rPr>
              <a:t/>
            </a:r>
            <a:r>
              <a:rPr sz="1800">
                <a:solidFill>
                  <a:srgbClr val="222222"/>
                </a:solidFill>
                <a:latin typeface="Calibri"/>
              </a:rPr>
              <a:t>• Miya o‘limidan so‘ng dastlabki ma’lum vaqt oralig‘ida ayrim a’zo va to‘qimalar tashqi ta’sirlarga reaksiya beradi. Bu supravital reaksiya o‘lim muddatini aniqlashda keng qo‘llaniladi.</a:t>
            </a:r>
          </a:p>
          <a:p>
            <a:pPr>
              <a:spcAft>
                <a:spcPts val="800"/>
              </a:spcAft>
            </a:pPr>
            <a:r>
              <a:rPr sz="1800">
                <a:solidFill>
                  <a:srgbClr val="222222"/>
                </a:solidFill>
                <a:latin typeface="Calibri"/>
              </a:rPr>
              <a:t>• O‘limdan keyingi 1-2 soatda mexanik ta’sir ostida qo‘l va oyoq mushaklari qisqarishi mumkin.</a:t>
            </a:r>
          </a:p>
          <a:p>
            <a:pPr>
              <a:spcAft>
                <a:spcPts val="800"/>
              </a:spcAft>
            </a:pPr>
            <a:r>
              <a:rPr sz="1800">
                <a:solidFill>
                  <a:srgbClr val="222222"/>
                </a:solidFill>
                <a:latin typeface="Calibri"/>
              </a:rPr>
              <a:t>• Keyinroq, 10 soatgacha mushaklar qisqarmaydi, lekin ta’sir joyida burma shaklidagi shish – idiomuskulyar o‘sma paydo bo‘ladi. Dastlab u zich va baland (2 sm gacha) bo‘lib, vaqt o‘tgan sari zichligi va balandligi pasayadi.</a:t>
            </a:r>
          </a:p>
          <a:p>
            <a:pPr>
              <a:spcAft>
                <a:spcPts val="800"/>
              </a:spcAft>
            </a:pPr>
            <a:r>
              <a:rPr sz="1800">
                <a:solidFill>
                  <a:srgbClr val="222222"/>
                </a:solidFill>
                <a:latin typeface="Calibri"/>
              </a:rPr>
              <a:t>• O‘limdan 10-11 soatda ta’sir joyida chuqurcha hosil bo‘ladi. Tekshiruv ko‘pincha yelka mushaklarida, nevrologik bolg‘acha bandi yoki metall chizg‘ich bilan o‘tkaziladi.</a:t>
            </a:r>
          </a:p>
        </p:txBody>
      </p:sp>
      <p:sp>
        <p:nvSpPr>
          <p:cNvPr id="5" name="TextBox 4"/>
          <p:cNvSpPr txBox="1"/>
          <p:nvPr/>
        </p:nvSpPr>
        <p:spPr>
          <a:xfrm>
            <a:off x="548640" y="6126480"/>
            <a:ext cx="11064240" cy="548640"/>
          </a:xfrm>
          <a:prstGeom prst="rect">
            <a:avLst/>
          </a:prstGeom>
          <a:noFill/>
        </p:spPr>
        <p:txBody>
          <a:bodyPr wrap="square">
            <a:spAutoFit/>
          </a:bodyPr>
          <a:lstStyle/>
          <a:p>
            <a:r>
              <a:rPr sz="1000" b="0">
                <a:solidFill>
                  <a:srgbClr val="666666"/>
                </a:solidFill>
                <a:latin typeface="Calibri"/>
              </a:rPr>
              <a:t>Manba: [G‘iyosov Z.A., Sud tibbiyoti (Tibbiyot oliy o‘quv yurtlari talabalari uchun darslik), Toshkent: Global Books nashriyoti, 221]; [G‘iyosov Z.A., Sud tibbiyoti (Tibbiyot oliy o‘quv yurtlari talabalari uchun darslik), Toshkent: Global Books nashriyoti, 222]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0B1F3A"/>
                </a:solidFill>
                <a:latin typeface="Georgia"/>
              </a:rPr>
              <a:t>Supravital reaksiyalar: elektr va kimyoviy ta’sir</a:t>
            </a:r>
          </a:p>
        </p:txBody>
      </p:sp>
      <p:sp>
        <p:nvSpPr>
          <p:cNvPr id="3" name="Rectangle 2"/>
          <p:cNvSpPr/>
          <p:nvPr/>
        </p:nvSpPr>
        <p:spPr>
          <a:xfrm>
            <a:off x="548640" y="1234440"/>
            <a:ext cx="164592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508760"/>
            <a:ext cx="11064240" cy="4297680"/>
          </a:xfrm>
          <a:prstGeom prst="rect">
            <a:avLst/>
          </a:prstGeom>
          <a:noFill/>
        </p:spPr>
        <p:txBody>
          <a:bodyPr wrap="square">
            <a:spAutoFit/>
          </a:bodyPr>
          <a:lstStyle/>
          <a:p>
            <a:pPr>
              <a:spcAft>
                <a:spcPts val="800"/>
              </a:spcAft>
            </a:pPr>
            <a:r>
              <a:rPr sz="1800" b="0">
                <a:solidFill>
                  <a:srgbClr val="222222"/>
                </a:solidFill>
                <a:latin typeface="Calibri"/>
              </a:rPr>
              <a:t/>
            </a:r>
            <a:r>
              <a:rPr sz="1800">
                <a:solidFill>
                  <a:srgbClr val="222222"/>
                </a:solidFill>
                <a:latin typeface="Calibri"/>
              </a:rPr>
              <a:t>• Elektr toki ta’sirida mushaklar o‘limdan keyin turli muddatda qisqaradi. 2-3 soat oralig‘ida yuz, bo‘yin, qo‘l va oyoq mushaklari qisqaradi. 3-5 soatgacha og‘izning aylana mushaklari, 11-12 soatgacha esa faqat ko‘z mushaklari qisqaradi.</a:t>
            </a:r>
          </a:p>
          <a:p>
            <a:pPr>
              <a:spcAft>
                <a:spcPts val="800"/>
              </a:spcAft>
            </a:pPr>
            <a:r>
              <a:rPr sz="1800">
                <a:solidFill>
                  <a:srgbClr val="222222"/>
                </a:solidFill>
                <a:latin typeface="Calibri"/>
              </a:rPr>
              <a:t>• Ko‘z ichi mushaklari ignasimon elektrodlar bilan tekshiriladi. Dastlabki 6 soatda qorachiqlar toraysa, 7-12 soatda ular torayadi va deformatsiyalanadi. Keyinroq (30 soatgacha) faqat deformatsiya kuzatiladi (V.V.Bilkun, 1986).</a:t>
            </a:r>
          </a:p>
          <a:p>
            <a:pPr>
              <a:spcAft>
                <a:spcPts val="800"/>
              </a:spcAft>
            </a:pPr>
            <a:r>
              <a:rPr sz="1800">
                <a:solidFill>
                  <a:srgbClr val="222222"/>
                </a:solidFill>
                <a:latin typeface="Calibri"/>
              </a:rPr>
              <a:t>• O‘limdan keyingi dastlabki 5-6 soatda ko‘zga 1% atropin tomizilsa qorachiq kengayadi, 1% pilokarpin ta’sirida torayadi. Eritma (0,1 ml) ko‘zning oldingi kamerasiga yuborilsa, reaksiya 24 soatgacha aniqlanadi (K.I.Xijnyakova, 1968).</a:t>
            </a:r>
          </a:p>
          <a:p>
            <a:pPr>
              <a:spcAft>
                <a:spcPts val="800"/>
              </a:spcAft>
            </a:pPr>
            <a:r>
              <a:rPr sz="1800">
                <a:solidFill>
                  <a:srgbClr val="222222"/>
                </a:solidFill>
                <a:latin typeface="Calibri"/>
              </a:rPr>
              <a:t>• Ter bezlari reaksiyasini tekshirishda son yoki bilakka yodning 2% spirtli eritmasi suriladi, so‘ng kraxmal va kastor moyi aralashmasi. Markaziga teri ostiga 1% adrenalin yoki 2% pilokarpin (1 ml) yuboriladi. 0,5-1,0 soatdan so‘ng ko‘k dog‘ paydo bo‘ladi. Usul o‘limdan keyin 30 soat ichida qo‘llanadi (M.Wada, 1957).</a:t>
            </a:r>
          </a:p>
        </p:txBody>
      </p:sp>
      <p:sp>
        <p:nvSpPr>
          <p:cNvPr id="5" name="TextBox 4"/>
          <p:cNvSpPr txBox="1"/>
          <p:nvPr/>
        </p:nvSpPr>
        <p:spPr>
          <a:xfrm>
            <a:off x="548640" y="6126480"/>
            <a:ext cx="11064240" cy="548640"/>
          </a:xfrm>
          <a:prstGeom prst="rect">
            <a:avLst/>
          </a:prstGeom>
          <a:noFill/>
        </p:spPr>
        <p:txBody>
          <a:bodyPr wrap="square">
            <a:spAutoFit/>
          </a:bodyPr>
          <a:lstStyle/>
          <a:p>
            <a:r>
              <a:rPr sz="1000" b="0">
                <a:solidFill>
                  <a:srgbClr val="666666"/>
                </a:solidFill>
                <a:latin typeface="Calibri"/>
              </a:rPr>
              <a:t>Manba: [G‘iyosov Z.A., Sud tibbiyoti (Tibbiyot oliy o‘quv yurtlari talabalari uchun darslik), Toshkent: Global Books nashriyoti, 222]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0B1F3A"/>
                </a:solidFill>
                <a:latin typeface="Georgia"/>
              </a:rPr>
              <a:t>Murda o‘zgarishlarining tasnifi</a:t>
            </a:r>
          </a:p>
        </p:txBody>
      </p:sp>
      <p:sp>
        <p:nvSpPr>
          <p:cNvPr id="3" name="Rectangle 2"/>
          <p:cNvSpPr/>
          <p:nvPr/>
        </p:nvSpPr>
        <p:spPr>
          <a:xfrm>
            <a:off x="548640" y="1234440"/>
            <a:ext cx="164592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508760"/>
            <a:ext cx="11064240" cy="4297680"/>
          </a:xfrm>
          <a:prstGeom prst="rect">
            <a:avLst/>
          </a:prstGeom>
          <a:noFill/>
        </p:spPr>
        <p:txBody>
          <a:bodyPr wrap="square">
            <a:spAutoFit/>
          </a:bodyPr>
          <a:lstStyle/>
          <a:p>
            <a:pPr>
              <a:spcAft>
                <a:spcPts val="800"/>
              </a:spcAft>
            </a:pPr>
            <a:r>
              <a:rPr sz="1800" b="0">
                <a:solidFill>
                  <a:srgbClr val="222222"/>
                </a:solidFill>
                <a:latin typeface="Calibri"/>
              </a:rPr>
              <a:t/>
            </a:r>
            <a:r>
              <a:rPr sz="1800">
                <a:solidFill>
                  <a:srgbClr val="222222"/>
                </a:solidFill>
                <a:latin typeface="Calibri"/>
              </a:rPr>
              <a:t>• Biologik o‘limdan so‘ng tiklab bo‘lmaydigan o‘zgarishlar rivojlanadi. Vujudga kelish muddati bo‘yicha ular ilk va kech o‘zgarishlarga bo‘linadi.</a:t>
            </a:r>
          </a:p>
          <a:p>
            <a:pPr>
              <a:spcAft>
                <a:spcPts val="800"/>
              </a:spcAft>
            </a:pPr>
            <a:r>
              <a:rPr sz="1800">
                <a:solidFill>
                  <a:srgbClr val="222222"/>
                </a:solidFill>
                <a:latin typeface="Calibri"/>
              </a:rPr>
              <a:t>• Ilk o‘zgarishlar dastlabki kunda paydo bo‘ladi: murdaning sovushi, qurishi, murda dog‘lari, murda qotishi va autoliz. Kech o‘zgarishlar ikkinchi kundan boshlanadi.</a:t>
            </a:r>
          </a:p>
          <a:p>
            <a:pPr>
              <a:spcAft>
                <a:spcPts val="800"/>
              </a:spcAft>
            </a:pPr>
            <a:r>
              <a:rPr sz="1800">
                <a:solidFill>
                  <a:srgbClr val="222222"/>
                </a:solidFill>
                <a:latin typeface="Calibri"/>
              </a:rPr>
              <a:t>• Kech o‘zgarishlar yemiruvchi va saqlovchi turlarga bo‘linadi. Yemiruvchilarga chirish va hasharotlar, hayvonlar, qushlar, baliqlar tomonidan yemirilish kiradi. Saqlovchilarga mumifikatsiya, yog‘-mo‘m va torfli oshlash kiradi.</a:t>
            </a:r>
          </a:p>
          <a:p>
            <a:pPr>
              <a:spcAft>
                <a:spcPts val="800"/>
              </a:spcAft>
            </a:pPr>
            <a:r>
              <a:rPr sz="1800">
                <a:solidFill>
                  <a:srgbClr val="222222"/>
                </a:solidFill>
                <a:latin typeface="Calibri"/>
              </a:rPr>
              <a:t>• Tabiiy o‘zgarishlardan tashqari sun’iy o‘zgarishlar ham bo‘ladi. Yemiruvchilari: murdani qismlash, yoqish, eritish. Saqlovchilari: balzamlash va muzlatish. Ularning vaqti o‘lim muddati bilan bog‘liq emas.</a:t>
            </a:r>
          </a:p>
        </p:txBody>
      </p:sp>
      <p:graphicFrame>
        <p:nvGraphicFramePr>
          <p:cNvPr id="5" name="Table 4"/>
          <p:cNvGraphicFramePr>
            <a:graphicFrameLocks noGrp="1"/>
          </p:cNvGraphicFramePr>
          <p:nvPr/>
        </p:nvGraphicFramePr>
        <p:xfrm>
          <a:off x="548640" y="40233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a:t>Guruh</a:t>
                      </a:r>
                    </a:p>
                  </a:txBody>
                  <a:tcPr/>
                </a:tc>
                <a:tc>
                  <a:txBody>
                    <a:bodyPr/>
                    <a:lstStyle/>
                    <a:p>
                      <a:r>
                        <a:rPr sz="1200"/>
                        <a:t>Xususiyati</a:t>
                      </a:r>
                    </a:p>
                  </a:txBody>
                  <a:tcPr/>
                </a:tc>
                <a:tc>
                  <a:txBody>
                    <a:bodyPr/>
                    <a:lstStyle/>
                    <a:p>
                      <a:r>
                        <a:rPr sz="1200"/>
                        <a:t>O‘zgarishlar</a:t>
                      </a:r>
                    </a:p>
                  </a:txBody>
                  <a:tcPr/>
                </a:tc>
              </a:tr>
              <a:tr h="365760">
                <a:tc>
                  <a:txBody>
                    <a:bodyPr/>
                    <a:lstStyle/>
                    <a:p>
                      <a:r>
                        <a:rPr sz="1200"/>
                        <a:t>Tabiiy ilk</a:t>
                      </a:r>
                    </a:p>
                  </a:txBody>
                  <a:tcPr/>
                </a:tc>
                <a:tc>
                  <a:txBody>
                    <a:bodyPr/>
                    <a:lstStyle/>
                    <a:p>
                      <a:r>
                        <a:rPr sz="1200"/>
                        <a:t>Dastlabki kunda</a:t>
                      </a:r>
                    </a:p>
                  </a:txBody>
                  <a:tcPr/>
                </a:tc>
                <a:tc>
                  <a:txBody>
                    <a:bodyPr/>
                    <a:lstStyle/>
                    <a:p>
                      <a:r>
                        <a:rPr sz="1200"/>
                        <a:t>Sovush, qurish, murda dog‘lari, qotish, autoliz</a:t>
                      </a:r>
                    </a:p>
                  </a:txBody>
                  <a:tcPr/>
                </a:tc>
              </a:tr>
              <a:tr h="365760">
                <a:tc>
                  <a:txBody>
                    <a:bodyPr/>
                    <a:lstStyle/>
                    <a:p>
                      <a:r>
                        <a:rPr sz="1200"/>
                        <a:t>Tabiiy kech, yemiruvchi</a:t>
                      </a:r>
                    </a:p>
                  </a:txBody>
                  <a:tcPr/>
                </a:tc>
                <a:tc>
                  <a:txBody>
                    <a:bodyPr/>
                    <a:lstStyle/>
                    <a:p>
                      <a:r>
                        <a:rPr sz="1200"/>
                        <a:t>2-kundan boshlab</a:t>
                      </a:r>
                    </a:p>
                  </a:txBody>
                  <a:tcPr/>
                </a:tc>
                <a:tc>
                  <a:txBody>
                    <a:bodyPr/>
                    <a:lstStyle/>
                    <a:p>
                      <a:r>
                        <a:rPr sz="1200"/>
                        <a:t>Chirish; hasharotlar, hayvonlar, qushlar, baliqlar bilan yemirilish</a:t>
                      </a:r>
                    </a:p>
                  </a:txBody>
                  <a:tcPr/>
                </a:tc>
              </a:tr>
              <a:tr h="365760">
                <a:tc>
                  <a:txBody>
                    <a:bodyPr/>
                    <a:lstStyle/>
                    <a:p>
                      <a:r>
                        <a:rPr sz="1200"/>
                        <a:t>Tabiiy kech, saqlovchi</a:t>
                      </a:r>
                    </a:p>
                  </a:txBody>
                  <a:tcPr/>
                </a:tc>
                <a:tc>
                  <a:txBody>
                    <a:bodyPr/>
                    <a:lstStyle/>
                    <a:p>
                      <a:r>
                        <a:rPr sz="1200"/>
                        <a:t>2-kundan boshlab</a:t>
                      </a:r>
                    </a:p>
                  </a:txBody>
                  <a:tcPr/>
                </a:tc>
                <a:tc>
                  <a:txBody>
                    <a:bodyPr/>
                    <a:lstStyle/>
                    <a:p>
                      <a:r>
                        <a:rPr sz="1200"/>
                        <a:t>Mumifikatsiya, yog‘-mo‘m, torfli oshlash, muzlash</a:t>
                      </a:r>
                    </a:p>
                  </a:txBody>
                  <a:tcPr/>
                </a:tc>
              </a:tr>
              <a:tr h="365760">
                <a:tc>
                  <a:txBody>
                    <a:bodyPr/>
                    <a:lstStyle/>
                    <a:p>
                      <a:r>
                        <a:rPr sz="1200"/>
                        <a:t>Sun’iy, yemiruvchi</a:t>
                      </a:r>
                    </a:p>
                  </a:txBody>
                  <a:tcPr/>
                </a:tc>
                <a:tc>
                  <a:txBody>
                    <a:bodyPr/>
                    <a:lstStyle/>
                    <a:p>
                      <a:r>
                        <a:rPr sz="1200"/>
                        <a:t>Vaqti o‘lim muddatiga bog‘liq emas</a:t>
                      </a:r>
                    </a:p>
                  </a:txBody>
                  <a:tcPr/>
                </a:tc>
                <a:tc>
                  <a:txBody>
                    <a:bodyPr/>
                    <a:lstStyle/>
                    <a:p>
                      <a:r>
                        <a:rPr sz="1200"/>
                        <a:t>Qismlash, yoqish, eritish</a:t>
                      </a:r>
                    </a:p>
                  </a:txBody>
                  <a:tcPr/>
                </a:tc>
              </a:tr>
              <a:tr h="365760">
                <a:tc>
                  <a:txBody>
                    <a:bodyPr/>
                    <a:lstStyle/>
                    <a:p>
                      <a:r>
                        <a:rPr sz="1200"/>
                        <a:t>Sun’iy, saqlovchi</a:t>
                      </a:r>
                    </a:p>
                  </a:txBody>
                  <a:tcPr/>
                </a:tc>
                <a:tc>
                  <a:txBody>
                    <a:bodyPr/>
                    <a:lstStyle/>
                    <a:p>
                      <a:r>
                        <a:rPr sz="1200"/>
                        <a:t>Vaqti o‘lim muddatiga bog‘liq emas</a:t>
                      </a:r>
                    </a:p>
                  </a:txBody>
                  <a:tcPr/>
                </a:tc>
                <a:tc>
                  <a:txBody>
                    <a:bodyPr/>
                    <a:lstStyle/>
                    <a:p>
                      <a:r>
                        <a:rPr sz="1200"/>
                        <a:t>Balzamlash, muzlatish</a:t>
                      </a:r>
                    </a:p>
                  </a:txBody>
                  <a:tcPr/>
                </a:tc>
              </a:tr>
            </a:tbl>
          </a:graphicData>
        </a:graphic>
      </p:graphicFrame>
      <p:sp>
        <p:nvSpPr>
          <p:cNvPr id="6" name="TextBox 5"/>
          <p:cNvSpPr txBox="1"/>
          <p:nvPr/>
        </p:nvSpPr>
        <p:spPr>
          <a:xfrm>
            <a:off x="548640" y="5669280"/>
            <a:ext cx="11064240" cy="365760"/>
          </a:xfrm>
          <a:prstGeom prst="rect">
            <a:avLst/>
          </a:prstGeom>
          <a:noFill/>
        </p:spPr>
        <p:txBody>
          <a:bodyPr wrap="square">
            <a:spAutoFit/>
          </a:bodyPr>
          <a:lstStyle/>
          <a:p>
            <a:r>
              <a:rPr sz="1100" b="0">
                <a:solidFill>
                  <a:srgbClr val="666666"/>
                </a:solidFill>
                <a:latin typeface="Calibri"/>
              </a:rPr>
              <a:t>Murda o‘zgarishlari tasnifi (muallif jadvali asosida qayta tuzilgan sxema)</a:t>
            </a:r>
          </a:p>
        </p:txBody>
      </p:sp>
      <p:sp>
        <p:nvSpPr>
          <p:cNvPr id="7" name="TextBox 6"/>
          <p:cNvSpPr txBox="1"/>
          <p:nvPr/>
        </p:nvSpPr>
        <p:spPr>
          <a:xfrm>
            <a:off x="548640" y="6126480"/>
            <a:ext cx="11064240" cy="548640"/>
          </a:xfrm>
          <a:prstGeom prst="rect">
            <a:avLst/>
          </a:prstGeom>
          <a:noFill/>
        </p:spPr>
        <p:txBody>
          <a:bodyPr wrap="square">
            <a:spAutoFit/>
          </a:bodyPr>
          <a:lstStyle/>
          <a:p>
            <a:r>
              <a:rPr sz="1000" b="0">
                <a:solidFill>
                  <a:srgbClr val="666666"/>
                </a:solidFill>
                <a:latin typeface="Calibri"/>
              </a:rPr>
              <a:t>Manba: [G‘iyosov Z.A., Sud tibbiyoti (Tibbiyot oliy o‘quv yurtlari talabalari uchun darslik), Toshkent: Global Books nashriyoti, 222]; [G‘iyosov Z.A., Sud tibbiyoti (Tibbiyot oliy o‘quv yurtlari talabalari uchun darslik), Toshkent: Global Books nashriyoti, 223]; [G‘iyosov Z.A., Sud tibbiyoti (Tibbiyot oliy o‘quv yurtlari talabalari uchun darslik), Toshkent: Global Books nashriyoti, 224]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0B1F3A"/>
                </a:solidFill>
                <a:latin typeface="Georgia"/>
              </a:rPr>
              <a:t>Murdaning sovushi</a:t>
            </a:r>
          </a:p>
        </p:txBody>
      </p:sp>
      <p:sp>
        <p:nvSpPr>
          <p:cNvPr id="3" name="Rectangle 2"/>
          <p:cNvSpPr/>
          <p:nvPr/>
        </p:nvSpPr>
        <p:spPr>
          <a:xfrm>
            <a:off x="548640" y="1234440"/>
            <a:ext cx="164592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508760"/>
            <a:ext cx="11064240" cy="4297680"/>
          </a:xfrm>
          <a:prstGeom prst="rect">
            <a:avLst/>
          </a:prstGeom>
          <a:noFill/>
        </p:spPr>
        <p:txBody>
          <a:bodyPr wrap="square">
            <a:spAutoFit/>
          </a:bodyPr>
          <a:lstStyle/>
          <a:p>
            <a:pPr>
              <a:spcAft>
                <a:spcPts val="800"/>
              </a:spcAft>
            </a:pPr>
            <a:r>
              <a:rPr sz="1800" b="0">
                <a:solidFill>
                  <a:srgbClr val="222222"/>
                </a:solidFill>
                <a:latin typeface="Calibri"/>
              </a:rPr>
              <a:t/>
            </a:r>
            <a:r>
              <a:rPr sz="1800">
                <a:solidFill>
                  <a:srgbClr val="222222"/>
                </a:solidFill>
                <a:latin typeface="Calibri"/>
              </a:rPr>
              <a:t>• O‘limdan so‘ng termoregulyatsiya buziladi: issiqlik ishlab chiqarish to‘xtaydi, tashqariga ajralishi esa davom etadi. Natijada qizdirilgan jism sovushi qonuniga muvofiq murda soviydi. Jarayon tashqi omillarga (havo harorati, namlik, shamol, kiyim) va ichki omillarga (yosh, oziqlanish, o‘lim sababi va jadalligi) bog‘liq.</a:t>
            </a:r>
          </a:p>
          <a:p>
            <a:pPr>
              <a:spcAft>
                <a:spcPts val="800"/>
              </a:spcAft>
            </a:pPr>
            <a:r>
              <a:rPr sz="1800">
                <a:solidFill>
                  <a:srgbClr val="222222"/>
                </a:solidFill>
                <a:latin typeface="Calibri"/>
              </a:rPr>
              <a:t>• Tana tashqi muhit harorati bilan tenglashguncha soviydi. Ba’zan dastlabki soatlarda tana harorati bir necha gradusga ko‘tarilishi mumkin. Bu ayrim yuqumli kasalliklarda va kalla-miya jarohatidan o‘limda agonal davrda termoregulyatsiya buzilishi bilan bog‘liq.</a:t>
            </a:r>
          </a:p>
          <a:p>
            <a:pPr>
              <a:spcAft>
                <a:spcPts val="800"/>
              </a:spcAft>
            </a:pPr>
            <a:r>
              <a:rPr sz="1800">
                <a:solidFill>
                  <a:srgbClr val="222222"/>
                </a:solidFill>
                <a:latin typeface="Calibri"/>
              </a:rPr>
              <a:t>• Sovush darajasi ushlab ko‘rib va termometr bilan aniqlanadi. Termometriya aniqroq usul bo‘lib, og‘iz bo‘shlig‘i, qo‘ltiq osti, ko‘krak bo‘shlig‘i (qizilo‘ngach orqali), to‘g‘ri ichak va jigarda o‘tkaziladi. Jigar, ko‘krak bo‘shlig‘i va to‘g‘ri ichakda harorat pasayishi nisbatan bir maromda bo‘ladi.</a:t>
            </a:r>
          </a:p>
          <a:p>
            <a:pPr>
              <a:spcAft>
                <a:spcPts val="800"/>
              </a:spcAft>
            </a:pPr>
            <a:r>
              <a:rPr sz="1800">
                <a:solidFill>
                  <a:srgbClr val="222222"/>
                </a:solidFill>
                <a:latin typeface="Calibri"/>
              </a:rPr>
              <a:t>• Xona sharoitida murda harorati taxminan bir soatda bir gradusga tushadi. Tashqi muhit harorati bilan qo‘ltiq ostida 16 soatdan, to‘g‘ri ichakda 19 soatdan, jigarda 25 soatdan keyin tenglashadi.</a:t>
            </a:r>
          </a:p>
        </p:txBody>
      </p:sp>
      <p:sp>
        <p:nvSpPr>
          <p:cNvPr id="5" name="TextBox 4"/>
          <p:cNvSpPr txBox="1"/>
          <p:nvPr/>
        </p:nvSpPr>
        <p:spPr>
          <a:xfrm>
            <a:off x="548640" y="6126480"/>
            <a:ext cx="11064240" cy="548640"/>
          </a:xfrm>
          <a:prstGeom prst="rect">
            <a:avLst/>
          </a:prstGeom>
          <a:noFill/>
        </p:spPr>
        <p:txBody>
          <a:bodyPr wrap="square">
            <a:spAutoFit/>
          </a:bodyPr>
          <a:lstStyle/>
          <a:p>
            <a:r>
              <a:rPr sz="1000" b="0">
                <a:solidFill>
                  <a:srgbClr val="666666"/>
                </a:solidFill>
                <a:latin typeface="Calibri"/>
              </a:rPr>
              <a:t>Manba: [G‘iyosov Z.A., Sud tibbiyoti (Tibbiyot oliy o‘quv yurtlari talabalari uchun darslik), Toshkent: Global Books nashriyoti, 224]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0B1F3A"/>
                </a:solidFill>
                <a:latin typeface="Georgia"/>
              </a:rPr>
              <a:t>Murdaning qurishi</a:t>
            </a:r>
          </a:p>
        </p:txBody>
      </p:sp>
      <p:sp>
        <p:nvSpPr>
          <p:cNvPr id="3" name="Rectangle 2"/>
          <p:cNvSpPr/>
          <p:nvPr/>
        </p:nvSpPr>
        <p:spPr>
          <a:xfrm>
            <a:off x="548640" y="1234440"/>
            <a:ext cx="164592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508760"/>
            <a:ext cx="11064240" cy="4297680"/>
          </a:xfrm>
          <a:prstGeom prst="rect">
            <a:avLst/>
          </a:prstGeom>
          <a:noFill/>
        </p:spPr>
        <p:txBody>
          <a:bodyPr wrap="square">
            <a:spAutoFit/>
          </a:bodyPr>
          <a:lstStyle/>
          <a:p>
            <a:pPr>
              <a:spcAft>
                <a:spcPts val="800"/>
              </a:spcAft>
            </a:pPr>
            <a:r>
              <a:rPr sz="1800" b="0">
                <a:solidFill>
                  <a:srgbClr val="222222"/>
                </a:solidFill>
                <a:latin typeface="Calibri"/>
              </a:rPr>
              <a:t/>
            </a:r>
            <a:r>
              <a:rPr sz="1800">
                <a:solidFill>
                  <a:srgbClr val="222222"/>
                </a:solidFill>
                <a:latin typeface="Calibri"/>
              </a:rPr>
              <a:t>• Qurish o'limdan so'ng ter va boshqa bezlarning ajratish vazifasi to'xtashi va mavjud namlikning bug'lanishi bilan bog'liq. Alomatlari avvalo hayotda nam turadigan joylarda (lablarning qizil hoshiyasi, shilliq qavatlar, ko'zning shox pardasi va kon'yunktivasi, moyak terisi, jinsiy olat boshchasi) hamda epidermisi shikastlangan joylarda (shilinma, yara chekkasi, strangulyatsion egat) ko'rinadi.</a:t>
            </a:r>
          </a:p>
          <a:p>
            <a:pPr>
              <a:spcAft>
                <a:spcPts val="800"/>
              </a:spcAft>
            </a:pPr>
            <a:r>
              <a:rPr sz="1800">
                <a:solidFill>
                  <a:srgbClr val="222222"/>
                </a:solidFill>
                <a:latin typeface="Calibri"/>
              </a:rPr>
              <a:t>• Ko'z ochiq va murda yuzi bilan tepaga qarab yotganda, ko'z qurishining ilk belgilari paydo bo'ladi. O'limdan 1-3 soatda shox parda xiralashadi. 4-5 soatda ikki yonidagi kon'yunktivada uchburchak yoki yo'lkasimon qo'ng'ir-jigar rang Lyarshe dog'i aniqlanadi.</a:t>
            </a:r>
          </a:p>
          <a:p>
            <a:pPr>
              <a:spcAft>
                <a:spcPts val="800"/>
              </a:spcAft>
            </a:pPr>
            <a:r>
              <a:rPr sz="1800">
                <a:solidFill>
                  <a:srgbClr val="222222"/>
                </a:solidFill>
                <a:latin typeface="Calibri"/>
              </a:rPr>
              <a:t>• Murda terisining shikastlangan sohalari qurib, atrofdagi sog' teriga nisbatan qattiqroq bo'ladi va sarg'ish-qo'ng'ir tusga kiradi (pergament dog'lari). Shunday dog'lar shox qavati yupqa yoki yo'q joylarda (lab qizil hoshiyasi, moyak terisi, jinsiy olat boshchasi) ham paydo bo'ladi.</a:t>
            </a:r>
          </a:p>
          <a:p>
            <a:pPr>
              <a:spcAft>
                <a:spcPts val="800"/>
              </a:spcAft>
            </a:pPr>
            <a:r>
              <a:rPr sz="1800">
                <a:solidFill>
                  <a:srgbClr val="222222"/>
                </a:solidFill>
                <a:latin typeface="Calibri"/>
              </a:rPr>
              <a:t>• Pergament dog'ini hayotiy shilinmadan farqlash: shubhali joyga iliq fiziologik eritma yoki suv bilan ho'llangan doka yoki paxta 5-10 daqiqa qo'yiladi. Pergament dog'i biroz yumshab oqaradi, hayotiy shilinma esa o'zgarmaydi.</a:t>
            </a:r>
          </a:p>
        </p:txBody>
      </p:sp>
      <p:sp>
        <p:nvSpPr>
          <p:cNvPr id="5" name="TextBox 4"/>
          <p:cNvSpPr txBox="1"/>
          <p:nvPr/>
        </p:nvSpPr>
        <p:spPr>
          <a:xfrm>
            <a:off x="548640" y="6126480"/>
            <a:ext cx="11064240" cy="548640"/>
          </a:xfrm>
          <a:prstGeom prst="rect">
            <a:avLst/>
          </a:prstGeom>
          <a:noFill/>
        </p:spPr>
        <p:txBody>
          <a:bodyPr wrap="square">
            <a:spAutoFit/>
          </a:bodyPr>
          <a:lstStyle/>
          <a:p>
            <a:r>
              <a:rPr sz="1000" b="0">
                <a:solidFill>
                  <a:srgbClr val="666666"/>
                </a:solidFill>
                <a:latin typeface="Calibri"/>
              </a:rPr>
              <a:t>Manba: [G‘iyosov Z.A., Sud tibbiyoti (Tibbiyot oliy o‘quv yurtlari talabalari uchun darslik), Toshkent: Global Books nashriyoti, 224]; [G‘iyosov Z.A., Sud tibbiyoti (Tibbiyot oliy o‘quv yurtlari talabalari uchun darslik), Toshkent: Global Books nashriyoti, 225]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0B1F3A"/>
                </a:solidFill>
                <a:latin typeface="Georgia"/>
              </a:rPr>
              <a:t>Murda qotishi: mexanizmi</a:t>
            </a:r>
          </a:p>
        </p:txBody>
      </p:sp>
      <p:sp>
        <p:nvSpPr>
          <p:cNvPr id="3" name="Rectangle 2"/>
          <p:cNvSpPr/>
          <p:nvPr/>
        </p:nvSpPr>
        <p:spPr>
          <a:xfrm>
            <a:off x="548640" y="1234440"/>
            <a:ext cx="164592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508760"/>
            <a:ext cx="11064240" cy="4297680"/>
          </a:xfrm>
          <a:prstGeom prst="rect">
            <a:avLst/>
          </a:prstGeom>
          <a:noFill/>
        </p:spPr>
        <p:txBody>
          <a:bodyPr wrap="square">
            <a:spAutoFit/>
          </a:bodyPr>
          <a:lstStyle/>
          <a:p>
            <a:pPr>
              <a:spcAft>
                <a:spcPts val="800"/>
              </a:spcAft>
            </a:pPr>
            <a:r>
              <a:rPr sz="1800" b="0">
                <a:solidFill>
                  <a:srgbClr val="222222"/>
                </a:solidFill>
                <a:latin typeface="Calibri"/>
              </a:rPr>
              <a:t/>
            </a:r>
            <a:r>
              <a:rPr sz="1800">
                <a:solidFill>
                  <a:srgbClr val="222222"/>
                </a:solidFill>
                <a:latin typeface="Calibri"/>
              </a:rPr>
              <a:t>• O'limdan so'ng barcha mushaklar bo'shashgan va yumshoq bo'ladi, bo'g'imlarda passiv harakat to'liq hajmda mumkin. Biroz vaqtdan keyin mushaklar qattiqlashib qisqaradi, bo'g'imlarni harakatlantirib bo'lmaydi va murda ma'lum holatda qotadi.</a:t>
            </a:r>
          </a:p>
          <a:p>
            <a:pPr>
              <a:spcAft>
                <a:spcPts val="800"/>
              </a:spcAft>
            </a:pPr>
            <a:r>
              <a:rPr sz="1800">
                <a:solidFill>
                  <a:srgbClr val="222222"/>
                </a:solidFill>
                <a:latin typeface="Calibri"/>
              </a:rPr>
              <a:t>• Qotish mexanizmi hozirgacha aniq ochilmagan. Ilgari uni mushak oqsilining koagulyasiyasi, mushaklarning gidratatsiyasi yoki degidratatsiyasi, nerv tizimining o'limi va mushak to'qimasining parabioz holati bilan tushuntirishga harakat qilingan.</a:t>
            </a:r>
          </a:p>
          <a:p>
            <a:pPr>
              <a:spcAft>
                <a:spcPts val="800"/>
              </a:spcAft>
            </a:pPr>
            <a:r>
              <a:rPr sz="1800">
                <a:solidFill>
                  <a:srgbClr val="222222"/>
                </a:solidFill>
                <a:latin typeface="Calibri"/>
              </a:rPr>
              <a:t>• Hozir ko'pchilik qotishni adenozinuchfosfat kislotasining (AUF) parchalanishi bilan bog'laydi. Miofibrillardagi aktomiozin AUF-aza xususiyatiga ega: AUF u bilan o'zaro ta'sirlashib parchalanganda energiya ajralib, mushak qisqaradi, AUF resintezida esa bo'shashadi. AUF glikolitik va oksidlanish jarayonlarida sintez qilinadi, ular to'xtagach AUF miqdori kamayib boradi.</a:t>
            </a:r>
          </a:p>
          <a:p>
            <a:pPr>
              <a:spcAft>
                <a:spcPts val="800"/>
              </a:spcAft>
            </a:pPr>
            <a:r>
              <a:rPr sz="1800">
                <a:solidFill>
                  <a:srgbClr val="222222"/>
                </a:solidFill>
                <a:latin typeface="Calibri"/>
              </a:rPr>
              <a:t>• Mushaklarda kalsiy ortishidan kelib chiqadigan kontrakturalar ham qotish mexanizmida muhim. O'limdan so'ng AUFning bir qismi erkin qolishi mushaklarni bir necha soat yumshoq tutadi, AUF kamayishi qotishga olib keladi, AUF 10-12 soatdan keyin to'liq yo'qoladi.</a:t>
            </a:r>
          </a:p>
        </p:txBody>
      </p:sp>
      <p:sp>
        <p:nvSpPr>
          <p:cNvPr id="5" name="TextBox 4"/>
          <p:cNvSpPr txBox="1"/>
          <p:nvPr/>
        </p:nvSpPr>
        <p:spPr>
          <a:xfrm>
            <a:off x="548640" y="6126480"/>
            <a:ext cx="11064240" cy="548640"/>
          </a:xfrm>
          <a:prstGeom prst="rect">
            <a:avLst/>
          </a:prstGeom>
          <a:noFill/>
        </p:spPr>
        <p:txBody>
          <a:bodyPr wrap="square">
            <a:spAutoFit/>
          </a:bodyPr>
          <a:lstStyle/>
          <a:p>
            <a:r>
              <a:rPr sz="1000" b="0">
                <a:solidFill>
                  <a:srgbClr val="666666"/>
                </a:solidFill>
                <a:latin typeface="Calibri"/>
              </a:rPr>
              <a:t>Manba: [G‘iyosov Z.A., Sud tibbiyoti (Tibbiyot oliy o‘quv yurtlari talabalari uchun darslik), Toshkent: Global Books nashriyoti, 225]; [G‘iyosov Z.A., Sud tibbiyoti (Tibbiyot oliy o‘quv yurtlari talabalari uchun darslik), Toshkent: Global Books nashriyoti, 225-226]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0B1F3A"/>
                </a:solidFill>
                <a:latin typeface="Georgia"/>
              </a:rPr>
              <a:t>Murda qotishi: rivojlanish dinamikasi</a:t>
            </a:r>
          </a:p>
        </p:txBody>
      </p:sp>
      <p:sp>
        <p:nvSpPr>
          <p:cNvPr id="3" name="Rectangle 2"/>
          <p:cNvSpPr/>
          <p:nvPr/>
        </p:nvSpPr>
        <p:spPr>
          <a:xfrm>
            <a:off x="548640" y="1234440"/>
            <a:ext cx="164592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508760"/>
            <a:ext cx="11064240" cy="4297680"/>
          </a:xfrm>
          <a:prstGeom prst="rect">
            <a:avLst/>
          </a:prstGeom>
          <a:noFill/>
        </p:spPr>
        <p:txBody>
          <a:bodyPr wrap="square">
            <a:spAutoFit/>
          </a:bodyPr>
          <a:lstStyle/>
          <a:p>
            <a:pPr>
              <a:spcAft>
                <a:spcPts val="800"/>
              </a:spcAft>
            </a:pPr>
            <a:r>
              <a:rPr sz="1800" b="0">
                <a:solidFill>
                  <a:srgbClr val="222222"/>
                </a:solidFill>
                <a:latin typeface="Calibri"/>
              </a:rPr>
              <a:t/>
            </a:r>
            <a:r>
              <a:rPr sz="1800">
                <a:solidFill>
                  <a:srgbClr val="222222"/>
                </a:solidFill>
                <a:latin typeface="Calibri"/>
              </a:rPr>
              <a:t>• Qotish barcha mushaklarda o'limdan so'ng darhol rivojlana boshlasa ham, 1-3 soatdan keyin aniqlanadi. Avval kalta kuchli mushaklarda (chaynash mushaklari), keyin bo'yin, tana, qo'l va oyoq mushaklarida bilinadi (Nisten bo'yicha pastga yo'nalgan tip). 12-16 soatdan so'ng barcha mushaklarda, 24 soatda maksimal darajada namoyon bo'ladi.</a:t>
            </a:r>
          </a:p>
          <a:p>
            <a:pPr>
              <a:spcAft>
                <a:spcPts val="800"/>
              </a:spcAft>
            </a:pPr>
            <a:r>
              <a:rPr sz="1800">
                <a:solidFill>
                  <a:srgbClr val="222222"/>
                </a:solidFill>
                <a:latin typeface="Calibri"/>
              </a:rPr>
              <a:t>• Ikkinchi kun o'rtasidan qotish autoliz va chirish hisobiga paydo bo'lish tartibida yo'qola boshlaydi. 3-7 kundan so'ng to'liq yo'qoladi.</a:t>
            </a:r>
          </a:p>
          <a:p>
            <a:pPr>
              <a:spcAft>
                <a:spcPts val="800"/>
              </a:spcAft>
            </a:pPr>
            <a:r>
              <a:rPr sz="1800">
                <a:solidFill>
                  <a:srgbClr val="222222"/>
                </a:solidFill>
                <a:latin typeface="Calibri"/>
              </a:rPr>
              <a:t>• Dastlabki soatlarda buzilgan qotish tiklanadi, lekin avvalgisidan kuchsizroq bo'ladi. Keyinroq buzilgan qotish tiklanmaydi. Bu xususiyat o'limdan so'ng murdaga tegilganligi yoki holati o'zgartirilganligini aniqlashda hisobga olinadi.</a:t>
            </a:r>
          </a:p>
          <a:p>
            <a:pPr>
              <a:spcAft>
                <a:spcPts val="800"/>
              </a:spcAft>
            </a:pPr>
            <a:r>
              <a:rPr sz="1800">
                <a:solidFill>
                  <a:srgbClr val="222222"/>
                </a:solidFill>
                <a:latin typeface="Calibri"/>
              </a:rPr>
              <a:t>• Kataleptik qotishda mushaklar o'limdan so'ng darhol va barchasida qotadi. U uzunchoq miya, orqa miyaning bo'yin qismi, quyosh chigali shikastlanganda, talvasa chaqiruvchi moddalar bilan zaharlanishda va talvasali kasalliklardan o'limda uchraydi. Kamdan-kam hollarda (o'tkir ko'p qon yo'qotishda) qotish va yo'qolish pastdan yuqoriga yo'nalgan bo'lishi mumkin.</a:t>
            </a:r>
          </a:p>
        </p:txBody>
      </p:sp>
      <p:graphicFrame>
        <p:nvGraphicFramePr>
          <p:cNvPr id="5" name="Table 4"/>
          <p:cNvGraphicFramePr>
            <a:graphicFrameLocks noGrp="1"/>
          </p:cNvGraphicFramePr>
          <p:nvPr/>
        </p:nvGraphicFramePr>
        <p:xfrm>
          <a:off x="548640" y="4023360"/>
          <a:ext cx="11064240" cy="219456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200"/>
                        <a:t>O'limdan so'ng</a:t>
                      </a:r>
                    </a:p>
                  </a:txBody>
                  <a:tcPr/>
                </a:tc>
                <a:tc>
                  <a:txBody>
                    <a:bodyPr/>
                    <a:lstStyle/>
                    <a:p>
                      <a:r>
                        <a:rPr sz="1200"/>
                        <a:t>Qotishning holati</a:t>
                      </a:r>
                    </a:p>
                  </a:txBody>
                  <a:tcPr/>
                </a:tc>
              </a:tr>
              <a:tr h="365760">
                <a:tc>
                  <a:txBody>
                    <a:bodyPr/>
                    <a:lstStyle/>
                    <a:p>
                      <a:r>
                        <a:rPr sz="1200"/>
                        <a:t>1-3 soat</a:t>
                      </a:r>
                    </a:p>
                  </a:txBody>
                  <a:tcPr/>
                </a:tc>
                <a:tc>
                  <a:txBody>
                    <a:bodyPr/>
                    <a:lstStyle/>
                    <a:p>
                      <a:r>
                        <a:rPr sz="1200"/>
                        <a:t>Aniqlana boshlaydi; avval chaynash mushaklarida</a:t>
                      </a:r>
                    </a:p>
                  </a:txBody>
                  <a:tcPr/>
                </a:tc>
              </a:tr>
              <a:tr h="365760">
                <a:tc>
                  <a:txBody>
                    <a:bodyPr/>
                    <a:lstStyle/>
                    <a:p>
                      <a:r>
                        <a:rPr sz="1200"/>
                        <a:t>12-16 soat</a:t>
                      </a:r>
                    </a:p>
                  </a:txBody>
                  <a:tcPr/>
                </a:tc>
                <a:tc>
                  <a:txBody>
                    <a:bodyPr/>
                    <a:lstStyle/>
                    <a:p>
                      <a:r>
                        <a:rPr sz="1200"/>
                        <a:t>Barcha mushaklarda kuzatiladi</a:t>
                      </a:r>
                    </a:p>
                  </a:txBody>
                  <a:tcPr/>
                </a:tc>
              </a:tr>
              <a:tr h="365760">
                <a:tc>
                  <a:txBody>
                    <a:bodyPr/>
                    <a:lstStyle/>
                    <a:p>
                      <a:r>
                        <a:rPr sz="1200"/>
                        <a:t>24 soat</a:t>
                      </a:r>
                    </a:p>
                  </a:txBody>
                  <a:tcPr/>
                </a:tc>
                <a:tc>
                  <a:txBody>
                    <a:bodyPr/>
                    <a:lstStyle/>
                    <a:p>
                      <a:r>
                        <a:rPr sz="1200"/>
                        <a:t>Maksimal darajaga etadi</a:t>
                      </a:r>
                    </a:p>
                  </a:txBody>
                  <a:tcPr/>
                </a:tc>
              </a:tr>
              <a:tr h="365760">
                <a:tc>
                  <a:txBody>
                    <a:bodyPr/>
                    <a:lstStyle/>
                    <a:p>
                      <a:r>
                        <a:rPr sz="1200"/>
                        <a:t>2-kun o'rtasidan</a:t>
                      </a:r>
                    </a:p>
                  </a:txBody>
                  <a:tcPr/>
                </a:tc>
                <a:tc>
                  <a:txBody>
                    <a:bodyPr/>
                    <a:lstStyle/>
                    <a:p>
                      <a:r>
                        <a:rPr sz="1200"/>
                        <a:t>Autoliz va chirish hisobiga yo'qola boshlaydi</a:t>
                      </a:r>
                    </a:p>
                  </a:txBody>
                  <a:tcPr/>
                </a:tc>
              </a:tr>
              <a:tr h="365760">
                <a:tc>
                  <a:txBody>
                    <a:bodyPr/>
                    <a:lstStyle/>
                    <a:p>
                      <a:r>
                        <a:rPr sz="1200"/>
                        <a:t>3-7 kun</a:t>
                      </a:r>
                    </a:p>
                  </a:txBody>
                  <a:tcPr/>
                </a:tc>
                <a:tc>
                  <a:txBody>
                    <a:bodyPr/>
                    <a:lstStyle/>
                    <a:p>
                      <a:r>
                        <a:rPr sz="1200"/>
                        <a:t>To'liq yo'qoladi</a:t>
                      </a:r>
                    </a:p>
                  </a:txBody>
                  <a:tcPr/>
                </a:tc>
              </a:tr>
            </a:tbl>
          </a:graphicData>
        </a:graphic>
      </p:graphicFrame>
      <p:sp>
        <p:nvSpPr>
          <p:cNvPr id="6" name="TextBox 5"/>
          <p:cNvSpPr txBox="1"/>
          <p:nvPr/>
        </p:nvSpPr>
        <p:spPr>
          <a:xfrm>
            <a:off x="548640" y="5669280"/>
            <a:ext cx="11064240" cy="365760"/>
          </a:xfrm>
          <a:prstGeom prst="rect">
            <a:avLst/>
          </a:prstGeom>
          <a:noFill/>
        </p:spPr>
        <p:txBody>
          <a:bodyPr wrap="square">
            <a:spAutoFit/>
          </a:bodyPr>
          <a:lstStyle/>
          <a:p>
            <a:r>
              <a:rPr sz="1100" b="0">
                <a:solidFill>
                  <a:srgbClr val="666666"/>
                </a:solidFill>
                <a:latin typeface="Calibri"/>
              </a:rPr>
              <a:t>Murda qotishining vaqt bo'yicha dinamikasi (darslik ma'lumotlari asosida qayta tuzilgan sxema)</a:t>
            </a:r>
          </a:p>
        </p:txBody>
      </p:sp>
      <p:sp>
        <p:nvSpPr>
          <p:cNvPr id="7" name="TextBox 6"/>
          <p:cNvSpPr txBox="1"/>
          <p:nvPr/>
        </p:nvSpPr>
        <p:spPr>
          <a:xfrm>
            <a:off x="548640" y="6126480"/>
            <a:ext cx="11064240" cy="548640"/>
          </a:xfrm>
          <a:prstGeom prst="rect">
            <a:avLst/>
          </a:prstGeom>
          <a:noFill/>
        </p:spPr>
        <p:txBody>
          <a:bodyPr wrap="square">
            <a:spAutoFit/>
          </a:bodyPr>
          <a:lstStyle/>
          <a:p>
            <a:r>
              <a:rPr sz="1000" b="0">
                <a:solidFill>
                  <a:srgbClr val="666666"/>
                </a:solidFill>
                <a:latin typeface="Calibri"/>
              </a:rPr>
              <a:t>Manba: [G‘iyosov Z.A., Sud tibbiyoti (Tibbiyot oliy o‘quv yurtlari talabalari uchun darslik), Toshkent: Global Books nashriyoti, 226]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0B1F3A"/>
                </a:solidFill>
                <a:latin typeface="Georgia"/>
              </a:rPr>
              <a:t>Murda qotishiga ta’sir etuvchi omillar</a:t>
            </a:r>
          </a:p>
        </p:txBody>
      </p:sp>
      <p:sp>
        <p:nvSpPr>
          <p:cNvPr id="3" name="Rectangle 2"/>
          <p:cNvSpPr/>
          <p:nvPr/>
        </p:nvSpPr>
        <p:spPr>
          <a:xfrm>
            <a:off x="548640" y="1234440"/>
            <a:ext cx="164592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508760"/>
            <a:ext cx="11064240" cy="4297680"/>
          </a:xfrm>
          <a:prstGeom prst="rect">
            <a:avLst/>
          </a:prstGeom>
          <a:noFill/>
        </p:spPr>
        <p:txBody>
          <a:bodyPr wrap="square">
            <a:spAutoFit/>
          </a:bodyPr>
          <a:lstStyle/>
          <a:p>
            <a:pPr>
              <a:spcAft>
                <a:spcPts val="800"/>
              </a:spcAft>
            </a:pPr>
            <a:r>
              <a:rPr sz="1800" b="0">
                <a:solidFill>
                  <a:srgbClr val="222222"/>
                </a:solidFill>
                <a:latin typeface="Calibri"/>
              </a:rPr>
              <a:t/>
            </a:r>
            <a:r>
              <a:rPr sz="1800">
                <a:solidFill>
                  <a:srgbClr val="222222"/>
                </a:solidFill>
                <a:latin typeface="Calibri"/>
              </a:rPr>
              <a:t>• Murda qotishining yaqqollik darajasi turli tashqi va ichki omillarga bog‘liq.</a:t>
            </a:r>
          </a:p>
          <a:p>
            <a:pPr>
              <a:spcAft>
                <a:spcPts val="800"/>
              </a:spcAft>
            </a:pPr>
            <a:r>
              <a:rPr sz="1800">
                <a:solidFill>
                  <a:srgbClr val="222222"/>
                </a:solidFill>
                <a:latin typeface="Calibri"/>
              </a:rPr>
              <a:t>• Sust rivojlanadi: havoning past haroratida, kichik yoshdagi bolalarda va keksalarda, holsizlanish va kaxeksiyada, ayrim zaharlanishlarda (xloralgidrat, motor-paralitik moddalar).</a:t>
            </a:r>
          </a:p>
          <a:p>
            <a:pPr>
              <a:spcAft>
                <a:spcPts val="800"/>
              </a:spcAft>
            </a:pPr>
            <a:r>
              <a:rPr sz="1800">
                <a:solidFill>
                  <a:srgbClr val="222222"/>
                </a:solidFill>
                <a:latin typeface="Calibri"/>
              </a:rPr>
              <a:t>• Tez va kuchli rivojlanadi: havoning yuqori haroratida, mushak tizimi kuchli rivojlanganlarda (sportchilar, jismoniy mehnat bilan shug‘ullanuvchilar), talvasa bilan kechadigan kasalliklarda, talvasa chaqiruvchi moddalar (strixnin, sikuta) bilan zaharlanishda.</a:t>
            </a:r>
          </a:p>
          <a:p>
            <a:pPr>
              <a:spcAft>
                <a:spcPts val="800"/>
              </a:spcAft>
            </a:pPr>
            <a:r>
              <a:rPr sz="1800">
                <a:solidFill>
                  <a:srgbClr val="222222"/>
                </a:solidFill>
                <a:latin typeface="Calibri"/>
              </a:rPr>
              <a:t>• Qotish ichki a’zolarning mushaklarida ham rivojlanadi. Yurak mushagi qotishi 2 soatdan so‘ng boshlanadi (“o‘limdan keyingi sistola”) va 5-6 soatdan so‘ng yo‘qoladi (“o‘limdan keyingi diastola”).</a:t>
            </a:r>
          </a:p>
        </p:txBody>
      </p:sp>
      <p:sp>
        <p:nvSpPr>
          <p:cNvPr id="5" name="TextBox 4"/>
          <p:cNvSpPr txBox="1"/>
          <p:nvPr/>
        </p:nvSpPr>
        <p:spPr>
          <a:xfrm>
            <a:off x="548640" y="6126480"/>
            <a:ext cx="11064240" cy="548640"/>
          </a:xfrm>
          <a:prstGeom prst="rect">
            <a:avLst/>
          </a:prstGeom>
          <a:noFill/>
        </p:spPr>
        <p:txBody>
          <a:bodyPr wrap="square">
            <a:spAutoFit/>
          </a:bodyPr>
          <a:lstStyle/>
          <a:p>
            <a:r>
              <a:rPr sz="1000" b="0">
                <a:solidFill>
                  <a:srgbClr val="666666"/>
                </a:solidFill>
                <a:latin typeface="Calibri"/>
              </a:rPr>
              <a:t>Manba: [G‘iyosov Z.A., Sud tibbiyoti (Tibbiyot oliy o‘quv yurtlari talabalari uchun darslik), Toshkent: Global Books nashriyoti, 226]; [G‘iyosov Z.A., Sud tibbiyoti (Tibbiyot oliy o‘quv yurtlari talabalari uchun darslik), Toshkent: Global Books nashriyoti, 226-227]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0B1F3A"/>
                </a:solidFill>
                <a:latin typeface="Georgia"/>
              </a:rPr>
              <a:t>Murda dog‘lari: hosil bo‘lishi va bosqichlari</a:t>
            </a:r>
          </a:p>
        </p:txBody>
      </p:sp>
      <p:sp>
        <p:nvSpPr>
          <p:cNvPr id="3" name="Rectangle 2"/>
          <p:cNvSpPr/>
          <p:nvPr/>
        </p:nvSpPr>
        <p:spPr>
          <a:xfrm>
            <a:off x="548640" y="1234440"/>
            <a:ext cx="164592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508760"/>
            <a:ext cx="11064240" cy="4297680"/>
          </a:xfrm>
          <a:prstGeom prst="rect">
            <a:avLst/>
          </a:prstGeom>
          <a:noFill/>
        </p:spPr>
        <p:txBody>
          <a:bodyPr wrap="square">
            <a:spAutoFit/>
          </a:bodyPr>
          <a:lstStyle/>
          <a:p>
            <a:pPr>
              <a:spcAft>
                <a:spcPts val="800"/>
              </a:spcAft>
            </a:pPr>
            <a:r>
              <a:rPr sz="1800" b="0">
                <a:solidFill>
                  <a:srgbClr val="222222"/>
                </a:solidFill>
                <a:latin typeface="Calibri"/>
              </a:rPr>
              <a:t/>
            </a:r>
            <a:r>
              <a:rPr sz="1800">
                <a:solidFill>
                  <a:srgbClr val="222222"/>
                </a:solidFill>
                <a:latin typeface="Calibri"/>
              </a:rPr>
              <a:t>• Yurak faoliyati to‘xtagach, qon og‘irlik kuchi bilan tananing past joylashgan sohalaridagi venalar va kapillyarlarga oqib tushadi. Murda dog‘lari shu qonning teri orqali ko‘rinishidir, ichki a’zolarda esa gipostazlar paydo bo‘ladi.</a:t>
            </a:r>
          </a:p>
          <a:p>
            <a:pPr>
              <a:spcAft>
                <a:spcPts val="800"/>
              </a:spcAft>
            </a:pPr>
            <a:r>
              <a:rPr sz="1800">
                <a:solidFill>
                  <a:srgbClr val="222222"/>
                </a:solidFill>
                <a:latin typeface="Calibri"/>
              </a:rPr>
              <a:t>• Uch bosqich farqlanadi: gipostaz, staz va imbibitsiya. Ular orasida aniq vaqt chegarasi yo‘q, biridan ikkinchisiga asta-sekin o‘tadi.</a:t>
            </a:r>
          </a:p>
          <a:p>
            <a:pPr>
              <a:spcAft>
                <a:spcPts val="800"/>
              </a:spcAft>
            </a:pPr>
            <a:r>
              <a:rPr sz="1800">
                <a:solidFill>
                  <a:srgbClr val="222222"/>
                </a:solidFill>
                <a:latin typeface="Calibri"/>
              </a:rPr>
              <a:t>• Gipostaz va staz bosqichlarida bosilganda dog‘ yo‘qoladi yoki oqaradi, imbibitsiyada esa rangi o‘zgarmaydi. Buning sababi: imbibitsiyada eritrotsitlar gemolizga uchrab, gemoglobin tomir devori va atrof to‘qimalarga singadi.</a:t>
            </a:r>
          </a:p>
        </p:txBody>
      </p:sp>
      <p:graphicFrame>
        <p:nvGraphicFramePr>
          <p:cNvPr id="5" name="Table 4"/>
          <p:cNvGraphicFramePr>
            <a:graphicFrameLocks noGrp="1"/>
          </p:cNvGraphicFramePr>
          <p:nvPr/>
        </p:nvGraphicFramePr>
        <p:xfrm>
          <a:off x="548640" y="4023360"/>
          <a:ext cx="11064240" cy="14630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a:t>Bosqich</a:t>
                      </a:r>
                    </a:p>
                  </a:txBody>
                  <a:tcPr/>
                </a:tc>
                <a:tc>
                  <a:txBody>
                    <a:bodyPr/>
                    <a:lstStyle/>
                    <a:p>
                      <a:r>
                        <a:rPr sz="1200"/>
                        <a:t>Muddati</a:t>
                      </a:r>
                    </a:p>
                  </a:txBody>
                  <a:tcPr/>
                </a:tc>
                <a:tc>
                  <a:txBody>
                    <a:bodyPr/>
                    <a:lstStyle/>
                    <a:p>
                      <a:r>
                        <a:rPr sz="1200"/>
                        <a:t>Qon holati</a:t>
                      </a:r>
                    </a:p>
                  </a:txBody>
                  <a:tcPr/>
                </a:tc>
                <a:tc>
                  <a:txBody>
                    <a:bodyPr/>
                    <a:lstStyle/>
                    <a:p>
                      <a:r>
                        <a:rPr sz="1200"/>
                        <a:t>Bosilganda / holat o‘zgarganda</a:t>
                      </a:r>
                    </a:p>
                  </a:txBody>
                  <a:tcPr/>
                </a:tc>
              </a:tr>
              <a:tr h="365760">
                <a:tc>
                  <a:txBody>
                    <a:bodyPr/>
                    <a:lstStyle/>
                    <a:p>
                      <a:r>
                        <a:rPr sz="1200"/>
                        <a:t>Gipostaz</a:t>
                      </a:r>
                    </a:p>
                  </a:txBody>
                  <a:tcPr/>
                </a:tc>
                <a:tc>
                  <a:txBody>
                    <a:bodyPr/>
                    <a:lstStyle/>
                    <a:p>
                      <a:r>
                        <a:rPr sz="1200"/>
                        <a:t>Dog‘lar 1,5-2 soatdan so‘ng paydo bo‘ladi, bosqich 8-12 soatgacha davom etadi</a:t>
                      </a:r>
                    </a:p>
                  </a:txBody>
                  <a:tcPr/>
                </a:tc>
                <a:tc>
                  <a:txBody>
                    <a:bodyPr/>
                    <a:lstStyle/>
                    <a:p>
                      <a:r>
                        <a:rPr sz="1200"/>
                        <a:t>Qon biroz quyuqlashadi (eritrotsit 6-7 mln/mm³), harakatchanligi saqlanadi</a:t>
                      </a:r>
                    </a:p>
                  </a:txBody>
                  <a:tcPr/>
                </a:tc>
                <a:tc>
                  <a:txBody>
                    <a:bodyPr/>
                    <a:lstStyle/>
                    <a:p>
                      <a:r>
                        <a:rPr sz="1200"/>
                        <a:t>Dog‘ yo‘qoladi va tez tiklanadi; holat o‘zgarsa yangi past sohada paydo bo‘ladi</a:t>
                      </a:r>
                    </a:p>
                  </a:txBody>
                  <a:tcPr/>
                </a:tc>
              </a:tr>
              <a:tr h="365760">
                <a:tc>
                  <a:txBody>
                    <a:bodyPr/>
                    <a:lstStyle/>
                    <a:p>
                      <a:r>
                        <a:rPr sz="1200"/>
                        <a:t>Staz</a:t>
                      </a:r>
                    </a:p>
                  </a:txBody>
                  <a:tcPr/>
                </a:tc>
                <a:tc>
                  <a:txBody>
                    <a:bodyPr/>
                    <a:lstStyle/>
                    <a:p>
                      <a:r>
                        <a:rPr sz="1200"/>
                        <a:t>12 soatdan 24 soatgacha</a:t>
                      </a:r>
                    </a:p>
                  </a:txBody>
                  <a:tcPr/>
                </a:tc>
                <a:tc>
                  <a:txBody>
                    <a:bodyPr/>
                    <a:lstStyle/>
                    <a:p>
                      <a:r>
                        <a:rPr sz="1200"/>
                        <a:t>Qon yanada quyuqlashadi (eritrotsit 8-10 mln/mm³)</a:t>
                      </a:r>
                    </a:p>
                  </a:txBody>
                  <a:tcPr/>
                </a:tc>
                <a:tc>
                  <a:txBody>
                    <a:bodyPr/>
                    <a:lstStyle/>
                    <a:p>
                      <a:r>
                        <a:rPr sz="1200"/>
                        <a:t>To‘liq yo‘qolmaydi, oqaradi va sekin tiklanadi; holat o‘zgarsa yangi joyda qisman paydo bo‘ladi</a:t>
                      </a:r>
                    </a:p>
                  </a:txBody>
                  <a:tcPr/>
                </a:tc>
              </a:tr>
              <a:tr h="365760">
                <a:tc>
                  <a:txBody>
                    <a:bodyPr/>
                    <a:lstStyle/>
                    <a:p>
                      <a:r>
                        <a:rPr sz="1200"/>
                        <a:t>Imbibitsiya</a:t>
                      </a:r>
                    </a:p>
                  </a:txBody>
                  <a:tcPr/>
                </a:tc>
                <a:tc>
                  <a:txBody>
                    <a:bodyPr/>
                    <a:lstStyle/>
                    <a:p>
                      <a:r>
                        <a:rPr sz="1200"/>
                        <a:t>Chirish hisobiga rivojlanadi (aniq muddat berilmagan)</a:t>
                      </a:r>
                    </a:p>
                  </a:txBody>
                  <a:tcPr/>
                </a:tc>
                <a:tc>
                  <a:txBody>
                    <a:bodyPr/>
                    <a:lstStyle/>
                    <a:p>
                      <a:r>
                        <a:rPr sz="1200"/>
                        <a:t>Eritrotsitlar gemolizi, gemoglobin to‘qimalarga singadi</a:t>
                      </a:r>
                    </a:p>
                  </a:txBody>
                  <a:tcPr/>
                </a:tc>
                <a:tc>
                  <a:txBody>
                    <a:bodyPr/>
                    <a:lstStyle/>
                    <a:p>
                      <a:r>
                        <a:rPr sz="1200"/>
                        <a:t>Rangi o‘zgarmaydi; holat o‘zgarsa yangi joylarda paydo bo‘lmaydi</a:t>
                      </a:r>
                    </a:p>
                  </a:txBody>
                  <a:tcPr/>
                </a:tc>
              </a:tr>
            </a:tbl>
          </a:graphicData>
        </a:graphic>
      </p:graphicFrame>
      <p:sp>
        <p:nvSpPr>
          <p:cNvPr id="6" name="TextBox 5"/>
          <p:cNvSpPr txBox="1"/>
          <p:nvPr/>
        </p:nvSpPr>
        <p:spPr>
          <a:xfrm>
            <a:off x="548640" y="5669280"/>
            <a:ext cx="11064240" cy="365760"/>
          </a:xfrm>
          <a:prstGeom prst="rect">
            <a:avLst/>
          </a:prstGeom>
          <a:noFill/>
        </p:spPr>
        <p:txBody>
          <a:bodyPr wrap="square">
            <a:spAutoFit/>
          </a:bodyPr>
          <a:lstStyle/>
          <a:p>
            <a:r>
              <a:rPr sz="1100" b="0">
                <a:solidFill>
                  <a:srgbClr val="666666"/>
                </a:solidFill>
                <a:latin typeface="Calibri"/>
              </a:rPr>
              <a:t>Murda dog‘lari rivojlanish bosqichlari (qayta tuzilgan jadval)</a:t>
            </a:r>
          </a:p>
        </p:txBody>
      </p:sp>
      <p:sp>
        <p:nvSpPr>
          <p:cNvPr id="7" name="TextBox 6"/>
          <p:cNvSpPr txBox="1"/>
          <p:nvPr/>
        </p:nvSpPr>
        <p:spPr>
          <a:xfrm>
            <a:off x="548640" y="6126480"/>
            <a:ext cx="11064240" cy="548640"/>
          </a:xfrm>
          <a:prstGeom prst="rect">
            <a:avLst/>
          </a:prstGeom>
          <a:noFill/>
        </p:spPr>
        <p:txBody>
          <a:bodyPr wrap="square">
            <a:spAutoFit/>
          </a:bodyPr>
          <a:lstStyle/>
          <a:p>
            <a:r>
              <a:rPr sz="1000" b="0">
                <a:solidFill>
                  <a:srgbClr val="666666"/>
                </a:solidFill>
                <a:latin typeface="Calibri"/>
              </a:rPr>
              <a:t>Manba: [G‘iyosov Z.A., Sud tibbiyoti (Tibbiyot oliy o‘quv yurtlari talabalari uchun darslik), Toshkent: Global Books nashriyoti, 227]; [G‘iyosov Z.A., Sud tibbiyoti (Tibbiyot oliy o‘quv yurtlari talabalari uchun darslik), Toshkent: Global Books nashriyoti, 227-228]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0B1F3A"/>
                </a:solidFill>
                <a:latin typeface="Georgia"/>
              </a:rPr>
              <a:t>Murda dog‘lari: joylashuvi, rangi va qontalashdan farqi</a:t>
            </a:r>
          </a:p>
        </p:txBody>
      </p:sp>
      <p:sp>
        <p:nvSpPr>
          <p:cNvPr id="3" name="Rectangle 2"/>
          <p:cNvSpPr/>
          <p:nvPr/>
        </p:nvSpPr>
        <p:spPr>
          <a:xfrm>
            <a:off x="548640" y="1234440"/>
            <a:ext cx="164592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508760"/>
            <a:ext cx="11064240" cy="4297680"/>
          </a:xfrm>
          <a:prstGeom prst="rect">
            <a:avLst/>
          </a:prstGeom>
          <a:noFill/>
        </p:spPr>
        <p:txBody>
          <a:bodyPr wrap="square">
            <a:spAutoFit/>
          </a:bodyPr>
          <a:lstStyle/>
          <a:p>
            <a:pPr>
              <a:spcAft>
                <a:spcPts val="800"/>
              </a:spcAft>
            </a:pPr>
            <a:r>
              <a:rPr sz="1800" b="0">
                <a:solidFill>
                  <a:srgbClr val="222222"/>
                </a:solidFill>
                <a:latin typeface="Calibri"/>
              </a:rPr>
              <a:t/>
            </a:r>
            <a:r>
              <a:rPr sz="1800">
                <a:solidFill>
                  <a:srgbClr val="222222"/>
                </a:solidFill>
                <a:latin typeface="Calibri"/>
              </a:rPr>
              <a:t>• Dog‘lar joylashuvi tananing o‘limdan keyingi holatiga bog‘liq. Yuzi bilan tepaga yotganda orqa va yon qismlarda, yuzi bilan pastga yotganda old va yon qismlarda hosil bo‘ladi. To‘liq osilganda tana va oyoq-qo‘llarning pastki qismlarida barcha yuzalarda paydo bo‘ladi.</a:t>
            </a:r>
          </a:p>
          <a:p>
            <a:pPr>
              <a:spcAft>
                <a:spcPts val="800"/>
              </a:spcAft>
            </a:pPr>
            <a:r>
              <a:rPr sz="1800">
                <a:solidFill>
                  <a:srgbClr val="222222"/>
                </a:solidFill>
                <a:latin typeface="Calibri"/>
              </a:rPr>
              <a:t>• Tez o‘limda qon suyuq bo‘lgani uchun dog‘lar tez paydo bo‘ladi, yoyilgan, to‘q qizg‘ish, ko‘kimtir-binafsha bo‘ladi. Sekin agonal o‘limda qon ivigani uchun kechroq paydo bo‘ladi va yaqqol bo‘lmaydi. O‘tkir ko‘p qon yo‘qotishda 3-4 soatdan so‘ng, alohida orolchalar ko‘rinishida paydo bo‘ladi.</a:t>
            </a:r>
          </a:p>
          <a:p>
            <a:pPr>
              <a:spcAft>
                <a:spcPts val="800"/>
              </a:spcAft>
            </a:pPr>
            <a:r>
              <a:rPr sz="1800">
                <a:solidFill>
                  <a:srgbClr val="222222"/>
                </a:solidFill>
                <a:latin typeface="Calibri"/>
              </a:rPr>
              <a:t>• Is gazi bilan zaharlanishda dog‘lar pushti-qizil, sianidlarda olcha rang, metgemoglobin hosil qiluvchi moddalarda qo‘ng‘ir-jigarrang bo‘ladi.</a:t>
            </a:r>
          </a:p>
          <a:p>
            <a:pPr>
              <a:spcAft>
                <a:spcPts val="800"/>
              </a:spcAft>
            </a:pPr>
            <a:r>
              <a:rPr sz="1800">
                <a:solidFill>
                  <a:srgbClr val="222222"/>
                </a:solidFill>
                <a:latin typeface="Calibri"/>
              </a:rPr>
              <a:t>• Murda dog‘larining chegarasi noaniq, ular qo‘shilib ketadi va bosilganda yo‘qoladi yoki oqaradi. Qontalashlar aniq shakl va chegaraga ega, qo‘shilmaydi va bosilganda rangi o‘zgarmaydi. Farqlash uchun shubhali sohada xochsimon kesma qilinadi: dog‘da qon tomchilari yoki qon singgan yog‘ to‘qimasi, qontalashda to‘qimaga quyilgan va ivigan qon topiladi.</a:t>
            </a:r>
          </a:p>
        </p:txBody>
      </p:sp>
      <p:sp>
        <p:nvSpPr>
          <p:cNvPr id="5" name="TextBox 4"/>
          <p:cNvSpPr txBox="1"/>
          <p:nvPr/>
        </p:nvSpPr>
        <p:spPr>
          <a:xfrm>
            <a:off x="548640" y="6126480"/>
            <a:ext cx="11064240" cy="548640"/>
          </a:xfrm>
          <a:prstGeom prst="rect">
            <a:avLst/>
          </a:prstGeom>
          <a:noFill/>
        </p:spPr>
        <p:txBody>
          <a:bodyPr wrap="square">
            <a:spAutoFit/>
          </a:bodyPr>
          <a:lstStyle/>
          <a:p>
            <a:r>
              <a:rPr sz="1000" b="0">
                <a:solidFill>
                  <a:srgbClr val="666666"/>
                </a:solidFill>
                <a:latin typeface="Calibri"/>
              </a:rPr>
              <a:t>Manba: [G‘iyosov Z.A., Sud tibbiyoti (Tibbiyot oliy o‘quv yurtlari talabalari uchun darslik), Toshkent: Global Books nashriyoti, 228]; [G‘iyosov Z.A., Sud tibbiyoti (Tibbiyot oliy o‘quv yurtlari talabalari uchun darslik), Toshkent: Global Books nashriyoti, 228-229]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0B1F3A"/>
                </a:solidFill>
                <a:latin typeface="Georgia"/>
              </a:rPr>
              <a:t>Autoliz</a:t>
            </a:r>
          </a:p>
        </p:txBody>
      </p:sp>
      <p:sp>
        <p:nvSpPr>
          <p:cNvPr id="3" name="Rectangle 2"/>
          <p:cNvSpPr/>
          <p:nvPr/>
        </p:nvSpPr>
        <p:spPr>
          <a:xfrm>
            <a:off x="548640" y="1234440"/>
            <a:ext cx="164592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508760"/>
            <a:ext cx="11064240" cy="4297680"/>
          </a:xfrm>
          <a:prstGeom prst="rect">
            <a:avLst/>
          </a:prstGeom>
          <a:noFill/>
        </p:spPr>
        <p:txBody>
          <a:bodyPr wrap="square">
            <a:spAutoFit/>
          </a:bodyPr>
          <a:lstStyle/>
          <a:p>
            <a:pPr>
              <a:spcAft>
                <a:spcPts val="800"/>
              </a:spcAft>
            </a:pPr>
            <a:r>
              <a:rPr sz="1800" b="0">
                <a:solidFill>
                  <a:srgbClr val="222222"/>
                </a:solidFill>
                <a:latin typeface="Calibri"/>
              </a:rPr>
              <a:t/>
            </a:r>
            <a:r>
              <a:rPr sz="1800">
                <a:solidFill>
                  <a:srgbClr val="222222"/>
                </a:solidFill>
                <a:latin typeface="Calibri"/>
              </a:rPr>
              <a:t>• O'limdan so'ng lizosomal va boshqa proteolitik fermentlarning aktivligi darhol yo'qolmaydi. Natijada hujayra va to'qimalar o'z-o'zini hazm qiladi, bu jarayon autoliz deyiladi.</a:t>
            </a:r>
          </a:p>
          <a:p>
            <a:pPr>
              <a:spcAft>
                <a:spcPts val="800"/>
              </a:spcAft>
            </a:pPr>
            <a:r>
              <a:rPr sz="1800">
                <a:solidFill>
                  <a:srgbClr val="222222"/>
                </a:solidFill>
                <a:latin typeface="Calibri"/>
              </a:rPr>
              <a:t>• Autoliz fermentlarga boy to'qimalarda tezroq va kuchliroq kechadi. Bular oshqozon va ichak shilliq qavatlari, oshqozon osti bezi, buyrak usti bezining mag'iz qavati, ayrisimon bez va buyraklar.</a:t>
            </a:r>
          </a:p>
          <a:p>
            <a:pPr>
              <a:spcAft>
                <a:spcPts val="800"/>
              </a:spcAft>
            </a:pPr>
            <a:r>
              <a:rPr sz="1800">
                <a:solidFill>
                  <a:srgbClr val="222222"/>
                </a:solidFill>
                <a:latin typeface="Calibri"/>
              </a:rPr>
              <a:t>• Autoliz o'limdan keyin birinchi kunda boshlanib, kech o'zgarishlar davrida ham davom etadi. Eritrotsitlar autolizi gemolizga, keyin qon tomir devori va atrof to'qimalar imbibitsiyasiga olib keladi.</a:t>
            </a:r>
          </a:p>
          <a:p>
            <a:pPr>
              <a:spcAft>
                <a:spcPts val="800"/>
              </a:spcAft>
            </a:pPr>
            <a:r>
              <a:rPr sz="1800">
                <a:solidFill>
                  <a:srgbClr val="222222"/>
                </a:solidFill>
                <a:latin typeface="Calibri"/>
              </a:rPr>
              <a:t>• Xato baholash xavfi bor. Oshqozon shilliq qavati autolizi o'yuvchi zahar ta'siri deb, oshqozon osti bezi autolizi esa gemorragik pankreonekrozga o'xshash deb baholanishi mumkin. Autolitik va hayotiy o'zgarishlar asosan mikroskopik tekshiruv bilan farqlanadi.</a:t>
            </a:r>
          </a:p>
        </p:txBody>
      </p:sp>
      <p:sp>
        <p:nvSpPr>
          <p:cNvPr id="5" name="TextBox 4"/>
          <p:cNvSpPr txBox="1"/>
          <p:nvPr/>
        </p:nvSpPr>
        <p:spPr>
          <a:xfrm>
            <a:off x="548640" y="6126480"/>
            <a:ext cx="11064240" cy="548640"/>
          </a:xfrm>
          <a:prstGeom prst="rect">
            <a:avLst/>
          </a:prstGeom>
          <a:noFill/>
        </p:spPr>
        <p:txBody>
          <a:bodyPr wrap="square">
            <a:spAutoFit/>
          </a:bodyPr>
          <a:lstStyle/>
          <a:p>
            <a:r>
              <a:rPr sz="1000" b="0">
                <a:solidFill>
                  <a:srgbClr val="666666"/>
                </a:solidFill>
                <a:latin typeface="Calibri"/>
              </a:rPr>
              <a:t>Manba: [G‘iyosov Z.A., Sud tibbiyoti (Tibbiyot oliy o‘quv yurtlari talabalari uchun darslik), Toshkent: Global Books nashriyoti, 229]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0B1F3A"/>
                </a:solidFill>
                <a:latin typeface="Georgia"/>
              </a:rPr>
              <a:t>Chirish: mohiyati va omillari</a:t>
            </a:r>
          </a:p>
        </p:txBody>
      </p:sp>
      <p:sp>
        <p:nvSpPr>
          <p:cNvPr id="3" name="Rectangle 2"/>
          <p:cNvSpPr/>
          <p:nvPr/>
        </p:nvSpPr>
        <p:spPr>
          <a:xfrm>
            <a:off x="548640" y="1234440"/>
            <a:ext cx="164592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508760"/>
            <a:ext cx="11064240" cy="4297680"/>
          </a:xfrm>
          <a:prstGeom prst="rect">
            <a:avLst/>
          </a:prstGeom>
          <a:noFill/>
        </p:spPr>
        <p:txBody>
          <a:bodyPr wrap="square">
            <a:spAutoFit/>
          </a:bodyPr>
          <a:lstStyle/>
          <a:p>
            <a:pPr>
              <a:spcAft>
                <a:spcPts val="800"/>
              </a:spcAft>
            </a:pPr>
            <a:r>
              <a:rPr sz="1800" b="0">
                <a:solidFill>
                  <a:srgbClr val="222222"/>
                </a:solidFill>
                <a:latin typeface="Calibri"/>
              </a:rPr>
              <a:t/>
            </a:r>
            <a:r>
              <a:rPr sz="1800">
                <a:solidFill>
                  <a:srgbClr val="222222"/>
                </a:solidFill>
                <a:latin typeface="Calibri"/>
              </a:rPr>
              <a:t>• Chirish mikroorganizmlar faoliyati natijasida to'qimalardagi organik birikmalar, jumladan oqsillarning yemirilishidir. O'limdan so'ng himoya mexanizmlari yo'qolishi mikroorganizmlarning tez ko'payishiga olib keladi.</a:t>
            </a:r>
          </a:p>
          <a:p>
            <a:pPr>
              <a:spcAft>
                <a:spcPts val="800"/>
              </a:spcAft>
            </a:pPr>
            <a:r>
              <a:rPr sz="1800">
                <a:solidFill>
                  <a:srgbClr val="222222"/>
                </a:solidFill>
                <a:latin typeface="Calibri"/>
              </a:rPr>
              <a:t>• Chirish asosan aerob bakteriyalar ta'sirida rivojlanadi va ularda jadalroq kechadi. Anaerob bakteriyalar ta'sirida jarayon sust bo'lib, o'ta yoqimsiz hid ajraladi.</a:t>
            </a:r>
          </a:p>
          <a:p>
            <a:pPr>
              <a:spcAft>
                <a:spcPts val="800"/>
              </a:spcAft>
            </a:pPr>
            <a:r>
              <a:rPr sz="1800">
                <a:solidFill>
                  <a:srgbClr val="222222"/>
                </a:solidFill>
                <a:latin typeface="Calibri"/>
              </a:rPr>
              <a:t>• Chirish ochiq havoda, +20 dan +40 °C gacha haroratda va o'rtacha namlikda yaxshi kechadi. Minus haroratda va +55 °C dan yuqorida to'xtaydi, 0 dan +10 °C gacha juda sekin bo'ladi. Murda suvda havoga nisbatan 2 barobar, yerda 8 barobar sekin chiriydi (Kasper indeksi 1:2:8), chunki u yerda kislorod kam va harorat past.</a:t>
            </a:r>
          </a:p>
          <a:p>
            <a:pPr>
              <a:spcAft>
                <a:spcPts val="800"/>
              </a:spcAft>
            </a:pPr>
            <a:r>
              <a:rPr sz="1800">
                <a:solidFill>
                  <a:srgbClr val="222222"/>
                </a:solidFill>
                <a:latin typeface="Calibri"/>
              </a:rPr>
              <a:t>• Chirish sekinlashadi: ko'p qon yo'qotish, suvsizlanish, is gazi yoki margimush bilan zaharlanish, o'limdan oldin antibiotik va sulfanilamid qabul qilish, chaqaloq murdasi, kiyim-bosh va tobutga solib ko'mish. Sepsis va boshqa yiringli jarayonlardan o'limda hamda to'la odamlar murdasida chirish tezroq kechadi.</a:t>
            </a:r>
          </a:p>
        </p:txBody>
      </p:sp>
      <p:sp>
        <p:nvSpPr>
          <p:cNvPr id="5" name="TextBox 4"/>
          <p:cNvSpPr txBox="1"/>
          <p:nvPr/>
        </p:nvSpPr>
        <p:spPr>
          <a:xfrm>
            <a:off x="548640" y="6126480"/>
            <a:ext cx="11064240" cy="548640"/>
          </a:xfrm>
          <a:prstGeom prst="rect">
            <a:avLst/>
          </a:prstGeom>
          <a:noFill/>
        </p:spPr>
        <p:txBody>
          <a:bodyPr wrap="square">
            <a:spAutoFit/>
          </a:bodyPr>
          <a:lstStyle/>
          <a:p>
            <a:r>
              <a:rPr sz="1000" b="0">
                <a:solidFill>
                  <a:srgbClr val="666666"/>
                </a:solidFill>
                <a:latin typeface="Calibri"/>
              </a:rPr>
              <a:t>Manba: [G‘iyosov Z.A., Sud tibbiyoti (Tibbiyot oliy o‘quv yurtlari talabalari uchun darslik), Toshkent: Global Books nashriyoti, 229]; [G‘iyosov Z.A., Sud tibbiyoti (Tibbiyot oliy o‘quv yurtlari talabalari uchun darslik), Toshkent: Global Books nashriyoti, 230]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0B1F3A"/>
                </a:solidFill>
                <a:latin typeface="Georgia"/>
              </a:rPr>
              <a:t>Chirish belgilari va tiplari</a:t>
            </a:r>
          </a:p>
        </p:txBody>
      </p:sp>
      <p:sp>
        <p:nvSpPr>
          <p:cNvPr id="3" name="Rectangle 2"/>
          <p:cNvSpPr/>
          <p:nvPr/>
        </p:nvSpPr>
        <p:spPr>
          <a:xfrm>
            <a:off x="548640" y="1234440"/>
            <a:ext cx="164592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508760"/>
            <a:ext cx="11064240" cy="4297680"/>
          </a:xfrm>
          <a:prstGeom prst="rect">
            <a:avLst/>
          </a:prstGeom>
          <a:noFill/>
        </p:spPr>
        <p:txBody>
          <a:bodyPr wrap="square">
            <a:spAutoFit/>
          </a:bodyPr>
          <a:lstStyle/>
          <a:p>
            <a:pPr>
              <a:spcAft>
                <a:spcPts val="800"/>
              </a:spcAft>
            </a:pPr>
            <a:r>
              <a:rPr sz="1800" b="0">
                <a:solidFill>
                  <a:srgbClr val="222222"/>
                </a:solidFill>
                <a:latin typeface="Calibri"/>
              </a:rPr>
              <a:t/>
            </a:r>
            <a:r>
              <a:rPr sz="1800">
                <a:solidFill>
                  <a:srgbClr val="222222"/>
                </a:solidFill>
                <a:latin typeface="Calibri"/>
              </a:rPr>
              <a:t>• Chirish jarayonida ptomainlar (kadaverin, putressin, betain, muskarin) hosil bo'ladi va ular "murda zaharlari" deb ham ataladi. Ptomainlar bilan zaharlanishdan o'lim haqida ilmiy adabiyotda aniq va ishonchli ma'lumot yo'q.</a:t>
            </a:r>
          </a:p>
          <a:p>
            <a:pPr>
              <a:spcAft>
                <a:spcPts val="800"/>
              </a:spcAft>
            </a:pPr>
            <a:r>
              <a:rPr sz="1800">
                <a:solidFill>
                  <a:srgbClr val="222222"/>
                </a:solidFill>
                <a:latin typeface="Calibri"/>
              </a:rPr>
              <a:t>• Murda yashili vodorod sulfidning gemoglobinga birikib sulfgemoglobin hosil qilishi bilan bog'liq. U 2-kunda o'ng yonbosh sohada paydo bo'lib, 2-haftada butun terini egallaydi. Chirish venoz to'ri 3-4-kunda venalar proeksiyasida paydo bo'ladi va qo'ng'ir, keyin qo'ng'ir-yashil tusga kiradi.</a:t>
            </a:r>
          </a:p>
          <a:p>
            <a:pPr>
              <a:spcAft>
                <a:spcPts val="800"/>
              </a:spcAft>
            </a:pPr>
            <a:r>
              <a:rPr sz="1800">
                <a:solidFill>
                  <a:srgbClr val="222222"/>
                </a:solidFill>
                <a:latin typeface="Calibri"/>
              </a:rPr>
              <a:t>• Chirish gazlari teri osti yog' to'qimasida to'planib murda emfizemasini beradi: ushlab ko'rilganda krepitatsiya seziladi, yuz, qorin va moyaklar kattalashadi. Katta bosimdagi gaz tilning chiqishi, to'g'ri ichak va bachadonning tashqariga chiqishi, "o'limdan keyingi qusish" va "o'limdan keyingi tug'ruq"ka olib kelishi mumkin. 4-6-kundan iflos-qizg'ish suyuqlikli chirish pufakchalari paydo bo'ladi, soch va timoqlar oson ajraladi.</a:t>
            </a:r>
          </a:p>
          <a:p>
            <a:pPr>
              <a:spcAft>
                <a:spcPts val="800"/>
              </a:spcAft>
            </a:pPr>
            <a:r>
              <a:rPr sz="1800">
                <a:solidFill>
                  <a:srgbClr val="222222"/>
                </a:solidFill>
                <a:latin typeface="Calibri"/>
              </a:rPr>
              <a:t>• Gazli tip infeksion kasalliklar va septik asoratlardan o'limda bo'ladi, emfizema kuchli rivojlanadi. Nam tipda suyuqlik to'planishi bilan kechadigan kasalliklarda chirish pufaklari yaqqol bo'ladi. Quruq tip kaxeksiyaga olib keladigan kasalliklarda (rak, tuberkulez) uchraydi va emfizema hamda pufakchalar bo'lmaydi.</a:t>
            </a:r>
          </a:p>
        </p:txBody>
      </p:sp>
      <p:sp>
        <p:nvSpPr>
          <p:cNvPr id="5" name="TextBox 4"/>
          <p:cNvSpPr txBox="1"/>
          <p:nvPr/>
        </p:nvSpPr>
        <p:spPr>
          <a:xfrm>
            <a:off x="548640" y="6126480"/>
            <a:ext cx="11064240" cy="548640"/>
          </a:xfrm>
          <a:prstGeom prst="rect">
            <a:avLst/>
          </a:prstGeom>
          <a:noFill/>
        </p:spPr>
        <p:txBody>
          <a:bodyPr wrap="square">
            <a:spAutoFit/>
          </a:bodyPr>
          <a:lstStyle/>
          <a:p>
            <a:r>
              <a:rPr sz="1000" b="0">
                <a:solidFill>
                  <a:srgbClr val="666666"/>
                </a:solidFill>
                <a:latin typeface="Calibri"/>
              </a:rPr>
              <a:t>Manba: [G‘iyosov Z.A., Sud tibbiyoti (Tibbiyot oliy o‘quv yurtlari talabalari uchun darslik), Toshkent: Global Books nashriyoti, 230]; [G‘iyosov Z.A., Sud tibbiyoti (Tibbiyot oliy o‘quv yurtlari talabalari uchun darslik), Toshkent: Global Books nashriyoti, 230-231]; [G‘iyosov Z.A., Sud tibbiyoti (Tibbiyot oliy o‘quv yurtlari talabalari uchun darslik), Toshkent: Global Books nashriyoti, 231]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0B1F3A"/>
                </a:solidFill>
                <a:latin typeface="Georgia"/>
              </a:rPr>
              <a:t>Hasharotlar va hayvonlar tomonidan yemirilish</a:t>
            </a:r>
          </a:p>
        </p:txBody>
      </p:sp>
      <p:sp>
        <p:nvSpPr>
          <p:cNvPr id="3" name="Rectangle 2"/>
          <p:cNvSpPr/>
          <p:nvPr/>
        </p:nvSpPr>
        <p:spPr>
          <a:xfrm>
            <a:off x="548640" y="1234440"/>
            <a:ext cx="164592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508760"/>
            <a:ext cx="11064240" cy="4297680"/>
          </a:xfrm>
          <a:prstGeom prst="rect">
            <a:avLst/>
          </a:prstGeom>
          <a:noFill/>
        </p:spPr>
        <p:txBody>
          <a:bodyPr wrap="square">
            <a:spAutoFit/>
          </a:bodyPr>
          <a:lstStyle/>
          <a:p>
            <a:pPr>
              <a:spcAft>
                <a:spcPts val="800"/>
              </a:spcAft>
            </a:pPr>
            <a:r>
              <a:rPr sz="1800" b="0">
                <a:solidFill>
                  <a:srgbClr val="222222"/>
                </a:solidFill>
                <a:latin typeface="Calibri"/>
              </a:rPr>
              <a:t/>
            </a:r>
            <a:r>
              <a:rPr sz="1800">
                <a:solidFill>
                  <a:srgbClr val="222222"/>
                </a:solidFill>
                <a:latin typeface="Calibri"/>
              </a:rPr>
              <a:t>• Murda turli hasharotlar (pashsha, chumoli, qo‘ng‘iz, suvarak) tomonidan yemirilishi mumkin. Yemirilish o‘limdan keyin ma’lum vaqtdan boshlanadi va hasharotlar turiga xos ketma-ketlikda o‘tadi. Shu xususiyatdan o‘lim muddatini aniqlashda foydalaniladi.</a:t>
            </a:r>
          </a:p>
          <a:p>
            <a:pPr>
              <a:spcAft>
                <a:spcPts val="800"/>
              </a:spcAft>
            </a:pPr>
            <a:r>
              <a:rPr sz="1800">
                <a:solidFill>
                  <a:srgbClr val="222222"/>
                </a:solidFill>
                <a:latin typeface="Calibri"/>
              </a:rPr>
              <a:t>• Pashshalar o‘lim yuz bergach tez orada tabiiy teshiklar va yaralar atrofiga tuxum qo‘yadi. Xona haroratida 24-30 soatdan keyin lichinkalar chiqadi. Lichinkalar proteolitik ferment ajratib, yumshoq to‘qimalarni eritadi.</a:t>
            </a:r>
          </a:p>
          <a:p>
            <a:pPr>
              <a:spcAft>
                <a:spcPts val="800"/>
              </a:spcAft>
            </a:pPr>
            <a:r>
              <a:rPr sz="1800">
                <a:solidFill>
                  <a:srgbClr val="222222"/>
                </a:solidFill>
                <a:latin typeface="Calibri"/>
              </a:rPr>
              <a:t>• Qulay sharoitda katta yoshli odamning yumshoq to‘qimalari pashsha lichinkalaridan 4-6 haftada skeletgacha yemiriladi. Kichik bolalarda bu muddat 1-2 hafta. Keyin nekrofag qo‘ng‘iz (30-45 kun) va yirtqich qo‘ng‘iz (45-60 kun) lichinkalari yumshoq to‘qimalarni to‘liq yemiradi.</a:t>
            </a:r>
          </a:p>
          <a:p>
            <a:pPr>
              <a:spcAft>
                <a:spcPts val="800"/>
              </a:spcAft>
            </a:pPr>
            <a:r>
              <a:rPr sz="1800">
                <a:solidFill>
                  <a:srgbClr val="222222"/>
                </a:solidFill>
                <a:latin typeface="Calibri"/>
              </a:rPr>
              <a:t>• Hayvonlar, qushlar va baliqlar bilan yemirilishdan o‘lim muddatini aniqlashda foydalanib bo‘lmaydi. Ularning jarohatlarini hayotiy shikastdan farqlash kerak. Buning uchun hodisa tafsiloti, topilgan joy, tish va tirnoq izlari, tuk, par va ajratmalarga qaraladi.</a:t>
            </a:r>
          </a:p>
        </p:txBody>
      </p:sp>
      <p:sp>
        <p:nvSpPr>
          <p:cNvPr id="5" name="TextBox 4"/>
          <p:cNvSpPr txBox="1"/>
          <p:nvPr/>
        </p:nvSpPr>
        <p:spPr>
          <a:xfrm>
            <a:off x="548640" y="6126480"/>
            <a:ext cx="11064240" cy="548640"/>
          </a:xfrm>
          <a:prstGeom prst="rect">
            <a:avLst/>
          </a:prstGeom>
          <a:noFill/>
        </p:spPr>
        <p:txBody>
          <a:bodyPr wrap="square">
            <a:spAutoFit/>
          </a:bodyPr>
          <a:lstStyle/>
          <a:p>
            <a:r>
              <a:rPr sz="1000" b="0">
                <a:solidFill>
                  <a:srgbClr val="666666"/>
                </a:solidFill>
                <a:latin typeface="Calibri"/>
              </a:rPr>
              <a:t>Manba: [G‘iyosov Z.A., Sud tibbiyoti (Tibbiyot oliy o‘quv yurtlari talabalari uchun darslik), Toshkent: Global Books nashriyoti, 232]; [G‘iyosov Z.A., Sud tibbiyoti (Tibbiyot oliy o‘quv yurtlari talabalari uchun darslik), Toshkent: Global Books nashriyoti, 232-233]; [G‘iyosov Z.A., Sud tibbiyoti (Tibbiyot oliy o‘quv yurtlari talabalari uchun darslik), Toshkent: Global Books nashriyoti, 233]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0B1F3A"/>
                </a:solidFill>
                <a:latin typeface="Georgia"/>
              </a:rPr>
              <a:t>Saqlovchi kech o‘zgarishlar</a:t>
            </a:r>
          </a:p>
        </p:txBody>
      </p:sp>
      <p:sp>
        <p:nvSpPr>
          <p:cNvPr id="3" name="Rectangle 2"/>
          <p:cNvSpPr/>
          <p:nvPr/>
        </p:nvSpPr>
        <p:spPr>
          <a:xfrm>
            <a:off x="548640" y="1234440"/>
            <a:ext cx="164592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508760"/>
            <a:ext cx="11064240" cy="4297680"/>
          </a:xfrm>
          <a:prstGeom prst="rect">
            <a:avLst/>
          </a:prstGeom>
          <a:noFill/>
        </p:spPr>
        <p:txBody>
          <a:bodyPr wrap="square">
            <a:spAutoFit/>
          </a:bodyPr>
          <a:lstStyle/>
          <a:p>
            <a:pPr>
              <a:spcAft>
                <a:spcPts val="800"/>
              </a:spcAft>
            </a:pPr>
            <a:r>
              <a:rPr sz="1800" b="0">
                <a:solidFill>
                  <a:srgbClr val="222222"/>
                </a:solidFill>
                <a:latin typeface="Calibri"/>
              </a:rPr>
              <a:t/>
            </a:r>
            <a:r>
              <a:rPr sz="1800">
                <a:solidFill>
                  <a:srgbClr val="222222"/>
                </a:solidFill>
                <a:latin typeface="Calibri"/>
              </a:rPr>
              <a:t>• Mumifikatsiya – murdaning kech qurishi. U issiq, quruq havo va yaxshi ventilyatsiya sharoitida rivojlanadi, chirish to‘xtaydi. To‘liq mumifikatsiyada tana 80-90% gacha namlikni yo‘qotadi.</a:t>
            </a:r>
          </a:p>
          <a:p>
            <a:pPr>
              <a:spcAft>
                <a:spcPts val="800"/>
              </a:spcAft>
            </a:pPr>
            <a:r>
              <a:rPr sz="1800">
                <a:solidFill>
                  <a:srgbClr val="222222"/>
                </a:solidFill>
                <a:latin typeface="Calibri"/>
              </a:rPr>
              <a:t>• Mumifikatsiyada jarohat izlari saqlanib qolishi mumkin. Shaxsni identifikatsiya qilish (jins, bo‘y, individual belgilar) ham imkon bo‘ladi.</a:t>
            </a:r>
          </a:p>
          <a:p>
            <a:pPr>
              <a:spcAft>
                <a:spcPts val="800"/>
              </a:spcAft>
            </a:pPr>
            <a:r>
              <a:rPr sz="1800">
                <a:solidFill>
                  <a:srgbClr val="222222"/>
                </a:solidFill>
                <a:latin typeface="Calibri"/>
              </a:rPr>
              <a:t>• Yog‘-mo‘m (sovunlanish) nam yoki suvli, havosiz yoki havosi kam, nisbatan sovuq sharoitda rivojlanadi. Uning asosida yog‘ gidrolizi yotadi: yog‘ kislotalari ishqoriy va ishqoriy-yer metallari bilan sovunga aylanadi. Torfli oshlash torfli botqoqda gumus kislotalari ta’sirida sodir bo‘ladi: teri zich, to‘q jigarrang va sinuvchan bo‘ladi, suyaklar yumshaydi.</a:t>
            </a:r>
          </a:p>
          <a:p>
            <a:pPr>
              <a:spcAft>
                <a:spcPts val="800"/>
              </a:spcAft>
            </a:pPr>
            <a:r>
              <a:rPr sz="1800">
                <a:solidFill>
                  <a:srgbClr val="222222"/>
                </a:solidFill>
                <a:latin typeface="Calibri"/>
              </a:rPr>
              <a:t>• Murda tabiiy ravishda yuqori konsentratsiyali tuzli eritma, spirt, neft va texnik moylarda hamda muzlagan holda yillar davomida saqlanishi mumkin.</a:t>
            </a:r>
          </a:p>
        </p:txBody>
      </p:sp>
      <p:graphicFrame>
        <p:nvGraphicFramePr>
          <p:cNvPr id="5" name="Table 4"/>
          <p:cNvGraphicFramePr>
            <a:graphicFrameLocks noGrp="1"/>
          </p:cNvGraphicFramePr>
          <p:nvPr/>
        </p:nvGraphicFramePr>
        <p:xfrm>
          <a:off x="548640" y="4023360"/>
          <a:ext cx="11064240" cy="14630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a:t>O‘zgarish</a:t>
                      </a:r>
                    </a:p>
                  </a:txBody>
                  <a:tcPr/>
                </a:tc>
                <a:tc>
                  <a:txBody>
                    <a:bodyPr/>
                    <a:lstStyle/>
                    <a:p>
                      <a:r>
                        <a:rPr sz="1200"/>
                        <a:t>Sharoit</a:t>
                      </a:r>
                    </a:p>
                  </a:txBody>
                  <a:tcPr/>
                </a:tc>
                <a:tc>
                  <a:txBody>
                    <a:bodyPr/>
                    <a:lstStyle/>
                    <a:p>
                      <a:r>
                        <a:rPr sz="1200"/>
                        <a:t>Muddat</a:t>
                      </a:r>
                    </a:p>
                  </a:txBody>
                  <a:tcPr/>
                </a:tc>
                <a:tc>
                  <a:txBody>
                    <a:bodyPr/>
                    <a:lstStyle/>
                    <a:p>
                      <a:r>
                        <a:rPr sz="1200"/>
                        <a:t>Asosiy belgilar</a:t>
                      </a:r>
                    </a:p>
                  </a:txBody>
                  <a:tcPr/>
                </a:tc>
              </a:tr>
              <a:tr h="365760">
                <a:tc>
                  <a:txBody>
                    <a:bodyPr/>
                    <a:lstStyle/>
                    <a:p>
                      <a:r>
                        <a:rPr sz="1200"/>
                        <a:t>Mumifikatsiya</a:t>
                      </a:r>
                    </a:p>
                  </a:txBody>
                  <a:tcPr/>
                </a:tc>
                <a:tc>
                  <a:txBody>
                    <a:bodyPr/>
                    <a:lstStyle/>
                    <a:p>
                      <a:r>
                        <a:rPr sz="1200"/>
                        <a:t>Issiq, quruq havo, yaxshi ventilyatsiya</a:t>
                      </a:r>
                    </a:p>
                  </a:txBody>
                  <a:tcPr/>
                </a:tc>
                <a:tc>
                  <a:txBody>
                    <a:bodyPr/>
                    <a:lstStyle/>
                    <a:p>
                      <a:r>
                        <a:rPr sz="1200"/>
                        <a:t>Katta yoshli 6-12 oy, bolalar 4-6 oy, o‘ta qulay sharoitda 2-3 oy</a:t>
                      </a:r>
                    </a:p>
                  </a:txBody>
                  <a:tcPr/>
                </a:tc>
                <a:tc>
                  <a:txBody>
                    <a:bodyPr/>
                    <a:lstStyle/>
                    <a:p>
                      <a:r>
                        <a:rPr sz="1200"/>
                        <a:t>To‘qimalar qurib qattiqlashadi, vazn kamayadi, teri qo‘ng‘ir-qora</a:t>
                      </a:r>
                    </a:p>
                  </a:txBody>
                  <a:tcPr/>
                </a:tc>
              </a:tr>
              <a:tr h="365760">
                <a:tc>
                  <a:txBody>
                    <a:bodyPr/>
                    <a:lstStyle/>
                    <a:p>
                      <a:r>
                        <a:rPr sz="1200"/>
                        <a:t>Yog‘-mo‘m</a:t>
                      </a:r>
                    </a:p>
                  </a:txBody>
                  <a:tcPr/>
                </a:tc>
                <a:tc>
                  <a:txBody>
                    <a:bodyPr/>
                    <a:lstStyle/>
                    <a:p>
                      <a:r>
                        <a:rPr sz="1200"/>
                        <a:t>Nam yoki suvli, havo yo‘q yoki kam, nisbatan sovuq</a:t>
                      </a:r>
                    </a:p>
                  </a:txBody>
                  <a:tcPr/>
                </a:tc>
                <a:tc>
                  <a:txBody>
                    <a:bodyPr/>
                    <a:lstStyle/>
                    <a:p>
                      <a:r>
                        <a:rPr sz="1200"/>
                        <a:t>2-3 oydan boshlanadi; to‘liq: katta yoshli 10-12 oy, bolalar 4-5 oy</a:t>
                      </a:r>
                    </a:p>
                  </a:txBody>
                  <a:tcPr/>
                </a:tc>
                <a:tc>
                  <a:txBody>
                    <a:bodyPr/>
                    <a:lstStyle/>
                    <a:p>
                      <a:r>
                        <a:rPr sz="1200"/>
                        <a:t>Bir tekis amorf massa, o‘ziga xos yoqimsiz hid</a:t>
                      </a:r>
                    </a:p>
                  </a:txBody>
                  <a:tcPr/>
                </a:tc>
              </a:tr>
              <a:tr h="365760">
                <a:tc>
                  <a:txBody>
                    <a:bodyPr/>
                    <a:lstStyle/>
                    <a:p>
                      <a:r>
                        <a:rPr sz="1200"/>
                        <a:t>Torfli oshlash</a:t>
                      </a:r>
                    </a:p>
                  </a:txBody>
                  <a:tcPr/>
                </a:tc>
                <a:tc>
                  <a:txBody>
                    <a:bodyPr/>
                    <a:lstStyle/>
                    <a:p>
                      <a:r>
                        <a:rPr sz="1200"/>
                        <a:t>Torfli botqoq, gumus kislotalari</a:t>
                      </a:r>
                    </a:p>
                  </a:txBody>
                  <a:tcPr/>
                </a:tc>
                <a:tc>
                  <a:txBody>
                    <a:bodyPr/>
                    <a:lstStyle/>
                    <a:p>
                      <a:r>
                        <a:rPr sz="1200"/>
                        <a:t>Muddat ko‘rsatilmagan; murda ko‘p yillar saqlanadi</a:t>
                      </a:r>
                    </a:p>
                  </a:txBody>
                  <a:tcPr/>
                </a:tc>
                <a:tc>
                  <a:txBody>
                    <a:bodyPr/>
                    <a:lstStyle/>
                    <a:p>
                      <a:r>
                        <a:rPr sz="1200"/>
                        <a:t>Teri zich, to‘q jigarrang va sinuvchan; ichki a’zolar kichrayadi, suyaklar yumshaydi</a:t>
                      </a:r>
                    </a:p>
                  </a:txBody>
                  <a:tcPr/>
                </a:tc>
              </a:tr>
            </a:tbl>
          </a:graphicData>
        </a:graphic>
      </p:graphicFrame>
      <p:sp>
        <p:nvSpPr>
          <p:cNvPr id="6" name="TextBox 5"/>
          <p:cNvSpPr txBox="1"/>
          <p:nvPr/>
        </p:nvSpPr>
        <p:spPr>
          <a:xfrm>
            <a:off x="548640" y="5669280"/>
            <a:ext cx="11064240" cy="365760"/>
          </a:xfrm>
          <a:prstGeom prst="rect">
            <a:avLst/>
          </a:prstGeom>
          <a:noFill/>
        </p:spPr>
        <p:txBody>
          <a:bodyPr wrap="square">
            <a:spAutoFit/>
          </a:bodyPr>
          <a:lstStyle/>
          <a:p>
            <a:r>
              <a:rPr sz="1100" b="0">
                <a:solidFill>
                  <a:srgbClr val="666666"/>
                </a:solidFill>
                <a:latin typeface="Calibri"/>
              </a:rPr>
              <a:t>Saqlovchi kech o‘zgarishlarning solishtirma jadvali (darslik asosida qayta tuzilgan)</a:t>
            </a:r>
          </a:p>
        </p:txBody>
      </p:sp>
      <p:sp>
        <p:nvSpPr>
          <p:cNvPr id="7" name="TextBox 6"/>
          <p:cNvSpPr txBox="1"/>
          <p:nvPr/>
        </p:nvSpPr>
        <p:spPr>
          <a:xfrm>
            <a:off x="548640" y="6126480"/>
            <a:ext cx="11064240" cy="548640"/>
          </a:xfrm>
          <a:prstGeom prst="rect">
            <a:avLst/>
          </a:prstGeom>
          <a:noFill/>
        </p:spPr>
        <p:txBody>
          <a:bodyPr wrap="square">
            <a:spAutoFit/>
          </a:bodyPr>
          <a:lstStyle/>
          <a:p>
            <a:r>
              <a:rPr sz="1000" b="0">
                <a:solidFill>
                  <a:srgbClr val="666666"/>
                </a:solidFill>
                <a:latin typeface="Calibri"/>
              </a:rPr>
              <a:t>Manba: [G‘iyosov Z.A., Sud tibbiyoti (Tibbiyot oliy o‘quv yurtlari talabalari uchun darslik), Toshkent: Global Books nashriyoti, 233]; [G‘iyosov Z.A., Sud tibbiyoti (Tibbiyot oliy o‘quv yurtlari talabalari uchun darslik), Toshkent: Global Books nashriyoti, 234]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0B1F3A"/>
                </a:solidFill>
                <a:latin typeface="Georgia"/>
              </a:rPr>
              <a:t>Murdaning sun’iy o‘zgarishlari</a:t>
            </a:r>
          </a:p>
        </p:txBody>
      </p:sp>
      <p:sp>
        <p:nvSpPr>
          <p:cNvPr id="3" name="Rectangle 2"/>
          <p:cNvSpPr/>
          <p:nvPr/>
        </p:nvSpPr>
        <p:spPr>
          <a:xfrm>
            <a:off x="548640" y="1234440"/>
            <a:ext cx="164592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508760"/>
            <a:ext cx="11064240" cy="4297680"/>
          </a:xfrm>
          <a:prstGeom prst="rect">
            <a:avLst/>
          </a:prstGeom>
          <a:noFill/>
        </p:spPr>
        <p:txBody>
          <a:bodyPr wrap="square">
            <a:spAutoFit/>
          </a:bodyPr>
          <a:lstStyle/>
          <a:p>
            <a:pPr>
              <a:spcAft>
                <a:spcPts val="800"/>
              </a:spcAft>
            </a:pPr>
            <a:r>
              <a:rPr sz="1800" b="0">
                <a:solidFill>
                  <a:srgbClr val="222222"/>
                </a:solidFill>
                <a:latin typeface="Calibri"/>
              </a:rPr>
              <a:t/>
            </a:r>
            <a:r>
              <a:rPr sz="1800">
                <a:solidFill>
                  <a:srgbClr val="222222"/>
                </a:solidFill>
                <a:latin typeface="Calibri"/>
              </a:rPr>
              <a:t>• Sun’iy o‘zgarishlar saqlovchi va yemiruvchi guruhlarga bo‘linadi. Saqlovchilari – balzamlash va muzlatish. Oddiy konservatsiya usuli – son arteriyasi va bo‘shliqlarga etil spirti bilan formalinning teng ulushdagi aralashmasini yuborish. Murdani maxsus sovutkichda ham ma’lum vaqt saqlash mumkin. Sun’iy o‘zgarishlar o‘lim muddati bilan bog‘liq emas.</a:t>
            </a:r>
          </a:p>
          <a:p>
            <a:pPr>
              <a:spcAft>
                <a:spcPts val="800"/>
              </a:spcAft>
            </a:pPr>
            <a:r>
              <a:rPr sz="1800">
                <a:solidFill>
                  <a:srgbClr val="222222"/>
                </a:solidFill>
                <a:latin typeface="Calibri"/>
              </a:rPr>
              <a:t>• Murdani qismlash odatda o‘tkir jismlar bilan bajariladi. Defenziv qismlash jinoyatni yashirish va jazodan qutulish maqsadida qilinadi. Offenziv qismlash esa kuchli ehtiros, qasos va haqorat tufayli qilinadi, unda jinoyat yashirilmaydi.</a:t>
            </a:r>
          </a:p>
          <a:p>
            <a:pPr>
              <a:spcAft>
                <a:spcPts val="800"/>
              </a:spcAft>
            </a:pPr>
            <a:r>
              <a:rPr sz="1800">
                <a:solidFill>
                  <a:srgbClr val="222222"/>
                </a:solidFill>
                <a:latin typeface="Calibri"/>
              </a:rPr>
              <a:t>• Ayrim mamlakatlarda yoqish (krematsiya) krematoriyda amalga oshiriladigan rasmiy dafn usuli. Jinoyatni yashirish uchun murda kerosin yoki benzin kabi yonilg‘i bilan ham yoqilishi mumkin. Katta yoshli odamni to‘liq yoqish uchun 20 soat, kichik bolani 2-3 soat kerak.</a:t>
            </a:r>
          </a:p>
          <a:p>
            <a:pPr>
              <a:spcAft>
                <a:spcPts val="800"/>
              </a:spcAft>
            </a:pPr>
            <a:r>
              <a:rPr sz="1800">
                <a:solidFill>
                  <a:srgbClr val="222222"/>
                </a:solidFill>
                <a:latin typeface="Calibri"/>
              </a:rPr>
              <a:t>• Murdani eritish kazuistik holat. Bunda asosan turli kislotalardan foydalaniladi va jarayon diatom planktoniga tekshiruv uchun ob’ektlarni tayyorlashga o‘xshaydi. Darslikda bunday urinishlar adabiyot va tarixiy manbalardan misol qilib keltirilgan.</a:t>
            </a:r>
          </a:p>
        </p:txBody>
      </p:sp>
      <p:sp>
        <p:nvSpPr>
          <p:cNvPr id="5" name="TextBox 4"/>
          <p:cNvSpPr txBox="1"/>
          <p:nvPr/>
        </p:nvSpPr>
        <p:spPr>
          <a:xfrm>
            <a:off x="548640" y="6126480"/>
            <a:ext cx="11064240" cy="548640"/>
          </a:xfrm>
          <a:prstGeom prst="rect">
            <a:avLst/>
          </a:prstGeom>
          <a:noFill/>
        </p:spPr>
        <p:txBody>
          <a:bodyPr wrap="square">
            <a:spAutoFit/>
          </a:bodyPr>
          <a:lstStyle/>
          <a:p>
            <a:r>
              <a:rPr sz="1000" b="0">
                <a:solidFill>
                  <a:srgbClr val="666666"/>
                </a:solidFill>
                <a:latin typeface="Calibri"/>
              </a:rPr>
              <a:t>Manba: [G‘iyosov Z.A., Sud tibbiyoti (Tibbiyot oliy o‘quv yurtlari talabalari uchun darslik), Toshkent: Global Books nashriyoti, 235]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0B1F3A"/>
                </a:solidFill>
                <a:latin typeface="Georgia"/>
              </a:rPr>
              <a:t>O‘lim muddatini aniqlash</a:t>
            </a:r>
          </a:p>
        </p:txBody>
      </p:sp>
      <p:sp>
        <p:nvSpPr>
          <p:cNvPr id="3" name="Rectangle 2"/>
          <p:cNvSpPr/>
          <p:nvPr/>
        </p:nvSpPr>
        <p:spPr>
          <a:xfrm>
            <a:off x="548640" y="1234440"/>
            <a:ext cx="164592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508760"/>
            <a:ext cx="11064240" cy="4297680"/>
          </a:xfrm>
          <a:prstGeom prst="rect">
            <a:avLst/>
          </a:prstGeom>
          <a:noFill/>
        </p:spPr>
        <p:txBody>
          <a:bodyPr wrap="square">
            <a:spAutoFit/>
          </a:bodyPr>
          <a:lstStyle/>
          <a:p>
            <a:pPr>
              <a:spcAft>
                <a:spcPts val="800"/>
              </a:spcAft>
            </a:pPr>
            <a:r>
              <a:rPr sz="1800" b="0">
                <a:solidFill>
                  <a:srgbClr val="222222"/>
                </a:solidFill>
                <a:latin typeface="Calibri"/>
              </a:rPr>
              <a:t/>
            </a:r>
            <a:r>
              <a:rPr sz="1800">
                <a:solidFill>
                  <a:srgbClr val="222222"/>
                </a:solidFill>
                <a:latin typeface="Calibri"/>
              </a:rPr>
              <a:t>• O‘lim muddatini aniqlash hodisa joyida va ekspertizada hal qilinadigan asosiy masalalardan biridir. U murda o‘zgarishlari, to‘qimalarning supravital reaksiyalari hamda morfologik, gistokimyoviy, biokimyoviy, biofizik laboratoriya tekshiruvlariga asoslanadi.</a:t>
            </a:r>
          </a:p>
          <a:p>
            <a:pPr>
              <a:spcAft>
                <a:spcPts val="800"/>
              </a:spcAft>
            </a:pPr>
            <a:r>
              <a:rPr sz="1800">
                <a:solidFill>
                  <a:srgbClr val="222222"/>
                </a:solidFill>
                <a:latin typeface="Calibri"/>
              </a:rPr>
              <a:t>• Amaliyotda ko‘proq murdaning sovushi va murda dog‘lari holati tekshiriladi. To‘g‘ri ichak harorati rektal termometriya bilan kamida ikki marta o‘lchanadi va vaqt birligidagi sovush darajasiga qarab muddat aniqlanadi. Buning uchun jadvallar, nomogrammalar va formulalar (F.Fiddes–T.Patten, Y.Burmann) ishlab chiqilgan.</a:t>
            </a:r>
          </a:p>
          <a:p>
            <a:pPr>
              <a:spcAft>
                <a:spcPts val="800"/>
              </a:spcAft>
            </a:pPr>
            <a:r>
              <a:rPr sz="1800">
                <a:solidFill>
                  <a:srgbClr val="222222"/>
                </a:solidFill>
                <a:latin typeface="Calibri"/>
              </a:rPr>
              <a:t>• Murda dog‘lari belgilangan kuch (196 kPa) bilan 3 soniya bosiladi va rangining tiklanish vaqti o‘rganiladi. Laboratoriyada orqa miya suyuqligi va ko‘z shishasimon tanasida kaliyning ortishi, natriyning kamayishi, AUF aktivligining 12 soatdan so‘ng yo‘qolishi, autoliz belgilari ham hisobga olinadi. Murdadagi hasharotlar (entomofauna) turi va rivojlanish bosqichi ham muhim.</a:t>
            </a:r>
          </a:p>
          <a:p>
            <a:pPr>
              <a:spcAft>
                <a:spcPts val="800"/>
              </a:spcAft>
            </a:pPr>
            <a:r>
              <a:rPr sz="1800">
                <a:solidFill>
                  <a:srgbClr val="222222"/>
                </a:solidFill>
                <a:latin typeface="Calibri"/>
              </a:rPr>
              <a:t>• Hozircha o‘lim muddatini belgilashning yagona ishonchli va aniq usuli yo‘q, shuning uchun imkon qadar ko‘p usul qo‘llanadi. Vaqt o‘tgan sari aniqlik pasayadi: dastlabki 1-2 kunda oraliq bir necha soat, kech o‘zgarishlarda bir necha kun, skeletlangan murdada oylar va yillar bo‘ladi.</a:t>
            </a:r>
          </a:p>
        </p:txBody>
      </p:sp>
      <p:sp>
        <p:nvSpPr>
          <p:cNvPr id="5" name="TextBox 4"/>
          <p:cNvSpPr txBox="1"/>
          <p:nvPr/>
        </p:nvSpPr>
        <p:spPr>
          <a:xfrm>
            <a:off x="548640" y="6126480"/>
            <a:ext cx="11064240" cy="548640"/>
          </a:xfrm>
          <a:prstGeom prst="rect">
            <a:avLst/>
          </a:prstGeom>
          <a:noFill/>
        </p:spPr>
        <p:txBody>
          <a:bodyPr wrap="square">
            <a:spAutoFit/>
          </a:bodyPr>
          <a:lstStyle/>
          <a:p>
            <a:r>
              <a:rPr sz="1000" b="0">
                <a:solidFill>
                  <a:srgbClr val="666666"/>
                </a:solidFill>
                <a:latin typeface="Calibri"/>
              </a:rPr>
              <a:t>Manba: [G‘iyosov Z.A., Sud tibbiyoti (Tibbiyot oliy o‘quv yurtlari talabalari uchun darslik), Toshkent: Global Books nashriyoti, 235-236]; [G‘iyosov Z.A., Sud tibbiyoti (Tibbiyot oliy o‘quv yurtlari talabalari uchun darslik), Toshkent: Global Books nashriyoti, 236-237]; [G‘iyosov Z.A., Sud tibbiyoti (Tibbiyot oliy o‘quv yurtlari talabalari uchun darslik), Toshkent: Global Books nashriyoti, 237-238]; [G‘iyosov Z.A., Sud tibbiyoti (Tibbiyot oliy o‘quv yurtlari talabalari uchun darslik), Toshkent: Global Books nashriyoti, 238]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0B1F3A"/>
                </a:solidFill>
                <a:latin typeface="Georgia"/>
              </a:rPr>
              <a:t>Murda sud-tibbiy ekspertizasi va ekspert xulosasi</a:t>
            </a:r>
          </a:p>
        </p:txBody>
      </p:sp>
      <p:sp>
        <p:nvSpPr>
          <p:cNvPr id="3" name="Rectangle 2"/>
          <p:cNvSpPr/>
          <p:nvPr/>
        </p:nvSpPr>
        <p:spPr>
          <a:xfrm>
            <a:off x="548640" y="1234440"/>
            <a:ext cx="164592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508760"/>
            <a:ext cx="11064240" cy="4297680"/>
          </a:xfrm>
          <a:prstGeom prst="rect">
            <a:avLst/>
          </a:prstGeom>
          <a:noFill/>
        </p:spPr>
        <p:txBody>
          <a:bodyPr wrap="square">
            <a:spAutoFit/>
          </a:bodyPr>
          <a:lstStyle/>
          <a:p>
            <a:pPr>
              <a:spcAft>
                <a:spcPts val="800"/>
              </a:spcAft>
            </a:pPr>
            <a:r>
              <a:rPr sz="1800" b="0">
                <a:solidFill>
                  <a:srgbClr val="222222"/>
                </a:solidFill>
                <a:latin typeface="Calibri"/>
              </a:rPr>
              <a:t/>
            </a:r>
            <a:r>
              <a:rPr sz="1800">
                <a:solidFill>
                  <a:srgbClr val="222222"/>
                </a:solidFill>
                <a:latin typeface="Calibri"/>
              </a:rPr>
              <a:t>• Ekspertiza zo‘raki o‘lim yoki unga shubha bo‘lganda, shaxsi noma’lum shaxslar o‘limida hamda o‘limdan oldingi tibbiy yordamga shikoyat bo‘lganda tayinlanadi. Bunda o‘lim joyi va vaqti ahamiyatsiz.</a:t>
            </a:r>
          </a:p>
          <a:p>
            <a:pPr>
              <a:spcAft>
                <a:spcPts val="800"/>
              </a:spcAft>
            </a:pPr>
            <a:r>
              <a:rPr sz="1800">
                <a:solidFill>
                  <a:srgbClr val="222222"/>
                </a:solidFill>
                <a:latin typeface="Calibri"/>
              </a:rPr>
              <a:t>• Ekspertiza surishtiruv, tergov va sud idoralarining qarori yoki ajrimi asosida, asosan murdaxonada o‘tkaziladi. Tekshiruv ilk murda belgilari paydo bo‘lgach boshlanadi, chirish esa ekspertizaga to‘sqinlik qilmaydi.</a:t>
            </a:r>
          </a:p>
          <a:p>
            <a:pPr>
              <a:spcAft>
                <a:spcPts val="800"/>
              </a:spcAft>
            </a:pPr>
            <a:r>
              <a:rPr sz="1800">
                <a:solidFill>
                  <a:srgbClr val="222222"/>
                </a:solidFill>
                <a:latin typeface="Calibri"/>
              </a:rPr>
              <a:t>• Ekspertiza olti bosqichdan iborat: materiallar bilan tanishish, tashqi tekshiruv, ichki tekshiruv (kalla, ko‘krak, qorin bo‘shliqlari majburiy), sud-tibbiy diagnoz va guvohnoma, qo‘shimcha laboratoriya tekshiruvlari, xulosa to‘xtami. Laboratoriya natijalari ekspert tomonidan tanqidiy baholanadi.</a:t>
            </a:r>
          </a:p>
          <a:p>
            <a:pPr>
              <a:spcAft>
                <a:spcPts val="800"/>
              </a:spcAft>
            </a:pPr>
            <a:r>
              <a:rPr sz="1800">
                <a:solidFill>
                  <a:srgbClr val="222222"/>
                </a:solidFill>
                <a:latin typeface="Calibri"/>
              </a:rPr>
              <a:t>• Ekspert xulosasi kirish, tekshiruv va yakuniy (to‘xtam) qismlardan iborat. Kirish va tekshiruv qismlari birga bayon qismi deyiladi. Diagnoz va to‘xtamni faqat ekspert imzolaydi, xulosa kamida ikki nusxada tuziladi.</a:t>
            </a:r>
          </a:p>
        </p:txBody>
      </p:sp>
      <p:sp>
        <p:nvSpPr>
          <p:cNvPr id="5" name="Rounded Rectangle 4"/>
          <p:cNvSpPr/>
          <p:nvPr/>
        </p:nvSpPr>
        <p:spPr>
          <a:xfrm>
            <a:off x="548640" y="4023360"/>
            <a:ext cx="1539240" cy="1188720"/>
          </a:xfrm>
          <a:prstGeom prst="round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r>
              <a:rPr sz="1300">
                <a:solidFill>
                  <a:srgbClr val="FFFFFF"/>
                </a:solidFill>
              </a:rPr>
              <a:t>1. Taqdim etilgan materiallar bilan tanishish</a:t>
            </a:r>
          </a:p>
        </p:txBody>
      </p:sp>
      <p:sp>
        <p:nvSpPr>
          <p:cNvPr id="6" name="Right Arrow 5"/>
          <p:cNvSpPr/>
          <p:nvPr/>
        </p:nvSpPr>
        <p:spPr>
          <a:xfrm>
            <a:off x="2087880" y="4480560"/>
            <a:ext cx="365760" cy="274320"/>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453640" y="4023360"/>
            <a:ext cx="1539240" cy="1188720"/>
          </a:xfrm>
          <a:prstGeom prst="round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r>
              <a:rPr sz="1300">
                <a:solidFill>
                  <a:srgbClr val="FFFFFF"/>
                </a:solidFill>
              </a:rPr>
              <a:t>2. Murdaning tashqi tekshiruvi</a:t>
            </a:r>
          </a:p>
        </p:txBody>
      </p:sp>
      <p:sp>
        <p:nvSpPr>
          <p:cNvPr id="8" name="Right Arrow 7"/>
          <p:cNvSpPr/>
          <p:nvPr/>
        </p:nvSpPr>
        <p:spPr>
          <a:xfrm>
            <a:off x="3992880" y="4480560"/>
            <a:ext cx="365760" cy="274320"/>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358640" y="4023360"/>
            <a:ext cx="1539240" cy="1188720"/>
          </a:xfrm>
          <a:prstGeom prst="round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r>
              <a:rPr sz="1300">
                <a:solidFill>
                  <a:srgbClr val="FFFFFF"/>
                </a:solidFill>
              </a:rPr>
              <a:t>3. Murdaning ichki tekshiruvi</a:t>
            </a:r>
          </a:p>
        </p:txBody>
      </p:sp>
      <p:sp>
        <p:nvSpPr>
          <p:cNvPr id="10" name="Right Arrow 9"/>
          <p:cNvSpPr/>
          <p:nvPr/>
        </p:nvSpPr>
        <p:spPr>
          <a:xfrm>
            <a:off x="5897880" y="4480560"/>
            <a:ext cx="365760" cy="274320"/>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4023360"/>
            <a:ext cx="1539240" cy="1188720"/>
          </a:xfrm>
          <a:prstGeom prst="round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r>
              <a:rPr sz="1300">
                <a:solidFill>
                  <a:srgbClr val="FFFFFF"/>
                </a:solidFill>
              </a:rPr>
              <a:t>4. Sud-tibbiy diagnoz va o‘lim haqidagi guvohnoma</a:t>
            </a:r>
          </a:p>
        </p:txBody>
      </p:sp>
      <p:sp>
        <p:nvSpPr>
          <p:cNvPr id="12" name="Right Arrow 11"/>
          <p:cNvSpPr/>
          <p:nvPr/>
        </p:nvSpPr>
        <p:spPr>
          <a:xfrm>
            <a:off x="7802880" y="4480560"/>
            <a:ext cx="365760" cy="274320"/>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168640" y="4023360"/>
            <a:ext cx="1539240" cy="1188720"/>
          </a:xfrm>
          <a:prstGeom prst="round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r>
              <a:rPr sz="1300">
                <a:solidFill>
                  <a:srgbClr val="FFFFFF"/>
                </a:solidFill>
              </a:rPr>
              <a:t>5. Qo‘shimcha laboratoriya tekshiruvlari</a:t>
            </a:r>
          </a:p>
        </p:txBody>
      </p:sp>
      <p:sp>
        <p:nvSpPr>
          <p:cNvPr id="14" name="Right Arrow 13"/>
          <p:cNvSpPr/>
          <p:nvPr/>
        </p:nvSpPr>
        <p:spPr>
          <a:xfrm>
            <a:off x="9707880" y="4480560"/>
            <a:ext cx="365760" cy="274320"/>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0073640" y="4023360"/>
            <a:ext cx="1539240" cy="1188720"/>
          </a:xfrm>
          <a:prstGeom prst="round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r>
              <a:rPr sz="1300">
                <a:solidFill>
                  <a:srgbClr val="FFFFFF"/>
                </a:solidFill>
              </a:rPr>
              <a:t>6. Ekspert xulosasi to‘xtami</a:t>
            </a:r>
          </a:p>
        </p:txBody>
      </p:sp>
      <p:sp>
        <p:nvSpPr>
          <p:cNvPr id="16" name="TextBox 15"/>
          <p:cNvSpPr txBox="1"/>
          <p:nvPr/>
        </p:nvSpPr>
        <p:spPr>
          <a:xfrm>
            <a:off x="548640" y="5669280"/>
            <a:ext cx="11064240" cy="365760"/>
          </a:xfrm>
          <a:prstGeom prst="rect">
            <a:avLst/>
          </a:prstGeom>
          <a:noFill/>
        </p:spPr>
        <p:txBody>
          <a:bodyPr wrap="square">
            <a:spAutoFit/>
          </a:bodyPr>
          <a:lstStyle/>
          <a:p>
            <a:r>
              <a:rPr sz="1100" b="0">
                <a:solidFill>
                  <a:srgbClr val="666666"/>
                </a:solidFill>
                <a:latin typeface="Calibri"/>
              </a:rPr>
              <a:t>Murda sud-tibbiy ekspertizasining bosqichlari</a:t>
            </a:r>
          </a:p>
        </p:txBody>
      </p:sp>
      <p:sp>
        <p:nvSpPr>
          <p:cNvPr id="17" name="TextBox 16"/>
          <p:cNvSpPr txBox="1"/>
          <p:nvPr/>
        </p:nvSpPr>
        <p:spPr>
          <a:xfrm>
            <a:off x="548640" y="6126480"/>
            <a:ext cx="11064240" cy="548640"/>
          </a:xfrm>
          <a:prstGeom prst="rect">
            <a:avLst/>
          </a:prstGeom>
          <a:noFill/>
        </p:spPr>
        <p:txBody>
          <a:bodyPr wrap="square">
            <a:spAutoFit/>
          </a:bodyPr>
          <a:lstStyle/>
          <a:p>
            <a:r>
              <a:rPr sz="1000" b="0">
                <a:solidFill>
                  <a:srgbClr val="666666"/>
                </a:solidFill>
                <a:latin typeface="Calibri"/>
              </a:rPr>
              <a:t>Manba: [G‘iyosov Z.A., Sud tibbiyoti (Tibbiyot oliy o‘quv yurtlari talabalari uchun darslik), Toshkent: Global Books nashriyoti, 238]; [G‘iyosov Z.A., Sud tibbiyoti (Tibbiyot oliy o‘quv yurtlari talabalari uchun darslik), Toshkent: Global Books nashriyoti, 238-239]; [G‘iyosov Z.A., Sud tibbiyoti (Tibbiyot oliy o‘quv yurtlari talabalari uchun darslik), Toshkent: Global Books nashriyoti, 239]; [G‘iyosov Z.A., Sud tibbiyoti (Tibbiyot oliy o‘quv yurtlari talabalari uchun darslik), Toshkent: Global Books nashriyoti, 240-241]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0B1F3A"/>
                </a:solidFill>
                <a:latin typeface="Georgia"/>
              </a:rPr>
              <a:t>Tanatogenez va o‘lim sabablarining raqobati</a:t>
            </a:r>
          </a:p>
        </p:txBody>
      </p:sp>
      <p:sp>
        <p:nvSpPr>
          <p:cNvPr id="3" name="Rectangle 2"/>
          <p:cNvSpPr/>
          <p:nvPr/>
        </p:nvSpPr>
        <p:spPr>
          <a:xfrm>
            <a:off x="548640" y="1234440"/>
            <a:ext cx="164592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508760"/>
            <a:ext cx="11064240" cy="4297680"/>
          </a:xfrm>
          <a:prstGeom prst="rect">
            <a:avLst/>
          </a:prstGeom>
          <a:noFill/>
        </p:spPr>
        <p:txBody>
          <a:bodyPr wrap="square">
            <a:spAutoFit/>
          </a:bodyPr>
          <a:lstStyle/>
          <a:p>
            <a:pPr>
              <a:spcAft>
                <a:spcPts val="800"/>
              </a:spcAft>
            </a:pPr>
            <a:r>
              <a:rPr sz="1800" b="0">
                <a:solidFill>
                  <a:srgbClr val="222222"/>
                </a:solidFill>
                <a:latin typeface="Calibri"/>
              </a:rPr>
              <a:t/>
            </a:r>
            <a:r>
              <a:rPr sz="1800">
                <a:solidFill>
                  <a:srgbClr val="222222"/>
                </a:solidFill>
                <a:latin typeface="Calibri"/>
              </a:rPr>
              <a:t>• O‘limning vujudga kelish mexanizmi tanatogenez deyiladi. Bu sabab-oqibat bog‘lanishli zanjir: boshlang‘ich jarohat yoki kasallik uzoq sabab, oxirgi bo‘g‘in yaqin sabab, o‘rtadagi bo‘g‘inlar oraliq sabablardir.</a:t>
            </a:r>
          </a:p>
          <a:p>
            <a:pPr>
              <a:spcAft>
                <a:spcPts val="800"/>
              </a:spcAft>
            </a:pPr>
            <a:r>
              <a:rPr sz="1800">
                <a:solidFill>
                  <a:srgbClr val="222222"/>
                </a:solidFill>
                <a:latin typeface="Calibri"/>
              </a:rPr>
              <a:t>• Sud-tibbiy diagnozda uzoq sabab (asosiy jarohat yoki kasallik) birinchi ko‘rsatiladi, to‘xtamda ham bayon uzoq sababdan boshlanadi. Misol: oshqozon yarasi – perforatsiya – peritonit – sepsis.</a:t>
            </a:r>
          </a:p>
          <a:p>
            <a:pPr>
              <a:spcAft>
                <a:spcPts val="800"/>
              </a:spcAft>
            </a:pPr>
            <a:r>
              <a:rPr sz="1800">
                <a:solidFill>
                  <a:srgbClr val="222222"/>
                </a:solidFill>
                <a:latin typeface="Calibri"/>
              </a:rPr>
              <a:t>• Ayni bir jarohat yoki kasallikdan turli oraliq va yaqin sabablar kelib chiqishi mumkin. Masalan, oshqozon yarasida ichki qon ketishdan postgemorragik shok ham bo‘lishi mumkin. Sirka kislotasi bilan zaharlanishda og‘riq shoki, asfiksiya, postgemorragik shok yoki sepsisdan o‘lim kuzatilishi mumkin.</a:t>
            </a:r>
          </a:p>
          <a:p>
            <a:pPr>
              <a:spcAft>
                <a:spcPts val="800"/>
              </a:spcAft>
            </a:pPr>
            <a:r>
              <a:rPr sz="1800">
                <a:solidFill>
                  <a:srgbClr val="222222"/>
                </a:solidFill>
                <a:latin typeface="Calibri"/>
              </a:rPr>
              <a:t>• Bir vaqtda o‘limga olib kelishi mumkin bo‘lgan ikki yoki undan ortiq jarohat yoki kasallik bo‘lsa, uzoq sabablar raqobati yuzaga keladi. Masalan, kalla-miya jarohati va suvga tashlanish. Bunda asosiy nozologik shaklni aniqlashga harakat qilinadi, bu huquqiy baho uchun muhim, ikkitasi faqat istisno hollarda ko‘rsatiladi.</a:t>
            </a:r>
          </a:p>
        </p:txBody>
      </p:sp>
      <p:graphicFrame>
        <p:nvGraphicFramePr>
          <p:cNvPr id="5" name="Table 4"/>
          <p:cNvGraphicFramePr>
            <a:graphicFrameLocks noGrp="1"/>
          </p:cNvGraphicFramePr>
          <p:nvPr/>
        </p:nvGraphicFramePr>
        <p:xfrm>
          <a:off x="548640" y="4023360"/>
          <a:ext cx="11064240" cy="109728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a:t>Uzoq sabab</a:t>
                      </a:r>
                    </a:p>
                  </a:txBody>
                  <a:tcPr/>
                </a:tc>
                <a:tc>
                  <a:txBody>
                    <a:bodyPr/>
                    <a:lstStyle/>
                    <a:p>
                      <a:r>
                        <a:rPr sz="1200"/>
                        <a:t>Oraliq sabab</a:t>
                      </a:r>
                    </a:p>
                  </a:txBody>
                  <a:tcPr/>
                </a:tc>
                <a:tc>
                  <a:txBody>
                    <a:bodyPr/>
                    <a:lstStyle/>
                    <a:p>
                      <a:r>
                        <a:rPr sz="1200"/>
                        <a:t>Yaqin sabab</a:t>
                      </a:r>
                    </a:p>
                  </a:txBody>
                  <a:tcPr/>
                </a:tc>
              </a:tr>
              <a:tr h="365760">
                <a:tc>
                  <a:txBody>
                    <a:bodyPr/>
                    <a:lstStyle/>
                    <a:p>
                      <a:r>
                        <a:rPr sz="1200"/>
                        <a:t>Oshqozon yara kasalligi</a:t>
                      </a:r>
                    </a:p>
                  </a:txBody>
                  <a:tcPr/>
                </a:tc>
                <a:tc>
                  <a:txBody>
                    <a:bodyPr/>
                    <a:lstStyle/>
                    <a:p>
                      <a:r>
                        <a:rPr sz="1200"/>
                        <a:t>Perforatsiya, peritonit</a:t>
                      </a:r>
                    </a:p>
                  </a:txBody>
                  <a:tcPr/>
                </a:tc>
                <a:tc>
                  <a:txBody>
                    <a:bodyPr/>
                    <a:lstStyle/>
                    <a:p>
                      <a:r>
                        <a:rPr sz="1200"/>
                        <a:t>Sepsis</a:t>
                      </a:r>
                    </a:p>
                  </a:txBody>
                  <a:tcPr/>
                </a:tc>
              </a:tr>
              <a:tr h="365760">
                <a:tc>
                  <a:txBody>
                    <a:bodyPr/>
                    <a:lstStyle/>
                    <a:p>
                      <a:r>
                        <a:rPr sz="1200"/>
                        <a:t>Ko‘krakning sanchma-kesma jarohati</a:t>
                      </a:r>
                    </a:p>
                  </a:txBody>
                  <a:tcPr/>
                </a:tc>
                <a:tc>
                  <a:txBody>
                    <a:bodyPr/>
                    <a:lstStyle/>
                    <a:p>
                      <a:r>
                        <a:rPr sz="1200"/>
                        <a:t>Gemoperikard</a:t>
                      </a:r>
                    </a:p>
                  </a:txBody>
                  <a:tcPr/>
                </a:tc>
                <a:tc>
                  <a:txBody>
                    <a:bodyPr/>
                    <a:lstStyle/>
                    <a:p>
                      <a:r>
                        <a:rPr sz="1200"/>
                        <a:t>Yurakning siqilishi</a:t>
                      </a:r>
                    </a:p>
                  </a:txBody>
                  <a:tcPr/>
                </a:tc>
              </a:tr>
            </a:tbl>
          </a:graphicData>
        </a:graphic>
      </p:graphicFrame>
      <p:sp>
        <p:nvSpPr>
          <p:cNvPr id="6" name="TextBox 5"/>
          <p:cNvSpPr txBox="1"/>
          <p:nvPr/>
        </p:nvSpPr>
        <p:spPr>
          <a:xfrm>
            <a:off x="548640" y="5669280"/>
            <a:ext cx="11064240" cy="365760"/>
          </a:xfrm>
          <a:prstGeom prst="rect">
            <a:avLst/>
          </a:prstGeom>
          <a:noFill/>
        </p:spPr>
        <p:txBody>
          <a:bodyPr wrap="square">
            <a:spAutoFit/>
          </a:bodyPr>
          <a:lstStyle/>
          <a:p>
            <a:r>
              <a:rPr sz="1100" b="0">
                <a:solidFill>
                  <a:srgbClr val="666666"/>
                </a:solidFill>
                <a:latin typeface="Calibri"/>
              </a:rPr>
              <a:t>Tanatogenez zanjiri: darslikdagi misollar</a:t>
            </a:r>
          </a:p>
        </p:txBody>
      </p:sp>
      <p:sp>
        <p:nvSpPr>
          <p:cNvPr id="7" name="TextBox 6"/>
          <p:cNvSpPr txBox="1"/>
          <p:nvPr/>
        </p:nvSpPr>
        <p:spPr>
          <a:xfrm>
            <a:off x="548640" y="6126480"/>
            <a:ext cx="11064240" cy="548640"/>
          </a:xfrm>
          <a:prstGeom prst="rect">
            <a:avLst/>
          </a:prstGeom>
          <a:noFill/>
        </p:spPr>
        <p:txBody>
          <a:bodyPr wrap="square">
            <a:spAutoFit/>
          </a:bodyPr>
          <a:lstStyle/>
          <a:p>
            <a:r>
              <a:rPr sz="1000" b="0">
                <a:solidFill>
                  <a:srgbClr val="666666"/>
                </a:solidFill>
                <a:latin typeface="Calibri"/>
              </a:rPr>
              <a:t>Manba: [G‘iyosov Z.A., Sud tibbiyoti (Tibbiyot oliy o‘quv yurtlari talabalari uchun darslik), Toshkent: Global Books nashriyoti, 241]; [G‘iyosov Z.A., Sud tibbiyoti (Tibbiyot oliy o‘quv yurtlari talabalari uchun darslik), Toshkent: Global Books nashriyoti, 241-242]; [G‘iyosov Z.A., Sud tibbiyoti (Tibbiyot oliy o‘quv yurtlari talabalari uchun darslik), Toshkent: Global Books nashriyoti, 242]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0B1F3A"/>
                </a:solidFill>
                <a:latin typeface="Georgia"/>
              </a:rPr>
              <a:t>Noma’lum, qismlangan, skeletlangan va eksgumatsiya qilingan murdalar</a:t>
            </a:r>
          </a:p>
        </p:txBody>
      </p:sp>
      <p:sp>
        <p:nvSpPr>
          <p:cNvPr id="3" name="Rectangle 2"/>
          <p:cNvSpPr/>
          <p:nvPr/>
        </p:nvSpPr>
        <p:spPr>
          <a:xfrm>
            <a:off x="548640" y="1234440"/>
            <a:ext cx="164592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508760"/>
            <a:ext cx="11064240" cy="4297680"/>
          </a:xfrm>
          <a:prstGeom prst="rect">
            <a:avLst/>
          </a:prstGeom>
          <a:noFill/>
        </p:spPr>
        <p:txBody>
          <a:bodyPr wrap="square">
            <a:spAutoFit/>
          </a:bodyPr>
          <a:lstStyle/>
          <a:p>
            <a:pPr>
              <a:spcAft>
                <a:spcPts val="800"/>
              </a:spcAft>
            </a:pPr>
            <a:r>
              <a:rPr sz="1800" b="0">
                <a:solidFill>
                  <a:srgbClr val="222222"/>
                </a:solidFill>
                <a:latin typeface="Calibri"/>
              </a:rPr>
              <a:t/>
            </a:r>
            <a:r>
              <a:rPr sz="1800">
                <a:solidFill>
                  <a:srgbClr val="222222"/>
                </a:solidFill>
                <a:latin typeface="Calibri"/>
              </a:rPr>
              <a:t>• Noma’lum shaxs murdasida kiyim-bosh va poyafzal batafsil tavsiflanadi, boshning “so‘z portreti” tuziladi, tanadagi hol, tatuirovka va chandiqlar yoziladi. Guruhiy mansublikni aniqlash uchun qon olinadi, kriminalistlar daktiloskopiya qiladi.</a:t>
            </a:r>
          </a:p>
          <a:p>
            <a:pPr>
              <a:spcAft>
                <a:spcPts val="800"/>
              </a:spcAft>
            </a:pPr>
            <a:r>
              <a:rPr sz="1800">
                <a:solidFill>
                  <a:srgbClr val="222222"/>
                </a:solidFill>
                <a:latin typeface="Calibri"/>
              </a:rPr>
              <a:t>• Qismlangan murdada qismlar odamnikimi va bir odamga tegishlimi, jins, yosh, o‘lim sababi va vaqti, qismlash quroli aniqlanadi. Qismlar tergovchining ruxsatigacha murdaxonada saqlanadi.</a:t>
            </a:r>
          </a:p>
          <a:p>
            <a:pPr>
              <a:spcAft>
                <a:spcPts val="800"/>
              </a:spcAft>
            </a:pPr>
            <a:r>
              <a:rPr sz="1800">
                <a:solidFill>
                  <a:srgbClr val="222222"/>
                </a:solidFill>
                <a:latin typeface="Calibri"/>
              </a:rPr>
              <a:t>• Skeletlangan murdada suyaklar bo‘yicha jins, yosh va bo‘y aniqlanadi. Ko‘pincha o‘lim sababini aniqlab bo‘lmaydi, lekin jarohat turi, suyaklardagi diatom planktoni va ayrim zaharlar topilishi mumkin.</a:t>
            </a:r>
          </a:p>
          <a:p>
            <a:pPr>
              <a:spcAft>
                <a:spcPts val="800"/>
              </a:spcAft>
            </a:pPr>
            <a:r>
              <a:rPr sz="1800">
                <a:solidFill>
                  <a:srgbClr val="222222"/>
                </a:solidFill>
                <a:latin typeface="Calibri"/>
              </a:rPr>
              <a:t>• Eksgumatsiya – murdani qabrdan chiqarish. U protsessual harakat bo‘lib, surishtiruvchi, tergovchi yoki sud qarori yoki ajrimi asosida, xolislar va mutaxassis ishtirokida o‘tkaziladi. Natijalari bayonnomada qayd etiladi.</a:t>
            </a:r>
          </a:p>
        </p:txBody>
      </p:sp>
      <p:sp>
        <p:nvSpPr>
          <p:cNvPr id="5" name="TextBox 4"/>
          <p:cNvSpPr txBox="1"/>
          <p:nvPr/>
        </p:nvSpPr>
        <p:spPr>
          <a:xfrm>
            <a:off x="548640" y="6126480"/>
            <a:ext cx="11064240" cy="548640"/>
          </a:xfrm>
          <a:prstGeom prst="rect">
            <a:avLst/>
          </a:prstGeom>
          <a:noFill/>
        </p:spPr>
        <p:txBody>
          <a:bodyPr wrap="square">
            <a:spAutoFit/>
          </a:bodyPr>
          <a:lstStyle/>
          <a:p>
            <a:r>
              <a:rPr sz="1000" b="0">
                <a:solidFill>
                  <a:srgbClr val="666666"/>
                </a:solidFill>
                <a:latin typeface="Calibri"/>
              </a:rPr>
              <a:t>Manba: [G‘iyosov Z.A., Sud tibbiyoti (Tibbiyot oliy o‘quv yurtlari talabalari uchun darslik), Toshkent: Global Books nashriyoti, 243]; [G‘iyosov Z.A., Sud tibbiyoti (Tibbiyot oliy o‘quv yurtlari talabalari uchun darslik), Toshkent: Global Books nashriyoti, 244]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0B1F3A"/>
                </a:solidFill>
                <a:latin typeface="Georgia"/>
              </a:rPr>
              <a:t>Sud-tibbiy va patologo-anatomik tekshiruv farqlari; autopsiya turlari</a:t>
            </a:r>
          </a:p>
        </p:txBody>
      </p:sp>
      <p:sp>
        <p:nvSpPr>
          <p:cNvPr id="3" name="Rectangle 2"/>
          <p:cNvSpPr/>
          <p:nvPr/>
        </p:nvSpPr>
        <p:spPr>
          <a:xfrm>
            <a:off x="548640" y="1234440"/>
            <a:ext cx="164592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508760"/>
            <a:ext cx="11064240" cy="4297680"/>
          </a:xfrm>
          <a:prstGeom prst="rect">
            <a:avLst/>
          </a:prstGeom>
          <a:noFill/>
        </p:spPr>
        <p:txBody>
          <a:bodyPr wrap="square">
            <a:spAutoFit/>
          </a:bodyPr>
          <a:lstStyle/>
          <a:p>
            <a:pPr>
              <a:spcAft>
                <a:spcPts val="800"/>
              </a:spcAft>
            </a:pPr>
            <a:r>
              <a:rPr sz="1800" b="0">
                <a:solidFill>
                  <a:srgbClr val="222222"/>
                </a:solidFill>
                <a:latin typeface="Calibri"/>
              </a:rPr>
              <a:t/>
            </a:r>
            <a:r>
              <a:rPr sz="1800">
                <a:solidFill>
                  <a:srgbClr val="222222"/>
                </a:solidFill>
                <a:latin typeface="Calibri"/>
              </a:rPr>
              <a:t>• Autopsiyaning uch turi bor: chin (real), verbal va virtual. Real autopsiya sud-tibbiy va patologo-anatomik turlarga bo‘linadi, ular bir-biridan prinsipial farq qiladi.</a:t>
            </a:r>
          </a:p>
          <a:p>
            <a:pPr>
              <a:spcAft>
                <a:spcPts val="800"/>
              </a:spcAft>
            </a:pPr>
            <a:r>
              <a:rPr sz="1800">
                <a:solidFill>
                  <a:srgbClr val="222222"/>
                </a:solidFill>
                <a:latin typeface="Calibri"/>
              </a:rPr>
              <a:t>• Verbal autopsiyada murda ochilmaydi. O‘lim sababi tibbiy hujjatlar va qarindoshlardan yig‘ilgan katamnestik ma’lumotlar asosida aniqlanadi. Uyda o‘lim bo‘lsa, murdani tashqi ko‘zdan kechirish maqsadga muvofiq.</a:t>
            </a:r>
          </a:p>
          <a:p>
            <a:pPr>
              <a:spcAft>
                <a:spcPts val="800"/>
              </a:spcAft>
            </a:pPr>
            <a:r>
              <a:rPr sz="1800">
                <a:solidFill>
                  <a:srgbClr val="222222"/>
                </a:solidFill>
                <a:latin typeface="Calibri"/>
              </a:rPr>
              <a:t>• Virtual autopsiya amaliyotga joriy qilinmagan, faqat ilmiy-tadqiqot muassasalarida o‘tkazilmoqda. Murda tomografdan o‘tkazilib, o‘lim sababi tomogrammalar tahlili bo‘yicha aniqlanadi.</a:t>
            </a:r>
          </a:p>
          <a:p>
            <a:pPr>
              <a:spcAft>
                <a:spcPts val="800"/>
              </a:spcAft>
            </a:pPr>
            <a:r>
              <a:rPr sz="1800">
                <a:solidFill>
                  <a:srgbClr val="222222"/>
                </a:solidFill>
                <a:latin typeface="Calibri"/>
              </a:rPr>
              <a:t>• Murdani o‘lim haqidagi tibbiy guvohnomasiz berish taqiqlanadi. Sud-tibbiy yoki patologo-anatomik tekshiruv zarur bo‘lsa, murda dafn uchun bir sutkadan kechiktirmay beriladi. Qiyinlashtiruvchi holatlarda murdaxonada uch sutkagacha saqlash kafolatlangan.</a:t>
            </a:r>
          </a:p>
        </p:txBody>
      </p:sp>
      <p:graphicFrame>
        <p:nvGraphicFramePr>
          <p:cNvPr id="5" name="Table 4"/>
          <p:cNvGraphicFramePr>
            <a:graphicFrameLocks noGrp="1"/>
          </p:cNvGraphicFramePr>
          <p:nvPr/>
        </p:nvGraphicFramePr>
        <p:xfrm>
          <a:off x="548640" y="4023360"/>
          <a:ext cx="11064240" cy="32918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a:t>Belgi</a:t>
                      </a:r>
                    </a:p>
                  </a:txBody>
                  <a:tcPr/>
                </a:tc>
                <a:tc>
                  <a:txBody>
                    <a:bodyPr/>
                    <a:lstStyle/>
                    <a:p>
                      <a:r>
                        <a:rPr sz="1200"/>
                        <a:t>Sud-tibbiy ekspertiza</a:t>
                      </a:r>
                    </a:p>
                  </a:txBody>
                  <a:tcPr/>
                </a:tc>
                <a:tc>
                  <a:txBody>
                    <a:bodyPr/>
                    <a:lstStyle/>
                    <a:p>
                      <a:r>
                        <a:rPr sz="1200"/>
                        <a:t>Patologo-anatomik tekshiruv</a:t>
                      </a:r>
                    </a:p>
                  </a:txBody>
                  <a:tcPr/>
                </a:tc>
              </a:tr>
              <a:tr h="365760">
                <a:tc>
                  <a:txBody>
                    <a:bodyPr/>
                    <a:lstStyle/>
                    <a:p>
                      <a:r>
                        <a:rPr sz="1200"/>
                        <a:t>Maqsad</a:t>
                      </a:r>
                    </a:p>
                  </a:txBody>
                  <a:tcPr/>
                </a:tc>
                <a:tc>
                  <a:txBody>
                    <a:bodyPr/>
                    <a:lstStyle/>
                    <a:p>
                      <a:r>
                        <a:rPr sz="1200"/>
                        <a:t>Zo‘rakilik alomatlarini tasdiqlash yoki inkor etish, o‘lim sababini aniqlash</a:t>
                      </a:r>
                    </a:p>
                  </a:txBody>
                  <a:tcPr/>
                </a:tc>
                <a:tc>
                  <a:txBody>
                    <a:bodyPr/>
                    <a:lstStyle/>
                    <a:p>
                      <a:r>
                        <a:rPr sz="1200"/>
                        <a:t>O‘lim sababi orqali diagnostika va davolash to‘g‘riligini nazorat qilish</a:t>
                      </a:r>
                    </a:p>
                  </a:txBody>
                  <a:tcPr/>
                </a:tc>
              </a:tr>
              <a:tr h="365760">
                <a:tc>
                  <a:txBody>
                    <a:bodyPr/>
                    <a:lstStyle/>
                    <a:p>
                      <a:r>
                        <a:rPr sz="1200"/>
                        <a:t>Asos</a:t>
                      </a:r>
                    </a:p>
                  </a:txBody>
                  <a:tcPr/>
                </a:tc>
                <a:tc>
                  <a:txBody>
                    <a:bodyPr/>
                    <a:lstStyle/>
                    <a:p>
                      <a:r>
                        <a:rPr sz="1200"/>
                        <a:t>Surishtiruvchi, tergovchi qarori yoki sud ajrimi</a:t>
                      </a:r>
                    </a:p>
                  </a:txBody>
                  <a:tcPr/>
                </a:tc>
                <a:tc>
                  <a:txBody>
                    <a:bodyPr/>
                    <a:lstStyle/>
                    <a:p>
                      <a:r>
                        <a:rPr sz="1200"/>
                        <a:t>Davolash muassasasi rahbari yoki muovinining ko‘rsatmasi</a:t>
                      </a:r>
                    </a:p>
                  </a:txBody>
                  <a:tcPr/>
                </a:tc>
              </a:tr>
              <a:tr h="365760">
                <a:tc>
                  <a:txBody>
                    <a:bodyPr/>
                    <a:lstStyle/>
                    <a:p>
                      <a:r>
                        <a:rPr sz="1200"/>
                        <a:t>Qayerda</a:t>
                      </a:r>
                    </a:p>
                  </a:txBody>
                  <a:tcPr/>
                </a:tc>
                <a:tc>
                  <a:txBody>
                    <a:bodyPr/>
                    <a:lstStyle/>
                    <a:p>
                      <a:r>
                        <a:rPr sz="1200"/>
                        <a:t>O‘lim joyidan qat’iy nazar</a:t>
                      </a:r>
                    </a:p>
                  </a:txBody>
                  <a:tcPr/>
                </a:tc>
                <a:tc>
                  <a:txBody>
                    <a:bodyPr/>
                    <a:lstStyle/>
                    <a:p>
                      <a:r>
                        <a:rPr sz="1200"/>
                        <a:t>Asosan davolash muassasalaridagi o‘lim</a:t>
                      </a:r>
                    </a:p>
                  </a:txBody>
                  <a:tcPr/>
                </a:tc>
              </a:tr>
              <a:tr h="365760">
                <a:tc>
                  <a:txBody>
                    <a:bodyPr/>
                    <a:lstStyle/>
                    <a:p>
                      <a:r>
                        <a:rPr sz="1200"/>
                        <a:t>Tilxat</a:t>
                      </a:r>
                    </a:p>
                  </a:txBody>
                  <a:tcPr/>
                </a:tc>
                <a:tc>
                  <a:txBody>
                    <a:bodyPr/>
                    <a:lstStyle/>
                    <a:p>
                      <a:r>
                        <a:rPr sz="1200"/>
                        <a:t>Ekspert huquq-majburiyatlari va javobgarlik haqida tilxat beradi</a:t>
                      </a:r>
                    </a:p>
                  </a:txBody>
                  <a:tcPr/>
                </a:tc>
                <a:tc>
                  <a:txBody>
                    <a:bodyPr/>
                    <a:lstStyle/>
                    <a:p>
                      <a:r>
                        <a:rPr sz="1200"/>
                        <a:t>Bunday talab yo‘q</a:t>
                      </a:r>
                    </a:p>
                  </a:txBody>
                  <a:tcPr/>
                </a:tc>
              </a:tr>
              <a:tr h="365760">
                <a:tc>
                  <a:txBody>
                    <a:bodyPr/>
                    <a:lstStyle/>
                    <a:p>
                      <a:r>
                        <a:rPr sz="1200"/>
                        <a:t>Boshqa shaxslar ishtiroki</a:t>
                      </a:r>
                    </a:p>
                  </a:txBody>
                  <a:tcPr/>
                </a:tc>
                <a:tc>
                  <a:txBody>
                    <a:bodyPr/>
                    <a:lstStyle/>
                    <a:p>
                      <a:r>
                        <a:rPr sz="1200"/>
                        <a:t>Faqat tayinlagan shaxs ruxsati bilan</a:t>
                      </a:r>
                    </a:p>
                  </a:txBody>
                  <a:tcPr/>
                </a:tc>
                <a:tc>
                  <a:txBody>
                    <a:bodyPr/>
                    <a:lstStyle/>
                    <a:p>
                      <a:r>
                        <a:rPr sz="1200"/>
                        <a:t>Davolovchi shifokorlar ishtiroki maqsadga muvofiq</a:t>
                      </a:r>
                    </a:p>
                  </a:txBody>
                  <a:tcPr/>
                </a:tc>
              </a:tr>
              <a:tr h="365760">
                <a:tc>
                  <a:txBody>
                    <a:bodyPr/>
                    <a:lstStyle/>
                    <a:p>
                      <a:r>
                        <a:rPr sz="1200"/>
                        <a:t>Kiyim va jarohatlar</a:t>
                      </a:r>
                    </a:p>
                  </a:txBody>
                  <a:tcPr/>
                </a:tc>
                <a:tc>
                  <a:txBody>
                    <a:bodyPr/>
                    <a:lstStyle/>
                    <a:p>
                      <a:r>
                        <a:rPr sz="1200"/>
                        <a:t>Sinchiklab o‘rganiladi</a:t>
                      </a:r>
                    </a:p>
                  </a:txBody>
                  <a:tcPr/>
                </a:tc>
                <a:tc>
                  <a:txBody>
                    <a:bodyPr/>
                    <a:lstStyle/>
                    <a:p>
                      <a:r>
                        <a:rPr sz="1200"/>
                        <a:t>Tekshiruv ob’ekti bo‘lmaydi</a:t>
                      </a:r>
                    </a:p>
                  </a:txBody>
                  <a:tcPr/>
                </a:tc>
              </a:tr>
              <a:tr h="365760">
                <a:tc>
                  <a:txBody>
                    <a:bodyPr/>
                    <a:lstStyle/>
                    <a:p>
                      <a:r>
                        <a:rPr sz="1200"/>
                        <a:t>O‘lim muddati</a:t>
                      </a:r>
                    </a:p>
                  </a:txBody>
                  <a:tcPr/>
                </a:tc>
                <a:tc>
                  <a:txBody>
                    <a:bodyPr/>
                    <a:lstStyle/>
                    <a:p>
                      <a:r>
                        <a:rPr sz="1200"/>
                        <a:t>Murda o‘zgarishlari bo‘yicha aniqlanadi</a:t>
                      </a:r>
                    </a:p>
                  </a:txBody>
                  <a:tcPr/>
                </a:tc>
                <a:tc>
                  <a:txBody>
                    <a:bodyPr/>
                    <a:lstStyle/>
                    <a:p>
                      <a:r>
                        <a:rPr sz="1200"/>
                        <a:t>Kasallik tarixida ko‘rsatilgan</a:t>
                      </a:r>
                    </a:p>
                  </a:txBody>
                  <a:tcPr/>
                </a:tc>
              </a:tr>
              <a:tr h="365760">
                <a:tc>
                  <a:txBody>
                    <a:bodyPr/>
                    <a:lstStyle/>
                    <a:p>
                      <a:r>
                        <a:rPr sz="1200"/>
                        <a:t>Hujjat</a:t>
                      </a:r>
                    </a:p>
                  </a:txBody>
                  <a:tcPr/>
                </a:tc>
                <a:tc>
                  <a:txBody>
                    <a:bodyPr/>
                    <a:lstStyle/>
                    <a:p>
                      <a:r>
                        <a:rPr sz="1200"/>
                        <a:t>Ekspert xulosasi, tayinlagan shaxsga beriladi</a:t>
                      </a:r>
                    </a:p>
                  </a:txBody>
                  <a:tcPr/>
                </a:tc>
                <a:tc>
                  <a:txBody>
                    <a:bodyPr/>
                    <a:lstStyle/>
                    <a:p>
                      <a:r>
                        <a:rPr sz="1200"/>
                        <a:t>Bayonnoma, kasallik tarixiga biriktiriladi</a:t>
                      </a:r>
                    </a:p>
                  </a:txBody>
                  <a:tcPr/>
                </a:tc>
              </a:tr>
            </a:tbl>
          </a:graphicData>
        </a:graphic>
      </p:graphicFrame>
      <p:sp>
        <p:nvSpPr>
          <p:cNvPr id="6" name="TextBox 5"/>
          <p:cNvSpPr txBox="1"/>
          <p:nvPr/>
        </p:nvSpPr>
        <p:spPr>
          <a:xfrm>
            <a:off x="548640" y="5669280"/>
            <a:ext cx="11064240" cy="365760"/>
          </a:xfrm>
          <a:prstGeom prst="rect">
            <a:avLst/>
          </a:prstGeom>
          <a:noFill/>
        </p:spPr>
        <p:txBody>
          <a:bodyPr wrap="square">
            <a:spAutoFit/>
          </a:bodyPr>
          <a:lstStyle/>
          <a:p>
            <a:r>
              <a:rPr sz="1100" b="0">
                <a:solidFill>
                  <a:srgbClr val="666666"/>
                </a:solidFill>
                <a:latin typeface="Calibri"/>
              </a:rPr>
              <a:t>Sud-tibbiy ekspertiza va patologo-anatomik tekshiruv farqlari (manba: G‘iyosov Z.A., Sud tibbiyoti, 245-bet; o‘z so‘zimiz bilan qayta tuzilgan)</a:t>
            </a:r>
          </a:p>
        </p:txBody>
      </p:sp>
      <p:sp>
        <p:nvSpPr>
          <p:cNvPr id="7" name="TextBox 6"/>
          <p:cNvSpPr txBox="1"/>
          <p:nvPr/>
        </p:nvSpPr>
        <p:spPr>
          <a:xfrm>
            <a:off x="548640" y="6126480"/>
            <a:ext cx="11064240" cy="548640"/>
          </a:xfrm>
          <a:prstGeom prst="rect">
            <a:avLst/>
          </a:prstGeom>
          <a:noFill/>
        </p:spPr>
        <p:txBody>
          <a:bodyPr wrap="square">
            <a:spAutoFit/>
          </a:bodyPr>
          <a:lstStyle/>
          <a:p>
            <a:r>
              <a:rPr sz="1000" b="0">
                <a:solidFill>
                  <a:srgbClr val="666666"/>
                </a:solidFill>
                <a:latin typeface="Calibri"/>
              </a:rPr>
              <a:t>Manba: [G‘iyosov Z.A., Sud tibbiyoti (Tibbiyot oliy o‘quv yurtlari talabalari uchun darslik), Toshkent: Global Books nashriyoti, 245]; [G‘iyosov Z.A., Sud tibbiyoti (Tibbiyot oliy o‘quv yurtlari talabalari uchun darslik), Toshkent: Global Books nashriyoti, 245-246]; [G‘iyosov Z.A., Sud tibbiyoti (Tibbiyot oliy o‘quv yurtlari talabalari uchun darslik), Toshkent: Global Books nashriyoti, 246]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0B1F3A"/>
                </a:solidFill>
                <a:latin typeface="Georgia"/>
              </a:rPr>
              <a:t>Xulosa</a:t>
            </a:r>
          </a:p>
        </p:txBody>
      </p:sp>
      <p:sp>
        <p:nvSpPr>
          <p:cNvPr id="3" name="Rectangle 2"/>
          <p:cNvSpPr/>
          <p:nvPr/>
        </p:nvSpPr>
        <p:spPr>
          <a:xfrm>
            <a:off x="548640" y="1234440"/>
            <a:ext cx="164592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508760"/>
            <a:ext cx="11064240" cy="4297680"/>
          </a:xfrm>
          <a:prstGeom prst="rect">
            <a:avLst/>
          </a:prstGeom>
          <a:noFill/>
        </p:spPr>
        <p:txBody>
          <a:bodyPr wrap="square">
            <a:spAutoFit/>
          </a:bodyPr>
          <a:lstStyle/>
          <a:p>
            <a:pPr>
              <a:spcAft>
                <a:spcPts val="800"/>
              </a:spcAft>
            </a:pPr>
            <a:r>
              <a:rPr sz="1800" b="0">
                <a:solidFill>
                  <a:srgbClr val="222222"/>
                </a:solidFill>
                <a:latin typeface="Calibri"/>
              </a:rPr>
              <a:t/>
            </a:r>
            <a:r>
              <a:rPr sz="1800">
                <a:solidFill>
                  <a:srgbClr val="222222"/>
                </a:solidFill>
                <a:latin typeface="Calibri"/>
              </a:rPr>
              <a:t>• Tanatologiya o‘lim haqidagi ta’limot bo‘lib, o‘lish jarayonini, o‘lim faktini, o‘lim sabablarini va murda o‘zgarishlarini o‘rganadi. Sud-tibbiy tanatologiya bu masalalarni surishtiruv, tergov va sud vazifalarini hal etish uchun o‘rganadi.</a:t>
            </a:r>
          </a:p>
          <a:p>
            <a:pPr>
              <a:spcAft>
                <a:spcPts val="800"/>
              </a:spcAft>
            </a:pPr>
            <a:r>
              <a:rPr sz="1800">
                <a:solidFill>
                  <a:srgbClr val="222222"/>
                </a:solidFill>
                <a:latin typeface="Calibri"/>
              </a:rPr>
              <a:t>• O‘lish terminal holatlar orqali kechadi: preagoniya, terminal pauza, agoniya, klinik va biologik o‘lim. Klinik o‘limda hayotga qaytarish hali mumkin, biologik o‘limda esa o‘zgarishlar tiklanmaydi.</a:t>
            </a:r>
          </a:p>
          <a:p>
            <a:pPr>
              <a:spcAft>
                <a:spcPts val="800"/>
              </a:spcAft>
            </a:pPr>
            <a:r>
              <a:rPr sz="1800">
                <a:solidFill>
                  <a:srgbClr val="222222"/>
                </a:solidFill>
                <a:latin typeface="Calibri"/>
              </a:rPr>
              <a:t>• O‘lim muddatini aniqlashda hozirgacha bitta ishonchli va aniq usul ishlab chiqilmagan. Shuning uchun imkon qadar ko‘proq usul qo‘llanib, natijalar birgalikda baholanadi.</a:t>
            </a:r>
          </a:p>
          <a:p>
            <a:pPr>
              <a:spcAft>
                <a:spcPts val="800"/>
              </a:spcAft>
            </a:pPr>
            <a:r>
              <a:rPr sz="1800">
                <a:solidFill>
                  <a:srgbClr val="222222"/>
                </a:solidFill>
                <a:latin typeface="Calibri"/>
              </a:rPr>
              <a:t>• Tanatogenez – o‘limning vujudga kelish mexanizmi: uzoq sabab (jarohat yoki kasallik), oraliq sabablar va yaqin sabab. Sud-tibbiy diagnoz va to‘xtamda mexanizm ko‘rsatilishi, uzoq sabab birinchi keltirilishi kerak.</a:t>
            </a:r>
          </a:p>
        </p:txBody>
      </p:sp>
      <p:sp>
        <p:nvSpPr>
          <p:cNvPr id="5" name="TextBox 4"/>
          <p:cNvSpPr txBox="1"/>
          <p:nvPr/>
        </p:nvSpPr>
        <p:spPr>
          <a:xfrm>
            <a:off x="548640" y="6126480"/>
            <a:ext cx="11064240" cy="548640"/>
          </a:xfrm>
          <a:prstGeom prst="rect">
            <a:avLst/>
          </a:prstGeom>
          <a:noFill/>
        </p:spPr>
        <p:txBody>
          <a:bodyPr wrap="square">
            <a:spAutoFit/>
          </a:bodyPr>
          <a:lstStyle/>
          <a:p>
            <a:r>
              <a:rPr sz="1000" b="0">
                <a:solidFill>
                  <a:srgbClr val="666666"/>
                </a:solidFill>
                <a:latin typeface="Calibri"/>
              </a:rPr>
              <a:t>Manba: [G‘iyosov Z.A., Sud tibbiyoti (Tibbiyot oliy o‘quv yurtlari talabalari uchun darslik), Toshkent: Global Books nashriyoti, 217]; [G‘iyosov Z.A., Sud tibbiyoti (Tibbiyot oliy o‘quv yurtlari talabalari uchun darslik), Toshkent: Global Books nashriyoti, 217-218]; [G‘iyosov Z.A., Sud tibbiyoti (Tibbiyot oliy o‘quv yurtlari talabalari uchun darslik), Toshkent: Global Books nashriyoti, 238]; [G‘iyosov Z.A., Sud tibbiyoti (Tibbiyot oliy o‘quv yurtlari talabalari uchun darslik), Toshkent: Global Books nashriyoti, 241]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914400"/>
          </a:xfrm>
          <a:prstGeom prst="rect">
            <a:avLst/>
          </a:prstGeom>
          <a:noFill/>
        </p:spPr>
        <p:txBody>
          <a:bodyPr wrap="square">
            <a:spAutoFit/>
          </a:bodyPr>
          <a:lstStyle/>
          <a:p>
            <a:r>
              <a:rPr sz="3000" b="1">
                <a:solidFill>
                  <a:srgbClr val="0B1F3A"/>
                </a:solidFill>
                <a:latin typeface="Georgia"/>
              </a:rPr>
              <a:t>Qiziqarli ma'lumotlar</a:t>
            </a:r>
          </a:p>
        </p:txBody>
      </p:sp>
      <p:sp>
        <p:nvSpPr>
          <p:cNvPr id="3" name="TextBox 2"/>
          <p:cNvSpPr txBox="1"/>
          <p:nvPr/>
        </p:nvSpPr>
        <p:spPr>
          <a:xfrm>
            <a:off x="548640" y="1508760"/>
            <a:ext cx="11064240" cy="4572000"/>
          </a:xfrm>
          <a:prstGeom prst="rect">
            <a:avLst/>
          </a:prstGeom>
          <a:noFill/>
        </p:spPr>
        <p:txBody>
          <a:bodyPr wrap="square">
            <a:spAutoFit/>
          </a:bodyPr>
          <a:lstStyle/>
          <a:p>
            <a:r>
              <a:t>• Eslab qolish usuli: Kasper indeksi 1:2:8 — havo : suv : yer. Raqam qancha katta bo‘lsa, chirish shuncha sekin kechadi: suvda 2 barobar, yerda 8 barobar sekin. [G‘iyosov Z.A., Sud tibbiyoti (Tibbiyot oliy o‘quv yurtlari talabalari uchun darslik), Toshkent: Global Books nashriyoti, 229]</a:t>
            </a:r>
          </a:p>
          <a:p>
            <a:r>
              <a:t>• Xona sharoitida murda tanasi taxminan soatiga 1 gradusga soviydi. Tashqi muhit harorati bilan tenglashish qo‘ltiq ostida 16 soatdan, to‘g‘ri ichakda 19 soatdan, jigarda 25 soatdan keyin yuz beradi. Shuning uchun bu yerlarni o‘lchash o‘lim muddatini baholashda foydali. [G‘iyosov Z.A., Sud tibbiyoti (Tibbiyot oliy o‘quv yurtlari talabalari uchun darslik), Toshkent: Global Books nashriyoti, 224]</a:t>
            </a:r>
          </a:p>
          <a:p>
            <a:r>
              <a:t>• Soxta tasavvur: terining qurib tortilishi soch, soqol va timoqlar o‘limdan keyin o‘sgandek ko‘rinishiga sabab bo‘ladi. Aslida ular o‘smaydi, teri tortilgani uchun shunday tuyuladi. [G‘iyosov Z.A., Sud tibbiyoti (Tibbiyot oliy o‘quv yurtlari talabalari uchun darslik), Toshkent: Global Books nashriyoti, 225]</a:t>
            </a:r>
          </a:p>
          <a:p>
            <a:r>
              <a:t>• Amaliy usul: pergament dog‘ini hayotiy shilinmadan farqlash uchun shubhali joyga iliq fiziologik eritma yoki suvli doka 5–10 daqiqa qo‘yiladi. Pergament dog‘i yumshab oqaradi, hayotiy shilinma o‘zgarmaydi. [G‘iyosov Z.A., Sud tibbiyoti (Tibbiyot oliy o‘quv yurtlari talabalari uchun darslik), Toshkent: Global Books nashriyoti, 225]</a:t>
            </a:r>
          </a:p>
          <a:p>
            <a:r>
              <a:t>• Murda dog‘larining rangi o‘lim sababi haqida ma’lumot beradi: is gazida pushti-qizil, sianidlarda olcha rang, metgemoglobin hosil qiluvchi moddalarda qo‘ng‘ir-jigarrang bo‘ladi. [G‘iyosov Z.A., Sud tibbiyoti (Tibbiyot oliy o‘quv yurtlari talabalari uchun darslik), Toshkent: Global Books nashriyoti, 228]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914400"/>
          </a:xfrm>
          <a:prstGeom prst="rect">
            <a:avLst/>
          </a:prstGeom>
          <a:noFill/>
        </p:spPr>
        <p:txBody>
          <a:bodyPr wrap="square">
            <a:spAutoFit/>
          </a:bodyPr>
          <a:lstStyle/>
          <a:p>
            <a:r>
              <a:rPr sz="3000" b="1">
                <a:solidFill>
                  <a:srgbClr val="0B1F3A"/>
                </a:solidFill>
                <a:latin typeface="Georgia"/>
              </a:rPr>
              <a:t>Manbalar</a:t>
            </a:r>
          </a:p>
        </p:txBody>
      </p:sp>
      <p:sp>
        <p:nvSpPr>
          <p:cNvPr id="3" name="Rectangle 2"/>
          <p:cNvSpPr/>
          <p:nvPr/>
        </p:nvSpPr>
        <p:spPr>
          <a:xfrm>
            <a:off x="548640" y="1234440"/>
            <a:ext cx="164592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508760"/>
            <a:ext cx="11064240" cy="4572000"/>
          </a:xfrm>
          <a:prstGeom prst="rect">
            <a:avLst/>
          </a:prstGeom>
          <a:noFill/>
        </p:spPr>
        <p:txBody>
          <a:bodyPr wrap="square">
            <a:spAutoFit/>
          </a:bodyPr>
          <a:lstStyle/>
          <a:p>
            <a:r>
              <a:t>G‘iyosov Z.A.. Sud tibbiyoti (Tibbiyot oliy o‘quv yurtlari talabalari uchun darslik), Toshkent: Global Books nashriyoti. 2018. Betlar: Bob 8 «Sud-tibbiy tanatologiya», 8.1-8.13-bo‘limlar, kitob beti 217-246 (3-qism, PDF-bet 55-84)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