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o‘lim tushunchasi bioetikada alohida bob bo‘ldi? 2) Talabalar “o‘lim”ni qanday tasavvur qiladi? Doskada: ma’ruza rejasini 5 ta tayanch atama bilan yozing. Tipik xato: kitobdagi “Sidney” deklaratsiyasi va mavzu nomidagi “Sinay” bir narsa ekanini bilmaslik. Talabalarga shuni aniqlashtirib bering.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O‘limga munosabat shifokor va bemor aloqasiga qanday ta’sir qiladi? 2) Falsafiy, diniy va biotibbiy qarashlar nimasi bilan farq qiladi? Doskada: “O‘lim” markazda, atrofida 3 ta qarash (falsafiy, axloqiy-diniy, biotibbiy). Tipik xato: o‘limni faqat tibbiy hodisa deb qarash.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Terminal davr nega bir necha soniyadan oylargacha cho‘ziladi? 2) Tibbiy yordam o‘lish davrini qanday o‘zgartiradi? Doskada: vaqt chizig‘i chizing: sog‘lom holat → terminal davr → o‘lim fakti. Tipik xato: o‘lishni lahzalik hodisa deb tushunish. Kitobda maxsus adabiyotdagi 10-15 yillik holatlar tilga olingan.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O‘lim fakti bilan o‘lish jarayoni nimasi bilan farq qiladi? 2) Nega uzoq cho‘zilgan terminal davr etik savollar tug‘diradi? Doskada: vaqt o‘qini chizing (soniya, kun, oy, yil) va terminal davrni belgilang. Tipik xato: o‘limni lahzalik hodisa deb bilish, o‘lishni esa jarayon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Yurak va nafas to‘xtashi nega endi o‘limning yagona mezoni emas? 2) Reanimatologiya o‘lim tushunchasini qanday o‘zgartirdi? Doskada: eski mezon (yurak, nafas) va yangi qarashni ikki ustunda yozing. Tipik xato: reanimatologiyani faqat jonlantirish usuli deb tushunish, uning o‘lish mexanizmlarini ham o‘rganishini unutish.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klinik o‘lim holatida shoshilinch yordam ko‘rsatish etik talab hisoblanadi? 2) Yordam ba’zan faqat o‘lishni uzaytirsa, qanday etik muammo tug‘iladi? Doskada: flow sxemani chizib, har bosqichdagi vaqtni yozing. Diqqat: klinik o‘lim ≠ biologik o‘lim (birinchisida qaytish mumkin, ikkinchisida mumkin emas). Tipik xato: klinik o‘limni haqiqiy o‘lim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Klinik o‘limda yordam ko‘rsatish nega majburiy etik talab? 2) Yordam faqat o‘lishni cho‘zsa, qanday etik muammo tug‘iladi? Doskada: vaqt chizig‘i chizing: yurak va nafas to‘xtashi → 5-6 daqiqa → qaytish imkoni. Tipik xato: klinik o‘limni qaytmas o‘lim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bu ikki tushunchani farqlash reanimatologiya fanining shakllanishida muhim bo‘ldi? 2) Gipotermiya klinik o‘lim davriga qanday ta’sir qiladi? Doskada: jadvalni talabalar bilan birga to‘ldiring. Tipik xato: klinik o‘limni biologik o‘lim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Savollarni og‘zaki, tezkor so‘rang; javobni talabalar aytsin. Muhokama: terminal davr tushunchasi nega faqat o‘lim lahzasi emas, jarayon ekanini ko‘rsatadi? Doskada: terminal davr → klinik o‘lim → biologik o‘lim zanjirini yozdiring. Tipik xato: o‘limni bir lahzalik hodisa deb bilish.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Nega klinik o‘limni huquqiy va etik jihatdan o‘lim deb baholab bo‘lmaydi? 2) Yordam ba’zan faqat o‘lishni uzaytirsa, qanday etik muammo tug‘iladi? Doskada: ikki ustunli sxema chizing — klinik o‘lim (qaytish mumkin) va biologik o‘lim (qaytmas). Tipik xato: talabalar klinik o‘limni biologik o‘lim bilan aralashtiradi va yordamni keraksiz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po‘stloq birinchi zararlanadi? 2) Nerv va mushak to‘qimasi sezgirligi qanday farq qiladi? Doskada: sezgirlik zanjirini strelka bilan chizib, oxirlarini (eng sezgir va eng kam sezgir) belgilang. Izoh: oraliq tuzilmalar tartibi kitobdagi sanash tartibiga tayanadi, kitobda faqat chekka tuzilmalar aniq ko‘rsatilgan. Tipik xato: sezgirlikni to‘qimaning kattaligi bilan bog‘lash, aslida u filogenetik yosh bilan bog‘liq.</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Supravital reaksiyalar nima uchun miya o‘limidan keyin ham kuzatiladi? 2) Bu xususiyat transplantatsiya uchun nega muhim? Doskada: o‘lim vaqtidan boshlab turli a’zolarning (yurak, buyrak, shox parda) tirik qolish muddatlarini vaqt chizig‘i shaklida tushiring. Tipik xato: supravital reaksiyalarni odam tirikligi belgisi deb o‘ylash; ular alohida to‘qimalarning qisqa muddatli faolligidir.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shaxs maqomi aynan po‘stloq bilan bog‘lanadi? 2) Yurak urib turgan odamni o‘lgan deb hisoblash jamiyat uchun nega qiyin? Doskada: ‘Po‘stloq → shaxs → miya o‘limi’ zanjirini chizing. Tipik xato: talabalar miya o‘limini ‘yurak to‘xtashi’ bilan aralashtiradi. Eslatma: 106-bet oxiridagi OCR matni qisman buzilgan, 3-bandni asl kitobdan tekshiring.</a:t>
            </a:r>
          </a:p>
          <a:p/>
          <a:p>
            <a:r>
              <a:t>Tekshirish kerak (manbada noaniq):</a:t>
            </a:r>
          </a:p>
          <a:p>
            <a:r>
              <a:t>- XX asrning 60-70-yillarida reanimatologiya yutuqlari tufayli eski mezon (qon aylanishi, nafas) yetarli bo‘lmay qoldi; miya o‘limi mezoni paydo bo‘ldi.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Nega davolovchi vrach uchun alohida hujayralar emas, shaxs butunligi muhim? 2) Atamalar farqi amaliyotda nimani o‘zgartiradi? Doskada: jadvalni daftarga ko‘chirtiring va har atamaga bittadan misol yozdiring. Tipik xato: ‘hujayra o‘limi’ni ‘individ o‘limi’ bilan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Tezkor savol: qaysi to‘qima eng uzoq saqlanadi? Muhokama: bu muddatlar murdadan donorlikda nimani anglatadi va nega o‘lim faktini aniq qayd etish muhim? Doskada: vaqt o‘qini chizing (miya o‘limi → 15-20 daqiqa → 6-8 soat). Tipik xato: muddatni ‘aniq kafolat’ deb o‘ylash, matnda ‘uzog‘i bilan’ deyilgan.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“Aniq tirik” va “aniq o‘lgan” orasidagi zona nima uchun axloqiy muammo tug‘diradi? 2) Jamiyat nega yurak urishiga qarab o‘limni baholashga odatlangan? Doskada: ikki chetida “aniq tirik” va “aniq o‘lgan”, o‘rtasida “noaniqlik zonasi” bo‘lgan chiziq chizdiring. Tipik xato: talabalar komadagi bemorni avtomatik ravishda “o‘lgan” deb hisoblaydi. Yudin uni noaniqlik zonasida deydi.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bioetika bu uch qarashni qanday uyg‘unlashtiradi? Talabalar o‘z fikrini manbaga tayanib asoslasin.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Savollarni og‘zaki bering, 2-3 talabadan javob oling. Muhokama: nega a’zolar bir vaqtda o‘lmaydi? Supravital reaksiyalar o‘limni inkor etadimi? Doskada: “individ o‘limi” va “hujayra o‘limi” ustunlarini yonma-yon yozdiring. Tipik xato: supravital reaksiyalarni odam tirikligi belgisi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Vrach oilaga o‘limni qanday tushuntirishi kerak? 2) Nega qarorni bitta vrach emas, konsilium qabul qiladi? Doskada: “yurak urishi” va “miya funksiyasi” ni ikki ustunga yozib, qaysi biri shaxs o‘limini belgilashini ko‘rsating. Tipik xato: yurak urishini shaxsning tirikligi bilan tenglashtirish.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o‘lim faktini aniqlash mas’uliyati aynan shifokorga yuklanadi? 2) Bu qaror bioetikada qanday ahamiyatga ega? Doskada chizish: ’murojaat → javob → xulosa’ zanjirini talabalar o‘zlari chizsin. Tipik xato: Papa mezonlarni o‘zi belgiladi deb o‘ylash; aslida u aniqlash shifokorlarning vazifasi ekanini bildirgan.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Gurvich ta’rifidagi uch belgini sanang. 2) Nega ’qaytmas’ so‘zi shu ta’rifda hal qiluvchi? Doskada: ta’rifning uch belgisini ustun ko‘rinishida yozdiring. Diqqat: xato qilish xavfi — miya o‘limi ≠ klinik o‘lim (klinik o‘limda tiklash imkoni saqlanadi) va miya o‘limi ≠ vegetativ holat (unda miya o‘limi sodir bo‘lmagan).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Yaqinlari yurak urib turgan bemorning o‘limini nega qabul qilishi qiyin? 2) Shifokor oilaga buni qanday tushuntirishi kerak? Doskada: ikki ustunli jadvalni talabalar o‘zlari to‘ldirsin. Tipik xato: miya o‘limini ’chuqur koma’ deb o‘ylash; komada tirik odam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aynan befoyda reanimatsiyani bartaraf etish mezon ishlashning asosiy sababi bo‘ldi? 2) Resurs sarfi masalasi axloqiy jihatdan qanday baholanadi? Doskada: 1968–1983 vaqt chizig‘ini chizdiring. Tipik xato: Garvard mezonlarini (AQSh mutaxassislar guruhi) JTU deklaratsiyasi bilan aralashtirish. Diqqat: ular bir xil hujjat emas, ikkalasi ham 1968 yilga tegishli.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shifokor vazifasi hujayralarni emas, shaxs butunligini saqlashdir? 2) Hujayra o‘limi va shaxs o‘limi qanday farqlanadi? Doskada: ikki ustun chizing: «hujayra o‘limi» va «shaxs (individ) o‘limi». Tipik xato: a’zo yoki hujayralar tirik ekan, shaxs ham tirik deb o‘ylash. Eslatma: kitobda hujjat «Sidney deklaratsiyasi» deb yozilgan; mavzu nomidagi «Sinay» shu hujjatni bildiradi.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o‘limni tasdiqlovchi shifokorlar transplantatsiyadan manfaatdor bo‘lmasligi shart? 2) Miya o‘zagi funksiyasi nega alohida ta’kidlanadi? Doskada: zanjirni chizing va oxirgi bosqichda «2 ta befarq shifokor» shartini belgilang. Tipik xato: faqat yurak urishi to‘xtashini o‘lim vaqti deb hisoblash. Diqqat: deklaratsiyada mezon yurak emas, miya funksiyalarining qaytmas to‘xtashi.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Izoh: manbada fiqh akademiyalarining qarorlari bir-biriga zid ko‘rinadi; slaydda faqat sanalar keltirildi.</a:t>
            </a:r>
          </a:p>
          <a:p/>
          <a:p>
            <a:r>
              <a:t>Tekshirish kerak (manbada noaniq):</a:t>
            </a:r>
          </a:p>
          <a:p>
            <a:r>
              <a:t>- 1995-yilda Eronda zarar etkazmaslik tamoyiliga tayanib miya o‘limi mezonlarini qabul qilish rad etilgan; fiqh akademiyalari fikri turlicha.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Mezon qulay, lekin ilmiy asossiz bo‘lsa nima bo‘ladi? 2) Madaniy-ma‘naviy me‘yorga moslik nega muhim? Doskada: 4 talabli zanjirni talabalar bilan birga chizing va har biriga bittadan misol yozdiring. Tipik xato: amaliy qulaylikni ob‘ektivlik bilan almashtirib yuborish. Qulaylik – kam mutaxassis va vaqt talab qilishi, ob‘ektivlik – bir xil tushunish va tekshirish imkoni.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bitta belgi tashxis uchun yetarli emas? 2) Yurak urib turgan odamni o‘lgan deb hisoblash jamiyatda qanday savollar tug‘diradi? Doskada: 4 guruhli jadvalni chizib, har guruhga bitta tekshiruv usulini yozdiring. Tipik xato: atoniyani faqat hushsizlik bilan tenglashtirish. Atoniya – barcha mushaklarning bo‘shashishi, alohida belgi.</a:t>
            </a:r>
          </a:p>
          <a:p/>
          <a:p>
            <a:r>
              <a:t>Tekshirish kerak (manbada noaniq):</a:t>
            </a:r>
          </a:p>
          <a:p>
            <a:r>
              <a:t>- Diqqat: tashxis oldidan dori, zaharlanish, gipotermiya kabi sabablar istisno etilishi shart.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Savollarni og‘zaki bering, javobni 1-2 talabadan oling. Muhokama: Jahon tibbiyot assotsiatsiyasi (JTA) deklaratsiyasida ikki shifokor sharti nega kiritilgan? Doskada: 1968-yil (Harvard va Sinay) hamda 1983-yil (to‘ldirish) sanalarini vaqt chizig‘ida belgilang. Tipik xato: Harvard mezonlari bilan JTA deklaratsiyasini bitta hujjat deb o‘ylash. Ular alohida, lekin ikkalasi ham 1968-yilda qabul qilingan.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daqiqa. Muhokama: 1) Nega transplantatsiya jamoasi a’zolari komissiyaga kirmaydi? 2) Sidneyda ikki shifokor talabi qanday himoya beradi? Doskada: ikki ustun chizing — «o‘limni tasdiqlaydi» va «a’zoni oladi» — va ularni ajrating. Tipik xato: talabalar «bir mutaxassis ikkala vazifani bajarsa tezroq bo‘ladi»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 nega diagnostika qiluvchi va ko‘chirib o‘tkazuvchi guruhlar mustaqil bo‘lishi kerak?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gipotermiya va zaharlanish avval istisno qilinadi? 2) Bayonnomani kim tasdiqlaydi (bo‘lim mudiri yoki mas’ul navbatchi shifokor)? Doskada: zanjirni 5 bosqichda chizdiring. Tipik xato: bu yo‘riqnomani bolalarga ham tatbiq etish.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Sinay deklaratsiyasi bilan solishtiring: ikki bevosita manfaatdor bo‘lmagan shifokor (109-bet, Giyosov).</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Nima uchun sud-tibbiy tekshiruv o‘lim fakti qayd etilmasdan boshlanmaydi? 2) Mezonlar yo‘qligi shifokorga qanday xavf tug‘diradi? Doskada: jadvalni ko‘chiring va 153-son buyruq sanasini (2012 yil 1 iyun) yozdiring. Tipik xato: murda o‘zgarishlari paydo bo‘lishini o‘lim faktini qayd etish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vegetativ holatdagi bemorni ‘‘tirik’’ deymiz, miya o‘limidagini esa vafot etgan deb hisoblaymiz? 2) ‘‘Biologik hayot’’ va ‘‘shaxs hayoti’’ farqi nimada? Doskada: ikki ustunli sxema chizing — ‘‘Vegetativ holat’’ va ‘‘Miya o‘limi’’, har biriga ‘‘miya o‘limi bor/yo‘q’’ belgisini qo‘ying. Tipik xato: talabalar vegetativ holatni miya o‘limi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Uyqu-tetiklik sikli saqlanishi nima uchun oila a‘zolarida yolg‘on umid uyg‘otishi mumkin? 2) PVH belgilari miya o‘limi klinik belgilaridan qaysi jihatdan farq qiladi? Doskada: PVH uch belgisini jadval qilib chizib, yoniga miya o‘limi belgilarini (o‘z nafasining yo‘qligi, refleks yo‘qligi) yozdiring. Tipik xato: ‘‘ko‘zi ochiq — demak anglaydi’’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Cheklangan resurslar sharoitida PVHdagi bemorga sarflanadigan mablag‘ masalasiga qanday etik yondashasiz? 2) Oila a‘zolarining rolini qanday baholaysiz? Doskada: ‘‘sabab → PVH → uzoq parvarish → ijtimoiy yuk’’ zanjirini chizdiring. Tipik xato: 2–13 ko‘rsatkichini aniq ‘‘o‘zgarmas’’ raqam deb olish — manbada bu turli mualliflar bo‘yicha oraliq. Misol bandi OCR matni to‘liq o‘qilmagani uchun ehtiyotkorlik bilan ishlating.</a:t>
            </a:r>
          </a:p>
          <a:p/>
          <a:p>
            <a:r>
              <a:t>Tekshirish kerak (manbada noaniq):</a:t>
            </a:r>
          </a:p>
          <a:p>
            <a:r>
              <a:t>- Misol: OAV ma’lumotiga ko‘ra, «Fristayl» sobiq solisti S. Vyazemskiy 2015-yilda jonlantirilgach, 2020-yil vafotigacha vegetativ holatda bo‘lgan.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muddat yoshga qarab farq qiladi deb o‘ylaysiz? 2) Prognozning noaniqligi qarorga qanday ta’sir qiladi? Doskada: PVH muddatlari chizig‘ini (hafta → 6/12 oy) chizdiring. Tipik xato: 12 va 6 oy muddatlarini aralashtirish yoki ularni avtomatik to‘xtatish buyrug‘i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Qaror qabul qilishda qaysi omillar (qonun, etika, prognoz) hisobga olinadi? 2) PVH va miya o‘limida reanimatsiyani to‘xtatish asosi nega farq qiladi? Doskada: ikki ustunli solishtirish (PVH | miya o‘limi) chizdiring. Tipik xato: PVHdagi bemorni “o‘lgan”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Klinik o‘lim nega huquqiy va etik jihatdan o‘lim sanalmaydi? 2) Miya o‘limi tushunchasi nega jamiyatda qabul qilinishi qiyin? Doskada: o‘lim bosqichlari zanjirini (klinik → biologik) va miya o‘limi bilan PVH farqini chizdiring. Tipik xato: klinik va biologik o‘limni, PVH va miya o‘limini aralashtirish.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O‘lim va o‘limning axloqiy jihatlari: klinik, vegetativ va miya o‘limi, JTU Sinay deklaratsiyasi, doimiy vegetativ holat (A5)</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XI bob o‘lish va o‘limning axloqiy jihatlarini, “miya o‘limi” masalasini va uning zamonaviy tibbiy amaliyotdagi ahamiyatini o‘rganadi.</a:t>
            </a:r>
          </a:p>
          <a:p>
            <a:pPr>
              <a:spcAft>
                <a:spcPts val="1200"/>
              </a:spcAft>
            </a:pPr>
            <a:r>
              <a:rPr sz="2200">
                <a:solidFill>
                  <a:srgbClr val="1F2937"/>
                </a:solidFill>
                <a:latin typeface="Calibri"/>
              </a:rPr>
              <a:t>▸  Reja: o‘lish va o‘lim, klinik va biologik o‘lim, miya o‘limi, Jahon tibbiyot assotsiatsiyasi (JTU) Sidney deklaratsiyasi.</a:t>
            </a:r>
          </a:p>
          <a:p>
            <a:pPr>
              <a:spcAft>
                <a:spcPts val="1200"/>
              </a:spcAft>
            </a:pPr>
            <a:r>
              <a:rPr sz="2200">
                <a:solidFill>
                  <a:srgbClr val="1F2937"/>
                </a:solidFill>
                <a:latin typeface="Calibri"/>
              </a:rPr>
              <a:t>▸  Oxirida vegetativ holat ko‘riladi: doimiy (persistent) vegetativ holat (PVH) reanimatologiyaning murakkab muammolaridan biridir.</a:t>
            </a:r>
          </a:p>
          <a:p>
            <a:pPr>
              <a:spcAft>
                <a:spcPts val="1200"/>
              </a:spcAft>
            </a:pPr>
            <a:r>
              <a:rPr sz="2200">
                <a:solidFill>
                  <a:srgbClr val="1F2937"/>
                </a:solidFill>
                <a:latin typeface="Calibri"/>
              </a:rPr>
              <a:t>▸  Asosiy tushunchalar: o‘lish (terminal davr), klinik o‘lim, biologik o‘lim, miya o‘limi va vegetativ holat.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 105-109, 111, 105-106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 falsafiy va axloqiy muammo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O‘lim insonlar uchun doim sirli bo‘lib, ma’lum darajada qo‘rquv uyg‘otib kelgan.</a:t>
            </a:r>
          </a:p>
          <a:p>
            <a:pPr>
              <a:spcAft>
                <a:spcPts val="1200"/>
              </a:spcAft>
            </a:pPr>
            <a:r>
              <a:rPr sz="2200">
                <a:solidFill>
                  <a:srgbClr val="1F2937"/>
                </a:solidFill>
                <a:latin typeface="Calibri"/>
              </a:rPr>
              <a:t>▸  Har bir boshlangan hodisaning tabiiy, mantiqiy yakuni bor. Inson hayoti ham bundan mustasno emas.</a:t>
            </a:r>
          </a:p>
          <a:p>
            <a:pPr>
              <a:spcAft>
                <a:spcPts val="1200"/>
              </a:spcAft>
            </a:pPr>
            <a:r>
              <a:rPr sz="2200">
                <a:solidFill>
                  <a:srgbClr val="1F2937"/>
                </a:solidFill>
                <a:latin typeface="Calibri"/>
              </a:rPr>
              <a:t>▸  O‘lim muammosi hayotga falsafiy, axloqiy-diniy va biotibbiy qarashlarning asosiy masalalaridan biridir.</a:t>
            </a:r>
          </a:p>
          <a:p>
            <a:pPr>
              <a:spcAft>
                <a:spcPts val="1200"/>
              </a:spcAft>
            </a:pPr>
            <a:r>
              <a:rPr sz="2200">
                <a:solidFill>
                  <a:srgbClr val="1F2937"/>
                </a:solidFill>
                <a:latin typeface="Calibri"/>
              </a:rPr>
              <a:t>▸  Insonning o‘limga munosabati axloqiy o‘zaro aloqa va bog‘liqlikning butun bir tizimini shakllantiradi.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va o‘lish: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O‘lim — sodir bo‘lgan fakt sifatida e’tirof etiladi, o‘lish esa turli muddat davom etadigan jarayondir.</a:t>
            </a:r>
          </a:p>
          <a:p>
            <a:pPr>
              <a:spcAft>
                <a:spcPts val="800"/>
              </a:spcAft>
            </a:pPr>
            <a:r>
              <a:rPr sz="1800">
                <a:solidFill>
                  <a:srgbClr val="1F2937"/>
                </a:solidFill>
                <a:latin typeface="Calibri"/>
              </a:rPr>
              <a:t>▸  O‘lish jarayoni terminal, ya’ni chegara davr deb ataladi.</a:t>
            </a:r>
          </a:p>
          <a:p>
            <a:pPr>
              <a:spcAft>
                <a:spcPts val="800"/>
              </a:spcAft>
            </a:pPr>
            <a:r>
              <a:rPr sz="1800">
                <a:solidFill>
                  <a:srgbClr val="1F2937"/>
                </a:solidFill>
                <a:latin typeface="Calibri"/>
              </a:rPr>
              <a:t>▸  Diqqat: xato qilish xavfi — o‘lish ≠ o‘lim. Jarayonni yakuniy fakt bilan adashtirmang.</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O‘lim</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Mohiyati: Sodir bo‘lgan fakt</a:t>
            </a:r>
          </a:p>
          <a:p>
            <a:pPr algn="l">
              <a:spcAft>
                <a:spcPts val="700"/>
              </a:spcAft>
            </a:pPr>
            <a:r>
              <a:rPr sz="1500" b="1">
                <a:solidFill>
                  <a:srgbClr val="C9A227"/>
                </a:solidFill>
                <a:latin typeface="Calibri"/>
              </a:rPr>
              <a:t>●  </a:t>
            </a:r>
            <a:r>
              <a:rPr sz="1500" b="0">
                <a:solidFill>
                  <a:srgbClr val="1F2937"/>
                </a:solidFill>
                <a:latin typeface="Calibri"/>
              </a:rPr>
              <a:t>Vaqt: Fakt sifatida e’tirof etiladi</a:t>
            </a:r>
          </a:p>
          <a:p>
            <a:pPr algn="l">
              <a:spcAft>
                <a:spcPts val="700"/>
              </a:spcAft>
            </a:pPr>
            <a:r>
              <a:rPr sz="1500" b="1">
                <a:solidFill>
                  <a:srgbClr val="C9A227"/>
                </a:solidFill>
                <a:latin typeface="Calibri"/>
              </a:rPr>
              <a:t>●  </a:t>
            </a:r>
            <a:r>
              <a:rPr sz="1500" b="0">
                <a:solidFill>
                  <a:srgbClr val="1F2937"/>
                </a:solidFill>
                <a:latin typeface="Calibri"/>
              </a:rPr>
              <a:t>Atama: O‘lim faktini qayd etish</a:t>
            </a:r>
          </a:p>
          <a:p>
            <a:pPr algn="l">
              <a:spcAft>
                <a:spcPts val="700"/>
              </a:spcAft>
            </a:pPr>
            <a:r>
              <a:rPr sz="1500" b="1">
                <a:solidFill>
                  <a:srgbClr val="C9A227"/>
                </a:solidFill>
                <a:latin typeface="Calibri"/>
              </a:rPr>
              <a:t>●  </a:t>
            </a:r>
            <a:r>
              <a:rPr sz="1500" b="0">
                <a:solidFill>
                  <a:srgbClr val="1F2937"/>
                </a:solidFill>
                <a:latin typeface="Calibri"/>
              </a:rPr>
              <a:t>Cho‘zilish: —</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O‘lish</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Mohiyati: Jarayon</a:t>
            </a:r>
          </a:p>
          <a:p>
            <a:pPr algn="l">
              <a:spcAft>
                <a:spcPts val="700"/>
              </a:spcAft>
            </a:pPr>
            <a:r>
              <a:rPr sz="1500" b="1">
                <a:solidFill>
                  <a:srgbClr val="C9A227"/>
                </a:solidFill>
                <a:latin typeface="Calibri"/>
              </a:rPr>
              <a:t>●  </a:t>
            </a:r>
            <a:r>
              <a:rPr sz="1500" b="0">
                <a:solidFill>
                  <a:srgbClr val="1F2937"/>
                </a:solidFill>
                <a:latin typeface="Calibri"/>
              </a:rPr>
              <a:t>Vaqt: Soniyalardan oylargacha</a:t>
            </a:r>
          </a:p>
          <a:p>
            <a:pPr algn="l">
              <a:spcAft>
                <a:spcPts val="700"/>
              </a:spcAft>
            </a:pPr>
            <a:r>
              <a:rPr sz="1500" b="1">
                <a:solidFill>
                  <a:srgbClr val="C9A227"/>
                </a:solidFill>
                <a:latin typeface="Calibri"/>
              </a:rPr>
              <a:t>●  </a:t>
            </a:r>
            <a:r>
              <a:rPr sz="1500" b="0">
                <a:solidFill>
                  <a:srgbClr val="1F2937"/>
                </a:solidFill>
                <a:latin typeface="Calibri"/>
              </a:rPr>
              <a:t>Atama: Terminal, chegara davr</a:t>
            </a:r>
          </a:p>
          <a:p>
            <a:pPr algn="l">
              <a:spcAft>
                <a:spcPts val="700"/>
              </a:spcAft>
            </a:pPr>
            <a:r>
              <a:rPr sz="1500" b="1">
                <a:solidFill>
                  <a:srgbClr val="C9A227"/>
                </a:solidFill>
                <a:latin typeface="Calibri"/>
              </a:rPr>
              <a:t>●  </a:t>
            </a:r>
            <a:r>
              <a:rPr sz="1500" b="0">
                <a:solidFill>
                  <a:srgbClr val="1F2937"/>
                </a:solidFill>
                <a:latin typeface="Calibri"/>
              </a:rPr>
              <a:t>Cho‘zilish: Ayrim hollarda 10-15 yilgacha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O‘lim ≠ o‘lish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Terminal (chegara) davr davomiyligi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O‘lim sodir bo‘lgan fakt, o‘lish esa turli muddat davom etadigan jarayondir.</a:t>
            </a:r>
          </a:p>
          <a:p>
            <a:pPr>
              <a:spcAft>
                <a:spcPts val="800"/>
              </a:spcAft>
            </a:pPr>
            <a:r>
              <a:rPr sz="1800">
                <a:solidFill>
                  <a:srgbClr val="1F2937"/>
                </a:solidFill>
                <a:latin typeface="Calibri"/>
              </a:rPr>
              <a:t>▸  Bu jarayon terminal, ya’ni chegara davr deb ataladi.</a:t>
            </a:r>
          </a:p>
          <a:p>
            <a:pPr>
              <a:spcAft>
                <a:spcPts val="800"/>
              </a:spcAft>
            </a:pPr>
            <a:r>
              <a:rPr sz="1800">
                <a:solidFill>
                  <a:srgbClr val="1F2937"/>
                </a:solidFill>
                <a:latin typeface="Calibri"/>
              </a:rPr>
              <a:t>▸  Maxsus adabiyotda tibbiy yordam bilan o‘lish davri 10-15 yilgacha cho‘zilgan holatlar keltirilgan.</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Eng tez o‘lish</a:t>
            </a:r>
          </a:p>
          <a:p>
            <a:pPr algn="l">
              <a:spcAft>
                <a:spcPts val="100"/>
              </a:spcAft>
            </a:pPr>
            <a:r>
              <a:rPr sz="2500" b="1">
                <a:solidFill>
                  <a:srgbClr val="0B1F3A"/>
                </a:solidFill>
                <a:latin typeface="Calibri"/>
              </a:rPr>
              <a:t>soniyalar</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Sekinroq o‘lish</a:t>
            </a:r>
          </a:p>
          <a:p>
            <a:pPr algn="l">
              <a:spcAft>
                <a:spcPts val="100"/>
              </a:spcAft>
            </a:pPr>
            <a:r>
              <a:rPr sz="3000" b="1">
                <a:solidFill>
                  <a:srgbClr val="0B1F3A"/>
                </a:solidFill>
                <a:latin typeface="Calibri"/>
              </a:rPr>
              <a:t>kun–oy</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Tibbiy yordam bilan</a:t>
            </a:r>
          </a:p>
          <a:p>
            <a:pPr algn="l">
              <a:spcAft>
                <a:spcPts val="100"/>
              </a:spcAft>
            </a:pPr>
            <a:r>
              <a:rPr sz="2500" b="1">
                <a:solidFill>
                  <a:srgbClr val="0B1F3A"/>
                </a:solidFill>
                <a:latin typeface="Calibri"/>
              </a:rPr>
              <a:t>10–15 yil</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Terminal davr davomiyligi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Reanimatologiyaning shakllanishi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O‘tgan asr o‘rtalariga qadar qon aylanishi va nafasning to‘xtashi tiklab bo‘lmaydigan holat deb baholangan.</a:t>
            </a:r>
          </a:p>
          <a:p>
            <a:pPr>
              <a:spcAft>
                <a:spcPts val="1200"/>
              </a:spcAft>
            </a:pPr>
            <a:r>
              <a:rPr sz="2200">
                <a:solidFill>
                  <a:srgbClr val="1F2937"/>
                </a:solidFill>
                <a:latin typeface="Calibri"/>
              </a:rPr>
              <a:t>▸  Klinik va biologik o‘limning farqlanishi yangi fan — reanimatologiyaning shakllanishida asosiy o‘rin tutdi.</a:t>
            </a:r>
          </a:p>
          <a:p>
            <a:pPr>
              <a:spcAft>
                <a:spcPts val="1200"/>
              </a:spcAft>
            </a:pPr>
            <a:r>
              <a:rPr sz="2200">
                <a:solidFill>
                  <a:srgbClr val="1F2937"/>
                </a:solidFill>
                <a:latin typeface="Calibri"/>
              </a:rPr>
              <a:t>▸  Reanimatologiya o‘lish mexanizmlarini va o‘layotgan organizmni hayotga qaytarish masalalarini o‘rganadi.</a:t>
            </a:r>
          </a:p>
          <a:p>
            <a:pPr>
              <a:spcAft>
                <a:spcPts val="1200"/>
              </a:spcAft>
            </a:pPr>
            <a:r>
              <a:rPr sz="2200">
                <a:solidFill>
                  <a:srgbClr val="1F2937"/>
                </a:solidFill>
                <a:latin typeface="Calibri"/>
              </a:rPr>
              <a:t>▸  Bu fan ilgari o‘limning ishonchli mezoni hisoblangan qon aylanishi va nafas to‘xtashini bartaraf eta oldi.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Klinik o‘lim: hayot va o‘lim oralig‘i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Klinik o‘lim — organizmning hayot va o‘lim orasidagi oraliq holati.</a:t>
            </a:r>
          </a:p>
          <a:p>
            <a:pPr>
              <a:spcAft>
                <a:spcPts val="800"/>
              </a:spcAft>
            </a:pPr>
            <a:r>
              <a:rPr sz="1800">
                <a:solidFill>
                  <a:srgbClr val="1F2937"/>
                </a:solidFill>
                <a:latin typeface="Calibri"/>
              </a:rPr>
              <a:t>▸  Gipotermiya sharoitida klinik o‘lim davri uzoqroq bo‘lishi mumkin.</a:t>
            </a:r>
          </a:p>
          <a:p>
            <a:pPr>
              <a:spcAft>
                <a:spcPts val="800"/>
              </a:spcAft>
            </a:pPr>
            <a:r>
              <a:rPr sz="1800">
                <a:solidFill>
                  <a:srgbClr val="1F2937"/>
                </a:solidFill>
                <a:latin typeface="Calibri"/>
              </a:rPr>
              <a:t>▸  Huquq va etika nuqtai nazaridan bu o‘lim emas: organizmni hayotga qaytarish imkoni saqlanadi.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Yurak va nafas to‘xtaydi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oliy qismlari: 5-6 daq.</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Qaytish imkoni saqlanadi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Tiklanmasa: biologik o‘lim</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Klinik o‘lim bosqichlari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Klinik o‘limda shoshilinch yordam: etik talab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Klinik o‘lim — hayot va o‘lim orasidagi oraliq holat. Yurak va nafas to‘xtagach, bosh miyaning oliy qismlari qisqa muddat (5-6 daqiqa) ishlaydi.</a:t>
            </a:r>
          </a:p>
          <a:p>
            <a:pPr>
              <a:spcAft>
                <a:spcPts val="1200"/>
              </a:spcAft>
            </a:pPr>
            <a:r>
              <a:rPr sz="2200">
                <a:solidFill>
                  <a:srgbClr val="1F2937"/>
                </a:solidFill>
                <a:latin typeface="Calibri"/>
              </a:rPr>
              <a:t>▸  Huquqiy va etik jihatdan klinik o‘limni o‘lim deb baholab bo‘lmaydi, chunki bu davrda organizmni hayotga qaytarish imkoni saqlanadi.</a:t>
            </a:r>
          </a:p>
          <a:p>
            <a:pPr>
              <a:spcAft>
                <a:spcPts val="1200"/>
              </a:spcAft>
            </a:pPr>
            <a:r>
              <a:rPr sz="2200">
                <a:solidFill>
                  <a:srgbClr val="1F2937"/>
                </a:solidFill>
                <a:latin typeface="Calibri"/>
              </a:rPr>
              <a:t>▸  Etik yondashuv tibbiy xodimdan klinik o‘lim holatida shoshilinch tibbiy yordam ko‘rsatishni talab etadi.</a:t>
            </a:r>
          </a:p>
          <a:p>
            <a:pPr>
              <a:spcAft>
                <a:spcPts val="1200"/>
              </a:spcAft>
            </a:pPr>
            <a:r>
              <a:rPr sz="2200">
                <a:solidFill>
                  <a:srgbClr val="1F2937"/>
                </a:solidFill>
                <a:latin typeface="Calibri"/>
              </a:rPr>
              <a:t>▸  Yordam ba’zi bemorlarda o‘lim xavfini bartaraf etadi. Ba’zan esa faqat o‘lishni uzaytiradi va etik muammo tug‘diradi.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 105-106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Klinik va biologik o‘lim: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Yurak va nafas tiklanmasa, miyada qaytmas o‘zgarishlar boshlanadi va biologik o‘lim yuz beradi.</a:t>
            </a:r>
          </a:p>
          <a:p>
            <a:pPr>
              <a:spcAft>
                <a:spcPts val="800"/>
              </a:spcAft>
            </a:pPr>
            <a:r>
              <a:rPr sz="1800">
                <a:solidFill>
                  <a:srgbClr val="1F2937"/>
                </a:solidFill>
                <a:latin typeface="Calibri"/>
              </a:rPr>
              <a:t>▸  Biologik o‘limda hujayra va to‘qimalarda fiziologik jarayonlar qaytmas to‘xtaydi.</a:t>
            </a:r>
          </a:p>
          <a:p>
            <a:pPr>
              <a:spcAft>
                <a:spcPts val="800"/>
              </a:spcAft>
            </a:pPr>
            <a:r>
              <a:rPr sz="1800">
                <a:solidFill>
                  <a:srgbClr val="1F2937"/>
                </a:solidFill>
                <a:latin typeface="Calibri"/>
              </a:rPr>
              <a:t>▸  Diqqat: klinik o‘lim ≠ biologik o‘lim. Gipotermiyada klinik o‘lim davri uzoqroq bo‘lishi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Klinik o‘lim</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Holat: Hayot va o‘lim oralig‘i</a:t>
            </a:r>
          </a:p>
          <a:p>
            <a:pPr algn="l">
              <a:spcAft>
                <a:spcPts val="700"/>
              </a:spcAft>
            </a:pPr>
            <a:r>
              <a:rPr sz="1500" b="1">
                <a:solidFill>
                  <a:srgbClr val="C9A227"/>
                </a:solidFill>
                <a:latin typeface="Calibri"/>
              </a:rPr>
              <a:t>●  </a:t>
            </a:r>
            <a:r>
              <a:rPr sz="1500" b="0">
                <a:solidFill>
                  <a:srgbClr val="1F2937"/>
                </a:solidFill>
                <a:latin typeface="Calibri"/>
              </a:rPr>
              <a:t>Yurak va nafas: To‘xtagan</a:t>
            </a:r>
          </a:p>
          <a:p>
            <a:pPr algn="l">
              <a:spcAft>
                <a:spcPts val="700"/>
              </a:spcAft>
            </a:pPr>
            <a:r>
              <a:rPr sz="1500" b="1">
                <a:solidFill>
                  <a:srgbClr val="C9A227"/>
                </a:solidFill>
                <a:latin typeface="Calibri"/>
              </a:rPr>
              <a:t>●  </a:t>
            </a:r>
            <a:r>
              <a:rPr sz="1500" b="0">
                <a:solidFill>
                  <a:srgbClr val="1F2937"/>
                </a:solidFill>
                <a:latin typeface="Calibri"/>
              </a:rPr>
              <a:t>Bosh miya: Oliy qismlar 5-6 daqiqa ishlaydi</a:t>
            </a:r>
          </a:p>
          <a:p>
            <a:pPr algn="l">
              <a:spcAft>
                <a:spcPts val="700"/>
              </a:spcAft>
            </a:pPr>
            <a:r>
              <a:rPr sz="1500" b="1">
                <a:solidFill>
                  <a:srgbClr val="C9A227"/>
                </a:solidFill>
                <a:latin typeface="Calibri"/>
              </a:rPr>
              <a:t>●  </a:t>
            </a:r>
            <a:r>
              <a:rPr sz="1500" b="0">
                <a:solidFill>
                  <a:srgbClr val="1F2937"/>
                </a:solidFill>
                <a:latin typeface="Calibri"/>
              </a:rPr>
              <a:t>Qaytarish imkoni: Saqlanadi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Biologik o‘lim</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Holat: Qaytmas o‘lim</a:t>
            </a:r>
          </a:p>
          <a:p>
            <a:pPr algn="l">
              <a:spcAft>
                <a:spcPts val="700"/>
              </a:spcAft>
            </a:pPr>
            <a:r>
              <a:rPr sz="1500" b="1">
                <a:solidFill>
                  <a:srgbClr val="C9A227"/>
                </a:solidFill>
                <a:latin typeface="Calibri"/>
              </a:rPr>
              <a:t>●  </a:t>
            </a:r>
            <a:r>
              <a:rPr sz="1500" b="0">
                <a:solidFill>
                  <a:srgbClr val="1F2937"/>
                </a:solidFill>
                <a:latin typeface="Calibri"/>
              </a:rPr>
              <a:t>Yurak va nafas: Tiklanmagan</a:t>
            </a:r>
          </a:p>
          <a:p>
            <a:pPr algn="l">
              <a:spcAft>
                <a:spcPts val="700"/>
              </a:spcAft>
            </a:pPr>
            <a:r>
              <a:rPr sz="1500" b="1">
                <a:solidFill>
                  <a:srgbClr val="C9A227"/>
                </a:solidFill>
                <a:latin typeface="Calibri"/>
              </a:rPr>
              <a:t>●  </a:t>
            </a:r>
            <a:r>
              <a:rPr sz="1500" b="0">
                <a:solidFill>
                  <a:srgbClr val="1F2937"/>
                </a:solidFill>
                <a:latin typeface="Calibri"/>
              </a:rPr>
              <a:t>Bosh miya: Qaytmas o‘zgarishlar</a:t>
            </a:r>
          </a:p>
          <a:p>
            <a:pPr algn="l">
              <a:spcAft>
                <a:spcPts val="700"/>
              </a:spcAft>
            </a:pPr>
            <a:r>
              <a:rPr sz="1500" b="1">
                <a:solidFill>
                  <a:srgbClr val="C9A227"/>
                </a:solidFill>
                <a:latin typeface="Calibri"/>
              </a:rPr>
              <a:t>●  </a:t>
            </a:r>
            <a:r>
              <a:rPr sz="1500" b="0">
                <a:solidFill>
                  <a:srgbClr val="1F2937"/>
                </a:solidFill>
                <a:latin typeface="Calibri"/>
              </a:rPr>
              <a:t>Qaytarish imkoni: Yo‘q</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Klinik ≠ biologik o‘lim</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106, 105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terminal davr nima? (Javob: o‘lish jarayoni; soniyalardan kunlar, haftalar va oylargacha davom etishi mumkin.)</a:t>
            </a:r>
          </a:p>
          <a:p>
            <a:pPr>
              <a:spcAft>
                <a:spcPts val="1200"/>
              </a:spcAft>
            </a:pPr>
            <a:r>
              <a:rPr sz="2200">
                <a:solidFill>
                  <a:srgbClr val="1F2937"/>
                </a:solidFill>
                <a:latin typeface="Calibri"/>
              </a:rPr>
              <a:t>▸  Savol: klinik o‘limda miyaning oliy qismlari qancha vaqt ishlaydi? (Javob: taxminan 5-6 daqiqa.)</a:t>
            </a:r>
          </a:p>
          <a:p>
            <a:pPr>
              <a:spcAft>
                <a:spcPts val="1200"/>
              </a:spcAft>
            </a:pPr>
            <a:r>
              <a:rPr sz="2200">
                <a:solidFill>
                  <a:srgbClr val="1F2937"/>
                </a:solidFill>
                <a:latin typeface="Calibri"/>
              </a:rPr>
              <a:t>▸  Savol: nega klinik o‘limni o‘lim deb bo‘lmaydi? (Javob: hayotga qaytarish imkoni saqlanadi.)</a:t>
            </a:r>
          </a:p>
          <a:p>
            <a:pPr>
              <a:spcAft>
                <a:spcPts val="1200"/>
              </a:spcAft>
            </a:pPr>
            <a:r>
              <a:rPr sz="2200">
                <a:solidFill>
                  <a:srgbClr val="1F2937"/>
                </a:solidFill>
                <a:latin typeface="Calibri"/>
              </a:rPr>
              <a:t>▸  Savol: biologik o‘limning mohiyati nima? (Javob: hujayra va to‘qimalarda fiziologik jarayonlarning qaytmas to‘xtashi.)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 106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klinik o‘lim holatida yordam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bemorning yurak urishi va nafasi to‘xtagan. Bosh miyaning oliy qismlari esa hali qisqa muddat (5-6 daqiqa) ishlashda davom etadi.</a:t>
            </a:r>
          </a:p>
          <a:p>
            <a:pPr>
              <a:spcAft>
                <a:spcPts val="1200"/>
              </a:spcAft>
            </a:pPr>
            <a:r>
              <a:rPr sz="2200">
                <a:solidFill>
                  <a:srgbClr val="1F2937"/>
                </a:solidFill>
                <a:latin typeface="Calibri"/>
              </a:rPr>
              <a:t>▸  Savol: shifokor yordam ko‘rsatishi shartmi? Ha. Etik yondashuv klinik o‘limda shoshilinch tibbiy yordamni talab etadi.</a:t>
            </a:r>
          </a:p>
          <a:p>
            <a:pPr>
              <a:spcAft>
                <a:spcPts val="1200"/>
              </a:spcAft>
            </a:pPr>
            <a:r>
              <a:rPr sz="2200">
                <a:solidFill>
                  <a:srgbClr val="1F2937"/>
                </a:solidFill>
                <a:latin typeface="Calibri"/>
              </a:rPr>
              <a:t>▸  Bu holatni o‘lim deb bo‘lmaydi, chunki organizmni hayotga qaytarish imkoniyati saqlanadi. Gipotermiyada bu davr uzoqroq bo‘lishi mumkin.</a:t>
            </a:r>
          </a:p>
          <a:p>
            <a:pPr>
              <a:spcAft>
                <a:spcPts val="1200"/>
              </a:spcAft>
            </a:pPr>
            <a:r>
              <a:rPr sz="2200">
                <a:solidFill>
                  <a:srgbClr val="1F2937"/>
                </a:solidFill>
                <a:latin typeface="Calibri"/>
              </a:rPr>
              <a:t>▸  Diqqat: klinik o‘lim ≠ biologik o‘lim. Yurak va nafas tiklanmasa, qaytmas o‘zgarishlar boshlanadi va biologik o‘lim yuz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 106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muammosi: to‘qimalar sezgirligi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To‘qimalarning filogenetik yoshi turlicha; yosh to‘qimalar ta’sirga sezgirroq.</a:t>
            </a:r>
          </a:p>
          <a:p>
            <a:pPr>
              <a:spcAft>
                <a:spcPts val="800"/>
              </a:spcAft>
            </a:pPr>
            <a:r>
              <a:rPr sz="1800">
                <a:solidFill>
                  <a:srgbClr val="1F2937"/>
                </a:solidFill>
                <a:latin typeface="Calibri"/>
              </a:rPr>
              <a:t>▸  Eng sezgir tuzilma — katta yarimsharlar po‘stlog‘i, eng kam sezgiri — periferik nerv.</a:t>
            </a:r>
          </a:p>
          <a:p>
            <a:pPr>
              <a:spcAft>
                <a:spcPts val="800"/>
              </a:spcAft>
            </a:pPr>
            <a:r>
              <a:rPr sz="1800">
                <a:solidFill>
                  <a:srgbClr val="1F2937"/>
                </a:solidFill>
                <a:latin typeface="Calibri"/>
              </a:rPr>
              <a:t>▸  Nerv to‘qimasi mushak va suyak to‘qimalariga nisbatan sezgirroq.</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Katta yarimsharlar po‘stlog‘i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Po‘stloq osti tuzilmalari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Bosh miya o‘zagi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Orqa miya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Periferik nerv</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Sezgirlik tartibi (kamayib boradi)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To‘qimalar bir vaqtda o‘lmaydi: supravital reaksiyalar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Qaytmas o‘zgarishlar avvalo po‘stloqda kuzatiladi va markaziy nerv tizimining integratsion faoliyati buziladi.</a:t>
            </a:r>
          </a:p>
          <a:p>
            <a:pPr>
              <a:spcAft>
                <a:spcPts val="1200"/>
              </a:spcAft>
            </a:pPr>
            <a:r>
              <a:rPr sz="2200">
                <a:solidFill>
                  <a:srgbClr val="1F2937"/>
                </a:solidFill>
                <a:latin typeface="Calibri"/>
              </a:rPr>
              <a:t>▸  Po‘stloqda qaytmas o‘zgarish, ya’ni “miya o‘limi” yuz berganda ham, boshqa a’zolar hali o‘lmagan bo‘ladi.</a:t>
            </a:r>
          </a:p>
          <a:p>
            <a:pPr>
              <a:spcAft>
                <a:spcPts val="1200"/>
              </a:spcAft>
            </a:pPr>
            <a:r>
              <a:rPr sz="2200">
                <a:solidFill>
                  <a:srgbClr val="1F2937"/>
                </a:solidFill>
                <a:latin typeface="Calibri"/>
              </a:rPr>
              <a:t>▸  Shu sababli murdada dastlabki soatlarda ayrim to‘qimalar mexanik, elektr, kimyoviy ta’sirga javob beradi. Bu supravital reaksiyalardir.</a:t>
            </a:r>
          </a:p>
          <a:p>
            <a:pPr>
              <a:spcAft>
                <a:spcPts val="1200"/>
              </a:spcAft>
            </a:pPr>
            <a:r>
              <a:rPr sz="2200">
                <a:solidFill>
                  <a:srgbClr val="1F2937"/>
                </a:solidFill>
                <a:latin typeface="Calibri"/>
              </a:rPr>
              <a:t>▸  Miya o‘limidan keyin yurak va buyraklar ko‘pi bilan 15-20 daqiqa, shox parda 6-8 soat tirik qoladi. Transplantatsiya shunga asoslanadi.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106, 107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Shaxs maqomi va bosh miya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Insonning shaxs maqomi bosh miya, asosan katta yarimsharlar po‘stlog‘i faoliyati bilan bevosita bog‘liq.</a:t>
            </a:r>
          </a:p>
          <a:p>
            <a:pPr>
              <a:spcAft>
                <a:spcPts val="1200"/>
              </a:spcAft>
            </a:pPr>
            <a:r>
              <a:rPr sz="2200">
                <a:solidFill>
                  <a:srgbClr val="1F2937"/>
                </a:solidFill>
                <a:latin typeface="Calibri"/>
              </a:rPr>
              <a:t>▸  Bosh miya o‘lganda inson o‘zining shaxsligini va individualligini yo‘qotadi.</a:t>
            </a:r>
          </a:p>
          <a:p>
            <a:pPr>
              <a:spcAft>
                <a:spcPts val="1200"/>
              </a:spcAft>
            </a:pPr>
            <a:r>
              <a:rPr sz="2200">
                <a:solidFill>
                  <a:srgbClr val="1F2937"/>
                </a:solidFill>
                <a:latin typeface="Calibri"/>
              </a:rPr>
              <a:t>▸  XX asrning 60-70-yillarida reanimatologiya yutuqlari tufayli eski mezon (qon aylanishi, nafas) yetarli bo‘lmay qoldi; miya o‘limi mezoni paydo bo‘ldi.</a:t>
            </a:r>
          </a:p>
          <a:p>
            <a:pPr>
              <a:spcAft>
                <a:spcPts val="1200"/>
              </a:spcAft>
            </a:pPr>
            <a:r>
              <a:rPr sz="2200">
                <a:solidFill>
                  <a:srgbClr val="1F2937"/>
                </a:solidFill>
                <a:latin typeface="Calibri"/>
              </a:rPr>
              <a:t>▸  Diqqat: xato qilish xavfi. Yurak urishi ≠ shaxsning tirikligi: miya o‘limi konsepsiyasida yurak ishlab tursa ham inson o‘lgan hisoblanadi.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107, 106-107, 108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Individ o‘limi va hujayra 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W. Durwald (1981) miya o‘limini ‘individual o‘lim’ deb atagan.</a:t>
            </a:r>
          </a:p>
          <a:p>
            <a:pPr>
              <a:spcAft>
                <a:spcPts val="800"/>
              </a:spcAft>
            </a:pPr>
            <a:r>
              <a:rPr sz="1800">
                <a:solidFill>
                  <a:srgbClr val="1F2937"/>
                </a:solidFill>
                <a:latin typeface="Calibri"/>
              </a:rPr>
              <a:t>▸  Qolgan to‘qima va a’zolarning o‘limini u ‘hujayra o‘limi’ deb nomlagan.</a:t>
            </a:r>
          </a:p>
          <a:p>
            <a:pPr>
              <a:spcAft>
                <a:spcPts val="800"/>
              </a:spcAft>
            </a:pPr>
            <a:r>
              <a:rPr sz="1800">
                <a:solidFill>
                  <a:srgbClr val="1F2937"/>
                </a:solidFill>
                <a:latin typeface="Calibri"/>
              </a:rPr>
              <a:t>▸  Hozir po‘stloq o‘limi ‘individ o‘limi’, ‘shaxs o‘limi’ atamalari bilan ham ataladi.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O‘lim atamalari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Individual o‘lim</a:t>
            </a:r>
          </a:p>
          <a:p>
            <a:pPr algn="l">
              <a:spcAft>
                <a:spcPts val="0"/>
              </a:spcAft>
            </a:pPr>
            <a:r>
              <a:rPr sz="1200" b="0">
                <a:solidFill>
                  <a:srgbClr val="1F2937"/>
                </a:solidFill>
                <a:latin typeface="Calibri"/>
              </a:rPr>
              <a:t>Miya o‘limi (Durwald)</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Hujayra o‘limi</a:t>
            </a:r>
          </a:p>
          <a:p>
            <a:pPr algn="l">
              <a:spcAft>
                <a:spcPts val="0"/>
              </a:spcAft>
            </a:pPr>
            <a:r>
              <a:rPr sz="1200" b="0">
                <a:solidFill>
                  <a:srgbClr val="1F2937"/>
                </a:solidFill>
                <a:latin typeface="Calibri"/>
              </a:rPr>
              <a:t>Qolgan to‘qima va a’zolar o‘limi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Shaxs o‘limi</a:t>
            </a:r>
          </a:p>
          <a:p>
            <a:pPr algn="l">
              <a:spcAft>
                <a:spcPts val="0"/>
              </a:spcAft>
            </a:pPr>
            <a:r>
              <a:rPr sz="1200" b="0">
                <a:solidFill>
                  <a:srgbClr val="1F2937"/>
                </a:solidFill>
                <a:latin typeface="Calibri"/>
              </a:rPr>
              <a:t>Katta yarimsharlar po‘stlog‘i o‘limi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Individ o‘limi</a:t>
            </a:r>
          </a:p>
          <a:p>
            <a:pPr algn="l">
              <a:spcAft>
                <a:spcPts val="0"/>
              </a:spcAft>
            </a:pPr>
            <a:r>
              <a:rPr sz="1200" b="0">
                <a:solidFill>
                  <a:srgbClr val="1F2937"/>
                </a:solidFill>
                <a:latin typeface="Calibri"/>
              </a:rPr>
              <a:t>Shu po‘stloq o‘limining boshqa nomi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Atamalar va ularning ma’nosi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o‘limidan keyin a’zolarning tirik qolish muddati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Miya o‘limidan keyin ayrim a’zolar nisbatan qisqa vaqt hayotiy belgilarni saqlaydi, so‘ng o‘ladi.</a:t>
            </a:r>
          </a:p>
          <a:p>
            <a:pPr>
              <a:spcAft>
                <a:spcPts val="800"/>
              </a:spcAft>
            </a:pPr>
            <a:r>
              <a:rPr sz="1800">
                <a:solidFill>
                  <a:srgbClr val="1F2937"/>
                </a:solidFill>
                <a:latin typeface="Calibri"/>
              </a:rPr>
              <a:t>▸  Ba’zi a’zo va to‘qimalarda bu davr bir necha soatga yetishi mumkin.</a:t>
            </a:r>
          </a:p>
          <a:p>
            <a:pPr>
              <a:spcAft>
                <a:spcPts val="800"/>
              </a:spcAft>
            </a:pPr>
            <a:r>
              <a:rPr sz="1800">
                <a:solidFill>
                  <a:srgbClr val="1F2937"/>
                </a:solidFill>
                <a:latin typeface="Calibri"/>
              </a:rPr>
              <a:t>▸  Murdadan transplantatsiya uchun a’zo va to‘qima olish aynan shu xususiyatga asoslangan.</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Yurak</a:t>
            </a:r>
          </a:p>
          <a:p>
            <a:pPr algn="l">
              <a:spcAft>
                <a:spcPts val="100"/>
              </a:spcAft>
            </a:pPr>
            <a:r>
              <a:rPr sz="3000" b="1">
                <a:solidFill>
                  <a:srgbClr val="0B1F3A"/>
                </a:solidFill>
                <a:latin typeface="Calibri"/>
              </a:rPr>
              <a:t>≤15–20 daq</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Buyraklar</a:t>
            </a:r>
          </a:p>
          <a:p>
            <a:pPr algn="l">
              <a:spcAft>
                <a:spcPts val="100"/>
              </a:spcAft>
            </a:pPr>
            <a:r>
              <a:rPr sz="3000" b="1">
                <a:solidFill>
                  <a:srgbClr val="0B1F3A"/>
                </a:solidFill>
                <a:latin typeface="Calibri"/>
              </a:rPr>
              <a:t>≤15–20 daq</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Ko‘z shox pardasi</a:t>
            </a:r>
          </a:p>
          <a:p>
            <a:pPr algn="l">
              <a:spcAft>
                <a:spcPts val="100"/>
              </a:spcAft>
            </a:pPr>
            <a:r>
              <a:rPr sz="3000" b="1">
                <a:solidFill>
                  <a:srgbClr val="0B1F3A"/>
                </a:solidFill>
                <a:latin typeface="Calibri"/>
              </a:rPr>
              <a:t>6–8 soat</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Boshqa to‘qimalar</a:t>
            </a:r>
          </a:p>
          <a:p>
            <a:pPr algn="l">
              <a:spcAft>
                <a:spcPts val="100"/>
              </a:spcAft>
            </a:pPr>
            <a:r>
              <a:rPr sz="2700" b="1">
                <a:solidFill>
                  <a:srgbClr val="0B1F3A"/>
                </a:solidFill>
                <a:latin typeface="Calibri"/>
              </a:rPr>
              <a:t>bir necha soat</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Miya o‘limidan keyin tirik qolish muddati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Yudin: “noaniqlik, mavhumlik zonasi”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Yudinning fikricha, koma holatidagi bemorlar “aniq tirik” va “aniq o‘lgan” tushunchalari orasidagi “noaniqlik, mavhumlik zonasi”da turadi.</a:t>
            </a:r>
          </a:p>
          <a:p>
            <a:pPr>
              <a:spcAft>
                <a:spcPts val="1200"/>
              </a:spcAft>
            </a:pPr>
            <a:r>
              <a:rPr sz="2200">
                <a:solidFill>
                  <a:srgbClr val="1F2937"/>
                </a:solidFill>
                <a:latin typeface="Calibri"/>
              </a:rPr>
              <a:t>▸  Vrachlar bu holatni shunday ifodalaydi: inson hali tirik, lekin ongsiz; ochlik, infeksiya kabi omillardan jismoniy o‘limini kutish lozim.</a:t>
            </a:r>
          </a:p>
          <a:p>
            <a:pPr>
              <a:spcAft>
                <a:spcPts val="1200"/>
              </a:spcAft>
            </a:pPr>
            <a:r>
              <a:rPr sz="2200">
                <a:solidFill>
                  <a:srgbClr val="1F2937"/>
                </a:solidFill>
                <a:latin typeface="Calibri"/>
              </a:rPr>
              <a:t>▸  Yuragi urib, nafas olib turgan odamning o‘limini miya o‘limi asosida qayd etishni fuqarolar qabul qilishi ancha murakkab.</a:t>
            </a:r>
          </a:p>
          <a:p>
            <a:pPr>
              <a:spcAft>
                <a:spcPts val="1200"/>
              </a:spcAft>
            </a:pPr>
            <a:r>
              <a:rPr sz="2200">
                <a:solidFill>
                  <a:srgbClr val="1F2937"/>
                </a:solidFill>
                <a:latin typeface="Calibri"/>
              </a:rPr>
              <a:t>▸  Bu holat turli tushunmovchiliklarni va axloqiy-etik muammolarni keltirib chiqaradi.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haqida uch qarash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Tibbiyotda klinik va biologik o‘lim farqlanadi; biologik o‘limning asosiy belgisi — miya o‘limi.</a:t>
            </a:r>
          </a:p>
          <a:p>
            <a:pPr>
              <a:spcAft>
                <a:spcPts val="800"/>
              </a:spcAft>
            </a:pPr>
            <a:r>
              <a:rPr sz="1600">
                <a:solidFill>
                  <a:srgbClr val="1F2937"/>
                </a:solidFill>
                <a:latin typeface="Calibri"/>
              </a:rPr>
              <a:t>▸  Diniy tushunchada jismoniy tana halokatga mahkum, ruh o‘lmas; o‘lim hayotning tugashi emas, boshqa shaklda davomi.</a:t>
            </a:r>
          </a:p>
          <a:p>
            <a:pPr>
              <a:spcAft>
                <a:spcPts val="800"/>
              </a:spcAft>
            </a:pPr>
            <a:r>
              <a:rPr sz="1600">
                <a:solidFill>
                  <a:srgbClr val="1F2937"/>
                </a:solidFill>
                <a:latin typeface="Calibri"/>
              </a:rPr>
              <a:t>▸  Uchinchi pozitsiya miya faoliyatini psixofiziologik tekshirish va transpersonal psixologiyaga tayanadi; klinik o‘lim tajribalari tahlil qilinadi.</a:t>
            </a:r>
          </a:p>
          <a:p>
            <a:pPr>
              <a:spcAft>
                <a:spcPts val="800"/>
              </a:spcAft>
            </a:pPr>
            <a:r>
              <a:rPr sz="1600">
                <a:solidFill>
                  <a:srgbClr val="1F2937"/>
                </a:solidFill>
                <a:latin typeface="Calibri"/>
              </a:rPr>
              <a:t>▸  Bioetikaning vazifasi o‘lim hodisasini jamiyatning ijtimoiy-madaniy munosabatlariga kirgan biosotsial tizim sifatida o‘rganishdir.</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Tibbiy qarash</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Klinik va biologik o‘lim farqlanadi</a:t>
            </a:r>
          </a:p>
          <a:p>
            <a:pPr algn="l">
              <a:spcAft>
                <a:spcPts val="700"/>
              </a:spcAft>
            </a:pPr>
            <a:r>
              <a:rPr sz="1500" b="1">
                <a:solidFill>
                  <a:srgbClr val="C9A227"/>
                </a:solidFill>
                <a:latin typeface="Calibri"/>
              </a:rPr>
              <a:t>●  </a:t>
            </a:r>
            <a:r>
              <a:rPr sz="1500" b="0">
                <a:solidFill>
                  <a:srgbClr val="1F2937"/>
                </a:solidFill>
                <a:latin typeface="Calibri"/>
              </a:rPr>
              <a:t>Biologik o‘lim belgisi — miya o‘limi</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Diniy qarash</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Tana o‘ladi, ruh o‘lmas</a:t>
            </a:r>
          </a:p>
          <a:p>
            <a:pPr algn="l">
              <a:spcAft>
                <a:spcPts val="700"/>
              </a:spcAft>
            </a:pPr>
            <a:r>
              <a:rPr sz="1500" b="1">
                <a:solidFill>
                  <a:srgbClr val="C9A227"/>
                </a:solidFill>
                <a:latin typeface="Calibri"/>
              </a:rPr>
              <a:t>●  </a:t>
            </a:r>
            <a:r>
              <a:rPr sz="1500" b="0">
                <a:solidFill>
                  <a:srgbClr val="1F2937"/>
                </a:solidFill>
                <a:latin typeface="Calibri"/>
              </a:rPr>
              <a:t>O‘lim — hayotning boshqa shakli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400" b="1">
                <a:solidFill>
                  <a:srgbClr val="FFFFFF"/>
                </a:solidFill>
                <a:latin typeface="Calibri"/>
              </a:rPr>
              <a:t>Psixofiziologik qarash</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Miya faoliyati tadqiqoti</a:t>
            </a:r>
          </a:p>
          <a:p>
            <a:pPr algn="l">
              <a:spcAft>
                <a:spcPts val="700"/>
              </a:spcAft>
            </a:pPr>
            <a:r>
              <a:rPr sz="1500" b="1">
                <a:solidFill>
                  <a:srgbClr val="C9A227"/>
                </a:solidFill>
                <a:latin typeface="Calibri"/>
              </a:rPr>
              <a:t>●  </a:t>
            </a:r>
            <a:r>
              <a:rPr sz="1500" b="0">
                <a:solidFill>
                  <a:srgbClr val="1F2937"/>
                </a:solidFill>
                <a:latin typeface="Calibri"/>
              </a:rPr>
              <a:t>Klinik o‘lim tajribalari</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yondashuv</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96, 96-97, 97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Supravital reaksiyalar nima? Javob: o‘limning dastlabki soatlarida murdada ayrim to‘qimalarning mexanik, elektr, kimyoviy ta’sirga javob berishi.</a:t>
            </a:r>
          </a:p>
          <a:p>
            <a:pPr>
              <a:spcAft>
                <a:spcPts val="1200"/>
              </a:spcAft>
            </a:pPr>
            <a:r>
              <a:rPr sz="2200">
                <a:solidFill>
                  <a:srgbClr val="1F2937"/>
                </a:solidFill>
                <a:latin typeface="Calibri"/>
              </a:rPr>
              <a:t>▸  2-savol: Ular nega kuzatiladi? Javob: miya po‘stlog‘i qaytmas o‘lgandan keyin ham ayrim to‘qimalar bir muddat hayotiy xususiyatini saqlaydi.</a:t>
            </a:r>
          </a:p>
          <a:p>
            <a:pPr>
              <a:spcAft>
                <a:spcPts val="1200"/>
              </a:spcAft>
            </a:pPr>
            <a:r>
              <a:rPr sz="2200">
                <a:solidFill>
                  <a:srgbClr val="1F2937"/>
                </a:solidFill>
                <a:latin typeface="Calibri"/>
              </a:rPr>
              <a:t>▸  3-savol: Shaxs maqomi nima bilan bog‘liq? Javob: bosh miya, asosan katta yarim sharlar po‘stlog‘i faoliyati bilan bevosita bog‘liq.</a:t>
            </a:r>
          </a:p>
          <a:p>
            <a:pPr>
              <a:spcAft>
                <a:spcPts val="1200"/>
              </a:spcAft>
            </a:pPr>
            <a:r>
              <a:rPr sz="2200">
                <a:solidFill>
                  <a:srgbClr val="1F2937"/>
                </a:solidFill>
                <a:latin typeface="Calibri"/>
              </a:rPr>
              <a:t>▸  4-savol: Hujayra o‘limi nima? Javob: W. Durwald (1981) bo‘yicha miya o‘limi “individual o‘lim”, qolgan to‘qima va a’zolar o‘limi esa “hujayra o‘limi”.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106, 106-107, 107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yuragi urayotgan, ongsiz bemor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sun’iy ventilyatsiya fonida yuragi urib turgan bemorda bosh miya faoliyati to‘liq va qaytmas to‘xtagan. Yaqinlari uni tirik deb biladi.</a:t>
            </a:r>
          </a:p>
          <a:p>
            <a:pPr>
              <a:spcAft>
                <a:spcPts val="1200"/>
              </a:spcAft>
            </a:pPr>
            <a:r>
              <a:rPr sz="2200">
                <a:solidFill>
                  <a:srgbClr val="1F2937"/>
                </a:solidFill>
                <a:latin typeface="Calibri"/>
              </a:rPr>
              <a:t>▸  Savol: nega yaqinlar o‘limni qabul qilishi qiyin? Miya o‘limi konsepsiyasi o‘lim haqidagi an’anaviy tasavvurlarga mos kelmaydi, hatto qarama-qarshi.</a:t>
            </a:r>
          </a:p>
          <a:p>
            <a:pPr>
              <a:spcAft>
                <a:spcPts val="1200"/>
              </a:spcAft>
            </a:pPr>
            <a:r>
              <a:rPr sz="2200">
                <a:solidFill>
                  <a:srgbClr val="1F2937"/>
                </a:solidFill>
                <a:latin typeface="Calibri"/>
              </a:rPr>
              <a:t>▸  Tahlil: o‘lim faktini tajribali mutaxassislar konsiliumi zamonaviy klinik va paraklinik usullar bilan qayd etishi lozim.</a:t>
            </a:r>
          </a:p>
          <a:p>
            <a:pPr>
              <a:spcAft>
                <a:spcPts val="1200"/>
              </a:spcAft>
            </a:pPr>
            <a:r>
              <a:rPr sz="2200">
                <a:solidFill>
                  <a:srgbClr val="1F2937"/>
                </a:solidFill>
                <a:latin typeface="Calibri"/>
              </a:rPr>
              <a:t>▸  Diqqat: yurak urishi ≠ tirik shaxs. Miya o‘limida yurak faoliyati saqlangan bo‘lsa ham, odam o‘lgan hisoblanadi.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110, 108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Rim Papasi Piy XII javobi (1957)</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Hayotni sun’iy ushlab turish texnologiyasi rivoji o‘lim faktini aniqlashda muammolar tug‘dirdi.</a:t>
            </a:r>
          </a:p>
          <a:p>
            <a:pPr>
              <a:spcAft>
                <a:spcPts val="800"/>
              </a:spcAft>
            </a:pPr>
            <a:r>
              <a:rPr sz="1800">
                <a:solidFill>
                  <a:srgbClr val="1F2937"/>
                </a:solidFill>
                <a:latin typeface="Calibri"/>
              </a:rPr>
              <a:t>▸  Anesteziolog va reanimatologlar xalqaro kongressi 1957-yilda mezonlarni aniqlashtirish iltimosi bilan Rim Papasi Piy XII ga murojaat qildi.</a:t>
            </a:r>
          </a:p>
          <a:p>
            <a:pPr>
              <a:spcAft>
                <a:spcPts val="800"/>
              </a:spcAft>
            </a:pPr>
            <a:r>
              <a:rPr sz="1800">
                <a:solidFill>
                  <a:srgbClr val="1F2937"/>
                </a:solidFill>
                <a:latin typeface="Calibri"/>
              </a:rPr>
              <a:t>▸  Papa: o‘lim faktini aniqlash cherkovning emas, shifokorlarning ishi. Cherkov buni ma’qulladi.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Kongress murojaati, 1957</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Rim Papasi Piy XII javobi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Aniqlash — shifokor ishi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Cherkov ham ma’qulladi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Murojaatdan xulosagacha</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atamasi va ta’rifi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Miya o‘limi atamasini dastlab frantsuz olimlari juda chuqur koma holatini tavsiflash uchun qo‘llagan.</a:t>
            </a:r>
          </a:p>
          <a:p>
            <a:pPr>
              <a:spcAft>
                <a:spcPts val="1200"/>
              </a:spcAft>
            </a:pPr>
            <a:r>
              <a:rPr sz="2200">
                <a:solidFill>
                  <a:srgbClr val="1F2937"/>
                </a:solidFill>
                <a:latin typeface="Calibri"/>
              </a:rPr>
              <a:t>▸  Gurvich (1997) ta’rifi: bosh miyaning o‘lishi; mustaqil nafas to‘xtaydi, reflekslar so‘nadi, hushsizlik qaytmaydi.</a:t>
            </a:r>
          </a:p>
          <a:p>
            <a:pPr>
              <a:spcAft>
                <a:spcPts val="1200"/>
              </a:spcAft>
            </a:pPr>
            <a:r>
              <a:rPr sz="2200">
                <a:solidFill>
                  <a:srgbClr val="1F2937"/>
                </a:solidFill>
                <a:latin typeface="Calibri"/>
              </a:rPr>
              <a:t>▸  Hayot uchun zarur markaziy asab tizimidagi qaytmas o‘zgarishlar, davo yoki sun’iy tizimlar bilan tiklanmasa, inson o‘limi deb qabul qilinadi.</a:t>
            </a:r>
          </a:p>
          <a:p>
            <a:pPr>
              <a:spcAft>
                <a:spcPts val="1200"/>
              </a:spcAft>
            </a:pPr>
            <a:r>
              <a:rPr sz="2200">
                <a:solidFill>
                  <a:srgbClr val="1F2937"/>
                </a:solidFill>
                <a:latin typeface="Calibri"/>
              </a:rPr>
              <a:t>▸  Konsepsiya ilmiy asoslangan: bosh miyadagi qaytmas o‘zgarish insonning shaxs va individ sifatida o‘limiga tenglashtiriladi.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va an’anaviy tasavvur: ziddiyat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Miya o‘limi konsepsiyasi o‘lim haqidagi an’anaviy tasavvurlarga mos kelmaydi, ma’lum ma’noda ularga zid.</a:t>
            </a:r>
          </a:p>
          <a:p>
            <a:pPr>
              <a:spcAft>
                <a:spcPts val="800"/>
              </a:spcAft>
            </a:pPr>
            <a:r>
              <a:rPr sz="1800">
                <a:solidFill>
                  <a:srgbClr val="1F2937"/>
                </a:solidFill>
                <a:latin typeface="Calibri"/>
              </a:rPr>
              <a:t>▸  Yurak va boshqa hayotiy belgilar saqlangan bo‘lsa ham, odam o‘lgan hisoblanadi.</a:t>
            </a:r>
          </a:p>
          <a:p>
            <a:pPr>
              <a:spcAft>
                <a:spcPts val="800"/>
              </a:spcAft>
            </a:pPr>
            <a:r>
              <a:rPr sz="1800">
                <a:solidFill>
                  <a:srgbClr val="1F2937"/>
                </a:solidFill>
                <a:latin typeface="Calibri"/>
              </a:rPr>
              <a:t>▸  Shu sababli faktni qayd etish murakkab: uni tajribali mutaxassislar konsiliumi o‘tkazishi lozim.</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An’anaviy</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O‘lim mezoni: Yurak va nafasning to‘xtashi</a:t>
            </a:r>
          </a:p>
          <a:p>
            <a:pPr algn="l">
              <a:spcAft>
                <a:spcPts val="700"/>
              </a:spcAft>
            </a:pPr>
            <a:r>
              <a:rPr sz="1500" b="1">
                <a:solidFill>
                  <a:srgbClr val="C9A227"/>
                </a:solidFill>
                <a:latin typeface="Calibri"/>
              </a:rPr>
              <a:t>●  </a:t>
            </a:r>
            <a:r>
              <a:rPr sz="1500" b="0">
                <a:solidFill>
                  <a:srgbClr val="1F2937"/>
                </a:solidFill>
                <a:latin typeface="Calibri"/>
              </a:rPr>
              <a:t>Yurak faoliyati: To‘xtagan bo‘ladi</a:t>
            </a:r>
          </a:p>
          <a:p>
            <a:pPr algn="l">
              <a:spcAft>
                <a:spcPts val="700"/>
              </a:spcAft>
            </a:pPr>
            <a:r>
              <a:rPr sz="1500" b="1">
                <a:solidFill>
                  <a:srgbClr val="C9A227"/>
                </a:solidFill>
                <a:latin typeface="Calibri"/>
              </a:rPr>
              <a:t>●  </a:t>
            </a:r>
            <a:r>
              <a:rPr sz="1500" b="0">
                <a:solidFill>
                  <a:srgbClr val="1F2937"/>
                </a:solidFill>
                <a:latin typeface="Calibri"/>
              </a:rPr>
              <a:t>Yurak urib tursa: Odam tirik hisoblanadi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Miya o‘limi</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O‘lim mezoni: Bosh miya funksiyasining qaytmas to‘xtashi</a:t>
            </a:r>
          </a:p>
          <a:p>
            <a:pPr algn="l">
              <a:spcAft>
                <a:spcPts val="700"/>
              </a:spcAft>
            </a:pPr>
            <a:r>
              <a:rPr sz="1500" b="1">
                <a:solidFill>
                  <a:srgbClr val="C9A227"/>
                </a:solidFill>
                <a:latin typeface="Calibri"/>
              </a:rPr>
              <a:t>●  </a:t>
            </a:r>
            <a:r>
              <a:rPr sz="1500" b="0">
                <a:solidFill>
                  <a:srgbClr val="1F2937"/>
                </a:solidFill>
                <a:latin typeface="Calibri"/>
              </a:rPr>
              <a:t>Yurak faoliyati: Saqlangan bo‘lishi mumkin</a:t>
            </a:r>
          </a:p>
          <a:p>
            <a:pPr algn="l">
              <a:spcAft>
                <a:spcPts val="700"/>
              </a:spcAft>
            </a:pPr>
            <a:r>
              <a:rPr sz="1500" b="1">
                <a:solidFill>
                  <a:srgbClr val="C9A227"/>
                </a:solidFill>
                <a:latin typeface="Calibri"/>
              </a:rPr>
              <a:t>●  </a:t>
            </a:r>
            <a:r>
              <a:rPr sz="1500" b="0">
                <a:solidFill>
                  <a:srgbClr val="1F2937"/>
                </a:solidFill>
                <a:latin typeface="Calibri"/>
              </a:rPr>
              <a:t>Yurak urib tursa: Odam o‘lgan hisoblanadi</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An’anaviy va miya o‘limi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Garvard mezonlari (1968)</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Garvard mezonlarini 1968 yilda AQShda mutaxassislar guruhi ishlab chiqdi.</a:t>
            </a:r>
          </a:p>
          <a:p>
            <a:pPr>
              <a:spcAft>
                <a:spcPts val="800"/>
              </a:spcAft>
            </a:pPr>
            <a:r>
              <a:rPr sz="1800">
                <a:solidFill>
                  <a:srgbClr val="1F2937"/>
                </a:solidFill>
                <a:latin typeface="Calibri"/>
              </a:rPr>
              <a:t>▸  Mezonlar miya o‘limiga asoslanib, inson o‘limini aniqlash uchun tuzilgan.</a:t>
            </a:r>
          </a:p>
          <a:p>
            <a:pPr>
              <a:spcAft>
                <a:spcPts val="800"/>
              </a:spcAft>
            </a:pPr>
            <a:r>
              <a:rPr sz="1800">
                <a:solidFill>
                  <a:srgbClr val="1F2937"/>
                </a:solidFill>
                <a:latin typeface="Calibri"/>
              </a:rPr>
              <a:t>▸  Asosiy maqsad — befoyda reanimatsion tadbirlar va resurs sarfini bartaraf etish.</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033226"/>
                <a:gridCol w="1927859"/>
                <a:gridCol w="2326889"/>
              </a:tblGrid>
              <a:tr h="768096">
                <a:tc>
                  <a:txBody>
                    <a:bodyPr/>
                    <a:lstStyle/>
                    <a:p>
                      <a:r>
                        <a:rPr sz="1600" b="1">
                          <a:solidFill>
                            <a:srgbClr val="FFFFFF"/>
                          </a:solidFill>
                        </a:rPr>
                        <a:t>Yil</a:t>
                      </a:r>
                    </a:p>
                  </a:txBody>
                  <a:tcPr marL="73152" marR="73152" marT="36576" marB="36576">
                    <a:solidFill>
                      <a:srgbClr val="0B1F3A"/>
                    </a:solidFill>
                  </a:tcPr>
                </a:tc>
                <a:tc>
                  <a:txBody>
                    <a:bodyPr/>
                    <a:lstStyle/>
                    <a:p>
                      <a:r>
                        <a:rPr sz="1600" b="1">
                          <a:solidFill>
                            <a:srgbClr val="FFFFFF"/>
                          </a:solidFill>
                        </a:rPr>
                        <a:t>Hujjat</a:t>
                      </a:r>
                    </a:p>
                  </a:txBody>
                  <a:tcPr marL="73152" marR="73152" marT="36576" marB="36576">
                    <a:solidFill>
                      <a:srgbClr val="0B1F3A"/>
                    </a:solidFill>
                  </a:tcPr>
                </a:tc>
                <a:tc>
                  <a:txBody>
                    <a:bodyPr/>
                    <a:lstStyle/>
                    <a:p>
                      <a:r>
                        <a:rPr sz="1600" b="1">
                          <a:solidFill>
                            <a:srgbClr val="FFFFFF"/>
                          </a:solidFill>
                        </a:rPr>
                        <a:t>Maqsad</a:t>
                      </a:r>
                    </a:p>
                  </a:txBody>
                  <a:tcPr marL="73152" marR="73152" marT="36576" marB="36576">
                    <a:solidFill>
                      <a:srgbClr val="0B1F3A"/>
                    </a:solidFill>
                  </a:tcPr>
                </a:tc>
              </a:tr>
              <a:tr h="768096">
                <a:tc>
                  <a:txBody>
                    <a:bodyPr/>
                    <a:lstStyle/>
                    <a:p>
                      <a:r>
                        <a:rPr sz="1500" b="0">
                          <a:solidFill>
                            <a:srgbClr val="1F2937"/>
                          </a:solidFill>
                        </a:rPr>
                        <a:t>1968</a:t>
                      </a:r>
                    </a:p>
                  </a:txBody>
                  <a:tcPr marL="73152" marR="73152" marT="36576" marB="36576">
                    <a:solidFill>
                      <a:srgbClr val="E8EEF6"/>
                    </a:solidFill>
                  </a:tcPr>
                </a:tc>
                <a:tc>
                  <a:txBody>
                    <a:bodyPr/>
                    <a:lstStyle/>
                    <a:p>
                      <a:r>
                        <a:rPr sz="1500" b="0">
                          <a:solidFill>
                            <a:srgbClr val="1F2937"/>
                          </a:solidFill>
                        </a:rPr>
                        <a:t>Garvard mezonlari (AQSh)</a:t>
                      </a:r>
                    </a:p>
                  </a:txBody>
                  <a:tcPr marL="73152" marR="73152" marT="36576" marB="36576">
                    <a:solidFill>
                      <a:srgbClr val="E8EEF6"/>
                    </a:solidFill>
                  </a:tcPr>
                </a:tc>
                <a:tc>
                  <a:txBody>
                    <a:bodyPr/>
                    <a:lstStyle/>
                    <a:p>
                      <a:r>
                        <a:rPr sz="1500" b="0">
                          <a:solidFill>
                            <a:srgbClr val="1F2937"/>
                          </a:solidFill>
                        </a:rPr>
                        <a:t>Miya o‘limi asosida o‘limni aniqlash</a:t>
                      </a:r>
                    </a:p>
                  </a:txBody>
                  <a:tcPr marL="73152" marR="73152" marT="36576" marB="36576">
                    <a:solidFill>
                      <a:srgbClr val="E8EEF6"/>
                    </a:solidFill>
                  </a:tcPr>
                </a:tc>
              </a:tr>
              <a:tr h="768096">
                <a:tc>
                  <a:txBody>
                    <a:bodyPr/>
                    <a:lstStyle/>
                    <a:p>
                      <a:r>
                        <a:rPr sz="1500" b="0">
                          <a:solidFill>
                            <a:srgbClr val="1F2937"/>
                          </a:solidFill>
                        </a:rPr>
                        <a:t>1968</a:t>
                      </a:r>
                    </a:p>
                  </a:txBody>
                  <a:tcPr marL="73152" marR="73152" marT="36576" marB="36576">
                    <a:solidFill>
                      <a:srgbClr val="FFFFFF"/>
                    </a:solidFill>
                  </a:tcPr>
                </a:tc>
                <a:tc>
                  <a:txBody>
                    <a:bodyPr/>
                    <a:lstStyle/>
                    <a:p>
                      <a:r>
                        <a:rPr sz="1500" b="0">
                          <a:solidFill>
                            <a:srgbClr val="1F2937"/>
                          </a:solidFill>
                        </a:rPr>
                        <a:t>JTU Sinay deklaratsiyasi</a:t>
                      </a:r>
                    </a:p>
                  </a:txBody>
                  <a:tcPr marL="73152" marR="73152" marT="36576" marB="36576">
                    <a:solidFill>
                      <a:srgbClr val="FFFFFF"/>
                    </a:solidFill>
                  </a:tcPr>
                </a:tc>
                <a:tc>
                  <a:txBody>
                    <a:bodyPr/>
                    <a:lstStyle/>
                    <a:p>
                      <a:r>
                        <a:rPr sz="1500" b="0">
                          <a:solidFill>
                            <a:srgbClr val="1F2937"/>
                          </a:solidFill>
                        </a:rPr>
                        <a:t>Miya o‘limi mezonlarini qabul qilish</a:t>
                      </a:r>
                    </a:p>
                  </a:txBody>
                  <a:tcPr marL="73152" marR="73152" marT="36576" marB="36576">
                    <a:solidFill>
                      <a:srgbClr val="FFFFFF"/>
                    </a:solidFill>
                  </a:tcPr>
                </a:tc>
              </a:tr>
              <a:tr h="768096">
                <a:tc>
                  <a:txBody>
                    <a:bodyPr/>
                    <a:lstStyle/>
                    <a:p>
                      <a:r>
                        <a:rPr sz="1500" b="0">
                          <a:solidFill>
                            <a:srgbClr val="1F2937"/>
                          </a:solidFill>
                        </a:rPr>
                        <a:t>1983</a:t>
                      </a:r>
                    </a:p>
                  </a:txBody>
                  <a:tcPr marL="73152" marR="73152" marT="36576" marB="36576">
                    <a:solidFill>
                      <a:srgbClr val="E8EEF6"/>
                    </a:solidFill>
                  </a:tcPr>
                </a:tc>
                <a:tc>
                  <a:txBody>
                    <a:bodyPr/>
                    <a:lstStyle/>
                    <a:p>
                      <a:r>
                        <a:rPr sz="1500" b="0">
                          <a:solidFill>
                            <a:srgbClr val="1F2937"/>
                          </a:solidFill>
                        </a:rPr>
                        <a:t>Deklaratsiyaga qo‘shimcha</a:t>
                      </a:r>
                    </a:p>
                  </a:txBody>
                  <a:tcPr marL="73152" marR="73152" marT="36576" marB="36576">
                    <a:solidFill>
                      <a:srgbClr val="E8EEF6"/>
                    </a:solidFill>
                  </a:tcPr>
                </a:tc>
                <a:tc>
                  <a:txBody>
                    <a:bodyPr/>
                    <a:lstStyle/>
                    <a:p>
                      <a:r>
                        <a:rPr sz="1500" b="0">
                          <a:solidFill>
                            <a:srgbClr val="1F2937"/>
                          </a:solidFill>
                        </a:rPr>
                        <a:t>Deklaratsiya to‘ldirildi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1968–1983: mezonlar xronologiyasi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JTU Sinay deklaratsiyasi: mazmuni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JTU deklaratsiyasi 1968 yilda qabul qilingan, 1983 yilda to‘ldirilgan. Manbada u «Sidney deklaratsiyasi» deb yuritiladi.</a:t>
            </a:r>
          </a:p>
          <a:p>
            <a:pPr>
              <a:spcAft>
                <a:spcPts val="1200"/>
              </a:spcAft>
            </a:pPr>
            <a:r>
              <a:rPr sz="2200">
                <a:solidFill>
                  <a:srgbClr val="1F2937"/>
                </a:solidFill>
                <a:latin typeface="Calibri"/>
              </a:rPr>
              <a:t>▸  Deklaratsiyada tibbiyotning zamonaviy yo‘nalishlari, jumladan transplantologiya rivoji o‘lim faktini qayd etishga yangicha yondashuvni taqozo etishi aytilgan.</a:t>
            </a:r>
          </a:p>
          <a:p>
            <a:pPr>
              <a:spcAft>
                <a:spcPts val="1200"/>
              </a:spcAft>
            </a:pPr>
            <a:r>
              <a:rPr sz="2200">
                <a:solidFill>
                  <a:srgbClr val="1F2937"/>
                </a:solidFill>
                <a:latin typeface="Calibri"/>
              </a:rPr>
              <a:t>▸  Davolovchi shifokorning vazifasi alohida hujayralar emas, shaxs butunligini saqlab qolishdir.</a:t>
            </a:r>
          </a:p>
          <a:p>
            <a:pPr>
              <a:spcAft>
                <a:spcPts val="1200"/>
              </a:spcAft>
            </a:pPr>
            <a:r>
              <a:rPr sz="2200">
                <a:solidFill>
                  <a:srgbClr val="1F2937"/>
                </a:solidFill>
                <a:latin typeface="Calibri"/>
              </a:rPr>
              <a:t>▸  Shuning uchun alohida hujayralar o‘limi emas, reanimatsiyaga qaramay organizm butunligi qaytmas buzilgan vaqtni aniqlash muhim.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108, 108-109, 109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Sinay deklaratsiyasi: o‘lim vaqti va talablar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O‘lim vaqti — miya integrativ funksiyalari, jumladan o‘zagining qaytmas to‘xtash vaqti.</a:t>
            </a:r>
          </a:p>
          <a:p>
            <a:pPr>
              <a:spcAft>
                <a:spcPts val="800"/>
              </a:spcAft>
            </a:pPr>
            <a:r>
              <a:rPr sz="1800">
                <a:solidFill>
                  <a:srgbClr val="1F2937"/>
                </a:solidFill>
                <a:latin typeface="Calibri"/>
              </a:rPr>
              <a:t>▸  Shu vaqtda reanimatsiyani to‘xtatish va qonun ruxsat bergan hollarda a’zo olish mumkin.</a:t>
            </a:r>
          </a:p>
          <a:p>
            <a:pPr>
              <a:spcAft>
                <a:spcPts val="800"/>
              </a:spcAft>
            </a:pPr>
            <a:r>
              <a:rPr sz="1800">
                <a:solidFill>
                  <a:srgbClr val="1F2937"/>
                </a:solidFill>
                <a:latin typeface="Calibri"/>
              </a:rPr>
              <a:t>▸  A’zo olinadigan holda o‘limni kamida ikki bevosita manfaatdor bo‘lmagan shifokor tasdiqlaydi.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integrativ funksiyasi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Miya o‘zagi ham to‘xtaydi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Bu vaqt — o‘lim vaqti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Reanimatsiyani to‘xtatish mumkin</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A’zo olinsa: kamida 2 shifokor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Deklaratsiya bo‘yicha qadamlar</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Islom bioetikasi va miya o‘limi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Musulmon huquqshunoslari yurak urishining to‘liq to‘xtashini insonni o‘lik deb e’lon qilish uchun yetarli mezon deb hisoblagan.</a:t>
            </a:r>
          </a:p>
          <a:p>
            <a:pPr>
              <a:spcAft>
                <a:spcPts val="800"/>
              </a:spcAft>
            </a:pPr>
            <a:r>
              <a:rPr sz="1600">
                <a:solidFill>
                  <a:srgbClr val="1F2937"/>
                </a:solidFill>
                <a:latin typeface="Calibri"/>
              </a:rPr>
              <a:t>▸  Miya o‘limi tushunchasi musulmon jamiyatida neologizm; muammo miya poyasi nafas yordamida hayotiy funksiyani saqlay olganda paydo bo‘lgan.</a:t>
            </a:r>
          </a:p>
          <a:p>
            <a:pPr>
              <a:spcAft>
                <a:spcPts val="800"/>
              </a:spcAft>
            </a:pPr>
            <a:r>
              <a:rPr sz="1600">
                <a:solidFill>
                  <a:srgbClr val="1F2937"/>
                </a:solidFill>
                <a:latin typeface="Calibri"/>
              </a:rPr>
              <a:t>▸  IOMS 1985 va 1996-yillardagi simpoziumlarda miya o‘limini o‘lim uchun maqbul mezon deb topgan.</a:t>
            </a:r>
          </a:p>
          <a:p>
            <a:pPr>
              <a:spcAft>
                <a:spcPts val="800"/>
              </a:spcAft>
            </a:pPr>
            <a:r>
              <a:rPr sz="1600">
                <a:solidFill>
                  <a:srgbClr val="1F2937"/>
                </a:solidFill>
                <a:latin typeface="Calibri"/>
              </a:rPr>
              <a:t>▸  1995-yilda Eronda zarar etkazmaslik tamoyiliga tayanib miya o‘limi mezonlarini qabul qilish rad etilgan; fiqh akademiyalari fikri turlicha.</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An’anaviy mezon</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Yurak urishining to‘xtashi yetarli</a:t>
            </a:r>
          </a:p>
          <a:p>
            <a:pPr algn="l">
              <a:spcAft>
                <a:spcPts val="700"/>
              </a:spcAft>
            </a:pPr>
            <a:r>
              <a:rPr sz="1500" b="1">
                <a:solidFill>
                  <a:srgbClr val="C9A227"/>
                </a:solidFill>
                <a:latin typeface="Calibri"/>
              </a:rPr>
              <a:t>●  </a:t>
            </a:r>
            <a:r>
              <a:rPr sz="1500" b="0">
                <a:solidFill>
                  <a:srgbClr val="1F2937"/>
                </a:solidFill>
                <a:latin typeface="Calibri"/>
              </a:rPr>
              <a:t>Miya o‘limi — neologizm</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Qabul qilganlar</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IOMS simpoziumlari (1985, 1996)</a:t>
            </a:r>
          </a:p>
          <a:p>
            <a:pPr algn="l">
              <a:spcAft>
                <a:spcPts val="700"/>
              </a:spcAft>
            </a:pPr>
            <a:r>
              <a:rPr sz="1500" b="1">
                <a:solidFill>
                  <a:srgbClr val="C9A227"/>
                </a:solidFill>
                <a:latin typeface="Calibri"/>
              </a:rPr>
              <a:t>●  </a:t>
            </a:r>
            <a:r>
              <a:rPr sz="1500" b="0">
                <a:solidFill>
                  <a:srgbClr val="1F2937"/>
                </a:solidFill>
                <a:latin typeface="Calibri"/>
              </a:rPr>
              <a:t>Fiqh akademiyasi (1986)</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Tan olmaganlar</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Fiqh akademiyasi 10-sessiya (1987)</a:t>
            </a:r>
          </a:p>
          <a:p>
            <a:pPr algn="l">
              <a:spcAft>
                <a:spcPts val="700"/>
              </a:spcAft>
            </a:pPr>
            <a:r>
              <a:rPr sz="1500" b="1">
                <a:solidFill>
                  <a:srgbClr val="C9A227"/>
                </a:solidFill>
                <a:latin typeface="Calibri"/>
              </a:rPr>
              <a:t>●  </a:t>
            </a:r>
            <a:r>
              <a:rPr sz="1500" b="0">
                <a:solidFill>
                  <a:srgbClr val="1F2937"/>
                </a:solidFill>
                <a:latin typeface="Calibri"/>
              </a:rPr>
              <a:t>Eron, 1995-yil</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Islom doirasidagi turli pozitsiyalar</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238, 239, 238-239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O‘lim vaqtini qayd etish mezonlariga talablar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O‘lim vaqtini qayd etish mezonlari axloqiy va huquqiy jihatdan to‘rtta talabga javob berishi lozim.</a:t>
            </a:r>
          </a:p>
          <a:p>
            <a:pPr>
              <a:spcAft>
                <a:spcPts val="800"/>
              </a:spcAft>
            </a:pPr>
            <a:r>
              <a:rPr sz="1800">
                <a:solidFill>
                  <a:srgbClr val="1F2937"/>
                </a:solidFill>
                <a:latin typeface="Calibri"/>
              </a:rPr>
              <a:t>▸  Ilmiy asos: kimni qutqarish mumkinligi va kimni mumkin emasligi ishonchli farqlanishi kerak.</a:t>
            </a:r>
          </a:p>
          <a:p>
            <a:pPr>
              <a:spcAft>
                <a:spcPts val="800"/>
              </a:spcAft>
            </a:pPr>
            <a:r>
              <a:rPr sz="1800">
                <a:solidFill>
                  <a:srgbClr val="1F2937"/>
                </a:solidFill>
                <a:latin typeface="Calibri"/>
              </a:rPr>
              <a:t>▸  Ob‘ektivlik: malakali har qanday mutaxassis mezonni bir xil qo‘llaydi, to‘g‘riligini tekshirish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Mezonga 4 talab</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Ilmiy asos</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Amaliy qulaylik</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Ob’ektivlik</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Jamiyat me’yoriga mosligi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Mezonga qo‘yiladigan talablar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o‘limining klinik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Miya o‘limida quyidagi klinik belgilar bo‘lishi mumkin; ular to‘rt guruhga ajratildi.</a:t>
            </a:r>
          </a:p>
          <a:p>
            <a:pPr>
              <a:spcAft>
                <a:spcPts val="800"/>
              </a:spcAft>
            </a:pPr>
            <a:r>
              <a:rPr sz="1800">
                <a:solidFill>
                  <a:srgbClr val="1F2937"/>
                </a:solidFill>
                <a:latin typeface="Calibri"/>
              </a:rPr>
              <a:t>▸  Hushsizlik to‘liq va turg‘un bo‘ladi, mustaqil nafas olish bo‘lmaydi.</a:t>
            </a:r>
          </a:p>
          <a:p>
            <a:pPr>
              <a:spcAft>
                <a:spcPts val="800"/>
              </a:spcAft>
            </a:pPr>
            <a:r>
              <a:rPr sz="1800">
                <a:solidFill>
                  <a:srgbClr val="1F2937"/>
                </a:solidFill>
                <a:latin typeface="Calibri"/>
              </a:rPr>
              <a:t>▸  Diqqat: tashxis oldidan dori, zaharlanish, gipotermiya kabi sabablar istisno etilishi shart.</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Klinik belgilar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Ong</a:t>
            </a:r>
          </a:p>
          <a:p>
            <a:pPr algn="l">
              <a:spcAft>
                <a:spcPts val="0"/>
              </a:spcAft>
            </a:pPr>
            <a:r>
              <a:rPr sz="1200" b="0">
                <a:solidFill>
                  <a:srgbClr val="1F2937"/>
                </a:solidFill>
                <a:latin typeface="Calibri"/>
              </a:rPr>
              <a:t>To‘liq va turg‘un hushsizlik</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Nafas, mushak</a:t>
            </a:r>
          </a:p>
          <a:p>
            <a:pPr algn="l">
              <a:spcAft>
                <a:spcPts val="0"/>
              </a:spcAft>
            </a:pPr>
            <a:r>
              <a:rPr sz="1200" b="0">
                <a:solidFill>
                  <a:srgbClr val="1F2937"/>
                </a:solidFill>
                <a:latin typeface="Calibri"/>
              </a:rPr>
              <a:t>Mustaqil nafas yo‘q, mushaklar atoniyasi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Javob reaksiyasi</a:t>
            </a:r>
          </a:p>
          <a:p>
            <a:pPr algn="l">
              <a:spcAft>
                <a:spcPts val="0"/>
              </a:spcAft>
            </a:pPr>
            <a:r>
              <a:rPr sz="1200" b="0">
                <a:solidFill>
                  <a:srgbClr val="1F2937"/>
                </a:solidFill>
                <a:latin typeface="Calibri"/>
              </a:rPr>
              <a:t>Og‘riq va yorug‘likka javob yo‘q</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Reflekslar</a:t>
            </a:r>
          </a:p>
          <a:p>
            <a:pPr algn="l">
              <a:spcAft>
                <a:spcPts val="0"/>
              </a:spcAft>
            </a:pPr>
            <a:r>
              <a:rPr sz="1200" b="0">
                <a:solidFill>
                  <a:srgbClr val="1F2937"/>
                </a:solidFill>
                <a:latin typeface="Calibri"/>
              </a:rPr>
              <a:t>Korneal, faringeal, traxeal yo‘q</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Belgi guruhlari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109, 110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Harvard mezonlari qachon va nima maqsadda ishlab chiqilgan? (Javob: 1968-yil, AQSH; befoyda reanimatsiyani bartaraf etish uchun.)</a:t>
            </a:r>
          </a:p>
          <a:p>
            <a:pPr>
              <a:spcAft>
                <a:spcPts val="1200"/>
              </a:spcAft>
            </a:pPr>
            <a:r>
              <a:rPr sz="2200">
                <a:solidFill>
                  <a:srgbClr val="1F2937"/>
                </a:solidFill>
                <a:latin typeface="Calibri"/>
              </a:rPr>
              <a:t>▸  2-savol: Sinay deklaratsiyasiga ko‘ra o‘lim vaqti qachon? (Javob: miya integrativ funksiyalari, jumladan o‘zak funksiyasi tiklanmas to‘xtagan payt.)</a:t>
            </a:r>
          </a:p>
          <a:p>
            <a:pPr>
              <a:spcAft>
                <a:spcPts val="1200"/>
              </a:spcAft>
            </a:pPr>
            <a:r>
              <a:rPr sz="2200">
                <a:solidFill>
                  <a:srgbClr val="1F2937"/>
                </a:solidFill>
                <a:latin typeface="Calibri"/>
              </a:rPr>
              <a:t>▸  3-savol: Organ olinadigan holatda o‘limni kim qayd etadi? (Javob: kamida ikkita bevosita manfaatdor bo‘lmagan shifokor.)</a:t>
            </a:r>
          </a:p>
          <a:p>
            <a:pPr>
              <a:spcAft>
                <a:spcPts val="1200"/>
              </a:spcAft>
            </a:pPr>
            <a:r>
              <a:rPr sz="2200">
                <a:solidFill>
                  <a:srgbClr val="1F2937"/>
                </a:solidFill>
                <a:latin typeface="Calibri"/>
              </a:rPr>
              <a:t>▸  4-savol: Miya o‘limining klinik belgilaridan kamida uchtasini ayting. (Javob: nafas yo‘qligi, atoniya, qorachiq va og‘riqqa javobsizlik va h.k.)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108, 109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o‘limni tasdiqlovchi komissiya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reanimatsiyada miya o‘limi gumon qilingan bemor bor, murdadan a’zo olib transplantatsiya qilish rejalashtirilgan. Savol: komissiya kimlardan tuziladi?</a:t>
            </a:r>
          </a:p>
          <a:p>
            <a:pPr>
              <a:spcAft>
                <a:spcPts val="1200"/>
              </a:spcAft>
            </a:pPr>
            <a:r>
              <a:rPr sz="2200">
                <a:solidFill>
                  <a:srgbClr val="1F2937"/>
                </a:solidFill>
                <a:latin typeface="Calibri"/>
              </a:rPr>
              <a:t>▸  Komissiyada anesteziolog-reanimatolog va nevropatolog bo‘lishi shart. A’zo olish va transplantatsiya bilan shug‘ullanuvchi mutaxassislar kiritilmaydi.</a:t>
            </a:r>
          </a:p>
          <a:p>
            <a:pPr>
              <a:spcAft>
                <a:spcPts val="1200"/>
              </a:spcAft>
            </a:pPr>
            <a:r>
              <a:rPr sz="2200">
                <a:solidFill>
                  <a:srgbClr val="1F2937"/>
                </a:solidFill>
                <a:latin typeface="Calibri"/>
              </a:rPr>
              <a:t>▸  Sidney deklaratsiyasiga ko‘ra, a’zo olinadigan holda o‘limni kamida ikki nafar bevosita manfaatdor bo‘lmagan shifokor tasdiqlaydi.</a:t>
            </a:r>
          </a:p>
          <a:p>
            <a:pPr>
              <a:spcAft>
                <a:spcPts val="1200"/>
              </a:spcAft>
            </a:pPr>
            <a:r>
              <a:rPr sz="2200">
                <a:solidFill>
                  <a:srgbClr val="1F2937"/>
                </a:solidFill>
                <a:latin typeface="Calibri"/>
              </a:rPr>
              <a:t>▸  Diqqat: xato qilish xavfi — transplantolog ≠ o‘limni tasdiqlovchi shifokor. Bu ikki vazifa bir kishida aralashmasligi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110, 109, 109-110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tashxisining ishonchliligi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Miya o‘limi tushunchasi transplantologiya ehtiyojlaridan qat’i nazar nevrologiyada ishlab chiqilgan.</a:t>
            </a:r>
          </a:p>
          <a:p>
            <a:pPr>
              <a:spcAft>
                <a:spcPts val="800"/>
              </a:spcAft>
            </a:pPr>
            <a:r>
              <a:rPr sz="1800">
                <a:solidFill>
                  <a:srgbClr val="1F2937"/>
                </a:solidFill>
                <a:latin typeface="Calibri"/>
              </a:rPr>
              <a:t>▸  Tashxis ishonchliligi markaziy axloqiy masala; u deyarli to‘liq nevrologlarning kasbiy vakolatiga kiradi.</a:t>
            </a:r>
          </a:p>
          <a:p>
            <a:pPr>
              <a:spcAft>
                <a:spcPts val="800"/>
              </a:spcAft>
            </a:pPr>
            <a:r>
              <a:rPr sz="1800">
                <a:solidFill>
                  <a:srgbClr val="1F2937"/>
                </a:solidFill>
                <a:latin typeface="Calibri"/>
              </a:rPr>
              <a:t>▸  Tashxis qo‘yuvchi muassasalarning transplantologlardan tashkiliy va moliyaviy mustaqilligi ishonchni ta’minlovchi eng muhim tamoyil.</a:t>
            </a:r>
          </a:p>
          <a:p>
            <a:pPr>
              <a:spcAft>
                <a:spcPts val="800"/>
              </a:spcAft>
            </a:pPr>
            <a:r>
              <a:rPr sz="1800">
                <a:solidFill>
                  <a:srgbClr val="1F2937"/>
                </a:solidFill>
                <a:latin typeface="Calibri"/>
              </a:rPr>
              <a:t>▸  Organ qabul qilish tartiblari: muntazam so‘rov, rozilik prezumpsiyasi va kelishmovchilik prezumpsiyasi.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Ishonchlilik tamoyillari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Tashxis vakolati</a:t>
            </a:r>
          </a:p>
          <a:p>
            <a:pPr algn="l">
              <a:spcAft>
                <a:spcPts val="0"/>
              </a:spcAft>
            </a:pPr>
            <a:r>
              <a:rPr sz="1200" b="0">
                <a:solidFill>
                  <a:srgbClr val="1F2937"/>
                </a:solidFill>
                <a:latin typeface="Calibri"/>
              </a:rPr>
              <a:t>Nevrologlar kasbiy javobgarligi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Mustaqillik</a:t>
            </a:r>
          </a:p>
          <a:p>
            <a:pPr algn="l">
              <a:spcAft>
                <a:spcPts val="0"/>
              </a:spcAft>
            </a:pPr>
            <a:r>
              <a:rPr sz="1200" b="0">
                <a:solidFill>
                  <a:srgbClr val="1F2937"/>
                </a:solidFill>
                <a:latin typeface="Calibri"/>
              </a:rPr>
              <a:t>Tashkiliy va moliyaviy</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Rozilik tizimlari</a:t>
            </a:r>
          </a:p>
          <a:p>
            <a:pPr algn="l">
              <a:spcAft>
                <a:spcPts val="0"/>
              </a:spcAft>
            </a:pPr>
            <a:r>
              <a:rPr sz="1200" b="0">
                <a:solidFill>
                  <a:srgbClr val="1F2937"/>
                </a:solidFill>
                <a:latin typeface="Calibri"/>
              </a:rPr>
              <a:t>Rozilik prezumpsiyasi  ·  Kelishmovchilik prezumpsiyasi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Xabardorlik</a:t>
            </a:r>
          </a:p>
          <a:p>
            <a:pPr algn="l">
              <a:spcAft>
                <a:spcPts val="0"/>
              </a:spcAft>
            </a:pPr>
            <a:r>
              <a:rPr sz="1200" b="0">
                <a:solidFill>
                  <a:srgbClr val="1F2937"/>
                </a:solidFill>
                <a:latin typeface="Calibri"/>
              </a:rPr>
              <a:t>Aholiga tartiblar haqida axborot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Ishonch uchun asosiy shartlar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189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Miya o‘limi tashxisi: shartlar va komissiya (RF, 1993)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Avval sabab aniqlanadi; dori, zaharlanish, shok, gipotermiya kabi omillar istisno etiladi.</a:t>
            </a:r>
          </a:p>
          <a:p>
            <a:pPr>
              <a:spcAft>
                <a:spcPts val="800"/>
              </a:spcAft>
            </a:pPr>
            <a:r>
              <a:rPr sz="1800">
                <a:solidFill>
                  <a:srgbClr val="1F2937"/>
                </a:solidFill>
                <a:latin typeface="Calibri"/>
              </a:rPr>
              <a:t>▸  Komissiya a’zolari kamida 5 yil stajli; tarkibda anesteziolog-reanimatolog va nevropatolog bo‘ladi.</a:t>
            </a:r>
          </a:p>
          <a:p>
            <a:pPr>
              <a:spcAft>
                <a:spcPts val="800"/>
              </a:spcAft>
            </a:pPr>
            <a:r>
              <a:rPr sz="1800">
                <a:solidFill>
                  <a:srgbClr val="1F2937"/>
                </a:solidFill>
                <a:latin typeface="Calibri"/>
              </a:rPr>
              <a:t>▸  Bu yo‘riqnoma bolalarda miya o‘limini aniqlash uchun qo‘llanilmaydi.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Sabab va mexanizm aniqlanadi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Istisno holatlar tekshiriladi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Komissiya xulosa chiqaradi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Bayonnoma tasdiqlanadi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Reanimatsiya to‘xtatiladi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Tashxis qo‘yish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Murdadan donorlik: arab-islom mamlakatlari shartlari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Arab-Islom mamlakatlari sog‘liqni saqlash vazirlari kengashi inson organlarini ko‘chirish qonunining 11 moddali loyihasini qabul qilgan.</a:t>
            </a:r>
          </a:p>
          <a:p>
            <a:pPr>
              <a:spcAft>
                <a:spcPts val="800"/>
              </a:spcAft>
            </a:pPr>
            <a:r>
              <a:rPr sz="1600">
                <a:solidFill>
                  <a:srgbClr val="1F2937"/>
                </a:solidFill>
                <a:latin typeface="Calibri"/>
              </a:rPr>
              <a:t>▸  Marhumning yaqinlari roziligi bilan, uning hayotida bunga qarshi bo‘lmagan bo‘lsa, organ ko‘chirish mumkin.</a:t>
            </a:r>
          </a:p>
          <a:p>
            <a:pPr>
              <a:spcAft>
                <a:spcPts val="800"/>
              </a:spcAft>
            </a:pPr>
            <a:r>
              <a:rPr sz="1600">
                <a:solidFill>
                  <a:srgbClr val="1F2937"/>
                </a:solidFill>
                <a:latin typeface="Calibri"/>
              </a:rPr>
              <a:t>▸  O‘limni uch mutaxassis shifokor, jumladan nevrolog, belgilaydi; operatsiya qiluvchi jarroh bu guruhda bo‘lmasligi kerak.</a:t>
            </a:r>
          </a:p>
          <a:p>
            <a:pPr>
              <a:spcAft>
                <a:spcPts val="800"/>
              </a:spcAft>
            </a:pPr>
            <a:r>
              <a:rPr sz="1600">
                <a:solidFill>
                  <a:srgbClr val="1F2937"/>
                </a:solidFill>
                <a:latin typeface="Calibri"/>
              </a:rPr>
              <a:t>▸  Organni sotish va sotib olish yoki mukofot evaziga sovg‘a qilish taqiqlanadi; operatsiya tan olingan tibbiy markazlarda o‘tadi.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Donorlik shartlari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Rozilik</a:t>
            </a:r>
          </a:p>
          <a:p>
            <a:pPr algn="l">
              <a:spcAft>
                <a:spcPts val="0"/>
              </a:spcAft>
            </a:pPr>
            <a:r>
              <a:rPr sz="1200" b="0">
                <a:solidFill>
                  <a:srgbClr val="1F2937"/>
                </a:solidFill>
                <a:latin typeface="Calibri"/>
              </a:rPr>
              <a:t>Yaqinlar roziligi  ·  Marhum qarshi bo‘lmagan</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O‘limni belgilash</a:t>
            </a:r>
          </a:p>
          <a:p>
            <a:pPr algn="l">
              <a:spcAft>
                <a:spcPts val="0"/>
              </a:spcAft>
            </a:pPr>
            <a:r>
              <a:rPr sz="1200" b="0">
                <a:solidFill>
                  <a:srgbClr val="1F2937"/>
                </a:solidFill>
                <a:latin typeface="Calibri"/>
              </a:rPr>
              <a:t>Uch shifokor, jumladan nevrolog</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Mustaqillik</a:t>
            </a:r>
          </a:p>
          <a:p>
            <a:pPr algn="l">
              <a:spcAft>
                <a:spcPts val="0"/>
              </a:spcAft>
            </a:pPr>
            <a:r>
              <a:rPr sz="1200" b="0">
                <a:solidFill>
                  <a:srgbClr val="1F2937"/>
                </a:solidFill>
                <a:latin typeface="Calibri"/>
              </a:rPr>
              <a:t>Jarroh guruhda bo‘lmaydi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Taqiq</a:t>
            </a:r>
          </a:p>
          <a:p>
            <a:pPr algn="l">
              <a:spcAft>
                <a:spcPts val="0"/>
              </a:spcAft>
            </a:pPr>
            <a:r>
              <a:rPr sz="1200" b="0">
                <a:solidFill>
                  <a:srgbClr val="1F2937"/>
                </a:solidFill>
                <a:latin typeface="Calibri"/>
              </a:rPr>
              <a:t>Organ savdosi, mukofot evaziga</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Joy</a:t>
            </a:r>
          </a:p>
          <a:p>
            <a:pPr algn="l">
              <a:spcAft>
                <a:spcPts val="0"/>
              </a:spcAft>
            </a:pPr>
            <a:r>
              <a:rPr sz="1200" b="0">
                <a:solidFill>
                  <a:srgbClr val="1F2937"/>
                </a:solidFill>
                <a:latin typeface="Calibri"/>
              </a:rPr>
              <a:t>Tan olingan tibbiy markaz</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Qonun loyihasi (qisqartirilgan)</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Muxamedova Z.M., Bioetika, betlar: 240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O‘zbekiston qonunchiligi va murdani tekshirish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43</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Xorijiy tajribada bu tartibni asosan anesteziolog-reanimatolog va nevropatologlar ishlab chiqadi.</a:t>
            </a:r>
          </a:p>
          <a:p>
            <a:pPr>
              <a:spcAft>
                <a:spcPts val="800"/>
              </a:spcAft>
            </a:pPr>
            <a:r>
              <a:rPr sz="1800">
                <a:solidFill>
                  <a:srgbClr val="1F2937"/>
                </a:solidFill>
                <a:latin typeface="Calibri"/>
              </a:rPr>
              <a:t>▸  Aniq mezonlarning yo‘qligi shifokor faoliyatida jiddiy qiyinchiliklar tug‘diradi.</a:t>
            </a:r>
          </a:p>
          <a:p>
            <a:pPr>
              <a:spcAft>
                <a:spcPts val="800"/>
              </a:spcAft>
            </a:pPr>
            <a:r>
              <a:rPr sz="1800">
                <a:solidFill>
                  <a:srgbClr val="1F2937"/>
                </a:solidFill>
                <a:latin typeface="Calibri"/>
              </a:rPr>
              <a:t>▸  Miya o‘limini belgilangan tartibda qayd etish murda ekspertizasini boshlash bilan bog‘liq.</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Hujjat/holat</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Qonun, 40-modda</a:t>
                      </a:r>
                    </a:p>
                  </a:txBody>
                  <a:tcPr marL="73152" marR="73152" marT="36576" marB="36576">
                    <a:solidFill>
                      <a:srgbClr val="E8EEF6"/>
                    </a:solidFill>
                  </a:tcPr>
                </a:tc>
                <a:tc>
                  <a:txBody>
                    <a:bodyPr/>
                    <a:lstStyle/>
                    <a:p>
                      <a:r>
                        <a:rPr sz="1700" b="0">
                          <a:solidFill>
                            <a:srgbClr val="1F2937"/>
                          </a:solidFill>
                        </a:rPr>
                        <a:t>Qayd etish tartibini Vazirlik belgilaydi</a:t>
                      </a:r>
                    </a:p>
                  </a:txBody>
                  <a:tcPr marL="73152" marR="73152" marT="36576" marB="36576">
                    <a:solidFill>
                      <a:srgbClr val="E8EEF6"/>
                    </a:solidFill>
                  </a:tcPr>
                </a:tc>
              </a:tr>
              <a:tr h="614476">
                <a:tc>
                  <a:txBody>
                    <a:bodyPr/>
                    <a:lstStyle/>
                    <a:p>
                      <a:r>
                        <a:rPr sz="1700" b="0">
                          <a:solidFill>
                            <a:srgbClr val="1F2937"/>
                          </a:solidFill>
                        </a:rPr>
                        <a:t>Buyruq 153-son (2012)</a:t>
                      </a:r>
                    </a:p>
                  </a:txBody>
                  <a:tcPr marL="73152" marR="73152" marT="36576" marB="36576">
                    <a:solidFill>
                      <a:srgbClr val="FFFFFF"/>
                    </a:solidFill>
                  </a:tcPr>
                </a:tc>
                <a:tc>
                  <a:txBody>
                    <a:bodyPr/>
                    <a:lstStyle/>
                    <a:p>
                      <a:r>
                        <a:rPr sz="1700" b="0">
                          <a:solidFill>
                            <a:srgbClr val="1F2937"/>
                          </a:solidFill>
                        </a:rPr>
                        <a:t>Murda sud-tibbiy ekspertizasi qoidalari</a:t>
                      </a:r>
                    </a:p>
                  </a:txBody>
                  <a:tcPr marL="73152" marR="73152" marT="36576" marB="36576">
                    <a:solidFill>
                      <a:srgbClr val="FFFFFF"/>
                    </a:solidFill>
                  </a:tcPr>
                </a:tc>
              </a:tr>
              <a:tr h="614476">
                <a:tc>
                  <a:txBody>
                    <a:bodyPr/>
                    <a:lstStyle/>
                    <a:p>
                      <a:r>
                        <a:rPr sz="1700" b="0">
                          <a:solidFill>
                            <a:srgbClr val="1F2937"/>
                          </a:solidFill>
                        </a:rPr>
                        <a:t>Dastlabki o‘zgarishlar</a:t>
                      </a:r>
                    </a:p>
                  </a:txBody>
                  <a:tcPr marL="73152" marR="73152" marT="36576" marB="36576">
                    <a:solidFill>
                      <a:srgbClr val="E8EEF6"/>
                    </a:solidFill>
                  </a:tcPr>
                </a:tc>
                <a:tc>
                  <a:txBody>
                    <a:bodyPr/>
                    <a:lstStyle/>
                    <a:p>
                      <a:r>
                        <a:rPr sz="1700" b="0">
                          <a:solidFill>
                            <a:srgbClr val="1F2937"/>
                          </a:solidFill>
                        </a:rPr>
                        <a:t>Murda sovushi, dog‘lari, qotishi</a:t>
                      </a:r>
                    </a:p>
                  </a:txBody>
                  <a:tcPr marL="73152" marR="73152" marT="36576" marB="36576">
                    <a:solidFill>
                      <a:srgbClr val="E8EEF6"/>
                    </a:solidFill>
                  </a:tcPr>
                </a:tc>
              </a:tr>
              <a:tr h="614476">
                <a:tc>
                  <a:txBody>
                    <a:bodyPr/>
                    <a:lstStyle/>
                    <a:p>
                      <a:r>
                        <a:rPr sz="1700" b="0">
                          <a:solidFill>
                            <a:srgbClr val="1F2937"/>
                          </a:solidFill>
                        </a:rPr>
                        <a:t>Ular paydo bo‘lguncha</a:t>
                      </a:r>
                    </a:p>
                  </a:txBody>
                  <a:tcPr marL="73152" marR="73152" marT="36576" marB="36576">
                    <a:solidFill>
                      <a:srgbClr val="FFFFFF"/>
                    </a:solidFill>
                  </a:tcPr>
                </a:tc>
                <a:tc>
                  <a:txBody>
                    <a:bodyPr/>
                    <a:lstStyle/>
                    <a:p>
                      <a:r>
                        <a:rPr sz="1700" b="0">
                          <a:solidFill>
                            <a:srgbClr val="1F2937"/>
                          </a:solidFill>
                        </a:rPr>
                        <a:t>Avval o‘lim fakti qayd etiladi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Hujjatlar va tartib</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110, 111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Vegetativ holat: ta‘rif</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Vegetativ holat (lotincha ‘‘o‘simlik’’) — bosh miya faoliyati to‘xtagani sababli hushsiz holatdagi organizmning biologik hayot ritmi.</a:t>
            </a:r>
          </a:p>
          <a:p>
            <a:pPr>
              <a:spcAft>
                <a:spcPts val="1200"/>
              </a:spcAft>
            </a:pPr>
            <a:r>
              <a:rPr sz="2200">
                <a:solidFill>
                  <a:srgbClr val="1F2937"/>
                </a:solidFill>
                <a:latin typeface="Calibri"/>
              </a:rPr>
              <a:t>▸  Bu holatda miya o‘limi sodir bo‘lmagan, ammo hushni tiklash imkoniyati deyarli yo‘q. Diqqat: vegetativ holat ≠ miya o‘limi.</a:t>
            </a:r>
          </a:p>
          <a:p>
            <a:pPr>
              <a:spcAft>
                <a:spcPts val="1200"/>
              </a:spcAft>
            </a:pPr>
            <a:r>
              <a:rPr sz="2200">
                <a:solidFill>
                  <a:srgbClr val="1F2937"/>
                </a:solidFill>
                <a:latin typeface="Calibri"/>
              </a:rPr>
              <a:t>▸  Tibbiy yordam asosiy hayotiy funksiyalarni qo‘llab-quvvatlash (parenteral oziqlantirish, parvarish) orqali faqat biologik hayotni saqlaydi.</a:t>
            </a:r>
          </a:p>
          <a:p>
            <a:pPr>
              <a:spcAft>
                <a:spcPts val="1200"/>
              </a:spcAft>
            </a:pPr>
            <a:r>
              <a:rPr sz="2200">
                <a:solidFill>
                  <a:srgbClr val="1F2937"/>
                </a:solidFill>
                <a:latin typeface="Calibri"/>
              </a:rPr>
              <a:t>▸  Bunday hayot odatda mustaqil, alohida individ hayoti bo‘la olmaydi; degradatsiya (tanazzul) jarayonlari vaqt o‘tgan sari kuchayadi.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Persistent vegetativ holat (PVH)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Uzoq davom etgan vegetativ holat persistent (turg‘un) vegetativ holat, qisqacha PVH deb ataladi.</a:t>
            </a:r>
          </a:p>
          <a:p>
            <a:pPr>
              <a:spcAft>
                <a:spcPts val="800"/>
              </a:spcAft>
            </a:pPr>
            <a:r>
              <a:rPr sz="1800">
                <a:solidFill>
                  <a:srgbClr val="1F2937"/>
                </a:solidFill>
                <a:latin typeface="Calibri"/>
              </a:rPr>
              <a:t>▸  Hushsiz bemor o‘zini va atrofdagilarni anglamaydi, lekin uyqu va tetiklik davrlari almashib turadi.</a:t>
            </a:r>
          </a:p>
          <a:p>
            <a:pPr>
              <a:spcAft>
                <a:spcPts val="800"/>
              </a:spcAft>
            </a:pPr>
            <a:r>
              <a:rPr sz="1800">
                <a:solidFill>
                  <a:srgbClr val="1F2937"/>
                </a:solidFill>
                <a:latin typeface="Calibri"/>
              </a:rPr>
              <a:t>▸  Diqqat: PVHda miya o‘zagi funksiyalari saqlanadi, miya o‘limida esa o‘zak ham o‘ladi.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PVH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To‘liq hushsizlik</a:t>
            </a:r>
          </a:p>
          <a:p>
            <a:pPr algn="l">
              <a:spcAft>
                <a:spcPts val="0"/>
              </a:spcAft>
            </a:pPr>
            <a:r>
              <a:rPr sz="1200" b="0">
                <a:solidFill>
                  <a:srgbClr val="1F2937"/>
                </a:solidFill>
                <a:latin typeface="Calibri"/>
              </a:rPr>
              <a:t>O‘zini va atrofdagilarni anglamaydi</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Uyqu-tetiklik sikli</a:t>
            </a:r>
          </a:p>
          <a:p>
            <a:pPr algn="l">
              <a:spcAft>
                <a:spcPts val="0"/>
              </a:spcAft>
            </a:pPr>
            <a:r>
              <a:rPr sz="1200" b="0">
                <a:solidFill>
                  <a:srgbClr val="1F2937"/>
                </a:solidFill>
                <a:latin typeface="Calibri"/>
              </a:rPr>
              <a:t>Uyqu va tetiklik almashinuvi saqlanadi</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Miya o‘zagi</a:t>
            </a:r>
          </a:p>
          <a:p>
            <a:pPr algn="l">
              <a:spcAft>
                <a:spcPts val="0"/>
              </a:spcAft>
            </a:pPr>
            <a:r>
              <a:rPr sz="1200" b="0">
                <a:solidFill>
                  <a:srgbClr val="1F2937"/>
                </a:solidFill>
                <a:latin typeface="Calibri"/>
              </a:rPr>
              <a:t>Vegetativ funksiyalar saqlanadi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PVH belgilari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111, 108, 111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PVH: sabablar, tarqalganlik va ijtimoiy muammo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PVH turli kelib chiqishli koma holatlaridan, bosh miya jarohatlaridan va nevrologik kasalliklardan keyin yuzaga kelishi mumkin.</a:t>
            </a:r>
          </a:p>
          <a:p>
            <a:pPr>
              <a:spcAft>
                <a:spcPts val="1200"/>
              </a:spcAft>
            </a:pPr>
            <a:r>
              <a:rPr sz="2200">
                <a:solidFill>
                  <a:srgbClr val="1F2937"/>
                </a:solidFill>
                <a:latin typeface="Calibri"/>
              </a:rPr>
              <a:t>▸  Turli mualliflar ma‘lumotiga ko‘ra, dunyo mamlakatlarida har 100000 aholiga 2–13 ta PVH holati to‘g‘ri keladi.</a:t>
            </a:r>
          </a:p>
          <a:p>
            <a:pPr>
              <a:spcAft>
                <a:spcPts val="1200"/>
              </a:spcAft>
            </a:pPr>
            <a:r>
              <a:rPr sz="2200">
                <a:solidFill>
                  <a:srgbClr val="1F2937"/>
                </a:solidFill>
                <a:latin typeface="Calibri"/>
              </a:rPr>
              <a:t>▸  Bunday bemorlar uzoq davolanishni va katta mablag‘ sarflashni talab qiladi, shuning uchun PVH sog‘liqni saqlash tizimi uchun jiddiy muammo.</a:t>
            </a:r>
          </a:p>
          <a:p>
            <a:pPr>
              <a:spcAft>
                <a:spcPts val="1200"/>
              </a:spcAft>
            </a:pPr>
            <a:r>
              <a:rPr sz="2200">
                <a:solidFill>
                  <a:srgbClr val="1F2937"/>
                </a:solidFill>
                <a:latin typeface="Calibri"/>
              </a:rPr>
              <a:t>▸  Misol: OAV ma’lumotiga ko‘ra, «Fristayl» sobiq solisti S. Vyazemskiy 2015-yilda jonlantirilgach, 2020-yil vafotigacha vegetativ holatda bo‘lgan.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111, 112, 111-112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PVH prognozi va JTU 1989 yil bayonoti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43</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PVHda hush tiklanishi noaniq. Tibbiyot aniq prognoz bera olmaydi.</a:t>
            </a:r>
          </a:p>
          <a:p>
            <a:pPr>
              <a:spcAft>
                <a:spcPts val="800"/>
              </a:spcAft>
            </a:pPr>
            <a:r>
              <a:rPr sz="1800">
                <a:solidFill>
                  <a:srgbClr val="1F2937"/>
                </a:solidFill>
                <a:latin typeface="Calibri"/>
              </a:rPr>
              <a:t>▸  Vaqt o‘tgan sari hush tiklanishi ehtimoli pasayadi; to‘liq tuzalish kazuistika sanaladi.</a:t>
            </a:r>
          </a:p>
          <a:p>
            <a:pPr>
              <a:spcAft>
                <a:spcPts val="800"/>
              </a:spcAft>
            </a:pPr>
            <a:r>
              <a:rPr sz="1800">
                <a:solidFill>
                  <a:srgbClr val="1F2937"/>
                </a:solidFill>
                <a:latin typeface="Calibri"/>
              </a:rPr>
              <a:t>▸  JTU (Jahon tibbiyot assotsiatsiyasi) 1989 yilda PVH bo‘yicha bayonot qabul qilgan.</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Vegetativ holat</a:t>
            </a:r>
          </a:p>
          <a:p>
            <a:pPr algn="l">
              <a:spcAft>
                <a:spcPts val="100"/>
              </a:spcAft>
            </a:pPr>
            <a:r>
              <a:rPr sz="2300" b="1">
                <a:solidFill>
                  <a:srgbClr val="0B1F3A"/>
                </a:solidFill>
                <a:latin typeface="Calibri"/>
              </a:rPr>
              <a:t>bir necha hafta</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Umumiy qoida</a:t>
            </a:r>
          </a:p>
          <a:p>
            <a:pPr algn="l">
              <a:spcAft>
                <a:spcPts val="100"/>
              </a:spcAft>
            </a:pPr>
            <a:r>
              <a:rPr sz="3000" b="1">
                <a:solidFill>
                  <a:srgbClr val="0B1F3A"/>
                </a:solidFill>
                <a:latin typeface="Calibri"/>
              </a:rPr>
              <a:t>12 oy</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50 yoshdan katta</a:t>
            </a:r>
          </a:p>
          <a:p>
            <a:pPr algn="l">
              <a:spcAft>
                <a:spcPts val="100"/>
              </a:spcAft>
            </a:pPr>
            <a:r>
              <a:rPr sz="3000" b="1">
                <a:solidFill>
                  <a:srgbClr val="0B1F3A"/>
                </a:solidFill>
                <a:latin typeface="Calibri"/>
              </a:rPr>
              <a:t>6 oy</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JTU (1989): PVH muddatlari; so‘ng — davom ettirish yoki to‘xtatish qarori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PVH va qaror qabul 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OAV xabariga ko‘ra, «Fristayl» sobiq solisti 2015 yilda koronar o‘limdan so‘ng reanimatsiya qilingan, vafotigacha vegetativ holatda bo‘lgan.</a:t>
            </a:r>
          </a:p>
          <a:p>
            <a:pPr>
              <a:spcAft>
                <a:spcPts val="1200"/>
              </a:spcAft>
            </a:pPr>
            <a:r>
              <a:rPr sz="2200">
                <a:solidFill>
                  <a:srgbClr val="1F2937"/>
                </a:solidFill>
                <a:latin typeface="Calibri"/>
              </a:rPr>
              <a:t>▸  Savol: uzoq PVHdagi bemorda hayotni saqlash yoki to‘xtatishga qanday yondashiladi? Muddatlardan so‘ng qarorni vrach qonun va etikaga ko‘ra qabul qiladi.</a:t>
            </a:r>
          </a:p>
          <a:p>
            <a:pPr>
              <a:spcAft>
                <a:spcPts val="1200"/>
              </a:spcAft>
            </a:pPr>
            <a:r>
              <a:rPr sz="2200">
                <a:solidFill>
                  <a:srgbClr val="1F2937"/>
                </a:solidFill>
                <a:latin typeface="Calibri"/>
              </a:rPr>
              <a:t>▸  Diqqat: xato qilish xavfi — PVH ≠ miya o‘limi. PVHda miya o‘limi sodir bo‘lmagan, lekin hushni tiklash imkoniyati deyarli yo‘q.</a:t>
            </a:r>
          </a:p>
          <a:p>
            <a:pPr>
              <a:spcAft>
                <a:spcPts val="1200"/>
              </a:spcAft>
            </a:pPr>
            <a:r>
              <a:rPr sz="2200">
                <a:solidFill>
                  <a:srgbClr val="1F2937"/>
                </a:solidFill>
                <a:latin typeface="Calibri"/>
              </a:rPr>
              <a:t>▸  PVHdagi bemorlar uzoq davolanish va ko‘p mablag‘ talab qiladi; bu sog‘liqni saqlash uchun jiddiy muammo.</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111-112, 112, 111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43</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Terminal davr — o‘lish jarayoni bo‘lib, soniyalardan oylargacha cho‘ziladi. Klinik o‘lim qaytar, biologik o‘lim esa qaytmas.</a:t>
            </a:r>
          </a:p>
          <a:p>
            <a:pPr>
              <a:spcAft>
                <a:spcPts val="1200"/>
              </a:spcAft>
            </a:pPr>
            <a:r>
              <a:rPr sz="2200">
                <a:solidFill>
                  <a:srgbClr val="1F2937"/>
                </a:solidFill>
                <a:latin typeface="Calibri"/>
              </a:rPr>
              <a:t>▸  Miya o‘limi — mustaqil nafas va reflekslar yo‘qolib, qaytmas hushsizlik. Sidney (Sinay) deklaratsiyasi (1968; 1983 yil to‘ldirilgan) uni mezon deb tan oldi.</a:t>
            </a:r>
          </a:p>
          <a:p>
            <a:pPr>
              <a:spcAft>
                <a:spcPts val="1200"/>
              </a:spcAft>
            </a:pPr>
            <a:r>
              <a:rPr sz="2200">
                <a:solidFill>
                  <a:srgbClr val="1F2937"/>
                </a:solidFill>
                <a:latin typeface="Calibri"/>
              </a:rPr>
              <a:t>▸  PVH — hushsizlik, lekin uyqu-tetiklik sikli saqlanadi. JTU 1989: bir necha hafta — PVH; 12 oy (50 yoshdan katta — 6 oy) — qaytmaslik mezoni.</a:t>
            </a:r>
          </a:p>
          <a:p>
            <a:pPr>
              <a:spcAft>
                <a:spcPts val="1200"/>
              </a:spcAft>
            </a:pPr>
            <a:r>
              <a:rPr sz="2200">
                <a:solidFill>
                  <a:srgbClr val="1F2937"/>
                </a:solidFill>
                <a:latin typeface="Calibri"/>
              </a:rPr>
              <a:t>▸  Nazorat: terminal davr; klinik va biologik o‘lim farqi; “noaniqlik zonasi”; Sidney deklaratsiyasi mazmuni; o‘lim mezonlari; PVH belgilari; JTU tavsiyalari.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Indiaminov S.I., Bioetika, betlar: 105-106, 108-109, 111-112, 112-113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Qiziqarli fakt: o‘lish bir lahza emas, jarayon. Bu terminal (chegara) davr deb ataladi va soniyalardan kunlar, haftalar, oylargacha cho‘ziladi. Maxsus adabiyotda tibbiy yordam bilan 10-15 yilgacha cho‘zilgan holatlar ham keltirilgan.</a:t>
            </a:r>
          </a:p>
          <a:p>
            <a:pPr>
              <a:spcAft>
                <a:spcPts val="1200"/>
              </a:spcAft>
            </a:pPr>
            <a:r>
              <a:rPr sz="1800">
                <a:solidFill>
                  <a:srgbClr val="1F2937"/>
                </a:solidFill>
                <a:latin typeface="Calibri"/>
              </a:rPr>
              <a:t>▸  Tarixiy voqea: 1957-yilda anesteziolog va reanimatologlarning xalqaro kongressi o‘lim chegarasi mezonlarini so‘rab Rim papasi Piy XII ga murojaat qildi. U o‘lim faktini aniqlash cherkovning emas, shifokorlarning ishi ekanini aytdi.</a:t>
            </a:r>
          </a:p>
          <a:p>
            <a:pPr>
              <a:spcAft>
                <a:spcPts val="1200"/>
              </a:spcAft>
            </a:pPr>
            <a:r>
              <a:rPr sz="1800">
                <a:solidFill>
                  <a:srgbClr val="1F2937"/>
                </a:solidFill>
                <a:latin typeface="Calibri"/>
              </a:rPr>
              <a:t>▸  Eslab qolish usuli: ‘‘Yosh to‘qima — tez zarar’’. Filogenetik jihatdan eng yosh va sezgir bo‘lgani bosh miya katta yarimsharlari po‘stlog‘i, eng kam sezgir bo‘lgani periferik nerv. Shu sababli a’zolar bir vaqtda o‘lmaydi, ba’zi to‘qimalar miya o‘limidan keyin ham ma’lum muddat tirik qoladi.</a:t>
            </a:r>
          </a:p>
          <a:p>
            <a:pPr>
              <a:spcAft>
                <a:spcPts val="1200"/>
              </a:spcAft>
            </a:pPr>
            <a:r>
              <a:rPr sz="1800">
                <a:solidFill>
                  <a:srgbClr val="1F2937"/>
                </a:solidFill>
                <a:latin typeface="Calibri"/>
              </a:rPr>
              <a:t>▸  Hodisa tahlili: ommaviy axborot vositalariga ko‘ra, ‘‘Fristayl’’ guruhining sobiq solisti S. Vyazemskiy 2015-yilda koronar o‘lim holatidan keyin reanimatsiya qilingan. Hayot belgilari tiklangan, ammo vafotigacha vegetativ holatda bo‘lgan. Savol: bu holat nima uchun miya o‘limi hisoblanmaydi?</a:t>
            </a:r>
          </a:p>
          <a:p>
            <a:pPr>
              <a:spcAft>
                <a:spcPts val="1200"/>
              </a:spcAft>
            </a:pPr>
            <a:r>
              <a:rPr sz="1800">
                <a:solidFill>
                  <a:srgbClr val="1F2937"/>
                </a:solidFill>
                <a:latin typeface="Calibri"/>
              </a:rPr>
              <a:t>▸  Eslab qolish usuli: PVH uchun ‘‘12 va 6’’. Jahon tibbiyot assotsiatsiyasining 1989-yilgi bayonotiga ko‘ra, qaytarilmaslikning kafolatlangan mezoni — 12 oy, 50 yoshdan kattalarda esa 6 oy hushsizlik. Vegetativ holat bir necha hafta davom etsa, uni persistent deyish mumkin.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O‘lim va o‘limning axloqiy jihatlari: klinik, vegetativ va miya o‘limi, JTU Sinay deklarat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43</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Indiaminov S.I. Bioetika (o‘quv qo‘llanma), Samarqand. 2022. XI bob (o‘lim, transplantatsiya), kitob betlari 105-113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