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Dars maqsadi: to‘siq va deformatsiyalangan o‘q hosil qiladigan atipik jarohat belgilarini tanish. Muhokama: 1) Nega o‘q otar jarohatlar kam uchrasa ham muhim? 2) To‘siq o‘qning energiyasi va yo‘nalishiga qanday ta’sir qiladi? Doskada chizish: stvol – to‘siq – nishon sxemasi va qo‘shimcha omillar to‘siqda qolishi. Tipik xato: to‘siqdan o‘tgan o‘q izlarini oddiy yaqin distansiya belgilari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O‘q otar jarohatni boshqa mexanik jarohatdan nima ajratadi? 2) Portlash travmasi nega alohida guruhga ajratiladi? Doskada chizish: ikki guruhli sxema (o‘q otar qurollardan jarohat / portlash travmasi). Tipik xato: o‘q otar jarohat faqat mexanik ta’sir deb o‘ylash, termik va kimyoviy ta’sirni unutish.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Tipik va atipik qurol qanday farqlanadi? 2) Nega qo‘lbola qurolni aniqlash ekspertiza uchun muhim? Doskada chizish: tasnif daraxti (maqsad bo‘yicha 5 tur, stvol uzunligi bo‘yicha 3 tur). Tipik xato: pistolet-pulemetni kalta stvolli qurollar qatoriga qo‘shish (u o‘rta uzunlikda).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o‘yiqli stvolda o‘q aniqroq uchadi? Silliq stvolda kalibr qanday belgilanadi? Doskada: stvolning ko‘ndalang kesimini (silliq va o‘yiqli) chizdiring, o‘yiqlararo masofani kalibr deb belgilang. Tipik xato: ov qurolida kalibr soni katta bo‘lsa, stvol ham katta deb o‘ylash — aslida aksincha.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patronning qaysi qismi poroxni yondiradi? Uzun va kalta stvolli qurol o‘qlari shakli nega farq qiladi? Doskada: patron qismlarini (snaryad, gilza, kapsyul, porox) belgilab chizdiring. Tipik xato: kapsyul va porox zaryadini bir qism deb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yorma o‘qlar taqiqlangan? Tutunli va tutunsiz porox farqi o‘qning ta’siriga qanday ta’sir qiladi? Doskada: maxsus o‘q turlari va ularning tarkibiy belgilarini ro‘yxat qilib yozdiring. Tipik xato: iz qoldiruvchi o‘qni yondiruvchi bilan aralashtirish (biri bariy/magniy, ikkinchisi fosfor).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Sochmali patron o‘qli patrondan tuzilishi bilan qanday farq qiladi? 2) Nima uchun patronda tiqinlar kerak? Doskada chizish: sochmali patron qismlarini tartib bilan chizing (gilza, kapsyul, porox, karton tiqin, kigiz tiqin, sochma, sochma tiqini). Tipik xato: sochma bilan katta sochmani (kartech) chalkashtirish; o‘lchov chegarasi 5,5 mm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bering, talabalar javobidan keyin bandni oching. Muhokama: nima uchun tutunsiz porox o‘qqa ko‘proq energiya beradi? Doskada chizish: silliq (A) va o‘yiqli (B) stvolning ko‘ndalang kesimini chizing. Tipik xato: kalibr soni va diametrni to‘g‘ri proporsional deb o‘ylash; silliq stvolda aksincha.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o‘yiqli stvolda bosim va tezlik yuqori? 2) To‘siq ikkilamchi snaryad bo‘la oladimi? Doskada chizish: to‘rt guruhni chizib, har biriga bittadan misol yozing. Tipik xato: qo‘shimcha omillarni (qurum, porox gazlari) asosiy snaryad bilan aralashtirish; asosiy snaryad faqat o‘q, sochma va ularning qismlaridir.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to‘siqdan o‘tgan o‘q yaqin masofada ham odatdagi jarohat bermaydi? 2) Kiyim qachon ikkilamchi snaryad bo‘ladi? Doskada: ’o‘q → to‘siq → deformatsiya → atipik jarohat’ zanjirini chizdiring. Tipik xato: ikkilamchi snaryadni o‘qning o‘zi yoki uning bo‘lagi deb o‘ylash (bular birlamchi snaryad).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Energiya kamaysa yara shakli qanday o‘zgaradi? 2) Nega chiqish teshigi ko‘pincha ponasimon ta’sirdan hosil bo‘ladi? Doskada: uch xil yarani (dumaloq defektli, yulduzsimon, yirik yoriqli) chizdiring. Tipik xato: yulma ta’sirdagi defekt o‘lchamini o‘qdan katta deb yozish (u kichikroq). Pirogov bu holatni ’to‘qima o‘zligini yo‘qotishi’ deb atagan.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Kirish atrofidagi pushti rang qaysi kimyoviy ta’sirni ko‘rsatadi? 2) Alanga va gaz masofalari ekspertizada nimani aniqlashga yordam beradi? Doskada: stvol uchidan 3, 5, 10, 15 sm masofalarni o‘q chizig‘i bilan belgilang. Tipik xato: alangani mexanik omil, gazni faqat termik omil deb hisoblash. Gaz mexanik, termik va kimyoviy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Yara chetlarining notekisligi qaysi ikki omil bilan bog‘liq bo‘lishi mumkin? 2) Qaysi qo‘shimcha belgilar tirab yoki yaqin masofani tasdiqlaydi? Doskada chizish: energiyaga qarab yorma, yulma va ponasimon ta’sirni uch ustunli sxema qilib chizdiring. Tipik xato: yoriqli chetlarni faqat o‘qning o‘ziga bog‘lash, porox gazlari ta’sirini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distansiya turli qurolda turli masofaga to‘g‘ri keladi? 2) Nima uchun masofani aniqlashda eksperiment shart? Doskada chizish: ikki ustunli jadvalni talabalar bilan birga to‘ldiring. Tipik xato: ikki tushunchani aynan bir narsa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Shtansmarka nima uchun faqat to‘liq germetik otishda hosil bo‘ladi? 2) Qiyalab otishda qurum nega bir tomonda joylashadi? Doskada chizish: uch turdagi tirab otishda stvol uchi va teri munosabatini sxema qiling. Tipik xato: shtansmarkani har qanday tirab otishga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birinchi zonada kuyish belgilari bor, ikkinchisida yo‘q? Nega zona uzunligi qurolga bog‘liq? Doskada: stvol va nishon oralig‘ida uch zonani rangli chiziqlar bilan chizdiring. Tipik xato: zona uzunligini barcha qurol uchun bir xil deb o‘ylash; shuningdek distansiya va masofani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to‘siq sifatida kiyim, shisha yoki eshik bo‘lsa, nima o‘zgaradi? O‘q energiyasi kamaysa, jarohat qanday o‘zgaradi? Doskada: otish zanjirini strelkalar bilan chizing va to‘siqda qolgan omillarni belgilang. Tipik xato: to‘siq bor bo‘lsa ham tanada qurum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to‘siq izi bo‘lmasa, ekspert distansiya haqida qanday xulosa chiqarishi kerak? Hodisa joyida nimalarni qayd etish zarur? Doskada: ‘yaqin distansiya + to‘siq’ va ‘yaqin bo‘lmagan distansiya’ belgilarini ikki ustunda solishtiring. Tipik xato: tanada omil belgisi yo‘qligini faqat uzoq masofadan otilgan deb talqin qilish. Eslatma: uchinchi band talqini manbadagi ma’lumotlardan chiqarilgan xulosa.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Teshik atrofida qo‘shimcha omillar yo‘qligi har doim yaqin bo‘lmagan distansiyani bildiradimi? 2) To‘siqdan o‘tgan o‘q jarohati nega atipik bo‘ladi? Doskada chizing: stvol – to‘siq – tana sxemasi, qurum va porox zarrachalari to‘siqda qolishi ko‘rsatilsin. Tipik xato: qo‘shimcha omillar yo‘qligidan faqat uzoq masofani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uch zona; birinchisida barcha qo‘shimcha omillar bor. 2) Ikkinchi zonada qurum, porox, metall zarrachalari va moy zarralari; uchinchisida porox va metall zarrachalari; porox gazlari belgisi ikkinchi zonada yo‘q. 3) To‘siqda qoladi; o‘q deformatsiyalanishi yoki parchalanishi mumkin. 4) Distansiya – belgilar majmui, masofa – stvol uchi bilan nishon orasidagi uzunlik; masofa eksperiment bilan aniqlanadi. Doskada: distansiya ≠ masofa. Tipik xato: bu ikki tushunchani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Vinogradov fenomeni yaqin distansiyadagi qurumdan nimasi bilan farq qiladi? 2) Nega qurum o‘qning ortidan nishongacha yetib boradi? Doskada chizing: tez harakatlanayotgan o‘q ortidagi past bosimli bo‘shliq va unga tushgan qurum. Tipik xato: Vinogradov fenomenini yaqin distansiya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tezlik 500 m/sek dan kam bo‘lmasligi kerak? Kuchli shamol qurumga qanday ta’sir qilishi mumkin? Doskada chizing: harakatlanayotgan o‘q va uning ortidagi past bosimli bo‘shliqni qurum bilan birga. Tipik xato: talabalar fenomenni yaqin distansiyaga xos deb o‘ylaydi, aslida u yaqin bo‘lmagan distansiyada kuzatiladi.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ikki holatni qaysi belgi bo‘yicha eng ishonchli farqlash mumkin? Ko‘p qavatli kiyimda qurum qayerdan izlanadi? Doskada chizing: ikki qavat kiyim kesimini va qurumning ikki xil joylashuvini. Tipik xato: qurum topilishi bilan avtomatik yaqin distansiya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bir xil o‘q turli a’zolarda har xil jarohat qoldiradi? To‘siq o‘q ta’sirini qanday o‘zgartirishi mumkin? Doskada chizing: uch guruh omillarni uchta shoxli sxema ko‘rinishida. Tipik xato: faqat o‘q kalibriga e’tibor berib, soha xususiyatlari va ballistik omillarni unutish.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zarb kuchi faqat harakat yo‘nalishida tarqalmaydi? 2) Musbat va manfiy bosim fazalari o‘qning chuqurroq kirishiga qanday sharoit yaratadi? Doskada chizish: yara kanali va uning atrofidagi uchta zonani konsentrik doiralar ko‘rinishida chizing. Tipik xato: lat yeyish zonasi (0,3–2 sm) bilan chayqalish zonasini (4–5 sm va ortiq)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Turg‘unlikni yo‘qotish nima uchun energiyaning to‘qimaga to‘liqroq berilishiga olib keladi? 2) Ekspert bunday o‘q ta’sirida qanday jarohat kutadi? Doskada chizish: o‘qning tanaga kirishidagi traektoriyasini turg‘un o‘q bilan solishtirib, ikkita chiziq ko‘rinishida chizing. Tipik xato: og‘irlik markazining siljishini o‘qning tashqi shakli o‘zgargan,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Ko‘r yara bilan yalama yara o‘rtasidagi farq nimada? 2) Uzlukli kanal jarohatning hayotiyligi haqida nimani ko‘rsatadi? Doskada chizish: teshib o‘tar, ko‘r va yalama yaralarni uchta qisqa sxema bilan chizing. Tipik xato: ko‘r yarani yalama yara bilan adashtirish; ko‘r yarada snaryad kanal ichida qoladi, yalama yarada tanaga to‘liq kirmaydi.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kirish teshigida hoshiya hosil bo‘ladi? 2) Defektni burma yordamida qanday tekshiramiz? Doskada: jadvalni yopib, talabalar xotirasidan to‘ldirsin. Tipik xato: to‘qima defekti chiqish teshigiga ham doim xos deb o‘ylash; u chiqishda kamdan kam uchraydi, asosan qalin bo‘lmagan sohalarda.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Yassi suyakda o‘q yo‘nalishini konus bo‘yicha qanday aniqlaymiz? 2) Ikki o‘q tekkan kalla suyagida qaysi biri avval tekkanini darz chiziqlari qanday ko‘rsatadi? Doskada: kesik konusni chizib, kichik va katta asosni belgilang, o‘q yo‘nalishini strelka bilan ko‘rsating. Tipik xato: konus yo‘nalishini teskari tushunish.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belgilar birgalikda kirish teshigini isbotlaydi? 2) Faqat shilinish hoshiyasiga tayanish nega yetarli emas? Doskada: ikki teshik va ular orasidagi kanalni chizib, yo‘nalishni strelka bilan belgilang. Tipik xato: chiqish teshigini doim kattaroq va notekis deb, boshqa belgilarni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Qobiqsiz o‘q to‘siqqa tekkanda nega shakli o‘zgaradi? 2) Pnevmatik qurol jarohatini qaysi distansiyadagi jarohatga o‘xshatish mumkin? Doskada: jadvalni qayta chizdiring. Tipik xato: tirab otilganda havo oqimidan lat eyishni qo‘shimcha omil (qurum, porox)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sochma masofa ortgan sari yoyiladi? 2) Snaryadsiz patron qachon xavfli? Doskada: masofa o‘qini chizib, uch ta’sir turini belgilang. Tipik xato: nisbiy tarqalma bilan tarqalma ta’sirni aralashtirish (nisbiy tarqalmada bitta asosiy teshik bo‘ladi).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Qurol turini aniqlash nega snaryad turidan murakkab? 2) Qaysi usul qaysi zarrachani ko‘rsatadi? Doskada: usul va aniqlanadigan narsani juftlab yozdiring. Tipik xato: otish masofasini faqat jarohat belgilariga qarab aniqlash; u eksperiment bilan aniqlanadi.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To‘siqdan o‘tgan o‘q nega atipik jarohat beradi? 2) Vinogradov fenomenini yaqin distansiyadagi qurumdan nima bilan farqlaymiz? Doskada chizish: «to‘siq → o‘q (deformatsiya, energiya kamayishi) → nishon» sxemasi va qurum joylashishi. Tipik xato: distansiya va masofani aralashtirish; to‘siqdagi qurumni jarohat atrofidagi qurum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To’siq orqali va deformatsiyalangan o’qlar bilan jarohatlanish xususiyatlari.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mavzuning dolzarbligi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jarohatlar o‘tmas va o‘tkir jismlardan olingan jarohatlarga nisbatan kamroq uchraydi. Shunga qaramay, ularga alohida e’tibor beriladi va atroflicha tekshiriladi.</a:t>
            </a:r>
          </a:p>
          <a:p>
            <a:pPr>
              <a:spcAft>
                <a:spcPts val="1200"/>
              </a:spcAft>
            </a:pPr>
            <a:r>
              <a:rPr sz="2200">
                <a:solidFill>
                  <a:srgbClr val="1F2937"/>
                </a:solidFill>
                <a:latin typeface="Calibri"/>
              </a:rPr>
              <a:t>▸  Yaqin masofadan otishda stvol uchi bilan jabrlangan orasida to‘siq bo‘lsa, o‘q uni teshib o‘tib nishonga tegadi.</a:t>
            </a:r>
          </a:p>
          <a:p>
            <a:pPr>
              <a:spcAft>
                <a:spcPts val="1200"/>
              </a:spcAft>
            </a:pPr>
            <a:r>
              <a:rPr sz="2200">
                <a:solidFill>
                  <a:srgbClr val="1F2937"/>
                </a:solidFill>
                <a:latin typeface="Calibri"/>
              </a:rPr>
              <a:t>▸  O‘q to‘siq bilan ta’sirlashganda deformatsiyalanadi, qisman yoki to‘liq parchalanadi. U kinetik energiyasini qisman yo‘qotadi va yo‘nalishi o‘zgaradi.</a:t>
            </a:r>
          </a:p>
          <a:p>
            <a:pPr>
              <a:spcAft>
                <a:spcPts val="1200"/>
              </a:spcAft>
            </a:pPr>
            <a:r>
              <a:rPr sz="2200">
                <a:solidFill>
                  <a:srgbClr val="1F2937"/>
                </a:solidFill>
                <a:latin typeface="Calibri"/>
              </a:rPr>
              <a:t>▸  Barcha qo‘shimcha omillar to‘siqda qoladi. Natijada shu distansiya va masofa uchun odatiy bo‘lmagan, atipik jarohatlar hosil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 88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qurolda shikastlovchi omil porox gazlarining energiyasi bilan harakatga keladi. Bunday quroldan yetkazilgan shikast o‘q otar jarohat deyiladi.</a:t>
            </a:r>
          </a:p>
          <a:p>
            <a:pPr>
              <a:spcAft>
                <a:spcPts val="1200"/>
              </a:spcAft>
            </a:pPr>
            <a:r>
              <a:rPr sz="2200">
                <a:solidFill>
                  <a:srgbClr val="1F2937"/>
                </a:solidFill>
                <a:latin typeface="Calibri"/>
              </a:rPr>
              <a:t>▸  Artillerik snaryad, mina, granata portlashidan va portlovchi moddalardan olingan shikastlar ham o‘q otar jarohatlar qatoriga kiritiladi.</a:t>
            </a:r>
          </a:p>
          <a:p>
            <a:pPr>
              <a:spcAft>
                <a:spcPts val="1200"/>
              </a:spcAft>
            </a:pPr>
            <a:r>
              <a:rPr sz="2200">
                <a:solidFill>
                  <a:srgbClr val="1F2937"/>
                </a:solidFill>
                <a:latin typeface="Calibri"/>
              </a:rPr>
              <a:t>▸  Sud tibbiyotida bu shikastlar shartli ravishda ikki guruhga bo‘linadi: o‘q otar qurollardan jarohat va portlash travmasi.</a:t>
            </a:r>
          </a:p>
          <a:p>
            <a:pPr>
              <a:spcAft>
                <a:spcPts val="1200"/>
              </a:spcAft>
            </a:pPr>
            <a:r>
              <a:rPr sz="2200">
                <a:solidFill>
                  <a:srgbClr val="1F2937"/>
                </a:solidFill>
                <a:latin typeface="Calibri"/>
              </a:rPr>
              <a:t>▸  O‘tmas va o‘tkir jismlardan farqi: snaryad massasi kichik, tezligi katta, katta masofada ta’sir qiladi va mexanik omildan tashqari termik, kimyoviy ta’sir ham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qurollar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Maqsadi bo‘yicha jangovor, ov, sport, gaz va maxsus o‘q otar qurollar farqlanadi.</a:t>
            </a:r>
          </a:p>
          <a:p>
            <a:pPr>
              <a:spcAft>
                <a:spcPts val="800"/>
              </a:spcAft>
            </a:pPr>
            <a:r>
              <a:rPr sz="1800">
                <a:solidFill>
                  <a:srgbClr val="1F2937"/>
                </a:solidFill>
                <a:latin typeface="Calibri"/>
              </a:rPr>
              <a:t>▸  Maxsus ishlab chiqarilgani tipik qurol. Qo‘lbola yoki o‘zgartirilgani (stvoli, qo‘ndog‘i kaltalangan miltiq) atipik.</a:t>
            </a:r>
          </a:p>
          <a:p>
            <a:pPr>
              <a:spcAft>
                <a:spcPts val="800"/>
              </a:spcAft>
            </a:pPr>
            <a:r>
              <a:rPr sz="1800">
                <a:solidFill>
                  <a:srgbClr val="1F2937"/>
                </a:solidFill>
                <a:latin typeface="Calibri"/>
              </a:rPr>
              <a:t>▸  Jangovor qurollar artillerik va xususan o‘q otar qurollarga bo‘linadi.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38320"/>
                <a:gridCol w="1538320"/>
                <a:gridCol w="221133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Stvol uzunligi</a:t>
                      </a:r>
                    </a:p>
                  </a:txBody>
                  <a:tcPr marL="73152" marR="73152" marT="36576" marB="36576">
                    <a:solidFill>
                      <a:srgbClr val="E8EEF6"/>
                    </a:solidFill>
                  </a:tcPr>
                </a:tc>
                <a:tc>
                  <a:txBody>
                    <a:bodyPr/>
                    <a:lstStyle/>
                    <a:p>
                      <a:r>
                        <a:rPr sz="1200" b="0">
                          <a:solidFill>
                            <a:srgbClr val="1F2937"/>
                          </a:solidFill>
                        </a:rPr>
                        <a:t>Uzun</a:t>
                      </a:r>
                    </a:p>
                  </a:txBody>
                  <a:tcPr marL="73152" marR="73152" marT="36576" marB="36576">
                    <a:solidFill>
                      <a:srgbClr val="E8EEF6"/>
                    </a:solidFill>
                  </a:tcPr>
                </a:tc>
                <a:tc>
                  <a:txBody>
                    <a:bodyPr/>
                    <a:lstStyle/>
                    <a:p>
                      <a:r>
                        <a:rPr sz="1200" b="0">
                          <a:solidFill>
                            <a:srgbClr val="1F2937"/>
                          </a:solidFill>
                        </a:rPr>
                        <a:t>Miltiq, karabin</a:t>
                      </a:r>
                    </a:p>
                  </a:txBody>
                  <a:tcPr marL="73152" marR="73152" marT="36576" marB="36576">
                    <a:solidFill>
                      <a:srgbClr val="E8EEF6"/>
                    </a:solidFill>
                  </a:tcPr>
                </a:tc>
              </a:tr>
              <a:tr h="411480">
                <a:tc>
                  <a:txBody>
                    <a:bodyPr/>
                    <a:lstStyle/>
                    <a:p>
                      <a:r>
                        <a:rPr sz="1200" b="0">
                          <a:solidFill>
                            <a:srgbClr val="1F2937"/>
                          </a:solidFill>
                        </a:rPr>
                        <a:t>Stvol uzunligi</a:t>
                      </a:r>
                    </a:p>
                  </a:txBody>
                  <a:tcPr marL="73152" marR="73152" marT="36576" marB="36576">
                    <a:solidFill>
                      <a:srgbClr val="FFFFFF"/>
                    </a:solidFill>
                  </a:tcPr>
                </a:tc>
                <a:tc>
                  <a:txBody>
                    <a:bodyPr/>
                    <a:lstStyle/>
                    <a:p>
                      <a:r>
                        <a:rPr sz="1200" b="0">
                          <a:solidFill>
                            <a:srgbClr val="1F2937"/>
                          </a:solidFill>
                        </a:rPr>
                        <a:t>O‘rta</a:t>
                      </a:r>
                    </a:p>
                  </a:txBody>
                  <a:tcPr marL="73152" marR="73152" marT="36576" marB="36576">
                    <a:solidFill>
                      <a:srgbClr val="FFFFFF"/>
                    </a:solidFill>
                  </a:tcPr>
                </a:tc>
                <a:tc>
                  <a:txBody>
                    <a:bodyPr/>
                    <a:lstStyle/>
                    <a:p>
                      <a:r>
                        <a:rPr sz="1200" b="0">
                          <a:solidFill>
                            <a:srgbClr val="1F2937"/>
                          </a:solidFill>
                        </a:rPr>
                        <a:t>Pistolet-pulemet</a:t>
                      </a:r>
                    </a:p>
                  </a:txBody>
                  <a:tcPr marL="73152" marR="73152" marT="36576" marB="36576">
                    <a:solidFill>
                      <a:srgbClr val="FFFFFF"/>
                    </a:solidFill>
                  </a:tcPr>
                </a:tc>
              </a:tr>
              <a:tr h="411480">
                <a:tc>
                  <a:txBody>
                    <a:bodyPr/>
                    <a:lstStyle/>
                    <a:p>
                      <a:r>
                        <a:rPr sz="1200" b="0">
                          <a:solidFill>
                            <a:srgbClr val="1F2937"/>
                          </a:solidFill>
                        </a:rPr>
                        <a:t>Stvol uzunligi</a:t>
                      </a:r>
                    </a:p>
                  </a:txBody>
                  <a:tcPr marL="73152" marR="73152" marT="36576" marB="36576">
                    <a:solidFill>
                      <a:srgbClr val="E8EEF6"/>
                    </a:solidFill>
                  </a:tcPr>
                </a:tc>
                <a:tc>
                  <a:txBody>
                    <a:bodyPr/>
                    <a:lstStyle/>
                    <a:p>
                      <a:r>
                        <a:rPr sz="1200" b="0">
                          <a:solidFill>
                            <a:srgbClr val="1F2937"/>
                          </a:solidFill>
                        </a:rPr>
                        <a:t>Kalta</a:t>
                      </a:r>
                    </a:p>
                  </a:txBody>
                  <a:tcPr marL="73152" marR="73152" marT="36576" marB="36576">
                    <a:solidFill>
                      <a:srgbClr val="E8EEF6"/>
                    </a:solidFill>
                  </a:tcPr>
                </a:tc>
                <a:tc>
                  <a:txBody>
                    <a:bodyPr/>
                    <a:lstStyle/>
                    <a:p>
                      <a:r>
                        <a:rPr sz="1200" b="0">
                          <a:solidFill>
                            <a:srgbClr val="1F2937"/>
                          </a:solidFill>
                        </a:rPr>
                        <a:t>Pistolet, revolver</a:t>
                      </a:r>
                    </a:p>
                  </a:txBody>
                  <a:tcPr marL="73152" marR="73152" marT="36576" marB="36576">
                    <a:solidFill>
                      <a:srgbClr val="E8EEF6"/>
                    </a:solidFill>
                  </a:tcPr>
                </a:tc>
              </a:tr>
              <a:tr h="411480">
                <a:tc>
                  <a:txBody>
                    <a:bodyPr/>
                    <a:lstStyle/>
                    <a:p>
                      <a:r>
                        <a:rPr sz="1200" b="0">
                          <a:solidFill>
                            <a:srgbClr val="1F2937"/>
                          </a:solidFill>
                        </a:rPr>
                        <a:t>Tayyorlanishi</a:t>
                      </a:r>
                    </a:p>
                  </a:txBody>
                  <a:tcPr marL="73152" marR="73152" marT="36576" marB="36576">
                    <a:solidFill>
                      <a:srgbClr val="FFFFFF"/>
                    </a:solidFill>
                  </a:tcPr>
                </a:tc>
                <a:tc>
                  <a:txBody>
                    <a:bodyPr/>
                    <a:lstStyle/>
                    <a:p>
                      <a:r>
                        <a:rPr sz="1200" b="0">
                          <a:solidFill>
                            <a:srgbClr val="1F2937"/>
                          </a:solidFill>
                        </a:rPr>
                        <a:t>Tipik / atipik</a:t>
                      </a:r>
                    </a:p>
                  </a:txBody>
                  <a:tcPr marL="73152" marR="73152" marT="36576" marB="36576">
                    <a:solidFill>
                      <a:srgbClr val="FFFFFF"/>
                    </a:solidFill>
                  </a:tcPr>
                </a:tc>
                <a:tc>
                  <a:txBody>
                    <a:bodyPr/>
                    <a:lstStyle/>
                    <a:p>
                      <a:r>
                        <a:rPr sz="1200" b="0">
                          <a:solidFill>
                            <a:srgbClr val="1F2937"/>
                          </a:solidFill>
                        </a:rPr>
                        <a:t>Zavod quroli / qo‘lbola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Qurollar tasnifi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Stvol: silliq va o‘yiqli, kalibr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Stvol — metall naycha; undagi yuqori bosim snaryadni nishon tomon harakatlantiradi.</a:t>
            </a:r>
          </a:p>
          <a:p>
            <a:pPr>
              <a:spcAft>
                <a:spcPts val="800"/>
              </a:spcAft>
            </a:pPr>
            <a:r>
              <a:rPr sz="1800">
                <a:solidFill>
                  <a:srgbClr val="1F2937"/>
                </a:solidFill>
                <a:latin typeface="Calibri"/>
              </a:rPr>
              <a:t>▸  O‘yiqlar o‘qqa aylanma harakat beradi: tezlik katta, uchish uzoqroq va aniqroq bo‘ladi.</a:t>
            </a:r>
          </a:p>
          <a:p>
            <a:pPr>
              <a:spcAft>
                <a:spcPts val="800"/>
              </a:spcAft>
            </a:pPr>
            <a:r>
              <a:rPr sz="1800">
                <a:solidFill>
                  <a:srgbClr val="1F2937"/>
                </a:solidFill>
                <a:latin typeface="Calibri"/>
              </a:rPr>
              <a:t>▸  Silliq stvolli ov qurolida kalibr soni katta bo‘lsa, stvol kanalining diametri kichikroq bo‘ladi.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113257"/>
                <a:gridCol w="1878622"/>
                <a:gridCol w="229609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Silliq stvol</a:t>
                      </a:r>
                    </a:p>
                  </a:txBody>
                  <a:tcPr marL="73152" marR="73152" marT="36576" marB="36576">
                    <a:solidFill>
                      <a:srgbClr val="0B1F3A"/>
                    </a:solidFill>
                  </a:tcPr>
                </a:tc>
                <a:tc>
                  <a:txBody>
                    <a:bodyPr/>
                    <a:lstStyle/>
                    <a:p>
                      <a:r>
                        <a:rPr sz="1300" b="1">
                          <a:solidFill>
                            <a:srgbClr val="FFFFFF"/>
                          </a:solidFill>
                        </a:rPr>
                        <a:t>O‘yiqli stvol</a:t>
                      </a:r>
                    </a:p>
                  </a:txBody>
                  <a:tcPr marL="73152" marR="73152" marT="36576" marB="36576">
                    <a:solidFill>
                      <a:srgbClr val="0B1F3A"/>
                    </a:solidFill>
                  </a:tcPr>
                </a:tc>
              </a:tr>
              <a:tr h="411480">
                <a:tc>
                  <a:txBody>
                    <a:bodyPr/>
                    <a:lstStyle/>
                    <a:p>
                      <a:r>
                        <a:rPr sz="1200" b="0">
                          <a:solidFill>
                            <a:srgbClr val="1F2937"/>
                          </a:solidFill>
                        </a:rPr>
                        <a:t>Ichki yuza</a:t>
                      </a:r>
                    </a:p>
                  </a:txBody>
                  <a:tcPr marL="73152" marR="73152" marT="36576" marB="36576">
                    <a:solidFill>
                      <a:srgbClr val="E8EEF6"/>
                    </a:solidFill>
                  </a:tcPr>
                </a:tc>
                <a:tc>
                  <a:txBody>
                    <a:bodyPr/>
                    <a:lstStyle/>
                    <a:p>
                      <a:r>
                        <a:rPr sz="1200" b="0">
                          <a:solidFill>
                            <a:srgbClr val="1F2937"/>
                          </a:solidFill>
                        </a:rPr>
                        <a:t>O‘yiqsiz, tekis</a:t>
                      </a:r>
                    </a:p>
                  </a:txBody>
                  <a:tcPr marL="73152" marR="73152" marT="36576" marB="36576">
                    <a:solidFill>
                      <a:srgbClr val="E8EEF6"/>
                    </a:solidFill>
                  </a:tcPr>
                </a:tc>
                <a:tc>
                  <a:txBody>
                    <a:bodyPr/>
                    <a:lstStyle/>
                    <a:p>
                      <a:r>
                        <a:rPr sz="1200" b="0">
                          <a:solidFill>
                            <a:srgbClr val="1F2937"/>
                          </a:solidFill>
                        </a:rPr>
                        <a:t>4-6 vintsimon o‘yiq</a:t>
                      </a:r>
                    </a:p>
                  </a:txBody>
                  <a:tcPr marL="73152" marR="73152" marT="36576" marB="36576">
                    <a:solidFill>
                      <a:srgbClr val="E8EEF6"/>
                    </a:solidFill>
                  </a:tcPr>
                </a:tc>
              </a:tr>
              <a:tr h="411480">
                <a:tc>
                  <a:txBody>
                    <a:bodyPr/>
                    <a:lstStyle/>
                    <a:p>
                      <a:r>
                        <a:rPr sz="1200" b="0">
                          <a:solidFill>
                            <a:srgbClr val="1F2937"/>
                          </a:solidFill>
                        </a:rPr>
                        <a:t>Kalibr o‘lchami</a:t>
                      </a:r>
                    </a:p>
                  </a:txBody>
                  <a:tcPr marL="73152" marR="73152" marT="36576" marB="36576">
                    <a:solidFill>
                      <a:srgbClr val="FFFFFF"/>
                    </a:solidFill>
                  </a:tcPr>
                </a:tc>
                <a:tc>
                  <a:txBody>
                    <a:bodyPr/>
                    <a:lstStyle/>
                    <a:p>
                      <a:r>
                        <a:rPr sz="1200" b="0">
                          <a:solidFill>
                            <a:srgbClr val="1F2937"/>
                          </a:solidFill>
                        </a:rPr>
                        <a:t>Sharsimon o‘q soni (1 funt)</a:t>
                      </a:r>
                    </a:p>
                  </a:txBody>
                  <a:tcPr marL="73152" marR="73152" marT="36576" marB="36576">
                    <a:solidFill>
                      <a:srgbClr val="FFFFFF"/>
                    </a:solidFill>
                  </a:tcPr>
                </a:tc>
                <a:tc>
                  <a:txBody>
                    <a:bodyPr/>
                    <a:lstStyle/>
                    <a:p>
                      <a:r>
                        <a:rPr sz="1200" b="0">
                          <a:solidFill>
                            <a:srgbClr val="1F2937"/>
                          </a:solidFill>
                        </a:rPr>
                        <a:t>O‘yiqlararo masofa, mm</a:t>
                      </a:r>
                    </a:p>
                  </a:txBody>
                  <a:tcPr marL="73152" marR="73152" marT="36576" marB="36576">
                    <a:solidFill>
                      <a:srgbClr val="FFFFFF"/>
                    </a:solidFill>
                  </a:tcPr>
                </a:tc>
              </a:tr>
              <a:tr h="411480">
                <a:tc>
                  <a:txBody>
                    <a:bodyPr/>
                    <a:lstStyle/>
                    <a:p>
                      <a:r>
                        <a:rPr sz="1200" b="0">
                          <a:solidFill>
                            <a:srgbClr val="1F2937"/>
                          </a:solidFill>
                        </a:rPr>
                        <a:t>Kalibr guruhi</a:t>
                      </a:r>
                    </a:p>
                  </a:txBody>
                  <a:tcPr marL="73152" marR="73152" marT="36576" marB="36576">
                    <a:solidFill>
                      <a:srgbClr val="E8EEF6"/>
                    </a:solidFill>
                  </a:tcPr>
                </a:tc>
                <a:tc>
                  <a:txBody>
                    <a:bodyPr/>
                    <a:lstStyle/>
                    <a:p>
                      <a:r>
                        <a:rPr sz="1200" b="0">
                          <a:solidFill>
                            <a:srgbClr val="1F2937"/>
                          </a:solidFill>
                        </a:rPr>
                        <a:t>Son katta — kanal kichik</a:t>
                      </a:r>
                    </a:p>
                  </a:txBody>
                  <a:tcPr marL="73152" marR="73152" marT="36576" marB="36576">
                    <a:solidFill>
                      <a:srgbClr val="E8EEF6"/>
                    </a:solidFill>
                  </a:tcPr>
                </a:tc>
                <a:tc>
                  <a:txBody>
                    <a:bodyPr/>
                    <a:lstStyle/>
                    <a:p>
                      <a:r>
                        <a:rPr sz="1200" b="0">
                          <a:solidFill>
                            <a:srgbClr val="1F2937"/>
                          </a:solidFill>
                        </a:rPr>
                        <a:t>Mayda ≤6, o‘rta 7-9, yirik ≥10 mm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Stvol turlarini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 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Jangovor patron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Unitar patronda snaryad, porox va kapsyul bir butun holda gilza ichiga joylangan.</a:t>
            </a:r>
          </a:p>
          <a:p>
            <a:pPr>
              <a:spcAft>
                <a:spcPts val="800"/>
              </a:spcAft>
            </a:pPr>
            <a:r>
              <a:rPr sz="1800">
                <a:solidFill>
                  <a:srgbClr val="1F2937"/>
                </a:solidFill>
                <a:latin typeface="Calibri"/>
              </a:rPr>
              <a:t>▸  Uzun stvolli qurol o‘qining uchi biroz o‘tkir, uzunligi kengligidan 3-5 barobar katta.</a:t>
            </a:r>
          </a:p>
          <a:p>
            <a:pPr>
              <a:spcAft>
                <a:spcPts val="800"/>
              </a:spcAft>
            </a:pPr>
            <a:r>
              <a:rPr sz="1800">
                <a:solidFill>
                  <a:srgbClr val="1F2937"/>
                </a:solidFill>
                <a:latin typeface="Calibri"/>
              </a:rPr>
              <a:t>▸  Kalta stvolli qurol o‘qining uchi dumaloq yoki kesik konus shaklida bo‘ladi.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Tepki kapsyulga uriladi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Kapsyul poroxni yondiradi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 gazlari bosim hosil qiladi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Snaryad stvoldan chiqadi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Otish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Maxsus o‘qlar va ularning xususiyati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Zirxteshar o‘qning asosi maxsus po‘latdan, yondiruvchi o‘qda fosfor, iz qoldiruvchi o‘qda esa bariy va magniy birikmalari bo‘ladi.</a:t>
            </a:r>
          </a:p>
          <a:p>
            <a:pPr>
              <a:spcAft>
                <a:spcPts val="1200"/>
              </a:spcAft>
            </a:pPr>
            <a:r>
              <a:rPr sz="2200">
                <a:solidFill>
                  <a:srgbClr val="1F2937"/>
                </a:solidFill>
                <a:latin typeface="Calibri"/>
              </a:rPr>
              <a:t>▸  Yorma o‘q nishonga tekkanda mayda qismlarga bo‘linadi; xalqaro bitimlarga ko‘ra jangovor harakatlarda ulardan foydalanish taqiqlangan.</a:t>
            </a:r>
          </a:p>
          <a:p>
            <a:pPr>
              <a:spcAft>
                <a:spcPts val="1200"/>
              </a:spcAft>
            </a:pPr>
            <a:r>
              <a:rPr sz="2200">
                <a:solidFill>
                  <a:srgbClr val="1F2937"/>
                </a:solidFill>
                <a:latin typeface="Calibri"/>
              </a:rPr>
              <a:t>▸  Jangovor va sport qurollarida nitrotsellyulozadan tayyorlangan tutunsiz porox ishlatiladi; qora porox asosan ov va signal qurollarida, ayrim gaz qurollarida.</a:t>
            </a:r>
          </a:p>
          <a:p>
            <a:pPr>
              <a:spcAft>
                <a:spcPts val="1200"/>
              </a:spcAft>
            </a:pPr>
            <a:r>
              <a:rPr sz="2200">
                <a:solidFill>
                  <a:srgbClr val="1F2937"/>
                </a:solidFill>
                <a:latin typeface="Calibri"/>
              </a:rPr>
              <a:t>▸  Diqqat: 1 g qora porox taxminan 300 kub sm gaz beradi, tutunsiz porox esa uch barobar ko‘p — o‘qqa energiya kattaroq beriladi.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82, 82-83, 83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 va ov o‘qlari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Sochmali patron gilzasi latun, plastmassa yoki kartondan tayyorlanadi. Zaryad sifatida qora porox ishlatilishi mumkin.</a:t>
            </a:r>
          </a:p>
          <a:p>
            <a:pPr>
              <a:spcAft>
                <a:spcPts val="1200"/>
              </a:spcAft>
            </a:pPr>
            <a:r>
              <a:rPr sz="2200">
                <a:solidFill>
                  <a:srgbClr val="1F2937"/>
                </a:solidFill>
                <a:latin typeface="Calibri"/>
              </a:rPr>
              <a:t>▸  Germetiklik uchun porox kigiz, karton yoki plastmassa tiqin bilan yopiladi. Uning ustida sochmalar bo‘ladi, ular ham tiqin bilan yopiladi.</a:t>
            </a:r>
          </a:p>
          <a:p>
            <a:pPr>
              <a:spcAft>
                <a:spcPts val="1200"/>
              </a:spcAft>
            </a:pPr>
            <a:r>
              <a:rPr sz="2200">
                <a:solidFill>
                  <a:srgbClr val="1F2937"/>
                </a:solidFill>
                <a:latin typeface="Calibri"/>
              </a:rPr>
              <a:t>▸  Sochma — diametri 1 mm dan 5,5 mm gacha bo‘lgan mayda sharcha. Bundan katta sharchalar katta sochma (kartech) deb ataladi.</a:t>
            </a:r>
          </a:p>
          <a:p>
            <a:pPr>
              <a:spcAft>
                <a:spcPts val="1200"/>
              </a:spcAft>
            </a:pPr>
            <a:r>
              <a:rPr sz="2200">
                <a:solidFill>
                  <a:srgbClr val="1F2937"/>
                </a:solidFill>
                <a:latin typeface="Calibri"/>
              </a:rPr>
              <a:t>▸  Silliq stvolli ov qurolining o‘qli patronida diametri 10 mm dan katta sharsimon qo‘rg‘oshin o‘qlar, Yakan va Brenneke o‘qlari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qurol va patron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o‘yiqli stvolning silliq stvoldan farqi nima? Javob: ichki yuzada 4-6 vintsimon o‘yiq bor, ular snaryadga aylanma harakat beradi.</a:t>
            </a:r>
          </a:p>
          <a:p>
            <a:pPr>
              <a:spcAft>
                <a:spcPts val="1200"/>
              </a:spcAft>
            </a:pPr>
            <a:r>
              <a:rPr sz="2200">
                <a:solidFill>
                  <a:srgbClr val="1F2937"/>
                </a:solidFill>
                <a:latin typeface="Calibri"/>
              </a:rPr>
              <a:t>▸  2-savol: standart patronda nimalar gilza ichida jamlangan? Javob: snaryad (o‘q), porox zaryadi va uni yondiruvchi kapsyul.</a:t>
            </a:r>
          </a:p>
          <a:p>
            <a:pPr>
              <a:spcAft>
                <a:spcPts val="1200"/>
              </a:spcAft>
            </a:pPr>
            <a:r>
              <a:rPr sz="2200">
                <a:solidFill>
                  <a:srgbClr val="1F2937"/>
                </a:solidFill>
                <a:latin typeface="Calibri"/>
              </a:rPr>
              <a:t>▸  3-savol: tutunsiz porox qaysi moddadan tayyorlanadi? Javob: nitrotsellyulozadan. Qora porox 1 g yonganda taxminan 300 kub sm gaz beradi, tutunsizda bu uch barobar ko‘p.</a:t>
            </a:r>
          </a:p>
          <a:p>
            <a:pPr>
              <a:spcAft>
                <a:spcPts val="1200"/>
              </a:spcAft>
            </a:pPr>
            <a:r>
              <a:rPr sz="2200">
                <a:solidFill>
                  <a:srgbClr val="1F2937"/>
                </a:solidFill>
                <a:latin typeface="Calibri"/>
              </a:rPr>
              <a:t>▸  Diqqat: xato qilish xavfi. Silliq stvolli ov qurolida kalibr soni katta bo‘lgan sari stvol kanalining diametri kichik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81, 82, 82-83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Shikastlovchi omillar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Porox yonganda 0,01-0,001 sek. ichida gaz bosimi hosil bo‘lib, snaryadni stvoldan otib chiqaradi.</a:t>
            </a:r>
          </a:p>
          <a:p>
            <a:pPr>
              <a:spcAft>
                <a:spcPts val="800"/>
              </a:spcAft>
            </a:pPr>
            <a:r>
              <a:rPr sz="1800">
                <a:solidFill>
                  <a:srgbClr val="1F2937"/>
                </a:solidFill>
                <a:latin typeface="Calibri"/>
              </a:rPr>
              <a:t>▸  Bosim silliq stvolda 400-700 atmosfera, o‘yiqli stvolda 2000-3000 atmosferaga teng bo‘ladi.</a:t>
            </a:r>
          </a:p>
          <a:p>
            <a:pPr>
              <a:spcAft>
                <a:spcPts val="800"/>
              </a:spcAft>
            </a:pPr>
            <a:r>
              <a:rPr sz="1800">
                <a:solidFill>
                  <a:srgbClr val="1F2937"/>
                </a:solidFill>
                <a:latin typeface="Calibri"/>
              </a:rPr>
              <a:t>▸  Stvoldan chiqish tezligi: Makarov pistoletida 315 m/sek., AKM avtomatida 710 m/sek.</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730610"/>
                <a:gridCol w="3557365"/>
              </a:tblGrid>
              <a:tr h="411480">
                <a:tc>
                  <a:txBody>
                    <a:bodyPr/>
                    <a:lstStyle/>
                    <a:p>
                      <a:r>
                        <a:rPr sz="1400" b="1">
                          <a:solidFill>
                            <a:srgbClr val="FFFFFF"/>
                          </a:solidFill>
                        </a:rPr>
                        <a:t>Omil</a:t>
                      </a:r>
                    </a:p>
                  </a:txBody>
                  <a:tcPr marL="73152" marR="73152" marT="36576" marB="36576">
                    <a:solidFill>
                      <a:srgbClr val="0B1F3A"/>
                    </a:solidFill>
                  </a:tcPr>
                </a:tc>
                <a:tc>
                  <a:txBody>
                    <a:bodyPr/>
                    <a:lstStyle/>
                    <a:p>
                      <a:r>
                        <a:rPr sz="1400" b="1">
                          <a:solidFill>
                            <a:srgbClr val="FFFFFF"/>
                          </a:solidFill>
                        </a:rPr>
                        <a:t>Misol</a:t>
                      </a:r>
                    </a:p>
                  </a:txBody>
                  <a:tcPr marL="73152" marR="73152" marT="36576" marB="36576">
                    <a:solidFill>
                      <a:srgbClr val="0B1F3A"/>
                    </a:solidFill>
                  </a:tcPr>
                </a:tc>
              </a:tr>
              <a:tr h="411480">
                <a:tc>
                  <a:txBody>
                    <a:bodyPr/>
                    <a:lstStyle/>
                    <a:p>
                      <a:r>
                        <a:rPr sz="1300" b="0">
                          <a:solidFill>
                            <a:srgbClr val="1F2937"/>
                          </a:solidFill>
                        </a:rPr>
                        <a:t>Asosiy snaryad</a:t>
                      </a:r>
                    </a:p>
                  </a:txBody>
                  <a:tcPr marL="73152" marR="73152" marT="36576" marB="36576">
                    <a:solidFill>
                      <a:srgbClr val="E8EEF6"/>
                    </a:solidFill>
                  </a:tcPr>
                </a:tc>
                <a:tc>
                  <a:txBody>
                    <a:bodyPr/>
                    <a:lstStyle/>
                    <a:p>
                      <a:r>
                        <a:rPr sz="1300" b="0">
                          <a:solidFill>
                            <a:srgbClr val="1F2937"/>
                          </a:solidFill>
                        </a:rPr>
                        <a:t>o‘q, sochma va ularning qismlari</a:t>
                      </a:r>
                    </a:p>
                  </a:txBody>
                  <a:tcPr marL="73152" marR="73152" marT="36576" marB="36576">
                    <a:solidFill>
                      <a:srgbClr val="E8EEF6"/>
                    </a:solidFill>
                  </a:tcPr>
                </a:tc>
              </a:tr>
              <a:tr h="411480">
                <a:tc>
                  <a:txBody>
                    <a:bodyPr/>
                    <a:lstStyle/>
                    <a:p>
                      <a:r>
                        <a:rPr sz="1300" b="0">
                          <a:solidFill>
                            <a:srgbClr val="1F2937"/>
                          </a:solidFill>
                        </a:rPr>
                        <a:t>Qo‘shimcha omillar</a:t>
                      </a:r>
                    </a:p>
                  </a:txBody>
                  <a:tcPr marL="73152" marR="73152" marT="36576" marB="36576">
                    <a:solidFill>
                      <a:srgbClr val="FFFFFF"/>
                    </a:solidFill>
                  </a:tcPr>
                </a:tc>
                <a:tc>
                  <a:txBody>
                    <a:bodyPr/>
                    <a:lstStyle/>
                    <a:p>
                      <a:r>
                        <a:rPr sz="1300" b="0">
                          <a:solidFill>
                            <a:srgbClr val="1F2937"/>
                          </a:solidFill>
                        </a:rPr>
                        <a:t>havo, alanga, gaz, qurum, zarrachalar</a:t>
                      </a:r>
                    </a:p>
                  </a:txBody>
                  <a:tcPr marL="73152" marR="73152" marT="36576" marB="36576">
                    <a:solidFill>
                      <a:srgbClr val="FFFFFF"/>
                    </a:solidFill>
                  </a:tcPr>
                </a:tc>
              </a:tr>
              <a:tr h="411480">
                <a:tc>
                  <a:txBody>
                    <a:bodyPr/>
                    <a:lstStyle/>
                    <a:p>
                      <a:r>
                        <a:rPr sz="1300" b="0">
                          <a:solidFill>
                            <a:srgbClr val="1F2937"/>
                          </a:solidFill>
                        </a:rPr>
                        <a:t>O‘q otar qurol</a:t>
                      </a:r>
                    </a:p>
                  </a:txBody>
                  <a:tcPr marL="73152" marR="73152" marT="36576" marB="36576">
                    <a:solidFill>
                      <a:srgbClr val="E8EEF6"/>
                    </a:solidFill>
                  </a:tcPr>
                </a:tc>
                <a:tc>
                  <a:txBody>
                    <a:bodyPr/>
                    <a:lstStyle/>
                    <a:p>
                      <a:r>
                        <a:rPr sz="1300" b="0">
                          <a:solidFill>
                            <a:srgbClr val="1F2937"/>
                          </a:solidFill>
                        </a:rPr>
                        <a:t>stvol yorilganda shikast etkazadi</a:t>
                      </a:r>
                    </a:p>
                  </a:txBody>
                  <a:tcPr marL="73152" marR="73152" marT="36576" marB="36576">
                    <a:solidFill>
                      <a:srgbClr val="E8EEF6"/>
                    </a:solidFill>
                  </a:tcPr>
                </a:tc>
              </a:tr>
              <a:tr h="411480">
                <a:tc>
                  <a:txBody>
                    <a:bodyPr/>
                    <a:lstStyle/>
                    <a:p>
                      <a:r>
                        <a:rPr sz="1300" b="0">
                          <a:solidFill>
                            <a:srgbClr val="1F2937"/>
                          </a:solidFill>
                        </a:rPr>
                        <a:t>Ikkilamchi snaryad</a:t>
                      </a:r>
                    </a:p>
                  </a:txBody>
                  <a:tcPr marL="73152" marR="73152" marT="36576" marB="36576">
                    <a:solidFill>
                      <a:srgbClr val="FFFFFF"/>
                    </a:solidFill>
                  </a:tcPr>
                </a:tc>
                <a:tc>
                  <a:txBody>
                    <a:bodyPr/>
                    <a:lstStyle/>
                    <a:p>
                      <a:r>
                        <a:rPr sz="1300" b="0">
                          <a:solidFill>
                            <a:srgbClr val="1F2937"/>
                          </a:solidFill>
                        </a:rPr>
                        <a:t>kiyim, suyak bo‘laklari, to‘siq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Shikastlovchi omillar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83, 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Ikkilamchi snaryadlar: to‘siq va kiyim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o‘q va sochma birlamchi snaryad. To‘siq, kiyim va suyak bo‘laklari esa ikkilamchi snaryad hisoblanadi.</a:t>
            </a:r>
          </a:p>
          <a:p>
            <a:pPr>
              <a:spcAft>
                <a:spcPts val="1200"/>
              </a:spcAft>
            </a:pPr>
            <a:r>
              <a:rPr sz="2200">
                <a:solidFill>
                  <a:srgbClr val="1F2937"/>
                </a:solidFill>
                <a:latin typeface="Calibri"/>
              </a:rPr>
              <a:t>▸  O‘q yo‘lidagi to‘siq, kiyim-bosh va ajralgan suyak bo‘laklari ikkilamchi snaryad vazifasini bajarib, har xil jarohat hosil qiladi.</a:t>
            </a:r>
          </a:p>
          <a:p>
            <a:pPr>
              <a:spcAft>
                <a:spcPts val="1200"/>
              </a:spcAft>
            </a:pPr>
            <a:r>
              <a:rPr sz="2200">
                <a:solidFill>
                  <a:srgbClr val="1F2937"/>
                </a:solidFill>
                <a:latin typeface="Calibri"/>
              </a:rPr>
              <a:t>▸  Ularning mexanik ta’siri turi, massasi, o‘lchami va harakat energiyasiga bog‘liq. Jarohat ko‘rinishi shunga qarab o‘zgaradi.</a:t>
            </a:r>
          </a:p>
          <a:p>
            <a:pPr>
              <a:spcAft>
                <a:spcPts val="1200"/>
              </a:spcAft>
            </a:pPr>
            <a:r>
              <a:rPr sz="2200">
                <a:solidFill>
                  <a:srgbClr val="1F2937"/>
                </a:solidFill>
                <a:latin typeface="Calibri"/>
              </a:rPr>
              <a:t>▸  To‘siqqa urilgan o‘q deformatsiyalanishi yoki parchalanishi, energiyasini qisman yo‘qotishi va yo‘nalishini o‘zgartirishi mumkin. Natijada atipik jarohat chiqadi.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83-84, 84, 86, 88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Energiyaga bog‘liq ta’sir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Yorma ta’sir maxsus yoki og‘irlik markazi siljigan o‘qlarda, shuningdek tirab otishda ham bo‘lishi mumkin.</a:t>
            </a:r>
          </a:p>
          <a:p>
            <a:pPr>
              <a:spcAft>
                <a:spcPts val="800"/>
              </a:spcAft>
            </a:pPr>
            <a:r>
              <a:rPr sz="1800">
                <a:solidFill>
                  <a:srgbClr val="1F2937"/>
                </a:solidFill>
                <a:latin typeface="Calibri"/>
              </a:rPr>
              <a:t>▸  Yulma ta’sirda to‘qima defekti (minus-to‘qima) hosil bo‘ladi. Uni Pirogov 1849-yilda tavsiflagan.</a:t>
            </a:r>
          </a:p>
          <a:p>
            <a:pPr>
              <a:spcAft>
                <a:spcPts val="800"/>
              </a:spcAft>
            </a:pPr>
            <a:r>
              <a:rPr sz="1800">
                <a:solidFill>
                  <a:srgbClr val="1F2937"/>
                </a:solidFill>
                <a:latin typeface="Calibri"/>
              </a:rPr>
              <a:t>▸  Ponasimon ta’sir ko‘pincha o‘qning chiqish teshigini hosil qiladi.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128101"/>
                <a:gridCol w="1339620"/>
                <a:gridCol w="2820253"/>
              </a:tblGrid>
              <a:tr h="411480">
                <a:tc>
                  <a:txBody>
                    <a:bodyPr/>
                    <a:lstStyle/>
                    <a:p>
                      <a:r>
                        <a:rPr sz="1300" b="1">
                          <a:solidFill>
                            <a:srgbClr val="FFFFFF"/>
                          </a:solidFill>
                        </a:rPr>
                        <a:t>Ta’sir</a:t>
                      </a:r>
                    </a:p>
                  </a:txBody>
                  <a:tcPr marL="73152" marR="73152" marT="36576" marB="36576">
                    <a:solidFill>
                      <a:srgbClr val="0B1F3A"/>
                    </a:solidFill>
                  </a:tcPr>
                </a:tc>
                <a:tc>
                  <a:txBody>
                    <a:bodyPr/>
                    <a:lstStyle/>
                    <a:p>
                      <a:r>
                        <a:rPr sz="1300" b="1">
                          <a:solidFill>
                            <a:srgbClr val="FFFFFF"/>
                          </a:solidFill>
                        </a:rPr>
                        <a:t>Energiya</a:t>
                      </a:r>
                    </a:p>
                  </a:txBody>
                  <a:tcPr marL="73152" marR="73152" marT="36576" marB="36576">
                    <a:solidFill>
                      <a:srgbClr val="0B1F3A"/>
                    </a:solidFill>
                  </a:tcPr>
                </a:tc>
                <a:tc>
                  <a:txBody>
                    <a:bodyPr/>
                    <a:lstStyle/>
                    <a:p>
                      <a:r>
                        <a:rPr sz="1300" b="1">
                          <a:solidFill>
                            <a:srgbClr val="FFFFFF"/>
                          </a:solidFill>
                        </a:rPr>
                        <a:t>Yara belgisi</a:t>
                      </a:r>
                    </a:p>
                  </a:txBody>
                  <a:tcPr marL="73152" marR="73152" marT="36576" marB="36576">
                    <a:solidFill>
                      <a:srgbClr val="0B1F3A"/>
                    </a:solidFill>
                  </a:tcPr>
                </a:tc>
              </a:tr>
              <a:tr h="411480">
                <a:tc>
                  <a:txBody>
                    <a:bodyPr/>
                    <a:lstStyle/>
                    <a:p>
                      <a:r>
                        <a:rPr sz="1200" b="0">
                          <a:solidFill>
                            <a:srgbClr val="1F2937"/>
                          </a:solidFill>
                        </a:rPr>
                        <a:t>Yorma</a:t>
                      </a:r>
                    </a:p>
                  </a:txBody>
                  <a:tcPr marL="73152" marR="73152" marT="36576" marB="36576">
                    <a:solidFill>
                      <a:srgbClr val="E8EEF6"/>
                    </a:solidFill>
                  </a:tcPr>
                </a:tc>
                <a:tc>
                  <a:txBody>
                    <a:bodyPr/>
                    <a:lstStyle/>
                    <a:p>
                      <a:r>
                        <a:rPr sz="1200" b="0">
                          <a:solidFill>
                            <a:srgbClr val="1F2937"/>
                          </a:solidFill>
                        </a:rPr>
                        <a:t>Bir necha ming joul</a:t>
                      </a:r>
                    </a:p>
                  </a:txBody>
                  <a:tcPr marL="73152" marR="73152" marT="36576" marB="36576">
                    <a:solidFill>
                      <a:srgbClr val="E8EEF6"/>
                    </a:solidFill>
                  </a:tcPr>
                </a:tc>
                <a:tc>
                  <a:txBody>
                    <a:bodyPr/>
                    <a:lstStyle/>
                    <a:p>
                      <a:r>
                        <a:rPr sz="1200" b="0">
                          <a:solidFill>
                            <a:srgbClr val="1F2937"/>
                          </a:solidFill>
                        </a:rPr>
                        <a:t>Yara kattaroq, chetlari notekis, yoriqli</a:t>
                      </a:r>
                    </a:p>
                  </a:txBody>
                  <a:tcPr marL="73152" marR="73152" marT="36576" marB="36576">
                    <a:solidFill>
                      <a:srgbClr val="E8EEF6"/>
                    </a:solidFill>
                  </a:tcPr>
                </a:tc>
              </a:tr>
              <a:tr h="411480">
                <a:tc>
                  <a:txBody>
                    <a:bodyPr/>
                    <a:lstStyle/>
                    <a:p>
                      <a:r>
                        <a:rPr sz="1200" b="0">
                          <a:solidFill>
                            <a:srgbClr val="1F2937"/>
                          </a:solidFill>
                        </a:rPr>
                        <a:t>Yulma</a:t>
                      </a:r>
                    </a:p>
                  </a:txBody>
                  <a:tcPr marL="73152" marR="73152" marT="36576" marB="36576">
                    <a:solidFill>
                      <a:srgbClr val="FFFFFF"/>
                    </a:solidFill>
                  </a:tcPr>
                </a:tc>
                <a:tc>
                  <a:txBody>
                    <a:bodyPr/>
                    <a:lstStyle/>
                    <a:p>
                      <a:r>
                        <a:rPr sz="1200" b="0">
                          <a:solidFill>
                            <a:srgbClr val="1F2937"/>
                          </a:solidFill>
                        </a:rPr>
                        <a:t>Bir necha yuz joul</a:t>
                      </a:r>
                    </a:p>
                  </a:txBody>
                  <a:tcPr marL="73152" marR="73152" marT="36576" marB="36576">
                    <a:solidFill>
                      <a:srgbClr val="FFFFFF"/>
                    </a:solidFill>
                  </a:tcPr>
                </a:tc>
                <a:tc>
                  <a:txBody>
                    <a:bodyPr/>
                    <a:lstStyle/>
                    <a:p>
                      <a:r>
                        <a:rPr sz="1200" b="0">
                          <a:solidFill>
                            <a:srgbClr val="1F2937"/>
                          </a:solidFill>
                        </a:rPr>
                        <a:t>Defekt kichikroq, chetlari tekis</a:t>
                      </a:r>
                    </a:p>
                  </a:txBody>
                  <a:tcPr marL="73152" marR="73152" marT="36576" marB="36576">
                    <a:solidFill>
                      <a:srgbClr val="FFFFFF"/>
                    </a:solidFill>
                  </a:tcPr>
                </a:tc>
              </a:tr>
              <a:tr h="411480">
                <a:tc>
                  <a:txBody>
                    <a:bodyPr/>
                    <a:lstStyle/>
                    <a:p>
                      <a:r>
                        <a:rPr sz="1200" b="0">
                          <a:solidFill>
                            <a:srgbClr val="1F2937"/>
                          </a:solidFill>
                        </a:rPr>
                        <a:t>Ponasimon</a:t>
                      </a:r>
                    </a:p>
                  </a:txBody>
                  <a:tcPr marL="73152" marR="73152" marT="36576" marB="36576">
                    <a:solidFill>
                      <a:srgbClr val="E8EEF6"/>
                    </a:solidFill>
                  </a:tcPr>
                </a:tc>
                <a:tc>
                  <a:txBody>
                    <a:bodyPr/>
                    <a:lstStyle/>
                    <a:p>
                      <a:r>
                        <a:rPr sz="1200" b="0">
                          <a:solidFill>
                            <a:srgbClr val="1F2937"/>
                          </a:solidFill>
                        </a:rPr>
                        <a:t>Bir necha o‘n joul</a:t>
                      </a:r>
                    </a:p>
                  </a:txBody>
                  <a:tcPr marL="73152" marR="73152" marT="36576" marB="36576">
                    <a:solidFill>
                      <a:srgbClr val="E8EEF6"/>
                    </a:solidFill>
                  </a:tcPr>
                </a:tc>
                <a:tc>
                  <a:txBody>
                    <a:bodyPr/>
                    <a:lstStyle/>
                    <a:p>
                      <a:r>
                        <a:rPr sz="1200" b="0">
                          <a:solidFill>
                            <a:srgbClr val="1F2937"/>
                          </a:solidFill>
                        </a:rPr>
                        <a:t>Defektsiz yoriqsimon, yulduzsimon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Energiya va yara belgisi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omillarning ta’sir masofalari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Porox gazlari kirish teshigi atrofida karboksigemoglobin hosil qilib, sohani pushti rangga bo‘yaydi.</a:t>
            </a:r>
          </a:p>
          <a:p>
            <a:pPr>
              <a:spcAft>
                <a:spcPts val="800"/>
              </a:spcAft>
            </a:pPr>
            <a:r>
              <a:rPr sz="1800">
                <a:solidFill>
                  <a:srgbClr val="1F2937"/>
                </a:solidFill>
                <a:latin typeface="Calibri"/>
              </a:rPr>
              <a:t>▸  Otish alangasi to‘liq yonmagan porox zarralarining havo kislorodi bilan portlashidan paydo bo‘ladi.</a:t>
            </a:r>
          </a:p>
          <a:p>
            <a:pPr>
              <a:spcAft>
                <a:spcPts val="800"/>
              </a:spcAft>
            </a:pPr>
            <a:r>
              <a:rPr sz="1800">
                <a:solidFill>
                  <a:srgbClr val="1F2937"/>
                </a:solidFill>
                <a:latin typeface="Calibri"/>
              </a:rPr>
              <a:t>▸  Diqqat: gazning mexanik ta’siri 10–15 sm, alanganing termik ta’siri 3–10 sm. Masofalarni aralashtirmang.</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91572"/>
                <a:gridCol w="1113257"/>
                <a:gridCol w="2783144"/>
              </a:tblGrid>
              <a:tr h="411480">
                <a:tc>
                  <a:txBody>
                    <a:bodyPr/>
                    <a:lstStyle/>
                    <a:p>
                      <a:r>
                        <a:rPr sz="1300" b="1">
                          <a:solidFill>
                            <a:srgbClr val="FFFFFF"/>
                          </a:solidFill>
                        </a:rPr>
                        <a:t>Omil</a:t>
                      </a:r>
                    </a:p>
                  </a:txBody>
                  <a:tcPr marL="73152" marR="73152" marT="36576" marB="36576">
                    <a:solidFill>
                      <a:srgbClr val="0B1F3A"/>
                    </a:solidFill>
                  </a:tcPr>
                </a:tc>
                <a:tc>
                  <a:txBody>
                    <a:bodyPr/>
                    <a:lstStyle/>
                    <a:p>
                      <a:r>
                        <a:rPr sz="1300" b="1">
                          <a:solidFill>
                            <a:srgbClr val="FFFFFF"/>
                          </a:solidFill>
                        </a:rPr>
                        <a:t>Masofa</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r>
              <a:tr h="411480">
                <a:tc>
                  <a:txBody>
                    <a:bodyPr/>
                    <a:lstStyle/>
                    <a:p>
                      <a:r>
                        <a:rPr sz="1200" b="0">
                          <a:solidFill>
                            <a:srgbClr val="1F2937"/>
                          </a:solidFill>
                        </a:rPr>
                        <a:t>O‘q oldi havo</a:t>
                      </a:r>
                    </a:p>
                  </a:txBody>
                  <a:tcPr marL="73152" marR="73152" marT="36576" marB="36576">
                    <a:solidFill>
                      <a:srgbClr val="E8EEF6"/>
                    </a:solidFill>
                  </a:tcPr>
                </a:tc>
                <a:tc>
                  <a:txBody>
                    <a:bodyPr/>
                    <a:lstStyle/>
                    <a:p>
                      <a:r>
                        <a:rPr sz="1200" b="0">
                          <a:solidFill>
                            <a:srgbClr val="1F2937"/>
                          </a:solidFill>
                        </a:rPr>
                        <a:t>3–5 sm</a:t>
                      </a:r>
                    </a:p>
                  </a:txBody>
                  <a:tcPr marL="73152" marR="73152" marT="36576" marB="36576">
                    <a:solidFill>
                      <a:srgbClr val="E8EEF6"/>
                    </a:solidFill>
                  </a:tcPr>
                </a:tc>
                <a:tc>
                  <a:txBody>
                    <a:bodyPr/>
                    <a:lstStyle/>
                    <a:p>
                      <a:r>
                        <a:rPr sz="1200" b="0">
                          <a:solidFill>
                            <a:srgbClr val="1F2937"/>
                          </a:solidFill>
                        </a:rPr>
                        <a:t>Defekt, shilinish hoshiyasi, teri yorilishi</a:t>
                      </a:r>
                    </a:p>
                  </a:txBody>
                  <a:tcPr marL="73152" marR="73152" marT="36576" marB="36576">
                    <a:solidFill>
                      <a:srgbClr val="E8EEF6"/>
                    </a:solidFill>
                  </a:tcPr>
                </a:tc>
              </a:tr>
              <a:tr h="411480">
                <a:tc>
                  <a:txBody>
                    <a:bodyPr/>
                    <a:lstStyle/>
                    <a:p>
                      <a:r>
                        <a:rPr sz="1200" b="0">
                          <a:solidFill>
                            <a:srgbClr val="1F2937"/>
                          </a:solidFill>
                        </a:rPr>
                        <a:t>Porox gazlari</a:t>
                      </a:r>
                    </a:p>
                  </a:txBody>
                  <a:tcPr marL="73152" marR="73152" marT="36576" marB="36576">
                    <a:solidFill>
                      <a:srgbClr val="FFFFFF"/>
                    </a:solidFill>
                  </a:tcPr>
                </a:tc>
                <a:tc>
                  <a:txBody>
                    <a:bodyPr/>
                    <a:lstStyle/>
                    <a:p>
                      <a:r>
                        <a:rPr sz="1200" b="0">
                          <a:solidFill>
                            <a:srgbClr val="1F2937"/>
                          </a:solidFill>
                        </a:rPr>
                        <a:t>10–15 sm</a:t>
                      </a:r>
                    </a:p>
                  </a:txBody>
                  <a:tcPr marL="73152" marR="73152" marT="36576" marB="36576">
                    <a:solidFill>
                      <a:srgbClr val="FFFFFF"/>
                    </a:solidFill>
                  </a:tcPr>
                </a:tc>
                <a:tc>
                  <a:txBody>
                    <a:bodyPr/>
                    <a:lstStyle/>
                    <a:p>
                      <a:r>
                        <a:rPr sz="1200" b="0">
                          <a:solidFill>
                            <a:srgbClr val="1F2937"/>
                          </a:solidFill>
                        </a:rPr>
                        <a:t>Shilinish, qontalash, to‘qima yorilishi</a:t>
                      </a:r>
                    </a:p>
                  </a:txBody>
                  <a:tcPr marL="73152" marR="73152" marT="36576" marB="36576">
                    <a:solidFill>
                      <a:srgbClr val="FFFFFF"/>
                    </a:solidFill>
                  </a:tcPr>
                </a:tc>
              </a:tr>
              <a:tr h="411480">
                <a:tc>
                  <a:txBody>
                    <a:bodyPr/>
                    <a:lstStyle/>
                    <a:p>
                      <a:r>
                        <a:rPr sz="1200" b="0">
                          <a:solidFill>
                            <a:srgbClr val="1F2937"/>
                          </a:solidFill>
                        </a:rPr>
                        <a:t>Otish alangasi</a:t>
                      </a:r>
                    </a:p>
                  </a:txBody>
                  <a:tcPr marL="73152" marR="73152" marT="36576" marB="36576">
                    <a:solidFill>
                      <a:srgbClr val="E8EEF6"/>
                    </a:solidFill>
                  </a:tcPr>
                </a:tc>
                <a:tc>
                  <a:txBody>
                    <a:bodyPr/>
                    <a:lstStyle/>
                    <a:p>
                      <a:r>
                        <a:rPr sz="1200" b="0">
                          <a:solidFill>
                            <a:srgbClr val="1F2937"/>
                          </a:solidFill>
                        </a:rPr>
                        <a:t>3–10 sm</a:t>
                      </a:r>
                    </a:p>
                  </a:txBody>
                  <a:tcPr marL="73152" marR="73152" marT="36576" marB="36576">
                    <a:solidFill>
                      <a:srgbClr val="E8EEF6"/>
                    </a:solidFill>
                  </a:tcPr>
                </a:tc>
                <a:tc>
                  <a:txBody>
                    <a:bodyPr/>
                    <a:lstStyle/>
                    <a:p>
                      <a:r>
                        <a:rPr sz="1200" b="0">
                          <a:solidFill>
                            <a:srgbClr val="1F2937"/>
                          </a:solidFill>
                        </a:rPr>
                        <a:t>Kiyim, teri, soch kuyishi</a:t>
                      </a:r>
                    </a:p>
                  </a:txBody>
                  <a:tcPr marL="73152" marR="73152" marT="36576" marB="36576">
                    <a:solidFill>
                      <a:srgbClr val="E8EEF6"/>
                    </a:solidFill>
                  </a:tcPr>
                </a:tc>
              </a:tr>
              <a:tr h="411480">
                <a:tc>
                  <a:txBody>
                    <a:bodyPr/>
                    <a:lstStyle/>
                    <a:p>
                      <a:r>
                        <a:rPr sz="1200" b="0">
                          <a:solidFill>
                            <a:srgbClr val="1F2937"/>
                          </a:solidFill>
                        </a:rPr>
                        <a:t>Qurum, porox, metall</a:t>
                      </a:r>
                    </a:p>
                  </a:txBody>
                  <a:tcPr marL="73152" marR="73152" marT="36576" marB="36576">
                    <a:solidFill>
                      <a:srgbClr val="FFFFFF"/>
                    </a:solidFill>
                  </a:tcPr>
                </a:tc>
                <a:tc>
                  <a:txBody>
                    <a:bodyPr/>
                    <a:lstStyle/>
                    <a:p>
                      <a:r>
                        <a:rPr sz="1200" b="0">
                          <a:solidFill>
                            <a:srgbClr val="1F2937"/>
                          </a:solidFill>
                        </a:rPr>
                        <a:t>—</a:t>
                      </a:r>
                    </a:p>
                  </a:txBody>
                  <a:tcPr marL="73152" marR="73152" marT="36576" marB="36576">
                    <a:solidFill>
                      <a:srgbClr val="FFFFFF"/>
                    </a:solidFill>
                  </a:tcPr>
                </a:tc>
                <a:tc>
                  <a:txBody>
                    <a:bodyPr/>
                    <a:lstStyle/>
                    <a:p>
                      <a:r>
                        <a:rPr sz="1200" b="0">
                          <a:solidFill>
                            <a:srgbClr val="1F2937"/>
                          </a:solidFill>
                        </a:rPr>
                        <a:t>Yengil kontuzion, yuzaki termik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 masofa, ta’sir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86, 85-86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tanadagi kirish yarasining chetlari notekis va yoriqli. Savol: bunday yarani qaysi ta’sir turi va qaysi omillar hosil qilgan bo‘lishi mumkin?</a:t>
            </a:r>
          </a:p>
          <a:p>
            <a:pPr>
              <a:spcAft>
                <a:spcPts val="1200"/>
              </a:spcAft>
            </a:pPr>
            <a:r>
              <a:rPr sz="2000">
                <a:solidFill>
                  <a:srgbClr val="1F2937"/>
                </a:solidFill>
                <a:latin typeface="Calibri"/>
              </a:rPr>
              <a:t>▸  Snaryad bir necha ming joul energiyali bo‘lsa, yorma ta’sir qiladi. Yara snaryad diametridan bir necha barobar katta bo‘lib, chetlari notekis, radial yoriqli bo‘ladi.</a:t>
            </a:r>
          </a:p>
          <a:p>
            <a:pPr>
              <a:spcAft>
                <a:spcPts val="1200"/>
              </a:spcAft>
            </a:pPr>
            <a:r>
              <a:rPr sz="2000">
                <a:solidFill>
                  <a:srgbClr val="1F2937"/>
                </a:solidFill>
                <a:latin typeface="Calibri"/>
              </a:rPr>
              <a:t>▸  Yorma ta’sir yana yorma yoki og‘irlik markazi siljigan o‘qlarda va tirab otishda bo‘ladi. Porox gazlari ishtirok etsa ham kirish teshigi chetlari notekis, yoriqli bo‘ladi.</a:t>
            </a:r>
          </a:p>
          <a:p>
            <a:pPr>
              <a:spcAft>
                <a:spcPts val="1200"/>
              </a:spcAft>
            </a:pPr>
            <a:r>
              <a:rPr sz="2000">
                <a:solidFill>
                  <a:srgbClr val="1F2937"/>
                </a:solidFill>
                <a:latin typeface="Calibri"/>
              </a:rPr>
              <a:t>▸  Diqqat: ponasimon ta’sirda yoriqsimon yoki yulduzsimon yara hosil bo‘ladi, lekin to‘qima defekti bo‘lmaydi. Porox gazlari 10-15 sm masofada shilinish va qontalash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90, 85, 85, 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Distansiya va masofa: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Distansiya – ma’lum belgilar majmui: tirab, yaqin va yaqin bo‘lmagan distansiya.</a:t>
            </a:r>
          </a:p>
          <a:p>
            <a:pPr>
              <a:spcAft>
                <a:spcPts val="800"/>
              </a:spcAft>
            </a:pPr>
            <a:r>
              <a:rPr sz="1800">
                <a:solidFill>
                  <a:srgbClr val="1F2937"/>
                </a:solidFill>
                <a:latin typeface="Calibri"/>
              </a:rPr>
              <a:t>▸  Diqqat: distansiya ≠ masofa. Masofa – stvol uchi va nishon oralig‘idagi uzunlik.</a:t>
            </a:r>
          </a:p>
          <a:p>
            <a:pPr>
              <a:spcAft>
                <a:spcPts val="800"/>
              </a:spcAft>
            </a:pPr>
            <a:r>
              <a:rPr sz="1800">
                <a:solidFill>
                  <a:srgbClr val="1F2937"/>
                </a:solidFill>
                <a:latin typeface="Calibri"/>
              </a:rPr>
              <a:t>▸  Masofa ayni qurol va patron bilan, o‘xshash nishonga sinov o‘qlarini otib aniqlanadi.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07233"/>
                <a:gridCol w="1888562"/>
                <a:gridCol w="239217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Distansiya</a:t>
                      </a:r>
                    </a:p>
                  </a:txBody>
                  <a:tcPr marL="73152" marR="73152" marT="36576" marB="36576">
                    <a:solidFill>
                      <a:srgbClr val="0B1F3A"/>
                    </a:solidFill>
                  </a:tcPr>
                </a:tc>
                <a:tc>
                  <a:txBody>
                    <a:bodyPr/>
                    <a:lstStyle/>
                    <a:p>
                      <a:r>
                        <a:rPr sz="1300" b="1">
                          <a:solidFill>
                            <a:srgbClr val="FFFFFF"/>
                          </a:solidFill>
                        </a:rPr>
                        <a:t>Masofa</a:t>
                      </a:r>
                    </a:p>
                  </a:txBody>
                  <a:tcPr marL="73152" marR="73152" marT="36576" marB="36576">
                    <a:solidFill>
                      <a:srgbClr val="0B1F3A"/>
                    </a:solidFill>
                  </a:tcPr>
                </a:tc>
              </a:tr>
              <a:tr h="411480">
                <a:tc>
                  <a:txBody>
                    <a:bodyPr/>
                    <a:lstStyle/>
                    <a:p>
                      <a:r>
                        <a:rPr sz="1200" b="0">
                          <a:solidFill>
                            <a:srgbClr val="1F2937"/>
                          </a:solidFill>
                        </a:rPr>
                        <a:t>Mohiyati</a:t>
                      </a:r>
                    </a:p>
                  </a:txBody>
                  <a:tcPr marL="73152" marR="73152" marT="36576" marB="36576">
                    <a:solidFill>
                      <a:srgbClr val="E8EEF6"/>
                    </a:solidFill>
                  </a:tcPr>
                </a:tc>
                <a:tc>
                  <a:txBody>
                    <a:bodyPr/>
                    <a:lstStyle/>
                    <a:p>
                      <a:r>
                        <a:rPr sz="1200" b="0">
                          <a:solidFill>
                            <a:srgbClr val="1F2937"/>
                          </a:solidFill>
                        </a:rPr>
                        <a:t>Shartli belgilar majmui</a:t>
                      </a:r>
                    </a:p>
                  </a:txBody>
                  <a:tcPr marL="73152" marR="73152" marT="36576" marB="36576">
                    <a:solidFill>
                      <a:srgbClr val="E8EEF6"/>
                    </a:solidFill>
                  </a:tcPr>
                </a:tc>
                <a:tc>
                  <a:txBody>
                    <a:bodyPr/>
                    <a:lstStyle/>
                    <a:p>
                      <a:r>
                        <a:rPr sz="1200" b="0">
                          <a:solidFill>
                            <a:srgbClr val="1F2937"/>
                          </a:solidFill>
                        </a:rPr>
                        <a:t>Stvol uchi–nishon oralig‘i</a:t>
                      </a:r>
                    </a:p>
                  </a:txBody>
                  <a:tcPr marL="73152" marR="73152" marT="36576" marB="36576">
                    <a:solidFill>
                      <a:srgbClr val="E8EEF6"/>
                    </a:solidFill>
                  </a:tcPr>
                </a:tc>
              </a:tr>
              <a:tr h="411480">
                <a:tc>
                  <a:txBody>
                    <a:bodyPr/>
                    <a:lstStyle/>
                    <a:p>
                      <a:r>
                        <a:rPr sz="1200" b="0">
                          <a:solidFill>
                            <a:srgbClr val="1F2937"/>
                          </a:solidFill>
                        </a:rPr>
                        <a:t>Birligi</a:t>
                      </a:r>
                    </a:p>
                  </a:txBody>
                  <a:tcPr marL="73152" marR="73152" marT="36576" marB="36576">
                    <a:solidFill>
                      <a:srgbClr val="FFFFFF"/>
                    </a:solidFill>
                  </a:tcPr>
                </a:tc>
                <a:tc>
                  <a:txBody>
                    <a:bodyPr/>
                    <a:lstStyle/>
                    <a:p>
                      <a:r>
                        <a:rPr sz="1200" b="0">
                          <a:solidFill>
                            <a:srgbClr val="1F2937"/>
                          </a:solidFill>
                        </a:rPr>
                        <a:t>Uch turga ajratiladi</a:t>
                      </a:r>
                    </a:p>
                  </a:txBody>
                  <a:tcPr marL="73152" marR="73152" marT="36576" marB="36576">
                    <a:solidFill>
                      <a:srgbClr val="FFFFFF"/>
                    </a:solidFill>
                  </a:tcPr>
                </a:tc>
                <a:tc>
                  <a:txBody>
                    <a:bodyPr/>
                    <a:lstStyle/>
                    <a:p>
                      <a:r>
                        <a:rPr sz="1200" b="0">
                          <a:solidFill>
                            <a:srgbClr val="1F2937"/>
                          </a:solidFill>
                        </a:rPr>
                        <a:t>Uzunlik birligida o‘lchanadi</a:t>
                      </a:r>
                    </a:p>
                  </a:txBody>
                  <a:tcPr marL="73152" marR="73152" marT="36576" marB="36576">
                    <a:solidFill>
                      <a:srgbClr val="FFFFFF"/>
                    </a:solidFill>
                  </a:tcPr>
                </a:tc>
              </a:tr>
              <a:tr h="411480">
                <a:tc>
                  <a:txBody>
                    <a:bodyPr/>
                    <a:lstStyle/>
                    <a:p>
                      <a:r>
                        <a:rPr sz="1200" b="0">
                          <a:solidFill>
                            <a:srgbClr val="1F2937"/>
                          </a:solidFill>
                        </a:rPr>
                        <a:t>Aniqlash</a:t>
                      </a:r>
                    </a:p>
                  </a:txBody>
                  <a:tcPr marL="73152" marR="73152" marT="36576" marB="36576">
                    <a:solidFill>
                      <a:srgbClr val="E8EEF6"/>
                    </a:solidFill>
                  </a:tcPr>
                </a:tc>
                <a:tc>
                  <a:txBody>
                    <a:bodyPr/>
                    <a:lstStyle/>
                    <a:p>
                      <a:r>
                        <a:rPr sz="1200" b="0">
                          <a:solidFill>
                            <a:srgbClr val="1F2937"/>
                          </a:solidFill>
                        </a:rPr>
                        <a:t>Kiyim va tanadagi xos belgilar</a:t>
                      </a:r>
                    </a:p>
                  </a:txBody>
                  <a:tcPr marL="73152" marR="73152" marT="36576" marB="36576">
                    <a:solidFill>
                      <a:srgbClr val="E8EEF6"/>
                    </a:solidFill>
                  </a:tcPr>
                </a:tc>
                <a:tc>
                  <a:txBody>
                    <a:bodyPr/>
                    <a:lstStyle/>
                    <a:p>
                      <a:r>
                        <a:rPr sz="1200" b="0">
                          <a:solidFill>
                            <a:srgbClr val="1F2937"/>
                          </a:solidFill>
                        </a:rPr>
                        <a:t>Eksperiment: ayni qurol, patron</a:t>
                      </a:r>
                    </a:p>
                  </a:txBody>
                  <a:tcPr marL="73152" marR="73152" marT="36576" marB="36576">
                    <a:solidFill>
                      <a:srgbClr val="E8EEF6"/>
                    </a:solidFill>
                  </a:tcPr>
                </a:tc>
              </a:tr>
              <a:tr h="411480">
                <a:tc>
                  <a:txBody>
                    <a:bodyPr/>
                    <a:lstStyle/>
                    <a:p>
                      <a:r>
                        <a:rPr sz="1200" b="0">
                          <a:solidFill>
                            <a:srgbClr val="1F2937"/>
                          </a:solidFill>
                        </a:rPr>
                        <a:t>Farqi</a:t>
                      </a:r>
                    </a:p>
                  </a:txBody>
                  <a:tcPr marL="73152" marR="73152" marT="36576" marB="36576">
                    <a:solidFill>
                      <a:srgbClr val="FFFFFF"/>
                    </a:solidFill>
                  </a:tcPr>
                </a:tc>
                <a:tc>
                  <a:txBody>
                    <a:bodyPr/>
                    <a:lstStyle/>
                    <a:p>
                      <a:r>
                        <a:rPr sz="1200" b="0">
                          <a:solidFill>
                            <a:srgbClr val="1F2937"/>
                          </a:solidFill>
                        </a:rPr>
                        <a:t>Bir xil distansiya</a:t>
                      </a:r>
                    </a:p>
                  </a:txBody>
                  <a:tcPr marL="73152" marR="73152" marT="36576" marB="36576">
                    <a:solidFill>
                      <a:srgbClr val="FFFFFF"/>
                    </a:solidFill>
                  </a:tcPr>
                </a:tc>
                <a:tc>
                  <a:txBody>
                    <a:bodyPr/>
                    <a:lstStyle/>
                    <a:p>
                      <a:r>
                        <a:rPr sz="1200" b="0">
                          <a:solidFill>
                            <a:srgbClr val="1F2937"/>
                          </a:solidFill>
                        </a:rPr>
                        <a:t>Qurolga qarab turlicha bo‘lishi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Distansiya va masofa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86, 86-87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Tirab o‘q otishda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Uch turi bor: to‘liq germetik, to‘liq va qiyalab tirab otish. To‘liq otishda stvol uchi teriga butun sohasi bilan tegadi, kirish defekti kalibrdan katta, chetlari ko‘chgan va yoriqli bo‘ladi.</a:t>
            </a:r>
          </a:p>
          <a:p>
            <a:pPr>
              <a:spcAft>
                <a:spcPts val="1200"/>
              </a:spcAft>
            </a:pPr>
            <a:r>
              <a:rPr sz="2000">
                <a:solidFill>
                  <a:srgbClr val="1F2937"/>
                </a:solidFill>
                <a:latin typeface="Calibri"/>
              </a:rPr>
              <a:t>▸  Gaz bo‘shliqqa yetsa, ichki a’zolar yoriladi. Yara kanali ichida qurum va porox topiladi; boshlang‘ich qismi karboksigemoglobin tufayli pushti bo‘ladi.</a:t>
            </a:r>
          </a:p>
          <a:p>
            <a:pPr>
              <a:spcAft>
                <a:spcPts val="1200"/>
              </a:spcAft>
            </a:pPr>
            <a:r>
              <a:rPr sz="2000">
                <a:solidFill>
                  <a:srgbClr val="1F2937"/>
                </a:solidFill>
                <a:latin typeface="Calibri"/>
              </a:rPr>
              <a:t>▸  To‘liq germetik otishda gazlar terini stvol uchiga bosadi. Stvol kesimiga mos shilinma yoki qontalash ko‘rinishidagi bosma iz – “shtansmarka” hosil bo‘ladi.</a:t>
            </a:r>
          </a:p>
          <a:p>
            <a:pPr>
              <a:spcAft>
                <a:spcPts val="1200"/>
              </a:spcAft>
            </a:pPr>
            <a:r>
              <a:rPr sz="2000">
                <a:solidFill>
                  <a:srgbClr val="1F2937"/>
                </a:solidFill>
                <a:latin typeface="Calibri"/>
              </a:rPr>
              <a:t>▸  Qiyalab otishda omillarning faqat bir qismi kanalga kiradi. Faqat o‘tmas burchak tomonda teri yoriqlari va “tilsimon” qurum, porox, metall zarrachalari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zonalari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Zonalar qo‘shimcha omillar belgilariga qarab ajratiladi; masofa ortsa, zarrachalar qoplagan yuza kengayadi.</a:t>
            </a:r>
          </a:p>
          <a:p>
            <a:pPr>
              <a:spcAft>
                <a:spcPts val="800"/>
              </a:spcAft>
            </a:pPr>
            <a:r>
              <a:rPr sz="1800">
                <a:solidFill>
                  <a:srgbClr val="1F2937"/>
                </a:solidFill>
                <a:latin typeface="Calibri"/>
              </a:rPr>
              <a:t>▸  Zona uzunligi stvol uzunligi, kalibr va patron tuzilishiga bog‘liq.</a:t>
            </a:r>
          </a:p>
          <a:p>
            <a:pPr>
              <a:spcAft>
                <a:spcPts val="800"/>
              </a:spcAft>
            </a:pPr>
            <a:r>
              <a:rPr sz="1800">
                <a:solidFill>
                  <a:srgbClr val="1F2937"/>
                </a:solidFill>
                <a:latin typeface="Calibri"/>
              </a:rPr>
              <a:t>▸  Uchinchi zona o‘yiqli miltiqda 250 sm gacha, silliq stvolli ov miltig‘ida 500 sm gacha bo‘lishi mumkin.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29753"/>
                <a:gridCol w="2033836"/>
                <a:gridCol w="2324384"/>
              </a:tblGrid>
              <a:tr h="411480">
                <a:tc>
                  <a:txBody>
                    <a:bodyPr/>
                    <a:lstStyle/>
                    <a:p>
                      <a:r>
                        <a:rPr sz="1300" b="1">
                          <a:solidFill>
                            <a:srgbClr val="FFFFFF"/>
                          </a:solidFill>
                        </a:rPr>
                        <a:t>Zona</a:t>
                      </a:r>
                    </a:p>
                  </a:txBody>
                  <a:tcPr marL="73152" marR="73152" marT="36576" marB="36576">
                    <a:solidFill>
                      <a:srgbClr val="0B1F3A"/>
                    </a:solidFill>
                  </a:tcPr>
                </a:tc>
                <a:tc>
                  <a:txBody>
                    <a:bodyPr/>
                    <a:lstStyle/>
                    <a:p>
                      <a:r>
                        <a:rPr sz="1300" b="1">
                          <a:solidFill>
                            <a:srgbClr val="FFFFFF"/>
                          </a:solidFill>
                        </a:rPr>
                        <a:t>Omillar</a:t>
                      </a:r>
                    </a:p>
                  </a:txBody>
                  <a:tcPr marL="73152" marR="73152" marT="36576" marB="36576">
                    <a:solidFill>
                      <a:srgbClr val="0B1F3A"/>
                    </a:solidFill>
                  </a:tcPr>
                </a:tc>
                <a:tc>
                  <a:txBody>
                    <a:bodyPr/>
                    <a:lstStyle/>
                    <a:p>
                      <a:r>
                        <a:rPr sz="1300" b="1">
                          <a:solidFill>
                            <a:srgbClr val="FFFFFF"/>
                          </a:solidFill>
                        </a:rPr>
                        <a:t>Masofa</a:t>
                      </a:r>
                    </a:p>
                  </a:txBody>
                  <a:tcPr marL="73152" marR="73152" marT="36576" marB="36576">
                    <a:solidFill>
                      <a:srgbClr val="0B1F3A"/>
                    </a:solidFill>
                  </a:tcPr>
                </a:tc>
              </a:tr>
              <a:tr h="411480">
                <a:tc>
                  <a:txBody>
                    <a:bodyPr/>
                    <a:lstStyle/>
                    <a:p>
                      <a:r>
                        <a:rPr sz="1200" b="0">
                          <a:solidFill>
                            <a:srgbClr val="1F2937"/>
                          </a:solidFill>
                        </a:rPr>
                        <a:t>1-zona</a:t>
                      </a:r>
                    </a:p>
                  </a:txBody>
                  <a:tcPr marL="73152" marR="73152" marT="36576" marB="36576">
                    <a:solidFill>
                      <a:srgbClr val="E8EEF6"/>
                    </a:solidFill>
                  </a:tcPr>
                </a:tc>
                <a:tc>
                  <a:txBody>
                    <a:bodyPr/>
                    <a:lstStyle/>
                    <a:p>
                      <a:r>
                        <a:rPr sz="1200" b="0">
                          <a:solidFill>
                            <a:srgbClr val="1F2937"/>
                          </a:solidFill>
                        </a:rPr>
                        <a:t>Gaz, qurum, porox, metall, moy</a:t>
                      </a:r>
                    </a:p>
                  </a:txBody>
                  <a:tcPr marL="73152" marR="73152" marT="36576" marB="36576">
                    <a:solidFill>
                      <a:srgbClr val="E8EEF6"/>
                    </a:solidFill>
                  </a:tcPr>
                </a:tc>
                <a:tc>
                  <a:txBody>
                    <a:bodyPr/>
                    <a:lstStyle/>
                    <a:p>
                      <a:r>
                        <a:rPr sz="1200" b="0">
                          <a:solidFill>
                            <a:srgbClr val="1F2937"/>
                          </a:solidFill>
                        </a:rPr>
                        <a:t>Makarov ~1; Kalashnikov ~3; miltiq ~5 sm</a:t>
                      </a:r>
                    </a:p>
                  </a:txBody>
                  <a:tcPr marL="73152" marR="73152" marT="36576" marB="36576">
                    <a:solidFill>
                      <a:srgbClr val="E8EEF6"/>
                    </a:solidFill>
                  </a:tcPr>
                </a:tc>
              </a:tr>
              <a:tr h="411480">
                <a:tc>
                  <a:txBody>
                    <a:bodyPr/>
                    <a:lstStyle/>
                    <a:p>
                      <a:r>
                        <a:rPr sz="1200" b="0">
                          <a:solidFill>
                            <a:srgbClr val="1F2937"/>
                          </a:solidFill>
                        </a:rPr>
                        <a:t>2-zona</a:t>
                      </a:r>
                    </a:p>
                  </a:txBody>
                  <a:tcPr marL="73152" marR="73152" marT="36576" marB="36576">
                    <a:solidFill>
                      <a:srgbClr val="FFFFFF"/>
                    </a:solidFill>
                  </a:tcPr>
                </a:tc>
                <a:tc>
                  <a:txBody>
                    <a:bodyPr/>
                    <a:lstStyle/>
                    <a:p>
                      <a:r>
                        <a:rPr sz="1200" b="0">
                          <a:solidFill>
                            <a:srgbClr val="1F2937"/>
                          </a:solidFill>
                        </a:rPr>
                        <a:t>Gaz yo‘q; qurum, porox, metall, moy</a:t>
                      </a:r>
                    </a:p>
                  </a:txBody>
                  <a:tcPr marL="73152" marR="73152" marT="36576" marB="36576">
                    <a:solidFill>
                      <a:srgbClr val="FFFFFF"/>
                    </a:solidFill>
                  </a:tcPr>
                </a:tc>
                <a:tc>
                  <a:txBody>
                    <a:bodyPr/>
                    <a:lstStyle/>
                    <a:p>
                      <a:r>
                        <a:rPr sz="1200" b="0">
                          <a:solidFill>
                            <a:srgbClr val="1F2937"/>
                          </a:solidFill>
                        </a:rPr>
                        <a:t>Ko‘pincha 25-35 sm</a:t>
                      </a:r>
                    </a:p>
                  </a:txBody>
                  <a:tcPr marL="73152" marR="73152" marT="36576" marB="36576">
                    <a:solidFill>
                      <a:srgbClr val="FFFFFF"/>
                    </a:solidFill>
                  </a:tcPr>
                </a:tc>
              </a:tr>
              <a:tr h="411480">
                <a:tc>
                  <a:txBody>
                    <a:bodyPr/>
                    <a:lstStyle/>
                    <a:p>
                      <a:r>
                        <a:rPr sz="1200" b="0">
                          <a:solidFill>
                            <a:srgbClr val="1F2937"/>
                          </a:solidFill>
                        </a:rPr>
                        <a:t>3-zona</a:t>
                      </a:r>
                    </a:p>
                  </a:txBody>
                  <a:tcPr marL="73152" marR="73152" marT="36576" marB="36576">
                    <a:solidFill>
                      <a:srgbClr val="E8EEF6"/>
                    </a:solidFill>
                  </a:tcPr>
                </a:tc>
                <a:tc>
                  <a:txBody>
                    <a:bodyPr/>
                    <a:lstStyle/>
                    <a:p>
                      <a:r>
                        <a:rPr sz="1200" b="0">
                          <a:solidFill>
                            <a:srgbClr val="1F2937"/>
                          </a:solidFill>
                        </a:rPr>
                        <a:t>Faqat porox va metall zarrachalari</a:t>
                      </a:r>
                    </a:p>
                  </a:txBody>
                  <a:tcPr marL="73152" marR="73152" marT="36576" marB="36576">
                    <a:solidFill>
                      <a:srgbClr val="E8EEF6"/>
                    </a:solidFill>
                  </a:tcPr>
                </a:tc>
                <a:tc>
                  <a:txBody>
                    <a:bodyPr/>
                    <a:lstStyle/>
                    <a:p>
                      <a:r>
                        <a:rPr sz="1200" b="0">
                          <a:solidFill>
                            <a:srgbClr val="1F2937"/>
                          </a:solidFill>
                        </a:rPr>
                        <a:t>Makarov 150; Kalashnikov 200 sm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zona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distansiyada to‘siq orqali otish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Stvol uchi va jabrlanuvchi orasida to‘siq bo‘lsa, o‘q uni teshib o‘tib nishonga tegadi.</a:t>
            </a:r>
          </a:p>
          <a:p>
            <a:pPr>
              <a:spcAft>
                <a:spcPts val="800"/>
              </a:spcAft>
            </a:pPr>
            <a:r>
              <a:rPr sz="1800">
                <a:solidFill>
                  <a:srgbClr val="1F2937"/>
                </a:solidFill>
                <a:latin typeface="Calibri"/>
              </a:rPr>
              <a:t>▸  Barcha qo‘shimcha omillar to‘siqda qoladi.</a:t>
            </a:r>
          </a:p>
          <a:p>
            <a:pPr>
              <a:spcAft>
                <a:spcPts val="800"/>
              </a:spcAft>
            </a:pPr>
            <a:r>
              <a:rPr sz="1800">
                <a:solidFill>
                  <a:srgbClr val="1F2937"/>
                </a:solidFill>
                <a:latin typeface="Calibri"/>
              </a:rPr>
              <a:t>▸  O‘q deformatsiyalanishi yoki parchalanishi mumkin; kinetik energiya kamayadi, yo‘nalish o‘zgaradi.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Yaqin distansiyadan otish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to‘siqni teshib o‘tadi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Omillar to‘siqda qoladi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deformatsiyalanadi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Energiya, yo‘nalish o‘zgaradi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To‘siq orqali otish jarayoni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To‘siq: atipik jarohat va ekspert xulosasi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O‘qning deformatsiyasi, energiya va yo‘nalish o‘zgarishi tufayli shu qurol, distansiya va masofadagi odatiy jarohatdan farqli, atipik jarohat hosil bo‘ladi.</a:t>
            </a:r>
          </a:p>
          <a:p>
            <a:pPr>
              <a:spcAft>
                <a:spcPts val="1200"/>
              </a:spcAft>
            </a:pPr>
            <a:r>
              <a:rPr sz="2200">
                <a:solidFill>
                  <a:srgbClr val="1F2937"/>
                </a:solidFill>
                <a:latin typeface="Calibri"/>
              </a:rPr>
              <a:t>▸  Distansiya jabrlanuvchining kiyimi va tanasidagi xos jarohat belgilari majmuiga qarab aniqlanadi.</a:t>
            </a:r>
          </a:p>
          <a:p>
            <a:pPr>
              <a:spcAft>
                <a:spcPts val="1200"/>
              </a:spcAft>
            </a:pPr>
            <a:r>
              <a:rPr sz="2200">
                <a:solidFill>
                  <a:srgbClr val="1F2937"/>
                </a:solidFill>
                <a:latin typeface="Calibri"/>
              </a:rPr>
              <a:t>▸  Diqqat: xato qilish xavfi! To‘siqda omillar qolgani uchun tanada ularning belgisi bo‘lmaydi; bu yaqin bo‘lmagan distansiyaga o‘xshab, baholashda adashtirishi mumkin. (?)</a:t>
            </a:r>
          </a:p>
          <a:p>
            <a:pPr>
              <a:spcAft>
                <a:spcPts val="1200"/>
              </a:spcAft>
            </a:pPr>
            <a:r>
              <a:rPr sz="2200">
                <a:solidFill>
                  <a:srgbClr val="1F2937"/>
                </a:solidFill>
                <a:latin typeface="Calibri"/>
              </a:rPr>
              <a:t>▸  Otish masofasi faqat o‘sha qurol va patronlar bilan o‘tkaziladigan eksperiment orqali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 86, 88-89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to‘siq orqali o‘q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ekspert jarohatda kirish teshigini topdi, lekin atrofida qurum, porox va metall zarrachalari yo‘q. Savol: bu nimani bildiradi?</a:t>
            </a:r>
          </a:p>
          <a:p>
            <a:pPr>
              <a:spcAft>
                <a:spcPts val="1200"/>
              </a:spcAft>
            </a:pPr>
            <a:r>
              <a:rPr sz="2200">
                <a:solidFill>
                  <a:srgbClr val="1F2937"/>
                </a:solidFill>
                <a:latin typeface="Calibri"/>
              </a:rPr>
              <a:t>▸  Yaqin distansiyada stvol uchi bilan jabrlangan orasida to‘siq bo‘lsa, o‘q uni teshib o‘tadi. Barcha qo‘shimcha omillar to‘siqda qoladi.</a:t>
            </a:r>
          </a:p>
          <a:p>
            <a:pPr>
              <a:spcAft>
                <a:spcPts val="1200"/>
              </a:spcAft>
            </a:pPr>
            <a:r>
              <a:rPr sz="2200">
                <a:solidFill>
                  <a:srgbClr val="1F2937"/>
                </a:solidFill>
                <a:latin typeface="Calibri"/>
              </a:rPr>
              <a:t>▸  To‘siq bilan to‘qnashganda o‘q deformatsiyalanadi, qisman yoki to‘liq parchalanadi. U kinetik energiyasining bir qismini yo‘qotadi, yo‘nalishi ham o‘zgaradi.</a:t>
            </a:r>
          </a:p>
          <a:p>
            <a:pPr>
              <a:spcAft>
                <a:spcPts val="1200"/>
              </a:spcAft>
            </a:pPr>
            <a:r>
              <a:rPr sz="2200">
                <a:solidFill>
                  <a:srgbClr val="1F2937"/>
                </a:solidFill>
                <a:latin typeface="Calibri"/>
              </a:rPr>
              <a:t>▸  Diqqat: bu o‘zgarishlar atipik jarohat hosil qiladi. U shu quroldan, shu distansiya va masofadan otilgandagi odatiy jarohatdan farq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distansiya va to‘siq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yaqin distansiyada nechta zona ajratiladi va birinchi zonaning o‘ziga xosligi nimada?</a:t>
            </a:r>
          </a:p>
          <a:p>
            <a:pPr>
              <a:spcAft>
                <a:spcPts val="1200"/>
              </a:spcAft>
            </a:pPr>
            <a:r>
              <a:rPr sz="2200">
                <a:solidFill>
                  <a:srgbClr val="1F2937"/>
                </a:solidFill>
                <a:latin typeface="Calibri"/>
              </a:rPr>
              <a:t>▸  2-savol: ikkinchi va uchinchi zonada qaysi qo‘shimcha omillar aniqlanadi? Porox gazlari belgisi qaysi zonada yo‘q?</a:t>
            </a:r>
          </a:p>
          <a:p>
            <a:pPr>
              <a:spcAft>
                <a:spcPts val="1200"/>
              </a:spcAft>
            </a:pPr>
            <a:r>
              <a:rPr sz="2200">
                <a:solidFill>
                  <a:srgbClr val="1F2937"/>
                </a:solidFill>
                <a:latin typeface="Calibri"/>
              </a:rPr>
              <a:t>▸  3-savol: to‘siq bo‘lsa, qo‘shimcha omillar qayerda qoladi va o‘qning o‘ziga nima bo‘lishi mumkin?</a:t>
            </a:r>
          </a:p>
          <a:p>
            <a:pPr>
              <a:spcAft>
                <a:spcPts val="1200"/>
              </a:spcAft>
            </a:pPr>
            <a:r>
              <a:rPr sz="2200">
                <a:solidFill>
                  <a:srgbClr val="1F2937"/>
                </a:solidFill>
                <a:latin typeface="Calibri"/>
              </a:rPr>
              <a:t>▸  4-savol: o‘q otish distansiyasi va masofasi nima bilan farqlanadi? Qaysi biri eksperiment orqali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 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bo‘lmagan distansiyadan otish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Bunda jarohat birlamchi (o‘q, sochma) va ikkilamchi snaryadlar ta’sirida hosil bo‘ladi.</a:t>
            </a:r>
          </a:p>
          <a:p>
            <a:pPr>
              <a:spcAft>
                <a:spcPts val="1200"/>
              </a:spcAft>
            </a:pPr>
            <a:r>
              <a:rPr sz="2200">
                <a:solidFill>
                  <a:srgbClr val="1F2937"/>
                </a:solidFill>
                <a:latin typeface="Calibri"/>
              </a:rPr>
              <a:t>▸  Kiyimda va tanadagi kirish teshigi atrofida qo‘shimcha omillar ta’sirining hech bir belgisi aniqlanmaydi.</a:t>
            </a:r>
          </a:p>
          <a:p>
            <a:pPr>
              <a:spcAft>
                <a:spcPts val="1200"/>
              </a:spcAft>
            </a:pPr>
            <a:r>
              <a:rPr sz="2200">
                <a:solidFill>
                  <a:srgbClr val="1F2937"/>
                </a:solidFill>
                <a:latin typeface="Calibri"/>
              </a:rPr>
              <a:t>▸  Ba’zan ichki qavat kiyimda yoki tanada qurum topiladi. Bu Vinogradov fenomeni deyiladi va uning uchun maxsus shartlar kerak.</a:t>
            </a:r>
          </a:p>
          <a:p>
            <a:pPr>
              <a:spcAft>
                <a:spcPts val="1200"/>
              </a:spcAft>
            </a:pPr>
            <a:r>
              <a:rPr sz="2200">
                <a:solidFill>
                  <a:srgbClr val="1F2937"/>
                </a:solidFill>
                <a:latin typeface="Calibri"/>
              </a:rPr>
              <a:t>▸  Shartlar: o‘q tezligi 500 m/sek.dan kam emas, kiyim tanaga zich yopishmagan va kuchli shamol yo‘q. Qurum oz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 88-89, 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Vinogradov fenomeni: shart-sharoit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Yaqin bo‘lmagan distansiyadan otishda ichki qavat kiyimda yoki tanada ba’zan qurum topiladi.</a:t>
            </a:r>
          </a:p>
          <a:p>
            <a:pPr>
              <a:spcAft>
                <a:spcPts val="800"/>
              </a:spcAft>
            </a:pPr>
            <a:r>
              <a:rPr sz="1800">
                <a:solidFill>
                  <a:srgbClr val="1F2937"/>
                </a:solidFill>
                <a:latin typeface="Calibri"/>
              </a:rPr>
              <a:t>▸  Bu holat Vinogradov fenomeni deyiladi va faqat ma’lum shart-sharoitda rivojlanadi.</a:t>
            </a:r>
          </a:p>
          <a:p>
            <a:pPr>
              <a:spcAft>
                <a:spcPts val="800"/>
              </a:spcAft>
            </a:pPr>
            <a:r>
              <a:rPr sz="1800">
                <a:solidFill>
                  <a:srgbClr val="1F2937"/>
                </a:solidFill>
                <a:latin typeface="Calibri"/>
              </a:rPr>
              <a:t>▸  Mexanizm: o‘q orqasida bosimi past bo‘shliq hosil bo‘ladi va qurumni nishongacha olib boradi.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Shart</a:t>
                      </a:r>
                    </a:p>
                  </a:txBody>
                  <a:tcPr marL="73152" marR="73152" marT="36576" marB="36576">
                    <a:solidFill>
                      <a:srgbClr val="0B1F3A"/>
                    </a:solidFill>
                  </a:tcPr>
                </a:tc>
                <a:tc>
                  <a:txBody>
                    <a:bodyPr/>
                    <a:lstStyle/>
                    <a:p>
                      <a:r>
                        <a:rPr sz="1400" b="1">
                          <a:solidFill>
                            <a:srgbClr val="FFFFFF"/>
                          </a:solidFill>
                        </a:rPr>
                        <a:t>Talab</a:t>
                      </a:r>
                    </a:p>
                  </a:txBody>
                  <a:tcPr marL="73152" marR="73152" marT="36576" marB="36576">
                    <a:solidFill>
                      <a:srgbClr val="0B1F3A"/>
                    </a:solidFill>
                  </a:tcPr>
                </a:tc>
              </a:tr>
              <a:tr h="411480">
                <a:tc>
                  <a:txBody>
                    <a:bodyPr/>
                    <a:lstStyle/>
                    <a:p>
                      <a:r>
                        <a:rPr sz="1300" b="0">
                          <a:solidFill>
                            <a:srgbClr val="1F2937"/>
                          </a:solidFill>
                        </a:rPr>
                        <a:t>O‘q tezligi</a:t>
                      </a:r>
                    </a:p>
                  </a:txBody>
                  <a:tcPr marL="73152" marR="73152" marT="36576" marB="36576">
                    <a:solidFill>
                      <a:srgbClr val="E8EEF6"/>
                    </a:solidFill>
                  </a:tcPr>
                </a:tc>
                <a:tc>
                  <a:txBody>
                    <a:bodyPr/>
                    <a:lstStyle/>
                    <a:p>
                      <a:r>
                        <a:rPr sz="1300" b="0">
                          <a:solidFill>
                            <a:srgbClr val="1F2937"/>
                          </a:solidFill>
                        </a:rPr>
                        <a:t>Nishonga tegishda 500 m/sek dan kam emas</a:t>
                      </a:r>
                    </a:p>
                  </a:txBody>
                  <a:tcPr marL="73152" marR="73152" marT="36576" marB="36576">
                    <a:solidFill>
                      <a:srgbClr val="E8EEF6"/>
                    </a:solidFill>
                  </a:tcPr>
                </a:tc>
              </a:tr>
              <a:tr h="411480">
                <a:tc>
                  <a:txBody>
                    <a:bodyPr/>
                    <a:lstStyle/>
                    <a:p>
                      <a:r>
                        <a:rPr sz="1300" b="0">
                          <a:solidFill>
                            <a:srgbClr val="1F2937"/>
                          </a:solidFill>
                        </a:rPr>
                        <a:t>Kiyim</a:t>
                      </a:r>
                    </a:p>
                  </a:txBody>
                  <a:tcPr marL="73152" marR="73152" marT="36576" marB="36576">
                    <a:solidFill>
                      <a:srgbClr val="FFFFFF"/>
                    </a:solidFill>
                  </a:tcPr>
                </a:tc>
                <a:tc>
                  <a:txBody>
                    <a:bodyPr/>
                    <a:lstStyle/>
                    <a:p>
                      <a:r>
                        <a:rPr sz="1300" b="0">
                          <a:solidFill>
                            <a:srgbClr val="1F2937"/>
                          </a:solidFill>
                        </a:rPr>
                        <a:t>Tanaga zich yopishmagan yoki orasida bo‘shliq</a:t>
                      </a:r>
                    </a:p>
                  </a:txBody>
                  <a:tcPr marL="73152" marR="73152" marT="36576" marB="36576">
                    <a:solidFill>
                      <a:srgbClr val="FFFFFF"/>
                    </a:solidFill>
                  </a:tcPr>
                </a:tc>
              </a:tr>
              <a:tr h="411480">
                <a:tc>
                  <a:txBody>
                    <a:bodyPr/>
                    <a:lstStyle/>
                    <a:p>
                      <a:r>
                        <a:rPr sz="1300" b="0">
                          <a:solidFill>
                            <a:srgbClr val="1F2937"/>
                          </a:solidFill>
                        </a:rPr>
                        <a:t>Shamol</a:t>
                      </a:r>
                    </a:p>
                  </a:txBody>
                  <a:tcPr marL="73152" marR="73152" marT="36576" marB="36576">
                    <a:solidFill>
                      <a:srgbClr val="E8EEF6"/>
                    </a:solidFill>
                  </a:tcPr>
                </a:tc>
                <a:tc>
                  <a:txBody>
                    <a:bodyPr/>
                    <a:lstStyle/>
                    <a:p>
                      <a:r>
                        <a:rPr sz="1300" b="0">
                          <a:solidFill>
                            <a:srgbClr val="1F2937"/>
                          </a:solidFill>
                        </a:rPr>
                        <a:t>Kuchli shamol bo‘lmasligi lozim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Fenomen uchun zarur shartlar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Vinogradov fenomeni va yaqin distansiya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Vinogradov fenomenida birinchi qavat kiyimning tashqi yuzasida, jarohat atrofida qurum bo‘lmaydi.</a:t>
            </a:r>
          </a:p>
          <a:p>
            <a:pPr>
              <a:spcAft>
                <a:spcPts val="800"/>
              </a:spcAft>
            </a:pPr>
            <a:r>
              <a:rPr sz="1800">
                <a:solidFill>
                  <a:srgbClr val="1F2937"/>
                </a:solidFill>
                <a:latin typeface="Calibri"/>
              </a:rPr>
              <a:t>▸  Qurum miqdori ancha oz; u kirish teshigi chekkasidan ma’lum masofada topilib, periferiyaga ortadi.</a:t>
            </a:r>
          </a:p>
          <a:p>
            <a:pPr>
              <a:spcAft>
                <a:spcPts val="800"/>
              </a:spcAft>
            </a:pPr>
            <a:r>
              <a:rPr sz="1800">
                <a:solidFill>
                  <a:srgbClr val="1F2937"/>
                </a:solidFill>
                <a:latin typeface="Calibri"/>
              </a:rPr>
              <a:t>▸  Diqqat: xato qilish xavfi — yaqin distansiyada holat aksincha, ikkalasini aralashtirmang.</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741921"/>
                <a:gridCol w="2239612"/>
                <a:gridCol w="1306440"/>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Vinogradov</a:t>
                      </a:r>
                    </a:p>
                  </a:txBody>
                  <a:tcPr marL="73152" marR="73152" marT="36576" marB="36576">
                    <a:solidFill>
                      <a:srgbClr val="0B1F3A"/>
                    </a:solidFill>
                  </a:tcPr>
                </a:tc>
                <a:tc>
                  <a:txBody>
                    <a:bodyPr/>
                    <a:lstStyle/>
                    <a:p>
                      <a:r>
                        <a:rPr sz="1300" b="1">
                          <a:solidFill>
                            <a:srgbClr val="FFFFFF"/>
                          </a:solidFill>
                        </a:rPr>
                        <a:t>Yaqin dist.</a:t>
                      </a:r>
                    </a:p>
                  </a:txBody>
                  <a:tcPr marL="73152" marR="73152" marT="36576" marB="36576">
                    <a:solidFill>
                      <a:srgbClr val="0B1F3A"/>
                    </a:solidFill>
                  </a:tcPr>
                </a:tc>
              </a:tr>
              <a:tr h="411480">
                <a:tc>
                  <a:txBody>
                    <a:bodyPr/>
                    <a:lstStyle/>
                    <a:p>
                      <a:r>
                        <a:rPr sz="1200" b="0">
                          <a:solidFill>
                            <a:srgbClr val="1F2937"/>
                          </a:solidFill>
                        </a:rPr>
                        <a:t>Birinchi qavat tashqi yuzasi</a:t>
                      </a:r>
                    </a:p>
                  </a:txBody>
                  <a:tcPr marL="73152" marR="73152" marT="36576" marB="36576">
                    <a:solidFill>
                      <a:srgbClr val="E8EEF6"/>
                    </a:solidFill>
                  </a:tcPr>
                </a:tc>
                <a:tc>
                  <a:txBody>
                    <a:bodyPr/>
                    <a:lstStyle/>
                    <a:p>
                      <a:r>
                        <a:rPr sz="1200" b="0">
                          <a:solidFill>
                            <a:srgbClr val="1F2937"/>
                          </a:solidFill>
                        </a:rPr>
                        <a:t>Qurum bo‘lmaydi</a:t>
                      </a:r>
                    </a:p>
                  </a:txBody>
                  <a:tcPr marL="73152" marR="73152" marT="36576" marB="36576">
                    <a:solidFill>
                      <a:srgbClr val="E8EEF6"/>
                    </a:solidFill>
                  </a:tcPr>
                </a:tc>
                <a:tc>
                  <a:txBody>
                    <a:bodyPr/>
                    <a:lstStyle/>
                    <a:p>
                      <a:r>
                        <a:rPr sz="1200" b="0">
                          <a:solidFill>
                            <a:srgbClr val="1F2937"/>
                          </a:solidFill>
                        </a:rPr>
                        <a:t>Qurum bo‘ladi</a:t>
                      </a:r>
                    </a:p>
                  </a:txBody>
                  <a:tcPr marL="73152" marR="73152" marT="36576" marB="36576">
                    <a:solidFill>
                      <a:srgbClr val="E8EEF6"/>
                    </a:solidFill>
                  </a:tcPr>
                </a:tc>
              </a:tr>
              <a:tr h="411480">
                <a:tc>
                  <a:txBody>
                    <a:bodyPr/>
                    <a:lstStyle/>
                    <a:p>
                      <a:r>
                        <a:rPr sz="1200" b="0">
                          <a:solidFill>
                            <a:srgbClr val="1F2937"/>
                          </a:solidFill>
                        </a:rPr>
                        <a:t>Qurum intensivligi</a:t>
                      </a:r>
                    </a:p>
                  </a:txBody>
                  <a:tcPr marL="73152" marR="73152" marT="36576" marB="36576">
                    <a:solidFill>
                      <a:srgbClr val="FFFFFF"/>
                    </a:solidFill>
                  </a:tcPr>
                </a:tc>
                <a:tc>
                  <a:txBody>
                    <a:bodyPr/>
                    <a:lstStyle/>
                    <a:p>
                      <a:r>
                        <a:rPr sz="1200" b="0">
                          <a:solidFill>
                            <a:srgbClr val="1F2937"/>
                          </a:solidFill>
                        </a:rPr>
                        <a:t>Periferiyaga ortadi</a:t>
                      </a:r>
                    </a:p>
                  </a:txBody>
                  <a:tcPr marL="73152" marR="73152" marT="36576" marB="36576">
                    <a:solidFill>
                      <a:srgbClr val="FFFFFF"/>
                    </a:solidFill>
                  </a:tcPr>
                </a:tc>
                <a:tc>
                  <a:txBody>
                    <a:bodyPr/>
                    <a:lstStyle/>
                    <a:p>
                      <a:r>
                        <a:rPr sz="1200" b="0">
                          <a:solidFill>
                            <a:srgbClr val="1F2937"/>
                          </a:solidFill>
                        </a:rPr>
                        <a:t>Aksincha holat</a:t>
                      </a:r>
                    </a:p>
                  </a:txBody>
                  <a:tcPr marL="73152" marR="73152" marT="36576" marB="36576">
                    <a:solidFill>
                      <a:srgbClr val="FFFFFF"/>
                    </a:solidFill>
                  </a:tcPr>
                </a:tc>
              </a:tr>
              <a:tr h="411480">
                <a:tc>
                  <a:txBody>
                    <a:bodyPr/>
                    <a:lstStyle/>
                    <a:p>
                      <a:r>
                        <a:rPr sz="1200" b="0">
                          <a:solidFill>
                            <a:srgbClr val="1F2937"/>
                          </a:solidFill>
                        </a:rPr>
                        <a:t>Qurum yuzasi</a:t>
                      </a:r>
                    </a:p>
                  </a:txBody>
                  <a:tcPr marL="73152" marR="73152" marT="36576" marB="36576">
                    <a:solidFill>
                      <a:srgbClr val="E8EEF6"/>
                    </a:solidFill>
                  </a:tcPr>
                </a:tc>
                <a:tc>
                  <a:txBody>
                    <a:bodyPr/>
                    <a:lstStyle/>
                    <a:p>
                      <a:r>
                        <a:rPr sz="1200" b="0">
                          <a:solidFill>
                            <a:srgbClr val="1F2937"/>
                          </a:solidFill>
                        </a:rPr>
                        <a:t>1-qavat ichki, 2-qavat tashqi yuzasi</a:t>
                      </a:r>
                    </a:p>
                  </a:txBody>
                  <a:tcPr marL="73152" marR="73152" marT="36576" marB="36576">
                    <a:solidFill>
                      <a:srgbClr val="E8EEF6"/>
                    </a:solidFill>
                  </a:tcPr>
                </a:tc>
                <a:tc>
                  <a:txBody>
                    <a:bodyPr/>
                    <a:lstStyle/>
                    <a:p>
                      <a:r>
                        <a:rPr sz="1200" b="0">
                          <a:solidFill>
                            <a:srgbClr val="1F2937"/>
                          </a:solidFill>
                        </a:rPr>
                        <a:t>1-qavat tashqi yuzasi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Vinogradov fenomeni va yaqin distansiya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morfologiyasiga ta’sir etuvchi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Snaryad xususiyatlari: materiali, tuzilishi, massasi, kalibri va uzunligi jarohat ko‘rinishiga ta’sir qiladi.</a:t>
            </a:r>
          </a:p>
          <a:p>
            <a:pPr>
              <a:spcAft>
                <a:spcPts val="1200"/>
              </a:spcAft>
            </a:pPr>
            <a:r>
              <a:rPr sz="2200">
                <a:solidFill>
                  <a:srgbClr val="1F2937"/>
                </a:solidFill>
                <a:latin typeface="Calibri"/>
              </a:rPr>
              <a:t>▸  Ballistik xususiyatlar: tezlik, pretsessiya, nutatsiya hamda traektoriyadagi to‘siqlar va ularning xususiyatlari.</a:t>
            </a:r>
          </a:p>
          <a:p>
            <a:pPr>
              <a:spcAft>
                <a:spcPts val="1200"/>
              </a:spcAft>
            </a:pPr>
            <a:r>
              <a:rPr sz="2200">
                <a:solidFill>
                  <a:srgbClr val="1F2937"/>
                </a:solidFill>
                <a:latin typeface="Calibri"/>
              </a:rPr>
              <a:t>▸  Shikastlangan soha: anatomik tuzilishi, zichligi, hajmi, qon bilan ta’minlanishi, suyuqlik va gaz saqlashi.</a:t>
            </a:r>
          </a:p>
          <a:p>
            <a:pPr>
              <a:spcAft>
                <a:spcPts val="1200"/>
              </a:spcAft>
            </a:pPr>
            <a:r>
              <a:rPr sz="2200">
                <a:solidFill>
                  <a:srgbClr val="1F2937"/>
                </a:solidFill>
                <a:latin typeface="Calibri"/>
              </a:rPr>
              <a:t>▸  Jarohat shu uch guruh omillarning o‘ta qisqa vaqtdagi o‘zaro ta’sirida hosil bo‘ladi; mexanizm zarb ta’siri nazariyasi bilan tushuntiriladi.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Zarb ta’siri nazariyasi va yara zonalari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snaryad, ballistika va soha xususiyatlarining o‘zaro ta’siridan hosil bo‘ladi.</a:t>
            </a:r>
          </a:p>
          <a:p>
            <a:pPr>
              <a:spcAft>
                <a:spcPts val="800"/>
              </a:spcAft>
            </a:pPr>
            <a:r>
              <a:rPr sz="1800">
                <a:solidFill>
                  <a:srgbClr val="1F2937"/>
                </a:solidFill>
                <a:latin typeface="Calibri"/>
              </a:rPr>
              <a:t>▸  Bo‘shliq pulsatsiyasi qon va emirilgan to‘qima bo‘laklarini chiqish, ba’zan kirish teshigidan chiqaradi.</a:t>
            </a:r>
          </a:p>
          <a:p>
            <a:pPr>
              <a:spcAft>
                <a:spcPts val="800"/>
              </a:spcAft>
            </a:pPr>
            <a:r>
              <a:rPr sz="1800">
                <a:solidFill>
                  <a:srgbClr val="1F2937"/>
                </a:solidFill>
                <a:latin typeface="Calibri"/>
              </a:rPr>
              <a:t>▸  Yara devorida uch zona: kanal, lat yeyish (0,3 dan 1–2 sm gacha) va chayqalish (4–5 sm va ortiq).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Kichik yuzaga kuchli zarb</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Siqilish to‘lqini yon va orqaga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Devor to‘lqinsimon siljiydi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va manfiy bosim fazalari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Vaqtincha bo‘shliq pulsatsiyasi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Zarb ta’siri mexanizmi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89, 90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Og‘irlik markazi siljigan o‘qlar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Zamonaviy mayda kalibrli jangovor qurollarda travmatik ta’sirni kuchaytirish uchun og‘irlik markazi o‘qning pastki tomoniga siljitilgan o‘qlar qo‘llanadi.</a:t>
            </a:r>
          </a:p>
          <a:p>
            <a:pPr>
              <a:spcAft>
                <a:spcPts val="1200"/>
              </a:spcAft>
            </a:pPr>
            <a:r>
              <a:rPr sz="2200">
                <a:solidFill>
                  <a:srgbClr val="1F2937"/>
                </a:solidFill>
                <a:latin typeface="Calibri"/>
              </a:rPr>
              <a:t>▸  Bunday o‘q tanaga kirganda turg‘unlikni yo‘qotadi. Natijada uning harakat traektoriyasi va ta’sir vaqti ortadi.</a:t>
            </a:r>
          </a:p>
          <a:p>
            <a:pPr>
              <a:spcAft>
                <a:spcPts val="1200"/>
              </a:spcAft>
            </a:pPr>
            <a:r>
              <a:rPr sz="2200">
                <a:solidFill>
                  <a:srgbClr val="1F2937"/>
                </a:solidFill>
                <a:latin typeface="Calibri"/>
              </a:rPr>
              <a:t>▸  Shu sababli o‘qning shikastlovchi energiyasi to‘qimalarga to‘liqroq beriladi.</a:t>
            </a:r>
          </a:p>
          <a:p>
            <a:pPr>
              <a:spcAft>
                <a:spcPts val="1200"/>
              </a:spcAft>
            </a:pPr>
            <a:r>
              <a:rPr sz="2200">
                <a:solidFill>
                  <a:srgbClr val="1F2937"/>
                </a:solidFill>
                <a:latin typeface="Calibri"/>
              </a:rPr>
              <a:t>▸  Oqibatda katta jarohat kanali, ichki a’zolar yorilishi va suyaklar sinishi vujudga keladi. Bunday o‘qlar yorma ta’sir ham ko‘rsatishi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90, 90, 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turlari va yara kanali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Teshib o‘tar yarada kirish teshigi, kanal va chiqish teshigi bo‘ladi. Ko‘r yarada chiqish teshigi yo‘q, snaryad kanal oxirida qoladi.</a:t>
            </a:r>
          </a:p>
          <a:p>
            <a:pPr>
              <a:spcAft>
                <a:spcPts val="1200"/>
              </a:spcAft>
            </a:pPr>
            <a:r>
              <a:rPr sz="2000">
                <a:solidFill>
                  <a:srgbClr val="1F2937"/>
                </a:solidFill>
                <a:latin typeface="Calibri"/>
              </a:rPr>
              <a:t>▸  Yalama shikastlanishda snaryad tanaga to‘liq kirmaydi. Uzunchoq shilinma yoki o‘rta qismi ariqchasimon chuqurlashgan yara hosil bo‘ladi.</a:t>
            </a:r>
          </a:p>
          <a:p>
            <a:pPr>
              <a:spcAft>
                <a:spcPts val="1200"/>
              </a:spcAft>
            </a:pPr>
            <a:r>
              <a:rPr sz="2000">
                <a:solidFill>
                  <a:srgbClr val="1F2937"/>
                </a:solidFill>
                <a:latin typeface="Calibri"/>
              </a:rPr>
              <a:t>▸  Kanal to‘g‘ri, siniq yoki yoysimon bo‘ladi. Uzlukli kanal to‘qimalar qisqarishidan hosil bo‘lib, odatda jarohatning hayotiyligini ko‘rsatadi.</a:t>
            </a:r>
          </a:p>
          <a:p>
            <a:pPr>
              <a:spcAft>
                <a:spcPts val="1200"/>
              </a:spcAft>
            </a:pPr>
            <a:r>
              <a:rPr sz="2000">
                <a:solidFill>
                  <a:srgbClr val="1F2937"/>
                </a:solidFill>
                <a:latin typeface="Calibri"/>
              </a:rPr>
              <a:t>▸  Odatda bitta kirish va bitta chiqish teshigi bo‘ladi. Bilak, ko‘krak kabi yupqa sohalarda bir o‘qdan ikkitadan teshik bo‘lishi mumkin; chiqish vazifasini og‘iz, burun, ichak bo‘shliqlari ham bajaradi.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va chiqish teshiklarini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Kirish teshigida o‘qning yulma ta’siridan to‘qima defekti bo‘ladi. Defekt o‘lchami o‘q diametridan kichikroq.</a:t>
            </a:r>
          </a:p>
          <a:p>
            <a:pPr>
              <a:spcAft>
                <a:spcPts val="800"/>
              </a:spcAft>
            </a:pPr>
            <a:r>
              <a:rPr sz="1800">
                <a:solidFill>
                  <a:srgbClr val="1F2937"/>
                </a:solidFill>
                <a:latin typeface="Calibri"/>
              </a:rPr>
              <a:t>▸  Yara chetlari yaqinlashtirilganda teri burmalari hosil bo‘lsa, defekt bor. Burmasiz mos tushsa, defekt yo‘q.</a:t>
            </a:r>
          </a:p>
          <a:p>
            <a:pPr>
              <a:spcAft>
                <a:spcPts val="800"/>
              </a:spcAft>
            </a:pPr>
            <a:r>
              <a:rPr sz="1800">
                <a:solidFill>
                  <a:srgbClr val="1F2937"/>
                </a:solidFill>
                <a:latin typeface="Calibri"/>
              </a:rPr>
              <a:t>▸  Diqqat: shilinish (1-3 mm) va ifloslanish hoshiyalari kirish teshigiga xos, chiqish teshigida odatda bo‘lmaydi.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247724"/>
                <a:gridCol w="2079540"/>
                <a:gridCol w="196070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Kirish</a:t>
                      </a:r>
                    </a:p>
                  </a:txBody>
                  <a:tcPr marL="73152" marR="73152" marT="36576" marB="36576">
                    <a:solidFill>
                      <a:srgbClr val="0B1F3A"/>
                    </a:solidFill>
                  </a:tcPr>
                </a:tc>
                <a:tc>
                  <a:txBody>
                    <a:bodyPr/>
                    <a:lstStyle/>
                    <a:p>
                      <a:r>
                        <a:rPr sz="1300" b="1">
                          <a:solidFill>
                            <a:srgbClr val="FFFFFF"/>
                          </a:solidFill>
                        </a:rPr>
                        <a:t>Chiqish</a:t>
                      </a:r>
                    </a:p>
                  </a:txBody>
                  <a:tcPr marL="73152" marR="73152" marT="36576" marB="36576">
                    <a:solidFill>
                      <a:srgbClr val="0B1F3A"/>
                    </a:solidFill>
                  </a:tcPr>
                </a:tc>
              </a:tr>
              <a:tr h="411480">
                <a:tc>
                  <a:txBody>
                    <a:bodyPr/>
                    <a:lstStyle/>
                    <a:p>
                      <a:r>
                        <a:rPr sz="1200" b="0">
                          <a:solidFill>
                            <a:srgbClr val="1F2937"/>
                          </a:solidFill>
                        </a:rPr>
                        <a:t>Shakli</a:t>
                      </a:r>
                    </a:p>
                  </a:txBody>
                  <a:tcPr marL="73152" marR="73152" marT="36576" marB="36576">
                    <a:solidFill>
                      <a:srgbClr val="E8EEF6"/>
                    </a:solidFill>
                  </a:tcPr>
                </a:tc>
                <a:tc>
                  <a:txBody>
                    <a:bodyPr/>
                    <a:lstStyle/>
                    <a:p>
                      <a:r>
                        <a:rPr sz="1200" b="0">
                          <a:solidFill>
                            <a:srgbClr val="1F2937"/>
                          </a:solidFill>
                        </a:rPr>
                        <a:t>Dumaloq, oval</a:t>
                      </a:r>
                    </a:p>
                  </a:txBody>
                  <a:tcPr marL="73152" marR="73152" marT="36576" marB="36576">
                    <a:solidFill>
                      <a:srgbClr val="E8EEF6"/>
                    </a:solidFill>
                  </a:tcPr>
                </a:tc>
                <a:tc>
                  <a:txBody>
                    <a:bodyPr/>
                    <a:lstStyle/>
                    <a:p>
                      <a:r>
                        <a:rPr sz="1200" b="0">
                          <a:solidFill>
                            <a:srgbClr val="1F2937"/>
                          </a:solidFill>
                        </a:rPr>
                        <a:t>Yoriqsimon, yoysimon, yulduzsimon</a:t>
                      </a:r>
                    </a:p>
                  </a:txBody>
                  <a:tcPr marL="73152" marR="73152" marT="36576" marB="36576">
                    <a:solidFill>
                      <a:srgbClr val="E8EEF6"/>
                    </a:solidFill>
                  </a:tcPr>
                </a:tc>
              </a:tr>
              <a:tr h="411480">
                <a:tc>
                  <a:txBody>
                    <a:bodyPr/>
                    <a:lstStyle/>
                    <a:p>
                      <a:r>
                        <a:rPr sz="1200" b="0">
                          <a:solidFill>
                            <a:srgbClr val="1F2937"/>
                          </a:solidFill>
                        </a:rPr>
                        <a:t>Yara chetlari</a:t>
                      </a:r>
                    </a:p>
                  </a:txBody>
                  <a:tcPr marL="73152" marR="73152" marT="36576" marB="36576">
                    <a:solidFill>
                      <a:srgbClr val="FFFFFF"/>
                    </a:solidFill>
                  </a:tcPr>
                </a:tc>
                <a:tc>
                  <a:txBody>
                    <a:bodyPr/>
                    <a:lstStyle/>
                    <a:p>
                      <a:r>
                        <a:rPr sz="1200" b="0">
                          <a:solidFill>
                            <a:srgbClr val="1F2937"/>
                          </a:solidFill>
                        </a:rPr>
                        <a:t>Nisbatan tekis, ichkariga qayrilgan</a:t>
                      </a:r>
                    </a:p>
                  </a:txBody>
                  <a:tcPr marL="73152" marR="73152" marT="36576" marB="36576">
                    <a:solidFill>
                      <a:srgbClr val="FFFFFF"/>
                    </a:solidFill>
                  </a:tcPr>
                </a:tc>
                <a:tc>
                  <a:txBody>
                    <a:bodyPr/>
                    <a:lstStyle/>
                    <a:p>
                      <a:r>
                        <a:rPr sz="1200" b="0">
                          <a:solidFill>
                            <a:srgbClr val="1F2937"/>
                          </a:solidFill>
                        </a:rPr>
                        <a:t>Notekis, tashqariga qayrilgan</a:t>
                      </a:r>
                    </a:p>
                  </a:txBody>
                  <a:tcPr marL="73152" marR="73152" marT="36576" marB="36576">
                    <a:solidFill>
                      <a:srgbClr val="FFFFFF"/>
                    </a:solidFill>
                  </a:tcPr>
                </a:tc>
              </a:tr>
              <a:tr h="411480">
                <a:tc>
                  <a:txBody>
                    <a:bodyPr/>
                    <a:lstStyle/>
                    <a:p>
                      <a:r>
                        <a:rPr sz="1200" b="0">
                          <a:solidFill>
                            <a:srgbClr val="1F2937"/>
                          </a:solidFill>
                        </a:rPr>
                        <a:t>Shilinish hoshiyasi</a:t>
                      </a:r>
                    </a:p>
                  </a:txBody>
                  <a:tcPr marL="73152" marR="73152" marT="36576" marB="36576">
                    <a:solidFill>
                      <a:srgbClr val="E8EEF6"/>
                    </a:solidFill>
                  </a:tcPr>
                </a:tc>
                <a:tc>
                  <a:txBody>
                    <a:bodyPr/>
                    <a:lstStyle/>
                    <a:p>
                      <a:r>
                        <a:rPr sz="1200" b="0">
                          <a:solidFill>
                            <a:srgbClr val="1F2937"/>
                          </a:solidFill>
                        </a:rPr>
                        <a:t>Yaqqol, kengligi 1-3 mm</a:t>
                      </a:r>
                    </a:p>
                  </a:txBody>
                  <a:tcPr marL="73152" marR="73152" marT="36576" marB="36576">
                    <a:solidFill>
                      <a:srgbClr val="E8EEF6"/>
                    </a:solidFill>
                  </a:tcPr>
                </a:tc>
                <a:tc>
                  <a:txBody>
                    <a:bodyPr/>
                    <a:lstStyle/>
                    <a:p>
                      <a:r>
                        <a:rPr sz="1200" b="0">
                          <a:solidFill>
                            <a:srgbClr val="1F2937"/>
                          </a:solidFill>
                        </a:rPr>
                        <a:t>Ko‘pincha bo‘lmaydi</a:t>
                      </a:r>
                    </a:p>
                  </a:txBody>
                  <a:tcPr marL="73152" marR="73152" marT="36576" marB="36576">
                    <a:solidFill>
                      <a:srgbClr val="E8EEF6"/>
                    </a:solidFill>
                  </a:tcPr>
                </a:tc>
              </a:tr>
              <a:tr h="411480">
                <a:tc>
                  <a:txBody>
                    <a:bodyPr/>
                    <a:lstStyle/>
                    <a:p>
                      <a:r>
                        <a:rPr sz="1200" b="0">
                          <a:solidFill>
                            <a:srgbClr val="1F2937"/>
                          </a:solidFill>
                        </a:rPr>
                        <a:t>Ifloslanish hoshiyasi</a:t>
                      </a:r>
                    </a:p>
                  </a:txBody>
                  <a:tcPr marL="73152" marR="73152" marT="36576" marB="36576">
                    <a:solidFill>
                      <a:srgbClr val="FFFFFF"/>
                    </a:solidFill>
                  </a:tcPr>
                </a:tc>
                <a:tc>
                  <a:txBody>
                    <a:bodyPr/>
                    <a:lstStyle/>
                    <a:p>
                      <a:r>
                        <a:rPr sz="1200" b="0">
                          <a:solidFill>
                            <a:srgbClr val="1F2937"/>
                          </a:solidFill>
                        </a:rPr>
                        <a:t>Bo‘ladi</a:t>
                      </a:r>
                    </a:p>
                  </a:txBody>
                  <a:tcPr marL="73152" marR="73152" marT="36576" marB="36576">
                    <a:solidFill>
                      <a:srgbClr val="FFFFFF"/>
                    </a:solidFill>
                  </a:tcPr>
                </a:tc>
                <a:tc>
                  <a:txBody>
                    <a:bodyPr/>
                    <a:lstStyle/>
                    <a:p>
                      <a:r>
                        <a:rPr sz="1200" b="0">
                          <a:solidFill>
                            <a:srgbClr val="1F2937"/>
                          </a:solidFill>
                        </a:rPr>
                        <a:t>Bo‘lmaydi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Kirish va chiqish teshigi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90, 91, 91-92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Suyaklarda o‘q otar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Yassi suyakda o‘q kirgan joyda kesik konus shaklidagi defekt hosil bo‘ladi.</a:t>
            </a:r>
          </a:p>
          <a:p>
            <a:pPr>
              <a:spcAft>
                <a:spcPts val="800"/>
              </a:spcAft>
            </a:pPr>
            <a:r>
              <a:rPr sz="1800">
                <a:solidFill>
                  <a:srgbClr val="1F2937"/>
                </a:solidFill>
                <a:latin typeface="Calibri"/>
              </a:rPr>
              <a:t>▸  Naysimon suyakda kirish tomonida radial darzli dumaloq defekt, chiqish tomonida kattaroq defekt va uzunasiga darzlar bo‘ladi.</a:t>
            </a:r>
          </a:p>
          <a:p>
            <a:pPr>
              <a:spcAft>
                <a:spcPts val="800"/>
              </a:spcAft>
            </a:pPr>
            <a:r>
              <a:rPr sz="1800">
                <a:solidFill>
                  <a:srgbClr val="1F2937"/>
                </a:solidFill>
                <a:latin typeface="Calibri"/>
              </a:rPr>
              <a:t>▸  Ketma-ketlik: keyingi defektdan boshlangan darz chiziqlari avvalgi jarohat darzlarini kesib o‘tmaydi.</a:t>
            </a:r>
          </a:p>
        </p:txBody>
      </p:sp>
      <p:graphicFrame>
        <p:nvGraphicFramePr>
          <p:cNvPr id="9" name="Table 8"/>
          <p:cNvGraphicFramePr>
            <a:graphicFrameLocks noGrp="1"/>
          </p:cNvGraphicFramePr>
          <p:nvPr/>
        </p:nvGraphicFramePr>
        <p:xfrm>
          <a:off x="6263640" y="1463040"/>
          <a:ext cx="5287974" cy="1234440"/>
        </p:xfrm>
        <a:graphic>
          <a:graphicData uri="http://schemas.openxmlformats.org/drawingml/2006/table">
            <a:tbl>
              <a:tblPr firstRow="1" bandRow="1">
                <a:tableStyleId>{5C22544A-7EE6-4342-B048-85BDC9FD1C3A}</a:tableStyleId>
              </a:tblPr>
              <a:tblGrid>
                <a:gridCol w="1007233"/>
                <a:gridCol w="1951514"/>
                <a:gridCol w="2329227"/>
              </a:tblGrid>
              <a:tr h="411480">
                <a:tc>
                  <a:txBody>
                    <a:bodyPr/>
                    <a:lstStyle/>
                    <a:p>
                      <a:r>
                        <a:rPr sz="1300" b="1">
                          <a:solidFill>
                            <a:srgbClr val="FFFFFF"/>
                          </a:solidFill>
                        </a:rPr>
                        <a:t>Suyak turi</a:t>
                      </a:r>
                    </a:p>
                  </a:txBody>
                  <a:tcPr marL="73152" marR="73152" marT="36576" marB="36576">
                    <a:solidFill>
                      <a:srgbClr val="0B1F3A"/>
                    </a:solidFill>
                  </a:tcPr>
                </a:tc>
                <a:tc>
                  <a:txBody>
                    <a:bodyPr/>
                    <a:lstStyle/>
                    <a:p>
                      <a:r>
                        <a:rPr sz="1300" b="1">
                          <a:solidFill>
                            <a:srgbClr val="FFFFFF"/>
                          </a:solidFill>
                        </a:rPr>
                        <a:t>Kirish tomoni</a:t>
                      </a:r>
                    </a:p>
                  </a:txBody>
                  <a:tcPr marL="73152" marR="73152" marT="36576" marB="36576">
                    <a:solidFill>
                      <a:srgbClr val="0B1F3A"/>
                    </a:solidFill>
                  </a:tcPr>
                </a:tc>
                <a:tc>
                  <a:txBody>
                    <a:bodyPr/>
                    <a:lstStyle/>
                    <a:p>
                      <a:r>
                        <a:rPr sz="1300" b="1">
                          <a:solidFill>
                            <a:srgbClr val="FFFFFF"/>
                          </a:solidFill>
                        </a:rPr>
                        <a:t>Chiqish tomoni</a:t>
                      </a:r>
                    </a:p>
                  </a:txBody>
                  <a:tcPr marL="73152" marR="73152" marT="36576" marB="36576">
                    <a:solidFill>
                      <a:srgbClr val="0B1F3A"/>
                    </a:solidFill>
                  </a:tcPr>
                </a:tc>
              </a:tr>
              <a:tr h="411480">
                <a:tc>
                  <a:txBody>
                    <a:bodyPr/>
                    <a:lstStyle/>
                    <a:p>
                      <a:r>
                        <a:rPr sz="1200" b="0">
                          <a:solidFill>
                            <a:srgbClr val="1F2937"/>
                          </a:solidFill>
                        </a:rPr>
                        <a:t>Yassi suyak</a:t>
                      </a:r>
                    </a:p>
                  </a:txBody>
                  <a:tcPr marL="73152" marR="73152" marT="36576" marB="36576">
                    <a:solidFill>
                      <a:srgbClr val="E8EEF6"/>
                    </a:solidFill>
                  </a:tcPr>
                </a:tc>
                <a:tc>
                  <a:txBody>
                    <a:bodyPr/>
                    <a:lstStyle/>
                    <a:p>
                      <a:r>
                        <a:rPr sz="1200" b="0">
                          <a:solidFill>
                            <a:srgbClr val="1F2937"/>
                          </a:solidFill>
                        </a:rPr>
                        <a:t>Kesik konus defekt, kichik asos</a:t>
                      </a:r>
                    </a:p>
                  </a:txBody>
                  <a:tcPr marL="73152" marR="73152" marT="36576" marB="36576">
                    <a:solidFill>
                      <a:srgbClr val="E8EEF6"/>
                    </a:solidFill>
                  </a:tcPr>
                </a:tc>
                <a:tc>
                  <a:txBody>
                    <a:bodyPr/>
                    <a:lstStyle/>
                    <a:p>
                      <a:r>
                        <a:rPr sz="1200" b="0">
                          <a:solidFill>
                            <a:srgbClr val="1F2937"/>
                          </a:solidFill>
                        </a:rPr>
                        <a:t>Katta asos tomon (harakat yo‘nalishi)</a:t>
                      </a:r>
                    </a:p>
                  </a:txBody>
                  <a:tcPr marL="73152" marR="73152" marT="36576" marB="36576">
                    <a:solidFill>
                      <a:srgbClr val="E8EEF6"/>
                    </a:solidFill>
                  </a:tcPr>
                </a:tc>
              </a:tr>
              <a:tr h="411480">
                <a:tc>
                  <a:txBody>
                    <a:bodyPr/>
                    <a:lstStyle/>
                    <a:p>
                      <a:r>
                        <a:rPr sz="1200" b="0">
                          <a:solidFill>
                            <a:srgbClr val="1F2937"/>
                          </a:solidFill>
                        </a:rPr>
                        <a:t>Naysimon suyak</a:t>
                      </a:r>
                    </a:p>
                  </a:txBody>
                  <a:tcPr marL="73152" marR="73152" marT="36576" marB="36576">
                    <a:solidFill>
                      <a:srgbClr val="FFFFFF"/>
                    </a:solidFill>
                  </a:tcPr>
                </a:tc>
                <a:tc>
                  <a:txBody>
                    <a:bodyPr/>
                    <a:lstStyle/>
                    <a:p>
                      <a:r>
                        <a:rPr sz="1200" b="0">
                          <a:solidFill>
                            <a:srgbClr val="1F2937"/>
                          </a:solidFill>
                        </a:rPr>
                        <a:t>Dumaloq defekt, radial darzlar</a:t>
                      </a:r>
                    </a:p>
                  </a:txBody>
                  <a:tcPr marL="73152" marR="73152" marT="36576" marB="36576">
                    <a:solidFill>
                      <a:srgbClr val="FFFFFF"/>
                    </a:solidFill>
                  </a:tcPr>
                </a:tc>
                <a:tc>
                  <a:txBody>
                    <a:bodyPr/>
                    <a:lstStyle/>
                    <a:p>
                      <a:r>
                        <a:rPr sz="1200" b="0">
                          <a:solidFill>
                            <a:srgbClr val="1F2937"/>
                          </a:solidFill>
                        </a:rPr>
                        <a:t>Kattaroq defekt, darzlar uzunasiga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Suyak turiga qarab defekt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92, 97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kirish va chiqish teshigi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ikkita teshik. Birining chetlari nisbatan tekis, ichkariga qayrilgan, atrofida 1-3 mm shilinish hoshiyasi bor.</a:t>
            </a:r>
          </a:p>
          <a:p>
            <a:pPr>
              <a:spcAft>
                <a:spcPts val="1200"/>
              </a:spcAft>
            </a:pPr>
            <a:r>
              <a:rPr sz="2200">
                <a:solidFill>
                  <a:srgbClr val="1F2937"/>
                </a:solidFill>
                <a:latin typeface="Calibri"/>
              </a:rPr>
              <a:t>▸  Ikkinchi teshik yoriqsimon, chetlari notekis va tashqariga qayrilgan, atrofida shilinish va ifloslanish hoshiyalari yo‘q.</a:t>
            </a:r>
          </a:p>
          <a:p>
            <a:pPr>
              <a:spcAft>
                <a:spcPts val="1200"/>
              </a:spcAft>
            </a:pPr>
            <a:r>
              <a:rPr sz="2200">
                <a:solidFill>
                  <a:srgbClr val="1F2937"/>
                </a:solidFill>
                <a:latin typeface="Calibri"/>
              </a:rPr>
              <a:t>▸  Savol 1: qaysi teshik kirish teshigi? Javob: tekis chetli, shilinish hoshiyali teshik kirish teshigidir.</a:t>
            </a:r>
          </a:p>
          <a:p>
            <a:pPr>
              <a:spcAft>
                <a:spcPts val="1200"/>
              </a:spcAft>
            </a:pPr>
            <a:r>
              <a:rPr sz="2200">
                <a:solidFill>
                  <a:srgbClr val="1F2937"/>
                </a:solidFill>
                <a:latin typeface="Calibri"/>
              </a:rPr>
              <a:t>▸  Savol 2: yara kanali yo‘nalishi qanday aniqlanadi? Kirish va chiqishni topish kanal yo‘nalishini va stvol bilan jabrlanganning holatini ko‘rsatadi.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91-92, 92-93, 90, 97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Pnevmatik qurol o‘qlarining deformatsiyasi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Pnevmatik qurolda o‘q porox emas, siqilgan havo energiyasi bilan harakatlanadi; 30-50 m ga yetadi.</a:t>
            </a:r>
          </a:p>
          <a:p>
            <a:pPr>
              <a:spcAft>
                <a:spcPts val="800"/>
              </a:spcAft>
            </a:pPr>
            <a:r>
              <a:rPr sz="1800">
                <a:solidFill>
                  <a:srgbClr val="1F2937"/>
                </a:solidFill>
                <a:latin typeface="Calibri"/>
              </a:rPr>
              <a:t>▸  O‘qlarning qobig‘i bo‘lmagani uchun biron-bir to‘siqqa tekkanda deformatsiyaga uchraydi.</a:t>
            </a:r>
          </a:p>
          <a:p>
            <a:pPr>
              <a:spcAft>
                <a:spcPts val="800"/>
              </a:spcAft>
            </a:pPr>
            <a:r>
              <a:rPr sz="1800">
                <a:solidFill>
                  <a:srgbClr val="1F2937"/>
                </a:solidFill>
                <a:latin typeface="Calibri"/>
              </a:rPr>
              <a:t>▸  Qo‘shimcha omillar belgisi bo‘lmaydi; yara kanali ko‘r, jarohat yaqin bo‘lmagan masofadagiga o‘xshaydi.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730610"/>
                <a:gridCol w="1538320"/>
                <a:gridCol w="201904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Pnevmatik</a:t>
                      </a:r>
                    </a:p>
                  </a:txBody>
                  <a:tcPr marL="73152" marR="73152" marT="36576" marB="36576">
                    <a:solidFill>
                      <a:srgbClr val="0B1F3A"/>
                    </a:solidFill>
                  </a:tcPr>
                </a:tc>
                <a:tc>
                  <a:txBody>
                    <a:bodyPr/>
                    <a:lstStyle/>
                    <a:p>
                      <a:r>
                        <a:rPr sz="1300" b="1">
                          <a:solidFill>
                            <a:srgbClr val="FFFFFF"/>
                          </a:solidFill>
                        </a:rPr>
                        <a:t>O‘q otar</a:t>
                      </a:r>
                    </a:p>
                  </a:txBody>
                  <a:tcPr marL="73152" marR="73152" marT="36576" marB="36576">
                    <a:solidFill>
                      <a:srgbClr val="0B1F3A"/>
                    </a:solidFill>
                  </a:tcPr>
                </a:tc>
              </a:tr>
              <a:tr h="411480">
                <a:tc>
                  <a:txBody>
                    <a:bodyPr/>
                    <a:lstStyle/>
                    <a:p>
                      <a:r>
                        <a:rPr sz="1200" b="0">
                          <a:solidFill>
                            <a:srgbClr val="1F2937"/>
                          </a:solidFill>
                        </a:rPr>
                        <a:t>Energiya manbai</a:t>
                      </a:r>
                    </a:p>
                  </a:txBody>
                  <a:tcPr marL="73152" marR="73152" marT="36576" marB="36576">
                    <a:solidFill>
                      <a:srgbClr val="E8EEF6"/>
                    </a:solidFill>
                  </a:tcPr>
                </a:tc>
                <a:tc>
                  <a:txBody>
                    <a:bodyPr/>
                    <a:lstStyle/>
                    <a:p>
                      <a:r>
                        <a:rPr sz="1200" b="0">
                          <a:solidFill>
                            <a:srgbClr val="1F2937"/>
                          </a:solidFill>
                        </a:rPr>
                        <a:t>Siqilgan havo</a:t>
                      </a:r>
                    </a:p>
                  </a:txBody>
                  <a:tcPr marL="73152" marR="73152" marT="36576" marB="36576">
                    <a:solidFill>
                      <a:srgbClr val="E8EEF6"/>
                    </a:solidFill>
                  </a:tcPr>
                </a:tc>
                <a:tc>
                  <a:txBody>
                    <a:bodyPr/>
                    <a:lstStyle/>
                    <a:p>
                      <a:r>
                        <a:rPr sz="1200" b="0">
                          <a:solidFill>
                            <a:srgbClr val="1F2937"/>
                          </a:solidFill>
                        </a:rPr>
                        <a:t>Porox gazlari</a:t>
                      </a:r>
                    </a:p>
                  </a:txBody>
                  <a:tcPr marL="73152" marR="73152" marT="36576" marB="36576">
                    <a:solidFill>
                      <a:srgbClr val="E8EEF6"/>
                    </a:solidFill>
                  </a:tcPr>
                </a:tc>
              </a:tr>
              <a:tr h="411480">
                <a:tc>
                  <a:txBody>
                    <a:bodyPr/>
                    <a:lstStyle/>
                    <a:p>
                      <a:r>
                        <a:rPr sz="1200" b="0">
                          <a:solidFill>
                            <a:srgbClr val="1F2937"/>
                          </a:solidFill>
                        </a:rPr>
                        <a:t>O‘q qobig‘i</a:t>
                      </a:r>
                    </a:p>
                  </a:txBody>
                  <a:tcPr marL="73152" marR="73152" marT="36576" marB="36576">
                    <a:solidFill>
                      <a:srgbClr val="FFFFFF"/>
                    </a:solidFill>
                  </a:tcPr>
                </a:tc>
                <a:tc>
                  <a:txBody>
                    <a:bodyPr/>
                    <a:lstStyle/>
                    <a:p>
                      <a:r>
                        <a:rPr sz="1200" b="0">
                          <a:solidFill>
                            <a:srgbClr val="1F2937"/>
                          </a:solidFill>
                        </a:rPr>
                        <a:t>Yo‘q</a:t>
                      </a:r>
                    </a:p>
                  </a:txBody>
                  <a:tcPr marL="73152" marR="73152" marT="36576" marB="36576">
                    <a:solidFill>
                      <a:srgbClr val="FFFFFF"/>
                    </a:solidFill>
                  </a:tcPr>
                </a:tc>
                <a:tc>
                  <a:txBody>
                    <a:bodyPr/>
                    <a:lstStyle/>
                    <a:p>
                      <a:r>
                        <a:rPr sz="1200" b="0">
                          <a:solidFill>
                            <a:srgbClr val="1F2937"/>
                          </a:solidFill>
                        </a:rPr>
                        <a:t>Odatda bor</a:t>
                      </a:r>
                    </a:p>
                  </a:txBody>
                  <a:tcPr marL="73152" marR="73152" marT="36576" marB="36576">
                    <a:solidFill>
                      <a:srgbClr val="FFFFFF"/>
                    </a:solidFill>
                  </a:tcPr>
                </a:tc>
              </a:tr>
              <a:tr h="411480">
                <a:tc>
                  <a:txBody>
                    <a:bodyPr/>
                    <a:lstStyle/>
                    <a:p>
                      <a:r>
                        <a:rPr sz="1200" b="0">
                          <a:solidFill>
                            <a:srgbClr val="1F2937"/>
                          </a:solidFill>
                        </a:rPr>
                        <a:t>Qo‘shimcha omillar</a:t>
                      </a:r>
                    </a:p>
                  </a:txBody>
                  <a:tcPr marL="73152" marR="73152" marT="36576" marB="36576">
                    <a:solidFill>
                      <a:srgbClr val="E8EEF6"/>
                    </a:solidFill>
                  </a:tcPr>
                </a:tc>
                <a:tc>
                  <a:txBody>
                    <a:bodyPr/>
                    <a:lstStyle/>
                    <a:p>
                      <a:r>
                        <a:rPr sz="1200" b="0">
                          <a:solidFill>
                            <a:srgbClr val="1F2937"/>
                          </a:solidFill>
                        </a:rPr>
                        <a:t>Belgisi yo‘q</a:t>
                      </a:r>
                    </a:p>
                  </a:txBody>
                  <a:tcPr marL="73152" marR="73152" marT="36576" marB="36576">
                    <a:solidFill>
                      <a:srgbClr val="E8EEF6"/>
                    </a:solidFill>
                  </a:tcPr>
                </a:tc>
                <a:tc>
                  <a:txBody>
                    <a:bodyPr/>
                    <a:lstStyle/>
                    <a:p>
                      <a:r>
                        <a:rPr sz="1200" b="0">
                          <a:solidFill>
                            <a:srgbClr val="1F2937"/>
                          </a:solidFill>
                        </a:rPr>
                        <a:t>Belgilari bo‘ladi</a:t>
                      </a:r>
                    </a:p>
                  </a:txBody>
                  <a:tcPr marL="73152" marR="73152" marT="36576" marB="36576">
                    <a:solidFill>
                      <a:srgbClr val="E8EEF6"/>
                    </a:solidFill>
                  </a:tcPr>
                </a:tc>
              </a:tr>
              <a:tr h="411480">
                <a:tc>
                  <a:txBody>
                    <a:bodyPr/>
                    <a:lstStyle/>
                    <a:p>
                      <a:r>
                        <a:rPr sz="1200" b="0">
                          <a:solidFill>
                            <a:srgbClr val="1F2937"/>
                          </a:solidFill>
                        </a:rPr>
                        <a:t>Yara kanali</a:t>
                      </a:r>
                    </a:p>
                  </a:txBody>
                  <a:tcPr marL="73152" marR="73152" marT="36576" marB="36576">
                    <a:solidFill>
                      <a:srgbClr val="FFFFFF"/>
                    </a:solidFill>
                  </a:tcPr>
                </a:tc>
                <a:tc>
                  <a:txBody>
                    <a:bodyPr/>
                    <a:lstStyle/>
                    <a:p>
                      <a:r>
                        <a:rPr sz="1200" b="0">
                          <a:solidFill>
                            <a:srgbClr val="1F2937"/>
                          </a:solidFill>
                        </a:rPr>
                        <a:t>Ko‘r</a:t>
                      </a:r>
                    </a:p>
                  </a:txBody>
                  <a:tcPr marL="73152" marR="73152" marT="36576" marB="36576">
                    <a:solidFill>
                      <a:srgbClr val="FFFFFF"/>
                    </a:solidFill>
                  </a:tcPr>
                </a:tc>
                <a:tc>
                  <a:txBody>
                    <a:bodyPr/>
                    <a:lstStyle/>
                    <a:p>
                      <a:r>
                        <a:rPr sz="1200" b="0">
                          <a:solidFill>
                            <a:srgbClr val="1F2937"/>
                          </a:solidFill>
                        </a:rPr>
                        <a:t>Teshib o‘tishi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Pnevmatik va o‘q otar qurol</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95-96, 96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va snaryadsiz patronlardan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Sochmali patronda 1 m gacha kompakt, 5 m gacha nisbiy tarqalma, undan uzoqda tarqalma ta’sir bo‘ladi.</a:t>
            </a:r>
          </a:p>
          <a:p>
            <a:pPr>
              <a:spcAft>
                <a:spcPts val="800"/>
              </a:spcAft>
            </a:pPr>
            <a:r>
              <a:rPr sz="1800">
                <a:solidFill>
                  <a:srgbClr val="1F2937"/>
                </a:solidFill>
                <a:latin typeface="Calibri"/>
              </a:rPr>
              <a:t>▸  Tiqinlar 40 m gacha mexanik, ba’zan termik ta’sir ko‘rsatadi; odatda ko‘r yaralar hosil bo‘ladi.</a:t>
            </a:r>
          </a:p>
          <a:p>
            <a:pPr>
              <a:spcAft>
                <a:spcPts val="800"/>
              </a:spcAft>
            </a:pPr>
            <a:r>
              <a:rPr sz="1800">
                <a:solidFill>
                  <a:srgbClr val="1F2937"/>
                </a:solidFill>
                <a:latin typeface="Calibri"/>
              </a:rPr>
              <a:t>▸  Snaryadsiz patron tirab otilsa gaz katta defekt beradi; plastmassa o‘q bo‘laklari bir necha metrga yetadi.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669886"/>
                <a:gridCol w="1113257"/>
                <a:gridCol w="2504830"/>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r>
              <a:tr h="411480">
                <a:tc>
                  <a:txBody>
                    <a:bodyPr/>
                    <a:lstStyle/>
                    <a:p>
                      <a:r>
                        <a:rPr sz="1200" b="0">
                          <a:solidFill>
                            <a:srgbClr val="1F2937"/>
                          </a:solidFill>
                        </a:rPr>
                        <a:t>Tirab – 1 m gacha</a:t>
                      </a:r>
                    </a:p>
                  </a:txBody>
                  <a:tcPr marL="73152" marR="73152" marT="36576" marB="36576">
                    <a:solidFill>
                      <a:srgbClr val="E8EEF6"/>
                    </a:solidFill>
                  </a:tcPr>
                </a:tc>
                <a:tc>
                  <a:txBody>
                    <a:bodyPr/>
                    <a:lstStyle/>
                    <a:p>
                      <a:r>
                        <a:rPr sz="1200" b="0">
                          <a:solidFill>
                            <a:srgbClr val="1F2937"/>
                          </a:solidFill>
                        </a:rPr>
                        <a:t>Kompakt</a:t>
                      </a:r>
                    </a:p>
                  </a:txBody>
                  <a:tcPr marL="73152" marR="73152" marT="36576" marB="36576">
                    <a:solidFill>
                      <a:srgbClr val="E8EEF6"/>
                    </a:solidFill>
                  </a:tcPr>
                </a:tc>
                <a:tc>
                  <a:txBody>
                    <a:bodyPr/>
                    <a:lstStyle/>
                    <a:p>
                      <a:r>
                        <a:rPr sz="1200" b="0">
                          <a:solidFill>
                            <a:srgbClr val="1F2937"/>
                          </a:solidFill>
                        </a:rPr>
                        <a:t>Bitta teshik, patron diametriga teng</a:t>
                      </a:r>
                    </a:p>
                  </a:txBody>
                  <a:tcPr marL="73152" marR="73152" marT="36576" marB="36576">
                    <a:solidFill>
                      <a:srgbClr val="E8EEF6"/>
                    </a:solidFill>
                  </a:tcPr>
                </a:tc>
              </a:tr>
              <a:tr h="411480">
                <a:tc>
                  <a:txBody>
                    <a:bodyPr/>
                    <a:lstStyle/>
                    <a:p>
                      <a:r>
                        <a:rPr sz="1200" b="0">
                          <a:solidFill>
                            <a:srgbClr val="1F2937"/>
                          </a:solidFill>
                        </a:rPr>
                        <a:t>5 m gacha</a:t>
                      </a:r>
                    </a:p>
                  </a:txBody>
                  <a:tcPr marL="73152" marR="73152" marT="36576" marB="36576">
                    <a:solidFill>
                      <a:srgbClr val="FFFFFF"/>
                    </a:solidFill>
                  </a:tcPr>
                </a:tc>
                <a:tc>
                  <a:txBody>
                    <a:bodyPr/>
                    <a:lstStyle/>
                    <a:p>
                      <a:r>
                        <a:rPr sz="1200" b="0">
                          <a:solidFill>
                            <a:srgbClr val="1F2937"/>
                          </a:solidFill>
                        </a:rPr>
                        <a:t>Nisbiy tarqalma</a:t>
                      </a:r>
                    </a:p>
                  </a:txBody>
                  <a:tcPr marL="73152" marR="73152" marT="36576" marB="36576">
                    <a:solidFill>
                      <a:srgbClr val="FFFFFF"/>
                    </a:solidFill>
                  </a:tcPr>
                </a:tc>
                <a:tc>
                  <a:txBody>
                    <a:bodyPr/>
                    <a:lstStyle/>
                    <a:p>
                      <a:r>
                        <a:rPr sz="1200" b="0">
                          <a:solidFill>
                            <a:srgbClr val="1F2937"/>
                          </a:solidFill>
                        </a:rPr>
                        <a:t>Asosiy teshik va mayda yaralar</a:t>
                      </a:r>
                    </a:p>
                  </a:txBody>
                  <a:tcPr marL="73152" marR="73152" marT="36576" marB="36576">
                    <a:solidFill>
                      <a:srgbClr val="FFFFFF"/>
                    </a:solidFill>
                  </a:tcPr>
                </a:tc>
              </a:tr>
              <a:tr h="411480">
                <a:tc>
                  <a:txBody>
                    <a:bodyPr/>
                    <a:lstStyle/>
                    <a:p>
                      <a:r>
                        <a:rPr sz="1200" b="0">
                          <a:solidFill>
                            <a:srgbClr val="1F2937"/>
                          </a:solidFill>
                        </a:rPr>
                        <a:t>5 m dan uzoq</a:t>
                      </a:r>
                    </a:p>
                  </a:txBody>
                  <a:tcPr marL="73152" marR="73152" marT="36576" marB="36576">
                    <a:solidFill>
                      <a:srgbClr val="E8EEF6"/>
                    </a:solidFill>
                  </a:tcPr>
                </a:tc>
                <a:tc>
                  <a:txBody>
                    <a:bodyPr/>
                    <a:lstStyle/>
                    <a:p>
                      <a:r>
                        <a:rPr sz="1200" b="0">
                          <a:solidFill>
                            <a:srgbClr val="1F2937"/>
                          </a:solidFill>
                        </a:rPr>
                        <a:t>Tarqalma</a:t>
                      </a:r>
                    </a:p>
                  </a:txBody>
                  <a:tcPr marL="73152" marR="73152" marT="36576" marB="36576">
                    <a:solidFill>
                      <a:srgbClr val="E8EEF6"/>
                    </a:solidFill>
                  </a:tcPr>
                </a:tc>
                <a:tc>
                  <a:txBody>
                    <a:bodyPr/>
                    <a:lstStyle/>
                    <a:p>
                      <a:r>
                        <a:rPr sz="1200" b="0">
                          <a:solidFill>
                            <a:srgbClr val="1F2937"/>
                          </a:solidFill>
                        </a:rPr>
                        <a:t>Mayda, o‘xshash yaralar</a:t>
                      </a:r>
                    </a:p>
                  </a:txBody>
                  <a:tcPr marL="73152" marR="73152" marT="36576" marB="36576">
                    <a:solidFill>
                      <a:srgbClr val="E8EEF6"/>
                    </a:solidFill>
                  </a:tcPr>
                </a:tc>
              </a:tr>
              <a:tr h="411480">
                <a:tc>
                  <a:txBody>
                    <a:bodyPr/>
                    <a:lstStyle/>
                    <a:p>
                      <a:r>
                        <a:rPr sz="1200" b="0">
                          <a:solidFill>
                            <a:srgbClr val="1F2937"/>
                          </a:solidFill>
                        </a:rPr>
                        <a:t>Snaryadsiz, bir necha sm</a:t>
                      </a:r>
                    </a:p>
                  </a:txBody>
                  <a:tcPr marL="73152" marR="73152" marT="36576" marB="36576">
                    <a:solidFill>
                      <a:srgbClr val="FFFFFF"/>
                    </a:solidFill>
                  </a:tcPr>
                </a:tc>
                <a:tc>
                  <a:txBody>
                    <a:bodyPr/>
                    <a:lstStyle/>
                    <a:p>
                      <a:r>
                        <a:rPr sz="1200" b="0">
                          <a:solidFill>
                            <a:srgbClr val="1F2937"/>
                          </a:solidFill>
                        </a:rPr>
                        <a:t>Gaz, qurum</a:t>
                      </a:r>
                    </a:p>
                  </a:txBody>
                  <a:tcPr marL="73152" marR="73152" marT="36576" marB="36576">
                    <a:solidFill>
                      <a:srgbClr val="FFFFFF"/>
                    </a:solidFill>
                  </a:tcPr>
                </a:tc>
                <a:tc>
                  <a:txBody>
                    <a:bodyPr/>
                    <a:lstStyle/>
                    <a:p>
                      <a:r>
                        <a:rPr sz="1200" b="0">
                          <a:solidFill>
                            <a:srgbClr val="1F2937"/>
                          </a:solidFill>
                        </a:rPr>
                        <a:t>Yuzaki yorilish, doirasimon shilinma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Masofa va ta’sir turi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93, 94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masalalari va tekshiruv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Snaryad turi ko‘r yarada oson aniqlanadi; teshib o‘tganda hoshiyalar va suyak defekti o‘lchamiga qaraladi.</a:t>
            </a:r>
          </a:p>
          <a:p>
            <a:pPr>
              <a:spcAft>
                <a:spcPts val="800"/>
              </a:spcAft>
            </a:pPr>
            <a:r>
              <a:rPr sz="1800">
                <a:solidFill>
                  <a:srgbClr val="1F2937"/>
                </a:solidFill>
                <a:latin typeface="Calibri"/>
              </a:rPr>
              <a:t>▸  Rentgen o‘q va sochmani, Bukki nurlari metall zarrachalarini, spektral analiz metall turini aniqlaydi.</a:t>
            </a:r>
          </a:p>
          <a:p>
            <a:pPr>
              <a:spcAft>
                <a:spcPts val="800"/>
              </a:spcAft>
            </a:pPr>
            <a:r>
              <a:rPr sz="1800">
                <a:solidFill>
                  <a:srgbClr val="1F2937"/>
                </a:solidFill>
                <a:latin typeface="Calibri"/>
              </a:rPr>
              <a:t>▸  Ultrabinafsha nur oz qurum-moyni, infraqizil nur to‘q kiyimdagi qurum va porox zarralarini ko‘rsatadi.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Otuv o‘q otar quroldanmi?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Snaryad va qurol turi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Distansiya va masofa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Teshiklar va kanal yo‘nalishi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Ketma-ketlik; o‘zi otganmi?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savollari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96-97, 97-98, 98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To‘siq bo‘lsa, o‘q uni teshib o‘tib nishonga tegadi. Barcha qo‘shimcha omillar (qurum, porox, metall zarrachalari) to‘siqda qoladi, tanada ularning izi bo‘lmaydi.</a:t>
            </a:r>
          </a:p>
          <a:p>
            <a:pPr>
              <a:spcAft>
                <a:spcPts val="1200"/>
              </a:spcAft>
            </a:pPr>
            <a:r>
              <a:rPr sz="2000">
                <a:solidFill>
                  <a:srgbClr val="1F2937"/>
                </a:solidFill>
                <a:latin typeface="Calibri"/>
              </a:rPr>
              <a:t>▸  To‘siq bilan to‘qnashganda o‘q deformatsiyalanadi, qisman yoki to‘liq parchalanadi, kinetik energiyasining bir qismini yo‘qotadi va yo‘nalishini o‘zgartiradi.</a:t>
            </a:r>
          </a:p>
          <a:p>
            <a:pPr>
              <a:spcAft>
                <a:spcPts val="1200"/>
              </a:spcAft>
            </a:pPr>
            <a:r>
              <a:rPr sz="2000">
                <a:solidFill>
                  <a:srgbClr val="1F2937"/>
                </a:solidFill>
                <a:latin typeface="Calibri"/>
              </a:rPr>
              <a:t>▸  Diqqat: xato qilish xavfi. Vinogradov fenomenida oz qurum faqat ichki qavatda bo‘ladi, birinchi qavat tashqi yuzasida bo‘lmaydi. O‘q tezligi kamida 500 m/sek bo‘lishi kerak.</a:t>
            </a:r>
          </a:p>
          <a:p>
            <a:pPr>
              <a:spcAft>
                <a:spcPts val="1200"/>
              </a:spcAft>
            </a:pPr>
            <a:r>
              <a:rPr sz="2000">
                <a:solidFill>
                  <a:srgbClr val="1F2937"/>
                </a:solidFill>
                <a:latin typeface="Calibri"/>
              </a:rPr>
              <a:t>▸  Nazorat: distansiya ≠ masofa. Distansiya — belgilar majmui (tirab, yaqin, yaqin bo‘lmagan); masofa — stvol uchi bilan nishon oralig‘i, u eksperiment bilan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 89,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78</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Hodisa tahlili: yaqin masofadan otishda o‘q va jabrlangan o‘rtasida to‘siq (masalan, kiyim) bo‘lsa, qurum, porox va metall zarrachalari to‘siqda qoladi. O‘q deformatsiyalanishi yoki parchalanishi, energiyasining bir qismini yo‘qotishi va yo‘nalishini o‘zgartirishi mumkin. Shu sababli jarohat shu masofa uchun odatiy belgilardan farq qiladi (atipik jarohat).</a:t>
            </a:r>
          </a:p>
          <a:p>
            <a:pPr>
              <a:spcAft>
                <a:spcPts val="1200"/>
              </a:spcAft>
            </a:pPr>
            <a:r>
              <a:rPr sz="1800">
                <a:solidFill>
                  <a:srgbClr val="1F2937"/>
                </a:solidFill>
                <a:latin typeface="Calibri"/>
              </a:rPr>
              <a:t>▸  Qiziqarli fenomen: Vinogradov fenomeni yaqin bo‘lmagan masofadan otishda ham ichki qavat kiyim yoki tanada oz miqdorda qurum paydo qiladi. Buning uchun o‘q tezligi kamida 500 m/sek bo‘lishi, kiyim tanaga zich yopishmagan bo‘lishi va kuchli shamol bo‘lmasligi kerak. Qurum o‘q ortidagi past bosimli bo‘shliq orqali olib kiriladi.</a:t>
            </a:r>
          </a:p>
          <a:p>
            <a:pPr>
              <a:spcAft>
                <a:spcPts val="1200"/>
              </a:spcAft>
            </a:pPr>
            <a:r>
              <a:rPr sz="1800">
                <a:solidFill>
                  <a:srgbClr val="1F2937"/>
                </a:solidFill>
                <a:latin typeface="Calibri"/>
              </a:rPr>
              <a:t>▸  Fakt: zamonaviy mayda kalibrli qurollarda og‘irlik markazi pastga siljitilgan o‘qlar ishlatiladi. Bunday o‘q tanaga kirganda turg‘unligini yo‘qotadi, traektoriyasi va ta’sir vaqti ortadi, energiyasi to‘qimalarga to‘liqroq beriladi. Natijada katta jarohat kanali, ichki a’zolar yorilishi va suyaklar sinishi kuzatiladi.</a:t>
            </a:r>
          </a:p>
          <a:p>
            <a:pPr>
              <a:spcAft>
                <a:spcPts val="1200"/>
              </a:spcAft>
            </a:pPr>
            <a:r>
              <a:rPr sz="1800">
                <a:solidFill>
                  <a:srgbClr val="1F2937"/>
                </a:solidFill>
                <a:latin typeface="Calibri"/>
              </a:rPr>
              <a:t>▸  Hodisa tahlili: pnevmatik qurol o‘qlarining qobig‘i bo‘lmaydi, shuning uchun biron-bir to‘siqqa tekkanda deformatsiyaga uchraydi. Ular 30-50 m masofaga yetadi, tanani teshib o‘tmaydi, yara kanali ko‘r bo‘ladi. Qo‘shimcha omillar belgisi bo‘lmagani uchun jarohat yaqin bo‘lmagan distansiyadan otilganga o‘xshaydi.</a:t>
            </a:r>
          </a:p>
          <a:p>
            <a:pPr>
              <a:spcAft>
                <a:spcPts val="1200"/>
              </a:spcAft>
            </a:pPr>
            <a:r>
              <a:rPr sz="1800">
                <a:solidFill>
                  <a:srgbClr val="1F2937"/>
                </a:solidFill>
                <a:latin typeface="Calibri"/>
              </a:rPr>
              <a:t>▸  Eslab qolish usuli: kirish teshigi “yopiq va tartibli”, chiqish teshigi “ochiq va tartibsiz”. Kirishda shakl dumaloq yoki oval, chetlari tekis va ichkariga qayrilgan, shilinish va ifloslanish hoshiyalari bor. Chiqishda shakl yoriqsimon yoki yulduzsimon, chetlari notekis va tashqariga qayrilgan, hoshiyalar ko‘pincha bo‘lmaydi.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silliq stvolli ov qurolining kalibri 12 ekanini aniqladi. Bu raqam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Stvol uzunligini santimetrda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 funt qo‘rg‘oshindan chiqadigan o‘qlar soni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Stvol kanali diametrini millimetrda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Gilza og‘irligini grammlarda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jangovor patron gilzasini ko‘zdan kechirmoqda. Kapsyul gilzaning qayerida joylashgan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Gilzaning og‘zida, o‘q yonida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Poroxning ichida, gilza o‘rtasida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Snaryad asosida, o‘q qobig‘ida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Gilzaning tubida, latun qobiqda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o‘q nishonga tekkanda mayda qismlarga bo‘linganini aniqladi. Bu qaysi maxsus o‘q?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Yorma o‘q</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Zirxteshar 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Yondiruvchi o‘q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Iz qoldiruvchi o‘q</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Jangovor qurol stvolining ichki yuzasidagi vintsimon o‘yiqlar snaryadga qanday harakat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To‘g‘ri chiziqli ilgarilama harakat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Teskari yo‘nalishdagi tebranma harakat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O‘qi atrofida aylanma harakat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vertikal sakrama harakat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Sochmali patrondagi sochma sharchalarining diametri qancha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0,1 mm dan 1 mm gacha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 mm dan 5,5 mm gacha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5,5 mm dan 10 mm gacha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10 mm dan 32 mm gacha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O‘q parvozi yo‘lida jabrlanganning kiyimi va suyakning ajralgan bo‘lagi turgan. Ular qanday vazifani bajaradi?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Asosiy snaryad vazifasini bajarib, birlamchi jarohat hosil qiladi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Ikkilamchi snaryad vazifasini bajarib, turli jarohat hosil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Qo‘shimcha omil sifatida faqat termik ta’sir ko‘rsatib turadi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Qurol qismi sifatida stvol atrofida og‘ir jarohat hosil qiladi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kirish yarasida dumaloq, chetlari tekis, o‘lchami o‘q diametridan kichik to‘qima defektini topdi. Snaryad qanday ta’sir ko‘rsatgan?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Yorma ta’sir: energiya bir necha ming joulga yetgan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Ponasimon ta’sir: energiya bir necha o‘n joul bo‘lgan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Termik ta’sir: energiya olov orqali o‘tkazilgan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Yulma ta’sir: energiya bir necha yuz joul bo‘lgan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Kirish yarasi atrofida shilinish, qontalash va yumshoq to‘qimalar yorilishi bor. Qaysi omil 10-15 sm masofada shuni keltirib chiqaradi?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Porox gazlarining mexanik ta’siri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O‘q oldi havoning mexanik ta’siri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Qurum zarrachalarining engil ta’siri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O‘q otish alangasining termik ta’siri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Ekspertdan otish masofasini aniqlash so‘raldi. Eng to‘g‘ri yo‘l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kiyimdagi qurum belgilariga qarab xulosa chiqariladi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 shakliga qarab masofa santimetrda darhol aytiladi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Shu qurol va patrondan o‘xshash ob’ektga turli masofadan o‘q uzib taqqoslanadi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Qurol rusumiga qarab jadvaldagi tayyor masofa qiymati olinadi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Teri sirtida shakli va o‘lchami stvol uchi kesimiga mos shilinma izi (shtansmarka) topildi. Bu qaysi otish turiga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Qiyalab tirab otishga xos belgi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To‘liq germetik tirab otishga xos belgi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Yaqin distansiyaning uchinchi zonasiga xos belgi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Yaqin bo‘lmagan distansiyaga xos belgi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Yaqin distansiyadan otilganda stvol uchi bilan jabrlanuvchi orasida to‘siq bor edi va o‘q uni teshib o‘tib nishonga tegdi. Qo‘shimcha omillar qayerda qoladi?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jabrlanuvchining ichki kiyimida qoladi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Jabrlanuvchi terisida kirish teshigi atrofida qoladi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Barcha qo‘shimcha omillar to‘siqda qoladi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Yara kanali ichida o‘q ortidan boradi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o‘q to‘siqni teshib o‘tganini aniqladi. Bu holat jarohatning xususiyatiga qanday ta’sir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Shu quroldan, shu masofadan etkazilganlardan farqli atipik jarohat hosil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 har doim shu masofaga xos tipik belgilarga ega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Kirish teshigi atrofida porox gazlari izlari yanada ko‘payadi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O‘q kinetik energiyasini to‘liq saqlab, yo‘nalishini o‘zgartirmaydi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Yaqin bo‘lmagan distansiyadan otilgan. O‘q tezligi 500 m/sek.dan kam emas, kiyim tanaga yopishmagan, kuchli shamol yo‘q. Ichki qavat kiyimda oz qurum topildi. Bu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Stvol uchining bosma izi (shtansmarka)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Kirish teshigidagi ifloslanish hoshiyasi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Kirish teshigidagi shilinish hoshiyasi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Vinogradov fenomeni (ichki qurum izi)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Vinogradov fenomenini yaqin distansiyadan otishda aniqlanadigan holatdan qaysi belgi ajratadi?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Kirish teshigi atrofida porox gazlarining ta’siri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Birinchi qavat kiyim tashqi yuzasida jarohat atrofida qurum bo‘lmasligi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Qurum miqdorining ancha ko‘p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Qurum intensivligining markazga tomon ortib borishi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O‘q otar jarohat morfologiyasiga ta’sir etuvchi omillardan qaysi biri shikastlanayotgan sohaning xususiyatlariga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Snaryadning kalibri va uzunligi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Snaryadning tezligi va nutatsiyasi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Sohaning qon bilan ta’minlanganlik holati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Traektoriyadagi to‘siqlar xususiyati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o‘q otar yara devorini o‘rganib, kengligi 4–5 sm va undan ortiq bo‘lgan zonani aniqladi. Bu qaysi zona?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Bevosita yara kanali zonasi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To‘qimalarning chayqalish zonasi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To‘qimalarning lat yeyish zonasi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Kirish teshigi atrofidagi ifloslanish zonasi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Mayda kalibrli qurolning og‘irlik markazi pastga siljigan o‘qi tanaga kirib, turg‘unligini yo‘qotdi. Bu nimaga olib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Traektoriya qisqarib, energiya kirish teshigida sarflanadi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kirish teshigidagi shilinish hoshiyasi kengayadi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Tezlik oshib, o‘qning to‘qimaga ta’sir vaqti qisqaradi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Traektoriya va ta’sir vaqti ortib, energiya to‘liqroq beriladi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Yara yulduzsimon, chetlari notekis va tashqariga qayrilgan; atrofida shilinish va ifloslanish hoshiyalari yo‘q. Qaysi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Chiqish teshigi: chetlari notekis, tashqariga qayrilgan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Kirish teshigi: chetlari notekis, tashqariga qayrilgan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Kirish teshigi: ifloslanish hoshiyasi albatta yaqqol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Chiqish teshigi: shilinish hoshiyasi doim yaqqol bo‘ladi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Yassi suyakda o‘q kirgan sohada kesik konus shaklidagi defekt topildi. Snaryad qaysi yo‘nalishda harakatlangan?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Katta asosdan kichik asos tomonga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Suyak markazidan uning chetlariga qarab</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Kichik asosdan katta asos tomonga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Defekt o‘qiga ko‘ndalang yo‘nalishda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tanadan pnevmatik qurol o‘qini deformatsiyalangan holda topdi. Bunga asosiy sabab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Qobig‘ining qalin po‘latdan yasalgani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Stvolning o‘yiqli bo‘lgani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O‘qning qobig‘i yo‘qligi va to‘siqqa tekkani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Porox gazlarining kimyoviy ta’siri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Bir funt qo‘rg‘oshindan chiqadigan o‘qlar soni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Silliq stvolli ov qurolining kalibri bir ingliz funti (453,6 gr.) qo‘rg‘oshindan tayyorlanadigan sharsimon o‘qlar soni bilan belgilanadi. Kalibr soni katta bo‘lgan sari stvol kanalining diametri kichikroq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81-bet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Gilzaning tubida, latun qobiqda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Standart patronda snaryad, porox va kapsyul bir butun holda gilza ichiga jamlanadi. Latun qobiqli kapsyul gilzaning tubida joylashadi va qurol tepkisining ta’sirida poroxni yondiradi.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82-bet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Yorma 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Yorma o‘qlar nishonga tekkanda mayda qismlarga bo‘linadi. Xalqaro bitimlarga ko‘ra jangovar harakatlarda ulardan foydalanish taqiqlangan. Zirxteshar o‘qning asosi maxsus po‘latdan, yondiruvchi o‘qda fosfor, iz qoldiruvchi o‘qda bariy va magniy birikmalari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82-bet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O‘qi atrofida aylanma harakat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Jangovor va sport qurollari stvolida 4-6 vintsimon o‘yiq bo‘ladi. Ular snaryadga o‘qi atrofida aylanma harakat beradi, natijada o‘qning tezligi kattaroq, uchishi uzoqroq va aniqroq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81-bet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1 mm dan 5,5 mm gacha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Diametri 1 mm dan 5,5 mm gacha bo‘lgan mayda sharchalar sochma deyiladi. Bundan katta sharchalar katta sochma (kartech) deb nomlanadi.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83-bet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Ikkilamchi snaryad vazifasini bajarib, turli jarohat hosil qiladi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Parvoz yo‘lidagi to‘siq, kiyim-bosh va suyakning ajralgan bo‘laklari ikkilamchi snaryad vazifasini bajaradi. Ular turi, massasi va energiyasiga qarab har xil mexanik jarohat keltirishi mumkin. Asosiy (birlamchi) snaryad esa o‘q, sochma va ularning qismlaridir.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84-bet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Yulma ta’sir: energiya bir necha yuz joul bo‘lgan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 necha yuz joul energiyali o‘q to‘qimaning bir qismini yulib oladi. Natijada o‘lchami o‘q diametridan kichik, chetlari tekis, dumaloq yoki oval defekt qoladi. Yorma ta’sirda yara o‘qdan bir necha barobar katta bo‘ladi. Ponasimon ta’sirda to‘qima defekti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85-bet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Porox gazlarining mexanik ta’siri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Porox gazlari 10-15 sm masofada mexanik ta’sir ko‘rsatib, shilinish, qontalash va yumshoq to‘qimalar yorilishini beradi. O‘q oldi havo 3-5 sm masofada ta’sir qiladi. Alanga 3-10 sm masofada ta’sir qiladi va asosan kuydiradi. Qurum faqat yuzaki engil lat yetkazadi.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85-bet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Shu qurol va patrondan o‘xshash ob’ektga turli masofadan o‘q uzib taqqoslanadi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Distansiya jarohat belgilari majmuiga qarab aniqlanadi. Masofa esa faqat eksperiment bilan topiladi: jabrlanganga tegishli qurol va patrondan o‘xshash nishonga turli masofalardan o‘q uzilib, natijalar jarohat bilan taqqoslanadi.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86-bet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To‘liq germetik tirab otishga xos belgi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To‘liq germetik tirab otishda porox gazlari terini chuqur to‘qimalardan ajratib, stvol uchiga bosadi. Natijada terida stvol uchi kesimiga mos shilinma yoki qontalash ko‘rinishidagi bosma iz hosil bo‘ladi. Qiyalab otishda faqat o‘tmas burchak tomonida yoriqlar va ‘tilsimon’ qurum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87-bet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Barcha qo‘shimcha omillar to‘siqda qoladi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Yaqin distansiyada stvol uchi va jabrlanuvchi orasida to‘siq bo‘lsa, o‘q uni teshib o‘tadi va barcha qo‘shimcha omillar (porox gazlari, qurum, zarrachalar) to‘siqda qoladi. Shuning uchun tanadagi kirish teshigi atrofida bu omillarning izi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88-bet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Shu quroldan, shu masofadan etkazilganlardan farqli atipik jarohat hosil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O‘q va to‘siq o‘zaro ta’sirida o‘q deformatsiyalanadi yoki parchalanadi, kinetik energiyasining bir qismini yo‘qotadi va yo‘nalishi o‘zgaradi. Natijada konkret quroldan shu distansiya va masofadan etkaziladigan jarohatlardan farqli atipik jarohat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88-bet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Vinogradov fenomeni (ichki qurum izi)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Yaqin bo‘lmagan distansiyadan otishda ichki qavatdagi kiyim yoki tanada qurum aniqlanishi Vinogradov fenomeni deyiladi. Buning uchun o‘q tezligi kamida 500 m/sek., kiyim tanaga zich yopishmagan va kuchli shamol yo‘q bo‘lishi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89-bet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Birinchi qavat kiyim tashqi yuzasida jarohat atrofida qurum bo‘lmasligi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Vinogradov fenomenida birinchi qavat kiyimning tashqi yuzasida jarohat atrofida qurum bo‘lmaydi, yaqin distansiyada esa bo‘ladi. Fenomenda qurum miqdori oz, uning intensivligi esa periferiya tomon ortadi.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89-bet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Sohaning qon bilan ta’minlanganlik holati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Shikastlanayotgan soha xususiyatlariga anatomik tuzilishi, zichligi, hajmi, qon bilan ta’minlanganligi, suyuqlik va gaz saqlashi kiradi. Kalibr va uzunlik snaryad xususiyatlari, tezlik, nutatsiya va to‘siqlar esa ballistik omillar guruhiga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89-bet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To‘qimalarning chayqalish zonasi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Zarb ta’siri nazariyasiga ko‘ra yara devorida uch zona ajratiladi: bevosita yara kanali, lat yeyish zonasi (0,3 sm dan 1–2 sm gacha) va chayqalish zonasi (4–5 sm va undan ortiq). Eng keng zona – chayqalish zonasi.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90-bet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Traektoriya va ta’sir vaqti ortib, energiya to‘liqroq beriladi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Bunday o‘qlar tanaga kirganda turg‘unlikni yo‘qotadi, harakat traektoriyasi va ta’sir vaqti ortadi, shikastlovchi energiya to‘qimalarga to‘liqroq beriladi. Natijada katta kanal, ichki a’zolar yorilishi va suyaklar sinishi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90-bet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Chiqish teshigi: chetlari notekis, tashqariga qayrilgan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Chiqish teshigi yoriqsimon, yoysimon yoki yulduzsimon, chetlari notekis va tashqariga qayrilgan bo‘ladi. Shilinish va ifloslanish hoshiyalari ko‘pincha bo‘lmaydi, kirish teshigida esa ular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92-bet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Kichik asosdan katta asos tomonga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Yassi suyaklarda o‘q kirgan sohada kesik konus shaklidagi defekt hosil bo‘ladi. Snaryadning harakat yo‘nalishi kichik asosdan katta asos tomonga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92-bet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O‘qning qobig‘i yo‘qligi va to‘siqqa tekkani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Pnevmatik qurol o‘qlarining qobig‘i bo‘lmaydi, shuning uchun biron-bir to‘siqqa tekkanda deformatsiyaga uchraydi. Bunday qurolda porox gazlari ishlatilmaydi, snaryad siqilgan havo hisobiga harakatlanadi.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96-bet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To’siq orqali va deformatsiyalangan o’qlar bilan jarohatlanish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78</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4. O‘q otar qurollardan jarohatlar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