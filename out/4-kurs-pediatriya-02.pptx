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Pediatr vrach ish jarayonida sud-tibbiy ekspertiza bilan qachon to‘qnash kelishi mumkin? 2) Nega ekspertiza xizmati sog‘liqni saqlash tizimiga kiradi? Doskada: dars rejasini 3 banddan iborat chizma qilib yozing. Tipik xato: talabalar sud tibbiyotini faqat murda tekshiruvi deb o‘ylaydi, vaholanki u tirik shaxslar va ashyoviy dalillarni ham qamraydi.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savollari: 1) Ekspertiza tadqiqotining 4 xususiyatidan qaysi biri bo‘lmasa, tadqiqot ekspertiza bo‘lmay qoladi? 2) Davolovchi vrach va ekspert yondashuvi qanday farq qiladi? Doskada: 4 xususiyatni belgilar bilan (mutaxassis, vazifa, tartib, hujjat) yozing. Tipik xato: sud tibbiyotini fundamental fan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savollari: 1) Nima uchun ekspertiza protsessual harakat deb ataladi? 2) Poliklinikadagi pediatr ekspert sifatida taklif qilinsa, uning huquq va javobgarligi qanday bo‘ladi? Doskada: ‘fan → ekspertiza → xulosa’ zanjirini chizing. Tipik xato: fan va ekspertiza tushunchalarini aralashtirish; vrach-ekspertni ‘kam huquqli’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Fan bilan ekspertizaning farqi nimada? 2) Nega ekspertiza xulosa bilan yakunlanishi shart? Doskada chizish: ikki ustunli “Fan | Ekspertiza” jadvali. Tipik xato: talabalar fan va ekspertizani bir tushuncha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predmet ekspertiza nazariyasi va amaliyoti deb ta’riflanadi? 2) Sakkiz bandning qaysi biri sizning kasbingizga yaqin? Doskada chizish: 8 bandning to‘rt guruhga bo‘linish sxemasi. Tipik xato: bandlarni fanning mazmuni (tanatologiya va h.k.)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kasb huquqbuzarliklari bo‘limi alohida fanga ajratildi? 2) Pediatr uchun qaysi qism muhimroq? Doskada chizish: fan qismlarining to‘rt qatorli jadvali. Tipik xato: 2002-yilda ajralib chiqqan bo‘limni fan tarkibida qoldiradi.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sud-tibbiy ekspert barcha ixtisoslikni to‘liq bilolmaydi? 2) Klinitsist va ekspert yondashuvi qanday farq qiladi? Doskada: markazda ‘Sud tibbiyoti’, atrofida to‘rt fan guruhini chizing. Tipik xato: sud tibbiyotini fundamental fan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ovoz chiqarib so‘rang, talabalar javobini kuting. Muhokama: ‘Pediatr ekspert bo‘lsa, qaysi klinik bilimi foydali?’ Doskada: ‘holat → kerakli fan’ juftliklarini yozing. Tipik xato: oftalmologiya va travmatologiyani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Sud tibbiyoti huquqni muhofaza organlariga qanday yordam beradi? 2) Davolash sifatini yaxshilashga qanday hissa qo‘shadi? Doskada: ikki yo‘nalishli sxema ‘huquqiy’ va ‘sog‘liqni saqlash’ ni chizing. Tipik xato: vazifani faqat tergovga yordam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ob’ektni taqdim etgan shaxs uning ishonchliligiga javob beradi? 2) Rentgenologik usul nega xususiy, fototaqqoslash esa nega maxsus guruhga kiradi? Doskada chizish: to‘rt ob’ekt va uch usul guruhini bog‘lovchi sxema. Tipik xato: xususiy usullarni (rentgen, kimyo) maxsus usullar bilan aralashtirish. Qo‘shimcha: amaliyotda faqat Bosh sud-tibbiy ekspertiza ruxsat etgan yoki tavsiya qilgan usullar qo‘llanadi (G‘iyosov, Bob 1, 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Identifikatsiya davri nima uchun ekspertiza samaradorligiga ta’sir qiladi? 2) Mustaqillik va shaxsiy mas’uliyat o‘rtasida qanday bog‘liqlik bor? Doskada chizish: oltita prinsipni ro‘yxat ko‘rinishida va shilinma, qontalash va murda uchun muddat ustunini yozing. Tipik xato: mustaqillikni xulosaning majburiy kuchi bilan adashtirish. Ekspertning tashabbus huquqi: xulosada berilmagan, ammo ish uchun ahamiyatli masalalar bo‘yicha ham fikr bildirishi mumkin (G‘iyosov, Bob 1, 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Bu holatda ob’ekt va usul qanday tanlanadi? 2) Ekspert qaysi savollarga javob bera olmaydi? To‘g‘ri javob: yo‘q, yuridik savollar (javobgarlik, qasd, aybdorlik) ekspert burchiga kirmaydi, ularni tergov va sud hal qiladi; ekspert faqat tibbiyotga va biologiyaga oid savollarga javob beradi (Iskandarov, bet 28). Doskada chizish: vaziyatdan ob’ekt, usul, xulosa zanjirini chizing. Tipik xato: jarohat sababi bilan aybdorlik masalasini aralashtirish va muddatni (10-15 kun) hisobga olmaslik. Pediatriya talabalariga: bola jarohatini hujjatlashtirishda aniq, qisqa yozuvlar muhim.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Yustinian kodeksida vrach xulosasi nega guvoh ko‘rsatmasidan ahamiyatliroq sanalgan? 2) Sezar misolida ekspert xulosasi qaysi savolga javob beradi? Doskada chizing: 4 ta voqeadan iborat vaqt chizig‘i. Tipik xato: sanalarni «eramizdan oldin» va «eramizdan keyin» deb adashtirish (Sparta va Sezar e.a., Yustinian VI asr, Si Yuan Lu 1247-yil). Manbalarda «Si Yuan Lu» qismlari soni har xil (4 yoki 5), shuning uchun raqamni aytmang.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Karolina nega vrach ishtirokini talab qilgan? 2) «Sud tibbiyoti» nomi nima uchun hozir ham qo‘llanadi? Doskada chizing: Xugo Lukka → Karolina → Pare → Shreer/Bon zanjiri. Tipik xato: Karolinani Germaniya emas, Fransiya qonuni deb aytish; Shreerning o‘pka sinamasini Bon asari bilan aralashtirish. Bon asarining yili manbada aniq o‘qilmagani uchun uni aytmang.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 Muhokama: 1) Nima uchun Ibn Sino ma’lumotlari sud tibbiyoti ekspertizasi emas, tibbiy yordam natijasi hisoblanadi? 2) Bokarius sinamasi ekspertga qaysi savolda yordam beradi? Doskada chizing: olim — hissa jadvali (Pirogov, Minakov, Chistovich, Bokarius, Rayskiy). Tipik xato: Minakov dog‘larini teri dog‘i deb o‘ylash (bu yurak ichki qavatidagi qon quyilishlar). Pirogov atlasining yili manbalarda farq qiladi (G‘iyosov darsligida 1846, Iskandarov va Qo‘ldoshev kitobida 1841), shuning uchun yilni aytmang.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ilmiy izlanishlar asosan tibbiyot oliy o‘quv yurtlari kafedralari bilan bog‘liq bo‘lgan? 2) 4-kurs pediatriya talabalari uchun 1972-yil sanasi nimani anglatadi? Doskada: 1920–1993 vaqt chizig‘ini chizing va kafedralarni joylashtiring. Tipik xato: 1959 (Andijon) va 1972 (Toshkent pediatriya) sanalarini aralashtirish. Qo‘shimcha: I.V.Markovin tashabbusi bilan 1945-yilda Toshkentda Respublika sud-tibbiy ekspertiza kabineti ochilgan (G‘iyosov, 13-bet).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javobni daftarga yozsin, so‘ng juftlikda tekshirsin. Muhokama: 1) Qaysi sana sizga eng oson eslab qolinadi va nega? 2) Pare va Pirogov hissasi qanday farq qiladi? Doskada: ustunlarda sanalar, nomlar, asarlarni chizib, strelka bilan moslashtiring. Tipik xato: Pare (XVI asr, Fransiya) va Pirogov (XIX asr, Rossiya) 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23 jarohatdan faqat bittasi o‘limga olib kelganini aniqlash nega muhim? 2) Sud ekspert xulosasiga rozi bo‘lmasa nima qilishi kerak? Doskada: «jarohatlar – o‘lim sababi – xulosa – sud bahosi» zanjirini chizing. Tipik xato: ekspert xulosasini sud uchun majburiy deb o‘ylash; to‘g‘risi – u boshqa dalillar bilan birga baholanadi.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I davrda Turkistonda ekspertizalar faqat epizodik bo‘lgan? 2) III davrda byurolar tashkil etilishi nimani o‘zgartirdi? Doskada: 4 davrli vaqt chizig‘ini chizing. Tipik xato: II va III davr xususiyatlarini (kafedra va byuro) aralashtirib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Qonun ustuvorligi ekspertiza xizmatiga qanday vazifalar yukladi? 2) Attestatsiya nima uchun zarur? Doskada: islohotlarning 4 yo‘nalishini (qonun, hujjatlar, tuzilma, kadrlar) belgilang. Tipik xato: 1991-yilgacha ham xizmat O‘zbekistonning o‘z qonunlariga asoslangan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Pediatr uchun bolalar travmatizmi va to‘satdan o‘limni oldini olishda ekspertiza ma’lumotlari qanday foydali? 2) Xizmatning asosiy va qo‘shimcha vazifasi nima? Doskada: «asosiy vazifa» va «profilaktik vazifa» ikki ustunini chizing. Tipik xato: xizmatni faqat murdani tekshirish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ekspertiza xizmati davolash sifatiga ham aloqador? 2) Rahbarni xabardor qilish kimga foyda beradi? Doskada: ikki ustun chizing — «Sud-tergov uchun» va «Sog‘liqni saqlash uchun» — va xizmat vazifalarini joylashtiring. Tipik xato: talabalar ekspertizani faqat sud-tergovga xizmat deb o‘ylaydi, profilaktika vazifasini unutadi.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Jinoyat kodeksi bilan Jinoyat-protsessual kodeksining farqi nimada? 2) Ekspertiza tayinlash uchun nima asos bo‘ladi? Doskada: «huquq → qonun → kodeks → JK / JPK» zanjirini chizing. Tipik xato: Jinoyat kodeksi bilan Jinoyat-protsessual kodeksini aralashtirish (jazo va tartib farqlanmaydi).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Yosh qaysi holatda ekspertiza bilan aniqlanadi? 2) Nima uchun ro‘yxat yopiq emas? Doskada: jadvalni ko‘chiring va har qatorga bittadan misol yozing. Tipik xato: talabalar ro‘yxatni to‘liq va yopiq deb hisoblaydi, tanosil kasalliklarni davolash masalasini unutadi.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Eksgumatsiyada nega ekspertiza aralash joyda o‘tadi? 2) Sud majlisida ekspertning dastlabki tergovdagi rolidan farqi nimada? Doskada chizish: uch ustunli sxema (byuroda / tashqarida / aralash) va har biriga bitta misol yozing. Tipik xato: talabalar ekspertiza joyini ekspertning o‘zi tanlaydi deb o‘ylaydi, aslida shart-sharoit uchun javobgar tomon joyga qarab belgilanadi.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holatda komission, qaysi holatda kompleks ekspertiza kerak? 2) Yo‘l-transport hodisasida nega faqat sud-tibbiy ekspert yetarli emas? Doskada chizish: jadvalning bo‘sh shaklini chizdirib, talabalarga tur nomlari bo‘yicha sabablarini to‘ldirtiring. Tipik xato: komission (bir mutaxassislik ekspertlari) va kompleks (turli fan ekspertlari)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Jabrlanuvchi qarindoshlari xulosadan norozi bo‘lsa, qayta ekspertiza avtomatik tayinlanadimi? 2) Nega qayta ekspertizani oldingi ekspert o‘tkazmaydi? Doskada chizish: ikki ustun (qo‘shimcha ≠ qayta): maqsadi, sababi, kim bajarishi. Tipik xato: qo‘shimcha va qayta ekspertizani bir xil deb hisoblash va ularni tuman bo‘linmasida o‘tkazish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Kompleks va qayta ekspertizaning farqi nimada? 2) Qarindoshlarning noroziligi qayta ekspertizaga asos bo‘ladimi? Doskada chizish: ekspertiza turlari (birlamchi, qo‘shimcha, qayta, komissiyaviy, kompleks) va tayinlash sabablari jadvali. Tipik xato: qayta ekspertizani qo‘shimcha ekspertiza bilan aralashtirish (qo‘shimcha — kamchilikni to‘ldirish uchun).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Ekspert qanday holatda o‘zini o‘zi rad etadi? 2) Tirik shaxsni guvohlantirishda davolash muassasasi vrachi mutaxassis bo‘la oladimi? Doskada chizish: ekspert va mutaxassis jadvalini o‘zlari to‘ldirsin. Tipik xato: mutaxassis ham xulosa beradi deb o‘ylash; 238, 239 va 240-moddalarni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Kirish qismida nimalar ko‘rsatiladi? 2) Xulosa tergovchi uchun nega majburiy emas? Doskada chizish: xulosa qismlari va dalolatnoma farqini ikki ustunda. Tipik xato: dalolatnomani xulosa bilan butunlay bir deb o‘ylash; to‘xtamni tadqiqot qismi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xulosa oldindan majburiy kuchga ega emas? 2) Ekspertga qaysi harakatlar taqiqlangan? Doskada xulosaning 3 qismini ustun shaklida chizdiring. Tipik xato: «majburiy emas» degani «e’tiborsiz qoldirish mumkin» deb o‘ylash; aslida rad etish asoslanishi shart.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Hududiy byuro ikki tomonlama bo‘ysunishi nimaga kerak? 2) Mudofaa vazirligi xizmati kimlar uchun? Doskada Bosh byuro → hududiy byuro → tuman bo‘linmasi zanjirini chizdiring. Tipik xato: hududiy byuro hamma masalada faqat vazirlikka bo‘ysunadi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Murda va ashyoviy dalil tekshiruvi qaysi bo‘limlarda? 2) Qayta ekspertiza nega alohida bo‘limda o‘tadi? Doskada byuro bo‘limlari daraxtini chizdiring. Tipik xato: sud kimyo va sud biologiya vazifalarini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qon dog‘i va zahar tekshiruvi turli bo‘limlarga yuboriladi? 2) Boshliq xulosaga ishonmasa, nima qiladi (prokurordan qayta ekspertiza so‘raydi)? Doskada byuro bo‘limlari sxemasini chizdiring va ob’ektlarni strelka bilan bo‘limlarga bog‘lang. Tipik xato: boshliq ekspert xulosasini bekor qila oladi deb o‘ylash; sud-biologik va sud kimyo bo‘limlarini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Mavzuning 3 ta asosiy xulosasini talaba o‘z so‘zi bilan aytsin. 2) Qayta va qo‘shimcha ekspertiza farqi nimada? Doskada ekspertiza turlarini besh qatorli ro‘yxat qilib yozdiring. Tipik xato: qo‘shimcha va qayta ekspertizani, ekspert va mutaxassis rolini aralashtirish. Uy vazifasi jadvalini keyingi darsda tekshiring.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mashgʻulot: Sud tibbiyoti fani, vazifalari va ahamiyati. Sud-tibbiy ekspertiza xizmatining O‘zbekiston Respublikasidagi asosiy vazifalari. O‘zbekistonda sud-tibbiy ekspertizaning tashkillanishi va strukturasi. Sud</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Mashg‘ulot maqsadi va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Mashg‘ulot uch savolni qamraydi: fan va uning vazifalari, ekspertiza xizmatining asosiy vazifalari, O‘zbekistonda xizmatning tashkil etilishi va tuzilishi.</a:t>
            </a:r>
          </a:p>
          <a:p>
            <a:pPr>
              <a:spcAft>
                <a:spcPts val="1200"/>
              </a:spcAft>
            </a:pPr>
            <a:r>
              <a:rPr sz="2200">
                <a:solidFill>
                  <a:srgbClr val="1F2937"/>
                </a:solidFill>
                <a:latin typeface="Calibri"/>
              </a:rPr>
              <a:t>▸  Talaba sud tibbiyoti fani bilan sud-tibbiy ekspertiza tushunchalarini farqlashi va ekspertiza turlarini sanab berishi kerak.</a:t>
            </a:r>
          </a:p>
          <a:p>
            <a:pPr>
              <a:spcAft>
                <a:spcPts val="1200"/>
              </a:spcAft>
            </a:pPr>
            <a:r>
              <a:rPr sz="2200">
                <a:solidFill>
                  <a:srgbClr val="1F2937"/>
                </a:solidFill>
                <a:latin typeface="Calibri"/>
              </a:rPr>
              <a:t>▸  Xizmat faqat sud va tergovga xizmat qilmaydi. U davolash sifatini yaxshilash, travmatizm, zaharlanish va to‘satdan o‘lim profilaktikasiga ham hissa qo‘shadi.</a:t>
            </a:r>
          </a:p>
          <a:p>
            <a:pPr>
              <a:spcAft>
                <a:spcPts val="1200"/>
              </a:spcAft>
            </a:pPr>
            <a:r>
              <a:rPr sz="2200">
                <a:solidFill>
                  <a:srgbClr val="1F2937"/>
                </a:solidFill>
                <a:latin typeface="Calibri"/>
              </a:rPr>
              <a:t>▸  Xizmat sog‘liqni saqlash tizimida: Bosh byuro, hududiy byurolar va ularning tuman, shahar bo‘linmalari. Talaba shu tuzilmani chizib bera olishi lozim.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 12, 22, 4, 19, 12,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 fani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 alohida tibbiyot fani. U sud, tergov va surishtiruv faoliyatida paydo bo‘ladigan tibbiy-biologik masalalarni o‘rganadi.</a:t>
            </a:r>
          </a:p>
          <a:p>
            <a:pPr>
              <a:spcAft>
                <a:spcPts val="1200"/>
              </a:spcAft>
            </a:pPr>
            <a:r>
              <a:rPr sz="2200">
                <a:solidFill>
                  <a:srgbClr val="1F2937"/>
                </a:solidFill>
                <a:latin typeface="Calibri"/>
              </a:rPr>
              <a:t>▸  Sud tibbiyoti fundamental emas, amaliy qo‘llanma fan. U tibbiy, yuridik, tabiiy va falsafa fanlari bilan uzviy bog‘liq.</a:t>
            </a:r>
          </a:p>
          <a:p>
            <a:pPr>
              <a:spcAft>
                <a:spcPts val="1200"/>
              </a:spcAft>
            </a:pPr>
            <a:r>
              <a:rPr sz="2200">
                <a:solidFill>
                  <a:srgbClr val="1F2937"/>
                </a:solidFill>
                <a:latin typeface="Calibri"/>
              </a:rPr>
              <a:t>▸  Ekspertiza tadqiqotining to‘rt xususiyati: mutaxassis o‘tkazadi; aniq vazifa bo‘yicha, odatda baholash uchun; tartibi qat’iy; natijasi hujjat bilan rasmiylashtiriladi.</a:t>
            </a:r>
          </a:p>
          <a:p>
            <a:pPr>
              <a:spcAft>
                <a:spcPts val="1200"/>
              </a:spcAft>
            </a:pPr>
            <a:r>
              <a:rPr sz="2200">
                <a:solidFill>
                  <a:srgbClr val="1F2937"/>
                </a:solidFill>
                <a:latin typeface="Calibri"/>
              </a:rPr>
              <a:t>▸  Sud-tibbiy ekspert davolovchi vrachdan farq qiladi. U holatlarga davolash emas, huquqiy baholash maqsadida yondashadi.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 5-6,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va sud-tibbiy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Rossiya qonunidagi ta’rifga ko‘ra, sud ekspertizasi — maxsus bilim talab qiladigan savollar bo‘yicha tadqiqot va xulosa berishdan iborat protsessual harakat.</a:t>
            </a:r>
          </a:p>
          <a:p>
            <a:pPr>
              <a:spcAft>
                <a:spcPts val="1200"/>
              </a:spcAft>
            </a:pPr>
            <a:r>
              <a:rPr sz="2000">
                <a:solidFill>
                  <a:srgbClr val="1F2937"/>
                </a:solidFill>
                <a:latin typeface="Calibri"/>
              </a:rPr>
              <a:t>▸  Sud-tibbiy ekspertiza — tergov va sud qo‘ygan vazifani tibbiy bilim bilan, belgilangan tartibda hal etish. U ekspert xulosasi bilan yakunlanadi.</a:t>
            </a:r>
          </a:p>
          <a:p>
            <a:pPr>
              <a:spcAft>
                <a:spcPts val="1200"/>
              </a:spcAft>
            </a:pPr>
            <a:r>
              <a:rPr sz="2000">
                <a:solidFill>
                  <a:srgbClr val="1F2937"/>
                </a:solidFill>
                <a:latin typeface="Calibri"/>
              </a:rPr>
              <a:t>▸  Ekspert tibbiyotga va biologiyaga oid savollarga xulosa beruvchi vrach. Vrach-ekspert — ekspertiza muassasasi xodimi bo‘lmay, ishga taklif etilgan vrach.</a:t>
            </a:r>
          </a:p>
          <a:p>
            <a:pPr>
              <a:spcAft>
                <a:spcPts val="1200"/>
              </a:spcAft>
            </a:pPr>
            <a:r>
              <a:rPr sz="2000">
                <a:solidFill>
                  <a:srgbClr val="1F2937"/>
                </a:solidFill>
                <a:latin typeface="Calibri"/>
              </a:rPr>
              <a:t>▸  Diqqat: sud tibbiyoti ≠ sud-tibbiy ekspertiza. Birinchisi — bilimlar majmui, ikkinchisi — shu bilimlarning amaliy qo‘llanishi. Vrach-ekspert huquq va burchda shtatli ekspertga teng.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Ромодановский П.О., Баринов Е.Х., Судебная медицина в схемах и рисунках: учебное пособие, betlar: 8; G‘iyosov Z.A., Sud tibbiyoti: darslik, betlar: 4; Iskandarov A.I., Qo‘ldoshev D.R., Sud tibbiyoti, betlar: 4,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asosiy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sud tibbiyoti fani ≠ sud-tibbiy ekspertiza. Fan – bilimlar majmui, ekspertiza esa shu bilimlarning amaliyotda qo‘llanilishi.</a:t>
            </a:r>
          </a:p>
          <a:p>
            <a:pPr>
              <a:spcAft>
                <a:spcPts val="1200"/>
              </a:spcAft>
            </a:pPr>
            <a:r>
              <a:rPr sz="2200">
                <a:solidFill>
                  <a:srgbClr val="1F2937"/>
                </a:solidFill>
                <a:latin typeface="Calibri"/>
              </a:rPr>
              <a:t>▸  1-savol: ekspertiza tadqiqotining to‘rt xususiyatini ayting (mutaxassis, aniq vazifa, qat’iy tartib, hujjat).</a:t>
            </a:r>
          </a:p>
          <a:p>
            <a:pPr>
              <a:spcAft>
                <a:spcPts val="1200"/>
              </a:spcAft>
            </a:pPr>
            <a:r>
              <a:rPr sz="2200">
                <a:solidFill>
                  <a:srgbClr val="1F2937"/>
                </a:solidFill>
                <a:latin typeface="Calibri"/>
              </a:rPr>
              <a:t>▸  2-savol: sud-tibbiy ekspertizani kimlar tayinlaydi va qaysi savollar bo‘yicha?</a:t>
            </a:r>
          </a:p>
          <a:p>
            <a:pPr>
              <a:spcAft>
                <a:spcPts val="1200"/>
              </a:spcAft>
            </a:pPr>
            <a:r>
              <a:rPr sz="2200">
                <a:solidFill>
                  <a:srgbClr val="1F2937"/>
                </a:solidFill>
                <a:latin typeface="Calibri"/>
              </a:rPr>
              <a:t>▸  3-savol: ekspertizaning to‘rt ob’ektini sanang (murda, tirik shaxslar, ashyoviy dalillar, ish materiallari).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 Iskandarov A.I., Qo‘ldoshev D.R., Sud tibbiyoti, betlar: 24,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predmeti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Fan predmeti – sud-tibbiy ekspertizaning nazariyasi va amaliyoti.</a:t>
            </a:r>
          </a:p>
          <a:p>
            <a:pPr>
              <a:spcAft>
                <a:spcPts val="800"/>
              </a:spcAft>
            </a:pPr>
            <a:r>
              <a:rPr sz="1800">
                <a:solidFill>
                  <a:srgbClr val="1F2937"/>
                </a:solidFill>
                <a:latin typeface="Calibri"/>
              </a:rPr>
              <a:t>▸  Predmetning ilmiy tizimini ilk bor 1948 yilda M.I. Avdeev taklif etgan.</a:t>
            </a:r>
          </a:p>
          <a:p>
            <a:pPr>
              <a:spcAft>
                <a:spcPts val="800"/>
              </a:spcAft>
            </a:pPr>
            <a:r>
              <a:rPr sz="1800">
                <a:solidFill>
                  <a:srgbClr val="1F2937"/>
                </a:solidFill>
                <a:latin typeface="Calibri"/>
              </a:rPr>
              <a:t>▸  Tizim amaliyotga tayanadi, ekspertiza ob’ektlari bilan bog‘liq va 8 bandni o‘z ichiga oladi.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746758"/>
                <a:gridCol w="3541217"/>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Bandlar</a:t>
                      </a:r>
                    </a:p>
                  </a:txBody>
                  <a:tcPr marL="73152" marR="73152" marT="36576" marB="36576">
                    <a:solidFill>
                      <a:srgbClr val="0B1F3A"/>
                    </a:solidFill>
                  </a:tcPr>
                </a:tc>
              </a:tr>
              <a:tr h="614476">
                <a:tc>
                  <a:txBody>
                    <a:bodyPr/>
                    <a:lstStyle/>
                    <a:p>
                      <a:r>
                        <a:rPr sz="1700" b="0">
                          <a:solidFill>
                            <a:srgbClr val="1F2937"/>
                          </a:solidFill>
                        </a:rPr>
                        <a:t>Tarix va tashkil</a:t>
                      </a:r>
                    </a:p>
                  </a:txBody>
                  <a:tcPr marL="73152" marR="73152" marT="36576" marB="36576">
                    <a:solidFill>
                      <a:srgbClr val="E8EEF6"/>
                    </a:solidFill>
                  </a:tcPr>
                </a:tc>
                <a:tc>
                  <a:txBody>
                    <a:bodyPr/>
                    <a:lstStyle/>
                    <a:p>
                      <a:r>
                        <a:rPr sz="1700" b="0">
                          <a:solidFill>
                            <a:srgbClr val="1F2937"/>
                          </a:solidFill>
                        </a:rPr>
                        <a:t>1) tarix; 2) tashkiliy-protsessual masalalar</a:t>
                      </a:r>
                    </a:p>
                  </a:txBody>
                  <a:tcPr marL="73152" marR="73152" marT="36576" marB="36576">
                    <a:solidFill>
                      <a:srgbClr val="E8EEF6"/>
                    </a:solidFill>
                  </a:tcPr>
                </a:tc>
              </a:tr>
              <a:tr h="614476">
                <a:tc>
                  <a:txBody>
                    <a:bodyPr/>
                    <a:lstStyle/>
                    <a:p>
                      <a:r>
                        <a:rPr sz="1700" b="0">
                          <a:solidFill>
                            <a:srgbClr val="1F2937"/>
                          </a:solidFill>
                        </a:rPr>
                        <a:t>Sog‘liq va o‘lim</a:t>
                      </a:r>
                    </a:p>
                  </a:txBody>
                  <a:tcPr marL="73152" marR="73152" marT="36576" marB="36576">
                    <a:solidFill>
                      <a:srgbClr val="FFFFFF"/>
                    </a:solidFill>
                  </a:tcPr>
                </a:tc>
                <a:tc>
                  <a:txBody>
                    <a:bodyPr/>
                    <a:lstStyle/>
                    <a:p>
                      <a:r>
                        <a:rPr sz="1700" b="0">
                          <a:solidFill>
                            <a:srgbClr val="1F2937"/>
                          </a:solidFill>
                        </a:rPr>
                        <a:t>3) tashqi omillar; 4) murda ekspertizasi</a:t>
                      </a:r>
                    </a:p>
                  </a:txBody>
                  <a:tcPr marL="73152" marR="73152" marT="36576" marB="36576">
                    <a:solidFill>
                      <a:srgbClr val="FFFFFF"/>
                    </a:solidFill>
                  </a:tcPr>
                </a:tc>
              </a:tr>
              <a:tr h="614476">
                <a:tc>
                  <a:txBody>
                    <a:bodyPr/>
                    <a:lstStyle/>
                    <a:p>
                      <a:r>
                        <a:rPr sz="1700" b="0">
                          <a:solidFill>
                            <a:srgbClr val="1F2937"/>
                          </a:solidFill>
                        </a:rPr>
                        <a:t>Tirik va ashyo</a:t>
                      </a:r>
                    </a:p>
                  </a:txBody>
                  <a:tcPr marL="73152" marR="73152" marT="36576" marB="36576">
                    <a:solidFill>
                      <a:srgbClr val="E8EEF6"/>
                    </a:solidFill>
                  </a:tcPr>
                </a:tc>
                <a:tc>
                  <a:txBody>
                    <a:bodyPr/>
                    <a:lstStyle/>
                    <a:p>
                      <a:r>
                        <a:rPr sz="1700" b="0">
                          <a:solidFill>
                            <a:srgbClr val="1F2937"/>
                          </a:solidFill>
                        </a:rPr>
                        <a:t>5) tirik shaxslar; 6) ashyoviy dalillar</a:t>
                      </a:r>
                    </a:p>
                  </a:txBody>
                  <a:tcPr marL="73152" marR="73152" marT="36576" marB="36576">
                    <a:solidFill>
                      <a:srgbClr val="E8EEF6"/>
                    </a:solidFill>
                  </a:tcPr>
                </a:tc>
              </a:tr>
              <a:tr h="614476">
                <a:tc>
                  <a:txBody>
                    <a:bodyPr/>
                    <a:lstStyle/>
                    <a:p>
                      <a:r>
                        <a:rPr sz="1700" b="0">
                          <a:solidFill>
                            <a:srgbClr val="1F2937"/>
                          </a:solidFill>
                        </a:rPr>
                        <a:t>Materiallar</a:t>
                      </a:r>
                    </a:p>
                  </a:txBody>
                  <a:tcPr marL="73152" marR="73152" marT="36576" marB="36576">
                    <a:solidFill>
                      <a:srgbClr val="FFFFFF"/>
                    </a:solidFill>
                  </a:tcPr>
                </a:tc>
                <a:tc>
                  <a:txBody>
                    <a:bodyPr/>
                    <a:lstStyle/>
                    <a:p>
                      <a:r>
                        <a:rPr sz="1700" b="0">
                          <a:solidFill>
                            <a:srgbClr val="1F2937"/>
                          </a:solidFill>
                        </a:rPr>
                        <a:t>7) ish materiallari; 8) kasb huquqbuzarligi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Predmet tizimining 8 bandi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mazmuni (tarkibiy qismlari)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Mazmun tarkibida tanatologiya, travmatologiya, akusherlik-ginekologiya, toksikologiya, biologiya bor.</a:t>
            </a:r>
          </a:p>
          <a:p>
            <a:pPr>
              <a:spcAft>
                <a:spcPts val="800"/>
              </a:spcAft>
            </a:pPr>
            <a:r>
              <a:rPr sz="1800">
                <a:solidFill>
                  <a:srgbClr val="1F2937"/>
                </a:solidFill>
                <a:latin typeface="Calibri"/>
              </a:rPr>
              <a:t>▸  Yana: turli tashqi omillar ta’siri hamda shaxs va shikast qurolining identifikatsiyasi.</a:t>
            </a:r>
          </a:p>
          <a:p>
            <a:pPr>
              <a:spcAft>
                <a:spcPts val="800"/>
              </a:spcAft>
            </a:pPr>
            <a:r>
              <a:rPr sz="1800">
                <a:solidFill>
                  <a:srgbClr val="1F2937"/>
                </a:solidFill>
                <a:latin typeface="Calibri"/>
              </a:rPr>
              <a:t>▸  2002-yilda kasb huquqbuzarliklari bo‘limi alohida “Vrach faoliyatining huquqiy asoslari” fani bo‘ldi.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3353053"/>
                <a:gridCol w="1934922"/>
              </a:tblGrid>
              <a:tr h="614476">
                <a:tc>
                  <a:txBody>
                    <a:bodyPr/>
                    <a:lstStyle/>
                    <a:p>
                      <a:r>
                        <a:rPr sz="1800" b="1">
                          <a:solidFill>
                            <a:srgbClr val="FFFFFF"/>
                          </a:solidFill>
                        </a:rPr>
                        <a:t>Qism</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Tanatologiya</a:t>
                      </a:r>
                    </a:p>
                  </a:txBody>
                  <a:tcPr marL="73152" marR="73152" marT="36576" marB="36576">
                    <a:solidFill>
                      <a:srgbClr val="E8EEF6"/>
                    </a:solidFill>
                  </a:tcPr>
                </a:tc>
                <a:tc>
                  <a:txBody>
                    <a:bodyPr/>
                    <a:lstStyle/>
                    <a:p>
                      <a:r>
                        <a:rPr sz="1700" b="0">
                          <a:solidFill>
                            <a:srgbClr val="1F2937"/>
                          </a:solidFill>
                        </a:rPr>
                        <a:t>o‘lim va murda o‘zgarishlari</a:t>
                      </a:r>
                    </a:p>
                  </a:txBody>
                  <a:tcPr marL="73152" marR="73152" marT="36576" marB="36576">
                    <a:solidFill>
                      <a:srgbClr val="E8EEF6"/>
                    </a:solidFill>
                  </a:tcPr>
                </a:tc>
              </a:tr>
              <a:tr h="614476">
                <a:tc>
                  <a:txBody>
                    <a:bodyPr/>
                    <a:lstStyle/>
                    <a:p>
                      <a:r>
                        <a:rPr sz="1700" b="0">
                          <a:solidFill>
                            <a:srgbClr val="1F2937"/>
                          </a:solidFill>
                        </a:rPr>
                        <a:t>Travmatologiya</a:t>
                      </a:r>
                    </a:p>
                  </a:txBody>
                  <a:tcPr marL="73152" marR="73152" marT="36576" marB="36576">
                    <a:solidFill>
                      <a:srgbClr val="FFFFFF"/>
                    </a:solidFill>
                  </a:tcPr>
                </a:tc>
                <a:tc>
                  <a:txBody>
                    <a:bodyPr/>
                    <a:lstStyle/>
                    <a:p>
                      <a:r>
                        <a:rPr sz="1700" b="0">
                          <a:solidFill>
                            <a:srgbClr val="1F2937"/>
                          </a:solidFill>
                        </a:rPr>
                        <a:t>jarohatlar, hosil bo‘lish mexanizmi</a:t>
                      </a:r>
                    </a:p>
                  </a:txBody>
                  <a:tcPr marL="73152" marR="73152" marT="36576" marB="36576">
                    <a:solidFill>
                      <a:srgbClr val="FFFFFF"/>
                    </a:solidFill>
                  </a:tcPr>
                </a:tc>
              </a:tr>
              <a:tr h="614476">
                <a:tc>
                  <a:txBody>
                    <a:bodyPr/>
                    <a:lstStyle/>
                    <a:p>
                      <a:r>
                        <a:rPr sz="1700" b="0">
                          <a:solidFill>
                            <a:srgbClr val="1F2937"/>
                          </a:solidFill>
                        </a:rPr>
                        <a:t>Toksikologiya, akusherlik-ginekologiya</a:t>
                      </a:r>
                    </a:p>
                  </a:txBody>
                  <a:tcPr marL="73152" marR="73152" marT="36576" marB="36576">
                    <a:solidFill>
                      <a:srgbClr val="E8EEF6"/>
                    </a:solidFill>
                  </a:tcPr>
                </a:tc>
                <a:tc>
                  <a:txBody>
                    <a:bodyPr/>
                    <a:lstStyle/>
                    <a:p>
                      <a:r>
                        <a:rPr sz="1700" b="0">
                          <a:solidFill>
                            <a:srgbClr val="1F2937"/>
                          </a:solidFill>
                        </a:rPr>
                        <a:t>zaharlar; bahsli jinsiy holatlar</a:t>
                      </a:r>
                    </a:p>
                  </a:txBody>
                  <a:tcPr marL="73152" marR="73152" marT="36576" marB="36576">
                    <a:solidFill>
                      <a:srgbClr val="E8EEF6"/>
                    </a:solidFill>
                  </a:tcPr>
                </a:tc>
              </a:tr>
              <a:tr h="614476">
                <a:tc>
                  <a:txBody>
                    <a:bodyPr/>
                    <a:lstStyle/>
                    <a:p>
                      <a:r>
                        <a:rPr sz="1700" b="0">
                          <a:solidFill>
                            <a:srgbClr val="1F2937"/>
                          </a:solidFill>
                        </a:rPr>
                        <a:t>Biologiya, identifikatsiya, tashqi omillar</a:t>
                      </a:r>
                    </a:p>
                  </a:txBody>
                  <a:tcPr marL="73152" marR="73152" marT="36576" marB="36576">
                    <a:solidFill>
                      <a:srgbClr val="FFFFFF"/>
                    </a:solidFill>
                  </a:tcPr>
                </a:tc>
                <a:tc>
                  <a:txBody>
                    <a:bodyPr/>
                    <a:lstStyle/>
                    <a:p>
                      <a:r>
                        <a:rPr sz="1700" b="0">
                          <a:solidFill>
                            <a:srgbClr val="1F2937"/>
                          </a:solidFill>
                        </a:rPr>
                        <a:t>ashyoviy dalillar; shaxs; fizik omillar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qismlar nimani o‘rganadi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boshqa fanlar bilan aloqasi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tibbiyoti fundamental emas, amaliy fan; u tibbiy, yuridik, tabiiy va falsafa fanlari bilan bog‘liq.</a:t>
            </a:r>
          </a:p>
          <a:p>
            <a:pPr>
              <a:spcAft>
                <a:spcPts val="800"/>
              </a:spcAft>
            </a:pPr>
            <a:r>
              <a:rPr sz="1800">
                <a:solidFill>
                  <a:srgbClr val="1F2937"/>
                </a:solidFill>
                <a:latin typeface="Calibri"/>
              </a:rPr>
              <a:t>▸  Fundamental tibbiy fanlarsiz ekspertiza o‘tkazib bo‘lmaydi; ayrim turlarda klinik fanlar ham muhim.</a:t>
            </a:r>
          </a:p>
          <a:p>
            <a:pPr>
              <a:spcAft>
                <a:spcPts val="800"/>
              </a:spcAft>
            </a:pPr>
            <a:r>
              <a:rPr sz="1800">
                <a:solidFill>
                  <a:srgbClr val="1F2937"/>
                </a:solidFill>
                <a:latin typeface="Calibri"/>
              </a:rPr>
              <a:t>▸  Klinitsist davolash uchun, ekspert esa holatni huquqiy baholash uchun yondashadi.</a:t>
            </a:r>
          </a:p>
        </p:txBody>
      </p:sp>
      <p:graphicFrame>
        <p:nvGraphicFramePr>
          <p:cNvPr id="9" name="Table 8"/>
          <p:cNvGraphicFramePr>
            <a:graphicFrameLocks noGrp="1"/>
          </p:cNvGraphicFramePr>
          <p:nvPr/>
        </p:nvGraphicFramePr>
        <p:xfrm>
          <a:off x="6263640" y="1463040"/>
          <a:ext cx="6492238" cy="3072380"/>
        </p:xfrm>
        <a:graphic>
          <a:graphicData uri="http://schemas.openxmlformats.org/drawingml/2006/table">
            <a:tbl>
              <a:tblPr firstRow="1" bandRow="1">
                <a:tableStyleId>{5C22544A-7EE6-4342-B048-85BDC9FD1C3A}</a:tableStyleId>
              </a:tblPr>
              <a:tblGrid>
                <a:gridCol w="1573530"/>
                <a:gridCol w="2990849"/>
                <a:gridCol w="1927859"/>
              </a:tblGrid>
              <a:tr h="614476">
                <a:tc>
                  <a:txBody>
                    <a:bodyPr/>
                    <a:lstStyle/>
                    <a:p>
                      <a:r>
                        <a:rPr sz="1600" b="1">
                          <a:solidFill>
                            <a:srgbClr val="FFFFFF"/>
                          </a:solidFill>
                        </a:rPr>
                        <a:t>Fan guruhi</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c>
                  <a:txBody>
                    <a:bodyPr/>
                    <a:lstStyle/>
                    <a:p>
                      <a:r>
                        <a:rPr sz="1600" b="1">
                          <a:solidFill>
                            <a:srgbClr val="FFFFFF"/>
                          </a:solidFill>
                        </a:rPr>
                        <a:t>Vazifasi</a:t>
                      </a:r>
                    </a:p>
                  </a:txBody>
                  <a:tcPr marL="73152" marR="73152" marT="36576" marB="36576">
                    <a:solidFill>
                      <a:srgbClr val="0B1F3A"/>
                    </a:solidFill>
                  </a:tcPr>
                </a:tc>
              </a:tr>
              <a:tr h="614476">
                <a:tc>
                  <a:txBody>
                    <a:bodyPr/>
                    <a:lstStyle/>
                    <a:p>
                      <a:r>
                        <a:rPr sz="1500" b="0">
                          <a:solidFill>
                            <a:srgbClr val="1F2937"/>
                          </a:solidFill>
                        </a:rPr>
                        <a:t>Fundamental tibbiy</a:t>
                      </a:r>
                    </a:p>
                  </a:txBody>
                  <a:tcPr marL="73152" marR="73152" marT="36576" marB="36576">
                    <a:solidFill>
                      <a:srgbClr val="E8EEF6"/>
                    </a:solidFill>
                  </a:tcPr>
                </a:tc>
                <a:tc>
                  <a:txBody>
                    <a:bodyPr/>
                    <a:lstStyle/>
                    <a:p>
                      <a:r>
                        <a:rPr sz="1500" b="0">
                          <a:solidFill>
                            <a:srgbClr val="1F2937"/>
                          </a:solidFill>
                        </a:rPr>
                        <a:t>Anatomiya, gistologiya, fiziologiya</a:t>
                      </a:r>
                    </a:p>
                  </a:txBody>
                  <a:tcPr marL="73152" marR="73152" marT="36576" marB="36576">
                    <a:solidFill>
                      <a:srgbClr val="E8EEF6"/>
                    </a:solidFill>
                  </a:tcPr>
                </a:tc>
                <a:tc>
                  <a:txBody>
                    <a:bodyPr/>
                    <a:lstStyle/>
                    <a:p>
                      <a:r>
                        <a:rPr sz="1500" b="0">
                          <a:solidFill>
                            <a:srgbClr val="1F2937"/>
                          </a:solidFill>
                        </a:rPr>
                        <a:t>Ekspertizaning poydevori</a:t>
                      </a:r>
                    </a:p>
                  </a:txBody>
                  <a:tcPr marL="73152" marR="73152" marT="36576" marB="36576">
                    <a:solidFill>
                      <a:srgbClr val="E8EEF6"/>
                    </a:solidFill>
                  </a:tcPr>
                </a:tc>
              </a:tr>
              <a:tr h="614476">
                <a:tc>
                  <a:txBody>
                    <a:bodyPr/>
                    <a:lstStyle/>
                    <a:p>
                      <a:r>
                        <a:rPr sz="1500" b="0">
                          <a:solidFill>
                            <a:srgbClr val="1F2937"/>
                          </a:solidFill>
                        </a:rPr>
                        <a:t>Klinik fanlar</a:t>
                      </a:r>
                    </a:p>
                  </a:txBody>
                  <a:tcPr marL="73152" marR="73152" marT="36576" marB="36576">
                    <a:solidFill>
                      <a:srgbClr val="FFFFFF"/>
                    </a:solidFill>
                  </a:tcPr>
                </a:tc>
                <a:tc>
                  <a:txBody>
                    <a:bodyPr/>
                    <a:lstStyle/>
                    <a:p>
                      <a:r>
                        <a:rPr sz="1500" b="0">
                          <a:solidFill>
                            <a:srgbClr val="1F2937"/>
                          </a:solidFill>
                        </a:rPr>
                        <a:t>Travmatologiya, akusherlik-ginekologiya</a:t>
                      </a:r>
                    </a:p>
                  </a:txBody>
                  <a:tcPr marL="73152" marR="73152" marT="36576" marB="36576">
                    <a:solidFill>
                      <a:srgbClr val="FFFFFF"/>
                    </a:solidFill>
                  </a:tcPr>
                </a:tc>
                <a:tc>
                  <a:txBody>
                    <a:bodyPr/>
                    <a:lstStyle/>
                    <a:p>
                      <a:r>
                        <a:rPr sz="1500" b="0">
                          <a:solidFill>
                            <a:srgbClr val="1F2937"/>
                          </a:solidFill>
                        </a:rPr>
                        <a:t>Ayrim ekspertiza turlarida zarur</a:t>
                      </a:r>
                    </a:p>
                  </a:txBody>
                  <a:tcPr marL="73152" marR="73152" marT="36576" marB="36576">
                    <a:solidFill>
                      <a:srgbClr val="FFFFFF"/>
                    </a:solidFill>
                  </a:tcPr>
                </a:tc>
              </a:tr>
              <a:tr h="614476">
                <a:tc>
                  <a:txBody>
                    <a:bodyPr/>
                    <a:lstStyle/>
                    <a:p>
                      <a:r>
                        <a:rPr sz="1500" b="0">
                          <a:solidFill>
                            <a:srgbClr val="1F2937"/>
                          </a:solidFill>
                        </a:rPr>
                        <a:t>Yuridik fanlar</a:t>
                      </a:r>
                    </a:p>
                  </a:txBody>
                  <a:tcPr marL="73152" marR="73152" marT="36576" marB="36576">
                    <a:solidFill>
                      <a:srgbClr val="E8EEF6"/>
                    </a:solidFill>
                  </a:tcPr>
                </a:tc>
                <a:tc>
                  <a:txBody>
                    <a:bodyPr/>
                    <a:lstStyle/>
                    <a:p>
                      <a:r>
                        <a:rPr sz="1500" b="0">
                          <a:solidFill>
                            <a:srgbClr val="1F2937"/>
                          </a:solidFill>
                        </a:rPr>
                        <a:t>Jinoiy va fuqarolik huquqi</a:t>
                      </a:r>
                    </a:p>
                  </a:txBody>
                  <a:tcPr marL="73152" marR="73152" marT="36576" marB="36576">
                    <a:solidFill>
                      <a:srgbClr val="E8EEF6"/>
                    </a:solidFill>
                  </a:tcPr>
                </a:tc>
                <a:tc>
                  <a:txBody>
                    <a:bodyPr/>
                    <a:lstStyle/>
                    <a:p>
                      <a:r>
                        <a:rPr sz="1500" b="0">
                          <a:solidFill>
                            <a:srgbClr val="1F2937"/>
                          </a:solidFill>
                        </a:rPr>
                        <a:t>Ekspertizaning qonuniy asosi</a:t>
                      </a:r>
                    </a:p>
                  </a:txBody>
                  <a:tcPr marL="73152" marR="73152" marT="36576" marB="36576">
                    <a:solidFill>
                      <a:srgbClr val="E8EEF6"/>
                    </a:solidFill>
                  </a:tcPr>
                </a:tc>
              </a:tr>
              <a:tr h="614476">
                <a:tc>
                  <a:txBody>
                    <a:bodyPr/>
                    <a:lstStyle/>
                    <a:p>
                      <a:r>
                        <a:rPr sz="1500" b="0">
                          <a:solidFill>
                            <a:srgbClr val="1F2937"/>
                          </a:solidFill>
                        </a:rPr>
                        <a:t>Tabiiy va falsafa</a:t>
                      </a:r>
                    </a:p>
                  </a:txBody>
                  <a:tcPr marL="73152" marR="73152" marT="36576" marB="36576">
                    <a:solidFill>
                      <a:srgbClr val="FFFFFF"/>
                    </a:solidFill>
                  </a:tcPr>
                </a:tc>
                <a:tc>
                  <a:txBody>
                    <a:bodyPr/>
                    <a:lstStyle/>
                    <a:p>
                      <a:r>
                        <a:rPr sz="1500" b="0">
                          <a:solidFill>
                            <a:srgbClr val="1F2937"/>
                          </a:solidFill>
                        </a:rPr>
                        <a:t>Kimyo, fizika, mantiq, dialektika</a:t>
                      </a:r>
                    </a:p>
                  </a:txBody>
                  <a:tcPr marL="73152" marR="73152" marT="36576" marB="36576">
                    <a:solidFill>
                      <a:srgbClr val="FFFFFF"/>
                    </a:solidFill>
                  </a:tcPr>
                </a:tc>
                <a:tc>
                  <a:txBody>
                    <a:bodyPr/>
                    <a:lstStyle/>
                    <a:p>
                      <a:r>
                        <a:rPr sz="1500" b="0">
                          <a:solidFill>
                            <a:srgbClr val="1F2937"/>
                          </a:solidFill>
                        </a:rPr>
                        <a:t>Tahlil va xulosa asoslanganligi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Sud tibbiyoti aloqalari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fanlar aloqasi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mexanik jarohatlar holatida qaysi klinik fan bilimi zarur? Javob: travmatologiya.</a:t>
            </a:r>
          </a:p>
          <a:p>
            <a:pPr>
              <a:spcAft>
                <a:spcPts val="1200"/>
              </a:spcAft>
            </a:pPr>
            <a:r>
              <a:rPr sz="2200">
                <a:solidFill>
                  <a:srgbClr val="1F2937"/>
                </a:solidFill>
                <a:latin typeface="Calibri"/>
              </a:rPr>
              <a:t>▸  2-savol: jinoiy abort holatida va ko‘z shikastlanishida-chi? Javob: mos ravishda akusherlik-ginekologiya va oftalmologiya.</a:t>
            </a:r>
          </a:p>
          <a:p>
            <a:pPr>
              <a:spcAft>
                <a:spcPts val="1200"/>
              </a:spcAft>
            </a:pPr>
            <a:r>
              <a:rPr sz="2200">
                <a:solidFill>
                  <a:srgbClr val="1F2937"/>
                </a:solidFill>
                <a:latin typeface="Calibri"/>
              </a:rPr>
              <a:t>▸  3-savol: toksikologiya qaysi fan bilan bog‘liq, harorat va elektr toki oqibatlarida-chi? Javob: kimyo; fizika.</a:t>
            </a:r>
          </a:p>
          <a:p>
            <a:pPr>
              <a:spcAft>
                <a:spcPts val="1200"/>
              </a:spcAft>
            </a:pPr>
            <a:r>
              <a:rPr sz="2200">
                <a:solidFill>
                  <a:srgbClr val="1F2937"/>
                </a:solidFill>
                <a:latin typeface="Calibri"/>
              </a:rPr>
              <a:t>▸  Diqqat: xato qilish xavfi! Ekspert barcha ixtisoslikni to‘liq bilolmaydi; tegishli sohadan zarur bilimga ega bo‘lishi lozim. Davolash ≠ huquqiy baholash.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vazifalari va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Sud tibbiyoti sud, tergov va surishtiruvda paydo bo‘ladigan tibbiy-biologik savollarga javob beradi; uning amaliy qo‘llanishi sud-tibbiy ekspertizadir.</a:t>
            </a:r>
          </a:p>
          <a:p>
            <a:pPr>
              <a:spcAft>
                <a:spcPts val="1200"/>
              </a:spcAft>
            </a:pPr>
            <a:r>
              <a:rPr sz="2000">
                <a:solidFill>
                  <a:srgbClr val="1F2937"/>
                </a:solidFill>
                <a:latin typeface="Calibri"/>
              </a:rPr>
              <a:t>▸  Ekspertiza xizmati sog‘liqni saqlash tizimiga kiradi; jinoyat va fuqarolik ishlaridagi tibbiy-biologik masalalarni hal etish uning asosiy vazifasidir.</a:t>
            </a:r>
          </a:p>
          <a:p>
            <a:pPr>
              <a:spcAft>
                <a:spcPts val="1200"/>
              </a:spcAft>
            </a:pPr>
            <a:r>
              <a:rPr sz="2000">
                <a:solidFill>
                  <a:srgbClr val="1F2937"/>
                </a:solidFill>
                <a:latin typeface="Calibri"/>
              </a:rPr>
              <a:t>▸  Muassasalar ekspertiza materiallariga tayanib tibbiy yordam sifatini yaxshilash, travmatizm, zaharlanish, to‘satdan o‘lim va baxtsiz hodisalar profilaktikasi choralarini ham o‘tkazadi.</a:t>
            </a:r>
          </a:p>
          <a:p>
            <a:pPr>
              <a:spcAft>
                <a:spcPts val="1200"/>
              </a:spcAft>
            </a:pPr>
            <a:r>
              <a:rPr sz="2000">
                <a:solidFill>
                  <a:srgbClr val="1F2937"/>
                </a:solidFill>
                <a:latin typeface="Calibri"/>
              </a:rPr>
              <a:t>▸  Vazirlik buyrug‘iga ko‘ra holatlar klinik-anatomik konferensiyada muhokama qilinadi; tashxis mos kelmasa yoki yordamda kamchilik bo‘lsa, rahbar xabardor qilinadi.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 11; Iskandarov A.I., Qo‘ldoshev D.R., Sud tibbiyoti, betlar: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ob‘ektlari va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Ob’ektlar to‘rtta: murda, tirik shaxs, ashyoviy dalil hamda jinoyat va fuqarolik ishlari materiallari.</a:t>
            </a:r>
          </a:p>
          <a:p>
            <a:pPr>
              <a:spcAft>
                <a:spcPts val="800"/>
              </a:spcAft>
            </a:pPr>
            <a:r>
              <a:rPr sz="1800">
                <a:solidFill>
                  <a:srgbClr val="1F2937"/>
                </a:solidFill>
                <a:latin typeface="Calibri"/>
              </a:rPr>
              <a:t>▸  Ob’ektlarni ekspertiza tayinlagan shaxs taqdim etadi va ularning ishonchliligi uchun o‘zi javob beradi.</a:t>
            </a:r>
          </a:p>
          <a:p>
            <a:pPr>
              <a:spcAft>
                <a:spcPts val="800"/>
              </a:spcAft>
            </a:pPr>
            <a:r>
              <a:rPr sz="1800">
                <a:solidFill>
                  <a:srgbClr val="1F2937"/>
                </a:solidFill>
                <a:latin typeface="Calibri"/>
              </a:rPr>
              <a:t>▸  Usul ilmiy, oddiy, barqaror bo‘lishi, takroriy tekshirishga imkon berishi va hujjatlashtirilishi lozim.</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1891291"/>
                <a:gridCol w="2059373"/>
              </a:tblGrid>
              <a:tr h="768096">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768096">
                <a:tc>
                  <a:txBody>
                    <a:bodyPr/>
                    <a:lstStyle/>
                    <a:p>
                      <a:r>
                        <a:rPr sz="1500" b="0">
                          <a:solidFill>
                            <a:srgbClr val="1F2937"/>
                          </a:solidFill>
                        </a:rPr>
                        <a:t>Umumilmiy</a:t>
                      </a:r>
                    </a:p>
                  </a:txBody>
                  <a:tcPr marL="73152" marR="73152" marT="36576" marB="36576">
                    <a:solidFill>
                      <a:srgbClr val="E8EEF6"/>
                    </a:solidFill>
                  </a:tcPr>
                </a:tc>
                <a:tc>
                  <a:txBody>
                    <a:bodyPr/>
                    <a:lstStyle/>
                    <a:p>
                      <a:r>
                        <a:rPr sz="1500" b="0">
                          <a:solidFill>
                            <a:srgbClr val="1F2937"/>
                          </a:solidFill>
                        </a:rPr>
                        <a:t>Turli fanlarda qo‘llanadi</a:t>
                      </a:r>
                    </a:p>
                  </a:txBody>
                  <a:tcPr marL="73152" marR="73152" marT="36576" marB="36576">
                    <a:solidFill>
                      <a:srgbClr val="E8EEF6"/>
                    </a:solidFill>
                  </a:tcPr>
                </a:tc>
                <a:tc>
                  <a:txBody>
                    <a:bodyPr/>
                    <a:lstStyle/>
                    <a:p>
                      <a:r>
                        <a:rPr sz="1500" b="0">
                          <a:solidFill>
                            <a:srgbClr val="1F2937"/>
                          </a:solidFill>
                        </a:rPr>
                        <a:t>Kuzatuv, tavsif, o‘lchash</a:t>
                      </a:r>
                    </a:p>
                  </a:txBody>
                  <a:tcPr marL="73152" marR="73152" marT="36576" marB="36576">
                    <a:solidFill>
                      <a:srgbClr val="E8EEF6"/>
                    </a:solidFill>
                  </a:tcPr>
                </a:tc>
              </a:tr>
              <a:tr h="768096">
                <a:tc>
                  <a:txBody>
                    <a:bodyPr/>
                    <a:lstStyle/>
                    <a:p>
                      <a:r>
                        <a:rPr sz="1500" b="0">
                          <a:solidFill>
                            <a:srgbClr val="1F2937"/>
                          </a:solidFill>
                        </a:rPr>
                        <a:t>Xususiy</a:t>
                      </a:r>
                    </a:p>
                  </a:txBody>
                  <a:tcPr marL="73152" marR="73152" marT="36576" marB="36576">
                    <a:solidFill>
                      <a:srgbClr val="FFFFFF"/>
                    </a:solidFill>
                  </a:tcPr>
                </a:tc>
                <a:tc>
                  <a:txBody>
                    <a:bodyPr/>
                    <a:lstStyle/>
                    <a:p>
                      <a:r>
                        <a:rPr sz="1500" b="0">
                          <a:solidFill>
                            <a:srgbClr val="1F2937"/>
                          </a:solidFill>
                        </a:rPr>
                        <a:t>Aniq bir fanga tegishli</a:t>
                      </a:r>
                    </a:p>
                  </a:txBody>
                  <a:tcPr marL="73152" marR="73152" marT="36576" marB="36576">
                    <a:solidFill>
                      <a:srgbClr val="FFFFFF"/>
                    </a:solidFill>
                  </a:tcPr>
                </a:tc>
                <a:tc>
                  <a:txBody>
                    <a:bodyPr/>
                    <a:lstStyle/>
                    <a:p>
                      <a:r>
                        <a:rPr sz="1500" b="0">
                          <a:solidFill>
                            <a:srgbClr val="1F2937"/>
                          </a:solidFill>
                        </a:rPr>
                        <a:t>Rentgenologik, kimyoviy</a:t>
                      </a:r>
                    </a:p>
                  </a:txBody>
                  <a:tcPr marL="73152" marR="73152" marT="36576" marB="36576">
                    <a:solidFill>
                      <a:srgbClr val="FFFFFF"/>
                    </a:solidFill>
                  </a:tcPr>
                </a:tc>
              </a:tr>
              <a:tr h="768096">
                <a:tc>
                  <a:txBody>
                    <a:bodyPr/>
                    <a:lstStyle/>
                    <a:p>
                      <a:r>
                        <a:rPr sz="1500" b="0">
                          <a:solidFill>
                            <a:srgbClr val="1F2937"/>
                          </a:solidFill>
                        </a:rPr>
                        <a:t>Maxsus</a:t>
                      </a:r>
                    </a:p>
                  </a:txBody>
                  <a:tcPr marL="73152" marR="73152" marT="36576" marB="36576">
                    <a:solidFill>
                      <a:srgbClr val="E8EEF6"/>
                    </a:solidFill>
                  </a:tcPr>
                </a:tc>
                <a:tc>
                  <a:txBody>
                    <a:bodyPr/>
                    <a:lstStyle/>
                    <a:p>
                      <a:r>
                        <a:rPr sz="1500" b="0">
                          <a:solidFill>
                            <a:srgbClr val="1F2937"/>
                          </a:solidFill>
                        </a:rPr>
                        <a:t>Asosan sud-tibbiy amaliyotda</a:t>
                      </a:r>
                    </a:p>
                  </a:txBody>
                  <a:tcPr marL="73152" marR="73152" marT="36576" marB="36576">
                    <a:solidFill>
                      <a:srgbClr val="E8EEF6"/>
                    </a:solidFill>
                  </a:tcPr>
                </a:tc>
                <a:tc>
                  <a:txBody>
                    <a:bodyPr/>
                    <a:lstStyle/>
                    <a:p>
                      <a:r>
                        <a:rPr sz="1500" b="0">
                          <a:solidFill>
                            <a:srgbClr val="1F2937"/>
                          </a:solidFill>
                        </a:rPr>
                        <a:t>Pichoq va jarohatni qiyoslash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Iskandarov A.I., Qo‘ldoshev D.R., Sud tibbiyoti, betlar: 25; G‘iyosov Z.A., Sud tibbiyoti: darslik, betlar: Bob 1, 1.5-bo‘lim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ekspertiza prinsiplari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ekspertizasi to‘g‘risida”gi Qonunda asosiy prinsiplar sifatida qonuniylik, inson huquq va erkinliklariga rioya, ekspert mustaqilligi, xolislik, har tomonlamalik va to‘liqlik e’tirof etilgan.</a:t>
            </a:r>
          </a:p>
          <a:p>
            <a:pPr>
              <a:spcAft>
                <a:spcPts val="1200"/>
              </a:spcAft>
            </a:pPr>
            <a:r>
              <a:rPr sz="2200">
                <a:solidFill>
                  <a:srgbClr val="1F2937"/>
                </a:solidFill>
                <a:latin typeface="Calibri"/>
              </a:rPr>
              <a:t>▸  Mustaqil ekspert tekshiruv, natija va xulosa uchun shaxsan mas’ul bo‘ladi va faqat o‘z vakolati doirasida ishlaydi.</a:t>
            </a:r>
          </a:p>
          <a:p>
            <a:pPr>
              <a:spcAft>
                <a:spcPts val="1200"/>
              </a:spcAft>
            </a:pPr>
            <a:r>
              <a:rPr sz="2200">
                <a:solidFill>
                  <a:srgbClr val="1F2937"/>
                </a:solidFill>
                <a:latin typeface="Calibri"/>
              </a:rPr>
              <a:t>▸  Ob’ekt faqat ma’lum davrda dalil manbai bo‘ladi: shilinma va qontalashlar aksariyat hollarda dastlabki 10-15 kungacha, murda esa imkon qadar tezroq tekshiriladi.</a:t>
            </a:r>
          </a:p>
          <a:p>
            <a:pPr>
              <a:spcAft>
                <a:spcPts val="1200"/>
              </a:spcAft>
            </a:pPr>
            <a:r>
              <a:rPr sz="2200">
                <a:solidFill>
                  <a:srgbClr val="1F2937"/>
                </a:solidFill>
                <a:latin typeface="Calibri"/>
              </a:rPr>
              <a:t>▸  Diqqat: ekspert mustaqil bo‘lsa-da, uning xulosasi tergovchi, prokuror va sud uchun majburiy hisoblanmaydi.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Bob 1, 1.4-bo‘lim; Iskandarov A.I., Qo‘ldoshev D.R., Sud tibbiyoti, betlar: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fan va ob‘ekt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poliklinikaga kelgan bolada shilinma va qontalash topilgan, tergovchi sud-tibbiy ekspertiza tayinlagan.</a:t>
            </a:r>
          </a:p>
          <a:p>
            <a:pPr>
              <a:spcAft>
                <a:spcPts val="1200"/>
              </a:spcAft>
            </a:pPr>
            <a:r>
              <a:rPr sz="2200">
                <a:solidFill>
                  <a:srgbClr val="1F2937"/>
                </a:solidFill>
                <a:latin typeface="Calibri"/>
              </a:rPr>
              <a:t>▸  Ob’ekt: tirik shaxs; ish materiallari sifatida ambulatoriya kartasi kabi tibbiy hujjatlar ham o‘rganiladi.</a:t>
            </a:r>
          </a:p>
          <a:p>
            <a:pPr>
              <a:spcAft>
                <a:spcPts val="1200"/>
              </a:spcAft>
            </a:pPr>
            <a:r>
              <a:rPr sz="2200">
                <a:solidFill>
                  <a:srgbClr val="1F2937"/>
                </a:solidFill>
                <a:latin typeface="Calibri"/>
              </a:rPr>
              <a:t>▸  Usul: kuzatuv va tavsif (umumilmiy), zarur bo‘lsa rentgenologik tekshiruv (xususiy); muddat: shilinma va qontalash odatda 10-15 kungacha tekshiriladi.</a:t>
            </a:r>
          </a:p>
          <a:p>
            <a:pPr>
              <a:spcAft>
                <a:spcPts val="1200"/>
              </a:spcAft>
            </a:pPr>
            <a:r>
              <a:rPr sz="2200">
                <a:solidFill>
                  <a:srgbClr val="1F2937"/>
                </a:solidFill>
                <a:latin typeface="Calibri"/>
              </a:rPr>
              <a:t>▸  Savol: tergovchi “kim aybdor?” deb so‘rasa, ekspert javob beradimi? Nega?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Bob 1, 1.4-bo‘lim, Bob 1, 1.4-1.5-bo‘limlar; Iskandarov A.I., Qo‘ldoshev D.R., Sud tibbiyoti, betlar: 34,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 tarixi: qadimgi davr va o‘rta asrlar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Sparta qoidalariga zo‘raki o‘lim va zaharlanishda murdani tekshirish kiritildi; Gippokrat qatnashgan.</a:t>
            </a:r>
          </a:p>
          <a:p>
            <a:pPr>
              <a:spcAft>
                <a:spcPts val="800"/>
              </a:spcAft>
            </a:pPr>
            <a:r>
              <a:rPr sz="1800">
                <a:solidFill>
                  <a:srgbClr val="1F2937"/>
                </a:solidFill>
                <a:latin typeface="Calibri"/>
              </a:rPr>
              <a:t>▸  Antistius Yuliy Sezar murdasini ko‘rib, 23 jarohatdan faqat bittasini o‘limga sabab deb baholadi.</a:t>
            </a:r>
          </a:p>
          <a:p>
            <a:pPr>
              <a:spcAft>
                <a:spcPts val="800"/>
              </a:spcAft>
            </a:pPr>
            <a:r>
              <a:rPr sz="1800">
                <a:solidFill>
                  <a:srgbClr val="1F2937"/>
                </a:solidFill>
                <a:latin typeface="Calibri"/>
              </a:rPr>
              <a:t>▸  «Si Yuan Lu» murda tekshiruvi, qurollar, bo‘g‘ish, cho‘kish va zaharlanishni yoritgan.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1641111"/>
                <a:gridCol w="2427663"/>
              </a:tblGrid>
              <a:tr h="614476">
                <a:tc>
                  <a:txBody>
                    <a:bodyPr/>
                    <a:lstStyle/>
                    <a:p>
                      <a:r>
                        <a:rPr sz="1600" b="1">
                          <a:solidFill>
                            <a:srgbClr val="FFFFFF"/>
                          </a:solidFill>
                        </a:rPr>
                        <a:t>Davr</a:t>
                      </a:r>
                    </a:p>
                  </a:txBody>
                  <a:tcPr marL="73152" marR="73152" marT="36576" marB="36576">
                    <a:solidFill>
                      <a:srgbClr val="0B1F3A"/>
                    </a:solidFill>
                  </a:tcPr>
                </a:tc>
                <a:tc>
                  <a:txBody>
                    <a:bodyPr/>
                    <a:lstStyle/>
                    <a:p>
                      <a:r>
                        <a:rPr sz="1600" b="1">
                          <a:solidFill>
                            <a:srgbClr val="FFFFFF"/>
                          </a:solidFill>
                        </a:rPr>
                        <a:t>Manba</a:t>
                      </a:r>
                    </a:p>
                  </a:txBody>
                  <a:tcPr marL="73152" marR="73152" marT="36576" marB="36576">
                    <a:solidFill>
                      <a:srgbClr val="0B1F3A"/>
                    </a:solidFill>
                  </a:tcPr>
                </a:tc>
                <a:tc>
                  <a:txBody>
                    <a:bodyPr/>
                    <a:lstStyle/>
                    <a:p>
                      <a:r>
                        <a:rPr sz="1600" b="1">
                          <a:solidFill>
                            <a:srgbClr val="FFFFFF"/>
                          </a:solidFill>
                        </a:rPr>
                        <a:t>Mazmuni</a:t>
                      </a:r>
                    </a:p>
                  </a:txBody>
                  <a:tcPr marL="73152" marR="73152" marT="36576" marB="36576">
                    <a:solidFill>
                      <a:srgbClr val="0B1F3A"/>
                    </a:solidFill>
                  </a:tcPr>
                </a:tc>
              </a:tr>
              <a:tr h="614476">
                <a:tc>
                  <a:txBody>
                    <a:bodyPr/>
                    <a:lstStyle/>
                    <a:p>
                      <a:r>
                        <a:rPr sz="1500" b="0">
                          <a:solidFill>
                            <a:srgbClr val="1F2937"/>
                          </a:solidFill>
                        </a:rPr>
                        <a:t>e.a. IX–VIII asr</a:t>
                      </a:r>
                    </a:p>
                  </a:txBody>
                  <a:tcPr marL="73152" marR="73152" marT="36576" marB="36576">
                    <a:solidFill>
                      <a:srgbClr val="E8EEF6"/>
                    </a:solidFill>
                  </a:tcPr>
                </a:tc>
                <a:tc>
                  <a:txBody>
                    <a:bodyPr/>
                    <a:lstStyle/>
                    <a:p>
                      <a:r>
                        <a:rPr sz="1500" b="0">
                          <a:solidFill>
                            <a:srgbClr val="1F2937"/>
                          </a:solidFill>
                        </a:rPr>
                        <a:t>Likurg qonunlari (Sparta)</a:t>
                      </a:r>
                    </a:p>
                  </a:txBody>
                  <a:tcPr marL="73152" marR="73152" marT="36576" marB="36576">
                    <a:solidFill>
                      <a:srgbClr val="E8EEF6"/>
                    </a:solidFill>
                  </a:tcPr>
                </a:tc>
                <a:tc>
                  <a:txBody>
                    <a:bodyPr/>
                    <a:lstStyle/>
                    <a:p>
                      <a:r>
                        <a:rPr sz="1500" b="0">
                          <a:solidFill>
                            <a:srgbClr val="1F2937"/>
                          </a:solidFill>
                        </a:rPr>
                        <a:t>Tibbiy tekshiruv zarurati qayd etilgan</a:t>
                      </a:r>
                    </a:p>
                  </a:txBody>
                  <a:tcPr marL="73152" marR="73152" marT="36576" marB="36576">
                    <a:solidFill>
                      <a:srgbClr val="E8EEF6"/>
                    </a:solidFill>
                  </a:tcPr>
                </a:tc>
              </a:tr>
              <a:tr h="614476">
                <a:tc>
                  <a:txBody>
                    <a:bodyPr/>
                    <a:lstStyle/>
                    <a:p>
                      <a:r>
                        <a:rPr sz="1500" b="0">
                          <a:solidFill>
                            <a:srgbClr val="1F2937"/>
                          </a:solidFill>
                        </a:rPr>
                        <a:t>e.a. 44-yil</a:t>
                      </a:r>
                    </a:p>
                  </a:txBody>
                  <a:tcPr marL="73152" marR="73152" marT="36576" marB="36576">
                    <a:solidFill>
                      <a:srgbClr val="FFFFFF"/>
                    </a:solidFill>
                  </a:tcPr>
                </a:tc>
                <a:tc>
                  <a:txBody>
                    <a:bodyPr/>
                    <a:lstStyle/>
                    <a:p>
                      <a:r>
                        <a:rPr sz="1500" b="0">
                          <a:solidFill>
                            <a:srgbClr val="1F2937"/>
                          </a:solidFill>
                        </a:rPr>
                        <a:t>Yuliy Sezar o‘limi</a:t>
                      </a:r>
                    </a:p>
                  </a:txBody>
                  <a:tcPr marL="73152" marR="73152" marT="36576" marB="36576">
                    <a:solidFill>
                      <a:srgbClr val="FFFFFF"/>
                    </a:solidFill>
                  </a:tcPr>
                </a:tc>
                <a:tc>
                  <a:txBody>
                    <a:bodyPr/>
                    <a:lstStyle/>
                    <a:p>
                      <a:r>
                        <a:rPr sz="1500" b="0">
                          <a:solidFill>
                            <a:srgbClr val="1F2937"/>
                          </a:solidFill>
                        </a:rPr>
                        <a:t>Murdani vrach Antistius ko‘rgan</a:t>
                      </a:r>
                    </a:p>
                  </a:txBody>
                  <a:tcPr marL="73152" marR="73152" marT="36576" marB="36576">
                    <a:solidFill>
                      <a:srgbClr val="FFFFFF"/>
                    </a:solidFill>
                  </a:tcPr>
                </a:tc>
              </a:tr>
              <a:tr h="614476">
                <a:tc>
                  <a:txBody>
                    <a:bodyPr/>
                    <a:lstStyle/>
                    <a:p>
                      <a:r>
                        <a:rPr sz="1500" b="0">
                          <a:solidFill>
                            <a:srgbClr val="1F2937"/>
                          </a:solidFill>
                        </a:rPr>
                        <a:t>VI asr</a:t>
                      </a:r>
                    </a:p>
                  </a:txBody>
                  <a:tcPr marL="73152" marR="73152" marT="36576" marB="36576">
                    <a:solidFill>
                      <a:srgbClr val="E8EEF6"/>
                    </a:solidFill>
                  </a:tcPr>
                </a:tc>
                <a:tc>
                  <a:txBody>
                    <a:bodyPr/>
                    <a:lstStyle/>
                    <a:p>
                      <a:r>
                        <a:rPr sz="1500" b="0">
                          <a:solidFill>
                            <a:srgbClr val="1F2937"/>
                          </a:solidFill>
                        </a:rPr>
                        <a:t>Yustinian kodeksi</a:t>
                      </a:r>
                    </a:p>
                  </a:txBody>
                  <a:tcPr marL="73152" marR="73152" marT="36576" marB="36576">
                    <a:solidFill>
                      <a:srgbClr val="E8EEF6"/>
                    </a:solidFill>
                  </a:tcPr>
                </a:tc>
                <a:tc>
                  <a:txBody>
                    <a:bodyPr/>
                    <a:lstStyle/>
                    <a:p>
                      <a:r>
                        <a:rPr sz="1500" b="0">
                          <a:solidFill>
                            <a:srgbClr val="1F2937"/>
                          </a:solidFill>
                        </a:rPr>
                        <a:t>Vrach xulosasi guvohdan ustun</a:t>
                      </a:r>
                    </a:p>
                  </a:txBody>
                  <a:tcPr marL="73152" marR="73152" marT="36576" marB="36576">
                    <a:solidFill>
                      <a:srgbClr val="E8EEF6"/>
                    </a:solidFill>
                  </a:tcPr>
                </a:tc>
              </a:tr>
              <a:tr h="614476">
                <a:tc>
                  <a:txBody>
                    <a:bodyPr/>
                    <a:lstStyle/>
                    <a:p>
                      <a:r>
                        <a:rPr sz="1500" b="0">
                          <a:solidFill>
                            <a:srgbClr val="1F2937"/>
                          </a:solidFill>
                        </a:rPr>
                        <a:t>1247-yil</a:t>
                      </a:r>
                    </a:p>
                  </a:txBody>
                  <a:tcPr marL="73152" marR="73152" marT="36576" marB="36576">
                    <a:solidFill>
                      <a:srgbClr val="FFFFFF"/>
                    </a:solidFill>
                  </a:tcPr>
                </a:tc>
                <a:tc>
                  <a:txBody>
                    <a:bodyPr/>
                    <a:lstStyle/>
                    <a:p>
                      <a:r>
                        <a:rPr sz="1500" b="0">
                          <a:solidFill>
                            <a:srgbClr val="1F2937"/>
                          </a:solidFill>
                        </a:rPr>
                        <a:t>«Si Yuan Lu» (Xitoy)</a:t>
                      </a:r>
                    </a:p>
                  </a:txBody>
                  <a:tcPr marL="73152" marR="73152" marT="36576" marB="36576">
                    <a:solidFill>
                      <a:srgbClr val="FFFFFF"/>
                    </a:solidFill>
                  </a:tcPr>
                </a:tc>
                <a:tc>
                  <a:txBody>
                    <a:bodyPr/>
                    <a:lstStyle/>
                    <a:p>
                      <a:r>
                        <a:rPr sz="1500" b="0">
                          <a:solidFill>
                            <a:srgbClr val="1F2937"/>
                          </a:solidFill>
                        </a:rPr>
                        <a:t>Murda, jarohat va zaharlar bayoni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Qadimiy manbalar xronologiyasi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 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 tarixi: Yevropada fan shakllanishi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XIII asrda Bolonyada vrach Xugo Lukka tribunalda xulosa bergan. XIV asrda Fransiyada «qirol xirurglari» tayinlangan, Monpelyeda murda rasmiy tekshirilgan.</a:t>
            </a:r>
          </a:p>
          <a:p>
            <a:pPr>
              <a:spcAft>
                <a:spcPts val="1200"/>
              </a:spcAft>
            </a:pPr>
            <a:r>
              <a:rPr sz="2000">
                <a:solidFill>
                  <a:srgbClr val="1F2937"/>
                </a:solidFill>
                <a:latin typeface="Calibri"/>
              </a:rPr>
              <a:t>▸  1532-yilgi «Karolina»da qotillik, zaharlanish, bola tushishi ishlarida vrach ishtiroki zarur deyilgan. Pare asarida jarohat, is gazi, yashin va xulosa namunalari bor.</a:t>
            </a:r>
          </a:p>
          <a:p>
            <a:pPr>
              <a:spcAft>
                <a:spcPts val="1200"/>
              </a:spcAft>
            </a:pPr>
            <a:r>
              <a:rPr sz="2000">
                <a:solidFill>
                  <a:srgbClr val="1F2937"/>
                </a:solidFill>
                <a:latin typeface="Calibri"/>
              </a:rPr>
              <a:t>▸  XVI–XVII asr chegarasida fan alohida soha bo‘la boshladi. Shreer o‘pka sinamasini qo‘lladi, Bon fanni «sud tibbiyoti» deb atashni taklif qildi.</a:t>
            </a:r>
          </a:p>
          <a:p>
            <a:pPr>
              <a:spcAft>
                <a:spcPts val="1200"/>
              </a:spcAft>
            </a:pPr>
            <a:r>
              <a:rPr sz="2000">
                <a:solidFill>
                  <a:srgbClr val="1F2937"/>
                </a:solidFill>
                <a:latin typeface="Calibri"/>
              </a:rPr>
              <a:t>▸  XVIII–XIX asr boshida fan anatomiya, xirurgiya bilan o‘qitilgan. XIX asrda Virxov, Rokitanskiy, Gofman, Bruardel, Orfila kabi olimlar ishlagan.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 9–10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Rossiya va Sharq olimlari hissasi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1716-yilgi Petr I «Harbiy ustav»i zo‘raki o‘lgan barcha murdalarni ekspertizadan o‘tkazishni belgiladi. N.I.Pirogov 11 000 murdani ochgan, o‘q kirish teshigini tasvirlagan.</a:t>
            </a:r>
          </a:p>
          <a:p>
            <a:pPr>
              <a:spcAft>
                <a:spcPts val="1200"/>
              </a:spcAft>
            </a:pPr>
            <a:r>
              <a:rPr sz="2000">
                <a:solidFill>
                  <a:srgbClr val="1F2937"/>
                </a:solidFill>
                <a:latin typeface="Calibri"/>
              </a:rPr>
              <a:t>▸  P.A.Minakov qon yo‘qotishdan o‘lganlarda yurak ichki qavatidagi qon quyilishlarni (Minakov dog‘lari) ta’riflagan. F.Ya.Chistovich 1899-yilda qon oqsiliga reaksiya taklif qilgan.</a:t>
            </a:r>
          </a:p>
          <a:p>
            <a:pPr>
              <a:spcAft>
                <a:spcPts val="1200"/>
              </a:spcAft>
            </a:pPr>
            <a:r>
              <a:rPr sz="2000">
                <a:solidFill>
                  <a:srgbClr val="1F2937"/>
                </a:solidFill>
                <a:latin typeface="Calibri"/>
              </a:rPr>
              <a:t>▸  N.S.Bokarius strangulyatsion egatchaning tiriklik belgisini aniqlash uchun sinama yaratgan. M.I.Rayskiy sovuq harorat ta’siridagi o‘lim bo‘yicha dissertatsiya yoqlagan.</a:t>
            </a:r>
          </a:p>
          <a:p>
            <a:pPr>
              <a:spcAft>
                <a:spcPts val="1200"/>
              </a:spcAft>
            </a:pPr>
            <a:r>
              <a:rPr sz="2000">
                <a:solidFill>
                  <a:srgbClr val="1F2937"/>
                </a:solidFill>
                <a:latin typeface="Calibri"/>
              </a:rPr>
              <a:t>▸  XX asr boshigacha Markaziy Osiyoda sud shariatga asoslangan. Beruniy, Ibn Sino asarlarida sud tibbiyotiga oid ma’lumot bor, lekin davolash maqsadida yozilgan.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Iskandarov A.I., Qo‘ldoshev D.R., Sud tibbiyoti, betlar: 8, 9, 10; G‘iyosov Z.A., Sud tibbiyoti: darslik, betlar: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sud tibbiyoti fanining rivojlanishi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1993-yilda Toshkent vrachlar malakasini oshirish instituti qoshida sud tibbiyoti kursi ochilgan.</a:t>
            </a:r>
          </a:p>
          <a:p>
            <a:pPr>
              <a:spcAft>
                <a:spcPts val="800"/>
              </a:spcAft>
            </a:pPr>
            <a:r>
              <a:rPr sz="1800">
                <a:solidFill>
                  <a:srgbClr val="1F2937"/>
                </a:solidFill>
                <a:latin typeface="Calibri"/>
              </a:rPr>
              <a:t>▸  Hozir oliy tibbiy ta’lim tizimida 9 ta sud tibbiyoti kafedrasi ishlaydi.</a:t>
            </a:r>
          </a:p>
          <a:p>
            <a:pPr>
              <a:spcAft>
                <a:spcPts val="800"/>
              </a:spcAft>
            </a:pPr>
            <a:r>
              <a:rPr sz="1800">
                <a:solidFill>
                  <a:srgbClr val="1F2937"/>
                </a:solidFill>
                <a:latin typeface="Calibri"/>
              </a:rPr>
              <a:t>▸  A.S.Ilin 1922–1928-yillarda kafedrani boshqargan; I.V.Markovin 1930-yilda birinchi bosh sud-tibbiy ekspert bo‘lgan.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Yil</a:t>
                      </a:r>
                    </a:p>
                  </a:txBody>
                  <a:tcPr marL="73152" marR="73152" marT="36576" marB="36576">
                    <a:solidFill>
                      <a:srgbClr val="0B1F3A"/>
                    </a:solidFill>
                  </a:tcPr>
                </a:tc>
                <a:tc>
                  <a:txBody>
                    <a:bodyPr/>
                    <a:lstStyle/>
                    <a:p>
                      <a:r>
                        <a:rPr sz="1800" b="1">
                          <a:solidFill>
                            <a:srgbClr val="FFFFFF"/>
                          </a:solidFill>
                        </a:rPr>
                        <a:t>Joy</a:t>
                      </a:r>
                    </a:p>
                  </a:txBody>
                  <a:tcPr marL="73152" marR="73152" marT="36576" marB="36576">
                    <a:solidFill>
                      <a:srgbClr val="0B1F3A"/>
                    </a:solidFill>
                  </a:tcPr>
                </a:tc>
              </a:tr>
              <a:tr h="614476">
                <a:tc>
                  <a:txBody>
                    <a:bodyPr/>
                    <a:lstStyle/>
                    <a:p>
                      <a:r>
                        <a:rPr sz="1700" b="0">
                          <a:solidFill>
                            <a:srgbClr val="1F2937"/>
                          </a:solidFill>
                        </a:rPr>
                        <a:t>1920</a:t>
                      </a:r>
                    </a:p>
                  </a:txBody>
                  <a:tcPr marL="73152" marR="73152" marT="36576" marB="36576">
                    <a:solidFill>
                      <a:srgbClr val="E8EEF6"/>
                    </a:solidFill>
                  </a:tcPr>
                </a:tc>
                <a:tc>
                  <a:txBody>
                    <a:bodyPr/>
                    <a:lstStyle/>
                    <a:p>
                      <a:r>
                        <a:rPr sz="1700" b="0">
                          <a:solidFill>
                            <a:srgbClr val="1F2937"/>
                          </a:solidFill>
                        </a:rPr>
                        <a:t>Turkiston universiteti tibbiyot fakulteti</a:t>
                      </a:r>
                    </a:p>
                  </a:txBody>
                  <a:tcPr marL="73152" marR="73152" marT="36576" marB="36576">
                    <a:solidFill>
                      <a:srgbClr val="E8EEF6"/>
                    </a:solidFill>
                  </a:tcPr>
                </a:tc>
              </a:tr>
              <a:tr h="614476">
                <a:tc>
                  <a:txBody>
                    <a:bodyPr/>
                    <a:lstStyle/>
                    <a:p>
                      <a:r>
                        <a:rPr sz="1700" b="0">
                          <a:solidFill>
                            <a:srgbClr val="1F2937"/>
                          </a:solidFill>
                        </a:rPr>
                        <a:t>1935</a:t>
                      </a:r>
                    </a:p>
                  </a:txBody>
                  <a:tcPr marL="73152" marR="73152" marT="36576" marB="36576">
                    <a:solidFill>
                      <a:srgbClr val="FFFFFF"/>
                    </a:solidFill>
                  </a:tcPr>
                </a:tc>
                <a:tc>
                  <a:txBody>
                    <a:bodyPr/>
                    <a:lstStyle/>
                    <a:p>
                      <a:r>
                        <a:rPr sz="1700" b="0">
                          <a:solidFill>
                            <a:srgbClr val="1F2937"/>
                          </a:solidFill>
                        </a:rPr>
                        <a:t>Samarqand tibbiyot instituti</a:t>
                      </a:r>
                    </a:p>
                  </a:txBody>
                  <a:tcPr marL="73152" marR="73152" marT="36576" marB="36576">
                    <a:solidFill>
                      <a:srgbClr val="FFFFFF"/>
                    </a:solidFill>
                  </a:tcPr>
                </a:tc>
              </a:tr>
              <a:tr h="614476">
                <a:tc>
                  <a:txBody>
                    <a:bodyPr/>
                    <a:lstStyle/>
                    <a:p>
                      <a:r>
                        <a:rPr sz="1700" b="0">
                          <a:solidFill>
                            <a:srgbClr val="1F2937"/>
                          </a:solidFill>
                        </a:rPr>
                        <a:t>1959</a:t>
                      </a:r>
                    </a:p>
                  </a:txBody>
                  <a:tcPr marL="73152" marR="73152" marT="36576" marB="36576">
                    <a:solidFill>
                      <a:srgbClr val="E8EEF6"/>
                    </a:solidFill>
                  </a:tcPr>
                </a:tc>
                <a:tc>
                  <a:txBody>
                    <a:bodyPr/>
                    <a:lstStyle/>
                    <a:p>
                      <a:r>
                        <a:rPr sz="1700" b="0">
                          <a:solidFill>
                            <a:srgbClr val="1F2937"/>
                          </a:solidFill>
                        </a:rPr>
                        <a:t>Andijon tibbiyot instituti</a:t>
                      </a:r>
                    </a:p>
                  </a:txBody>
                  <a:tcPr marL="73152" marR="73152" marT="36576" marB="36576">
                    <a:solidFill>
                      <a:srgbClr val="E8EEF6"/>
                    </a:solidFill>
                  </a:tcPr>
                </a:tc>
              </a:tr>
              <a:tr h="614476">
                <a:tc>
                  <a:txBody>
                    <a:bodyPr/>
                    <a:lstStyle/>
                    <a:p>
                      <a:r>
                        <a:rPr sz="1700" b="0">
                          <a:solidFill>
                            <a:srgbClr val="1F2937"/>
                          </a:solidFill>
                        </a:rPr>
                        <a:t>1972</a:t>
                      </a:r>
                    </a:p>
                  </a:txBody>
                  <a:tcPr marL="73152" marR="73152" marT="36576" marB="36576">
                    <a:solidFill>
                      <a:srgbClr val="FFFFFF"/>
                    </a:solidFill>
                  </a:tcPr>
                </a:tc>
                <a:tc>
                  <a:txBody>
                    <a:bodyPr/>
                    <a:lstStyle/>
                    <a:p>
                      <a:r>
                        <a:rPr sz="1700" b="0">
                          <a:solidFill>
                            <a:srgbClr val="1F2937"/>
                          </a:solidFill>
                        </a:rPr>
                        <a:t>Toshkent pediatriya tibbiyot instituti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Kafedralar tashkil topishi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 12; Iskandarov A.I., Qo‘ldoshev D.R., Sud tibbiyoti, betlar: 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tarix xronologiyasi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«Si Yuan Lu» asarini qaysi yilda va kim nashr etgan? (Javob: 1247-yil, Sun-si, Xitoy.)</a:t>
            </a:r>
          </a:p>
          <a:p>
            <a:pPr>
              <a:spcAft>
                <a:spcPts val="1200"/>
              </a:spcAft>
            </a:pPr>
            <a:r>
              <a:rPr sz="2200">
                <a:solidFill>
                  <a:srgbClr val="1F2937"/>
                </a:solidFill>
                <a:latin typeface="Calibri"/>
              </a:rPr>
              <a:t>▸  2-savol: «Karolina» qonunlar majmuasi qaysi yilda va kim hukmronligi davrida ishlab chiqilgan? (Javob: 1532-yil, Karl V, Germaniya.)</a:t>
            </a:r>
          </a:p>
          <a:p>
            <a:pPr>
              <a:spcAft>
                <a:spcPts val="1200"/>
              </a:spcAft>
            </a:pPr>
            <a:r>
              <a:rPr sz="2200">
                <a:solidFill>
                  <a:srgbClr val="1F2937"/>
                </a:solidFill>
                <a:latin typeface="Calibri"/>
              </a:rPr>
              <a:t>▸  3-savol: O‘zbekistonda sud tibbiyoti kafedrasi dastlab qayerda va qachon tashkil qilingan? (Javob: 1920-yil, Turkiston universiteti.)</a:t>
            </a:r>
          </a:p>
          <a:p>
            <a:pPr>
              <a:spcAft>
                <a:spcPts val="1200"/>
              </a:spcAft>
            </a:pPr>
            <a:r>
              <a:rPr sz="2200">
                <a:solidFill>
                  <a:srgbClr val="1F2937"/>
                </a:solidFill>
                <a:latin typeface="Calibri"/>
              </a:rPr>
              <a:t>▸  Diqqat: Pare ≠ Pirogov. Pare – XVI asr fransuz xirurgi; Pirogov – rus olimi, murda tekshiruvi atlasi (1846) muallifi.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 11, 10-11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tarix va hozirgi amaliyot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Eramizdan avvalgi 44-yilda Yuliy Sezar o‘ldirilgach, uning murdasini vrach Antistius ko‘zdan kechirgan.</a:t>
            </a:r>
          </a:p>
          <a:p>
            <a:pPr>
              <a:spcAft>
                <a:spcPts val="1200"/>
              </a:spcAft>
            </a:pPr>
            <a:r>
              <a:rPr sz="2200">
                <a:solidFill>
                  <a:srgbClr val="1F2937"/>
                </a:solidFill>
                <a:latin typeface="Calibri"/>
              </a:rPr>
              <a:t>▸  Antistius tanadagi 23 jarohatdan faqat bittasi o‘limga olib kelgan, deb baholagan.</a:t>
            </a:r>
          </a:p>
          <a:p>
            <a:pPr>
              <a:spcAft>
                <a:spcPts val="1200"/>
              </a:spcAft>
            </a:pPr>
            <a:r>
              <a:rPr sz="2200">
                <a:solidFill>
                  <a:srgbClr val="1F2937"/>
                </a:solidFill>
                <a:latin typeface="Calibri"/>
              </a:rPr>
              <a:t>▸  Hozir ham ekspert xulosasi oldindan majburiy kuchga ega emas: u boshqa dalillar qatorida baholanadi, rad etilsa sabab asoslanadi.</a:t>
            </a:r>
          </a:p>
          <a:p>
            <a:pPr>
              <a:spcAft>
                <a:spcPts val="1200"/>
              </a:spcAft>
            </a:pPr>
            <a:r>
              <a:rPr sz="2200">
                <a:solidFill>
                  <a:srgbClr val="1F2937"/>
                </a:solidFill>
                <a:latin typeface="Calibri"/>
              </a:rPr>
              <a:t>▸  Savol: bugun o‘lim sababini aniqlash qaysi hollarda majburiy, va sud ekspert xulosasiga qanday yondashadi?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 22, 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xizmatning 4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Xizmatning shakllanishi va rivojlanishida shartli ravishda 4 ta davr farqlanadi.</a:t>
            </a:r>
          </a:p>
          <a:p>
            <a:pPr>
              <a:spcAft>
                <a:spcPts val="800"/>
              </a:spcAft>
            </a:pPr>
            <a:r>
              <a:rPr sz="1800">
                <a:solidFill>
                  <a:srgbClr val="1F2937"/>
                </a:solidFill>
                <a:latin typeface="Calibri"/>
              </a:rPr>
              <a:t>▸  I davrda sud vrachlari Rossiyaning 1842-yilgi ustaviga amal qilgan; ekspert muassasasi bo‘lmagan.</a:t>
            </a:r>
          </a:p>
          <a:p>
            <a:pPr>
              <a:spcAft>
                <a:spcPts val="800"/>
              </a:spcAft>
            </a:pPr>
            <a:r>
              <a:rPr sz="1800">
                <a:solidFill>
                  <a:srgbClr val="1F2937"/>
                </a:solidFill>
                <a:latin typeface="Calibri"/>
              </a:rPr>
              <a:t>▸  Diqqat: II davrda ekspertizani kafedralar, III davrda byurolar o‘tkazgan — ularni adashtirmang.</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950454"/>
                <a:gridCol w="2045969"/>
                <a:gridCol w="2291551"/>
              </a:tblGrid>
              <a:tr h="614476">
                <a:tc>
                  <a:txBody>
                    <a:bodyPr/>
                    <a:lstStyle/>
                    <a:p>
                      <a:r>
                        <a:rPr sz="1600" b="1">
                          <a:solidFill>
                            <a:srgbClr val="FFFFFF"/>
                          </a:solidFill>
                        </a:rPr>
                        <a:t>Davr</a:t>
                      </a:r>
                    </a:p>
                  </a:txBody>
                  <a:tcPr marL="73152" marR="73152" marT="36576" marB="36576">
                    <a:solidFill>
                      <a:srgbClr val="0B1F3A"/>
                    </a:solidFill>
                  </a:tcPr>
                </a:tc>
                <a:tc>
                  <a:txBody>
                    <a:bodyPr/>
                    <a:lstStyle/>
                    <a:p>
                      <a:r>
                        <a:rPr sz="1600" b="1">
                          <a:solidFill>
                            <a:srgbClr val="FFFFFF"/>
                          </a:solidFill>
                        </a:rPr>
                        <a:t>Muddat</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r>
              <a:tr h="614476">
                <a:tc>
                  <a:txBody>
                    <a:bodyPr/>
                    <a:lstStyle/>
                    <a:p>
                      <a:r>
                        <a:rPr sz="1500" b="0">
                          <a:solidFill>
                            <a:srgbClr val="1F2937"/>
                          </a:solidFill>
                        </a:rPr>
                        <a:t>I davr</a:t>
                      </a:r>
                    </a:p>
                  </a:txBody>
                  <a:tcPr marL="73152" marR="73152" marT="36576" marB="36576">
                    <a:solidFill>
                      <a:srgbClr val="E8EEF6"/>
                    </a:solidFill>
                  </a:tcPr>
                </a:tc>
                <a:tc>
                  <a:txBody>
                    <a:bodyPr/>
                    <a:lstStyle/>
                    <a:p>
                      <a:r>
                        <a:rPr sz="1500" b="0">
                          <a:solidFill>
                            <a:srgbClr val="1F2937"/>
                          </a:solidFill>
                        </a:rPr>
                        <a:t>XX asr 20-yillarigacha</a:t>
                      </a:r>
                    </a:p>
                  </a:txBody>
                  <a:tcPr marL="73152" marR="73152" marT="36576" marB="36576">
                    <a:solidFill>
                      <a:srgbClr val="E8EEF6"/>
                    </a:solidFill>
                  </a:tcPr>
                </a:tc>
                <a:tc>
                  <a:txBody>
                    <a:bodyPr/>
                    <a:lstStyle/>
                    <a:p>
                      <a:r>
                        <a:rPr sz="1500" b="0">
                          <a:solidFill>
                            <a:srgbClr val="1F2937"/>
                          </a:solidFill>
                        </a:rPr>
                        <a:t>Epizodik ekspertizalar, muassasa yo‘q</a:t>
                      </a:r>
                    </a:p>
                  </a:txBody>
                  <a:tcPr marL="73152" marR="73152" marT="36576" marB="36576">
                    <a:solidFill>
                      <a:srgbClr val="E8EEF6"/>
                    </a:solidFill>
                  </a:tcPr>
                </a:tc>
              </a:tr>
              <a:tr h="614476">
                <a:tc>
                  <a:txBody>
                    <a:bodyPr/>
                    <a:lstStyle/>
                    <a:p>
                      <a:r>
                        <a:rPr sz="1500" b="0">
                          <a:solidFill>
                            <a:srgbClr val="1F2937"/>
                          </a:solidFill>
                        </a:rPr>
                        <a:t>II davr</a:t>
                      </a:r>
                    </a:p>
                  </a:txBody>
                  <a:tcPr marL="73152" marR="73152" marT="36576" marB="36576">
                    <a:solidFill>
                      <a:srgbClr val="FFFFFF"/>
                    </a:solidFill>
                  </a:tcPr>
                </a:tc>
                <a:tc>
                  <a:txBody>
                    <a:bodyPr/>
                    <a:lstStyle/>
                    <a:p>
                      <a:r>
                        <a:rPr sz="1500" b="0">
                          <a:solidFill>
                            <a:srgbClr val="1F2937"/>
                          </a:solidFill>
                        </a:rPr>
                        <a:t>XX asr 50-yillarigacha</a:t>
                      </a:r>
                    </a:p>
                  </a:txBody>
                  <a:tcPr marL="73152" marR="73152" marT="36576" marB="36576">
                    <a:solidFill>
                      <a:srgbClr val="FFFFFF"/>
                    </a:solidFill>
                  </a:tcPr>
                </a:tc>
                <a:tc>
                  <a:txBody>
                    <a:bodyPr/>
                    <a:lstStyle/>
                    <a:p>
                      <a:r>
                        <a:rPr sz="1500" b="0">
                          <a:solidFill>
                            <a:srgbClr val="1F2937"/>
                          </a:solidFill>
                        </a:rPr>
                        <a:t>Kafedralar bazasida; 1945: kabinet</a:t>
                      </a:r>
                    </a:p>
                  </a:txBody>
                  <a:tcPr marL="73152" marR="73152" marT="36576" marB="36576">
                    <a:solidFill>
                      <a:srgbClr val="FFFFFF"/>
                    </a:solidFill>
                  </a:tcPr>
                </a:tc>
              </a:tr>
              <a:tr h="614476">
                <a:tc>
                  <a:txBody>
                    <a:bodyPr/>
                    <a:lstStyle/>
                    <a:p>
                      <a:r>
                        <a:rPr sz="1500" b="0">
                          <a:solidFill>
                            <a:srgbClr val="1F2937"/>
                          </a:solidFill>
                        </a:rPr>
                        <a:t>III davr</a:t>
                      </a:r>
                    </a:p>
                  </a:txBody>
                  <a:tcPr marL="73152" marR="73152" marT="36576" marB="36576">
                    <a:solidFill>
                      <a:srgbClr val="E8EEF6"/>
                    </a:solidFill>
                  </a:tcPr>
                </a:tc>
                <a:tc>
                  <a:txBody>
                    <a:bodyPr/>
                    <a:lstStyle/>
                    <a:p>
                      <a:r>
                        <a:rPr sz="1500" b="0">
                          <a:solidFill>
                            <a:srgbClr val="1F2937"/>
                          </a:solidFill>
                        </a:rPr>
                        <a:t>1950–1991</a:t>
                      </a:r>
                    </a:p>
                  </a:txBody>
                  <a:tcPr marL="73152" marR="73152" marT="36576" marB="36576">
                    <a:solidFill>
                      <a:srgbClr val="E8EEF6"/>
                    </a:solidFill>
                  </a:tcPr>
                </a:tc>
                <a:tc>
                  <a:txBody>
                    <a:bodyPr/>
                    <a:lstStyle/>
                    <a:p>
                      <a:r>
                        <a:rPr sz="1500" b="0">
                          <a:solidFill>
                            <a:srgbClr val="1F2937"/>
                          </a:solidFill>
                        </a:rPr>
                        <a:t>Bosh byuro, hududiy byurolar</a:t>
                      </a:r>
                    </a:p>
                  </a:txBody>
                  <a:tcPr marL="73152" marR="73152" marT="36576" marB="36576">
                    <a:solidFill>
                      <a:srgbClr val="E8EEF6"/>
                    </a:solidFill>
                  </a:tcPr>
                </a:tc>
              </a:tr>
              <a:tr h="614476">
                <a:tc>
                  <a:txBody>
                    <a:bodyPr/>
                    <a:lstStyle/>
                    <a:p>
                      <a:r>
                        <a:rPr sz="1500" b="0">
                          <a:solidFill>
                            <a:srgbClr val="1F2937"/>
                          </a:solidFill>
                        </a:rPr>
                        <a:t>IV davr</a:t>
                      </a:r>
                    </a:p>
                  </a:txBody>
                  <a:tcPr marL="73152" marR="73152" marT="36576" marB="36576">
                    <a:solidFill>
                      <a:srgbClr val="FFFFFF"/>
                    </a:solidFill>
                  </a:tcPr>
                </a:tc>
                <a:tc>
                  <a:txBody>
                    <a:bodyPr/>
                    <a:lstStyle/>
                    <a:p>
                      <a:r>
                        <a:rPr sz="1500" b="0">
                          <a:solidFill>
                            <a:srgbClr val="1F2937"/>
                          </a:solidFill>
                        </a:rPr>
                        <a:t>1991 dan hozirgacha</a:t>
                      </a:r>
                    </a:p>
                  </a:txBody>
                  <a:tcPr marL="73152" marR="73152" marT="36576" marB="36576">
                    <a:solidFill>
                      <a:srgbClr val="FFFFFF"/>
                    </a:solidFill>
                  </a:tcPr>
                </a:tc>
                <a:tc>
                  <a:txBody>
                    <a:bodyPr/>
                    <a:lstStyle/>
                    <a:p>
                      <a:r>
                        <a:rPr sz="1500" b="0">
                          <a:solidFill>
                            <a:srgbClr val="1F2937"/>
                          </a:solidFill>
                        </a:rPr>
                        <a:t>Mustaqil davlat xizmati tizimi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4 davr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 12-13, 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Mustaqillik davridagi islohotlar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Mustaqillik yillarida demokratik davlat va huquqiy jamiyat shakllanishi xizmat oldiga yangi vazifalar qo‘ydi.</a:t>
            </a:r>
          </a:p>
          <a:p>
            <a:pPr>
              <a:spcAft>
                <a:spcPts val="1200"/>
              </a:spcAft>
            </a:pPr>
            <a:r>
              <a:rPr sz="2200">
                <a:solidFill>
                  <a:srgbClr val="1F2937"/>
                </a:solidFill>
                <a:latin typeface="Calibri"/>
              </a:rPr>
              <a:t>▸  Huquqni muhofaza etuvchi idoralarning ekspertizaga ehtiyojini to‘la, sifatli va o‘z vaqtida qondirish masalasi dolzarb bo‘ldi.</a:t>
            </a:r>
          </a:p>
          <a:p>
            <a:pPr>
              <a:spcAft>
                <a:spcPts val="1200"/>
              </a:spcAft>
            </a:pPr>
            <a:r>
              <a:rPr sz="2200">
                <a:solidFill>
                  <a:srgbClr val="1F2937"/>
                </a:solidFill>
                <a:latin typeface="Calibri"/>
              </a:rPr>
              <a:t>▸  Qonunlar, yo‘riqnoma, qoidalar va tekshiruv standartlari ishlab chiqildi; ilk bor «Sud ekspertizasi to‘g‘risida» Qonun qabul qilindi.</a:t>
            </a:r>
          </a:p>
          <a:p>
            <a:pPr>
              <a:spcAft>
                <a:spcPts val="1200"/>
              </a:spcAft>
            </a:pPr>
            <a:r>
              <a:rPr sz="2200">
                <a:solidFill>
                  <a:srgbClr val="1F2937"/>
                </a:solidFill>
                <a:latin typeface="Calibri"/>
              </a:rPr>
              <a:t>▸  Muassasalar tarkibi takomillashtirildi, yangi tuzilmalar ochildi; kadrlar tayyorlash, malaka oshirish va attestatsiya tizimi yaratildi.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13-14, 14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ekspertiza xizmatining asosiy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Asosiy vazifa — jinoyat va fuqarolik ishlarini surishtirish, tergov va sudda vujudga keladigan tibbiy-biologik masalalarni hal etish, ya’ni ekspertizalar o‘tkazish.</a:t>
            </a:r>
          </a:p>
          <a:p>
            <a:pPr>
              <a:spcAft>
                <a:spcPts val="1200"/>
              </a:spcAft>
            </a:pPr>
            <a:r>
              <a:rPr sz="2200">
                <a:solidFill>
                  <a:srgbClr val="1F2937"/>
                </a:solidFill>
                <a:latin typeface="Calibri"/>
              </a:rPr>
              <a:t>▸  Xizmat sog‘liqni saqlash tizimining ixtisoslashtirilgan tarmog‘i bo‘lib, faoliyati boshqa sohalardan o‘ziga xos xususiyatlari bilan ajraladi.</a:t>
            </a:r>
          </a:p>
          <a:p>
            <a:pPr>
              <a:spcAft>
                <a:spcPts val="1200"/>
              </a:spcAft>
            </a:pPr>
            <a:r>
              <a:rPr sz="2200">
                <a:solidFill>
                  <a:srgbClr val="1F2937"/>
                </a:solidFill>
                <a:latin typeface="Calibri"/>
              </a:rPr>
              <a:t>▸  Ekspertiza materiallari bo‘yicha aholiga ko‘rsatilayotgan tibbiy yordam sifatini yaxshilashga qaratilgan chora-tadbirlar ham o‘tkazilishi lozim.</a:t>
            </a:r>
          </a:p>
          <a:p>
            <a:pPr>
              <a:spcAft>
                <a:spcPts val="1200"/>
              </a:spcAft>
            </a:pPr>
            <a:r>
              <a:rPr sz="2200">
                <a:solidFill>
                  <a:srgbClr val="1F2937"/>
                </a:solidFill>
                <a:latin typeface="Calibri"/>
              </a:rPr>
              <a:t>▸  Travmatizm turlari, zaharlanish, to‘satdan o‘lim va boshqa baxtsiz hodisalarning oldini olishga qaratilgan chora-tadbirlar ham o‘tkaziladi.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xizmatning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bola to‘satdan vafot etdi, klinik va patologoanatomik tashxis bir-biriga mos kelmadi.</a:t>
            </a:r>
          </a:p>
          <a:p>
            <a:pPr>
              <a:spcAft>
                <a:spcPts val="1200"/>
              </a:spcAft>
            </a:pPr>
            <a:r>
              <a:rPr sz="2200">
                <a:solidFill>
                  <a:srgbClr val="1F2937"/>
                </a:solidFill>
                <a:latin typeface="Calibri"/>
              </a:rPr>
              <a:t>▸  Sog‘liqni saqlash vazirligi buyrug‘iga ko‘ra, ekspertiza xodimlari bunday holatni kliniko-anatomik konferensiyada doimiy muhokama qiladi.</a:t>
            </a:r>
          </a:p>
          <a:p>
            <a:pPr>
              <a:spcAft>
                <a:spcPts val="1200"/>
              </a:spcAft>
            </a:pPr>
            <a:r>
              <a:rPr sz="2200">
                <a:solidFill>
                  <a:srgbClr val="1F2937"/>
                </a:solidFill>
                <a:latin typeface="Calibri"/>
              </a:rPr>
              <a:t>▸  Tashxislar mos kelmasa yoki tibbiy yordamda kamchilik bo‘lsa, davolash muassasasi rahbari o‘z vaqtida xabardor qilinadi.</a:t>
            </a:r>
          </a:p>
          <a:p>
            <a:pPr>
              <a:spcAft>
                <a:spcPts val="1200"/>
              </a:spcAft>
            </a:pPr>
            <a:r>
              <a:rPr sz="2200">
                <a:solidFill>
                  <a:srgbClr val="1F2937"/>
                </a:solidFill>
                <a:latin typeface="Calibri"/>
              </a:rPr>
              <a:t>▸  Savol: ekspertning vazifasi faqat o‘lim sababini aniqlashmi? To‘satdan o‘limning oldini olish bo‘yicha qanday tavsiyalar ishlab chiqiladi?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Iskandarov A.I., Qo‘ldoshev D.R., Sud tibbiyoti, betlar: 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Protsessual asoslar: huquqiy atamalar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Huquq — davlat kafolatlagan, hamma uchun majburiy, ijtimoiy munosabatlarni tartibga soluvchi qoidalar tizimi. Qonun keng ma’noda — umummajburiy me’yoriy hujjatlar.</a:t>
            </a:r>
          </a:p>
          <a:p>
            <a:pPr>
              <a:spcAft>
                <a:spcPts val="1200"/>
              </a:spcAft>
            </a:pPr>
            <a:r>
              <a:rPr sz="2200">
                <a:solidFill>
                  <a:srgbClr val="1F2937"/>
                </a:solidFill>
                <a:latin typeface="Calibri"/>
              </a:rPr>
              <a:t>▸  Kodeks — muayyan sohadagi huquqiy me’yorlarning tizimlashtirilgan to‘plami, ya’ni shu soha qonunlarining majmuasi.</a:t>
            </a:r>
          </a:p>
          <a:p>
            <a:pPr>
              <a:spcAft>
                <a:spcPts val="1200"/>
              </a:spcAft>
            </a:pPr>
            <a:r>
              <a:rPr sz="2200">
                <a:solidFill>
                  <a:srgbClr val="1F2937"/>
                </a:solidFill>
                <a:latin typeface="Calibri"/>
              </a:rPr>
              <a:t>▸  Jinoyat kodeksi jinoyat va jazoni belgilaydi. Jinoyat-protsessual kodeksi tergov va sudda ko‘rish tartibini belgilaydi; ekspertiza ko‘pincha shu jarayonda tayinlanadi.</a:t>
            </a:r>
          </a:p>
          <a:p>
            <a:pPr>
              <a:spcAft>
                <a:spcPts val="1200"/>
              </a:spcAft>
            </a:pPr>
            <a:r>
              <a:rPr sz="2200">
                <a:solidFill>
                  <a:srgbClr val="1F2937"/>
                </a:solidFill>
                <a:latin typeface="Calibri"/>
              </a:rPr>
              <a:t>▸  Ekspertiza surishtiruv yoki tergov idorasining qarori yoki sud ajrimi asosida o‘tkaziladi. Diqqat: qaror — tergovda, ajrim — sudda.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Majburiy ekspertiza holatlari (JPK 173-modda)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JPK 173-moddasi ekspertiza tayinlash va o‘tkazish shart bo‘lgan holatlarni sanab beradi.</a:t>
            </a:r>
          </a:p>
          <a:p>
            <a:pPr>
              <a:spcAft>
                <a:spcPts val="800"/>
              </a:spcAft>
            </a:pPr>
            <a:r>
              <a:rPr sz="1800">
                <a:solidFill>
                  <a:srgbClr val="1F2937"/>
                </a:solidFill>
                <a:latin typeface="Calibri"/>
              </a:rPr>
              <a:t>▸  Tanosil va boshqa yuqumli kasallikka chalinganlarni davolash zarurati va imkoniyati ham aniqlanadi.</a:t>
            </a:r>
          </a:p>
          <a:p>
            <a:pPr>
              <a:spcAft>
                <a:spcPts val="800"/>
              </a:spcAft>
            </a:pPr>
            <a:r>
              <a:rPr sz="1800">
                <a:solidFill>
                  <a:srgbClr val="1F2937"/>
                </a:solidFill>
                <a:latin typeface="Calibri"/>
              </a:rPr>
              <a:t>▸  Diqqat: ro‘yxat yopiq emas — maxsus bilim kerak bo‘lgan boshqa holatlarda ham ekspertiza tayinlanadi.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Holat</a:t>
                      </a:r>
                    </a:p>
                  </a:txBody>
                  <a:tcPr marL="73152" marR="73152" marT="36576" marB="36576">
                    <a:solidFill>
                      <a:srgbClr val="0B1F3A"/>
                    </a:solidFill>
                  </a:tcPr>
                </a:tc>
                <a:tc>
                  <a:txBody>
                    <a:bodyPr/>
                    <a:lstStyle/>
                    <a:p>
                      <a:r>
                        <a:rPr sz="1800" b="1">
                          <a:solidFill>
                            <a:srgbClr val="FFFFFF"/>
                          </a:solidFill>
                        </a:rPr>
                        <a:t>Nima aniqlanadi</a:t>
                      </a:r>
                    </a:p>
                  </a:txBody>
                  <a:tcPr marL="73152" marR="73152" marT="36576" marB="36576">
                    <a:solidFill>
                      <a:srgbClr val="0B1F3A"/>
                    </a:solidFill>
                  </a:tcPr>
                </a:tc>
              </a:tr>
              <a:tr h="614476">
                <a:tc>
                  <a:txBody>
                    <a:bodyPr/>
                    <a:lstStyle/>
                    <a:p>
                      <a:r>
                        <a:rPr sz="1700" b="0">
                          <a:solidFill>
                            <a:srgbClr val="1F2937"/>
                          </a:solidFill>
                        </a:rPr>
                        <a:t>O‘lim va jarohat</a:t>
                      </a:r>
                    </a:p>
                  </a:txBody>
                  <a:tcPr marL="73152" marR="73152" marT="36576" marB="36576">
                    <a:solidFill>
                      <a:srgbClr val="E8EEF6"/>
                    </a:solidFill>
                  </a:tcPr>
                </a:tc>
                <a:tc>
                  <a:txBody>
                    <a:bodyPr/>
                    <a:lstStyle/>
                    <a:p>
                      <a:r>
                        <a:rPr sz="1700" b="0">
                          <a:solidFill>
                            <a:srgbClr val="1F2937"/>
                          </a:solidFill>
                        </a:rPr>
                        <a:t>O‘lim sababi; jarohat xususiyati, og‘irligi</a:t>
                      </a:r>
                    </a:p>
                  </a:txBody>
                  <a:tcPr marL="73152" marR="73152" marT="36576" marB="36576">
                    <a:solidFill>
                      <a:srgbClr val="E8EEF6"/>
                    </a:solidFill>
                  </a:tcPr>
                </a:tc>
              </a:tr>
              <a:tr h="614476">
                <a:tc>
                  <a:txBody>
                    <a:bodyPr/>
                    <a:lstStyle/>
                    <a:p>
                      <a:r>
                        <a:rPr sz="1700" b="0">
                          <a:solidFill>
                            <a:srgbClr val="1F2937"/>
                          </a:solidFill>
                        </a:rPr>
                        <a:t>Jinsiy holat</a:t>
                      </a:r>
                    </a:p>
                  </a:txBody>
                  <a:tcPr marL="73152" marR="73152" marT="36576" marB="36576">
                    <a:solidFill>
                      <a:srgbClr val="FFFFFF"/>
                    </a:solidFill>
                  </a:tcPr>
                </a:tc>
                <a:tc>
                  <a:txBody>
                    <a:bodyPr/>
                    <a:lstStyle/>
                    <a:p>
                      <a:r>
                        <a:rPr sz="1700" b="0">
                          <a:solidFill>
                            <a:srgbClr val="1F2937"/>
                          </a:solidFill>
                        </a:rPr>
                        <a:t>Jinsiy aloqa, homiladorlik, abort belgilari</a:t>
                      </a:r>
                    </a:p>
                  </a:txBody>
                  <a:tcPr marL="73152" marR="73152" marT="36576" marB="36576">
                    <a:solidFill>
                      <a:srgbClr val="FFFFFF"/>
                    </a:solidFill>
                  </a:tcPr>
                </a:tc>
              </a:tr>
              <a:tr h="614476">
                <a:tc>
                  <a:txBody>
                    <a:bodyPr/>
                    <a:lstStyle/>
                    <a:p>
                      <a:r>
                        <a:rPr sz="1700" b="0">
                          <a:solidFill>
                            <a:srgbClr val="1F2937"/>
                          </a:solidFill>
                        </a:rPr>
                        <a:t>Yosh</a:t>
                      </a:r>
                    </a:p>
                  </a:txBody>
                  <a:tcPr marL="73152" marR="73152" marT="36576" marB="36576">
                    <a:solidFill>
                      <a:srgbClr val="E8EEF6"/>
                    </a:solidFill>
                  </a:tcPr>
                </a:tc>
                <a:tc>
                  <a:txBody>
                    <a:bodyPr/>
                    <a:lstStyle/>
                    <a:p>
                      <a:r>
                        <a:rPr sz="1700" b="0">
                          <a:solidFill>
                            <a:srgbClr val="1F2937"/>
                          </a:solidFill>
                        </a:rPr>
                        <a:t>Hujjat yo‘q yoki shubhali bo‘lsa</a:t>
                      </a:r>
                    </a:p>
                  </a:txBody>
                  <a:tcPr marL="73152" marR="73152" marT="36576" marB="36576">
                    <a:solidFill>
                      <a:srgbClr val="E8EEF6"/>
                    </a:solidFill>
                  </a:tcPr>
                </a:tc>
              </a:tr>
              <a:tr h="614476">
                <a:tc>
                  <a:txBody>
                    <a:bodyPr/>
                    <a:lstStyle/>
                    <a:p>
                      <a:r>
                        <a:rPr sz="1700" b="0">
                          <a:solidFill>
                            <a:srgbClr val="1F2937"/>
                          </a:solidFill>
                        </a:rPr>
                        <a:t>Jismoniy ahvol</a:t>
                      </a:r>
                    </a:p>
                  </a:txBody>
                  <a:tcPr marL="73152" marR="73152" marT="36576" marB="36576">
                    <a:solidFill>
                      <a:srgbClr val="FFFFFF"/>
                    </a:solidFill>
                  </a:tcPr>
                </a:tc>
                <a:tc>
                  <a:txBody>
                    <a:bodyPr/>
                    <a:lstStyle/>
                    <a:p>
                      <a:r>
                        <a:rPr sz="1700" b="0">
                          <a:solidFill>
                            <a:srgbClr val="1F2937"/>
                          </a:solidFill>
                        </a:rPr>
                        <a:t>Gumon qilinuvchi, jabrlanuvchi, guvoh holati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JPK 173-modda: majburiy holatlar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 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o‘tkazish joyi va sud jarayoni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Joyiga qarab ekspertiza byuroda yoki byurodan tashqarida o‘tkaziladi. Byuroda shart-sharoitni muassasa rahbari, tashqarida ekspertiza tayinlagan shaxs ta’minlaydi.</a:t>
            </a:r>
          </a:p>
          <a:p>
            <a:pPr>
              <a:spcAft>
                <a:spcPts val="1200"/>
              </a:spcAft>
            </a:pPr>
            <a:r>
              <a:rPr sz="2000">
                <a:solidFill>
                  <a:srgbClr val="1F2937"/>
                </a:solidFill>
                <a:latin typeface="Calibri"/>
              </a:rPr>
              <a:t>▸  Aralash variantda tekshiruvning bir qismi byuroda, bir qismi tashqarida bo‘ladi. Eksgumatsiyada jasad qabristonda ochiladi, materiallar byuro laboratoriyasida tekshiriladi.</a:t>
            </a:r>
          </a:p>
          <a:p>
            <a:pPr>
              <a:spcAft>
                <a:spcPts val="1200"/>
              </a:spcAft>
            </a:pPr>
            <a:r>
              <a:rPr sz="2000">
                <a:solidFill>
                  <a:srgbClr val="1F2937"/>
                </a:solidFill>
                <a:latin typeface="Calibri"/>
              </a:rPr>
              <a:t>▸  Sud majlisida ekspertizani dastlabki tergovda xulosa bergan yoki sud tayinlagan ekspertlar bajaradi. Sud ajrim chiqarib, uni majlisda o‘qib eshittiradi.</a:t>
            </a:r>
          </a:p>
          <a:p>
            <a:pPr>
              <a:spcAft>
                <a:spcPts val="1200"/>
              </a:spcAft>
            </a:pPr>
            <a:r>
              <a:rPr sz="2000">
                <a:solidFill>
                  <a:srgbClr val="1F2937"/>
                </a:solidFill>
                <a:latin typeface="Calibri"/>
              </a:rPr>
              <a:t>▸  Sud tergovida (dastlabki tergovdan farqli) ekspert majlisda to‘liq qatnashadi, savollar beradi, xulosasini o‘qib eshittiradi va keyin so‘roq qilinishi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 15–16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Tur tayinlash sababiga qarab tanlanadi: birlamchi, qo‘shimcha, qayta, komission, kompleks.</a:t>
            </a:r>
          </a:p>
          <a:p>
            <a:pPr>
              <a:spcAft>
                <a:spcPts val="800"/>
              </a:spcAft>
            </a:pPr>
            <a:r>
              <a:rPr sz="1800">
                <a:solidFill>
                  <a:srgbClr val="1F2937"/>
                </a:solidFill>
                <a:latin typeface="Calibri"/>
              </a:rPr>
              <a:t>▸  Kompleks ekspertizada tibbiyotdan tashqari fan ham kerak, masalan yo‘l-transport hodisasida avtotexnik ekspertiza.</a:t>
            </a:r>
          </a:p>
          <a:p>
            <a:pPr>
              <a:spcAft>
                <a:spcPts val="800"/>
              </a:spcAft>
            </a:pPr>
            <a:r>
              <a:rPr sz="1800">
                <a:solidFill>
                  <a:srgbClr val="1F2937"/>
                </a:solidFill>
                <a:latin typeface="Calibri"/>
              </a:rPr>
              <a:t>▸  Komissiyada ekspertlar kelishsa, birgalikdagi xulosa; kelishmasa, alohida xulosa beriladi.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400300"/>
                <a:gridCol w="2007507"/>
                <a:gridCol w="880167"/>
              </a:tblGrid>
              <a:tr h="614476">
                <a:tc>
                  <a:txBody>
                    <a:bodyPr/>
                    <a:lstStyle/>
                    <a:p>
                      <a:r>
                        <a:rPr sz="1600" b="1">
                          <a:solidFill>
                            <a:srgbClr val="FFFFFF"/>
                          </a:solidFill>
                        </a:rPr>
                        <a:t>Turi</a:t>
                      </a:r>
                    </a:p>
                  </a:txBody>
                  <a:tcPr marL="73152" marR="73152" marT="36576" marB="36576">
                    <a:solidFill>
                      <a:srgbClr val="0B1F3A"/>
                    </a:solidFill>
                  </a:tcPr>
                </a:tc>
                <a:tc>
                  <a:txBody>
                    <a:bodyPr/>
                    <a:lstStyle/>
                    <a:p>
                      <a:r>
                        <a:rPr sz="1600" b="1">
                          <a:solidFill>
                            <a:srgbClr val="FFFFFF"/>
                          </a:solidFill>
                        </a:rPr>
                        <a:t>Qachon tayinlanadi</a:t>
                      </a:r>
                    </a:p>
                  </a:txBody>
                  <a:tcPr marL="73152" marR="73152" marT="36576" marB="36576">
                    <a:solidFill>
                      <a:srgbClr val="0B1F3A"/>
                    </a:solidFill>
                  </a:tcPr>
                </a:tc>
                <a:tc>
                  <a:txBody>
                    <a:bodyPr/>
                    <a:lstStyle/>
                    <a:p>
                      <a:r>
                        <a:rPr sz="1600" b="1">
                          <a:solidFill>
                            <a:srgbClr val="FFFFFF"/>
                          </a:solidFill>
                        </a:rPr>
                        <a:t>Kim o‘tkazadi</a:t>
                      </a:r>
                    </a:p>
                  </a:txBody>
                  <a:tcPr marL="73152" marR="73152" marT="36576" marB="36576">
                    <a:solidFill>
                      <a:srgbClr val="0B1F3A"/>
                    </a:solidFill>
                  </a:tcPr>
                </a:tc>
              </a:tr>
              <a:tr h="614476">
                <a:tc>
                  <a:txBody>
                    <a:bodyPr/>
                    <a:lstStyle/>
                    <a:p>
                      <a:r>
                        <a:rPr sz="1500" b="0">
                          <a:solidFill>
                            <a:srgbClr val="1F2937"/>
                          </a:solidFill>
                        </a:rPr>
                        <a:t>Birlamchi</a:t>
                      </a:r>
                    </a:p>
                  </a:txBody>
                  <a:tcPr marL="73152" marR="73152" marT="36576" marB="36576">
                    <a:solidFill>
                      <a:srgbClr val="E8EEF6"/>
                    </a:solidFill>
                  </a:tcPr>
                </a:tc>
                <a:tc>
                  <a:txBody>
                    <a:bodyPr/>
                    <a:lstStyle/>
                    <a:p>
                      <a:r>
                        <a:rPr sz="1500" b="0">
                          <a:solidFill>
                            <a:srgbClr val="1F2937"/>
                          </a:solidFill>
                        </a:rPr>
                        <a:t>Ob’ekt birinchi marta tekshiriladi</a:t>
                      </a:r>
                    </a:p>
                  </a:txBody>
                  <a:tcPr marL="73152" marR="73152" marT="36576" marB="36576">
                    <a:solidFill>
                      <a:srgbClr val="E8EEF6"/>
                    </a:solidFill>
                  </a:tcPr>
                </a:tc>
                <a:tc>
                  <a:txBody>
                    <a:bodyPr/>
                    <a:lstStyle/>
                    <a:p>
                      <a:r>
                        <a:rPr sz="1500" b="0">
                          <a:solidFill>
                            <a:srgbClr val="1F2937"/>
                          </a:solidFill>
                        </a:rPr>
                        <a:t>Odatda bir ekspert</a:t>
                      </a:r>
                    </a:p>
                  </a:txBody>
                  <a:tcPr marL="73152" marR="73152" marT="36576" marB="36576">
                    <a:solidFill>
                      <a:srgbClr val="E8EEF6"/>
                    </a:solidFill>
                  </a:tcPr>
                </a:tc>
              </a:tr>
              <a:tr h="614476">
                <a:tc>
                  <a:txBody>
                    <a:bodyPr/>
                    <a:lstStyle/>
                    <a:p>
                      <a:r>
                        <a:rPr sz="1500" b="0">
                          <a:solidFill>
                            <a:srgbClr val="1F2937"/>
                          </a:solidFill>
                        </a:rPr>
                        <a:t>Qo‘shimcha</a:t>
                      </a:r>
                    </a:p>
                  </a:txBody>
                  <a:tcPr marL="73152" marR="73152" marT="36576" marB="36576">
                    <a:solidFill>
                      <a:srgbClr val="FFFFFF"/>
                    </a:solidFill>
                  </a:tcPr>
                </a:tc>
                <a:tc>
                  <a:txBody>
                    <a:bodyPr/>
                    <a:lstStyle/>
                    <a:p>
                      <a:r>
                        <a:rPr sz="1500" b="0">
                          <a:solidFill>
                            <a:srgbClr val="1F2937"/>
                          </a:solidFill>
                        </a:rPr>
                        <a:t>Oldingi xulosada kamchilik, bo‘shliq bor</a:t>
                      </a:r>
                    </a:p>
                  </a:txBody>
                  <a:tcPr marL="73152" marR="73152" marT="36576" marB="36576">
                    <a:solidFill>
                      <a:srgbClr val="FFFFFF"/>
                    </a:solidFill>
                  </a:tcPr>
                </a:tc>
                <a:tc>
                  <a:txBody>
                    <a:bodyPr/>
                    <a:lstStyle/>
                    <a:p>
                      <a:r>
                        <a:rPr sz="1500" b="0">
                          <a:solidFill>
                            <a:srgbClr val="1F2937"/>
                          </a:solidFill>
                        </a:rPr>
                        <a:t>Odatda avvalgi ekspert</a:t>
                      </a:r>
                    </a:p>
                  </a:txBody>
                  <a:tcPr marL="73152" marR="73152" marT="36576" marB="36576">
                    <a:solidFill>
                      <a:srgbClr val="FFFFFF"/>
                    </a:solidFill>
                  </a:tcPr>
                </a:tc>
              </a:tr>
              <a:tr h="614476">
                <a:tc>
                  <a:txBody>
                    <a:bodyPr/>
                    <a:lstStyle/>
                    <a:p>
                      <a:r>
                        <a:rPr sz="1500" b="0">
                          <a:solidFill>
                            <a:srgbClr val="1F2937"/>
                          </a:solidFill>
                        </a:rPr>
                        <a:t>Qayta</a:t>
                      </a:r>
                    </a:p>
                  </a:txBody>
                  <a:tcPr marL="73152" marR="73152" marT="36576" marB="36576">
                    <a:solidFill>
                      <a:srgbClr val="E8EEF6"/>
                    </a:solidFill>
                  </a:tcPr>
                </a:tc>
                <a:tc>
                  <a:txBody>
                    <a:bodyPr/>
                    <a:lstStyle/>
                    <a:p>
                      <a:r>
                        <a:rPr sz="1500" b="0">
                          <a:solidFill>
                            <a:srgbClr val="1F2937"/>
                          </a:solidFill>
                        </a:rPr>
                        <a:t>Xulosa asossiz yoki shubhali</a:t>
                      </a:r>
                    </a:p>
                  </a:txBody>
                  <a:tcPr marL="73152" marR="73152" marT="36576" marB="36576">
                    <a:solidFill>
                      <a:srgbClr val="E8EEF6"/>
                    </a:solidFill>
                  </a:tcPr>
                </a:tc>
                <a:tc>
                  <a:txBody>
                    <a:bodyPr/>
                    <a:lstStyle/>
                    <a:p>
                      <a:r>
                        <a:rPr sz="1500" b="0">
                          <a:solidFill>
                            <a:srgbClr val="1F2937"/>
                          </a:solidFill>
                        </a:rPr>
                        <a:t>Odatda 2 va undan ortiq ekspert</a:t>
                      </a:r>
                    </a:p>
                  </a:txBody>
                  <a:tcPr marL="73152" marR="73152" marT="36576" marB="36576">
                    <a:solidFill>
                      <a:srgbClr val="E8EEF6"/>
                    </a:solidFill>
                  </a:tcPr>
                </a:tc>
              </a:tr>
              <a:tr h="614476">
                <a:tc>
                  <a:txBody>
                    <a:bodyPr/>
                    <a:lstStyle/>
                    <a:p>
                      <a:r>
                        <a:rPr sz="1500" b="0">
                          <a:solidFill>
                            <a:srgbClr val="1F2937"/>
                          </a:solidFill>
                        </a:rPr>
                        <a:t>Komission/kompleks</a:t>
                      </a:r>
                    </a:p>
                  </a:txBody>
                  <a:tcPr marL="73152" marR="73152" marT="36576" marB="36576">
                    <a:solidFill>
                      <a:srgbClr val="FFFFFF"/>
                    </a:solidFill>
                  </a:tcPr>
                </a:tc>
                <a:tc>
                  <a:txBody>
                    <a:bodyPr/>
                    <a:lstStyle/>
                    <a:p>
                      <a:r>
                        <a:rPr sz="1500" b="0">
                          <a:solidFill>
                            <a:srgbClr val="1F2937"/>
                          </a:solidFill>
                        </a:rPr>
                        <a:t>Kasb huquqbuzarligi, yosh, murakkab holat</a:t>
                      </a:r>
                    </a:p>
                  </a:txBody>
                  <a:tcPr marL="73152" marR="73152" marT="36576" marB="36576">
                    <a:solidFill>
                      <a:srgbClr val="FFFFFF"/>
                    </a:solidFill>
                  </a:tcPr>
                </a:tc>
                <a:tc>
                  <a:txBody>
                    <a:bodyPr/>
                    <a:lstStyle/>
                    <a:p>
                      <a:r>
                        <a:rPr sz="1500" b="0">
                          <a:solidFill>
                            <a:srgbClr val="1F2937"/>
                          </a:solidFill>
                        </a:rPr>
                        <a:t>Komissiya; kompleksda turli fan ekspertlari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Qayta ekspertiza va komission ekspertiza qoidalari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Qayta ekspertiza xulosa asoslantirilmagan yoki shubhali bo‘lsa, dalillar ishonchsiz topilsa yoki protsessual qoidalar jiddiy buzilsa tayinlanadi.</a:t>
            </a:r>
          </a:p>
          <a:p>
            <a:pPr>
              <a:spcAft>
                <a:spcPts val="1200"/>
              </a:spcAft>
            </a:pPr>
            <a:r>
              <a:rPr sz="2200">
                <a:solidFill>
                  <a:srgbClr val="1F2937"/>
                </a:solidFill>
                <a:latin typeface="Calibri"/>
              </a:rPr>
              <a:t>▸  Taraflarning noroziligi qayta ekspertiza uchun asos bo‘lmaydi; qarorda qo‘shilmaslik sabablari yoziladi. Oldingi ekspert uni bajarmaydi.</a:t>
            </a:r>
          </a:p>
          <a:p>
            <a:pPr>
              <a:spcAft>
                <a:spcPts val="1200"/>
              </a:spcAft>
            </a:pPr>
            <a:r>
              <a:rPr sz="2200">
                <a:solidFill>
                  <a:srgbClr val="1F2937"/>
                </a:solidFill>
                <a:latin typeface="Calibri"/>
              </a:rPr>
              <a:t>▸  Qayta, komission va kompleks ekspertizalar faqat byuroning tegishli bo‘limida o‘tkaziladi. Morfologik bo‘lim, ambulatoriya va tuman, shahar bo‘linmalarida taqiqlanadi.</a:t>
            </a:r>
          </a:p>
          <a:p>
            <a:pPr>
              <a:spcAft>
                <a:spcPts val="1200"/>
              </a:spcAft>
            </a:pPr>
            <a:r>
              <a:rPr sz="2200">
                <a:solidFill>
                  <a:srgbClr val="1F2937"/>
                </a:solidFill>
                <a:latin typeface="Calibri"/>
              </a:rPr>
              <a:t>▸  Diqqat: qo‘shimcha ekspertiza kamchilik va bo‘shliqni to‘ldiradi, qayta ekspertiza esa xulosa to‘g‘riligiga shubha tufayli takroran o‘tkaziladi.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 20–21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qaysi ekspertiza tayinlanadi?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murakkab yo‘l-transport hodisasida odam jarohatlangan. Ikki ekspertiza xulosasi farq qiladi, jabrlanuvchi qarindoshlari esa birinchisidan norozi.</a:t>
            </a:r>
          </a:p>
          <a:p>
            <a:pPr>
              <a:spcAft>
                <a:spcPts val="1200"/>
              </a:spcAft>
            </a:pPr>
            <a:r>
              <a:rPr sz="2200">
                <a:solidFill>
                  <a:srgbClr val="1F2937"/>
                </a:solidFill>
                <a:latin typeface="Calibri"/>
              </a:rPr>
              <a:t>▸  Bunday murakkab hodisalarda tibbiyotdan tashqari bilim ham kerak bo‘lsa, sud-tibbiy va avtotexnik kompleks ekspertiza tayinlanishi mumkin.</a:t>
            </a:r>
          </a:p>
          <a:p>
            <a:pPr>
              <a:spcAft>
                <a:spcPts val="1200"/>
              </a:spcAft>
            </a:pPr>
            <a:r>
              <a:rPr sz="2200">
                <a:solidFill>
                  <a:srgbClr val="1F2937"/>
                </a:solidFill>
                <a:latin typeface="Calibri"/>
              </a:rPr>
              <a:t>▸  Qayta ekspertiza xulosa asoslanmagan yoki to‘g‘riligiga shubha bo‘lsa tayinlanadi. Taraflarning noroziligining o‘zi yetarli asos emas.</a:t>
            </a:r>
          </a:p>
          <a:p>
            <a:pPr>
              <a:spcAft>
                <a:spcPts val="1200"/>
              </a:spcAft>
            </a:pPr>
            <a:r>
              <a:rPr sz="2200">
                <a:solidFill>
                  <a:srgbClr val="1F2937"/>
                </a:solidFill>
                <a:latin typeface="Calibri"/>
              </a:rPr>
              <a:t>▸  Savol: qaysi ekspertiza turi mos va nima uchun? Sud ekspert xulosasiga qo‘shilmasa, buni qaror yoki ajrimda asoslashi shart.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19-20, 20, 22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 va mutaxassis: huquq va majburiyatlar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 huquqlari: ish materiallari bilan tanishish, qo‘shimcha materiallar so‘rash, o‘z ona tilida xulosa berish, shikoyat qilish.</a:t>
            </a:r>
          </a:p>
          <a:p>
            <a:pPr>
              <a:spcAft>
                <a:spcPts val="800"/>
              </a:spcAft>
            </a:pPr>
            <a:r>
              <a:rPr sz="1800">
                <a:solidFill>
                  <a:srgbClr val="1F2937"/>
                </a:solidFill>
                <a:latin typeface="Calibri"/>
              </a:rPr>
              <a:t>▸  Jinoiy javobgarlik: noto‘g‘ri xulosa — 238, ma’lumot oshkor etish — 239, xulosadan bo‘yin tovlash — 240-modda.</a:t>
            </a:r>
          </a:p>
          <a:p>
            <a:pPr>
              <a:spcAft>
                <a:spcPts val="800"/>
              </a:spcAft>
            </a:pPr>
            <a:r>
              <a:rPr sz="1800">
                <a:solidFill>
                  <a:srgbClr val="1F2937"/>
                </a:solidFill>
                <a:latin typeface="Calibri"/>
              </a:rPr>
              <a:t>▸  Diqqat: ilgari shu ishda mutaxassis bo‘lgan shaxs keyin ekspert bo‘la oladi. Raddiya tergovda 24 soatda hal etiladi.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337310"/>
                <a:gridCol w="1550365"/>
                <a:gridCol w="2400300"/>
              </a:tblGrid>
              <a:tr h="61447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Ekspert</a:t>
                      </a:r>
                    </a:p>
                  </a:txBody>
                  <a:tcPr marL="73152" marR="73152" marT="36576" marB="36576">
                    <a:solidFill>
                      <a:srgbClr val="0B1F3A"/>
                    </a:solidFill>
                  </a:tcPr>
                </a:tc>
                <a:tc>
                  <a:txBody>
                    <a:bodyPr/>
                    <a:lstStyle/>
                    <a:p>
                      <a:r>
                        <a:rPr sz="1600" b="1">
                          <a:solidFill>
                            <a:srgbClr val="FFFFFF"/>
                          </a:solidFill>
                        </a:rPr>
                        <a:t>Mutaxassis</a:t>
                      </a:r>
                    </a:p>
                  </a:txBody>
                  <a:tcPr marL="73152" marR="73152" marT="36576" marB="36576">
                    <a:solidFill>
                      <a:srgbClr val="0B1F3A"/>
                    </a:solidFill>
                  </a:tcPr>
                </a:tc>
              </a:tr>
              <a:tr h="614476">
                <a:tc>
                  <a:txBody>
                    <a:bodyPr/>
                    <a:lstStyle/>
                    <a:p>
                      <a:r>
                        <a:rPr sz="1500" b="0">
                          <a:solidFill>
                            <a:srgbClr val="1F2937"/>
                          </a:solidFill>
                        </a:rPr>
                        <a:t>Vazifasi</a:t>
                      </a:r>
                    </a:p>
                  </a:txBody>
                  <a:tcPr marL="73152" marR="73152" marT="36576" marB="36576">
                    <a:solidFill>
                      <a:srgbClr val="E8EEF6"/>
                    </a:solidFill>
                  </a:tcPr>
                </a:tc>
                <a:tc>
                  <a:txBody>
                    <a:bodyPr/>
                    <a:lstStyle/>
                    <a:p>
                      <a:r>
                        <a:rPr sz="1500" b="0">
                          <a:solidFill>
                            <a:srgbClr val="1F2937"/>
                          </a:solidFill>
                        </a:rPr>
                        <a:t>Tibbiy faktni baholab, xulosa beradi</a:t>
                      </a:r>
                    </a:p>
                  </a:txBody>
                  <a:tcPr marL="73152" marR="73152" marT="36576" marB="36576">
                    <a:solidFill>
                      <a:srgbClr val="E8EEF6"/>
                    </a:solidFill>
                  </a:tcPr>
                </a:tc>
                <a:tc>
                  <a:txBody>
                    <a:bodyPr/>
                    <a:lstStyle/>
                    <a:p>
                      <a:r>
                        <a:rPr sz="1500" b="0">
                          <a:solidFill>
                            <a:srgbClr val="1F2937"/>
                          </a:solidFill>
                        </a:rPr>
                        <a:t>Dalilni topish, hujjatlashtirishda yordam</a:t>
                      </a:r>
                    </a:p>
                  </a:txBody>
                  <a:tcPr marL="73152" marR="73152" marT="36576" marB="36576">
                    <a:solidFill>
                      <a:srgbClr val="E8EEF6"/>
                    </a:solidFill>
                  </a:tcPr>
                </a:tc>
              </a:tr>
              <a:tr h="614476">
                <a:tc>
                  <a:txBody>
                    <a:bodyPr/>
                    <a:lstStyle/>
                    <a:p>
                      <a:r>
                        <a:rPr sz="1500" b="0">
                          <a:solidFill>
                            <a:srgbClr val="1F2937"/>
                          </a:solidFill>
                        </a:rPr>
                        <a:t>Hujjat</a:t>
                      </a:r>
                    </a:p>
                  </a:txBody>
                  <a:tcPr marL="73152" marR="73152" marT="36576" marB="36576">
                    <a:solidFill>
                      <a:srgbClr val="FFFFFF"/>
                    </a:solidFill>
                  </a:tcPr>
                </a:tc>
                <a:tc>
                  <a:txBody>
                    <a:bodyPr/>
                    <a:lstStyle/>
                    <a:p>
                      <a:r>
                        <a:rPr sz="1500" b="0">
                          <a:solidFill>
                            <a:srgbClr val="1F2937"/>
                          </a:solidFill>
                        </a:rPr>
                        <a:t>Ekspert xulosasini tuzadi</a:t>
                      </a:r>
                    </a:p>
                  </a:txBody>
                  <a:tcPr marL="73152" marR="73152" marT="36576" marB="36576">
                    <a:solidFill>
                      <a:srgbClr val="FFFFFF"/>
                    </a:solidFill>
                  </a:tcPr>
                </a:tc>
                <a:tc>
                  <a:txBody>
                    <a:bodyPr/>
                    <a:lstStyle/>
                    <a:p>
                      <a:r>
                        <a:rPr sz="1500" b="0">
                          <a:solidFill>
                            <a:srgbClr val="1F2937"/>
                          </a:solidFill>
                        </a:rPr>
                        <a:t>Mustaqil hujjat tuzmaydi</a:t>
                      </a:r>
                    </a:p>
                  </a:txBody>
                  <a:tcPr marL="73152" marR="73152" marT="36576" marB="36576">
                    <a:solidFill>
                      <a:srgbClr val="FFFFFF"/>
                    </a:solidFill>
                  </a:tcPr>
                </a:tc>
              </a:tr>
              <a:tr h="614476">
                <a:tc>
                  <a:txBody>
                    <a:bodyPr/>
                    <a:lstStyle/>
                    <a:p>
                      <a:r>
                        <a:rPr sz="1500" b="0">
                          <a:solidFill>
                            <a:srgbClr val="1F2937"/>
                          </a:solidFill>
                        </a:rPr>
                        <a:t>Ishtiroki</a:t>
                      </a:r>
                    </a:p>
                  </a:txBody>
                  <a:tcPr marL="73152" marR="73152" marT="36576" marB="36576">
                    <a:solidFill>
                      <a:srgbClr val="E8EEF6"/>
                    </a:solidFill>
                  </a:tcPr>
                </a:tc>
                <a:tc>
                  <a:txBody>
                    <a:bodyPr/>
                    <a:lstStyle/>
                    <a:p>
                      <a:r>
                        <a:rPr sz="1500" b="0">
                          <a:solidFill>
                            <a:srgbClr val="1F2937"/>
                          </a:solidFill>
                        </a:rPr>
                        <a:t>Ekspertiza, so‘roq, sud majlisi</a:t>
                      </a:r>
                    </a:p>
                  </a:txBody>
                  <a:tcPr marL="73152" marR="73152" marT="36576" marB="36576">
                    <a:solidFill>
                      <a:srgbClr val="E8EEF6"/>
                    </a:solidFill>
                  </a:tcPr>
                </a:tc>
                <a:tc>
                  <a:txBody>
                    <a:bodyPr/>
                    <a:lstStyle/>
                    <a:p>
                      <a:r>
                        <a:rPr sz="1500" b="0">
                          <a:solidFill>
                            <a:srgbClr val="1F2937"/>
                          </a:solidFill>
                        </a:rPr>
                        <a:t>Ko‘zdan kechirish, eksgumatsiya</a:t>
                      </a:r>
                    </a:p>
                  </a:txBody>
                  <a:tcPr marL="73152" marR="73152" marT="36576" marB="36576">
                    <a:solidFill>
                      <a:srgbClr val="E8EEF6"/>
                    </a:solidFill>
                  </a:tcPr>
                </a:tc>
              </a:tr>
              <a:tr h="614476">
                <a:tc>
                  <a:txBody>
                    <a:bodyPr/>
                    <a:lstStyle/>
                    <a:p>
                      <a:r>
                        <a:rPr sz="1500" b="0">
                          <a:solidFill>
                            <a:srgbClr val="1F2937"/>
                          </a:solidFill>
                        </a:rPr>
                        <a:t>Raddiya asosi</a:t>
                      </a:r>
                    </a:p>
                  </a:txBody>
                  <a:tcPr marL="73152" marR="73152" marT="36576" marB="36576">
                    <a:solidFill>
                      <a:srgbClr val="FFFFFF"/>
                    </a:solidFill>
                  </a:tcPr>
                </a:tc>
                <a:tc>
                  <a:txBody>
                    <a:bodyPr/>
                    <a:lstStyle/>
                    <a:p>
                      <a:r>
                        <a:rPr sz="1500" b="0">
                          <a:solidFill>
                            <a:srgbClr val="1F2937"/>
                          </a:solidFill>
                        </a:rPr>
                        <a:t>Qarindoshlik, manfaatdorlik, noloyiqlik</a:t>
                      </a:r>
                    </a:p>
                  </a:txBody>
                  <a:tcPr marL="73152" marR="73152" marT="36576" marB="36576">
                    <a:solidFill>
                      <a:srgbClr val="FFFFFF"/>
                    </a:solidFill>
                  </a:tcPr>
                </a:tc>
                <a:tc>
                  <a:txBody>
                    <a:bodyPr/>
                    <a:lstStyle/>
                    <a:p>
                      <a:r>
                        <a:rPr sz="1500" b="0">
                          <a:solidFill>
                            <a:srgbClr val="1F2937"/>
                          </a:solidFill>
                        </a:rPr>
                        <a:t>Xuddi shu asoslar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 va mutaxassis farqi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16-17, 17, 19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 xulosasi va hujjatlar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Xulosa kirish, tadqiqot va to‘xtam qismlaridan iborat. Tadqiqot qismi maxsus bilimsiz kishiga tushunarli tilda yoziladi.</a:t>
            </a:r>
          </a:p>
          <a:p>
            <a:pPr>
              <a:spcAft>
                <a:spcPts val="800"/>
              </a:spcAft>
            </a:pPr>
            <a:r>
              <a:rPr sz="1800">
                <a:solidFill>
                  <a:srgbClr val="1F2937"/>
                </a:solidFill>
                <a:latin typeface="Calibri"/>
              </a:rPr>
              <a:t>▸  Dalolatnoma yo‘llanma asosida tuziladi: huquq haqida tilxat olinmaydi, yakuniy qismi “xotima” deyiladi.</a:t>
            </a:r>
          </a:p>
          <a:p>
            <a:pPr>
              <a:spcAft>
                <a:spcPts val="800"/>
              </a:spcAft>
            </a:pPr>
            <a:r>
              <a:rPr sz="1800">
                <a:solidFill>
                  <a:srgbClr val="1F2937"/>
                </a:solidFill>
                <a:latin typeface="Calibri"/>
              </a:rPr>
              <a:t>▸  Xulosa oldindan daliliy kuchga ega emas. Unga qo‘shilmaslik qaror yoki ajrimda asoslanishi lozim.</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Kirish: sana, asos, savollar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Tadqiqot: usul va natijalar</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To‘xtam: savollarga aniq javob</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Tergovchi, sud baholaydi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Xulosa tuzilishi va baholanishi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21, 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xulosa va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ekspert xulosasi sud va tergovchi uchun majburiymi? Yo‘q — rozi bo‘lmasalar, buni qaror yoki ajrimda asoslaydilar.</a:t>
            </a:r>
          </a:p>
          <a:p>
            <a:pPr>
              <a:spcAft>
                <a:spcPts val="1200"/>
              </a:spcAft>
            </a:pPr>
            <a:r>
              <a:rPr sz="2200">
                <a:solidFill>
                  <a:srgbClr val="1F2937"/>
                </a:solidFill>
                <a:latin typeface="Calibri"/>
              </a:rPr>
              <a:t>▸  Xulosa uch qismdan iborat: kirish, tadqiqot va yakunlovchi (to‘xtam) qism.</a:t>
            </a:r>
          </a:p>
          <a:p>
            <a:pPr>
              <a:spcAft>
                <a:spcPts val="1200"/>
              </a:spcAft>
            </a:pPr>
            <a:r>
              <a:rPr sz="2200">
                <a:solidFill>
                  <a:srgbClr val="1F2937"/>
                </a:solidFill>
                <a:latin typeface="Calibri"/>
              </a:rPr>
              <a:t>▸  Ekspert mustaqil material to‘plamaydi va natijani ekspertiza tayinlagan organdan boshqa hech kimga aytmaydi.</a:t>
            </a:r>
          </a:p>
          <a:p>
            <a:pPr>
              <a:spcAft>
                <a:spcPts val="1200"/>
              </a:spcAft>
            </a:pPr>
            <a:r>
              <a:rPr sz="2200">
                <a:solidFill>
                  <a:srgbClr val="1F2937"/>
                </a:solidFill>
                <a:latin typeface="Calibri"/>
              </a:rPr>
              <a:t>▸  Bila turib noto‘g‘ri xulosa (238-modda), ma’lumotni oshkor qilish (239) va xulosadan bo‘yin tovlash (240) uchun jinoiy javobgarlik ko‘zda tutilgan.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22, 21, 17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sud-tibbiy ekspertiza tashkillanishi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xizmat — Sog‘liqni saqlash vazirligi tizimida; harbiy xizmatchilar masalasi bilan Mudofaa vazirligi xizmati shug‘ullanadi.</a:t>
            </a:r>
          </a:p>
          <a:p>
            <a:pPr>
              <a:spcAft>
                <a:spcPts val="800"/>
              </a:spcAft>
            </a:pPr>
            <a:r>
              <a:rPr sz="1800">
                <a:solidFill>
                  <a:srgbClr val="1F2937"/>
                </a:solidFill>
                <a:latin typeface="Calibri"/>
              </a:rPr>
              <a:t>▸  Tizim: Bosh byuro, hududiy byurolar va ularning tuman, tumanlararo, shahar bo‘linmalari.</a:t>
            </a:r>
          </a:p>
          <a:p>
            <a:pPr>
              <a:spcAft>
                <a:spcPts val="800"/>
              </a:spcAft>
            </a:pPr>
            <a:r>
              <a:rPr sz="1800">
                <a:solidFill>
                  <a:srgbClr val="1F2937"/>
                </a:solidFill>
                <a:latin typeface="Calibri"/>
              </a:rPr>
              <a:t>▸  13 hududiy (Qoraqalpog‘iston va viloyatlar) muassasa bor; ularning tarkibi bir xil.</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2570543"/>
                <a:gridCol w="2717431"/>
              </a:tblGrid>
              <a:tr h="768096">
                <a:tc>
                  <a:txBody>
                    <a:bodyPr/>
                    <a:lstStyle/>
                    <a:p>
                      <a:r>
                        <a:rPr sz="1800" b="1">
                          <a:solidFill>
                            <a:srgbClr val="FFFFFF"/>
                          </a:solidFill>
                        </a:rPr>
                        <a:t>Masala</a:t>
                      </a:r>
                    </a:p>
                  </a:txBody>
                  <a:tcPr marL="73152" marR="73152" marT="36576" marB="36576">
                    <a:solidFill>
                      <a:srgbClr val="0B1F3A"/>
                    </a:solidFill>
                  </a:tcPr>
                </a:tc>
                <a:tc>
                  <a:txBody>
                    <a:bodyPr/>
                    <a:lstStyle/>
                    <a:p>
                      <a:r>
                        <a:rPr sz="1800" b="1">
                          <a:solidFill>
                            <a:srgbClr val="FFFFFF"/>
                          </a:solidFill>
                        </a:rPr>
                        <a:t>Bo‘ysunadi</a:t>
                      </a:r>
                    </a:p>
                  </a:txBody>
                  <a:tcPr marL="73152" marR="73152" marT="36576" marB="36576">
                    <a:solidFill>
                      <a:srgbClr val="0B1F3A"/>
                    </a:solidFill>
                  </a:tcPr>
                </a:tc>
              </a:tr>
              <a:tr h="768096">
                <a:tc>
                  <a:txBody>
                    <a:bodyPr/>
                    <a:lstStyle/>
                    <a:p>
                      <a:r>
                        <a:rPr sz="1700" b="0">
                          <a:solidFill>
                            <a:srgbClr val="1F2937"/>
                          </a:solidFill>
                        </a:rPr>
                        <a:t>Ma’muriy va moliyaviy masalalar</a:t>
                      </a:r>
                    </a:p>
                  </a:txBody>
                  <a:tcPr marL="73152" marR="73152" marT="36576" marB="36576">
                    <a:solidFill>
                      <a:srgbClr val="E8EEF6"/>
                    </a:solidFill>
                  </a:tcPr>
                </a:tc>
                <a:tc>
                  <a:txBody>
                    <a:bodyPr/>
                    <a:lstStyle/>
                    <a:p>
                      <a:r>
                        <a:rPr sz="1700" b="0">
                          <a:solidFill>
                            <a:srgbClr val="1F2937"/>
                          </a:solidFill>
                        </a:rPr>
                        <a:t>Hududiy sog‘liqni saqlash idorasi</a:t>
                      </a:r>
                    </a:p>
                  </a:txBody>
                  <a:tcPr marL="73152" marR="73152" marT="36576" marB="36576">
                    <a:solidFill>
                      <a:srgbClr val="E8EEF6"/>
                    </a:solidFill>
                  </a:tcPr>
                </a:tc>
              </a:tr>
              <a:tr h="768096">
                <a:tc>
                  <a:txBody>
                    <a:bodyPr/>
                    <a:lstStyle/>
                    <a:p>
                      <a:r>
                        <a:rPr sz="1700" b="0">
                          <a:solidFill>
                            <a:srgbClr val="1F2937"/>
                          </a:solidFill>
                        </a:rPr>
                        <a:t>Tashkiliy, metodik, ekspertiza</a:t>
                      </a:r>
                    </a:p>
                  </a:txBody>
                  <a:tcPr marL="73152" marR="73152" marT="36576" marB="36576">
                    <a:solidFill>
                      <a:srgbClr val="FFFFFF"/>
                    </a:solidFill>
                  </a:tcPr>
                </a:tc>
                <a:tc>
                  <a:txBody>
                    <a:bodyPr/>
                    <a:lstStyle/>
                    <a:p>
                      <a:r>
                        <a:rPr sz="1700" b="0">
                          <a:solidFill>
                            <a:srgbClr val="1F2937"/>
                          </a:solidFill>
                        </a:rPr>
                        <a:t>Sud-tibbiy ekspertiza Bosh byurosi</a:t>
                      </a:r>
                    </a:p>
                  </a:txBody>
                  <a:tcPr marL="73152" marR="73152" marT="36576" marB="36576">
                    <a:solidFill>
                      <a:srgbClr val="FFFFFF"/>
                    </a:solidFill>
                  </a:tcPr>
                </a:tc>
              </a:tr>
              <a:tr h="768096">
                <a:tc>
                  <a:txBody>
                    <a:bodyPr/>
                    <a:lstStyle/>
                    <a:p>
                      <a:r>
                        <a:rPr sz="1700" b="0">
                          <a:solidFill>
                            <a:srgbClr val="1F2937"/>
                          </a:solidFill>
                        </a:rPr>
                        <a:t>Tuman, tumanlararo, shahar bo‘linma</a:t>
                      </a:r>
                    </a:p>
                  </a:txBody>
                  <a:tcPr marL="73152" marR="73152" marT="36576" marB="36576">
                    <a:solidFill>
                      <a:srgbClr val="E8EEF6"/>
                    </a:solidFill>
                  </a:tcPr>
                </a:tc>
                <a:tc>
                  <a:txBody>
                    <a:bodyPr/>
                    <a:lstStyle/>
                    <a:p>
                      <a:r>
                        <a:rPr sz="1700" b="0">
                          <a:solidFill>
                            <a:srgbClr val="1F2937"/>
                          </a:solidFill>
                        </a:rPr>
                        <a:t>Hududiy sud-tibbiy ekspertiza byurosi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Bo‘ysunish tartibi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Byuroning strukturasi va bo‘limlari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kimyo — toksikologik tekshiruv; sud biologiya — qon, soch, dog‘ kabi ashyoviy dalillar.</a:t>
            </a:r>
          </a:p>
          <a:p>
            <a:pPr>
              <a:spcAft>
                <a:spcPts val="800"/>
              </a:spcAft>
            </a:pPr>
            <a:r>
              <a:rPr sz="1800">
                <a:solidFill>
                  <a:srgbClr val="1F2937"/>
                </a:solidFill>
                <a:latin typeface="Calibri"/>
              </a:rPr>
              <a:t>▸  Tashkiliy-metodik bo‘lim boshqa tuzilmalar ishini muvofiqlashtiradi va uslubiy jihatdan ta’minlaydi.</a:t>
            </a:r>
          </a:p>
          <a:p>
            <a:pPr>
              <a:spcAft>
                <a:spcPts val="800"/>
              </a:spcAft>
            </a:pPr>
            <a:r>
              <a:rPr sz="1800">
                <a:solidFill>
                  <a:srgbClr val="1F2937"/>
                </a:solidFill>
                <a:latin typeface="Calibri"/>
              </a:rPr>
              <a:t>▸  Diqqat: qayta, komission, kompleks ekspertiza ambulatoriya va tuman bo‘linmalarida o‘tkazilmaydi.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282190"/>
                <a:gridCol w="3005785"/>
              </a:tblGrid>
              <a:tr h="614476">
                <a:tc>
                  <a:txBody>
                    <a:bodyPr/>
                    <a:lstStyle/>
                    <a:p>
                      <a:r>
                        <a:rPr sz="1800" b="1">
                          <a:solidFill>
                            <a:srgbClr val="FFFFFF"/>
                          </a:solidFill>
                        </a:rPr>
                        <a:t>Bo‘lim</a:t>
                      </a:r>
                    </a:p>
                  </a:txBody>
                  <a:tcPr marL="73152" marR="73152" marT="36576" marB="36576">
                    <a:solidFill>
                      <a:srgbClr val="0B1F3A"/>
                    </a:solidFill>
                  </a:tcPr>
                </a:tc>
                <a:tc>
                  <a:txBody>
                    <a:bodyPr/>
                    <a:lstStyle/>
                    <a:p>
                      <a:r>
                        <a:rPr sz="1800" b="1">
                          <a:solidFill>
                            <a:srgbClr val="FFFFFF"/>
                          </a:solidFill>
                        </a:rPr>
                        <a:t>Vazifasi</a:t>
                      </a:r>
                    </a:p>
                  </a:txBody>
                  <a:tcPr marL="73152" marR="73152" marT="36576" marB="36576">
                    <a:solidFill>
                      <a:srgbClr val="0B1F3A"/>
                    </a:solidFill>
                  </a:tcPr>
                </a:tc>
              </a:tr>
              <a:tr h="614476">
                <a:tc>
                  <a:txBody>
                    <a:bodyPr/>
                    <a:lstStyle/>
                    <a:p>
                      <a:r>
                        <a:rPr sz="1700" b="0">
                          <a:solidFill>
                            <a:srgbClr val="1F2937"/>
                          </a:solidFill>
                        </a:rPr>
                        <a:t>Morfologik (+ sud-gistologik)</a:t>
                      </a:r>
                    </a:p>
                  </a:txBody>
                  <a:tcPr marL="73152" marR="73152" marT="36576" marB="36576">
                    <a:solidFill>
                      <a:srgbClr val="E8EEF6"/>
                    </a:solidFill>
                  </a:tcPr>
                </a:tc>
                <a:tc>
                  <a:txBody>
                    <a:bodyPr/>
                    <a:lstStyle/>
                    <a:p>
                      <a:r>
                        <a:rPr sz="1700" b="0">
                          <a:solidFill>
                            <a:srgbClr val="1F2937"/>
                          </a:solidFill>
                        </a:rPr>
                        <a:t>Murda ekspertizasi; gistologik mikroskopiya</a:t>
                      </a:r>
                    </a:p>
                  </a:txBody>
                  <a:tcPr marL="73152" marR="73152" marT="36576" marB="36576">
                    <a:solidFill>
                      <a:srgbClr val="E8EEF6"/>
                    </a:solidFill>
                  </a:tcPr>
                </a:tc>
              </a:tr>
              <a:tr h="614476">
                <a:tc>
                  <a:txBody>
                    <a:bodyPr/>
                    <a:lstStyle/>
                    <a:p>
                      <a:r>
                        <a:rPr sz="1700" b="0">
                          <a:solidFill>
                            <a:srgbClr val="1F2937"/>
                          </a:solidFill>
                        </a:rPr>
                        <a:t>Sud-tibbiy ambulatoriya</a:t>
                      </a:r>
                    </a:p>
                  </a:txBody>
                  <a:tcPr marL="73152" marR="73152" marT="36576" marB="36576">
                    <a:solidFill>
                      <a:srgbClr val="FFFFFF"/>
                    </a:solidFill>
                  </a:tcPr>
                </a:tc>
                <a:tc>
                  <a:txBody>
                    <a:bodyPr/>
                    <a:lstStyle/>
                    <a:p>
                      <a:r>
                        <a:rPr sz="1700" b="0">
                          <a:solidFill>
                            <a:srgbClr val="1F2937"/>
                          </a:solidFill>
                        </a:rPr>
                        <a:t>Tirik shaxslar ekspertizasi va tekshiruvi</a:t>
                      </a:r>
                    </a:p>
                  </a:txBody>
                  <a:tcPr marL="73152" marR="73152" marT="36576" marB="36576">
                    <a:solidFill>
                      <a:srgbClr val="FFFFFF"/>
                    </a:solidFill>
                  </a:tcPr>
                </a:tc>
              </a:tr>
              <a:tr h="614476">
                <a:tc>
                  <a:txBody>
                    <a:bodyPr/>
                    <a:lstStyle/>
                    <a:p>
                      <a:r>
                        <a:rPr sz="1700" b="0">
                          <a:solidFill>
                            <a:srgbClr val="1F2937"/>
                          </a:solidFill>
                        </a:rPr>
                        <a:t>Qayta va komission bo‘lim</a:t>
                      </a:r>
                    </a:p>
                  </a:txBody>
                  <a:tcPr marL="73152" marR="73152" marT="36576" marB="36576">
                    <a:solidFill>
                      <a:srgbClr val="E8EEF6"/>
                    </a:solidFill>
                  </a:tcPr>
                </a:tc>
                <a:tc>
                  <a:txBody>
                    <a:bodyPr/>
                    <a:lstStyle/>
                    <a:p>
                      <a:r>
                        <a:rPr sz="1700" b="0">
                          <a:solidFill>
                            <a:srgbClr val="1F2937"/>
                          </a:solidFill>
                        </a:rPr>
                        <a:t>Takroriy, komission, kompleks ekspertiza</a:t>
                      </a:r>
                    </a:p>
                  </a:txBody>
                  <a:tcPr marL="73152" marR="73152" marT="36576" marB="36576">
                    <a:solidFill>
                      <a:srgbClr val="E8EEF6"/>
                    </a:solidFill>
                  </a:tcPr>
                </a:tc>
              </a:tr>
              <a:tr h="614476">
                <a:tc>
                  <a:txBody>
                    <a:bodyPr/>
                    <a:lstStyle/>
                    <a:p>
                      <a:r>
                        <a:rPr sz="1700" b="0">
                          <a:solidFill>
                            <a:srgbClr val="1F2937"/>
                          </a:solidFill>
                        </a:rPr>
                        <a:t>Tibbiy kriminalistika</a:t>
                      </a:r>
                    </a:p>
                  </a:txBody>
                  <a:tcPr marL="73152" marR="73152" marT="36576" marB="36576">
                    <a:solidFill>
                      <a:srgbClr val="FFFFFF"/>
                    </a:solidFill>
                  </a:tcPr>
                </a:tc>
                <a:tc>
                  <a:txBody>
                    <a:bodyPr/>
                    <a:lstStyle/>
                    <a:p>
                      <a:r>
                        <a:rPr sz="1700" b="0">
                          <a:solidFill>
                            <a:srgbClr val="1F2937"/>
                          </a:solidFill>
                        </a:rPr>
                        <a:t>Jarohat mexanizmi, qurol, shaxs aynanligi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bo‘limlar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23, 21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byuro tuzilmasi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byuroga kiyimdagi qon dog‘i va murdadan olingan material keldi. Savol: ular qaysi bo‘limlarda tekshiriladi va byuro boshlig‘i xulosani o‘zgartira oladimi?</a:t>
            </a:r>
          </a:p>
          <a:p>
            <a:pPr>
              <a:spcAft>
                <a:spcPts val="1200"/>
              </a:spcAft>
            </a:pPr>
            <a:r>
              <a:rPr sz="2200">
                <a:solidFill>
                  <a:srgbClr val="1F2937"/>
                </a:solidFill>
                <a:latin typeface="Calibri"/>
              </a:rPr>
              <a:t>▸  Qon, ajratmalar va ularning dog‘lari, to‘qima, soch kabi ashyoviy dalillar sud-biologik bo‘limda tekshiriladi.</a:t>
            </a:r>
          </a:p>
          <a:p>
            <a:pPr>
              <a:spcAft>
                <a:spcPts val="1200"/>
              </a:spcAft>
            </a:pPr>
            <a:r>
              <a:rPr sz="2200">
                <a:solidFill>
                  <a:srgbClr val="1F2937"/>
                </a:solidFill>
                <a:latin typeface="Calibri"/>
              </a:rPr>
              <a:t>▸  Zaharni aniqlash uchun biologik materialga toksikologik tekshiruv kerak; u sud kimyo bo‘limida o‘tkaziladi. Mikroskopik tekshiruv esa sud-gistologik bo‘limda bajariladi.</a:t>
            </a:r>
          </a:p>
          <a:p>
            <a:pPr>
              <a:spcAft>
                <a:spcPts val="1200"/>
              </a:spcAft>
            </a:pPr>
            <a:r>
              <a:rPr sz="2200">
                <a:solidFill>
                  <a:srgbClr val="1F2937"/>
                </a:solidFill>
                <a:latin typeface="Calibri"/>
              </a:rPr>
              <a:t>▸  Diqqat: byuro boshlig‘i ≠ xulosa muallifi. U kamchilikni ko‘rsatadi, lekin xulosani bekor qila olmaydi; xulosaga faqat uni bergan ekspert javobgar.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23; Iskandarov A.I., Qo‘ldoshev D.R., Sud tibbiyoti, betlar: 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xulosalar va o‘z-o‘zini tekshirish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Sud tibbiyoti sud va tergovda paydo bo‘ladigan tibbiy-biologik savollarga javob beradi. Ekspertiza esa uning amaliyotga qo‘llanishi bo‘lib, xulosa bilan yakunlanadi.</a:t>
            </a:r>
          </a:p>
          <a:p>
            <a:pPr>
              <a:spcAft>
                <a:spcPts val="1200"/>
              </a:spcAft>
            </a:pPr>
            <a:r>
              <a:rPr sz="2000">
                <a:solidFill>
                  <a:srgbClr val="1F2937"/>
                </a:solidFill>
                <a:latin typeface="Calibri"/>
              </a:rPr>
              <a:t>▸  Ekspertiza turlari: birlamchi, qo‘shimcha, qayta, komissiyaviy, kompleks. Xulosa kirish, tadqiqot va yakunlovchi (to‘xtam) qismlardan iborat.</a:t>
            </a:r>
          </a:p>
          <a:p>
            <a:pPr>
              <a:spcAft>
                <a:spcPts val="1200"/>
              </a:spcAft>
            </a:pPr>
            <a:r>
              <a:rPr sz="2000">
                <a:solidFill>
                  <a:srgbClr val="1F2937"/>
                </a:solidFill>
                <a:latin typeface="Calibri"/>
              </a:rPr>
              <a:t>▸  Xizmat Sog‘liqni saqlash vazirligi tizimida: Bosh byuro, 13 hududiy byuro va ularning tuman, tumanlararo, shahar bo‘linmalari. Byurolarda morfologik, sud kimyo, sud-biologik bo‘limlar bor.</a:t>
            </a:r>
          </a:p>
          <a:p>
            <a:pPr>
              <a:spcAft>
                <a:spcPts val="1200"/>
              </a:spcAft>
            </a:pPr>
            <a:r>
              <a:rPr sz="2000">
                <a:solidFill>
                  <a:srgbClr val="1F2937"/>
                </a:solidFill>
                <a:latin typeface="Calibri"/>
              </a:rPr>
              <a:t>▸  Uy vazifasi: ekspert va mutaxassisning huquq-majburiyatlarini, raddiya asoslarini hamda byuro bo‘limlarini bitta jadvalda jamlang.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 19-21, 22-23, 17-19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Qiziqarli fakt: Si Yuan Lu (1247) murdani tekshirish tartibi va hujjatlashtirishni, shikastlovchi qurollarni, bo‘g‘ish bilan cho‘kishni hamda zaharlanishlarni alohida qismlarda bayon qilgan. Bu eng qadimgi tizimli sud-tibbiy qo‘llanmalardan biri.</a:t>
            </a:r>
          </a:p>
          <a:p>
            <a:pPr>
              <a:spcAft>
                <a:spcPts val="1200"/>
              </a:spcAft>
            </a:pPr>
            <a:r>
              <a:rPr sz="1800">
                <a:solidFill>
                  <a:srgbClr val="1F2937"/>
                </a:solidFill>
                <a:latin typeface="Calibri"/>
              </a:rPr>
              <a:t>▸  Hodisa tahlili: Yuliy Sezar o‘ldirilgach, vrach Antistius murdani ko‘zdan kechirgan. U tanadagi 23 jarohatdan faqat bittasi o‘limga olib kelgan, deb baholagan. Savol: nega har bir jarohatning o‘limdagi rolini alohida baholash kerak?</a:t>
            </a:r>
          </a:p>
          <a:p>
            <a:pPr>
              <a:spcAft>
                <a:spcPts val="1200"/>
              </a:spcAft>
            </a:pPr>
            <a:r>
              <a:rPr sz="1800">
                <a:solidFill>
                  <a:srgbClr val="1F2937"/>
                </a:solidFill>
                <a:latin typeface="Calibri"/>
              </a:rPr>
              <a:t>▸  Eslab qolish usuli: ekspert xulosasi uch qismdan iborat: Kirish – Tekshiruv – Xulosa. Ularni “K-T-X” deb eslang. Kirishda kim, qachon, nima asosda va qanday savollarga javob berishi yoziladi.</a:t>
            </a:r>
          </a:p>
          <a:p>
            <a:pPr>
              <a:spcAft>
                <a:spcPts val="1200"/>
              </a:spcAft>
            </a:pPr>
            <a:r>
              <a:rPr sz="1800">
                <a:solidFill>
                  <a:srgbClr val="1F2937"/>
                </a:solidFill>
                <a:latin typeface="Calibri"/>
              </a:rPr>
              <a:t>▸  Eslab qolish usuli: sudda guvohlik berishning eski qoidasi “dress up, stand up, speak up and shut up” – tartibli kiyining, tik turing, aniq gapiring, javobdan keyin jim turing.</a:t>
            </a:r>
          </a:p>
          <a:p>
            <a:pPr>
              <a:spcAft>
                <a:spcPts val="1200"/>
              </a:spcAft>
            </a:pPr>
            <a:r>
              <a:rPr sz="1800">
                <a:solidFill>
                  <a:srgbClr val="1F2937"/>
                </a:solidFill>
                <a:latin typeface="Calibri"/>
              </a:rPr>
              <a:t>▸  Qiziqarli fakt: byuro boshlig‘i yoki yuqoridagi ekspert xodimning kamchiligini ko‘rsatishi mumkin, ammo uning xulosasini bekor qila olmaydi. Xulosa uchun faqat ekspertizani o‘tkazgan ekspert javobgar bo‘ladi.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Sud tibbiyoti fani, vazifalari va ahamiyati. Sud-tibbiy ekspertiza xizm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1600">
                <a:solidFill>
                  <a:srgbClr val="1F2937"/>
                </a:solidFill>
                <a:latin typeface="Calibri"/>
              </a:rPr>
              <a:t>▸  G‘iyosov Z.A. Sud tibbiyoti: darslik, Toshkent: Global Books nashriyoti. 2018. Bob 1. Fan, tarix</a:t>
            </a:r>
          </a:p>
          <a:p>
            <a:pPr>
              <a:spcAft>
                <a:spcPts val="800"/>
              </a:spcAft>
            </a:pPr>
            <a:r>
              <a:rPr sz="1600">
                <a:solidFill>
                  <a:srgbClr val="1F2937"/>
                </a:solidFill>
                <a:latin typeface="Calibri"/>
              </a:rPr>
              <a:t>▸  Payne-James J., Jones R., Karch S.B., Manlove J. Simpson's Forensic Medicine, 13th ed. 2011. Chapter 1. Principles of forensic practice, pp. 1–11</a:t>
            </a:r>
          </a:p>
          <a:p>
            <a:pPr>
              <a:spcAft>
                <a:spcPts val="800"/>
              </a:spcAft>
            </a:pPr>
            <a:r>
              <a:rPr sz="1600">
                <a:solidFill>
                  <a:srgbClr val="1F2937"/>
                </a:solidFill>
                <a:latin typeface="Calibri"/>
              </a:rPr>
              <a:t>▸  Ромодановский П.О., Баринов Е.Х. Судебная медицина в схемах и рисунках: учебное пособие, М.: Проспект. 2017. 1-modul. Fan, protsessual asoslar, ekspertiza tashkili; bet 5-40</a:t>
            </a:r>
          </a:p>
          <a:p>
            <a:pPr>
              <a:spcAft>
                <a:spcPts val="800"/>
              </a:spcAft>
            </a:pPr>
            <a:r>
              <a:rPr sz="1600">
                <a:solidFill>
                  <a:srgbClr val="1F2937"/>
                </a:solidFill>
                <a:latin typeface="Calibri"/>
              </a:rPr>
              <a:t>▸  Харин Г.М. (Kharin G.M.). Краткий курс судебной медицины: учебное пособие, М.: ГЭОТАР-Медиа. 2006. I bo‘lim (1-3-boblar). Fan predmeti, protsessual asoslar, ekspertiza tashkili; bet 1-39</a:t>
            </a:r>
          </a:p>
          <a:p>
            <a:pPr>
              <a:spcAft>
                <a:spcPts val="800"/>
              </a:spcAft>
            </a:pPr>
            <a:r>
              <a:rPr sz="1600">
                <a:solidFill>
                  <a:srgbClr val="1F2937"/>
                </a:solidFill>
                <a:latin typeface="Calibri"/>
              </a:rPr>
              <a:t>▸  Iskandarov A.I., Qo‘ldoshev D.R. Sud tibbiyoti (tibbiyot instituti talabalari uchun), Toshkent. I-IV boblar: fan, tarix, O‘zbekistonda sud tibbiyoti; bet 4-37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