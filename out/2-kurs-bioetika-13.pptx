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a’zo ko‘chirishda tibbiy masalalardan ko‘ra etik-huquqiy muammolar og‘irroq deb hisoblanadi? 2) Donor taqchilligi qanday axloqiy savollar tug‘diradi? Doskada chizish: ikki ustun — «Tibbiy omillar» va «Etik-huquqiy muammolar» — va har biriga 2-3 misol yozdiring. Tipik xato: talabalar transplantatsiyani faqat jarrohlik masalasi deb tushunadi; bioetika jihatini alohida ta’kidlang. Eslatma: dars maqsadi bandi o‘qituvchi talqini, manbadan so‘zma-so‘z olinmagan.</a:t>
            </a:r>
          </a:p>
          <a:p/>
          <a:p>
            <a:r>
              <a:t>Tekshirish kerak (manbada noaniq):</a:t>
            </a:r>
          </a:p>
          <a:p>
            <a:r>
              <a:t>- Dars maqsadi: transplantatsiya turlari, donorlik modellari, o‘lim mezoni va xalqaro hujjatlarni bioetik nuqtai nazardan tahlil qilish.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Muhokama: 1) Sizningcha, nega o‘lim mezoni donorlik modellaridan oldin o‘rganiladi? 2) Qaysi bo‘lim sizga eng munozarali tuyuladi? Doskada chizish: 5 bosqichli zanjirni talabalar bilan birga chizing. Tipik xato: bo‘limlarni bir-biridan mustaqil deb o‘ylash; ular o‘zaro bog‘liq. Eslatma: taqdim etilgan manbalarda O‘zbekiston qonunchiligi bo‘yicha ma’lumot yo‘q, shu bo‘lim uchun qo‘shimcha manba kerak.</a:t>
            </a:r>
          </a:p>
          <a:p/>
          <a:p>
            <a:r>
              <a:t>Tekshirish kerak (manbada noaniq):</a:t>
            </a:r>
          </a:p>
          <a:p>
            <a:r>
              <a:t>- Oxirida dinlar qarashi va xalqaro hujjatlar; O‘zbekiston bo‘yicha manbada ma’lumot yo‘q.</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klinikadan oldin eksperimental bosqich kerak? 2) Retsipient immun tizimi holati nega muhim muammo? Doskada chizish: «Donor → a’zo/to‘qima → retsipient» sxemasini chizing. Tipik xato: «retsipient» va «donor» tushunchalarini aralashtirish — donor beradi, retsipient qabul qiladi.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Nega transplantatsiya avval eksperimental bosqichdan o‘tishi kerak? 2) Retsipient immuniteti nima uchun muammo? Doskada chizish: «Eksperiment → klinika» ketma-ketligini va ostiga uchta muammo turini (biologik, jarrohlik, tashkiliy) yozing. Tipik xato: talabalar eksperimental transplantatsiyani bevosita bemorga qilinadigan operatsiya deb o‘ylaydi. Aslida bu klinikadan oldingi bosqich.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savollari: 1) Qaysi turda immunologik moslik muammosi eng kam bo‘ladi va nega? 2) Nega hayvon a’zosini ko‘chirish alohida tur hisoblanadi? Doskada chizish: to‘rt turni donordan retsipientga o‘q bilan ko‘rsating. Tipik xato: izotransplantatsiya bilan allotransplantatsiyani aralashtirish. Izoda donor faqat bir tuxumli egizak, alloda esa boshqa odam. Eslab qolish: auto — o‘zi, izo — izdosh egizak, allo — «alohida odam», kseno — «begona tur».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savollari: 1) Autotransplantatsiyada donorga zarar etkazish dilemmasi bormi? 2) Nima uchun egizak donor immunologik jihatdan qulay? Doskada chizish: ikki ustunli jadval — «Auto: teri, ilik» va «Izo: egizak». Tipik xato: egizaklarning barchasini izo-donor deb hisoblash. Manbada aynan bir tuxumli egizak nazarda tutilgan.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«allo» faqat odamlar o‘rtasidagi ko‘chirishni bildiradi? 2) Ksenotransplantatsiyada donor sifatida qaysi hayvon tilga olingan? Doskada: ikki ustunli «Allo | Kseno» jadvalini talabalar bilan to‘ldiring. Tipik xato: talabalar allo va izo (egizak) turlarini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eng katta qiyinchilik tibbiy emas, etik-huquqiy masalalarda? 2) Immunosupressiv terapiya nima uchun tibbiy omillarga kiradi? Doskada: ikki ustunli ro‘yxat chizing va har ustunga o‘z misolingizni qo‘shing. Tipik xato: o‘lim faktini tasdiqlashni sof tibbiy masala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Javob: A — autotransplantatsiya, B — autotransplantatsiya, C — izotransplantatsiya. Muhokama: 1) Autotransplantatsiyada donor va retsipient o‘rtasida qanday munosabat bor? 2) Egizak donor allo emas, izo ekanini qanday asoslaysiz? Doskada: to‘rt turni «donor kim?» savoli asosida zanjir qilib chizing. Tipik xato: egizakni allotransplantatsiyaga kiritish.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tirik donor holatida «zarar yetkazma» tamoyili to‘liq saqlanmaydi? 2) Foyda va zararni solishtirishda nimalarni hisobga olish kerak? Doskada: zanjirni talabalar bilan birga chizing, har bosqichga bittadan misol yozing. Tipik xato: talabalar dilemmani «donor har doim zarar ko‘radi, shuning uchun taqiqlanadi» deb tushunadi. Aslida dilemma foyda zarardan yuqori bo‘lish qoidasi bilan hal etiladi.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jasadli donorlik eng keng tarqalgan? 2) Uch muammodan qaysi biri sizningcha eng murakkab va nega? Doskada: jadvalni chizib, jasadli donorlikning uch muammosini ro‘yxat qilib yozing. Tipik xato: tirik donorlar faqat qarindoshlardan iborat deb o‘ylash. Darslikda qarindosh bo‘lmagan odamlar ham tirik donor bo‘lishi mumkinligi aytilgan.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Savollarni og‘zaki yoki juftlikda so‘rang, avval talabalar javob bersin, keyin javobni oching. Muhokama: tirik va jasadli donorlik muammolari qanday farq qiladi? Doskada: transplantatsiya turlarining to‘rt nomini yozdiring. Tipik xato: autotransplantatsiya bilan izotransplantatsiyani adashtirish. Izotransplantatsiyada donor tuxumdosh egizakdir.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o‘lim masalasi aynan transplantologiya bilan birga bioetik muammoga aylandi? 2) Mezonlarning qonunlarda mustahkamlanishi nimaga kerak? Doskada chizing: 4 bosqichli vaqt chizig‘i (koma tavsifi → Harvard mezonlari → Sidney deklaratsiyasi → milliy qonunlar). Tipik xato: Harvard mezonlari va Sidney deklaratsiyasini bir hujjat deb adashtirish; manbada Mollare-Gulon tavsifining aniq yili ko‘rsatilmagan, yil aytmang.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miya boshqa a’zolardan farqli ‘almashtirib bo‘lmaydigan’ tizim hisoblanadi? 2) Mezonning uchta belgisini o‘z so‘zingiz bilan ayting. Doskada chizing: uchta belgi (behushlik, nafas, poya reflekslari) → miya o‘limi. Tipik xato: miya o‘limini oddiy koma yoki ‘o‘simlik holati’ bilan adashtirish; manbada mezon uchta belgining birgalikdagi yo‘qolishi sifatida berilgan.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(3 daq guruhda muhokama, 4 daq umumiy xulosa). Muhokama: 1) Nega apparat bilan ushlangan yurak urishi o‘lim mezoni bo‘la olmaydi? 2) O‘lim vaqtining aniq mezoni bo‘lmasa, a’zo olishda qanday axloqiy xavf tug‘iladi? Doskada chizing: ‘apparat → yurak uradi’ va ‘miya → faoliyat yo‘q’ ikki ustunli solishtirish. Tipik xato: ‘yurak uryapti — demak tirik’ deb o‘ylash; manbada mezon miya holatiga tayanadi. Vaziyat manbadagi mezonlar asosida tuzilgan o‘quv misoli.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bugun eskicha usul kamroq qo‘llanadi? 2) Uch modelda shaxs erkinligi qanday himoyalanadi? Doskada: 3 ustunli jadvalni talabalar bilan birga to‘ldiring. Tipik xato: eskicha usulni rozilik prezumptsiyasi bilan aralashtirish — eskichada shaxs irodasi hisobga olinmaydi, davlat mulki asos bo‘ladi.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Sukut saqlash rozilik hisoblanishi odil bo‘ladimi? 2) Qarindoshlar e’tirozi shaxs irodasini almashtira oladimi? Doskada: oqim sxemasini chizib, ikki tarmoqni belgilang. Qo‘shimcha: manbada Avstriya, Belgiya, Ispaniya, Vengriya, Chexiya kabi G‘arbiy Yevropa mamlakatlarida huquqiy normalar shu tamoyilga moslangani aytilgan. Tipik xato: «e’tiroz bildirilmagan» holatni «rozilik hujjati bor»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Donor-karta shaxs erkinligini qanday himoya qiladi? 2) Rozilik hujjati bo‘lmaganda donor soni nega kamayishi mumkin? Doskada: ikki prezumptsiyani yonma-yon yozing — «kim nima qilishi kerak?» (e’tiroz bildirish / rozilik berish). Eslab qolish: «Rozilik prezumptsiyasi — jim tursang rozisan; norozilikda — rozi bo‘lsang, yozib ber». Tipik xato: nomlarni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davlatlar rozilik, boshqalari norozilik modelini tanlaydi? 2) Qaysi model shaxs erkinligini ko‘proq himoya qiladi? Doskada: ikki ustunli jadvalni o‘zlari chizib, har ustunga 2 ta davlat yozsinlar. Tipik xato: “rozilik prezumptsiyasi” ni “rozilik berilgan” deb tushunish; aslida bu e’tiroz yo‘qligidan kelib chiqadigan faraz.</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juftlikda javob beradi. Muhokama: 1) Bir xil vaziyatda ikki modelda natija nega boshqacha? 2) Qarindoshlarning e’tirozi qanday rol o‘ynaydi? Doskada: vaziyat uchun ikki tarmoqli sxema (rozilik modeli → mumkin; norozilik modeli → mumkin emas). Tipik xato: faqat “marhum e’tiroz bildirmagan” deb, rasmiy rozilik talabini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yechim etik jihatdan eng qulay va nega? 2) Qaysi yechim amaliyotga eng yaqin (masalan, sun’iy buyrak apparati)? Doskada: markazda “taqchillik”, undan to‘rt yechimga strelka chizing. Tipik xato: 35 foizni aniq statistika deb olish; manbada u “taxminan” deyilgan. Hujayra kulturasi yo‘li hali sog‘liqni saqlash amaliyotiga joriy etilmagan.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terapevtik klonlash etik jihatdan qulay deyiladi? 2) Nega sun’iy a’zolar qimmat yo‘l hisoblanadi? Doskada: ikki ustunli jadval (sun’iy a’zo va klonlash) chizdiring, har biriga afzallik va cheklovni yozdiring. Tipik xato: klonlash allaqachon amaliyotga joriy etilgan deb o‘ylash. Aslida u hali tadqiqot bosqichida.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Hayvon organini ko‘chirishga qarshi va yoqlab qanday dalillar bor? 2) Bemor hayvon a’zosini o‘ziniki deb qabul qila olishi nega muammo? Doskada: zanjirni (cho‘chqa, gen injeneriyasi, transgen cho‘chqa, xavflar) chizdiring. Tipik xato: ksenotransplantatsiyani allotransplantatsiya bilan adashtirish. Ksenoda donor boshqa biologik tur hayvoni, allo da esa inson.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Savollarni og‘zaki bering, talabalar juftlikda javob beradi. Muhokama: qaysi yechim yaqin kelajakda eng real? Doskada: taqchillik yechimlarining 5 ta tarmog‘ini yozdiring. Tipik xato: sun’iy a’zo va hujayra kulturasidan o‘stirilgan a’zoni bir narsa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Navbat birinchi bo‘lsa-yu a’zo mos kelmasa, bu adolatsizlikmi? 2) «Adolat» faqat navbat tartibimi yoki tibbiy moslikni ham o‘z ichiga oladimi? Doskada chizish: kutish varaqasidan operatsiyagacha bo‘lgan zanjirni talabalar o‘zlari chizsin. Qo‘shimcha: manbaga ko‘ra, bu muammo immunosupressor terapiya usullarini takomillashtirish orqali qisman hal qilinadi, lekin hali ham dolzarb. Tipik xato: «navbatda birinchi turgan bemor albatta birinchi operatsiya qilinadi»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Taqiq bo‘lsa-yu, nega qora bozor paydo bo‘ladi? 2) A’zo tanqisligi bilan narx o‘rtasida qanday bog‘liqlik bor? Doskada chizish: «tanqislik → talab → qora bozor» zanjirini chizing. Tipik xato: «qonunda taqiq bor, demak, savdo yo‘q» deb o‘ylash. Manbaga ko‘ra qora bozor mavjud.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(2 daqiqa juftlikda fikrlash, 4 daqiqa umumiy muhokama). Muhokama: 1) Moddiy ehtiyoj bosimi ostidagi rozilik haqiqatan ixtiyoriymi? 2) Sotuvchi-donor va qarindosh-donor o‘rtasida qanday etik farq bor? Doskada chizish: «donor — oraliq vosita — reципиent» sxemasini chizib, har bosqichda buzilayotgan tamoyilni yozing. Tipik xato: «donor o‘zi rozi bo‘lgan, demak, hech qanday muammo yo‘q» deb xulosa qilish. Rozilik xabardor va ixtiyoriy bo‘lishi kerak, zarar esa foydadan oshmasligi lozim.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pravoslav cherkov rozilik prezumptsiyasiga e’tiroz bildiradi? 2) Fidokorlik va majburiyat o‘rtasidagi farq nima? Doskaga: ‘ixtiyoriylik – xabardorlik – xavfsizlik’ zanjirini chizing. Tipik xato: pravoslav cherkovi transplantatsiyaning o‘ziga qarshi deb o‘ylash; aslida u savdoga va prezumptsiyaga qarshi.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Yahudiylikda oila roziligi nega muhim? 2) Buddaviylikdagi ‘in’om’ sharti qaysi donorlik turiga tegishli? Doskaga: jadvalni talabalar bilan birga to‘ldirib chiqing. Tipik xato: yahudiylikda jasadni yorish umuman taqiqlangan, shuning uchun transplantatsiyaga mutlaq qarshi deb o‘ylash; hayot qutqarilsa, mumkin.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Norozilik prezumptsiyasi nima va u rozilik prezumptsiyasidan qanday farq qiladi? 2) Nega hayotiy a’zolar tirik odamdan olinmaydi? Doskaga: ‘foyda &gt; zarar’ tarozisini chizing. Qo‘shimcha: kitobga ko‘ra tirik donorlik faqat Islom dinidagi rozi shaxsdan mumkin. Tipik xato: Shariatda rozilik prezumptsiyasi bor deb o‘ylash; manbada norozilik prezumptsiyasi qayd etilgan.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Marhumning oldindan bildirgan roziligi va oilaning e’tirozi to‘qnashsa, qaysi biri ustun bo‘lishi kerak? 2) Nega dinlarning aksariyati donorlikning ixtiyoriyligini ta’kidlaydi? Doskada chizish: 3 ustunli jadval (din – rozilik sharti – taqiq). Tipik xato: barcha dinlar donorlikni mutlaqo taqiqlaydi deb o‘ylash. Aslida ko‘pchiligi shartli ruxsat beradi.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o‘limni tasdiqlash shartlari alohida hujjatda belgilanadi? 2) Shifokorning bosh tamoyili donor va retsipient manfaatiga qanday ta’sir qiladi? Doskada chizish: 1968–1987–1988 vaqt chizig‘i. Tipik xato: Harvard mezonlarini 1987-yilgi VTU deklaratsiyasi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Genom «insoniyat mulki» bo‘lsa, daromad kimga tegishli bo‘lishi kerak? 2) Rozilik va norozilik prezumptsiyasi donorlar soniga qanday ta’sir qilishi mumkin? Doskada chizish: ikki guruh davlatlar ro‘yxati (rozilik va so‘rab olingan rozilik). Tipik xato: AQSH va Germaniyani rozilik prezumptsiyasi guruhiga kiritish.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milliy qonun xalqaro normalarga tayanishi kerak? 2) Rozilik va norozilik prezumptsiyasidan qaysi biri bizning sharoitga mos keladi? Doskaga chizish: ‘Xalqaro hujjat → milliy qonun → klinik amaliyot’ zanjiri. Tipik xato: darslikda yo‘q bo‘lgan O‘zbekiston raqamlari yoki qonun moddalarini o‘ylab topish. O‘zbekiston qonunchiligini o‘qituvchi alohida rasmiy manbadan to‘ldirishi lozim.</a:t>
            </a:r>
          </a:p>
          <a:p/>
          <a:p>
            <a:r>
              <a:t>Tekshirish kerak (manbada noaniq):</a:t>
            </a:r>
          </a:p>
          <a:p>
            <a:r>
              <a:t>- Taqdim etilgan manbalarda O‘zbekistondagi transplantatsiya holati, qonunlari va statistikasi bo‘yicha aniq ma’lumot yo‘q. Shuning uchun raqam keltirilmaydi.</a:t>
            </a:r>
          </a:p>
          <a:p>
            <a:r>
              <a:t>- Milliy qonunlar shaxs huquqlari va erkinligi bo‘yicha xalqaro normalarga tayanadi. Bu umumiy tamoyil O‘zbekistonga ham tegishli deb taxmin qilinadi.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Talabalarga savollarni juftlikda yechtiring. Muhokama: 1) Sukut qaysi modelda ‘rozilik’ hisoblanadi? 2) Donor-karta qaysi modelga mos? Doskaga chizish: ikki ustunli jadval ‘Rozilik prezumptsiyasi | Norozilik prezumptsiyasi’. Tipik xato: ikki prezumptsiyani almashtirib yuborish va 1987 bilan 1988 yilni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Taqchillikni kamaytirishning qaysi yo‘llari axloqan eng maqbul? 2) Zarar yetkazmaslik tamoyili tirik donorlikda qanday buziladi? Doskaga chizish: talabalar diagrammani xotiradan qayta chizsin va har bosqichga bittadan atama yozsin. Tipik xato: miya o‘limini oddiy komadan farqlamaslik va tirik donor holatida foyda zarardan ustun bo‘lishi qoidasini unutish.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Transplantologiya: tarixi va holati, donorlik muammosi, transplantatsiya turlari, jasadli donorlik modellari, O‘zbekistondagi holat, xalqaro deklaratsiyalar (A7)</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transplantologiya va bioetika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A’zo ko‘chirishda tibbiy omillar (immunologik saralash, retsipient salomatligi, immunosupressiv terapiya) bilan birga etik-huquqiy masalalar ham turadi.</a:t>
            </a:r>
          </a:p>
          <a:p>
            <a:pPr>
              <a:spcAft>
                <a:spcPts val="1200"/>
              </a:spcAft>
            </a:pPr>
            <a:r>
              <a:rPr sz="2200">
                <a:solidFill>
                  <a:srgbClr val="1F2937"/>
                </a:solidFill>
                <a:latin typeface="Calibri"/>
              </a:rPr>
              <a:t>▸  Eng katta qiyinchiliklar etik va huquqiy muammolar bilan bog‘liq: o‘limni tasdiqlash, a’zoni olish, taqsimlash va tijoratlashtirish.</a:t>
            </a:r>
          </a:p>
          <a:p>
            <a:pPr>
              <a:spcAft>
                <a:spcPts val="1200"/>
              </a:spcAft>
            </a:pPr>
            <a:r>
              <a:rPr sz="2200">
                <a:solidFill>
                  <a:srgbClr val="1F2937"/>
                </a:solidFill>
                <a:latin typeface="Calibri"/>
              </a:rPr>
              <a:t>▸  Dunyoda donor a’zolar jiddiy yetishmaydi: AQSH va Yevropada ham muhtojlarning taxminan 35 foizi ko‘chirib o‘tkazishga yetisha olmaydi.</a:t>
            </a:r>
          </a:p>
          <a:p>
            <a:pPr>
              <a:spcAft>
                <a:spcPts val="1200"/>
              </a:spcAft>
            </a:pPr>
            <a:r>
              <a:rPr sz="2200">
                <a:solidFill>
                  <a:srgbClr val="1F2937"/>
                </a:solidFill>
                <a:latin typeface="Calibri"/>
              </a:rPr>
              <a:t>▸  Dars maqsadi: transplantatsiya turlari, donorlik modellari, o‘lim mezoni va xalqaro hujjatlarni bioetik nuqtai nazardan tahlil qilish.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Ma’ruza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Avval transplantatsiya turlari va donorlik ko‘rib chiqiladi, so‘ng inson o‘limi mezoni.</a:t>
            </a:r>
          </a:p>
          <a:p>
            <a:pPr>
              <a:spcAft>
                <a:spcPts val="800"/>
              </a:spcAft>
            </a:pPr>
            <a:r>
              <a:rPr sz="1800">
                <a:solidFill>
                  <a:srgbClr val="1F2937"/>
                </a:solidFill>
                <a:latin typeface="Calibri"/>
              </a:rPr>
              <a:t>▸  Keyin rozilik modellari, a’zo taqchilligi, taqsimot va savdo muammolari yoritiladi.</a:t>
            </a:r>
          </a:p>
          <a:p>
            <a:pPr>
              <a:spcAft>
                <a:spcPts val="800"/>
              </a:spcAft>
            </a:pPr>
            <a:r>
              <a:rPr sz="1800">
                <a:solidFill>
                  <a:srgbClr val="1F2937"/>
                </a:solidFill>
                <a:latin typeface="Calibri"/>
              </a:rPr>
              <a:t>▸  Oxirida dinlar qarashi va xalqaro hujjatlar; O‘zbekiston bo‘yicha manbada ma’lumot yo‘q.</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Turlar va donorlik</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 o‘limi mezoni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Rozilik modellari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Taqchillik, taqsimot, savdo</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Din va xalqaro hujjatlar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Ma’ruza ketma-ketligi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Transplantatsiya nima?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Transplantatsiya — a’zo yoki to‘qimani bir organizmdan ikkinchisiga ko‘chirib o‘tkazishdir.</a:t>
            </a:r>
          </a:p>
          <a:p>
            <a:pPr>
              <a:spcAft>
                <a:spcPts val="800"/>
              </a:spcAft>
            </a:pPr>
            <a:r>
              <a:rPr sz="1800">
                <a:solidFill>
                  <a:srgbClr val="1F2937"/>
                </a:solidFill>
                <a:latin typeface="Calibri"/>
              </a:rPr>
              <a:t>▸  Odatda u eksperimental va klinik transplantatsiyaga ajratiladi.</a:t>
            </a:r>
          </a:p>
          <a:p>
            <a:pPr>
              <a:spcAft>
                <a:spcPts val="800"/>
              </a:spcAft>
            </a:pPr>
            <a:r>
              <a:rPr sz="1800">
                <a:solidFill>
                  <a:srgbClr val="1F2937"/>
                </a:solidFill>
                <a:latin typeface="Calibri"/>
              </a:rPr>
              <a:t>▸  Eksperimental bosqichda retsipient immun tizimining holati va yangi preparatlar masalasi o‘rganiladi.</a:t>
            </a:r>
          </a:p>
        </p:txBody>
      </p:sp>
      <p:graphicFrame>
        <p:nvGraphicFramePr>
          <p:cNvPr id="9" name="Table 8"/>
          <p:cNvGraphicFramePr>
            <a:graphicFrameLocks noGrp="1"/>
          </p:cNvGraphicFramePr>
          <p:nvPr/>
        </p:nvGraphicFramePr>
        <p:xfrm>
          <a:off x="6263640" y="1463040"/>
          <a:ext cx="5287975" cy="2606040"/>
        </p:xfrm>
        <a:graphic>
          <a:graphicData uri="http://schemas.openxmlformats.org/drawingml/2006/table">
            <a:tbl>
              <a:tblPr firstRow="1" bandRow="1">
                <a:tableStyleId>{5C22544A-7EE6-4342-B048-85BDC9FD1C3A}</a:tableStyleId>
              </a:tblPr>
              <a:tblGrid>
                <a:gridCol w="1510850"/>
                <a:gridCol w="3777125"/>
              </a:tblGrid>
              <a:tr h="868680">
                <a:tc>
                  <a:txBody>
                    <a:bodyPr/>
                    <a:lstStyle/>
                    <a:p>
                      <a:r>
                        <a:rPr sz="1800" b="1">
                          <a:solidFill>
                            <a:srgbClr val="FFFFFF"/>
                          </a:solidFill>
                        </a:rPr>
                        <a:t>Jihat</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868680">
                <a:tc>
                  <a:txBody>
                    <a:bodyPr/>
                    <a:lstStyle/>
                    <a:p>
                      <a:r>
                        <a:rPr sz="1700" b="0">
                          <a:solidFill>
                            <a:srgbClr val="1F2937"/>
                          </a:solidFill>
                        </a:rPr>
                        <a:t>Mohiyati</a:t>
                      </a:r>
                    </a:p>
                  </a:txBody>
                  <a:tcPr marL="73152" marR="73152" marT="36576" marB="36576">
                    <a:solidFill>
                      <a:srgbClr val="E8EEF6"/>
                    </a:solidFill>
                  </a:tcPr>
                </a:tc>
                <a:tc>
                  <a:txBody>
                    <a:bodyPr/>
                    <a:lstStyle/>
                    <a:p>
                      <a:r>
                        <a:rPr sz="1700" b="0">
                          <a:solidFill>
                            <a:srgbClr val="1F2937"/>
                          </a:solidFill>
                        </a:rPr>
                        <a:t>Klinikadan oldingi bosqich</a:t>
                      </a:r>
                    </a:p>
                  </a:txBody>
                  <a:tcPr marL="73152" marR="73152" marT="36576" marB="36576">
                    <a:solidFill>
                      <a:srgbClr val="E8EEF6"/>
                    </a:solidFill>
                  </a:tcPr>
                </a:tc>
              </a:tr>
              <a:tr h="868680">
                <a:tc>
                  <a:txBody>
                    <a:bodyPr/>
                    <a:lstStyle/>
                    <a:p>
                      <a:r>
                        <a:rPr sz="1700" b="0">
                          <a:solidFill>
                            <a:srgbClr val="1F2937"/>
                          </a:solidFill>
                        </a:rPr>
                        <a:t>Hal qilinadi</a:t>
                      </a:r>
                    </a:p>
                  </a:txBody>
                  <a:tcPr marL="73152" marR="73152" marT="36576" marB="36576">
                    <a:solidFill>
                      <a:srgbClr val="FFFFFF"/>
                    </a:solidFill>
                  </a:tcPr>
                </a:tc>
                <a:tc>
                  <a:txBody>
                    <a:bodyPr/>
                    <a:lstStyle/>
                    <a:p>
                      <a:r>
                        <a:rPr sz="1700" b="0">
                          <a:solidFill>
                            <a:srgbClr val="1F2937"/>
                          </a:solidFill>
                        </a:rPr>
                        <a:t>Biologik, jarrohlik, tashkiliy masalalar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Eksperimental transplantatsiya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Eksperimental transplantatsiya vazifalari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Eksperimental transplantatsiya klinik transplantatsiyadan oldingi bosqich hisoblanadi.</a:t>
            </a:r>
          </a:p>
          <a:p>
            <a:pPr>
              <a:spcAft>
                <a:spcPts val="1200"/>
              </a:spcAft>
            </a:pPr>
            <a:r>
              <a:rPr sz="2200">
                <a:solidFill>
                  <a:srgbClr val="1F2937"/>
                </a:solidFill>
                <a:latin typeface="Calibri"/>
              </a:rPr>
              <a:t>▸  Bu bosqichda a’zo va to‘qimalarni ko‘chirib o‘tkazishning biologik, jarrohlik va tashkiliy muammolari ishlab chiqiladi.</a:t>
            </a:r>
          </a:p>
          <a:p>
            <a:pPr>
              <a:spcAft>
                <a:spcPts val="1200"/>
              </a:spcAft>
            </a:pPr>
            <a:r>
              <a:rPr sz="2200">
                <a:solidFill>
                  <a:srgbClr val="1F2937"/>
                </a:solidFill>
                <a:latin typeface="Calibri"/>
              </a:rPr>
              <a:t>▸  Donor a’zo ko‘chirilgach, retsipientning immunitet tizimi holati muhim muammolardan biri. Uni eksperiment orqali qisman hal qilish mumkin.</a:t>
            </a:r>
          </a:p>
          <a:p>
            <a:pPr>
              <a:spcAft>
                <a:spcPts val="1200"/>
              </a:spcAft>
            </a:pPr>
            <a:r>
              <a:rPr sz="2200">
                <a:solidFill>
                  <a:srgbClr val="1F2937"/>
                </a:solidFill>
                <a:latin typeface="Calibri"/>
              </a:rPr>
              <a:t>▸  Genetik jihatdan farq qiladigan a’zo va to‘qimalarning moslashuviga yordam beradigan yangi preparatlar ham shu bosqichda ishlab chiqiladi.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Transplantatsiya turlari: umumiy ko‘rinish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Transplantatsiya turi donor kimligiga qarab farqlanadi: retsipientning o‘zi, egizak, boshqa odam yoki hayvon.</a:t>
            </a:r>
          </a:p>
          <a:p>
            <a:pPr>
              <a:spcAft>
                <a:spcPts val="800"/>
              </a:spcAft>
            </a:pPr>
            <a:r>
              <a:rPr sz="1800">
                <a:solidFill>
                  <a:srgbClr val="1F2937"/>
                </a:solidFill>
                <a:latin typeface="Calibri"/>
              </a:rPr>
              <a:t>▸  Allotransplantatsiya gomotransplantatsiya, ksenotransplantatsiya esa turlararo transplantatsiya deb ham ataladi.</a:t>
            </a:r>
          </a:p>
          <a:p>
            <a:pPr>
              <a:spcAft>
                <a:spcPts val="800"/>
              </a:spcAft>
            </a:pPr>
            <a:r>
              <a:rPr sz="1800">
                <a:solidFill>
                  <a:srgbClr val="1F2937"/>
                </a:solidFill>
                <a:latin typeface="Calibri"/>
              </a:rPr>
              <a:t>▸  Diqqat: izo ≠ allo. Izoda donor retsipientga genetik jihatdan aynan o‘xshash egizak.</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3085338"/>
                <a:gridCol w="2202637"/>
              </a:tblGrid>
              <a:tr h="614476">
                <a:tc>
                  <a:txBody>
                    <a:bodyPr/>
                    <a:lstStyle/>
                    <a:p>
                      <a:r>
                        <a:rPr sz="1800" b="1">
                          <a:solidFill>
                            <a:srgbClr val="FFFFFF"/>
                          </a:solidFill>
                        </a:rPr>
                        <a:t>Tur</a:t>
                      </a:r>
                    </a:p>
                  </a:txBody>
                  <a:tcPr marL="73152" marR="73152" marT="36576" marB="36576">
                    <a:solidFill>
                      <a:srgbClr val="0B1F3A"/>
                    </a:solidFill>
                  </a:tcPr>
                </a:tc>
                <a:tc>
                  <a:txBody>
                    <a:bodyPr/>
                    <a:lstStyle/>
                    <a:p>
                      <a:r>
                        <a:rPr sz="1800" b="1">
                          <a:solidFill>
                            <a:srgbClr val="FFFFFF"/>
                          </a:solidFill>
                        </a:rPr>
                        <a:t>Donor kim</a:t>
                      </a:r>
                    </a:p>
                  </a:txBody>
                  <a:tcPr marL="73152" marR="73152" marT="36576" marB="36576">
                    <a:solidFill>
                      <a:srgbClr val="0B1F3A"/>
                    </a:solidFill>
                  </a:tcPr>
                </a:tc>
              </a:tr>
              <a:tr h="614476">
                <a:tc>
                  <a:txBody>
                    <a:bodyPr/>
                    <a:lstStyle/>
                    <a:p>
                      <a:r>
                        <a:rPr sz="1700" b="0">
                          <a:solidFill>
                            <a:srgbClr val="1F2937"/>
                          </a:solidFill>
                        </a:rPr>
                        <a:t>Autotransplantatsiya</a:t>
                      </a:r>
                    </a:p>
                  </a:txBody>
                  <a:tcPr marL="73152" marR="73152" marT="36576" marB="36576">
                    <a:solidFill>
                      <a:srgbClr val="E8EEF6"/>
                    </a:solidFill>
                  </a:tcPr>
                </a:tc>
                <a:tc>
                  <a:txBody>
                    <a:bodyPr/>
                    <a:lstStyle/>
                    <a:p>
                      <a:r>
                        <a:rPr sz="1700" b="0">
                          <a:solidFill>
                            <a:srgbClr val="1F2937"/>
                          </a:solidFill>
                        </a:rPr>
                        <a:t>Retsipientning o‘zi</a:t>
                      </a:r>
                    </a:p>
                  </a:txBody>
                  <a:tcPr marL="73152" marR="73152" marT="36576" marB="36576">
                    <a:solidFill>
                      <a:srgbClr val="E8EEF6"/>
                    </a:solidFill>
                  </a:tcPr>
                </a:tc>
              </a:tr>
              <a:tr h="614476">
                <a:tc>
                  <a:txBody>
                    <a:bodyPr/>
                    <a:lstStyle/>
                    <a:p>
                      <a:r>
                        <a:rPr sz="1700" b="0">
                          <a:solidFill>
                            <a:srgbClr val="1F2937"/>
                          </a:solidFill>
                        </a:rPr>
                        <a:t>Izotransplantatsiya</a:t>
                      </a:r>
                    </a:p>
                  </a:txBody>
                  <a:tcPr marL="73152" marR="73152" marT="36576" marB="36576">
                    <a:solidFill>
                      <a:srgbClr val="FFFFFF"/>
                    </a:solidFill>
                  </a:tcPr>
                </a:tc>
                <a:tc>
                  <a:txBody>
                    <a:bodyPr/>
                    <a:lstStyle/>
                    <a:p>
                      <a:r>
                        <a:rPr sz="1700" b="0">
                          <a:solidFill>
                            <a:srgbClr val="1F2937"/>
                          </a:solidFill>
                        </a:rPr>
                        <a:t>Bir tuxumli egizak</a:t>
                      </a:r>
                    </a:p>
                  </a:txBody>
                  <a:tcPr marL="73152" marR="73152" marT="36576" marB="36576">
                    <a:solidFill>
                      <a:srgbClr val="FFFFFF"/>
                    </a:solidFill>
                  </a:tcPr>
                </a:tc>
              </a:tr>
              <a:tr h="614476">
                <a:tc>
                  <a:txBody>
                    <a:bodyPr/>
                    <a:lstStyle/>
                    <a:p>
                      <a:r>
                        <a:rPr sz="1700" b="0">
                          <a:solidFill>
                            <a:srgbClr val="1F2937"/>
                          </a:solidFill>
                        </a:rPr>
                        <a:t>Allotransplantatsiya</a:t>
                      </a:r>
                    </a:p>
                  </a:txBody>
                  <a:tcPr marL="73152" marR="73152" marT="36576" marB="36576">
                    <a:solidFill>
                      <a:srgbClr val="E8EEF6"/>
                    </a:solidFill>
                  </a:tcPr>
                </a:tc>
                <a:tc>
                  <a:txBody>
                    <a:bodyPr/>
                    <a:lstStyle/>
                    <a:p>
                      <a:r>
                        <a:rPr sz="1700" b="0">
                          <a:solidFill>
                            <a:srgbClr val="1F2937"/>
                          </a:solidFill>
                        </a:rPr>
                        <a:t>Genetik jihatdan boshqa odam</a:t>
                      </a:r>
                    </a:p>
                  </a:txBody>
                  <a:tcPr marL="73152" marR="73152" marT="36576" marB="36576">
                    <a:solidFill>
                      <a:srgbClr val="E8EEF6"/>
                    </a:solidFill>
                  </a:tcPr>
                </a:tc>
              </a:tr>
              <a:tr h="614476">
                <a:tc>
                  <a:txBody>
                    <a:bodyPr/>
                    <a:lstStyle/>
                    <a:p>
                      <a:r>
                        <a:rPr sz="1700" b="0">
                          <a:solidFill>
                            <a:srgbClr val="1F2937"/>
                          </a:solidFill>
                        </a:rPr>
                        <a:t>Ksenotransplantatsiya</a:t>
                      </a:r>
                    </a:p>
                  </a:txBody>
                  <a:tcPr marL="73152" marR="73152" marT="36576" marB="36576">
                    <a:solidFill>
                      <a:srgbClr val="FFFFFF"/>
                    </a:solidFill>
                  </a:tcPr>
                </a:tc>
                <a:tc>
                  <a:txBody>
                    <a:bodyPr/>
                    <a:lstStyle/>
                    <a:p>
                      <a:r>
                        <a:rPr sz="1700" b="0">
                          <a:solidFill>
                            <a:srgbClr val="1F2937"/>
                          </a:solidFill>
                        </a:rPr>
                        <a:t>Boshqa biologik tur hayvoni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Donor kimligi bo‘yicha turlar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Auto- va izotransplantatsiya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Autotransplantatsiyada (autologik transplantatsiya) retsipientning o‘zi shu transplantatning donori hisoblanadi.</a:t>
            </a:r>
          </a:p>
          <a:p>
            <a:pPr>
              <a:spcAft>
                <a:spcPts val="1200"/>
              </a:spcAft>
            </a:pPr>
            <a:r>
              <a:rPr sz="2200">
                <a:solidFill>
                  <a:srgbClr val="1F2937"/>
                </a:solidFill>
                <a:latin typeface="Calibri"/>
              </a:rPr>
              <a:t>▸  Og‘ir kuyishda terining shikastlanmagan qismidan kuygan joyga teri ko‘chirib o‘tkaziladi.</a:t>
            </a:r>
          </a:p>
          <a:p>
            <a:pPr>
              <a:spcAft>
                <a:spcPts val="1200"/>
              </a:spcAft>
            </a:pPr>
            <a:r>
              <a:rPr sz="2200">
                <a:solidFill>
                  <a:srgbClr val="1F2937"/>
                </a:solidFill>
                <a:latin typeface="Calibri"/>
              </a:rPr>
              <a:t>▸  Leykoz, limfoma va kimyoga sezgir xavfli o‘smalarda yuqori dozali kimyoterapiyadan keyin ilik yoki gemopoetik o‘zak hujayralar autotransplantatsiya qilinadi.</a:t>
            </a:r>
          </a:p>
          <a:p>
            <a:pPr>
              <a:spcAft>
                <a:spcPts val="1200"/>
              </a:spcAft>
            </a:pPr>
            <a:r>
              <a:rPr sz="2200">
                <a:solidFill>
                  <a:srgbClr val="1F2937"/>
                </a:solidFill>
                <a:latin typeface="Calibri"/>
              </a:rPr>
              <a:t>▸  Izotransplantatsiyada donor — immunologik va genetik jihatdan retsipientga aynan o‘xshash bo‘lgan bir tuxumli egizagi.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Allo- va ksenotransplantatsiya: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Allotransplantatsiya: donor — genetik va immunologik jihatdan farq qiladigan boshqa odam.</a:t>
            </a:r>
          </a:p>
          <a:p>
            <a:pPr>
              <a:spcAft>
                <a:spcPts val="800"/>
              </a:spcAft>
            </a:pPr>
            <a:r>
              <a:rPr sz="1800">
                <a:solidFill>
                  <a:srgbClr val="1F2937"/>
                </a:solidFill>
                <a:latin typeface="Calibri"/>
              </a:rPr>
              <a:t>▸  Ksenotransplantatsiya: a’zo boshqa biologik tur hayvonidan olinadi, shuning uchun turlararo deyiladi.</a:t>
            </a:r>
          </a:p>
          <a:p>
            <a:pPr>
              <a:spcAft>
                <a:spcPts val="800"/>
              </a:spcAft>
            </a:pPr>
            <a:r>
              <a:rPr sz="1800">
                <a:solidFill>
                  <a:srgbClr val="1F2937"/>
                </a:solidFill>
                <a:latin typeface="Calibri"/>
              </a:rPr>
              <a:t>▸  Diqqat: xato qilish xavfi — allo (odam → odam) ≠ kseno (hayvon → odam). Ikkalasini adashtirmang.</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487375"/>
                <a:gridCol w="2636520"/>
                <a:gridCol w="2164080"/>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Allo</a:t>
                      </a:r>
                    </a:p>
                  </a:txBody>
                  <a:tcPr marL="73152" marR="73152" marT="36576" marB="36576">
                    <a:solidFill>
                      <a:srgbClr val="0B1F3A"/>
                    </a:solidFill>
                  </a:tcPr>
                </a:tc>
                <a:tc>
                  <a:txBody>
                    <a:bodyPr/>
                    <a:lstStyle/>
                    <a:p>
                      <a:r>
                        <a:rPr sz="1600" b="1">
                          <a:solidFill>
                            <a:srgbClr val="FFFFFF"/>
                          </a:solidFill>
                        </a:rPr>
                        <a:t>Kseno</a:t>
                      </a:r>
                    </a:p>
                  </a:txBody>
                  <a:tcPr marL="73152" marR="73152" marT="36576" marB="36576">
                    <a:solidFill>
                      <a:srgbClr val="0B1F3A"/>
                    </a:solidFill>
                  </a:tcPr>
                </a:tc>
              </a:tr>
              <a:tr h="768096">
                <a:tc>
                  <a:txBody>
                    <a:bodyPr/>
                    <a:lstStyle/>
                    <a:p>
                      <a:r>
                        <a:rPr sz="1500" b="0">
                          <a:solidFill>
                            <a:srgbClr val="1F2937"/>
                          </a:solidFill>
                        </a:rPr>
                        <a:t>Donor kim?</a:t>
                      </a:r>
                    </a:p>
                  </a:txBody>
                  <a:tcPr marL="73152" marR="73152" marT="36576" marB="36576">
                    <a:solidFill>
                      <a:srgbClr val="E8EEF6"/>
                    </a:solidFill>
                  </a:tcPr>
                </a:tc>
                <a:tc>
                  <a:txBody>
                    <a:bodyPr/>
                    <a:lstStyle/>
                    <a:p>
                      <a:r>
                        <a:rPr sz="1500" b="0">
                          <a:solidFill>
                            <a:srgbClr val="1F2937"/>
                          </a:solidFill>
                        </a:rPr>
                        <a:t>Boshqa odam</a:t>
                      </a:r>
                    </a:p>
                  </a:txBody>
                  <a:tcPr marL="73152" marR="73152" marT="36576" marB="36576">
                    <a:solidFill>
                      <a:srgbClr val="E8EEF6"/>
                    </a:solidFill>
                  </a:tcPr>
                </a:tc>
                <a:tc>
                  <a:txBody>
                    <a:bodyPr/>
                    <a:lstStyle/>
                    <a:p>
                      <a:r>
                        <a:rPr sz="1500" b="0">
                          <a:solidFill>
                            <a:srgbClr val="1F2937"/>
                          </a:solidFill>
                        </a:rPr>
                        <a:t>Boshqa tur hayvoni</a:t>
                      </a:r>
                    </a:p>
                  </a:txBody>
                  <a:tcPr marL="73152" marR="73152" marT="36576" marB="36576">
                    <a:solidFill>
                      <a:srgbClr val="E8EEF6"/>
                    </a:solidFill>
                  </a:tcPr>
                </a:tc>
              </a:tr>
              <a:tr h="768096">
                <a:tc>
                  <a:txBody>
                    <a:bodyPr/>
                    <a:lstStyle/>
                    <a:p>
                      <a:r>
                        <a:rPr sz="1500" b="0">
                          <a:solidFill>
                            <a:srgbClr val="1F2937"/>
                          </a:solidFill>
                        </a:rPr>
                        <a:t>Boshqa nomi</a:t>
                      </a:r>
                    </a:p>
                  </a:txBody>
                  <a:tcPr marL="73152" marR="73152" marT="36576" marB="36576">
                    <a:solidFill>
                      <a:srgbClr val="FFFFFF"/>
                    </a:solidFill>
                  </a:tcPr>
                </a:tc>
                <a:tc>
                  <a:txBody>
                    <a:bodyPr/>
                    <a:lstStyle/>
                    <a:p>
                      <a:r>
                        <a:rPr sz="1500" b="0">
                          <a:solidFill>
                            <a:srgbClr val="1F2937"/>
                          </a:solidFill>
                        </a:rPr>
                        <a:t>Gomotransplantatsiya</a:t>
                      </a:r>
                    </a:p>
                  </a:txBody>
                  <a:tcPr marL="73152" marR="73152" marT="36576" marB="36576">
                    <a:solidFill>
                      <a:srgbClr val="FFFFFF"/>
                    </a:solidFill>
                  </a:tcPr>
                </a:tc>
                <a:tc>
                  <a:txBody>
                    <a:bodyPr/>
                    <a:lstStyle/>
                    <a:p>
                      <a:r>
                        <a:rPr sz="1500" b="0">
                          <a:solidFill>
                            <a:srgbClr val="1F2937"/>
                          </a:solidFill>
                        </a:rPr>
                        <a:t>Turlararo transplantatsiya</a:t>
                      </a:r>
                    </a:p>
                  </a:txBody>
                  <a:tcPr marL="73152" marR="73152" marT="36576" marB="36576">
                    <a:solidFill>
                      <a:srgbClr val="FFFFFF"/>
                    </a:solidFill>
                  </a:tcPr>
                </a:tc>
              </a:tr>
              <a:tr h="768096">
                <a:tc>
                  <a:txBody>
                    <a:bodyPr/>
                    <a:lstStyle/>
                    <a:p>
                      <a:r>
                        <a:rPr sz="1500" b="0">
                          <a:solidFill>
                            <a:srgbClr val="1F2937"/>
                          </a:solidFill>
                        </a:rPr>
                        <a:t>Genetik jihat</a:t>
                      </a:r>
                    </a:p>
                  </a:txBody>
                  <a:tcPr marL="73152" marR="73152" marT="36576" marB="36576">
                    <a:solidFill>
                      <a:srgbClr val="E8EEF6"/>
                    </a:solidFill>
                  </a:tcPr>
                </a:tc>
                <a:tc>
                  <a:txBody>
                    <a:bodyPr/>
                    <a:lstStyle/>
                    <a:p>
                      <a:r>
                        <a:rPr sz="1500" b="0">
                          <a:solidFill>
                            <a:srgbClr val="1F2937"/>
                          </a:solidFill>
                        </a:rPr>
                        <a:t>Retsipientdan farqli odam</a:t>
                      </a:r>
                    </a:p>
                  </a:txBody>
                  <a:tcPr marL="73152" marR="73152" marT="36576" marB="36576">
                    <a:solidFill>
                      <a:srgbClr val="E8EEF6"/>
                    </a:solidFill>
                  </a:tcPr>
                </a:tc>
                <a:tc>
                  <a:txBody>
                    <a:bodyPr/>
                    <a:lstStyle/>
                    <a:p>
                      <a:r>
                        <a:rPr sz="1500" b="0">
                          <a:solidFill>
                            <a:srgbClr val="1F2937"/>
                          </a:solidFill>
                        </a:rPr>
                        <a:t>Butunlay boshqa biologik tur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Allo va kseno solishtiruvi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 (3-bob,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 va etik-huquqiy cheklovlar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Transplantatsiya texnologiyalarini qo‘llash tibbiy hamda etik-huquqiy jihatdan ma’lum cheklovlarga ega.</a:t>
            </a:r>
          </a:p>
          <a:p>
            <a:pPr>
              <a:spcAft>
                <a:spcPts val="800"/>
              </a:spcAft>
            </a:pPr>
            <a:r>
              <a:rPr sz="1800">
                <a:solidFill>
                  <a:srgbClr val="1F2937"/>
                </a:solidFill>
                <a:latin typeface="Calibri"/>
              </a:rPr>
              <a:t>▸  Eng katta qiyinchiliklar tibbiy emas, etik va huquqiy muammolar bilan bog‘liq.</a:t>
            </a:r>
          </a:p>
          <a:p>
            <a:pPr>
              <a:spcAft>
                <a:spcPts val="800"/>
              </a:spcAft>
            </a:pPr>
            <a:r>
              <a:rPr sz="1800">
                <a:solidFill>
                  <a:srgbClr val="1F2937"/>
                </a:solidFill>
                <a:latin typeface="Calibri"/>
              </a:rPr>
              <a:t>▸  Tijoratlashtirish — transplantologiya faoliyatini foyda olish maqsadiga bo‘ysundirish demakdir.</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2509547"/>
                <a:gridCol w="2778427"/>
              </a:tblGrid>
              <a:tr h="768096">
                <a:tc>
                  <a:txBody>
                    <a:bodyPr/>
                    <a:lstStyle/>
                    <a:p>
                      <a:r>
                        <a:rPr sz="1800" b="1">
                          <a:solidFill>
                            <a:srgbClr val="FFFFFF"/>
                          </a:solidFill>
                        </a:rPr>
                        <a:t>Tibbiy omil</a:t>
                      </a:r>
                    </a:p>
                  </a:txBody>
                  <a:tcPr marL="73152" marR="73152" marT="36576" marB="36576">
                    <a:solidFill>
                      <a:srgbClr val="0B1F3A"/>
                    </a:solidFill>
                  </a:tcPr>
                </a:tc>
                <a:tc>
                  <a:txBody>
                    <a:bodyPr/>
                    <a:lstStyle/>
                    <a:p>
                      <a:r>
                        <a:rPr sz="1800" b="1">
                          <a:solidFill>
                            <a:srgbClr val="FFFFFF"/>
                          </a:solidFill>
                        </a:rPr>
                        <a:t>Etik-huquqiy</a:t>
                      </a:r>
                    </a:p>
                  </a:txBody>
                  <a:tcPr marL="73152" marR="73152" marT="36576" marB="36576">
                    <a:solidFill>
                      <a:srgbClr val="0B1F3A"/>
                    </a:solidFill>
                  </a:tcPr>
                </a:tc>
              </a:tr>
              <a:tr h="768096">
                <a:tc>
                  <a:txBody>
                    <a:bodyPr/>
                    <a:lstStyle/>
                    <a:p>
                      <a:r>
                        <a:rPr sz="1700" b="0">
                          <a:solidFill>
                            <a:srgbClr val="1F2937"/>
                          </a:solidFill>
                        </a:rPr>
                        <a:t>Donorni immunologik saralash</a:t>
                      </a:r>
                    </a:p>
                  </a:txBody>
                  <a:tcPr marL="73152" marR="73152" marT="36576" marB="36576">
                    <a:solidFill>
                      <a:srgbClr val="E8EEF6"/>
                    </a:solidFill>
                  </a:tcPr>
                </a:tc>
                <a:tc>
                  <a:txBody>
                    <a:bodyPr/>
                    <a:lstStyle/>
                    <a:p>
                      <a:r>
                        <a:rPr sz="1700" b="0">
                          <a:solidFill>
                            <a:srgbClr val="1F2937"/>
                          </a:solidFill>
                        </a:rPr>
                        <a:t>O‘lim faktini tasdiqlash</a:t>
                      </a:r>
                    </a:p>
                  </a:txBody>
                  <a:tcPr marL="73152" marR="73152" marT="36576" marB="36576">
                    <a:solidFill>
                      <a:srgbClr val="E8EEF6"/>
                    </a:solidFill>
                  </a:tcPr>
                </a:tc>
              </a:tr>
              <a:tr h="768096">
                <a:tc>
                  <a:txBody>
                    <a:bodyPr/>
                    <a:lstStyle/>
                    <a:p>
                      <a:r>
                        <a:rPr sz="1700" b="0">
                          <a:solidFill>
                            <a:srgbClr val="1F2937"/>
                          </a:solidFill>
                        </a:rPr>
                        <a:t>Retsipient salomatligi</a:t>
                      </a:r>
                    </a:p>
                  </a:txBody>
                  <a:tcPr marL="73152" marR="73152" marT="36576" marB="36576">
                    <a:solidFill>
                      <a:srgbClr val="FFFFFF"/>
                    </a:solidFill>
                  </a:tcPr>
                </a:tc>
                <a:tc>
                  <a:txBody>
                    <a:bodyPr/>
                    <a:lstStyle/>
                    <a:p>
                      <a:r>
                        <a:rPr sz="1700" b="0">
                          <a:solidFill>
                            <a:srgbClr val="1F2937"/>
                          </a:solidFill>
                        </a:rPr>
                        <a:t>A’zoni tanadan olish</a:t>
                      </a:r>
                    </a:p>
                  </a:txBody>
                  <a:tcPr marL="73152" marR="73152" marT="36576" marB="36576">
                    <a:solidFill>
                      <a:srgbClr val="FFFFFF"/>
                    </a:solidFill>
                  </a:tcPr>
                </a:tc>
              </a:tr>
              <a:tr h="768096">
                <a:tc>
                  <a:txBody>
                    <a:bodyPr/>
                    <a:lstStyle/>
                    <a:p>
                      <a:r>
                        <a:rPr sz="1700" b="0">
                          <a:solidFill>
                            <a:srgbClr val="1F2937"/>
                          </a:solidFill>
                        </a:rPr>
                        <a:t>Immunosupressiv terapiya</a:t>
                      </a:r>
                    </a:p>
                  </a:txBody>
                  <a:tcPr marL="73152" marR="73152" marT="36576" marB="36576">
                    <a:solidFill>
                      <a:srgbClr val="E8EEF6"/>
                    </a:solidFill>
                  </a:tcPr>
                </a:tc>
                <a:tc>
                  <a:txBody>
                    <a:bodyPr/>
                    <a:lstStyle/>
                    <a:p>
                      <a:r>
                        <a:rPr sz="1700" b="0">
                          <a:solidFill>
                            <a:srgbClr val="1F2937"/>
                          </a:solidFill>
                        </a:rPr>
                        <a:t>Taqsimlash va tijoratlashtirish</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Cheklovlar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 (3-bob,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transplantatsiya turini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 vaziyat: og‘ir kuyish bemoriga uning o‘zining shikastlanmagan joyidan teri ko‘chirildi. Bu qaysi tur?</a:t>
            </a:r>
          </a:p>
          <a:p>
            <a:pPr>
              <a:spcAft>
                <a:spcPts val="1200"/>
              </a:spcAft>
            </a:pPr>
            <a:r>
              <a:rPr sz="2200">
                <a:solidFill>
                  <a:srgbClr val="1F2937"/>
                </a:solidFill>
                <a:latin typeface="Calibri"/>
              </a:rPr>
              <a:t>▸  B vaziyat: leykoz bemoriga yuqori dozali kimyoterapiyadan keyin uning o‘z iligi yoki gemopoetik o‘zak hujayralari ko‘chirildi.</a:t>
            </a:r>
          </a:p>
          <a:p>
            <a:pPr>
              <a:spcAft>
                <a:spcPts val="1200"/>
              </a:spcAft>
            </a:pPr>
            <a:r>
              <a:rPr sz="2200">
                <a:solidFill>
                  <a:srgbClr val="1F2937"/>
                </a:solidFill>
                <a:latin typeface="Calibri"/>
              </a:rPr>
              <a:t>▸  C vaziyat: donor — retsipientga immunologik va genetik jihatdan aynan o‘xshash tuxumdosh egizagi. Bu qaysi tur?</a:t>
            </a:r>
          </a:p>
          <a:p>
            <a:pPr>
              <a:spcAft>
                <a:spcPts val="1200"/>
              </a:spcAft>
            </a:pPr>
            <a:r>
              <a:rPr sz="2200">
                <a:solidFill>
                  <a:srgbClr val="1F2937"/>
                </a:solidFill>
                <a:latin typeface="Calibri"/>
              </a:rPr>
              <a:t>▸  Savol: A, B va C ni auto-, izo-, allo-, ksenotransplantatsiya turlaridan qaysi biriga kiritasiz va nima uchun?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 (3-bob,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donor: zarar bilan foyda dilemmasi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Tirik donordan a‘zo olish uning sog‘lig‘iga zarar yetkazadi, shu sabab «zarar yetkazma» tamoyili buziladi.</a:t>
            </a:r>
          </a:p>
          <a:p>
            <a:pPr>
              <a:spcAft>
                <a:spcPts val="800"/>
              </a:spcAft>
            </a:pPr>
            <a:r>
              <a:rPr sz="1800">
                <a:solidFill>
                  <a:srgbClr val="1F2937"/>
                </a:solidFill>
                <a:latin typeface="Calibri"/>
              </a:rPr>
              <a:t>▸  Shifokor donor sog‘lig‘iga zarar va recipient hayotini qutqarish dilemmasiga duch keladi.</a:t>
            </a:r>
          </a:p>
          <a:p>
            <a:pPr>
              <a:spcAft>
                <a:spcPts val="800"/>
              </a:spcAft>
            </a:pPr>
            <a:r>
              <a:rPr sz="1800">
                <a:solidFill>
                  <a:srgbClr val="1F2937"/>
                </a:solidFill>
                <a:latin typeface="Calibri"/>
              </a:rPr>
              <a:t>▸  Dilemma foyda va zararni solishtirib hal etiladi: olinadigan foyda zarardan yuqori bo‘lishi shart.</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Donordan a‘zo olish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Donorga zarar xavfi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Recipient hayotini qutqarish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Foyda va zararni solishtirish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Qoida: foyda zarardan yuqori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Dilemmani hal qilish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donorlar doirasi va jasadli donorlik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Tirik donorlar doirasi turli davlatlarda qonun bilan belgilab qo‘yilgan.</a:t>
            </a:r>
          </a:p>
          <a:p>
            <a:pPr>
              <a:spcAft>
                <a:spcPts val="800"/>
              </a:spcAft>
            </a:pPr>
            <a:r>
              <a:rPr sz="1800">
                <a:solidFill>
                  <a:srgbClr val="1F2937"/>
                </a:solidFill>
                <a:latin typeface="Calibri"/>
              </a:rPr>
              <a:t>▸  Jasaddan a‘zo olish donorlikning eng keng tarqalgan turi hisoblanadi.</a:t>
            </a:r>
          </a:p>
          <a:p>
            <a:pPr>
              <a:spcAft>
                <a:spcPts val="800"/>
              </a:spcAft>
            </a:pPr>
            <a:r>
              <a:rPr sz="1800">
                <a:solidFill>
                  <a:srgbClr val="1F2937"/>
                </a:solidFill>
                <a:latin typeface="Calibri"/>
              </a:rPr>
              <a:t>▸  Uning uch asosiy muammosi: o‘limni tasdiqlash, ixtiyoriy rozilik bildirish va dinning munosabati.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41095"/>
                <a:gridCol w="3646879"/>
              </a:tblGrid>
              <a:tr h="61447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Kimlar / xususiyat</a:t>
                      </a:r>
                    </a:p>
                  </a:txBody>
                  <a:tcPr marL="73152" marR="73152" marT="36576" marB="36576">
                    <a:solidFill>
                      <a:srgbClr val="0B1F3A"/>
                    </a:solidFill>
                  </a:tcPr>
                </a:tc>
              </a:tr>
              <a:tr h="614476">
                <a:tc>
                  <a:txBody>
                    <a:bodyPr/>
                    <a:lstStyle/>
                    <a:p>
                      <a:r>
                        <a:rPr sz="1700" b="0">
                          <a:solidFill>
                            <a:srgbClr val="1F2937"/>
                          </a:solidFill>
                        </a:rPr>
                        <a:t>Yaqin qarindosh</a:t>
                      </a:r>
                    </a:p>
                  </a:txBody>
                  <a:tcPr marL="73152" marR="73152" marT="36576" marB="36576">
                    <a:solidFill>
                      <a:srgbClr val="E8EEF6"/>
                    </a:solidFill>
                  </a:tcPr>
                </a:tc>
                <a:tc>
                  <a:txBody>
                    <a:bodyPr/>
                    <a:lstStyle/>
                    <a:p>
                      <a:r>
                        <a:rPr sz="1700" b="0">
                          <a:solidFill>
                            <a:srgbClr val="1F2937"/>
                          </a:solidFill>
                        </a:rPr>
                        <a:t>Egizak, aka-uka, opa-singil, ota-ona</a:t>
                      </a:r>
                    </a:p>
                  </a:txBody>
                  <a:tcPr marL="73152" marR="73152" marT="36576" marB="36576">
                    <a:solidFill>
                      <a:srgbClr val="E8EEF6"/>
                    </a:solidFill>
                  </a:tcPr>
                </a:tc>
              </a:tr>
              <a:tr h="614476">
                <a:tc>
                  <a:txBody>
                    <a:bodyPr/>
                    <a:lstStyle/>
                    <a:p>
                      <a:r>
                        <a:rPr sz="1700" b="0">
                          <a:solidFill>
                            <a:srgbClr val="1F2937"/>
                          </a:solidFill>
                        </a:rPr>
                        <a:t>Qarindosh emas</a:t>
                      </a:r>
                    </a:p>
                  </a:txBody>
                  <a:tcPr marL="73152" marR="73152" marT="36576" marB="36576">
                    <a:solidFill>
                      <a:srgbClr val="FFFFFF"/>
                    </a:solidFill>
                  </a:tcPr>
                </a:tc>
                <a:tc>
                  <a:txBody>
                    <a:bodyPr/>
                    <a:lstStyle/>
                    <a:p>
                      <a:r>
                        <a:rPr sz="1700" b="0">
                          <a:solidFill>
                            <a:srgbClr val="1F2937"/>
                          </a:solidFill>
                        </a:rPr>
                        <a:t>Er/xotin qarindoshi, do‘st, yaqin tanish</a:t>
                      </a:r>
                    </a:p>
                  </a:txBody>
                  <a:tcPr marL="73152" marR="73152" marT="36576" marB="36576">
                    <a:solidFill>
                      <a:srgbClr val="FFFFFF"/>
                    </a:solidFill>
                  </a:tcPr>
                </a:tc>
              </a:tr>
              <a:tr h="614476">
                <a:tc>
                  <a:txBody>
                    <a:bodyPr/>
                    <a:lstStyle/>
                    <a:p>
                      <a:r>
                        <a:rPr sz="1700" b="0">
                          <a:solidFill>
                            <a:srgbClr val="1F2937"/>
                          </a:solidFill>
                        </a:rPr>
                        <a:t>Doirani belgilaydi</a:t>
                      </a:r>
                    </a:p>
                  </a:txBody>
                  <a:tcPr marL="73152" marR="73152" marT="36576" marB="36576">
                    <a:solidFill>
                      <a:srgbClr val="E8EEF6"/>
                    </a:solidFill>
                  </a:tcPr>
                </a:tc>
                <a:tc>
                  <a:txBody>
                    <a:bodyPr/>
                    <a:lstStyle/>
                    <a:p>
                      <a:r>
                        <a:rPr sz="1700" b="0">
                          <a:solidFill>
                            <a:srgbClr val="1F2937"/>
                          </a:solidFill>
                        </a:rPr>
                        <a:t>Har bir davlat qonuni</a:t>
                      </a:r>
                    </a:p>
                  </a:txBody>
                  <a:tcPr marL="73152" marR="73152" marT="36576" marB="36576">
                    <a:solidFill>
                      <a:srgbClr val="E8EEF6"/>
                    </a:solidFill>
                  </a:tcPr>
                </a:tc>
              </a:tr>
              <a:tr h="614476">
                <a:tc>
                  <a:txBody>
                    <a:bodyPr/>
                    <a:lstStyle/>
                    <a:p>
                      <a:r>
                        <a:rPr sz="1700" b="0">
                          <a:solidFill>
                            <a:srgbClr val="1F2937"/>
                          </a:solidFill>
                        </a:rPr>
                        <a:t>Jasadli donorlik</a:t>
                      </a:r>
                    </a:p>
                  </a:txBody>
                  <a:tcPr marL="73152" marR="73152" marT="36576" marB="36576">
                    <a:solidFill>
                      <a:srgbClr val="FFFFFF"/>
                    </a:solidFill>
                  </a:tcPr>
                </a:tc>
                <a:tc>
                  <a:txBody>
                    <a:bodyPr/>
                    <a:lstStyle/>
                    <a:p>
                      <a:r>
                        <a:rPr sz="1700" b="0">
                          <a:solidFill>
                            <a:srgbClr val="1F2937"/>
                          </a:solidFill>
                        </a:rPr>
                        <a:t>Eng keng tarqalgan tur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Donorlar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Recipientning o‘zi donor bo‘ladigan transplantatsiya qaysi tur? (Javob: autotransplantatsiya, ya’ni autologik transplantatsiya.)</a:t>
            </a:r>
          </a:p>
          <a:p>
            <a:pPr>
              <a:spcAft>
                <a:spcPts val="1200"/>
              </a:spcAft>
            </a:pPr>
            <a:r>
              <a:rPr sz="2200">
                <a:solidFill>
                  <a:srgbClr val="1F2937"/>
                </a:solidFill>
                <a:latin typeface="Calibri"/>
              </a:rPr>
              <a:t>▸  2-savol: Tirik donor dilemmasi qaysi qoida bilan hal etiladi? (Javob: olinadigan foyda yetkaziladigan zarardan yuqori bo‘lishi kerak.)</a:t>
            </a:r>
          </a:p>
          <a:p>
            <a:pPr>
              <a:spcAft>
                <a:spcPts val="1200"/>
              </a:spcAft>
            </a:pPr>
            <a:r>
              <a:rPr sz="2200">
                <a:solidFill>
                  <a:srgbClr val="1F2937"/>
                </a:solidFill>
                <a:latin typeface="Calibri"/>
              </a:rPr>
              <a:t>▸  3-savol: Jasadli donorlikning uch muammosini sanang. (Javob: o‘limni tasdiqlash, ixtiyoriy voz kechish istagi, dinning ruxsati.)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tushunchasi tarixi: vaqt chizig‘i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XX asr oxirida reanimatsiya va transplantologiya rivoji tufayli o‘lim vaqtini aniqlash bioetik muammoga aylandi.</a:t>
            </a:r>
          </a:p>
          <a:p>
            <a:pPr>
              <a:spcAft>
                <a:spcPts val="800"/>
              </a:spcAft>
            </a:pPr>
            <a:r>
              <a:rPr sz="1800">
                <a:solidFill>
                  <a:srgbClr val="1F2937"/>
                </a:solidFill>
                <a:latin typeface="Calibri"/>
              </a:rPr>
              <a:t>▸  Asosiy savol: organizmning qaysi holati o‘lim vaqti deb tan olinadi?</a:t>
            </a:r>
          </a:p>
          <a:p>
            <a:pPr>
              <a:spcAft>
                <a:spcPts val="800"/>
              </a:spcAft>
            </a:pPr>
            <a:r>
              <a:rPr sz="1800">
                <a:solidFill>
                  <a:srgbClr val="1F2937"/>
                </a:solidFill>
                <a:latin typeface="Calibri"/>
              </a:rPr>
              <a:t>▸  Miya o‘limi konsepsiyasi fransuz nevropatologlari Mollare va Gulon ‘chegaradan o‘tgan koma’ni tavsiflagach ishlab chiqilgan.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Bosqich</a:t>
                      </a:r>
                    </a:p>
                  </a:txBody>
                  <a:tcPr marL="73152" marR="73152" marT="36576" marB="36576">
                    <a:solidFill>
                      <a:srgbClr val="0B1F3A"/>
                    </a:solidFill>
                  </a:tcPr>
                </a:tc>
                <a:tc>
                  <a:txBody>
                    <a:bodyPr/>
                    <a:lstStyle/>
                    <a:p>
                      <a:r>
                        <a:rPr sz="1800" b="1">
                          <a:solidFill>
                            <a:srgbClr val="FFFFFF"/>
                          </a:solidFill>
                        </a:rPr>
                        <a:t>Mazmun</a:t>
                      </a:r>
                    </a:p>
                  </a:txBody>
                  <a:tcPr marL="73152" marR="73152" marT="36576" marB="36576">
                    <a:solidFill>
                      <a:srgbClr val="0B1F3A"/>
                    </a:solidFill>
                  </a:tcPr>
                </a:tc>
              </a:tr>
              <a:tr h="614476">
                <a:tc>
                  <a:txBody>
                    <a:bodyPr/>
                    <a:lstStyle/>
                    <a:p>
                      <a:r>
                        <a:rPr sz="1700" b="0">
                          <a:solidFill>
                            <a:srgbClr val="1F2937"/>
                          </a:solidFill>
                        </a:rPr>
                        <a:t>Koma tavsifi</a:t>
                      </a:r>
                    </a:p>
                  </a:txBody>
                  <a:tcPr marL="73152" marR="73152" marT="36576" marB="36576">
                    <a:solidFill>
                      <a:srgbClr val="E8EEF6"/>
                    </a:solidFill>
                  </a:tcPr>
                </a:tc>
                <a:tc>
                  <a:txBody>
                    <a:bodyPr/>
                    <a:lstStyle/>
                    <a:p>
                      <a:r>
                        <a:rPr sz="1700" b="0">
                          <a:solidFill>
                            <a:srgbClr val="1F2937"/>
                          </a:solidFill>
                        </a:rPr>
                        <a:t>Mollare va Gulon (fransuz nevropatologlari)</a:t>
                      </a:r>
                    </a:p>
                  </a:txBody>
                  <a:tcPr marL="73152" marR="73152" marT="36576" marB="36576">
                    <a:solidFill>
                      <a:srgbClr val="E8EEF6"/>
                    </a:solidFill>
                  </a:tcPr>
                </a:tc>
              </a:tr>
              <a:tr h="614476">
                <a:tc>
                  <a:txBody>
                    <a:bodyPr/>
                    <a:lstStyle/>
                    <a:p>
                      <a:r>
                        <a:rPr sz="1700" b="0">
                          <a:solidFill>
                            <a:srgbClr val="1F2937"/>
                          </a:solidFill>
                        </a:rPr>
                        <a:t>1968-yil</a:t>
                      </a:r>
                    </a:p>
                  </a:txBody>
                  <a:tcPr marL="73152" marR="73152" marT="36576" marB="36576">
                    <a:solidFill>
                      <a:srgbClr val="FFFFFF"/>
                    </a:solidFill>
                  </a:tcPr>
                </a:tc>
                <a:tc>
                  <a:txBody>
                    <a:bodyPr/>
                    <a:lstStyle/>
                    <a:p>
                      <a:r>
                        <a:rPr sz="1700" b="0">
                          <a:solidFill>
                            <a:srgbClr val="1F2937"/>
                          </a:solidFill>
                        </a:rPr>
                        <a:t>Miya o‘limining Harvard mezonlari yaratildi</a:t>
                      </a:r>
                    </a:p>
                  </a:txBody>
                  <a:tcPr marL="73152" marR="73152" marT="36576" marB="36576">
                    <a:solidFill>
                      <a:srgbClr val="FFFFFF"/>
                    </a:solidFill>
                  </a:tcPr>
                </a:tc>
              </a:tr>
              <a:tr h="614476">
                <a:tc>
                  <a:txBody>
                    <a:bodyPr/>
                    <a:lstStyle/>
                    <a:p>
                      <a:r>
                        <a:rPr sz="1700" b="0">
                          <a:solidFill>
                            <a:srgbClr val="1F2937"/>
                          </a:solidFill>
                        </a:rPr>
                        <a:t>Shu yil (1968)</a:t>
                      </a:r>
                    </a:p>
                  </a:txBody>
                  <a:tcPr marL="73152" marR="73152" marT="36576" marB="36576">
                    <a:solidFill>
                      <a:srgbClr val="E8EEF6"/>
                    </a:solidFill>
                  </a:tcPr>
                </a:tc>
                <a:tc>
                  <a:txBody>
                    <a:bodyPr/>
                    <a:lstStyle/>
                    <a:p>
                      <a:r>
                        <a:rPr sz="1700" b="0">
                          <a:solidFill>
                            <a:srgbClr val="1F2937"/>
                          </a:solidFill>
                        </a:rPr>
                        <a:t>Dunyo tibbiyot hamjamiyati tan oldi (Sidney)</a:t>
                      </a:r>
                    </a:p>
                  </a:txBody>
                  <a:tcPr marL="73152" marR="73152" marT="36576" marB="36576">
                    <a:solidFill>
                      <a:srgbClr val="E8EEF6"/>
                    </a:solidFill>
                  </a:tcPr>
                </a:tc>
              </a:tr>
              <a:tr h="614476">
                <a:tc>
                  <a:txBody>
                    <a:bodyPr/>
                    <a:lstStyle/>
                    <a:p>
                      <a:r>
                        <a:rPr sz="1700" b="0">
                          <a:solidFill>
                            <a:srgbClr val="1F2937"/>
                          </a:solidFill>
                        </a:rPr>
                        <a:t>Keyingi yillar</a:t>
                      </a:r>
                    </a:p>
                  </a:txBody>
                  <a:tcPr marL="73152" marR="73152" marT="36576" marB="36576">
                    <a:solidFill>
                      <a:srgbClr val="FFFFFF"/>
                    </a:solidFill>
                  </a:tcPr>
                </a:tc>
                <a:tc>
                  <a:txBody>
                    <a:bodyPr/>
                    <a:lstStyle/>
                    <a:p>
                      <a:r>
                        <a:rPr sz="1700" b="0">
                          <a:solidFill>
                            <a:srgbClr val="1F2937"/>
                          </a:solidFill>
                        </a:rPr>
                        <a:t>Ko‘p davlatlarda qonunlar qabul qilindi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Miya o‘limi mezonlari yo‘li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 mezon va mohiyati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Hozirgi tushunchada miya o‘limi — qaytmas behushlik, mustaqil nafasning to‘xtashi va miya poyasi barcha reflekslarining yo‘qolishi.</a:t>
            </a:r>
          </a:p>
          <a:p>
            <a:pPr>
              <a:spcAft>
                <a:spcPts val="1200"/>
              </a:spcAft>
            </a:pPr>
            <a:r>
              <a:rPr sz="2200">
                <a:solidFill>
                  <a:srgbClr val="1F2937"/>
                </a:solidFill>
                <a:latin typeface="Calibri"/>
              </a:rPr>
              <a:t>▸  Bunda miya poyasi bilan birga butun miya nobud bo‘ladi.</a:t>
            </a:r>
          </a:p>
          <a:p>
            <a:pPr>
              <a:spcAft>
                <a:spcPts val="1200"/>
              </a:spcAft>
            </a:pPr>
            <a:r>
              <a:rPr sz="2200">
                <a:solidFill>
                  <a:srgbClr val="1F2937"/>
                </a:solidFill>
                <a:latin typeface="Calibri"/>
              </a:rPr>
              <a:t>▸  O‘lim — organizmning nozik tizimlari ishdan chiqishi yoki buzilishi; ularni sun’iy biologik, kimyoviy, elektron-texnik tizimlar bilan almashtirib bo‘lmaydi. Inson miyasi aynan shunday tizim.</a:t>
            </a:r>
          </a:p>
          <a:p>
            <a:pPr>
              <a:spcAft>
                <a:spcPts val="1200"/>
              </a:spcAft>
            </a:pPr>
            <a:r>
              <a:rPr sz="2200">
                <a:solidFill>
                  <a:srgbClr val="1F2937"/>
                </a:solidFill>
                <a:latin typeface="Calibri"/>
              </a:rPr>
              <a:t>▸  Diqqat: xato qilish xavfi — behushlikning o‘zi miya o‘limi emas. Mezonda qaytmas behushlik, nafas to‘xtashi va poya reflekslarining yo‘qolishi birga keladi. Dunyo davlatlarining aksarida bu o‘limning bosh mezoni.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o‘lim vaqtini belgilash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 qaytmas behush, mustaqil nafas olmaydi, miya poyasi reflekslari yo‘q. Nafas va qon aylanishi apparat bilan ushlab turiladi.</a:t>
            </a:r>
          </a:p>
          <a:p>
            <a:pPr>
              <a:spcAft>
                <a:spcPts val="1200"/>
              </a:spcAft>
            </a:pPr>
            <a:r>
              <a:rPr sz="2200">
                <a:solidFill>
                  <a:srgbClr val="1F2937"/>
                </a:solidFill>
                <a:latin typeface="Calibri"/>
              </a:rPr>
              <a:t>▸  Savol: bu holatda o‘lim vaqti qaysi belgiga qarab tan olinadi — apparat bilan ushlangan yurak faoliyatigami yoki miya holatigami?</a:t>
            </a:r>
          </a:p>
          <a:p>
            <a:pPr>
              <a:spcAft>
                <a:spcPts val="1200"/>
              </a:spcAft>
            </a:pPr>
            <a:r>
              <a:rPr sz="2200">
                <a:solidFill>
                  <a:srgbClr val="1F2937"/>
                </a:solidFill>
                <a:latin typeface="Calibri"/>
              </a:rPr>
              <a:t>▸  Javob yo‘nalishi: aksar davlatlarda miya o‘limi inson o‘limining bosh mezoni, shu mezon bo‘yicha o‘lim tasdiqlanadi.</a:t>
            </a:r>
          </a:p>
          <a:p>
            <a:pPr>
              <a:spcAft>
                <a:spcPts val="1200"/>
              </a:spcAft>
            </a:pPr>
            <a:r>
              <a:rPr sz="2200">
                <a:solidFill>
                  <a:srgbClr val="1F2937"/>
                </a:solidFill>
                <a:latin typeface="Calibri"/>
              </a:rPr>
              <a:t>▸  Qo‘shimcha: Islom huquqshunoslik akademiyasi (1988) nafas va qon aylanishi sun’iy ushlangan miya o‘limidagi odamdan transplantatsiyaga yo‘l qo‘ygan.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Jasaddan a’zo olishning uch modeli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Jasaddan a’zo olishning uch asosiy turi amal qiladi: eskicha usul, rozilik va norozilik prezumptsiyasi.</a:t>
            </a:r>
          </a:p>
          <a:p>
            <a:pPr>
              <a:spcAft>
                <a:spcPts val="800"/>
              </a:spcAft>
            </a:pPr>
            <a:r>
              <a:rPr sz="1800">
                <a:solidFill>
                  <a:srgbClr val="1F2937"/>
                </a:solidFill>
                <a:latin typeface="Calibri"/>
              </a:rPr>
              <a:t>▸  Eskicha usul: tana vafotdan so‘ng davlat mulki hisoblanadi, davlat a’zolardan ilmiy maqsadda foydalanadi.</a:t>
            </a:r>
          </a:p>
          <a:p>
            <a:pPr>
              <a:spcAft>
                <a:spcPts val="800"/>
              </a:spcAft>
            </a:pPr>
            <a:r>
              <a:rPr sz="1800">
                <a:solidFill>
                  <a:srgbClr val="1F2937"/>
                </a:solidFill>
                <a:latin typeface="Calibri"/>
              </a:rPr>
              <a:t>▸  Hozirgi dunyoda a’zo olish rozilik yoki norozilik prezumptsiyasi tamoyillari bo‘yicha amalga oshiriladi.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927859"/>
                <a:gridCol w="1077926"/>
                <a:gridCol w="2282190"/>
              </a:tblGrid>
              <a:tr h="768096">
                <a:tc>
                  <a:txBody>
                    <a:bodyPr/>
                    <a:lstStyle/>
                    <a:p>
                      <a:r>
                        <a:rPr sz="1600" b="1">
                          <a:solidFill>
                            <a:srgbClr val="FFFFFF"/>
                          </a:solidFill>
                        </a:rPr>
                        <a:t>Model</a:t>
                      </a:r>
                    </a:p>
                  </a:txBody>
                  <a:tcPr marL="73152" marR="73152" marT="36576" marB="36576">
                    <a:solidFill>
                      <a:srgbClr val="0B1F3A"/>
                    </a:solidFill>
                  </a:tcPr>
                </a:tc>
                <a:tc>
                  <a:txBody>
                    <a:bodyPr/>
                    <a:lstStyle/>
                    <a:p>
                      <a:r>
                        <a:rPr sz="1600" b="1">
                          <a:solidFill>
                            <a:srgbClr val="FFFFFF"/>
                          </a:solidFill>
                        </a:rPr>
                        <a:t>Asosi</a:t>
                      </a:r>
                    </a:p>
                  </a:txBody>
                  <a:tcPr marL="73152" marR="73152" marT="36576" marB="36576">
                    <a:solidFill>
                      <a:srgbClr val="0B1F3A"/>
                    </a:solidFill>
                  </a:tcPr>
                </a:tc>
                <a:tc>
                  <a:txBody>
                    <a:bodyPr/>
                    <a:lstStyle/>
                    <a:p>
                      <a:r>
                        <a:rPr sz="1600" b="1">
                          <a:solidFill>
                            <a:srgbClr val="FFFFFF"/>
                          </a:solidFill>
                        </a:rPr>
                        <a:t>Natija</a:t>
                      </a:r>
                    </a:p>
                  </a:txBody>
                  <a:tcPr marL="73152" marR="73152" marT="36576" marB="36576">
                    <a:solidFill>
                      <a:srgbClr val="0B1F3A"/>
                    </a:solidFill>
                  </a:tcPr>
                </a:tc>
              </a:tr>
              <a:tr h="768096">
                <a:tc>
                  <a:txBody>
                    <a:bodyPr/>
                    <a:lstStyle/>
                    <a:p>
                      <a:r>
                        <a:rPr sz="1500" b="0">
                          <a:solidFill>
                            <a:srgbClr val="1F2937"/>
                          </a:solidFill>
                        </a:rPr>
                        <a:t>Eskicha usul</a:t>
                      </a:r>
                    </a:p>
                  </a:txBody>
                  <a:tcPr marL="73152" marR="73152" marT="36576" marB="36576">
                    <a:solidFill>
                      <a:srgbClr val="E8EEF6"/>
                    </a:solidFill>
                  </a:tcPr>
                </a:tc>
                <a:tc>
                  <a:txBody>
                    <a:bodyPr/>
                    <a:lstStyle/>
                    <a:p>
                      <a:r>
                        <a:rPr sz="1500" b="0">
                          <a:solidFill>
                            <a:srgbClr val="1F2937"/>
                          </a:solidFill>
                        </a:rPr>
                        <a:t>Tana — davlat mulki</a:t>
                      </a:r>
                    </a:p>
                  </a:txBody>
                  <a:tcPr marL="73152" marR="73152" marT="36576" marB="36576">
                    <a:solidFill>
                      <a:srgbClr val="E8EEF6"/>
                    </a:solidFill>
                  </a:tcPr>
                </a:tc>
                <a:tc>
                  <a:txBody>
                    <a:bodyPr/>
                    <a:lstStyle/>
                    <a:p>
                      <a:r>
                        <a:rPr sz="1500" b="0">
                          <a:solidFill>
                            <a:srgbClr val="1F2937"/>
                          </a:solidFill>
                        </a:rPr>
                        <a:t>Davlat a’zoni olishga haqli</a:t>
                      </a:r>
                    </a:p>
                  </a:txBody>
                  <a:tcPr marL="73152" marR="73152" marT="36576" marB="36576">
                    <a:solidFill>
                      <a:srgbClr val="E8EEF6"/>
                    </a:solidFill>
                  </a:tcPr>
                </a:tc>
              </a:tr>
              <a:tr h="768096">
                <a:tc>
                  <a:txBody>
                    <a:bodyPr/>
                    <a:lstStyle/>
                    <a:p>
                      <a:r>
                        <a:rPr sz="1500" b="0">
                          <a:solidFill>
                            <a:srgbClr val="1F2937"/>
                          </a:solidFill>
                        </a:rPr>
                        <a:t>Rozilik prezumptsiyasi</a:t>
                      </a:r>
                    </a:p>
                  </a:txBody>
                  <a:tcPr marL="73152" marR="73152" marT="36576" marB="36576">
                    <a:solidFill>
                      <a:srgbClr val="FFFFFF"/>
                    </a:solidFill>
                  </a:tcPr>
                </a:tc>
                <a:tc>
                  <a:txBody>
                    <a:bodyPr/>
                    <a:lstStyle/>
                    <a:p>
                      <a:r>
                        <a:rPr sz="1500" b="0">
                          <a:solidFill>
                            <a:srgbClr val="1F2937"/>
                          </a:solidFill>
                        </a:rPr>
                        <a:t>Oldindan rozilik deb olinadi</a:t>
                      </a:r>
                    </a:p>
                  </a:txBody>
                  <a:tcPr marL="73152" marR="73152" marT="36576" marB="36576">
                    <a:solidFill>
                      <a:srgbClr val="FFFFFF"/>
                    </a:solidFill>
                  </a:tcPr>
                </a:tc>
                <a:tc>
                  <a:txBody>
                    <a:bodyPr/>
                    <a:lstStyle/>
                    <a:p>
                      <a:r>
                        <a:rPr sz="1500" b="0">
                          <a:solidFill>
                            <a:srgbClr val="1F2937"/>
                          </a:solidFill>
                        </a:rPr>
                        <a:t>E’tiroz bo‘lmasa olinadi</a:t>
                      </a:r>
                    </a:p>
                  </a:txBody>
                  <a:tcPr marL="73152" marR="73152" marT="36576" marB="36576">
                    <a:solidFill>
                      <a:srgbClr val="FFFFFF"/>
                    </a:solidFill>
                  </a:tcPr>
                </a:tc>
              </a:tr>
              <a:tr h="768096">
                <a:tc>
                  <a:txBody>
                    <a:bodyPr/>
                    <a:lstStyle/>
                    <a:p>
                      <a:r>
                        <a:rPr sz="1500" b="0">
                          <a:solidFill>
                            <a:srgbClr val="1F2937"/>
                          </a:solidFill>
                        </a:rPr>
                        <a:t>Norozilik prezumptsiyasi</a:t>
                      </a:r>
                    </a:p>
                  </a:txBody>
                  <a:tcPr marL="73152" marR="73152" marT="36576" marB="36576">
                    <a:solidFill>
                      <a:srgbClr val="E8EEF6"/>
                    </a:solidFill>
                  </a:tcPr>
                </a:tc>
                <a:tc>
                  <a:txBody>
                    <a:bodyPr/>
                    <a:lstStyle/>
                    <a:p>
                      <a:r>
                        <a:rPr sz="1500" b="0">
                          <a:solidFill>
                            <a:srgbClr val="1F2937"/>
                          </a:solidFill>
                        </a:rPr>
                        <a:t>Oldindan norozilik deb olinadi</a:t>
                      </a:r>
                    </a:p>
                  </a:txBody>
                  <a:tcPr marL="73152" marR="73152" marT="36576" marB="36576">
                    <a:solidFill>
                      <a:srgbClr val="E8EEF6"/>
                    </a:solidFill>
                  </a:tcPr>
                </a:tc>
                <a:tc>
                  <a:txBody>
                    <a:bodyPr/>
                    <a:lstStyle/>
                    <a:p>
                      <a:r>
                        <a:rPr sz="1500" b="0">
                          <a:solidFill>
                            <a:srgbClr val="1F2937"/>
                          </a:solidFill>
                        </a:rPr>
                        <a:t>Rozilik rasmiylashtirilsa olinadi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modelni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Rozilik prezumptsiyasi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Prezumptsiya — shaxsning oldindan rozilik bergani deb tan olinishi.</a:t>
            </a:r>
          </a:p>
          <a:p>
            <a:pPr>
              <a:spcAft>
                <a:spcPts val="800"/>
              </a:spcAft>
            </a:pPr>
            <a:r>
              <a:rPr sz="1800">
                <a:solidFill>
                  <a:srgbClr val="1F2937"/>
                </a:solidFill>
                <a:latin typeface="Calibri"/>
              </a:rPr>
              <a:t>▸  Rozi bo‘lmagan odam o‘z e’tirozini belgilangan tartibda bildirishi kerak.</a:t>
            </a:r>
          </a:p>
          <a:p>
            <a:pPr>
              <a:spcAft>
                <a:spcPts val="800"/>
              </a:spcAft>
            </a:pPr>
            <a:r>
              <a:rPr sz="1800">
                <a:solidFill>
                  <a:srgbClr val="1F2937"/>
                </a:solidFill>
                <a:latin typeface="Calibri"/>
              </a:rPr>
              <a:t>▸  Shaxs, yaqinlari yoki qonuniy vakili e’tirozini muassasaga bildirgan bo‘lsa, a’zo olinmaydi.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Inson vafot etadi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Norozilik bildirilganmi?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Yo‘q: a’zo olish huquqi bor</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 a’zo olish mumkin emas</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Rozilik prezumptsiyasi tartibi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Norozilik prezumptsiyasi va donor-karta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Norozilik prezumptsiyasida shaxs oldindan norozi deb hisoblanadi. Rozi bo‘lsa, buni belgilangan tartibda rasmiylashtirishi kerak.</a:t>
            </a:r>
          </a:p>
          <a:p>
            <a:pPr>
              <a:spcAft>
                <a:spcPts val="1200"/>
              </a:spcAft>
            </a:pPr>
            <a:r>
              <a:rPr sz="2200">
                <a:solidFill>
                  <a:srgbClr val="1F2937"/>
                </a:solidFill>
                <a:latin typeface="Calibri"/>
              </a:rPr>
              <a:t>▸  Ayrim davlatlarda a’zo olishga rozilik hujjati odam hayotligida rasmiylashtiriladi. AQShda buning huquqiy shakli — «donor-karta».</a:t>
            </a:r>
          </a:p>
          <a:p>
            <a:pPr>
              <a:spcAft>
                <a:spcPts val="1200"/>
              </a:spcAft>
            </a:pPr>
            <a:r>
              <a:rPr sz="2200">
                <a:solidFill>
                  <a:srgbClr val="1F2937"/>
                </a:solidFill>
                <a:latin typeface="Calibri"/>
              </a:rPr>
              <a:t>▸  AQSh, Germaniya, Kanada, Fransiya va Italiyada «so‘rab olingan rozilik» amal qiladi: rasmiy roziliksiz a’zo olinmaydi.</a:t>
            </a:r>
          </a:p>
          <a:p>
            <a:pPr>
              <a:spcAft>
                <a:spcPts val="1200"/>
              </a:spcAft>
            </a:pPr>
            <a:r>
              <a:rPr sz="2200">
                <a:solidFill>
                  <a:srgbClr val="1F2937"/>
                </a:solidFill>
                <a:latin typeface="Calibri"/>
              </a:rPr>
              <a:t>▸  Diqqat: xato qilish xavfi! Rozilik prezumptsiyasi ≠ norozilik prezumptsiyasi: birinchisida e’tiroz bildiriladi, ikkinchisida rozilik beriladi.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Davlatlar amaliyoti: ikki yondashuv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Avstriya, Belgiya, Ispaniya, Vengriya, Chexiyada huquqiy normalar rozilik prezumptsiyasiga moslangan.</a:t>
            </a:r>
          </a:p>
          <a:p>
            <a:pPr>
              <a:spcAft>
                <a:spcPts val="800"/>
              </a:spcAft>
            </a:pPr>
            <a:r>
              <a:rPr sz="1800">
                <a:solidFill>
                  <a:srgbClr val="1F2937"/>
                </a:solidFill>
                <a:latin typeface="Calibri"/>
              </a:rPr>
              <a:t>▸  AQSh, Germaniya, Kanada, Fransiya, Italiya: norozilik prezumptsiyasi, ya’ni “so‘rab olingan rozilik”.</a:t>
            </a:r>
          </a:p>
          <a:p>
            <a:pPr>
              <a:spcAft>
                <a:spcPts val="800"/>
              </a:spcAft>
            </a:pPr>
            <a:r>
              <a:rPr sz="1800">
                <a:solidFill>
                  <a:srgbClr val="1F2937"/>
                </a:solidFill>
                <a:latin typeface="Calibri"/>
              </a:rPr>
              <a:t>▸  Qariyb 40 ta davlatda transplantatsiya dasturi Konstitutsiya bo‘limi yoki maxsus qonun bilan tartiblangan.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219200"/>
                <a:gridCol w="1849721"/>
                <a:gridCol w="2219053"/>
              </a:tblGrid>
              <a:tr h="614476">
                <a:tc>
                  <a:txBody>
                    <a:bodyPr/>
                    <a:lstStyle/>
                    <a:p>
                      <a:r>
                        <a:rPr sz="1600" b="1">
                          <a:solidFill>
                            <a:srgbClr val="FFFFFF"/>
                          </a:solidFill>
                        </a:rPr>
                        <a:t>Savol</a:t>
                      </a:r>
                    </a:p>
                  </a:txBody>
                  <a:tcPr marL="73152" marR="73152" marT="36576" marB="36576">
                    <a:solidFill>
                      <a:srgbClr val="0B1F3A"/>
                    </a:solidFill>
                  </a:tcPr>
                </a:tc>
                <a:tc>
                  <a:txBody>
                    <a:bodyPr/>
                    <a:lstStyle/>
                    <a:p>
                      <a:r>
                        <a:rPr sz="1600" b="1">
                          <a:solidFill>
                            <a:srgbClr val="FFFFFF"/>
                          </a:solidFill>
                        </a:rPr>
                        <a:t>Rozilik</a:t>
                      </a:r>
                    </a:p>
                  </a:txBody>
                  <a:tcPr marL="73152" marR="73152" marT="36576" marB="36576">
                    <a:solidFill>
                      <a:srgbClr val="0B1F3A"/>
                    </a:solidFill>
                  </a:tcPr>
                </a:tc>
                <a:tc>
                  <a:txBody>
                    <a:bodyPr/>
                    <a:lstStyle/>
                    <a:p>
                      <a:r>
                        <a:rPr sz="1600" b="1">
                          <a:solidFill>
                            <a:srgbClr val="FFFFFF"/>
                          </a:solidFill>
                        </a:rPr>
                        <a:t>Norozilik</a:t>
                      </a:r>
                    </a:p>
                  </a:txBody>
                  <a:tcPr marL="73152" marR="73152" marT="36576" marB="36576">
                    <a:solidFill>
                      <a:srgbClr val="0B1F3A"/>
                    </a:solidFill>
                  </a:tcPr>
                </a:tc>
              </a:tr>
              <a:tr h="614476">
                <a:tc>
                  <a:txBody>
                    <a:bodyPr/>
                    <a:lstStyle/>
                    <a:p>
                      <a:r>
                        <a:rPr sz="1500" b="0">
                          <a:solidFill>
                            <a:srgbClr val="1F2937"/>
                          </a:solidFill>
                        </a:rPr>
                        <a:t>Asosiy qoida</a:t>
                      </a:r>
                    </a:p>
                  </a:txBody>
                  <a:tcPr marL="73152" marR="73152" marT="36576" marB="36576">
                    <a:solidFill>
                      <a:srgbClr val="E8EEF6"/>
                    </a:solidFill>
                  </a:tcPr>
                </a:tc>
                <a:tc>
                  <a:txBody>
                    <a:bodyPr/>
                    <a:lstStyle/>
                    <a:p>
                      <a:r>
                        <a:rPr sz="1500" b="0">
                          <a:solidFill>
                            <a:srgbClr val="1F2937"/>
                          </a:solidFill>
                        </a:rPr>
                        <a:t>Rozilik oldindan bor deb olinadi</a:t>
                      </a:r>
                    </a:p>
                  </a:txBody>
                  <a:tcPr marL="73152" marR="73152" marT="36576" marB="36576">
                    <a:solidFill>
                      <a:srgbClr val="E8EEF6"/>
                    </a:solidFill>
                  </a:tcPr>
                </a:tc>
                <a:tc>
                  <a:txBody>
                    <a:bodyPr/>
                    <a:lstStyle/>
                    <a:p>
                      <a:r>
                        <a:rPr sz="1500" b="0">
                          <a:solidFill>
                            <a:srgbClr val="1F2937"/>
                          </a:solidFill>
                        </a:rPr>
                        <a:t>Norozilik oldindan bor deb olinadi</a:t>
                      </a:r>
                    </a:p>
                  </a:txBody>
                  <a:tcPr marL="73152" marR="73152" marT="36576" marB="36576">
                    <a:solidFill>
                      <a:srgbClr val="E8EEF6"/>
                    </a:solidFill>
                  </a:tcPr>
                </a:tc>
              </a:tr>
              <a:tr h="614476">
                <a:tc>
                  <a:txBody>
                    <a:bodyPr/>
                    <a:lstStyle/>
                    <a:p>
                      <a:r>
                        <a:rPr sz="1500" b="0">
                          <a:solidFill>
                            <a:srgbClr val="1F2937"/>
                          </a:solidFill>
                        </a:rPr>
                        <a:t>Kim harakat qiladi</a:t>
                      </a:r>
                    </a:p>
                  </a:txBody>
                  <a:tcPr marL="73152" marR="73152" marT="36576" marB="36576">
                    <a:solidFill>
                      <a:srgbClr val="FFFFFF"/>
                    </a:solidFill>
                  </a:tcPr>
                </a:tc>
                <a:tc>
                  <a:txBody>
                    <a:bodyPr/>
                    <a:lstStyle/>
                    <a:p>
                      <a:r>
                        <a:rPr sz="1500" b="0">
                          <a:solidFill>
                            <a:srgbClr val="1F2937"/>
                          </a:solidFill>
                        </a:rPr>
                        <a:t>Rozi bo‘lmagan e’tirozini bildiradi</a:t>
                      </a:r>
                    </a:p>
                  </a:txBody>
                  <a:tcPr marL="73152" marR="73152" marT="36576" marB="36576">
                    <a:solidFill>
                      <a:srgbClr val="FFFFFF"/>
                    </a:solidFill>
                  </a:tcPr>
                </a:tc>
                <a:tc>
                  <a:txBody>
                    <a:bodyPr/>
                    <a:lstStyle/>
                    <a:p>
                      <a:r>
                        <a:rPr sz="1500" b="0">
                          <a:solidFill>
                            <a:srgbClr val="1F2937"/>
                          </a:solidFill>
                        </a:rPr>
                        <a:t>Rozi bo‘lgan rozilikni rasmiylashtiradi</a:t>
                      </a:r>
                    </a:p>
                  </a:txBody>
                  <a:tcPr marL="73152" marR="73152" marT="36576" marB="36576">
                    <a:solidFill>
                      <a:srgbClr val="FFFFFF"/>
                    </a:solidFill>
                  </a:tcPr>
                </a:tc>
              </a:tr>
              <a:tr h="614476">
                <a:tc>
                  <a:txBody>
                    <a:bodyPr/>
                    <a:lstStyle/>
                    <a:p>
                      <a:r>
                        <a:rPr sz="1500" b="0">
                          <a:solidFill>
                            <a:srgbClr val="1F2937"/>
                          </a:solidFill>
                        </a:rPr>
                        <a:t>A’zo olish</a:t>
                      </a:r>
                    </a:p>
                  </a:txBody>
                  <a:tcPr marL="73152" marR="73152" marT="36576" marB="36576">
                    <a:solidFill>
                      <a:srgbClr val="E8EEF6"/>
                    </a:solidFill>
                  </a:tcPr>
                </a:tc>
                <a:tc>
                  <a:txBody>
                    <a:bodyPr/>
                    <a:lstStyle/>
                    <a:p>
                      <a:r>
                        <a:rPr sz="1500" b="0">
                          <a:solidFill>
                            <a:srgbClr val="1F2937"/>
                          </a:solidFill>
                        </a:rPr>
                        <a:t>E’tiroz bo‘lmasa mumkin</a:t>
                      </a:r>
                    </a:p>
                  </a:txBody>
                  <a:tcPr marL="73152" marR="73152" marT="36576" marB="36576">
                    <a:solidFill>
                      <a:srgbClr val="E8EEF6"/>
                    </a:solidFill>
                  </a:tcPr>
                </a:tc>
                <a:tc>
                  <a:txBody>
                    <a:bodyPr/>
                    <a:lstStyle/>
                    <a:p>
                      <a:r>
                        <a:rPr sz="1500" b="0">
                          <a:solidFill>
                            <a:srgbClr val="1F2937"/>
                          </a:solidFill>
                        </a:rPr>
                        <a:t>Rasmiy rozilik bo‘lmasa mumkin emas</a:t>
                      </a:r>
                    </a:p>
                  </a:txBody>
                  <a:tcPr marL="73152" marR="73152" marT="36576" marB="36576">
                    <a:solidFill>
                      <a:srgbClr val="E8EEF6"/>
                    </a:solidFill>
                  </a:tcPr>
                </a:tc>
              </a:tr>
              <a:tr h="614476">
                <a:tc>
                  <a:txBody>
                    <a:bodyPr/>
                    <a:lstStyle/>
                    <a:p>
                      <a:r>
                        <a:rPr sz="1500" b="0">
                          <a:solidFill>
                            <a:srgbClr val="1F2937"/>
                          </a:solidFill>
                        </a:rPr>
                        <a:t>Davlat namunasi</a:t>
                      </a:r>
                    </a:p>
                  </a:txBody>
                  <a:tcPr marL="73152" marR="73152" marT="36576" marB="36576">
                    <a:solidFill>
                      <a:srgbClr val="FFFFFF"/>
                    </a:solidFill>
                  </a:tcPr>
                </a:tc>
                <a:tc>
                  <a:txBody>
                    <a:bodyPr/>
                    <a:lstStyle/>
                    <a:p>
                      <a:r>
                        <a:rPr sz="1500" b="0">
                          <a:solidFill>
                            <a:srgbClr val="1F2937"/>
                          </a:solidFill>
                        </a:rPr>
                        <a:t>Avstriya, Ispaniya</a:t>
                      </a:r>
                    </a:p>
                  </a:txBody>
                  <a:tcPr marL="73152" marR="73152" marT="36576" marB="36576">
                    <a:solidFill>
                      <a:srgbClr val="FFFFFF"/>
                    </a:solidFill>
                  </a:tcPr>
                </a:tc>
                <a:tc>
                  <a:txBody>
                    <a:bodyPr/>
                    <a:lstStyle/>
                    <a:p>
                      <a:r>
                        <a:rPr sz="1500" b="0">
                          <a:solidFill>
                            <a:srgbClr val="1F2937"/>
                          </a:solidFill>
                        </a:rPr>
                        <a:t>AQSh, Germaniya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model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 (3.1-bo‘lim)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prezumptsiyani qo‘llash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odam vafot etdi. U hayotligida ham, qarindoshlari ham sog‘liqni saqlash muassasasiga e’tiroz bildirmagan; rasmiy rozilik hujjati yo‘q.</a:t>
            </a:r>
          </a:p>
          <a:p>
            <a:pPr>
              <a:spcAft>
                <a:spcPts val="1200"/>
              </a:spcAft>
            </a:pPr>
            <a:r>
              <a:rPr sz="2200">
                <a:solidFill>
                  <a:srgbClr val="1F2937"/>
                </a:solidFill>
                <a:latin typeface="Calibri"/>
              </a:rPr>
              <a:t>▸  Rozilik prezumptsiyasida marhum yoki qarindoshlari e’tiroz bildirmagan bo‘lsa, a’zo va to‘qimalarni olishga huquq beriladi.</a:t>
            </a:r>
          </a:p>
          <a:p>
            <a:pPr>
              <a:spcAft>
                <a:spcPts val="1200"/>
              </a:spcAft>
            </a:pPr>
            <a:r>
              <a:rPr sz="2200">
                <a:solidFill>
                  <a:srgbClr val="1F2937"/>
                </a:solidFill>
                <a:latin typeface="Calibri"/>
              </a:rPr>
              <a:t>▸  Norozilik prezumptsiyasida yuridik rasmiylashtirilgan rozilik bo‘lmasa, a’zo va to‘qimalardan foydalanishga yo‘l qo‘yilmaydi.</a:t>
            </a:r>
          </a:p>
          <a:p>
            <a:pPr>
              <a:spcAft>
                <a:spcPts val="1200"/>
              </a:spcAft>
            </a:pPr>
            <a:r>
              <a:rPr sz="2200">
                <a:solidFill>
                  <a:srgbClr val="1F2937"/>
                </a:solidFill>
                <a:latin typeface="Calibri"/>
              </a:rPr>
              <a:t>▸  Savol: qaysi modelda a’zo olish mumkin? Diqqat: rozilik ≠ norozilik prezumptsiyasi, talab qilinadigan harakat farq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 (3.1-bo‘lim)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Donor a’zolar taqchilligi va yechim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AQSh va Yevropada ham ko‘chirib o‘tkazish muhtoj bo‘lganlarning taxminan 35 foiziga nasib qilmaydi.</a:t>
            </a:r>
          </a:p>
          <a:p>
            <a:pPr>
              <a:spcAft>
                <a:spcPts val="800"/>
              </a:spcAft>
            </a:pPr>
            <a:r>
              <a:rPr sz="1800">
                <a:solidFill>
                  <a:srgbClr val="1F2937"/>
                </a:solidFill>
                <a:latin typeface="Calibri"/>
              </a:rPr>
              <a:t>▸  Hayotligida rasmiylashtirilgan rozilik asosida ixtiyoriy a’zo berishga chaqirilmoqda.</a:t>
            </a:r>
          </a:p>
          <a:p>
            <a:pPr>
              <a:spcAft>
                <a:spcPts val="800"/>
              </a:spcAft>
            </a:pPr>
            <a:r>
              <a:rPr sz="1800">
                <a:solidFill>
                  <a:srgbClr val="1F2937"/>
                </a:solidFill>
                <a:latin typeface="Calibri"/>
              </a:rPr>
              <a:t>▸  Sun’iy a’zolar, hujayra kulturasi va hayvon a’zolari ham yechim sifatida ishlab chiqilmoqda.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Donor a’zolar taqchilligi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Ixtiyoriy rozilik</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Sun’iy a’zolar</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O‘zak hujayralardan to‘qima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Hayvondan olingan a’zolar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Taqchillik va yechimlar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 (3.1-bo‘lim)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Sun’iy a’zolar va terapevtik klonlash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Sun’iy buyrak apparati keng qo‘llanadi; sun’iy yurak klapanlari, bo‘g‘imlar va ko‘z gavhari ham ishlatilmoqda.</a:t>
            </a:r>
          </a:p>
          <a:p>
            <a:pPr>
              <a:spcAft>
                <a:spcPts val="800"/>
              </a:spcAft>
            </a:pPr>
            <a:r>
              <a:rPr sz="1800">
                <a:solidFill>
                  <a:srgbClr val="1F2937"/>
                </a:solidFill>
                <a:latin typeface="Calibri"/>
              </a:rPr>
              <a:t>▸  To‘qima somatik hujayradan o‘stiriladi; inson o‘zi ham donor, ham retsipient bo‘ladi.</a:t>
            </a:r>
          </a:p>
          <a:p>
            <a:pPr>
              <a:spcAft>
                <a:spcPts val="800"/>
              </a:spcAft>
            </a:pPr>
            <a:r>
              <a:rPr sz="1800">
                <a:solidFill>
                  <a:srgbClr val="1F2937"/>
                </a:solidFill>
                <a:latin typeface="Calibri"/>
              </a:rPr>
              <a:t>▸  Diqqat: klonlash hali tadqiqot bosqichida; sun’iy a’zolar esa amaliyotda qo‘llanmoqda.</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455420"/>
                <a:gridCol w="1856966"/>
                <a:gridCol w="1975588"/>
              </a:tblGrid>
              <a:tr h="768096">
                <a:tc>
                  <a:txBody>
                    <a:bodyPr/>
                    <a:lstStyle/>
                    <a:p>
                      <a:r>
                        <a:rPr sz="1600" b="1">
                          <a:solidFill>
                            <a:srgbClr val="FFFFFF"/>
                          </a:solidFill>
                        </a:rPr>
                        <a:t>Yo‘nalish</a:t>
                      </a:r>
                    </a:p>
                  </a:txBody>
                  <a:tcPr marL="73152" marR="73152" marT="36576" marB="36576">
                    <a:solidFill>
                      <a:srgbClr val="0B1F3A"/>
                    </a:solidFill>
                  </a:tcPr>
                </a:tc>
                <a:tc>
                  <a:txBody>
                    <a:bodyPr/>
                    <a:lstStyle/>
                    <a:p>
                      <a:r>
                        <a:rPr sz="1600" b="1">
                          <a:solidFill>
                            <a:srgbClr val="FFFFFF"/>
                          </a:solidFill>
                        </a:rPr>
                        <a:t>Hozirgi holat</a:t>
                      </a:r>
                    </a:p>
                  </a:txBody>
                  <a:tcPr marL="73152" marR="73152" marT="36576" marB="36576">
                    <a:solidFill>
                      <a:srgbClr val="0B1F3A"/>
                    </a:solidFill>
                  </a:tcPr>
                </a:tc>
                <a:tc>
                  <a:txBody>
                    <a:bodyPr/>
                    <a:lstStyle/>
                    <a:p>
                      <a:r>
                        <a:rPr sz="1600" b="1">
                          <a:solidFill>
                            <a:srgbClr val="FFFFFF"/>
                          </a:solidFill>
                        </a:rPr>
                        <a:t>Asosiy gap</a:t>
                      </a:r>
                    </a:p>
                  </a:txBody>
                  <a:tcPr marL="73152" marR="73152" marT="36576" marB="36576">
                    <a:solidFill>
                      <a:srgbClr val="0B1F3A"/>
                    </a:solidFill>
                  </a:tcPr>
                </a:tc>
              </a:tr>
              <a:tr h="768096">
                <a:tc>
                  <a:txBody>
                    <a:bodyPr/>
                    <a:lstStyle/>
                    <a:p>
                      <a:r>
                        <a:rPr sz="1500" b="0">
                          <a:solidFill>
                            <a:srgbClr val="1F2937"/>
                          </a:solidFill>
                        </a:rPr>
                        <a:t>Sun’iy a’zolar</a:t>
                      </a:r>
                    </a:p>
                  </a:txBody>
                  <a:tcPr marL="73152" marR="73152" marT="36576" marB="36576">
                    <a:solidFill>
                      <a:srgbClr val="E8EEF6"/>
                    </a:solidFill>
                  </a:tcPr>
                </a:tc>
                <a:tc>
                  <a:txBody>
                    <a:bodyPr/>
                    <a:lstStyle/>
                    <a:p>
                      <a:r>
                        <a:rPr sz="1500" b="0">
                          <a:solidFill>
                            <a:srgbClr val="1F2937"/>
                          </a:solidFill>
                        </a:rPr>
                        <a:t>Buyrak apparati, klapan, bo‘g‘im</a:t>
                      </a:r>
                    </a:p>
                  </a:txBody>
                  <a:tcPr marL="73152" marR="73152" marT="36576" marB="36576">
                    <a:solidFill>
                      <a:srgbClr val="E8EEF6"/>
                    </a:solidFill>
                  </a:tcPr>
                </a:tc>
                <a:tc>
                  <a:txBody>
                    <a:bodyPr/>
                    <a:lstStyle/>
                    <a:p>
                      <a:r>
                        <a:rPr sz="1500" b="0">
                          <a:solidFill>
                            <a:srgbClr val="1F2937"/>
                          </a:solidFill>
                        </a:rPr>
                        <a:t>Katta xarajat va sinovlar kerak</a:t>
                      </a:r>
                    </a:p>
                  </a:txBody>
                  <a:tcPr marL="73152" marR="73152" marT="36576" marB="36576">
                    <a:solidFill>
                      <a:srgbClr val="E8EEF6"/>
                    </a:solidFill>
                  </a:tcPr>
                </a:tc>
              </a:tr>
              <a:tr h="768096">
                <a:tc>
                  <a:txBody>
                    <a:bodyPr/>
                    <a:lstStyle/>
                    <a:p>
                      <a:r>
                        <a:rPr sz="1500" b="0">
                          <a:solidFill>
                            <a:srgbClr val="1F2937"/>
                          </a:solidFill>
                        </a:rPr>
                        <a:t>Terapevtik klonlash</a:t>
                      </a:r>
                    </a:p>
                  </a:txBody>
                  <a:tcPr marL="73152" marR="73152" marT="36576" marB="36576">
                    <a:solidFill>
                      <a:srgbClr val="FFFFFF"/>
                    </a:solidFill>
                  </a:tcPr>
                </a:tc>
                <a:tc>
                  <a:txBody>
                    <a:bodyPr/>
                    <a:lstStyle/>
                    <a:p>
                      <a:r>
                        <a:rPr sz="1500" b="0">
                          <a:solidFill>
                            <a:srgbClr val="1F2937"/>
                          </a:solidFill>
                        </a:rPr>
                        <a:t>Tog‘ay, mushak bo‘yicha tajribalar</a:t>
                      </a:r>
                    </a:p>
                  </a:txBody>
                  <a:tcPr marL="73152" marR="73152" marT="36576" marB="36576">
                    <a:solidFill>
                      <a:srgbClr val="FFFFFF"/>
                    </a:solidFill>
                  </a:tcPr>
                </a:tc>
                <a:tc>
                  <a:txBody>
                    <a:bodyPr/>
                    <a:lstStyle/>
                    <a:p>
                      <a:r>
                        <a:rPr sz="1500" b="0">
                          <a:solidFill>
                            <a:srgbClr val="1F2937"/>
                          </a:solidFill>
                        </a:rPr>
                        <a:t>Amaliyotga joriy etishdan uzoq</a:t>
                      </a:r>
                    </a:p>
                  </a:txBody>
                  <a:tcPr marL="73152" marR="73152" marT="36576" marB="36576">
                    <a:solidFill>
                      <a:srgbClr val="FFFFFF"/>
                    </a:solidFill>
                  </a:tcPr>
                </a:tc>
              </a:tr>
              <a:tr h="768096">
                <a:tc>
                  <a:txBody>
                    <a:bodyPr/>
                    <a:lstStyle/>
                    <a:p>
                      <a:r>
                        <a:rPr sz="1500" b="0">
                          <a:solidFill>
                            <a:srgbClr val="1F2937"/>
                          </a:solidFill>
                        </a:rPr>
                        <a:t>Etik jihati</a:t>
                      </a:r>
                    </a:p>
                  </a:txBody>
                  <a:tcPr marL="73152" marR="73152" marT="36576" marB="36576">
                    <a:solidFill>
                      <a:srgbClr val="E8EEF6"/>
                    </a:solidFill>
                  </a:tcPr>
                </a:tc>
                <a:tc>
                  <a:txBody>
                    <a:bodyPr/>
                    <a:lstStyle/>
                    <a:p>
                      <a:r>
                        <a:rPr sz="1500" b="0">
                          <a:solidFill>
                            <a:srgbClr val="1F2937"/>
                          </a:solidFill>
                        </a:rPr>
                        <a:t>Donorni ochish talab etilmaydi</a:t>
                      </a:r>
                    </a:p>
                  </a:txBody>
                  <a:tcPr marL="73152" marR="73152" marT="36576" marB="36576">
                    <a:solidFill>
                      <a:srgbClr val="E8EEF6"/>
                    </a:solidFill>
                  </a:tcPr>
                </a:tc>
                <a:tc>
                  <a:txBody>
                    <a:bodyPr/>
                    <a:lstStyle/>
                    <a:p>
                      <a:r>
                        <a:rPr sz="1500" b="0">
                          <a:solidFill>
                            <a:srgbClr val="1F2937"/>
                          </a:solidFill>
                        </a:rPr>
                        <a:t>Immunologik moslik yechilishi mumkin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Taqchillikka ikki yechim</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 (3.1-bo‘lim)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Ksenotransplantatsiya: afzallik va xavflar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Cho‘chqa xromosomalari va a’zolari tuzilishi insonga yaqin, tez ko‘payadi, uy hayvoni hisoblanadi.</a:t>
            </a:r>
          </a:p>
          <a:p>
            <a:pPr>
              <a:spcAft>
                <a:spcPts val="800"/>
              </a:spcAft>
            </a:pPr>
            <a:r>
              <a:rPr sz="1800">
                <a:solidFill>
                  <a:srgbClr val="1F2937"/>
                </a:solidFill>
                <a:latin typeface="Calibri"/>
              </a:rPr>
              <a:t>▸  Eng katta xavf — infeksiya va viruslarning o‘tishi hamda hayvon a’zosining inson organizmiga mosligi.</a:t>
            </a:r>
          </a:p>
          <a:p>
            <a:pPr>
              <a:spcAft>
                <a:spcPts val="800"/>
              </a:spcAft>
            </a:pPr>
            <a:r>
              <a:rPr sz="1800">
                <a:solidFill>
                  <a:srgbClr val="1F2937"/>
                </a:solidFill>
                <a:latin typeface="Calibri"/>
              </a:rPr>
              <a:t>▸  Hayvonlarni himoya qiluvchilar va transgumanizm vakillari qarshi; shaxs uchun ruhiy-etik muammo ham bor.</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Cho‘chqa — inson a’zosiga yaqin</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Transgen cho‘chqa (inson geni)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Rad etilish ehtimoli kamayadi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Xavf: infeksiya, virus, moslik</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Etik e’tiroz va ruhiy muammo</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Ksenotransplantatsiya mantig‘i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 (3.1-bo‘lim)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Savol 1: donor a’zolari taqchilligini hal etishning 5 yo‘lini ayting. Javob: ixtiyoriy berishga da’vat, sun’iy a’zo, bioelektronika va nanotexnologiya, hujayra kulturasi, hayvon donorlari.</a:t>
            </a:r>
          </a:p>
          <a:p>
            <a:pPr>
              <a:spcAft>
                <a:spcPts val="1200"/>
              </a:spcAft>
            </a:pPr>
            <a:r>
              <a:rPr sz="2000">
                <a:solidFill>
                  <a:srgbClr val="1F2937"/>
                </a:solidFill>
                <a:latin typeface="Calibri"/>
              </a:rPr>
              <a:t>▸  Savol 2: ksenotransplantatsiyada nega cho‘chqa tanlangan? Javob: xromosomalar va a’zolar tuzilishi insonga yaqin, tez ko‘payadi, uy hayvoni.</a:t>
            </a:r>
          </a:p>
          <a:p>
            <a:pPr>
              <a:spcAft>
                <a:spcPts val="1200"/>
              </a:spcAft>
            </a:pPr>
            <a:r>
              <a:rPr sz="2000">
                <a:solidFill>
                  <a:srgbClr val="1F2937"/>
                </a:solidFill>
                <a:latin typeface="Calibri"/>
              </a:rPr>
              <a:t>▸  Savol 3: ksenotransplantatsiyaning eng katta ilmiy-tibbiy xavflari qaysilar? Javob: infeksiya va virus o‘tishi hamda a’zoning moslik muammosi.</a:t>
            </a:r>
          </a:p>
          <a:p>
            <a:pPr>
              <a:spcAft>
                <a:spcPts val="1200"/>
              </a:spcAft>
            </a:pPr>
            <a:r>
              <a:rPr sz="2000">
                <a:solidFill>
                  <a:srgbClr val="1F2937"/>
                </a:solidFill>
                <a:latin typeface="Calibri"/>
              </a:rPr>
              <a:t>▸  Savol 4: terapevtik klonlash nega etik jihatdan qulay? Javob: donorni jarrohlik bilan ochish kerak emas; boshlang‘ich material — odamning o‘z somatik hujayralari.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 (3.1-bo‘lim)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A’zolarni taqsimlash: adolat va kutish varaqalari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A’zolarni taqsimlash butun dunyoda dolzarb. U donor a’zolar tanqisligi muammosining bir qismi bo‘lib, adolat tamoyiliga tayanadi.</a:t>
            </a:r>
          </a:p>
          <a:p>
            <a:pPr>
              <a:spcAft>
                <a:spcPts val="800"/>
              </a:spcAft>
            </a:pPr>
            <a:r>
              <a:rPr sz="1800">
                <a:solidFill>
                  <a:srgbClr val="1F2937"/>
                </a:solidFill>
                <a:latin typeface="Calibri"/>
              </a:rPr>
              <a:t>▸  Taqsimlash «kutish varaqalari» orqali amalga oshiriladi. Ularda bemor sog‘lig‘ining xususiyatlari ko‘rsatiladi.</a:t>
            </a:r>
          </a:p>
          <a:p>
            <a:pPr>
              <a:spcAft>
                <a:spcPts val="800"/>
              </a:spcAft>
            </a:pPr>
            <a:r>
              <a:rPr sz="1800">
                <a:solidFill>
                  <a:srgbClr val="1F2937"/>
                </a:solidFill>
                <a:latin typeface="Calibri"/>
              </a:rPr>
              <a:t>▸  Eng og‘ir bemor ro‘yxatda birinchi tursa ham, immunologik mos kelmasa operatsiyaga yetib borolmasligi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 kutish varaqasiga kiradi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Sog‘liq holati yoziladi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Donor a’zo paydo bo‘ladi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Immunologik moslik tekshiriladi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Mos kelmasa — navbat o‘tmaydi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Kutish varaqasidan operatsiyagacha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Tijoratlashtirish va «qora bozor»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Tijoratlashtirish — transplantologiyani foyda olish maqsadiga bo‘ysundirish. A’zolar tanqis bo‘lgani sari ular tanqis va juda qimmat mahsulotga aylanmoqda.</a:t>
            </a:r>
          </a:p>
          <a:p>
            <a:pPr>
              <a:spcAft>
                <a:spcPts val="1200"/>
              </a:spcAft>
            </a:pPr>
            <a:r>
              <a:rPr sz="2200">
                <a:solidFill>
                  <a:srgbClr val="1F2937"/>
                </a:solidFill>
                <a:latin typeface="Calibri"/>
              </a:rPr>
              <a:t>▸  Ko‘pgina davlatlarda a’zolar oldi-sotdisi qonun bilan taqiqlangan.</a:t>
            </a:r>
          </a:p>
          <a:p>
            <a:pPr>
              <a:spcAft>
                <a:spcPts val="1200"/>
              </a:spcAft>
            </a:pPr>
            <a:r>
              <a:rPr sz="2200">
                <a:solidFill>
                  <a:srgbClr val="1F2937"/>
                </a:solidFill>
                <a:latin typeface="Calibri"/>
              </a:rPr>
              <a:t>▸  Shunga qaramay, «talab taklifni keltirib chiqaradi» qonuniga ko‘ra a’zo va to‘qimalarning «qora bozori» mavjud. Odatda juft a’zolardan biri sotiladi, eng mashhuri — buyrak.</a:t>
            </a:r>
          </a:p>
          <a:p>
            <a:pPr>
              <a:spcAft>
                <a:spcPts val="1200"/>
              </a:spcAft>
            </a:pPr>
            <a:r>
              <a:rPr sz="2200">
                <a:solidFill>
                  <a:srgbClr val="1F2937"/>
                </a:solidFill>
                <a:latin typeface="Calibri"/>
              </a:rPr>
              <a:t>▸  Tijoratlashtirish transplantologiyaning yuksak gumanizm g‘oyasiga zid, deb baholanadi.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sotuvchi-donor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kishi asosan moddiy ehtiyoj tufayli juft a’zolaridan biri — buyragini sotishga qaror qildi.</a:t>
            </a:r>
          </a:p>
          <a:p>
            <a:pPr>
              <a:spcAft>
                <a:spcPts val="1200"/>
              </a:spcAft>
            </a:pPr>
            <a:r>
              <a:rPr sz="2200">
                <a:solidFill>
                  <a:srgbClr val="1F2937"/>
                </a:solidFill>
                <a:latin typeface="Calibri"/>
              </a:rPr>
              <a:t>▸  Ko‘p davlatlarda bunday oldi-sotdi qonun bilan taqiqlangan, lekin «qora bozor» baribir mavjud.</a:t>
            </a:r>
          </a:p>
          <a:p>
            <a:pPr>
              <a:spcAft>
                <a:spcPts val="1200"/>
              </a:spcAft>
            </a:pPr>
            <a:r>
              <a:rPr sz="2200">
                <a:solidFill>
                  <a:srgbClr val="1F2937"/>
                </a:solidFill>
                <a:latin typeface="Calibri"/>
              </a:rPr>
              <a:t>▸  Tirik donordan a’zo olish uning sog‘lig‘iga zarar yetkazadi. Shu bois «zarar yetkazma» tamoyili buziladi, foyda esa zarardan yuqori bo‘lishi shart.</a:t>
            </a:r>
          </a:p>
          <a:p>
            <a:pPr>
              <a:spcAft>
                <a:spcPts val="1200"/>
              </a:spcAft>
            </a:pPr>
            <a:r>
              <a:rPr sz="2200">
                <a:solidFill>
                  <a:srgbClr val="1F2937"/>
                </a:solidFill>
                <a:latin typeface="Calibri"/>
              </a:rPr>
              <a:t>▸  Savol: bu holatda qaysi etik tamoyillar buziladi? Xabardor ixtiyoriy rozilik va ijtimoiy adolat tamoyillari nuqtai nazaridan javob bering.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Din va transplantologiya: nasroniylik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Rus pravoslav cherkovi a’zolarni oldi-sotdi ob’ekti deb bo‘lmaydi, deydi. Tirik donorlik faqat ixtiyoriy fidokorlikka asoslanishi kerak.</a:t>
            </a:r>
          </a:p>
          <a:p>
            <a:pPr>
              <a:spcAft>
                <a:spcPts val="1200"/>
              </a:spcAft>
            </a:pPr>
            <a:r>
              <a:rPr sz="2200">
                <a:solidFill>
                  <a:srgbClr val="1F2937"/>
                </a:solidFill>
                <a:latin typeface="Calibri"/>
              </a:rPr>
              <a:t>▸  Donor a’zoni olishning kutiladigan oqibatlarini bilishi shart. Hayotiga bevosita xavf soladigan eksplantatsiya (a’zoni olish) ahloqan joiz emas.</a:t>
            </a:r>
          </a:p>
          <a:p>
            <a:pPr>
              <a:spcAft>
                <a:spcPts val="1200"/>
              </a:spcAft>
            </a:pPr>
            <a:r>
              <a:rPr sz="2200">
                <a:solidFill>
                  <a:srgbClr val="1F2937"/>
                </a:solidFill>
                <a:latin typeface="Calibri"/>
              </a:rPr>
              <a:t>▸  Pravoslav cherkov rozilik prezumptsiyasini (norozilik bildirilmasa — rozi deb hisoblash) inson erkinligining yo‘l qo‘yib bo‘lmas buzilishi deb biladi.</a:t>
            </a:r>
          </a:p>
          <a:p>
            <a:pPr>
              <a:spcAft>
                <a:spcPts val="1200"/>
              </a:spcAft>
            </a:pPr>
            <a:r>
              <a:rPr sz="2200">
                <a:solidFill>
                  <a:srgbClr val="1F2937"/>
                </a:solidFill>
                <a:latin typeface="Calibri"/>
              </a:rPr>
              <a:t>▸  Katolik cherkovi donorlikni rahmdillik va ahloqiy burch deb biladi. Protestant ilohiyotchilari a’zo sotishni ahloqsizlik deb hisoblaydi.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Din qarashlari: yahudiylik, buddaviylik, nasroniylik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Yahudiylikda gap inson hayotini qutqarish haqida ketsa, a’zo ko‘chirish mumkin deb hisoblanadi.</a:t>
            </a:r>
          </a:p>
          <a:p>
            <a:pPr>
              <a:spcAft>
                <a:spcPts val="800"/>
              </a:spcAft>
            </a:pPr>
            <a:r>
              <a:rPr sz="1800">
                <a:solidFill>
                  <a:srgbClr val="1F2937"/>
                </a:solidFill>
                <a:latin typeface="Calibri"/>
              </a:rPr>
              <a:t>▸  Katolik cherkovi donorlikni rahmdillik va ahloqiy burch deb biladi, lekin faqat ixtiyoriy asosda.</a:t>
            </a:r>
          </a:p>
          <a:p>
            <a:pPr>
              <a:spcAft>
                <a:spcPts val="800"/>
              </a:spcAft>
            </a:pPr>
            <a:r>
              <a:rPr sz="1800">
                <a:solidFill>
                  <a:srgbClr val="1F2937"/>
                </a:solidFill>
                <a:latin typeface="Calibri"/>
              </a:rPr>
              <a:t>▸  Diqqat: protestantlar a’zo olishni tan oladi, ammo a’zo sotishni ahloqsizlik deb hisoblaydi.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956351"/>
                <a:gridCol w="1758093"/>
              </a:tblGrid>
              <a:tr h="614476">
                <a:tc>
                  <a:txBody>
                    <a:bodyPr/>
                    <a:lstStyle/>
                    <a:p>
                      <a:r>
                        <a:rPr sz="1600" b="1">
                          <a:solidFill>
                            <a:srgbClr val="FFFFFF"/>
                          </a:solidFill>
                        </a:rPr>
                        <a:t>Din</a:t>
                      </a:r>
                    </a:p>
                  </a:txBody>
                  <a:tcPr marL="73152" marR="73152" marT="36576" marB="36576">
                    <a:solidFill>
                      <a:srgbClr val="0B1F3A"/>
                    </a:solidFill>
                  </a:tcPr>
                </a:tc>
                <a:tc>
                  <a:txBody>
                    <a:bodyPr/>
                    <a:lstStyle/>
                    <a:p>
                      <a:r>
                        <a:rPr sz="1600" b="1">
                          <a:solidFill>
                            <a:srgbClr val="FFFFFF"/>
                          </a:solidFill>
                        </a:rPr>
                        <a:t>Sharti</a:t>
                      </a:r>
                    </a:p>
                  </a:txBody>
                  <a:tcPr marL="73152" marR="73152" marT="36576" marB="36576">
                    <a:solidFill>
                      <a:srgbClr val="0B1F3A"/>
                    </a:solidFill>
                  </a:tcPr>
                </a:tc>
                <a:tc>
                  <a:txBody>
                    <a:bodyPr/>
                    <a:lstStyle/>
                    <a:p>
                      <a:r>
                        <a:rPr sz="1600" b="1">
                          <a:solidFill>
                            <a:srgbClr val="FFFFFF"/>
                          </a:solidFill>
                        </a:rPr>
                        <a:t>Cheklov</a:t>
                      </a:r>
                    </a:p>
                  </a:txBody>
                  <a:tcPr marL="73152" marR="73152" marT="36576" marB="36576">
                    <a:solidFill>
                      <a:srgbClr val="0B1F3A"/>
                    </a:solidFill>
                  </a:tcPr>
                </a:tc>
              </a:tr>
              <a:tr h="614476">
                <a:tc>
                  <a:txBody>
                    <a:bodyPr/>
                    <a:lstStyle/>
                    <a:p>
                      <a:r>
                        <a:rPr sz="1500" b="0">
                          <a:solidFill>
                            <a:srgbClr val="1F2937"/>
                          </a:solidFill>
                        </a:rPr>
                        <a:t>Yahudiylik</a:t>
                      </a:r>
                    </a:p>
                  </a:txBody>
                  <a:tcPr marL="73152" marR="73152" marT="36576" marB="36576">
                    <a:solidFill>
                      <a:srgbClr val="E8EEF6"/>
                    </a:solidFill>
                  </a:tcPr>
                </a:tc>
                <a:tc>
                  <a:txBody>
                    <a:bodyPr/>
                    <a:lstStyle/>
                    <a:p>
                      <a:r>
                        <a:rPr sz="1500" b="0">
                          <a:solidFill>
                            <a:srgbClr val="1F2937"/>
                          </a:solidFill>
                        </a:rPr>
                        <a:t>Marhumning oldindan ruxsati, oila qarshi emas</a:t>
                      </a:r>
                    </a:p>
                  </a:txBody>
                  <a:tcPr marL="73152" marR="73152" marT="36576" marB="36576">
                    <a:solidFill>
                      <a:srgbClr val="E8EEF6"/>
                    </a:solidFill>
                  </a:tcPr>
                </a:tc>
                <a:tc>
                  <a:txBody>
                    <a:bodyPr/>
                    <a:lstStyle/>
                    <a:p>
                      <a:r>
                        <a:rPr sz="1500" b="0">
                          <a:solidFill>
                            <a:srgbClr val="1F2937"/>
                          </a:solidFill>
                        </a:rPr>
                        <a:t>Jasad butunligiga alohida e’tibor</a:t>
                      </a:r>
                    </a:p>
                  </a:txBody>
                  <a:tcPr marL="73152" marR="73152" marT="36576" marB="36576">
                    <a:solidFill>
                      <a:srgbClr val="E8EEF6"/>
                    </a:solidFill>
                  </a:tcPr>
                </a:tc>
              </a:tr>
              <a:tr h="614476">
                <a:tc>
                  <a:txBody>
                    <a:bodyPr/>
                    <a:lstStyle/>
                    <a:p>
                      <a:r>
                        <a:rPr sz="1500" b="0">
                          <a:solidFill>
                            <a:srgbClr val="1F2937"/>
                          </a:solidFill>
                        </a:rPr>
                        <a:t>Buddaviylik</a:t>
                      </a:r>
                    </a:p>
                  </a:txBody>
                  <a:tcPr marL="73152" marR="73152" marT="36576" marB="36576">
                    <a:solidFill>
                      <a:srgbClr val="FFFFFF"/>
                    </a:solidFill>
                  </a:tcPr>
                </a:tc>
                <a:tc>
                  <a:txBody>
                    <a:bodyPr/>
                    <a:lstStyle/>
                    <a:p>
                      <a:r>
                        <a:rPr sz="1500" b="0">
                          <a:solidFill>
                            <a:srgbClr val="1F2937"/>
                          </a:solidFill>
                        </a:rPr>
                        <a:t>Bemorga in’om (hadya) bo‘lsagina</a:t>
                      </a:r>
                    </a:p>
                  </a:txBody>
                  <a:tcPr marL="73152" marR="73152" marT="36576" marB="36576">
                    <a:solidFill>
                      <a:srgbClr val="FFFFFF"/>
                    </a:solidFill>
                  </a:tcPr>
                </a:tc>
                <a:tc>
                  <a:txBody>
                    <a:bodyPr/>
                    <a:lstStyle/>
                    <a:p>
                      <a:r>
                        <a:rPr sz="1500" b="0">
                          <a:solidFill>
                            <a:srgbClr val="1F2937"/>
                          </a:solidFill>
                        </a:rPr>
                        <a:t>Faqat tirik donordan ko‘chirish</a:t>
                      </a:r>
                    </a:p>
                  </a:txBody>
                  <a:tcPr marL="73152" marR="73152" marT="36576" marB="36576">
                    <a:solidFill>
                      <a:srgbClr val="FFFFFF"/>
                    </a:solidFill>
                  </a:tcPr>
                </a:tc>
              </a:tr>
              <a:tr h="614476">
                <a:tc>
                  <a:txBody>
                    <a:bodyPr/>
                    <a:lstStyle/>
                    <a:p>
                      <a:r>
                        <a:rPr sz="1500" b="0">
                          <a:solidFill>
                            <a:srgbClr val="1F2937"/>
                          </a:solidFill>
                        </a:rPr>
                        <a:t>Katolik</a:t>
                      </a:r>
                    </a:p>
                  </a:txBody>
                  <a:tcPr marL="73152" marR="73152" marT="36576" marB="36576">
                    <a:solidFill>
                      <a:srgbClr val="E8EEF6"/>
                    </a:solidFill>
                  </a:tcPr>
                </a:tc>
                <a:tc>
                  <a:txBody>
                    <a:bodyPr/>
                    <a:lstStyle/>
                    <a:p>
                      <a:r>
                        <a:rPr sz="1500" b="0">
                          <a:solidFill>
                            <a:srgbClr val="1F2937"/>
                          </a:solidFill>
                        </a:rPr>
                        <a:t>Muqobil davo bo‘lmaganda</a:t>
                      </a:r>
                    </a:p>
                  </a:txBody>
                  <a:tcPr marL="73152" marR="73152" marT="36576" marB="36576">
                    <a:solidFill>
                      <a:srgbClr val="E8EEF6"/>
                    </a:solidFill>
                  </a:tcPr>
                </a:tc>
                <a:tc>
                  <a:txBody>
                    <a:bodyPr/>
                    <a:lstStyle/>
                    <a:p>
                      <a:r>
                        <a:rPr sz="1500" b="0">
                          <a:solidFill>
                            <a:srgbClr val="1F2937"/>
                          </a:solidFill>
                        </a:rPr>
                        <a:t>Faqat ixtiyoriy asosda</a:t>
                      </a:r>
                    </a:p>
                  </a:txBody>
                  <a:tcPr marL="73152" marR="73152" marT="36576" marB="36576">
                    <a:solidFill>
                      <a:srgbClr val="E8EEF6"/>
                    </a:solidFill>
                  </a:tcPr>
                </a:tc>
              </a:tr>
              <a:tr h="614476">
                <a:tc>
                  <a:txBody>
                    <a:bodyPr/>
                    <a:lstStyle/>
                    <a:p>
                      <a:r>
                        <a:rPr sz="1500" b="0">
                          <a:solidFill>
                            <a:srgbClr val="1F2937"/>
                          </a:solidFill>
                        </a:rPr>
                        <a:t>Protestant</a:t>
                      </a:r>
                    </a:p>
                  </a:txBody>
                  <a:tcPr marL="73152" marR="73152" marT="36576" marB="36576">
                    <a:solidFill>
                      <a:srgbClr val="FFFFFF"/>
                    </a:solidFill>
                  </a:tcPr>
                </a:tc>
                <a:tc>
                  <a:txBody>
                    <a:bodyPr/>
                    <a:lstStyle/>
                    <a:p>
                      <a:r>
                        <a:rPr sz="1500" b="0">
                          <a:solidFill>
                            <a:srgbClr val="1F2937"/>
                          </a:solidFill>
                        </a:rPr>
                        <a:t>Olingan a’zoning qonuniyligi tan olinadi</a:t>
                      </a:r>
                    </a:p>
                  </a:txBody>
                  <a:tcPr marL="73152" marR="73152" marT="36576" marB="36576">
                    <a:solidFill>
                      <a:srgbClr val="FFFFFF"/>
                    </a:solidFill>
                  </a:tcPr>
                </a:tc>
                <a:tc>
                  <a:txBody>
                    <a:bodyPr/>
                    <a:lstStyle/>
                    <a:p>
                      <a:r>
                        <a:rPr sz="1500" b="0">
                          <a:solidFill>
                            <a:srgbClr val="1F2937"/>
                          </a:solidFill>
                        </a:rPr>
                        <a:t>A’zo sotish — ahloqsizlik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Dinlarni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Islom va transplantatsiya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1988-yilda Islom huquqshunoslik akademiyasi kengashi 4-sessiyada 26-sonli (1/4) qaror qabul qildi.</a:t>
            </a:r>
          </a:p>
          <a:p>
            <a:pPr>
              <a:spcAft>
                <a:spcPts val="800"/>
              </a:spcAft>
            </a:pPr>
            <a:r>
              <a:rPr sz="1800">
                <a:solidFill>
                  <a:srgbClr val="1F2937"/>
                </a:solidFill>
                <a:latin typeface="Calibri"/>
              </a:rPr>
              <a:t>▸  Donor yoki qarindoshlari rozi bo‘lsa, jasaddan olish mumkin; shaxs noma’lum bo‘lsa, musulmonlar rahbari rozilik beradi.</a:t>
            </a:r>
          </a:p>
          <a:p>
            <a:pPr>
              <a:spcAft>
                <a:spcPts val="800"/>
              </a:spcAft>
            </a:pPr>
            <a:r>
              <a:rPr sz="1800">
                <a:solidFill>
                  <a:srgbClr val="1F2937"/>
                </a:solidFill>
                <a:latin typeface="Calibri"/>
              </a:rPr>
              <a:t>▸  Shariatda norozilik prezumptsiyasi qayd etilgan; operatsiya vakolatli muassasa nazoratida o‘tadi.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Masala</a:t>
                      </a:r>
                    </a:p>
                  </a:txBody>
                  <a:tcPr marL="73152" marR="73152" marT="36576" marB="36576">
                    <a:solidFill>
                      <a:srgbClr val="0B1F3A"/>
                    </a:solidFill>
                  </a:tcPr>
                </a:tc>
                <a:tc>
                  <a:txBody>
                    <a:bodyPr/>
                    <a:lstStyle/>
                    <a:p>
                      <a:r>
                        <a:rPr sz="1800" b="1">
                          <a:solidFill>
                            <a:srgbClr val="FFFFFF"/>
                          </a:solidFill>
                        </a:rPr>
                        <a:t>Qaror</a:t>
                      </a:r>
                    </a:p>
                  </a:txBody>
                  <a:tcPr marL="73152" marR="73152" marT="36576" marB="36576">
                    <a:solidFill>
                      <a:srgbClr val="0B1F3A"/>
                    </a:solidFill>
                  </a:tcPr>
                </a:tc>
              </a:tr>
              <a:tr h="614476">
                <a:tc>
                  <a:txBody>
                    <a:bodyPr/>
                    <a:lstStyle/>
                    <a:p>
                      <a:r>
                        <a:rPr sz="1700" b="0">
                          <a:solidFill>
                            <a:srgbClr val="1F2937"/>
                          </a:solidFill>
                        </a:rPr>
                        <a:t>Foyda va zarar</a:t>
                      </a:r>
                    </a:p>
                  </a:txBody>
                  <a:tcPr marL="73152" marR="73152" marT="36576" marB="36576">
                    <a:solidFill>
                      <a:srgbClr val="E8EEF6"/>
                    </a:solidFill>
                  </a:tcPr>
                </a:tc>
                <a:tc>
                  <a:txBody>
                    <a:bodyPr/>
                    <a:lstStyle/>
                    <a:p>
                      <a:r>
                        <a:rPr sz="1700" b="0">
                          <a:solidFill>
                            <a:srgbClr val="1F2937"/>
                          </a:solidFill>
                        </a:rPr>
                        <a:t>Foyda zarardan yaqqol ortiq bo‘lishi shart</a:t>
                      </a:r>
                    </a:p>
                  </a:txBody>
                  <a:tcPr marL="73152" marR="73152" marT="36576" marB="36576">
                    <a:solidFill>
                      <a:srgbClr val="E8EEF6"/>
                    </a:solidFill>
                  </a:tcPr>
                </a:tc>
              </a:tr>
              <a:tr h="614476">
                <a:tc>
                  <a:txBody>
                    <a:bodyPr/>
                    <a:lstStyle/>
                    <a:p>
                      <a:r>
                        <a:rPr sz="1700" b="0">
                          <a:solidFill>
                            <a:srgbClr val="1F2937"/>
                          </a:solidFill>
                        </a:rPr>
                        <a:t>Hayotiy a’zolar</a:t>
                      </a:r>
                    </a:p>
                  </a:txBody>
                  <a:tcPr marL="73152" marR="73152" marT="36576" marB="36576">
                    <a:solidFill>
                      <a:srgbClr val="FFFFFF"/>
                    </a:solidFill>
                  </a:tcPr>
                </a:tc>
                <a:tc>
                  <a:txBody>
                    <a:bodyPr/>
                    <a:lstStyle/>
                    <a:p>
                      <a:r>
                        <a:rPr sz="1700" b="0">
                          <a:solidFill>
                            <a:srgbClr val="1F2937"/>
                          </a:solidFill>
                        </a:rPr>
                        <a:t>Tirik odamdan olish taqiqlanadi</a:t>
                      </a:r>
                    </a:p>
                  </a:txBody>
                  <a:tcPr marL="73152" marR="73152" marT="36576" marB="36576">
                    <a:solidFill>
                      <a:srgbClr val="FFFFFF"/>
                    </a:solidFill>
                  </a:tcPr>
                </a:tc>
              </a:tr>
              <a:tr h="614476">
                <a:tc>
                  <a:txBody>
                    <a:bodyPr/>
                    <a:lstStyle/>
                    <a:p>
                      <a:r>
                        <a:rPr sz="1700" b="0">
                          <a:solidFill>
                            <a:srgbClr val="1F2937"/>
                          </a:solidFill>
                        </a:rPr>
                        <a:t>Miya o‘limi</a:t>
                      </a:r>
                    </a:p>
                  </a:txBody>
                  <a:tcPr marL="73152" marR="73152" marT="36576" marB="36576">
                    <a:solidFill>
                      <a:srgbClr val="E8EEF6"/>
                    </a:solidFill>
                  </a:tcPr>
                </a:tc>
                <a:tc>
                  <a:txBody>
                    <a:bodyPr/>
                    <a:lstStyle/>
                    <a:p>
                      <a:r>
                        <a:rPr sz="1700" b="0">
                          <a:solidFill>
                            <a:srgbClr val="1F2937"/>
                          </a:solidFill>
                        </a:rPr>
                        <a:t>Sun’iy nafas va qon aylanishda joiz</a:t>
                      </a:r>
                    </a:p>
                  </a:txBody>
                  <a:tcPr marL="73152" marR="73152" marT="36576" marB="36576">
                    <a:solidFill>
                      <a:srgbClr val="E8EEF6"/>
                    </a:solidFill>
                  </a:tcPr>
                </a:tc>
              </a:tr>
              <a:tr h="614476">
                <a:tc>
                  <a:txBody>
                    <a:bodyPr/>
                    <a:lstStyle/>
                    <a:p>
                      <a:r>
                        <a:rPr sz="1700" b="0">
                          <a:solidFill>
                            <a:srgbClr val="1F2937"/>
                          </a:solidFill>
                        </a:rPr>
                        <a:t>Tijorat</a:t>
                      </a:r>
                    </a:p>
                  </a:txBody>
                  <a:tcPr marL="73152" marR="73152" marT="36576" marB="36576">
                    <a:solidFill>
                      <a:srgbClr val="FFFFFF"/>
                    </a:solidFill>
                  </a:tcPr>
                </a:tc>
                <a:tc>
                  <a:txBody>
                    <a:bodyPr/>
                    <a:lstStyle/>
                    <a:p>
                      <a:r>
                        <a:rPr sz="1700" b="0">
                          <a:solidFill>
                            <a:srgbClr val="1F2937"/>
                          </a:solidFill>
                        </a:rPr>
                        <a:t>A’zo savdosi qat’iyan taqiqlanadi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Qarorning asosiy qoidalari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diniy va etik nuqtai nazar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Vaziyat: marhum hayotida donor bo‘lishga rozi bo‘lgan, ammo oilasi a’zolarni olishga qarshi. Dinlar bunga qanday qaraydi? Savol: sizningcha, qaysi ovoz hal qiluvchi?</a:t>
            </a:r>
          </a:p>
          <a:p>
            <a:pPr>
              <a:spcAft>
                <a:spcPts val="1200"/>
              </a:spcAft>
            </a:pPr>
            <a:r>
              <a:rPr sz="2000">
                <a:solidFill>
                  <a:srgbClr val="1F2937"/>
                </a:solidFill>
                <a:latin typeface="Calibri"/>
              </a:rPr>
              <a:t>▸  Yahudiylikda a’zo olish faqat inson o‘limidan oldin ruxsat bergan va oila qarshilik qilmagan holda mumkin. Hayotni qutqarish masalasida ruxsat beriladi.</a:t>
            </a:r>
          </a:p>
          <a:p>
            <a:pPr>
              <a:spcAft>
                <a:spcPts val="1200"/>
              </a:spcAft>
            </a:pPr>
            <a:r>
              <a:rPr sz="2000">
                <a:solidFill>
                  <a:srgbClr val="1F2937"/>
                </a:solidFill>
                <a:latin typeface="Calibri"/>
              </a:rPr>
              <a:t>▸  Islomda donor hayotligida yoki uning qarindoshlari o‘limdan keyin rozilik bergan bo‘lsa, ko‘chirish mumkin. Tijorat asosida ko‘chirish qat’iyan man qilinadi.</a:t>
            </a:r>
          </a:p>
          <a:p>
            <a:pPr>
              <a:spcAft>
                <a:spcPts val="1200"/>
              </a:spcAft>
            </a:pPr>
            <a:r>
              <a:rPr sz="2000">
                <a:solidFill>
                  <a:srgbClr val="1F2937"/>
                </a:solidFill>
                <a:latin typeface="Calibri"/>
              </a:rPr>
              <a:t>▸  Katolik cherkovi donorlikni rahmdillik va axloqiy burch deydi, lekin faqat ixtiyoriy asosda. Rus pravoslav cherkovi taxminiy rozilikni erkinlikning buzilishi deb biladi.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Xalqaro deklaratsiyalar va hujjatlar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Butunjahon tibbiyot uyushmasi (VTU) 1987-yilda a’zolarni ko‘chirish haqida deklaratsiya qabul qilgan.</a:t>
            </a:r>
          </a:p>
          <a:p>
            <a:pPr>
              <a:spcAft>
                <a:spcPts val="800"/>
              </a:spcAft>
            </a:pPr>
            <a:r>
              <a:rPr sz="1800">
                <a:solidFill>
                  <a:srgbClr val="1F2937"/>
                </a:solidFill>
                <a:latin typeface="Calibri"/>
              </a:rPr>
              <a:t>▸  Bosh tamoyil: har qanday vaziyatda shifokor avvalo inson salomatligi haqida qayg‘uradi.</a:t>
            </a:r>
          </a:p>
          <a:p>
            <a:pPr>
              <a:spcAft>
                <a:spcPts val="800"/>
              </a:spcAft>
            </a:pPr>
            <a:r>
              <a:rPr sz="1800">
                <a:solidFill>
                  <a:srgbClr val="1F2937"/>
                </a:solidFill>
                <a:latin typeface="Calibri"/>
              </a:rPr>
              <a:t>▸  Diqqat: 1968-yil — miya o‘limi mezonlari, 1987-yil — ko‘chirish deklaratsiyasi. Yillarni adashtirmang.</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927859"/>
                <a:gridCol w="960133"/>
                <a:gridCol w="2399982"/>
              </a:tblGrid>
              <a:tr h="614476">
                <a:tc>
                  <a:txBody>
                    <a:bodyPr/>
                    <a:lstStyle/>
                    <a:p>
                      <a:r>
                        <a:rPr sz="1600" b="1">
                          <a:solidFill>
                            <a:srgbClr val="FFFFFF"/>
                          </a:solidFill>
                        </a:rPr>
                        <a:t>Hujjat</a:t>
                      </a:r>
                    </a:p>
                  </a:txBody>
                  <a:tcPr marL="73152" marR="73152" marT="36576" marB="36576">
                    <a:solidFill>
                      <a:srgbClr val="0B1F3A"/>
                    </a:solidFill>
                  </a:tcPr>
                </a:tc>
                <a:tc>
                  <a:txBody>
                    <a:bodyPr/>
                    <a:lstStyle/>
                    <a:p>
                      <a:r>
                        <a:rPr sz="1600" b="1">
                          <a:solidFill>
                            <a:srgbClr val="FFFFFF"/>
                          </a:solidFill>
                        </a:rPr>
                        <a:t>Yil</a:t>
                      </a:r>
                    </a:p>
                  </a:txBody>
                  <a:tcPr marL="73152" marR="73152" marT="36576" marB="36576">
                    <a:solidFill>
                      <a:srgbClr val="0B1F3A"/>
                    </a:solidFill>
                  </a:tcPr>
                </a:tc>
                <a:tc>
                  <a:txBody>
                    <a:bodyPr/>
                    <a:lstStyle/>
                    <a:p>
                      <a:r>
                        <a:rPr sz="1600" b="1">
                          <a:solidFill>
                            <a:srgbClr val="FFFFFF"/>
                          </a:solidFill>
                        </a:rPr>
                        <a:t>Mazmun</a:t>
                      </a:r>
                    </a:p>
                  </a:txBody>
                  <a:tcPr marL="73152" marR="73152" marT="36576" marB="36576">
                    <a:solidFill>
                      <a:srgbClr val="0B1F3A"/>
                    </a:solidFill>
                  </a:tcPr>
                </a:tc>
              </a:tr>
              <a:tr h="614476">
                <a:tc>
                  <a:txBody>
                    <a:bodyPr/>
                    <a:lstStyle/>
                    <a:p>
                      <a:r>
                        <a:rPr sz="1500" b="0">
                          <a:solidFill>
                            <a:srgbClr val="1F2937"/>
                          </a:solidFill>
                        </a:rPr>
                        <a:t>Harvard mezonlari</a:t>
                      </a:r>
                    </a:p>
                  </a:txBody>
                  <a:tcPr marL="73152" marR="73152" marT="36576" marB="36576">
                    <a:solidFill>
                      <a:srgbClr val="E8EEF6"/>
                    </a:solidFill>
                  </a:tcPr>
                </a:tc>
                <a:tc>
                  <a:txBody>
                    <a:bodyPr/>
                    <a:lstStyle/>
                    <a:p>
                      <a:r>
                        <a:rPr sz="1500" b="0">
                          <a:solidFill>
                            <a:srgbClr val="1F2937"/>
                          </a:solidFill>
                        </a:rPr>
                        <a:t>1968</a:t>
                      </a:r>
                    </a:p>
                  </a:txBody>
                  <a:tcPr marL="73152" marR="73152" marT="36576" marB="36576">
                    <a:solidFill>
                      <a:srgbClr val="E8EEF6"/>
                    </a:solidFill>
                  </a:tcPr>
                </a:tc>
                <a:tc>
                  <a:txBody>
                    <a:bodyPr/>
                    <a:lstStyle/>
                    <a:p>
                      <a:r>
                        <a:rPr sz="1500" b="0">
                          <a:solidFill>
                            <a:srgbClr val="1F2937"/>
                          </a:solidFill>
                        </a:rPr>
                        <a:t>Miya o‘limi mezonlari ishlab chiqildi</a:t>
                      </a:r>
                    </a:p>
                  </a:txBody>
                  <a:tcPr marL="73152" marR="73152" marT="36576" marB="36576">
                    <a:solidFill>
                      <a:srgbClr val="E8EEF6"/>
                    </a:solidFill>
                  </a:tcPr>
                </a:tc>
              </a:tr>
              <a:tr h="614476">
                <a:tc>
                  <a:txBody>
                    <a:bodyPr/>
                    <a:lstStyle/>
                    <a:p>
                      <a:r>
                        <a:rPr sz="1500" b="0">
                          <a:solidFill>
                            <a:srgbClr val="1F2937"/>
                          </a:solidFill>
                        </a:rPr>
                        <a:t>Sidney deklaratsiyasi</a:t>
                      </a:r>
                    </a:p>
                  </a:txBody>
                  <a:tcPr marL="73152" marR="73152" marT="36576" marB="36576">
                    <a:solidFill>
                      <a:srgbClr val="FFFFFF"/>
                    </a:solidFill>
                  </a:tcPr>
                </a:tc>
                <a:tc>
                  <a:txBody>
                    <a:bodyPr/>
                    <a:lstStyle/>
                    <a:p>
                      <a:r>
                        <a:rPr sz="1500" b="0">
                          <a:solidFill>
                            <a:srgbClr val="1F2937"/>
                          </a:solidFill>
                        </a:rPr>
                        <a:t>1968</a:t>
                      </a:r>
                    </a:p>
                  </a:txBody>
                  <a:tcPr marL="73152" marR="73152" marT="36576" marB="36576">
                    <a:solidFill>
                      <a:srgbClr val="FFFFFF"/>
                    </a:solidFill>
                  </a:tcPr>
                </a:tc>
                <a:tc>
                  <a:txBody>
                    <a:bodyPr/>
                    <a:lstStyle/>
                    <a:p>
                      <a:r>
                        <a:rPr sz="1500" b="0">
                          <a:solidFill>
                            <a:srgbClr val="1F2937"/>
                          </a:solidFill>
                        </a:rPr>
                        <a:t>Harvard mezonlari aniqlashtirib tan olindi</a:t>
                      </a:r>
                    </a:p>
                  </a:txBody>
                  <a:tcPr marL="73152" marR="73152" marT="36576" marB="36576">
                    <a:solidFill>
                      <a:srgbClr val="FFFFFF"/>
                    </a:solidFill>
                  </a:tcPr>
                </a:tc>
              </a:tr>
              <a:tr h="614476">
                <a:tc>
                  <a:txBody>
                    <a:bodyPr/>
                    <a:lstStyle/>
                    <a:p>
                      <a:r>
                        <a:rPr sz="1500" b="0">
                          <a:solidFill>
                            <a:srgbClr val="1F2937"/>
                          </a:solidFill>
                        </a:rPr>
                        <a:t>VTU deklaratsiyasi</a:t>
                      </a:r>
                    </a:p>
                  </a:txBody>
                  <a:tcPr marL="73152" marR="73152" marT="36576" marB="36576">
                    <a:solidFill>
                      <a:srgbClr val="E8EEF6"/>
                    </a:solidFill>
                  </a:tcPr>
                </a:tc>
                <a:tc>
                  <a:txBody>
                    <a:bodyPr/>
                    <a:lstStyle/>
                    <a:p>
                      <a:r>
                        <a:rPr sz="1500" b="0">
                          <a:solidFill>
                            <a:srgbClr val="1F2937"/>
                          </a:solidFill>
                        </a:rPr>
                        <a:t>1987</a:t>
                      </a:r>
                    </a:p>
                  </a:txBody>
                  <a:tcPr marL="73152" marR="73152" marT="36576" marB="36576">
                    <a:solidFill>
                      <a:srgbClr val="E8EEF6"/>
                    </a:solidFill>
                  </a:tcPr>
                </a:tc>
                <a:tc>
                  <a:txBody>
                    <a:bodyPr/>
                    <a:lstStyle/>
                    <a:p>
                      <a:r>
                        <a:rPr sz="1500" b="0">
                          <a:solidFill>
                            <a:srgbClr val="1F2937"/>
                          </a:solidFill>
                        </a:rPr>
                        <a:t>O‘lim tasdig‘i shartlari va etik tamoyillar</a:t>
                      </a:r>
                    </a:p>
                  </a:txBody>
                  <a:tcPr marL="73152" marR="73152" marT="36576" marB="36576">
                    <a:solidFill>
                      <a:srgbClr val="E8EEF6"/>
                    </a:solidFill>
                  </a:tcPr>
                </a:tc>
              </a:tr>
              <a:tr h="614476">
                <a:tc>
                  <a:txBody>
                    <a:bodyPr/>
                    <a:lstStyle/>
                    <a:p>
                      <a:r>
                        <a:rPr sz="1500" b="0">
                          <a:solidFill>
                            <a:srgbClr val="1F2937"/>
                          </a:solidFill>
                        </a:rPr>
                        <a:t>Islom huquqshunoslik akademiyasi</a:t>
                      </a:r>
                    </a:p>
                  </a:txBody>
                  <a:tcPr marL="73152" marR="73152" marT="36576" marB="36576">
                    <a:solidFill>
                      <a:srgbClr val="FFFFFF"/>
                    </a:solidFill>
                  </a:tcPr>
                </a:tc>
                <a:tc>
                  <a:txBody>
                    <a:bodyPr/>
                    <a:lstStyle/>
                    <a:p>
                      <a:r>
                        <a:rPr sz="1500" b="0">
                          <a:solidFill>
                            <a:srgbClr val="1F2937"/>
                          </a:solidFill>
                        </a:rPr>
                        <a:t>1988</a:t>
                      </a:r>
                    </a:p>
                  </a:txBody>
                  <a:tcPr marL="73152" marR="73152" marT="36576" marB="36576">
                    <a:solidFill>
                      <a:srgbClr val="FFFFFF"/>
                    </a:solidFill>
                  </a:tcPr>
                </a:tc>
                <a:tc>
                  <a:txBody>
                    <a:bodyPr/>
                    <a:lstStyle/>
                    <a:p>
                      <a:r>
                        <a:rPr sz="1500" b="0">
                          <a:solidFill>
                            <a:srgbClr val="1F2937"/>
                          </a:solidFill>
                        </a:rPr>
                        <a:t>Tirik va o‘lik donordan ko‘chirish qarori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Hujjatlar xronologiyasi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Milliy qonunlar, genom va YuNESKO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Dunyoning qariyb 40 davlatida milliy transplantatsiya dasturlari Konstitutsiya bo‘limlari yoki maxsus qonunlar bilan tartibga solingan. Ular shaxs huquqlari bo‘yicha xalqaro normalarga tayanadi.</a:t>
            </a:r>
          </a:p>
          <a:p>
            <a:pPr>
              <a:spcAft>
                <a:spcPts val="1200"/>
              </a:spcAft>
            </a:pPr>
            <a:r>
              <a:rPr sz="2000">
                <a:solidFill>
                  <a:srgbClr val="1F2937"/>
                </a:solidFill>
                <a:latin typeface="Calibri"/>
              </a:rPr>
              <a:t>▸  Avstriya, Belgiya, Ispaniya, Vengriya, Chexiyada rozilik prezumptsiyasi amal qiladi. AQSH, Germaniya, Kanada, Fransiya, Italiyada so‘rab olingan rozilik talab etiladi.</a:t>
            </a:r>
          </a:p>
          <a:p>
            <a:pPr>
              <a:spcAft>
                <a:spcPts val="1200"/>
              </a:spcAft>
            </a:pPr>
            <a:r>
              <a:rPr sz="2000">
                <a:solidFill>
                  <a:srgbClr val="1F2937"/>
                </a:solidFill>
                <a:latin typeface="Calibri"/>
              </a:rPr>
              <a:t>▸  Inson genomi deklaratsiyasining 1-moddasiga ko‘ra genom «insoniyat mulki». Bioetika xalqaro qo‘mitasi daromadni adolatli taqsimlovchi xalqaro mexanizm taklif qilgan.</a:t>
            </a:r>
          </a:p>
          <a:p>
            <a:pPr>
              <a:spcAft>
                <a:spcPts val="1200"/>
              </a:spcAft>
            </a:pPr>
            <a:r>
              <a:rPr sz="2000">
                <a:solidFill>
                  <a:srgbClr val="1F2937"/>
                </a:solidFill>
                <a:latin typeface="Calibri"/>
              </a:rPr>
              <a:t>▸  YuNESKO (BMT ta’lim, fan va madaniyat tashkiloti) fan va texnologiya etikasini 2002–2007 yillar strategiyasining ustuvor yo‘nalishlaridan biri deb tan oldi.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O‘zbekistondagi holat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Taqdim etilgan manbalarda O‘zbekistondagi transplantatsiya holati, qonunlari va statistikasi bo‘yicha aniq ma’lumot yo‘q. Shuning uchun raqam keltirilmaydi.</a:t>
            </a:r>
          </a:p>
          <a:p>
            <a:pPr>
              <a:spcAft>
                <a:spcPts val="1200"/>
              </a:spcAft>
            </a:pPr>
            <a:r>
              <a:rPr sz="2200">
                <a:solidFill>
                  <a:srgbClr val="1F2937"/>
                </a:solidFill>
                <a:latin typeface="Calibri"/>
              </a:rPr>
              <a:t>▸  Darslikda dunyoning qariyb 40 davlatida milliy transplantatsiya dasturlari Konstitutsiya bo‘limlari yoki maxsus qonunlar bilan tartibga solingani aytilgan.</a:t>
            </a:r>
          </a:p>
          <a:p>
            <a:pPr>
              <a:spcAft>
                <a:spcPts val="1200"/>
              </a:spcAft>
            </a:pPr>
            <a:r>
              <a:rPr sz="2200">
                <a:solidFill>
                  <a:srgbClr val="1F2937"/>
                </a:solidFill>
                <a:latin typeface="Calibri"/>
              </a:rPr>
              <a:t>▸  Milliy qonunlar shaxs huquqlari va erkinligi bo‘yicha xalqaro normalarga tayanadi. Bu umumiy tamoyil O‘zbekistonga ham tegishli deb taxmin qilinadi.</a:t>
            </a:r>
          </a:p>
          <a:p>
            <a:pPr>
              <a:spcAft>
                <a:spcPts val="1200"/>
              </a:spcAft>
            </a:pPr>
            <a:r>
              <a:rPr sz="2200">
                <a:solidFill>
                  <a:srgbClr val="1F2937"/>
                </a:solidFill>
                <a:latin typeface="Calibri"/>
              </a:rPr>
              <a:t>▸  Har qanday milliy hujjat asosida zarar yetkazmaslik, xabardor ixtiyoriy rozilik va ijtimoiy adolat tamoyillari yotadi.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va umumiy takrorlash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rozilik prezumptsiyasida kim e’tirozini bildirishi kerak? Javob: a’zo olinishiga qarshi bo‘lgan shaxs yoki uning yaqinlari.</a:t>
            </a:r>
          </a:p>
          <a:p>
            <a:pPr>
              <a:spcAft>
                <a:spcPts val="1200"/>
              </a:spcAft>
            </a:pPr>
            <a:r>
              <a:rPr sz="2200">
                <a:solidFill>
                  <a:srgbClr val="1F2937"/>
                </a:solidFill>
                <a:latin typeface="Calibri"/>
              </a:rPr>
              <a:t>▸  Tezkor savol: norozilik prezumptsiyasida a’zo olish uchun nima kerak? Javob: huquqiy rasmiylashtirilgan rozilik, usiz a’zodan foydalanib bo‘lmaydi.</a:t>
            </a:r>
          </a:p>
          <a:p>
            <a:pPr>
              <a:spcAft>
                <a:spcPts val="1200"/>
              </a:spcAft>
            </a:pPr>
            <a:r>
              <a:rPr sz="2200">
                <a:solidFill>
                  <a:srgbClr val="1F2937"/>
                </a:solidFill>
                <a:latin typeface="Calibri"/>
              </a:rPr>
              <a:t>▸  Diqqat: xato qilish xavfi! Rozilik prezumptsiyasi ≠ norozilik prezumptsiyasi. Birida e’tiroz bildirilmasa a’zo olinadi, ikkinchisida rozilik shart.</a:t>
            </a:r>
          </a:p>
          <a:p>
            <a:pPr>
              <a:spcAft>
                <a:spcPts val="1200"/>
              </a:spcAft>
            </a:pPr>
            <a:r>
              <a:rPr sz="2200">
                <a:solidFill>
                  <a:srgbClr val="1F2937"/>
                </a:solidFill>
                <a:latin typeface="Calibri"/>
              </a:rPr>
              <a:t>▸  Sanalar: Harvard mezonlari — 1968, Jahon tibbiyot uyushmasi deklaratsiyasi — 1987, Islom huquqshunoslik akademiyasi qarori — 1988.</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Zarar yetkazmaslik, xabardor ixtiyoriy rozilik va ijtimoiy adolat barcha transplantatsiya hujjatlari asosida yotadi.</a:t>
            </a:r>
          </a:p>
          <a:p>
            <a:pPr>
              <a:spcAft>
                <a:spcPts val="800"/>
              </a:spcAft>
            </a:pPr>
            <a:r>
              <a:rPr sz="1800">
                <a:solidFill>
                  <a:srgbClr val="1F2937"/>
                </a:solidFill>
                <a:latin typeface="Calibri"/>
              </a:rPr>
              <a:t>▸  Qo‘shma Shtatlar va Yevropada muhtojlarning taxminan 35 foizi operatsiyaga yetisha olmaydi.</a:t>
            </a:r>
          </a:p>
          <a:p>
            <a:pPr>
              <a:spcAft>
                <a:spcPts val="800"/>
              </a:spcAft>
            </a:pPr>
            <a:r>
              <a:rPr sz="1800">
                <a:solidFill>
                  <a:srgbClr val="1F2937"/>
                </a:solidFill>
                <a:latin typeface="Calibri"/>
              </a:rPr>
              <a:t>▸  Miya o‘limi: qaytmas hushsizlik, mustaqil nafasning to‘xtashi va miya ustuni reflekslarining yo‘qolishi.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tur: auto, izo, allo, kseno</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Donorlik: tirik va o‘lik</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 o‘limi — o‘lim mezoni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Prezumptsiya turlari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Taqchillik: adolat, rozilik</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Mavzuning asosiy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33-43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Fakt: AQSh (Amerika Qo‘shma Shtatlari) va Yevropada ham ko‘chirib o‘tkazish muhtoj bo‘lganlarning taxminan 35 foiziga nasib qilmaydi. Shu sabab donorlik tanqisligi butun dunyoda dolzarb muammo.</a:t>
            </a:r>
          </a:p>
          <a:p>
            <a:pPr>
              <a:spcAft>
                <a:spcPts val="1200"/>
              </a:spcAft>
            </a:pPr>
            <a:r>
              <a:rPr sz="1800">
                <a:solidFill>
                  <a:srgbClr val="1F2937"/>
                </a:solidFill>
                <a:latin typeface="Calibri"/>
              </a:rPr>
              <a:t>▸  Hodisa tahlili: kutish varaqasida birinchi turgan og‘ir bemor ham operatsiyaga yetmasligi mumkin. Sabab: immunologik mos kelmaslik tufayli mavjud a’zolar orasidan unga mosini topish qiyin. Adolat tamoyili va tibbiy moslik har doim ham mos tushmaydi.</a:t>
            </a:r>
          </a:p>
          <a:p>
            <a:pPr>
              <a:spcAft>
                <a:spcPts val="1200"/>
              </a:spcAft>
            </a:pPr>
            <a:r>
              <a:rPr sz="1800">
                <a:solidFill>
                  <a:srgbClr val="1F2937"/>
                </a:solidFill>
                <a:latin typeface="Calibri"/>
              </a:rPr>
              <a:t>▸  Eslab qolish usuli (transplantat turlari): AUTO — donor o‘zi; IZO — bir tuxumdan egizak; ALLO — boshqa inson; KSENO — hayvon. Savol: «Donor kim?» — javob turni ko‘rsatadi.</a:t>
            </a:r>
          </a:p>
          <a:p>
            <a:pPr>
              <a:spcAft>
                <a:spcPts val="1200"/>
              </a:spcAft>
            </a:pPr>
            <a:r>
              <a:rPr sz="1800">
                <a:solidFill>
                  <a:srgbClr val="1F2937"/>
                </a:solidFill>
                <a:latin typeface="Calibri"/>
              </a:rPr>
              <a:t>▸  Eslab qolish usuli (rozilik prezumptsiyasi): «rozilik prezumptsiyasi» — e’tiroz bildirmagan odam rozi hisoblanadi (Avstriya, Belgiya, Ispaniya). «Norozilik prezumptsiyasi» — yozma rozilik bo‘lmasa, a’zo olinmaydi (AQSh, Germaniya, Kanada, Fransiya, Italiya).</a:t>
            </a:r>
          </a:p>
          <a:p>
            <a:pPr>
              <a:spcAft>
                <a:spcPts val="1200"/>
              </a:spcAft>
            </a:pPr>
            <a:r>
              <a:rPr sz="1800">
                <a:solidFill>
                  <a:srgbClr val="1F2937"/>
                </a:solidFill>
                <a:latin typeface="Calibri"/>
              </a:rPr>
              <a:t>▸  Hodisa tahlili: terapevtik klonlashda bemorning o‘z somatik hujayralari boshlang‘ich material bo‘ladi. Inson ham donor, ham retsipiyent bo‘lib, immunologik moslik muammosi yechilishi mumkin. Lekin bu usul hozircha tajriba bosqichida, amaliyotga joriy etishga hali uzoq.</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Transplantologiya: tarixi va holati, donorlik muammosi, transplantatsiya turlari, jasadli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Yuldashev N.M., Saydalixodjayeva O.Z., Saidov A.B. Bioetika (tibbiyot OTM talabalari uchun darslik), Toshkent tibbiyot akademiyasi, Toshkent, 2019 (titul betida 2018). 2019. 3-bob 3.1 «Transplantatsiya» (kitob beti 33-43; miya o‘limi, donorlik turlari, rozilik prezumptsiyasi)</a:t>
            </a:r>
          </a:p>
          <a:p>
            <a:pPr>
              <a:spcAft>
                <a:spcPts val="800"/>
              </a:spcAft>
            </a:pPr>
            <a:r>
              <a:rPr sz="2000">
                <a:solidFill>
                  <a:srgbClr val="1F2937"/>
                </a:solidFill>
                <a:latin typeface="Calibri"/>
              </a:rPr>
              <a:t>▸  Muhamedova Z.M. Bioetika (o‘quv qo‘llanma, falsafa fakulteti), Toshkent, 2006. 2006. II bob 3-bo‘lim oxiri: a’zo va to‘qimalarni ko‘chirib o‘tkazishdagi axloqiy muammolar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