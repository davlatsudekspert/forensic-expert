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a’zo ko‘chirishda tibbiy masalalardan ko‘ra etik-huquqiy muammolar og‘irroq deb hisoblanadi? 2) Donor taqchilligi qanday axloqiy savollar tug‘diradi? Doskada chizish: ikki ustun — «Tibbiy omillar» va «Etik-huquqiy muammolar» — va har biriga 2-3 misol yozdiring. Tipik xato: talabalar transplantatsiyani faqat jarrohlik masalasi deb tushunadi; bioetika jihatini alohida ta’kidlang. Eslatma: dars maqsadi bandi o‘qituvchi talqini, manbadan so‘zma-so‘z olinmagan.</a:t>
            </a:r>
          </a:p>
          <a:p/>
          <a:p>
            <a:r>
              <a:t>Tekshirish kerak (manbada noaniq):</a:t>
            </a:r>
          </a:p>
          <a:p>
            <a:r>
              <a:t>- Dars maqsadi: transplantatsiya turlari, donorlik modellari, o‘lim mezoni va xalqaro hujjatlarni bioetik nuqtai nazardan tahlil qilish.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1) Sizningcha, nega o‘lim mezoni donorlik modellaridan oldin o‘rganiladi? 2) Qaysi bo‘lim sizga eng munozarali tuyuladi? Doskada chizish: 5 bosqichli zanjirni talabalar bilan birga chizing. Tipik xato: bo‘limlarni bir-biridan mustaqil deb o‘ylash; ular o‘zaro bog‘liq. Eslatma: taqdim etilgan manbalarda O‘zbekiston qonunchiligi bo‘yicha ma’lumot yo‘q, shu bo‘lim uchun qo‘shimcha manba kerak.</a:t>
            </a:r>
          </a:p>
          <a:p/>
          <a:p>
            <a:r>
              <a:t>Tekshirish kerak (manbada noaniq):</a:t>
            </a:r>
          </a:p>
          <a:p>
            <a:r>
              <a:t>- Oxirida dinlar qarashi, xalqaro hujjatlar va O‘zbekistondagi tartib (Muxamedova, 2021) yoritiladi.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klinikadan oldin eksperimental bosqich kerak? 2) Retsipient immun tizimi holati nega muhim muammo? Doskada chizish: «Donor → a’zo/to‘qima → retsipient» sxemasini chizing. Tipik xato: «retsipient» va «donor» tushunchalarini aralashtirish — donor beradi, retsipient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transplantatsiya avval eksperimental bosqichdan o‘tishi kerak? 2) Retsipient immuniteti nima uchun muammo? Doskada chizish: «Eksperiment → klinika» ketma-ketligini va ostiga uchta muammo turini (biologik, jarrohlik, tashkiliy) yozing. Tipik xato: talabalar eksperimental transplantatsiyani bevosita bemorga qilinadigan operatsiya deb o‘ylaydi. Aslida bu klinikadan oldingi bosqich.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Qaysi turda immunologik moslik muammosi eng kam bo‘ladi va nega? 2) Nega hayvon a’zosini ko‘chirish alohida tur hisoblanadi? Doskada chizish: to‘rt turni donordan retsipientga o‘q bilan ko‘rsating. Tipik xato: izotransplantatsiya bilan allotransplantatsiyani aralashtirish. Izoda donor faqat bir tuxumli egizak, alloda esa boshqa odam. Eslab qolish: auto — o‘zi, izo — izdosh egizak, allo — «alohida odam», kseno — «begona tur».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Autotransplantatsiyada donorga zarar etkazish dilemmasi bormi? 2) Nima uchun egizak donor immunologik jihatdan qulay? Doskada chizish: ikki ustunli jadval — «Auto: teri, ilik» va «Izo: egizak». Tipik xato: egizaklarning barchasini izo-donor deb hisoblash. Manbada aynan bir tuxumli egizak nazarda tutilgan.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«allo» faqat odamlar o‘rtasidagi ko‘chirishni bildiradi? 2) Ksenotransplantatsiyada donor sifatida qaysi hayvon tilga olingan? Doskada: ikki ustunli «Allo | Kseno» jadvalini talabalar bilan to‘ldiring. Tipik xato: talabalar allo va izo (egizak) turlarini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eng katta qiyinchilik tibbiy emas, etik-huquqiy masalalarda? 2) Immunosupressiv terapiya nima uchun tibbiy omillarga kiradi? Doskada: ikki ustunli ro‘yxat chizing va har ustunga o‘z misolingizni qo‘shing. Tipik xato: o‘lim faktini tasdiqlashni sof tibbiy masala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Javob: A — autotransplantatsiya, B — autotransplantatsiya, C — izotransplantatsiya. Muhokama: 1) Autotransplantatsiyada donor va retsipient o‘rtasida qanday munosabat bor? 2) Egizak donor allo emas, izo ekanini qanday asoslaysiz? Doskada: to‘rt turni «donor kim?» savoli asosida zanjir qilib chizing. Tipik xato: egizakni allotransplantatsiyaga kiritish.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tirik donor holatida «zarar yetkazma» tamoyili to‘liq saqlanmaydi? 2) Foyda va zararni solishtirishda nimalarni hisobga olish kerak? Doskada: zanjirni talabalar bilan birga chizing, har bosqichga bittadan misol yozing. Tipik xato: talabalar dilemmani «donor har doim zarar ko‘radi, shuning uchun taqiqlanadi» deb tushunadi. Aslida dilemma foyda zarardan yuqori bo‘lish qoidasi bilan hal etiladi.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jasadli donorlik eng keng tarqalgan? 2) Uch muammodan qaysi biri sizningcha eng murakkab va nega? Doskada: jadvalni chizib, jasadli donorlikning uch muammosini ro‘yxat qilib yozing. Tipik xato: tirik donorlar faqat qarindoshlardan iborat deb o‘ylash. Darslikda qarindosh bo‘lmagan odamlar ham tirik donor bo‘lishi mumkinligi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yoki juftlikda so‘rang, avval talabalar javob bersin, keyin javobni oching. Muhokama: tirik va jasadli donorlik muammolari qanday farq qiladi? Doskada: transplantatsiya turlarining to‘rt nomini yozdiring. Tipik xato: autotransplantatsiya bilan izotransplantatsiyani adashtirish. Izotransplantatsiyada donor tuxumdosh egizakdir.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o‘lim masalasi aynan transplantologiya bilan birga bioetik muammoga aylandi? 2) Mezonlarning qonunlarda mustahkamlanishi nimaga kerak? Doskada chizing: 4 bosqichli vaqt chizig‘i (koma tavsifi → Harvard mezonlari → Sidney deklaratsiyasi → milliy qonunlar). Tipik xato: Harvard mezonlari va Sidney deklaratsiyasini bir hujjat deb adashtirish; manbada Mollare-Gulon tavsifining aniq yili ko‘rsatilmagan, yil aytmang.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miya boshqa a’zolardan farqli ‘almashtirib bo‘lmaydigan’ tizim hisoblanadi? 2) Mezonning uchta belgisini o‘z so‘zingiz bilan ayting. Doskada chizing: uchta belgi (behushlik, nafas, poya reflekslari) → miya o‘limi. Tipik xato: miya o‘limini oddiy koma yoki ‘o‘simlik holati’ bilan adashtirish; manbada mezon uchta belgining birgalikdagi yo‘qolishi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(3 daq guruhda muhokama, 4 daq umumiy xulosa). Muhokama: 1) Nega apparat bilan ushlangan yurak urishi o‘lim mezoni bo‘la olmaydi? 2) O‘lim vaqtining aniq mezoni bo‘lmasa, a’zo olishda qanday axloqiy xavf tug‘iladi? Doskada chizing: ‘apparat → yurak uradi’ va ‘miya → faoliyat yo‘q’ ikki ustunli solishtirish. Tipik xato: ‘yurak uryapti — demak tirik’ deb o‘ylash; manbada mezon miya holatiga tayanadi. Vaziyat manbadagi mezonlar asosida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bugun eskicha usul kamroq qo‘llanadi? 2) Uch modelda shaxs erkinligi qanday himoyalanadi? Doskada: 3 ustunli jadvalni talabalar bilan birga to‘ldiring. Tipik xato: eskicha usulni rozilik prezumptsiyasi bilan aralashtirish — eskichada shaxs irodasi hisobga olinmaydi, davlat mulki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Sukut saqlash rozilik hisoblanishi odil bo‘ladimi? 2) Qarindoshlar e’tirozi shaxs irodasini almashtira oladimi? Doskada: oqim sxemasini chizib, ikki tarmoqni belgilang. Qo‘shimcha: manbada Avstriya, Belgiya, Ispaniya, Vengriya, Chexiya kabi G‘arbiy Yevropa mamlakatlarida huquqiy normalar shu tamoyilga moslangani aytilgan. Tipik xato: «e’tiroz bildirilmagan» holatni «rozilik hujjati bor»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Donor-karta shaxs erkinligini qanday himoya qiladi? 2) Rozilik hujjati bo‘lmaganda donor soni nega kamayishi mumkin? Doskada: ikki prezumptsiyani yonma-yon yozing — «kim nima qilishi kerak?» (e’tiroz bildirish / rozilik berish). Eslab qolish: «Rozilik prezumptsiyasi — jim tursang rozisan; norozilikda — rozi bo‘lsang, yozib ber». Tipik xato: nomlarni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davlatlar rozilik, boshqalari norozilik modelini tanlaydi? 2) Qaysi model shaxs erkinligini ko‘proq himoya qiladi? Doskada: ikki ustunli jadvalni o‘zlari chizib, har ustunga 2 ta davlat yozsinlar. Tipik xato: “rozilik prezumptsiyasi” ni “rozilik berilgan” deb tushunish; aslida bu e’tiroz yo‘qligidan kelib chiqadigan faraz.</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juftlikda javob beradi. Muhokama: 1) Bir xil vaziyatda ikki modelda natija nega boshqacha? 2) Qarindoshlarning e’tirozi qanday rol o‘ynaydi? Doskada: vaziyat uchun ikki tarmoqli sxema (rozilik modeli → mumkin; norozilik modeli → mumkin emas). Tipik xato: faqat “marhum e’tiroz bildirmagan” deb, rasmiy rozilik talabini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yechim etik jihatdan eng qulay va nega? 2) Qaysi yechim amaliyotga eng yaqin (masalan, sun’iy buyrak apparati)? Doskada: markazda “taqchillik”, undan to‘rt yechimga strelka chizing. Tipik xato: 35 foizni aniq statistika deb olish; manbada u “taxminan” deyilgan. Hujayra kulturasi yo‘li hali sog‘liqni saqlash amaliyotiga joriy etilmagan.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terapevtik klonlash etik jihatdan qulay deyiladi? 2) Nega sun’iy a’zolar qimmat yo‘l hisoblanadi? Doskada: ikki ustunli jadval (sun’iy a’zo va klonlash) chizdiring, har biriga afzallik va cheklovni yozdiring. Tipik xato: klonlash allaqachon amaliyotga joriy etilgan deb o‘ylash. Aslida u hali tadqiqot bosqichida.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Hayvon organini ko‘chirishga qarshi va yoqlab qanday dalillar bor? 2) Bemor hayvon a’zosini o‘ziniki deb qabul qila olishi nega muammo? Doskada: zanjirni (cho‘chqa, gen injeneriyasi, transgen cho‘chqa, xavflar) chizdiring. Tipik xato: ksenotransplantatsiyani allotransplantatsiya bilan adashtirish. Ksenoda donor boshqa biologik tur hayvoni, allo da esa inson.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bering, talabalar juftlikda javob beradi. Muhokama: qaysi yechim yaqin kelajakda eng real? Doskada: taqchillik yechimlarining 5 ta tarmog‘ini yozdiring. Tipik xato: sun’iy a’zo va hujayra kulturasidan o‘stirilgan a’zoni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Navbat birinchi bo‘lsa-yu a’zo mos kelmasa, bu adolatsizlikmi? 2) «Adolat» faqat navbat tartibimi yoki tibbiy moslikni ham o‘z ichiga oladimi? Doskada chizish: kutish varaqasidan operatsiyagacha bo‘lgan zanjirni talabalar o‘zlari chizsin. Qo‘shimcha: manbaga ko‘ra, bu muammo immunosupressor terapiya usullarini takomillashtirish orqali qisman hal qilinadi, lekin hali ham dolzarb. Tipik xato: «navbatda birinchi turgan bemor albatta birinchi operatsiya qilinadi»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Taqiq bo‘lsa-yu, nega qora bozor paydo bo‘ladi? 2) A’zo tanqisligi bilan narx o‘rtasida qanday bog‘liqlik bor? Doskada chizish: «tanqislik → talab → qora bozor» zanjirini chizing. Tipik xato: «qonunda taqiq bor, demak, savdo yo‘q» deb o‘ylash. Manbaga ko‘ra qora bozor mavjud.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Muhim: sanalarni adashtirmang: 2008 — Istanbul, 2010 — WHA63.22, 2018 — Madrid tahriri.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(2 daqiqa juftlikda fikrlash, 4 daqiqa umumiy muhokama). Muhokama: 1) Moddiy ehtiyoj bosimi ostidagi rozilik haqiqatan ixtiyoriymi? 2) Sotuvchi-donor va qarindosh-donor o‘rtasida qanday etik farq bor? Doskada chizish: «donor — oraliq vosita — retsipiyent» sxemasini chizib, har bosqichda buzilayotgan tamoyilni yozing. Tipik xato: «donor o‘zi rozi bo‘lgan, demak, hech qanday muammo yo‘q» deb xulosa qilish. Rozilik xabardor va ixtiyoriy bo‘lishi kerak, zarar esa foydadan oshmasligi lozim.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Kitob «uchinchi yo‘l» sifatida sotuv o‘rniga moddiy kompensatsiya mexanizmini ham muhokama qiladi (184-bet).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pravoslav cherkov rozilik prezumptsiyasiga e’tiroz bildiradi? 2) Fidokorlik va majburiyat o‘rtasidagi farq nima? Doskaga: ‘ixtiyoriylik – xabardorlik – xavfsizlik’ zanjirini chizing. Tipik xato: pravoslav cherkovi transplantatsiyaning o‘ziga qarshi deb o‘ylash; aslida u savdoga va prezumptsiyaga qarshi.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Yahudiylikda oila roziligi nega muhim? 2) Buddaviylikdagi ‘in’om’ sharti qaysi donorlik turiga tegishli? Doskaga: jadvalni talabalar bilan birga to‘ldirib chiqing. Tipik xato: yahudiylikda jasadni yorish umuman taqiqlangan, shuning uchun transplantatsiyaga mutlaq qarshi deb o‘ylash; hayot qutqarilsa,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Norozilik prezumptsiyasi nima va u rozilik prezumptsiyasidan qanday farq qiladi? 2) Nega hayotiy a’zolar tirik odamdan olinmaydi? Doskaga: ‘foyda &gt; zarar’ tarozisini chizing. Qo‘shimcha: kitobga ko‘ra tirik donorlik faqat Islom dinidagi rozi shaxsdan mumkin. Tipik xato: Shariatda rozilik prezumptsiyasi bor deb o‘ylash; manbada norozilik prezumptsiyasi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Marhumning oldindan bildirgan roziligi va oilaning e’tirozi to‘qnashsa, qaysi biri ustun bo‘lishi kerak? 2) Nega dinlarning aksariyati donorlikning ixtiyoriyligini ta’kidlaydi? Doskada chizish: 3 ustunli jadval (din – rozilik sharti – taqiq). Tipik xato: barcha dinlar donorlikni mutlaqo taqiqlaydi deb o‘ylash. Aslida ko‘pchiligi shartli ruxsat beradi.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o‘limni tasdiqlash shartlari alohida hujjatda belgilanadi? 2) Shifokorning bosh tamoyili donor va retsipient manfaatiga qanday ta’sir qiladi? Doskada chizish: 1968–1987–1988 vaqt chizig‘i. Tipik xato: Harvard mezonlarini 1987-yilgi VTU deklaratsiyasi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Genom «insoniyat mulki» bo‘lsa, daromad kimga tegishli bo‘lishi kerak? 2) Rozilik va norozilik prezumptsiyasi donorlar soniga qanday ta’sir qilishi mumkin? Doskada chizish: ikki guruh davlatlar ro‘yxati (rozilik va so‘rab olingan rozilik). Tipik xato: AQSH va Germaniyani rozilik prezumptsiyasi guruhiga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Batafsil: keyingi slaydlar (Muxamedova, 2021, 186–188-betlar). Tipik xato: Yuldashev darsligida O‘zbekiston ma’lumoti yo‘q deb o‘ylash — u Muxamedova darsligida.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qonun o‘zgarishi klinik xizmatni to‘xtatib qo‘yishi mumkin? (186-bet). Aniq statistika qisman o‘qilmaydigan OCR matnidan olinmadi.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 nega qarorni shifokor emas, maxsus komissiya qabul qiladi? Bu manfaat to‘qnashuvidan himoya.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Talabalarga savollarni juftlikda yechtiring. Muhokama: 1) Sukut qaysi modelda ‘rozilik’ hisoblanadi? 2) Donor-karta qaysi modelga mos? Doskaga chizish: ikki ustunli jadval ‘Rozilik prezumptsiyasi | Norozilik prezumptsiyasi’. Tipik xato: ikki prezumptsiyani almashtirib yuborish va 1987 bilan 1988 yilni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Taqchillikni kamaytirishning qaysi yo‘llari axloqan eng maqbul? 2) Zarar yetkazmaslik tamoyili tirik donorlikda qanday buziladi? Doskaga chizish: talabalar diagrammani xotiradan qayta chizsin va har bosqichga bittadan atama yozsin. Tipik xato: miya o‘limini oddiy komadan farqlamaslik va tirik donor holatida foyda zarardan ustun bo‘lishi qoidasini unutish.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Transplantologiya: tarixi va holati, donorlik muammosi, transplantatsiya turlari, jasadli donorlik modellari, O‘zbekistondagi holat, xalqaro deklaratsiyalar (A7)</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transplantologiya va bioetika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A’zo ko‘chirishda tibbiy omillar (immunologik saralash, retsipient salomatligi, immunosupressiv terapiya) bilan birga etik-huquqiy masalalar ham turadi.</a:t>
            </a:r>
          </a:p>
          <a:p>
            <a:pPr>
              <a:spcAft>
                <a:spcPts val="1200"/>
              </a:spcAft>
            </a:pPr>
            <a:r>
              <a:rPr sz="2200">
                <a:solidFill>
                  <a:srgbClr val="1F2937"/>
                </a:solidFill>
                <a:latin typeface="Calibri"/>
              </a:rPr>
              <a:t>▸  Eng katta qiyinchiliklar etik va huquqiy muammolar bilan bog‘liq: o‘limni tasdiqlash, a’zoni olish, taqsimlash va tijoratlashtirish.</a:t>
            </a:r>
          </a:p>
          <a:p>
            <a:pPr>
              <a:spcAft>
                <a:spcPts val="1200"/>
              </a:spcAft>
            </a:pPr>
            <a:r>
              <a:rPr sz="2200">
                <a:solidFill>
                  <a:srgbClr val="1F2937"/>
                </a:solidFill>
                <a:latin typeface="Calibri"/>
              </a:rPr>
              <a:t>▸  Dunyoda donor a’zolar jiddiy yetishmaydi: AQSH va Yevropada ham muhtojlarning taxminan 35 foizi ko‘chirib o‘tkazishga yetisha olmaydi.</a:t>
            </a:r>
          </a:p>
          <a:p>
            <a:pPr>
              <a:spcAft>
                <a:spcPts val="1200"/>
              </a:spcAft>
            </a:pPr>
            <a:r>
              <a:rPr sz="2200">
                <a:solidFill>
                  <a:srgbClr val="1F2937"/>
                </a:solidFill>
                <a:latin typeface="Calibri"/>
              </a:rPr>
              <a:t>▸  Dars maqsadi: transplantatsiya turlari, donorlik modellari, o‘lim mezoni va xalqaro hujjatlarni bioetik nuqtai nazardan tahlil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Avval transplantatsiya turlari va donorlik ko‘rib chiqiladi, so‘ng inson o‘limi mezoni.</a:t>
            </a:r>
          </a:p>
          <a:p>
            <a:pPr>
              <a:spcAft>
                <a:spcPts val="800"/>
              </a:spcAft>
            </a:pPr>
            <a:r>
              <a:rPr sz="1800">
                <a:solidFill>
                  <a:srgbClr val="1F2937"/>
                </a:solidFill>
                <a:latin typeface="Calibri"/>
              </a:rPr>
              <a:t>▸  Keyin rozilik modellari, a’zo taqchilligi, taqsimot va savdo muammolari yoritiladi.</a:t>
            </a:r>
          </a:p>
          <a:p>
            <a:pPr>
              <a:spcAft>
                <a:spcPts val="800"/>
              </a:spcAft>
            </a:pPr>
            <a:r>
              <a:rPr sz="1800">
                <a:solidFill>
                  <a:srgbClr val="1F2937"/>
                </a:solidFill>
                <a:latin typeface="Calibri"/>
              </a:rPr>
              <a:t>▸  Oxirida dinlar qarashi, xalqaro hujjatlar va O‘zbekistondagi tartib (Muxamedova, 2021) yoritiladi.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Turlar va donorlik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o‘limi mezoni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 modellari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Taqchillik, taqsimot, savdo</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Din va xalqaro hujjatlar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Transplantatsiya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Transplantatsiya — a’zo yoki to‘qimani bir organizmdan ikkinchisiga ko‘chirib o‘tkazishdir.</a:t>
            </a:r>
          </a:p>
          <a:p>
            <a:pPr>
              <a:spcAft>
                <a:spcPts val="800"/>
              </a:spcAft>
            </a:pPr>
            <a:r>
              <a:rPr sz="1800">
                <a:solidFill>
                  <a:srgbClr val="1F2937"/>
                </a:solidFill>
                <a:latin typeface="Calibri"/>
              </a:rPr>
              <a:t>▸  Odatda u eksperimental va klinik transplantatsiyaga ajratiladi.</a:t>
            </a:r>
          </a:p>
          <a:p>
            <a:pPr>
              <a:spcAft>
                <a:spcPts val="800"/>
              </a:spcAft>
            </a:pPr>
            <a:r>
              <a:rPr sz="1800">
                <a:solidFill>
                  <a:srgbClr val="1F2937"/>
                </a:solidFill>
                <a:latin typeface="Calibri"/>
              </a:rPr>
              <a:t>▸  Eksperimental bosqichda retsipient immun tizimining holati va yangi preparatlar masalasi o‘rganiladi.</a:t>
            </a:r>
          </a:p>
        </p:txBody>
      </p:sp>
      <p:graphicFrame>
        <p:nvGraphicFramePr>
          <p:cNvPr id="9" name="Table 8"/>
          <p:cNvGraphicFramePr>
            <a:graphicFrameLocks noGrp="1"/>
          </p:cNvGraphicFramePr>
          <p:nvPr/>
        </p:nvGraphicFramePr>
        <p:xfrm>
          <a:off x="6263640" y="1463040"/>
          <a:ext cx="5287975" cy="2606040"/>
        </p:xfrm>
        <a:graphic>
          <a:graphicData uri="http://schemas.openxmlformats.org/drawingml/2006/table">
            <a:tbl>
              <a:tblPr firstRow="1" bandRow="1">
                <a:tableStyleId>{5C22544A-7EE6-4342-B048-85BDC9FD1C3A}</a:tableStyleId>
              </a:tblPr>
              <a:tblGrid>
                <a:gridCol w="1510850"/>
                <a:gridCol w="3777125"/>
              </a:tblGrid>
              <a:tr h="868680">
                <a:tc>
                  <a:txBody>
                    <a:bodyPr/>
                    <a:lstStyle/>
                    <a:p>
                      <a:r>
                        <a:rPr sz="1800" b="1">
                          <a:solidFill>
                            <a:srgbClr val="FFFFFF"/>
                          </a:solidFill>
                        </a:rPr>
                        <a:t>Jihat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868680">
                <a:tc>
                  <a:txBody>
                    <a:bodyPr/>
                    <a:lstStyle/>
                    <a:p>
                      <a:r>
                        <a:rPr sz="1700" b="0">
                          <a:solidFill>
                            <a:srgbClr val="1F2937"/>
                          </a:solidFill>
                        </a:rPr>
                        <a:t>Mohiyati</a:t>
                      </a:r>
                    </a:p>
                  </a:txBody>
                  <a:tcPr marL="73152" marR="73152" marT="36576" marB="36576">
                    <a:solidFill>
                      <a:srgbClr val="E8EEF6"/>
                    </a:solidFill>
                  </a:tcPr>
                </a:tc>
                <a:tc>
                  <a:txBody>
                    <a:bodyPr/>
                    <a:lstStyle/>
                    <a:p>
                      <a:r>
                        <a:rPr sz="1700" b="0">
                          <a:solidFill>
                            <a:srgbClr val="1F2937"/>
                          </a:solidFill>
                        </a:rPr>
                        <a:t>Klinikadan oldingi bosqich</a:t>
                      </a:r>
                    </a:p>
                  </a:txBody>
                  <a:tcPr marL="73152" marR="73152" marT="36576" marB="36576">
                    <a:solidFill>
                      <a:srgbClr val="E8EEF6"/>
                    </a:solidFill>
                  </a:tcPr>
                </a:tc>
              </a:tr>
              <a:tr h="868680">
                <a:tc>
                  <a:txBody>
                    <a:bodyPr/>
                    <a:lstStyle/>
                    <a:p>
                      <a:r>
                        <a:rPr sz="1700" b="0">
                          <a:solidFill>
                            <a:srgbClr val="1F2937"/>
                          </a:solidFill>
                        </a:rPr>
                        <a:t>Hal qilinadi</a:t>
                      </a:r>
                    </a:p>
                  </a:txBody>
                  <a:tcPr marL="73152" marR="73152" marT="36576" marB="36576">
                    <a:solidFill>
                      <a:srgbClr val="FFFFFF"/>
                    </a:solidFill>
                  </a:tcPr>
                </a:tc>
                <a:tc>
                  <a:txBody>
                    <a:bodyPr/>
                    <a:lstStyle/>
                    <a:p>
                      <a:r>
                        <a:rPr sz="1700" b="0">
                          <a:solidFill>
                            <a:srgbClr val="1F2937"/>
                          </a:solidFill>
                        </a:rPr>
                        <a:t>Biologik, jarrohlik, tashkiliy masalalar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Eksperimental transplantatsiya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Eksperimental transplantatsiya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Eksperimental transplantatsiya klinik transplantatsiyadan oldingi bosqich hisoblanadi.</a:t>
            </a:r>
          </a:p>
          <a:p>
            <a:pPr>
              <a:spcAft>
                <a:spcPts val="1200"/>
              </a:spcAft>
            </a:pPr>
            <a:r>
              <a:rPr sz="2200">
                <a:solidFill>
                  <a:srgbClr val="1F2937"/>
                </a:solidFill>
                <a:latin typeface="Calibri"/>
              </a:rPr>
              <a:t>▸  Bu bosqichda a’zo va to‘qimalarni ko‘chirib o‘tkazishning biologik, jarrohlik va tashkiliy muammolari ishlab chiqiladi.</a:t>
            </a:r>
          </a:p>
          <a:p>
            <a:pPr>
              <a:spcAft>
                <a:spcPts val="1200"/>
              </a:spcAft>
            </a:pPr>
            <a:r>
              <a:rPr sz="2200">
                <a:solidFill>
                  <a:srgbClr val="1F2937"/>
                </a:solidFill>
                <a:latin typeface="Calibri"/>
              </a:rPr>
              <a:t>▸  Donor a’zo ko‘chirilgach, retsipientning immunitet tizimi holati muhim muammolardan biri. Uni eksperiment orqali qisman hal qilish mumkin.</a:t>
            </a:r>
          </a:p>
          <a:p>
            <a:pPr>
              <a:spcAft>
                <a:spcPts val="1200"/>
              </a:spcAft>
            </a:pPr>
            <a:r>
              <a:rPr sz="2200">
                <a:solidFill>
                  <a:srgbClr val="1F2937"/>
                </a:solidFill>
                <a:latin typeface="Calibri"/>
              </a:rPr>
              <a:t>▸  Genetik jihatdan farq qiladigan a’zo va to‘qimalarning moslashuviga yordam beradigan yangi preparatlar ham shu bosqichda ishlab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Transplantatsiya turlari: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Transplantatsiya turi donor kimligiga qarab farqlanadi: retsipientning o‘zi, egizak, boshqa odam yoki hayvon.</a:t>
            </a:r>
          </a:p>
          <a:p>
            <a:pPr>
              <a:spcAft>
                <a:spcPts val="800"/>
              </a:spcAft>
            </a:pPr>
            <a:r>
              <a:rPr sz="1800">
                <a:solidFill>
                  <a:srgbClr val="1F2937"/>
                </a:solidFill>
                <a:latin typeface="Calibri"/>
              </a:rPr>
              <a:t>▸  Allotransplantatsiya gomotransplantatsiya, ksenotransplantatsiya esa turlararo transplantatsiya deb ham ataladi.</a:t>
            </a:r>
          </a:p>
          <a:p>
            <a:pPr>
              <a:spcAft>
                <a:spcPts val="800"/>
              </a:spcAft>
            </a:pPr>
            <a:r>
              <a:rPr sz="1800">
                <a:solidFill>
                  <a:srgbClr val="1F2937"/>
                </a:solidFill>
                <a:latin typeface="Calibri"/>
              </a:rPr>
              <a:t>▸  Diqqat: izo ≠ allo. Izoda donor retsipientga genetik jihatdan aynan o‘xshash egizak.</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Transplantatsiya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Autotransplantatsiya</a:t>
            </a:r>
          </a:p>
          <a:p>
            <a:pPr algn="l">
              <a:spcAft>
                <a:spcPts val="0"/>
              </a:spcAft>
            </a:pPr>
            <a:r>
              <a:rPr sz="1200" b="0">
                <a:solidFill>
                  <a:srgbClr val="1F2937"/>
                </a:solidFill>
                <a:latin typeface="Calibri"/>
              </a:rPr>
              <a:t>Retsipientning o‘zi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Izotransplantatsiya</a:t>
            </a:r>
          </a:p>
          <a:p>
            <a:pPr algn="l">
              <a:spcAft>
                <a:spcPts val="0"/>
              </a:spcAft>
            </a:pPr>
            <a:r>
              <a:rPr sz="1200" b="0">
                <a:solidFill>
                  <a:srgbClr val="1F2937"/>
                </a:solidFill>
                <a:latin typeface="Calibri"/>
              </a:rPr>
              <a:t>Bir tuxumli egizak</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Allotransplantatsiya</a:t>
            </a:r>
          </a:p>
          <a:p>
            <a:pPr algn="l">
              <a:spcAft>
                <a:spcPts val="0"/>
              </a:spcAft>
            </a:pPr>
            <a:r>
              <a:rPr sz="1200" b="0">
                <a:solidFill>
                  <a:srgbClr val="1F2937"/>
                </a:solidFill>
                <a:latin typeface="Calibri"/>
              </a:rPr>
              <a:t>Genetik jihatdan boshqa odam</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Ksenotransplantatsiya</a:t>
            </a:r>
          </a:p>
          <a:p>
            <a:pPr algn="l">
              <a:spcAft>
                <a:spcPts val="0"/>
              </a:spcAft>
            </a:pPr>
            <a:r>
              <a:rPr sz="1200" b="0">
                <a:solidFill>
                  <a:srgbClr val="1F2937"/>
                </a:solidFill>
                <a:latin typeface="Calibri"/>
              </a:rPr>
              <a:t>Boshqa biologik tur hayvoni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Donor kimligi bo‘yicha turlar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 va izotransplantatsiya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Autotransplantatsiyada (autologik transplantatsiya) retsipientning o‘zi shu transplantatning donori hisoblanadi.</a:t>
            </a:r>
          </a:p>
          <a:p>
            <a:pPr>
              <a:spcAft>
                <a:spcPts val="1200"/>
              </a:spcAft>
            </a:pPr>
            <a:r>
              <a:rPr sz="2200">
                <a:solidFill>
                  <a:srgbClr val="1F2937"/>
                </a:solidFill>
                <a:latin typeface="Calibri"/>
              </a:rPr>
              <a:t>▸  Og‘ir kuyishda terining shikastlanmagan qismidan kuygan joyga teri ko‘chirib o‘tkaziladi.</a:t>
            </a:r>
          </a:p>
          <a:p>
            <a:pPr>
              <a:spcAft>
                <a:spcPts val="1200"/>
              </a:spcAft>
            </a:pPr>
            <a:r>
              <a:rPr sz="2200">
                <a:solidFill>
                  <a:srgbClr val="1F2937"/>
                </a:solidFill>
                <a:latin typeface="Calibri"/>
              </a:rPr>
              <a:t>▸  Leykoz, limfoma va kimyoga sezgir xavfli o‘smalarda yuqori dozali kimyoterapiyadan keyin ilik yoki gemopoetik o‘zak hujayralar autotransplantatsiya qilinadi.</a:t>
            </a:r>
          </a:p>
          <a:p>
            <a:pPr>
              <a:spcAft>
                <a:spcPts val="1200"/>
              </a:spcAft>
            </a:pPr>
            <a:r>
              <a:rPr sz="2200">
                <a:solidFill>
                  <a:srgbClr val="1F2937"/>
                </a:solidFill>
                <a:latin typeface="Calibri"/>
              </a:rPr>
              <a:t>▸  Izotransplantatsiyada donor — immunologik va genetik jihatdan retsipientga aynan o‘xshash bo‘lgan bir tuxumli egizagi.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Allo- va ksenotransplantatsiya: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Allotransplantatsiya: donor — genetik va immunologik jihatdan farq qiladigan boshqa odam.</a:t>
            </a:r>
          </a:p>
          <a:p>
            <a:pPr>
              <a:spcAft>
                <a:spcPts val="800"/>
              </a:spcAft>
            </a:pPr>
            <a:r>
              <a:rPr sz="1800">
                <a:solidFill>
                  <a:srgbClr val="1F2937"/>
                </a:solidFill>
                <a:latin typeface="Calibri"/>
              </a:rPr>
              <a:t>▸  Ksenotransplantatsiya: a’zo boshqa biologik tur hayvonidan olinadi, shuning uchun turlararo deyiladi.</a:t>
            </a:r>
          </a:p>
          <a:p>
            <a:pPr>
              <a:spcAft>
                <a:spcPts val="800"/>
              </a:spcAft>
            </a:pPr>
            <a:r>
              <a:rPr sz="1800">
                <a:solidFill>
                  <a:srgbClr val="1F2937"/>
                </a:solidFill>
                <a:latin typeface="Calibri"/>
              </a:rPr>
              <a:t>▸  Diqqat: xato qilish xavfi — allo (odam → odam) ≠ kseno (hayvon → odam). Ikkalasini adashtirmang.</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Allo</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Donor kim?: Boshqa odam</a:t>
            </a:r>
          </a:p>
          <a:p>
            <a:pPr algn="l">
              <a:spcAft>
                <a:spcPts val="700"/>
              </a:spcAft>
            </a:pPr>
            <a:r>
              <a:rPr sz="1500" b="1">
                <a:solidFill>
                  <a:srgbClr val="C9A227"/>
                </a:solidFill>
                <a:latin typeface="Calibri"/>
              </a:rPr>
              <a:t>●  </a:t>
            </a:r>
            <a:r>
              <a:rPr sz="1500" b="0">
                <a:solidFill>
                  <a:srgbClr val="1F2937"/>
                </a:solidFill>
                <a:latin typeface="Calibri"/>
              </a:rPr>
              <a:t>Boshqa nomi: Gomotransplantatsiya</a:t>
            </a:r>
          </a:p>
          <a:p>
            <a:pPr algn="l">
              <a:spcAft>
                <a:spcPts val="700"/>
              </a:spcAft>
            </a:pPr>
            <a:r>
              <a:rPr sz="1500" b="1">
                <a:solidFill>
                  <a:srgbClr val="C9A227"/>
                </a:solidFill>
                <a:latin typeface="Calibri"/>
              </a:rPr>
              <a:t>●  </a:t>
            </a:r>
            <a:r>
              <a:rPr sz="1500" b="0">
                <a:solidFill>
                  <a:srgbClr val="1F2937"/>
                </a:solidFill>
                <a:latin typeface="Calibri"/>
              </a:rPr>
              <a:t>Genetik jihat: Retsipientdan farqli odam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Kseno</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Donor kim?: Boshqa tur hayvoni</a:t>
            </a:r>
          </a:p>
          <a:p>
            <a:pPr algn="l">
              <a:spcAft>
                <a:spcPts val="700"/>
              </a:spcAft>
            </a:pPr>
            <a:r>
              <a:rPr sz="1500" b="1">
                <a:solidFill>
                  <a:srgbClr val="C9A227"/>
                </a:solidFill>
                <a:latin typeface="Calibri"/>
              </a:rPr>
              <a:t>●  </a:t>
            </a:r>
            <a:r>
              <a:rPr sz="1500" b="0">
                <a:solidFill>
                  <a:srgbClr val="1F2937"/>
                </a:solidFill>
                <a:latin typeface="Calibri"/>
              </a:rPr>
              <a:t>Boshqa nomi: Turlararo transplantatsiya</a:t>
            </a:r>
          </a:p>
          <a:p>
            <a:pPr algn="l">
              <a:spcAft>
                <a:spcPts val="700"/>
              </a:spcAft>
            </a:pPr>
            <a:r>
              <a:rPr sz="1500" b="1">
                <a:solidFill>
                  <a:srgbClr val="C9A227"/>
                </a:solidFill>
                <a:latin typeface="Calibri"/>
              </a:rPr>
              <a:t>●  </a:t>
            </a:r>
            <a:r>
              <a:rPr sz="1500" b="0">
                <a:solidFill>
                  <a:srgbClr val="1F2937"/>
                </a:solidFill>
                <a:latin typeface="Calibri"/>
              </a:rPr>
              <a:t>Genetik jihat: Butunlay boshqa biologik tur</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Allo ≠ kseno</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(3-bob,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va etik-huquqiy cheklovlar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Transplantatsiya texnologiyalarini qo‘llash tibbiy hamda etik-huquqiy jihatdan ma’lum cheklovlarga ega.</a:t>
            </a:r>
          </a:p>
          <a:p>
            <a:pPr>
              <a:spcAft>
                <a:spcPts val="800"/>
              </a:spcAft>
            </a:pPr>
            <a:r>
              <a:rPr sz="1800">
                <a:solidFill>
                  <a:srgbClr val="1F2937"/>
                </a:solidFill>
                <a:latin typeface="Calibri"/>
              </a:rPr>
              <a:t>▸  Eng katta qiyinchiliklar tibbiy emas, etik va huquqiy muammolar bilan bog‘liq.</a:t>
            </a:r>
          </a:p>
          <a:p>
            <a:pPr>
              <a:spcAft>
                <a:spcPts val="800"/>
              </a:spcAft>
            </a:pPr>
            <a:r>
              <a:rPr sz="1800">
                <a:solidFill>
                  <a:srgbClr val="1F2937"/>
                </a:solidFill>
                <a:latin typeface="Calibri"/>
              </a:rPr>
              <a:t>▸  Tijoratlashtirish — transplantologiya faoliyatini foyda olish maqsadiga bo‘ysundirish demakdir.</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Tibbiy omil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Donorni immunologik saralash</a:t>
            </a:r>
          </a:p>
          <a:p>
            <a:pPr algn="l">
              <a:spcAft>
                <a:spcPts val="700"/>
              </a:spcAft>
            </a:pPr>
            <a:r>
              <a:rPr sz="1500" b="1">
                <a:solidFill>
                  <a:srgbClr val="C9A227"/>
                </a:solidFill>
                <a:latin typeface="Calibri"/>
              </a:rPr>
              <a:t>●  </a:t>
            </a:r>
            <a:r>
              <a:rPr sz="1500" b="0">
                <a:solidFill>
                  <a:srgbClr val="1F2937"/>
                </a:solidFill>
                <a:latin typeface="Calibri"/>
              </a:rPr>
              <a:t>Retsipient salomatligi</a:t>
            </a:r>
          </a:p>
          <a:p>
            <a:pPr algn="l">
              <a:spcAft>
                <a:spcPts val="700"/>
              </a:spcAft>
            </a:pPr>
            <a:r>
              <a:rPr sz="1500" b="1">
                <a:solidFill>
                  <a:srgbClr val="C9A227"/>
                </a:solidFill>
                <a:latin typeface="Calibri"/>
              </a:rPr>
              <a:t>●  </a:t>
            </a:r>
            <a:r>
              <a:rPr sz="1500" b="0">
                <a:solidFill>
                  <a:srgbClr val="1F2937"/>
                </a:solidFill>
                <a:latin typeface="Calibri"/>
              </a:rPr>
              <a:t>Immunosupressiv terapiya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Etik-huquqiy</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O‘lim faktini tasdiqlash</a:t>
            </a:r>
          </a:p>
          <a:p>
            <a:pPr algn="l">
              <a:spcAft>
                <a:spcPts val="700"/>
              </a:spcAft>
            </a:pPr>
            <a:r>
              <a:rPr sz="1500" b="1">
                <a:solidFill>
                  <a:srgbClr val="C9A227"/>
                </a:solidFill>
                <a:latin typeface="Calibri"/>
              </a:rPr>
              <a:t>●  </a:t>
            </a:r>
            <a:r>
              <a:rPr sz="1500" b="0">
                <a:solidFill>
                  <a:srgbClr val="1F2937"/>
                </a:solidFill>
                <a:latin typeface="Calibri"/>
              </a:rPr>
              <a:t>A’zoni tanadan olish</a:t>
            </a:r>
          </a:p>
          <a:p>
            <a:pPr algn="l">
              <a:spcAft>
                <a:spcPts val="700"/>
              </a:spcAft>
            </a:pPr>
            <a:r>
              <a:rPr sz="1500" b="1">
                <a:solidFill>
                  <a:srgbClr val="C9A227"/>
                </a:solidFill>
                <a:latin typeface="Calibri"/>
              </a:rPr>
              <a:t>●  </a:t>
            </a:r>
            <a:r>
              <a:rPr sz="1500" b="0">
                <a:solidFill>
                  <a:srgbClr val="1F2937"/>
                </a:solidFill>
                <a:latin typeface="Calibri"/>
              </a:rPr>
              <a:t>Taqsimlash va tijoratlashtirish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Tibbiy va etik-huquqiy omillar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(3-bob,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transplantatsiya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vaziyat: og‘ir kuyish bemoriga uning o‘zining shikastlanmagan joyidan teri ko‘chirildi. Bu qaysi tur?</a:t>
            </a:r>
          </a:p>
          <a:p>
            <a:pPr>
              <a:spcAft>
                <a:spcPts val="1200"/>
              </a:spcAft>
            </a:pPr>
            <a:r>
              <a:rPr sz="2200">
                <a:solidFill>
                  <a:srgbClr val="1F2937"/>
                </a:solidFill>
                <a:latin typeface="Calibri"/>
              </a:rPr>
              <a:t>▸  B vaziyat: leykoz bemoriga yuqori dozali kimyoterapiyadan keyin uning o‘z iligi yoki gemopoetik o‘zak hujayralari ko‘chirildi.</a:t>
            </a:r>
          </a:p>
          <a:p>
            <a:pPr>
              <a:spcAft>
                <a:spcPts val="1200"/>
              </a:spcAft>
            </a:pPr>
            <a:r>
              <a:rPr sz="2200">
                <a:solidFill>
                  <a:srgbClr val="1F2937"/>
                </a:solidFill>
                <a:latin typeface="Calibri"/>
              </a:rPr>
              <a:t>▸  C vaziyat: donor — retsipientga immunologik va genetik jihatdan aynan o‘xshash tuxumdosh egizagi. Bu qaysi tur?</a:t>
            </a:r>
          </a:p>
          <a:p>
            <a:pPr>
              <a:spcAft>
                <a:spcPts val="1200"/>
              </a:spcAft>
            </a:pPr>
            <a:r>
              <a:rPr sz="2200">
                <a:solidFill>
                  <a:srgbClr val="1F2937"/>
                </a:solidFill>
                <a:latin typeface="Calibri"/>
              </a:rPr>
              <a:t>▸  Savol: A, B va C ni auto-, izo-, allo-, ksenotransplantatsiya turlaridan qaysi biriga kiritasiz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(3-bob,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donor: zarar bilan foyda dilemmasi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donordan a‘zo olish uning sog‘lig‘iga zarar yetkazadi, shu sabab «zarar yetkazma» tamoyili buziladi.</a:t>
            </a:r>
          </a:p>
          <a:p>
            <a:pPr>
              <a:spcAft>
                <a:spcPts val="800"/>
              </a:spcAft>
            </a:pPr>
            <a:r>
              <a:rPr sz="1800">
                <a:solidFill>
                  <a:srgbClr val="1F2937"/>
                </a:solidFill>
                <a:latin typeface="Calibri"/>
              </a:rPr>
              <a:t>▸  Shifokor donor sog‘lig‘iga zarar va recipient hayotini qutqarish dilemmasiga duch keladi.</a:t>
            </a:r>
          </a:p>
          <a:p>
            <a:pPr>
              <a:spcAft>
                <a:spcPts val="800"/>
              </a:spcAft>
            </a:pPr>
            <a:r>
              <a:rPr sz="1800">
                <a:solidFill>
                  <a:srgbClr val="1F2937"/>
                </a:solidFill>
                <a:latin typeface="Calibri"/>
              </a:rPr>
              <a:t>▸  Dilemma foyda va zararni solishtirib hal etiladi: olinadigan foyda zarardan yuqori bo‘lishi shart.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Donordan a‘zo olish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Donorga zarar xavfi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Recipient hayotini qutqarish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Foyda va zararni solishtirish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Qoida: foyda zarardan yuqori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Dilemmani hal qilish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donorlar doirasi va jasadli donorlik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Tirik donorlar doirasi turli davlatlarda qonun bilan belgilab qo‘yilgan.</a:t>
            </a:r>
          </a:p>
          <a:p>
            <a:pPr>
              <a:spcAft>
                <a:spcPts val="800"/>
              </a:spcAft>
            </a:pPr>
            <a:r>
              <a:rPr sz="1800">
                <a:solidFill>
                  <a:srgbClr val="1F2937"/>
                </a:solidFill>
                <a:latin typeface="Calibri"/>
              </a:rPr>
              <a:t>▸  Jasaddan a‘zo olish donorlikning eng keng tarqalgan turi hisoblanadi.</a:t>
            </a:r>
          </a:p>
          <a:p>
            <a:pPr>
              <a:spcAft>
                <a:spcPts val="800"/>
              </a:spcAft>
            </a:pPr>
            <a:r>
              <a:rPr sz="1800">
                <a:solidFill>
                  <a:srgbClr val="1F2937"/>
                </a:solidFill>
                <a:latin typeface="Calibri"/>
              </a:rPr>
              <a:t>▸  Uning uch asosiy muammosi: o‘limni tasdiqlash, ixtiyoriy rozilik bildirish va dinning munosabati.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41095"/>
                <a:gridCol w="3646879"/>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Kimlar / xususiyat</a:t>
                      </a:r>
                    </a:p>
                  </a:txBody>
                  <a:tcPr marL="73152" marR="73152" marT="36576" marB="36576">
                    <a:solidFill>
                      <a:srgbClr val="0B1F3A"/>
                    </a:solidFill>
                  </a:tcPr>
                </a:tc>
              </a:tr>
              <a:tr h="614476">
                <a:tc>
                  <a:txBody>
                    <a:bodyPr/>
                    <a:lstStyle/>
                    <a:p>
                      <a:r>
                        <a:rPr sz="1700" b="0">
                          <a:solidFill>
                            <a:srgbClr val="1F2937"/>
                          </a:solidFill>
                        </a:rPr>
                        <a:t>Yaqin qarindosh</a:t>
                      </a:r>
                    </a:p>
                  </a:txBody>
                  <a:tcPr marL="73152" marR="73152" marT="36576" marB="36576">
                    <a:solidFill>
                      <a:srgbClr val="E8EEF6"/>
                    </a:solidFill>
                  </a:tcPr>
                </a:tc>
                <a:tc>
                  <a:txBody>
                    <a:bodyPr/>
                    <a:lstStyle/>
                    <a:p>
                      <a:r>
                        <a:rPr sz="1700" b="0">
                          <a:solidFill>
                            <a:srgbClr val="1F2937"/>
                          </a:solidFill>
                        </a:rPr>
                        <a:t>Egizak, aka-uka, opa-singil, ota-ona</a:t>
                      </a:r>
                    </a:p>
                  </a:txBody>
                  <a:tcPr marL="73152" marR="73152" marT="36576" marB="36576">
                    <a:solidFill>
                      <a:srgbClr val="E8EEF6"/>
                    </a:solidFill>
                  </a:tcPr>
                </a:tc>
              </a:tr>
              <a:tr h="614476">
                <a:tc>
                  <a:txBody>
                    <a:bodyPr/>
                    <a:lstStyle/>
                    <a:p>
                      <a:r>
                        <a:rPr sz="1700" b="0">
                          <a:solidFill>
                            <a:srgbClr val="1F2937"/>
                          </a:solidFill>
                        </a:rPr>
                        <a:t>Qarindosh emas</a:t>
                      </a:r>
                    </a:p>
                  </a:txBody>
                  <a:tcPr marL="73152" marR="73152" marT="36576" marB="36576">
                    <a:solidFill>
                      <a:srgbClr val="FFFFFF"/>
                    </a:solidFill>
                  </a:tcPr>
                </a:tc>
                <a:tc>
                  <a:txBody>
                    <a:bodyPr/>
                    <a:lstStyle/>
                    <a:p>
                      <a:r>
                        <a:rPr sz="1700" b="0">
                          <a:solidFill>
                            <a:srgbClr val="1F2937"/>
                          </a:solidFill>
                        </a:rPr>
                        <a:t>Er/xotin qarindoshi, do‘st, yaqin tanish</a:t>
                      </a:r>
                    </a:p>
                  </a:txBody>
                  <a:tcPr marL="73152" marR="73152" marT="36576" marB="36576">
                    <a:solidFill>
                      <a:srgbClr val="FFFFFF"/>
                    </a:solidFill>
                  </a:tcPr>
                </a:tc>
              </a:tr>
              <a:tr h="614476">
                <a:tc>
                  <a:txBody>
                    <a:bodyPr/>
                    <a:lstStyle/>
                    <a:p>
                      <a:r>
                        <a:rPr sz="1700" b="0">
                          <a:solidFill>
                            <a:srgbClr val="1F2937"/>
                          </a:solidFill>
                        </a:rPr>
                        <a:t>Doirani belgilaydi</a:t>
                      </a:r>
                    </a:p>
                  </a:txBody>
                  <a:tcPr marL="73152" marR="73152" marT="36576" marB="36576">
                    <a:solidFill>
                      <a:srgbClr val="E8EEF6"/>
                    </a:solidFill>
                  </a:tcPr>
                </a:tc>
                <a:tc>
                  <a:txBody>
                    <a:bodyPr/>
                    <a:lstStyle/>
                    <a:p>
                      <a:r>
                        <a:rPr sz="1700" b="0">
                          <a:solidFill>
                            <a:srgbClr val="1F2937"/>
                          </a:solidFill>
                        </a:rPr>
                        <a:t>Har bir davlat qonuni</a:t>
                      </a:r>
                    </a:p>
                  </a:txBody>
                  <a:tcPr marL="73152" marR="73152" marT="36576" marB="36576">
                    <a:solidFill>
                      <a:srgbClr val="E8EEF6"/>
                    </a:solidFill>
                  </a:tcPr>
                </a:tc>
              </a:tr>
              <a:tr h="614476">
                <a:tc>
                  <a:txBody>
                    <a:bodyPr/>
                    <a:lstStyle/>
                    <a:p>
                      <a:r>
                        <a:rPr sz="1700" b="0">
                          <a:solidFill>
                            <a:srgbClr val="1F2937"/>
                          </a:solidFill>
                        </a:rPr>
                        <a:t>Jasadli donorlik</a:t>
                      </a:r>
                    </a:p>
                  </a:txBody>
                  <a:tcPr marL="73152" marR="73152" marT="36576" marB="36576">
                    <a:solidFill>
                      <a:srgbClr val="FFFFFF"/>
                    </a:solidFill>
                  </a:tcPr>
                </a:tc>
                <a:tc>
                  <a:txBody>
                    <a:bodyPr/>
                    <a:lstStyle/>
                    <a:p>
                      <a:r>
                        <a:rPr sz="1700" b="0">
                          <a:solidFill>
                            <a:srgbClr val="1F2937"/>
                          </a:solidFill>
                        </a:rPr>
                        <a:t>Eng keng tarqalgan tur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Donorlar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Recipientning o‘zi donor bo‘ladigan transplantatsiya qaysi tur? (Javob: autotransplantatsiya, ya’ni autologik transplantatsiya.)</a:t>
            </a:r>
          </a:p>
          <a:p>
            <a:pPr>
              <a:spcAft>
                <a:spcPts val="1200"/>
              </a:spcAft>
            </a:pPr>
            <a:r>
              <a:rPr sz="2200">
                <a:solidFill>
                  <a:srgbClr val="1F2937"/>
                </a:solidFill>
                <a:latin typeface="Calibri"/>
              </a:rPr>
              <a:t>▸  2-savol: Tirik donor dilemmasi qaysi qoida bilan hal etiladi? (Javob: olinadigan foyda yetkaziladigan zarardan yuqori bo‘lishi kerak.)</a:t>
            </a:r>
          </a:p>
          <a:p>
            <a:pPr>
              <a:spcAft>
                <a:spcPts val="1200"/>
              </a:spcAft>
            </a:pPr>
            <a:r>
              <a:rPr sz="2200">
                <a:solidFill>
                  <a:srgbClr val="1F2937"/>
                </a:solidFill>
                <a:latin typeface="Calibri"/>
              </a:rPr>
              <a:t>▸  3-savol: Jasadli donorlikning uch muammosini sanang. (Javob: o‘limni tasdiqlash, ixtiyoriy voz kechish istagi, dinning ruxsati.)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tushunchasi tarixi: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XX asr oxirida reanimatsiya va transplantologiya rivoji tufayli o‘lim vaqtini aniqlash bioetik muammoga aylandi.</a:t>
            </a:r>
          </a:p>
          <a:p>
            <a:pPr>
              <a:spcAft>
                <a:spcPts val="800"/>
              </a:spcAft>
            </a:pPr>
            <a:r>
              <a:rPr sz="1800">
                <a:solidFill>
                  <a:srgbClr val="1F2937"/>
                </a:solidFill>
                <a:latin typeface="Calibri"/>
              </a:rPr>
              <a:t>▸  Asosiy savol: organizmning qaysi holati o‘lim vaqti deb tan olinadi?</a:t>
            </a:r>
          </a:p>
          <a:p>
            <a:pPr>
              <a:spcAft>
                <a:spcPts val="800"/>
              </a:spcAft>
            </a:pPr>
            <a:r>
              <a:rPr sz="1800">
                <a:solidFill>
                  <a:srgbClr val="1F2937"/>
                </a:solidFill>
                <a:latin typeface="Calibri"/>
              </a:rPr>
              <a:t>▸  Miya o‘limi konsepsiyasi fransuz nevropatologlari Mollare va Gulon ‘chegaradan o‘tgan koma’ni tavsiflagach ishlab chiqilgan.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Koma tavsifi</a:t>
            </a:r>
          </a:p>
          <a:p>
            <a:pPr algn="l">
              <a:spcAft>
                <a:spcPts val="200"/>
              </a:spcAft>
            </a:pPr>
            <a:r>
              <a:rPr sz="1400" b="0">
                <a:solidFill>
                  <a:srgbClr val="1F2937"/>
                </a:solidFill>
                <a:latin typeface="Calibri"/>
              </a:rPr>
              <a:t>Mollare va Gulon (fransuz nevropatologlari)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1968-yil</a:t>
            </a:r>
          </a:p>
          <a:p>
            <a:pPr algn="l">
              <a:spcAft>
                <a:spcPts val="200"/>
              </a:spcAft>
            </a:pPr>
            <a:r>
              <a:rPr sz="1400" b="0">
                <a:solidFill>
                  <a:srgbClr val="1F2937"/>
                </a:solidFill>
                <a:latin typeface="Calibri"/>
              </a:rPr>
              <a:t>Miya o‘limining Harvard mezonlari yaratildi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Shu yil (1968)</a:t>
            </a:r>
          </a:p>
          <a:p>
            <a:pPr algn="l">
              <a:spcAft>
                <a:spcPts val="200"/>
              </a:spcAft>
            </a:pPr>
            <a:r>
              <a:rPr sz="1400" b="0">
                <a:solidFill>
                  <a:srgbClr val="1F2937"/>
                </a:solidFill>
                <a:latin typeface="Calibri"/>
              </a:rPr>
              <a:t>Dunyo tibbiyot hamjamiyati tan oldi (Sidney)</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Keyingi yillar</a:t>
            </a:r>
          </a:p>
          <a:p>
            <a:pPr algn="l">
              <a:spcAft>
                <a:spcPts val="200"/>
              </a:spcAft>
            </a:pPr>
            <a:r>
              <a:rPr sz="1400" b="0">
                <a:solidFill>
                  <a:srgbClr val="1F2937"/>
                </a:solidFill>
                <a:latin typeface="Calibri"/>
              </a:rPr>
              <a:t>Ko‘p davlatlarda qonunlar qabul qilindi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Miya o‘limi mezonlari yo‘li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mezon va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Hozirgi tushunchada miya o‘limi — qaytmas behushlik, mustaqil nafasning to‘xtashi va miya poyasi barcha reflekslarining yo‘qolishi.</a:t>
            </a:r>
          </a:p>
          <a:p>
            <a:pPr>
              <a:spcAft>
                <a:spcPts val="1200"/>
              </a:spcAft>
            </a:pPr>
            <a:r>
              <a:rPr sz="2200">
                <a:solidFill>
                  <a:srgbClr val="1F2937"/>
                </a:solidFill>
                <a:latin typeface="Calibri"/>
              </a:rPr>
              <a:t>▸  Bunda miya poyasi bilan birga butun miya nobud bo‘ladi.</a:t>
            </a:r>
          </a:p>
          <a:p>
            <a:pPr>
              <a:spcAft>
                <a:spcPts val="1200"/>
              </a:spcAft>
            </a:pPr>
            <a:r>
              <a:rPr sz="2200">
                <a:solidFill>
                  <a:srgbClr val="1F2937"/>
                </a:solidFill>
                <a:latin typeface="Calibri"/>
              </a:rPr>
              <a:t>▸  O‘lim — organizmning nozik tizimlari ishdan chiqishi; ularni sun’iy tizimlar bilan almashtirib bo‘lmaydi. Inson miyasi aynan shunday tizim.</a:t>
            </a:r>
          </a:p>
          <a:p>
            <a:pPr>
              <a:spcAft>
                <a:spcPts val="1200"/>
              </a:spcAft>
            </a:pPr>
            <a:r>
              <a:rPr sz="2200">
                <a:solidFill>
                  <a:srgbClr val="1F2937"/>
                </a:solidFill>
                <a:latin typeface="Calibri"/>
              </a:rPr>
              <a:t>▸  Diqqat: behushlikning o‘zi miya o‘limi emas. Mezonda qaytmas behushlik, nafas to‘xtashi va poya reflekslari yo‘qligi birga keladi; aksar davlatda bosh mezon.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o‘lim vaqtini belgilash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qaytmas behush, mustaqil nafas olmaydi, miya poyasi reflekslari yo‘q. Nafas va qon aylanishi apparat bilan ushlab turiladi.</a:t>
            </a:r>
          </a:p>
          <a:p>
            <a:pPr>
              <a:spcAft>
                <a:spcPts val="1200"/>
              </a:spcAft>
            </a:pPr>
            <a:r>
              <a:rPr sz="2200">
                <a:solidFill>
                  <a:srgbClr val="1F2937"/>
                </a:solidFill>
                <a:latin typeface="Calibri"/>
              </a:rPr>
              <a:t>▸  Savol: bu holatda o‘lim vaqti qaysi belgiga qarab tan olinadi — apparat bilan ushlangan yurak faoliyatigami yoki miya holatigami?</a:t>
            </a:r>
          </a:p>
          <a:p>
            <a:pPr>
              <a:spcAft>
                <a:spcPts val="1200"/>
              </a:spcAft>
            </a:pPr>
            <a:r>
              <a:rPr sz="2200">
                <a:solidFill>
                  <a:srgbClr val="1F2937"/>
                </a:solidFill>
                <a:latin typeface="Calibri"/>
              </a:rPr>
              <a:t>▸  Javob yo‘nalishi: aksar davlatlarda miya o‘limi inson o‘limining bosh mezoni, shu mezon bo‘yicha o‘lim tasdiqlanadi.</a:t>
            </a:r>
          </a:p>
          <a:p>
            <a:pPr>
              <a:spcAft>
                <a:spcPts val="1200"/>
              </a:spcAft>
            </a:pPr>
            <a:r>
              <a:rPr sz="2200">
                <a:solidFill>
                  <a:srgbClr val="1F2937"/>
                </a:solidFill>
                <a:latin typeface="Calibri"/>
              </a:rPr>
              <a:t>▸  Qo‘shimcha: Islom huquqshunoslik akademiyasi (1988) nafas va qon aylanishi sun’iy ushlangan miya o‘limidagi odamdan transplantatsiyaga yo‘l qo‘ygan.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Jasaddan a’zo olishning uch modeli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Jasaddan a’zo olishning uch asosiy turi amal qiladi: eskicha usul, rozilik va norozilik prezumptsiyasi.</a:t>
            </a:r>
          </a:p>
          <a:p>
            <a:pPr>
              <a:spcAft>
                <a:spcPts val="800"/>
              </a:spcAft>
            </a:pPr>
            <a:r>
              <a:rPr sz="1800">
                <a:solidFill>
                  <a:srgbClr val="1F2937"/>
                </a:solidFill>
                <a:latin typeface="Calibri"/>
              </a:rPr>
              <a:t>▸  Eskicha usul: tana vafotdan so‘ng davlat mulki hisoblanadi, davlat a’zolardan ilmiy maqsadda foydalanadi.</a:t>
            </a:r>
          </a:p>
          <a:p>
            <a:pPr>
              <a:spcAft>
                <a:spcPts val="800"/>
              </a:spcAft>
            </a:pPr>
            <a:r>
              <a:rPr sz="1800">
                <a:solidFill>
                  <a:srgbClr val="1F2937"/>
                </a:solidFill>
                <a:latin typeface="Calibri"/>
              </a:rPr>
              <a:t>▸  Hozirgi dunyoda a’zo olish rozilik yoki norozilik prezumptsiyasi tamoyillari bo‘yicha amalga oshiriladi.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Uch model</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Eskicha usul</a:t>
            </a:r>
          </a:p>
          <a:p>
            <a:pPr algn="l">
              <a:spcAft>
                <a:spcPts val="0"/>
              </a:spcAft>
            </a:pPr>
            <a:r>
              <a:rPr sz="1200" b="0">
                <a:solidFill>
                  <a:srgbClr val="1F2937"/>
                </a:solidFill>
                <a:latin typeface="Calibri"/>
              </a:rPr>
              <a:t>Tana — davlat mulki  ·  Davlat a’zoni olishga haqli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Rozilik prezumptsiyasi</a:t>
            </a:r>
          </a:p>
          <a:p>
            <a:pPr algn="l">
              <a:spcAft>
                <a:spcPts val="0"/>
              </a:spcAft>
            </a:pPr>
            <a:r>
              <a:rPr sz="1200" b="0">
                <a:solidFill>
                  <a:srgbClr val="1F2937"/>
                </a:solidFill>
                <a:latin typeface="Calibri"/>
              </a:rPr>
              <a:t>Oldindan rozilik deb olinadi  ·  E’tiroz bo‘lmasa olinadi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Norozilik prezumptsiyasi</a:t>
            </a:r>
          </a:p>
          <a:p>
            <a:pPr algn="l">
              <a:spcAft>
                <a:spcPts val="0"/>
              </a:spcAft>
            </a:pPr>
            <a:r>
              <a:rPr sz="1200" b="0">
                <a:solidFill>
                  <a:srgbClr val="1F2937"/>
                </a:solidFill>
                <a:latin typeface="Calibri"/>
              </a:rPr>
              <a:t>Oldindan norozilik deb olinadi  ·  Rozilik rasmiylashtirilsa olinadi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modelni solishtirish</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prezumptsiyasi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Prezumptsiya — shaxsning oldindan rozilik bergani deb tan olinishi.</a:t>
            </a:r>
          </a:p>
          <a:p>
            <a:pPr>
              <a:spcAft>
                <a:spcPts val="800"/>
              </a:spcAft>
            </a:pPr>
            <a:r>
              <a:rPr sz="1800">
                <a:solidFill>
                  <a:srgbClr val="1F2937"/>
                </a:solidFill>
                <a:latin typeface="Calibri"/>
              </a:rPr>
              <a:t>▸  Rozi bo‘lmagan odam o‘z e’tirozini belgilangan tartibda bildirishi kerak.</a:t>
            </a:r>
          </a:p>
          <a:p>
            <a:pPr>
              <a:spcAft>
                <a:spcPts val="800"/>
              </a:spcAft>
            </a:pPr>
            <a:r>
              <a:rPr sz="1800">
                <a:solidFill>
                  <a:srgbClr val="1F2937"/>
                </a:solidFill>
                <a:latin typeface="Calibri"/>
              </a:rPr>
              <a:t>▸  Shaxs, yaqinlari yoki qonuniy vakili e’tirozini muassasaga bildirgan bo‘lsa, a’zo olinmaydi.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Inson vafot etadi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Norozilik bildirilganmi?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Yo‘q: a’zo olish huquqi bor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 a’zo olish mumkin emas</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prezumptsiyasi tartibi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Norozilik prezumptsiyasi va donor-karta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Norozilik prezumptsiyasida shaxs oldindan norozi deb hisoblanadi. Rozi bo‘lsa, buni belgilangan tartibda rasmiylashtirishi kerak.</a:t>
            </a:r>
          </a:p>
          <a:p>
            <a:pPr>
              <a:spcAft>
                <a:spcPts val="1200"/>
              </a:spcAft>
            </a:pPr>
            <a:r>
              <a:rPr sz="2200">
                <a:solidFill>
                  <a:srgbClr val="1F2937"/>
                </a:solidFill>
                <a:latin typeface="Calibri"/>
              </a:rPr>
              <a:t>▸  Ayrim davlatlarda a’zo olishga rozilik hujjati odam hayotligida rasmiylashtiriladi. AQShda buning huquqiy shakli — «donor-karta».</a:t>
            </a:r>
          </a:p>
          <a:p>
            <a:pPr>
              <a:spcAft>
                <a:spcPts val="1200"/>
              </a:spcAft>
            </a:pPr>
            <a:r>
              <a:rPr sz="2200">
                <a:solidFill>
                  <a:srgbClr val="1F2937"/>
                </a:solidFill>
                <a:latin typeface="Calibri"/>
              </a:rPr>
              <a:t>▸  AQSh, Germaniya, Kanada, Fransiya va Italiyada «so‘rab olingan rozilik» amal qiladi: rasmiy roziliksiz a’zo olinmaydi.</a:t>
            </a:r>
          </a:p>
          <a:p>
            <a:pPr>
              <a:spcAft>
                <a:spcPts val="1200"/>
              </a:spcAft>
            </a:pPr>
            <a:r>
              <a:rPr sz="2200">
                <a:solidFill>
                  <a:srgbClr val="1F2937"/>
                </a:solidFill>
                <a:latin typeface="Calibri"/>
              </a:rPr>
              <a:t>▸  Diqqat: xato qilish xavfi! Rozilik prezumptsiyasi ≠ norozilik prezumptsiyasi: birinchisida e’tiroz bildiriladi, ikkinchisida rozilik beriladi.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Davlatlar amaliyoti: ikki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Avstriya, Belgiya, Ispaniya, Vengriya, Chexiyada huquqiy normalar rozilik prezumptsiyasiga moslangan.</a:t>
            </a:r>
          </a:p>
          <a:p>
            <a:pPr>
              <a:spcAft>
                <a:spcPts val="800"/>
              </a:spcAft>
            </a:pPr>
            <a:r>
              <a:rPr sz="1800">
                <a:solidFill>
                  <a:srgbClr val="1F2937"/>
                </a:solidFill>
                <a:latin typeface="Calibri"/>
              </a:rPr>
              <a:t>▸  AQSh, Germaniya, Kanada, Fransiya, Italiya: norozilik prezumptsiyasi, ya’ni “so‘rab olingan rozilik”.</a:t>
            </a:r>
          </a:p>
          <a:p>
            <a:pPr>
              <a:spcAft>
                <a:spcPts val="800"/>
              </a:spcAft>
            </a:pPr>
            <a:r>
              <a:rPr sz="1800">
                <a:solidFill>
                  <a:srgbClr val="1F2937"/>
                </a:solidFill>
                <a:latin typeface="Calibri"/>
              </a:rPr>
              <a:t>▸  Qariyb 40 ta davlatda transplantatsiya dasturi Konstitutsiya bo‘limi yoki maxsus qonun bilan tartiblangan.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Rozilik</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Asosiy qoida: Rozilik oldindan bor deb olinadi</a:t>
            </a:r>
          </a:p>
          <a:p>
            <a:pPr algn="l">
              <a:spcAft>
                <a:spcPts val="700"/>
              </a:spcAft>
            </a:pPr>
            <a:r>
              <a:rPr sz="1500" b="1">
                <a:solidFill>
                  <a:srgbClr val="C9A227"/>
                </a:solidFill>
                <a:latin typeface="Calibri"/>
              </a:rPr>
              <a:t>●  </a:t>
            </a:r>
            <a:r>
              <a:rPr sz="1500" b="0">
                <a:solidFill>
                  <a:srgbClr val="1F2937"/>
                </a:solidFill>
                <a:latin typeface="Calibri"/>
              </a:rPr>
              <a:t>Kim harakat qiladi: Rozi bo‘lmagan e’tirozini bildiradi</a:t>
            </a:r>
          </a:p>
          <a:p>
            <a:pPr algn="l">
              <a:spcAft>
                <a:spcPts val="700"/>
              </a:spcAft>
            </a:pPr>
            <a:r>
              <a:rPr sz="1500" b="1">
                <a:solidFill>
                  <a:srgbClr val="C9A227"/>
                </a:solidFill>
                <a:latin typeface="Calibri"/>
              </a:rPr>
              <a:t>●  </a:t>
            </a:r>
            <a:r>
              <a:rPr sz="1500" b="0">
                <a:solidFill>
                  <a:srgbClr val="1F2937"/>
                </a:solidFill>
                <a:latin typeface="Calibri"/>
              </a:rPr>
              <a:t>A’zo olish: E’tiroz bo‘lmasa mumkin</a:t>
            </a:r>
          </a:p>
          <a:p>
            <a:pPr algn="l">
              <a:spcAft>
                <a:spcPts val="700"/>
              </a:spcAft>
            </a:pPr>
            <a:r>
              <a:rPr sz="1500" b="1">
                <a:solidFill>
                  <a:srgbClr val="C9A227"/>
                </a:solidFill>
                <a:latin typeface="Calibri"/>
              </a:rPr>
              <a:t>●  </a:t>
            </a:r>
            <a:r>
              <a:rPr sz="1500" b="0">
                <a:solidFill>
                  <a:srgbClr val="1F2937"/>
                </a:solidFill>
                <a:latin typeface="Calibri"/>
              </a:rPr>
              <a:t>Davlat namunasi: Avstriya, Ispaniya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Norozilik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Asosiy qoida: Norozilik oldindan bor deb olinadi</a:t>
            </a:r>
          </a:p>
          <a:p>
            <a:pPr algn="l">
              <a:spcAft>
                <a:spcPts val="700"/>
              </a:spcAft>
            </a:pPr>
            <a:r>
              <a:rPr sz="1500" b="1">
                <a:solidFill>
                  <a:srgbClr val="C9A227"/>
                </a:solidFill>
                <a:latin typeface="Calibri"/>
              </a:rPr>
              <a:t>●  </a:t>
            </a:r>
            <a:r>
              <a:rPr sz="1500" b="0">
                <a:solidFill>
                  <a:srgbClr val="1F2937"/>
                </a:solidFill>
                <a:latin typeface="Calibri"/>
              </a:rPr>
              <a:t>Kim harakat qiladi: Rozi bo‘lgan rozilikni rasmiylashtiradi</a:t>
            </a:r>
          </a:p>
          <a:p>
            <a:pPr algn="l">
              <a:spcAft>
                <a:spcPts val="700"/>
              </a:spcAft>
            </a:pPr>
            <a:r>
              <a:rPr sz="1500" b="1">
                <a:solidFill>
                  <a:srgbClr val="C9A227"/>
                </a:solidFill>
                <a:latin typeface="Calibri"/>
              </a:rPr>
              <a:t>●  </a:t>
            </a:r>
            <a:r>
              <a:rPr sz="1500" b="0">
                <a:solidFill>
                  <a:srgbClr val="1F2937"/>
                </a:solidFill>
                <a:latin typeface="Calibri"/>
              </a:rPr>
              <a:t>A’zo olish: Rasmiy rozilik bo‘lmasa mumkin emas</a:t>
            </a:r>
          </a:p>
          <a:p>
            <a:pPr algn="l">
              <a:spcAft>
                <a:spcPts val="700"/>
              </a:spcAft>
            </a:pPr>
            <a:r>
              <a:rPr sz="1500" b="1">
                <a:solidFill>
                  <a:srgbClr val="C9A227"/>
                </a:solidFill>
                <a:latin typeface="Calibri"/>
              </a:rPr>
              <a:t>●  </a:t>
            </a:r>
            <a:r>
              <a:rPr sz="1500" b="0">
                <a:solidFill>
                  <a:srgbClr val="1F2937"/>
                </a:solidFill>
                <a:latin typeface="Calibri"/>
              </a:rPr>
              <a:t>Davlat namunasi: AQSh, Germaniya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Rozilik va norozilik prezumptsiyasi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(3.1-bo‘lim)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prezumptsiyani qo‘llash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 vafot etdi. U hayotligida ham, qarindoshlari ham sog‘liqni saqlash muassasasiga e’tiroz bildirmagan; rasmiy rozilik hujjati yo‘q.</a:t>
            </a:r>
          </a:p>
          <a:p>
            <a:pPr>
              <a:spcAft>
                <a:spcPts val="1200"/>
              </a:spcAft>
            </a:pPr>
            <a:r>
              <a:rPr sz="2200">
                <a:solidFill>
                  <a:srgbClr val="1F2937"/>
                </a:solidFill>
                <a:latin typeface="Calibri"/>
              </a:rPr>
              <a:t>▸  Rozilik prezumptsiyasida marhum yoki qarindoshlari e’tiroz bildirmagan bo‘lsa, a’zo va to‘qimalarni olishga huquq beriladi.</a:t>
            </a:r>
          </a:p>
          <a:p>
            <a:pPr>
              <a:spcAft>
                <a:spcPts val="1200"/>
              </a:spcAft>
            </a:pPr>
            <a:r>
              <a:rPr sz="2200">
                <a:solidFill>
                  <a:srgbClr val="1F2937"/>
                </a:solidFill>
                <a:latin typeface="Calibri"/>
              </a:rPr>
              <a:t>▸  Norozilik prezumptsiyasida yuridik rasmiylashtirilgan rozilik bo‘lmasa, a’zo va to‘qimalardan foydalanishga yo‘l qo‘yilmaydi.</a:t>
            </a:r>
          </a:p>
          <a:p>
            <a:pPr>
              <a:spcAft>
                <a:spcPts val="1200"/>
              </a:spcAft>
            </a:pPr>
            <a:r>
              <a:rPr sz="2200">
                <a:solidFill>
                  <a:srgbClr val="1F2937"/>
                </a:solidFill>
                <a:latin typeface="Calibri"/>
              </a:rPr>
              <a:t>▸  Savol: qaysi modelda a’zo olish mumkin? Diqqat: rozilik ≠ norozilik prezumptsiyasi, talab qilinadigan harakat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(3.1-bo‘lim)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Donor a’zolar taqchilligi va yechim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AQSh va Yevropada ham ko‘chirib o‘tkazish muhtoj bo‘lganlarning taxminan 35 foiziga nasib qilmaydi.</a:t>
            </a:r>
          </a:p>
          <a:p>
            <a:pPr>
              <a:spcAft>
                <a:spcPts val="800"/>
              </a:spcAft>
            </a:pPr>
            <a:r>
              <a:rPr sz="1800">
                <a:solidFill>
                  <a:srgbClr val="1F2937"/>
                </a:solidFill>
                <a:latin typeface="Calibri"/>
              </a:rPr>
              <a:t>▸  Hayotligida rasmiylashtirilgan rozilik asosida ixtiyoriy a’zo berishga chaqirilmoqda.</a:t>
            </a:r>
          </a:p>
          <a:p>
            <a:pPr>
              <a:spcAft>
                <a:spcPts val="800"/>
              </a:spcAft>
            </a:pPr>
            <a:r>
              <a:rPr sz="1800">
                <a:solidFill>
                  <a:srgbClr val="1F2937"/>
                </a:solidFill>
                <a:latin typeface="Calibri"/>
              </a:rPr>
              <a:t>▸  Sun’iy a’zolar, hujayra kulturasi va hayvon a’zolari ham yechim sifatida ishlab chiqilmoqda.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a’zolar taqchilligi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Ixtiyoriy rozilik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Sun’iy a’zolar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O‘zak hujayralardan to‘qima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Hayvondan olingan a’zolar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Taqchillik va yechimlar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(3.1-bo‘lim)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a’zolar va terapevtik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Sun’iy buyrak apparati keng qo‘llanadi; sun’iy yurak klapanlari, bo‘g‘imlar va ko‘z gavhari ham ishlatilmoqda.</a:t>
            </a:r>
          </a:p>
          <a:p>
            <a:pPr>
              <a:spcAft>
                <a:spcPts val="800"/>
              </a:spcAft>
            </a:pPr>
            <a:r>
              <a:rPr sz="1800">
                <a:solidFill>
                  <a:srgbClr val="1F2937"/>
                </a:solidFill>
                <a:latin typeface="Calibri"/>
              </a:rPr>
              <a:t>▸  To‘qima somatik hujayradan o‘stiriladi; inson o‘zi ham donor, ham retsipient bo‘ladi.</a:t>
            </a:r>
          </a:p>
          <a:p>
            <a:pPr>
              <a:spcAft>
                <a:spcPts val="800"/>
              </a:spcAft>
            </a:pPr>
            <a:r>
              <a:rPr sz="1800">
                <a:solidFill>
                  <a:srgbClr val="1F2937"/>
                </a:solidFill>
                <a:latin typeface="Calibri"/>
              </a:rPr>
              <a:t>▸  Diqqat: klonlash hali tadqiqot bosqichida; sun’iy a’zolar esa amaliyotda qo‘llanmoqda.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Taqchillikka yechimlar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Sun’iy a’zolar</a:t>
            </a:r>
          </a:p>
          <a:p>
            <a:pPr algn="l">
              <a:spcAft>
                <a:spcPts val="0"/>
              </a:spcAft>
            </a:pPr>
            <a:r>
              <a:rPr sz="1200" b="0">
                <a:solidFill>
                  <a:srgbClr val="1F2937"/>
                </a:solidFill>
                <a:latin typeface="Calibri"/>
              </a:rPr>
              <a:t>Buyrak apparati, klapan, bo‘g‘im  ·  Katta xarajat va sinovlar kerak</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Terapevtik klonlash</a:t>
            </a:r>
          </a:p>
          <a:p>
            <a:pPr algn="l">
              <a:spcAft>
                <a:spcPts val="0"/>
              </a:spcAft>
            </a:pPr>
            <a:r>
              <a:rPr sz="1200" b="0">
                <a:solidFill>
                  <a:srgbClr val="1F2937"/>
                </a:solidFill>
                <a:latin typeface="Calibri"/>
              </a:rPr>
              <a:t>Tog‘ay, mushak bo‘yicha tajribalar  ·  Amaliyotga joriy etishdan uzoq</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Etik jihati</a:t>
            </a:r>
          </a:p>
          <a:p>
            <a:pPr algn="l">
              <a:spcAft>
                <a:spcPts val="0"/>
              </a:spcAft>
            </a:pPr>
            <a:r>
              <a:rPr sz="1200" b="0">
                <a:solidFill>
                  <a:srgbClr val="1F2937"/>
                </a:solidFill>
                <a:latin typeface="Calibri"/>
              </a:rPr>
              <a:t>Donorni ochish talab etilmaydi  ·  Immunologik moslik yechilishi mumkin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Taqchillikka ikki yechim</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(3.1-bo‘lim)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Ksenotransplantatsiya: afzallik va xavflar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Cho‘chqa xromosomalari va a’zolari tuzilishi insonga yaqin, tez ko‘payadi, uy hayvoni hisoblanadi.</a:t>
            </a:r>
          </a:p>
          <a:p>
            <a:pPr>
              <a:spcAft>
                <a:spcPts val="800"/>
              </a:spcAft>
            </a:pPr>
            <a:r>
              <a:rPr sz="1800">
                <a:solidFill>
                  <a:srgbClr val="1F2937"/>
                </a:solidFill>
                <a:latin typeface="Calibri"/>
              </a:rPr>
              <a:t>▸  Eng katta xavf — infeksiya va viruslarning o‘tishi hamda hayvon a’zosining inson organizmiga mosligi.</a:t>
            </a:r>
          </a:p>
          <a:p>
            <a:pPr>
              <a:spcAft>
                <a:spcPts val="800"/>
              </a:spcAft>
            </a:pPr>
            <a:r>
              <a:rPr sz="1800">
                <a:solidFill>
                  <a:srgbClr val="1F2937"/>
                </a:solidFill>
                <a:latin typeface="Calibri"/>
              </a:rPr>
              <a:t>▸  Hayvonlarni himoya qiluvchilar va transgumanizm vakillari qarshi; shaxs uchun ruhiy-etik muammo ham bor.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Cho‘chqa — inson a’zosiga yaqin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Transgen cho‘chqa (inson geni)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 etilish ehtimoli kamayadi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infeksiya, virus, moslik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Etik e’tiroz va ruhiy muammo</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Ksenotransplantatsiya mantig‘i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(3.1-bo‘lim)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taqchillikni hal etishning 5 yo‘li? Javob: ixtiyoriy berish, sun’iy a’zo, bioelektronika va nanotexnologiya, hujayra kulturasi, hayvon donorlari.</a:t>
            </a:r>
          </a:p>
          <a:p>
            <a:pPr>
              <a:spcAft>
                <a:spcPts val="1200"/>
              </a:spcAft>
            </a:pPr>
            <a:r>
              <a:rPr sz="2200">
                <a:solidFill>
                  <a:srgbClr val="1F2937"/>
                </a:solidFill>
                <a:latin typeface="Calibri"/>
              </a:rPr>
              <a:t>▸  Savol 2: ksenotransplantatsiyada nega cho‘chqa tanlangan? Javob: xromosomalar va a’zolar tuzilishi insonga yaqin, tez ko‘payadi, uy hayvoni.</a:t>
            </a:r>
          </a:p>
          <a:p>
            <a:pPr>
              <a:spcAft>
                <a:spcPts val="1200"/>
              </a:spcAft>
            </a:pPr>
            <a:r>
              <a:rPr sz="2200">
                <a:solidFill>
                  <a:srgbClr val="1F2937"/>
                </a:solidFill>
                <a:latin typeface="Calibri"/>
              </a:rPr>
              <a:t>▸  Savol 3: ksenotransplantatsiyaning eng katta ilmiy-tibbiy xavflari qaysilar? Javob: infeksiya va virus o‘tishi hamda a’zoning moslik muammosi.</a:t>
            </a:r>
          </a:p>
          <a:p>
            <a:pPr>
              <a:spcAft>
                <a:spcPts val="1200"/>
              </a:spcAft>
            </a:pPr>
            <a:r>
              <a:rPr sz="2200">
                <a:solidFill>
                  <a:srgbClr val="1F2937"/>
                </a:solidFill>
                <a:latin typeface="Calibri"/>
              </a:rPr>
              <a:t>▸  Savol 4: terapevtik klonlash nega etik qulay? Javob: donorni jarrohlik bilan ochish kerak emas; boshlang‘ich material — odamning o‘z somatik hujayralari.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 (3.1-bo‘lim)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A’zolarni taqsimlash: adolat va kutish varaqalari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A’zolarni taqsimlash butun dunyoda dolzarb. U donor a’zolar tanqisligi muammosining bir qismi bo‘lib, adolat tamoyiliga tayanadi.</a:t>
            </a:r>
          </a:p>
          <a:p>
            <a:pPr>
              <a:spcAft>
                <a:spcPts val="800"/>
              </a:spcAft>
            </a:pPr>
            <a:r>
              <a:rPr sz="1800">
                <a:solidFill>
                  <a:srgbClr val="1F2937"/>
                </a:solidFill>
                <a:latin typeface="Calibri"/>
              </a:rPr>
              <a:t>▸  Taqsimlash «kutish varaqalari» orqali amalga oshiriladi. Ularda bemor sog‘lig‘ining xususiyatlari ko‘rsatiladi.</a:t>
            </a:r>
          </a:p>
          <a:p>
            <a:pPr>
              <a:spcAft>
                <a:spcPts val="800"/>
              </a:spcAft>
            </a:pPr>
            <a:r>
              <a:rPr sz="1800">
                <a:solidFill>
                  <a:srgbClr val="1F2937"/>
                </a:solidFill>
                <a:latin typeface="Calibri"/>
              </a:rPr>
              <a:t>▸  Eng og‘ir bemor ro‘yxatda birinchi tursa ham, immunologik mos kelmasa operatsiyaga yetib borolmasligi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kutish varaqasiga kiradi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Sog‘liq holati yoziladi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a’zo paydo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Immunologik moslik tekshiriladi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Mos kelmasa — navbat o‘tmaydi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Kutish varaqasidan operatsiyagacha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Tijoratlashtirish va «qora bozor»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Tijoratlashtirish — transplantologiyani foyda olish maqsadiga bo‘ysundirish. A’zolar tanqis bo‘lgani sari ular tanqis va juda qimmat mahsulotga aylanmoqda.</a:t>
            </a:r>
          </a:p>
          <a:p>
            <a:pPr>
              <a:spcAft>
                <a:spcPts val="1200"/>
              </a:spcAft>
            </a:pPr>
            <a:r>
              <a:rPr sz="2200">
                <a:solidFill>
                  <a:srgbClr val="1F2937"/>
                </a:solidFill>
                <a:latin typeface="Calibri"/>
              </a:rPr>
              <a:t>▸  Ko‘pgina davlatlarda a’zolar oldi-sotdisi qonun bilan taqiqlangan.</a:t>
            </a:r>
          </a:p>
          <a:p>
            <a:pPr>
              <a:spcAft>
                <a:spcPts val="1200"/>
              </a:spcAft>
            </a:pPr>
            <a:r>
              <a:rPr sz="2200">
                <a:solidFill>
                  <a:srgbClr val="1F2937"/>
                </a:solidFill>
                <a:latin typeface="Calibri"/>
              </a:rPr>
              <a:t>▸  Shunga qaramay, «talab taklifni tug‘diradi» qonuniga ko‘ra «qora bozor» mavjud. Odatda juft a’zolardan biri sotiladi, eng mashhuri — buyrak.</a:t>
            </a:r>
          </a:p>
          <a:p>
            <a:pPr>
              <a:spcAft>
                <a:spcPts val="1200"/>
              </a:spcAft>
            </a:pPr>
            <a:r>
              <a:rPr sz="2200">
                <a:solidFill>
                  <a:srgbClr val="1F2937"/>
                </a:solidFill>
                <a:latin typeface="Calibri"/>
              </a:rPr>
              <a:t>▸  Tijoratlashtirish transplantologiyaning yuksak gumanizm g‘oyasiga zid, deb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 savdosiga qarshi xalqaro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JTA organlarni sotish va sotib olishni rad etadi va hukumatlarni tijorat maqsadidagi foydalanishni oldini olishga chaqiradi.</a:t>
            </a:r>
          </a:p>
          <a:p>
            <a:pPr>
              <a:spcAft>
                <a:spcPts val="800"/>
              </a:spcAft>
            </a:pPr>
            <a:r>
              <a:rPr sz="1600">
                <a:solidFill>
                  <a:srgbClr val="1F2937"/>
                </a:solidFill>
                <a:latin typeface="Calibri"/>
              </a:rPr>
              <a:t>▸  Jahon sog‘liqni saqlash assambleyasi 1987-yilda organ savdosidan xavotir bildirdi; WHA44.25 (1991) qarori bilan birinchi JSST yo‘riqnomalari tasdiqlandi.</a:t>
            </a:r>
          </a:p>
          <a:p>
            <a:pPr>
              <a:spcAft>
                <a:spcPts val="800"/>
              </a:spcAft>
            </a:pPr>
            <a:r>
              <a:rPr sz="1600">
                <a:solidFill>
                  <a:srgbClr val="1F2937"/>
                </a:solidFill>
                <a:latin typeface="Calibri"/>
              </a:rPr>
              <a:t>▸  2010-yil 21-mayda WHA63.22 qarori yo‘riqnomalarning yangilangan versiyasini tasdiqladi.</a:t>
            </a:r>
          </a:p>
          <a:p>
            <a:pPr>
              <a:spcAft>
                <a:spcPts val="800"/>
              </a:spcAft>
            </a:pPr>
            <a:r>
              <a:rPr sz="1600">
                <a:solidFill>
                  <a:srgbClr val="1F2937"/>
                </a:solidFill>
                <a:latin typeface="Calibri"/>
              </a:rPr>
              <a:t>▸  Istanbul deklaratsiyasi (2008) transplantatsiya turizmi va noqonuniy savdoga qarshi qabul qilingan; yangi tahriri 2018-yil iyulda Madridda taqdim etilgan.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JSSA organ savdosi</a:t>
            </a:r>
          </a:p>
          <a:p>
            <a:pPr algn="l">
              <a:spcAft>
                <a:spcPts val="100"/>
              </a:spcAft>
            </a:pPr>
            <a:r>
              <a:rPr sz="3000" b="1">
                <a:solidFill>
                  <a:srgbClr val="0B1F3A"/>
                </a:solidFill>
                <a:latin typeface="Calibri"/>
              </a:rPr>
              <a:t>1987</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JSST WHA44.25</a:t>
            </a:r>
          </a:p>
          <a:p>
            <a:pPr algn="l">
              <a:spcAft>
                <a:spcPts val="100"/>
              </a:spcAft>
            </a:pPr>
            <a:r>
              <a:rPr sz="3000" b="1">
                <a:solidFill>
                  <a:srgbClr val="0B1F3A"/>
                </a:solidFill>
                <a:latin typeface="Calibri"/>
              </a:rPr>
              <a:t>1991</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Istanbul deklaratsiyasi</a:t>
            </a:r>
          </a:p>
          <a:p>
            <a:pPr algn="l">
              <a:spcAft>
                <a:spcPts val="100"/>
              </a:spcAft>
            </a:pPr>
            <a:r>
              <a:rPr sz="3000" b="1">
                <a:solidFill>
                  <a:srgbClr val="0B1F3A"/>
                </a:solidFill>
                <a:latin typeface="Calibri"/>
              </a:rPr>
              <a:t>2008</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JSST WHA63.22</a:t>
            </a:r>
          </a:p>
          <a:p>
            <a:pPr algn="l">
              <a:spcAft>
                <a:spcPts val="100"/>
              </a:spcAft>
            </a:pPr>
            <a:r>
              <a:rPr sz="3000" b="1">
                <a:solidFill>
                  <a:srgbClr val="0B1F3A"/>
                </a:solidFill>
                <a:latin typeface="Calibri"/>
              </a:rPr>
              <a:t>2010</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Istanbul yangi tahriri</a:t>
            </a:r>
          </a:p>
          <a:p>
            <a:pPr algn="l">
              <a:spcAft>
                <a:spcPts val="100"/>
              </a:spcAft>
            </a:pPr>
            <a:r>
              <a:rPr sz="3000" b="1">
                <a:solidFill>
                  <a:srgbClr val="0B1F3A"/>
                </a:solidFill>
                <a:latin typeface="Calibri"/>
              </a:rPr>
              <a:t>2018</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Organ savdosiga qarshi hujjatlar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185, 185-186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sotuvchi-donor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kishi asosan moddiy ehtiyoj tufayli juft a’zolaridan biri — buyragini sotishga qaror qildi.</a:t>
            </a:r>
          </a:p>
          <a:p>
            <a:pPr>
              <a:spcAft>
                <a:spcPts val="1200"/>
              </a:spcAft>
            </a:pPr>
            <a:r>
              <a:rPr sz="2200">
                <a:solidFill>
                  <a:srgbClr val="1F2937"/>
                </a:solidFill>
                <a:latin typeface="Calibri"/>
              </a:rPr>
              <a:t>▸  Ko‘p davlatlarda bunday oldi-sotdi qonun bilan taqiqlangan, lekin «qora bozor» baribir mavjud.</a:t>
            </a:r>
          </a:p>
          <a:p>
            <a:pPr>
              <a:spcAft>
                <a:spcPts val="1200"/>
              </a:spcAft>
            </a:pPr>
            <a:r>
              <a:rPr sz="2200">
                <a:solidFill>
                  <a:srgbClr val="1F2937"/>
                </a:solidFill>
                <a:latin typeface="Calibri"/>
              </a:rPr>
              <a:t>▸  Tirik donordan a’zo olish uning sog‘lig‘iga zarar yetkazadi. Shu bois «zarar yetkazma» tamoyili buziladi, foyda esa zarardan yuqori bo‘lishi shart.</a:t>
            </a:r>
          </a:p>
          <a:p>
            <a:pPr>
              <a:spcAft>
                <a:spcPts val="1200"/>
              </a:spcAft>
            </a:pPr>
            <a:r>
              <a:rPr sz="2200">
                <a:solidFill>
                  <a:srgbClr val="1F2937"/>
                </a:solidFill>
                <a:latin typeface="Calibri"/>
              </a:rPr>
              <a:t>▸  Savol: bu holatda qaysi etik tamoyillar buziladi? Xabardor ixtiyoriy rozilik va ijtimoiy adolat tamoyillari nuqtai nazaridan javob bering.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 savdosi: zarari va oldini olish choralari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Tanani tovarga aylantirish insonni depersonalizatsiya qiladi va unga ma’naviy zarar yetkazadi.</a:t>
            </a:r>
          </a:p>
          <a:p>
            <a:pPr>
              <a:spcAft>
                <a:spcPts val="800"/>
              </a:spcAft>
            </a:pPr>
            <a:r>
              <a:rPr sz="1800">
                <a:solidFill>
                  <a:srgbClr val="1F2937"/>
                </a:solidFill>
                <a:latin typeface="Calibri"/>
              </a:rPr>
              <a:t>▸  Organ savdosi ijtimoiy adolatsizlikni kuchaytiradi: boy kishi kambag‘allar hisobidan omon qoladi.</a:t>
            </a:r>
          </a:p>
          <a:p>
            <a:pPr>
              <a:spcAft>
                <a:spcPts val="800"/>
              </a:spcAft>
            </a:pPr>
            <a:r>
              <a:rPr sz="1800">
                <a:solidFill>
                  <a:srgbClr val="1F2937"/>
                </a:solidFill>
                <a:latin typeface="Calibri"/>
              </a:rPr>
              <a:t>▸  Jamiyat tijoratlashtirishni taqiqlashni samarali nazorat qilishi va moliyalashtirishni takomillashtirishi kerak.</a:t>
            </a:r>
          </a:p>
          <a:p>
            <a:pPr>
              <a:spcAft>
                <a:spcPts val="800"/>
              </a:spcAft>
            </a:pPr>
            <a:r>
              <a:rPr sz="1800">
                <a:solidFill>
                  <a:srgbClr val="1F2937"/>
                </a:solidFill>
                <a:latin typeface="Calibri"/>
              </a:rPr>
              <a:t>▸  Kadavriy organlarni tayyorlash va taqsimlashning milliy tizimini yaratish hamda ijtimoiy himoyani kuchaytirish zarur.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Organ savdosi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Zarari: shaxsiyat</a:t>
            </a:r>
          </a:p>
          <a:p>
            <a:pPr algn="l">
              <a:spcAft>
                <a:spcPts val="0"/>
              </a:spcAft>
            </a:pPr>
            <a:r>
              <a:rPr sz="1200" b="0">
                <a:solidFill>
                  <a:srgbClr val="1F2937"/>
                </a:solidFill>
                <a:latin typeface="Calibri"/>
              </a:rPr>
              <a:t>Depersonalizatsiya, ma’naviy zarar</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Zarari: adolat</a:t>
            </a:r>
          </a:p>
          <a:p>
            <a:pPr algn="l">
              <a:spcAft>
                <a:spcPts val="0"/>
              </a:spcAft>
            </a:pPr>
            <a:r>
              <a:rPr sz="1200" b="0">
                <a:solidFill>
                  <a:srgbClr val="1F2937"/>
                </a:solidFill>
                <a:latin typeface="Calibri"/>
              </a:rPr>
              <a:t>Boy kambag‘al hisobiga yashaydi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Chora 1</a:t>
            </a:r>
          </a:p>
          <a:p>
            <a:pPr algn="l">
              <a:spcAft>
                <a:spcPts val="0"/>
              </a:spcAft>
            </a:pPr>
            <a:r>
              <a:rPr sz="1200" b="0">
                <a:solidFill>
                  <a:srgbClr val="1F2937"/>
                </a:solidFill>
                <a:latin typeface="Calibri"/>
              </a:rPr>
              <a:t>Taqiqni samarali nazorat qilish</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Chora 2</a:t>
            </a:r>
          </a:p>
          <a:p>
            <a:pPr algn="l">
              <a:spcAft>
                <a:spcPts val="0"/>
              </a:spcAft>
            </a:pPr>
            <a:r>
              <a:rPr sz="1200" b="0">
                <a:solidFill>
                  <a:srgbClr val="1F2937"/>
                </a:solidFill>
                <a:latin typeface="Calibri"/>
              </a:rPr>
              <a:t>Milliy kadavriy organ tizimi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Chora 3</a:t>
            </a:r>
          </a:p>
          <a:p>
            <a:pPr algn="l">
              <a:spcAft>
                <a:spcPts val="0"/>
              </a:spcAft>
            </a:pPr>
            <a:r>
              <a:rPr sz="1200" b="0">
                <a:solidFill>
                  <a:srgbClr val="1F2937"/>
                </a:solidFill>
                <a:latin typeface="Calibri"/>
              </a:rPr>
              <a:t>Ijtimoiy himoyani kuchaytirish</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Muxamedova (2021), 183–184-betlar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183, 184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 va transplantologiya: nasroniylik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Rus pravoslav cherkovi a’zolarni oldi-sotdi ob’ekti deb bo‘lmaydi, deydi. Tirik donorlik faqat ixtiyoriy fidokorlikka asoslanishi kerak.</a:t>
            </a:r>
          </a:p>
          <a:p>
            <a:pPr>
              <a:spcAft>
                <a:spcPts val="1200"/>
              </a:spcAft>
            </a:pPr>
            <a:r>
              <a:rPr sz="2200">
                <a:solidFill>
                  <a:srgbClr val="1F2937"/>
                </a:solidFill>
                <a:latin typeface="Calibri"/>
              </a:rPr>
              <a:t>▸  Donor a’zoni olishning kutiladigan oqibatlarini bilishi shart. Hayotiga bevosita xavf soladigan eksplantatsiya (a’zoni olish) ahloqan joiz emas.</a:t>
            </a:r>
          </a:p>
          <a:p>
            <a:pPr>
              <a:spcAft>
                <a:spcPts val="1200"/>
              </a:spcAft>
            </a:pPr>
            <a:r>
              <a:rPr sz="2200">
                <a:solidFill>
                  <a:srgbClr val="1F2937"/>
                </a:solidFill>
                <a:latin typeface="Calibri"/>
              </a:rPr>
              <a:t>▸  Pravoslav cherkov rozilik prezumptsiyasini (norozilik bildirilmasa — rozi deb hisoblash) inson erkinligining yo‘l qo‘yib bo‘lmas buzilishi deb biladi.</a:t>
            </a:r>
          </a:p>
          <a:p>
            <a:pPr>
              <a:spcAft>
                <a:spcPts val="1200"/>
              </a:spcAft>
            </a:pPr>
            <a:r>
              <a:rPr sz="2200">
                <a:solidFill>
                  <a:srgbClr val="1F2937"/>
                </a:solidFill>
                <a:latin typeface="Calibri"/>
              </a:rPr>
              <a:t>▸  Katolik cherkovi donorlikni rahmdillik va ahloqiy burch deb biladi. Protestant ilohiyotchilari a’zo sotishni ahloqsizlik deb hisoblaydi.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 qarashlari: yahudiylik, buddaviylik, nasroniylik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Yahudiylikda gap inson hayotini qutqarish haqida ketsa, a’zo ko‘chirish mumkin deb hisoblanadi.</a:t>
            </a:r>
          </a:p>
          <a:p>
            <a:pPr>
              <a:spcAft>
                <a:spcPts val="800"/>
              </a:spcAft>
            </a:pPr>
            <a:r>
              <a:rPr sz="1800">
                <a:solidFill>
                  <a:srgbClr val="1F2937"/>
                </a:solidFill>
                <a:latin typeface="Calibri"/>
              </a:rPr>
              <a:t>▸  Katolik cherkovi donorlikni rahmdillik va ahloqiy burch deb biladi, lekin faqat ixtiyoriy asosda.</a:t>
            </a:r>
          </a:p>
          <a:p>
            <a:pPr>
              <a:spcAft>
                <a:spcPts val="800"/>
              </a:spcAft>
            </a:pPr>
            <a:r>
              <a:rPr sz="1800">
                <a:solidFill>
                  <a:srgbClr val="1F2937"/>
                </a:solidFill>
                <a:latin typeface="Calibri"/>
              </a:rPr>
              <a:t>▸  Diqqat: protestantlar a’zo olishni tan oladi, ammo a’zo sotishni ahloqsizlik deb hisoblaydi.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Dinlar qarashi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Yahudiylik</a:t>
            </a:r>
          </a:p>
          <a:p>
            <a:pPr algn="l">
              <a:spcAft>
                <a:spcPts val="0"/>
              </a:spcAft>
            </a:pPr>
            <a:r>
              <a:rPr sz="1200" b="0">
                <a:solidFill>
                  <a:srgbClr val="1F2937"/>
                </a:solidFill>
                <a:latin typeface="Calibri"/>
              </a:rPr>
              <a:t>Marhum ruxsat bergan, oila qarshi emas  ·  Jasad butunligiga alohida e’tibor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Buddaviylik</a:t>
            </a:r>
          </a:p>
          <a:p>
            <a:pPr algn="l">
              <a:spcAft>
                <a:spcPts val="0"/>
              </a:spcAft>
            </a:pPr>
            <a:r>
              <a:rPr sz="1200" b="0">
                <a:solidFill>
                  <a:srgbClr val="1F2937"/>
                </a:solidFill>
                <a:latin typeface="Calibri"/>
              </a:rPr>
              <a:t>Bemorga in’om (hadya) bo‘lsagina  ·  Faqat tirik donordan ko‘chirish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Katolik</a:t>
            </a:r>
          </a:p>
          <a:p>
            <a:pPr algn="l">
              <a:spcAft>
                <a:spcPts val="0"/>
              </a:spcAft>
            </a:pPr>
            <a:r>
              <a:rPr sz="1200" b="0">
                <a:solidFill>
                  <a:srgbClr val="1F2937"/>
                </a:solidFill>
                <a:latin typeface="Calibri"/>
              </a:rPr>
              <a:t>Muqobil davo bo‘lmaganda  ·  Faqat ixtiyoriy asosda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Protestant</a:t>
            </a:r>
          </a:p>
          <a:p>
            <a:pPr algn="l">
              <a:spcAft>
                <a:spcPts val="0"/>
              </a:spcAft>
            </a:pPr>
            <a:r>
              <a:rPr sz="1200" b="0">
                <a:solidFill>
                  <a:srgbClr val="1F2937"/>
                </a:solidFill>
                <a:latin typeface="Calibri"/>
              </a:rPr>
              <a:t>Olingan a’zoning qonuniyligi tan olinadi  ·  A’zo sotish — ahloqsizlik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Dinlarni solishtirish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Islom va transplantatsiya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1988-yilda Islom huquqshunoslik akademiyasi kengashi 4-sessiyada 26-sonli (1/4) qaror qabul qildi.</a:t>
            </a:r>
          </a:p>
          <a:p>
            <a:pPr>
              <a:spcAft>
                <a:spcPts val="800"/>
              </a:spcAft>
            </a:pPr>
            <a:r>
              <a:rPr sz="1800">
                <a:solidFill>
                  <a:srgbClr val="1F2937"/>
                </a:solidFill>
                <a:latin typeface="Calibri"/>
              </a:rPr>
              <a:t>▸  Donor yoki qarindoshlari rozi bo‘lsa, jasaddan olish mumkin; shaxs noma’lum bo‘lsa, musulmonlar rahbari rozilik beradi.</a:t>
            </a:r>
          </a:p>
          <a:p>
            <a:pPr>
              <a:spcAft>
                <a:spcPts val="800"/>
              </a:spcAft>
            </a:pPr>
            <a:r>
              <a:rPr sz="1800">
                <a:solidFill>
                  <a:srgbClr val="1F2937"/>
                </a:solidFill>
                <a:latin typeface="Calibri"/>
              </a:rPr>
              <a:t>▸  Shariatda norozilik prezumptsiyasi qayd etilgan; operatsiya vakolatli muassasa nazoratida o‘tadi.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Islom qarori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Foyda va zarar</a:t>
            </a:r>
          </a:p>
          <a:p>
            <a:pPr algn="l">
              <a:spcAft>
                <a:spcPts val="0"/>
              </a:spcAft>
            </a:pPr>
            <a:r>
              <a:rPr sz="1200" b="0">
                <a:solidFill>
                  <a:srgbClr val="1F2937"/>
                </a:solidFill>
                <a:latin typeface="Calibri"/>
              </a:rPr>
              <a:t>Foyda zarardan yaqqol ortiq bo‘lsin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Hayotiy a’zolar</a:t>
            </a:r>
          </a:p>
          <a:p>
            <a:pPr algn="l">
              <a:spcAft>
                <a:spcPts val="0"/>
              </a:spcAft>
            </a:pPr>
            <a:r>
              <a:rPr sz="1200" b="0">
                <a:solidFill>
                  <a:srgbClr val="1F2937"/>
                </a:solidFill>
                <a:latin typeface="Calibri"/>
              </a:rPr>
              <a:t>Tirik odamdan olish taqiqlanadi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Miya o‘limi</a:t>
            </a:r>
          </a:p>
          <a:p>
            <a:pPr algn="l">
              <a:spcAft>
                <a:spcPts val="0"/>
              </a:spcAft>
            </a:pPr>
            <a:r>
              <a:rPr sz="1200" b="0">
                <a:solidFill>
                  <a:srgbClr val="1F2937"/>
                </a:solidFill>
                <a:latin typeface="Calibri"/>
              </a:rPr>
              <a:t>Sun’iy nafas va qon aylanishda joiz</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Tijorat</a:t>
            </a:r>
          </a:p>
          <a:p>
            <a:pPr algn="l">
              <a:spcAft>
                <a:spcPts val="0"/>
              </a:spcAft>
            </a:pPr>
            <a:r>
              <a:rPr sz="1200" b="0">
                <a:solidFill>
                  <a:srgbClr val="1F2937"/>
                </a:solidFill>
                <a:latin typeface="Calibri"/>
              </a:rPr>
              <a:t>A’zo savdosi qat’iyan taqiqlanadi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Qarorning asosiy qoidalari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diniy va etik nuqtai nazar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marhum hayotida donor bo‘lishga rozi bo‘lgan, ammo oilasi a’zolarni olishga qarshi. Dinlar bunga qanday qaraydi? Savol: qaysi ovoz hal qiluvchi?</a:t>
            </a:r>
          </a:p>
          <a:p>
            <a:pPr>
              <a:spcAft>
                <a:spcPts val="1200"/>
              </a:spcAft>
            </a:pPr>
            <a:r>
              <a:rPr sz="2000">
                <a:solidFill>
                  <a:srgbClr val="1F2937"/>
                </a:solidFill>
                <a:latin typeface="Calibri"/>
              </a:rPr>
              <a:t>▸  Yahudiylikda a’zo olish faqat inson o‘limidan oldin ruxsat bergan va oila qarshilik qilmagan holda mumkin. Hayotni qutqarish masalasida ruxsat beriladi.</a:t>
            </a:r>
          </a:p>
          <a:p>
            <a:pPr>
              <a:spcAft>
                <a:spcPts val="1200"/>
              </a:spcAft>
            </a:pPr>
            <a:r>
              <a:rPr sz="2000">
                <a:solidFill>
                  <a:srgbClr val="1F2937"/>
                </a:solidFill>
                <a:latin typeface="Calibri"/>
              </a:rPr>
              <a:t>▸  Islomda donor hayotligida yoki uning qarindoshlari o‘limdan keyin rozilik bergan bo‘lsa, ko‘chirish mumkin. Tijorat asosida ko‘chirish qat’iyan man qilinadi.</a:t>
            </a:r>
          </a:p>
          <a:p>
            <a:pPr>
              <a:spcAft>
                <a:spcPts val="1200"/>
              </a:spcAft>
            </a:pPr>
            <a:r>
              <a:rPr sz="2000">
                <a:solidFill>
                  <a:srgbClr val="1F2937"/>
                </a:solidFill>
                <a:latin typeface="Calibri"/>
              </a:rPr>
              <a:t>▸  Katolik cherkovi donorlikni rahmdillik va axloqiy burch deydi, faqat ixtiyoriy asosda. Rus pravoslav cherkovi taxminiy rozilikni erkinlik buzilishi deb biladi.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deklaratsiyalar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Butunjahon tibbiyot uyushmasi (VTU) 1987-yilda a’zolarni ko‘chirish haqida deklaratsiya qabul qilgan.</a:t>
            </a:r>
          </a:p>
          <a:p>
            <a:pPr>
              <a:spcAft>
                <a:spcPts val="800"/>
              </a:spcAft>
            </a:pPr>
            <a:r>
              <a:rPr sz="1800">
                <a:solidFill>
                  <a:srgbClr val="1F2937"/>
                </a:solidFill>
                <a:latin typeface="Calibri"/>
              </a:rPr>
              <a:t>▸  Bosh tamoyil: har qanday vaziyatda shifokor avvalo inson salomatligi haqida qayg‘uradi.</a:t>
            </a:r>
          </a:p>
          <a:p>
            <a:pPr>
              <a:spcAft>
                <a:spcPts val="800"/>
              </a:spcAft>
            </a:pPr>
            <a:r>
              <a:rPr sz="1800">
                <a:solidFill>
                  <a:srgbClr val="1F2937"/>
                </a:solidFill>
                <a:latin typeface="Calibri"/>
              </a:rPr>
              <a:t>▸  Diqqat: 1968-yil — miya o‘limi mezonlari, 1987-yil — ko‘chirish deklaratsiyasi. Yillarni adashtirmang.</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Harvard mezonlari</a:t>
            </a:r>
          </a:p>
          <a:p>
            <a:pPr algn="l">
              <a:spcAft>
                <a:spcPts val="100"/>
              </a:spcAft>
            </a:pPr>
            <a:r>
              <a:rPr sz="3000" b="1">
                <a:solidFill>
                  <a:srgbClr val="0B1F3A"/>
                </a:solidFill>
                <a:latin typeface="Calibri"/>
              </a:rPr>
              <a:t>1968</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Sidney deklaratsiyasi</a:t>
            </a:r>
          </a:p>
          <a:p>
            <a:pPr algn="l">
              <a:spcAft>
                <a:spcPts val="100"/>
              </a:spcAft>
            </a:pPr>
            <a:r>
              <a:rPr sz="3000" b="1">
                <a:solidFill>
                  <a:srgbClr val="0B1F3A"/>
                </a:solidFill>
                <a:latin typeface="Calibri"/>
              </a:rPr>
              <a:t>1968</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VTU deklaratsiyasi</a:t>
            </a:r>
          </a:p>
          <a:p>
            <a:pPr algn="l">
              <a:spcAft>
                <a:spcPts val="100"/>
              </a:spcAft>
            </a:pPr>
            <a:r>
              <a:rPr sz="3000" b="1">
                <a:solidFill>
                  <a:srgbClr val="0B1F3A"/>
                </a:solidFill>
                <a:latin typeface="Calibri"/>
              </a:rPr>
              <a:t>1987</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Islom akademiyasi qarori</a:t>
            </a:r>
          </a:p>
          <a:p>
            <a:pPr algn="l">
              <a:spcAft>
                <a:spcPts val="100"/>
              </a:spcAft>
            </a:pPr>
            <a:r>
              <a:rPr sz="3000" b="1">
                <a:solidFill>
                  <a:srgbClr val="0B1F3A"/>
                </a:solidFill>
                <a:latin typeface="Calibri"/>
              </a:rPr>
              <a:t>1988</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Hujjatlar xronologiyasi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Milliy qonunlar, genom va YuNESKO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Dunyoning qariyb 40 davlatida milliy transplantatsiya dasturi Konstitutsiya bo‘limi yoki maxsus qonun bilan tartibga solingan; xalqaro normalarga tayanadi.</a:t>
            </a:r>
          </a:p>
          <a:p>
            <a:pPr>
              <a:spcAft>
                <a:spcPts val="1200"/>
              </a:spcAft>
            </a:pPr>
            <a:r>
              <a:rPr sz="2000">
                <a:solidFill>
                  <a:srgbClr val="1F2937"/>
                </a:solidFill>
                <a:latin typeface="Calibri"/>
              </a:rPr>
              <a:t>▸  Avstriya, Belgiya, Ispaniya, Vengriya, Chexiyada rozilik prezumptsiyasi amal qiladi. AQSH, Germaniya, Kanada, Fransiya, Italiyada so‘rab olingan rozilik.</a:t>
            </a:r>
          </a:p>
          <a:p>
            <a:pPr>
              <a:spcAft>
                <a:spcPts val="1200"/>
              </a:spcAft>
            </a:pPr>
            <a:r>
              <a:rPr sz="2000">
                <a:solidFill>
                  <a:srgbClr val="1F2937"/>
                </a:solidFill>
                <a:latin typeface="Calibri"/>
              </a:rPr>
              <a:t>▸  Inson genomi deklaratsiyasining 1-moddasiga ko‘ra genom «insoniyat mulki». Bioetika xalqaro qo‘mitasi daromadni adolatli taqsimlash mexanizmini taklif qilgan.</a:t>
            </a:r>
          </a:p>
          <a:p>
            <a:pPr>
              <a:spcAft>
                <a:spcPts val="1200"/>
              </a:spcAft>
            </a:pPr>
            <a:r>
              <a:rPr sz="2000">
                <a:solidFill>
                  <a:srgbClr val="1F2937"/>
                </a:solidFill>
                <a:latin typeface="Calibri"/>
              </a:rPr>
              <a:t>▸  YuNESKO (BMT ta’lim, fan va madaniyat tashkiloti) fan va texnologiya etikasini 2002–2007 yillar strategiyasining ustuvor yo‘nalishlaridan biri deb tan oldi.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O‘zbekistondagi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O‘zbekistonda Toshkent buyrak transplantatsiyasi markazi 1972-yilda akademik U.A. Aripov tashabbusi bilan tashkil etilgan.</a:t>
            </a:r>
          </a:p>
          <a:p>
            <a:pPr>
              <a:spcAft>
                <a:spcPts val="1200"/>
              </a:spcAft>
            </a:pPr>
            <a:r>
              <a:rPr sz="2200">
                <a:solidFill>
                  <a:srgbClr val="1F2937"/>
                </a:solidFill>
                <a:latin typeface="Calibri"/>
              </a:rPr>
              <a:t>▸  2017-yilgi qonunga ko‘ra organ va to‘qimalar oldi-sotdi predmeti bo‘la olmaydi; yaqin qarindoshlik transplantatsiyasi alohida nizom bilan tartibga solingan.</a:t>
            </a:r>
          </a:p>
          <a:p>
            <a:pPr>
              <a:spcAft>
                <a:spcPts val="1200"/>
              </a:spcAft>
            </a:pPr>
            <a:r>
              <a:rPr sz="2200">
                <a:solidFill>
                  <a:srgbClr val="1F2937"/>
                </a:solidFill>
                <a:latin typeface="Calibri"/>
              </a:rPr>
              <a:t>▸  Yuqori texnologiyali operatsiyalar Vohidov markazi, Respublika shoshilinch tibbiy yordam ilmiy markazi va Toshkent shahar nefrologiya shifoxonasida o‘tkaziladi.</a:t>
            </a:r>
          </a:p>
          <a:p>
            <a:pPr>
              <a:spcAft>
                <a:spcPts val="1200"/>
              </a:spcAft>
            </a:pPr>
            <a:r>
              <a:rPr sz="2200">
                <a:solidFill>
                  <a:srgbClr val="1F2937"/>
                </a:solidFill>
                <a:latin typeface="Calibri"/>
              </a:rPr>
              <a:t>▸  Har qanday milliy hujjat asosida zarar yetkazmaslik, xabardor ixtiyoriy rozilik va ijtimoiy adolat tamoyillari yotadi.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186, 187; Yuldashev N.M., Saydalixodjayeva O.Z., Saidov A.B., Bioetika, betlar: 33-43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buyrak transplantatsiyasi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Toshkent buyrak transplantatsiyasi markazi 1972-yilda akademik U.A. Aripov tashabbusi bilan tashkil etilgan; 1970–1973-yillar markaz shakllangan davr.</a:t>
            </a:r>
          </a:p>
          <a:p>
            <a:pPr>
              <a:spcAft>
                <a:spcPts val="800"/>
              </a:spcAft>
            </a:pPr>
            <a:r>
              <a:rPr sz="1600">
                <a:solidFill>
                  <a:srgbClr val="1F2937"/>
                </a:solidFill>
                <a:latin typeface="Calibri"/>
              </a:rPr>
              <a:t>▸  Dastlab yiliga 6–8 operatsiya, 1973–1983-yillarda yiliga 20–25 operatsiya; gemodializ yiliga 3–3,5 ming protsedura.</a:t>
            </a:r>
          </a:p>
          <a:p>
            <a:pPr>
              <a:spcAft>
                <a:spcPts val="800"/>
              </a:spcAft>
            </a:pPr>
            <a:r>
              <a:rPr sz="1600">
                <a:solidFill>
                  <a:srgbClr val="1F2937"/>
                </a:solidFill>
                <a:latin typeface="Calibri"/>
              </a:rPr>
              <a:t>▸  1994-yilda Jinoyat kodeksi qabul qilindi: jasaddan organ faqat qarindoshlar ruxsati yoki umrbod rozilik bilan olinadi, shu sabab buyrak ko‘chirish to‘xtadi.</a:t>
            </a:r>
          </a:p>
          <a:p>
            <a:pPr>
              <a:spcAft>
                <a:spcPts val="800"/>
              </a:spcAft>
            </a:pPr>
            <a:r>
              <a:rPr sz="1600">
                <a:solidFill>
                  <a:srgbClr val="1F2937"/>
                </a:solidFill>
                <a:latin typeface="Calibri"/>
              </a:rPr>
              <a:t>▸  2017-yilda «Inson to‘qimalari va organlarini transplantatsiya qilish to‘g‘risida»gi qonun qabul qilindi: organ oldi-sotdi predmeti bo‘la olmaydi.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Markaz tashkil etilgan</a:t>
            </a:r>
          </a:p>
          <a:p>
            <a:pPr algn="l">
              <a:spcAft>
                <a:spcPts val="100"/>
              </a:spcAft>
            </a:pPr>
            <a:r>
              <a:rPr sz="3000" b="1">
                <a:solidFill>
                  <a:srgbClr val="0B1F3A"/>
                </a:solidFill>
                <a:latin typeface="Calibri"/>
              </a:rPr>
              <a:t>1972</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Operatsiya (1970–73)</a:t>
            </a:r>
          </a:p>
          <a:p>
            <a:pPr algn="l">
              <a:spcAft>
                <a:spcPts val="100"/>
              </a:spcAft>
            </a:pPr>
            <a:r>
              <a:rPr sz="3000" b="1">
                <a:solidFill>
                  <a:srgbClr val="0B1F3A"/>
                </a:solidFill>
                <a:latin typeface="Calibri"/>
              </a:rPr>
              <a:t>6–8</a:t>
            </a:r>
            <a:r>
              <a:rPr sz="1500" b="0">
                <a:solidFill>
                  <a:srgbClr val="6B7280"/>
                </a:solidFill>
                <a:latin typeface="Calibri"/>
              </a:rPr>
              <a:t>  yiliga</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Operatsiya (1973–83)</a:t>
            </a:r>
          </a:p>
          <a:p>
            <a:pPr algn="l">
              <a:spcAft>
                <a:spcPts val="100"/>
              </a:spcAft>
            </a:pPr>
            <a:r>
              <a:rPr sz="3000" b="1">
                <a:solidFill>
                  <a:srgbClr val="0B1F3A"/>
                </a:solidFill>
                <a:latin typeface="Calibri"/>
              </a:rPr>
              <a:t>20–25</a:t>
            </a:r>
            <a:r>
              <a:rPr sz="1500" b="0">
                <a:solidFill>
                  <a:srgbClr val="6B7280"/>
                </a:solidFill>
                <a:latin typeface="Calibri"/>
              </a:rPr>
              <a:t>  yiliga</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Gemodializ</a:t>
            </a:r>
          </a:p>
          <a:p>
            <a:pPr algn="l">
              <a:spcAft>
                <a:spcPts val="100"/>
              </a:spcAft>
            </a:pPr>
            <a:r>
              <a:rPr sz="2200" b="1">
                <a:solidFill>
                  <a:srgbClr val="0B1F3A"/>
                </a:solidFill>
                <a:latin typeface="Calibri"/>
              </a:rPr>
              <a:t>3–3,5 ming</a:t>
            </a:r>
            <a:r>
              <a:rPr sz="1100" b="0">
                <a:solidFill>
                  <a:srgbClr val="6B7280"/>
                </a:solidFill>
                <a:latin typeface="Calibri"/>
              </a:rPr>
              <a:t>  yiliga</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Ko‘chirish to‘xtadi</a:t>
            </a:r>
          </a:p>
          <a:p>
            <a:pPr algn="l">
              <a:spcAft>
                <a:spcPts val="100"/>
              </a:spcAft>
            </a:pPr>
            <a:r>
              <a:rPr sz="3000" b="1">
                <a:solidFill>
                  <a:srgbClr val="0B1F3A"/>
                </a:solidFill>
                <a:latin typeface="Calibri"/>
              </a:rPr>
              <a:t>1994</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Transplantatsiya qonuni</a:t>
            </a:r>
          </a:p>
          <a:p>
            <a:pPr algn="l">
              <a:spcAft>
                <a:spcPts val="100"/>
              </a:spcAft>
            </a:pPr>
            <a:r>
              <a:rPr sz="3000" b="1">
                <a:solidFill>
                  <a:srgbClr val="0B1F3A"/>
                </a:solidFill>
                <a:latin typeface="Calibri"/>
              </a:rPr>
              <a:t>2017</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O‘zbekiston transplantologiyasi: asosiy sanalar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186, 187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qarindosh donorligi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Yaqin qarindosh donor bo‘lishi mumkin: ota-ona, aka-uka, opa-singil, turmush o‘rtog‘i, bolalar (asrab olinganlar ham), bobo-buvi, nevaralar.</a:t>
            </a:r>
          </a:p>
          <a:p>
            <a:pPr>
              <a:spcAft>
                <a:spcPts val="800"/>
              </a:spcAft>
            </a:pPr>
            <a:r>
              <a:rPr sz="1600">
                <a:solidFill>
                  <a:srgbClr val="1F2937"/>
                </a:solidFill>
                <a:latin typeface="Calibri"/>
              </a:rPr>
              <a:t>▸  Buyrak yoki jigar ulushini olish mumkin emas: 18 yoshgacha, layoqatsiz, ozodlikdan mahrum, homilador, giyohvandlik va surunkali alkogolizmi borlardan.</a:t>
            </a:r>
          </a:p>
          <a:p>
            <a:pPr>
              <a:spcAft>
                <a:spcPts val="800"/>
              </a:spcAft>
            </a:pPr>
            <a:r>
              <a:rPr sz="1600">
                <a:solidFill>
                  <a:srgbClr val="1F2937"/>
                </a:solidFill>
                <a:latin typeface="Calibri"/>
              </a:rPr>
              <a:t>▸  Yakuniy qarorni Sog‘liqni saqlash vazirligi tashkil etgan maxsus komissiya qabul qiladi; donorning yozma, erkin va ongli roziligi shart.</a:t>
            </a:r>
          </a:p>
          <a:p>
            <a:pPr>
              <a:spcAft>
                <a:spcPts val="800"/>
              </a:spcAft>
            </a:pPr>
            <a:r>
              <a:rPr sz="1600">
                <a:solidFill>
                  <a:srgbClr val="1F2937"/>
                </a:solidFill>
                <a:latin typeface="Calibri"/>
              </a:rPr>
              <a:t>▸  Operatsiyadan keyin donor va retsipient kamida uch yil profilaktik dispanser nazoratida bo‘ladi.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Donor bo‘la oladi</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Ota-ona, aka-uka, opa-singil</a:t>
            </a:r>
          </a:p>
          <a:p>
            <a:pPr algn="l">
              <a:spcAft>
                <a:spcPts val="700"/>
              </a:spcAft>
            </a:pPr>
            <a:r>
              <a:rPr sz="1500" b="1">
                <a:solidFill>
                  <a:srgbClr val="C9A227"/>
                </a:solidFill>
                <a:latin typeface="Calibri"/>
              </a:rPr>
              <a:t>●  </a:t>
            </a:r>
            <a:r>
              <a:rPr sz="1500" b="0">
                <a:solidFill>
                  <a:srgbClr val="1F2937"/>
                </a:solidFill>
                <a:latin typeface="Calibri"/>
              </a:rPr>
              <a:t>Turmush o‘rtog‘i, bolalar</a:t>
            </a:r>
          </a:p>
          <a:p>
            <a:pPr algn="l">
              <a:spcAft>
                <a:spcPts val="700"/>
              </a:spcAft>
            </a:pPr>
            <a:r>
              <a:rPr sz="1500" b="1">
                <a:solidFill>
                  <a:srgbClr val="C9A227"/>
                </a:solidFill>
                <a:latin typeface="Calibri"/>
              </a:rPr>
              <a:t>●  </a:t>
            </a:r>
            <a:r>
              <a:rPr sz="1500" b="0">
                <a:solidFill>
                  <a:srgbClr val="1F2937"/>
                </a:solidFill>
                <a:latin typeface="Calibri"/>
              </a:rPr>
              <a:t>Bobo-buvi, nevaralar</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Olish mumkin emas</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18 yoshgacha, layoqatsiz</a:t>
            </a:r>
          </a:p>
          <a:p>
            <a:pPr algn="l">
              <a:spcAft>
                <a:spcPts val="700"/>
              </a:spcAft>
            </a:pPr>
            <a:r>
              <a:rPr sz="1500" b="1">
                <a:solidFill>
                  <a:srgbClr val="C9A227"/>
                </a:solidFill>
                <a:latin typeface="Calibri"/>
              </a:rPr>
              <a:t>●  </a:t>
            </a:r>
            <a:r>
              <a:rPr sz="1500" b="0">
                <a:solidFill>
                  <a:srgbClr val="1F2937"/>
                </a:solidFill>
                <a:latin typeface="Calibri"/>
              </a:rPr>
              <a:t>Ozodlikdan mahrum</a:t>
            </a:r>
          </a:p>
          <a:p>
            <a:pPr algn="l">
              <a:spcAft>
                <a:spcPts val="700"/>
              </a:spcAft>
            </a:pPr>
            <a:r>
              <a:rPr sz="1500" b="1">
                <a:solidFill>
                  <a:srgbClr val="C9A227"/>
                </a:solidFill>
                <a:latin typeface="Calibri"/>
              </a:rPr>
              <a:t>●  </a:t>
            </a:r>
            <a:r>
              <a:rPr sz="1500" b="0">
                <a:solidFill>
                  <a:srgbClr val="1F2937"/>
                </a:solidFill>
                <a:latin typeface="Calibri"/>
              </a:rPr>
              <a:t>Homilador, giyohvand, alkogolizm</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Tartib</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Maxsus komissiya qarori</a:t>
            </a:r>
          </a:p>
          <a:p>
            <a:pPr algn="l">
              <a:spcAft>
                <a:spcPts val="700"/>
              </a:spcAft>
            </a:pPr>
            <a:r>
              <a:rPr sz="1500" b="1">
                <a:solidFill>
                  <a:srgbClr val="C9A227"/>
                </a:solidFill>
                <a:latin typeface="Calibri"/>
              </a:rPr>
              <a:t>●  </a:t>
            </a:r>
            <a:r>
              <a:rPr sz="1500" b="0">
                <a:solidFill>
                  <a:srgbClr val="1F2937"/>
                </a:solidFill>
                <a:latin typeface="Calibri"/>
              </a:rPr>
              <a:t>Yozma erkin rozilik</a:t>
            </a:r>
          </a:p>
          <a:p>
            <a:pPr algn="l">
              <a:spcAft>
                <a:spcPts val="700"/>
              </a:spcAft>
            </a:pPr>
            <a:r>
              <a:rPr sz="1500" b="1">
                <a:solidFill>
                  <a:srgbClr val="C9A227"/>
                </a:solidFill>
                <a:latin typeface="Calibri"/>
              </a:rPr>
              <a:t>●  </a:t>
            </a:r>
            <a:r>
              <a:rPr sz="1500" b="0">
                <a:solidFill>
                  <a:srgbClr val="1F2937"/>
                </a:solidFill>
                <a:latin typeface="Calibri"/>
              </a:rPr>
              <a:t>3 yil dispanser nazorati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Nizom shartlari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188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va umumiy takrorlash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rozilik prezumptsiyasida kim e’tirozini bildirishi kerak? Javob: a’zo olinishiga qarshi bo‘lgan shaxs yoki uning yaqinlari.</a:t>
            </a:r>
          </a:p>
          <a:p>
            <a:pPr>
              <a:spcAft>
                <a:spcPts val="1200"/>
              </a:spcAft>
            </a:pPr>
            <a:r>
              <a:rPr sz="2200">
                <a:solidFill>
                  <a:srgbClr val="1F2937"/>
                </a:solidFill>
                <a:latin typeface="Calibri"/>
              </a:rPr>
              <a:t>▸  Tezkor savol: norozilik prezumptsiyasida a’zo olish uchun nima kerak? Javob: huquqiy rasmiylashtirilgan rozilik, usiz a’zodan foydalanib bo‘lmaydi.</a:t>
            </a:r>
          </a:p>
          <a:p>
            <a:pPr>
              <a:spcAft>
                <a:spcPts val="1200"/>
              </a:spcAft>
            </a:pPr>
            <a:r>
              <a:rPr sz="2200">
                <a:solidFill>
                  <a:srgbClr val="1F2937"/>
                </a:solidFill>
                <a:latin typeface="Calibri"/>
              </a:rPr>
              <a:t>▸  Diqqat: xato qilish xavfi! Rozilik prezumptsiyasi ≠ norozilik prezumptsiyasi. Birida e’tiroz bildirilmasa a’zo olinadi, ikkinchisida rozilik shart.</a:t>
            </a:r>
          </a:p>
          <a:p>
            <a:pPr>
              <a:spcAft>
                <a:spcPts val="1200"/>
              </a:spcAft>
            </a:pPr>
            <a:r>
              <a:rPr sz="2200">
                <a:solidFill>
                  <a:srgbClr val="1F2937"/>
                </a:solidFill>
                <a:latin typeface="Calibri"/>
              </a:rPr>
              <a:t>▸  Sanalar: Harvard mezonlari — 1968, Jahon tibbiyot uyushmasi deklaratsiyasi — 1987, Islom huquqshunoslik akademiyasi qarori — 1988.</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yetkazmaslik, xabardor ixtiyoriy rozilik va ijtimoiy adolat barcha transplantatsiya hujjatlari asosida yotadi.</a:t>
            </a:r>
          </a:p>
          <a:p>
            <a:pPr>
              <a:spcAft>
                <a:spcPts val="800"/>
              </a:spcAft>
            </a:pPr>
            <a:r>
              <a:rPr sz="1800">
                <a:solidFill>
                  <a:srgbClr val="1F2937"/>
                </a:solidFill>
                <a:latin typeface="Calibri"/>
              </a:rPr>
              <a:t>▸  Qo‘shma Shtatlar va Yevropada muhtojlarning taxminan 35 foizi operatsiyaga yetisha olmaydi.</a:t>
            </a:r>
          </a:p>
          <a:p>
            <a:pPr>
              <a:spcAft>
                <a:spcPts val="800"/>
              </a:spcAft>
            </a:pPr>
            <a:r>
              <a:rPr sz="1800">
                <a:solidFill>
                  <a:srgbClr val="1F2937"/>
                </a:solidFill>
                <a:latin typeface="Calibri"/>
              </a:rPr>
              <a:t>▸  Miya o‘limi: qaytmas hushsizlik, mustaqil nafasning to‘xtashi va miya ustuni reflekslarining yo‘qolishi.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tur: auto, izo, allo, kseno</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Donorlik: tirik va o‘lik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o‘limi — o‘lim mezoni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Prezumptsiya turlari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Taqchillik: adolat, rozilik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Mavzuning asosiy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Yuldashev N.M., Saydalixodjayeva O.Z., Saidov A.B., Bioetika, betlar: 33-43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AQSh (Amerika Qo‘shma Shtatlari) va Yevropada ham ko‘chirib o‘tkazish muhtoj bo‘lganlarning taxminan 35 foiziga nasib qilmaydi. Shu sabab donorlik tanqisligi butun dunyoda dolzarb muammo.</a:t>
            </a:r>
          </a:p>
          <a:p>
            <a:pPr>
              <a:spcAft>
                <a:spcPts val="1200"/>
              </a:spcAft>
            </a:pPr>
            <a:r>
              <a:rPr sz="1800">
                <a:solidFill>
                  <a:srgbClr val="1F2937"/>
                </a:solidFill>
                <a:latin typeface="Calibri"/>
              </a:rPr>
              <a:t>▸  Hodisa tahlili: kutish varaqasida birinchi turgan og‘ir bemor ham operatsiyaga yetmasligi mumkin. Sabab: immunologik mos kelmaslik tufayli mavjud a’zolar orasidan unga mosini topish qiyin. Adolat tamoyili va tibbiy moslik har doim ham mos tushmaydi.</a:t>
            </a:r>
          </a:p>
          <a:p>
            <a:pPr>
              <a:spcAft>
                <a:spcPts val="1200"/>
              </a:spcAft>
            </a:pPr>
            <a:r>
              <a:rPr sz="1800">
                <a:solidFill>
                  <a:srgbClr val="1F2937"/>
                </a:solidFill>
                <a:latin typeface="Calibri"/>
              </a:rPr>
              <a:t>▸  Eslab qolish usuli (transplantat turlari): AUTO — donor o‘zi; IZO — bir tuxumdan egizak; ALLO — boshqa inson; KSENO — hayvon. Savol: «Donor kim?» — javob turni ko‘rsatadi.</a:t>
            </a:r>
          </a:p>
          <a:p>
            <a:pPr>
              <a:spcAft>
                <a:spcPts val="1200"/>
              </a:spcAft>
            </a:pPr>
            <a:r>
              <a:rPr sz="1800">
                <a:solidFill>
                  <a:srgbClr val="1F2937"/>
                </a:solidFill>
                <a:latin typeface="Calibri"/>
              </a:rPr>
              <a:t>▸  Eslab qolish usuli (rozilik prezumptsiyasi): «rozilik prezumptsiyasi» — e’tiroz bildirmagan odam rozi hisoblanadi (Avstriya, Belgiya, Ispaniya). «Norozilik prezumptsiyasi» — yozma rozilik bo‘lmasa, a’zo olinmaydi (AQSh, Germaniya, Kanada, Fransiya, Italiya).</a:t>
            </a:r>
          </a:p>
          <a:p>
            <a:pPr>
              <a:spcAft>
                <a:spcPts val="1200"/>
              </a:spcAft>
            </a:pPr>
            <a:r>
              <a:rPr sz="1800">
                <a:solidFill>
                  <a:srgbClr val="1F2937"/>
                </a:solidFill>
                <a:latin typeface="Calibri"/>
              </a:rPr>
              <a:t>▸  Hodisa tahlili: terapevtik klonlashda bemorning o‘z somatik hujayralari boshlang‘ich material bo‘ladi. Inson ham donor, ham retsipiyent bo‘lib, immunologik moslik muammosi yechilishi mumkin. Lekin bu usul hozircha tajriba bosqichida, amaliyotga joriy etishga hali uzoq.</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Transplantologiya: tarixi va holati, donorlik muammosi, transplantatsiya turlari, jasadli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Yuldashev N.M., Saydalixodjayeva O.Z., Saidov A.B. Bioetika (tibbiyot OTM talabalari uchun darslik), Toshkent tibbiyot akademiyasi, Toshkent, 2019 (titul betida 2018). 2019. 3-bob 3.1 «Transplantatsiya» (kitob beti 33-43; miya o‘limi, donorlik turlari, rozilik prezumptsiyasi)</a:t>
            </a:r>
          </a:p>
          <a:p>
            <a:pPr>
              <a:spcAft>
                <a:spcPts val="800"/>
              </a:spcAft>
            </a:pPr>
            <a:r>
              <a:rPr sz="2000">
                <a:solidFill>
                  <a:srgbClr val="1F2937"/>
                </a:solidFill>
                <a:latin typeface="Calibri"/>
              </a:rPr>
              <a:t>▸  Muhamedova Z.M. Bioetika (o‘quv qo‘llanma, falsafa fakulteti), Toshkent, 2006. 2006. II bob 3-bo‘lim oxiri: a’zo va to‘qimalarni ko‘chirib o‘tkazishdagi axloqiy muammolar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