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Nega vrachning ishi boshqa kasblardan farq qiladi? 2) Kasb huquqbuzarligi deganda nimani tushunasiz? Doskada: ma’ruza rejasini 6 banddan iborat zanjir ko‘rinishida chizing. Tipik xato: TXKH faqat jinoyat deb o‘ylash, aslida talabni lozim darajada bajarmaslik ham kiradi.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Vrach bemorga qo‘pol munosabatda bo‘lsa, bu axloq buzilishimi yoki huquqbuzarlikmi? 2) Urf-odat qaysi me’yorga kiradi? Doskada: ikki ustunli jadvalni talabalar bilan to‘ldiring. Tipik xato: axloq me’yorlarini ham davlat joriy qiladi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Vazirlik buyrug‘ini buzgan vrach kasb huquqbuzarligi sodir etgan bo‘ladimi? 2) Qaysi hujjatlar sizning kundalik ishingizni tartibga soladi? Doskada: hujjatlar zanjirini chizib, har bosqichga misol yozing. Tipik xato: faqat qonunni me’yoriy hujjat deb hisoblash, vazirlik hujjatlarini unutish.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Sizningcha, kasalxona ichki yo‘riqnomasini buzish TXKHga kiradimi? 2) Axloq me’yori bilan huquq me’yori qanday farqlanadi? Doskada: «talab → bajarmaslik/lozim darajada bajarmaslik → TXKH» zanjirini chizdiring. Tipik xato: talabaiar TXKHni faqat jinoyat deb o‘ylaydi; aslida u qilmishni ham o‘z ichiga oladi.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Vrachning harakatsizligi (masalan, bemorni ko‘rmaslik) qaysi belgiga mos keladi? Beshta belgidan birortasi yetishmasa nima bo‘ladi? Doskada: besh belgini ketma-ket zanjir qilib chizib, har biriga bittadan tibbiy misol yozdiring. Tipik xato: harakatsizlikni huquqbuzarlik emas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Ijtimoiy xavf nima uchun asosiy mezon? 2) Qilmish javobgarlikka olib kelmaydi degani to‘g‘rimi? Doskada: ikki ustunli solishtirish jadvalini talabalar bilan birga to‘ldiring. Tipik xato: «qilmish» so‘zini oddiy ma’noda ishlatib, uni jinoyat bilan aralashtirish. Eslatma: Jinoyat kodeksida ko‘zda tutilganlik jadvaldagi ikkinchi qatorda ‘Aks holda’ mantig‘i bilan berilgan.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Tibbiy xodim ish tartibini buzsa, bu qaysi turga kiradi? 2) Bemorning huquqi buzilsa, qaysi turga kiradi? Doskada chizish: uch ustunli jadvalni (tur — nimani buzadi) talabalar bilan to‘ldiring. Tipik xato: intizomiy va ma’muriy turlarni aralashtirish. Intizomiy mehnat tartibiga, ma’muriy muassasani boshqarish tartibiga tegishli.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Qilmish va jinoyatni qaysi belgi ajratadi? 2) Huquqbuzarlikning qanday belgilari bor (qilmish, ijtimoiy xavf, g‘ayriqonuniylik, ayb, noxush oqibat)? Doskada chizish: ikki shoxli sxema — «ijtimoiy xavf yo‘q: qilmish» va «ijtimoiy xavf bor: jinoyat». Tipik xato: har bir g‘ayriqonuniy harakatni jinoyat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Savollarni talabalarga og‘zaki bering, javobni slayddan yashirib turing. Muhokama: Sog‘liqni saqlash vazirligining buyrug‘i va yo‘riqnomasi qaysi hujjat turiga kiradi? Doskada chizish: «axloq — huquq» ikki ustunli solishtirish. Tipik xato: axloq me’yorlarini ham davlat majburlashi bilan ta’minlanadi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Pirogov xatoni yashirish huquqi yo‘q deb hisoblagan? 2) Xatoni oshkor qilish bemorlarga qanday foyda beradi? Doskada: “Errare humanum est” iborasini yozib, Pirogovning ikki tezisini (xato qilish huquqi / yashirish huquqi yo‘q) ikki ustunda chizdiring. Tipik xato: talabalar “vrach xatosi”ni jinoyat yoki huquqiy atama deb o‘ylaydi (vrach xatosi ≠ jinoyat).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Xato ≠ huquqiy kategoriya: bu fikrni takrorlang.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“Vijdonan adashish” beparvolikdan nimasi bilan farq qiladi? 2) Atipik kechishga misol keltiring. Doskada: jadvalni ko‘chirib, har sababga bittadan klinik misol yozdiring. Tipik xato: “tayyorgarlik yetishmasligi”ni beparvolik bilan aralashtirish; beparvolik elementi bo‘lsa, bu vijdonan adashish emas.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xatoni ochiq aytish ruhiy kuch talab qiladi? 2) Klinik-anatomik konferensiyalar bu fikrlarga qanday mos keladi? Doskada: uch shifokor nomini yozib, har birining asosiy g‘oyasini bir jumlada chizdiring. Tipik xato: Botkin so‘zlarini aniq statistika deb qabul qilish; manbadagi ibora noaniq (uncertain), uni ehtiyotkorlik bilan talqin qiling.</a:t>
            </a:r>
          </a:p>
          <a:p/>
          <a:p>
            <a:r>
              <a:t>Tekshirish kerak (manbada noaniq):</a:t>
            </a:r>
          </a:p>
          <a:p>
            <a:r>
              <a:t>- S. P. Botkin o‘zini yaxshi tashhisotchi deb bilgan, lekin 30% to‘g‘ri tashhisdan ham qoniqishini aytgan.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xatoni yashirish emas, oshkor etish kerak? 2) Klinik-anatomik konferensiyada nima muhokama qilinadi? Doskada chizish: xatodan saboq olish zanjirini talabalar bilan birga chizing. Tipik xato: konferensiyani jazolash yig‘ilishi deb tushunish; uning maqsadi tahlil va takrorlamaslikdir.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Xato turlaridan qaysi biri sizning mutaxassisligingizda ko‘proq uchraydi? 2) Atipik kechish nima uchun xato sababi bo‘la oladi? Doskada chizish: to‘rt turdagi xato va uch sababni sxema qilib bog‘lang. Tipik xato: har qanday noxush oqibatni vrach xatosi deb atash; beparvolik bo‘lsa, bu xato emas.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Voqea tahlili savollari: 1) Bu vrach xatosimi yoki jinoyatmi? Nima uchun? 2) Qaysi belgilar infarktni ko‘rsatishi mumkin edi? Doskada chizish: voqea zanjiri va har bosqichda boshqa tashxis qo‘yish imkoniyatini belgilang. Tipik xato: bemor vafotini avtomatik ravishda vrachning aybi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bir xil toifadagi holatlarga munosabat har xil bo‘ldi? 2) Hamkasblar va matbuot qanday rol o‘ynashi kerak? Doskada chizish: ikki ustunli jadval (Krassovskiy / Kolomnin) va yakunlarni o‘q bilan ko‘rsating. Tipik xato: Kolomnin holatini jinoyat deb baholash; manbada u vrach xatosi tahlili fonida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Gubkalarni sanash qoidasi qaysi xato turini oldini oladi? 2) Xatoni oshkor etish hamkasblarga qanday foyda beradi? Doskada chizish: ‘sabab – tahlil – chora’ uch bosqichli zanjir. Tipik xato: talabalar gubkani o‘limning yagona sababi deb xulosa qiladi, manbada esa ‘sabablardan biri bo‘lishi mumkin’ deyilgan.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Savollarni og‘zaki so‘rang, javoblarni slaydda yashirib turing. Muhokama: 1) Davidovskiy ta’rifidagi ‘beparvolik elementlari bo‘lmasligi’ nima uchun muhim? 2) Nazorat savollari (77-bet) bilan taqqoslang. Doskada chizish: ‘vijdonan adashish’ va ‘beparvolik’ ustunlari. Tipik xato: vrach xatosini har qanday tibbiy kamchilik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tasodifiy holatda tibbiy xodim javobgar bo‘lmaydi? 2) Javobgarlik yo‘q bo‘lsa ham, nega holat tahlil qilinadi? Doskaga chizing: “tasodif → oldindan bilib bo‘lmaydi → bartaraf etib bo‘lmaydi → javobgarlik yo‘q” zanjiri. Tipik xato: talabalar har qanday asoratni baxtsiz hodisa deb hisoblaydi; bu yerda asosiy shart – tibbiy xodimga bog‘liq bo‘lmaslik.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Tezkor savol: “Oldin aniqlanmagan anevrizma odatdagi muolajada yorilsa, bu xatomi yoki baxtsiz hodisami?” Muhokama: angiografiya va gastrofibroskopiyada yurak to‘xtashini nima uchun oldindan bilib bo‘lmaydi? Doskaga chizing: jadvalni daftarga ko‘chirtirib, har guruhga o‘z misolingizni qo‘shdiring. Tipik xato: idiosinkraziyani vrach e’tiborsizligi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Xato va baxtsiz hodisaning asosiy farqi nimada? 2) Ikkalasi ham huquqiy tushuncha bo‘lmasa, nega ularni tahlil qilish kerak? Doskaga chizing: ikki ustunli jadvalni talabalar bilan birga to‘ldiring. Tipik xato: ikkala tushunchani aralashtirish va vrach beparvoligini ham “xato” deb atash; beparvolik xatoga kirmaydi.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bu holat vrach xatosi emas, baxtsiz hodisa hisoblanadi? 2) Javobgarlik yo‘q bo‘lsa, tahlil kimga foyda beradi? Doskada: ikki ustun chizing — «Vrach xatosi» va «Baxtsiz hodisa», har biriga «vrach harakatiga bog‘liqmi?» savolini yozdiring. Tipik xato: talabalar «javobgarlik yo‘q» degan so‘zdan «tahlil ham shart emas» deb xulosa chiqaradi.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Yatrogeniya tushunchasi nega ruhiy ta’sirdan muolajalar xatosigacha kengaydi? 2) «Tibbiy omil»ga nimalar kiradi? Doskada: vaqt chizig‘i chizdiring — 1925 (Bumke), 1970 (Kassirskiy), hozirgi talqin. Tipik xato: yatrogeniyani faqat «vrachning qo‘pol gapi»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Sororigeniya yatrogeniyadan nimasi bilan farq qiladi? 2) Sergeev va Shaposhnikov ta’riflaridan qaysi biri kengroq? Doskada: ikki ta’rifdan kalit so‘zlarni ajratib yozdiring. Tipik xato: sororigeniyani alohida kasb huquqbuzarligi deb o‘ylash; bu faqat hamshira harakati oqibatini bildiruvchi atama.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Tibbiy omil tushunchasiga muassasa sharoiti ham kiradi.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Tibbiy omil tushunchasiga nimalar kiradi? 2) Nima uchun kech murojaat ham yatrogeniya turi sanalgan? Doskada: tur nomlarini markaziy «yatrogeniya» atrofida chizdiring. Tipik xato: davolash va davolamaslik turlarini aralashtirish; manbada tur ro‘yxati «va boshqalar» bilan tugaydi, ya’ni to‘liq emas.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jinoyat va baxtsiz hodisa bir tushunchada birlashtirilgan? 2) «Ikkinchi kasallik» misolini ayting. Doskada: katta doira (yatrogeniya) ichida 4 ta kichik doira chizdiring. Tipik xato: yatrogeniyani faqat vrach xatosi deb bilish. Izoh: kitobning 76-betidagi tasnif sxemasi matni skanda aniq o‘qilmagan, jadval o‘qituvchi tomonidan 68, 70-71, 74-betlar asosida tuzildi.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Vaziyatdagi kechikish sababi kim tomonda bo‘lishi mumkin? 2) Boshqa qaysi turlarga misol keltira olasiz? Doskada: 3-4 talaba bittadan tur nomini yozsin. Tipik xato: kech murojaatni «davolash» turiga kiritish. Eslatma: vaziyat o‘quv maqsadida manbadagi tur ta’rifi asosida tuzildi, real hodisa emas.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Nima uchun vrach xatosi huquqiy tushuncha emas? 2) Baxtsiz hodisa xatodan nimasi bilan farq qiladi? Doskada to‘rt guruhli jadvalni chizdiring. Tipik xato: talabalar vrach xatosini jinoyat bilan aralashtiradi.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Beshta javobgarlik turidan qaysi biri jinoyat bo‘lmagan holatda ham qo‘llanadi? 2) Nega ekspert ayb masalasini hal qila olmaydi? Doskada javobgarlik turlari daraxtini chizdiring. Tipik xato: ekspertiza xulosasini sud hukmi bilan tenglashtirish.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Ushbu guruhlarning O‘zbekiston Jinoyat kodeksidagi o‘xshash moddalarini toping. 2) Vrach faoliyatida qaysi guruh eng ko‘p uchraydi? Doskada uch guruhli jadvalni chizing. Tipik xato: Rossiya modda raqamlarini O‘zbekiston normasi deb olish.</a:t>
            </a:r>
          </a:p>
          <a:p/>
          <a:p>
            <a:r>
              <a:t>Tekshirish kerak (manbada noaniq):</a:t>
            </a:r>
          </a:p>
          <a:p>
            <a:r>
              <a:t>- Kharin misollari Rossiya Jinoyat kodeksidan; O‘zbekiston JK normalari alohida tekshirilsin.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Jarroh o‘ta zaruratda operatsiya qilganda chegara qayerda tugaydi? 2) Aybsiz zarar bilan vrach xatosi qanday o‘xshash va farqli? Doskada: uchta holatni jadval ko‘rinishida chizdirib, har biriga bittadan tibbiy misol yozdiring. Tipik xato: talabalar asosli xavfni har qanday tajribaviy davolash deb o‘ylaydi, holbuki shartlar qat’iy. Eslatma: moddalar (28, 39, 41) Rossiya Jinoyat kodeksiga tegishli, O‘zbekiston qonunchiligi bilan taqqoslash alohida ko‘rib chiqiladi.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fuqarolik javobgarligida ayb majburiy shart emas? 2) Bemorga og‘riq qoldiruvchi berilmasa, qanday javobgarlik kelib chiqadi? Doskada: to‘rt shartli zanjirni chizib, to‘rtinchisini punktir bilan ajratib ko‘rsating. Tipik xato: fuqarolik javobgarligini jinoiy javobgarlik bilan aralashtirish, ya’ni aybsiz zarar qoplanmaydi deb o‘ylash. Eslatma: manbada Rossiya Fuqarolik kodeksi moddalari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jinoyat ishi qo‘zg‘atilishidan oldin xizmat tekshiruvi o‘tkaziladi? 2) Ekspert nima uchun vrachning aybini baholamaydi? Doskada: besh bosqichli zanjirni chizdirib, har bosqichga javobgar organni yozdiring. Tipik xato: ekspertiza materiallar bo‘yicha jasadni yoki bemorni bevosita tekshirish bilan almashtiriladi deb o‘ylash, aslida u hujjatlar asosida o‘tkaziladi. Eslatma: tartib Rossiya amaliyotidan olingan.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ekspert «aybdor» so‘zini ishlatmaydi? 2) Sababiy bog‘liqlik savoli nima uchun eng muhim? Doskada: ikki ustun chizing — «Ekspert javob beradi» va «Sud hal qiladi». Tipik xato: talabalar ekspertiza xulosasini vrachning aybi haqidagi hukm deb o‘ylaydi. Eslatma: manba Rossiya amaliyotiga tayanadi.</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Idoraviy komissiya nima uchun jinoyat ishidan oldin tuziladi? 2) Prokuraturaga qaysi hujjatlar topshiriladi? Doskada: bosqichlar zanjirini chizing (shikoyat → komissiya → prokuratura → ish → ekspertiza). Tipik xato: ekspertiza shikoyatdan keyin darhol tayinlanadi deb o‘ylash. Eslatma: tartib Rossiya amaliyoti bo‘yicha; O‘zbekiston tartibi bilan taqqoslang.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Talabalardan sanalarni voqea bilan bog‘lashni so‘rang: kim, nima, qachon.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Savollarni guruhlarda muhokama qiling.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Xato, baxtsiz hodisa va yatrogeniyani bitta misolda qanday ajratasiz? 2) Qaysi holatda xato huquqiy javobgarlikka olib kelmaydi? Doskada: uchta tushunchani qisqa belgilar bilan solishtiring. Tipik xato: yatrogeniyani doimo jinoyat deb hisoblash. Talabalarga nazorat savollarini juftlikda javoblatib chiqing.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№6.Ma’ruza: Tibbiyot hodimlarining kasb huquqbuzarliklari. Tibbiyot hodimlarining javobgarliklari.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maqsad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Tibbiy xodimlar faoliyati qonun va me’yoriy hujjatlar bilan belgilanadi; talablarni bajarmaslik yoki lozim bajarmaslik — kasb huquqbuzarligi (TXKH).</a:t>
            </a:r>
          </a:p>
          <a:p>
            <a:pPr>
              <a:spcAft>
                <a:spcPts val="1200"/>
              </a:spcAft>
            </a:pPr>
            <a:r>
              <a:rPr sz="2200">
                <a:solidFill>
                  <a:srgbClr val="1F2937"/>
                </a:solidFill>
                <a:latin typeface="Calibri"/>
              </a:rPr>
              <a:t>▸  Ma’ruza rejasi: axloq va huquq me’yorlari, me’yoriy hujjatlar, huquqbuzarlik belgilari va turlari, vrach xatosi, baxtsiz hodisa, yatrogeniya.</a:t>
            </a:r>
          </a:p>
          <a:p>
            <a:pPr>
              <a:spcAft>
                <a:spcPts val="1200"/>
              </a:spcAft>
            </a:pPr>
            <a:r>
              <a:rPr sz="2200">
                <a:solidFill>
                  <a:srgbClr val="1F2937"/>
                </a:solidFill>
                <a:latin typeface="Calibri"/>
              </a:rPr>
              <a:t>▸  Sud-tibbiy ekspertiza ish materiallari bo‘yicha o‘tkaziladi. Uning maqsadi tibbiy yordamdagi nuqsonlarning sabablari va sharoitini aniqlashdir.</a:t>
            </a:r>
          </a:p>
          <a:p>
            <a:pPr>
              <a:spcAft>
                <a:spcPts val="1200"/>
              </a:spcAft>
            </a:pPr>
            <a:r>
              <a:rPr sz="2200">
                <a:solidFill>
                  <a:srgbClr val="1F2937"/>
                </a:solidFill>
                <a:latin typeface="Calibri"/>
              </a:rPr>
              <a:t>▸  O‘quv maqsadi: kasb huquqbuzarligini vrach xatosi va baxtsiz hodisadan farqlash, javobgarlik turlarini sanash.</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67, 67-77, 77; Харин Г.М. (Kharin G.M.)., Краткий курс судебной медицины: учебное пособие, betlar: 214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Axloq va huquq me’yorlari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Jamiyatda munosabatlar namunaviy ijtimoiy me’yorlar — axloq va huquq me’yorlari bilan boshqariladi.</a:t>
            </a:r>
          </a:p>
          <a:p>
            <a:pPr>
              <a:spcAft>
                <a:spcPts val="800"/>
              </a:spcAft>
            </a:pPr>
            <a:r>
              <a:rPr sz="1800">
                <a:solidFill>
                  <a:srgbClr val="1F2937"/>
                </a:solidFill>
                <a:latin typeface="Calibri"/>
              </a:rPr>
              <a:t>▸  Axloqqa rioya jamoatchilik fikri kuchi bilan, huquqqa rioya esa davlat majburlashi bilan ta’minlanadi.</a:t>
            </a:r>
          </a:p>
          <a:p>
            <a:pPr>
              <a:spcAft>
                <a:spcPts val="800"/>
              </a:spcAft>
            </a:pPr>
            <a:r>
              <a:rPr sz="1800">
                <a:solidFill>
                  <a:srgbClr val="1F2937"/>
                </a:solidFill>
                <a:latin typeface="Calibri"/>
              </a:rPr>
              <a:t>▸  Diqqat: axloq ≠ huquq. Birida jamoatchilik fikri, ikkinchisida davlat majburlovi hal qiluvchi kuch.</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Axloq</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Etika, din, urf-odat</a:t>
            </a:r>
          </a:p>
          <a:p>
            <a:pPr algn="l">
              <a:spcAft>
                <a:spcPts val="700"/>
              </a:spcAft>
            </a:pPr>
            <a:r>
              <a:rPr sz="1500" b="1">
                <a:solidFill>
                  <a:srgbClr val="C9A227"/>
                </a:solidFill>
                <a:latin typeface="Calibri"/>
              </a:rPr>
              <a:t>●  </a:t>
            </a:r>
            <a:r>
              <a:rPr sz="1500" b="0">
                <a:solidFill>
                  <a:srgbClr val="1F2937"/>
                </a:solidFill>
                <a:latin typeface="Calibri"/>
              </a:rPr>
              <a:t>«Tabiiy» yo‘l bilan vujudga keladi</a:t>
            </a:r>
          </a:p>
          <a:p>
            <a:pPr algn="l">
              <a:spcAft>
                <a:spcPts val="700"/>
              </a:spcAft>
            </a:pPr>
            <a:r>
              <a:rPr sz="1500" b="1">
                <a:solidFill>
                  <a:srgbClr val="C9A227"/>
                </a:solidFill>
                <a:latin typeface="Calibri"/>
              </a:rPr>
              <a:t>●  </a:t>
            </a:r>
            <a:r>
              <a:rPr sz="1500" b="0">
                <a:solidFill>
                  <a:srgbClr val="1F2937"/>
                </a:solidFill>
                <a:latin typeface="Calibri"/>
              </a:rPr>
              <a:t>Jamoatchilik fikri kuchi bilan ta’minlanadi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Huquq</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Davlat joriy etadi</a:t>
            </a:r>
          </a:p>
          <a:p>
            <a:pPr algn="l">
              <a:spcAft>
                <a:spcPts val="700"/>
              </a:spcAft>
            </a:pPr>
            <a:r>
              <a:rPr sz="1500" b="1">
                <a:solidFill>
                  <a:srgbClr val="C9A227"/>
                </a:solidFill>
                <a:latin typeface="Calibri"/>
              </a:rPr>
              <a:t>●  </a:t>
            </a:r>
            <a:r>
              <a:rPr sz="1500" b="0">
                <a:solidFill>
                  <a:srgbClr val="1F2937"/>
                </a:solidFill>
                <a:latin typeface="Calibri"/>
              </a:rPr>
              <a:t>Hamma uchun bir xil kuch</a:t>
            </a:r>
          </a:p>
          <a:p>
            <a:pPr algn="l">
              <a:spcAft>
                <a:spcPts val="700"/>
              </a:spcAft>
            </a:pPr>
            <a:r>
              <a:rPr sz="1500" b="1">
                <a:solidFill>
                  <a:srgbClr val="C9A227"/>
                </a:solidFill>
                <a:latin typeface="Calibri"/>
              </a:rPr>
              <a:t>●  </a:t>
            </a:r>
            <a:r>
              <a:rPr sz="1500" b="0">
                <a:solidFill>
                  <a:srgbClr val="1F2937"/>
                </a:solidFill>
                <a:latin typeface="Calibri"/>
              </a:rPr>
              <a:t>Davlat majburlashi bilan ta’minlanadi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Axloq va huquq me’yorlari solishtiruvi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67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Me’yoriy-huquqiy hujjatlar tizimi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Huquq me’yorlaridan tuzilgan rasmiy hujjatlar me’yoriy-huquqiy hujjat deyiladi: qonun yoki qonun osti hujjati.</a:t>
            </a:r>
          </a:p>
          <a:p>
            <a:pPr>
              <a:spcAft>
                <a:spcPts val="800"/>
              </a:spcAft>
            </a:pPr>
            <a:r>
              <a:rPr sz="1800">
                <a:solidFill>
                  <a:srgbClr val="1F2937"/>
                </a:solidFill>
                <a:latin typeface="Calibri"/>
              </a:rPr>
              <a:t>▸  Qonun osti hujjatlariga Prezident farmoni, qarori, farmoyishi, hukumat va joydagi hokimiyat idoralari farmoyishlari kiradi.</a:t>
            </a:r>
          </a:p>
          <a:p>
            <a:pPr>
              <a:spcAft>
                <a:spcPts val="800"/>
              </a:spcAft>
            </a:pPr>
            <a:r>
              <a:rPr sz="1800">
                <a:solidFill>
                  <a:srgbClr val="1F2937"/>
                </a:solidFill>
                <a:latin typeface="Calibri"/>
              </a:rPr>
              <a:t>▸  Sog‘liqni saqlashda bular — O‘zbekiston Sog‘liqni saqlash vazirligining buyruq, yo‘riqnoma, qoida va nizomlari.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Huquq me’yorlari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Me’yoriy-huquqiy hujjat</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Qonun osti hujjatlari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Prezident va hukumat hujjatlari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Vazirlik buyruq, yo‘riqnomasi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Hujjatlar zanjiri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67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Kasb huquqbuzarliklari (TXKH)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Tibbiy xodimlarning faoliyati ham jamiyatdagi boshqa sohalar kabi qonun va boshqa me’yoriy hujjatlar bilan belgilanadi.</a:t>
            </a:r>
          </a:p>
          <a:p>
            <a:pPr>
              <a:spcAft>
                <a:spcPts val="1200"/>
              </a:spcAft>
            </a:pPr>
            <a:r>
              <a:rPr sz="2200">
                <a:solidFill>
                  <a:srgbClr val="1F2937"/>
                </a:solidFill>
                <a:latin typeface="Calibri"/>
              </a:rPr>
              <a:t>▸  Sog‘liqni saqlashda me’yoriy hujjatlar: Sog‘liqni saqlash vazirligining buyruqlari, yo‘riqnomalari, qoidalari va nizomlari.</a:t>
            </a:r>
          </a:p>
          <a:p>
            <a:pPr>
              <a:spcAft>
                <a:spcPts val="1200"/>
              </a:spcAft>
            </a:pPr>
            <a:r>
              <a:rPr sz="2200">
                <a:solidFill>
                  <a:srgbClr val="1F2937"/>
                </a:solidFill>
                <a:latin typeface="Calibri"/>
              </a:rPr>
              <a:t>▸  Belgilangan talablarni bajarmaslik yoki lozim darajada bajarmaslik tibbiy xodimlarning kasb huquqbuzarliklari (TXKH) deyiladi.</a:t>
            </a:r>
          </a:p>
          <a:p>
            <a:pPr>
              <a:spcAft>
                <a:spcPts val="1200"/>
              </a:spcAft>
            </a:pPr>
            <a:r>
              <a:rPr sz="2200">
                <a:solidFill>
                  <a:srgbClr val="1F2937"/>
                </a:solidFill>
                <a:latin typeface="Calibri"/>
              </a:rPr>
              <a:t>▸  Kharin bo‘yicha: sof kasbiy vazifalarni bajarishda tibbiyot fani, etika, qonun va yo‘riqnomalarni buzib qilingan g‘ayriqonuniy harakat yoki harakatsizlik.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67; Харин Г.М. (Kharin G.M.)., Краткий курс судебной медицины: учебное пособие, betlar: 218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Huquqbuzarlik belgilari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Huquq nazariyasiga ko‘ra huquqbuzarlikning besh belgisi ajratiladi.</a:t>
            </a:r>
          </a:p>
          <a:p>
            <a:pPr>
              <a:spcAft>
                <a:spcPts val="800"/>
              </a:spcAft>
            </a:pPr>
            <a:r>
              <a:rPr sz="1800">
                <a:solidFill>
                  <a:srgbClr val="1F2937"/>
                </a:solidFill>
                <a:latin typeface="Calibri"/>
              </a:rPr>
              <a:t>▸  Qilmish harakat yoki harakatsizlik shaklida namoyon bo‘ladi.</a:t>
            </a:r>
          </a:p>
          <a:p>
            <a:pPr>
              <a:spcAft>
                <a:spcPts val="800"/>
              </a:spcAft>
            </a:pPr>
            <a:r>
              <a:rPr sz="1800">
                <a:solidFill>
                  <a:srgbClr val="1F2937"/>
                </a:solidFill>
                <a:latin typeface="Calibri"/>
              </a:rPr>
              <a:t>▸  Ijtimoiy xavflilik belgisiga ko‘ra TXKH qilmish yoki jinoyat ko‘rinishida bo‘lishi mumkin.</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Huquqbuzarlik belgilari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790395"/>
            <a:ext cx="0" cy="3277209"/>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790395"/>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Qilmish</a:t>
            </a:r>
          </a:p>
          <a:p>
            <a:pPr algn="l">
              <a:spcAft>
                <a:spcPts val="0"/>
              </a:spcAft>
            </a:pPr>
            <a:r>
              <a:rPr sz="1200" b="0">
                <a:solidFill>
                  <a:srgbClr val="1F2937"/>
                </a:solidFill>
                <a:latin typeface="Calibri"/>
              </a:rPr>
              <a:t>Harakat yoki harakatsizlik</a:t>
            </a:r>
          </a:p>
        </p:txBody>
      </p:sp>
      <p:cxnSp>
        <p:nvCxnSpPr>
          <p:cNvPr id="15" name="Connector 14"/>
          <p:cNvCxnSpPr/>
          <p:nvPr/>
        </p:nvCxnSpPr>
        <p:spPr>
          <a:xfrm>
            <a:off x="7612380" y="2609697"/>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236622"/>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236622"/>
            <a:ext cx="3779215" cy="746150"/>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Ijtimoiy xavf</a:t>
            </a:r>
          </a:p>
        </p:txBody>
      </p:sp>
      <p:cxnSp>
        <p:nvCxnSpPr>
          <p:cNvPr id="18" name="Connector 17"/>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055924"/>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055924"/>
            <a:ext cx="3779215" cy="746150"/>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G‘ayriqonuniylik</a:t>
            </a:r>
          </a:p>
        </p:txBody>
      </p:sp>
      <p:cxnSp>
        <p:nvCxnSpPr>
          <p:cNvPr id="21" name="Connector 20"/>
          <p:cNvCxnSpPr/>
          <p:nvPr/>
        </p:nvCxnSpPr>
        <p:spPr>
          <a:xfrm>
            <a:off x="7612380" y="424830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3875227"/>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3875227"/>
            <a:ext cx="3779215" cy="746150"/>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Ayb</a:t>
            </a:r>
          </a:p>
        </p:txBody>
      </p:sp>
      <p:cxnSp>
        <p:nvCxnSpPr>
          <p:cNvPr id="24" name="Connector 23"/>
          <p:cNvCxnSpPr/>
          <p:nvPr/>
        </p:nvCxnSpPr>
        <p:spPr>
          <a:xfrm>
            <a:off x="7612380" y="50676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0" y="4694529"/>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4694529"/>
            <a:ext cx="3779215" cy="746150"/>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Noxush oqibat</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Huquq nazariyasiga ko‘ra besh belgi</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67, 68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Qilmish va jinoyat: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G‘ayriqonuniy harakat ijtimoiy xavfga ega bo‘lmasa va Jinoyat kodeksida ko‘zda tutilmagan bo‘lsa, u qilmish deyiladi.</a:t>
            </a:r>
          </a:p>
          <a:p>
            <a:pPr>
              <a:spcAft>
                <a:spcPts val="800"/>
              </a:spcAft>
            </a:pPr>
            <a:r>
              <a:rPr sz="1800">
                <a:solidFill>
                  <a:srgbClr val="1F2937"/>
                </a:solidFill>
                <a:latin typeface="Calibri"/>
              </a:rPr>
              <a:t>▸  Ijtimoiy xavf alomatlari bo‘lgan holatda shu harakat jinoyat sifatida baholanadi.</a:t>
            </a:r>
          </a:p>
          <a:p>
            <a:pPr>
              <a:spcAft>
                <a:spcPts val="800"/>
              </a:spcAft>
            </a:pPr>
            <a:r>
              <a:rPr sz="1800">
                <a:solidFill>
                  <a:srgbClr val="1F2937"/>
                </a:solidFill>
                <a:latin typeface="Calibri"/>
              </a:rPr>
              <a:t>▸  Diqqat: qilmish ≠ jinoyat. Ularni asosan ijtimoiy xavf belgisi farqlaydi.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1797911"/>
                <a:gridCol w="1797911"/>
                <a:gridCol w="1692152"/>
              </a:tblGrid>
              <a:tr h="768096">
                <a:tc>
                  <a:txBody>
                    <a:bodyPr/>
                    <a:lstStyle/>
                    <a:p>
                      <a:r>
                        <a:rPr sz="1600" b="1">
                          <a:solidFill>
                            <a:srgbClr val="FFFFFF"/>
                          </a:solidFill>
                        </a:rPr>
                        <a:t>Belgi</a:t>
                      </a:r>
                    </a:p>
                  </a:txBody>
                  <a:tcPr marL="73152" marR="73152" marT="36576" marB="36576">
                    <a:solidFill>
                      <a:srgbClr val="0B1F3A"/>
                    </a:solidFill>
                  </a:tcPr>
                </a:tc>
                <a:tc>
                  <a:txBody>
                    <a:bodyPr/>
                    <a:lstStyle/>
                    <a:p>
                      <a:r>
                        <a:rPr sz="1600" b="1">
                          <a:solidFill>
                            <a:srgbClr val="FFFFFF"/>
                          </a:solidFill>
                        </a:rPr>
                        <a:t>Qilmish</a:t>
                      </a:r>
                    </a:p>
                  </a:txBody>
                  <a:tcPr marL="73152" marR="73152" marT="36576" marB="36576">
                    <a:solidFill>
                      <a:srgbClr val="0B1F3A"/>
                    </a:solidFill>
                  </a:tcPr>
                </a:tc>
                <a:tc>
                  <a:txBody>
                    <a:bodyPr/>
                    <a:lstStyle/>
                    <a:p>
                      <a:r>
                        <a:rPr sz="1600" b="1">
                          <a:solidFill>
                            <a:srgbClr val="FFFFFF"/>
                          </a:solidFill>
                        </a:rPr>
                        <a:t>Jinoyat</a:t>
                      </a:r>
                    </a:p>
                  </a:txBody>
                  <a:tcPr marL="73152" marR="73152" marT="36576" marB="36576">
                    <a:solidFill>
                      <a:srgbClr val="0B1F3A"/>
                    </a:solidFill>
                  </a:tcPr>
                </a:tc>
              </a:tr>
              <a:tr h="768096">
                <a:tc>
                  <a:txBody>
                    <a:bodyPr/>
                    <a:lstStyle/>
                    <a:p>
                      <a:r>
                        <a:rPr sz="1500" b="0">
                          <a:solidFill>
                            <a:srgbClr val="1F2937"/>
                          </a:solidFill>
                        </a:rPr>
                        <a:t>Ijtimoiy xavf</a:t>
                      </a:r>
                    </a:p>
                  </a:txBody>
                  <a:tcPr marL="73152" marR="73152" marT="36576" marB="36576">
                    <a:solidFill>
                      <a:srgbClr val="E8EEF6"/>
                    </a:solidFill>
                  </a:tcPr>
                </a:tc>
                <a:tc>
                  <a:txBody>
                    <a:bodyPr/>
                    <a:lstStyle/>
                    <a:p>
                      <a:r>
                        <a:rPr sz="1500" b="0">
                          <a:solidFill>
                            <a:srgbClr val="1F2937"/>
                          </a:solidFill>
                        </a:rPr>
                        <a:t>Yo‘q</a:t>
                      </a:r>
                    </a:p>
                  </a:txBody>
                  <a:tcPr marL="73152" marR="73152" marT="36576" marB="36576">
                    <a:solidFill>
                      <a:srgbClr val="E8EEF6"/>
                    </a:solidFill>
                  </a:tcPr>
                </a:tc>
                <a:tc>
                  <a:txBody>
                    <a:bodyPr/>
                    <a:lstStyle/>
                    <a:p>
                      <a:r>
                        <a:rPr sz="1500" b="0">
                          <a:solidFill>
                            <a:srgbClr val="1F2937"/>
                          </a:solidFill>
                        </a:rPr>
                        <a:t>Bor</a:t>
                      </a:r>
                    </a:p>
                  </a:txBody>
                  <a:tcPr marL="73152" marR="73152" marT="36576" marB="36576">
                    <a:solidFill>
                      <a:srgbClr val="E8EEF6"/>
                    </a:solidFill>
                  </a:tcPr>
                </a:tc>
              </a:tr>
              <a:tr h="768096">
                <a:tc>
                  <a:txBody>
                    <a:bodyPr/>
                    <a:lstStyle/>
                    <a:p>
                      <a:r>
                        <a:rPr sz="1500" b="0">
                          <a:solidFill>
                            <a:srgbClr val="1F2937"/>
                          </a:solidFill>
                        </a:rPr>
                        <a:t>Jinoyat kodeksida</a:t>
                      </a:r>
                    </a:p>
                  </a:txBody>
                  <a:tcPr marL="73152" marR="73152" marT="36576" marB="36576">
                    <a:solidFill>
                      <a:srgbClr val="FFFFFF"/>
                    </a:solidFill>
                  </a:tcPr>
                </a:tc>
                <a:tc>
                  <a:txBody>
                    <a:bodyPr/>
                    <a:lstStyle/>
                    <a:p>
                      <a:r>
                        <a:rPr sz="1500" b="0">
                          <a:solidFill>
                            <a:srgbClr val="1F2937"/>
                          </a:solidFill>
                        </a:rPr>
                        <a:t>Ko‘zda tutilmagan</a:t>
                      </a:r>
                    </a:p>
                  </a:txBody>
                  <a:tcPr marL="73152" marR="73152" marT="36576" marB="36576">
                    <a:solidFill>
                      <a:srgbClr val="FFFFFF"/>
                    </a:solidFill>
                  </a:tcPr>
                </a:tc>
                <a:tc>
                  <a:txBody>
                    <a:bodyPr/>
                    <a:lstStyle/>
                    <a:p>
                      <a:r>
                        <a:rPr sz="1500" b="0">
                          <a:solidFill>
                            <a:srgbClr val="1F2937"/>
                          </a:solidFill>
                        </a:rPr>
                        <a:t>Ko‘zda tutilgan</a:t>
                      </a:r>
                    </a:p>
                  </a:txBody>
                  <a:tcPr marL="73152" marR="73152" marT="36576" marB="36576">
                    <a:solidFill>
                      <a:srgbClr val="FFFFFF"/>
                    </a:solidFill>
                  </a:tcPr>
                </a:tc>
              </a:tr>
              <a:tr h="768096">
                <a:tc>
                  <a:txBody>
                    <a:bodyPr/>
                    <a:lstStyle/>
                    <a:p>
                      <a:r>
                        <a:rPr sz="1500" b="0">
                          <a:solidFill>
                            <a:srgbClr val="1F2937"/>
                          </a:solidFill>
                        </a:rPr>
                        <a:t>Baholanishi</a:t>
                      </a:r>
                    </a:p>
                  </a:txBody>
                  <a:tcPr marL="73152" marR="73152" marT="36576" marB="36576">
                    <a:solidFill>
                      <a:srgbClr val="E8EEF6"/>
                    </a:solidFill>
                  </a:tcPr>
                </a:tc>
                <a:tc>
                  <a:txBody>
                    <a:bodyPr/>
                    <a:lstStyle/>
                    <a:p>
                      <a:r>
                        <a:rPr sz="1500" b="0">
                          <a:solidFill>
                            <a:srgbClr val="1F2937"/>
                          </a:solidFill>
                        </a:rPr>
                        <a:t>Qilmish sifatida</a:t>
                      </a:r>
                    </a:p>
                  </a:txBody>
                  <a:tcPr marL="73152" marR="73152" marT="36576" marB="36576">
                    <a:solidFill>
                      <a:srgbClr val="E8EEF6"/>
                    </a:solidFill>
                  </a:tcPr>
                </a:tc>
                <a:tc>
                  <a:txBody>
                    <a:bodyPr/>
                    <a:lstStyle/>
                    <a:p>
                      <a:r>
                        <a:rPr sz="1500" b="0">
                          <a:solidFill>
                            <a:srgbClr val="1F2937"/>
                          </a:solidFill>
                        </a:rPr>
                        <a:t>Jinoyat sifatida</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Qilmish va jinoyat</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68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Qilmish turlari: intizomiy, ma’muriy, fuqaroviy</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Intizomiy qilmishda mehnat, xizmat va ishlab chiqarish tartibi buziladi.</a:t>
            </a:r>
          </a:p>
          <a:p>
            <a:pPr>
              <a:spcAft>
                <a:spcPts val="800"/>
              </a:spcAft>
            </a:pPr>
            <a:r>
              <a:rPr sz="1800">
                <a:solidFill>
                  <a:srgbClr val="1F2937"/>
                </a:solidFill>
                <a:latin typeface="Calibri"/>
              </a:rPr>
              <a:t>▸  Ma’muriy huquqbuzarlik asosan muassasani boshqarish tartibini buzishga taalluqli.</a:t>
            </a:r>
          </a:p>
          <a:p>
            <a:pPr>
              <a:spcAft>
                <a:spcPts val="800"/>
              </a:spcAft>
            </a:pPr>
            <a:r>
              <a:rPr sz="1800">
                <a:solidFill>
                  <a:srgbClr val="1F2937"/>
                </a:solidFill>
                <a:latin typeface="Calibri"/>
              </a:rPr>
              <a:t>▸  Fuqaroviy qilmish fuqarolar va tashkilotlarning mulkiy hamda nomulkiy huquqlarini buzadi.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Qilmish turlari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Intizomiy</a:t>
            </a:r>
          </a:p>
          <a:p>
            <a:pPr algn="l">
              <a:spcAft>
                <a:spcPts val="0"/>
              </a:spcAft>
            </a:pPr>
            <a:r>
              <a:rPr sz="1200" b="0">
                <a:solidFill>
                  <a:srgbClr val="1F2937"/>
                </a:solidFill>
                <a:latin typeface="Calibri"/>
              </a:rPr>
              <a:t>Mehnat va xizmat tartibi buziladi</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Ma’muriy</a:t>
            </a:r>
          </a:p>
          <a:p>
            <a:pPr algn="l">
              <a:spcAft>
                <a:spcPts val="0"/>
              </a:spcAft>
            </a:pPr>
            <a:r>
              <a:rPr sz="1200" b="0">
                <a:solidFill>
                  <a:srgbClr val="1F2937"/>
                </a:solidFill>
                <a:latin typeface="Calibri"/>
              </a:rPr>
              <a:t>Muassasani boshqarish tartibi buziladi</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Fuqaroviy</a:t>
            </a:r>
          </a:p>
          <a:p>
            <a:pPr algn="l">
              <a:spcAft>
                <a:spcPts val="0"/>
              </a:spcAft>
            </a:pPr>
            <a:r>
              <a:rPr sz="1200" b="0">
                <a:solidFill>
                  <a:srgbClr val="1F2937"/>
                </a:solidFill>
                <a:latin typeface="Calibri"/>
              </a:rPr>
              <a:t>Mulkiy va nomulkiy huquqlar buziladi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Huquq nuqtai nazaridan uch tur</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68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qilmishmi yoki jinoyatmi?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tibbiy xodim faoliyatda belgilangan talabni lozim darajada bajarmadi, uning harakati g‘ayriqonuniy deb topildi.</a:t>
            </a:r>
          </a:p>
          <a:p>
            <a:pPr>
              <a:spcAft>
                <a:spcPts val="1200"/>
              </a:spcAft>
            </a:pPr>
            <a:r>
              <a:rPr sz="2200">
                <a:solidFill>
                  <a:srgbClr val="1F2937"/>
                </a:solidFill>
                <a:latin typeface="Calibri"/>
              </a:rPr>
              <a:t>▸  Savol: bu harakat ijtimoiy xavf belgisiga egami va Jinoyat kodeksida ko‘zda tutilganmi?</a:t>
            </a:r>
          </a:p>
          <a:p>
            <a:pPr>
              <a:spcAft>
                <a:spcPts val="1200"/>
              </a:spcAft>
            </a:pPr>
            <a:r>
              <a:rPr sz="2200">
                <a:solidFill>
                  <a:srgbClr val="1F2937"/>
                </a:solidFill>
                <a:latin typeface="Calibri"/>
              </a:rPr>
              <a:t>▸  Javob: g‘ayriqonuniy harakat ijtimoiy xavfga ega bo‘lmasa va Jinoyat kodeksida nazarda tutilmagan bo‘lsa, u qilmish deb ataladi.</a:t>
            </a:r>
          </a:p>
          <a:p>
            <a:pPr>
              <a:spcAft>
                <a:spcPts val="1200"/>
              </a:spcAft>
            </a:pPr>
            <a:r>
              <a:rPr sz="2200">
                <a:solidFill>
                  <a:srgbClr val="1F2937"/>
                </a:solidFill>
                <a:latin typeface="Calibri"/>
              </a:rPr>
              <a:t>▸  Diqqat: xato qilish xavfi. Ijtimoiy xavf alomatlari bo‘lsa, shu harakat jinoyat deb baholanadi. Qilmish ≠ jinoyat.</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67, 68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axloq va huquq me’yorlariga rioya qanday ta’minlanadi? Javob: axloqda jamoatchilik fikri, huquqda davlat majburlashi.</a:t>
            </a:r>
          </a:p>
          <a:p>
            <a:pPr>
              <a:spcAft>
                <a:spcPts val="1200"/>
              </a:spcAft>
            </a:pPr>
            <a:r>
              <a:rPr sz="2200">
                <a:solidFill>
                  <a:srgbClr val="1F2937"/>
                </a:solidFill>
                <a:latin typeface="Calibri"/>
              </a:rPr>
              <a:t>▸  2-savol: me’yoriy-huquqiy hujjat nima? Javob: huquq me’yorlaridan tashkil topgan rasmiy hujjat, qonun yoki qonun osti hujjati.</a:t>
            </a:r>
          </a:p>
          <a:p>
            <a:pPr>
              <a:spcAft>
                <a:spcPts val="1200"/>
              </a:spcAft>
            </a:pPr>
            <a:r>
              <a:rPr sz="2200">
                <a:solidFill>
                  <a:srgbClr val="1F2937"/>
                </a:solidFill>
                <a:latin typeface="Calibri"/>
              </a:rPr>
              <a:t>▸  3-savol: tibbiy xodimlarning kasb huquqbuzarliklari (TXKH) nima? Javob: belgilangan talabni bajarmaslik yoki lozim darajada bajarmaslik.</a:t>
            </a:r>
          </a:p>
          <a:p>
            <a:pPr>
              <a:spcAft>
                <a:spcPts val="1200"/>
              </a:spcAft>
            </a:pPr>
            <a:r>
              <a:rPr sz="2200">
                <a:solidFill>
                  <a:srgbClr val="1F2937"/>
                </a:solidFill>
                <a:latin typeface="Calibri"/>
              </a:rPr>
              <a:t>▸  Qo‘shimcha: nazorat savollarida qilmishning jinoyatdan farqi va qilmish turlarini sanab berish ham so‘raladi.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67, 77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Vrach xatosi: tushuncha va Pirogov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Errare humanum est — xato qilish insonga xos. Tibbiy xodimlar faoliyati ham bundan mustasno emas, xatodan butunlay xoli bo‘lish juda qiyin.</a:t>
            </a:r>
          </a:p>
          <a:p>
            <a:pPr>
              <a:spcAft>
                <a:spcPts val="1200"/>
              </a:spcAft>
            </a:pPr>
            <a:r>
              <a:rPr sz="2200">
                <a:solidFill>
                  <a:srgbClr val="1F2937"/>
                </a:solidFill>
                <a:latin typeface="Calibri"/>
              </a:rPr>
              <a:t>▸  “Vrach xatosi” iborasini ilk bor N. I. Pirogov taklif etgan. U vrachning o‘z kasbiy xatoliklariga munosabati namunasi sifatida tan olinadi.</a:t>
            </a:r>
          </a:p>
          <a:p>
            <a:pPr>
              <a:spcAft>
                <a:spcPts val="1200"/>
              </a:spcAft>
            </a:pPr>
            <a:r>
              <a:rPr sz="2200">
                <a:solidFill>
                  <a:srgbClr val="1F2937"/>
                </a:solidFill>
                <a:latin typeface="Calibri"/>
              </a:rPr>
              <a:t>▸  Pirogov vrachning xato qilish huquqi bor, ularni yashirish huquqi yo‘q, degan. U o‘z omadsizliklarini hech qachon yashirmaganini yozgan.</a:t>
            </a:r>
          </a:p>
          <a:p>
            <a:pPr>
              <a:spcAft>
                <a:spcPts val="1200"/>
              </a:spcAft>
            </a:pPr>
            <a:r>
              <a:rPr sz="2200">
                <a:solidFill>
                  <a:srgbClr val="1F2937"/>
                </a:solidFill>
                <a:latin typeface="Calibri"/>
              </a:rPr>
              <a:t>▸  Diqqat: vrach xatosi huquqiy tushuncha emas, shuning uchun u qonunchilik hujjatlarida uchramaydi.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68-69, 69, 68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Vrach xatosi talqinidagi tortishuvlar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Vrach xatosini baholashda turli, ba’zan qarama-qarshi fikrlar bor; keng ma’noda barcha kamchiliklarni kiritish ma’qullanmaydi.</a:t>
            </a:r>
          </a:p>
          <a:p>
            <a:pPr>
              <a:spcAft>
                <a:spcPts val="1200"/>
              </a:spcAft>
            </a:pPr>
            <a:r>
              <a:rPr sz="2200">
                <a:solidFill>
                  <a:srgbClr val="1F2937"/>
                </a:solidFill>
                <a:latin typeface="Calibri"/>
              </a:rPr>
              <a:t>▸  S. Ya. Doletskiy (1989): baxtsizlik, asorat va xato tushunchalariga mos kelmaydigan nuqsonlar kam uchramaydi.</a:t>
            </a:r>
          </a:p>
          <a:p>
            <a:pPr>
              <a:spcAft>
                <a:spcPts val="1200"/>
              </a:spcAft>
            </a:pPr>
            <a:r>
              <a:rPr sz="2200">
                <a:solidFill>
                  <a:srgbClr val="1F2937"/>
                </a:solidFill>
                <a:latin typeface="Calibri"/>
              </a:rPr>
              <a:t>▸  «Vrach xatosi» iborasini ilk bor N. I. Pirogov taklif etgan; u 1837 yilda xatolarni tezroq oshkor etishni burch deb bilgan.</a:t>
            </a:r>
          </a:p>
          <a:p>
            <a:pPr>
              <a:spcAft>
                <a:spcPts val="1200"/>
              </a:spcAft>
            </a:pPr>
            <a:r>
              <a:rPr sz="2200">
                <a:solidFill>
                  <a:srgbClr val="1F2937"/>
                </a:solidFill>
                <a:latin typeface="Calibri"/>
              </a:rPr>
              <a:t>▸  Pirogov: vrachning xato qilish huquqi bor, ularni yashirish huquqi yo‘q.</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69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Davidovskiy bo‘yicha vrach xatosi ta’rifi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I. V. Davidovskiy (1928) vrach xatosini vijdonan adashish deb ta’riflagan.</a:t>
            </a:r>
          </a:p>
          <a:p>
            <a:pPr>
              <a:spcAft>
                <a:spcPts val="800"/>
              </a:spcAft>
            </a:pPr>
            <a:r>
              <a:rPr sz="1800">
                <a:solidFill>
                  <a:srgbClr val="1F2937"/>
                </a:solidFill>
                <a:latin typeface="Calibri"/>
              </a:rPr>
              <a:t>▸  Xato fan va usullarning nomukammalligi, atipik kechish yoki tayyorgarlik yetishmasligidan kelib chiqadi.</a:t>
            </a:r>
          </a:p>
          <a:p>
            <a:pPr>
              <a:spcAft>
                <a:spcPts val="800"/>
              </a:spcAft>
            </a:pPr>
            <a:r>
              <a:rPr sz="1800">
                <a:solidFill>
                  <a:srgbClr val="1F2937"/>
                </a:solidFill>
                <a:latin typeface="Calibri"/>
              </a:rPr>
              <a:t>▸  Sovuqqonlik, e’tiborsizlik yoki tibbiy beparvolik elementlari bo‘lmagandagina bu vrach xatosi hisoblanadi.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Vrach xatosi (1928)</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Fan nomukammal</a:t>
            </a:r>
          </a:p>
          <a:p>
            <a:pPr algn="l">
              <a:spcAft>
                <a:spcPts val="0"/>
              </a:spcAft>
            </a:pPr>
            <a:r>
              <a:rPr sz="1200" b="0">
                <a:solidFill>
                  <a:srgbClr val="1F2937"/>
                </a:solidFill>
                <a:latin typeface="Calibri"/>
              </a:rPr>
              <a:t>Fan va usullar yetarli emas</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Atipik kechish</a:t>
            </a:r>
          </a:p>
          <a:p>
            <a:pPr algn="l">
              <a:spcAft>
                <a:spcPts val="0"/>
              </a:spcAft>
            </a:pPr>
            <a:r>
              <a:rPr sz="1200" b="0">
                <a:solidFill>
                  <a:srgbClr val="1F2937"/>
                </a:solidFill>
                <a:latin typeface="Calibri"/>
              </a:rPr>
              <a:t>Kasallik odatdagidan boshqacha kechadi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Tayyorgarlik</a:t>
            </a:r>
          </a:p>
          <a:p>
            <a:pPr algn="l">
              <a:spcAft>
                <a:spcPts val="0"/>
              </a:spcAft>
            </a:pPr>
            <a:r>
              <a:rPr sz="1200" b="0">
                <a:solidFill>
                  <a:srgbClr val="1F2937"/>
                </a:solidFill>
                <a:latin typeface="Calibri"/>
              </a:rPr>
              <a:t>Vrach tayyorgarligi yetishmaydi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Shart</a:t>
            </a:r>
          </a:p>
          <a:p>
            <a:pPr algn="l">
              <a:spcAft>
                <a:spcPts val="0"/>
              </a:spcAft>
            </a:pPr>
            <a:r>
              <a:rPr sz="1200" b="0">
                <a:solidFill>
                  <a:srgbClr val="1F2937"/>
                </a:solidFill>
                <a:latin typeface="Calibri"/>
              </a:rPr>
              <a:t>Beparvolik, e’tiborsizlik elementi yo‘q</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I. V. Davidovskiy: vijdonan adashish</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70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Botkin, Bilrot, Kassirskiy fikrlari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 P. Botkin o‘zini yaxshi tashhisotchi deb bilgan, lekin 30% to‘g‘ri tashhisdan ham qoniqishini aytgan.</a:t>
            </a:r>
          </a:p>
          <a:p>
            <a:pPr>
              <a:spcAft>
                <a:spcPts val="800"/>
              </a:spcAft>
            </a:pPr>
            <a:r>
              <a:rPr sz="1800">
                <a:solidFill>
                  <a:srgbClr val="1F2937"/>
                </a:solidFill>
                <a:latin typeface="Calibri"/>
              </a:rPr>
              <a:t>▸  Bilrot: o‘zini yaxshilashga kuch topgan kishi xatolarini anglashda qo‘rquv his etmaydi.</a:t>
            </a:r>
          </a:p>
          <a:p>
            <a:pPr>
              <a:spcAft>
                <a:spcPts val="800"/>
              </a:spcAft>
            </a:pPr>
            <a:r>
              <a:rPr sz="1800">
                <a:solidFill>
                  <a:srgbClr val="1F2937"/>
                </a:solidFill>
                <a:latin typeface="Calibri"/>
              </a:rPr>
              <a:t>▸  Kassirskiy: xatolar muqarrar; ularni boshqalarga o‘rgatish takrorlanmasligining optimal yo‘li.</a:t>
            </a:r>
          </a:p>
        </p:txBody>
      </p:sp>
      <p:graphicFrame>
        <p:nvGraphicFramePr>
          <p:cNvPr id="9" name="Table 8"/>
          <p:cNvGraphicFramePr>
            <a:graphicFrameLocks noGrp="1"/>
          </p:cNvGraphicFramePr>
          <p:nvPr/>
        </p:nvGraphicFramePr>
        <p:xfrm>
          <a:off x="6263640" y="1463040"/>
          <a:ext cx="5287975" cy="3072384"/>
        </p:xfrm>
        <a:graphic>
          <a:graphicData uri="http://schemas.openxmlformats.org/drawingml/2006/table">
            <a:tbl>
              <a:tblPr firstRow="1" bandRow="1">
                <a:tableStyleId>{5C22544A-7EE6-4342-B048-85BDC9FD1C3A}</a:tableStyleId>
              </a:tblPr>
              <a:tblGrid>
                <a:gridCol w="1612900"/>
                <a:gridCol w="3675075"/>
              </a:tblGrid>
              <a:tr h="768096">
                <a:tc>
                  <a:txBody>
                    <a:bodyPr/>
                    <a:lstStyle/>
                    <a:p>
                      <a:r>
                        <a:rPr sz="1800" b="1">
                          <a:solidFill>
                            <a:srgbClr val="FFFFFF"/>
                          </a:solidFill>
                        </a:rPr>
                        <a:t>Shifokor</a:t>
                      </a:r>
                    </a:p>
                  </a:txBody>
                  <a:tcPr marL="73152" marR="73152" marT="36576" marB="36576">
                    <a:solidFill>
                      <a:srgbClr val="0B1F3A"/>
                    </a:solidFill>
                  </a:tcPr>
                </a:tc>
                <a:tc>
                  <a:txBody>
                    <a:bodyPr/>
                    <a:lstStyle/>
                    <a:p>
                      <a:r>
                        <a:rPr sz="1800" b="1">
                          <a:solidFill>
                            <a:srgbClr val="FFFFFF"/>
                          </a:solidFill>
                        </a:rPr>
                        <a:t>Fikri</a:t>
                      </a:r>
                    </a:p>
                  </a:txBody>
                  <a:tcPr marL="73152" marR="73152" marT="36576" marB="36576">
                    <a:solidFill>
                      <a:srgbClr val="0B1F3A"/>
                    </a:solidFill>
                  </a:tcPr>
                </a:tc>
              </a:tr>
              <a:tr h="768096">
                <a:tc>
                  <a:txBody>
                    <a:bodyPr/>
                    <a:lstStyle/>
                    <a:p>
                      <a:r>
                        <a:rPr sz="1700" b="0">
                          <a:solidFill>
                            <a:srgbClr val="1F2937"/>
                          </a:solidFill>
                        </a:rPr>
                        <a:t>S. P. Botkin</a:t>
                      </a:r>
                    </a:p>
                  </a:txBody>
                  <a:tcPr marL="73152" marR="73152" marT="36576" marB="36576">
                    <a:solidFill>
                      <a:srgbClr val="E8EEF6"/>
                    </a:solidFill>
                  </a:tcPr>
                </a:tc>
                <a:tc>
                  <a:txBody>
                    <a:bodyPr/>
                    <a:lstStyle/>
                    <a:p>
                      <a:r>
                        <a:rPr sz="1700" b="0">
                          <a:solidFill>
                            <a:srgbClr val="1F2937"/>
                          </a:solidFill>
                        </a:rPr>
                        <a:t>30% to‘g‘ri tashhisdan ham qoniqardi</a:t>
                      </a:r>
                    </a:p>
                  </a:txBody>
                  <a:tcPr marL="73152" marR="73152" marT="36576" marB="36576">
                    <a:solidFill>
                      <a:srgbClr val="E8EEF6"/>
                    </a:solidFill>
                  </a:tcPr>
                </a:tc>
              </a:tr>
              <a:tr h="768096">
                <a:tc>
                  <a:txBody>
                    <a:bodyPr/>
                    <a:lstStyle/>
                    <a:p>
                      <a:r>
                        <a:rPr sz="1700" b="0">
                          <a:solidFill>
                            <a:srgbClr val="1F2937"/>
                          </a:solidFill>
                        </a:rPr>
                        <a:t>T. Bilrot</a:t>
                      </a:r>
                    </a:p>
                  </a:txBody>
                  <a:tcPr marL="73152" marR="73152" marT="36576" marB="36576">
                    <a:solidFill>
                      <a:srgbClr val="FFFFFF"/>
                    </a:solidFill>
                  </a:tcPr>
                </a:tc>
                <a:tc>
                  <a:txBody>
                    <a:bodyPr/>
                    <a:lstStyle/>
                    <a:p>
                      <a:r>
                        <a:rPr sz="1700" b="0">
                          <a:solidFill>
                            <a:srgbClr val="1F2937"/>
                          </a:solidFill>
                        </a:rPr>
                        <a:t>Xatodan faqat ruhan ojizlar qo‘rqadi</a:t>
                      </a:r>
                    </a:p>
                  </a:txBody>
                  <a:tcPr marL="73152" marR="73152" marT="36576" marB="36576">
                    <a:solidFill>
                      <a:srgbClr val="FFFFFF"/>
                    </a:solidFill>
                  </a:tcPr>
                </a:tc>
              </a:tr>
              <a:tr h="768096">
                <a:tc>
                  <a:txBody>
                    <a:bodyPr/>
                    <a:lstStyle/>
                    <a:p>
                      <a:r>
                        <a:rPr sz="1700" b="0">
                          <a:solidFill>
                            <a:srgbClr val="1F2937"/>
                          </a:solidFill>
                        </a:rPr>
                        <a:t>I. A. Kassirskiy</a:t>
                      </a:r>
                    </a:p>
                  </a:txBody>
                  <a:tcPr marL="73152" marR="73152" marT="36576" marB="36576">
                    <a:solidFill>
                      <a:srgbClr val="E8EEF6"/>
                    </a:solidFill>
                  </a:tcPr>
                </a:tc>
                <a:tc>
                  <a:txBody>
                    <a:bodyPr/>
                    <a:lstStyle/>
                    <a:p>
                      <a:r>
                        <a:rPr sz="1700" b="0">
                          <a:solidFill>
                            <a:srgbClr val="1F2937"/>
                          </a:solidFill>
                        </a:rPr>
                        <a:t>Xatolarni o‘rgatish — eng maqbul yechim</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Xatoga munosabat</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70, 71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Klinik-anatomik konferensiya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I. V. Davidovskiy xatolarni tahlil qilib, ularni boshqa vrachlar faoliyatida ham bartaraf etishga e’tibor bergan.</a:t>
            </a:r>
          </a:p>
          <a:p>
            <a:pPr>
              <a:spcAft>
                <a:spcPts val="800"/>
              </a:spcAft>
            </a:pPr>
            <a:r>
              <a:rPr sz="1800">
                <a:solidFill>
                  <a:srgbClr val="1F2937"/>
                </a:solidFill>
                <a:latin typeface="Calibri"/>
              </a:rPr>
              <a:t>▸  Birinchi klinik-anatomik konferensiya 1930 yil 9 dekabrda Moskvadagi Medsantrud kasalxonasida o‘tkazilgan.</a:t>
            </a:r>
          </a:p>
          <a:p>
            <a:pPr>
              <a:spcAft>
                <a:spcPts val="800"/>
              </a:spcAft>
            </a:pPr>
            <a:r>
              <a:rPr sz="1800">
                <a:solidFill>
                  <a:srgbClr val="1F2937"/>
                </a:solidFill>
                <a:latin typeface="Calibri"/>
              </a:rPr>
              <a:t>▸  Vrach xatolari oshkor qilinib, takrorlanmasligi uchun hamkasblar o‘rtasida muhokama etilishi lozim.</a:t>
            </a:r>
          </a:p>
        </p:txBody>
      </p:sp>
      <p:cxnSp>
        <p:nvCxnSpPr>
          <p:cNvPr id="9" name="Connector 8"/>
          <p:cNvCxnSpPr/>
          <p:nvPr/>
        </p:nvCxnSpPr>
        <p:spPr>
          <a:xfrm>
            <a:off x="9318287" y="2295144"/>
            <a:ext cx="305031" cy="173023"/>
          </a:xfrm>
          <a:prstGeom prst="line">
            <a:avLst/>
          </a:prstGeom>
          <a:ln w="38100">
            <a:solidFill>
              <a:srgbClr val="C9A2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9894969" y="3400855"/>
            <a:ext cx="356409" cy="856389"/>
          </a:xfrm>
          <a:prstGeom prst="line">
            <a:avLst/>
          </a:prstGeom>
          <a:ln w="38100">
            <a:solidFill>
              <a:srgbClr val="C9A2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8352110" y="4723588"/>
            <a:ext cx="288074" cy="0"/>
          </a:xfrm>
          <a:prstGeom prst="line">
            <a:avLst/>
          </a:prstGeom>
          <a:ln w="38100">
            <a:solidFill>
              <a:srgbClr val="C9A2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flipV="1">
            <a:off x="6740916" y="3400855"/>
            <a:ext cx="356409" cy="856389"/>
          </a:xfrm>
          <a:prstGeom prst="line">
            <a:avLst/>
          </a:prstGeom>
          <a:ln w="38100">
            <a:solidFill>
              <a:srgbClr val="C9A2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7368976" y="2295144"/>
            <a:ext cx="305031" cy="173023"/>
          </a:xfrm>
          <a:prstGeom prst="line">
            <a:avLst/>
          </a:prstGeom>
          <a:ln w="38100">
            <a:solidFill>
              <a:srgbClr val="C9A2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90307" y="1417320"/>
            <a:ext cx="2011680" cy="8229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Xato aniqlanadi</a:t>
            </a:r>
          </a:p>
        </p:txBody>
      </p:sp>
      <p:sp>
        <p:nvSpPr>
          <p:cNvPr id="15" name="Rounded Rectangle 14"/>
          <p:cNvSpPr/>
          <p:nvPr/>
        </p:nvSpPr>
        <p:spPr>
          <a:xfrm>
            <a:off x="9439619" y="2523031"/>
            <a:ext cx="2011680" cy="82296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Xato oshkor etiladi</a:t>
            </a:r>
          </a:p>
        </p:txBody>
      </p:sp>
      <p:sp>
        <p:nvSpPr>
          <p:cNvPr id="16" name="Rounded Rectangle 15"/>
          <p:cNvSpPr/>
          <p:nvPr/>
        </p:nvSpPr>
        <p:spPr>
          <a:xfrm>
            <a:off x="8695048" y="4312108"/>
            <a:ext cx="2011680" cy="8229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Hamkasblar muhokamasi</a:t>
            </a:r>
          </a:p>
        </p:txBody>
      </p:sp>
      <p:sp>
        <p:nvSpPr>
          <p:cNvPr id="17" name="Rounded Rectangle 16"/>
          <p:cNvSpPr/>
          <p:nvPr/>
        </p:nvSpPr>
        <p:spPr>
          <a:xfrm>
            <a:off x="6285566" y="4312108"/>
            <a:ext cx="2011680" cy="82296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Sabablar tahlili</a:t>
            </a:r>
          </a:p>
        </p:txBody>
      </p:sp>
      <p:sp>
        <p:nvSpPr>
          <p:cNvPr id="18" name="Rounded Rectangle 17"/>
          <p:cNvSpPr/>
          <p:nvPr/>
        </p:nvSpPr>
        <p:spPr>
          <a:xfrm>
            <a:off x="5540995" y="2523031"/>
            <a:ext cx="2011680" cy="8229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Takrorlanmaydi</a:t>
            </a:r>
          </a:p>
        </p:txBody>
      </p:sp>
      <p:sp>
        <p:nvSpPr>
          <p:cNvPr id="19" name="TextBox 18"/>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Xatodan saboq olish sikli</a:t>
            </a:r>
          </a:p>
        </p:txBody>
      </p:sp>
      <p:sp>
        <p:nvSpPr>
          <p:cNvPr id="20" name="TextBox 19"/>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70, 70-71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Vrach xatosi turlari va sabablari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Turlari: diagnostik, davolash, tashkiliy xatolar va tibbiy hujjatni rasmiylashtirishdagi xatolar.</a:t>
            </a:r>
          </a:p>
          <a:p>
            <a:pPr>
              <a:spcAft>
                <a:spcPts val="800"/>
              </a:spcAft>
            </a:pPr>
            <a:r>
              <a:rPr sz="1800">
                <a:solidFill>
                  <a:srgbClr val="1F2937"/>
                </a:solidFill>
                <a:latin typeface="Calibri"/>
              </a:rPr>
              <a:t>▸  Sabablari: fan nomukammalligi, kasallikning atipik kechishi, bilim va tajriba yetishmasligi.</a:t>
            </a:r>
          </a:p>
          <a:p>
            <a:pPr>
              <a:spcAft>
                <a:spcPts val="800"/>
              </a:spcAft>
            </a:pPr>
            <a:r>
              <a:rPr sz="1800">
                <a:solidFill>
                  <a:srgbClr val="1F2937"/>
                </a:solidFill>
                <a:latin typeface="Calibri"/>
              </a:rPr>
              <a:t>▸  Diqqat: vrach xatosi ≠ huquqiy kategoriya; unda odatda jinoyat belgilari bo‘lmaydi.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3074404"/>
                <a:gridCol w="2213570"/>
              </a:tblGrid>
              <a:tr h="614476">
                <a:tc>
                  <a:txBody>
                    <a:bodyPr/>
                    <a:lstStyle/>
                    <a:p>
                      <a:r>
                        <a:rPr sz="1800" b="1">
                          <a:solidFill>
                            <a:srgbClr val="FFFFFF"/>
                          </a:solidFill>
                        </a:rPr>
                        <a:t>Belgi</a:t>
                      </a:r>
                    </a:p>
                  </a:txBody>
                  <a:tcPr marL="73152" marR="73152" marT="36576" marB="36576">
                    <a:solidFill>
                      <a:srgbClr val="0B1F3A"/>
                    </a:solidFill>
                  </a:tcPr>
                </a:tc>
                <a:tc>
                  <a:txBody>
                    <a:bodyPr/>
                    <a:lstStyle/>
                    <a:p>
                      <a:r>
                        <a:rPr sz="1800" b="1">
                          <a:solidFill>
                            <a:srgbClr val="FFFFFF"/>
                          </a:solidFill>
                        </a:rPr>
                        <a:t>Vrach xatosi</a:t>
                      </a:r>
                    </a:p>
                  </a:txBody>
                  <a:tcPr marL="73152" marR="73152" marT="36576" marB="36576">
                    <a:solidFill>
                      <a:srgbClr val="0B1F3A"/>
                    </a:solidFill>
                  </a:tcPr>
                </a:tc>
              </a:tr>
              <a:tr h="614476">
                <a:tc>
                  <a:txBody>
                    <a:bodyPr/>
                    <a:lstStyle/>
                    <a:p>
                      <a:r>
                        <a:rPr sz="1700" b="0">
                          <a:solidFill>
                            <a:srgbClr val="1F2937"/>
                          </a:solidFill>
                        </a:rPr>
                        <a:t>Mohiyati</a:t>
                      </a:r>
                    </a:p>
                  </a:txBody>
                  <a:tcPr marL="73152" marR="73152" marT="36576" marB="36576">
                    <a:solidFill>
                      <a:srgbClr val="E8EEF6"/>
                    </a:solidFill>
                  </a:tcPr>
                </a:tc>
                <a:tc>
                  <a:txBody>
                    <a:bodyPr/>
                    <a:lstStyle/>
                    <a:p>
                      <a:r>
                        <a:rPr sz="1700" b="0">
                          <a:solidFill>
                            <a:srgbClr val="1F2937"/>
                          </a:solidFill>
                        </a:rPr>
                        <a:t>Vijdonan adashish</a:t>
                      </a:r>
                    </a:p>
                  </a:txBody>
                  <a:tcPr marL="73152" marR="73152" marT="36576" marB="36576">
                    <a:solidFill>
                      <a:srgbClr val="E8EEF6"/>
                    </a:solidFill>
                  </a:tcPr>
                </a:tc>
              </a:tr>
              <a:tr h="614476">
                <a:tc>
                  <a:txBody>
                    <a:bodyPr/>
                    <a:lstStyle/>
                    <a:p>
                      <a:r>
                        <a:rPr sz="1700" b="0">
                          <a:solidFill>
                            <a:srgbClr val="1F2937"/>
                          </a:solidFill>
                        </a:rPr>
                        <a:t>Beparvolik, o‘ta ishonish</a:t>
                      </a:r>
                    </a:p>
                  </a:txBody>
                  <a:tcPr marL="73152" marR="73152" marT="36576" marB="36576">
                    <a:solidFill>
                      <a:srgbClr val="FFFFFF"/>
                    </a:solidFill>
                  </a:tcPr>
                </a:tc>
                <a:tc>
                  <a:txBody>
                    <a:bodyPr/>
                    <a:lstStyle/>
                    <a:p>
                      <a:r>
                        <a:rPr sz="1700" b="0">
                          <a:solidFill>
                            <a:srgbClr val="1F2937"/>
                          </a:solidFill>
                        </a:rPr>
                        <a:t>Yo‘q</a:t>
                      </a:r>
                    </a:p>
                  </a:txBody>
                  <a:tcPr marL="73152" marR="73152" marT="36576" marB="36576">
                    <a:solidFill>
                      <a:srgbClr val="FFFFFF"/>
                    </a:solidFill>
                  </a:tcPr>
                </a:tc>
              </a:tr>
              <a:tr h="614476">
                <a:tc>
                  <a:txBody>
                    <a:bodyPr/>
                    <a:lstStyle/>
                    <a:p>
                      <a:r>
                        <a:rPr sz="1700" b="0">
                          <a:solidFill>
                            <a:srgbClr val="1F2937"/>
                          </a:solidFill>
                        </a:rPr>
                        <a:t>Huquqiy kategoriya</a:t>
                      </a:r>
                    </a:p>
                  </a:txBody>
                  <a:tcPr marL="73152" marR="73152" marT="36576" marB="36576">
                    <a:solidFill>
                      <a:srgbClr val="E8EEF6"/>
                    </a:solidFill>
                  </a:tcPr>
                </a:tc>
                <a:tc>
                  <a:txBody>
                    <a:bodyPr/>
                    <a:lstStyle/>
                    <a:p>
                      <a:r>
                        <a:rPr sz="1700" b="0">
                          <a:solidFill>
                            <a:srgbClr val="1F2937"/>
                          </a:solidFill>
                        </a:rPr>
                        <a:t>Emas</a:t>
                      </a:r>
                    </a:p>
                  </a:txBody>
                  <a:tcPr marL="73152" marR="73152" marT="36576" marB="36576">
                    <a:solidFill>
                      <a:srgbClr val="E8EEF6"/>
                    </a:solidFill>
                  </a:tcPr>
                </a:tc>
              </a:tr>
              <a:tr h="614476">
                <a:tc>
                  <a:txBody>
                    <a:bodyPr/>
                    <a:lstStyle/>
                    <a:p>
                      <a:r>
                        <a:rPr sz="1700" b="0">
                          <a:solidFill>
                            <a:srgbClr val="1F2937"/>
                          </a:solidFill>
                        </a:rPr>
                        <a:t>Jinoyat belgilari</a:t>
                      </a:r>
                    </a:p>
                  </a:txBody>
                  <a:tcPr marL="73152" marR="73152" marT="36576" marB="36576">
                    <a:solidFill>
                      <a:srgbClr val="FFFFFF"/>
                    </a:solidFill>
                  </a:tcPr>
                </a:tc>
                <a:tc>
                  <a:txBody>
                    <a:bodyPr/>
                    <a:lstStyle/>
                    <a:p>
                      <a:r>
                        <a:rPr sz="1700" b="0">
                          <a:solidFill>
                            <a:srgbClr val="1F2937"/>
                          </a:solidFill>
                        </a:rPr>
                        <a:t>Odatda yo‘q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Vrach xatosining belgilari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Харин Г.М. (Kharin G.M.)., Краткий курс судебной медицины: учебное пособие, betlar: 218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Misol: abdominal infarkt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30 yoshli erkak qorin og‘rig‘i, ko‘ngil aynish, qusish bilan keldi; zaharlanishga shubha qilindi.</a:t>
            </a:r>
          </a:p>
          <a:p>
            <a:pPr>
              <a:spcAft>
                <a:spcPts val="800"/>
              </a:spcAft>
            </a:pPr>
            <a:r>
              <a:rPr sz="1800">
                <a:solidFill>
                  <a:srgbClr val="1F2937"/>
                </a:solidFill>
                <a:latin typeface="Calibri"/>
              </a:rPr>
              <a:t>▸  Oshqozonni yuvish paytida bemor to‘satdan vafot etgan; autopsiyada o‘tkir miokard infarkti topilgan.</a:t>
            </a:r>
          </a:p>
          <a:p>
            <a:pPr>
              <a:spcAft>
                <a:spcPts val="800"/>
              </a:spcAft>
            </a:pPr>
            <a:r>
              <a:rPr sz="1800">
                <a:solidFill>
                  <a:srgbClr val="1F2937"/>
                </a:solidFill>
                <a:latin typeface="Calibri"/>
              </a:rPr>
              <a:t>▸  Vrach barcha ko‘zda tutilgan muolajalarni bajargan; anamnez va atipik kechish adashtirgan.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Qorin og‘rig‘i, qusish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Zaharlanish gumon qilindi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Oshqozon zondi kiritildi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Bemor to‘satdan vafot etdi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Autopsiya: miokard infarkti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Voqea ketma-ketligi</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71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Tarixiy misollar: Krassovskiy va Kolomnin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Ikki voqea jamiyat va hamkasblar vrach xatosiga turlicha munosabatda bo‘lganini ko‘rsatadi.</a:t>
            </a:r>
          </a:p>
          <a:p>
            <a:pPr>
              <a:spcAft>
                <a:spcPts val="800"/>
              </a:spcAft>
            </a:pPr>
            <a:r>
              <a:rPr sz="1800">
                <a:solidFill>
                  <a:srgbClr val="1F2937"/>
                </a:solidFill>
                <a:latin typeface="Calibri"/>
              </a:rPr>
              <a:t>▸  Krassovskiy xatoni yashirmay, jurnalda ochiq yozdi va takrorlamaslik choralarini taklif etdi.</a:t>
            </a:r>
          </a:p>
          <a:p>
            <a:pPr>
              <a:spcAft>
                <a:spcPts val="800"/>
              </a:spcAft>
            </a:pPr>
            <a:r>
              <a:rPr sz="1800">
                <a:solidFill>
                  <a:srgbClr val="1F2937"/>
                </a:solidFill>
                <a:latin typeface="Calibri"/>
              </a:rPr>
              <a:t>▸  Kolomnin matbuotda ta’qib qilindi; voqea fojea bilan yakunlandi.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Krassovskiy (1870)</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Tuxumdon kistasi olib tashlandi</a:t>
            </a:r>
          </a:p>
          <a:p>
            <a:pPr algn="l">
              <a:spcAft>
                <a:spcPts val="700"/>
              </a:spcAft>
            </a:pPr>
            <a:r>
              <a:rPr sz="1500" b="1">
                <a:solidFill>
                  <a:srgbClr val="C9A227"/>
                </a:solidFill>
                <a:latin typeface="Calibri"/>
              </a:rPr>
              <a:t>●  </a:t>
            </a:r>
            <a:r>
              <a:rPr sz="1500" b="0">
                <a:solidFill>
                  <a:srgbClr val="1F2937"/>
                </a:solidFill>
                <a:latin typeface="Calibri"/>
              </a:rPr>
              <a:t>Qorinda gubkali tampon qoldi</a:t>
            </a:r>
          </a:p>
          <a:p>
            <a:pPr algn="l">
              <a:spcAft>
                <a:spcPts val="700"/>
              </a:spcAft>
            </a:pPr>
            <a:r>
              <a:rPr sz="1500" b="1">
                <a:solidFill>
                  <a:srgbClr val="C9A227"/>
                </a:solidFill>
                <a:latin typeface="Calibri"/>
              </a:rPr>
              <a:t>●  </a:t>
            </a:r>
            <a:r>
              <a:rPr sz="1500" b="0">
                <a:solidFill>
                  <a:srgbClr val="1F2937"/>
                </a:solidFill>
                <a:latin typeface="Calibri"/>
              </a:rPr>
              <a:t>Voqeani maqolada ochiq bayon etdi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Kolomnin (1886)</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To‘g‘ri ichak yarasi operatsiyasi</a:t>
            </a:r>
          </a:p>
          <a:p>
            <a:pPr algn="l">
              <a:spcAft>
                <a:spcPts val="700"/>
              </a:spcAft>
            </a:pPr>
            <a:r>
              <a:rPr sz="1500" b="1">
                <a:solidFill>
                  <a:srgbClr val="C9A227"/>
                </a:solidFill>
                <a:latin typeface="Calibri"/>
              </a:rPr>
              <a:t>●  </a:t>
            </a:r>
            <a:r>
              <a:rPr sz="1500" b="0">
                <a:solidFill>
                  <a:srgbClr val="1F2937"/>
                </a:solidFill>
                <a:latin typeface="Calibri"/>
              </a:rPr>
              <a:t>Kokaindan zaharlanish; sil tasdiqlanmadi</a:t>
            </a:r>
          </a:p>
          <a:p>
            <a:pPr algn="l">
              <a:spcAft>
                <a:spcPts val="700"/>
              </a:spcAft>
            </a:pPr>
            <a:r>
              <a:rPr sz="1500" b="1">
                <a:solidFill>
                  <a:srgbClr val="C9A227"/>
                </a:solidFill>
                <a:latin typeface="Calibri"/>
              </a:rPr>
              <a:t>●  </a:t>
            </a:r>
            <a:r>
              <a:rPr sz="1500" b="0">
                <a:solidFill>
                  <a:srgbClr val="1F2937"/>
                </a:solidFill>
                <a:latin typeface="Calibri"/>
              </a:rPr>
              <a:t>Ta’qibdan so‘ng o‘zini otdi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Xatoga turlicha munosabat</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71, 72, 73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tampon qoldirilgan operatsiya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1870 yilda katta tuxumdon kistasi olib tashlangach, yosh ayol 40 soatda vafot etgan; qorin bo‘shlig‘ida gubkali tampon topilgan.</a:t>
            </a:r>
          </a:p>
          <a:p>
            <a:pPr>
              <a:spcAft>
                <a:spcPts val="1200"/>
              </a:spcAft>
            </a:pPr>
            <a:r>
              <a:rPr sz="2200">
                <a:solidFill>
                  <a:srgbClr val="1F2937"/>
                </a:solidFill>
                <a:latin typeface="Calibri"/>
              </a:rPr>
              <a:t>▸  Tahlil: jarroh gubka qachon va qanday tushganini, uni o‘z vaqtida olib tashlash choralari ko‘rilganini hamda o‘lim sababi bo‘lish ehtimolini o‘rgangan.</a:t>
            </a:r>
          </a:p>
          <a:p>
            <a:pPr>
              <a:spcAft>
                <a:spcPts val="1200"/>
              </a:spcAft>
            </a:pPr>
            <a:r>
              <a:rPr sz="2200">
                <a:solidFill>
                  <a:srgbClr val="1F2937"/>
                </a:solidFill>
                <a:latin typeface="Calibri"/>
              </a:rPr>
              <a:t>▸  Oldini olish: operatsiyadan oldin va keyin gubkalarni sanash, ularga uzun tasmalar biriktirish taklif etilgan. Bu tavsiyalar hozir ham dolzarb.</a:t>
            </a:r>
          </a:p>
          <a:p>
            <a:pPr>
              <a:spcAft>
                <a:spcPts val="1200"/>
              </a:spcAft>
            </a:pPr>
            <a:r>
              <a:rPr sz="2200">
                <a:solidFill>
                  <a:srgbClr val="1F2937"/>
                </a:solidFill>
                <a:latin typeface="Calibri"/>
              </a:rPr>
              <a:t>▸  Savol: gubkani o‘limning yagona sababi deyish mumkinmi? Nega xatoni yashirmay tahlil qilish kerak?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71-72, 72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‘Vrach xatosi’ iborasini ilk bor kim taklif etgan? Javob: N. I. Pirogov.</a:t>
            </a:r>
          </a:p>
          <a:p>
            <a:pPr>
              <a:spcAft>
                <a:spcPts val="1200"/>
              </a:spcAft>
            </a:pPr>
            <a:r>
              <a:rPr sz="2200">
                <a:solidFill>
                  <a:srgbClr val="1F2937"/>
                </a:solidFill>
                <a:latin typeface="Calibri"/>
              </a:rPr>
              <a:t>▸  Savol 2: Davidovskiy (1928) ta’rifi? Javob: fan nomukammalligi, atipik kechish yoki tayyorgarlik yetishmasligidan, beparvoliksiz vijdonan adashish.</a:t>
            </a:r>
          </a:p>
          <a:p>
            <a:pPr>
              <a:spcAft>
                <a:spcPts val="1200"/>
              </a:spcAft>
            </a:pPr>
            <a:r>
              <a:rPr sz="2200">
                <a:solidFill>
                  <a:srgbClr val="1F2937"/>
                </a:solidFill>
                <a:latin typeface="Calibri"/>
              </a:rPr>
              <a:t>▸  Savol 3: vrach xatosi javobgarlik keltiradimi? Javob: vijdonan adashish javobgarlik tug‘dirmasligi lozim; xato oshkor qilinib, muhokama etiladi.</a:t>
            </a:r>
          </a:p>
          <a:p>
            <a:pPr>
              <a:spcAft>
                <a:spcPts val="1200"/>
              </a:spcAft>
            </a:pPr>
            <a:r>
              <a:rPr sz="2200">
                <a:solidFill>
                  <a:srgbClr val="1F2937"/>
                </a:solidFill>
                <a:latin typeface="Calibri"/>
              </a:rPr>
              <a:t>▸  Diqqat: vrach xatosi ≠ jinoyat yoki qilmish; vrach xatosi huquqiy tushuncha emas.</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69, 70, 70-71, 68, 70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Baxtsiz hodisa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Baxtsiz hodisa – tibbiy amaliyotda tasodifan, tibbiy xodimga bog‘liq bo‘lmagan holatlar natijasida vujudga kelgan noxush oqibat.</a:t>
            </a:r>
          </a:p>
          <a:p>
            <a:pPr>
              <a:spcAft>
                <a:spcPts val="1200"/>
              </a:spcAft>
            </a:pPr>
            <a:r>
              <a:rPr sz="2200">
                <a:solidFill>
                  <a:srgbClr val="1F2937"/>
                </a:solidFill>
                <a:latin typeface="Calibri"/>
              </a:rPr>
              <a:t>▸  Bunday holatning sodir bo‘lishini oldindan bilish va uni bartaraf etish imkoni bo‘lmaydi.</a:t>
            </a:r>
          </a:p>
          <a:p>
            <a:pPr>
              <a:spcAft>
                <a:spcPts val="1200"/>
              </a:spcAft>
            </a:pPr>
            <a:r>
              <a:rPr sz="2200">
                <a:solidFill>
                  <a:srgbClr val="1F2937"/>
                </a:solidFill>
                <a:latin typeface="Calibri"/>
              </a:rPr>
              <a:t>▸  Ko‘pincha oqibat shaxsning tirikligida aniqlanmagan a’zolarining individual xususiyatlari tufayli yuz beradi.</a:t>
            </a:r>
          </a:p>
          <a:p>
            <a:pPr>
              <a:spcAft>
                <a:spcPts val="1200"/>
              </a:spcAft>
            </a:pPr>
            <a:r>
              <a:rPr sz="2200">
                <a:solidFill>
                  <a:srgbClr val="1F2937"/>
                </a:solidFill>
                <a:latin typeface="Calibri"/>
              </a:rPr>
              <a:t>▸  Baxtsiz hodisa tibbiy xodimning javobgarligini keltirib chiqarmaydi, lekin muassasada albatta o‘rganilib, tahlil etilishi lozim.</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73, 74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Baxtsiz hodisa holatlari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Bunday holatlarda bemor sog‘lig‘iga zarar yoki o‘lim kutilmagan, tasodifiy sharoit natijasida vujudga keladi.</a:t>
            </a:r>
          </a:p>
          <a:p>
            <a:pPr>
              <a:spcAft>
                <a:spcPts val="800"/>
              </a:spcAft>
            </a:pPr>
            <a:r>
              <a:rPr sz="1800">
                <a:solidFill>
                  <a:srgbClr val="1F2937"/>
                </a:solidFill>
                <a:latin typeface="Calibri"/>
              </a:rPr>
              <a:t>▸  Sabablar odatda tirikligida aniqlanmagan individual xususiyatlarga bog‘liq bo‘ladi.</a:t>
            </a:r>
          </a:p>
          <a:p>
            <a:pPr>
              <a:spcAft>
                <a:spcPts val="800"/>
              </a:spcAft>
            </a:pPr>
            <a:r>
              <a:rPr sz="1800">
                <a:solidFill>
                  <a:srgbClr val="1F2937"/>
                </a:solidFill>
                <a:latin typeface="Calibri"/>
              </a:rPr>
              <a:t>▸  Diqqat: ro‘yxatdagi holatlar vrach xatosi emas, baxtsiz hodisa sifatida tasniflanadi.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Baxtsiz hodisa holatlari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Dori sezgirligi</a:t>
            </a:r>
          </a:p>
          <a:p>
            <a:pPr algn="l">
              <a:spcAft>
                <a:spcPts val="0"/>
              </a:spcAft>
            </a:pPr>
            <a:r>
              <a:rPr sz="1200" b="0">
                <a:solidFill>
                  <a:srgbClr val="1F2937"/>
                </a:solidFill>
                <a:latin typeface="Calibri"/>
              </a:rPr>
              <a:t>Idiosinkraziya; yuqori sezgirlik</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Qon tomir</a:t>
            </a:r>
          </a:p>
          <a:p>
            <a:pPr algn="l">
              <a:spcAft>
                <a:spcPts val="0"/>
              </a:spcAft>
            </a:pPr>
            <a:r>
              <a:rPr sz="1200" b="0">
                <a:solidFill>
                  <a:srgbClr val="1F2937"/>
                </a:solidFill>
                <a:latin typeface="Calibri"/>
              </a:rPr>
              <a:t>Muolajada anevrizma yorilishi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Refleks</a:t>
            </a:r>
          </a:p>
          <a:p>
            <a:pPr algn="l">
              <a:spcAft>
                <a:spcPts val="0"/>
              </a:spcAft>
            </a:pPr>
            <a:r>
              <a:rPr sz="1200" b="0">
                <a:solidFill>
                  <a:srgbClr val="1F2937"/>
                </a:solidFill>
                <a:latin typeface="Calibri"/>
              </a:rPr>
              <a:t>Tekshiruvda yurak reflektor to‘xtashi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Ruhiy shok</a:t>
            </a:r>
          </a:p>
          <a:p>
            <a:pPr algn="l">
              <a:spcAft>
                <a:spcPts val="0"/>
              </a:spcAft>
            </a:pPr>
            <a:r>
              <a:rPr sz="1200" b="0">
                <a:solidFill>
                  <a:srgbClr val="1F2937"/>
                </a:solidFill>
                <a:latin typeface="Calibri"/>
              </a:rPr>
              <a:t>Operatsiya arafasida to‘satdan o‘lim</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Tirikligida aniqlanmagan xususiyatlar</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74, 73, 73-74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Vrach xatosi va baxtsiz hodisa: solishtirish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Vrach xatosi – vrachning o‘z fikr va harakatlaridagi vijdonan adashishi, beparvolik elementlarisiz.</a:t>
            </a:r>
          </a:p>
          <a:p>
            <a:pPr>
              <a:spcAft>
                <a:spcPts val="800"/>
              </a:spcAft>
            </a:pPr>
            <a:r>
              <a:rPr sz="1800">
                <a:solidFill>
                  <a:srgbClr val="1F2937"/>
                </a:solidFill>
                <a:latin typeface="Calibri"/>
              </a:rPr>
              <a:t>▸  Baxtsiz hodisa vrach harakati yoki harakatsizligiga bog‘liq emas, shu sababli javobgarlik yuzaga kelmaydi.</a:t>
            </a:r>
          </a:p>
          <a:p>
            <a:pPr>
              <a:spcAft>
                <a:spcPts val="800"/>
              </a:spcAft>
            </a:pPr>
            <a:r>
              <a:rPr sz="1800">
                <a:solidFill>
                  <a:srgbClr val="1F2937"/>
                </a:solidFill>
                <a:latin typeface="Calibri"/>
              </a:rPr>
              <a:t>▸  Ikkalasi ham huquqiy tushuncha emas; baribir muassasada o‘rganilib, tahlil etilishi kerak.</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Vrach xatosi</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Vrach adashadi (unga bog‘liq)</a:t>
            </a:r>
          </a:p>
          <a:p>
            <a:pPr algn="l">
              <a:spcAft>
                <a:spcPts val="700"/>
              </a:spcAft>
            </a:pPr>
            <a:r>
              <a:rPr sz="1500" b="1">
                <a:solidFill>
                  <a:srgbClr val="C9A227"/>
                </a:solidFill>
                <a:latin typeface="Calibri"/>
              </a:rPr>
              <a:t>●  </a:t>
            </a:r>
            <a:r>
              <a:rPr sz="1500" b="0">
                <a:solidFill>
                  <a:srgbClr val="1F2937"/>
                </a:solidFill>
                <a:latin typeface="Calibri"/>
              </a:rPr>
              <a:t>Sabab: fan, kasallik kechishi, tajriba</a:t>
            </a:r>
          </a:p>
          <a:p>
            <a:pPr algn="l">
              <a:spcAft>
                <a:spcPts val="700"/>
              </a:spcAft>
            </a:pPr>
            <a:r>
              <a:rPr sz="1500" b="1">
                <a:solidFill>
                  <a:srgbClr val="C9A227"/>
                </a:solidFill>
                <a:latin typeface="Calibri"/>
              </a:rPr>
              <a:t>●  </a:t>
            </a:r>
            <a:r>
              <a:rPr sz="1500" b="0">
                <a:solidFill>
                  <a:srgbClr val="1F2937"/>
                </a:solidFill>
                <a:latin typeface="Calibri"/>
              </a:rPr>
              <a:t>Huquqiy tushuncha emas</a:t>
            </a:r>
          </a:p>
          <a:p>
            <a:pPr algn="l">
              <a:spcAft>
                <a:spcPts val="700"/>
              </a:spcAft>
            </a:pPr>
            <a:r>
              <a:rPr sz="1500" b="1">
                <a:solidFill>
                  <a:srgbClr val="C9A227"/>
                </a:solidFill>
                <a:latin typeface="Calibri"/>
              </a:rPr>
              <a:t>●  </a:t>
            </a:r>
            <a:r>
              <a:rPr sz="1500" b="0">
                <a:solidFill>
                  <a:srgbClr val="1F2937"/>
                </a:solidFill>
                <a:latin typeface="Calibri"/>
              </a:rPr>
              <a:t>Odatda javobgarlik keltirmaydi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Baxtsiz hodisa</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Vrach harakatiga bog‘liq emas</a:t>
            </a:r>
          </a:p>
          <a:p>
            <a:pPr algn="l">
              <a:spcAft>
                <a:spcPts val="700"/>
              </a:spcAft>
            </a:pPr>
            <a:r>
              <a:rPr sz="1500" b="1">
                <a:solidFill>
                  <a:srgbClr val="C9A227"/>
                </a:solidFill>
                <a:latin typeface="Calibri"/>
              </a:rPr>
              <a:t>●  </a:t>
            </a:r>
            <a:r>
              <a:rPr sz="1500" b="0">
                <a:solidFill>
                  <a:srgbClr val="1F2937"/>
                </a:solidFill>
                <a:latin typeface="Calibri"/>
              </a:rPr>
              <a:t>Sabab: tasodifiy holatlar</a:t>
            </a:r>
          </a:p>
          <a:p>
            <a:pPr algn="l">
              <a:spcAft>
                <a:spcPts val="700"/>
              </a:spcAft>
            </a:pPr>
            <a:r>
              <a:rPr sz="1500" b="1">
                <a:solidFill>
                  <a:srgbClr val="C9A227"/>
                </a:solidFill>
                <a:latin typeface="Calibri"/>
              </a:rPr>
              <a:t>●  </a:t>
            </a:r>
            <a:r>
              <a:rPr sz="1500" b="0">
                <a:solidFill>
                  <a:srgbClr val="1F2937"/>
                </a:solidFill>
                <a:latin typeface="Calibri"/>
              </a:rPr>
              <a:t>Huquqiy tushuncha emas</a:t>
            </a:r>
          </a:p>
          <a:p>
            <a:pPr algn="l">
              <a:spcAft>
                <a:spcPts val="700"/>
              </a:spcAft>
            </a:pPr>
            <a:r>
              <a:rPr sz="1500" b="1">
                <a:solidFill>
                  <a:srgbClr val="C9A227"/>
                </a:solidFill>
                <a:latin typeface="Calibri"/>
              </a:rPr>
              <a:t>●  </a:t>
            </a:r>
            <a:r>
              <a:rPr sz="1500" b="0">
                <a:solidFill>
                  <a:srgbClr val="1F2937"/>
                </a:solidFill>
                <a:latin typeface="Calibri"/>
              </a:rPr>
              <a:t>Tibbiy xodim javobgar emas</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Farqlash mezonlari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Харин Г.М. (Kharin G.M.)., Краткий курс судебной медицины: учебное пособие, betlar: 218; G‘iyosov Z.A., Vrach faoliyatining huquqiy asoslari: darslik, betlar: 74, 68, 74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angiografiyada yurak to‘xtashi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angiografiya o‘tkazish jarayonida bemorning yuragi reflektor tarzda to‘xtadi.</a:t>
            </a:r>
          </a:p>
          <a:p>
            <a:pPr>
              <a:spcAft>
                <a:spcPts val="1200"/>
              </a:spcAft>
            </a:pPr>
            <a:r>
              <a:rPr sz="2200">
                <a:solidFill>
                  <a:srgbClr val="1F2937"/>
                </a:solidFill>
                <a:latin typeface="Calibri"/>
              </a:rPr>
              <a:t>▸  Manbaga ko‘ra bu baxtsiz hodisa: oqibat kutilmagan, uni oldindan bilib bo‘lmaydigan holat yoki sharoit keltirib chiqargan.</a:t>
            </a:r>
          </a:p>
          <a:p>
            <a:pPr>
              <a:spcAft>
                <a:spcPts val="1200"/>
              </a:spcAft>
            </a:pPr>
            <a:r>
              <a:rPr sz="2200">
                <a:solidFill>
                  <a:srgbClr val="1F2937"/>
                </a:solidFill>
                <a:latin typeface="Calibri"/>
              </a:rPr>
              <a:t>▸  Baxtsiz hodisa vrachning harakati yoki harakatsizligiga bog‘liq emas, shu sababli tibbiy xodimning javobgarligi yuzaga kelmaydi.</a:t>
            </a:r>
          </a:p>
          <a:p>
            <a:pPr>
              <a:spcAft>
                <a:spcPts val="1200"/>
              </a:spcAft>
            </a:pPr>
            <a:r>
              <a:rPr sz="2200">
                <a:solidFill>
                  <a:srgbClr val="1F2937"/>
                </a:solidFill>
                <a:latin typeface="Calibri"/>
              </a:rPr>
              <a:t>▸  Javobgarlik bo‘lmasa ham, hodisa muassasada albatta o‘rganilib tahlil etilishi lozim. Savol: bu tahlildan maqsad nima?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74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Yatrogeniya: ta‘rif va tarix</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Atama grekcha: iatros — vrach, gennao — yuzaga keltiraman. Uni 1925 yilda nemis psixiatri O. Bumke taklif etgan.</a:t>
            </a:r>
          </a:p>
          <a:p>
            <a:pPr>
              <a:spcAft>
                <a:spcPts val="1200"/>
              </a:spcAft>
            </a:pPr>
            <a:r>
              <a:rPr sz="2200">
                <a:solidFill>
                  <a:srgbClr val="1F2937"/>
                </a:solidFill>
                <a:latin typeface="Calibri"/>
              </a:rPr>
              <a:t>▸  Uzoq vaqt yatrogeniya deganda vrach so‘zi yoki harakatining bemor ruhiyatiga noxush ta’siridan kelib chiqqan kasalliklar tushunilgan.</a:t>
            </a:r>
          </a:p>
          <a:p>
            <a:pPr>
              <a:spcAft>
                <a:spcPts val="1200"/>
              </a:spcAft>
            </a:pPr>
            <a:r>
              <a:rPr sz="2200">
                <a:solidFill>
                  <a:srgbClr val="1F2937"/>
                </a:solidFill>
                <a:latin typeface="Calibri"/>
              </a:rPr>
              <a:t>▸  I. A. Kassirskiy (1970) tushunchani kengaytirdi: muolajalarni noto‘g‘ri bajarish va dori-darmonlarni noto‘g‘ri qo‘llash ham yatrogeniyaga kiradi.</a:t>
            </a:r>
          </a:p>
          <a:p>
            <a:pPr>
              <a:spcAft>
                <a:spcPts val="1200"/>
              </a:spcAft>
            </a:pPr>
            <a:r>
              <a:rPr sz="2200">
                <a:solidFill>
                  <a:srgbClr val="1F2937"/>
                </a:solidFill>
                <a:latin typeface="Calibri"/>
              </a:rPr>
              <a:t>▸  Hozirgi talqinda yatrogeniya — tibbiy omillar ta’sirida paydo bo‘lgan yangi patologik holat. Diqqat: u faqat so‘z ta’siri emas.</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74, 75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Sororigeniya va yatrogeniya ta‘riflari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Yatrogeniya o‘rta tibbiy xodim tomonidan ham bo‘lishi mumkin: I. Xardi (1972) hamshira harakati oqibati uchun «sororigeniya» atamasini taklif etdi.</a:t>
            </a:r>
          </a:p>
          <a:p>
            <a:pPr>
              <a:spcAft>
                <a:spcPts val="1200"/>
              </a:spcAft>
            </a:pPr>
            <a:r>
              <a:rPr sz="2200">
                <a:solidFill>
                  <a:srgbClr val="1F2937"/>
                </a:solidFill>
                <a:latin typeface="Calibri"/>
              </a:rPr>
              <a:t>▸  Sergeev va Erofeev (1998): yatrogeniya — diagnostika, davolash, profilaktika yoki reabilitatsiya bilan bog‘liq holda salomatlikka zarar etkazish.</a:t>
            </a:r>
          </a:p>
          <a:p>
            <a:pPr>
              <a:spcAft>
                <a:spcPts val="1200"/>
              </a:spcAft>
            </a:pPr>
            <a:r>
              <a:rPr sz="2200">
                <a:solidFill>
                  <a:srgbClr val="1F2937"/>
                </a:solidFill>
                <a:latin typeface="Calibri"/>
              </a:rPr>
              <a:t>▸  Shaposhnikov (1998): buyruq berish va ijro etish vakolatidagi xodimlar so‘zi va harakatining nojo‘ya ta’siri ruhiy va jismoniy o‘zgarish beradi.</a:t>
            </a:r>
          </a:p>
          <a:p>
            <a:pPr>
              <a:spcAft>
                <a:spcPts val="1200"/>
              </a:spcAft>
            </a:pPr>
            <a:r>
              <a:rPr sz="2200">
                <a:solidFill>
                  <a:srgbClr val="1F2937"/>
                </a:solidFill>
                <a:latin typeface="Calibri"/>
              </a:rPr>
              <a:t>▸  Eslab qoling: iatros — vrach, soror — hamshira. Ikkala holatda ham bemorga noxush ta’sir tibbiy xodim faoliyatidan kelib chiqadi.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74, 75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Yatrogeniya ta’riflarining qiyosi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Sergeev va Erofeev (1998): diagnostika, davolash, profilaktika yoki reabilitatsiya bilan bog‘liq salomatlikka zarar.</a:t>
            </a:r>
          </a:p>
          <a:p>
            <a:pPr>
              <a:spcAft>
                <a:spcPts val="800"/>
              </a:spcAft>
            </a:pPr>
            <a:r>
              <a:rPr sz="1800">
                <a:solidFill>
                  <a:srgbClr val="1F2937"/>
                </a:solidFill>
                <a:latin typeface="Calibri"/>
              </a:rPr>
              <a:t>▸  Shaposhnikov (1998): buyruq berish va ijro etish vakolatidagi xodimlar so‘zi va harakatining nojo‘ya ta’siri.</a:t>
            </a:r>
          </a:p>
          <a:p>
            <a:pPr>
              <a:spcAft>
                <a:spcPts val="800"/>
              </a:spcAft>
            </a:pPr>
            <a:r>
              <a:rPr sz="1800">
                <a:solidFill>
                  <a:srgbClr val="1F2937"/>
                </a:solidFill>
                <a:latin typeface="Calibri"/>
              </a:rPr>
              <a:t>▸  Hozirgi umum qabul qilingan talqin: tibbiy omillar ta’sirida yuzaga kelgan yangi patologik holat.</a:t>
            </a:r>
          </a:p>
          <a:p>
            <a:pPr>
              <a:spcAft>
                <a:spcPts val="800"/>
              </a:spcAft>
            </a:pPr>
            <a:r>
              <a:rPr sz="1800">
                <a:solidFill>
                  <a:srgbClr val="1F2937"/>
                </a:solidFill>
                <a:latin typeface="Calibri"/>
              </a:rPr>
              <a:t>▸  Ayrim mualliflar yatrogeniyani vrach xatosining bir ko‘rinishi deb hisoblaydi (V. I. Akopov, 2000).</a:t>
            </a:r>
          </a:p>
        </p:txBody>
      </p:sp>
      <p:sp>
        <p:nvSpPr>
          <p:cNvPr id="9" name="Rounded Rectangle 8"/>
          <p:cNvSpPr/>
          <p:nvPr/>
        </p:nvSpPr>
        <p:spPr>
          <a:xfrm>
            <a:off x="5440680"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500" b="1">
                <a:solidFill>
                  <a:srgbClr val="FFFFFF"/>
                </a:solidFill>
                <a:latin typeface="Calibri"/>
              </a:rPr>
              <a:t>Sergeev, Erofeev</a:t>
            </a:r>
          </a:p>
        </p:txBody>
      </p:sp>
      <p:sp>
        <p:nvSpPr>
          <p:cNvPr id="10" name="Rectangle 9"/>
          <p:cNvSpPr/>
          <p:nvPr/>
        </p:nvSpPr>
        <p:spPr>
          <a:xfrm>
            <a:off x="5440680"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Muolajalar bilan bog‘liq zarar</a:t>
            </a:r>
          </a:p>
          <a:p>
            <a:pPr algn="l">
              <a:spcAft>
                <a:spcPts val="700"/>
              </a:spcAft>
            </a:pPr>
            <a:r>
              <a:rPr sz="1500" b="1">
                <a:solidFill>
                  <a:srgbClr val="C9A227"/>
                </a:solidFill>
                <a:latin typeface="Calibri"/>
              </a:rPr>
              <a:t>●  </a:t>
            </a:r>
            <a:r>
              <a:rPr sz="1500" b="0">
                <a:solidFill>
                  <a:srgbClr val="1F2937"/>
                </a:solidFill>
                <a:latin typeface="Calibri"/>
              </a:rPr>
              <a:t>Bevosita yoki bilvosita</a:t>
            </a:r>
          </a:p>
        </p:txBody>
      </p:sp>
      <p:sp>
        <p:nvSpPr>
          <p:cNvPr id="11" name="Rounded Rectangle 10"/>
          <p:cNvSpPr/>
          <p:nvPr/>
        </p:nvSpPr>
        <p:spPr>
          <a:xfrm>
            <a:off x="7523378" y="1417320"/>
            <a:ext cx="1945538"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Shaposhnikov</a:t>
            </a:r>
          </a:p>
        </p:txBody>
      </p:sp>
      <p:sp>
        <p:nvSpPr>
          <p:cNvPr id="12" name="Rectangle 11"/>
          <p:cNvSpPr/>
          <p:nvPr/>
        </p:nvSpPr>
        <p:spPr>
          <a:xfrm>
            <a:off x="7523378"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Xodim so‘zi va harakati</a:t>
            </a:r>
          </a:p>
          <a:p>
            <a:pPr algn="l">
              <a:spcAft>
                <a:spcPts val="700"/>
              </a:spcAft>
            </a:pPr>
            <a:r>
              <a:rPr sz="1500" b="1">
                <a:solidFill>
                  <a:srgbClr val="C9A227"/>
                </a:solidFill>
                <a:latin typeface="Calibri"/>
              </a:rPr>
              <a:t>●  </a:t>
            </a:r>
            <a:r>
              <a:rPr sz="1500" b="0">
                <a:solidFill>
                  <a:srgbClr val="1F2937"/>
                </a:solidFill>
                <a:latin typeface="Calibri"/>
              </a:rPr>
              <a:t>Ruhiy va jismoniy o‘zgarish</a:t>
            </a:r>
          </a:p>
        </p:txBody>
      </p:sp>
      <p:sp>
        <p:nvSpPr>
          <p:cNvPr id="13" name="Rounded Rectangle 12"/>
          <p:cNvSpPr/>
          <p:nvPr/>
        </p:nvSpPr>
        <p:spPr>
          <a:xfrm>
            <a:off x="9606076" y="1417320"/>
            <a:ext cx="1945538"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Hozirgi talqin</a:t>
            </a:r>
          </a:p>
        </p:txBody>
      </p:sp>
      <p:sp>
        <p:nvSpPr>
          <p:cNvPr id="14" name="Rectangle 13"/>
          <p:cNvSpPr/>
          <p:nvPr/>
        </p:nvSpPr>
        <p:spPr>
          <a:xfrm>
            <a:off x="9606076" y="2020824"/>
            <a:ext cx="1945538"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Tibbiy omil ta’sirida</a:t>
            </a:r>
          </a:p>
          <a:p>
            <a:pPr algn="l">
              <a:spcAft>
                <a:spcPts val="700"/>
              </a:spcAft>
            </a:pPr>
            <a:r>
              <a:rPr sz="1500" b="1">
                <a:solidFill>
                  <a:srgbClr val="C9A227"/>
                </a:solidFill>
                <a:latin typeface="Calibri"/>
              </a:rPr>
              <a:t>●  </a:t>
            </a:r>
            <a:r>
              <a:rPr sz="1500" b="0">
                <a:solidFill>
                  <a:srgbClr val="1F2937"/>
                </a:solidFill>
                <a:latin typeface="Calibri"/>
              </a:rPr>
              <a:t>Yangi patologik holat</a:t>
            </a:r>
          </a:p>
        </p:txBody>
      </p:sp>
      <p:sp>
        <p:nvSpPr>
          <p:cNvPr id="15" name="TextBox 14"/>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Uch ta’rif</a:t>
            </a:r>
          </a:p>
        </p:txBody>
      </p:sp>
      <p:sp>
        <p:nvSpPr>
          <p:cNvPr id="16" name="TextBox 15"/>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75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Yatrogeniya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Yatrogeniya — tibbiy omillar ta’sirida paydo bo‘lgan yangi patologik holat.</a:t>
            </a:r>
          </a:p>
          <a:p>
            <a:pPr>
              <a:spcAft>
                <a:spcPts val="800"/>
              </a:spcAft>
            </a:pPr>
            <a:r>
              <a:rPr sz="1800">
                <a:solidFill>
                  <a:srgbClr val="1F2937"/>
                </a:solidFill>
                <a:latin typeface="Calibri"/>
              </a:rPr>
              <a:t>▸  Tibbiy omilga diagnostika, davolash, profilaktika, reabilitatsiya va muassasa sharoiti kiradi.</a:t>
            </a:r>
          </a:p>
          <a:p>
            <a:pPr>
              <a:spcAft>
                <a:spcPts val="800"/>
              </a:spcAft>
            </a:pPr>
            <a:r>
              <a:rPr sz="1800">
                <a:solidFill>
                  <a:srgbClr val="1F2937"/>
                </a:solidFill>
                <a:latin typeface="Calibri"/>
              </a:rPr>
              <a:t>▸  Davolash turi ichida davolash, jarrohlik va jismoniy ko‘rinishlar farqlanadi.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Yatrogeniya</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790395"/>
            <a:ext cx="0" cy="3277209"/>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790395"/>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746150"/>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Diagnostik</a:t>
            </a:r>
          </a:p>
        </p:txBody>
      </p:sp>
      <p:cxnSp>
        <p:nvCxnSpPr>
          <p:cNvPr id="15" name="Connector 14"/>
          <p:cNvCxnSpPr/>
          <p:nvPr/>
        </p:nvCxnSpPr>
        <p:spPr>
          <a:xfrm>
            <a:off x="7612380" y="2609697"/>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236622"/>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236622"/>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Davolash</a:t>
            </a:r>
          </a:p>
          <a:p>
            <a:pPr algn="l">
              <a:spcAft>
                <a:spcPts val="0"/>
              </a:spcAft>
            </a:pPr>
            <a:r>
              <a:rPr sz="1200" b="0">
                <a:solidFill>
                  <a:srgbClr val="1F2937"/>
                </a:solidFill>
                <a:latin typeface="Calibri"/>
              </a:rPr>
              <a:t>Davolash  ·  Jarrohlik  ·  Jismoniy</a:t>
            </a:r>
          </a:p>
        </p:txBody>
      </p:sp>
      <p:cxnSp>
        <p:nvCxnSpPr>
          <p:cNvPr id="18" name="Connector 17"/>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055924"/>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055924"/>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Ruhiy-emotsional</a:t>
            </a:r>
          </a:p>
          <a:p>
            <a:pPr algn="l">
              <a:spcAft>
                <a:spcPts val="0"/>
              </a:spcAft>
            </a:pPr>
            <a:r>
              <a:rPr sz="1200" b="0">
                <a:solidFill>
                  <a:srgbClr val="1F2937"/>
                </a:solidFill>
                <a:latin typeface="Calibri"/>
              </a:rPr>
              <a:t>Informatsion</a:t>
            </a:r>
          </a:p>
        </p:txBody>
      </p:sp>
      <p:cxnSp>
        <p:nvCxnSpPr>
          <p:cNvPr id="21" name="Connector 20"/>
          <p:cNvCxnSpPr/>
          <p:nvPr/>
        </p:nvCxnSpPr>
        <p:spPr>
          <a:xfrm>
            <a:off x="7612380" y="424830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3875227"/>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3875227"/>
            <a:ext cx="3779215" cy="746150"/>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Profilaktik</a:t>
            </a:r>
          </a:p>
        </p:txBody>
      </p:sp>
      <p:cxnSp>
        <p:nvCxnSpPr>
          <p:cNvPr id="24" name="Connector 23"/>
          <p:cNvCxnSpPr/>
          <p:nvPr/>
        </p:nvCxnSpPr>
        <p:spPr>
          <a:xfrm>
            <a:off x="7612380" y="50676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0" y="4694529"/>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4694529"/>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Davolamaslik</a:t>
            </a:r>
          </a:p>
          <a:p>
            <a:pPr algn="l">
              <a:spcAft>
                <a:spcPts val="0"/>
              </a:spcAft>
            </a:pPr>
            <a:r>
              <a:rPr sz="1200" b="0">
                <a:solidFill>
                  <a:srgbClr val="1F2937"/>
                </a:solidFill>
                <a:latin typeface="Calibri"/>
              </a:rPr>
              <a:t>Tibbiy yordamga kech murojaat</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Yatrogeniya turlari (G‘iyosov)</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75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Yatrogeniya doirasi va tasnif</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Barcha noxush oqibatlarni yatrogeniya ko‘rinishi sifatida talqin etish mumkin.</a:t>
            </a:r>
          </a:p>
          <a:p>
            <a:pPr>
              <a:spcAft>
                <a:spcPts val="800"/>
              </a:spcAft>
            </a:pPr>
            <a:r>
              <a:rPr sz="1800">
                <a:solidFill>
                  <a:srgbClr val="1F2937"/>
                </a:solidFill>
                <a:latin typeface="Calibri"/>
              </a:rPr>
              <a:t>▸  Diqqat: yatrogeniya ≠ vrach xatosi — xato yatrogeniyaning faqat bir ko‘rinishi.</a:t>
            </a:r>
          </a:p>
          <a:p>
            <a:pPr>
              <a:spcAft>
                <a:spcPts val="800"/>
              </a:spcAft>
            </a:pPr>
            <a:r>
              <a:rPr sz="1800">
                <a:solidFill>
                  <a:srgbClr val="1F2937"/>
                </a:solidFill>
                <a:latin typeface="Calibri"/>
              </a:rPr>
              <a:t>▸  Asosiy kasallik muvaffaqiyatli davolansa ham, boshqa kasallik — «ikkinchi kasallik» — paydo bo‘lishi mumkin.</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566807"/>
                <a:gridCol w="3721167"/>
              </a:tblGrid>
              <a:tr h="614476">
                <a:tc>
                  <a:txBody>
                    <a:bodyPr/>
                    <a:lstStyle/>
                    <a:p>
                      <a:r>
                        <a:rPr sz="1800" b="1">
                          <a:solidFill>
                            <a:srgbClr val="FFFFFF"/>
                          </a:solidFill>
                        </a:rPr>
                        <a:t>Ko‘rinish</a:t>
                      </a:r>
                    </a:p>
                  </a:txBody>
                  <a:tcPr marL="73152" marR="73152" marT="36576" marB="36576">
                    <a:solidFill>
                      <a:srgbClr val="0B1F3A"/>
                    </a:solidFill>
                  </a:tcPr>
                </a:tc>
                <a:tc>
                  <a:txBody>
                    <a:bodyPr/>
                    <a:lstStyle/>
                    <a:p>
                      <a:r>
                        <a:rPr sz="1800" b="1">
                          <a:solidFill>
                            <a:srgbClr val="FFFFFF"/>
                          </a:solidFill>
                        </a:rPr>
                        <a:t>Asosiy belgi</a:t>
                      </a:r>
                    </a:p>
                  </a:txBody>
                  <a:tcPr marL="73152" marR="73152" marT="36576" marB="36576">
                    <a:solidFill>
                      <a:srgbClr val="0B1F3A"/>
                    </a:solidFill>
                  </a:tcPr>
                </a:tc>
              </a:tr>
              <a:tr h="614476">
                <a:tc>
                  <a:txBody>
                    <a:bodyPr/>
                    <a:lstStyle/>
                    <a:p>
                      <a:r>
                        <a:rPr sz="1700" b="0">
                          <a:solidFill>
                            <a:srgbClr val="1F2937"/>
                          </a:solidFill>
                        </a:rPr>
                        <a:t>Jinoyat</a:t>
                      </a:r>
                    </a:p>
                  </a:txBody>
                  <a:tcPr marL="73152" marR="73152" marT="36576" marB="36576">
                    <a:solidFill>
                      <a:srgbClr val="E8EEF6"/>
                    </a:solidFill>
                  </a:tcPr>
                </a:tc>
                <a:tc>
                  <a:txBody>
                    <a:bodyPr/>
                    <a:lstStyle/>
                    <a:p>
                      <a:r>
                        <a:rPr sz="1700" b="0">
                          <a:solidFill>
                            <a:srgbClr val="1F2937"/>
                          </a:solidFill>
                        </a:rPr>
                        <a:t>Ijtimoiy xavfli g‘ayriqonuniy harakat</a:t>
                      </a:r>
                    </a:p>
                  </a:txBody>
                  <a:tcPr marL="73152" marR="73152" marT="36576" marB="36576">
                    <a:solidFill>
                      <a:srgbClr val="E8EEF6"/>
                    </a:solidFill>
                  </a:tcPr>
                </a:tc>
              </a:tr>
              <a:tr h="614476">
                <a:tc>
                  <a:txBody>
                    <a:bodyPr/>
                    <a:lstStyle/>
                    <a:p>
                      <a:r>
                        <a:rPr sz="1700" b="0">
                          <a:solidFill>
                            <a:srgbClr val="1F2937"/>
                          </a:solidFill>
                        </a:rPr>
                        <a:t>Qilmish</a:t>
                      </a:r>
                    </a:p>
                  </a:txBody>
                  <a:tcPr marL="73152" marR="73152" marT="36576" marB="36576">
                    <a:solidFill>
                      <a:srgbClr val="FFFFFF"/>
                    </a:solidFill>
                  </a:tcPr>
                </a:tc>
                <a:tc>
                  <a:txBody>
                    <a:bodyPr/>
                    <a:lstStyle/>
                    <a:p>
                      <a:r>
                        <a:rPr sz="1700" b="0">
                          <a:solidFill>
                            <a:srgbClr val="1F2937"/>
                          </a:solidFill>
                        </a:rPr>
                        <a:t>Ijtimoiy xavfi yo‘q g‘ayriqonuniylik</a:t>
                      </a:r>
                    </a:p>
                  </a:txBody>
                  <a:tcPr marL="73152" marR="73152" marT="36576" marB="36576">
                    <a:solidFill>
                      <a:srgbClr val="FFFFFF"/>
                    </a:solidFill>
                  </a:tcPr>
                </a:tc>
              </a:tr>
              <a:tr h="614476">
                <a:tc>
                  <a:txBody>
                    <a:bodyPr/>
                    <a:lstStyle/>
                    <a:p>
                      <a:r>
                        <a:rPr sz="1700" b="0">
                          <a:solidFill>
                            <a:srgbClr val="1F2937"/>
                          </a:solidFill>
                        </a:rPr>
                        <a:t>Vrach xatosi</a:t>
                      </a:r>
                    </a:p>
                  </a:txBody>
                  <a:tcPr marL="73152" marR="73152" marT="36576" marB="36576">
                    <a:solidFill>
                      <a:srgbClr val="E8EEF6"/>
                    </a:solidFill>
                  </a:tcPr>
                </a:tc>
                <a:tc>
                  <a:txBody>
                    <a:bodyPr/>
                    <a:lstStyle/>
                    <a:p>
                      <a:r>
                        <a:rPr sz="1700" b="0">
                          <a:solidFill>
                            <a:srgbClr val="1F2937"/>
                          </a:solidFill>
                        </a:rPr>
                        <a:t>Vijdonan adashish, javobgarliksiz</a:t>
                      </a:r>
                    </a:p>
                  </a:txBody>
                  <a:tcPr marL="73152" marR="73152" marT="36576" marB="36576">
                    <a:solidFill>
                      <a:srgbClr val="E8EEF6"/>
                    </a:solidFill>
                  </a:tcPr>
                </a:tc>
              </a:tr>
              <a:tr h="614476">
                <a:tc>
                  <a:txBody>
                    <a:bodyPr/>
                    <a:lstStyle/>
                    <a:p>
                      <a:r>
                        <a:rPr sz="1700" b="0">
                          <a:solidFill>
                            <a:srgbClr val="1F2937"/>
                          </a:solidFill>
                        </a:rPr>
                        <a:t>Baxtsiz hodisa</a:t>
                      </a:r>
                    </a:p>
                  </a:txBody>
                  <a:tcPr marL="73152" marR="73152" marT="36576" marB="36576">
                    <a:solidFill>
                      <a:srgbClr val="FFFFFF"/>
                    </a:solidFill>
                  </a:tcPr>
                </a:tc>
                <a:tc>
                  <a:txBody>
                    <a:bodyPr/>
                    <a:lstStyle/>
                    <a:p>
                      <a:r>
                        <a:rPr sz="1700" b="0">
                          <a:solidFill>
                            <a:srgbClr val="1F2937"/>
                          </a:solidFill>
                        </a:rPr>
                        <a:t>Vrachga bog‘liq emas, javobgarlik yo‘q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Yatrogeniya ko‘rinishlari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75-76, 75; Харин Г.М. (Kharin G.M.)., Краткий курс судебной медицины: учебное пособие, betlar: 219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 va tezkor savol 3</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Voqea tahlili 4: bemor shikoyatini e’tiborsiz qoldirib, tibbiy yordamga kechikib murojaat qildi, holati og‘irlashdi.</a:t>
            </a:r>
          </a:p>
          <a:p>
            <a:pPr>
              <a:spcAft>
                <a:spcPts val="1200"/>
              </a:spcAft>
            </a:pPr>
            <a:r>
              <a:rPr sz="2200">
                <a:solidFill>
                  <a:srgbClr val="1F2937"/>
                </a:solidFill>
                <a:latin typeface="Calibri"/>
              </a:rPr>
              <a:t>▸  Savol: bu yatrogeniyaning qaysi turi? Javob: davolamaslik — manbada kechikib murojaat shu turga kiritilgan.</a:t>
            </a:r>
          </a:p>
          <a:p>
            <a:pPr>
              <a:spcAft>
                <a:spcPts val="1200"/>
              </a:spcAft>
            </a:pPr>
            <a:r>
              <a:rPr sz="2200">
                <a:solidFill>
                  <a:srgbClr val="1F2937"/>
                </a:solidFill>
                <a:latin typeface="Calibri"/>
              </a:rPr>
              <a:t>▸  Tezkor savol 3: yatrogeniya turlarini sanab bering.</a:t>
            </a:r>
          </a:p>
          <a:p>
            <a:pPr>
              <a:spcAft>
                <a:spcPts val="1200"/>
              </a:spcAft>
            </a:pPr>
            <a:r>
              <a:rPr sz="2200">
                <a:solidFill>
                  <a:srgbClr val="1F2937"/>
                </a:solidFill>
                <a:latin typeface="Calibri"/>
              </a:rPr>
              <a:t>▸  Javob: diagnostik, davolash, ruhiy-emotsional va informatsion, profilaktik, davolamaslik va boshqalar.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75, 77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Kasbiy huquqbuzarliklar tasnifi (Kharin)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Kharin kasbiy majburiyatlar buzilishini to‘rt guruhga ajratadi.</a:t>
            </a:r>
          </a:p>
          <a:p>
            <a:pPr>
              <a:spcAft>
                <a:spcPts val="800"/>
              </a:spcAft>
            </a:pPr>
            <a:r>
              <a:rPr sz="1800">
                <a:solidFill>
                  <a:srgbClr val="1F2937"/>
                </a:solidFill>
                <a:latin typeface="Calibri"/>
              </a:rPr>
              <a:t>▸  Vrach xatosi — vijdonan adashish; beparvolik va kasbiy johillik elementlari bo‘lmaydi.</a:t>
            </a:r>
          </a:p>
          <a:p>
            <a:pPr>
              <a:spcAft>
                <a:spcPts val="800"/>
              </a:spcAft>
            </a:pPr>
            <a:r>
              <a:rPr sz="1800">
                <a:solidFill>
                  <a:srgbClr val="1F2937"/>
                </a:solidFill>
                <a:latin typeface="Calibri"/>
              </a:rPr>
              <a:t>▸  Vrach xatosi ham, baxtsiz hodisa ham yuridik kategoriya emas.</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2452394"/>
                <a:gridCol w="2835580"/>
              </a:tblGrid>
              <a:tr h="614476">
                <a:tc>
                  <a:txBody>
                    <a:bodyPr/>
                    <a:lstStyle/>
                    <a:p>
                      <a:r>
                        <a:rPr sz="1800" b="1">
                          <a:solidFill>
                            <a:srgbClr val="FFFFFF"/>
                          </a:solidFill>
                        </a:rPr>
                        <a:t>Guruh</a:t>
                      </a:r>
                    </a:p>
                  </a:txBody>
                  <a:tcPr marL="73152" marR="73152" marT="36576" marB="36576">
                    <a:solidFill>
                      <a:srgbClr val="0B1F3A"/>
                    </a:solidFill>
                  </a:tcPr>
                </a:tc>
                <a:tc>
                  <a:txBody>
                    <a:bodyPr/>
                    <a:lstStyle/>
                    <a:p>
                      <a:r>
                        <a:rPr sz="1800" b="1">
                          <a:solidFill>
                            <a:srgbClr val="FFFFFF"/>
                          </a:solidFill>
                        </a:rPr>
                        <a:t>Mohiyati</a:t>
                      </a:r>
                    </a:p>
                  </a:txBody>
                  <a:tcPr marL="73152" marR="73152" marT="36576" marB="36576">
                    <a:solidFill>
                      <a:srgbClr val="0B1F3A"/>
                    </a:solidFill>
                  </a:tcPr>
                </a:tc>
              </a:tr>
              <a:tr h="614476">
                <a:tc>
                  <a:txBody>
                    <a:bodyPr/>
                    <a:lstStyle/>
                    <a:p>
                      <a:r>
                        <a:rPr sz="1700" b="0">
                          <a:solidFill>
                            <a:srgbClr val="1F2937"/>
                          </a:solidFill>
                        </a:rPr>
                        <a:t>Vrach xatosi</a:t>
                      </a:r>
                    </a:p>
                  </a:txBody>
                  <a:tcPr marL="73152" marR="73152" marT="36576" marB="36576">
                    <a:solidFill>
                      <a:srgbClr val="E8EEF6"/>
                    </a:solidFill>
                  </a:tcPr>
                </a:tc>
                <a:tc>
                  <a:txBody>
                    <a:bodyPr/>
                    <a:lstStyle/>
                    <a:p>
                      <a:r>
                        <a:rPr sz="1700" b="0">
                          <a:solidFill>
                            <a:srgbClr val="1F2937"/>
                          </a:solidFill>
                        </a:rPr>
                        <a:t>Vijdonan adashish, ayb belgisi yo‘q</a:t>
                      </a:r>
                    </a:p>
                  </a:txBody>
                  <a:tcPr marL="73152" marR="73152" marT="36576" marB="36576">
                    <a:solidFill>
                      <a:srgbClr val="E8EEF6"/>
                    </a:solidFill>
                  </a:tcPr>
                </a:tc>
              </a:tr>
              <a:tr h="614476">
                <a:tc>
                  <a:txBody>
                    <a:bodyPr/>
                    <a:lstStyle/>
                    <a:p>
                      <a:r>
                        <a:rPr sz="1700" b="0">
                          <a:solidFill>
                            <a:srgbClr val="1F2937"/>
                          </a:solidFill>
                        </a:rPr>
                        <a:t>Baxtsiz hodisa</a:t>
                      </a:r>
                    </a:p>
                  </a:txBody>
                  <a:tcPr marL="73152" marR="73152" marT="36576" marB="36576">
                    <a:solidFill>
                      <a:srgbClr val="FFFFFF"/>
                    </a:solidFill>
                  </a:tcPr>
                </a:tc>
                <a:tc>
                  <a:txBody>
                    <a:bodyPr/>
                    <a:lstStyle/>
                    <a:p>
                      <a:r>
                        <a:rPr sz="1700" b="0">
                          <a:solidFill>
                            <a:srgbClr val="1F2937"/>
                          </a:solidFill>
                        </a:rPr>
                        <a:t>Tasodif, vrach oldindan ko‘ra olmagan</a:t>
                      </a:r>
                    </a:p>
                  </a:txBody>
                  <a:tcPr marL="73152" marR="73152" marT="36576" marB="36576">
                    <a:solidFill>
                      <a:srgbClr val="FFFFFF"/>
                    </a:solidFill>
                  </a:tcPr>
                </a:tc>
              </a:tr>
              <a:tr h="614476">
                <a:tc>
                  <a:txBody>
                    <a:bodyPr/>
                    <a:lstStyle/>
                    <a:p>
                      <a:r>
                        <a:rPr sz="1700" b="0">
                          <a:solidFill>
                            <a:srgbClr val="1F2937"/>
                          </a:solidFill>
                        </a:rPr>
                        <a:t>Ma’muriy huquqbuzarlik</a:t>
                      </a:r>
                    </a:p>
                  </a:txBody>
                  <a:tcPr marL="73152" marR="73152" marT="36576" marB="36576">
                    <a:solidFill>
                      <a:srgbClr val="E8EEF6"/>
                    </a:solidFill>
                  </a:tcPr>
                </a:tc>
                <a:tc>
                  <a:txBody>
                    <a:bodyPr/>
                    <a:lstStyle/>
                    <a:p>
                      <a:r>
                        <a:rPr sz="1700" b="0">
                          <a:solidFill>
                            <a:srgbClr val="1F2937"/>
                          </a:solidFill>
                        </a:rPr>
                        <a:t>Alohida guruh sifatida ajratiladi</a:t>
                      </a:r>
                    </a:p>
                  </a:txBody>
                  <a:tcPr marL="73152" marR="73152" marT="36576" marB="36576">
                    <a:solidFill>
                      <a:srgbClr val="E8EEF6"/>
                    </a:solidFill>
                  </a:tcPr>
                </a:tc>
              </a:tr>
              <a:tr h="614476">
                <a:tc>
                  <a:txBody>
                    <a:bodyPr/>
                    <a:lstStyle/>
                    <a:p>
                      <a:r>
                        <a:rPr sz="1700" b="0">
                          <a:solidFill>
                            <a:srgbClr val="1F2937"/>
                          </a:solidFill>
                        </a:rPr>
                        <a:t>Ehtiyotsizlik va qasddan jinoyat</a:t>
                      </a:r>
                    </a:p>
                  </a:txBody>
                  <a:tcPr marL="73152" marR="73152" marT="36576" marB="36576">
                    <a:solidFill>
                      <a:srgbClr val="FFFFFF"/>
                    </a:solidFill>
                  </a:tcPr>
                </a:tc>
                <a:tc>
                  <a:txBody>
                    <a:bodyPr/>
                    <a:lstStyle/>
                    <a:p>
                      <a:r>
                        <a:rPr sz="1700" b="0">
                          <a:solidFill>
                            <a:srgbClr val="1F2937"/>
                          </a:solidFill>
                        </a:rPr>
                        <a:t>Jinoyat sifatida baholanadi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To‘rt guruh</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Харин Г.М. (Kharin G.M.)., Краткий курс судебной медицины: учебное пособие, betlar: 218, 218-219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Huquqiy javobgarlik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Vrach kasbiy huquqbuzarlik uchun jinoiy, fuqarolik-huquqiy, intizomiy, ma’muriy va moddiy javobgarlikka tortilishi mumkin.</a:t>
            </a:r>
          </a:p>
          <a:p>
            <a:pPr>
              <a:spcAft>
                <a:spcPts val="800"/>
              </a:spcAft>
            </a:pPr>
            <a:r>
              <a:rPr sz="1600">
                <a:solidFill>
                  <a:srgbClr val="1F2937"/>
                </a:solidFill>
                <a:latin typeface="Calibri"/>
              </a:rPr>
              <a:t>▸  Ijtimoiy xavfi bo‘yicha: jinoyat jinoiy javobgarlik beradi. Fuqarolik, ma’muriy va intizomiy qilmishlar Jinoyat kodeksida nazarda tutilmagan.</a:t>
            </a:r>
          </a:p>
          <a:p>
            <a:pPr>
              <a:spcAft>
                <a:spcPts val="800"/>
              </a:spcAft>
            </a:pPr>
            <a:r>
              <a:rPr sz="1600">
                <a:solidFill>
                  <a:srgbClr val="1F2937"/>
                </a:solidFill>
                <a:latin typeface="Calibri"/>
              </a:rPr>
              <a:t>▸  Sud jarayoniga olib keluvchi noxush oqibatlar: jinoyat, vrach xatosi, baxtsiz hodisa yoki yatrogeniya (tibbiy faoliyatdan kelgan kasallik).</a:t>
            </a:r>
          </a:p>
          <a:p>
            <a:pPr>
              <a:spcAft>
                <a:spcPts val="800"/>
              </a:spcAft>
            </a:pPr>
            <a:r>
              <a:rPr sz="1600">
                <a:solidFill>
                  <a:srgbClr val="1F2937"/>
                </a:solidFill>
                <a:latin typeface="Calibri"/>
              </a:rPr>
              <a:t>▸  Diqqat: qasd yoki ehtiyotsizlik, aybdorlik yoki aybsizlik masalasini ekspertlar emas, sud hal qiladi.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Javobgarlik turlari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790395"/>
            <a:ext cx="0" cy="3277209"/>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790395"/>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746150"/>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Jinoiy</a:t>
            </a:r>
          </a:p>
        </p:txBody>
      </p:sp>
      <p:cxnSp>
        <p:nvCxnSpPr>
          <p:cNvPr id="15" name="Connector 14"/>
          <p:cNvCxnSpPr/>
          <p:nvPr/>
        </p:nvCxnSpPr>
        <p:spPr>
          <a:xfrm>
            <a:off x="7612380" y="2609697"/>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236622"/>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236622"/>
            <a:ext cx="3779215" cy="746150"/>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Fuqarolik-huquqiy</a:t>
            </a:r>
          </a:p>
        </p:txBody>
      </p:sp>
      <p:cxnSp>
        <p:nvCxnSpPr>
          <p:cNvPr id="18" name="Connector 17"/>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055924"/>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055924"/>
            <a:ext cx="3779215" cy="746150"/>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Intizomiy</a:t>
            </a:r>
          </a:p>
        </p:txBody>
      </p:sp>
      <p:cxnSp>
        <p:nvCxnSpPr>
          <p:cNvPr id="21" name="Connector 20"/>
          <p:cNvCxnSpPr/>
          <p:nvPr/>
        </p:nvCxnSpPr>
        <p:spPr>
          <a:xfrm>
            <a:off x="7612380" y="424830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3875227"/>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3875227"/>
            <a:ext cx="3779215" cy="746150"/>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Ma’muriy</a:t>
            </a:r>
          </a:p>
        </p:txBody>
      </p:sp>
      <p:cxnSp>
        <p:nvCxnSpPr>
          <p:cNvPr id="24" name="Connector 23"/>
          <p:cNvCxnSpPr/>
          <p:nvPr/>
        </p:nvCxnSpPr>
        <p:spPr>
          <a:xfrm>
            <a:off x="7612380" y="50676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0" y="4694529"/>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4694529"/>
            <a:ext cx="3779215" cy="746150"/>
          </a:xfrm>
          <a:prstGeom prst="rect">
            <a:avLst/>
          </a:prstGeom>
          <a:noFill/>
        </p:spPr>
        <p:txBody>
          <a:bodyPr wrap="square" anchor="ctr" tIns="36576" bIns="36576">
            <a:spAutoFit/>
          </a:bodyPr>
          <a:lstStyle/>
          <a:p>
            <a:pPr algn="l">
              <a:spcAft>
                <a:spcPts val="0"/>
              </a:spcAft>
            </a:pPr>
            <a:r>
              <a:rPr sz="1500" b="1">
                <a:solidFill>
                  <a:srgbClr val="0B1F3A"/>
                </a:solidFill>
                <a:latin typeface="Calibri"/>
              </a:rPr>
              <a:t>Moddiy</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Kharin: kasbiy huquqbuzarlik uchun</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Харин Г.М. (Kharin G.M.)., Краткий курс судебной медицины: учебное пособие, betlar: 219, 220, 218, 217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Jinoyat guruhlari (Rossiya JK misolida)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Kharin misollari Rossiya Jinoyat kodeksidan; O‘zbekiston JK normalari alohida tekshirilsin.</a:t>
            </a:r>
          </a:p>
          <a:p>
            <a:pPr>
              <a:spcAft>
                <a:spcPts val="800"/>
              </a:spcAft>
            </a:pPr>
            <a:r>
              <a:rPr sz="1800">
                <a:solidFill>
                  <a:srgbClr val="1F2937"/>
                </a:solidFill>
                <a:latin typeface="Calibri"/>
              </a:rPr>
              <a:t>▸  Rossiya JK bir qator moddalari tibbiyot xodimlarining jinoiy javobgarligini nazarda tutadi.</a:t>
            </a:r>
          </a:p>
          <a:p>
            <a:pPr>
              <a:spcAft>
                <a:spcPts val="800"/>
              </a:spcAft>
            </a:pPr>
            <a:r>
              <a:rPr sz="1800">
                <a:solidFill>
                  <a:srgbClr val="1F2937"/>
                </a:solidFill>
                <a:latin typeface="Calibri"/>
              </a:rPr>
              <a:t>▸  Jinoyatlar uch guruhga bo‘linadi: shaxsga, aholi salomatligiga va xizmat manfaatlariga qarshi.</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2230864"/>
                <a:gridCol w="3057110"/>
              </a:tblGrid>
              <a:tr h="768096">
                <a:tc>
                  <a:txBody>
                    <a:bodyPr/>
                    <a:lstStyle/>
                    <a:p>
                      <a:r>
                        <a:rPr sz="1800" b="1">
                          <a:solidFill>
                            <a:srgbClr val="FFFFFF"/>
                          </a:solidFill>
                        </a:rPr>
                        <a:t>Guruh</a:t>
                      </a:r>
                    </a:p>
                  </a:txBody>
                  <a:tcPr marL="73152" marR="73152" marT="36576" marB="36576">
                    <a:solidFill>
                      <a:srgbClr val="0B1F3A"/>
                    </a:solidFill>
                  </a:tcPr>
                </a:tc>
                <a:tc>
                  <a:txBody>
                    <a:bodyPr/>
                    <a:lstStyle/>
                    <a:p>
                      <a:r>
                        <a:rPr sz="1800" b="1">
                          <a:solidFill>
                            <a:srgbClr val="FFFFFF"/>
                          </a:solidFill>
                        </a:rPr>
                        <a:t>Misollar</a:t>
                      </a:r>
                    </a:p>
                  </a:txBody>
                  <a:tcPr marL="73152" marR="73152" marT="36576" marB="36576">
                    <a:solidFill>
                      <a:srgbClr val="0B1F3A"/>
                    </a:solidFill>
                  </a:tcPr>
                </a:tc>
              </a:tr>
              <a:tr h="768096">
                <a:tc>
                  <a:txBody>
                    <a:bodyPr/>
                    <a:lstStyle/>
                    <a:p>
                      <a:r>
                        <a:rPr sz="1700" b="0">
                          <a:solidFill>
                            <a:srgbClr val="1F2937"/>
                          </a:solidFill>
                        </a:rPr>
                        <a:t>Shaxsga qarshi</a:t>
                      </a:r>
                    </a:p>
                  </a:txBody>
                  <a:tcPr marL="73152" marR="73152" marT="36576" marB="36576">
                    <a:solidFill>
                      <a:srgbClr val="E8EEF6"/>
                    </a:solidFill>
                  </a:tcPr>
                </a:tc>
                <a:tc>
                  <a:txBody>
                    <a:bodyPr/>
                    <a:lstStyle/>
                    <a:p>
                      <a:r>
                        <a:rPr sz="1700" b="0">
                          <a:solidFill>
                            <a:srgbClr val="1F2937"/>
                          </a:solidFill>
                        </a:rPr>
                        <a:t>Ehtiyotsiz o‘lim; yordamsiz qoldirish</a:t>
                      </a:r>
                    </a:p>
                  </a:txBody>
                  <a:tcPr marL="73152" marR="73152" marT="36576" marB="36576">
                    <a:solidFill>
                      <a:srgbClr val="E8EEF6"/>
                    </a:solidFill>
                  </a:tcPr>
                </a:tc>
              </a:tr>
              <a:tr h="768096">
                <a:tc>
                  <a:txBody>
                    <a:bodyPr/>
                    <a:lstStyle/>
                    <a:p>
                      <a:r>
                        <a:rPr sz="1700" b="0">
                          <a:solidFill>
                            <a:srgbClr val="1F2937"/>
                          </a:solidFill>
                        </a:rPr>
                        <a:t>Aholi salomatligiga qarshi</a:t>
                      </a:r>
                    </a:p>
                  </a:txBody>
                  <a:tcPr marL="73152" marR="73152" marT="36576" marB="36576">
                    <a:solidFill>
                      <a:srgbClr val="FFFFFF"/>
                    </a:solidFill>
                  </a:tcPr>
                </a:tc>
                <a:tc>
                  <a:txBody>
                    <a:bodyPr/>
                    <a:lstStyle/>
                    <a:p>
                      <a:r>
                        <a:rPr sz="1700" b="0">
                          <a:solidFill>
                            <a:srgbClr val="1F2937"/>
                          </a:solidFill>
                        </a:rPr>
                        <a:t>Giyohvand moddalar muomalasi</a:t>
                      </a:r>
                    </a:p>
                  </a:txBody>
                  <a:tcPr marL="73152" marR="73152" marT="36576" marB="36576">
                    <a:solidFill>
                      <a:srgbClr val="FFFFFF"/>
                    </a:solidFill>
                  </a:tcPr>
                </a:tc>
              </a:tr>
              <a:tr h="768096">
                <a:tc>
                  <a:txBody>
                    <a:bodyPr/>
                    <a:lstStyle/>
                    <a:p>
                      <a:r>
                        <a:rPr sz="1700" b="0">
                          <a:solidFill>
                            <a:srgbClr val="1F2937"/>
                          </a:solidFill>
                        </a:rPr>
                        <a:t>Xizmat manfaatlariga qarshi</a:t>
                      </a:r>
                    </a:p>
                  </a:txBody>
                  <a:tcPr marL="73152" marR="73152" marT="36576" marB="36576">
                    <a:solidFill>
                      <a:srgbClr val="E8EEF6"/>
                    </a:solidFill>
                  </a:tcPr>
                </a:tc>
                <a:tc>
                  <a:txBody>
                    <a:bodyPr/>
                    <a:lstStyle/>
                    <a:p>
                      <a:r>
                        <a:rPr sz="1700" b="0">
                          <a:solidFill>
                            <a:srgbClr val="1F2937"/>
                          </a:solidFill>
                        </a:rPr>
                        <a:t>Pora; xizmat soxtakorligi; beparvolik</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Jinoyat guruhlari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Харин Г.М. (Kharin G.M.)., Краткий курс судебной медицины: учебное пособие, betlar: 220-221, 220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Jinoiy javobgarlikni istisno qiluvchi holatlar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Aybsiz zarar: shaxs xavfni anglamagan, oldindan ko‘ra olmagan yoki oldini ololmagan.</a:t>
            </a:r>
          </a:p>
          <a:p>
            <a:pPr>
              <a:spcAft>
                <a:spcPts val="800"/>
              </a:spcAft>
            </a:pPr>
            <a:r>
              <a:rPr sz="1800">
                <a:solidFill>
                  <a:srgbClr val="1F2937"/>
                </a:solidFill>
                <a:latin typeface="Calibri"/>
              </a:rPr>
              <a:t>▸  O‘ta zaruratda xavfni boshqa yo‘l bilan bartaraf etib bo‘lmasa va chegaradan chiqilmasa, bu jinoyat emas.</a:t>
            </a:r>
          </a:p>
          <a:p>
            <a:pPr>
              <a:spcAft>
                <a:spcPts val="800"/>
              </a:spcAft>
            </a:pPr>
            <a:r>
              <a:rPr sz="1800">
                <a:solidFill>
                  <a:srgbClr val="1F2937"/>
                </a:solidFill>
                <a:latin typeface="Calibri"/>
              </a:rPr>
              <a:t>▸  Asosli xavf: maqsadga xavfsiz yo‘l bilan erishib bo‘lmagan va yetarli chora ko‘rilgan bo‘lishi shart.</a:t>
            </a:r>
          </a:p>
        </p:txBody>
      </p:sp>
      <p:graphicFrame>
        <p:nvGraphicFramePr>
          <p:cNvPr id="9" name="Table 8"/>
          <p:cNvGraphicFramePr>
            <a:graphicFrameLocks noGrp="1"/>
          </p:cNvGraphicFramePr>
          <p:nvPr/>
        </p:nvGraphicFramePr>
        <p:xfrm>
          <a:off x="6263640" y="1463040"/>
          <a:ext cx="5287975" cy="3072380"/>
        </p:xfrm>
        <a:graphic>
          <a:graphicData uri="http://schemas.openxmlformats.org/drawingml/2006/table">
            <a:tbl>
              <a:tblPr firstRow="1" bandRow="1">
                <a:tableStyleId>{5C22544A-7EE6-4342-B048-85BDC9FD1C3A}</a:tableStyleId>
              </a:tblPr>
              <a:tblGrid>
                <a:gridCol w="1510850"/>
                <a:gridCol w="3777125"/>
              </a:tblGrid>
              <a:tr h="614476">
                <a:tc>
                  <a:txBody>
                    <a:bodyPr/>
                    <a:lstStyle/>
                    <a:p>
                      <a:r>
                        <a:rPr sz="1800" b="1">
                          <a:solidFill>
                            <a:srgbClr val="FFFFFF"/>
                          </a:solidFill>
                        </a:rPr>
                        <a:t>Holat</a:t>
                      </a:r>
                    </a:p>
                  </a:txBody>
                  <a:tcPr marL="73152" marR="73152" marT="36576" marB="36576">
                    <a:solidFill>
                      <a:srgbClr val="0B1F3A"/>
                    </a:solidFill>
                  </a:tcPr>
                </a:tc>
                <a:tc>
                  <a:txBody>
                    <a:bodyPr/>
                    <a:lstStyle/>
                    <a:p>
                      <a:r>
                        <a:rPr sz="1800" b="1">
                          <a:solidFill>
                            <a:srgbClr val="FFFFFF"/>
                          </a:solidFill>
                        </a:rPr>
                        <a:t>Asosiy shart</a:t>
                      </a:r>
                    </a:p>
                  </a:txBody>
                  <a:tcPr marL="73152" marR="73152" marT="36576" marB="36576">
                    <a:solidFill>
                      <a:srgbClr val="0B1F3A"/>
                    </a:solidFill>
                  </a:tcPr>
                </a:tc>
              </a:tr>
              <a:tr h="614476">
                <a:tc>
                  <a:txBody>
                    <a:bodyPr/>
                    <a:lstStyle/>
                    <a:p>
                      <a:r>
                        <a:rPr sz="1700" b="0">
                          <a:solidFill>
                            <a:srgbClr val="1F2937"/>
                          </a:solidFill>
                        </a:rPr>
                        <a:t>Aybsiz zarar</a:t>
                      </a:r>
                    </a:p>
                  </a:txBody>
                  <a:tcPr marL="73152" marR="73152" marT="36576" marB="36576">
                    <a:solidFill>
                      <a:srgbClr val="E8EEF6"/>
                    </a:solidFill>
                  </a:tcPr>
                </a:tc>
                <a:tc>
                  <a:txBody>
                    <a:bodyPr/>
                    <a:lstStyle/>
                    <a:p>
                      <a:r>
                        <a:rPr sz="1700" b="0">
                          <a:solidFill>
                            <a:srgbClr val="1F2937"/>
                          </a:solidFill>
                        </a:rPr>
                        <a:t>Xavfni anglamagan yoki oldini ololmagan</a:t>
                      </a:r>
                    </a:p>
                  </a:txBody>
                  <a:tcPr marL="73152" marR="73152" marT="36576" marB="36576">
                    <a:solidFill>
                      <a:srgbClr val="E8EEF6"/>
                    </a:solidFill>
                  </a:tcPr>
                </a:tc>
              </a:tr>
              <a:tr h="614476">
                <a:tc>
                  <a:txBody>
                    <a:bodyPr/>
                    <a:lstStyle/>
                    <a:p>
                      <a:r>
                        <a:rPr sz="1700" b="0">
                          <a:solidFill>
                            <a:srgbClr val="1F2937"/>
                          </a:solidFill>
                        </a:rPr>
                        <a:t>O‘ta zarurat</a:t>
                      </a:r>
                    </a:p>
                  </a:txBody>
                  <a:tcPr marL="73152" marR="73152" marT="36576" marB="36576">
                    <a:solidFill>
                      <a:srgbClr val="FFFFFF"/>
                    </a:solidFill>
                  </a:tcPr>
                </a:tc>
                <a:tc>
                  <a:txBody>
                    <a:bodyPr/>
                    <a:lstStyle/>
                    <a:p>
                      <a:r>
                        <a:rPr sz="1700" b="0">
                          <a:solidFill>
                            <a:srgbClr val="1F2937"/>
                          </a:solidFill>
                        </a:rPr>
                        <a:t>Boshqa yo‘l yo‘q, chegaradan chiqilmagan</a:t>
                      </a:r>
                    </a:p>
                  </a:txBody>
                  <a:tcPr marL="73152" marR="73152" marT="36576" marB="36576">
                    <a:solidFill>
                      <a:srgbClr val="FFFFFF"/>
                    </a:solidFill>
                  </a:tcPr>
                </a:tc>
              </a:tr>
              <a:tr h="614476">
                <a:tc>
                  <a:txBody>
                    <a:bodyPr/>
                    <a:lstStyle/>
                    <a:p>
                      <a:r>
                        <a:rPr sz="1700" b="0">
                          <a:solidFill>
                            <a:srgbClr val="1F2937"/>
                          </a:solidFill>
                        </a:rPr>
                        <a:t>Asosli xavf</a:t>
                      </a:r>
                    </a:p>
                  </a:txBody>
                  <a:tcPr marL="73152" marR="73152" marT="36576" marB="36576">
                    <a:solidFill>
                      <a:srgbClr val="E8EEF6"/>
                    </a:solidFill>
                  </a:tcPr>
                </a:tc>
                <a:tc>
                  <a:txBody>
                    <a:bodyPr/>
                    <a:lstStyle/>
                    <a:p>
                      <a:r>
                        <a:rPr sz="1700" b="0">
                          <a:solidFill>
                            <a:srgbClr val="1F2937"/>
                          </a:solidFill>
                        </a:rPr>
                        <a:t>Xavfsiz yo‘l yo‘q, chora ko‘rilgan</a:t>
                      </a:r>
                    </a:p>
                  </a:txBody>
                  <a:tcPr marL="73152" marR="73152" marT="36576" marB="36576">
                    <a:solidFill>
                      <a:srgbClr val="E8EEF6"/>
                    </a:solidFill>
                  </a:tcPr>
                </a:tc>
              </a:tr>
              <a:tr h="614476">
                <a:tc>
                  <a:txBody>
                    <a:bodyPr/>
                    <a:lstStyle/>
                    <a:p>
                      <a:r>
                        <a:rPr sz="1700" b="0">
                          <a:solidFill>
                            <a:srgbClr val="1F2937"/>
                          </a:solidFill>
                        </a:rPr>
                        <a:t>Asosli emas</a:t>
                      </a:r>
                    </a:p>
                  </a:txBody>
                  <a:tcPr marL="73152" marR="73152" marT="36576" marB="36576">
                    <a:solidFill>
                      <a:srgbClr val="FFFFFF"/>
                    </a:solidFill>
                  </a:tcPr>
                </a:tc>
                <a:tc>
                  <a:txBody>
                    <a:bodyPr/>
                    <a:lstStyle/>
                    <a:p>
                      <a:r>
                        <a:rPr sz="1700" b="0">
                          <a:solidFill>
                            <a:srgbClr val="1F2937"/>
                          </a:solidFill>
                        </a:rPr>
                        <a:t>Ko‘pchilik hayotiga tahdid bo‘lsa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holat va ularning shartlari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Харин Г.М. (Kharin G.M.)., Краткий курс судебной медицины: учебное пособие, betlar: 221, 221-222, 222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Fuqarolik javobgarligi shartlari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Zarur shartlar: g‘ayriqonuniy harakat, haqiqiy zarar va sababiy bog‘liqlik; ayb majburiy emas.</a:t>
            </a:r>
          </a:p>
          <a:p>
            <a:pPr>
              <a:spcAft>
                <a:spcPts val="800"/>
              </a:spcAft>
            </a:pPr>
            <a:r>
              <a:rPr sz="1800">
                <a:solidFill>
                  <a:srgbClr val="1F2937"/>
                </a:solidFill>
                <a:latin typeface="Calibri"/>
              </a:rPr>
              <a:t>▸  Zarar ayb bo‘lmaganda ham qoplanishi mumkin; ma’naviy zarar moddiy zarardan mustaqil qoplanadi.</a:t>
            </a:r>
          </a:p>
          <a:p>
            <a:pPr>
              <a:spcAft>
                <a:spcPts val="800"/>
              </a:spcAft>
            </a:pPr>
            <a:r>
              <a:rPr sz="1800">
                <a:solidFill>
                  <a:srgbClr val="1F2937"/>
                </a:solidFill>
                <a:latin typeface="Calibri"/>
              </a:rPr>
              <a:t>▸  Og‘riqni yengillashtirish huquqi buzilsa, sog‘liqqa zarar bo‘lmasa ham ma’naviy zarar qoplanishi mumkin.</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G‘ayriqonuniy harakat</a:t>
            </a:r>
          </a:p>
          <a:p>
            <a:pPr algn="l">
              <a:spcAft>
                <a:spcPts val="200"/>
              </a:spcAft>
            </a:pPr>
            <a:r>
              <a:rPr sz="1400" b="0">
                <a:solidFill>
                  <a:srgbClr val="1F2937"/>
                </a:solidFill>
                <a:latin typeface="Calibri"/>
              </a:rPr>
              <a:t>Qonunga zid harakat yoki harakatsizlik</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Haqiqiy zarar</a:t>
            </a:r>
          </a:p>
          <a:p>
            <a:pPr algn="l">
              <a:spcAft>
                <a:spcPts val="200"/>
              </a:spcAft>
            </a:pPr>
            <a:r>
              <a:rPr sz="1400" b="0">
                <a:solidFill>
                  <a:srgbClr val="1F2937"/>
                </a:solidFill>
                <a:latin typeface="Calibri"/>
              </a:rPr>
              <a:t>Moddiy yoki ma’naviy zarar</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Sababiy bog‘liqlik</a:t>
            </a:r>
          </a:p>
          <a:p>
            <a:pPr algn="l">
              <a:spcAft>
                <a:spcPts val="200"/>
              </a:spcAft>
            </a:pPr>
            <a:r>
              <a:rPr sz="1400" b="0">
                <a:solidFill>
                  <a:srgbClr val="1F2937"/>
                </a:solidFill>
                <a:latin typeface="Calibri"/>
              </a:rPr>
              <a:t>Harakat va zarar o‘rtasida aloqa</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Ayb</a:t>
            </a:r>
          </a:p>
          <a:p>
            <a:pPr algn="l">
              <a:spcAft>
                <a:spcPts val="200"/>
              </a:spcAft>
            </a:pPr>
            <a:r>
              <a:rPr sz="1400" b="0">
                <a:solidFill>
                  <a:srgbClr val="1F2937"/>
                </a:solidFill>
                <a:latin typeface="Calibri"/>
              </a:rPr>
              <a:t>Majburiy emas</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Fuqarolik javobgarligi shartlari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Харин Г.М. (Kharin G.M.)., Краткий курс судебной медицины: учебное пособие, betlar: 225-226, 224-225, 225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Materiallar bo‘yicha sud-tibbiy ekspertiza tartibi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Komissiyada kamida ikki mutaxassis bo‘ladi: biri yetakchi ekspert, ikkinchisi tashkiliy ishni bajaradi.</a:t>
            </a:r>
          </a:p>
          <a:p>
            <a:pPr>
              <a:spcAft>
                <a:spcPts val="800"/>
              </a:spcAft>
            </a:pPr>
            <a:r>
              <a:rPr sz="1800">
                <a:solidFill>
                  <a:srgbClr val="1F2937"/>
                </a:solidFill>
                <a:latin typeface="Calibri"/>
              </a:rPr>
              <a:t>▸  Xulosa kirish, tadqiqot qismi va xulosalardan iborat; rozi bo‘lmagan ekspert alohida fikr yozadi.</a:t>
            </a:r>
          </a:p>
          <a:p>
            <a:pPr>
              <a:spcAft>
                <a:spcPts val="800"/>
              </a:spcAft>
            </a:pPr>
            <a:r>
              <a:rPr sz="1800">
                <a:solidFill>
                  <a:srgbClr val="1F2937"/>
                </a:solidFill>
                <a:latin typeface="Calibri"/>
              </a:rPr>
              <a:t>▸  Ayb yoki niyat masalasini ekspert hal qilmaydi, bu sudning vakolati.</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Shikoyat</a:t>
            </a:r>
          </a:p>
          <a:p>
            <a:pPr algn="l">
              <a:spcAft>
                <a:spcPts val="200"/>
              </a:spcAft>
            </a:pPr>
            <a:r>
              <a:rPr sz="1400" b="0">
                <a:solidFill>
                  <a:srgbClr val="1F2937"/>
                </a:solidFill>
                <a:latin typeface="Calibri"/>
              </a:rPr>
              <a:t>Shikoyat yoki muassasa tashabbusi</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Xizmat tekshiruvi</a:t>
            </a:r>
          </a:p>
          <a:p>
            <a:pPr algn="l">
              <a:spcAft>
                <a:spcPts val="200"/>
              </a:spcAft>
            </a:pPr>
            <a:r>
              <a:rPr sz="1400" b="0">
                <a:solidFill>
                  <a:srgbClr val="1F2937"/>
                </a:solidFill>
                <a:latin typeface="Calibri"/>
              </a:rPr>
              <a:t>Idoraviy maxsus komissiya</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Prokuraturaga</a:t>
            </a:r>
          </a:p>
          <a:p>
            <a:pPr algn="l">
              <a:spcAft>
                <a:spcPts val="200"/>
              </a:spcAft>
            </a:pPr>
            <a:r>
              <a:rPr sz="1400" b="0">
                <a:solidFill>
                  <a:srgbClr val="1F2937"/>
                </a:solidFill>
                <a:latin typeface="Calibri"/>
              </a:rPr>
              <a:t>Materiallar 3 kun ichida yuboriladi</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Ish qo‘zg‘atish</a:t>
            </a:r>
          </a:p>
          <a:p>
            <a:pPr algn="l">
              <a:spcAft>
                <a:spcPts val="200"/>
              </a:spcAft>
            </a:pPr>
            <a:r>
              <a:rPr sz="1400" b="0">
                <a:solidFill>
                  <a:srgbClr val="1F2937"/>
                </a:solidFill>
                <a:latin typeface="Calibri"/>
              </a:rPr>
              <a:t>Prokuror hal qiladi</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Ekspertiza</a:t>
            </a:r>
          </a:p>
          <a:p>
            <a:pPr algn="l">
              <a:spcAft>
                <a:spcPts val="200"/>
              </a:spcAft>
            </a:pPr>
            <a:r>
              <a:rPr sz="1400" b="0">
                <a:solidFill>
                  <a:srgbClr val="1F2937"/>
                </a:solidFill>
                <a:latin typeface="Calibri"/>
              </a:rPr>
              <a:t>Tergovchi tayinlaydi, komissiya o‘tkazadi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Rossiya tartibi (Kharin): ekspertizagacha</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Харин Г.М. (Kharin G.M.)., Краткий курс судебной медицины: учебное пособие, betlar: 216, 216-217, 217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Ekspert savollari va vakolat chegarasi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Ekspertlar tibbiy yordam nuqsonlari bo‘yicha savollarga javob beradi: tashxis va davo usuli o‘z vaqtida hamda to‘g‘ri tanlanganmi, muolajaga ko‘rsatma bormi.</a:t>
            </a:r>
          </a:p>
          <a:p>
            <a:pPr>
              <a:spcAft>
                <a:spcPts val="1200"/>
              </a:spcAft>
            </a:pPr>
            <a:r>
              <a:rPr sz="2200">
                <a:solidFill>
                  <a:srgbClr val="1F2937"/>
                </a:solidFill>
                <a:latin typeface="Calibri"/>
              </a:rPr>
              <a:t>▸  Yana: muolaja texnik jihatdan to‘g‘ri bajarilganmi, asoratlar bormi, muolaja va noxush oqibat o‘rtasida to‘g‘ridan-to‘g‘ri sababiy bog‘liqlik bormi.</a:t>
            </a:r>
          </a:p>
          <a:p>
            <a:pPr>
              <a:spcAft>
                <a:spcPts val="1200"/>
              </a:spcAft>
            </a:pPr>
            <a:r>
              <a:rPr sz="2200">
                <a:solidFill>
                  <a:srgbClr val="1F2937"/>
                </a:solidFill>
                <a:latin typeface="Calibri"/>
              </a:rPr>
              <a:t>▸  Shuningdek: o‘z vaqtida to‘g‘ri yordam bilan oqibatning oldini olish mumkin edimi, yo‘riqnoma, buyruq va umumqabul qilingan qoidalar buzilganmi.</a:t>
            </a:r>
          </a:p>
          <a:p>
            <a:pPr>
              <a:spcAft>
                <a:spcPts val="1200"/>
              </a:spcAft>
            </a:pPr>
            <a:r>
              <a:rPr sz="2200">
                <a:solidFill>
                  <a:srgbClr val="1F2937"/>
                </a:solidFill>
                <a:latin typeface="Calibri"/>
              </a:rPr>
              <a:t>▸  Diqqat: qasd yoki ehtiyotsizlik, ayb yoki aybsizlik masalasi ekspert vakolatiga kirmaydi. Uni sud hal qiladi (ekspert ≠ sud).</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Харин Г.М. (Kharin G.M.)., Краткий курс судебной медицины: учебное пособие, betlar: 217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5: ish ko‘zg‘alishidan ekspertizagacha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qarindoshlar davolash sifatiga shikoyat qildi (yoki ma’muriyat o‘zi ish boshladi). Savol: qaysi bosqichlar ketma-ket keladi?</a:t>
            </a:r>
          </a:p>
          <a:p>
            <a:pPr>
              <a:spcAft>
                <a:spcPts val="1200"/>
              </a:spcAft>
            </a:pPr>
            <a:r>
              <a:rPr sz="2200">
                <a:solidFill>
                  <a:srgbClr val="1F2937"/>
                </a:solidFill>
                <a:latin typeface="Calibri"/>
              </a:rPr>
              <a:t>▸  Jinoyat ishi qo‘zg‘atilguncha idoraviy maxsus komissiya xizmat tekshiruvini o‘tkazadi. «Xulosa»da nuqsonlar, sabablar va oqibat bilan bog‘liqlik yoziladi.</a:t>
            </a:r>
          </a:p>
          <a:p>
            <a:pPr>
              <a:spcAft>
                <a:spcPts val="1200"/>
              </a:spcAft>
            </a:pPr>
            <a:r>
              <a:rPr sz="2200">
                <a:solidFill>
                  <a:srgbClr val="1F2937"/>
                </a:solidFill>
                <a:latin typeface="Calibri"/>
              </a:rPr>
              <a:t>▸  Tekshiruv materiallari tugagach uch kun ichida prokuraturaga yuboriladi. Xulosa bilan hujjat asllari va xodimlarning yozma tushuntirishlari beriladi.</a:t>
            </a:r>
          </a:p>
          <a:p>
            <a:pPr>
              <a:spcAft>
                <a:spcPts val="1200"/>
              </a:spcAft>
            </a:pPr>
            <a:r>
              <a:rPr sz="2200">
                <a:solidFill>
                  <a:srgbClr val="1F2937"/>
                </a:solidFill>
                <a:latin typeface="Calibri"/>
              </a:rPr>
              <a:t>▸  Prokuror ish qo‘zg‘atish masalasini hal qiladi, so‘ng tergovchi ekspertiza tayinlaydi. U odatda komissiya tarzida o‘tkaziladi.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Харин Г.М. (Kharin G.M.)., Краткий курс судебной медицины: учебное пособие, betlar: 215, 215-216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Muhim sanalar va raqamlar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Asosiy tarixiy sanalar va muddatlar bir joyda: ular testda ko‘p so‘raladi.</a:t>
            </a:r>
          </a:p>
          <a:p>
            <a:pPr>
              <a:spcAft>
                <a:spcPts val="800"/>
              </a:spcAft>
            </a:pPr>
            <a:r>
              <a:rPr sz="1800">
                <a:solidFill>
                  <a:srgbClr val="1F2937"/>
                </a:solidFill>
                <a:latin typeface="Calibri"/>
              </a:rPr>
              <a:t>▸  «Yatrogeniya» atamasi 1925 yilda O. Bumke tomonidan, «sororigeniya» 1972 yilda I. Xardi tomonidan taklif etilgan.</a:t>
            </a:r>
          </a:p>
          <a:p>
            <a:pPr>
              <a:spcAft>
                <a:spcPts val="800"/>
              </a:spcAft>
            </a:pPr>
            <a:r>
              <a:rPr sz="1800">
                <a:solidFill>
                  <a:srgbClr val="1F2937"/>
                </a:solidFill>
                <a:latin typeface="Calibri"/>
              </a:rPr>
              <a:t>▸  Birinchi klinik-anatomik konferensiya 1930 yil 9 dekabrda o‘tgan; Davidovskiy ta’rifi — 1928 yil.</a:t>
            </a:r>
          </a:p>
          <a:p>
            <a:pPr>
              <a:spcAft>
                <a:spcPts val="800"/>
              </a:spcAft>
            </a:pPr>
            <a:r>
              <a:rPr sz="1800">
                <a:solidFill>
                  <a:srgbClr val="1F2937"/>
                </a:solidFill>
                <a:latin typeface="Calibri"/>
              </a:rPr>
              <a:t>▸  Xizmat tekshiruvi materiallari tugagach uch kun ichida prokuraturaga yuboriladi.</a:t>
            </a:r>
          </a:p>
        </p:txBody>
      </p:sp>
      <p:sp>
        <p:nvSpPr>
          <p:cNvPr id="9" name="Rounded Rectangle 8"/>
          <p:cNvSpPr/>
          <p:nvPr/>
        </p:nvSpPr>
        <p:spPr>
          <a:xfrm>
            <a:off x="5440680"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Davidovskiy ta’rifi</a:t>
            </a:r>
          </a:p>
          <a:p>
            <a:pPr algn="l">
              <a:spcAft>
                <a:spcPts val="100"/>
              </a:spcAft>
            </a:pPr>
            <a:r>
              <a:rPr sz="3000" b="1">
                <a:solidFill>
                  <a:srgbClr val="0B1F3A"/>
                </a:solidFill>
                <a:latin typeface="Calibri"/>
              </a:rPr>
              <a:t>1928</a:t>
            </a:r>
          </a:p>
        </p:txBody>
      </p:sp>
      <p:sp>
        <p:nvSpPr>
          <p:cNvPr id="12" name="Rounded Rectangle 11"/>
          <p:cNvSpPr/>
          <p:nvPr/>
        </p:nvSpPr>
        <p:spPr>
          <a:xfrm>
            <a:off x="8578443" y="1417320"/>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Bumke: yatrogeniya</a:t>
            </a:r>
          </a:p>
          <a:p>
            <a:pPr algn="l">
              <a:spcAft>
                <a:spcPts val="100"/>
              </a:spcAft>
            </a:pPr>
            <a:r>
              <a:rPr sz="3000" b="1">
                <a:solidFill>
                  <a:srgbClr val="0B1F3A"/>
                </a:solidFill>
                <a:latin typeface="Calibri"/>
              </a:rPr>
              <a:t>1925</a:t>
            </a:r>
          </a:p>
        </p:txBody>
      </p:sp>
      <p:sp>
        <p:nvSpPr>
          <p:cNvPr id="15" name="Rounded Rectangle 14"/>
          <p:cNvSpPr/>
          <p:nvPr/>
        </p:nvSpPr>
        <p:spPr>
          <a:xfrm>
            <a:off x="5440680"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Birinchi konferensiya</a:t>
            </a:r>
          </a:p>
          <a:p>
            <a:pPr algn="l">
              <a:spcAft>
                <a:spcPts val="100"/>
              </a:spcAft>
            </a:pPr>
            <a:r>
              <a:rPr sz="3000" b="1">
                <a:solidFill>
                  <a:srgbClr val="0B1F3A"/>
                </a:solidFill>
                <a:latin typeface="Calibri"/>
              </a:rPr>
              <a:t>1930</a:t>
            </a:r>
          </a:p>
        </p:txBody>
      </p:sp>
      <p:sp>
        <p:nvSpPr>
          <p:cNvPr id="18" name="Rounded Rectangle 17"/>
          <p:cNvSpPr/>
          <p:nvPr/>
        </p:nvSpPr>
        <p:spPr>
          <a:xfrm>
            <a:off x="8578443" y="2807208"/>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2898648"/>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2807208"/>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Krassovskiy voqeasi</a:t>
            </a:r>
          </a:p>
          <a:p>
            <a:pPr algn="l">
              <a:spcAft>
                <a:spcPts val="100"/>
              </a:spcAft>
            </a:pPr>
            <a:r>
              <a:rPr sz="3000" b="1">
                <a:solidFill>
                  <a:srgbClr val="0B1F3A"/>
                </a:solidFill>
                <a:latin typeface="Calibri"/>
              </a:rPr>
              <a:t>1870</a:t>
            </a:r>
          </a:p>
        </p:txBody>
      </p:sp>
      <p:sp>
        <p:nvSpPr>
          <p:cNvPr id="21" name="Rounded Rectangle 20"/>
          <p:cNvSpPr/>
          <p:nvPr/>
        </p:nvSpPr>
        <p:spPr>
          <a:xfrm>
            <a:off x="5440680"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40680"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550408"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Kolomnin voqeasi</a:t>
            </a:r>
          </a:p>
          <a:p>
            <a:pPr algn="l">
              <a:spcAft>
                <a:spcPts val="100"/>
              </a:spcAft>
            </a:pPr>
            <a:r>
              <a:rPr sz="3000" b="1">
                <a:solidFill>
                  <a:srgbClr val="0B1F3A"/>
                </a:solidFill>
                <a:latin typeface="Calibri"/>
              </a:rPr>
              <a:t>1886</a:t>
            </a:r>
          </a:p>
        </p:txBody>
      </p:sp>
      <p:sp>
        <p:nvSpPr>
          <p:cNvPr id="24" name="Rounded Rectangle 23"/>
          <p:cNvSpPr/>
          <p:nvPr/>
        </p:nvSpPr>
        <p:spPr>
          <a:xfrm>
            <a:off x="8578443" y="4197096"/>
            <a:ext cx="2973171" cy="1243584"/>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578443" y="4288536"/>
            <a:ext cx="64008" cy="10607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88171" y="4197096"/>
            <a:ext cx="2863443" cy="1243584"/>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Prokuraturaga</a:t>
            </a:r>
          </a:p>
          <a:p>
            <a:pPr algn="l">
              <a:spcAft>
                <a:spcPts val="100"/>
              </a:spcAft>
            </a:pPr>
            <a:r>
              <a:rPr sz="3000" b="1">
                <a:solidFill>
                  <a:srgbClr val="0B1F3A"/>
                </a:solidFill>
                <a:latin typeface="Calibri"/>
              </a:rPr>
              <a:t>3</a:t>
            </a:r>
            <a:r>
              <a:rPr sz="1500" b="0">
                <a:solidFill>
                  <a:srgbClr val="6B7280"/>
                </a:solidFill>
                <a:latin typeface="Calibri"/>
              </a:rPr>
              <a:t>  kun</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Sana va muddatlar</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69-75, 74, 70; Харин Г.М. (Kharin G.M.)., Краткий курс судебной медицины: учебное пособие, betlar: 215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Nazorat savollari (kitob oxiri)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1. Huquq va axloq me’yorlari farqi. 2. Me’yoriy-huquqiy hujjat nimani anglatadi?</a:t>
            </a:r>
          </a:p>
          <a:p>
            <a:pPr>
              <a:spcAft>
                <a:spcPts val="800"/>
              </a:spcAft>
            </a:pPr>
            <a:r>
              <a:rPr sz="1800">
                <a:solidFill>
                  <a:srgbClr val="1F2937"/>
                </a:solidFill>
                <a:latin typeface="Calibri"/>
              </a:rPr>
              <a:t>▸  3. TXKH tushunchasining ta’rifi. 4. Qilmish jinoyatdan qanday farqlanadi?</a:t>
            </a:r>
          </a:p>
          <a:p>
            <a:pPr>
              <a:spcAft>
                <a:spcPts val="800"/>
              </a:spcAft>
            </a:pPr>
            <a:r>
              <a:rPr sz="1800">
                <a:solidFill>
                  <a:srgbClr val="1F2937"/>
                </a:solidFill>
                <a:latin typeface="Calibri"/>
              </a:rPr>
              <a:t>▸  5. Tibbiy xodimlar qilmishlarini sanab bering. 6. Vrach xatosi tushunchasini ilk bor kim taklif etgan?</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Axloq va huquq</a:t>
            </a:r>
          </a:p>
          <a:p>
            <a:pPr algn="l">
              <a:spcAft>
                <a:spcPts val="200"/>
              </a:spcAft>
            </a:pPr>
            <a:r>
              <a:rPr sz="1400" b="0">
                <a:solidFill>
                  <a:srgbClr val="1F2937"/>
                </a:solidFill>
                <a:latin typeface="Calibri"/>
              </a:rPr>
              <a:t>Rioya ta’minoti farqi</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Hujjat</a:t>
            </a:r>
          </a:p>
          <a:p>
            <a:pPr algn="l">
              <a:spcAft>
                <a:spcPts val="200"/>
              </a:spcAft>
            </a:pPr>
            <a:r>
              <a:rPr sz="1400" b="0">
                <a:solidFill>
                  <a:srgbClr val="1F2937"/>
                </a:solidFill>
                <a:latin typeface="Calibri"/>
              </a:rPr>
              <a:t>Me’yoriy-huquqiy hujjat</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TXKH</a:t>
            </a:r>
          </a:p>
          <a:p>
            <a:pPr algn="l">
              <a:spcAft>
                <a:spcPts val="200"/>
              </a:spcAft>
            </a:pPr>
            <a:r>
              <a:rPr sz="1400" b="0">
                <a:solidFill>
                  <a:srgbClr val="1F2937"/>
                </a:solidFill>
                <a:latin typeface="Calibri"/>
              </a:rPr>
              <a:t>Ta’rifi</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Qilmish va jinoyat</a:t>
            </a:r>
          </a:p>
          <a:p>
            <a:pPr algn="l">
              <a:spcAft>
                <a:spcPts val="200"/>
              </a:spcAft>
            </a:pPr>
            <a:r>
              <a:rPr sz="1400" b="0">
                <a:solidFill>
                  <a:srgbClr val="1F2937"/>
                </a:solidFill>
                <a:latin typeface="Calibri"/>
              </a:rPr>
              <a:t>Ijtimoiy xavf belgisi</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Qilmish turlari</a:t>
            </a:r>
          </a:p>
          <a:p>
            <a:pPr algn="l">
              <a:spcAft>
                <a:spcPts val="200"/>
              </a:spcAft>
            </a:pPr>
            <a:r>
              <a:rPr sz="1400" b="0">
                <a:solidFill>
                  <a:srgbClr val="1F2937"/>
                </a:solidFill>
                <a:latin typeface="Calibri"/>
              </a:rPr>
              <a:t>Intizomiy, ma’muriy, fuqaroviy</a:t>
            </a:r>
          </a:p>
        </p:txBody>
      </p:sp>
      <p:sp>
        <p:nvSpPr>
          <p:cNvPr id="24" name="Rounded Rectangle 23"/>
          <p:cNvSpPr/>
          <p:nvPr/>
        </p:nvSpPr>
        <p:spPr>
          <a:xfrm>
            <a:off x="8578443"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688171"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6</a:t>
            </a:r>
          </a:p>
        </p:txBody>
      </p:sp>
      <p:sp>
        <p:nvSpPr>
          <p:cNvPr id="26" name="TextBox 25"/>
          <p:cNvSpPr txBox="1"/>
          <p:nvPr/>
        </p:nvSpPr>
        <p:spPr>
          <a:xfrm>
            <a:off x="9218523"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Vrach xatosi</a:t>
            </a:r>
          </a:p>
          <a:p>
            <a:pPr algn="l">
              <a:spcAft>
                <a:spcPts val="200"/>
              </a:spcAft>
            </a:pPr>
            <a:r>
              <a:rPr sz="1400" b="0">
                <a:solidFill>
                  <a:srgbClr val="1F2937"/>
                </a:solidFill>
                <a:latin typeface="Calibri"/>
              </a:rPr>
              <a:t>Kim taklif etgan: Pirogov</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Kitob oxiridagi savollar va javob kaliti</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Vrach faoliyatining huquqiy asoslari: darslik, betlar: 77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nazorat savollari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Vrach xatosi va baxtsiz hodisa huquqiy kategoriya emas. Xato — vrachning vijdonan adashishi, baxtsiz hodisa — u oldindan bila olmagan tasodif.</a:t>
            </a:r>
          </a:p>
          <a:p>
            <a:pPr>
              <a:spcAft>
                <a:spcPts val="1200"/>
              </a:spcAft>
            </a:pPr>
            <a:r>
              <a:rPr sz="2200">
                <a:solidFill>
                  <a:srgbClr val="1F2937"/>
                </a:solidFill>
                <a:latin typeface="Calibri"/>
              </a:rPr>
              <a:t>▸  Yatrogeniya — vrach yoki tibbiyot faoliyati keltirib chiqargan kasallik; muvaffaqiyatli davodan keyin ham «ikkinchi kasallik» sifatida paydo bo‘lishi mumkin.</a:t>
            </a:r>
          </a:p>
          <a:p>
            <a:pPr>
              <a:spcAft>
                <a:spcPts val="1200"/>
              </a:spcAft>
            </a:pPr>
            <a:r>
              <a:rPr sz="2200">
                <a:solidFill>
                  <a:srgbClr val="1F2937"/>
                </a:solidFill>
                <a:latin typeface="Calibri"/>
              </a:rPr>
              <a:t>▸  Kasb huquqbuzarligi uchun javobgarlik jinoiy, fuqaroviy-huquqiy, intizomiy, ma’muriy va moddiy bo‘lishi mumkin.</a:t>
            </a:r>
          </a:p>
          <a:p>
            <a:pPr>
              <a:spcAft>
                <a:spcPts val="1200"/>
              </a:spcAft>
            </a:pPr>
            <a:r>
              <a:rPr sz="2200">
                <a:solidFill>
                  <a:srgbClr val="1F2937"/>
                </a:solidFill>
                <a:latin typeface="Calibri"/>
              </a:rPr>
              <a:t>▸  Nazorat: qilmish jinoyatdan nimasi bilan farq qiladi? Vrach xatosi atamasini kim taklif etgan? Davidovskiy ta’rifi nima? «Sororigeniya» nimani anglatadi?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Харин Г.М. (Kharin G.M.)., Краткий курс судебной медицины: учебное пособие, betlar: 218-219, 219; G‘iyosov Z.A., Vrach faoliyatining huquqiy asoslari: darslik, betlar: 77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43</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Pirogov vrachning xato qilish huquqi bor, lekin uni yashirish huquqi yo‘q, deb yozgan. 1837 yilda u o‘z xatolarini imkon qadar tezroq oshkor etishni vijdonli o‘qituvchining burchi deb hisoblagan.</a:t>
            </a:r>
          </a:p>
          <a:p>
            <a:pPr>
              <a:spcAft>
                <a:spcPts val="1200"/>
              </a:spcAft>
            </a:pPr>
            <a:r>
              <a:rPr sz="1800">
                <a:solidFill>
                  <a:srgbClr val="1F2937"/>
                </a:solidFill>
                <a:latin typeface="Calibri"/>
              </a:rPr>
              <a:t>▸  Hodisa tahlili: 1870 yilda Krassovskiy tampon qoldirilgan holatni ochiq maqolada yozib, gubkalarni sanash va ularga uzun tasma biriktirishni taklif qilgan. 1886 yilda Kolomnin bemor vafotidan keyin matbuotda ta’qib qilinib, o‘zini o‘ldirgan. Xatoga munosabat qanchalik muhim!</a:t>
            </a:r>
          </a:p>
          <a:p>
            <a:pPr>
              <a:spcAft>
                <a:spcPts val="1200"/>
              </a:spcAft>
            </a:pPr>
            <a:r>
              <a:rPr sz="1800">
                <a:solidFill>
                  <a:srgbClr val="1F2937"/>
                </a:solidFill>
                <a:latin typeface="Calibri"/>
              </a:rPr>
              <a:t>▸  Eslab qolish usuli: vrach xatosi — vrachning o‘zi vijdonan adashgan holat. Baxtsiz hodisa — vrachga bog‘liq bo‘lmagan, oldindan bilib bo‘lmaydigan holat. Ikkalasida ham huquqiy javobgarlik yo‘q, ammo ikkalasi ham tahlil qilinishi shart.</a:t>
            </a:r>
          </a:p>
          <a:p>
            <a:pPr>
              <a:spcAft>
                <a:spcPts val="1200"/>
              </a:spcAft>
            </a:pPr>
            <a:r>
              <a:rPr sz="1800">
                <a:solidFill>
                  <a:srgbClr val="1F2937"/>
                </a:solidFill>
                <a:latin typeface="Calibri"/>
              </a:rPr>
              <a:t>▸  Qasd yoki ehtiyotsizlik, ayb yoki aybsizlik masalasini ekspertlar hal qilmaydi — bu sudning vakolati. Ish materiallari bo‘yicha ekspert komissiyasida kamida ikki mutaxassis bo‘lishi kerak.</a:t>
            </a:r>
          </a:p>
          <a:p>
            <a:pPr>
              <a:spcAft>
                <a:spcPts val="1200"/>
              </a:spcAft>
            </a:pPr>
            <a:r>
              <a:rPr sz="1800">
                <a:solidFill>
                  <a:srgbClr val="1F2937"/>
                </a:solidFill>
                <a:latin typeface="Calibri"/>
              </a:rPr>
              <a:t>▸  Yatrogeniya atamasini 1925 yilda nemis psixiatri Bumke taklif etgan. Hamshiralar harakatidan kelib chiqqan noxush oqibat uchun Xardi 1972 yilda “sororigeniya” atamasini kiritgan (lotincha soror — hamshira).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№6.Ma’ruza: Tibbiyot hodimlarining kasb huquqbuzarliklari. Tibbiyot hodimlarining javobgar</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43</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Vrach faoliyatining huquqiy asoslari: darslik, Toshkent: Tafakkur-Bo‘stoni. 2012. 5-bob. Tibbiy xodimlarning kasb huquqbuzarliklari; bet 67-77</a:t>
            </a:r>
          </a:p>
          <a:p>
            <a:pPr>
              <a:spcAft>
                <a:spcPts val="800"/>
              </a:spcAft>
            </a:pPr>
            <a:r>
              <a:rPr sz="2000">
                <a:solidFill>
                  <a:srgbClr val="1F2937"/>
                </a:solidFill>
                <a:latin typeface="Calibri"/>
              </a:rPr>
              <a:t>▸  Харин Г.М. (Kharin G.M.). Краткий курс судебной медицины: учебное пособие, М.: ГЭОТАР-Медиа. 2006. XI bo‘lim (27-29-boblar). Tibbiy xodimlar kasbiy huquqbuzarliklari bo‘yicha ekspertiza (1/2); bet 214-279; XI bo‘lim (27-29-boblar). Tibbiy xodimlar kasbiy huquqbuzarliklari bo‘yicha ekspertiza (2/2); bet 280-289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