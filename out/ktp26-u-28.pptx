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yong‘inda topilgan murdada tiriklik belgisini aniqlash kerak? 2) Kuyish darajasi bilan maydoni bir narsami? Doskada: mavzuning uch tayanchini yozing — umumiy/mahalliy ta’sir, tiriklik belgisi, maydon. Tipik xato: talabalar maydon va darajani bir tushuncha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Qaysi yo‘l issiqni eng ko‘p chiqaradi? 2) Nima uchun harorat chegarasi hayot uchun muhim? Doskada: 36-37°S me’yor va ikki chegara (22-25°S, 43-44°S) bilan sodda shkala chizing. Tipik xato: pastki va yuqori chegara raqamlarini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Umumiy va mahalliy ta’sirning asosiy farqi nima? 2) Sovuq qotish va sovuq urishda tana harorati qanday farq qiladi? Doskada: 2x2 jadvalni talabalar bilan birga to‘ldiring. Tipik xato: sovuq urish va sovuq qotishni bir holat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yoshgacha bolalar issiq urishga o‘ta sezgir? 2) Havo o‘tkazmaydigan kiyim nima uchun xavfli? Doskada chizing: ‘ko‘p ishlab chiqarish — kam ajratish’ muvozanati va gemodinamika buzilishi zanjiri. Tipik xato: issiq urishni faqat quyoshli ochiq havoda bo‘ladi deb o‘ylash; u issiq sexda va mashq paytida ham rivojlanadi.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Qo‘zg‘alish davrida qaysi belgilar markaziy nerv tizimi, qaysilari yurak-qon tomir va nafas tizimi buzilishini ko‘rsatadi? 2) Holsizlik davri nega predagonal hisoblanadi? Doskada chizing: uch davr zanjirini harorat ko‘rsatkichlari bilan. Diqqat: o‘tkir va uzaytirilgan shaklni aralashtirmang — o‘tkirida davrlar ajratilmaydi, hush birdan yo‘qoladi.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murda tekshiruvi issiq va quyosh urishini bir-biridan ajratolmaydi? 2) Murda qotishi va dog‘lari qanday o‘zgaradi? Doskada chizing: jadvaldagi topilmalar ro‘yxatini. Tipik xato: quyosh urishida yuqori tana harorati xos deb o‘ylash; manbaga ko‘ra, salmoqli ko‘tarilish xos emas. Qo‘shimcha: puls dastlab tezlashib, keyin sekinlashadi.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murda tekshiruvida ikki holatni faqat morfologiya bilan ajratib bo‘lmaydi? 2) Anamnez (voqea tafsilotlari) nega muhim? Doskaga chizish: ikki ustunli ‘issiq urishi / quyosh urishi’ jadvali (sababi, harorat, murdada belgilar). Tipik xato: quyosh urishida ham tana harorati keskin ko‘tariladi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Kiyimi butun, lekin teri kuyganda qaysi manbani o‘ylaysiz? 2) Nega bir xil ta’sirda teri yupqa joylarda kuyish chuqurroq? Doskaga chizish: ‘manba → kuyish xususiyati’ (suyuqlik / alanga / qizigan jism) uch ustunli sxema. Tipik xato: issiq suyuqlik kuyishida soch va kiyim shikastlanadi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Murdada pufak tubidan qon chiqmasligi nimani anglatadi? 2) Qaysi darajalar chandiq qoldirmaydi? Doskaga chizish: teri qavatlari kesimi va unda I-IV daraja chuqurligini belgilash. Tipik xato: II darajada chandiq qoladi deb o‘ylash. Eslatma: III darajaning murdadagi belgisi jadvalda manbada alohida berilmaganligi sababli ko‘rsatilmadi.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nega bir jarohat sohasida bir nechta daraja uchraydi? Yuzaki (I-II) va chuqur (III-IV) kuyishni qanday farqlaysiz? Doskada: terining qatlamlarini chizib, har daraja nekrozi chuqurligini rangli bo‘rda belgilang. Diqqat: xato qilish xavfi - IV daraja barcha issiqlik manbalaridan emas, faqat alangadan hosil bo‘ladi. Tipik xato: III-A bilan III-B ni aralashtirish; III-B da epidermis va derma to‘liq nekrozga uchraydi.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kiyim ostidagi teri kuygan, kiyim butun bo‘lsa, qaysi manbani o‘ylaysiz va nima uchun? Yarada qurum topilishi nimani bildiradi? Doskada: ikki ustunli (suyuqlik va alanga) solishtirish jadvalini talabalar o‘zlari to‘ldirsin. Diqqat: issiq suyuqlik ≠ alanga - suyuqlikda soch va kiyim zararlanmaydi, alangada zararlanadi. Tipik xato: kiyim bilan yopiq soha kuymagan, shuning uchun manba suyuqlik emas, deb xulosa qilish; suyuqlik kiyim ostiga oqib kirishi mumkin.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tamg‘asimon kuyishning shakli bo‘yicha jismni qanday aniqlash mumkin? Oqmalar pastga, alanga tillari yuqoriga yo‘nalishi jabrlanganning holati haqida nima deydi? Doskada: tana konturini chizib, oqmalar va alanga tillari yo‘nalishini strelkalar bilan ko‘rsating. Tipik xato: nafas yo‘llari kuyishini har qanday issiqlik manbaiga xos deb hisoblash; darslikka ko‘ra u bug‘ va issiq gazlar uchun xos.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Oqmalar yo‘nalishi nimani ko‘rsatadi? 2) Alanga tillari qaysi tomonga yo‘naladi? Doskada chizing: ikki ustunli taqqoslash jadvali (issiq suyuqlik va alanga) – soch/kiyim, shakl, chuqurlik, qurum. Tipik xato: kiyim butun bo‘lsa kuyish bo‘lmagan deb o‘ylash; suyuqlik kiyim ostiga oqib kiradi.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aniq emas, ‘taxminan’ deyiladi? 2) Old va orqa yuza birgalikda necha foiz bo‘ladi? Doskada chizing: odam silueti va unga 9% li bo‘laklar. Tipik xato: oraliq sohaning 1% ekanini unutish yoki old va orqa yuzani bitta 18% deb olish.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Tezkor savol: 1) Qo‘l kafti tana yuzasining necha foizi? 2) 30% (10%) / II-III yozuvi nimani bildiradi? Doskada chizing: kasr shaklidagi diagnoz, suratda yuza, mahrajda daraja. Tipik xato: kasrda surat va mahrajni almashtirib qo‘yish; qavs ichida chuqurroq kuyish yuzasi ko‘rsatilishini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bir xil maydonda chuqurroq kuyishning chegarasi kichikroq? Nafas yo‘llari kuyishi qaysi omillar ta’siriga xos? Doskada: uchta chegarani (10%, 15%, 20%) darajalar bilan juftlab chizdiring. Tipik xato: foiz chegaralarini darajalar bilan almashtirib yuborish (masalan, 20% ni III darajaga bog‘lash). Diqqat: xavfli mezon yuzaga ham, chuqurlikka ham bog‘liq.</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diagnozda faqat darajani yozish yetarli emas? Qavs ichidagi raqam nimani bildiradi? Doskada: ’30% (10%) / II-III’ kasrini chizib, har qismini izohlang. Tipik xato: surat va mahrajni almashtirish yoki qavs ichidagi raqamni umumiy yuza deb o‘ylash. Diqqat: qavs ichidagi raqam chuqurroq kuyish yuzasi, umumiy yuza emas.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qaysi davrda oqsil parchalanish mahsulotlari qonga so‘riladi? Septikotoksemiyada qanday asoratlar kuzatiladi (pnevmoniya, abssess, flegmona, pielonefrit, sepsis)? Doskada: to‘rt davrni strelkalar bilan chizib, har biriga asosiy xususiyatni yozdiring. Tipik xato: toksemiyani septikotoksemiya bilan adashtirish. Diqqat: toksemiya oqsil parchalanish mahsulotlaridan, septikotoksemiya kuyish sohasining yiringlashidan kelib chiqadi.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bering, talabalar javobni daftarga yozsin. Muhokama: nima uchun maydon kuyish darajasi kabi muhim? Doskada: 4 daraja va 4 davrni ikki ustunda chizing. Tipik xato: I-II darajani chuqur, III-IV darajani yuzaki deb adashtirish (aslida aksincha), IV darajani istalgan manbadan deb o‘ylash (u faqat alangadan).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 juftlikda hisoblaydi. Muhokama: nima uchun maydonni “to‘qqizliklar” va “kaft” qoidalari bilan ikki usulda tekshirish foydali? Doskada: tana sxemasini chizib, sohalarga foiz yozing. Tipik xato: qo‘l 9% ekanini unutish yoki ikkala qo‘lni qo‘shib qo‘yish; kasrda surat va mahrajni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faqat tashqi ko‘mirlanishga qarab hayotiylikni aytib bo‘lmaydi? Karboksigemoglobin uchun namuna qayerdan olinadi? Doskada: nafas yo‘llari bo‘ylab qurum izini sxema qilib chizing. Tipik xato: kuygan murdada qurum yo‘q yoki is gazi bor-yo‘qligiga qaramay, ko‘mirlanishni hayotiy ta’sir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nega tekshiruv uchun qon yuza tomirdan emas, yurak kameralari va chuqur tomirlardan olinadi? Yong‘in o‘chog‘ida topilgan murdada HbCO 15% chiqsa, bu nimani anglatadi? Doskada chizing: 20% va 60% chegaralari bilan sodda shkala. Tipik xato: HbCO topilishining o‘zini hayotiylik isboti deb hisoblash, miqdorini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7-8 daq. Muhokama: “g‘oz panjasi” nega hosil bo‘ladi (qovoq burmalari tubiga alanga va qurum yetib bormaydi)? Qaysi belgilar tashqi, qaysi biri ichki tekshiruvda topiladi? Doskada chizing: yoyilgan qovoq terisida shikastlangan va shikastlanmagan sohalar ketma-ketligi. Tipik xato: faqat bitta belgiga tayanib xulosa chiqarish; belgilar majmuasi baholanadi.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nega gematomaning shakli va qattiq pardaga birikishi uning kelib chiqishini ko‘rsatadi? Nima uchun yong‘indan keyingi murdada mikroskopik tekshiruv majburiy hisoblanadi? Doskada chizing: urchuqsimon va o‘roqsimon gematomaning kesmadagi shakli. Tipik xato: o‘limdan keyingi gematomani jarohat natijasi deb baholash (urchuqsimon ≠ o‘roqsimon).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Bokser pozasi nima uchun hosil bo‘ladi? 2) Nega go‘dak va kattalar murdasining yonish muddati bunchalik farq qiladi? Doskada: oqsil ivishi → mushak kaltalashishi → poza zanjirini chizing. Tipik xato: bokser pozasini tiriklikdagi himoya harakati deb o‘ylash; u murdadagi fizik-kimyoviy o‘zgarish. Kulni tekshirish tur, jins, yoshni aniqlash uchun kerak bo‘lishi mumkinligini eslating.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Qon HbCO uchun qayerdan olinadi (yurak kameralari, chuqur tomirlar)? 2) Nega faqat bitta belgiga tayanib bo‘lmaydi? Doskada: tirik / o‘limdan keyingi ustunli solishtirma jadval (qurum, HbCO, g‘oz panjasi, pufak oqsili). Tipik xato: murda ko‘mirlangan bo‘lsa, alanga tiriklikda ta’sir qilgan deb hisoblash. Qo‘shimcha: epidural gematoma o‘limdan keyin o‘roqsimon, travmadan urchuqsimon bo‘ladi (p. 190).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sovuq qotish faqat manfiy haroratda bo‘ladi degan fikr xato? 2) Mastlik holati sovuq qotishga qanday yordam beradi? Doskada: tashqi omillar va ichki omillar ikki ustuniga ajratib yozing. Tipik xato: sovuq suvdagi o‘lim muddatini havodagi bilan bir xil deb hisoblash. Tezkor savol: sovuq suvda o‘lim odatda qancha vaqtda sodir bo‘ladi?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8-10 daq. Muhokama: 1) Kompensatsiya bosqichida organizmda qanday o‘zgarishlar bo‘ladi (glikogen kamayishi, teri tomirlari torayishi)? 2) Dekompensatsiyada nega MNT (markaziy nerv tizimi) birinchi zarar ko‘radi? Doskada: harorat o‘qi bo‘yicha 3 bosqichni +30...+28°S va +25...+22°S belgilari bilan chizdiring. Tipik xato: umumiy sovuq qotish (butun tana) bilan mahalliy sovuq urish (tananing bir qismi) ni aralashtirish. Diqqat: ba’zan havo +10°S gacha bo‘lganda ham uzoq turilsa sovuq qotish rivojlanadi. Tezkor savol: tana harorati 1°S pasaysa biokimyoviy jarayonlar necha barobar sekinlashadi?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qor tagidagi muz qatlami sovuq qotishning ishonchli belgisi emas? 2) Murda dog‘lari rangi harorat bilan qanday bog‘liq? Doskada: 4 belgi va muallif nomlarini (Rayskiy, Puparev) juftlab yozdiring. Tipik xato: pushti-qizgish dog‘lar har doim bo‘ladi deb o‘ylash; musbat haroratda ko‘kimtir-binafsha bo‘lishi mumkin. Diqqat: qor tagidagi muz ≠ hayotiy belgi (sovub ulgurmagan murdada ham hosil bo‘ladi). Eslab qoling: Rayskiy — yuzdagi muz va qirov, Puparev — moyak.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Vishnevskiy dog‘lari nega tez o‘limda kam bo‘ladi? 2) Spirtli mastlikda qon va siydikdagi alkogol miqdori nega farq qilishi mumkin? Doskada: ichki a’zolar bo‘yicha 4 belgini muallif nomi bilan jadvalga yozdiring. Tipik xato: Vishnevskiy dog‘lari doim topiladi deb o‘ylash; ular 80-90% holatda uchraydi va bolalarda ko‘pincha bo‘lmaydi. Diqqat: Fabrikantov (buyrak jomi) ≠ Vishnevskiy (oshqozon, ba’zan o‘n ikki barmoqli ichak). Eslab qoling: oshqozon bo‘sh va kichik — Puxnarevich.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4-5 daq. Muhokama: 1) Dog‘lar nega tez o‘limda kam bo‘ladi? 2) Dog‘lar qanday hosil bo‘ladi (vegetativ nerv trofikasining buzilishi, qon tomir spazmi, gemorragik infarkt)? Doskada chizish: eponim belgilar ro‘yxati. Rayskiy – qosh-kiprikda qirov, burun-og‘izda muz sumalagi; Puparev – moyak qisqargan; Puxnarevich – oshqozon bo‘sh va kichik; Fabrikantov – buyrak jomida qon quyilish; Kasyanov – buyrak to‘g‘ri naychalari epiteliysida o‘zgarish. Talabalar belgi va muallifni juftlab aytsin. Tipik xato: Vishnevskiy dog‘lari yo‘qligini sovuq qotish bo‘lmaganligi deb hisoblash. Yana bir xato: nordon gematin tufayli dog‘ rangi qo‘ng‘ir bo‘lishini bilmaslik.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Muzlagan murdada topilgan yoriqlarni hayotiy jarohatdan qanday farqlaymiz? 2) Nega tez eritish xavfli? Doskada chizish: jadvalni daftarga ko‘chirtiring va kalla bo‘shlig‘ida miya muzlashi oqibatlarini strelkalar bilan chizdiring. Tipik xato: qor tagidagi muzni past haroratning hayotiy ta’siri uchun spetsifik belgi deb hisoblash. Yana bir xato: kalla suyagi sinishini doim zo‘ravonlik jarohati deb baholash. Eslatma: manbada muzlash yoriqlarini hayotiy shikastlardan farqlash zarurligi aytilgan.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6-8 daq. Javob yo‘nalishi: poza, qirov va muz sumalaklari, to‘laqonlik, qip-qizil qon, bo‘sh oshqozon, Vishnevskiy dog‘lari; manfiy haroratda murda dog‘lari pushti-qizg‘ish, +10°S gacha musbat haroratda ko‘kimtir-binafsha bo‘lishi mumkin. Muhokama: 1) Bir belgi yetarlimi yoki belgilar yig‘indisi kerakmi? 2) Mastlik talqinga qanday ta’sir qiladi? Doskada chizish: tashqi va ichki belgilar ustunli sxemasi. Tipik xato: faqat qor tagidagi muzga tayanib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Yashirin davrda shikast nega ko‘rinmaydi? (2) II va III darajani pufak suyuqligi va tuzalish muddati bo‘yicha qanday farqlaymiz? Doskada: ikki davr va to‘rt daraja chizig‘ini vaqt o‘qida chizing. Tipik xato: sovuq urish (mahalliy) bilan sovuq qotishni (umumiy)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Voqea tahlili: qish kunida bir oyog‘i sovuq urgan jabrlanganning ikkinchi oyog‘ida ham o‘zgarish topildi — bu qaysi fenomen? Muhokama: hujjatda maydon va harorat pasayishi nega yozilishi shart? Doskada: og‘irlik mezonlarini daraja-foiz juftliklari ko‘rinishida yozing. Tipik xato: 10%, 15%, 20% raqamlarini darajalar bilan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Yong‘indan topilgan murdada tiriklik belgilarini qaysi tartibda qidirasiz? (2) Nega qon namunasi yurak kameralari va chuqur tomirlardan olinadi? Doskada: 5 bosqichli algoritm (qurum, karboksigemoglobin, g‘oz panjasi, pufak oqsili, gistologiya) va 9% qoidasini chizing. Tipik xato: yuza tomirdagi karboksigemoglobinni hayotiylik isboti deb hisoblash.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Yuqori va past haroratdan yetkazilgan jarohatning tiriklikda yetkazilganligini, jarohat maydonini aniqlash.</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o‘quv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Yuqori va past harorat butun tanaga ta’sir qilsa issiq urish yoki sovuq qotish, tananing bir qismiga ta’sir qilsa kuyish yoki sovuq urish chiqaradi.</a:t>
            </a:r>
          </a:p>
          <a:p>
            <a:pPr>
              <a:spcAft>
                <a:spcPts val="1200"/>
              </a:spcAft>
            </a:pPr>
            <a:r>
              <a:rPr sz="2200">
                <a:solidFill>
                  <a:srgbClr val="1F2937"/>
                </a:solidFill>
                <a:latin typeface="Calibri"/>
              </a:rPr>
              <a:t>▸  Yong‘indan keyin topilgan murdada alanga ta’siri tiriklikda bo‘lganmi yoki o‘limdan keyinmi — buni aniqlash zarur.</a:t>
            </a:r>
          </a:p>
          <a:p>
            <a:pPr>
              <a:spcAft>
                <a:spcPts val="1200"/>
              </a:spcAft>
            </a:pPr>
            <a:r>
              <a:rPr sz="2200">
                <a:solidFill>
                  <a:srgbClr val="1F2937"/>
                </a:solidFill>
                <a:latin typeface="Calibri"/>
              </a:rPr>
              <a:t>▸  Kuyishni baholashda darajadan tashqari jarohat egallagan maydon ham muhim. U “to‘qqizliklar” va “kaft” qoidasi bilan taxminan topiladi.</a:t>
            </a:r>
          </a:p>
          <a:p>
            <a:pPr>
              <a:spcAft>
                <a:spcPts val="1200"/>
              </a:spcAft>
            </a:pPr>
            <a:r>
              <a:rPr sz="2200">
                <a:solidFill>
                  <a:srgbClr val="1F2937"/>
                </a:solidFill>
                <a:latin typeface="Calibri"/>
              </a:rPr>
              <a:t>▸  Past harorat ta’sirining tiriklikdagi belgilari ham bor: “sovuq qotgan odam pozasi” va oshqozondagi qon quyilishlar (Vishnevskiy dog‘lari).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183, 188, 186-187, 192-193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Tana harorati me’yori va issiqlik ajralishi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Me’yorda tana harorati 36-37°S; issiqlik hosil bo‘lishi va ajralishi boshqarib turiladi.</a:t>
            </a:r>
          </a:p>
          <a:p>
            <a:pPr>
              <a:spcAft>
                <a:spcPts val="800"/>
              </a:spcAft>
            </a:pPr>
            <a:r>
              <a:rPr sz="1800">
                <a:solidFill>
                  <a:srgbClr val="1F2937"/>
                </a:solidFill>
                <a:latin typeface="Calibri"/>
              </a:rPr>
              <a:t>▸  22-25°S dan past yoki 43-44°S dan baland bo‘lsa, to‘qimada hayotga mos kelmaydigan o‘zgarish bo‘ladi.</a:t>
            </a:r>
          </a:p>
          <a:p>
            <a:pPr>
              <a:spcAft>
                <a:spcPts val="800"/>
              </a:spcAft>
            </a:pPr>
            <a:r>
              <a:rPr sz="1800">
                <a:solidFill>
                  <a:srgbClr val="1F2937"/>
                </a:solidFill>
                <a:latin typeface="Calibri"/>
              </a:rPr>
              <a:t>▸  Ortiqcha issiqning eng katta qismi nurlanish bilan, keyin ter va o‘tkazish orqali chiqariladi.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937763"/>
                <a:gridCol w="2350211"/>
              </a:tblGrid>
              <a:tr h="411480">
                <a:tc>
                  <a:txBody>
                    <a:bodyPr/>
                    <a:lstStyle/>
                    <a:p>
                      <a:r>
                        <a:rPr sz="1400" b="1">
                          <a:solidFill>
                            <a:srgbClr val="FFFFFF"/>
                          </a:solidFill>
                        </a:rPr>
                        <a:t>Ajralish yo‘li</a:t>
                      </a:r>
                    </a:p>
                  </a:txBody>
                  <a:tcPr marL="73152" marR="73152" marT="36576" marB="36576">
                    <a:solidFill>
                      <a:srgbClr val="0B1F3A"/>
                    </a:solidFill>
                  </a:tcPr>
                </a:tc>
                <a:tc>
                  <a:txBody>
                    <a:bodyPr/>
                    <a:lstStyle/>
                    <a:p>
                      <a:r>
                        <a:rPr sz="1400" b="1">
                          <a:solidFill>
                            <a:srgbClr val="FFFFFF"/>
                          </a:solidFill>
                        </a:rPr>
                        <a:t>Ulushi</a:t>
                      </a:r>
                    </a:p>
                  </a:txBody>
                  <a:tcPr marL="73152" marR="73152" marT="36576" marB="36576">
                    <a:solidFill>
                      <a:srgbClr val="0B1F3A"/>
                    </a:solidFill>
                  </a:tcPr>
                </a:tc>
              </a:tr>
              <a:tr h="411480">
                <a:tc>
                  <a:txBody>
                    <a:bodyPr/>
                    <a:lstStyle/>
                    <a:p>
                      <a:r>
                        <a:rPr sz="1300" b="0">
                          <a:solidFill>
                            <a:srgbClr val="1F2937"/>
                          </a:solidFill>
                        </a:rPr>
                        <a:t>Nurlanish</a:t>
                      </a:r>
                    </a:p>
                  </a:txBody>
                  <a:tcPr marL="73152" marR="73152" marT="36576" marB="36576">
                    <a:solidFill>
                      <a:srgbClr val="E8EEF6"/>
                    </a:solidFill>
                  </a:tcPr>
                </a:tc>
                <a:tc>
                  <a:txBody>
                    <a:bodyPr/>
                    <a:lstStyle/>
                    <a:p>
                      <a:r>
                        <a:rPr sz="1300" b="0">
                          <a:solidFill>
                            <a:srgbClr val="1F2937"/>
                          </a:solidFill>
                        </a:rPr>
                        <a:t>55%</a:t>
                      </a:r>
                    </a:p>
                  </a:txBody>
                  <a:tcPr marL="73152" marR="73152" marT="36576" marB="36576">
                    <a:solidFill>
                      <a:srgbClr val="E8EEF6"/>
                    </a:solidFill>
                  </a:tcPr>
                </a:tc>
              </a:tr>
              <a:tr h="411480">
                <a:tc>
                  <a:txBody>
                    <a:bodyPr/>
                    <a:lstStyle/>
                    <a:p>
                      <a:r>
                        <a:rPr sz="1300" b="0">
                          <a:solidFill>
                            <a:srgbClr val="1F2937"/>
                          </a:solidFill>
                        </a:rPr>
                        <a:t>Ter bilan</a:t>
                      </a:r>
                    </a:p>
                  </a:txBody>
                  <a:tcPr marL="73152" marR="73152" marT="36576" marB="36576">
                    <a:solidFill>
                      <a:srgbClr val="FFFFFF"/>
                    </a:solidFill>
                  </a:tcPr>
                </a:tc>
                <a:tc>
                  <a:txBody>
                    <a:bodyPr/>
                    <a:lstStyle/>
                    <a:p>
                      <a:r>
                        <a:rPr sz="1300" b="0">
                          <a:solidFill>
                            <a:srgbClr val="1F2937"/>
                          </a:solidFill>
                        </a:rPr>
                        <a:t>27%</a:t>
                      </a:r>
                    </a:p>
                  </a:txBody>
                  <a:tcPr marL="73152" marR="73152" marT="36576" marB="36576">
                    <a:solidFill>
                      <a:srgbClr val="FFFFFF"/>
                    </a:solidFill>
                  </a:tcPr>
                </a:tc>
              </a:tr>
              <a:tr h="411480">
                <a:tc>
                  <a:txBody>
                    <a:bodyPr/>
                    <a:lstStyle/>
                    <a:p>
                      <a:r>
                        <a:rPr sz="1300" b="0">
                          <a:solidFill>
                            <a:srgbClr val="1F2937"/>
                          </a:solidFill>
                        </a:rPr>
                        <a:t>O‘tkazish</a:t>
                      </a:r>
                    </a:p>
                  </a:txBody>
                  <a:tcPr marL="73152" marR="73152" marT="36576" marB="36576">
                    <a:solidFill>
                      <a:srgbClr val="E8EEF6"/>
                    </a:solidFill>
                  </a:tcPr>
                </a:tc>
                <a:tc>
                  <a:txBody>
                    <a:bodyPr/>
                    <a:lstStyle/>
                    <a:p>
                      <a:r>
                        <a:rPr sz="1300" b="0">
                          <a:solidFill>
                            <a:srgbClr val="1F2937"/>
                          </a:solidFill>
                        </a:rPr>
                        <a:t>15%</a:t>
                      </a:r>
                    </a:p>
                  </a:txBody>
                  <a:tcPr marL="73152" marR="73152" marT="36576" marB="36576">
                    <a:solidFill>
                      <a:srgbClr val="E8EEF6"/>
                    </a:solidFill>
                  </a:tcPr>
                </a:tc>
              </a:tr>
              <a:tr h="411480">
                <a:tc>
                  <a:txBody>
                    <a:bodyPr/>
                    <a:lstStyle/>
                    <a:p>
                      <a:r>
                        <a:rPr sz="1300" b="0">
                          <a:solidFill>
                            <a:srgbClr val="1F2937"/>
                          </a:solidFill>
                        </a:rPr>
                        <a:t>Turli ajratmalar</a:t>
                      </a:r>
                    </a:p>
                  </a:txBody>
                  <a:tcPr marL="73152" marR="73152" marT="36576" marB="36576">
                    <a:solidFill>
                      <a:srgbClr val="FFFFFF"/>
                    </a:solidFill>
                  </a:tcPr>
                </a:tc>
                <a:tc>
                  <a:txBody>
                    <a:bodyPr/>
                    <a:lstStyle/>
                    <a:p>
                      <a:r>
                        <a:rPr sz="1300" b="0">
                          <a:solidFill>
                            <a:srgbClr val="1F2937"/>
                          </a:solidFill>
                        </a:rPr>
                        <a:t>3%</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Issiqlik ajralish yo‘llari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Harorat ta’sirining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Umumiy ta’sir butun organizmga tegadi: issiq urish yoki tananing sovuq qotishi rivojlanadi.</a:t>
            </a:r>
          </a:p>
          <a:p>
            <a:pPr>
              <a:spcAft>
                <a:spcPts val="800"/>
              </a:spcAft>
            </a:pPr>
            <a:r>
              <a:rPr sz="1800">
                <a:solidFill>
                  <a:srgbClr val="1F2937"/>
                </a:solidFill>
                <a:latin typeface="Calibri"/>
              </a:rPr>
              <a:t>▸  Mahalliy ta’sir tananing bir qismida kuyish yoki sovuq urish hosil qiladi.</a:t>
            </a:r>
          </a:p>
          <a:p>
            <a:pPr>
              <a:spcAft>
                <a:spcPts val="800"/>
              </a:spcAft>
            </a:pPr>
            <a:r>
              <a:rPr sz="1800">
                <a:solidFill>
                  <a:srgbClr val="1F2937"/>
                </a:solidFill>
                <a:latin typeface="Calibri"/>
              </a:rPr>
              <a:t>▸  Diqqat: sovuq urishda tana harorati umuman me’yorda bo‘ladi, sovuq qotishda esa pasayadi.</a:t>
            </a:r>
          </a:p>
        </p:txBody>
      </p:sp>
      <p:graphicFrame>
        <p:nvGraphicFramePr>
          <p:cNvPr id="9" name="Table 8"/>
          <p:cNvGraphicFramePr>
            <a:graphicFrameLocks noGrp="1"/>
          </p:cNvGraphicFramePr>
          <p:nvPr/>
        </p:nvGraphicFramePr>
        <p:xfrm>
          <a:off x="6263640" y="1463040"/>
          <a:ext cx="5287974" cy="1234440"/>
        </p:xfrm>
        <a:graphic>
          <a:graphicData uri="http://schemas.openxmlformats.org/drawingml/2006/table">
            <a:tbl>
              <a:tblPr firstRow="1" bandRow="1">
                <a:tableStyleId>{5C22544A-7EE6-4342-B048-85BDC9FD1C3A}</a:tableStyleId>
              </a:tblPr>
              <a:tblGrid>
                <a:gridCol w="1566807"/>
                <a:gridCol w="1958509"/>
                <a:gridCol w="1762658"/>
              </a:tblGrid>
              <a:tr h="411480">
                <a:tc>
                  <a:txBody>
                    <a:bodyPr/>
                    <a:lstStyle/>
                    <a:p>
                      <a:r>
                        <a:rPr sz="1300" b="1">
                          <a:solidFill>
                            <a:srgbClr val="FFFFFF"/>
                          </a:solidFill>
                        </a:rPr>
                        <a:t>Ta’sir</a:t>
                      </a:r>
                    </a:p>
                  </a:txBody>
                  <a:tcPr marL="73152" marR="73152" marT="36576" marB="36576">
                    <a:solidFill>
                      <a:srgbClr val="0B1F3A"/>
                    </a:solidFill>
                  </a:tcPr>
                </a:tc>
                <a:tc>
                  <a:txBody>
                    <a:bodyPr/>
                    <a:lstStyle/>
                    <a:p>
                      <a:r>
                        <a:rPr sz="1300" b="1">
                          <a:solidFill>
                            <a:srgbClr val="FFFFFF"/>
                          </a:solidFill>
                        </a:rPr>
                        <a:t>Yuqori harorat</a:t>
                      </a:r>
                    </a:p>
                  </a:txBody>
                  <a:tcPr marL="73152" marR="73152" marT="36576" marB="36576">
                    <a:solidFill>
                      <a:srgbClr val="0B1F3A"/>
                    </a:solidFill>
                  </a:tcPr>
                </a:tc>
                <a:tc>
                  <a:txBody>
                    <a:bodyPr/>
                    <a:lstStyle/>
                    <a:p>
                      <a:r>
                        <a:rPr sz="1300" b="1">
                          <a:solidFill>
                            <a:srgbClr val="FFFFFF"/>
                          </a:solidFill>
                        </a:rPr>
                        <a:t>Past harorat</a:t>
                      </a:r>
                    </a:p>
                  </a:txBody>
                  <a:tcPr marL="73152" marR="73152" marT="36576" marB="36576">
                    <a:solidFill>
                      <a:srgbClr val="0B1F3A"/>
                    </a:solidFill>
                  </a:tcPr>
                </a:tc>
              </a:tr>
              <a:tr h="411480">
                <a:tc>
                  <a:txBody>
                    <a:bodyPr/>
                    <a:lstStyle/>
                    <a:p>
                      <a:r>
                        <a:rPr sz="1200" b="0">
                          <a:solidFill>
                            <a:srgbClr val="1F2937"/>
                          </a:solidFill>
                        </a:rPr>
                        <a:t>Umumiy</a:t>
                      </a:r>
                    </a:p>
                  </a:txBody>
                  <a:tcPr marL="73152" marR="73152" marT="36576" marB="36576">
                    <a:solidFill>
                      <a:srgbClr val="E8EEF6"/>
                    </a:solidFill>
                  </a:tcPr>
                </a:tc>
                <a:tc>
                  <a:txBody>
                    <a:bodyPr/>
                    <a:lstStyle/>
                    <a:p>
                      <a:r>
                        <a:rPr sz="1200" b="0">
                          <a:solidFill>
                            <a:srgbClr val="1F2937"/>
                          </a:solidFill>
                        </a:rPr>
                        <a:t>Issiq urish</a:t>
                      </a:r>
                    </a:p>
                  </a:txBody>
                  <a:tcPr marL="73152" marR="73152" marT="36576" marB="36576">
                    <a:solidFill>
                      <a:srgbClr val="E8EEF6"/>
                    </a:solidFill>
                  </a:tcPr>
                </a:tc>
                <a:tc>
                  <a:txBody>
                    <a:bodyPr/>
                    <a:lstStyle/>
                    <a:p>
                      <a:r>
                        <a:rPr sz="1200" b="0">
                          <a:solidFill>
                            <a:srgbClr val="1F2937"/>
                          </a:solidFill>
                        </a:rPr>
                        <a:t>Sovuq qotish</a:t>
                      </a:r>
                    </a:p>
                  </a:txBody>
                  <a:tcPr marL="73152" marR="73152" marT="36576" marB="36576">
                    <a:solidFill>
                      <a:srgbClr val="E8EEF6"/>
                    </a:solidFill>
                  </a:tcPr>
                </a:tc>
              </a:tr>
              <a:tr h="411480">
                <a:tc>
                  <a:txBody>
                    <a:bodyPr/>
                    <a:lstStyle/>
                    <a:p>
                      <a:r>
                        <a:rPr sz="1200" b="0">
                          <a:solidFill>
                            <a:srgbClr val="1F2937"/>
                          </a:solidFill>
                        </a:rPr>
                        <a:t>Mahalliy</a:t>
                      </a:r>
                    </a:p>
                  </a:txBody>
                  <a:tcPr marL="73152" marR="73152" marT="36576" marB="36576">
                    <a:solidFill>
                      <a:srgbClr val="FFFFFF"/>
                    </a:solidFill>
                  </a:tcPr>
                </a:tc>
                <a:tc>
                  <a:txBody>
                    <a:bodyPr/>
                    <a:lstStyle/>
                    <a:p>
                      <a:r>
                        <a:rPr sz="1200" b="0">
                          <a:solidFill>
                            <a:srgbClr val="1F2937"/>
                          </a:solidFill>
                        </a:rPr>
                        <a:t>Termik kuyish</a:t>
                      </a:r>
                    </a:p>
                  </a:txBody>
                  <a:tcPr marL="73152" marR="73152" marT="36576" marB="36576">
                    <a:solidFill>
                      <a:srgbClr val="FFFFFF"/>
                    </a:solidFill>
                  </a:tcPr>
                </a:tc>
                <a:tc>
                  <a:txBody>
                    <a:bodyPr/>
                    <a:lstStyle/>
                    <a:p>
                      <a:r>
                        <a:rPr sz="1200" b="0">
                          <a:solidFill>
                            <a:srgbClr val="1F2937"/>
                          </a:solidFill>
                        </a:rPr>
                        <a:t>Sovuq urish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Umumiy va mahalliy ta’sir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183, 195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Issiq urish: sabablar va mexanizm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Issiq urish issiqlik ko‘p ishlab chiqarilib, kam ajratilganda yuzaga keladi: issiq va nam havo, shamolsizlik, issiq sex, og‘ir jismoniy ish.</a:t>
            </a:r>
          </a:p>
          <a:p>
            <a:pPr>
              <a:spcAft>
                <a:spcPts val="1200"/>
              </a:spcAft>
            </a:pPr>
            <a:r>
              <a:rPr sz="2200">
                <a:solidFill>
                  <a:srgbClr val="1F2937"/>
                </a:solidFill>
                <a:latin typeface="Calibri"/>
              </a:rPr>
              <a:t>▸  Havo o‘tkazmaydigan kiyim, yurak-qon tomir kasalligi, semizlik va keksalik moyillikni oshiradi. Bir yoshgacha bolalar o‘ta sezgir.</a:t>
            </a:r>
          </a:p>
          <a:p>
            <a:pPr>
              <a:spcAft>
                <a:spcPts val="1200"/>
              </a:spcAft>
            </a:pPr>
            <a:r>
              <a:rPr sz="2200">
                <a:solidFill>
                  <a:srgbClr val="1F2937"/>
                </a:solidFill>
                <a:latin typeface="Calibri"/>
              </a:rPr>
              <a:t>▸  Asosiy mexanizm — gemodinamika buzilishi: qon quyuqlashadi, aylanish sustlashadi, to‘qima gipertermiyasi kuchayib, gipoksiya rivojlanadi.</a:t>
            </a:r>
          </a:p>
          <a:p>
            <a:pPr>
              <a:spcAft>
                <a:spcPts val="1200"/>
              </a:spcAft>
            </a:pPr>
            <a:r>
              <a:rPr sz="2200">
                <a:solidFill>
                  <a:srgbClr val="1F2937"/>
                </a:solidFill>
                <a:latin typeface="Calibri"/>
              </a:rPr>
              <a:t>▸  Stress reaksiyasida katexolaminlar va glyukokortikoidlar ajraladi. Mikrotsirkulyatsiyada staz va qon tomir o‘tkazuvchanligi buziladi.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Issiq urishning o‘tkir va uzaytirilgan shakli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O‘tkir shakl: o‘rganmagan organizmda birdan hush yo‘qolib, koma rivojlanadi va qisqa muddatda o‘lim sodir bo‘ladi.</a:t>
            </a:r>
          </a:p>
          <a:p>
            <a:pPr>
              <a:spcAft>
                <a:spcPts val="800"/>
              </a:spcAft>
            </a:pPr>
            <a:r>
              <a:rPr sz="1800">
                <a:solidFill>
                  <a:srgbClr val="1F2937"/>
                </a:solidFill>
                <a:latin typeface="Calibri"/>
              </a:rPr>
              <a:t>▸  Uzaytirilgan shakl sekin kechadi, og‘irlik asta-sekin oshadi; uchta davr farqlanadi.</a:t>
            </a:r>
          </a:p>
          <a:p>
            <a:pPr>
              <a:spcAft>
                <a:spcPts val="800"/>
              </a:spcAft>
            </a:pPr>
            <a:r>
              <a:rPr sz="1800">
                <a:solidFill>
                  <a:srgbClr val="1F2937"/>
                </a:solidFill>
                <a:latin typeface="Calibri"/>
              </a:rPr>
              <a:t>▸  Tana harorati 42-43°S dan oshganda nafas olishning birlamchi to‘xtashidan o‘lim sodir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MNT susayishi (latent davr)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Qo‘zg‘alish: bezovtalik</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Holsizlik: koma, talvasa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Harorat 41-42°S dan baland</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&gt;42-43°S: nafas to‘xtashi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davr (MNT — markaziy nerv tizimi)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183-184, 184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Quyosh urishi va murdadagi o‘zgarishlar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Uzoq quyosh nuri boshga tushganda markaziy nerv tizimi buziladi: bosh og‘rig‘i, hush xiralashuvi.</a:t>
            </a:r>
          </a:p>
          <a:p>
            <a:pPr>
              <a:spcAft>
                <a:spcPts val="800"/>
              </a:spcAft>
            </a:pPr>
            <a:r>
              <a:rPr sz="1800">
                <a:solidFill>
                  <a:srgbClr val="1F2937"/>
                </a:solidFill>
                <a:latin typeface="Calibri"/>
              </a:rPr>
              <a:t>▸  Tana harorati salmoqli ko‘tarilmaydi; terida I darajali kuyish (eritema) bo‘lishi mumkin.</a:t>
            </a:r>
          </a:p>
          <a:p>
            <a:pPr>
              <a:spcAft>
                <a:spcPts val="800"/>
              </a:spcAft>
            </a:pPr>
            <a:r>
              <a:rPr sz="1800">
                <a:solidFill>
                  <a:srgbClr val="1F2937"/>
                </a:solidFill>
                <a:latin typeface="Calibri"/>
              </a:rPr>
              <a:t>▸  Issiq va quyosh urishidan o‘lganda morfologik o‘zgarishlar o‘xshash, spetsifik belgi yo‘q.</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A’zo/belgi</a:t>
                      </a:r>
                    </a:p>
                  </a:txBody>
                  <a:tcPr marL="73152" marR="73152" marT="36576" marB="36576">
                    <a:solidFill>
                      <a:srgbClr val="0B1F3A"/>
                    </a:solidFill>
                  </a:tcPr>
                </a:tc>
                <a:tc>
                  <a:txBody>
                    <a:bodyPr/>
                    <a:lstStyle/>
                    <a:p>
                      <a:r>
                        <a:rPr sz="1400" b="1">
                          <a:solidFill>
                            <a:srgbClr val="FFFFFF"/>
                          </a:solidFill>
                        </a:rPr>
                        <a:t>Topilma</a:t>
                      </a:r>
                    </a:p>
                  </a:txBody>
                  <a:tcPr marL="73152" marR="73152" marT="36576" marB="36576">
                    <a:solidFill>
                      <a:srgbClr val="0B1F3A"/>
                    </a:solidFill>
                  </a:tcPr>
                </a:tc>
              </a:tr>
              <a:tr h="411480">
                <a:tc>
                  <a:txBody>
                    <a:bodyPr/>
                    <a:lstStyle/>
                    <a:p>
                      <a:r>
                        <a:rPr sz="1300" b="0">
                          <a:solidFill>
                            <a:srgbClr val="1F2937"/>
                          </a:solidFill>
                        </a:rPr>
                        <a:t>Bosh miya</a:t>
                      </a:r>
                    </a:p>
                  </a:txBody>
                  <a:tcPr marL="73152" marR="73152" marT="36576" marB="36576">
                    <a:solidFill>
                      <a:srgbClr val="E8EEF6"/>
                    </a:solidFill>
                  </a:tcPr>
                </a:tc>
                <a:tc>
                  <a:txBody>
                    <a:bodyPr/>
                    <a:lstStyle/>
                    <a:p>
                      <a:r>
                        <a:rPr sz="1300" b="0">
                          <a:solidFill>
                            <a:srgbClr val="1F2937"/>
                          </a:solidFill>
                        </a:rPr>
                        <a:t>To‘laqonlik, shishish, mayda qon quyilish</a:t>
                      </a:r>
                    </a:p>
                  </a:txBody>
                  <a:tcPr marL="73152" marR="73152" marT="36576" marB="36576">
                    <a:solidFill>
                      <a:srgbClr val="E8EEF6"/>
                    </a:solidFill>
                  </a:tcPr>
                </a:tc>
              </a:tr>
              <a:tr h="411480">
                <a:tc>
                  <a:txBody>
                    <a:bodyPr/>
                    <a:lstStyle/>
                    <a:p>
                      <a:r>
                        <a:rPr sz="1300" b="0">
                          <a:solidFill>
                            <a:srgbClr val="1F2937"/>
                          </a:solidFill>
                        </a:rPr>
                        <a:t>Ichki a’zolar</a:t>
                      </a:r>
                    </a:p>
                  </a:txBody>
                  <a:tcPr marL="73152" marR="73152" marT="36576" marB="36576">
                    <a:solidFill>
                      <a:srgbClr val="FFFFFF"/>
                    </a:solidFill>
                  </a:tcPr>
                </a:tc>
                <a:tc>
                  <a:txBody>
                    <a:bodyPr/>
                    <a:lstStyle/>
                    <a:p>
                      <a:r>
                        <a:rPr sz="1300" b="0">
                          <a:solidFill>
                            <a:srgbClr val="1F2937"/>
                          </a:solidFill>
                        </a:rPr>
                        <a:t>To‘laqonlik, seroz ostida qon quyilishlar</a:t>
                      </a:r>
                    </a:p>
                  </a:txBody>
                  <a:tcPr marL="73152" marR="73152" marT="36576" marB="36576">
                    <a:solidFill>
                      <a:srgbClr val="FFFFFF"/>
                    </a:solidFill>
                  </a:tcPr>
                </a:tc>
              </a:tr>
              <a:tr h="411480">
                <a:tc>
                  <a:txBody>
                    <a:bodyPr/>
                    <a:lstStyle/>
                    <a:p>
                      <a:r>
                        <a:rPr sz="1300" b="0">
                          <a:solidFill>
                            <a:srgbClr val="1F2937"/>
                          </a:solidFill>
                        </a:rPr>
                        <a:t>Yurak, o‘pka</a:t>
                      </a:r>
                    </a:p>
                  </a:txBody>
                  <a:tcPr marL="73152" marR="73152" marT="36576" marB="36576">
                    <a:solidFill>
                      <a:srgbClr val="E8EEF6"/>
                    </a:solidFill>
                  </a:tcPr>
                </a:tc>
                <a:tc>
                  <a:txBody>
                    <a:bodyPr/>
                    <a:lstStyle/>
                    <a:p>
                      <a:r>
                        <a:rPr sz="1300" b="0">
                          <a:solidFill>
                            <a:srgbClr val="1F2937"/>
                          </a:solidFill>
                        </a:rPr>
                        <a:t>Quyuq qon; o‘pka qo‘ng‘ir tusda</a:t>
                      </a:r>
                    </a:p>
                  </a:txBody>
                  <a:tcPr marL="73152" marR="73152" marT="36576" marB="36576">
                    <a:solidFill>
                      <a:srgbClr val="E8EEF6"/>
                    </a:solidFill>
                  </a:tcPr>
                </a:tc>
              </a:tr>
              <a:tr h="411480">
                <a:tc>
                  <a:txBody>
                    <a:bodyPr/>
                    <a:lstStyle/>
                    <a:p>
                      <a:r>
                        <a:rPr sz="1300" b="0">
                          <a:solidFill>
                            <a:srgbClr val="1F2937"/>
                          </a:solidFill>
                        </a:rPr>
                        <a:t>Murda qotishi</a:t>
                      </a:r>
                    </a:p>
                  </a:txBody>
                  <a:tcPr marL="73152" marR="73152" marT="36576" marB="36576">
                    <a:solidFill>
                      <a:srgbClr val="FFFFFF"/>
                    </a:solidFill>
                  </a:tcPr>
                </a:tc>
                <a:tc>
                  <a:txBody>
                    <a:bodyPr/>
                    <a:lstStyle/>
                    <a:p>
                      <a:r>
                        <a:rPr sz="1300" b="0">
                          <a:solidFill>
                            <a:srgbClr val="1F2937"/>
                          </a:solidFill>
                        </a:rPr>
                        <a:t>Tez va kuchli; dog‘lar kech, oz</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Murdadagi topilmalar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issiq urishi va quyosh urishi bir-biridan nimasi bilan farq qiladi va murdada ularni ajratish mumkinmi?</a:t>
            </a:r>
          </a:p>
          <a:p>
            <a:pPr>
              <a:spcAft>
                <a:spcPts val="1200"/>
              </a:spcAft>
            </a:pPr>
            <a:r>
              <a:rPr sz="2200">
                <a:solidFill>
                  <a:srgbClr val="1F2937"/>
                </a:solidFill>
                <a:latin typeface="Calibri"/>
              </a:rPr>
              <a:t>▸  Issiq urishida issiqlik ko‘p ishlab chiqariladi va kam ajratiladi. Quyosh urishi esa bosh kiyimsiz, quyosh nurlari ostida boshning qizishidan kelib chiqadi.</a:t>
            </a:r>
          </a:p>
          <a:p>
            <a:pPr>
              <a:spcAft>
                <a:spcPts val="1200"/>
              </a:spcAft>
            </a:pPr>
            <a:r>
              <a:rPr sz="2200">
                <a:solidFill>
                  <a:srgbClr val="1F2937"/>
                </a:solidFill>
                <a:latin typeface="Calibri"/>
              </a:rPr>
              <a:t>▸  Quyosh urishida tana haroratining salmoqli ko‘tarilishi xos emas. Terida I darajali kuyish belgilari (eritema) bo‘lishi mumkin.</a:t>
            </a:r>
          </a:p>
          <a:p>
            <a:pPr>
              <a:spcAft>
                <a:spcPts val="1200"/>
              </a:spcAft>
            </a:pPr>
            <a:r>
              <a:rPr sz="2200">
                <a:solidFill>
                  <a:srgbClr val="1F2937"/>
                </a:solidFill>
                <a:latin typeface="Calibri"/>
              </a:rPr>
              <a:t>▸  Diqqat: issiq urishi ≠ quyosh urishi, lekin murdada o‘zgarishlar o‘xshash va spetsifik emas: miya to‘laqonligi, murda qotishi tez va kuchli, dog‘lar kech va oz.</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183-184, 184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Termik kuyish: manbalar va chuqurlik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Teri va ostidagi to‘qimalarda harorat 45-50°S dan oshsa, termik kuyish boshlanadi. Chuqurlik manba turi, harorati, ta’sir davomiyligi va sohaga bog‘liq.</a:t>
            </a:r>
          </a:p>
          <a:p>
            <a:pPr>
              <a:spcAft>
                <a:spcPts val="1200"/>
              </a:spcAft>
            </a:pPr>
            <a:r>
              <a:rPr sz="2200">
                <a:solidFill>
                  <a:srgbClr val="1F2937"/>
                </a:solidFill>
                <a:latin typeface="Calibri"/>
              </a:rPr>
              <a:t>▸  Manbalar: alanga, smola, napalm, bitum, 60°S dan issiq suv, qaynoq bug‘, gaz, qizdirilgan jism. Teri yupqa sohalarda kuyish chuqurroq bo‘ladi.</a:t>
            </a:r>
          </a:p>
          <a:p>
            <a:pPr>
              <a:spcAft>
                <a:spcPts val="1200"/>
              </a:spcAft>
            </a:pPr>
            <a:r>
              <a:rPr sz="2200">
                <a:solidFill>
                  <a:srgbClr val="1F2937"/>
                </a:solidFill>
                <a:latin typeface="Calibri"/>
              </a:rPr>
              <a:t>▸  Issiq suyuqlikda soch va kiyim shikastlanmaydi, kuyish yuzaki, oqma shaklida. Alangada soch va kiyim shikastlanadi, kuyish chuqur, yarada qurum izlari bo‘ladi.</a:t>
            </a:r>
          </a:p>
          <a:p>
            <a:pPr>
              <a:spcAft>
                <a:spcPts val="1200"/>
              </a:spcAft>
            </a:pPr>
            <a:r>
              <a:rPr sz="2200">
                <a:solidFill>
                  <a:srgbClr val="1F2937"/>
                </a:solidFill>
                <a:latin typeface="Calibri"/>
              </a:rPr>
              <a:t>▸  Diqqat: IV darajali kuyish faqat alanga ta’sirida bo‘ladi. Nafas yo‘llarining kuyishi esa bug‘ va issiq gazlarga xos.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185, 186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Kuyish darajalari: solishtirma jadval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 va II daraja yuzaki, III va IV daraja chuqur kuyish hisoblanadi.</a:t>
            </a:r>
          </a:p>
          <a:p>
            <a:pPr>
              <a:spcAft>
                <a:spcPts val="800"/>
              </a:spcAft>
            </a:pPr>
            <a:r>
              <a:rPr sz="1800">
                <a:solidFill>
                  <a:srgbClr val="1F2937"/>
                </a:solidFill>
                <a:latin typeface="Calibri"/>
              </a:rPr>
              <a:t>▸  Bir jarohatda ko‘pincha turli darajalar birga uchraydi (masalan, I-II yoki II-III).</a:t>
            </a:r>
          </a:p>
          <a:p>
            <a:pPr>
              <a:spcAft>
                <a:spcPts val="800"/>
              </a:spcAft>
            </a:pPr>
            <a:r>
              <a:rPr sz="1800">
                <a:solidFill>
                  <a:srgbClr val="1F2937"/>
                </a:solidFill>
                <a:latin typeface="Calibri"/>
              </a:rPr>
              <a:t>▸  Diqqat: III-A da nekroz yuza qavatda, III-V da epidermis va dermaning to‘liq nekrozi.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881329"/>
                <a:gridCol w="2203322"/>
                <a:gridCol w="2203322"/>
              </a:tblGrid>
              <a:tr h="411480">
                <a:tc>
                  <a:txBody>
                    <a:bodyPr/>
                    <a:lstStyle/>
                    <a:p>
                      <a:r>
                        <a:rPr sz="1300" b="1">
                          <a:solidFill>
                            <a:srgbClr val="FFFFFF"/>
                          </a:solidFill>
                        </a:rPr>
                        <a:t>Daraja</a:t>
                      </a:r>
                    </a:p>
                  </a:txBody>
                  <a:tcPr marL="73152" marR="73152" marT="36576" marB="36576">
                    <a:solidFill>
                      <a:srgbClr val="0B1F3A"/>
                    </a:solidFill>
                  </a:tcPr>
                </a:tc>
                <a:tc>
                  <a:txBody>
                    <a:bodyPr/>
                    <a:lstStyle/>
                    <a:p>
                      <a:r>
                        <a:rPr sz="1300" b="1">
                          <a:solidFill>
                            <a:srgbClr val="FFFFFF"/>
                          </a:solidFill>
                        </a:rPr>
                        <a:t>Belgi/tuzalish</a:t>
                      </a:r>
                    </a:p>
                  </a:txBody>
                  <a:tcPr marL="73152" marR="73152" marT="36576" marB="36576">
                    <a:solidFill>
                      <a:srgbClr val="0B1F3A"/>
                    </a:solidFill>
                  </a:tcPr>
                </a:tc>
                <a:tc>
                  <a:txBody>
                    <a:bodyPr/>
                    <a:lstStyle/>
                    <a:p>
                      <a:r>
                        <a:rPr sz="1300" b="1">
                          <a:solidFill>
                            <a:srgbClr val="FFFFFF"/>
                          </a:solidFill>
                        </a:rPr>
                        <a:t>Murdada</a:t>
                      </a:r>
                    </a:p>
                  </a:txBody>
                  <a:tcPr marL="73152" marR="73152" marT="36576" marB="36576">
                    <a:solidFill>
                      <a:srgbClr val="0B1F3A"/>
                    </a:solidFill>
                  </a:tcPr>
                </a:tc>
              </a:tr>
              <a:tr h="411480">
                <a:tc>
                  <a:txBody>
                    <a:bodyPr/>
                    <a:lstStyle/>
                    <a:p>
                      <a:r>
                        <a:rPr sz="1200" b="0">
                          <a:solidFill>
                            <a:srgbClr val="1F2937"/>
                          </a:solidFill>
                        </a:rPr>
                        <a:t>I</a:t>
                      </a:r>
                    </a:p>
                  </a:txBody>
                  <a:tcPr marL="73152" marR="73152" marT="36576" marB="36576">
                    <a:solidFill>
                      <a:srgbClr val="E8EEF6"/>
                    </a:solidFill>
                  </a:tcPr>
                </a:tc>
                <a:tc>
                  <a:txBody>
                    <a:bodyPr/>
                    <a:lstStyle/>
                    <a:p>
                      <a:r>
                        <a:rPr sz="1200" b="0">
                          <a:solidFill>
                            <a:srgbClr val="1F2937"/>
                          </a:solidFill>
                        </a:rPr>
                        <a:t>Eritema, shish, og‘riq; 3-4 kunda izsiz</a:t>
                      </a:r>
                    </a:p>
                  </a:txBody>
                  <a:tcPr marL="73152" marR="73152" marT="36576" marB="36576">
                    <a:solidFill>
                      <a:srgbClr val="E8EEF6"/>
                    </a:solidFill>
                  </a:tcPr>
                </a:tc>
                <a:tc>
                  <a:txBody>
                    <a:bodyPr/>
                    <a:lstStyle/>
                    <a:p>
                      <a:r>
                        <a:rPr sz="1200" b="0">
                          <a:solidFill>
                            <a:srgbClr val="1F2937"/>
                          </a:solidFill>
                        </a:rPr>
                        <a:t>Ko‘pincha aniqlanmaydi</a:t>
                      </a:r>
                    </a:p>
                  </a:txBody>
                  <a:tcPr marL="73152" marR="73152" marT="36576" marB="36576">
                    <a:solidFill>
                      <a:srgbClr val="E8EEF6"/>
                    </a:solidFill>
                  </a:tcPr>
                </a:tc>
              </a:tr>
              <a:tr h="411480">
                <a:tc>
                  <a:txBody>
                    <a:bodyPr/>
                    <a:lstStyle/>
                    <a:p>
                      <a:r>
                        <a:rPr sz="1200" b="0">
                          <a:solidFill>
                            <a:srgbClr val="1F2937"/>
                          </a:solidFill>
                        </a:rPr>
                        <a:t>II</a:t>
                      </a:r>
                    </a:p>
                  </a:txBody>
                  <a:tcPr marL="73152" marR="73152" marT="36576" marB="36576">
                    <a:solidFill>
                      <a:srgbClr val="FFFFFF"/>
                    </a:solidFill>
                  </a:tcPr>
                </a:tc>
                <a:tc>
                  <a:txBody>
                    <a:bodyPr/>
                    <a:lstStyle/>
                    <a:p>
                      <a:r>
                        <a:rPr sz="1200" b="0">
                          <a:solidFill>
                            <a:srgbClr val="1F2937"/>
                          </a:solidFill>
                        </a:rPr>
                        <a:t>Seroz pufak; 10-20 kunda chandiqsiz</a:t>
                      </a:r>
                    </a:p>
                  </a:txBody>
                  <a:tcPr marL="73152" marR="73152" marT="36576" marB="36576">
                    <a:solidFill>
                      <a:srgbClr val="FFFFFF"/>
                    </a:solidFill>
                  </a:tcPr>
                </a:tc>
                <a:tc>
                  <a:txBody>
                    <a:bodyPr/>
                    <a:lstStyle/>
                    <a:p>
                      <a:r>
                        <a:rPr sz="1200" b="0">
                          <a:solidFill>
                            <a:srgbClr val="1F2937"/>
                          </a:solidFill>
                        </a:rPr>
                        <a:t>Pufak tubi qo‘ng‘ir, zich; qon chiqmaydi</a:t>
                      </a:r>
                    </a:p>
                  </a:txBody>
                  <a:tcPr marL="73152" marR="73152" marT="36576" marB="36576">
                    <a:solidFill>
                      <a:srgbClr val="FFFFFF"/>
                    </a:solidFill>
                  </a:tcPr>
                </a:tc>
              </a:tr>
              <a:tr h="411480">
                <a:tc>
                  <a:txBody>
                    <a:bodyPr/>
                    <a:lstStyle/>
                    <a:p>
                      <a:r>
                        <a:rPr sz="1200" b="0">
                          <a:solidFill>
                            <a:srgbClr val="1F2937"/>
                          </a:solidFill>
                        </a:rPr>
                        <a:t>III</a:t>
                      </a:r>
                    </a:p>
                  </a:txBody>
                  <a:tcPr marL="73152" marR="73152" marT="36576" marB="36576">
                    <a:solidFill>
                      <a:srgbClr val="E8EEF6"/>
                    </a:solidFill>
                  </a:tcPr>
                </a:tc>
                <a:tc>
                  <a:txBody>
                    <a:bodyPr/>
                    <a:lstStyle/>
                    <a:p>
                      <a:r>
                        <a:rPr sz="1200" b="0">
                          <a:solidFill>
                            <a:srgbClr val="1F2937"/>
                          </a:solidFill>
                        </a:rPr>
                        <a:t>Nekroz, strup; 2-3 haftada granulyatsiya</a:t>
                      </a:r>
                    </a:p>
                  </a:txBody>
                  <a:tcPr marL="73152" marR="73152" marT="36576" marB="36576">
                    <a:solidFill>
                      <a:srgbClr val="E8EEF6"/>
                    </a:solidFill>
                  </a:tcPr>
                </a:tc>
                <a:tc>
                  <a:txBody>
                    <a:bodyPr/>
                    <a:lstStyle/>
                    <a:p>
                      <a:r>
                        <a:rPr sz="1200" b="0">
                          <a:solidFill>
                            <a:srgbClr val="1F2937"/>
                          </a:solidFill>
                        </a:rPr>
                        <a:t>Manbada alohida ko‘rsatilmagan</a:t>
                      </a:r>
                    </a:p>
                  </a:txBody>
                  <a:tcPr marL="73152" marR="73152" marT="36576" marB="36576">
                    <a:solidFill>
                      <a:srgbClr val="E8EEF6"/>
                    </a:solidFill>
                  </a:tcPr>
                </a:tc>
              </a:tr>
              <a:tr h="411480">
                <a:tc>
                  <a:txBody>
                    <a:bodyPr/>
                    <a:lstStyle/>
                    <a:p>
                      <a:r>
                        <a:rPr sz="1200" b="0">
                          <a:solidFill>
                            <a:srgbClr val="1F2937"/>
                          </a:solidFill>
                        </a:rPr>
                        <a:t>IV</a:t>
                      </a:r>
                    </a:p>
                  </a:txBody>
                  <a:tcPr marL="73152" marR="73152" marT="36576" marB="36576">
                    <a:solidFill>
                      <a:srgbClr val="FFFFFF"/>
                    </a:solidFill>
                  </a:tcPr>
                </a:tc>
                <a:tc>
                  <a:txBody>
                    <a:bodyPr/>
                    <a:lstStyle/>
                    <a:p>
                      <a:r>
                        <a:rPr sz="1200" b="0">
                          <a:solidFill>
                            <a:srgbClr val="1F2937"/>
                          </a:solidFill>
                        </a:rPr>
                        <a:t>Teri va chuqur to‘qimalar nekrozi</a:t>
                      </a:r>
                    </a:p>
                  </a:txBody>
                  <a:tcPr marL="73152" marR="73152" marT="36576" marB="36576">
                    <a:solidFill>
                      <a:srgbClr val="FFFFFF"/>
                    </a:solidFill>
                  </a:tcPr>
                </a:tc>
                <a:tc>
                  <a:txBody>
                    <a:bodyPr/>
                    <a:lstStyle/>
                    <a:p>
                      <a:r>
                        <a:rPr sz="1200" b="0">
                          <a:solidFill>
                            <a:srgbClr val="1F2937"/>
                          </a:solidFill>
                        </a:rPr>
                        <a:t>Faqat alangadan hosil bo‘ladi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Kuyish darajalari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III-IV darajali kuyish va asoratlari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III darajada nekroz bo‘ladi: III-A da yuzaki qavatda, III-B da epidermis va dermaning to‘liq nekrozi.</a:t>
            </a:r>
          </a:p>
          <a:p>
            <a:pPr>
              <a:spcAft>
                <a:spcPts val="800"/>
              </a:spcAft>
            </a:pPr>
            <a:r>
              <a:rPr sz="1800">
                <a:solidFill>
                  <a:srgbClr val="1F2937"/>
                </a:solidFill>
                <a:latin typeface="Calibri"/>
              </a:rPr>
              <a:t>▸  IV darajada teri bilan mushak, boylam, suyak nekrozga uchraydi. Bu daraja faqat alanga ta’sirida bo‘ladi.</a:t>
            </a:r>
          </a:p>
          <a:p>
            <a:pPr>
              <a:spcAft>
                <a:spcPts val="800"/>
              </a:spcAft>
            </a:pPr>
            <a:r>
              <a:rPr sz="1800">
                <a:solidFill>
                  <a:srgbClr val="1F2937"/>
                </a:solidFill>
                <a:latin typeface="Calibri"/>
              </a:rPr>
              <a:t>▸  Chuqur kuyish ko‘pincha yiringlaydi, sekin tuzaladi va bo‘g‘imlarni cheklovchi qo‘pol chandiq qoldiradi.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881329"/>
                <a:gridCol w="2203322"/>
                <a:gridCol w="2203322"/>
              </a:tblGrid>
              <a:tr h="411480">
                <a:tc>
                  <a:txBody>
                    <a:bodyPr/>
                    <a:lstStyle/>
                    <a:p>
                      <a:r>
                        <a:rPr sz="1300" b="1">
                          <a:solidFill>
                            <a:srgbClr val="FFFFFF"/>
                          </a:solidFill>
                        </a:rPr>
                        <a:t>Daraja</a:t>
                      </a:r>
                    </a:p>
                  </a:txBody>
                  <a:tcPr marL="73152" marR="73152" marT="36576" marB="36576">
                    <a:solidFill>
                      <a:srgbClr val="0B1F3A"/>
                    </a:solidFill>
                  </a:tcPr>
                </a:tc>
                <a:tc>
                  <a:txBody>
                    <a:bodyPr/>
                    <a:lstStyle/>
                    <a:p>
                      <a:r>
                        <a:rPr sz="1300" b="1">
                          <a:solidFill>
                            <a:srgbClr val="FFFFFF"/>
                          </a:solidFill>
                        </a:rPr>
                        <a:t>Zararlanish</a:t>
                      </a:r>
                    </a:p>
                  </a:txBody>
                  <a:tcPr marL="73152" marR="73152" marT="36576" marB="36576">
                    <a:solidFill>
                      <a:srgbClr val="0B1F3A"/>
                    </a:solidFill>
                  </a:tcPr>
                </a:tc>
                <a:tc>
                  <a:txBody>
                    <a:bodyPr/>
                    <a:lstStyle/>
                    <a:p>
                      <a:r>
                        <a:rPr sz="1300" b="1">
                          <a:solidFill>
                            <a:srgbClr val="FFFFFF"/>
                          </a:solidFill>
                        </a:rPr>
                        <a:t>Oqibat</a:t>
                      </a:r>
                    </a:p>
                  </a:txBody>
                  <a:tcPr marL="73152" marR="73152" marT="36576" marB="36576">
                    <a:solidFill>
                      <a:srgbClr val="0B1F3A"/>
                    </a:solidFill>
                  </a:tcPr>
                </a:tc>
              </a:tr>
              <a:tr h="411480">
                <a:tc>
                  <a:txBody>
                    <a:bodyPr/>
                    <a:lstStyle/>
                    <a:p>
                      <a:r>
                        <a:rPr sz="1200" b="0">
                          <a:solidFill>
                            <a:srgbClr val="1F2937"/>
                          </a:solidFill>
                        </a:rPr>
                        <a:t>III-A</a:t>
                      </a:r>
                    </a:p>
                  </a:txBody>
                  <a:tcPr marL="73152" marR="73152" marT="36576" marB="36576">
                    <a:solidFill>
                      <a:srgbClr val="E8EEF6"/>
                    </a:solidFill>
                  </a:tcPr>
                </a:tc>
                <a:tc>
                  <a:txBody>
                    <a:bodyPr/>
                    <a:lstStyle/>
                    <a:p>
                      <a:r>
                        <a:rPr sz="1200" b="0">
                          <a:solidFill>
                            <a:srgbClr val="1F2937"/>
                          </a:solidFill>
                        </a:rPr>
                        <a:t>Epidermis va dermaning yuzaki nekrozi</a:t>
                      </a:r>
                    </a:p>
                  </a:txBody>
                  <a:tcPr marL="73152" marR="73152" marT="36576" marB="36576">
                    <a:solidFill>
                      <a:srgbClr val="E8EEF6"/>
                    </a:solidFill>
                  </a:tcPr>
                </a:tc>
                <a:tc>
                  <a:txBody>
                    <a:bodyPr/>
                    <a:lstStyle/>
                    <a:p>
                      <a:r>
                        <a:rPr sz="1200" b="0">
                          <a:solidFill>
                            <a:srgbClr val="1F2937"/>
                          </a:solidFill>
                        </a:rPr>
                        <a:t>2-3 haftada granulyatsiya, so‘ng chandiq</a:t>
                      </a:r>
                    </a:p>
                  </a:txBody>
                  <a:tcPr marL="73152" marR="73152" marT="36576" marB="36576">
                    <a:solidFill>
                      <a:srgbClr val="E8EEF6"/>
                    </a:solidFill>
                  </a:tcPr>
                </a:tc>
              </a:tr>
              <a:tr h="411480">
                <a:tc>
                  <a:txBody>
                    <a:bodyPr/>
                    <a:lstStyle/>
                    <a:p>
                      <a:r>
                        <a:rPr sz="1200" b="0">
                          <a:solidFill>
                            <a:srgbClr val="1F2937"/>
                          </a:solidFill>
                        </a:rPr>
                        <a:t>III-B</a:t>
                      </a:r>
                    </a:p>
                  </a:txBody>
                  <a:tcPr marL="73152" marR="73152" marT="36576" marB="36576">
                    <a:solidFill>
                      <a:srgbClr val="FFFFFF"/>
                    </a:solidFill>
                  </a:tcPr>
                </a:tc>
                <a:tc>
                  <a:txBody>
                    <a:bodyPr/>
                    <a:lstStyle/>
                    <a:p>
                      <a:r>
                        <a:rPr sz="1200" b="0">
                          <a:solidFill>
                            <a:srgbClr val="1F2937"/>
                          </a:solidFill>
                        </a:rPr>
                        <a:t>Epidermis va dermaning to‘liq nekrozi</a:t>
                      </a:r>
                    </a:p>
                  </a:txBody>
                  <a:tcPr marL="73152" marR="73152" marT="36576" marB="36576">
                    <a:solidFill>
                      <a:srgbClr val="FFFFFF"/>
                    </a:solidFill>
                  </a:tcPr>
                </a:tc>
                <a:tc>
                  <a:txBody>
                    <a:bodyPr/>
                    <a:lstStyle/>
                    <a:p>
                      <a:r>
                        <a:rPr sz="1200" b="0">
                          <a:solidFill>
                            <a:srgbClr val="1F2937"/>
                          </a:solidFill>
                        </a:rPr>
                        <a:t>Strup, so‘ng chandiq qoladi</a:t>
                      </a:r>
                    </a:p>
                  </a:txBody>
                  <a:tcPr marL="73152" marR="73152" marT="36576" marB="36576">
                    <a:solidFill>
                      <a:srgbClr val="FFFFFF"/>
                    </a:solidFill>
                  </a:tcPr>
                </a:tc>
              </a:tr>
              <a:tr h="411480">
                <a:tc>
                  <a:txBody>
                    <a:bodyPr/>
                    <a:lstStyle/>
                    <a:p>
                      <a:r>
                        <a:rPr sz="1200" b="0">
                          <a:solidFill>
                            <a:srgbClr val="1F2937"/>
                          </a:solidFill>
                        </a:rPr>
                        <a:t>IV</a:t>
                      </a:r>
                    </a:p>
                  </a:txBody>
                  <a:tcPr marL="73152" marR="73152" marT="36576" marB="36576">
                    <a:solidFill>
                      <a:srgbClr val="E8EEF6"/>
                    </a:solidFill>
                  </a:tcPr>
                </a:tc>
                <a:tc>
                  <a:txBody>
                    <a:bodyPr/>
                    <a:lstStyle/>
                    <a:p>
                      <a:r>
                        <a:rPr sz="1200" b="0">
                          <a:solidFill>
                            <a:srgbClr val="1F2937"/>
                          </a:solidFill>
                        </a:rPr>
                        <a:t>Teri, mushak, boylam, suyak nekrozi</a:t>
                      </a:r>
                    </a:p>
                  </a:txBody>
                  <a:tcPr marL="73152" marR="73152" marT="36576" marB="36576">
                    <a:solidFill>
                      <a:srgbClr val="E8EEF6"/>
                    </a:solidFill>
                  </a:tcPr>
                </a:tc>
                <a:tc>
                  <a:txBody>
                    <a:bodyPr/>
                    <a:lstStyle/>
                    <a:p>
                      <a:r>
                        <a:rPr sz="1200" b="0">
                          <a:solidFill>
                            <a:srgbClr val="1F2937"/>
                          </a:solidFill>
                        </a:rPr>
                        <a:t>Faqat alanga ta’sirida bo‘ladi</a:t>
                      </a:r>
                    </a:p>
                  </a:txBody>
                  <a:tcPr marL="73152" marR="73152" marT="36576" marB="36576">
                    <a:solidFill>
                      <a:srgbClr val="E8EEF6"/>
                    </a:solidFill>
                  </a:tcPr>
                </a:tc>
              </a:tr>
              <a:tr h="411480">
                <a:tc>
                  <a:txBody>
                    <a:bodyPr/>
                    <a:lstStyle/>
                    <a:p>
                      <a:r>
                        <a:rPr sz="1200" b="0">
                          <a:solidFill>
                            <a:srgbClr val="1F2937"/>
                          </a:solidFill>
                        </a:rPr>
                        <a:t>Aralash</a:t>
                      </a:r>
                    </a:p>
                  </a:txBody>
                  <a:tcPr marL="73152" marR="73152" marT="36576" marB="36576">
                    <a:solidFill>
                      <a:srgbClr val="FFFFFF"/>
                    </a:solidFill>
                  </a:tcPr>
                </a:tc>
                <a:tc>
                  <a:txBody>
                    <a:bodyPr/>
                    <a:lstStyle/>
                    <a:p>
                      <a:r>
                        <a:rPr sz="1200" b="0">
                          <a:solidFill>
                            <a:srgbClr val="1F2937"/>
                          </a:solidFill>
                        </a:rPr>
                        <a:t>Bir jarohatda I-II, III-IV kabi darajalar</a:t>
                      </a:r>
                    </a:p>
                  </a:txBody>
                  <a:tcPr marL="73152" marR="73152" marT="36576" marB="36576">
                    <a:solidFill>
                      <a:srgbClr val="FFFFFF"/>
                    </a:solidFill>
                  </a:tcPr>
                </a:tc>
                <a:tc>
                  <a:txBody>
                    <a:bodyPr/>
                    <a:lstStyle/>
                    <a:p>
                      <a:r>
                        <a:rPr sz="1200" b="0">
                          <a:solidFill>
                            <a:srgbClr val="1F2937"/>
                          </a:solidFill>
                        </a:rPr>
                        <a:t>Aksariyat holatda uchraydi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III-IV daraja va aralash kuyishlar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185, 185-186, 186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Kuyish manbasini aniqlash: suyuqlik va alanga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Termik kuyishning xususiyatlariga qarab yuqori harorat manbaini aniqlash mumkin.</a:t>
            </a:r>
          </a:p>
          <a:p>
            <a:pPr>
              <a:spcAft>
                <a:spcPts val="800"/>
              </a:spcAft>
            </a:pPr>
            <a:r>
              <a:rPr sz="1800">
                <a:solidFill>
                  <a:srgbClr val="1F2937"/>
                </a:solidFill>
                <a:latin typeface="Calibri"/>
              </a:rPr>
              <a:t>▸  Issiq suyuqlik va alanga kuyishi soch, kiyim, jarohat shakli va chuqurligi bilan farqlanadi.</a:t>
            </a:r>
          </a:p>
          <a:p>
            <a:pPr>
              <a:spcAft>
                <a:spcPts val="800"/>
              </a:spcAft>
            </a:pPr>
            <a:r>
              <a:rPr sz="1800">
                <a:solidFill>
                  <a:srgbClr val="1F2937"/>
                </a:solidFill>
                <a:latin typeface="Calibri"/>
              </a:rPr>
              <a:t>▸  Alanga kuyishida yarada qurum izlari topilishi manbani aniqlashda alohida ahamiyatga ega.</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007233"/>
                <a:gridCol w="2518083"/>
                <a:gridCol w="1762658"/>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Issiq suyuqlik</a:t>
                      </a:r>
                    </a:p>
                  </a:txBody>
                  <a:tcPr marL="73152" marR="73152" marT="36576" marB="36576">
                    <a:solidFill>
                      <a:srgbClr val="0B1F3A"/>
                    </a:solidFill>
                  </a:tcPr>
                </a:tc>
                <a:tc>
                  <a:txBody>
                    <a:bodyPr/>
                    <a:lstStyle/>
                    <a:p>
                      <a:r>
                        <a:rPr sz="1300" b="1">
                          <a:solidFill>
                            <a:srgbClr val="FFFFFF"/>
                          </a:solidFill>
                        </a:rPr>
                        <a:t>Alanga</a:t>
                      </a:r>
                    </a:p>
                  </a:txBody>
                  <a:tcPr marL="73152" marR="73152" marT="36576" marB="36576">
                    <a:solidFill>
                      <a:srgbClr val="0B1F3A"/>
                    </a:solidFill>
                  </a:tcPr>
                </a:tc>
              </a:tr>
              <a:tr h="411480">
                <a:tc>
                  <a:txBody>
                    <a:bodyPr/>
                    <a:lstStyle/>
                    <a:p>
                      <a:r>
                        <a:rPr sz="1200" b="0">
                          <a:solidFill>
                            <a:srgbClr val="1F2937"/>
                          </a:solidFill>
                        </a:rPr>
                        <a:t>Soch va kiyim</a:t>
                      </a:r>
                    </a:p>
                  </a:txBody>
                  <a:tcPr marL="73152" marR="73152" marT="36576" marB="36576">
                    <a:solidFill>
                      <a:srgbClr val="E8EEF6"/>
                    </a:solidFill>
                  </a:tcPr>
                </a:tc>
                <a:tc>
                  <a:txBody>
                    <a:bodyPr/>
                    <a:lstStyle/>
                    <a:p>
                      <a:r>
                        <a:rPr sz="1200" b="0">
                          <a:solidFill>
                            <a:srgbClr val="1F2937"/>
                          </a:solidFill>
                        </a:rPr>
                        <a:t>Shikastlanmaydi</a:t>
                      </a:r>
                    </a:p>
                  </a:txBody>
                  <a:tcPr marL="73152" marR="73152" marT="36576" marB="36576">
                    <a:solidFill>
                      <a:srgbClr val="E8EEF6"/>
                    </a:solidFill>
                  </a:tcPr>
                </a:tc>
                <a:tc>
                  <a:txBody>
                    <a:bodyPr/>
                    <a:lstStyle/>
                    <a:p>
                      <a:r>
                        <a:rPr sz="1200" b="0">
                          <a:solidFill>
                            <a:srgbClr val="1F2937"/>
                          </a:solidFill>
                        </a:rPr>
                        <a:t>Shikastlanadi</a:t>
                      </a:r>
                    </a:p>
                  </a:txBody>
                  <a:tcPr marL="73152" marR="73152" marT="36576" marB="36576">
                    <a:solidFill>
                      <a:srgbClr val="E8EEF6"/>
                    </a:solidFill>
                  </a:tcPr>
                </a:tc>
              </a:tr>
              <a:tr h="411480">
                <a:tc>
                  <a:txBody>
                    <a:bodyPr/>
                    <a:lstStyle/>
                    <a:p>
                      <a:r>
                        <a:rPr sz="1200" b="0">
                          <a:solidFill>
                            <a:srgbClr val="1F2937"/>
                          </a:solidFill>
                        </a:rPr>
                        <a:t>Jarohat shakli</a:t>
                      </a:r>
                    </a:p>
                  </a:txBody>
                  <a:tcPr marL="73152" marR="73152" marT="36576" marB="36576">
                    <a:solidFill>
                      <a:srgbClr val="FFFFFF"/>
                    </a:solidFill>
                  </a:tcPr>
                </a:tc>
                <a:tc>
                  <a:txBody>
                    <a:bodyPr/>
                    <a:lstStyle/>
                    <a:p>
                      <a:r>
                        <a:rPr sz="1200" b="0">
                          <a:solidFill>
                            <a:srgbClr val="1F2937"/>
                          </a:solidFill>
                        </a:rPr>
                        <a:t>Oqmalar shaklida</a:t>
                      </a:r>
                    </a:p>
                  </a:txBody>
                  <a:tcPr marL="73152" marR="73152" marT="36576" marB="36576">
                    <a:solidFill>
                      <a:srgbClr val="FFFFFF"/>
                    </a:solidFill>
                  </a:tcPr>
                </a:tc>
                <a:tc>
                  <a:txBody>
                    <a:bodyPr/>
                    <a:lstStyle/>
                    <a:p>
                      <a:r>
                        <a:rPr sz="1200" b="0">
                          <a:solidFill>
                            <a:srgbClr val="1F2937"/>
                          </a:solidFill>
                        </a:rPr>
                        <a:t>Tilsimon shaklda</a:t>
                      </a:r>
                    </a:p>
                  </a:txBody>
                  <a:tcPr marL="73152" marR="73152" marT="36576" marB="36576">
                    <a:solidFill>
                      <a:srgbClr val="FFFFFF"/>
                    </a:solidFill>
                  </a:tcPr>
                </a:tc>
              </a:tr>
              <a:tr h="411480">
                <a:tc>
                  <a:txBody>
                    <a:bodyPr/>
                    <a:lstStyle/>
                    <a:p>
                      <a:r>
                        <a:rPr sz="1200" b="0">
                          <a:solidFill>
                            <a:srgbClr val="1F2937"/>
                          </a:solidFill>
                        </a:rPr>
                        <a:t>Chuqurlik</a:t>
                      </a:r>
                    </a:p>
                  </a:txBody>
                  <a:tcPr marL="73152" marR="73152" marT="36576" marB="36576">
                    <a:solidFill>
                      <a:srgbClr val="E8EEF6"/>
                    </a:solidFill>
                  </a:tcPr>
                </a:tc>
                <a:tc>
                  <a:txBody>
                    <a:bodyPr/>
                    <a:lstStyle/>
                    <a:p>
                      <a:r>
                        <a:rPr sz="1200" b="0">
                          <a:solidFill>
                            <a:srgbClr val="1F2937"/>
                          </a:solidFill>
                        </a:rPr>
                        <a:t>Termik kuyish yuzaki</a:t>
                      </a:r>
                    </a:p>
                  </a:txBody>
                  <a:tcPr marL="73152" marR="73152" marT="36576" marB="36576">
                    <a:solidFill>
                      <a:srgbClr val="E8EEF6"/>
                    </a:solidFill>
                  </a:tcPr>
                </a:tc>
                <a:tc>
                  <a:txBody>
                    <a:bodyPr/>
                    <a:lstStyle/>
                    <a:p>
                      <a:r>
                        <a:rPr sz="1200" b="0">
                          <a:solidFill>
                            <a:srgbClr val="1F2937"/>
                          </a:solidFill>
                        </a:rPr>
                        <a:t>Chuqur kuyish xos</a:t>
                      </a:r>
                    </a:p>
                  </a:txBody>
                  <a:tcPr marL="73152" marR="73152" marT="36576" marB="36576">
                    <a:solidFill>
                      <a:srgbClr val="E8EEF6"/>
                    </a:solidFill>
                  </a:tcPr>
                </a:tc>
              </a:tr>
              <a:tr h="411480">
                <a:tc>
                  <a:txBody>
                    <a:bodyPr/>
                    <a:lstStyle/>
                    <a:p>
                      <a:r>
                        <a:rPr sz="1200" b="0">
                          <a:solidFill>
                            <a:srgbClr val="1F2937"/>
                          </a:solidFill>
                        </a:rPr>
                        <a:t>Qo‘shimcha</a:t>
                      </a:r>
                    </a:p>
                  </a:txBody>
                  <a:tcPr marL="73152" marR="73152" marT="36576" marB="36576">
                    <a:solidFill>
                      <a:srgbClr val="FFFFFF"/>
                    </a:solidFill>
                  </a:tcPr>
                </a:tc>
                <a:tc>
                  <a:txBody>
                    <a:bodyPr/>
                    <a:lstStyle/>
                    <a:p>
                      <a:r>
                        <a:rPr sz="1200" b="0">
                          <a:solidFill>
                            <a:srgbClr val="1F2937"/>
                          </a:solidFill>
                        </a:rPr>
                        <a:t>Kiyim ostiga suyuqlik oqib kirishi mumkin</a:t>
                      </a:r>
                    </a:p>
                  </a:txBody>
                  <a:tcPr marL="73152" marR="73152" marT="36576" marB="36576">
                    <a:solidFill>
                      <a:srgbClr val="FFFFFF"/>
                    </a:solidFill>
                  </a:tcPr>
                </a:tc>
                <a:tc>
                  <a:txBody>
                    <a:bodyPr/>
                    <a:lstStyle/>
                    <a:p>
                      <a:r>
                        <a:rPr sz="1200" b="0">
                          <a:solidFill>
                            <a:srgbClr val="1F2937"/>
                          </a:solidFill>
                        </a:rPr>
                        <a:t>Kuyish yarasida qurum izlari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Issiq suyuqlik va alanga (A vs B)</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Qizigan jism, bug‘ va hodisa paytidagi holat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Qizdirilgan jism chuqur, yuzasi cheklangan kuyish beradi; shakl va o‘lcham jism kontakt yuzasiga mos keladi.</a:t>
            </a:r>
          </a:p>
          <a:p>
            <a:pPr>
              <a:spcAft>
                <a:spcPts val="800"/>
              </a:spcAft>
            </a:pPr>
            <a:r>
              <a:rPr sz="1800">
                <a:solidFill>
                  <a:srgbClr val="1F2937"/>
                </a:solidFill>
                <a:latin typeface="Calibri"/>
              </a:rPr>
              <a:t>▸  Nafas yo‘llarining kuyishi faqat bug‘ va issiq gazlar ta’siri uchun xos jarohatdir.</a:t>
            </a:r>
          </a:p>
          <a:p>
            <a:pPr>
              <a:spcAft>
                <a:spcPts val="800"/>
              </a:spcAft>
            </a:pPr>
            <a:r>
              <a:rPr sz="1800">
                <a:solidFill>
                  <a:srgbClr val="1F2937"/>
                </a:solidFill>
                <a:latin typeface="Calibri"/>
              </a:rPr>
              <a:t>▸  Kuyish yaralarining joylashuviga qarab jabrlanganning hodisa paytidagi holati haqida fikr bildirish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269114"/>
                <a:gridCol w="1833164"/>
                <a:gridCol w="2185696"/>
              </a:tblGrid>
              <a:tr h="411480">
                <a:tc>
                  <a:txBody>
                    <a:bodyPr/>
                    <a:lstStyle/>
                    <a:p>
                      <a:r>
                        <a:rPr sz="1300" b="1">
                          <a:solidFill>
                            <a:srgbClr val="FFFFFF"/>
                          </a:solidFill>
                        </a:rPr>
                        <a:t>Manba</a:t>
                      </a:r>
                    </a:p>
                  </a:txBody>
                  <a:tcPr marL="73152" marR="73152" marT="36576" marB="36576">
                    <a:solidFill>
                      <a:srgbClr val="0B1F3A"/>
                    </a:solidFill>
                  </a:tcPr>
                </a:tc>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Xulosa</a:t>
                      </a:r>
                    </a:p>
                  </a:txBody>
                  <a:tcPr marL="73152" marR="73152" marT="36576" marB="36576">
                    <a:solidFill>
                      <a:srgbClr val="0B1F3A"/>
                    </a:solidFill>
                  </a:tcPr>
                </a:tc>
              </a:tr>
              <a:tr h="411480">
                <a:tc>
                  <a:txBody>
                    <a:bodyPr/>
                    <a:lstStyle/>
                    <a:p>
                      <a:r>
                        <a:rPr sz="1200" b="0">
                          <a:solidFill>
                            <a:srgbClr val="1F2937"/>
                          </a:solidFill>
                        </a:rPr>
                        <a:t>Qizdirilgan jism</a:t>
                      </a:r>
                    </a:p>
                  </a:txBody>
                  <a:tcPr marL="73152" marR="73152" marT="36576" marB="36576">
                    <a:solidFill>
                      <a:srgbClr val="E8EEF6"/>
                    </a:solidFill>
                  </a:tcPr>
                </a:tc>
                <a:tc>
                  <a:txBody>
                    <a:bodyPr/>
                    <a:lstStyle/>
                    <a:p>
                      <a:r>
                        <a:rPr sz="1200" b="0">
                          <a:solidFill>
                            <a:srgbClr val="1F2937"/>
                          </a:solidFill>
                        </a:rPr>
                        <a:t>Tamg‘asimon (bosma) kuyish</a:t>
                      </a:r>
                    </a:p>
                  </a:txBody>
                  <a:tcPr marL="73152" marR="73152" marT="36576" marB="36576">
                    <a:solidFill>
                      <a:srgbClr val="E8EEF6"/>
                    </a:solidFill>
                  </a:tcPr>
                </a:tc>
                <a:tc>
                  <a:txBody>
                    <a:bodyPr/>
                    <a:lstStyle/>
                    <a:p>
                      <a:r>
                        <a:rPr sz="1200" b="0">
                          <a:solidFill>
                            <a:srgbClr val="1F2937"/>
                          </a:solidFill>
                        </a:rPr>
                        <a:t>Shakl kontakt yuzasiga mos</a:t>
                      </a:r>
                    </a:p>
                  </a:txBody>
                  <a:tcPr marL="73152" marR="73152" marT="36576" marB="36576">
                    <a:solidFill>
                      <a:srgbClr val="E8EEF6"/>
                    </a:solidFill>
                  </a:tcPr>
                </a:tc>
              </a:tr>
              <a:tr h="411480">
                <a:tc>
                  <a:txBody>
                    <a:bodyPr/>
                    <a:lstStyle/>
                    <a:p>
                      <a:r>
                        <a:rPr sz="1200" b="0">
                          <a:solidFill>
                            <a:srgbClr val="1F2937"/>
                          </a:solidFill>
                        </a:rPr>
                        <a:t>Bug‘, issiq gazlar</a:t>
                      </a:r>
                    </a:p>
                  </a:txBody>
                  <a:tcPr marL="73152" marR="73152" marT="36576" marB="36576">
                    <a:solidFill>
                      <a:srgbClr val="FFFFFF"/>
                    </a:solidFill>
                  </a:tcPr>
                </a:tc>
                <a:tc>
                  <a:txBody>
                    <a:bodyPr/>
                    <a:lstStyle/>
                    <a:p>
                      <a:r>
                        <a:rPr sz="1200" b="0">
                          <a:solidFill>
                            <a:srgbClr val="1F2937"/>
                          </a:solidFill>
                        </a:rPr>
                        <a:t>Nafas yo‘llarining kuyishi</a:t>
                      </a:r>
                    </a:p>
                  </a:txBody>
                  <a:tcPr marL="73152" marR="73152" marT="36576" marB="36576">
                    <a:solidFill>
                      <a:srgbClr val="FFFFFF"/>
                    </a:solidFill>
                  </a:tcPr>
                </a:tc>
                <a:tc>
                  <a:txBody>
                    <a:bodyPr/>
                    <a:lstStyle/>
                    <a:p>
                      <a:r>
                        <a:rPr sz="1200" b="0">
                          <a:solidFill>
                            <a:srgbClr val="1F2937"/>
                          </a:solidFill>
                        </a:rPr>
                        <a:t>Faqat shu ta’sirga xos</a:t>
                      </a:r>
                    </a:p>
                  </a:txBody>
                  <a:tcPr marL="73152" marR="73152" marT="36576" marB="36576">
                    <a:solidFill>
                      <a:srgbClr val="FFFFFF"/>
                    </a:solidFill>
                  </a:tcPr>
                </a:tc>
              </a:tr>
              <a:tr h="411480">
                <a:tc>
                  <a:txBody>
                    <a:bodyPr/>
                    <a:lstStyle/>
                    <a:p>
                      <a:r>
                        <a:rPr sz="1200" b="0">
                          <a:solidFill>
                            <a:srgbClr val="1F2937"/>
                          </a:solidFill>
                        </a:rPr>
                        <a:t>Issiq suyuqlik</a:t>
                      </a:r>
                    </a:p>
                  </a:txBody>
                  <a:tcPr marL="73152" marR="73152" marT="36576" marB="36576">
                    <a:solidFill>
                      <a:srgbClr val="E8EEF6"/>
                    </a:solidFill>
                  </a:tcPr>
                </a:tc>
                <a:tc>
                  <a:txBody>
                    <a:bodyPr/>
                    <a:lstStyle/>
                    <a:p>
                      <a:r>
                        <a:rPr sz="1200" b="0">
                          <a:solidFill>
                            <a:srgbClr val="1F2937"/>
                          </a:solidFill>
                        </a:rPr>
                        <a:t>Oqmalar pastga yo‘nalgan</a:t>
                      </a:r>
                    </a:p>
                  </a:txBody>
                  <a:tcPr marL="73152" marR="73152" marT="36576" marB="36576">
                    <a:solidFill>
                      <a:srgbClr val="E8EEF6"/>
                    </a:solidFill>
                  </a:tcPr>
                </a:tc>
                <a:tc>
                  <a:txBody>
                    <a:bodyPr/>
                    <a:lstStyle/>
                    <a:p>
                      <a:r>
                        <a:rPr sz="1200" b="0">
                          <a:solidFill>
                            <a:srgbClr val="1F2937"/>
                          </a:solidFill>
                        </a:rPr>
                        <a:t>Past joylashgan sohalar tomon</a:t>
                      </a:r>
                    </a:p>
                  </a:txBody>
                  <a:tcPr marL="73152" marR="73152" marT="36576" marB="36576">
                    <a:solidFill>
                      <a:srgbClr val="E8EEF6"/>
                    </a:solidFill>
                  </a:tcPr>
                </a:tc>
              </a:tr>
              <a:tr h="411480">
                <a:tc>
                  <a:txBody>
                    <a:bodyPr/>
                    <a:lstStyle/>
                    <a:p>
                      <a:r>
                        <a:rPr sz="1200" b="0">
                          <a:solidFill>
                            <a:srgbClr val="1F2937"/>
                          </a:solidFill>
                        </a:rPr>
                        <a:t>Alanga</a:t>
                      </a:r>
                    </a:p>
                  </a:txBody>
                  <a:tcPr marL="73152" marR="73152" marT="36576" marB="36576">
                    <a:solidFill>
                      <a:srgbClr val="FFFFFF"/>
                    </a:solidFill>
                  </a:tcPr>
                </a:tc>
                <a:tc>
                  <a:txBody>
                    <a:bodyPr/>
                    <a:lstStyle/>
                    <a:p>
                      <a:r>
                        <a:rPr sz="1200" b="0">
                          <a:solidFill>
                            <a:srgbClr val="1F2937"/>
                          </a:solidFill>
                        </a:rPr>
                        <a:t>“Alanga tillari” yuqoriga</a:t>
                      </a:r>
                    </a:p>
                  </a:txBody>
                  <a:tcPr marL="73152" marR="73152" marT="36576" marB="36576">
                    <a:solidFill>
                      <a:srgbClr val="FFFFFF"/>
                    </a:solidFill>
                  </a:tcPr>
                </a:tc>
                <a:tc>
                  <a:txBody>
                    <a:bodyPr/>
                    <a:lstStyle/>
                    <a:p>
                      <a:r>
                        <a:rPr sz="1200" b="0">
                          <a:solidFill>
                            <a:srgbClr val="1F2937"/>
                          </a:solidFill>
                        </a:rPr>
                        <a:t>Yuqori joylashgan sohalar tomon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Manba, belgi va yo‘nalish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kuyish manbasini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kuyish yuzaki, oqmalar shaklida; soch va kiyim shikastlanmagan, lekin kiyim bilan yopiq teri ham kuygan.</a:t>
            </a:r>
          </a:p>
          <a:p>
            <a:pPr>
              <a:spcAft>
                <a:spcPts val="1200"/>
              </a:spcAft>
            </a:pPr>
            <a:r>
              <a:rPr sz="2200">
                <a:solidFill>
                  <a:srgbClr val="1F2937"/>
                </a:solidFill>
                <a:latin typeface="Calibri"/>
              </a:rPr>
              <a:t>▸  Issiq suyuqlik kiyim ostiga oqib kirishi mumkin. Oqmalar tananing past joylashgan sohalariga qarab yo‘naladi.</a:t>
            </a:r>
          </a:p>
          <a:p>
            <a:pPr>
              <a:spcAft>
                <a:spcPts val="1200"/>
              </a:spcAft>
            </a:pPr>
            <a:r>
              <a:rPr sz="2200">
                <a:solidFill>
                  <a:srgbClr val="1F2937"/>
                </a:solidFill>
                <a:latin typeface="Calibri"/>
              </a:rPr>
              <a:t>▸  Diqqat: xato qilish xavfi. Alangadan kuyishda soch va kiyim shikastlanadi, yara tilsimon, chuqur bo‘ladi va qurum izi topiladi.</a:t>
            </a:r>
          </a:p>
          <a:p>
            <a:pPr>
              <a:spcAft>
                <a:spcPts val="1200"/>
              </a:spcAft>
            </a:pPr>
            <a:r>
              <a:rPr sz="2200">
                <a:solidFill>
                  <a:srgbClr val="1F2937"/>
                </a:solidFill>
                <a:latin typeface="Calibri"/>
              </a:rPr>
              <a:t>▸  Savol: bu belgilarga ko‘ra kuyish qaysi manbadan va jabrlangan hodisa paytida qanday holatda bo‘lgan?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Kuyish maydoni: to‘qqizliklar qoidasi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To‘qqizliklar qoidasi (A. Wallace, 1951) kuyish maydonini taxminan aniqlaydi.</a:t>
            </a:r>
          </a:p>
          <a:p>
            <a:pPr>
              <a:spcAft>
                <a:spcPts val="800"/>
              </a:spcAft>
            </a:pPr>
            <a:r>
              <a:rPr sz="1800">
                <a:solidFill>
                  <a:srgbClr val="1F2937"/>
                </a:solidFill>
                <a:latin typeface="Calibri"/>
              </a:rPr>
              <a:t>▸  Oraliq soha tana yuzasining 1% ini egallaydi.</a:t>
            </a:r>
          </a:p>
          <a:p>
            <a:pPr>
              <a:spcAft>
                <a:spcPts val="800"/>
              </a:spcAft>
            </a:pPr>
            <a:r>
              <a:rPr sz="1800">
                <a:solidFill>
                  <a:srgbClr val="1F2937"/>
                </a:solidFill>
                <a:latin typeface="Calibri"/>
              </a:rPr>
              <a:t>▸  Sud-tibbiy baholashda kuyish darajasidan tashqari, jarohat egallagan maydon ham muhim.</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3320356"/>
                <a:gridCol w="1967618"/>
              </a:tblGrid>
              <a:tr h="411480">
                <a:tc>
                  <a:txBody>
                    <a:bodyPr/>
                    <a:lstStyle/>
                    <a:p>
                      <a:r>
                        <a:rPr sz="1400" b="1">
                          <a:solidFill>
                            <a:srgbClr val="FFFFFF"/>
                          </a:solidFill>
                        </a:rPr>
                        <a:t>Soha</a:t>
                      </a:r>
                    </a:p>
                  </a:txBody>
                  <a:tcPr marL="73152" marR="73152" marT="36576" marB="36576">
                    <a:solidFill>
                      <a:srgbClr val="0B1F3A"/>
                    </a:solidFill>
                  </a:tcPr>
                </a:tc>
                <a:tc>
                  <a:txBody>
                    <a:bodyPr/>
                    <a:lstStyle/>
                    <a:p>
                      <a:r>
                        <a:rPr sz="1400" b="1">
                          <a:solidFill>
                            <a:srgbClr val="FFFFFF"/>
                          </a:solidFill>
                        </a:rPr>
                        <a:t>Ulush</a:t>
                      </a:r>
                    </a:p>
                  </a:txBody>
                  <a:tcPr marL="73152" marR="73152" marT="36576" marB="36576">
                    <a:solidFill>
                      <a:srgbClr val="0B1F3A"/>
                    </a:solidFill>
                  </a:tcPr>
                </a:tc>
              </a:tr>
              <a:tr h="411480">
                <a:tc>
                  <a:txBody>
                    <a:bodyPr/>
                    <a:lstStyle/>
                    <a:p>
                      <a:r>
                        <a:rPr sz="1300" b="0">
                          <a:solidFill>
                            <a:srgbClr val="1F2937"/>
                          </a:solidFill>
                        </a:rPr>
                        <a:t>Bosh va bo‘yin</a:t>
                      </a:r>
                    </a:p>
                  </a:txBody>
                  <a:tcPr marL="73152" marR="73152" marT="36576" marB="36576">
                    <a:solidFill>
                      <a:srgbClr val="E8EEF6"/>
                    </a:solidFill>
                  </a:tcPr>
                </a:tc>
                <a:tc>
                  <a:txBody>
                    <a:bodyPr/>
                    <a:lstStyle/>
                    <a:p>
                      <a:r>
                        <a:rPr sz="1300" b="0">
                          <a:solidFill>
                            <a:srgbClr val="1F2937"/>
                          </a:solidFill>
                        </a:rPr>
                        <a:t>9%</a:t>
                      </a:r>
                    </a:p>
                  </a:txBody>
                  <a:tcPr marL="73152" marR="73152" marT="36576" marB="36576">
                    <a:solidFill>
                      <a:srgbClr val="E8EEF6"/>
                    </a:solidFill>
                  </a:tcPr>
                </a:tc>
              </a:tr>
              <a:tr h="411480">
                <a:tc>
                  <a:txBody>
                    <a:bodyPr/>
                    <a:lstStyle/>
                    <a:p>
                      <a:r>
                        <a:rPr sz="1300" b="0">
                          <a:solidFill>
                            <a:srgbClr val="1F2937"/>
                          </a:solidFill>
                        </a:rPr>
                        <a:t>Qo‘l</a:t>
                      </a:r>
                    </a:p>
                  </a:txBody>
                  <a:tcPr marL="73152" marR="73152" marT="36576" marB="36576">
                    <a:solidFill>
                      <a:srgbClr val="FFFFFF"/>
                    </a:solidFill>
                  </a:tcPr>
                </a:tc>
                <a:tc>
                  <a:txBody>
                    <a:bodyPr/>
                    <a:lstStyle/>
                    <a:p>
                      <a:r>
                        <a:rPr sz="1300" b="0">
                          <a:solidFill>
                            <a:srgbClr val="1F2937"/>
                          </a:solidFill>
                        </a:rPr>
                        <a:t>9%</a:t>
                      </a:r>
                    </a:p>
                  </a:txBody>
                  <a:tcPr marL="73152" marR="73152" marT="36576" marB="36576">
                    <a:solidFill>
                      <a:srgbClr val="FFFFFF"/>
                    </a:solidFill>
                  </a:tcPr>
                </a:tc>
              </a:tr>
              <a:tr h="411480">
                <a:tc>
                  <a:txBody>
                    <a:bodyPr/>
                    <a:lstStyle/>
                    <a:p>
                      <a:r>
                        <a:rPr sz="1300" b="0">
                          <a:solidFill>
                            <a:srgbClr val="1F2937"/>
                          </a:solidFill>
                        </a:rPr>
                        <a:t>Tananing old va orqa yuzasi</a:t>
                      </a:r>
                    </a:p>
                  </a:txBody>
                  <a:tcPr marL="73152" marR="73152" marT="36576" marB="36576">
                    <a:solidFill>
                      <a:srgbClr val="E8EEF6"/>
                    </a:solidFill>
                  </a:tcPr>
                </a:tc>
                <a:tc>
                  <a:txBody>
                    <a:bodyPr/>
                    <a:lstStyle/>
                    <a:p>
                      <a:r>
                        <a:rPr sz="1300" b="0">
                          <a:solidFill>
                            <a:srgbClr val="1F2937"/>
                          </a:solidFill>
                        </a:rPr>
                        <a:t>har biri 18%</a:t>
                      </a:r>
                    </a:p>
                  </a:txBody>
                  <a:tcPr marL="73152" marR="73152" marT="36576" marB="36576">
                    <a:solidFill>
                      <a:srgbClr val="E8EEF6"/>
                    </a:solidFill>
                  </a:tcPr>
                </a:tc>
              </a:tr>
              <a:tr h="411480">
                <a:tc>
                  <a:txBody>
                    <a:bodyPr/>
                    <a:lstStyle/>
                    <a:p>
                      <a:r>
                        <a:rPr sz="1300" b="0">
                          <a:solidFill>
                            <a:srgbClr val="1F2937"/>
                          </a:solidFill>
                        </a:rPr>
                        <a:t>Son; boldir va tovon</a:t>
                      </a:r>
                    </a:p>
                  </a:txBody>
                  <a:tcPr marL="73152" marR="73152" marT="36576" marB="36576">
                    <a:solidFill>
                      <a:srgbClr val="FFFFFF"/>
                    </a:solidFill>
                  </a:tcPr>
                </a:tc>
                <a:tc>
                  <a:txBody>
                    <a:bodyPr/>
                    <a:lstStyle/>
                    <a:p>
                      <a:r>
                        <a:rPr sz="1300" b="0">
                          <a:solidFill>
                            <a:srgbClr val="1F2937"/>
                          </a:solidFill>
                        </a:rPr>
                        <a:t>har biri 9%</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Tana yuzasi ulushlari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186-187, 187, 186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Kaft qoidasi va maxsus jadvallar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Kaft qoidasi: jabrlanganning qo‘l kafti yuzasi tananing umumiy yuzasining taxminan 1% ini tashkil etadi.</a:t>
            </a:r>
          </a:p>
          <a:p>
            <a:pPr>
              <a:spcAft>
                <a:spcPts val="1200"/>
              </a:spcAft>
            </a:pPr>
            <a:r>
              <a:rPr sz="2200">
                <a:solidFill>
                  <a:srgbClr val="1F2937"/>
                </a:solidFill>
                <a:latin typeface="Calibri"/>
              </a:rPr>
              <a:t>▸  Kuyish maydonini aniqlash uchun maxsus jadvallar ham bor; ular yordamida kuyish yuzasi aniqroq belgilanadi.</a:t>
            </a:r>
          </a:p>
          <a:p>
            <a:pPr>
              <a:spcAft>
                <a:spcPts val="1200"/>
              </a:spcAft>
            </a:pPr>
            <a:r>
              <a:rPr sz="2200">
                <a:solidFill>
                  <a:srgbClr val="1F2937"/>
                </a:solidFill>
                <a:latin typeface="Calibri"/>
              </a:rPr>
              <a:t>▸  Hayot uchun xavfli: 10% dan ortiq III-IV daraja, 15% dan ortiq III daraja yoki 20% dan ortiq II daraja kuyish.</a:t>
            </a:r>
          </a:p>
          <a:p>
            <a:pPr>
              <a:spcAft>
                <a:spcPts val="1200"/>
              </a:spcAft>
            </a:pPr>
            <a:r>
              <a:rPr sz="2200">
                <a:solidFill>
                  <a:srgbClr val="1F2937"/>
                </a:solidFill>
                <a:latin typeface="Calibri"/>
              </a:rPr>
              <a:t>▸  Diagnozda kuyish kasr shaklida yoziladi: suratda yuza, mahrajda daraja. Masalan: 10% / II yoki 30% (10%) / II-III.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187, 188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 uchun xavfli kuyish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Kuyishning hayot uchun xavfliligi uning darajasi va tana yuzasining qancha qismini egallashiga qarab belgilanadi.</a:t>
            </a:r>
          </a:p>
          <a:p>
            <a:pPr>
              <a:spcAft>
                <a:spcPts val="800"/>
              </a:spcAft>
            </a:pPr>
            <a:r>
              <a:rPr sz="1800">
                <a:solidFill>
                  <a:srgbClr val="1F2937"/>
                </a:solidFill>
                <a:latin typeface="Calibri"/>
              </a:rPr>
              <a:t>▸  Kuyish kasalligi rivojlansa, kichikroq yuzadagi kuyish ham hayotga tahdid soladi.</a:t>
            </a:r>
          </a:p>
          <a:p>
            <a:pPr>
              <a:spcAft>
                <a:spcPts val="800"/>
              </a:spcAft>
            </a:pPr>
            <a:r>
              <a:rPr sz="1800">
                <a:solidFill>
                  <a:srgbClr val="1F2937"/>
                </a:solidFill>
                <a:latin typeface="Calibri"/>
              </a:rPr>
              <a:t>▸  Nafas yo‘llari kuyishi shish va ovoz yorig‘ining torayishi bilan kechsa, hayot uchun xavfli.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040972"/>
                <a:gridCol w="3247002"/>
              </a:tblGrid>
              <a:tr h="411480">
                <a:tc>
                  <a:txBody>
                    <a:bodyPr/>
                    <a:lstStyle/>
                    <a:p>
                      <a:r>
                        <a:rPr sz="1400" b="1">
                          <a:solidFill>
                            <a:srgbClr val="FFFFFF"/>
                          </a:solidFill>
                        </a:rPr>
                        <a:t>Daraja</a:t>
                      </a:r>
                    </a:p>
                  </a:txBody>
                  <a:tcPr marL="73152" marR="73152" marT="36576" marB="36576">
                    <a:solidFill>
                      <a:srgbClr val="0B1F3A"/>
                    </a:solidFill>
                  </a:tcPr>
                </a:tc>
                <a:tc>
                  <a:txBody>
                    <a:bodyPr/>
                    <a:lstStyle/>
                    <a:p>
                      <a:r>
                        <a:rPr sz="1400" b="1">
                          <a:solidFill>
                            <a:srgbClr val="FFFFFF"/>
                          </a:solidFill>
                        </a:rPr>
                        <a:t>Maydon</a:t>
                      </a:r>
                    </a:p>
                  </a:txBody>
                  <a:tcPr marL="73152" marR="73152" marT="36576" marB="36576">
                    <a:solidFill>
                      <a:srgbClr val="0B1F3A"/>
                    </a:solidFill>
                  </a:tcPr>
                </a:tc>
              </a:tr>
              <a:tr h="411480">
                <a:tc>
                  <a:txBody>
                    <a:bodyPr/>
                    <a:lstStyle/>
                    <a:p>
                      <a:r>
                        <a:rPr sz="1300" b="0">
                          <a:solidFill>
                            <a:srgbClr val="1F2937"/>
                          </a:solidFill>
                        </a:rPr>
                        <a:t>III-IV darajali kuyish</a:t>
                      </a:r>
                    </a:p>
                  </a:txBody>
                  <a:tcPr marL="73152" marR="73152" marT="36576" marB="36576">
                    <a:solidFill>
                      <a:srgbClr val="E8EEF6"/>
                    </a:solidFill>
                  </a:tcPr>
                </a:tc>
                <a:tc>
                  <a:txBody>
                    <a:bodyPr/>
                    <a:lstStyle/>
                    <a:p>
                      <a:r>
                        <a:rPr sz="1300" b="0">
                          <a:solidFill>
                            <a:srgbClr val="1F2937"/>
                          </a:solidFill>
                        </a:rPr>
                        <a:t>tana yuzasining 10% dan ortig‘i</a:t>
                      </a:r>
                    </a:p>
                  </a:txBody>
                  <a:tcPr marL="73152" marR="73152" marT="36576" marB="36576">
                    <a:solidFill>
                      <a:srgbClr val="E8EEF6"/>
                    </a:solidFill>
                  </a:tcPr>
                </a:tc>
              </a:tr>
              <a:tr h="411480">
                <a:tc>
                  <a:txBody>
                    <a:bodyPr/>
                    <a:lstStyle/>
                    <a:p>
                      <a:r>
                        <a:rPr sz="1300" b="0">
                          <a:solidFill>
                            <a:srgbClr val="1F2937"/>
                          </a:solidFill>
                        </a:rPr>
                        <a:t>III darajali kuyish</a:t>
                      </a:r>
                    </a:p>
                  </a:txBody>
                  <a:tcPr marL="73152" marR="73152" marT="36576" marB="36576">
                    <a:solidFill>
                      <a:srgbClr val="FFFFFF"/>
                    </a:solidFill>
                  </a:tcPr>
                </a:tc>
                <a:tc>
                  <a:txBody>
                    <a:bodyPr/>
                    <a:lstStyle/>
                    <a:p>
                      <a:r>
                        <a:rPr sz="1300" b="0">
                          <a:solidFill>
                            <a:srgbClr val="1F2937"/>
                          </a:solidFill>
                        </a:rPr>
                        <a:t>tana yuzasining 15% dan ortig‘i</a:t>
                      </a:r>
                    </a:p>
                  </a:txBody>
                  <a:tcPr marL="73152" marR="73152" marT="36576" marB="36576">
                    <a:solidFill>
                      <a:srgbClr val="FFFFFF"/>
                    </a:solidFill>
                  </a:tcPr>
                </a:tc>
              </a:tr>
              <a:tr h="411480">
                <a:tc>
                  <a:txBody>
                    <a:bodyPr/>
                    <a:lstStyle/>
                    <a:p>
                      <a:r>
                        <a:rPr sz="1300" b="0">
                          <a:solidFill>
                            <a:srgbClr val="1F2937"/>
                          </a:solidFill>
                        </a:rPr>
                        <a:t>II darajali kuyish</a:t>
                      </a:r>
                    </a:p>
                  </a:txBody>
                  <a:tcPr marL="73152" marR="73152" marT="36576" marB="36576">
                    <a:solidFill>
                      <a:srgbClr val="E8EEF6"/>
                    </a:solidFill>
                  </a:tcPr>
                </a:tc>
                <a:tc>
                  <a:txBody>
                    <a:bodyPr/>
                    <a:lstStyle/>
                    <a:p>
                      <a:r>
                        <a:rPr sz="1300" b="0">
                          <a:solidFill>
                            <a:srgbClr val="1F2937"/>
                          </a:solidFill>
                        </a:rPr>
                        <a:t>tana yuzasining 20% dan ortig‘i</a:t>
                      </a:r>
                    </a:p>
                  </a:txBody>
                  <a:tcPr marL="73152" marR="73152" marT="36576" marB="36576">
                    <a:solidFill>
                      <a:srgbClr val="E8EEF6"/>
                    </a:solidFill>
                  </a:tcPr>
                </a:tc>
              </a:tr>
              <a:tr h="411480">
                <a:tc>
                  <a:txBody>
                    <a:bodyPr/>
                    <a:lstStyle/>
                    <a:p>
                      <a:r>
                        <a:rPr sz="1300" b="0">
                          <a:solidFill>
                            <a:srgbClr val="1F2937"/>
                          </a:solidFill>
                        </a:rPr>
                        <a:t>Nafas yo‘llari kuyishi</a:t>
                      </a:r>
                    </a:p>
                  </a:txBody>
                  <a:tcPr marL="73152" marR="73152" marT="36576" marB="36576">
                    <a:solidFill>
                      <a:srgbClr val="FFFFFF"/>
                    </a:solidFill>
                  </a:tcPr>
                </a:tc>
                <a:tc>
                  <a:txBody>
                    <a:bodyPr/>
                    <a:lstStyle/>
                    <a:p>
                      <a:r>
                        <a:rPr sz="1300" b="0">
                          <a:solidFill>
                            <a:srgbClr val="1F2937"/>
                          </a:solidFill>
                        </a:rPr>
                        <a:t>shish, ovoz yorig‘i torayishi bilan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Xavfli kuyish chegaralari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187-188, 187, 188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Diagnozda kuyishni kasr shaklida yozish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Shifokor kuyish darajalarini va har bir daraja egallagan yuzani imkon qadar to‘liq ko‘rsatishi lozim.</a:t>
            </a:r>
          </a:p>
          <a:p>
            <a:pPr>
              <a:spcAft>
                <a:spcPts val="800"/>
              </a:spcAft>
            </a:pPr>
            <a:r>
              <a:rPr sz="1800">
                <a:solidFill>
                  <a:srgbClr val="1F2937"/>
                </a:solidFill>
                <a:latin typeface="Calibri"/>
              </a:rPr>
              <a:t>▸  Diagnozda kuyish kasr shaklida yoziladi: suratda kuyish yuzasi, mahrajda kuyish darajalari.</a:t>
            </a:r>
          </a:p>
          <a:p>
            <a:pPr>
              <a:spcAft>
                <a:spcPts val="800"/>
              </a:spcAft>
            </a:pPr>
            <a:r>
              <a:rPr sz="1800">
                <a:solidFill>
                  <a:srgbClr val="1F2937"/>
                </a:solidFill>
                <a:latin typeface="Calibri"/>
              </a:rPr>
              <a:t>▸  Misollar: 10% / II yoki 30% (10%) / II-III. Qavs ichida chuqurroq kuyish yuzasi ko‘rsatiladi.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2169425"/>
                <a:gridCol w="3118549"/>
              </a:tblGrid>
              <a:tr h="411480">
                <a:tc>
                  <a:txBody>
                    <a:bodyPr/>
                    <a:lstStyle/>
                    <a:p>
                      <a:r>
                        <a:rPr sz="1400" b="1">
                          <a:solidFill>
                            <a:srgbClr val="FFFFFF"/>
                          </a:solidFill>
                        </a:rPr>
                        <a:t>Joyi</a:t>
                      </a:r>
                    </a:p>
                  </a:txBody>
                  <a:tcPr marL="73152" marR="73152" marT="36576" marB="36576">
                    <a:solidFill>
                      <a:srgbClr val="0B1F3A"/>
                    </a:solidFill>
                  </a:tcPr>
                </a:tc>
                <a:tc>
                  <a:txBody>
                    <a:bodyPr/>
                    <a:lstStyle/>
                    <a:p>
                      <a:r>
                        <a:rPr sz="1400" b="1">
                          <a:solidFill>
                            <a:srgbClr val="FFFFFF"/>
                          </a:solidFill>
                        </a:rPr>
                        <a:t>Yoziladi</a:t>
                      </a:r>
                    </a:p>
                  </a:txBody>
                  <a:tcPr marL="73152" marR="73152" marT="36576" marB="36576">
                    <a:solidFill>
                      <a:srgbClr val="0B1F3A"/>
                    </a:solidFill>
                  </a:tcPr>
                </a:tc>
              </a:tr>
              <a:tr h="411480">
                <a:tc>
                  <a:txBody>
                    <a:bodyPr/>
                    <a:lstStyle/>
                    <a:p>
                      <a:r>
                        <a:rPr sz="1300" b="0">
                          <a:solidFill>
                            <a:srgbClr val="1F2937"/>
                          </a:solidFill>
                        </a:rPr>
                        <a:t>Surat (tepada)</a:t>
                      </a:r>
                    </a:p>
                  </a:txBody>
                  <a:tcPr marL="73152" marR="73152" marT="36576" marB="36576">
                    <a:solidFill>
                      <a:srgbClr val="E8EEF6"/>
                    </a:solidFill>
                  </a:tcPr>
                </a:tc>
                <a:tc>
                  <a:txBody>
                    <a:bodyPr/>
                    <a:lstStyle/>
                    <a:p>
                      <a:r>
                        <a:rPr sz="1300" b="0">
                          <a:solidFill>
                            <a:srgbClr val="1F2937"/>
                          </a:solidFill>
                        </a:rPr>
                        <a:t>kuyish yuzasi, foizda</a:t>
                      </a:r>
                    </a:p>
                  </a:txBody>
                  <a:tcPr marL="73152" marR="73152" marT="36576" marB="36576">
                    <a:solidFill>
                      <a:srgbClr val="E8EEF6"/>
                    </a:solidFill>
                  </a:tcPr>
                </a:tc>
              </a:tr>
              <a:tr h="411480">
                <a:tc>
                  <a:txBody>
                    <a:bodyPr/>
                    <a:lstStyle/>
                    <a:p>
                      <a:r>
                        <a:rPr sz="1300" b="0">
                          <a:solidFill>
                            <a:srgbClr val="1F2937"/>
                          </a:solidFill>
                        </a:rPr>
                        <a:t>Mahraj (pastda)</a:t>
                      </a:r>
                    </a:p>
                  </a:txBody>
                  <a:tcPr marL="73152" marR="73152" marT="36576" marB="36576">
                    <a:solidFill>
                      <a:srgbClr val="FFFFFF"/>
                    </a:solidFill>
                  </a:tcPr>
                </a:tc>
                <a:tc>
                  <a:txBody>
                    <a:bodyPr/>
                    <a:lstStyle/>
                    <a:p>
                      <a:r>
                        <a:rPr sz="1300" b="0">
                          <a:solidFill>
                            <a:srgbClr val="1F2937"/>
                          </a:solidFill>
                        </a:rPr>
                        <a:t>kuyish darajalari</a:t>
                      </a:r>
                    </a:p>
                  </a:txBody>
                  <a:tcPr marL="73152" marR="73152" marT="36576" marB="36576">
                    <a:solidFill>
                      <a:srgbClr val="FFFFFF"/>
                    </a:solidFill>
                  </a:tcPr>
                </a:tc>
              </a:tr>
              <a:tr h="411480">
                <a:tc>
                  <a:txBody>
                    <a:bodyPr/>
                    <a:lstStyle/>
                    <a:p>
                      <a:r>
                        <a:rPr sz="1300" b="0">
                          <a:solidFill>
                            <a:srgbClr val="1F2937"/>
                          </a:solidFill>
                        </a:rPr>
                        <a:t>Qavs ichida</a:t>
                      </a:r>
                    </a:p>
                  </a:txBody>
                  <a:tcPr marL="73152" marR="73152" marT="36576" marB="36576">
                    <a:solidFill>
                      <a:srgbClr val="E8EEF6"/>
                    </a:solidFill>
                  </a:tcPr>
                </a:tc>
                <a:tc>
                  <a:txBody>
                    <a:bodyPr/>
                    <a:lstStyle/>
                    <a:p>
                      <a:r>
                        <a:rPr sz="1300" b="0">
                          <a:solidFill>
                            <a:srgbClr val="1F2937"/>
                          </a:solidFill>
                        </a:rPr>
                        <a:t>chuqurroq kuyish yuzasi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Kasr yozuvi tuzilishi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Kuyish kasalligi va uning to‘rt davri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 daraja 50% dan, II-IV daraja 10-15% dan ortiq yuzani egallab, o‘lim darhol bo‘lmasa, kuyish kasalligi rivojlanadi.</a:t>
            </a:r>
          </a:p>
          <a:p>
            <a:pPr>
              <a:spcAft>
                <a:spcPts val="800"/>
              </a:spcAft>
            </a:pPr>
            <a:r>
              <a:rPr sz="1800">
                <a:solidFill>
                  <a:srgbClr val="1F2937"/>
                </a:solidFill>
                <a:latin typeface="Calibri"/>
              </a:rPr>
              <a:t>▸  Nafas yo‘llari kuyishi va is gazi ta’siri qo‘shilsa, o‘lim ehtimoli ikki va undan ko‘p marta ortadi.</a:t>
            </a:r>
          </a:p>
          <a:p>
            <a:pPr>
              <a:spcAft>
                <a:spcPts val="800"/>
              </a:spcAft>
            </a:pPr>
            <a:r>
              <a:rPr sz="1800">
                <a:solidFill>
                  <a:srgbClr val="1F2937"/>
                </a:solidFill>
                <a:latin typeface="Calibri"/>
              </a:rPr>
              <a:t>▸  Bolalarda kuyish kasalligi og‘irroq kechadi; keksalarda hamroh kasalliklar kechuvni og‘irlashtiradi.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Shok: odatda 1 sutkagacha</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Toksemiya: 1-2 hafta</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Septikotoksemiya: yiringlash</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Rekonvalessensiya: tiklanish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Kuyish kasalligi davrlari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kuyish darajasi va maydoni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termik kuyish nechta darajaga bo‘linadi va qaysi daraja faqat alanga ta’sirida bo‘ladi? Javob: to‘rtta; IV daraja faqat alangadan.</a:t>
            </a:r>
          </a:p>
          <a:p>
            <a:pPr>
              <a:spcAft>
                <a:spcPts val="1200"/>
              </a:spcAft>
            </a:pPr>
            <a:r>
              <a:rPr sz="2200">
                <a:solidFill>
                  <a:srgbClr val="1F2937"/>
                </a:solidFill>
                <a:latin typeface="Calibri"/>
              </a:rPr>
              <a:t>▸  Savol: “to‘qqizliklar qoidasi”da bosh va bo‘yin hamda tananing old yuzasi necha foizni egallaydi? Javob: 9% va 18%.</a:t>
            </a:r>
          </a:p>
          <a:p>
            <a:pPr>
              <a:spcAft>
                <a:spcPts val="1200"/>
              </a:spcAft>
            </a:pPr>
            <a:r>
              <a:rPr sz="2200">
                <a:solidFill>
                  <a:srgbClr val="1F2937"/>
                </a:solidFill>
                <a:latin typeface="Calibri"/>
              </a:rPr>
              <a:t>▸  Savol: “qo‘l kafti qoidasi”ga ko‘ra kaft tana yuzasining qancha qismiga teng? Javob: taxminan 1%.</a:t>
            </a:r>
          </a:p>
          <a:p>
            <a:pPr>
              <a:spcAft>
                <a:spcPts val="1200"/>
              </a:spcAft>
            </a:pPr>
            <a:r>
              <a:rPr sz="2200">
                <a:solidFill>
                  <a:srgbClr val="1F2937"/>
                </a:solidFill>
                <a:latin typeface="Calibri"/>
              </a:rPr>
              <a:t>▸  Savol: kuyish kasalligining to‘rt davrini ayting. Javob: shok, toksemiya, septikotoksemiya va rekonvalessensiya.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185-186, 187, 188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kuyish maydonini hisoblash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(o‘quv misoli): yong‘indan chiqarilgan jabrlanganda bosh-bo‘yin, tananing old yuzasi va bir qo‘lda III darajali kuyish bor.</a:t>
            </a:r>
          </a:p>
          <a:p>
            <a:pPr>
              <a:spcAft>
                <a:spcPts val="1200"/>
              </a:spcAft>
            </a:pPr>
            <a:r>
              <a:rPr sz="2200">
                <a:solidFill>
                  <a:srgbClr val="1F2937"/>
                </a:solidFill>
                <a:latin typeface="Calibri"/>
              </a:rPr>
              <a:t>▸  To‘qqizliklar qoidasi bo‘yicha: bosh va bo‘yin 9%, old yuza 18%, qo‘l 9%. Jami: 9 + 18 + 9 = 36%.</a:t>
            </a:r>
          </a:p>
          <a:p>
            <a:pPr>
              <a:spcAft>
                <a:spcPts val="1200"/>
              </a:spcAft>
            </a:pPr>
            <a:r>
              <a:rPr sz="2200">
                <a:solidFill>
                  <a:srgbClr val="1F2937"/>
                </a:solidFill>
                <a:latin typeface="Calibri"/>
              </a:rPr>
              <a:t>▸  Tananing 15%dan ortiq yuzasining III darajali kuyishi hayot uchun xavfli jarohatlar qatoriga kiritilgan.</a:t>
            </a:r>
          </a:p>
          <a:p>
            <a:pPr>
              <a:spcAft>
                <a:spcPts val="1200"/>
              </a:spcAft>
            </a:pPr>
            <a:r>
              <a:rPr sz="2200">
                <a:solidFill>
                  <a:srgbClr val="1F2937"/>
                </a:solidFill>
                <a:latin typeface="Calibri"/>
              </a:rPr>
              <a:t>▸  Savol: bu holat og‘irlik mezoniga to‘g‘ri keladimi? Diagnozni kasr shaklida yozing: suratda maydon, mahrajda daraja.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186-187, 187, 188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Alanga ta’siri hayotiyligi: muammo va qurum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Yong‘inda jabrlanganlar ko‘pincha is gazidan zaharlanib o‘ladi, murda esa o‘limdan keyin alanga ta’sirida ko‘mirlanadi.</a:t>
            </a:r>
          </a:p>
          <a:p>
            <a:pPr>
              <a:spcAft>
                <a:spcPts val="1200"/>
              </a:spcAft>
            </a:pPr>
            <a:r>
              <a:rPr sz="2200">
                <a:solidFill>
                  <a:srgbClr val="1F2937"/>
                </a:solidFill>
                <a:latin typeface="Calibri"/>
              </a:rPr>
              <a:t>▸  Nafas yo‘llari, qizilo‘ngach va oshqozonda qurum bo‘lishi alanga hayot paytida ta’sir qilganini ko‘rsatadi.</a:t>
            </a:r>
          </a:p>
          <a:p>
            <a:pPr>
              <a:spcAft>
                <a:spcPts val="1200"/>
              </a:spcAft>
            </a:pPr>
            <a:r>
              <a:rPr sz="2200">
                <a:solidFill>
                  <a:srgbClr val="1F2937"/>
                </a:solidFill>
                <a:latin typeface="Calibri"/>
              </a:rPr>
              <a:t>▸  Qurum peshona va asos suyaklari bo‘shliqlarida, qon tomirlarda, leykotsit sitoplazmasida va jigar Kupfer hujayralarida ham topilishi mumkin.</a:t>
            </a:r>
          </a:p>
          <a:p>
            <a:pPr>
              <a:spcAft>
                <a:spcPts val="1200"/>
              </a:spcAft>
            </a:pPr>
            <a:r>
              <a:rPr sz="2200">
                <a:solidFill>
                  <a:srgbClr val="1F2937"/>
                </a:solidFill>
                <a:latin typeface="Calibri"/>
              </a:rPr>
              <a:t>▸  Diqqat: o‘limdan keyingi alangada karboksigemoglobin 20%dan oshmaydi, tirik paytdagi ta’sirda esa 60% gacha bo‘lishi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Karboksigemoglobin: tirik va o‘limdan keyingi ta’sir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Qonda karboksigemoglobin (HbCO) va mushakda karboksimioglobin aniqlanishi alanga hayotiy ta’sirining belgisidir.</a:t>
            </a:r>
          </a:p>
          <a:p>
            <a:pPr>
              <a:spcAft>
                <a:spcPts val="800"/>
              </a:spcAft>
            </a:pPr>
            <a:r>
              <a:rPr sz="1800">
                <a:solidFill>
                  <a:srgbClr val="1F2937"/>
                </a:solidFill>
                <a:latin typeface="Calibri"/>
              </a:rPr>
              <a:t>▸  Qon yurak kameralari va chuqur tomirlardan, mushak namunasi chuqur mushaklardan olinadi.</a:t>
            </a:r>
          </a:p>
          <a:p>
            <a:pPr>
              <a:spcAft>
                <a:spcPts val="800"/>
              </a:spcAft>
            </a:pPr>
            <a:r>
              <a:rPr sz="1800">
                <a:solidFill>
                  <a:srgbClr val="1F2937"/>
                </a:solidFill>
                <a:latin typeface="Calibri"/>
              </a:rPr>
              <a:t>▸  Diqqat: o‘limdan keyin ham yuza tomirlarda HbCO topilishi mumkin, shuning uchun uning miqdoriga qarang.</a:t>
            </a:r>
          </a:p>
        </p:txBody>
      </p:sp>
      <p:graphicFrame>
        <p:nvGraphicFramePr>
          <p:cNvPr id="9" name="Table 8"/>
          <p:cNvGraphicFramePr>
            <a:graphicFrameLocks noGrp="1"/>
          </p:cNvGraphicFramePr>
          <p:nvPr/>
        </p:nvGraphicFramePr>
        <p:xfrm>
          <a:off x="6263640" y="1463040"/>
          <a:ext cx="5287974" cy="1234440"/>
        </p:xfrm>
        <a:graphic>
          <a:graphicData uri="http://schemas.openxmlformats.org/drawingml/2006/table">
            <a:tbl>
              <a:tblPr firstRow="1" bandRow="1">
                <a:tableStyleId>{5C22544A-7EE6-4342-B048-85BDC9FD1C3A}</a:tableStyleId>
              </a:tblPr>
              <a:tblGrid>
                <a:gridCol w="1233860"/>
                <a:gridCol w="1938924"/>
                <a:gridCol w="2115190"/>
              </a:tblGrid>
              <a:tr h="411480">
                <a:tc>
                  <a:txBody>
                    <a:bodyPr/>
                    <a:lstStyle/>
                    <a:p>
                      <a:r>
                        <a:rPr sz="1300" b="1">
                          <a:solidFill>
                            <a:srgbClr val="FFFFFF"/>
                          </a:solidFill>
                        </a:rPr>
                        <a:t>Ko‘rsatkich</a:t>
                      </a:r>
                    </a:p>
                  </a:txBody>
                  <a:tcPr marL="73152" marR="73152" marT="36576" marB="36576">
                    <a:solidFill>
                      <a:srgbClr val="0B1F3A"/>
                    </a:solidFill>
                  </a:tcPr>
                </a:tc>
                <a:tc>
                  <a:txBody>
                    <a:bodyPr/>
                    <a:lstStyle/>
                    <a:p>
                      <a:r>
                        <a:rPr sz="1300" b="1">
                          <a:solidFill>
                            <a:srgbClr val="FFFFFF"/>
                          </a:solidFill>
                        </a:rPr>
                        <a:t>Hayotiy ta’sir</a:t>
                      </a:r>
                    </a:p>
                  </a:txBody>
                  <a:tcPr marL="73152" marR="73152" marT="36576" marB="36576">
                    <a:solidFill>
                      <a:srgbClr val="0B1F3A"/>
                    </a:solidFill>
                  </a:tcPr>
                </a:tc>
                <a:tc>
                  <a:txBody>
                    <a:bodyPr/>
                    <a:lstStyle/>
                    <a:p>
                      <a:r>
                        <a:rPr sz="1300" b="1">
                          <a:solidFill>
                            <a:srgbClr val="FFFFFF"/>
                          </a:solidFill>
                        </a:rPr>
                        <a:t>O‘limdan keyin</a:t>
                      </a:r>
                    </a:p>
                  </a:txBody>
                  <a:tcPr marL="73152" marR="73152" marT="36576" marB="36576">
                    <a:solidFill>
                      <a:srgbClr val="0B1F3A"/>
                    </a:solidFill>
                  </a:tcPr>
                </a:tc>
              </a:tr>
              <a:tr h="411480">
                <a:tc>
                  <a:txBody>
                    <a:bodyPr/>
                    <a:lstStyle/>
                    <a:p>
                      <a:r>
                        <a:rPr sz="1200" b="0">
                          <a:solidFill>
                            <a:srgbClr val="1F2937"/>
                          </a:solidFill>
                        </a:rPr>
                        <a:t>HbCO konsentratsiyasi</a:t>
                      </a:r>
                    </a:p>
                  </a:txBody>
                  <a:tcPr marL="73152" marR="73152" marT="36576" marB="36576">
                    <a:solidFill>
                      <a:srgbClr val="E8EEF6"/>
                    </a:solidFill>
                  </a:tcPr>
                </a:tc>
                <a:tc>
                  <a:txBody>
                    <a:bodyPr/>
                    <a:lstStyle/>
                    <a:p>
                      <a:r>
                        <a:rPr sz="1200" b="0">
                          <a:solidFill>
                            <a:srgbClr val="1F2937"/>
                          </a:solidFill>
                        </a:rPr>
                        <a:t>60% gacha bo‘lishi mumkin</a:t>
                      </a:r>
                    </a:p>
                  </a:txBody>
                  <a:tcPr marL="73152" marR="73152" marT="36576" marB="36576">
                    <a:solidFill>
                      <a:srgbClr val="E8EEF6"/>
                    </a:solidFill>
                  </a:tcPr>
                </a:tc>
                <a:tc>
                  <a:txBody>
                    <a:bodyPr/>
                    <a:lstStyle/>
                    <a:p>
                      <a:r>
                        <a:rPr sz="1200" b="0">
                          <a:solidFill>
                            <a:srgbClr val="1F2937"/>
                          </a:solidFill>
                        </a:rPr>
                        <a:t>20% dan oshmaydi</a:t>
                      </a:r>
                    </a:p>
                  </a:txBody>
                  <a:tcPr marL="73152" marR="73152" marT="36576" marB="36576">
                    <a:solidFill>
                      <a:srgbClr val="E8EEF6"/>
                    </a:solidFill>
                  </a:tcPr>
                </a:tc>
              </a:tr>
              <a:tr h="411480">
                <a:tc>
                  <a:txBody>
                    <a:bodyPr/>
                    <a:lstStyle/>
                    <a:p>
                      <a:r>
                        <a:rPr sz="1200" b="0">
                          <a:solidFill>
                            <a:srgbClr val="1F2937"/>
                          </a:solidFill>
                        </a:rPr>
                        <a:t>Qon olinadigan joy</a:t>
                      </a:r>
                    </a:p>
                  </a:txBody>
                  <a:tcPr marL="73152" marR="73152" marT="36576" marB="36576">
                    <a:solidFill>
                      <a:srgbClr val="FFFFFF"/>
                    </a:solidFill>
                  </a:tcPr>
                </a:tc>
                <a:tc>
                  <a:txBody>
                    <a:bodyPr/>
                    <a:lstStyle/>
                    <a:p>
                      <a:r>
                        <a:rPr sz="1200" b="0">
                          <a:solidFill>
                            <a:srgbClr val="1F2937"/>
                          </a:solidFill>
                        </a:rPr>
                        <a:t>Yurak kameralari, chuqur tomirlar</a:t>
                      </a:r>
                    </a:p>
                  </a:txBody>
                  <a:tcPr marL="73152" marR="73152" marT="36576" marB="36576">
                    <a:solidFill>
                      <a:srgbClr val="FFFFFF"/>
                    </a:solidFill>
                  </a:tcPr>
                </a:tc>
                <a:tc>
                  <a:txBody>
                    <a:bodyPr/>
                    <a:lstStyle/>
                    <a:p>
                      <a:r>
                        <a:rPr sz="1200" b="0">
                          <a:solidFill>
                            <a:srgbClr val="1F2937"/>
                          </a:solidFill>
                        </a:rPr>
                        <a:t>Yuza tomirlarda ham topilishi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HbCO: tirik va o‘limdan keyin</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“G‘oz panjasi” va boshqa hayotiylik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Hayotiy ta’sirda ko‘z olmalari odatda shikastlanmaydi. Qovoq burmasining yuqori qismida kuyish va qurum bo‘ladi, tubida bo‘lmaydi; teri yoyilganda “g‘oz panjasi” ko‘rinadi.</a:t>
            </a:r>
          </a:p>
          <a:p>
            <a:pPr>
              <a:spcAft>
                <a:spcPts val="1200"/>
              </a:spcAft>
            </a:pPr>
            <a:r>
              <a:rPr sz="2200">
                <a:solidFill>
                  <a:srgbClr val="1F2937"/>
                </a:solidFill>
                <a:latin typeface="Calibri"/>
              </a:rPr>
              <a:t>▸  Nafas yo‘llari, qizilo‘ngach va oshqozonda qurum bo‘lishi hamda nafas yo‘llarining kuyishi alanga tiriklikda ta’sir qilganini ko‘rsatadi.</a:t>
            </a:r>
          </a:p>
          <a:p>
            <a:pPr>
              <a:spcAft>
                <a:spcPts val="1200"/>
              </a:spcAft>
            </a:pPr>
            <a:r>
              <a:rPr sz="2200">
                <a:solidFill>
                  <a:srgbClr val="1F2937"/>
                </a:solidFill>
                <a:latin typeface="Calibri"/>
              </a:rPr>
              <a:t>▸  Yurak va tomirlarda ko‘p ivigan qon, shikastlangan sohadagi arterial tromblar va o‘pka tomirlarining yog‘ emboliyasi ham tiriklik belgilaridir.</a:t>
            </a:r>
          </a:p>
          <a:p>
            <a:pPr>
              <a:spcAft>
                <a:spcPts val="1200"/>
              </a:spcAft>
            </a:pPr>
            <a:r>
              <a:rPr sz="2200">
                <a:solidFill>
                  <a:srgbClr val="1F2937"/>
                </a:solidFill>
                <a:latin typeface="Calibri"/>
              </a:rPr>
              <a:t>▸  Hayotiy kuyish pufaklarida oqsil miqdori o‘limdan keyin hosil bo‘lgan pufaklarga nisbatan ikki barobar ko‘p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Epidural gematoma va gistologik tekshiruv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Yong‘indan keyin topilgan murdada epidural gematoma bo‘lishi mumkin; uning kelib chiqishini farqlash kerak.</a:t>
            </a:r>
          </a:p>
          <a:p>
            <a:pPr>
              <a:spcAft>
                <a:spcPts val="800"/>
              </a:spcAft>
            </a:pPr>
            <a:r>
              <a:rPr sz="1800">
                <a:solidFill>
                  <a:srgbClr val="1F2937"/>
                </a:solidFill>
                <a:latin typeface="Calibri"/>
              </a:rPr>
              <a:t>▸  Hayotiylikni aniqlashda tashqi jarohatlar va ichki a’zolarning gistologik natijalari muhim o‘rin tutadi.</a:t>
            </a:r>
          </a:p>
          <a:p>
            <a:pPr>
              <a:spcAft>
                <a:spcPts val="800"/>
              </a:spcAft>
            </a:pPr>
            <a:r>
              <a:rPr sz="1800">
                <a:solidFill>
                  <a:srgbClr val="1F2937"/>
                </a:solidFill>
                <a:latin typeface="Calibri"/>
              </a:rPr>
              <a:t>▸  Shuning uchun teri, yumshoq to‘qimalar va ichki a’zolarning mikroskopik tekshiruvi o‘tkazilishi zarur.</a:t>
            </a:r>
          </a:p>
        </p:txBody>
      </p:sp>
      <p:graphicFrame>
        <p:nvGraphicFramePr>
          <p:cNvPr id="9" name="Table 8"/>
          <p:cNvGraphicFramePr>
            <a:graphicFrameLocks noGrp="1"/>
          </p:cNvGraphicFramePr>
          <p:nvPr/>
        </p:nvGraphicFramePr>
        <p:xfrm>
          <a:off x="6263640" y="1463040"/>
          <a:ext cx="5287974" cy="1234440"/>
        </p:xfrm>
        <a:graphic>
          <a:graphicData uri="http://schemas.openxmlformats.org/drawingml/2006/table">
            <a:tbl>
              <a:tblPr firstRow="1" bandRow="1">
                <a:tableStyleId>{5C22544A-7EE6-4342-B048-85BDC9FD1C3A}</a:tableStyleId>
              </a:tblPr>
              <a:tblGrid>
                <a:gridCol w="1627069"/>
                <a:gridCol w="1627069"/>
                <a:gridCol w="2033836"/>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Travmatik</a:t>
                      </a:r>
                    </a:p>
                  </a:txBody>
                  <a:tcPr marL="73152" marR="73152" marT="36576" marB="36576">
                    <a:solidFill>
                      <a:srgbClr val="0B1F3A"/>
                    </a:solidFill>
                  </a:tcPr>
                </a:tc>
                <a:tc>
                  <a:txBody>
                    <a:bodyPr/>
                    <a:lstStyle/>
                    <a:p>
                      <a:r>
                        <a:rPr sz="1300" b="1">
                          <a:solidFill>
                            <a:srgbClr val="FFFFFF"/>
                          </a:solidFill>
                        </a:rPr>
                        <a:t>Alanga ta’siri</a:t>
                      </a:r>
                    </a:p>
                  </a:txBody>
                  <a:tcPr marL="73152" marR="73152" marT="36576" marB="36576">
                    <a:solidFill>
                      <a:srgbClr val="0B1F3A"/>
                    </a:solidFill>
                  </a:tcPr>
                </a:tc>
              </a:tr>
              <a:tr h="411480">
                <a:tc>
                  <a:txBody>
                    <a:bodyPr/>
                    <a:lstStyle/>
                    <a:p>
                      <a:r>
                        <a:rPr sz="1200" b="0">
                          <a:solidFill>
                            <a:srgbClr val="1F2937"/>
                          </a:solidFill>
                        </a:rPr>
                        <a:t>Shakli</a:t>
                      </a:r>
                    </a:p>
                  </a:txBody>
                  <a:tcPr marL="73152" marR="73152" marT="36576" marB="36576">
                    <a:solidFill>
                      <a:srgbClr val="E8EEF6"/>
                    </a:solidFill>
                  </a:tcPr>
                </a:tc>
                <a:tc>
                  <a:txBody>
                    <a:bodyPr/>
                    <a:lstStyle/>
                    <a:p>
                      <a:r>
                        <a:rPr sz="1200" b="0">
                          <a:solidFill>
                            <a:srgbClr val="1F2937"/>
                          </a:solidFill>
                        </a:rPr>
                        <a:t>Urchuqsimon</a:t>
                      </a:r>
                    </a:p>
                  </a:txBody>
                  <a:tcPr marL="73152" marR="73152" marT="36576" marB="36576">
                    <a:solidFill>
                      <a:srgbClr val="E8EEF6"/>
                    </a:solidFill>
                  </a:tcPr>
                </a:tc>
                <a:tc>
                  <a:txBody>
                    <a:bodyPr/>
                    <a:lstStyle/>
                    <a:p>
                      <a:r>
                        <a:rPr sz="1200" b="0">
                          <a:solidFill>
                            <a:srgbClr val="1F2937"/>
                          </a:solidFill>
                        </a:rPr>
                        <a:t>O‘roqsimon</a:t>
                      </a:r>
                    </a:p>
                  </a:txBody>
                  <a:tcPr marL="73152" marR="73152" marT="36576" marB="36576">
                    <a:solidFill>
                      <a:srgbClr val="E8EEF6"/>
                    </a:solidFill>
                  </a:tcPr>
                </a:tc>
              </a:tr>
              <a:tr h="411480">
                <a:tc>
                  <a:txBody>
                    <a:bodyPr/>
                    <a:lstStyle/>
                    <a:p>
                      <a:r>
                        <a:rPr sz="1200" b="0">
                          <a:solidFill>
                            <a:srgbClr val="1F2937"/>
                          </a:solidFill>
                        </a:rPr>
                        <a:t>Qattiq pardaga</a:t>
                      </a:r>
                    </a:p>
                  </a:txBody>
                  <a:tcPr marL="73152" marR="73152" marT="36576" marB="36576">
                    <a:solidFill>
                      <a:srgbClr val="FFFFFF"/>
                    </a:solidFill>
                  </a:tcPr>
                </a:tc>
                <a:tc>
                  <a:txBody>
                    <a:bodyPr/>
                    <a:lstStyle/>
                    <a:p>
                      <a:r>
                        <a:rPr sz="1200" b="0">
                          <a:solidFill>
                            <a:srgbClr val="1F2937"/>
                          </a:solidFill>
                        </a:rPr>
                        <a:t>Birikkan</a:t>
                      </a:r>
                    </a:p>
                  </a:txBody>
                  <a:tcPr marL="73152" marR="73152" marT="36576" marB="36576">
                    <a:solidFill>
                      <a:srgbClr val="FFFFFF"/>
                    </a:solidFill>
                  </a:tcPr>
                </a:tc>
                <a:tc>
                  <a:txBody>
                    <a:bodyPr/>
                    <a:lstStyle/>
                    <a:p>
                      <a:r>
                        <a:rPr sz="1200" b="0">
                          <a:solidFill>
                            <a:srgbClr val="1F2937"/>
                          </a:solidFill>
                        </a:rPr>
                        <a:t>Birikmagan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Epidural gematomani farqlash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Bokser pozasi va murdaning yonish muddati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Alanga ta’sirida murdada namlik bug‘lanadi, oqsillar ivib, mushaklar zichlashib, kaltalashadi.</a:t>
            </a:r>
          </a:p>
          <a:p>
            <a:pPr>
              <a:spcAft>
                <a:spcPts val="1200"/>
              </a:spcAft>
            </a:pPr>
            <a:r>
              <a:rPr sz="2200">
                <a:solidFill>
                  <a:srgbClr val="1F2937"/>
                </a:solidFill>
                <a:latin typeface="Calibri"/>
              </a:rPr>
              <a:t>▸  Shu sababli qo‘l-oyoqlar bukilib, “bokser pozasi” hosil bo‘ladi (tananing to‘liq ko‘mirlanishida).</a:t>
            </a:r>
          </a:p>
          <a:p>
            <a:pPr>
              <a:spcAft>
                <a:spcPts val="1200"/>
              </a:spcAft>
            </a:pPr>
            <a:r>
              <a:rPr sz="2200">
                <a:solidFill>
                  <a:srgbClr val="1F2937"/>
                </a:solidFill>
                <a:latin typeface="Calibri"/>
              </a:rPr>
              <a:t>▸  Teri qoplami ham zichlashadi. Tananing turli sohalariga ta’sir har xil bo‘lsa, terida darz va yoriqlar paydo bo‘lishi mumkin.</a:t>
            </a:r>
          </a:p>
          <a:p>
            <a:pPr>
              <a:spcAft>
                <a:spcPts val="1200"/>
              </a:spcAft>
            </a:pPr>
            <a:r>
              <a:rPr sz="2200">
                <a:solidFill>
                  <a:srgbClr val="1F2937"/>
                </a:solidFill>
                <a:latin typeface="Calibri"/>
              </a:rPr>
              <a:t>▸  Go‘dak murdasi 2-3 soatda yonib kulga aylanadi, kattalarniki taxminan 20 soatda. Krematoriyda gazda bir soatdan kam kerak.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190, 191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yong‘indan keyin topilgan murda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yong‘in o‘chog‘idan ko‘mirlangan murda topildi. Yong‘inda o‘lim ko‘pincha is gazidan zaharlanishdan bo‘ladi, murda esa keyin ko‘mirlanadi.</a:t>
            </a:r>
          </a:p>
          <a:p>
            <a:pPr>
              <a:spcAft>
                <a:spcPts val="1200"/>
              </a:spcAft>
            </a:pPr>
            <a:r>
              <a:rPr sz="2200">
                <a:solidFill>
                  <a:srgbClr val="1F2937"/>
                </a:solidFill>
                <a:latin typeface="Calibri"/>
              </a:rPr>
              <a:t>▸  Nafas yo‘llari, qizilo‘ngach, oshqozonda qurum bo‘lsa, alanga hayot paytida ta’sir qilgan. Qurum qon tomirlar va leykotsitlarda ham topilishi mumkin.</a:t>
            </a:r>
          </a:p>
          <a:p>
            <a:pPr>
              <a:spcAft>
                <a:spcPts val="1200"/>
              </a:spcAft>
            </a:pPr>
            <a:r>
              <a:rPr sz="2200">
                <a:solidFill>
                  <a:srgbClr val="1F2937"/>
                </a:solidFill>
                <a:latin typeface="Calibri"/>
              </a:rPr>
              <a:t>▸  Diqqat: o‘limdan keyingi alangada ham yuza tomirlarda karboksigemoglobin (HbCO) bo‘ladi, lekin 20% dan oshmaydi. Tiriklikda u 60% gacha yetadi.</a:t>
            </a:r>
          </a:p>
          <a:p>
            <a:pPr>
              <a:spcAft>
                <a:spcPts val="1200"/>
              </a:spcAft>
            </a:pPr>
            <a:r>
              <a:rPr sz="2200">
                <a:solidFill>
                  <a:srgbClr val="1F2937"/>
                </a:solidFill>
                <a:latin typeface="Calibri"/>
              </a:rPr>
              <a:t>▸  Qovoq terisida “g‘oz panjasi”, kuyish pufaklarida oqsilning ikki barobar ko‘pligi ham tiriklikdagi ta’sirni ko‘rsatadi. Savol: qaysi belgilarni izlaysiz?</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188-189, 189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Past harorat: omillar va umumiy ta’sir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Past harorat ta’sirini sovuq, yuqori namlik va shamol kuchaytiradi. Deyarli barcha holatlarda bu baxtsiz hodisa oqibatida bo‘ladi.</a:t>
            </a:r>
          </a:p>
          <a:p>
            <a:pPr>
              <a:spcAft>
                <a:spcPts val="1200"/>
              </a:spcAft>
            </a:pPr>
            <a:r>
              <a:rPr sz="2200">
                <a:solidFill>
                  <a:srgbClr val="1F2937"/>
                </a:solidFill>
                <a:latin typeface="Calibri"/>
              </a:rPr>
              <a:t>▸  Moyillik yaratadi: mavsumga mos bo‘lmagan kiyim, charchoq, ochlik, kasallik, harakatsizlik, mastlik. Bolalar va keksalar ayniqsa sezgir.</a:t>
            </a:r>
          </a:p>
          <a:p>
            <a:pPr>
              <a:spcAft>
                <a:spcPts val="1200"/>
              </a:spcAft>
            </a:pPr>
            <a:r>
              <a:rPr sz="2200">
                <a:solidFill>
                  <a:srgbClr val="1F2937"/>
                </a:solidFill>
                <a:latin typeface="Calibri"/>
              </a:rPr>
              <a:t>▸  Uzoq qolib ketilsa, sovuq qotish havo harorati +10°S gacha bo‘lganda ham rivojlanishi mumkin. Alkogol teri tomirlarini kengaytirib, issiqlik yo‘qotishni oshiradi.</a:t>
            </a:r>
          </a:p>
          <a:p>
            <a:pPr>
              <a:spcAft>
                <a:spcPts val="1200"/>
              </a:spcAft>
            </a:pPr>
            <a:r>
              <a:rPr sz="2200">
                <a:solidFill>
                  <a:srgbClr val="1F2937"/>
                </a:solidFill>
                <a:latin typeface="Calibri"/>
              </a:rPr>
              <a:t>▸  Havoda o‘lim odatda bir necha soatda, sovuq suvda esa 1-1,5 soatda sodir bo‘ladi. To‘satdan tushganda qon tomir kollapsi yoki shokdan ham o‘lish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qotish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Dastlab organizm modda almashinuvini kuchaytirib, tana haroratini normada ushlab turishga harakat qiladi.</a:t>
            </a:r>
          </a:p>
          <a:p>
            <a:pPr>
              <a:spcAft>
                <a:spcPts val="800"/>
              </a:spcAft>
            </a:pPr>
            <a:r>
              <a:rPr sz="1800">
                <a:solidFill>
                  <a:srgbClr val="1F2937"/>
                </a:solidFill>
                <a:latin typeface="Calibri"/>
              </a:rPr>
              <a:t>▸  Harorat +30...+28°S ga tushadi; har 1°S pasayish biokimyoviy jarayonlarni taxminan 2 barobar sekinlatadi.</a:t>
            </a:r>
          </a:p>
          <a:p>
            <a:pPr>
              <a:spcAft>
                <a:spcPts val="800"/>
              </a:spcAft>
            </a:pPr>
            <a:r>
              <a:rPr sz="1800">
                <a:solidFill>
                  <a:srgbClr val="1F2937"/>
                </a:solidFill>
                <a:latin typeface="Calibri"/>
              </a:rPr>
              <a:t>▸  Yakuniy bosqichda (+25...+22°S) o‘lim ko‘pincha nafas olishning birlamchi to‘xtashidan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Kompensatsiya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Dekompensatsiya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+30...+28°S: po‘stloq buziladi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+25...+22°S: yakuniy bosqich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 O‘lim: nafas to‘xtashi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Sovuq qotish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191-192, 192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qotishning tashqi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Poza issiqlik ajratuvchi yuzani kamaytiradi; kuchli mastlikda bu poza bo‘lmasligi mumkin.</a:t>
            </a:r>
          </a:p>
          <a:p>
            <a:pPr>
              <a:spcAft>
                <a:spcPts val="800"/>
              </a:spcAft>
            </a:pPr>
            <a:r>
              <a:rPr sz="1800">
                <a:solidFill>
                  <a:srgbClr val="1F2937"/>
                </a:solidFill>
                <a:latin typeface="Calibri"/>
              </a:rPr>
              <a:t>▸  Qor tagidagi muz qatlami spetsifik emas: sovub ulgurmagan murda qorga qo‘yilsa ham hosil bo‘ladi.</a:t>
            </a:r>
          </a:p>
          <a:p>
            <a:pPr>
              <a:spcAft>
                <a:spcPts val="800"/>
              </a:spcAft>
            </a:pPr>
            <a:r>
              <a:rPr sz="1800">
                <a:solidFill>
                  <a:srgbClr val="1F2937"/>
                </a:solidFill>
                <a:latin typeface="Calibri"/>
              </a:rPr>
              <a:t>▸  Musbat haroratda (+10°S gacha) dog‘lar ko‘kimtir-binafsha: to‘qimalar kislorodni sarflab ulguradi.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982990"/>
                <a:gridCol w="3304984"/>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Ko‘rinishi</a:t>
                      </a:r>
                    </a:p>
                  </a:txBody>
                  <a:tcPr marL="73152" marR="73152" marT="36576" marB="36576">
                    <a:solidFill>
                      <a:srgbClr val="0B1F3A"/>
                    </a:solidFill>
                  </a:tcPr>
                </a:tc>
              </a:tr>
              <a:tr h="411480">
                <a:tc>
                  <a:txBody>
                    <a:bodyPr/>
                    <a:lstStyle/>
                    <a:p>
                      <a:r>
                        <a:rPr sz="1300" b="0">
                          <a:solidFill>
                            <a:srgbClr val="1F2937"/>
                          </a:solidFill>
                        </a:rPr>
                        <a:t>Sovuq qotgan odam pozasi</a:t>
                      </a:r>
                    </a:p>
                  </a:txBody>
                  <a:tcPr marL="73152" marR="73152" marT="36576" marB="36576">
                    <a:solidFill>
                      <a:srgbClr val="E8EEF6"/>
                    </a:solidFill>
                  </a:tcPr>
                </a:tc>
                <a:tc>
                  <a:txBody>
                    <a:bodyPr/>
                    <a:lstStyle/>
                    <a:p>
                      <a:r>
                        <a:rPr sz="1300" b="0">
                          <a:solidFill>
                            <a:srgbClr val="1F2937"/>
                          </a:solidFill>
                        </a:rPr>
                        <a:t>Qo‘l ko‘krakka, oyoq qoringa bukilgan</a:t>
                      </a:r>
                    </a:p>
                  </a:txBody>
                  <a:tcPr marL="73152" marR="73152" marT="36576" marB="36576">
                    <a:solidFill>
                      <a:srgbClr val="E8EEF6"/>
                    </a:solidFill>
                  </a:tcPr>
                </a:tc>
              </a:tr>
              <a:tr h="411480">
                <a:tc>
                  <a:txBody>
                    <a:bodyPr/>
                    <a:lstStyle/>
                    <a:p>
                      <a:r>
                        <a:rPr sz="1300" b="0">
                          <a:solidFill>
                            <a:srgbClr val="1F2937"/>
                          </a:solidFill>
                        </a:rPr>
                        <a:t>Rayskiy belgilari</a:t>
                      </a:r>
                    </a:p>
                  </a:txBody>
                  <a:tcPr marL="73152" marR="73152" marT="36576" marB="36576">
                    <a:solidFill>
                      <a:srgbClr val="FFFFFF"/>
                    </a:solidFill>
                  </a:tcPr>
                </a:tc>
                <a:tc>
                  <a:txBody>
                    <a:bodyPr/>
                    <a:lstStyle/>
                    <a:p>
                      <a:r>
                        <a:rPr sz="1300" b="0">
                          <a:solidFill>
                            <a:srgbClr val="1F2937"/>
                          </a:solidFill>
                        </a:rPr>
                        <a:t>Og‘iz-burunda muz, kiprikda qirov</a:t>
                      </a:r>
                    </a:p>
                  </a:txBody>
                  <a:tcPr marL="73152" marR="73152" marT="36576" marB="36576">
                    <a:solidFill>
                      <a:srgbClr val="FFFFFF"/>
                    </a:solidFill>
                  </a:tcPr>
                </a:tc>
              </a:tr>
              <a:tr h="411480">
                <a:tc>
                  <a:txBody>
                    <a:bodyPr/>
                    <a:lstStyle/>
                    <a:p>
                      <a:r>
                        <a:rPr sz="1300" b="0">
                          <a:solidFill>
                            <a:srgbClr val="1F2937"/>
                          </a:solidFill>
                        </a:rPr>
                        <a:t>Puparev belgisi</a:t>
                      </a:r>
                    </a:p>
                  </a:txBody>
                  <a:tcPr marL="73152" marR="73152" marT="36576" marB="36576">
                    <a:solidFill>
                      <a:srgbClr val="E8EEF6"/>
                    </a:solidFill>
                  </a:tcPr>
                </a:tc>
                <a:tc>
                  <a:txBody>
                    <a:bodyPr/>
                    <a:lstStyle/>
                    <a:p>
                      <a:r>
                        <a:rPr sz="1300" b="0">
                          <a:solidFill>
                            <a:srgbClr val="1F2937"/>
                          </a:solidFill>
                        </a:rPr>
                        <a:t>Moyak qisqargan, yorg‘oq chovga tortilgan</a:t>
                      </a:r>
                    </a:p>
                  </a:txBody>
                  <a:tcPr marL="73152" marR="73152" marT="36576" marB="36576">
                    <a:solidFill>
                      <a:srgbClr val="E8EEF6"/>
                    </a:solidFill>
                  </a:tcPr>
                </a:tc>
              </a:tr>
              <a:tr h="411480">
                <a:tc>
                  <a:txBody>
                    <a:bodyPr/>
                    <a:lstStyle/>
                    <a:p>
                      <a:r>
                        <a:rPr sz="1300" b="0">
                          <a:solidFill>
                            <a:srgbClr val="1F2937"/>
                          </a:solidFill>
                        </a:rPr>
                        <a:t>Murda dog‘lari</a:t>
                      </a:r>
                    </a:p>
                  </a:txBody>
                  <a:tcPr marL="73152" marR="73152" marT="36576" marB="36576">
                    <a:solidFill>
                      <a:srgbClr val="FFFFFF"/>
                    </a:solidFill>
                  </a:tcPr>
                </a:tc>
                <a:tc>
                  <a:txBody>
                    <a:bodyPr/>
                    <a:lstStyle/>
                    <a:p>
                      <a:r>
                        <a:rPr sz="1300" b="0">
                          <a:solidFill>
                            <a:srgbClr val="1F2937"/>
                          </a:solidFill>
                        </a:rPr>
                        <a:t>Manfiy haroratda pushti-qizgish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Tashqi belgilar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192, 192-193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Ichki belgilar va Vishnevskiy dog‘lari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Vishnevskiy dog‘lari o‘lim holatlarining 80-90%ida uchraydi, 6-9 oydan keyin ham topilishi mumkin.</a:t>
            </a:r>
          </a:p>
          <a:p>
            <a:pPr>
              <a:spcAft>
                <a:spcPts val="800"/>
              </a:spcAft>
            </a:pPr>
            <a:r>
              <a:rPr sz="1800">
                <a:solidFill>
                  <a:srgbClr val="1F2937"/>
                </a:solidFill>
                <a:latin typeface="Calibri"/>
              </a:rPr>
              <a:t>▸  O‘lim tez bo‘lsa dog‘lar kam yoki yo‘q (bolalarda ko‘pincha yo‘q); bir necha soatdan keyin bo‘lsa, ko‘p bo‘ladi.</a:t>
            </a:r>
          </a:p>
          <a:p>
            <a:pPr>
              <a:spcAft>
                <a:spcPts val="800"/>
              </a:spcAft>
            </a:pPr>
            <a:r>
              <a:rPr sz="1800">
                <a:solidFill>
                  <a:srgbClr val="1F2937"/>
                </a:solidFill>
                <a:latin typeface="Calibri"/>
              </a:rPr>
              <a:t>▸  Kasyanov belgisi — buyrak to‘g‘ri naychalari epiteliysi o‘zgarishi; gistokimyoda glikogen yo‘qoladi.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92533"/>
                <a:gridCol w="3495441"/>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Topilma</a:t>
                      </a:r>
                    </a:p>
                  </a:txBody>
                  <a:tcPr marL="73152" marR="73152" marT="36576" marB="36576">
                    <a:solidFill>
                      <a:srgbClr val="0B1F3A"/>
                    </a:solidFill>
                  </a:tcPr>
                </a:tc>
              </a:tr>
              <a:tr h="411480">
                <a:tc>
                  <a:txBody>
                    <a:bodyPr/>
                    <a:lstStyle/>
                    <a:p>
                      <a:r>
                        <a:rPr sz="1300" b="0">
                          <a:solidFill>
                            <a:srgbClr val="1F2937"/>
                          </a:solidFill>
                        </a:rPr>
                        <a:t>Qon va a’zolar</a:t>
                      </a:r>
                    </a:p>
                  </a:txBody>
                  <a:tcPr marL="73152" marR="73152" marT="36576" marB="36576">
                    <a:solidFill>
                      <a:srgbClr val="E8EEF6"/>
                    </a:solidFill>
                  </a:tcPr>
                </a:tc>
                <a:tc>
                  <a:txBody>
                    <a:bodyPr/>
                    <a:lstStyle/>
                    <a:p>
                      <a:r>
                        <a:rPr sz="1300" b="0">
                          <a:solidFill>
                            <a:srgbClr val="1F2937"/>
                          </a:solidFill>
                        </a:rPr>
                        <a:t>To‘laqonlik, qip-qizil laxtali qon</a:t>
                      </a:r>
                    </a:p>
                  </a:txBody>
                  <a:tcPr marL="73152" marR="73152" marT="36576" marB="36576">
                    <a:solidFill>
                      <a:srgbClr val="E8EEF6"/>
                    </a:solidFill>
                  </a:tcPr>
                </a:tc>
              </a:tr>
              <a:tr h="411480">
                <a:tc>
                  <a:txBody>
                    <a:bodyPr/>
                    <a:lstStyle/>
                    <a:p>
                      <a:r>
                        <a:rPr sz="1300" b="0">
                          <a:solidFill>
                            <a:srgbClr val="1F2937"/>
                          </a:solidFill>
                        </a:rPr>
                        <a:t>Puxnarevich belgisi</a:t>
                      </a:r>
                    </a:p>
                  </a:txBody>
                  <a:tcPr marL="73152" marR="73152" marT="36576" marB="36576">
                    <a:solidFill>
                      <a:srgbClr val="FFFFFF"/>
                    </a:solidFill>
                  </a:tcPr>
                </a:tc>
                <a:tc>
                  <a:txBody>
                    <a:bodyPr/>
                    <a:lstStyle/>
                    <a:p>
                      <a:r>
                        <a:rPr sz="1300" b="0">
                          <a:solidFill>
                            <a:srgbClr val="1F2937"/>
                          </a:solidFill>
                        </a:rPr>
                        <a:t>Oshqozon bo‘sh, o‘lchami kichik</a:t>
                      </a:r>
                    </a:p>
                  </a:txBody>
                  <a:tcPr marL="73152" marR="73152" marT="36576" marB="36576">
                    <a:solidFill>
                      <a:srgbClr val="FFFFFF"/>
                    </a:solidFill>
                  </a:tcPr>
                </a:tc>
              </a:tr>
              <a:tr h="411480">
                <a:tc>
                  <a:txBody>
                    <a:bodyPr/>
                    <a:lstStyle/>
                    <a:p>
                      <a:r>
                        <a:rPr sz="1300" b="0">
                          <a:solidFill>
                            <a:srgbClr val="1F2937"/>
                          </a:solidFill>
                        </a:rPr>
                        <a:t>Fabrikantov belgisi</a:t>
                      </a:r>
                    </a:p>
                  </a:txBody>
                  <a:tcPr marL="73152" marR="73152" marT="36576" marB="36576">
                    <a:solidFill>
                      <a:srgbClr val="E8EEF6"/>
                    </a:solidFill>
                  </a:tcPr>
                </a:tc>
                <a:tc>
                  <a:txBody>
                    <a:bodyPr/>
                    <a:lstStyle/>
                    <a:p>
                      <a:r>
                        <a:rPr sz="1300" b="0">
                          <a:solidFill>
                            <a:srgbClr val="1F2937"/>
                          </a:solidFill>
                        </a:rPr>
                        <a:t>Buyrak jomida mayda qon quyilishlar</a:t>
                      </a:r>
                    </a:p>
                  </a:txBody>
                  <a:tcPr marL="73152" marR="73152" marT="36576" marB="36576">
                    <a:solidFill>
                      <a:srgbClr val="E8EEF6"/>
                    </a:solidFill>
                  </a:tcPr>
                </a:tc>
              </a:tr>
              <a:tr h="411480">
                <a:tc>
                  <a:txBody>
                    <a:bodyPr/>
                    <a:lstStyle/>
                    <a:p>
                      <a:r>
                        <a:rPr sz="1300" b="0">
                          <a:solidFill>
                            <a:srgbClr val="1F2937"/>
                          </a:solidFill>
                        </a:rPr>
                        <a:t>Vishnevskiy dog‘lari</a:t>
                      </a:r>
                    </a:p>
                  </a:txBody>
                  <a:tcPr marL="73152" marR="73152" marT="36576" marB="36576">
                    <a:solidFill>
                      <a:srgbClr val="FFFFFF"/>
                    </a:solidFill>
                  </a:tcPr>
                </a:tc>
                <a:tc>
                  <a:txBody>
                    <a:bodyPr/>
                    <a:lstStyle/>
                    <a:p>
                      <a:r>
                        <a:rPr sz="1300" b="0">
                          <a:solidFill>
                            <a:srgbClr val="1F2937"/>
                          </a:solidFill>
                        </a:rPr>
                        <a:t>Oshqozon shilliq qavatida, 0,5 sm gacha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Ichki belgilar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193, 193-194, 194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sovuq qotish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sovuq qotishdan o‘lganlarda oshqozon shilliq qavatidagi mayda qon quyilishlar kimning nomi bilan ataladi va qancha holatda uchraydi?</a:t>
            </a:r>
          </a:p>
          <a:p>
            <a:pPr>
              <a:spcAft>
                <a:spcPts val="1200"/>
              </a:spcAft>
            </a:pPr>
            <a:r>
              <a:rPr sz="2200">
                <a:solidFill>
                  <a:srgbClr val="1F2937"/>
                </a:solidFill>
                <a:latin typeface="Calibri"/>
              </a:rPr>
              <a:t>▸  Javob: S.M.Vishnevskiy dog‘lari. Ular sovuq qotishdan o‘lim holatlarining 80-90%ida kuzatiladi.</a:t>
            </a:r>
          </a:p>
          <a:p>
            <a:pPr>
              <a:spcAft>
                <a:spcPts val="1200"/>
              </a:spcAft>
            </a:pPr>
            <a:r>
              <a:rPr sz="2200">
                <a:solidFill>
                  <a:srgbClr val="1F2937"/>
                </a:solidFill>
                <a:latin typeface="Calibri"/>
              </a:rPr>
              <a:t>▸  Dog‘lar shilliq qavat burmalarining tepasida, diametri 0,5 sm gacha. Pichoq orqasi yoki suv oqimi bilan oson olinadi, o‘limdan 6-9 oy keyin ham topilishi mumkin.</a:t>
            </a:r>
          </a:p>
          <a:p>
            <a:pPr>
              <a:spcAft>
                <a:spcPts val="1200"/>
              </a:spcAft>
            </a:pPr>
            <a:r>
              <a:rPr sz="2200">
                <a:solidFill>
                  <a:srgbClr val="1F2937"/>
                </a:solidFill>
                <a:latin typeface="Calibri"/>
              </a:rPr>
              <a:t>▸  Diqqat: xato qilish xavfi. O‘lim tez sodir bo‘lsa dog‘lar juda kam yoki umuman bo‘lmasligi mumkin; kichik bolalarda ular ko‘pincha kuzatilmaydi.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Murdaning muzlashi va hayotiy belgilardan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Muzlaganda miya va parenximatoz a’zolar hajmi kattalashadi; ko‘krak va qorin bo‘shlig‘ida jiddiy o‘zgarish bo‘lmaydi.</a:t>
            </a:r>
          </a:p>
          <a:p>
            <a:pPr>
              <a:spcAft>
                <a:spcPts val="800"/>
              </a:spcAft>
            </a:pPr>
            <a:r>
              <a:rPr sz="1800">
                <a:solidFill>
                  <a:srgbClr val="1F2937"/>
                </a:solidFill>
                <a:latin typeface="Calibri"/>
              </a:rPr>
              <a:t>▸  Kallada miya muzlashi suyak sinishi, choklar ajralishi va yumshoq to‘qima ichkaridan yorilishiga olib keladi.</a:t>
            </a:r>
          </a:p>
          <a:p>
            <a:pPr>
              <a:spcAft>
                <a:spcPts val="800"/>
              </a:spcAft>
            </a:pPr>
            <a:r>
              <a:rPr sz="1800">
                <a:solidFill>
                  <a:srgbClr val="1F2937"/>
                </a:solidFill>
                <a:latin typeface="Calibri"/>
              </a:rPr>
              <a:t>▸  Eritish bir necha kun oladi; iliq havo yoki +50°S gacha suv ishlatilsa, gemoliz va imbibitsiya kuchli bo‘ladi.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961450"/>
                <a:gridCol w="2103171"/>
                <a:gridCol w="2223353"/>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Tiriklikda</a:t>
                      </a:r>
                    </a:p>
                  </a:txBody>
                  <a:tcPr marL="73152" marR="73152" marT="36576" marB="36576">
                    <a:solidFill>
                      <a:srgbClr val="0B1F3A"/>
                    </a:solidFill>
                  </a:tcPr>
                </a:tc>
                <a:tc>
                  <a:txBody>
                    <a:bodyPr/>
                    <a:lstStyle/>
                    <a:p>
                      <a:r>
                        <a:rPr sz="1300" b="1">
                          <a:solidFill>
                            <a:srgbClr val="FFFFFF"/>
                          </a:solidFill>
                        </a:rPr>
                        <a:t>O‘limdan so‘ng</a:t>
                      </a:r>
                    </a:p>
                  </a:txBody>
                  <a:tcPr marL="73152" marR="73152" marT="36576" marB="36576">
                    <a:solidFill>
                      <a:srgbClr val="0B1F3A"/>
                    </a:solidFill>
                  </a:tcPr>
                </a:tc>
              </a:tr>
              <a:tr h="411480">
                <a:tc>
                  <a:txBody>
                    <a:bodyPr/>
                    <a:lstStyle/>
                    <a:p>
                      <a:r>
                        <a:rPr sz="1200" b="0">
                          <a:solidFill>
                            <a:srgbClr val="1F2937"/>
                          </a:solidFill>
                        </a:rPr>
                        <a:t>Kelib chiqishi</a:t>
                      </a:r>
                    </a:p>
                  </a:txBody>
                  <a:tcPr marL="73152" marR="73152" marT="36576" marB="36576">
                    <a:solidFill>
                      <a:srgbClr val="E8EEF6"/>
                    </a:solidFill>
                  </a:tcPr>
                </a:tc>
                <a:tc>
                  <a:txBody>
                    <a:bodyPr/>
                    <a:lstStyle/>
                    <a:p>
                      <a:r>
                        <a:rPr sz="1200" b="0">
                          <a:solidFill>
                            <a:srgbClr val="1F2937"/>
                          </a:solidFill>
                        </a:rPr>
                        <a:t>Tirik odamga past harorat ta’siri</a:t>
                      </a:r>
                    </a:p>
                  </a:txBody>
                  <a:tcPr marL="73152" marR="73152" marT="36576" marB="36576">
                    <a:solidFill>
                      <a:srgbClr val="E8EEF6"/>
                    </a:solidFill>
                  </a:tcPr>
                </a:tc>
                <a:tc>
                  <a:txBody>
                    <a:bodyPr/>
                    <a:lstStyle/>
                    <a:p>
                      <a:r>
                        <a:rPr sz="1200" b="0">
                          <a:solidFill>
                            <a:srgbClr val="1F2937"/>
                          </a:solidFill>
                        </a:rPr>
                        <a:t>Sababidan qat’i nazar, minus harorat</a:t>
                      </a:r>
                    </a:p>
                  </a:txBody>
                  <a:tcPr marL="73152" marR="73152" marT="36576" marB="36576">
                    <a:solidFill>
                      <a:srgbClr val="E8EEF6"/>
                    </a:solidFill>
                  </a:tcPr>
                </a:tc>
              </a:tr>
              <a:tr h="411480">
                <a:tc>
                  <a:txBody>
                    <a:bodyPr/>
                    <a:lstStyle/>
                    <a:p>
                      <a:r>
                        <a:rPr sz="1200" b="0">
                          <a:solidFill>
                            <a:srgbClr val="1F2937"/>
                          </a:solidFill>
                        </a:rPr>
                        <a:t>Mikroskopiya</a:t>
                      </a:r>
                    </a:p>
                  </a:txBody>
                  <a:tcPr marL="73152" marR="73152" marT="36576" marB="36576">
                    <a:solidFill>
                      <a:srgbClr val="FFFFFF"/>
                    </a:solidFill>
                  </a:tcPr>
                </a:tc>
                <a:tc>
                  <a:txBody>
                    <a:bodyPr/>
                    <a:lstStyle/>
                    <a:p>
                      <a:r>
                        <a:rPr sz="1200" b="0">
                          <a:solidFill>
                            <a:srgbClr val="1F2937"/>
                          </a:solidFill>
                        </a:rPr>
                        <a:t>Spazm, shish, mayda qon quyilishlar</a:t>
                      </a:r>
                    </a:p>
                  </a:txBody>
                  <a:tcPr marL="73152" marR="73152" marT="36576" marB="36576">
                    <a:solidFill>
                      <a:srgbClr val="FFFFFF"/>
                    </a:solidFill>
                  </a:tcPr>
                </a:tc>
                <a:tc>
                  <a:txBody>
                    <a:bodyPr/>
                    <a:lstStyle/>
                    <a:p>
                      <a:r>
                        <a:rPr sz="1200" b="0">
                          <a:solidFill>
                            <a:srgbClr val="1F2937"/>
                          </a:solidFill>
                        </a:rPr>
                        <a:t>Ko‘p mayda yoriq, epidermis ajralishi</a:t>
                      </a:r>
                    </a:p>
                  </a:txBody>
                  <a:tcPr marL="73152" marR="73152" marT="36576" marB="36576">
                    <a:solidFill>
                      <a:srgbClr val="FFFFFF"/>
                    </a:solidFill>
                  </a:tcPr>
                </a:tc>
              </a:tr>
              <a:tr h="411480">
                <a:tc>
                  <a:txBody>
                    <a:bodyPr/>
                    <a:lstStyle/>
                    <a:p>
                      <a:r>
                        <a:rPr sz="1200" b="0">
                          <a:solidFill>
                            <a:srgbClr val="1F2937"/>
                          </a:solidFill>
                        </a:rPr>
                        <a:t>Qor tagidagi muz</a:t>
                      </a:r>
                    </a:p>
                  </a:txBody>
                  <a:tcPr marL="73152" marR="73152" marT="36576" marB="36576">
                    <a:solidFill>
                      <a:srgbClr val="E8EEF6"/>
                    </a:solidFill>
                  </a:tcPr>
                </a:tc>
                <a:tc>
                  <a:txBody>
                    <a:bodyPr/>
                    <a:lstStyle/>
                    <a:p>
                      <a:r>
                        <a:rPr sz="1200" b="0">
                          <a:solidFill>
                            <a:srgbClr val="1F2937"/>
                          </a:solidFill>
                        </a:rPr>
                        <a:t>Qor eriydi, keyin muz qatlami</a:t>
                      </a:r>
                    </a:p>
                  </a:txBody>
                  <a:tcPr marL="73152" marR="73152" marT="36576" marB="36576">
                    <a:solidFill>
                      <a:srgbClr val="E8EEF6"/>
                    </a:solidFill>
                  </a:tcPr>
                </a:tc>
                <a:tc>
                  <a:txBody>
                    <a:bodyPr/>
                    <a:lstStyle/>
                    <a:p>
                      <a:r>
                        <a:rPr sz="1200" b="0">
                          <a:solidFill>
                            <a:srgbClr val="1F2937"/>
                          </a:solidFill>
                        </a:rPr>
                        <a:t>Sovumagan murdada ham paydo bo‘ladi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Tiriklik va muzlash farqi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194, 194-195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sovuq qotishdan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ochiq joyda topilgan murda qo‘llari ko‘krakka, oyoqlari qorniga bukilgan. Qosh-kipriklarda qirov, burun atrofida muz sumalaklari bor.</a:t>
            </a:r>
          </a:p>
          <a:p>
            <a:pPr>
              <a:spcAft>
                <a:spcPts val="1200"/>
              </a:spcAft>
            </a:pPr>
            <a:r>
              <a:rPr sz="2200">
                <a:solidFill>
                  <a:srgbClr val="1F2937"/>
                </a:solidFill>
                <a:latin typeface="Calibri"/>
              </a:rPr>
              <a:t>▸  Ichki tekshiruvda: a’zolar to‘laqon, chap yurak va aortada qip-qizil laxtali qon, oshqozon bo‘sh, shilliq qavatida mayda qon quyilishlar.</a:t>
            </a:r>
          </a:p>
          <a:p>
            <a:pPr>
              <a:spcAft>
                <a:spcPts val="1200"/>
              </a:spcAft>
            </a:pPr>
            <a:r>
              <a:rPr sz="2200">
                <a:solidFill>
                  <a:srgbClr val="1F2937"/>
                </a:solidFill>
                <a:latin typeface="Calibri"/>
              </a:rPr>
              <a:t>▸  Savol: qaysi belgilar past haroratning hayotiy ta’sirini ko‘rsatadi va murda dog‘lari qanday rangda bo‘lishi kutiladi?</a:t>
            </a:r>
          </a:p>
          <a:p>
            <a:pPr>
              <a:spcAft>
                <a:spcPts val="1200"/>
              </a:spcAft>
            </a:pPr>
            <a:r>
              <a:rPr sz="2200">
                <a:solidFill>
                  <a:srgbClr val="1F2937"/>
                </a:solidFill>
                <a:latin typeface="Calibri"/>
              </a:rPr>
              <a:t>▸  Diqqat: qor tagidagi muz spetsifik emas, kuchli mastlikda esa “sovuq qotgan odam pozasi” bo‘lmasligi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192, 193, 192-193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urish va uning darajalari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Yashirin davr to‘qimada harorat pasaygan vaqtga to‘g‘ri keladi; reaktiv davr isishdan keyin boshlanadi.</a:t>
            </a:r>
          </a:p>
          <a:p>
            <a:pPr>
              <a:spcAft>
                <a:spcPts val="800"/>
              </a:spcAft>
            </a:pPr>
            <a:r>
              <a:rPr sz="1800">
                <a:solidFill>
                  <a:srgbClr val="1F2937"/>
                </a:solidFill>
                <a:latin typeface="Calibri"/>
              </a:rPr>
              <a:t>▸  Reaktiv davrda shikast chuqurligiga qarab sovuq urishning to‘rt darajasi ajratiladi.</a:t>
            </a:r>
          </a:p>
          <a:p>
            <a:pPr>
              <a:spcAft>
                <a:spcPts val="800"/>
              </a:spcAft>
            </a:pPr>
            <a:r>
              <a:rPr sz="1800">
                <a:solidFill>
                  <a:srgbClr val="1F2937"/>
                </a:solidFill>
                <a:latin typeface="Calibri"/>
              </a:rPr>
              <a:t>▸  I va II daraja tuzalgach, shikast joyi uzoq vaqt sovuqqa o‘ta sezgir bo‘lib qoladi.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881329"/>
                <a:gridCol w="2203322"/>
                <a:gridCol w="2203322"/>
              </a:tblGrid>
              <a:tr h="411480">
                <a:tc>
                  <a:txBody>
                    <a:bodyPr/>
                    <a:lstStyle/>
                    <a:p>
                      <a:r>
                        <a:rPr sz="1300" b="1">
                          <a:solidFill>
                            <a:srgbClr val="FFFFFF"/>
                          </a:solidFill>
                        </a:rPr>
                        <a:t>Daraja</a:t>
                      </a:r>
                    </a:p>
                  </a:txBody>
                  <a:tcPr marL="73152" marR="73152" marT="36576" marB="36576">
                    <a:solidFill>
                      <a:srgbClr val="0B1F3A"/>
                    </a:solidFill>
                  </a:tcPr>
                </a:tc>
                <a:tc>
                  <a:txBody>
                    <a:bodyPr/>
                    <a:lstStyle/>
                    <a:p>
                      <a:r>
                        <a:rPr sz="1300" b="1">
                          <a:solidFill>
                            <a:srgbClr val="FFFFFF"/>
                          </a:solidFill>
                        </a:rPr>
                        <a:t>Belgisi</a:t>
                      </a:r>
                    </a:p>
                  </a:txBody>
                  <a:tcPr marL="73152" marR="73152" marT="36576" marB="36576">
                    <a:solidFill>
                      <a:srgbClr val="0B1F3A"/>
                    </a:solidFill>
                  </a:tcPr>
                </a:tc>
                <a:tc>
                  <a:txBody>
                    <a:bodyPr/>
                    <a:lstStyle/>
                    <a:p>
                      <a:r>
                        <a:rPr sz="1300" b="1">
                          <a:solidFill>
                            <a:srgbClr val="FFFFFF"/>
                          </a:solidFill>
                        </a:rPr>
                        <a:t>Tuzalishi</a:t>
                      </a:r>
                    </a:p>
                  </a:txBody>
                  <a:tcPr marL="73152" marR="73152" marT="36576" marB="36576">
                    <a:solidFill>
                      <a:srgbClr val="0B1F3A"/>
                    </a:solidFill>
                  </a:tcPr>
                </a:tc>
              </a:tr>
              <a:tr h="411480">
                <a:tc>
                  <a:txBody>
                    <a:bodyPr/>
                    <a:lstStyle/>
                    <a:p>
                      <a:r>
                        <a:rPr sz="1200" b="0">
                          <a:solidFill>
                            <a:srgbClr val="1F2937"/>
                          </a:solidFill>
                        </a:rPr>
                        <a:t>I</a:t>
                      </a:r>
                    </a:p>
                  </a:txBody>
                  <a:tcPr marL="73152" marR="73152" marT="36576" marB="36576">
                    <a:solidFill>
                      <a:srgbClr val="E8EEF6"/>
                    </a:solidFill>
                  </a:tcPr>
                </a:tc>
                <a:tc>
                  <a:txBody>
                    <a:bodyPr/>
                    <a:lstStyle/>
                    <a:p>
                      <a:r>
                        <a:rPr sz="1200" b="0">
                          <a:solidFill>
                            <a:srgbClr val="1F2937"/>
                          </a:solidFill>
                        </a:rPr>
                        <a:t>Teri qizg‘ish-ko‘kimtir, biroz shishgan</a:t>
                      </a:r>
                    </a:p>
                  </a:txBody>
                  <a:tcPr marL="73152" marR="73152" marT="36576" marB="36576">
                    <a:solidFill>
                      <a:srgbClr val="E8EEF6"/>
                    </a:solidFill>
                  </a:tcPr>
                </a:tc>
                <a:tc>
                  <a:txBody>
                    <a:bodyPr/>
                    <a:lstStyle/>
                    <a:p>
                      <a:r>
                        <a:rPr sz="1200" b="0">
                          <a:solidFill>
                            <a:srgbClr val="1F2937"/>
                          </a:solidFill>
                        </a:rPr>
                        <a:t>3-7 kunda o‘tadi</a:t>
                      </a:r>
                    </a:p>
                  </a:txBody>
                  <a:tcPr marL="73152" marR="73152" marT="36576" marB="36576">
                    <a:solidFill>
                      <a:srgbClr val="E8EEF6"/>
                    </a:solidFill>
                  </a:tcPr>
                </a:tc>
              </a:tr>
              <a:tr h="411480">
                <a:tc>
                  <a:txBody>
                    <a:bodyPr/>
                    <a:lstStyle/>
                    <a:p>
                      <a:r>
                        <a:rPr sz="1200" b="0">
                          <a:solidFill>
                            <a:srgbClr val="1F2937"/>
                          </a:solidFill>
                        </a:rPr>
                        <a:t>II</a:t>
                      </a:r>
                    </a:p>
                  </a:txBody>
                  <a:tcPr marL="73152" marR="73152" marT="36576" marB="36576">
                    <a:solidFill>
                      <a:srgbClr val="FFFFFF"/>
                    </a:solidFill>
                  </a:tcPr>
                </a:tc>
                <a:tc>
                  <a:txBody>
                    <a:bodyPr/>
                    <a:lstStyle/>
                    <a:p>
                      <a:r>
                        <a:rPr sz="1200" b="0">
                          <a:solidFill>
                            <a:srgbClr val="1F2937"/>
                          </a:solidFill>
                        </a:rPr>
                        <a:t>Tiniq suyuqlikli pufaklar, atrofi ko‘kimtir</a:t>
                      </a:r>
                    </a:p>
                  </a:txBody>
                  <a:tcPr marL="73152" marR="73152" marT="36576" marB="36576">
                    <a:solidFill>
                      <a:srgbClr val="FFFFFF"/>
                    </a:solidFill>
                  </a:tcPr>
                </a:tc>
                <a:tc>
                  <a:txBody>
                    <a:bodyPr/>
                    <a:lstStyle/>
                    <a:p>
                      <a:r>
                        <a:rPr sz="1200" b="0">
                          <a:solidFill>
                            <a:srgbClr val="1F2937"/>
                          </a:solidFill>
                        </a:rPr>
                        <a:t>10-20 kun, chandiqsiz</a:t>
                      </a:r>
                    </a:p>
                  </a:txBody>
                  <a:tcPr marL="73152" marR="73152" marT="36576" marB="36576">
                    <a:solidFill>
                      <a:srgbClr val="FFFFFF"/>
                    </a:solidFill>
                  </a:tcPr>
                </a:tc>
              </a:tr>
              <a:tr h="411480">
                <a:tc>
                  <a:txBody>
                    <a:bodyPr/>
                    <a:lstStyle/>
                    <a:p>
                      <a:r>
                        <a:rPr sz="1200" b="0">
                          <a:solidFill>
                            <a:srgbClr val="1F2937"/>
                          </a:solidFill>
                        </a:rPr>
                        <a:t>III</a:t>
                      </a:r>
                    </a:p>
                  </a:txBody>
                  <a:tcPr marL="73152" marR="73152" marT="36576" marB="36576">
                    <a:solidFill>
                      <a:srgbClr val="E8EEF6"/>
                    </a:solidFill>
                  </a:tcPr>
                </a:tc>
                <a:tc>
                  <a:txBody>
                    <a:bodyPr/>
                    <a:lstStyle/>
                    <a:p>
                      <a:r>
                        <a:rPr sz="1200" b="0">
                          <a:solidFill>
                            <a:srgbClr val="1F2937"/>
                          </a:solidFill>
                        </a:rPr>
                        <a:t>Teri nekrozi, gemorragik pufaklar</a:t>
                      </a:r>
                    </a:p>
                  </a:txBody>
                  <a:tcPr marL="73152" marR="73152" marT="36576" marB="36576">
                    <a:solidFill>
                      <a:srgbClr val="E8EEF6"/>
                    </a:solidFill>
                  </a:tcPr>
                </a:tc>
                <a:tc>
                  <a:txBody>
                    <a:bodyPr/>
                    <a:lstStyle/>
                    <a:p>
                      <a:r>
                        <a:rPr sz="1200" b="0">
                          <a:solidFill>
                            <a:srgbClr val="1F2937"/>
                          </a:solidFill>
                        </a:rPr>
                        <a:t>1-2 oy yoki ko‘proq, chandiq</a:t>
                      </a:r>
                    </a:p>
                  </a:txBody>
                  <a:tcPr marL="73152" marR="73152" marT="36576" marB="36576">
                    <a:solidFill>
                      <a:srgbClr val="E8EEF6"/>
                    </a:solidFill>
                  </a:tcPr>
                </a:tc>
              </a:tr>
              <a:tr h="411480">
                <a:tc>
                  <a:txBody>
                    <a:bodyPr/>
                    <a:lstStyle/>
                    <a:p>
                      <a:r>
                        <a:rPr sz="1200" b="0">
                          <a:solidFill>
                            <a:srgbClr val="1F2937"/>
                          </a:solidFill>
                        </a:rPr>
                        <a:t>IV</a:t>
                      </a:r>
                    </a:p>
                  </a:txBody>
                  <a:tcPr marL="73152" marR="73152" marT="36576" marB="36576">
                    <a:solidFill>
                      <a:srgbClr val="FFFFFF"/>
                    </a:solidFill>
                  </a:tcPr>
                </a:tc>
                <a:tc>
                  <a:txBody>
                    <a:bodyPr/>
                    <a:lstStyle/>
                    <a:p>
                      <a:r>
                        <a:rPr sz="1200" b="0">
                          <a:solidFill>
                            <a:srgbClr val="1F2937"/>
                          </a:solidFill>
                        </a:rPr>
                        <a:t>Suyakkacha nekroz, demarkatsion hoshiya</a:t>
                      </a:r>
                    </a:p>
                  </a:txBody>
                  <a:tcPr marL="73152" marR="73152" marT="36576" marB="36576">
                    <a:solidFill>
                      <a:srgbClr val="FFFFFF"/>
                    </a:solidFill>
                  </a:tcPr>
                </a:tc>
                <a:tc>
                  <a:txBody>
                    <a:bodyPr/>
                    <a:lstStyle/>
                    <a:p>
                      <a:r>
                        <a:rPr sz="1200" b="0">
                          <a:solidFill>
                            <a:srgbClr val="1F2937"/>
                          </a:solidFill>
                        </a:rPr>
                        <a:t>Haftalar-oylardan so‘ng, chandiqli cho‘ltoq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Sovuq urish darajalari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urish: maydon, og‘irlik va reperkussiya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Sovuq urish ko‘pincha baxtsiz hodisa bo‘lib, qo‘l-oyoq uchlari, quloq, burun, yonoqda uchraydi. Tovonda I barmoq, kaftda III-IV barmoq ko‘proq shikastlanadi.</a:t>
            </a:r>
          </a:p>
          <a:p>
            <a:pPr>
              <a:spcAft>
                <a:spcPts val="1200"/>
              </a:spcAft>
            </a:pPr>
            <a:r>
              <a:rPr sz="2200">
                <a:solidFill>
                  <a:srgbClr val="1F2937"/>
                </a:solidFill>
                <a:latin typeface="Calibri"/>
              </a:rPr>
              <a:t>▸  Reperkussiya fenomeni: bir qo‘l yoki oyoq sovuq urganda, ta’sir etmagan qarama-qarshi tomonda ham mahalliy o‘zgarishlar rivojlanishi mumkin.</a:t>
            </a:r>
          </a:p>
          <a:p>
            <a:pPr>
              <a:spcAft>
                <a:spcPts val="1200"/>
              </a:spcAft>
            </a:pPr>
            <a:r>
              <a:rPr sz="2200">
                <a:solidFill>
                  <a:srgbClr val="1F2937"/>
                </a:solidFill>
                <a:latin typeface="Calibri"/>
              </a:rPr>
              <a:t>▸  Tibbiy hujjatda voqea tafsiloti, shikast sohada mahalliy harorat pasayganligi, sovuq urish darajasi va shikast maydoni yozilishi muhim.</a:t>
            </a:r>
          </a:p>
          <a:p>
            <a:pPr>
              <a:spcAft>
                <a:spcPts val="1200"/>
              </a:spcAft>
            </a:pPr>
            <a:r>
              <a:rPr sz="2200">
                <a:solidFill>
                  <a:srgbClr val="1F2937"/>
                </a:solidFill>
                <a:latin typeface="Calibri"/>
              </a:rPr>
              <a:t>▸  Hayot uchun xavfli: tananing 10%dan ortiq yuzasida III-IV daraja, 15%dan ortiq yuzasida III daraja yoki 20%dan ortiq yuzasida II daraja.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195, 196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hayotiylik va maydonni aniqlash algoritmi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Termik kuyish maydoni to‘qqizliklar qoidasi bilan baholanadi: bosh-bo‘yin 9%, qo‘l 9%, old yuza 18%, orqa 18%, son 9%, boldir-tovon 9%, oraliq 1%. Kaft ~1%.</a:t>
            </a:r>
          </a:p>
          <a:p>
            <a:pPr>
              <a:spcAft>
                <a:spcPts val="1200"/>
              </a:spcAft>
            </a:pPr>
            <a:r>
              <a:rPr sz="2200">
                <a:solidFill>
                  <a:srgbClr val="1F2937"/>
                </a:solidFill>
                <a:latin typeface="Calibri"/>
              </a:rPr>
              <a:t>▸  Alanganing hayotiy ta’siri: nafas yo‘llari, qizilo‘ngach, oshqozonda qurum bo‘ladi; karboksigemoglobin o‘limdan keyin 20%dan oshmaydi, hayotda 60% gacha.</a:t>
            </a:r>
          </a:p>
          <a:p>
            <a:pPr>
              <a:spcAft>
                <a:spcPts val="1200"/>
              </a:spcAft>
            </a:pPr>
            <a:r>
              <a:rPr sz="2200">
                <a:solidFill>
                  <a:srgbClr val="1F2937"/>
                </a:solidFill>
                <a:latin typeface="Calibri"/>
              </a:rPr>
              <a:t>▸  G‘oz panjasi belgisi va ko‘z olmasining shikastlanmasligi tirikdagi ta’sirni ko‘rsatadi; hayotiy pufaklarda oqsil ikki barobar ko‘p.</a:t>
            </a:r>
          </a:p>
          <a:p>
            <a:pPr>
              <a:spcAft>
                <a:spcPts val="1200"/>
              </a:spcAft>
            </a:pPr>
            <a:r>
              <a:rPr sz="2200">
                <a:solidFill>
                  <a:srgbClr val="1F2937"/>
                </a:solidFill>
                <a:latin typeface="Calibri"/>
              </a:rPr>
              <a:t>▸  Diqqat: urchuqsimon, qattiq pardaga birikkan epidural gematoma — travma; o‘roqsimon, birikmagan gematoma — o‘limdan keyingi alanga ta’siri.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186-187, 189, 190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Kuyish maydonini tez baholash: ‘to‘qqizliklar qoidasi’da bosh va bo‘yin 9%, bir qo‘l 9%, tananing old yuzasi 18%, orqa yuzasi 18%, son 9%, boldir va tovon 9%, oraliq soha 1%. Qo‘l kafti esa taxminan 1% ga teng. Eslab qolish usuli: asosiy bo‘laklar 9 ning karralisi, oraliq esa 1.</a:t>
            </a:r>
          </a:p>
          <a:p>
            <a:pPr>
              <a:spcAft>
                <a:spcPts val="1200"/>
              </a:spcAft>
            </a:pPr>
            <a:r>
              <a:rPr sz="1800">
                <a:solidFill>
                  <a:srgbClr val="1F2937"/>
                </a:solidFill>
                <a:latin typeface="Calibri"/>
              </a:rPr>
              <a:t>▸  Kuyish diagnozi kasr shaklida yoziladi: suratda maydon, mahrajda daraja. Masalan, ‘30% (10%) / II-III’ yozuvida qavs ichidagi 10% chuqurroq kuyish yuzasini bildiradi. Eslab qolish usuli: yuqorida ‘qancha’, pastda ‘qanchalik chuqur’.</a:t>
            </a:r>
          </a:p>
          <a:p>
            <a:pPr>
              <a:spcAft>
                <a:spcPts val="1200"/>
              </a:spcAft>
            </a:pPr>
            <a:r>
              <a:rPr sz="1800">
                <a:solidFill>
                  <a:srgbClr val="1F2937"/>
                </a:solidFill>
                <a:latin typeface="Calibri"/>
              </a:rPr>
              <a:t>▸  Hodisa tahlili: yong‘indan keyin topilgan murdada nafas yo‘llari, qizilo‘ngach va oshqozonda qurum bo‘lsa, alanga tiriklikda ta‘sir qilgan. O‘limdan keyin yuza tomirlardagi karboksigemoglobin 20% dan oshmaydi, hayotiy ta‘sirda esa 60% gacha yetishi mumkin. Shuning uchun qon yurak kameralari va chuqur tomirlardan olinadi.</a:t>
            </a:r>
          </a:p>
          <a:p>
            <a:pPr>
              <a:spcAft>
                <a:spcPts val="1200"/>
              </a:spcAft>
            </a:pPr>
            <a:r>
              <a:rPr sz="1800">
                <a:solidFill>
                  <a:srgbClr val="1F2937"/>
                </a:solidFill>
                <a:latin typeface="Calibri"/>
              </a:rPr>
              <a:t>▸  Yong‘inda epidural gematomani farqlash: travmadan hosil bo‘lgani urchuqsimon va qattiq pardaga birikkan. O‘limdan keyin alanga ta‘sirida hosil bo‘lgani o‘roqsimon va qattiq pardaga birikmagan. Diqqat: ikkalasi ham yong‘in murdasida topilishi mumkin, shuning uchun shakliga qarab ajratiladi.</a:t>
            </a:r>
          </a:p>
          <a:p>
            <a:pPr>
              <a:spcAft>
                <a:spcPts val="1200"/>
              </a:spcAft>
            </a:pPr>
            <a:r>
              <a:rPr sz="1800">
                <a:solidFill>
                  <a:srgbClr val="1F2937"/>
                </a:solidFill>
                <a:latin typeface="Calibri"/>
              </a:rPr>
              <a:t>▸  Vishnevskiy dog‘lari (oshqozon shilliq qavatidagi mayda qon quyilishlar) sovuq qotishdan o‘lganlarning 80-90% ida uchraydi. Ular o‘limdan 6-9 oy keyin ham aniqlanishi mumkin. O‘lim juda tez bo‘lsa, dog‘lar kam bo‘ladi yoki umuman bo‘lmaydi, bolalarda ko‘pincha ko‘rinmaydi.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Organizmdagi ortiqcha issiqlikning eng katta qismi (55%) qaysi yo‘l bilan tashqariga chiqariladi?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Ter ajralishi orqali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Nurlanish orqali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Issiqlik o‘tkazish orqali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Turli ajratmalar orqali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Issiq sexda og‘ir ishlagan, havo o‘tkazmaydigan kiyim kiygan ishchida issiq urish rivojlandi. Uning vujudga kelishida qaysi mexanizm asosiy o‘rin tutadi?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Suyak miyada qon hosil bo‘lishining so‘nishi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Nafas mushaklarida talvasa rivojlanishi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Teri qon tomirlarining uzoq torayishi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Gemodinamikaning buzilishi, qon quyuqlashishi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O‘rganmagan odam o‘ta baland haroratda birdan hushini yo‘qotib, komaga tushdi va qisqa muddatda vafot etdi. Issiq urishning qaysi shakli rivojlangan?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Issiq urishning o‘tkir shakli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Issiq urishning uzaytirilgan shakli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Quyosh urishi (insolyatsiya)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Termik kuyish kasalligi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Ochiq joyda bosh kiyimsiz topilgan, quyosh urishidan vafot etgan shaxs murdasi tekshirildi. Murda qotishi va murda dog‘lari qanday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Murda qotishi kech rivojlanadi, dog‘lar erta paydo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Murda qotishi va dog‘lar bir vaqtda sust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Murda qotishi tez va kuchli, dog‘lar kech va oz</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Murda dog‘lari erta, ko‘p va pushti-qizg‘ish bo‘ladi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Jabrlanganning terisida epidermis ko‘chib, tiniq seroz suyuqlikli pufaklar paydo bo‘ldi va 10-20 kunda chandiqsiz tuzaldi. Bu kuyishning qaysi darajasi?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 darajali kuyish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II darajali kuyish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III-A darajali kuyish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IV darajali kuyish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Jabrlanganda teri bilan birga mushak, boylam va suyaklarning nekrozi aniqlandi. Bu kuyish qaysi darajaga to‘g‘ri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 darajali kuyish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II darajali kuyish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IV darajali kuyish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III-A darajali kuyish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Jabrlanganda soch va kiyim shikastlanmagan, kuyish yuzaki, jarohatlar oqma shaklida. Kuyish manbai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Ochiq alanga ta’siri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Issiq suyuqlik ta’siri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Qizdirilgan jism bosmasi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Issiq gaz va bug‘ ta’siri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To‘qqizliklar qoidasi bo‘yicha tananing old yuzasi butun tana yuzasining necha foizini egallaydi?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9%</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36%</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Tan jarohatlari og‘irligini baholash mezonlariga ko‘ra (kuyish kasalligisiz) quyidagilardan qaysi biri hayot uchun xavfli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Tananing 12% yuzasining III-IV darajali kuyishi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Tananing 8% yuzasining III-IV darajali kuyishi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Tananing 12% yuzasining III darajali kuyishi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Tananing 15% yuzasining II darajali kuyishi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Shifokor kuyishni “30% (10%) / II-III” deb yozdi. Qavs ichidagi 10% nimani bildiradi?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Kuyishning umumiy yuzasini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Yuzaki kuyish yuzasini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Chuqurroq kuyish yuzasini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Kaft qoidasi bo‘yicha yuzani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Jabrlanganda bosh va bo‘yin hamda tananing old yuzasi kuygan. To‘qqizliklar qoidasi bo‘yicha umumiy kuyish maydoni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 yuzasining 18 foizi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Tana yuzasining 27 foizi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Tana yuzasining 36 foizi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 yuzasining 45 foizi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Alanganing o‘limdan keyingi ta’sirida yuza joylashgan tomirlardagi qonda karboksigemoglobin konsentratsiyasi qancha chegaradan oshmaydi?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40 foizdan oshmaydi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60 foizdan oshmaydi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80 foizdan oshmaydi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20 foizdan oshmaydi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Yong‘indan keyin topilgan murdada qovoq terisi yoyilganda burmalarning yuqori qismida kuyish va qurum bor, tubida esa yo‘q. Bu nimani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Alanga tiriklikda ta’sir qilgan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Alanga o‘limdan keyin ta’sir qilgan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Ta’sir vaqtini aniqlab bo‘lmaydi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Kuyish issiq suyuqlikdan bo‘lgan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Yong‘indan keyin topilgan murdada o‘roqsimon epidural gematoma bor, u miyaning qattiq pardasiga birikmagan. Xulosa qanday?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Gematoma travma tufayli tiriklikda hosil bo‘lgan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Gematoma kuyish kasalligi asorati sifatida chiqqan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Gematoma o‘limdan keyin alanga ta’sirida hosil bo‘lgan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Gematoma qon ketish kasalligi tufayli paydo bo‘lgan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Qishda kuchli mast shaxs sovuqda qolgan. Spirtli ichimlik uning sovuq qotishiga qaysi mexanizm orqali moyillik yaratadi?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Teri tomirlarini toraytirib, issiqlik ajratishni kamaytiradi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Teri tomirlarini kengaytirib, issiqlik ajratishni kuchaytiradi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Modda almashinuvini oshirib, issiqlik hosil qilishni ko‘paytiradi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Terlashni to‘xtatib, tana haroratini ko‘tarib yuboradi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Sovuq qotgan shaxsda tana harorati +29°S ga tushgan. Uyquchanlik, alahsirash, nafas va puls sekinlashishi, arterial bosim pasayishi kuzatilmoqda. Bu qaysi bosqichga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Kompensator-moslashuv bosqichi, issiqlik ishlab chiqarish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Dekompensatsiya bosqichi, po‘stloq funksiyasi buzilishi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Yakuniy bosqich, nafas olishning birlamchi to‘xtashi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Latent bosqich, issiqlikni ajratishning kuchayishi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Sovuq qotib o‘lgan odamning tashqi ko‘rigida og‘iz va burun teshiklari atrofida muz sumalaklari, qosh va kipriklarda qirov topildi. Bu qaysi belgi?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M.I.Rayskiy belgisi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K.V.Puparev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V.I.Puxnarevich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P.A.Fabrikantov belgisi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Kichik yoshdagi bolada sovuq qotishdan o‘lim tez sodir bo‘lgan. Oshqozon shilliq qavatida Vishnevskiy dog‘lari topilmadi. Bu holat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Dog‘lar yo‘qligi sovuq qotishni mutlaqo inkor etadi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Dog‘lar faqat murda chirishidan keyin paydo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Tez o‘limda dog‘lar kam bo‘lishi yoki bo‘lmasligi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Bolalarda dog‘lar doim juda ko‘p miqdorda aniqlanadi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Minus haroratda muzlagan murdada kalla suyaklarining sinishi va suyaklararo choklarning ajralishi topildi. Bu o‘zgarishlar eng ko‘p qaysi sababga bog‘liq?</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Hayotiylikda o‘tmas jism zarbasidan kalla suyagi sinishi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O‘lim oldidan bosh miyaning ichki qon quyilishi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Murdani eritishda to‘qimalarning juda tez qizishi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Muzlashda bosh miya hajmining kattalashishi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Jabrlanganda tananing 12% yuzasida III–IV darajali sovuq urish aniqlandi. Tan jarohatlari og‘irligini aniqlash qoidalariga ko‘ra u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Hayot uchun xavfsiz jarohatga kiritiladi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I darajali sovuq urish deb baholanadi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Hayot uchun xavfli jarohatga kiritiladi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Maydondan qat’i nazar xavfsiz hisoblanadi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Nurlanish orqali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issiqlikning 55% nurlanish, 27% ter, 15% o‘tkazish va 3% turli ajratmalar bilan chiqarilishi aytilgan. Eng katta ulush nurlanishga to‘g‘ri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183-bet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Gemodinamikaning buzilishi, qon quyuqlashishi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Issiq urish mexanizmida gemodinamikaning buzilishi asosiy o‘rin tutadi: qon quyuqlashadi, qon aylanishi sustlashadi, bu esa to‘qima gipertermiyasi va gipoksiyasini kuchaytiradi.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183-bet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Issiq urishning o‘tkir shakli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O‘tkir shakl o‘rganmagan organizmda o‘ta baland harorat ta’sirida rivojlanadi: birdan hush yo‘qoladi, koma bo‘ladi va yurak-qon tomir hamda nafas tizimlari buzilib, qisqa muddatda o‘lim sodir bo‘ladi. Uzaytirilgan shaklda belgilar sekin-asta kuchayadi.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183-184-bet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Murda qotishi tez va kuchli, dog‘lar kech va oz</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Issiq urishi va quyosh urishidan o‘lgan murdada murda qotishi tez rivojlanadi va kuchli bo‘ladi, murda dog‘lari esa kech paydo bo‘lib, oz miqdorda bo‘ladi. Pushti-qizg‘ish dog‘lar past haroratga xos belgi.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184-bet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II darajali kuyish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II darajali kuyishda o‘tkir ekssudativ yallig‘lanish tufayli epidermis ko‘chib, seroz suyuqlikli pufaklar hosil bo‘ladi va odatda 10-20 kunda epitelizatsiya hisobiga chandiqsiz tuzaladi. III-A darajada nekroz bo‘lib, chandiq qoladi.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185-bet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IV darajali kuyish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IV darajali kuyishda teri bilan birga chuqur to‘qimalar (mushak, boylam, suyak) nekrozga uchraydi. III-A darajada nekroz faqat epidermis va dermaning yuzaki qavatida bo‘ladi. I va II darajada nekroz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185-bet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Issiq suyuqlik ta’siri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Issiq suyuqlikdan kuyganda soch va kiyim shikastlanmaydi, kuyish yuzaki bo‘ladi, jarohatlar oqmalar shaklida bo‘ladi. Alangada soch va kiyim shikastlanadi. Qizdirilgan jism chuqur, cheklangan kuyish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186-bet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18%</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To‘qqizliklar qoidasiga ko‘ra tananing old yuzasi 18%, orqa yuzasi ham 18%. Bosh va bo‘yin 9%, bitta qo‘l 9%, oraliq soha 1% ni egallaydi.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186-187-bet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Tananing 12% yuzasining III-IV darajali kuyishi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Tananing 10% dan ortiq yuzasining III-IV darajali kuyishi hayot uchun xavfli. III darajali kuyish uchun chegara 15% dan ortiq, II darajali uchun 20% dan ortiq. 12% III daraja yoki 15% II daraja bu chegaraga yetmaydi.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187-bet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Chuqurroq kuyish yuzasini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Diagnozda kuyish kasr shaklida yoziladi: suratda kuyish yuzasi, mahrajda kuyish darajalari. Qavs ichida chuqurroq kuyish yuzasi ko‘rsatiladi. Umumiy yuza qavsdan oldingi 30% 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188-bet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Tana yuzasining 27 foizi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To‘qqizliklar qoidasiga ko‘ra bosh va bo‘yin tana yuzasining 9 foizini, tananing old yuzasi 18 foizini egallaydi. Jami 9 + 18 = 27 foiz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187-bet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Taxminan 20 foizdan oshmaydi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O‘limdan keyingi ta’sirda yuza tomirlar qonida karboksigemoglobin 20 foizdan oshmaydi. Alanganing hayotiy ta’sirida u 60 foizgacha yetishi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189-bet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Alanga tiriklikda ta’sir qilgan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Qovoq terisi yoyilganda shikastlangan va shikastlanmagan sohalar navbatlashadi (“g‘oz panjasi” belgisi). Bu alanganing hayotiy ta’sirini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189-bet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Gematoma o‘limdan keyin alanga ta’sirida hosil bo‘lgan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Travmadan hosil bo‘lgan epidural gematoma urchuqsimon bo‘lib, qattiq pardaga birikkan bo‘ladi. O‘limdan keyingi alanga ta’siridagisi o‘roqsimon va birikmagan.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190-bet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Teri tomirlarini kengaytirib, issiqlik ajratishni kuchaytiradi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Alkogol teri qon tomirlarini kengaytiradi va issiqlik ajralishi kuchayadi. Mastlikda vaziyat to‘g‘ri baholanmaydi, ko‘p alkogol esa termoregulyasiya markazlari ishini buzadi.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191-bet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Dekompensatsiya bosqichi, po‘stloq funksiyasi buzilishi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Kompensator imkoniyatlar tugagach dekompensatsiya boshlanadi. Tana harorati +30°S – +28°S ga tushganda bosh miya po‘stlog‘i funksiyalari buziladi, nafas va puls sekinlashadi, bosim pasayadi. Yakuniy bosqich +25°S – +22°S da kuzatiladi.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192-bet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M.I.Rayskiy belgisi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Og‘iz, burun atrofidagi muz sumalaklari va qosh, kipriklardagi qirov M.I.Rayskiy belgilari hisoblanadi. Puparev belgisi moyaklarning qisqarishi, Puxnarevich belgisi bo‘sh va kichik oshqozon, Fabrikantov belgisi buyrak jomlaridagi qon quyilishlardir.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192-bet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Tez o‘limda dog‘lar kam bo‘lishi yoki bo‘lmasligi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Past harorat ta’siridan o‘lim tez sodir bo‘lganda Vishnevskiy dog‘lari juda kam yoki umuman bo‘lmasligi mumkin. Shu sababli bolalarda bu belgi ko‘pincha kuzatilmaydi. Dog‘lar bir necha soat va undan ko‘p vaqtdan keyingi o‘limda ko‘p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193-bet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Muzlashda bosh miya hajmining kattalashishi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Muzlaganda bosh miya va parenximatoz a’zolar hajmi kattalashadi. Kalla bo‘shlig‘ida bu suyaklar sinishi, choklar ajralishi va yumshoq to‘qimalarning ichkaridan yorilishiga olib keladi. Bunday o‘zgarishlarni hayotiy shikastlardan farqlash zarur.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194-bet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Hayot uchun xavfli jarohatga kiritiladi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Qoidaga ko‘ra tananing 10% dan ortiq yuzasining III–IV darajali sovuq urishi hayot uchun xavfli jarohat hisoblanadi. 12% bu chegaradan oshadi. III darajali uchun chegara 15% dan ortiq, II darajali uchun 20% dan ortiq.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196-bet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Yuqori va past haroratdan yetkazilgan jarohatning tiriklikda yetkazilganligini, jarohat ma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7. Fizik omillar ta’siri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