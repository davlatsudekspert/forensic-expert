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mexanik jarohatlar sud-tibbiy amaliyotda eng ko‘p uchraydi? 2) Jarohat ko‘lami qaysi ikki ko‘rsatkichga bog‘liq? Doskada: dars rejasi sxemasini chizdiring (mexanik omil → o‘tkir jismlar → 4 tur). Tipik xato: talabalar “harakat” shartini e’tiborsiz qoldirib, faqat jismning shaklini muhim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Huquqiy va sud-tibbiy ta’rif qanday farqlanadi? 2) Qaysi holatda buzilish kasallik hisoblanadi? Doskada: ikki ustunli sxema chizdiring: “tashqi ta’sir → tan jarohati”, “ichki ta’sir → kasallik”. Tipik xato: jarohat va kasallikni faqat oqibatiga qarab, ta’sir manbasini hisobga olmay farqlash.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ruhiy ta’sirni sud psixiatriyasi o‘rganadi? 2) Qaysi turchalar fizik omilga kiradi? Doskada: to‘rt tarmoqli daraxt chizdiring, fizik tarmog‘iga beshta turchani yozdiring. Tipik xato: mexanik omilni alohida (fizikdan tashqari) tur deb hisoblash; u fizik omilning turchasi.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klinik va sud-tibbiy diagnozda avval shu mezonlarga aniqlik kiritiladi? Hamma uch mezon diagnozda birgalikda qo‘llanishini ham muhokama qiling. Doskada jadvalni 3 mezon bo‘yicha chizdirib, har katakka bittadan misol yozdiring. Tipik xato: talabalar ‘oddiy’ va ‘yakka’ atamalarini aralashtiradi. Birinchisi ta’sir turiga, ikkinchisi jarohat soniga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2-3 kishilik guruhda ishlaydi, har guruh bitta holatni tahlil qiladi. To‘g‘ri javoblar (kitobdagi misollar): A – oddiy cheklangan yakka; B – oddiy qo‘sh ko‘p; C – murakkab qo‘sh ko‘p. Muhokama savollari: C holatda nega ‘murakkab’ deymiz? B holatda nega ‘qo‘sh’? Doskada har holat uchun uch mezonli qisqa yozuv tuzdiring. Tipik xato: sanchma yarani ‘yakka’ emas ‘ko‘p’ deb olish yoki ‘qo‘sh’ni ‘ikki jarohat’ deb tushunish. ‘Qo‘sh’ sohaga bog‘liq, soniga emas.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harakatsiz jism mexanik jarohat yetkazmaydi? Massa va tezlikdan qaysi biri jarohatga ko‘proq ta’sir qilishi mumkin? Doskada zanjirni chizdirib, har bo‘g‘inga kundalik misol yozdiring. Tipik xato: faqat jism og‘irligini hisobga olish. Kitobda massa va tezlik birga ko‘rsatilgan, ya’ni ikkalasi ham muhim.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nega bolta qurol emas, anjom hisoblanadi? Bitta narsa vaziyatga qarab turli guruhga o‘tadimi? Doskada 3 ustunli jadval chizdirib, har ustunga talabalar o‘z misolini yozsin. Tipik xato: o‘tkir narsa hammasi qurol deb o‘ylash; bolta va qaychi anjomdir.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nima uchun balandlikdan yiqilish o‘tmas jarohatlar ichida alohida o‘rganiladi? Doskada uch shoxli daraxt sxemasini chizing. Tipik xato: portlash jarohatini o‘tmas guruhga qo‘shib yuborish; manbada u o‘q otar guruhida.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og‘zaki so‘rang, javobni talaba o‘zi topsin. Muhokama: yengil lekin tez harakatlanuvchi jism nima uchun og‘ir jarohat berishi mumkin? Doskada kinetik energiya bog‘liqligini bir qatorda yozdiring. Tipik xato: faqat massani hisobga olib, tezlikni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bir xil jism turli odamda turli jarohat beradi? 2) Qaysi omillar jismga, qaysilari sohaga tegishli? Doskada chizish: ikki ustun – «Jism omillari» va «Soha/shaxs omillari». Tipik xato: faqat jism turiga qarab jarohatni bashorat qilish va soha hamda shaxs xususiyatlarini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Qaysi sohada qontalash shakli jismga ko‘proq o‘xshaydi va nima uchun? 2) Yosh va kasallik natijani qanday o‘zgartirishi mumkin? Doskada chizish: «jism – soha – o‘zaro ta’sir» uchburchagi. Tipik xato: tayoqni «qurol» deb atash va soha anatomiyasini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o‘tkir jismda jarohat doim bevosita? 2) Yara chetlari bo‘yicha jismni qanday farqlaysiz? Doskada chizish: jadvalni talabalar bilan birga to‘ldiring. Tipik xato: o‘tkir jismdan faqat yara hosil bo‘ladi deb o‘ylash; shilinma va suyak sinishi ham mumkin.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o‘tkir jismda jarohat doim bevosita bo‘ladi? 2) Bitta xanjar nega bir necha turga kiradi? Doskada: 0,1 mm mezonli o‘tkir uch va dam sxemasini chizdiring. Tipik xato: talaba o‘tkir va o‘tmas jism jarohat mexanizmini aralashtiradi, to‘qima avval ajralishini unutadi.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klinitsist vrachning tavsifi keyinchalik ekspert uchun muhim? 2) Kiyimni nega quritib, qog‘ozga solamiz? Doskada: yara tavsifi sxemasini (uchi, chetlari, tubi, chekka devori) yozdiring. Tipik xato: talaba tibbiy hujjatga faqat diagnoz yozish yetarli deb hisoblaydi, kiyimni polietilen xaltaga solishni taklif qiladi.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bir xil pichoq turli joyda turlicha ochilgan yara qoldiradi? 2) Yara shakli teri holatiga qanday bog‘liq? Doskada: urchuqsimon va yarim oysimon kesma yarani tola yo‘nalishi bilan birga chizdiring. Tipik xato: talaba yara ochilishini faqat jism o‘tkirligiga bog‘laydi, to‘qima tolalari yo‘nalishini hisobga olmaydi.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kesma yaraning uzunligi chuqurligidan katta bo‘ladi? 2) “Qaldirg‘och dumi” yaraning qaysi uchida hosil bo‘ladi va nimani bildiradi? Doskada: urchuqsimon kesma yaraning ustki ko‘rinishini chizib, o‘tkir uchlari va qaldirg‘och dumini belgilang. Tipik xato: kesma yara chetlarini sanchma yaraga xos shilinish hoshiyasi bilan adashtirish; kesma yarada shilinish alomati bo‘lmaydi.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Yara tolalarga parallel bo‘lsa, chetlar nega kam ochiladi? 2) Teri burmalarida yara shakli nega o‘zgaradi? Doskada: tolalarga parallel va ko‘ndalang ikki kesmani chizing va ochilish farqini ko‘rsating. Tipik xato: chetlarning ochilishini jism turiga bog‘lash; manbada u to‘qima tolalari yo‘nalishiga bog‘liq deyilgan.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Kesma yaradagi qon ketish sanchma yaradagi qon ketishdan nimasi bilan farq qiladi? 2) Yara boshlang‘ich qismining chuqurroq bo‘lishi ekspertiza uchun nimani ko‘rsatadi? Doskada: kesma yaraning uzunasiga kesimini chizib, boshlang‘ich qismdagi chuqurlikni belgilang. Tipik xato: kesma yara tana bo‘shliqlariga o‘tadi, deb o‘ylash; bu sanchma va sanchma-kesma yaralarga xos.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bir xil kesma yaraning chetlari turli joyda turlicha ochiladi? 2) Kesma va sanchma yarani qaysi belgilar bo‘yicha farqlaysiz? Doskada chizish: yara bilan mushak tolalarining parallel va ko‘ndalang joylashuvini ikki sxemada chizdiring. Tipik xato: kesma yarani chuqur deb o‘ylash yoki uni sanchma yara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Yuzaki kesmalarni tashqi ko‘rinishiga qarab qanday tavsiflaysiz? 2) Nega ekspert kiyimni ham ko‘rikdan o‘tkazadi? Doskada chizish: bilak-kaft bo‘g‘imi ichki yuzasida yuzaki kesmalar joylashuvining sodda sxemasini chizdiring. Tipik xato: faqat yaraning o‘lchamiga qarab xulosa chiqarish, chetlari va uchlari belgilarini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Sanchuvchi jism to‘qimani kesadimi yoki suradimi? 2) Nega sanchma yarada ichki qon ketish kuchliroq bo‘lishi mumkin? Doskada chizish: bigiz yoki mixning to‘qimaga kirish bosqichlarini 4 ta tugunli zanjir sifatida chizdiring. Tipik xato: sanchuvchi jismni kesuvchi-sanchuvchi jism bilan aralashtirish (u to‘qimani surmaydi, o‘tkir dami bilan kesadi).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yara shakli jism kesimiga o‘xshaydi? 2) Oval kesimli jism yarasi chetlari yaqinlashtirilganda qanday ko‘rinadi? Doskada: oval, uchburchak va xochsimon kesimlarni chizib, yonida hosil bo‘ladigan yara shaklini ko‘rsating. Tipik xato: sanchma yarani kesma yara bilan almashtirish; sanchuvchi jism to‘qimani kesmaydi, suradi. Diqqat: sanchuvchi jism ≠ sanchuvchi-kesuvchi jism.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Hoshiya shakli bo‘yicha jismning ta’sir burchagini qanday baholash mumkin? 2) Nega yupqa jismda hoshiya kamroq seziladi? Doskada: tikka va qiya ta’sirda hoshiyani (doira va segment) chizing. Tipik xato: sirkulyar va segmentar hoshiyani almashtirish; esda tuting: tikka ta’sir – doira, qiya ta’sir – o‘tkir burchak tomonida segment.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Kirish va chiqish teshigini qaysi belgilar bo‘yicha farqlaymiz? 2) Nega ichki qon ketish tashqisidan kuchli bo‘lishi mumkin? Doskada: yupqa tana sohasi kesimini chizib, kirish, kanal va chiqish teshigini belgilang. Tipik xato: chiqish teshigi kirishdan kichik deb o‘ylash; aslida u kattaroq. Diqqat: kirish teshigi ≠ chiqish teshigi (hoshiya va o‘lcham bo‘yicha).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chiqish teshigi chetida ifloslanish bo‘lmaydi? 2) Shilinish hoshiyasi qachon yaqqol ko‘rinadi (kesim diametri 5 mm dan katta bo‘lganda)? Doskada chizing: teshib o‘tgan sanchma yara kanali, kirish va chiqish teshigini belgilab. Tipik xato: kattaroq teshikni kirish deb olish; yara kanalini faqat teshib o‘tgan yarada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Sanchuvchi jism to‘qimani suradi, sanchuvchi-kesuvchi kesadi: farqi nimada? 2) Ta’sir burchagi yara o‘lchamiga qanday ta’sir qiladi? Doskada chizing: tig‘ni tikka va o‘tkir burchak ostida kiritish sxemasi, vektor yo‘nalishlari bilan. Tipik xato: sanchma yara bilan sanchma-kesma yarani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Yaraning o‘tmas uchi nimani ko‘rsatadi? 2) Qo‘shimcha kesma qanday paydo bo‘ladi? Doskada chizing: P-simon yara va tig‘ning ko‘ndalang kesimi (o‘tkir dam, o‘tmas tomon). Tipik xato: ikki tomonlama damli jism yarasida o‘tmas uchni qidirish; qo‘shimcha kesmani ikkinchi zarba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tikka ta’sirda yara kichikroq bo‘ladi? 2) Tig‘ning qaysi qismlari yarada iz qoldirishi mumkin? Doskada chizing: tig‘ning tanaga tikka va qiya kirishi (yon ko‘rinish) va kanal uzunligini. Tipik xato: kanal uzunligini har doim tig‘ uzunligiga teng deb hisoblash; bosim bilan kirganda u uzunroq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javobni talabalar topsin. Muhokama: sanchma va sanchma-kesma yarani chetlari bo‘yicha qanday farqlaymiz? Doskada chizing: ikki tomonlama va bir tomonlama o‘tkir damli tig‘dan hosil bo‘lgan yara shakllari. Tipik xato: sanchma-kesma yara chetida doimo shilinish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juftlikda ishlaydi. Muhokama: 1) Yara shakli bo‘yicha tig‘ turini qanday aniqlaymiz? 2) Qo‘shimcha kesmalar nimadan dalolat berishi mumkin? Doskada chizing: yara sxemasi (o‘tkir uch, o‘tmas uch, kanal). Tipik xato: faqat bitta belgiga tayanib, qat’iy xulosa chiqarish; xulosa tig‘ turi va yo‘nalish bo‘yicha taxminiy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chopuvchi jism massasi jarohat ko‘lamini oshiradi? Chopuvchi jism kesuvchi jismdan nimasi bilan farq qiladi? Doskada: zarb – kesish – surish zanjirini chizdiring. Tipik xato: chopma jarohatni kesma yara bilan adashtirish; kesma yarada faqat dam ishlaydi, massa katta emas.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chopqi to‘liq kirganda yara uchlari nega o‘tmas bo‘ladi? Qiya ta’sirda shilinish yaraning qaysi tomonida bo‘ladi? Doskada: bolta chopqisining qisman va to‘liq kirishini ikki sxemada chizdiring. Tipik xato: barcha chopma yaralarning uchi o‘tkir deb o‘ylash. Diqqat: o‘tkir uch faqat dam yoyi ta’sirida bo‘ladi.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kalla gumbaziga tikka va qiya ta’sirda sinish nega farq qiladi? Voqea tafsilotiga qarab chopma jarohat qaysi holatda ko‘proq uchraydi? Doskada: kalla gumbazida yoriqsimon va siniqli sinishni sxema qilib chizdiring. Tipik xato: yuzaki chopmani to‘liq sinish deb baholash; yuzaki chopmada faqat suyak usti pardasi, ba’zan g‘ovak modda shikastlanadi.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Yara uchlari chopqining kirish darajasini qanday ko‘rsatadi? 2) Chopma jarohat voqea tafsilotida qaysi holatga ko‘proq mos keladi? Doskada: chopqining qisman va to‘liq kirishida yara uchlari sxemasini chizdiring. Tipik xato: talabalar uchlarni doim o‘tkir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belgi kesma va sanchma yarani eng ishonchli ajratadi? 2) Nega sanchma yarada ichki qon ketish kuchli? Doskada: jadvalni talabalar bilan birga to‘ldiring. Tipik xato: sanchma va sanchma-kesma yaralarni aralashtirish (birida to‘qima suriladi, ikkinchisida kesiladi).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Yara shakli jismni aniqlashga qanday yordam beradi? 2) Yara tavsifida vrach nimalarni yozishi shart? Doskada: to‘rt turdagi yaraning asosiy farqlovchi belgilarini bittadan qisqa yozdiring. Tipik xato: kesma yara chuqur bo‘ladi deb o‘ylash. Aslida uning uzunligi chuqurligidan katta.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Mexanikomillarning ta’sir etish sharoitlari. Kesma, sanchma, kesma-sanchma va Chopma jarohatlarning morfologik xususiyatlari.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o‘quv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travmatologiya shikastlanish mexanizmi va vaqtini, jarohat etkazgan jismni aniqlaydi va jarohatni sud-tibbiy baholaydi.</a:t>
            </a:r>
          </a:p>
          <a:p>
            <a:pPr>
              <a:spcAft>
                <a:spcPts val="1200"/>
              </a:spcAft>
            </a:pPr>
            <a:r>
              <a:rPr sz="2200">
                <a:solidFill>
                  <a:srgbClr val="1F2937"/>
                </a:solidFill>
                <a:latin typeface="Calibri"/>
              </a:rPr>
              <a:t>▸  Ekspertiza amaliyotida mexanik jarohatlar etakchi o‘rinda turadi. Ularning asosiy sharti – shikastlovchi jism yoki tananing harakati.</a:t>
            </a:r>
          </a:p>
          <a:p>
            <a:pPr>
              <a:spcAft>
                <a:spcPts val="1200"/>
              </a:spcAft>
            </a:pPr>
            <a:r>
              <a:rPr sz="2200">
                <a:solidFill>
                  <a:srgbClr val="1F2937"/>
                </a:solidFill>
                <a:latin typeface="Calibri"/>
              </a:rPr>
              <a:t>▸  Jarohatning yaqqolligi va ko‘lami harakatdagi omilning massasi hamda tezligiga to‘g‘ri proporsional bo‘ladi.</a:t>
            </a:r>
          </a:p>
          <a:p>
            <a:pPr>
              <a:spcAft>
                <a:spcPts val="1200"/>
              </a:spcAft>
            </a:pPr>
            <a:r>
              <a:rPr sz="2200">
                <a:solidFill>
                  <a:srgbClr val="1F2937"/>
                </a:solidFill>
                <a:latin typeface="Calibri"/>
              </a:rPr>
              <a:t>▸  Dars rejasi: avval mexanik ta’sir sharoitlari, so‘ng o‘tkir jismlardan kesma, sanchma, sanchma-kesma va chopma jarohatlar.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 29, 30,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Jinoyat huquqida tan jarohati – qasddan yoki ehtiyotsizlik oqibatida sodir etilgan g‘ayriqonuniy harakat tufayli sog‘liqqa yetkazilgan ziyon.</a:t>
            </a:r>
          </a:p>
          <a:p>
            <a:pPr>
              <a:spcAft>
                <a:spcPts val="1200"/>
              </a:spcAft>
            </a:pPr>
            <a:r>
              <a:rPr sz="2200">
                <a:solidFill>
                  <a:srgbClr val="1F2937"/>
                </a:solidFill>
                <a:latin typeface="Calibri"/>
              </a:rPr>
              <a:t>▸  Sud tibbiyotida tashqi ta’sir natijasida a’zo va to‘qimalarning anatomik butunligi yoki fiziologik funksiyasining buzilishi tan jarohati deyiladi.</a:t>
            </a:r>
          </a:p>
          <a:p>
            <a:pPr>
              <a:spcAft>
                <a:spcPts val="1200"/>
              </a:spcAft>
            </a:pPr>
            <a:r>
              <a:rPr sz="2200">
                <a:solidFill>
                  <a:srgbClr val="1F2937"/>
                </a:solidFill>
                <a:latin typeface="Calibri"/>
              </a:rPr>
              <a:t>▸  Xuddi shunday buzilish ichki ta’sir tufayli vujudga kelsa, u kasallik hisoblanadi.</a:t>
            </a:r>
          </a:p>
          <a:p>
            <a:pPr>
              <a:spcAft>
                <a:spcPts val="1200"/>
              </a:spcAft>
            </a:pPr>
            <a:r>
              <a:rPr sz="2200">
                <a:solidFill>
                  <a:srgbClr val="1F2937"/>
                </a:solidFill>
                <a:latin typeface="Calibri"/>
              </a:rPr>
              <a:t>▸  Diqqat: xato qilish xavfi – tan jarohati ≠ kasallik. Farq buzilishga sabab bo‘lgan ta’sirning kelib chiqishida: tashqi yoki ichki.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Shikastlovchi omillar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Shikastlovchi tashqi ta’sirning to‘rt turi farqlanadi.</a:t>
            </a:r>
          </a:p>
          <a:p>
            <a:pPr>
              <a:spcAft>
                <a:spcPts val="800"/>
              </a:spcAft>
            </a:pPr>
            <a:r>
              <a:rPr sz="1800">
                <a:solidFill>
                  <a:srgbClr val="1F2937"/>
                </a:solidFill>
                <a:latin typeface="Calibri"/>
              </a:rPr>
              <a:t>▸  Ruhiy ta’sir natijalarini sud psixiatriyasi o‘rganadi va sud-psixiatrik ekspertiza tayinlanadi.</a:t>
            </a:r>
          </a:p>
          <a:p>
            <a:pPr>
              <a:spcAft>
                <a:spcPts val="800"/>
              </a:spcAft>
            </a:pPr>
            <a:r>
              <a:rPr sz="1800">
                <a:solidFill>
                  <a:srgbClr val="1F2937"/>
                </a:solidFill>
                <a:latin typeface="Calibri"/>
              </a:rPr>
              <a:t>▸  Ba’zan bir necha tashqi omilning birgalikdagi ta’siri ham kuzatiladi.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Ta’sir turlari</a:t>
                      </a:r>
                    </a:p>
                  </a:txBody>
                  <a:tcPr marL="73152" marR="73152" marT="36576" marB="36576">
                    <a:solidFill>
                      <a:srgbClr val="0B1F3A"/>
                    </a:solidFill>
                  </a:tcPr>
                </a:tc>
              </a:tr>
              <a:tr h="411480">
                <a:tc>
                  <a:txBody>
                    <a:bodyPr/>
                    <a:lstStyle/>
                    <a:p>
                      <a:r>
                        <a:rPr sz="1300" b="0">
                          <a:solidFill>
                            <a:srgbClr val="1F2937"/>
                          </a:solidFill>
                        </a:rPr>
                        <a:t>Fizik</a:t>
                      </a:r>
                    </a:p>
                  </a:txBody>
                  <a:tcPr marL="73152" marR="73152" marT="36576" marB="36576">
                    <a:solidFill>
                      <a:srgbClr val="E8EEF6"/>
                    </a:solidFill>
                  </a:tcPr>
                </a:tc>
                <a:tc>
                  <a:txBody>
                    <a:bodyPr/>
                    <a:lstStyle/>
                    <a:p>
                      <a:r>
                        <a:rPr sz="1300" b="0">
                          <a:solidFill>
                            <a:srgbClr val="1F2937"/>
                          </a:solidFill>
                        </a:rPr>
                        <a:t>mexanik, termik, elektr, barometrik, nur</a:t>
                      </a:r>
                    </a:p>
                  </a:txBody>
                  <a:tcPr marL="73152" marR="73152" marT="36576" marB="36576">
                    <a:solidFill>
                      <a:srgbClr val="E8EEF6"/>
                    </a:solidFill>
                  </a:tcPr>
                </a:tc>
              </a:tr>
              <a:tr h="411480">
                <a:tc>
                  <a:txBody>
                    <a:bodyPr/>
                    <a:lstStyle/>
                    <a:p>
                      <a:r>
                        <a:rPr sz="1300" b="0">
                          <a:solidFill>
                            <a:srgbClr val="1F2937"/>
                          </a:solidFill>
                        </a:rPr>
                        <a:t>Kimyoviy</a:t>
                      </a:r>
                    </a:p>
                  </a:txBody>
                  <a:tcPr marL="73152" marR="73152" marT="36576" marB="36576">
                    <a:solidFill>
                      <a:srgbClr val="FFFFFF"/>
                    </a:solidFill>
                  </a:tcPr>
                </a:tc>
                <a:tc>
                  <a:txBody>
                    <a:bodyPr/>
                    <a:lstStyle/>
                    <a:p>
                      <a:r>
                        <a:rPr sz="1300" b="0">
                          <a:solidFill>
                            <a:srgbClr val="1F2937"/>
                          </a:solidFill>
                        </a:rPr>
                        <a:t>zaharlar, kimyoviy moddalar, dori-darmonlar</a:t>
                      </a:r>
                    </a:p>
                  </a:txBody>
                  <a:tcPr marL="73152" marR="73152" marT="36576" marB="36576">
                    <a:solidFill>
                      <a:srgbClr val="FFFFFF"/>
                    </a:solidFill>
                  </a:tcPr>
                </a:tc>
              </a:tr>
              <a:tr h="411480">
                <a:tc>
                  <a:txBody>
                    <a:bodyPr/>
                    <a:lstStyle/>
                    <a:p>
                      <a:r>
                        <a:rPr sz="1300" b="0">
                          <a:solidFill>
                            <a:srgbClr val="1F2937"/>
                          </a:solidFill>
                        </a:rPr>
                        <a:t>Biologik</a:t>
                      </a:r>
                    </a:p>
                  </a:txBody>
                  <a:tcPr marL="73152" marR="73152" marT="36576" marB="36576">
                    <a:solidFill>
                      <a:srgbClr val="E8EEF6"/>
                    </a:solidFill>
                  </a:tcPr>
                </a:tc>
                <a:tc>
                  <a:txBody>
                    <a:bodyPr/>
                    <a:lstStyle/>
                    <a:p>
                      <a:r>
                        <a:rPr sz="1300" b="0">
                          <a:solidFill>
                            <a:srgbClr val="1F2937"/>
                          </a:solidFill>
                        </a:rPr>
                        <a:t>toksinlar, kasallik qo‘zg‘atuvchi mikroblar</a:t>
                      </a:r>
                    </a:p>
                  </a:txBody>
                  <a:tcPr marL="73152" marR="73152" marT="36576" marB="36576">
                    <a:solidFill>
                      <a:srgbClr val="E8EEF6"/>
                    </a:solidFill>
                  </a:tcPr>
                </a:tc>
              </a:tr>
              <a:tr h="411480">
                <a:tc>
                  <a:txBody>
                    <a:bodyPr/>
                    <a:lstStyle/>
                    <a:p>
                      <a:r>
                        <a:rPr sz="1300" b="0">
                          <a:solidFill>
                            <a:srgbClr val="1F2937"/>
                          </a:solidFill>
                        </a:rPr>
                        <a:t>Ruhiy</a:t>
                      </a:r>
                    </a:p>
                  </a:txBody>
                  <a:tcPr marL="73152" marR="73152" marT="36576" marB="36576">
                    <a:solidFill>
                      <a:srgbClr val="FFFFFF"/>
                    </a:solidFill>
                  </a:tcPr>
                </a:tc>
                <a:tc>
                  <a:txBody>
                    <a:bodyPr/>
                    <a:lstStyle/>
                    <a:p>
                      <a:r>
                        <a:rPr sz="1300" b="0">
                          <a:solidFill>
                            <a:srgbClr val="1F2937"/>
                          </a:solidFill>
                        </a:rPr>
                        <a:t>kuchli hayajon, qo‘rquv</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Shikastlovchi omillar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tasnifi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Tasnifda uch narsaga qaraladi: tashqi ta’sir turi, shikastlanish sohasi va jarohatlar soni.</a:t>
            </a:r>
          </a:p>
          <a:p>
            <a:pPr>
              <a:spcAft>
                <a:spcPts val="800"/>
              </a:spcAft>
            </a:pPr>
            <a:r>
              <a:rPr sz="1800">
                <a:solidFill>
                  <a:srgbClr val="1F2937"/>
                </a:solidFill>
                <a:latin typeface="Calibri"/>
              </a:rPr>
              <a:t>▸  Bitta omildan kelgan jarohat – oddiy, ikki va undan ortiq turdagi ta’sirdan kelgani – murakkab.</a:t>
            </a:r>
          </a:p>
          <a:p>
            <a:pPr>
              <a:spcAft>
                <a:spcPts val="800"/>
              </a:spcAft>
            </a:pPr>
            <a:r>
              <a:rPr sz="1800">
                <a:solidFill>
                  <a:srgbClr val="1F2937"/>
                </a:solidFill>
                <a:latin typeface="Calibri"/>
              </a:rPr>
              <a:t>▸  Bir soha yoki segment – cheklangan; ikki va undan ortiq soha yoki segment – qo‘sh jarohat.</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33137"/>
                <a:gridCol w="2077418"/>
                <a:gridCol w="2077418"/>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Birinchi atama</a:t>
                      </a:r>
                    </a:p>
                  </a:txBody>
                  <a:tcPr marL="73152" marR="73152" marT="36576" marB="36576">
                    <a:solidFill>
                      <a:srgbClr val="0B1F3A"/>
                    </a:solidFill>
                  </a:tcPr>
                </a:tc>
                <a:tc>
                  <a:txBody>
                    <a:bodyPr/>
                    <a:lstStyle/>
                    <a:p>
                      <a:r>
                        <a:rPr sz="1300" b="1">
                          <a:solidFill>
                            <a:srgbClr val="FFFFFF"/>
                          </a:solidFill>
                        </a:rPr>
                        <a:t>Ikkinchi atama</a:t>
                      </a:r>
                    </a:p>
                  </a:txBody>
                  <a:tcPr marL="73152" marR="73152" marT="36576" marB="36576">
                    <a:solidFill>
                      <a:srgbClr val="0B1F3A"/>
                    </a:solidFill>
                  </a:tcPr>
                </a:tc>
              </a:tr>
              <a:tr h="411480">
                <a:tc>
                  <a:txBody>
                    <a:bodyPr/>
                    <a:lstStyle/>
                    <a:p>
                      <a:r>
                        <a:rPr sz="1200" b="0">
                          <a:solidFill>
                            <a:srgbClr val="1F2937"/>
                          </a:solidFill>
                        </a:rPr>
                        <a:t>Tashqi ta’sir turi</a:t>
                      </a:r>
                    </a:p>
                  </a:txBody>
                  <a:tcPr marL="73152" marR="73152" marT="36576" marB="36576">
                    <a:solidFill>
                      <a:srgbClr val="E8EEF6"/>
                    </a:solidFill>
                  </a:tcPr>
                </a:tc>
                <a:tc>
                  <a:txBody>
                    <a:bodyPr/>
                    <a:lstStyle/>
                    <a:p>
                      <a:r>
                        <a:rPr sz="1200" b="0">
                          <a:solidFill>
                            <a:srgbClr val="1F2937"/>
                          </a:solidFill>
                        </a:rPr>
                        <a:t>Oddiy: bitta omil</a:t>
                      </a:r>
                    </a:p>
                  </a:txBody>
                  <a:tcPr marL="73152" marR="73152" marT="36576" marB="36576">
                    <a:solidFill>
                      <a:srgbClr val="E8EEF6"/>
                    </a:solidFill>
                  </a:tcPr>
                </a:tc>
                <a:tc>
                  <a:txBody>
                    <a:bodyPr/>
                    <a:lstStyle/>
                    <a:p>
                      <a:r>
                        <a:rPr sz="1200" b="0">
                          <a:solidFill>
                            <a:srgbClr val="1F2937"/>
                          </a:solidFill>
                        </a:rPr>
                        <a:t>Murakkab: ikki va undan ortiq tur</a:t>
                      </a:r>
                    </a:p>
                  </a:txBody>
                  <a:tcPr marL="73152" marR="73152" marT="36576" marB="36576">
                    <a:solidFill>
                      <a:srgbClr val="E8EEF6"/>
                    </a:solidFill>
                  </a:tcPr>
                </a:tc>
              </a:tr>
              <a:tr h="411480">
                <a:tc>
                  <a:txBody>
                    <a:bodyPr/>
                    <a:lstStyle/>
                    <a:p>
                      <a:r>
                        <a:rPr sz="1200" b="0">
                          <a:solidFill>
                            <a:srgbClr val="1F2937"/>
                          </a:solidFill>
                        </a:rPr>
                        <a:t>Shikastlangan soha</a:t>
                      </a:r>
                    </a:p>
                  </a:txBody>
                  <a:tcPr marL="73152" marR="73152" marT="36576" marB="36576">
                    <a:solidFill>
                      <a:srgbClr val="FFFFFF"/>
                    </a:solidFill>
                  </a:tcPr>
                </a:tc>
                <a:tc>
                  <a:txBody>
                    <a:bodyPr/>
                    <a:lstStyle/>
                    <a:p>
                      <a:r>
                        <a:rPr sz="1200" b="0">
                          <a:solidFill>
                            <a:srgbClr val="1F2937"/>
                          </a:solidFill>
                        </a:rPr>
                        <a:t>Cheklangan: bir soha yoki segment</a:t>
                      </a:r>
                    </a:p>
                  </a:txBody>
                  <a:tcPr marL="73152" marR="73152" marT="36576" marB="36576">
                    <a:solidFill>
                      <a:srgbClr val="FFFFFF"/>
                    </a:solidFill>
                  </a:tcPr>
                </a:tc>
                <a:tc>
                  <a:txBody>
                    <a:bodyPr/>
                    <a:lstStyle/>
                    <a:p>
                      <a:r>
                        <a:rPr sz="1200" b="0">
                          <a:solidFill>
                            <a:srgbClr val="1F2937"/>
                          </a:solidFill>
                        </a:rPr>
                        <a:t>Qo‘sh: ikki va undan ortiq soha</a:t>
                      </a:r>
                    </a:p>
                  </a:txBody>
                  <a:tcPr marL="73152" marR="73152" marT="36576" marB="36576">
                    <a:solidFill>
                      <a:srgbClr val="FFFFFF"/>
                    </a:solidFill>
                  </a:tcPr>
                </a:tc>
              </a:tr>
              <a:tr h="411480">
                <a:tc>
                  <a:txBody>
                    <a:bodyPr/>
                    <a:lstStyle/>
                    <a:p>
                      <a:r>
                        <a:rPr sz="1200" b="0">
                          <a:solidFill>
                            <a:srgbClr val="1F2937"/>
                          </a:solidFill>
                        </a:rPr>
                        <a:t>Jarohatlar soni</a:t>
                      </a:r>
                    </a:p>
                  </a:txBody>
                  <a:tcPr marL="73152" marR="73152" marT="36576" marB="36576">
                    <a:solidFill>
                      <a:srgbClr val="E8EEF6"/>
                    </a:solidFill>
                  </a:tcPr>
                </a:tc>
                <a:tc>
                  <a:txBody>
                    <a:bodyPr/>
                    <a:lstStyle/>
                    <a:p>
                      <a:r>
                        <a:rPr sz="1200" b="0">
                          <a:solidFill>
                            <a:srgbClr val="1F2937"/>
                          </a:solidFill>
                        </a:rPr>
                        <a:t>Yakka</a:t>
                      </a:r>
                    </a:p>
                  </a:txBody>
                  <a:tcPr marL="73152" marR="73152" marT="36576" marB="36576">
                    <a:solidFill>
                      <a:srgbClr val="E8EEF6"/>
                    </a:solidFill>
                  </a:tcPr>
                </a:tc>
                <a:tc>
                  <a:txBody>
                    <a:bodyPr/>
                    <a:lstStyle/>
                    <a:p>
                      <a:r>
                        <a:rPr sz="1200" b="0">
                          <a:solidFill>
                            <a:srgbClr val="1F2937"/>
                          </a:solidFill>
                        </a:rPr>
                        <a:t>Ko‘p</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Tasnif mezonlari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jarohatni tasniflash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 holat: ko‘krak qafasida sanchma yara bor. Jarohat qaysi tasnif guruhlariga kiradi?</a:t>
            </a:r>
          </a:p>
          <a:p>
            <a:pPr>
              <a:spcAft>
                <a:spcPts val="1200"/>
              </a:spcAft>
            </a:pPr>
            <a:r>
              <a:rPr sz="2200">
                <a:solidFill>
                  <a:srgbClr val="1F2937"/>
                </a:solidFill>
                <a:latin typeface="Calibri"/>
              </a:rPr>
              <a:t>▸  B holat: bosh miya chayqalishi va qorin sohasida qontalashlar aniqlangan. Uchala mezon bo‘yicha tasniflang.</a:t>
            </a:r>
          </a:p>
          <a:p>
            <a:pPr>
              <a:spcAft>
                <a:spcPts val="1200"/>
              </a:spcAft>
            </a:pPr>
            <a:r>
              <a:rPr sz="2200">
                <a:solidFill>
                  <a:srgbClr val="1F2937"/>
                </a:solidFill>
                <a:latin typeface="Calibri"/>
              </a:rPr>
              <a:t>▸  C holat: qobirg‘alar sinishi va termik kuyish birga uchragan. Uchala mezon bo‘yicha tasniflang.</a:t>
            </a:r>
          </a:p>
          <a:p>
            <a:pPr>
              <a:spcAft>
                <a:spcPts val="1200"/>
              </a:spcAft>
            </a:pPr>
            <a:r>
              <a:rPr sz="2200">
                <a:solidFill>
                  <a:srgbClr val="1F2937"/>
                </a:solidFill>
                <a:latin typeface="Calibri"/>
              </a:rPr>
              <a:t>▸  Diqqat: ‘oddiy’ ≠ ‘yakka’. Birinchisi ta’sir turiga, ikkinchisi jarohatlar soniga qarab aytiladi.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 va kinetik energiya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jarohat uchun asosiy shart – harakat: jism yoki tana va uning qismlari harakatda bo‘lishi kerak.</a:t>
            </a:r>
          </a:p>
          <a:p>
            <a:pPr>
              <a:spcAft>
                <a:spcPts val="800"/>
              </a:spcAft>
            </a:pPr>
            <a:r>
              <a:rPr sz="1800">
                <a:solidFill>
                  <a:srgbClr val="1F2937"/>
                </a:solidFill>
                <a:latin typeface="Calibri"/>
              </a:rPr>
              <a:t>▸  Shikastlanish xususiyatlari o‘zaro ta’sir vaqtidagi kinetik energiya kattaligiga bog‘liq.</a:t>
            </a:r>
          </a:p>
          <a:p>
            <a:pPr>
              <a:spcAft>
                <a:spcPts val="800"/>
              </a:spcAft>
            </a:pPr>
            <a:r>
              <a:rPr sz="1800">
                <a:solidFill>
                  <a:srgbClr val="1F2937"/>
                </a:solidFill>
                <a:latin typeface="Calibri"/>
              </a:rPr>
              <a:t>▸  Jarohat yaqqolligi va ko‘lami harakatdagi omilning massasi va tezligiga to‘g‘ri proporsional.</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Jism yoki tana harakatda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Kinetik energiya hosil bo‘ladi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Massa va tezlik kattalashadi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yaqqol va ko‘lamli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Energiyadan jarohatgacha</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 29–30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Qurol, anjom va jism: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jarohat faqat harakat bo‘lganda hosil bo‘ladi: shikastlovchi jism yoki tana harakatda bo‘lishi shart.</a:t>
            </a:r>
          </a:p>
          <a:p>
            <a:pPr>
              <a:spcAft>
                <a:spcPts val="800"/>
              </a:spcAft>
            </a:pPr>
            <a:r>
              <a:rPr sz="1800">
                <a:solidFill>
                  <a:srgbClr val="1F2937"/>
                </a:solidFill>
                <a:latin typeface="Calibri"/>
              </a:rPr>
              <a:t>▸  Jarohat etkazuvchi vositalar uch guruhga bo‘linadi: qurol, anjom va jism.</a:t>
            </a:r>
          </a:p>
          <a:p>
            <a:pPr>
              <a:spcAft>
                <a:spcPts val="800"/>
              </a:spcAft>
            </a:pPr>
            <a:r>
              <a:rPr sz="1800">
                <a:solidFill>
                  <a:srgbClr val="1F2937"/>
                </a:solidFill>
                <a:latin typeface="Calibri"/>
              </a:rPr>
              <a:t>▸  Diqqat: tosh va tayoq — jism; bolta, arra, qaychi esa anjom. Anjom ≠ qurol.</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070982"/>
                <a:gridCol w="2610519"/>
                <a:gridCol w="1606473"/>
              </a:tblGrid>
              <a:tr h="411480">
                <a:tc>
                  <a:txBody>
                    <a:bodyPr/>
                    <a:lstStyle/>
                    <a:p>
                      <a:r>
                        <a:rPr sz="1300" b="1">
                          <a:solidFill>
                            <a:srgbClr val="FFFFFF"/>
                          </a:solidFill>
                        </a:rPr>
                        <a:t>Vosita</a:t>
                      </a:r>
                    </a:p>
                  </a:txBody>
                  <a:tcPr marL="73152" marR="73152" marT="36576" marB="36576">
                    <a:solidFill>
                      <a:srgbClr val="0B1F3A"/>
                    </a:solidFill>
                  </a:tcPr>
                </a:tc>
                <a:tc>
                  <a:txBody>
                    <a:bodyPr/>
                    <a:lstStyle/>
                    <a:p>
                      <a:r>
                        <a:rPr sz="1300" b="1">
                          <a:solidFill>
                            <a:srgbClr val="FFFFFF"/>
                          </a:solidFill>
                        </a:rPr>
                        <a:t>Belgisi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Qurol</a:t>
                      </a:r>
                    </a:p>
                  </a:txBody>
                  <a:tcPr marL="73152" marR="73152" marT="36576" marB="36576">
                    <a:solidFill>
                      <a:srgbClr val="E8EEF6"/>
                    </a:solidFill>
                  </a:tcPr>
                </a:tc>
                <a:tc>
                  <a:txBody>
                    <a:bodyPr/>
                    <a:lstStyle/>
                    <a:p>
                      <a:r>
                        <a:rPr sz="1200" b="0">
                          <a:solidFill>
                            <a:srgbClr val="1F2937"/>
                          </a:solidFill>
                        </a:rPr>
                        <a:t>Hujum/mudofaa uchun maxsus tayyorlangan</a:t>
                      </a:r>
                    </a:p>
                  </a:txBody>
                  <a:tcPr marL="73152" marR="73152" marT="36576" marB="36576">
                    <a:solidFill>
                      <a:srgbClr val="E8EEF6"/>
                    </a:solidFill>
                  </a:tcPr>
                </a:tc>
                <a:tc>
                  <a:txBody>
                    <a:bodyPr/>
                    <a:lstStyle/>
                    <a:p>
                      <a:r>
                        <a:rPr sz="1200" b="0">
                          <a:solidFill>
                            <a:srgbClr val="1F2937"/>
                          </a:solidFill>
                        </a:rPr>
                        <a:t>Pistolet, miltiq, hanjar</a:t>
                      </a:r>
                    </a:p>
                  </a:txBody>
                  <a:tcPr marL="73152" marR="73152" marT="36576" marB="36576">
                    <a:solidFill>
                      <a:srgbClr val="E8EEF6"/>
                    </a:solidFill>
                  </a:tcPr>
                </a:tc>
              </a:tr>
              <a:tr h="411480">
                <a:tc>
                  <a:txBody>
                    <a:bodyPr/>
                    <a:lstStyle/>
                    <a:p>
                      <a:r>
                        <a:rPr sz="1200" b="0">
                          <a:solidFill>
                            <a:srgbClr val="1F2937"/>
                          </a:solidFill>
                        </a:rPr>
                        <a:t>Anjom</a:t>
                      </a:r>
                    </a:p>
                  </a:txBody>
                  <a:tcPr marL="73152" marR="73152" marT="36576" marB="36576">
                    <a:solidFill>
                      <a:srgbClr val="FFFFFF"/>
                    </a:solidFill>
                  </a:tcPr>
                </a:tc>
                <a:tc>
                  <a:txBody>
                    <a:bodyPr/>
                    <a:lstStyle/>
                    <a:p>
                      <a:r>
                        <a:rPr sz="1200" b="0">
                          <a:solidFill>
                            <a:srgbClr val="1F2937"/>
                          </a:solidFill>
                        </a:rPr>
                        <a:t>Ishlab chiqarish yoki maishiy mahsulot</a:t>
                      </a:r>
                    </a:p>
                  </a:txBody>
                  <a:tcPr marL="73152" marR="73152" marT="36576" marB="36576">
                    <a:solidFill>
                      <a:srgbClr val="FFFFFF"/>
                    </a:solidFill>
                  </a:tcPr>
                </a:tc>
                <a:tc>
                  <a:txBody>
                    <a:bodyPr/>
                    <a:lstStyle/>
                    <a:p>
                      <a:r>
                        <a:rPr sz="1200" b="0">
                          <a:solidFill>
                            <a:srgbClr val="1F2937"/>
                          </a:solidFill>
                        </a:rPr>
                        <a:t>Bolta, arra, qaychi</a:t>
                      </a:r>
                    </a:p>
                  </a:txBody>
                  <a:tcPr marL="73152" marR="73152" marT="36576" marB="36576">
                    <a:solidFill>
                      <a:srgbClr val="FFFFFF"/>
                    </a:solidFill>
                  </a:tcPr>
                </a:tc>
              </a:tr>
              <a:tr h="411480">
                <a:tc>
                  <a:txBody>
                    <a:bodyPr/>
                    <a:lstStyle/>
                    <a:p>
                      <a:r>
                        <a:rPr sz="1200" b="0">
                          <a:solidFill>
                            <a:srgbClr val="1F2937"/>
                          </a:solidFill>
                        </a:rPr>
                        <a:t>Jism</a:t>
                      </a:r>
                    </a:p>
                  </a:txBody>
                  <a:tcPr marL="73152" marR="73152" marT="36576" marB="36576">
                    <a:solidFill>
                      <a:srgbClr val="E8EEF6"/>
                    </a:solidFill>
                  </a:tcPr>
                </a:tc>
                <a:tc>
                  <a:txBody>
                    <a:bodyPr/>
                    <a:lstStyle/>
                    <a:p>
                      <a:r>
                        <a:rPr sz="1200" b="0">
                          <a:solidFill>
                            <a:srgbClr val="1F2937"/>
                          </a:solidFill>
                        </a:rPr>
                        <a:t>Aniq qo‘llanish maqsadi yo‘q</a:t>
                      </a:r>
                    </a:p>
                  </a:txBody>
                  <a:tcPr marL="73152" marR="73152" marT="36576" marB="36576">
                    <a:solidFill>
                      <a:srgbClr val="E8EEF6"/>
                    </a:solidFill>
                  </a:tcPr>
                </a:tc>
                <a:tc>
                  <a:txBody>
                    <a:bodyPr/>
                    <a:lstStyle/>
                    <a:p>
                      <a:r>
                        <a:rPr sz="1200" b="0">
                          <a:solidFill>
                            <a:srgbClr val="1F2937"/>
                          </a:solidFill>
                        </a:rPr>
                        <a:t>Tosh, tayoq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vositalari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jarohatlar guruhlanishi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jarohatlar o‘tmas jism, o‘tkir jism va o‘q otar qurol ta’siridagi shikastlanishlarga bo‘linadi.</a:t>
            </a:r>
          </a:p>
          <a:p>
            <a:pPr>
              <a:spcAft>
                <a:spcPts val="800"/>
              </a:spcAft>
            </a:pPr>
            <a:r>
              <a:rPr sz="1800">
                <a:solidFill>
                  <a:srgbClr val="1F2937"/>
                </a:solidFill>
                <a:latin typeface="Calibri"/>
              </a:rPr>
              <a:t>▸  Bo‘linishda vujudga kelish mexanizmi va sud-tibbiy tekshirishning o‘ziga xosligi hisobga olinadi.</a:t>
            </a:r>
          </a:p>
          <a:p>
            <a:pPr>
              <a:spcAft>
                <a:spcPts val="800"/>
              </a:spcAft>
            </a:pPr>
            <a:r>
              <a:rPr sz="1800">
                <a:solidFill>
                  <a:srgbClr val="1F2937"/>
                </a:solidFill>
                <a:latin typeface="Calibri"/>
              </a:rPr>
              <a:t>▸  Jarohat ko‘lami jism massasi, qattiqligi, tezligi va shikastlangan soha xususiyatiga bog‘liq.</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Ichki bo‘linishi</a:t>
                      </a:r>
                    </a:p>
                  </a:txBody>
                  <a:tcPr marL="73152" marR="73152" marT="36576" marB="36576">
                    <a:solidFill>
                      <a:srgbClr val="0B1F3A"/>
                    </a:solidFill>
                  </a:tcPr>
                </a:tc>
              </a:tr>
              <a:tr h="411480">
                <a:tc>
                  <a:txBody>
                    <a:bodyPr/>
                    <a:lstStyle/>
                    <a:p>
                      <a:r>
                        <a:rPr sz="1300" b="0">
                          <a:solidFill>
                            <a:srgbClr val="1F2937"/>
                          </a:solidFill>
                        </a:rPr>
                        <a:t>O‘tmas jism</a:t>
                      </a:r>
                    </a:p>
                  </a:txBody>
                  <a:tcPr marL="73152" marR="73152" marT="36576" marB="36576">
                    <a:solidFill>
                      <a:srgbClr val="E8EEF6"/>
                    </a:solidFill>
                  </a:tcPr>
                </a:tc>
                <a:tc>
                  <a:txBody>
                    <a:bodyPr/>
                    <a:lstStyle/>
                    <a:p>
                      <a:r>
                        <a:rPr sz="1300" b="0">
                          <a:solidFill>
                            <a:srgbClr val="1F2937"/>
                          </a:solidFill>
                        </a:rPr>
                        <a:t>Jism, transport, balandlikdan yiqilish</a:t>
                      </a:r>
                    </a:p>
                  </a:txBody>
                  <a:tcPr marL="73152" marR="73152" marT="36576" marB="36576">
                    <a:solidFill>
                      <a:srgbClr val="E8EEF6"/>
                    </a:solidFill>
                  </a:tcPr>
                </a:tc>
              </a:tr>
              <a:tr h="411480">
                <a:tc>
                  <a:txBody>
                    <a:bodyPr/>
                    <a:lstStyle/>
                    <a:p>
                      <a:r>
                        <a:rPr sz="1300" b="0">
                          <a:solidFill>
                            <a:srgbClr val="1F2937"/>
                          </a:solidFill>
                        </a:rPr>
                        <a:t>O‘q otar qurol</a:t>
                      </a:r>
                    </a:p>
                  </a:txBody>
                  <a:tcPr marL="73152" marR="73152" marT="36576" marB="36576">
                    <a:solidFill>
                      <a:srgbClr val="FFFFFF"/>
                    </a:solidFill>
                  </a:tcPr>
                </a:tc>
                <a:tc>
                  <a:txBody>
                    <a:bodyPr/>
                    <a:lstStyle/>
                    <a:p>
                      <a:r>
                        <a:rPr sz="1300" b="0">
                          <a:solidFill>
                            <a:srgbClr val="1F2937"/>
                          </a:solidFill>
                        </a:rPr>
                        <a:t>O‘q otar va portlash jarohatlari</a:t>
                      </a:r>
                    </a:p>
                  </a:txBody>
                  <a:tcPr marL="73152" marR="73152" marT="36576" marB="36576">
                    <a:solidFill>
                      <a:srgbClr val="FFFFFF"/>
                    </a:solidFill>
                  </a:tcPr>
                </a:tc>
              </a:tr>
              <a:tr h="411480">
                <a:tc>
                  <a:txBody>
                    <a:bodyPr/>
                    <a:lstStyle/>
                    <a:p>
                      <a:r>
                        <a:rPr sz="1300" b="0">
                          <a:solidFill>
                            <a:srgbClr val="1F2937"/>
                          </a:solidFill>
                        </a:rPr>
                        <a:t>O‘tkir jism</a:t>
                      </a:r>
                    </a:p>
                  </a:txBody>
                  <a:tcPr marL="73152" marR="73152" marT="36576" marB="36576">
                    <a:solidFill>
                      <a:srgbClr val="E8EEF6"/>
                    </a:solidFill>
                  </a:tcPr>
                </a:tc>
                <a:tc>
                  <a:txBody>
                    <a:bodyPr/>
                    <a:lstStyle/>
                    <a:p>
                      <a:r>
                        <a:rPr sz="1300" b="0">
                          <a:solidFill>
                            <a:srgbClr val="1F2937"/>
                          </a:solidFill>
                        </a:rPr>
                        <a:t>Ichki bo‘linishi bu bandda ko‘rsatilmagan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Tasnif sxemasi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mexanik ta’sir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jarohatning yaqqolligi va ko‘lami nimaga to‘g‘ri proporsional? Javob: harakatdagi omilning massasi va tezligiga.</a:t>
            </a:r>
          </a:p>
          <a:p>
            <a:pPr>
              <a:spcAft>
                <a:spcPts val="1200"/>
              </a:spcAft>
            </a:pPr>
            <a:r>
              <a:rPr sz="2200">
                <a:solidFill>
                  <a:srgbClr val="1F2937"/>
                </a:solidFill>
                <a:latin typeface="Calibri"/>
              </a:rPr>
              <a:t>▸  2-savol: pistolet, bolta va tosh qaysi guruhlarga kiradi? Javob: pistolet — qurol, bolta — anjom, tosh — jism.</a:t>
            </a:r>
          </a:p>
          <a:p>
            <a:pPr>
              <a:spcAft>
                <a:spcPts val="1200"/>
              </a:spcAft>
            </a:pPr>
            <a:r>
              <a:rPr sz="2200">
                <a:solidFill>
                  <a:srgbClr val="1F2937"/>
                </a:solidFill>
                <a:latin typeface="Calibri"/>
              </a:rPr>
              <a:t>▸  3-savol: mexanik jarohatlar qanday uch guruhga bo‘linadi? Javob: o‘tmas jism, o‘tkir jism va o‘q otar qurol.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29-30,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xususiyatini belgilovchi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Jarohatning xususiyati o‘zaro ta’sir paytidagi kinetik energiyaga bog‘liq. Uning ko‘lami jismning massasi va tezligiga to‘g‘ri proporsional.</a:t>
            </a:r>
          </a:p>
          <a:p>
            <a:pPr>
              <a:spcAft>
                <a:spcPts val="1200"/>
              </a:spcAft>
            </a:pPr>
            <a:r>
              <a:rPr sz="2200">
                <a:solidFill>
                  <a:srgbClr val="1F2937"/>
                </a:solidFill>
                <a:latin typeface="Calibri"/>
              </a:rPr>
              <a:t>▸  Jism tomonidan: massasi, qattiqligi, tezligi, shikastlovchi yuza yoki o‘tkir uch va tig‘ning xususiyatlari.</a:t>
            </a:r>
          </a:p>
          <a:p>
            <a:pPr>
              <a:spcAft>
                <a:spcPts val="1200"/>
              </a:spcAft>
            </a:pPr>
            <a:r>
              <a:rPr sz="2200">
                <a:solidFill>
                  <a:srgbClr val="1F2937"/>
                </a:solidFill>
                <a:latin typeface="Calibri"/>
              </a:rPr>
              <a:t>▸  Soha va shaxs tomonidan: sohaning anatomik va fiziologik xususiyatlari, shaxsning yoshi, kasalliklarning mavjudligi.</a:t>
            </a:r>
          </a:p>
          <a:p>
            <a:pPr>
              <a:spcAft>
                <a:spcPts val="1200"/>
              </a:spcAft>
            </a:pPr>
            <a:r>
              <a:rPr sz="2200">
                <a:solidFill>
                  <a:srgbClr val="1F2937"/>
                </a:solidFill>
                <a:latin typeface="Calibri"/>
              </a:rPr>
              <a:t>▸  O‘zaro ta’sirning soni va davomiyligi ham ahamiyatli. Ba’zan atrof-muhit sharoiti ham jarohatga ta’sir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29-30,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ta’sir sharoitlari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ikki shaxsga bir xil tayoq bilan zarba berildi. Birida suyakka yaqin soha, ikkinchisida yumshoq to‘qimali soha shikastlandi.</a:t>
            </a:r>
          </a:p>
          <a:p>
            <a:pPr>
              <a:spcAft>
                <a:spcPts val="1200"/>
              </a:spcAft>
            </a:pPr>
            <a:r>
              <a:rPr sz="2200">
                <a:solidFill>
                  <a:srgbClr val="1F2937"/>
                </a:solidFill>
                <a:latin typeface="Calibri"/>
              </a:rPr>
              <a:t>▸  Aniq qo‘llanish maqsadiga ega bo‘lmagan narsa (tosh, tayoq) tibbiyotda «jism» deb ataladi, «qurol» yoki «anjom» emas.</a:t>
            </a:r>
          </a:p>
          <a:p>
            <a:pPr>
              <a:spcAft>
                <a:spcPts val="1200"/>
              </a:spcAft>
            </a:pPr>
            <a:r>
              <a:rPr sz="2200">
                <a:solidFill>
                  <a:srgbClr val="1F2937"/>
                </a:solidFill>
                <a:latin typeface="Calibri"/>
              </a:rPr>
              <a:t>▸  Soha suyakka qanchalik yaqin bo‘lsa, shikastlovchi yuza bilan qontalash shakli o‘rtasidagi o‘xshashlik shunchalik kuchli bo‘ladi.</a:t>
            </a:r>
          </a:p>
          <a:p>
            <a:pPr>
              <a:spcAft>
                <a:spcPts val="1200"/>
              </a:spcAft>
            </a:pPr>
            <a:r>
              <a:rPr sz="2200">
                <a:solidFill>
                  <a:srgbClr val="1F2937"/>
                </a:solidFill>
                <a:latin typeface="Calibri"/>
              </a:rPr>
              <a:t>▸  Savol: jarohatlar farqiga qaysi omillar sabab bo‘lishi mumkin? Jism, soha va shaxs xususiyatlari bo‘yicha javob bering.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va o‘tkir jismlarni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jismda to‘qimalar avval ajraladi, ezilish esa ikkilamchi bo‘lishi mumkin.</a:t>
            </a:r>
          </a:p>
          <a:p>
            <a:pPr>
              <a:spcAft>
                <a:spcPts val="800"/>
              </a:spcAft>
            </a:pPr>
            <a:r>
              <a:rPr sz="1800">
                <a:solidFill>
                  <a:srgbClr val="1F2937"/>
                </a:solidFill>
                <a:latin typeface="Calibri"/>
              </a:rPr>
              <a:t>▸  O‘tkir jismda jarohat doim bevosita; o‘tmas jismda bilvosita jarohat ham uchraydi.</a:t>
            </a:r>
          </a:p>
          <a:p>
            <a:pPr>
              <a:spcAft>
                <a:spcPts val="800"/>
              </a:spcAft>
            </a:pPr>
            <a:r>
              <a:rPr sz="1800">
                <a:solidFill>
                  <a:srgbClr val="1F2937"/>
                </a:solidFill>
                <a:latin typeface="Calibri"/>
              </a:rPr>
              <a:t>▸  Diqqat: bevosita ≠ bilvosita. Bilvosita jarohat ta’sir joyidan boshqa sohada hosil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37918"/>
                <a:gridCol w="2208900"/>
                <a:gridCol w="194115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O‘tmas jism</a:t>
                      </a:r>
                    </a:p>
                  </a:txBody>
                  <a:tcPr marL="73152" marR="73152" marT="36576" marB="36576">
                    <a:solidFill>
                      <a:srgbClr val="0B1F3A"/>
                    </a:solidFill>
                  </a:tcPr>
                </a:tc>
                <a:tc>
                  <a:txBody>
                    <a:bodyPr/>
                    <a:lstStyle/>
                    <a:p>
                      <a:r>
                        <a:rPr sz="1300" b="1">
                          <a:solidFill>
                            <a:srgbClr val="FFFFFF"/>
                          </a:solidFill>
                        </a:rPr>
                        <a:t>O‘tkir jism</a:t>
                      </a:r>
                    </a:p>
                  </a:txBody>
                  <a:tcPr marL="73152" marR="73152" marT="36576" marB="36576">
                    <a:solidFill>
                      <a:srgbClr val="0B1F3A"/>
                    </a:solidFill>
                  </a:tcPr>
                </a:tc>
              </a:tr>
              <a:tr h="411480">
                <a:tc>
                  <a:txBody>
                    <a:bodyPr/>
                    <a:lstStyle/>
                    <a:p>
                      <a:r>
                        <a:rPr sz="1200" b="0">
                          <a:solidFill>
                            <a:srgbClr val="1F2937"/>
                          </a:solidFill>
                        </a:rPr>
                        <a:t>To‘qima ajralishi</a:t>
                      </a:r>
                    </a:p>
                  </a:txBody>
                  <a:tcPr marL="73152" marR="73152" marT="36576" marB="36576">
                    <a:solidFill>
                      <a:srgbClr val="E8EEF6"/>
                    </a:solidFill>
                  </a:tcPr>
                </a:tc>
                <a:tc>
                  <a:txBody>
                    <a:bodyPr/>
                    <a:lstStyle/>
                    <a:p>
                      <a:r>
                        <a:rPr sz="1200" b="0">
                          <a:solidFill>
                            <a:srgbClr val="1F2937"/>
                          </a:solidFill>
                        </a:rPr>
                        <a:t>Birlamchi emas</a:t>
                      </a:r>
                    </a:p>
                  </a:txBody>
                  <a:tcPr marL="73152" marR="73152" marT="36576" marB="36576">
                    <a:solidFill>
                      <a:srgbClr val="E8EEF6"/>
                    </a:solidFill>
                  </a:tcPr>
                </a:tc>
                <a:tc>
                  <a:txBody>
                    <a:bodyPr/>
                    <a:lstStyle/>
                    <a:p>
                      <a:r>
                        <a:rPr sz="1200" b="0">
                          <a:solidFill>
                            <a:srgbClr val="1F2937"/>
                          </a:solidFill>
                        </a:rPr>
                        <a:t>Birlamchi, ezilish ikkilamchi</a:t>
                      </a:r>
                    </a:p>
                  </a:txBody>
                  <a:tcPr marL="73152" marR="73152" marT="36576" marB="36576">
                    <a:solidFill>
                      <a:srgbClr val="E8EEF6"/>
                    </a:solidFill>
                  </a:tcPr>
                </a:tc>
              </a:tr>
              <a:tr h="411480">
                <a:tc>
                  <a:txBody>
                    <a:bodyPr/>
                    <a:lstStyle/>
                    <a:p>
                      <a:r>
                        <a:rPr sz="1200" b="0">
                          <a:solidFill>
                            <a:srgbClr val="1F2937"/>
                          </a:solidFill>
                        </a:rPr>
                        <a:t>Jarohat joyi</a:t>
                      </a:r>
                    </a:p>
                  </a:txBody>
                  <a:tcPr marL="73152" marR="73152" marT="36576" marB="36576">
                    <a:solidFill>
                      <a:srgbClr val="FFFFFF"/>
                    </a:solidFill>
                  </a:tcPr>
                </a:tc>
                <a:tc>
                  <a:txBody>
                    <a:bodyPr/>
                    <a:lstStyle/>
                    <a:p>
                      <a:r>
                        <a:rPr sz="1200" b="0">
                          <a:solidFill>
                            <a:srgbClr val="1F2937"/>
                          </a:solidFill>
                        </a:rPr>
                        <a:t>Bevosita yoki bilvosita</a:t>
                      </a:r>
                    </a:p>
                  </a:txBody>
                  <a:tcPr marL="73152" marR="73152" marT="36576" marB="36576">
                    <a:solidFill>
                      <a:srgbClr val="FFFFFF"/>
                    </a:solidFill>
                  </a:tcPr>
                </a:tc>
                <a:tc>
                  <a:txBody>
                    <a:bodyPr/>
                    <a:lstStyle/>
                    <a:p>
                      <a:r>
                        <a:rPr sz="1200" b="0">
                          <a:solidFill>
                            <a:srgbClr val="1F2937"/>
                          </a:solidFill>
                        </a:rPr>
                        <a:t>Doim bevosita</a:t>
                      </a:r>
                    </a:p>
                  </a:txBody>
                  <a:tcPr marL="73152" marR="73152" marT="36576" marB="36576">
                    <a:solidFill>
                      <a:srgbClr val="FFFFFF"/>
                    </a:solidFill>
                  </a:tcPr>
                </a:tc>
              </a:tr>
              <a:tr h="411480">
                <a:tc>
                  <a:txBody>
                    <a:bodyPr/>
                    <a:lstStyle/>
                    <a:p>
                      <a:r>
                        <a:rPr sz="1200" b="0">
                          <a:solidFill>
                            <a:srgbClr val="1F2937"/>
                          </a:solidFill>
                        </a:rPr>
                        <a:t>Jarohat turi</a:t>
                      </a:r>
                    </a:p>
                  </a:txBody>
                  <a:tcPr marL="73152" marR="73152" marT="36576" marB="36576">
                    <a:solidFill>
                      <a:srgbClr val="E8EEF6"/>
                    </a:solidFill>
                  </a:tcPr>
                </a:tc>
                <a:tc>
                  <a:txBody>
                    <a:bodyPr/>
                    <a:lstStyle/>
                    <a:p>
                      <a:r>
                        <a:rPr sz="1200" b="0">
                          <a:solidFill>
                            <a:srgbClr val="1F2937"/>
                          </a:solidFill>
                        </a:rPr>
                        <a:t>Shilinma, qontalash, yara, sinish</a:t>
                      </a:r>
                    </a:p>
                  </a:txBody>
                  <a:tcPr marL="73152" marR="73152" marT="36576" marB="36576">
                    <a:solidFill>
                      <a:srgbClr val="E8EEF6"/>
                    </a:solidFill>
                  </a:tcPr>
                </a:tc>
                <a:tc>
                  <a:txBody>
                    <a:bodyPr/>
                    <a:lstStyle/>
                    <a:p>
                      <a:r>
                        <a:rPr sz="1200" b="0">
                          <a:solidFill>
                            <a:srgbClr val="1F2937"/>
                          </a:solidFill>
                        </a:rPr>
                        <a:t>Odatda yara, ba’zan sinish</a:t>
                      </a:r>
                    </a:p>
                  </a:txBody>
                  <a:tcPr marL="73152" marR="73152" marT="36576" marB="36576">
                    <a:solidFill>
                      <a:srgbClr val="E8EEF6"/>
                    </a:solidFill>
                  </a:tcPr>
                </a:tc>
              </a:tr>
              <a:tr h="411480">
                <a:tc>
                  <a:txBody>
                    <a:bodyPr/>
                    <a:lstStyle/>
                    <a:p>
                      <a:r>
                        <a:rPr sz="1200" b="0">
                          <a:solidFill>
                            <a:srgbClr val="1F2937"/>
                          </a:solidFill>
                        </a:rPr>
                        <a:t>Yara chetlari</a:t>
                      </a:r>
                    </a:p>
                  </a:txBody>
                  <a:tcPr marL="73152" marR="73152" marT="36576" marB="36576">
                    <a:solidFill>
                      <a:srgbClr val="FFFFFF"/>
                    </a:solidFill>
                  </a:tcPr>
                </a:tc>
                <a:tc>
                  <a:txBody>
                    <a:bodyPr/>
                    <a:lstStyle/>
                    <a:p>
                      <a:r>
                        <a:rPr sz="1200" b="0">
                          <a:solidFill>
                            <a:srgbClr val="1F2937"/>
                          </a:solidFill>
                        </a:rPr>
                        <a:t>Notekis, shilingan</a:t>
                      </a:r>
                    </a:p>
                  </a:txBody>
                  <a:tcPr marL="73152" marR="73152" marT="36576" marB="36576">
                    <a:solidFill>
                      <a:srgbClr val="FFFFFF"/>
                    </a:solidFill>
                  </a:tcPr>
                </a:tc>
                <a:tc>
                  <a:txBody>
                    <a:bodyPr/>
                    <a:lstStyle/>
                    <a:p>
                      <a:r>
                        <a:rPr sz="1200" b="0">
                          <a:solidFill>
                            <a:srgbClr val="1F2937"/>
                          </a:solidFill>
                        </a:rPr>
                        <a:t>Kesma yarada tekis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O‘tmas va o‘tkir jism</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 33, 48,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jism ta’rifi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Yoy radiusi 0,1 mm va undan kichik chekka o‘tkir uch yoki o‘tkir dam deb hisoblanadi.</a:t>
            </a:r>
          </a:p>
          <a:p>
            <a:pPr>
              <a:spcAft>
                <a:spcPts val="800"/>
              </a:spcAft>
            </a:pPr>
            <a:r>
              <a:rPr sz="1800">
                <a:solidFill>
                  <a:srgbClr val="1F2937"/>
                </a:solidFill>
                <a:latin typeface="Calibri"/>
              </a:rPr>
              <a:t>▸  Diqqat: o‘tmas jismdan farqli, bunda to‘qima avval ajraladi, ezilish keyin qo‘shiladi. Jarohat doim bevosita bo‘ladi.</a:t>
            </a:r>
          </a:p>
          <a:p>
            <a:pPr>
              <a:spcAft>
                <a:spcPts val="800"/>
              </a:spcAft>
            </a:pPr>
            <a:r>
              <a:rPr sz="1800">
                <a:solidFill>
                  <a:srgbClr val="1F2937"/>
                </a:solidFill>
                <a:latin typeface="Calibri"/>
              </a:rPr>
              <a:t>▸  Arralovchi jismlar kam uchraydi va asosan baxtsiz hodisada kuzatiladi. Arralar uchburchaksimon tishli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09430"/>
                <a:gridCol w="3278544"/>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Ish qismi</a:t>
                      </a:r>
                    </a:p>
                  </a:txBody>
                  <a:tcPr marL="73152" marR="73152" marT="36576" marB="36576">
                    <a:solidFill>
                      <a:srgbClr val="0B1F3A"/>
                    </a:solidFill>
                  </a:tcPr>
                </a:tc>
              </a:tr>
              <a:tr h="411480">
                <a:tc>
                  <a:txBody>
                    <a:bodyPr/>
                    <a:lstStyle/>
                    <a:p>
                      <a:r>
                        <a:rPr sz="1300" b="0">
                          <a:solidFill>
                            <a:srgbClr val="1F2937"/>
                          </a:solidFill>
                        </a:rPr>
                        <a:t>Kesuvchi</a:t>
                      </a:r>
                    </a:p>
                  </a:txBody>
                  <a:tcPr marL="73152" marR="73152" marT="36576" marB="36576">
                    <a:solidFill>
                      <a:srgbClr val="E8EEF6"/>
                    </a:solidFill>
                  </a:tcPr>
                </a:tc>
                <a:tc>
                  <a:txBody>
                    <a:bodyPr/>
                    <a:lstStyle/>
                    <a:p>
                      <a:r>
                        <a:rPr sz="1300" b="0">
                          <a:solidFill>
                            <a:srgbClr val="1F2937"/>
                          </a:solidFill>
                        </a:rPr>
                        <a:t>O‘tkir dam (ustara)</a:t>
                      </a:r>
                    </a:p>
                  </a:txBody>
                  <a:tcPr marL="73152" marR="73152" marT="36576" marB="36576">
                    <a:solidFill>
                      <a:srgbClr val="E8EEF6"/>
                    </a:solidFill>
                  </a:tcPr>
                </a:tc>
              </a:tr>
              <a:tr h="411480">
                <a:tc>
                  <a:txBody>
                    <a:bodyPr/>
                    <a:lstStyle/>
                    <a:p>
                      <a:r>
                        <a:rPr sz="1300" b="0">
                          <a:solidFill>
                            <a:srgbClr val="1F2937"/>
                          </a:solidFill>
                        </a:rPr>
                        <a:t>Sanchuvchi</a:t>
                      </a:r>
                    </a:p>
                  </a:txBody>
                  <a:tcPr marL="73152" marR="73152" marT="36576" marB="36576">
                    <a:solidFill>
                      <a:srgbClr val="FFFFFF"/>
                    </a:solidFill>
                  </a:tcPr>
                </a:tc>
                <a:tc>
                  <a:txBody>
                    <a:bodyPr/>
                    <a:lstStyle/>
                    <a:p>
                      <a:r>
                        <a:rPr sz="1300" b="0">
                          <a:solidFill>
                            <a:srgbClr val="1F2937"/>
                          </a:solidFill>
                        </a:rPr>
                        <a:t>O‘tkir uch (bigiz, mix)</a:t>
                      </a:r>
                    </a:p>
                  </a:txBody>
                  <a:tcPr marL="73152" marR="73152" marT="36576" marB="36576">
                    <a:solidFill>
                      <a:srgbClr val="FFFFFF"/>
                    </a:solidFill>
                  </a:tcPr>
                </a:tc>
              </a:tr>
              <a:tr h="411480">
                <a:tc>
                  <a:txBody>
                    <a:bodyPr/>
                    <a:lstStyle/>
                    <a:p>
                      <a:r>
                        <a:rPr sz="1300" b="0">
                          <a:solidFill>
                            <a:srgbClr val="1F2937"/>
                          </a:solidFill>
                        </a:rPr>
                        <a:t>Sanchuvchi-kesuvchi</a:t>
                      </a:r>
                    </a:p>
                  </a:txBody>
                  <a:tcPr marL="73152" marR="73152" marT="36576" marB="36576">
                    <a:solidFill>
                      <a:srgbClr val="E8EEF6"/>
                    </a:solidFill>
                  </a:tcPr>
                </a:tc>
                <a:tc>
                  <a:txBody>
                    <a:bodyPr/>
                    <a:lstStyle/>
                    <a:p>
                      <a:r>
                        <a:rPr sz="1300" b="0">
                          <a:solidFill>
                            <a:srgbClr val="1F2937"/>
                          </a:solidFill>
                        </a:rPr>
                        <a:t>Uch va dam (pichoq, xanjar)</a:t>
                      </a:r>
                    </a:p>
                  </a:txBody>
                  <a:tcPr marL="73152" marR="73152" marT="36576" marB="36576">
                    <a:solidFill>
                      <a:srgbClr val="E8EEF6"/>
                    </a:solidFill>
                  </a:tcPr>
                </a:tc>
              </a:tr>
              <a:tr h="411480">
                <a:tc>
                  <a:txBody>
                    <a:bodyPr/>
                    <a:lstStyle/>
                    <a:p>
                      <a:r>
                        <a:rPr sz="1300" b="0">
                          <a:solidFill>
                            <a:srgbClr val="1F2937"/>
                          </a:solidFill>
                        </a:rPr>
                        <a:t>Chopuvchi</a:t>
                      </a:r>
                    </a:p>
                  </a:txBody>
                  <a:tcPr marL="73152" marR="73152" marT="36576" marB="36576">
                    <a:solidFill>
                      <a:srgbClr val="FFFFFF"/>
                    </a:solidFill>
                  </a:tcPr>
                </a:tc>
                <a:tc>
                  <a:txBody>
                    <a:bodyPr/>
                    <a:lstStyle/>
                    <a:p>
                      <a:r>
                        <a:rPr sz="1300" b="0">
                          <a:solidFill>
                            <a:srgbClr val="1F2937"/>
                          </a:solidFill>
                        </a:rPr>
                        <a:t>O‘tkir dam, katta massa (bolta)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O‘tkir jism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 55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Jarohatni tekshirish va hujjatlashtirish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avval makroskopik tekshiriladi: turi, joyi, shakli, rangi, atrof to‘qima holati. Yarada uchi, chetlari, tubi va chekka devori ko‘riladi.</a:t>
            </a:r>
          </a:p>
          <a:p>
            <a:pPr>
              <a:spcAft>
                <a:spcPts val="1200"/>
              </a:spcAft>
            </a:pPr>
            <a:r>
              <a:rPr sz="2200">
                <a:solidFill>
                  <a:srgbClr val="1F2937"/>
                </a:solidFill>
                <a:latin typeface="Calibri"/>
              </a:rPr>
              <a:t>▸  Har doim o‘lchov olinadi. Ba’zan jarohatning tananing ma’lum bir sohasidan qanday masofada joylashgani ham aniqlanadi.</a:t>
            </a:r>
          </a:p>
          <a:p>
            <a:pPr>
              <a:spcAft>
                <a:spcPts val="1200"/>
              </a:spcAft>
            </a:pPr>
            <a:r>
              <a:rPr sz="2200">
                <a:solidFill>
                  <a:srgbClr val="1F2937"/>
                </a:solidFill>
                <a:latin typeface="Calibri"/>
              </a:rPr>
              <a:t>▸  Vrach jarohatni to‘liq tavsiflashi kerak. Faqat diagnoz yozish yoki yuzaki tavsif keyingi ekspertizada jiddiy qiyinchilik tug‘diradi.</a:t>
            </a:r>
          </a:p>
          <a:p>
            <a:pPr>
              <a:spcAft>
                <a:spcPts val="1200"/>
              </a:spcAft>
            </a:pPr>
            <a:r>
              <a:rPr sz="2200">
                <a:solidFill>
                  <a:srgbClr val="1F2937"/>
                </a:solidFill>
                <a:latin typeface="Calibri"/>
              </a:rPr>
              <a:t>▸  Kiyim iloji boricha avaylab yechiladi, xona haroratida quritiladi, qog‘ozli o‘ramga solinib, tergovchi yoki surishtiruvchiga topshiriladi.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Kesuvchi jismlar va kesma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Ustara, uchsiz pichoq kabi jismlarning o‘tkir dami ta’siridan kesma yaralar hosil bo‘ladi.</a:t>
            </a:r>
          </a:p>
          <a:p>
            <a:pPr>
              <a:spcAft>
                <a:spcPts val="1200"/>
              </a:spcAft>
            </a:pPr>
            <a:r>
              <a:rPr sz="2200">
                <a:solidFill>
                  <a:srgbClr val="1F2937"/>
                </a:solidFill>
                <a:latin typeface="Calibri"/>
              </a:rPr>
              <a:t>▸  Kesma yara urchuqsimon yoki yarim oysimon, chetlari ochilib turadi. Chekkalar yaqinlashtirilsa, yoriqsimon shaklga o‘tadi.</a:t>
            </a:r>
          </a:p>
          <a:p>
            <a:pPr>
              <a:spcAft>
                <a:spcPts val="1200"/>
              </a:spcAft>
            </a:pPr>
            <a:r>
              <a:rPr sz="2200">
                <a:solidFill>
                  <a:srgbClr val="1F2937"/>
                </a:solidFill>
                <a:latin typeface="Calibri"/>
              </a:rPr>
              <a:t>▸  Teri burmalari bor sohalarda kesma yara siniq chiziq shaklida bo‘lishi mumkin.</a:t>
            </a:r>
          </a:p>
          <a:p>
            <a:pPr>
              <a:spcAft>
                <a:spcPts val="1200"/>
              </a:spcAft>
            </a:pPr>
            <a:r>
              <a:rPr sz="2200">
                <a:solidFill>
                  <a:srgbClr val="1F2937"/>
                </a:solidFill>
                <a:latin typeface="Calibri"/>
              </a:rPr>
              <a:t>▸  Chetlarning ochilishi mushak va biriktiruvchi to‘qima tolalari yo‘nalishiga bog‘liq: yara tolalarga parallel bo‘lsa, kamroq ochiladi.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Kesma yaraning morfologik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Kesuvchi jism (ustara, uchsiz pichoq) o‘tkir dami bilan kesma yara hosil qiladi; shakli urchuqsimon yoki yarim oysimon.</a:t>
            </a:r>
          </a:p>
          <a:p>
            <a:pPr>
              <a:spcAft>
                <a:spcPts val="800"/>
              </a:spcAft>
            </a:pPr>
            <a:r>
              <a:rPr sz="1800">
                <a:solidFill>
                  <a:srgbClr val="1F2937"/>
                </a:solidFill>
                <a:latin typeface="Calibri"/>
              </a:rPr>
              <a:t>▸  Yaraning uzunligi uning eni va chuqurligidan ancha katta bo‘ladi.</a:t>
            </a:r>
          </a:p>
          <a:p>
            <a:pPr>
              <a:spcAft>
                <a:spcPts val="800"/>
              </a:spcAft>
            </a:pPr>
            <a:r>
              <a:rPr sz="1800">
                <a:solidFill>
                  <a:srgbClr val="1F2937"/>
                </a:solidFill>
                <a:latin typeface="Calibri"/>
              </a:rPr>
              <a:t>▸  Bilak-kaft bo‘g‘imining ichki yuzasidagi yuzaki kesmalar o‘z-o‘zini o‘ldirishga urinishda uchrashi mumkin (rasm 2.8).</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61668"/>
                <a:gridCol w="3326306"/>
              </a:tblGrid>
              <a:tr h="411480">
                <a:tc>
                  <a:txBody>
                    <a:bodyPr/>
                    <a:lstStyle/>
                    <a:p>
                      <a:r>
                        <a:rPr sz="1400" b="1">
                          <a:solidFill>
                            <a:srgbClr val="FFFFFF"/>
                          </a:solidFill>
                        </a:rPr>
                        <a:t>Yara qismi</a:t>
                      </a:r>
                    </a:p>
                  </a:txBody>
                  <a:tcPr marL="73152" marR="73152" marT="36576" marB="36576">
                    <a:solidFill>
                      <a:srgbClr val="0B1F3A"/>
                    </a:solidFill>
                  </a:tcPr>
                </a:tc>
                <a:tc>
                  <a:txBody>
                    <a:bodyPr/>
                    <a:lstStyle/>
                    <a:p>
                      <a:r>
                        <a:rPr sz="1400" b="1">
                          <a:solidFill>
                            <a:srgbClr val="FFFFFF"/>
                          </a:solidFill>
                        </a:rPr>
                        <a:t>Xususiyati</a:t>
                      </a:r>
                    </a:p>
                  </a:txBody>
                  <a:tcPr marL="73152" marR="73152" marT="36576" marB="36576">
                    <a:solidFill>
                      <a:srgbClr val="0B1F3A"/>
                    </a:solidFill>
                  </a:tcPr>
                </a:tc>
              </a:tr>
              <a:tr h="411480">
                <a:tc>
                  <a:txBody>
                    <a:bodyPr/>
                    <a:lstStyle/>
                    <a:p>
                      <a:r>
                        <a:rPr sz="1300" b="0">
                          <a:solidFill>
                            <a:srgbClr val="1F2937"/>
                          </a:solidFill>
                        </a:rPr>
                        <a:t>Chetlari</a:t>
                      </a:r>
                    </a:p>
                  </a:txBody>
                  <a:tcPr marL="73152" marR="73152" marT="36576" marB="36576">
                    <a:solidFill>
                      <a:srgbClr val="E8EEF6"/>
                    </a:solidFill>
                  </a:tcPr>
                </a:tc>
                <a:tc>
                  <a:txBody>
                    <a:bodyPr/>
                    <a:lstStyle/>
                    <a:p>
                      <a:r>
                        <a:rPr sz="1300" b="0">
                          <a:solidFill>
                            <a:srgbClr val="1F2937"/>
                          </a:solidFill>
                        </a:rPr>
                        <a:t>Tekis, shilinish alomatisiz</a:t>
                      </a:r>
                    </a:p>
                  </a:txBody>
                  <a:tcPr marL="73152" marR="73152" marT="36576" marB="36576">
                    <a:solidFill>
                      <a:srgbClr val="E8EEF6"/>
                    </a:solidFill>
                  </a:tcPr>
                </a:tc>
              </a:tr>
              <a:tr h="411480">
                <a:tc>
                  <a:txBody>
                    <a:bodyPr/>
                    <a:lstStyle/>
                    <a:p>
                      <a:r>
                        <a:rPr sz="1300" b="0">
                          <a:solidFill>
                            <a:srgbClr val="1F2937"/>
                          </a:solidFill>
                        </a:rPr>
                        <a:t>Chekka devorlari</a:t>
                      </a:r>
                    </a:p>
                  </a:txBody>
                  <a:tcPr marL="73152" marR="73152" marT="36576" marB="36576">
                    <a:solidFill>
                      <a:srgbClr val="FFFFFF"/>
                    </a:solidFill>
                  </a:tcPr>
                </a:tc>
                <a:tc>
                  <a:txBody>
                    <a:bodyPr/>
                    <a:lstStyle/>
                    <a:p>
                      <a:r>
                        <a:rPr sz="1300" b="0">
                          <a:solidFill>
                            <a:srgbClr val="1F2937"/>
                          </a:solidFill>
                        </a:rPr>
                        <a:t>Tekis, shilinishsiz</a:t>
                      </a:r>
                    </a:p>
                  </a:txBody>
                  <a:tcPr marL="73152" marR="73152" marT="36576" marB="36576">
                    <a:solidFill>
                      <a:srgbClr val="FFFFFF"/>
                    </a:solidFill>
                  </a:tcPr>
                </a:tc>
              </a:tr>
              <a:tr h="411480">
                <a:tc>
                  <a:txBody>
                    <a:bodyPr/>
                    <a:lstStyle/>
                    <a:p>
                      <a:r>
                        <a:rPr sz="1300" b="0">
                          <a:solidFill>
                            <a:srgbClr val="1F2937"/>
                          </a:solidFill>
                        </a:rPr>
                        <a:t>Uchlari</a:t>
                      </a:r>
                    </a:p>
                  </a:txBody>
                  <a:tcPr marL="73152" marR="73152" marT="36576" marB="36576">
                    <a:solidFill>
                      <a:srgbClr val="E8EEF6"/>
                    </a:solidFill>
                  </a:tcPr>
                </a:tc>
                <a:tc>
                  <a:txBody>
                    <a:bodyPr/>
                    <a:lstStyle/>
                    <a:p>
                      <a:r>
                        <a:rPr sz="1300" b="0">
                          <a:solidFill>
                            <a:srgbClr val="1F2937"/>
                          </a:solidFill>
                        </a:rPr>
                        <a:t>O‘tkir</a:t>
                      </a:r>
                    </a:p>
                  </a:txBody>
                  <a:tcPr marL="73152" marR="73152" marT="36576" marB="36576">
                    <a:solidFill>
                      <a:srgbClr val="E8EEF6"/>
                    </a:solidFill>
                  </a:tcPr>
                </a:tc>
              </a:tr>
              <a:tr h="411480">
                <a:tc>
                  <a:txBody>
                    <a:bodyPr/>
                    <a:lstStyle/>
                    <a:p>
                      <a:r>
                        <a:rPr sz="1300" b="0">
                          <a:solidFill>
                            <a:srgbClr val="1F2937"/>
                          </a:solidFill>
                        </a:rPr>
                        <a:t>Ta’sir oxiriga mos uchi</a:t>
                      </a:r>
                    </a:p>
                  </a:txBody>
                  <a:tcPr marL="73152" marR="73152" marT="36576" marB="36576">
                    <a:solidFill>
                      <a:srgbClr val="FFFFFF"/>
                    </a:solidFill>
                  </a:tcPr>
                </a:tc>
                <a:tc>
                  <a:txBody>
                    <a:bodyPr/>
                    <a:lstStyle/>
                    <a:p>
                      <a:r>
                        <a:rPr sz="1300" b="0">
                          <a:solidFill>
                            <a:srgbClr val="1F2937"/>
                          </a:solidFill>
                        </a:rPr>
                        <a:t>Qo‘shimcha kesmalar: “qaldirg‘och dumi”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Kesma yara qismlari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 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chetlarining ochilishi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Kesma yaraning chetlari ochilib turadi; chekkalari yaqinlashtirilsa, yara yoriqsimon shaklni oladi.</a:t>
            </a:r>
          </a:p>
          <a:p>
            <a:pPr>
              <a:spcAft>
                <a:spcPts val="800"/>
              </a:spcAft>
            </a:pPr>
            <a:r>
              <a:rPr sz="1800">
                <a:solidFill>
                  <a:srgbClr val="1F2937"/>
                </a:solidFill>
                <a:latin typeface="Calibri"/>
              </a:rPr>
              <a:t>▸  Chetlarning ochilish darajasi shikastlangan sohadagi biriktiruvchi va mushak to‘qimasi tolalarining yo‘nalishiga bog‘liq.</a:t>
            </a:r>
          </a:p>
          <a:p>
            <a:pPr>
              <a:spcAft>
                <a:spcPts val="800"/>
              </a:spcAft>
            </a:pPr>
            <a:r>
              <a:rPr sz="1800">
                <a:solidFill>
                  <a:srgbClr val="1F2937"/>
                </a:solidFill>
                <a:latin typeface="Calibri"/>
              </a:rPr>
              <a:t>▸  Teri burmalari bo‘lgan sohalarda kesma yara siniq chiziq shaklida bo‘lishi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Mushak va biriktiruvchi tolalar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Yara yo‘nalishi bilan solishtirish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Yara tolalarga parallel bo‘lsa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Chekkalar kamroq ochiladi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Ochilish mantig‘i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Kesma yaraning chuqurligi va qon ketishi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Kesma yaralar odatda chuqur bo‘lmaydi va tana bo‘shliqlariga o‘tmaydi.</a:t>
            </a:r>
          </a:p>
          <a:p>
            <a:pPr>
              <a:spcAft>
                <a:spcPts val="1200"/>
              </a:spcAft>
            </a:pPr>
            <a:r>
              <a:rPr sz="2200">
                <a:solidFill>
                  <a:srgbClr val="1F2937"/>
                </a:solidFill>
                <a:latin typeface="Calibri"/>
              </a:rPr>
              <a:t>▸  Boshlang‘ich qismda yara tubining qiyalik darajasi kuchliroq, ya’ni yara chuqurroq bo‘ladi.</a:t>
            </a:r>
          </a:p>
          <a:p>
            <a:pPr>
              <a:spcAft>
                <a:spcPts val="1200"/>
              </a:spcAft>
            </a:pPr>
            <a:r>
              <a:rPr sz="2200">
                <a:solidFill>
                  <a:srgbClr val="1F2937"/>
                </a:solidFill>
                <a:latin typeface="Calibri"/>
              </a:rPr>
              <a:t>▸  Kesma yaralar uchun tashqi qon ketish xos.</a:t>
            </a:r>
          </a:p>
          <a:p>
            <a:pPr>
              <a:spcAft>
                <a:spcPts val="1200"/>
              </a:spcAft>
            </a:pPr>
            <a:r>
              <a:rPr sz="2200">
                <a:solidFill>
                  <a:srgbClr val="1F2937"/>
                </a:solidFill>
                <a:latin typeface="Calibri"/>
              </a:rPr>
              <a:t>▸  Kesuvchi jism tog‘ay va suyakni odatda to‘liq kesib o‘tmaydi; tog‘ay va suyak usti pardasida yuzaki yoriqsimon kesmalar hosil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kesma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kesma yaraning chetlari va uchlari qanday? Javob: chetlari tekis, shilinish alomatlarisiz, uchlari o‘tkir bo‘ladi.</a:t>
            </a:r>
          </a:p>
          <a:p>
            <a:pPr>
              <a:spcAft>
                <a:spcPts val="1200"/>
              </a:spcAft>
            </a:pPr>
            <a:r>
              <a:rPr sz="2200">
                <a:solidFill>
                  <a:srgbClr val="1F2937"/>
                </a:solidFill>
                <a:latin typeface="Calibri"/>
              </a:rPr>
              <a:t>▸  Savol: yara chuqurmi? Javob: odatda chuqur bo‘lmaydi va tana bo‘shlig‘iga o‘tmaydi. Uzunligi eni va chuqurligidan katta bo‘ladi.</a:t>
            </a:r>
          </a:p>
          <a:p>
            <a:pPr>
              <a:spcAft>
                <a:spcPts val="1200"/>
              </a:spcAft>
            </a:pPr>
            <a:r>
              <a:rPr sz="2200">
                <a:solidFill>
                  <a:srgbClr val="1F2937"/>
                </a:solidFill>
                <a:latin typeface="Calibri"/>
              </a:rPr>
              <a:t>▸  Chetlarning ochilishi to‘qima tolalarining yo‘nalishiga bog‘liq: yara tolalarga qanchalik parallel bo‘lsa, shunchalik kam ochiladi.</a:t>
            </a:r>
          </a:p>
          <a:p>
            <a:pPr>
              <a:spcAft>
                <a:spcPts val="1200"/>
              </a:spcAft>
            </a:pPr>
            <a:r>
              <a:rPr sz="2200">
                <a:solidFill>
                  <a:srgbClr val="1F2937"/>
                </a:solidFill>
                <a:latin typeface="Calibri"/>
              </a:rPr>
              <a:t>▸  Diqqat: xato qilish xavfi! Kesma yarada uzunlik chuqurlikdan katta, sanchma yarada esa tashqi o‘lcham chuqurlikdan kichik.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48, 49, 49-50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kesma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ko‘rikda bilak-kaft bo‘g‘imining ichki yuzasida bir nechta yuzaki kesma yara topildi (o‘z-o‘zini o‘ldirishga urinish misoli).</a:t>
            </a:r>
          </a:p>
          <a:p>
            <a:pPr>
              <a:spcAft>
                <a:spcPts val="1200"/>
              </a:spcAft>
            </a:pPr>
            <a:r>
              <a:rPr sz="2200">
                <a:solidFill>
                  <a:srgbClr val="1F2937"/>
                </a:solidFill>
                <a:latin typeface="Calibri"/>
              </a:rPr>
              <a:t>▸  Kesma yara belgilari: chetlari va chekka devorlari tekis, shilinishsiz, uchlari o‘tkir bo‘ladi. Chuqur bo‘lmaydi.</a:t>
            </a:r>
          </a:p>
          <a:p>
            <a:pPr>
              <a:spcAft>
                <a:spcPts val="1200"/>
              </a:spcAft>
            </a:pPr>
            <a:r>
              <a:rPr sz="2200">
                <a:solidFill>
                  <a:srgbClr val="1F2937"/>
                </a:solidFill>
                <a:latin typeface="Calibri"/>
              </a:rPr>
              <a:t>▸  Kesuvchi jism odatda tog‘ay va suyakni to‘liq kesib o‘tmaydi. Suyak usti pardasida yuzaki yoriqsimon kesma qolishi mumkin.</a:t>
            </a:r>
          </a:p>
          <a:p>
            <a:pPr>
              <a:spcAft>
                <a:spcPts val="1200"/>
              </a:spcAft>
            </a:pPr>
            <a:r>
              <a:rPr sz="2200">
                <a:solidFill>
                  <a:srgbClr val="1F2937"/>
                </a:solidFill>
                <a:latin typeface="Calibri"/>
              </a:rPr>
              <a:t>▸  Savol: bu yaralarni qaysi belgilar bo‘yicha kesma yara deb baholaysiz? Shuningdek, kiyim ham tekshirilishini unutmang.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49, 48-49,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Sanchuvchi jism va sanchma yara hosil bo‘lishi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Sanchuvchi jism uzunchoq shaklli va o‘tkir uchli bo‘ladi (bigiz, mix).</a:t>
            </a:r>
          </a:p>
          <a:p>
            <a:pPr>
              <a:spcAft>
                <a:spcPts val="800"/>
              </a:spcAft>
            </a:pPr>
            <a:r>
              <a:rPr sz="1800">
                <a:solidFill>
                  <a:srgbClr val="1F2937"/>
                </a:solidFill>
                <a:latin typeface="Calibri"/>
              </a:rPr>
              <a:t>▸  Yara shakli jismning ko‘ndalang kesimi shakliga bog‘liq. Dumaloq yoki oval kesimda yara yoriqsimon bo‘ladi.</a:t>
            </a:r>
          </a:p>
          <a:p>
            <a:pPr>
              <a:spcAft>
                <a:spcPts val="800"/>
              </a:spcAft>
            </a:pPr>
            <a:r>
              <a:rPr sz="1800">
                <a:solidFill>
                  <a:srgbClr val="1F2937"/>
                </a:solidFill>
                <a:latin typeface="Calibri"/>
              </a:rPr>
              <a:t>▸  Tashqi o‘lchami chuqurligidan kichik; ichki qon ketish tashqisidan kuchli bo‘ladi.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Uzunchoq jism, o‘tkir uch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Uch to‘qimalarni ajratadi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Yon tomonlar to‘qimani suradi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Sanchma yara vujudga keladi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Sanchma yara hosil bo‘lishi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49, 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Sanchma yara shakli va jism kesimi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Sanchma yaraning shakli sanchuvchi jismning ko‘ndalang kesimi shakliga bog‘liq.</a:t>
            </a:r>
          </a:p>
          <a:p>
            <a:pPr>
              <a:spcAft>
                <a:spcPts val="800"/>
              </a:spcAft>
            </a:pPr>
            <a:r>
              <a:rPr sz="1800">
                <a:solidFill>
                  <a:srgbClr val="1F2937"/>
                </a:solidFill>
                <a:latin typeface="Calibri"/>
              </a:rPr>
              <a:t>▸  Sanchuvchi jism uzunchoq, uchi o‘tkir (bigiz, mix); to‘qimani avval ajratadi, so‘ng yon tomonlari bilan suradi.</a:t>
            </a:r>
          </a:p>
          <a:p>
            <a:pPr>
              <a:spcAft>
                <a:spcPts val="800"/>
              </a:spcAft>
            </a:pPr>
            <a:r>
              <a:rPr sz="1800">
                <a:solidFill>
                  <a:srgbClr val="1F2937"/>
                </a:solidFill>
                <a:latin typeface="Calibri"/>
              </a:rPr>
              <a:t>▸  Yon yuzasi uch va undan ko‘p qirrali bo‘lsa, uchlari o‘tkir G, T, P, U shaklidagi yaralar hosil bo‘lishi mumkin.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240667"/>
                <a:gridCol w="3047307"/>
              </a:tblGrid>
              <a:tr h="411480">
                <a:tc>
                  <a:txBody>
                    <a:bodyPr/>
                    <a:lstStyle/>
                    <a:p>
                      <a:r>
                        <a:rPr sz="1400" b="1">
                          <a:solidFill>
                            <a:srgbClr val="FFFFFF"/>
                          </a:solidFill>
                        </a:rPr>
                        <a:t>Kesim holati</a:t>
                      </a:r>
                    </a:p>
                  </a:txBody>
                  <a:tcPr marL="73152" marR="73152" marT="36576" marB="36576">
                    <a:solidFill>
                      <a:srgbClr val="0B1F3A"/>
                    </a:solidFill>
                  </a:tcPr>
                </a:tc>
                <a:tc>
                  <a:txBody>
                    <a:bodyPr/>
                    <a:lstStyle/>
                    <a:p>
                      <a:r>
                        <a:rPr sz="1400" b="1">
                          <a:solidFill>
                            <a:srgbClr val="FFFFFF"/>
                          </a:solidFill>
                        </a:rPr>
                        <a:t>Yara shakli</a:t>
                      </a:r>
                    </a:p>
                  </a:txBody>
                  <a:tcPr marL="73152" marR="73152" marT="36576" marB="36576">
                    <a:solidFill>
                      <a:srgbClr val="0B1F3A"/>
                    </a:solidFill>
                  </a:tcPr>
                </a:tc>
              </a:tr>
              <a:tr h="411480">
                <a:tc>
                  <a:txBody>
                    <a:bodyPr/>
                    <a:lstStyle/>
                    <a:p>
                      <a:r>
                        <a:rPr sz="1300" b="0">
                          <a:solidFill>
                            <a:srgbClr val="1F2937"/>
                          </a:solidFill>
                        </a:rPr>
                        <a:t>Oval yoki dumaloq kesim</a:t>
                      </a:r>
                    </a:p>
                  </a:txBody>
                  <a:tcPr marL="73152" marR="73152" marT="36576" marB="36576">
                    <a:solidFill>
                      <a:srgbClr val="E8EEF6"/>
                    </a:solidFill>
                  </a:tcPr>
                </a:tc>
                <a:tc>
                  <a:txBody>
                    <a:bodyPr/>
                    <a:lstStyle/>
                    <a:p>
                      <a:r>
                        <a:rPr sz="1300" b="0">
                          <a:solidFill>
                            <a:srgbClr val="1F2937"/>
                          </a:solidFill>
                        </a:rPr>
                        <a:t>Oval, yoriqsimon, chetlari tekis</a:t>
                      </a:r>
                    </a:p>
                  </a:txBody>
                  <a:tcPr marL="73152" marR="73152" marT="36576" marB="36576">
                    <a:solidFill>
                      <a:srgbClr val="E8EEF6"/>
                    </a:solidFill>
                  </a:tcPr>
                </a:tc>
              </a:tr>
              <a:tr h="411480">
                <a:tc>
                  <a:txBody>
                    <a:bodyPr/>
                    <a:lstStyle/>
                    <a:p>
                      <a:r>
                        <a:rPr sz="1300" b="0">
                          <a:solidFill>
                            <a:srgbClr val="1F2937"/>
                          </a:solidFill>
                        </a:rPr>
                        <a:t>Chetlari yaqinlashtirilsa</a:t>
                      </a:r>
                    </a:p>
                  </a:txBody>
                  <a:tcPr marL="73152" marR="73152" marT="36576" marB="36576">
                    <a:solidFill>
                      <a:srgbClr val="FFFFFF"/>
                    </a:solidFill>
                  </a:tcPr>
                </a:tc>
                <a:tc>
                  <a:txBody>
                    <a:bodyPr/>
                    <a:lstStyle/>
                    <a:p>
                      <a:r>
                        <a:rPr sz="1300" b="0">
                          <a:solidFill>
                            <a:srgbClr val="1F2937"/>
                          </a:solidFill>
                        </a:rPr>
                        <a:t>Chiziqsimon shaklni oladi</a:t>
                      </a:r>
                    </a:p>
                  </a:txBody>
                  <a:tcPr marL="73152" marR="73152" marT="36576" marB="36576">
                    <a:solidFill>
                      <a:srgbClr val="FFFFFF"/>
                    </a:solidFill>
                  </a:tcPr>
                </a:tc>
              </a:tr>
              <a:tr h="411480">
                <a:tc>
                  <a:txBody>
                    <a:bodyPr/>
                    <a:lstStyle/>
                    <a:p>
                      <a:r>
                        <a:rPr sz="1300" b="0">
                          <a:solidFill>
                            <a:srgbClr val="1F2937"/>
                          </a:solidFill>
                        </a:rPr>
                        <a:t>Uch va ko‘p qirrali kesim</a:t>
                      </a:r>
                    </a:p>
                  </a:txBody>
                  <a:tcPr marL="73152" marR="73152" marT="36576" marB="36576">
                    <a:solidFill>
                      <a:srgbClr val="E8EEF6"/>
                    </a:solidFill>
                  </a:tcPr>
                </a:tc>
                <a:tc>
                  <a:txBody>
                    <a:bodyPr/>
                    <a:lstStyle/>
                    <a:p>
                      <a:r>
                        <a:rPr sz="1300" b="0">
                          <a:solidFill>
                            <a:srgbClr val="1F2937"/>
                          </a:solidFill>
                        </a:rPr>
                        <a:t>G, T, P, U shaklli, uchlari o‘tkir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Kesim va yara shakli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50, 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Chetlardagi shilinish va ifloslanish hoshiyasi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Sanchma yara chetlarida shilinish va ifloslanish hoshiyasi aniqlanishi mumkin.</a:t>
            </a:r>
          </a:p>
          <a:p>
            <a:pPr>
              <a:spcAft>
                <a:spcPts val="1200"/>
              </a:spcAft>
            </a:pPr>
            <a:r>
              <a:rPr sz="2200">
                <a:solidFill>
                  <a:srgbClr val="1F2937"/>
                </a:solidFill>
                <a:latin typeface="Calibri"/>
              </a:rPr>
              <a:t>▸  Jism ko‘ndalang kesimining diametri 5 mmdan katta bo‘lsa, bu belgilar yaqqolroq namoyon bo‘ladi.</a:t>
            </a:r>
          </a:p>
          <a:p>
            <a:pPr>
              <a:spcAft>
                <a:spcPts val="1200"/>
              </a:spcAft>
            </a:pPr>
            <a:r>
              <a:rPr sz="2200">
                <a:solidFill>
                  <a:srgbClr val="1F2937"/>
                </a:solidFill>
                <a:latin typeface="Calibri"/>
              </a:rPr>
              <a:t>▸  Jism tanaga tikka ta’sir etganda shilinish va ifloslanish hoshiyasi sirkulyar, ya’ni halqasimon shaklda bo‘ladi.</a:t>
            </a:r>
          </a:p>
          <a:p>
            <a:pPr>
              <a:spcAft>
                <a:spcPts val="1200"/>
              </a:spcAft>
            </a:pPr>
            <a:r>
              <a:rPr sz="2200">
                <a:solidFill>
                  <a:srgbClr val="1F2937"/>
                </a:solidFill>
                <a:latin typeface="Calibri"/>
              </a:rPr>
              <a:t>▸  Qiya ta’sirda hoshiya o‘tkir burchak tomonida segmentar, ya’ni yoysimon bo‘lakcha shaklida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teshigi, kanal va chiqish teshigi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Tashqi o‘lchamlar chuqurlikdan ancha kichik; yara bo‘shliqqa, tog‘ay va yassi suyakka o‘tishi mumkin.</a:t>
            </a:r>
          </a:p>
          <a:p>
            <a:pPr>
              <a:spcAft>
                <a:spcPts val="800"/>
              </a:spcAft>
            </a:pPr>
            <a:r>
              <a:rPr sz="1800">
                <a:solidFill>
                  <a:srgbClr val="1F2937"/>
                </a:solidFill>
                <a:latin typeface="Calibri"/>
              </a:rPr>
              <a:t>▸  Kirish teshigi jism kesimidan biroz kichik; chiqish teshigi kattaroq, chetida shilinish kam yoki yo‘q.</a:t>
            </a:r>
          </a:p>
          <a:p>
            <a:pPr>
              <a:spcAft>
                <a:spcPts val="800"/>
              </a:spcAft>
            </a:pPr>
            <a:r>
              <a:rPr sz="1800">
                <a:solidFill>
                  <a:srgbClr val="1F2937"/>
                </a:solidFill>
                <a:latin typeface="Calibri"/>
              </a:rPr>
              <a:t>▸  Chiqish teshigi chetida yot moddalar ifloslanishi kuzatilmaydi; tashqi qonga nisbatan ichki qon ketish kuchli.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Sanchuvchi jism ta’siri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teshigi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Yara kanali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Chiqish teshigi (teshib o‘tsa)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Ichki qon ketish kuchli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Sanchma yara yo‘li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sanchma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tananing yupqa sohasida sanchma yara teshib o‘tgan, ikkita teshik bor. Birinchisi kichikroq, chetida shilinish va ifloslanish hoshiyasi ko‘rinadi.</a:t>
            </a:r>
          </a:p>
          <a:p>
            <a:pPr>
              <a:spcAft>
                <a:spcPts val="1200"/>
              </a:spcAft>
            </a:pPr>
            <a:r>
              <a:rPr sz="2200">
                <a:solidFill>
                  <a:srgbClr val="1F2937"/>
                </a:solidFill>
                <a:latin typeface="Calibri"/>
              </a:rPr>
              <a:t>▸  Ikkinchi teshik kattaroq. Chetlarida shilinish yo‘q yoki ozgina, yot moddalar bilan ifloslanish kuzatilmaydi.</a:t>
            </a:r>
          </a:p>
          <a:p>
            <a:pPr>
              <a:spcAft>
                <a:spcPts val="1200"/>
              </a:spcAft>
            </a:pPr>
            <a:r>
              <a:rPr sz="2200">
                <a:solidFill>
                  <a:srgbClr val="1F2937"/>
                </a:solidFill>
                <a:latin typeface="Calibri"/>
              </a:rPr>
              <a:t>▸  Savol: qaysi teshik kirish, qaysi biri chiqish? Kichik, shilingan va ifloslangani kirish, kattaroq va toza chetlisi chiqish teshigidir.</a:t>
            </a:r>
          </a:p>
          <a:p>
            <a:pPr>
              <a:spcAft>
                <a:spcPts val="1200"/>
              </a:spcAft>
            </a:pPr>
            <a:r>
              <a:rPr sz="2200">
                <a:solidFill>
                  <a:srgbClr val="1F2937"/>
                </a:solidFill>
                <a:latin typeface="Calibri"/>
              </a:rPr>
              <a:t>▸  Diqqat: xato qilish xavfi! Kirish teshigi ≠ chiqish teshigi. Kirish teshigi jism kesimidan biroz kichik, chiqish teshigi esa kirishdan katta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Sanchuvchi-kesuvchi jismlar ta’sir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Bunday jism tig‘ida o‘tkir uch ham, o‘tkir dam ham bor. Osh pichog‘i bir tomonlama, xanjar ikki tomonlama damli.</a:t>
            </a:r>
          </a:p>
          <a:p>
            <a:pPr>
              <a:spcAft>
                <a:spcPts val="800"/>
              </a:spcAft>
            </a:pPr>
            <a:r>
              <a:rPr sz="1800">
                <a:solidFill>
                  <a:srgbClr val="1F2937"/>
                </a:solidFill>
                <a:latin typeface="Calibri"/>
              </a:rPr>
              <a:t>▸  Uch to‘qimaga kiradi, so‘ng to‘qimalar surilmaydi, tig‘ning o‘tkir dami ularni kesib ajratadi.</a:t>
            </a:r>
          </a:p>
          <a:p>
            <a:pPr>
              <a:spcAft>
                <a:spcPts val="800"/>
              </a:spcAft>
            </a:pPr>
            <a:r>
              <a:rPr sz="1800">
                <a:solidFill>
                  <a:srgbClr val="1F2937"/>
                </a:solidFill>
                <a:latin typeface="Calibri"/>
              </a:rPr>
              <a:t>▸  Kuch vektorida vertikal va gorizontal yo‘nalish bor, vertikali ustun. Tik ta’sirda yara kichikroq, o‘tkir burchakda kattaroq.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O‘tkir uch to‘qimaga kiradi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Tig‘ tanaga chuqurlashadi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O‘tkir dam to‘qimani kesadi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To‘qimalar surilmay ajraladi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Sanchma-kesma yara hosil bo‘ladi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Yara hosil bo‘lish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 va ikki tomonlama o‘tkir dam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 tomonlama dam: yara uzunchoq ponasimon, bir uchi o‘tkir, ikkinchisi o‘tmas, P-simon.</a:t>
            </a:r>
          </a:p>
          <a:p>
            <a:pPr>
              <a:spcAft>
                <a:spcPts val="800"/>
              </a:spcAft>
            </a:pPr>
            <a:r>
              <a:rPr sz="1800">
                <a:solidFill>
                  <a:srgbClr val="1F2937"/>
                </a:solidFill>
                <a:latin typeface="Calibri"/>
              </a:rPr>
              <a:t>▸  Tig‘ning o‘tmas tomoni qalin (2 mm dan ortiq) va qirrali bo‘lsa, o‘tmas uchda terining qo‘shimcha yoriqlari hosil bo‘ladi.</a:t>
            </a:r>
          </a:p>
          <a:p>
            <a:pPr>
              <a:spcAft>
                <a:spcPts val="800"/>
              </a:spcAft>
            </a:pPr>
            <a:r>
              <a:rPr sz="1800">
                <a:solidFill>
                  <a:srgbClr val="1F2937"/>
                </a:solidFill>
                <a:latin typeface="Calibri"/>
              </a:rPr>
              <a:t>▸  Pichoqni olishda yoki chuqurlashtirishda tig‘ yo‘nalishi o‘zgarsa, yarada qo‘shimcha kesmalar paydo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13257"/>
                <a:gridCol w="1948201"/>
                <a:gridCol w="222651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Bir tomonlama</a:t>
                      </a:r>
                    </a:p>
                  </a:txBody>
                  <a:tcPr marL="73152" marR="73152" marT="36576" marB="36576">
                    <a:solidFill>
                      <a:srgbClr val="0B1F3A"/>
                    </a:solidFill>
                  </a:tcPr>
                </a:tc>
                <a:tc>
                  <a:txBody>
                    <a:bodyPr/>
                    <a:lstStyle/>
                    <a:p>
                      <a:r>
                        <a:rPr sz="1300" b="1">
                          <a:solidFill>
                            <a:srgbClr val="FFFFFF"/>
                          </a:solidFill>
                        </a:rPr>
                        <a:t>Ikki tomonlama</a:t>
                      </a:r>
                    </a:p>
                  </a:txBody>
                  <a:tcPr marL="73152" marR="73152" marT="36576" marB="36576">
                    <a:solidFill>
                      <a:srgbClr val="0B1F3A"/>
                    </a:solidFill>
                  </a:tcPr>
                </a:tc>
              </a:tr>
              <a:tr h="411480">
                <a:tc>
                  <a:txBody>
                    <a:bodyPr/>
                    <a:lstStyle/>
                    <a:p>
                      <a:r>
                        <a:rPr sz="1200" b="0">
                          <a:solidFill>
                            <a:srgbClr val="1F2937"/>
                          </a:solidFill>
                        </a:rPr>
                        <a:t>Misol</a:t>
                      </a:r>
                    </a:p>
                  </a:txBody>
                  <a:tcPr marL="73152" marR="73152" marT="36576" marB="36576">
                    <a:solidFill>
                      <a:srgbClr val="E8EEF6"/>
                    </a:solidFill>
                  </a:tcPr>
                </a:tc>
                <a:tc>
                  <a:txBody>
                    <a:bodyPr/>
                    <a:lstStyle/>
                    <a:p>
                      <a:r>
                        <a:rPr sz="1200" b="0">
                          <a:solidFill>
                            <a:srgbClr val="1F2937"/>
                          </a:solidFill>
                        </a:rPr>
                        <a:t>Osh pichog‘i</a:t>
                      </a:r>
                    </a:p>
                  </a:txBody>
                  <a:tcPr marL="73152" marR="73152" marT="36576" marB="36576">
                    <a:solidFill>
                      <a:srgbClr val="E8EEF6"/>
                    </a:solidFill>
                  </a:tcPr>
                </a:tc>
                <a:tc>
                  <a:txBody>
                    <a:bodyPr/>
                    <a:lstStyle/>
                    <a:p>
                      <a:r>
                        <a:rPr sz="1200" b="0">
                          <a:solidFill>
                            <a:srgbClr val="1F2937"/>
                          </a:solidFill>
                        </a:rPr>
                        <a:t>Xanjar</a:t>
                      </a:r>
                    </a:p>
                  </a:txBody>
                  <a:tcPr marL="73152" marR="73152" marT="36576" marB="36576">
                    <a:solidFill>
                      <a:srgbClr val="E8EEF6"/>
                    </a:solidFill>
                  </a:tcPr>
                </a:tc>
              </a:tr>
              <a:tr h="411480">
                <a:tc>
                  <a:txBody>
                    <a:bodyPr/>
                    <a:lstStyle/>
                    <a:p>
                      <a:r>
                        <a:rPr sz="1200" b="0">
                          <a:solidFill>
                            <a:srgbClr val="1F2937"/>
                          </a:solidFill>
                        </a:rPr>
                        <a:t>Shakli</a:t>
                      </a:r>
                    </a:p>
                  </a:txBody>
                  <a:tcPr marL="73152" marR="73152" marT="36576" marB="36576">
                    <a:solidFill>
                      <a:srgbClr val="FFFFFF"/>
                    </a:solidFill>
                  </a:tcPr>
                </a:tc>
                <a:tc>
                  <a:txBody>
                    <a:bodyPr/>
                    <a:lstStyle/>
                    <a:p>
                      <a:r>
                        <a:rPr sz="1200" b="0">
                          <a:solidFill>
                            <a:srgbClr val="1F2937"/>
                          </a:solidFill>
                        </a:rPr>
                        <a:t>Uzunchoq ponasimon, P-simon</a:t>
                      </a:r>
                    </a:p>
                  </a:txBody>
                  <a:tcPr marL="73152" marR="73152" marT="36576" marB="36576">
                    <a:solidFill>
                      <a:srgbClr val="FFFFFF"/>
                    </a:solidFill>
                  </a:tcPr>
                </a:tc>
                <a:tc>
                  <a:txBody>
                    <a:bodyPr/>
                    <a:lstStyle/>
                    <a:p>
                      <a:r>
                        <a:rPr sz="1200" b="0">
                          <a:solidFill>
                            <a:srgbClr val="1F2937"/>
                          </a:solidFill>
                        </a:rPr>
                        <a:t>Urchuqsimon, oval, yarim oysimon</a:t>
                      </a:r>
                    </a:p>
                  </a:txBody>
                  <a:tcPr marL="73152" marR="73152" marT="36576" marB="36576">
                    <a:solidFill>
                      <a:srgbClr val="FFFFFF"/>
                    </a:solidFill>
                  </a:tcPr>
                </a:tc>
              </a:tr>
              <a:tr h="411480">
                <a:tc>
                  <a:txBody>
                    <a:bodyPr/>
                    <a:lstStyle/>
                    <a:p>
                      <a:r>
                        <a:rPr sz="1200" b="0">
                          <a:solidFill>
                            <a:srgbClr val="1F2937"/>
                          </a:solidFill>
                        </a:rPr>
                        <a:t>Uchlari</a:t>
                      </a:r>
                    </a:p>
                  </a:txBody>
                  <a:tcPr marL="73152" marR="73152" marT="36576" marB="36576">
                    <a:solidFill>
                      <a:srgbClr val="E8EEF6"/>
                    </a:solidFill>
                  </a:tcPr>
                </a:tc>
                <a:tc>
                  <a:txBody>
                    <a:bodyPr/>
                    <a:lstStyle/>
                    <a:p>
                      <a:r>
                        <a:rPr sz="1200" b="0">
                          <a:solidFill>
                            <a:srgbClr val="1F2937"/>
                          </a:solidFill>
                        </a:rPr>
                        <a:t>Bir uchi o‘tkir, biri o‘tmas</a:t>
                      </a:r>
                    </a:p>
                  </a:txBody>
                  <a:tcPr marL="73152" marR="73152" marT="36576" marB="36576">
                    <a:solidFill>
                      <a:srgbClr val="E8EEF6"/>
                    </a:solidFill>
                  </a:tcPr>
                </a:tc>
                <a:tc>
                  <a:txBody>
                    <a:bodyPr/>
                    <a:lstStyle/>
                    <a:p>
                      <a:r>
                        <a:rPr sz="1200" b="0">
                          <a:solidFill>
                            <a:srgbClr val="1F2937"/>
                          </a:solidFill>
                        </a:rPr>
                        <a:t>Ikkala uchi o‘tkir</a:t>
                      </a:r>
                    </a:p>
                  </a:txBody>
                  <a:tcPr marL="73152" marR="73152" marT="36576" marB="36576">
                    <a:solidFill>
                      <a:srgbClr val="E8EEF6"/>
                    </a:solidFill>
                  </a:tcPr>
                </a:tc>
              </a:tr>
              <a:tr h="411480">
                <a:tc>
                  <a:txBody>
                    <a:bodyPr/>
                    <a:lstStyle/>
                    <a:p>
                      <a:r>
                        <a:rPr sz="1200" b="0">
                          <a:solidFill>
                            <a:srgbClr val="1F2937"/>
                          </a:solidFill>
                        </a:rPr>
                        <a:t>Chetlari</a:t>
                      </a:r>
                    </a:p>
                  </a:txBody>
                  <a:tcPr marL="73152" marR="73152" marT="36576" marB="36576">
                    <a:solidFill>
                      <a:srgbClr val="FFFFFF"/>
                    </a:solidFill>
                  </a:tcPr>
                </a:tc>
                <a:tc>
                  <a:txBody>
                    <a:bodyPr/>
                    <a:lstStyle/>
                    <a:p>
                      <a:r>
                        <a:rPr sz="1200" b="0">
                          <a:solidFill>
                            <a:srgbClr val="1F2937"/>
                          </a:solidFill>
                        </a:rPr>
                        <a:t>Tekis</a:t>
                      </a:r>
                    </a:p>
                  </a:txBody>
                  <a:tcPr marL="73152" marR="73152" marT="36576" marB="36576">
                    <a:solidFill>
                      <a:srgbClr val="FFFFFF"/>
                    </a:solidFill>
                  </a:tcPr>
                </a:tc>
                <a:tc>
                  <a:txBody>
                    <a:bodyPr/>
                    <a:lstStyle/>
                    <a:p>
                      <a:r>
                        <a:rPr sz="1200" b="0">
                          <a:solidFill>
                            <a:srgbClr val="1F2937"/>
                          </a:solidFill>
                        </a:rPr>
                        <a:t>Tekis; yaqinlashsa chiziqsimon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Osh pichog‘i va xanjar yarasi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51-52, 52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Ta’sir burchagi, kanal va tig‘ qismlari izi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Tig‘ tanaga tikkaroq ta’sir etsa, yara o‘lchamlari kichikroq bo‘ladi. Ta’sir burchagi o‘tkir bo‘lsa, kattaroq o‘lchamdagi yara hosil bo‘ladi.</a:t>
            </a:r>
          </a:p>
          <a:p>
            <a:pPr>
              <a:spcAft>
                <a:spcPts val="1200"/>
              </a:spcAft>
            </a:pPr>
            <a:r>
              <a:rPr sz="2200">
                <a:solidFill>
                  <a:srgbClr val="1F2937"/>
                </a:solidFill>
                <a:latin typeface="Calibri"/>
              </a:rPr>
              <a:t>▸  Pichoq tanadan olinganda yoki chuqurroq kirgizilganda tig‘ yo‘nalishi o‘zgarsa, yarada qo‘shimcha kesmalar paydo bo‘lishi mumkin.</a:t>
            </a:r>
          </a:p>
          <a:p>
            <a:pPr>
              <a:spcAft>
                <a:spcPts val="1200"/>
              </a:spcAft>
            </a:pPr>
            <a:r>
              <a:rPr sz="2200">
                <a:solidFill>
                  <a:srgbClr val="1F2937"/>
                </a:solidFill>
                <a:latin typeface="Calibri"/>
              </a:rPr>
              <a:t>▸  Tig‘ tanaga to‘liq kirsa, uning soqolchasi, cheklagichi va dastasi ta’sirida yarada shilinish va qontalashlar vujudga kelishi mumkin.</a:t>
            </a:r>
          </a:p>
          <a:p>
            <a:pPr>
              <a:spcAft>
                <a:spcPts val="1200"/>
              </a:spcAft>
            </a:pPr>
            <a:r>
              <a:rPr sz="2200">
                <a:solidFill>
                  <a:srgbClr val="1F2937"/>
                </a:solidFill>
                <a:latin typeface="Calibri"/>
              </a:rPr>
              <a:t>▸  Yara kanalining uzunligi odatda tig‘ uzunligiga mos keladi. Yumshoq sohaga kuchli bosim bilan urilsa, kanal tig‘dan uzunroq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51, 52, 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sanchma-kesma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yara shakli qanday? Bir tomoni o‘tkir damli tig‘dan ponasimon, bir uchi o‘tkir, ikkinchisi o‘tmas P-simon yara hosil bo‘ladi.</a:t>
            </a:r>
          </a:p>
          <a:p>
            <a:pPr>
              <a:spcAft>
                <a:spcPts val="1200"/>
              </a:spcAft>
            </a:pPr>
            <a:r>
              <a:rPr sz="2200">
                <a:solidFill>
                  <a:srgbClr val="1F2937"/>
                </a:solidFill>
                <a:latin typeface="Calibri"/>
              </a:rPr>
              <a:t>▸  Savol: yara chetlari qanday? Chetlari tekis bo‘ladi, shilinish xos emas. Faqat qiya ta’sirda o‘tkir burchak tomonida biroz shilinish bo‘lishi mumkin.</a:t>
            </a:r>
          </a:p>
          <a:p>
            <a:pPr>
              <a:spcAft>
                <a:spcPts val="1200"/>
              </a:spcAft>
            </a:pPr>
            <a:r>
              <a:rPr sz="2200">
                <a:solidFill>
                  <a:srgbClr val="1F2937"/>
                </a:solidFill>
                <a:latin typeface="Calibri"/>
              </a:rPr>
              <a:t>▸  Diqqat: sanchma ≠ sanchma-kesma. Sanchma yarada chetlarda shilinish va ifloslanish hoshiyasi bo‘lishi mumkin; sanchma-kesmada tig‘ to‘qimani kesib ajratadi.</a:t>
            </a:r>
          </a:p>
          <a:p>
            <a:pPr>
              <a:spcAft>
                <a:spcPts val="1200"/>
              </a:spcAft>
            </a:pPr>
            <a:r>
              <a:rPr sz="2200">
                <a:solidFill>
                  <a:srgbClr val="1F2937"/>
                </a:solidFill>
                <a:latin typeface="Calibri"/>
              </a:rPr>
              <a:t>▸  Savol: kanal nimaga mos keladi? Yara kanali uzunligi odatda tig‘ uzunligiga mos; kamdan-kam hollarda chiqish yarasi ham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51, 52, 50-51, 53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sanchma-kesma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ko‘krak sohasida bo‘shliqqa o‘tuvchi yara. Chetlari tekis, shilinishsiz; bir uchi o‘tkir, ikkinchisi o‘tmas, P-simon.</a:t>
            </a:r>
          </a:p>
          <a:p>
            <a:pPr>
              <a:spcAft>
                <a:spcPts val="1200"/>
              </a:spcAft>
            </a:pPr>
            <a:r>
              <a:rPr sz="2200">
                <a:solidFill>
                  <a:srgbClr val="1F2937"/>
                </a:solidFill>
                <a:latin typeface="Calibri"/>
              </a:rPr>
              <a:t>▸  Savol 1: qanday tig‘? Bunday shakl bir tomoni o‘tkir damli jism (osh pichog‘i kabi) ta’siriga mos keladi.</a:t>
            </a:r>
          </a:p>
          <a:p>
            <a:pPr>
              <a:spcAft>
                <a:spcPts val="1200"/>
              </a:spcAft>
            </a:pPr>
            <a:r>
              <a:rPr sz="2200">
                <a:solidFill>
                  <a:srgbClr val="1F2937"/>
                </a:solidFill>
                <a:latin typeface="Calibri"/>
              </a:rPr>
              <a:t>▸  O‘tmas uchda terining qo‘shimcha yoriqlari bo‘lsa, tig‘ning o‘tmas tomoni qalin (2 mm dan ortiq) va qirrali bo‘lgan deb taxmin qilinadi.</a:t>
            </a:r>
          </a:p>
          <a:p>
            <a:pPr>
              <a:spcAft>
                <a:spcPts val="1200"/>
              </a:spcAft>
            </a:pPr>
            <a:r>
              <a:rPr sz="2200">
                <a:solidFill>
                  <a:srgbClr val="1F2937"/>
                </a:solidFill>
                <a:latin typeface="Calibri"/>
              </a:rPr>
              <a:t>▸  Savol 2: yo‘nalish qanday? Yara kichik bo‘lsa, tig‘ tikkaroq; kattaroq bo‘lsa, o‘tkir burchak ostida kirgan. Kanal uzunligi tig‘ uzunligini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51-52, 51, 52, 51, 53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Chopuvchi jismlar va ta’sir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Chopuvchi jismlar (bolta, tesha, o‘roq, belkurak) o‘tkir dam va katta massaga ega.</a:t>
            </a:r>
          </a:p>
          <a:p>
            <a:pPr>
              <a:spcAft>
                <a:spcPts val="800"/>
              </a:spcAft>
            </a:pPr>
            <a:r>
              <a:rPr sz="1800">
                <a:solidFill>
                  <a:srgbClr val="1F2937"/>
                </a:solidFill>
                <a:latin typeface="Calibri"/>
              </a:rPr>
              <a:t>▸  Zarb bilan o‘tkir dam to‘qimani kesib ajratadi, so‘ng jismning yon tomonlari uni chetga suradi.</a:t>
            </a:r>
          </a:p>
          <a:p>
            <a:pPr>
              <a:spcAft>
                <a:spcPts val="800"/>
              </a:spcAft>
            </a:pPr>
            <a:r>
              <a:rPr sz="1800">
                <a:solidFill>
                  <a:srgbClr val="1F2937"/>
                </a:solidFill>
                <a:latin typeface="Calibri"/>
              </a:rPr>
              <a:t>▸  Jarohatlar ko‘lamli bo‘ladi, ko‘pincha bosh va qo‘l sohasida; ba’zan tana qismi ajralib ketadi.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Zarb (katta massa)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O‘tkir dam kesib ajratadi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Yon tomonlar to‘qimani suradi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Ko‘lamli chopma yara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Suyak, miya shikasti mumkin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Chopma jarohat hosil bo‘lishi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Chopma yara shakli va uchlari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Yara shakli chopqi qismning tanaga qanday ta’sir qilganiga bog‘liq.</a:t>
            </a:r>
          </a:p>
          <a:p>
            <a:pPr>
              <a:spcAft>
                <a:spcPts val="800"/>
              </a:spcAft>
            </a:pPr>
            <a:r>
              <a:rPr sz="1800">
                <a:solidFill>
                  <a:srgbClr val="1F2937"/>
                </a:solidFill>
                <a:latin typeface="Calibri"/>
              </a:rPr>
              <a:t>▸  Faqat o‘tkir dam yoyi ta’sir etsa, yara uchlari o‘tkir bo‘ladi.</a:t>
            </a:r>
          </a:p>
          <a:p>
            <a:pPr>
              <a:spcAft>
                <a:spcPts val="800"/>
              </a:spcAft>
            </a:pPr>
            <a:r>
              <a:rPr sz="1800">
                <a:solidFill>
                  <a:srgbClr val="1F2937"/>
                </a:solidFill>
                <a:latin typeface="Calibri"/>
              </a:rPr>
              <a:t>▸  Chopqi qisman kirsa: dam uchi o‘tkir, chuqur kirgan uchi o‘tmas va qo‘shimcha yoriqli.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68273"/>
                <a:gridCol w="1967618"/>
                <a:gridCol w="2152082"/>
              </a:tblGrid>
              <a:tr h="411480">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Yara shakli</a:t>
                      </a:r>
                    </a:p>
                  </a:txBody>
                  <a:tcPr marL="73152" marR="73152" marT="36576" marB="36576">
                    <a:solidFill>
                      <a:srgbClr val="0B1F3A"/>
                    </a:solidFill>
                  </a:tcPr>
                </a:tc>
                <a:tc>
                  <a:txBody>
                    <a:bodyPr/>
                    <a:lstStyle/>
                    <a:p>
                      <a:r>
                        <a:rPr sz="1300" b="1">
                          <a:solidFill>
                            <a:srgbClr val="FFFFFF"/>
                          </a:solidFill>
                        </a:rPr>
                        <a:t>Chekka/uch</a:t>
                      </a:r>
                    </a:p>
                  </a:txBody>
                  <a:tcPr marL="73152" marR="73152" marT="36576" marB="36576">
                    <a:solidFill>
                      <a:srgbClr val="0B1F3A"/>
                    </a:solidFill>
                  </a:tcPr>
                </a:tc>
              </a:tr>
              <a:tr h="411480">
                <a:tc>
                  <a:txBody>
                    <a:bodyPr/>
                    <a:lstStyle/>
                    <a:p>
                      <a:r>
                        <a:rPr sz="1200" b="0">
                          <a:solidFill>
                            <a:srgbClr val="1F2937"/>
                          </a:solidFill>
                        </a:rPr>
                        <a:t>Tikka, o‘tkir dam</a:t>
                      </a:r>
                    </a:p>
                  </a:txBody>
                  <a:tcPr marL="73152" marR="73152" marT="36576" marB="36576">
                    <a:solidFill>
                      <a:srgbClr val="E8EEF6"/>
                    </a:solidFill>
                  </a:tcPr>
                </a:tc>
                <a:tc>
                  <a:txBody>
                    <a:bodyPr/>
                    <a:lstStyle/>
                    <a:p>
                      <a:r>
                        <a:rPr sz="1200" b="0">
                          <a:solidFill>
                            <a:srgbClr val="1F2937"/>
                          </a:solidFill>
                        </a:rPr>
                        <a:t>Yoriqsimon, oval, chetlari tekis</a:t>
                      </a:r>
                    </a:p>
                  </a:txBody>
                  <a:tcPr marL="73152" marR="73152" marT="36576" marB="36576">
                    <a:solidFill>
                      <a:srgbClr val="E8EEF6"/>
                    </a:solidFill>
                  </a:tcPr>
                </a:tc>
                <a:tc>
                  <a:txBody>
                    <a:bodyPr/>
                    <a:lstStyle/>
                    <a:p>
                      <a:r>
                        <a:rPr sz="1200" b="0">
                          <a:solidFill>
                            <a:srgbClr val="1F2937"/>
                          </a:solidFill>
                        </a:rPr>
                        <a:t>Yara ochilib turadi</a:t>
                      </a:r>
                    </a:p>
                  </a:txBody>
                  <a:tcPr marL="73152" marR="73152" marT="36576" marB="36576">
                    <a:solidFill>
                      <a:srgbClr val="E8EEF6"/>
                    </a:solidFill>
                  </a:tcPr>
                </a:tc>
              </a:tr>
              <a:tr h="411480">
                <a:tc>
                  <a:txBody>
                    <a:bodyPr/>
                    <a:lstStyle/>
                    <a:p>
                      <a:r>
                        <a:rPr sz="1200" b="0">
                          <a:solidFill>
                            <a:srgbClr val="1F2937"/>
                          </a:solidFill>
                        </a:rPr>
                        <a:t>Dam o‘tmasroq</a:t>
                      </a:r>
                    </a:p>
                  </a:txBody>
                  <a:tcPr marL="73152" marR="73152" marT="36576" marB="36576">
                    <a:solidFill>
                      <a:srgbClr val="FFFFFF"/>
                    </a:solidFill>
                  </a:tcPr>
                </a:tc>
                <a:tc>
                  <a:txBody>
                    <a:bodyPr/>
                    <a:lstStyle/>
                    <a:p>
                      <a:r>
                        <a:rPr sz="1200" b="0">
                          <a:solidFill>
                            <a:srgbClr val="1F2937"/>
                          </a:solidFill>
                        </a:rPr>
                        <a:t>Chetlari mayda tishli</a:t>
                      </a:r>
                    </a:p>
                  </a:txBody>
                  <a:tcPr marL="73152" marR="73152" marT="36576" marB="36576">
                    <a:solidFill>
                      <a:srgbClr val="FFFFFF"/>
                    </a:solidFill>
                  </a:tcPr>
                </a:tc>
                <a:tc>
                  <a:txBody>
                    <a:bodyPr/>
                    <a:lstStyle/>
                    <a:p>
                      <a:r>
                        <a:rPr sz="1200" b="0">
                          <a:solidFill>
                            <a:srgbClr val="1F2937"/>
                          </a:solidFill>
                        </a:rPr>
                        <a:t>Biroz g‘adir-budur</a:t>
                      </a:r>
                    </a:p>
                  </a:txBody>
                  <a:tcPr marL="73152" marR="73152" marT="36576" marB="36576">
                    <a:solidFill>
                      <a:srgbClr val="FFFFFF"/>
                    </a:solidFill>
                  </a:tcPr>
                </a:tc>
              </a:tr>
              <a:tr h="411480">
                <a:tc>
                  <a:txBody>
                    <a:bodyPr/>
                    <a:lstStyle/>
                    <a:p>
                      <a:r>
                        <a:rPr sz="1200" b="0">
                          <a:solidFill>
                            <a:srgbClr val="1F2937"/>
                          </a:solidFill>
                        </a:rPr>
                        <a:t>Qiya ta’sir</a:t>
                      </a:r>
                    </a:p>
                  </a:txBody>
                  <a:tcPr marL="73152" marR="73152" marT="36576" marB="36576">
                    <a:solidFill>
                      <a:srgbClr val="E8EEF6"/>
                    </a:solidFill>
                  </a:tcPr>
                </a:tc>
                <a:tc>
                  <a:txBody>
                    <a:bodyPr/>
                    <a:lstStyle/>
                    <a:p>
                      <a:r>
                        <a:rPr sz="1200" b="0">
                          <a:solidFill>
                            <a:srgbClr val="1F2937"/>
                          </a:solidFill>
                        </a:rPr>
                        <a:t>Yoysimon shakl</a:t>
                      </a:r>
                    </a:p>
                  </a:txBody>
                  <a:tcPr marL="73152" marR="73152" marT="36576" marB="36576">
                    <a:solidFill>
                      <a:srgbClr val="E8EEF6"/>
                    </a:solidFill>
                  </a:tcPr>
                </a:tc>
                <a:tc>
                  <a:txBody>
                    <a:bodyPr/>
                    <a:lstStyle/>
                    <a:p>
                      <a:r>
                        <a:rPr sz="1200" b="0">
                          <a:solidFill>
                            <a:srgbClr val="1F2937"/>
                          </a:solidFill>
                        </a:rPr>
                        <a:t>O‘tkir burchakda shilinish, ezilish</a:t>
                      </a:r>
                    </a:p>
                  </a:txBody>
                  <a:tcPr marL="73152" marR="73152" marT="36576" marB="36576">
                    <a:solidFill>
                      <a:srgbClr val="E8EEF6"/>
                    </a:solidFill>
                  </a:tcPr>
                </a:tc>
              </a:tr>
              <a:tr h="411480">
                <a:tc>
                  <a:txBody>
                    <a:bodyPr/>
                    <a:lstStyle/>
                    <a:p>
                      <a:r>
                        <a:rPr sz="1200" b="0">
                          <a:solidFill>
                            <a:srgbClr val="1F2937"/>
                          </a:solidFill>
                        </a:rPr>
                        <a:t>Chopqi to‘liq kirdi</a:t>
                      </a:r>
                    </a:p>
                  </a:txBody>
                  <a:tcPr marL="73152" marR="73152" marT="36576" marB="36576">
                    <a:solidFill>
                      <a:srgbClr val="FFFFFF"/>
                    </a:solidFill>
                  </a:tcPr>
                </a:tc>
                <a:tc>
                  <a:txBody>
                    <a:bodyPr/>
                    <a:lstStyle/>
                    <a:p>
                      <a:r>
                        <a:rPr sz="1200" b="0">
                          <a:solidFill>
                            <a:srgbClr val="1F2937"/>
                          </a:solidFill>
                        </a:rPr>
                        <a:t>Uchlari o‘tmas, yoriqli</a:t>
                      </a:r>
                    </a:p>
                  </a:txBody>
                  <a:tcPr marL="73152" marR="73152" marT="36576" marB="36576">
                    <a:solidFill>
                      <a:srgbClr val="FFFFFF"/>
                    </a:solidFill>
                  </a:tcPr>
                </a:tc>
                <a:tc>
                  <a:txBody>
                    <a:bodyPr/>
                    <a:lstStyle/>
                    <a:p>
                      <a:r>
                        <a:rPr sz="1200" b="0">
                          <a:solidFill>
                            <a:srgbClr val="1F2937"/>
                          </a:solidFill>
                        </a:rPr>
                        <a:t>Devorlarda ezilish, majaqlanish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Ta’sir va yara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53,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Chopma jarohatlarda suyak shikastlanishi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Chopma jarohatlar ko‘pincha bosh va qo‘l sohasida joylashadi; suyak va bosh miya ham shikastlanadi.</a:t>
            </a:r>
          </a:p>
          <a:p>
            <a:pPr>
              <a:spcAft>
                <a:spcPts val="800"/>
              </a:spcAft>
            </a:pPr>
            <a:r>
              <a:rPr sz="1800">
                <a:solidFill>
                  <a:srgbClr val="1F2937"/>
                </a:solidFill>
                <a:latin typeface="Calibri"/>
              </a:rPr>
              <a:t>▸  Voqea tafsilotiga ko‘ra, aksariyat chopma jarohatlar baxtsiz hodisada vujudga keladi.</a:t>
            </a:r>
          </a:p>
          <a:p>
            <a:pPr>
              <a:spcAft>
                <a:spcPts val="800"/>
              </a:spcAft>
            </a:pPr>
            <a:r>
              <a:rPr sz="1800">
                <a:solidFill>
                  <a:srgbClr val="1F2937"/>
                </a:solidFill>
                <a:latin typeface="Calibri"/>
              </a:rPr>
              <a:t>▸  Qotillik va o‘z-o‘zini o‘ldirishda chopuvchi jism ishlatilishi juda kam uchraydi.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130975"/>
                <a:gridCol w="3157000"/>
              </a:tblGrid>
              <a:tr h="411480">
                <a:tc>
                  <a:txBody>
                    <a:bodyPr/>
                    <a:lstStyle/>
                    <a:p>
                      <a:r>
                        <a:rPr sz="1400" b="1">
                          <a:solidFill>
                            <a:srgbClr val="FFFFFF"/>
                          </a:solidFill>
                        </a:rPr>
                        <a:t>Ta’sir joyi</a:t>
                      </a:r>
                    </a:p>
                  </a:txBody>
                  <a:tcPr marL="73152" marR="73152" marT="36576" marB="36576">
                    <a:solidFill>
                      <a:srgbClr val="0B1F3A"/>
                    </a:solidFill>
                  </a:tcPr>
                </a:tc>
                <a:tc>
                  <a:txBody>
                    <a:bodyPr/>
                    <a:lstStyle/>
                    <a:p>
                      <a:r>
                        <a:rPr sz="1400" b="1">
                          <a:solidFill>
                            <a:srgbClr val="FFFFFF"/>
                          </a:solidFill>
                        </a:rPr>
                        <a:t>Natija</a:t>
                      </a:r>
                    </a:p>
                  </a:txBody>
                  <a:tcPr marL="73152" marR="73152" marT="36576" marB="36576">
                    <a:solidFill>
                      <a:srgbClr val="0B1F3A"/>
                    </a:solidFill>
                  </a:tcPr>
                </a:tc>
              </a:tr>
              <a:tr h="411480">
                <a:tc>
                  <a:txBody>
                    <a:bodyPr/>
                    <a:lstStyle/>
                    <a:p>
                      <a:r>
                        <a:rPr sz="1300" b="0">
                          <a:solidFill>
                            <a:srgbClr val="1F2937"/>
                          </a:solidFill>
                        </a:rPr>
                        <a:t>Kalla gumbazi, tikka ta’sir</a:t>
                      </a:r>
                    </a:p>
                  </a:txBody>
                  <a:tcPr marL="73152" marR="73152" marT="36576" marB="36576">
                    <a:solidFill>
                      <a:srgbClr val="E8EEF6"/>
                    </a:solidFill>
                  </a:tcPr>
                </a:tc>
                <a:tc>
                  <a:txBody>
                    <a:bodyPr/>
                    <a:lstStyle/>
                    <a:p>
                      <a:r>
                        <a:rPr sz="1300" b="0">
                          <a:solidFill>
                            <a:srgbClr val="1F2937"/>
                          </a:solidFill>
                        </a:rPr>
                        <a:t>Yoriqsimon sinish</a:t>
                      </a:r>
                    </a:p>
                  </a:txBody>
                  <a:tcPr marL="73152" marR="73152" marT="36576" marB="36576">
                    <a:solidFill>
                      <a:srgbClr val="E8EEF6"/>
                    </a:solidFill>
                  </a:tcPr>
                </a:tc>
              </a:tr>
              <a:tr h="411480">
                <a:tc>
                  <a:txBody>
                    <a:bodyPr/>
                    <a:lstStyle/>
                    <a:p>
                      <a:r>
                        <a:rPr sz="1300" b="0">
                          <a:solidFill>
                            <a:srgbClr val="1F2937"/>
                          </a:solidFill>
                        </a:rPr>
                        <a:t>Kalla gumbazi, qiya ta’sir</a:t>
                      </a:r>
                    </a:p>
                  </a:txBody>
                  <a:tcPr marL="73152" marR="73152" marT="36576" marB="36576">
                    <a:solidFill>
                      <a:srgbClr val="FFFFFF"/>
                    </a:solidFill>
                  </a:tcPr>
                </a:tc>
                <a:tc>
                  <a:txBody>
                    <a:bodyPr/>
                    <a:lstStyle/>
                    <a:p>
                      <a:r>
                        <a:rPr sz="1300" b="0">
                          <a:solidFill>
                            <a:srgbClr val="1F2937"/>
                          </a:solidFill>
                        </a:rPr>
                        <a:t>Siniqli sinish</a:t>
                      </a:r>
                    </a:p>
                  </a:txBody>
                  <a:tcPr marL="73152" marR="73152" marT="36576" marB="36576">
                    <a:solidFill>
                      <a:srgbClr val="FFFFFF"/>
                    </a:solidFill>
                  </a:tcPr>
                </a:tc>
              </a:tr>
              <a:tr h="411480">
                <a:tc>
                  <a:txBody>
                    <a:bodyPr/>
                    <a:lstStyle/>
                    <a:p>
                      <a:r>
                        <a:rPr sz="1300" b="0">
                          <a:solidFill>
                            <a:srgbClr val="1F2937"/>
                          </a:solidFill>
                        </a:rPr>
                        <a:t>Kuchsiz ta’sir</a:t>
                      </a:r>
                    </a:p>
                  </a:txBody>
                  <a:tcPr marL="73152" marR="73152" marT="36576" marB="36576">
                    <a:solidFill>
                      <a:srgbClr val="E8EEF6"/>
                    </a:solidFill>
                  </a:tcPr>
                </a:tc>
                <a:tc>
                  <a:txBody>
                    <a:bodyPr/>
                    <a:lstStyle/>
                    <a:p>
                      <a:r>
                        <a:rPr sz="1300" b="0">
                          <a:solidFill>
                            <a:srgbClr val="1F2937"/>
                          </a:solidFill>
                        </a:rPr>
                        <a:t>Tashqi suyak pardasi, ba’zan g‘ovak modda</a:t>
                      </a:r>
                    </a:p>
                  </a:txBody>
                  <a:tcPr marL="73152" marR="73152" marT="36576" marB="36576">
                    <a:solidFill>
                      <a:srgbClr val="E8EEF6"/>
                    </a:solidFill>
                  </a:tcPr>
                </a:tc>
              </a:tr>
              <a:tr h="411480">
                <a:tc>
                  <a:txBody>
                    <a:bodyPr/>
                    <a:lstStyle/>
                    <a:p>
                      <a:r>
                        <a:rPr sz="1300" b="0">
                          <a:solidFill>
                            <a:srgbClr val="1F2937"/>
                          </a:solidFill>
                        </a:rPr>
                        <a:t>Uzun naysimon suyak</a:t>
                      </a:r>
                    </a:p>
                  </a:txBody>
                  <a:tcPr marL="73152" marR="73152" marT="36576" marB="36576">
                    <a:solidFill>
                      <a:srgbClr val="FFFFFF"/>
                    </a:solidFill>
                  </a:tcPr>
                </a:tc>
                <a:tc>
                  <a:txBody>
                    <a:bodyPr/>
                    <a:lstStyle/>
                    <a:p>
                      <a:r>
                        <a:rPr sz="1300" b="0">
                          <a:solidFill>
                            <a:srgbClr val="1F2937"/>
                          </a:solidFill>
                        </a:rPr>
                        <a:t>Qisman yoki to‘liq sinish, uzilish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Ta’sir va suyak shikasti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53,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chopma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ekspert tanadagi chopma yarani ko‘rmoqda. Yaraning bir uchi o‘tkir, ikkinchi uchi o‘tmas va qo‘shimcha yoriqli.</a:t>
            </a:r>
          </a:p>
          <a:p>
            <a:pPr>
              <a:spcAft>
                <a:spcPts val="1200"/>
              </a:spcAft>
            </a:pPr>
            <a:r>
              <a:rPr sz="2200">
                <a:solidFill>
                  <a:srgbClr val="1F2937"/>
                </a:solidFill>
                <a:latin typeface="Calibri"/>
              </a:rPr>
              <a:t>▸  Savol: chopqi tanaga qay darajada kirgan? Javob: qisman. O‘tkir uch dam tomonida, o‘tmas uch chuqurroq kirgan qismda bo‘ladi.</a:t>
            </a:r>
          </a:p>
          <a:p>
            <a:pPr>
              <a:spcAft>
                <a:spcPts val="1200"/>
              </a:spcAft>
            </a:pPr>
            <a:r>
              <a:rPr sz="2200">
                <a:solidFill>
                  <a:srgbClr val="1F2937"/>
                </a:solidFill>
                <a:latin typeface="Calibri"/>
              </a:rPr>
              <a:t>▸  Diqqat: xato qilish xavfi. Faqat dam yoyi ta’sir etsa uchlari o‘tkir, chopqi to‘liq kirsa uchlari o‘tmas bo‘ladi.</a:t>
            </a:r>
          </a:p>
          <a:p>
            <a:pPr>
              <a:spcAft>
                <a:spcPts val="1200"/>
              </a:spcAft>
            </a:pPr>
            <a:r>
              <a:rPr sz="2200">
                <a:solidFill>
                  <a:srgbClr val="1F2937"/>
                </a:solidFill>
                <a:latin typeface="Calibri"/>
              </a:rPr>
              <a:t>▸  Voqea tafsiloti: chopma jarohatlar ko‘pincha baxtsiz hodisada hosil bo‘ladi. Qotillik va o‘z-o‘zini o‘ldirishda juda kam uchraydi.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54, 53-54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To‘rt tur jarohatni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Kesma yara uzun va sayoz bo‘ladi, tana bo‘shlig‘iga o‘tmaydi.</a:t>
            </a:r>
          </a:p>
          <a:p>
            <a:pPr>
              <a:spcAft>
                <a:spcPts val="800"/>
              </a:spcAft>
            </a:pPr>
            <a:r>
              <a:rPr sz="1800">
                <a:solidFill>
                  <a:srgbClr val="1F2937"/>
                </a:solidFill>
                <a:latin typeface="Calibri"/>
              </a:rPr>
              <a:t>▸  Sanchma yara chuqur, tashqi o‘lchami kichik; ichki qon ketish kuchliroq.</a:t>
            </a:r>
          </a:p>
          <a:p>
            <a:pPr>
              <a:spcAft>
                <a:spcPts val="800"/>
              </a:spcAft>
            </a:pPr>
            <a:r>
              <a:rPr sz="1800">
                <a:solidFill>
                  <a:srgbClr val="1F2937"/>
                </a:solidFill>
                <a:latin typeface="Calibri"/>
              </a:rPr>
              <a:t>▸  Chopma yara ko‘lamli; suyak va bosh miya ham shikastlanishi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00080"/>
                <a:gridCol w="2137692"/>
                <a:gridCol w="2250202"/>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Mexanizm va shakl</a:t>
                      </a:r>
                    </a:p>
                  </a:txBody>
                  <a:tcPr marL="73152" marR="73152" marT="36576" marB="36576">
                    <a:solidFill>
                      <a:srgbClr val="0B1F3A"/>
                    </a:solidFill>
                  </a:tcPr>
                </a:tc>
                <a:tc>
                  <a:txBody>
                    <a:bodyPr/>
                    <a:lstStyle/>
                    <a:p>
                      <a:r>
                        <a:rPr sz="1300" b="1">
                          <a:solidFill>
                            <a:srgbClr val="FFFFFF"/>
                          </a:solidFill>
                        </a:rPr>
                        <a:t>Chetlari va uchlari</a:t>
                      </a:r>
                    </a:p>
                  </a:txBody>
                  <a:tcPr marL="73152" marR="73152" marT="36576" marB="36576">
                    <a:solidFill>
                      <a:srgbClr val="0B1F3A"/>
                    </a:solidFill>
                  </a:tcPr>
                </a:tc>
              </a:tr>
              <a:tr h="411480">
                <a:tc>
                  <a:txBody>
                    <a:bodyPr/>
                    <a:lstStyle/>
                    <a:p>
                      <a:r>
                        <a:rPr sz="1200" b="0">
                          <a:solidFill>
                            <a:srgbClr val="1F2937"/>
                          </a:solidFill>
                        </a:rPr>
                        <a:t>Kesma</a:t>
                      </a:r>
                    </a:p>
                  </a:txBody>
                  <a:tcPr marL="73152" marR="73152" marT="36576" marB="36576">
                    <a:solidFill>
                      <a:srgbClr val="E8EEF6"/>
                    </a:solidFill>
                  </a:tcPr>
                </a:tc>
                <a:tc>
                  <a:txBody>
                    <a:bodyPr/>
                    <a:lstStyle/>
                    <a:p>
                      <a:r>
                        <a:rPr sz="1200" b="0">
                          <a:solidFill>
                            <a:srgbClr val="1F2937"/>
                          </a:solidFill>
                        </a:rPr>
                        <a:t>O‘tkir dam; urchuqsimon, yarim oysimon</a:t>
                      </a:r>
                    </a:p>
                  </a:txBody>
                  <a:tcPr marL="73152" marR="73152" marT="36576" marB="36576">
                    <a:solidFill>
                      <a:srgbClr val="E8EEF6"/>
                    </a:solidFill>
                  </a:tcPr>
                </a:tc>
                <a:tc>
                  <a:txBody>
                    <a:bodyPr/>
                    <a:lstStyle/>
                    <a:p>
                      <a:r>
                        <a:rPr sz="1200" b="0">
                          <a:solidFill>
                            <a:srgbClr val="1F2937"/>
                          </a:solidFill>
                        </a:rPr>
                        <a:t>Chetlari tekis; uchlari o‘tkir</a:t>
                      </a:r>
                    </a:p>
                  </a:txBody>
                  <a:tcPr marL="73152" marR="73152" marT="36576" marB="36576">
                    <a:solidFill>
                      <a:srgbClr val="E8EEF6"/>
                    </a:solidFill>
                  </a:tcPr>
                </a:tc>
              </a:tr>
              <a:tr h="411480">
                <a:tc>
                  <a:txBody>
                    <a:bodyPr/>
                    <a:lstStyle/>
                    <a:p>
                      <a:r>
                        <a:rPr sz="1200" b="0">
                          <a:solidFill>
                            <a:srgbClr val="1F2937"/>
                          </a:solidFill>
                        </a:rPr>
                        <a:t>Sanchma</a:t>
                      </a:r>
                    </a:p>
                  </a:txBody>
                  <a:tcPr marL="73152" marR="73152" marT="36576" marB="36576">
                    <a:solidFill>
                      <a:srgbClr val="FFFFFF"/>
                    </a:solidFill>
                  </a:tcPr>
                </a:tc>
                <a:tc>
                  <a:txBody>
                    <a:bodyPr/>
                    <a:lstStyle/>
                    <a:p>
                      <a:r>
                        <a:rPr sz="1200" b="0">
                          <a:solidFill>
                            <a:srgbClr val="1F2937"/>
                          </a:solidFill>
                        </a:rPr>
                        <a:t>O‘tkir uch; shakli jism kesimiga mos</a:t>
                      </a:r>
                    </a:p>
                  </a:txBody>
                  <a:tcPr marL="73152" marR="73152" marT="36576" marB="36576">
                    <a:solidFill>
                      <a:srgbClr val="FFFFFF"/>
                    </a:solidFill>
                  </a:tcPr>
                </a:tc>
                <a:tc>
                  <a:txBody>
                    <a:bodyPr/>
                    <a:lstStyle/>
                    <a:p>
                      <a:r>
                        <a:rPr sz="1200" b="0">
                          <a:solidFill>
                            <a:srgbClr val="1F2937"/>
                          </a:solidFill>
                        </a:rPr>
                        <a:t>Tekis; shilinish hoshiyasi mumkin</a:t>
                      </a:r>
                    </a:p>
                  </a:txBody>
                  <a:tcPr marL="73152" marR="73152" marT="36576" marB="36576">
                    <a:solidFill>
                      <a:srgbClr val="FFFFFF"/>
                    </a:solidFill>
                  </a:tcPr>
                </a:tc>
              </a:tr>
              <a:tr h="411480">
                <a:tc>
                  <a:txBody>
                    <a:bodyPr/>
                    <a:lstStyle/>
                    <a:p>
                      <a:r>
                        <a:rPr sz="1200" b="0">
                          <a:solidFill>
                            <a:srgbClr val="1F2937"/>
                          </a:solidFill>
                        </a:rPr>
                        <a:t>Sanchma-kesma</a:t>
                      </a:r>
                    </a:p>
                  </a:txBody>
                  <a:tcPr marL="73152" marR="73152" marT="36576" marB="36576">
                    <a:solidFill>
                      <a:srgbClr val="E8EEF6"/>
                    </a:solidFill>
                  </a:tcPr>
                </a:tc>
                <a:tc>
                  <a:txBody>
                    <a:bodyPr/>
                    <a:lstStyle/>
                    <a:p>
                      <a:r>
                        <a:rPr sz="1200" b="0">
                          <a:solidFill>
                            <a:srgbClr val="1F2937"/>
                          </a:solidFill>
                        </a:rPr>
                        <a:t>Uch va dam; bir damli jismda P-simon</a:t>
                      </a:r>
                    </a:p>
                  </a:txBody>
                  <a:tcPr marL="73152" marR="73152" marT="36576" marB="36576">
                    <a:solidFill>
                      <a:srgbClr val="E8EEF6"/>
                    </a:solidFill>
                  </a:tcPr>
                </a:tc>
                <a:tc>
                  <a:txBody>
                    <a:bodyPr/>
                    <a:lstStyle/>
                    <a:p>
                      <a:r>
                        <a:rPr sz="1200" b="0">
                          <a:solidFill>
                            <a:srgbClr val="1F2937"/>
                          </a:solidFill>
                        </a:rPr>
                        <a:t>Tekis, shilinishsiz; uchlari xilma-xil</a:t>
                      </a:r>
                    </a:p>
                  </a:txBody>
                  <a:tcPr marL="73152" marR="73152" marT="36576" marB="36576">
                    <a:solidFill>
                      <a:srgbClr val="E8EEF6"/>
                    </a:solidFill>
                  </a:tcPr>
                </a:tc>
              </a:tr>
              <a:tr h="411480">
                <a:tc>
                  <a:txBody>
                    <a:bodyPr/>
                    <a:lstStyle/>
                    <a:p>
                      <a:r>
                        <a:rPr sz="1200" b="0">
                          <a:solidFill>
                            <a:srgbClr val="1F2937"/>
                          </a:solidFill>
                        </a:rPr>
                        <a:t>Chopma</a:t>
                      </a:r>
                    </a:p>
                  </a:txBody>
                  <a:tcPr marL="73152" marR="73152" marT="36576" marB="36576">
                    <a:solidFill>
                      <a:srgbClr val="FFFFFF"/>
                    </a:solidFill>
                  </a:tcPr>
                </a:tc>
                <a:tc>
                  <a:txBody>
                    <a:bodyPr/>
                    <a:lstStyle/>
                    <a:p>
                      <a:r>
                        <a:rPr sz="1200" b="0">
                          <a:solidFill>
                            <a:srgbClr val="1F2937"/>
                          </a:solidFill>
                        </a:rPr>
                        <a:t>Zarb, katta massa; yoriqsimon, oval</a:t>
                      </a:r>
                    </a:p>
                  </a:txBody>
                  <a:tcPr marL="73152" marR="73152" marT="36576" marB="36576">
                    <a:solidFill>
                      <a:srgbClr val="FFFFFF"/>
                    </a:solidFill>
                  </a:tcPr>
                </a:tc>
                <a:tc>
                  <a:txBody>
                    <a:bodyPr/>
                    <a:lstStyle/>
                    <a:p>
                      <a:r>
                        <a:rPr sz="1200" b="0">
                          <a:solidFill>
                            <a:srgbClr val="1F2937"/>
                          </a:solidFill>
                        </a:rPr>
                        <a:t>Tekis/mayda tishli; uchi o‘tkir yoki o‘tmas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Yaralar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49, 50, 53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tezislar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Mexanik jarohatning asosiy sharti harakat. Jarohat ko‘lami harakatdagi omilning massasi va tezligiga to‘g‘ri proporsional.</a:t>
            </a:r>
          </a:p>
          <a:p>
            <a:pPr>
              <a:spcAft>
                <a:spcPts val="1200"/>
              </a:spcAft>
            </a:pPr>
            <a:r>
              <a:rPr sz="2200">
                <a:solidFill>
                  <a:srgbClr val="1F2937"/>
                </a:solidFill>
                <a:latin typeface="Calibri"/>
              </a:rPr>
              <a:t>▸  O‘tkir jismlarda to‘qimalar ajralishi birlamchi, jarohat doim bevosita. Ular kesuvchi, sanchuvchi, sanchuvchi-kesuvchi, chopuvchi bo‘ladi.</a:t>
            </a:r>
          </a:p>
          <a:p>
            <a:pPr>
              <a:spcAft>
                <a:spcPts val="1200"/>
              </a:spcAft>
            </a:pPr>
            <a:r>
              <a:rPr sz="2200">
                <a:solidFill>
                  <a:srgbClr val="1F2937"/>
                </a:solidFill>
                <a:latin typeface="Calibri"/>
              </a:rPr>
              <a:t>▸  Farqlash: kesma yara uzun va sayoz, sanchma yara chuqur, sanchma-kesma yara tekis chetli (P-simon), chopma yara ko‘lamli.</a:t>
            </a:r>
          </a:p>
          <a:p>
            <a:pPr>
              <a:spcAft>
                <a:spcPts val="1200"/>
              </a:spcAft>
            </a:pPr>
            <a:r>
              <a:rPr sz="2200">
                <a:solidFill>
                  <a:srgbClr val="1F2937"/>
                </a:solidFill>
                <a:latin typeface="Calibri"/>
              </a:rPr>
              <a:t>▸  Nazorat savoli: sanchma yarada chiqish teshigi kirish teshigidan qanday farq qiladi? Chopqi qisman kirganda yara uchlari qanday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29-30, 48, 49-53, 50,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o‘tkir jism tushunchasi. Jism chekkalari burchak hosil qilib, yoyning radiusi 0,1 mm va undan kichik bo‘lsa, u o‘tkir dam yoki o‘tkir uch hisoblanadi. O‘tmas jismdan farqli, bunda to‘qimalar avval ajraladi, keyin ezilishi mumkin.</a:t>
            </a:r>
          </a:p>
          <a:p>
            <a:pPr>
              <a:spcAft>
                <a:spcPts val="1200"/>
              </a:spcAft>
            </a:pPr>
            <a:r>
              <a:rPr sz="1800">
                <a:solidFill>
                  <a:srgbClr val="1F2937"/>
                </a:solidFill>
                <a:latin typeface="Calibri"/>
              </a:rPr>
              <a:t>▸  Hodisa tahlili: bitta osh pichog‘i uch xil yara qoldirishi mumkin. Ta’sir burchagi va mexanizmiga qarab sanchma, kesma yoki sanchma-kesma yara hosil bo‘ladi. Shuning uchun yaraning turiga qarab jismni emas, ta’sir mexanizmini baholash kerak.</a:t>
            </a:r>
          </a:p>
          <a:p>
            <a:pPr>
              <a:spcAft>
                <a:spcPts val="1200"/>
              </a:spcAft>
            </a:pPr>
            <a:r>
              <a:rPr sz="1800">
                <a:solidFill>
                  <a:srgbClr val="1F2937"/>
                </a:solidFill>
                <a:latin typeface="Calibri"/>
              </a:rPr>
              <a:t>▸  Farqlash usuli: kesma yarada uzunlik eni va chuqurligidan katta, tashqi qon ketish xos. Sanchma yarada tashqi o‘lcham chuqurlikdan kichik, ichki qon ketish esa tashqidan kuchliroq. Kesma yara uchidagi qo‘shimcha kesmalar “qaldirg‘och dumi”ni eslatadi.</a:t>
            </a:r>
          </a:p>
          <a:p>
            <a:pPr>
              <a:spcAft>
                <a:spcPts val="1200"/>
              </a:spcAft>
            </a:pPr>
            <a:r>
              <a:rPr sz="1800">
                <a:solidFill>
                  <a:srgbClr val="1F2937"/>
                </a:solidFill>
                <a:latin typeface="Calibri"/>
              </a:rPr>
              <a:t>▸  Eslab qolish: teshib o‘tuvchi sanchma yarada kirish teshigi kichikroq bo‘lib, chetida shilinish va ifloslanish hoshiyasi bo‘lishi mumkin. Chiqish teshigi kattaroq, chetida shilinish yo‘q yoki oz, ifloslanish yo‘q. Qisqacha: kirish kichik va iflos, chiqish katta va toza.</a:t>
            </a:r>
          </a:p>
          <a:p>
            <a:pPr>
              <a:spcAft>
                <a:spcPts val="1200"/>
              </a:spcAft>
            </a:pPr>
            <a:r>
              <a:rPr sz="1800">
                <a:solidFill>
                  <a:srgbClr val="1F2937"/>
                </a:solidFill>
                <a:latin typeface="Calibri"/>
              </a:rPr>
              <a:t>▸  Hodisa tahlili: chopma yaraning uchi chopqining kirish darajasini ko‘rsatadi. Chopqi to‘liq kirsa, uchlari o‘tmas bo‘lib, devorlarda ezilish bo‘ladi. Qisman kirsa, bir uchi o‘tkir, ikkinchisi o‘tmas bo‘ladi va qo‘shimcha yoriqlar paydo bo‘ladi.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Shaxsda a’zo va to‘qimalarning anatomik butunligi buzilgan, sababi esa tashqi emas, ichki ta’sirdir. Bu holat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 jarohati, chunki butunlik buzilgan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Kasallik, chunki sabab ichki ta’sirdir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Murakkab jarohat, chunki to‘qima shikastlangan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Funksional jarohat, chunki a’zo ishi buzilgan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Bemorda bosh miya chayqalishi va qorin sohasida qontalash aniqlandi. Bu shikastlanish tasnifda qanday ko‘rsatiladi?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Oddiy cheklangan yakka shikastlanish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Murakkab qo‘sh ko‘p shikastlanish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Oddiy qo‘sh ko‘p shikastlanish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Murakkab cheklangan yakka shikastlanish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Jabrlanuvchida kuchli qo‘rquv ta’sirida ruhiy o‘zgarishlar yuzaga kelgan. Bunday ta’sir natijalarini o‘rganish uchun qaysi ekspertiza tayinlanadi?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Sud-psixiatrik ekspertiza tayinlanadi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Sud-biologik ekspertiza tayinlanadi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Sud-kimyoviy ekspertiza tayinlanadi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Trasologik ekspertiza tayinlanadi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jism bir xil tezlikda harakatlanib tanaga urildi, ularning biri og‘irroq. Jarohat yaqqolligi va ko‘lami qanday farqlanadi?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Massa ta’sir qilmaydi, ko‘lam bir xil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Yengil jism kuchliroq jarohat qoldiradi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jism shakli ko‘lamni belgilab beradi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Og‘irroq jism kattaroq jarohat qoldiradi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Uy-ro‘zg‘or ishlarida qo‘llanadigan bolta bilan jarohat etkazildi. Mexanik jarohat etkazuvchi vositalar orasida bolta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Qurol, hujum uchun tayyorlangan mahsulot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Anjom, kundalik ishda qo‘llanadigan mahsulot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Jism, aniq maqsadi bo‘lmagan narsa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Holat, hodisa ko‘rinishidagi omil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Mexanik jarohatning yaqqolligi va ko‘lami harakatdagi omilning qaysi ko‘rsatkichlariga to‘g‘ri proporsional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Massasi va harakat tezligiga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Qattiqligi va rangiga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Shakli va saqlanish joyiga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Hajmi va ishlab chiqarilishiga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Tayoq bilan zarb berilganda jismning ta’sir yuzasi shikastlangan soha yuzasidan kichik chiqdi. Bu yuza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Cheklanmagan keng yuza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Cheklangan yuza deb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Murakkab shakldagi yuza deb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Silliq relefli yuza deb</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Jismning chekkalari hosil qilgan yoyning radiusi qancha bo‘lganda u o‘tkir dam yoki uch deb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0,1 mm dan katta bo‘lganda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0,5 mm va undan kichik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0,1 mm va undan kichik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mm va undan kichik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kesma yarada yara yo‘nalishi mushak tolalari yo‘nalishiga parallel ekanini aniqladi. Yara chetlari qanday ochiladi?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Chetlari yaqqol keng ochiladi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Chetlari butunlay yopiq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Chetlari tishsimon bo‘lib ochiladi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Chetlari kamroq ochilib turadi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Ustara bilan etkazilgan kesma yarali jabrlanganda qon ketishining qaysi turi xos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Ichki qon ketishi tashqidan kuchli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Tashqi qon ketishi xos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 ketishi umuman kuzatilmaydi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bo‘shliqqa qon quyiladi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Kesma yaraning uzunligi uning eni va chuqurligiga nisbatan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Eni va chuqurligiga teng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Eni va chuqurligidan ancha katta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Chuqurligidan ancha kichik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Eniga teng, chuqurligidan kichik bo‘ladi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Jabrlanganning bilak-kaft bo‘g‘imi ichki yuzasida yuzaki yaralar topildi. Yara chetlari tekis, shilinishsiz, uchlari o‘tkir, tana bo‘shlig‘iga o‘tmagan. Bu yara qaysi jism ta’siridan hosil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Chopuvchi jism ta’siridan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Sanchuvchi jism ta’siridan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O‘tmas jism ta’siridan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Kesuvchi jism ta’siridan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Sanchuvchi jism tanaga kirganda uning yon tomonlari atrofdagi to‘qimalarga qanday ta’sir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To‘qimalarni suradi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To‘qimalarni kesib ajratadi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To‘qimalarni ezib majaqlaydi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To‘qimalarni yirtib tortadi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sanchma yarani tekshirdi: yara oval, yoriqsimon, chetlari tekis, yaqinlashtirilganda chiziqsimon shaklni oladi. Jismning ko‘ndalang kesimi qanday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Uch qirrali kesimli jism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To‘rt qirrali kesimli jism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Oval yoki dumaloq kesimli jism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Ko‘p qirrali kesimli jism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Sanchuvchi jism tanaga qiya ta’sir etgan. Sanchma yara chetidagi shilinish va ifloslanish hoshiyasi qanday joylashadi?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Butun yara atrofida sirkulyar shaklda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O‘tkir burchak tomonida segmentar shaklda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yara tubida halqasimon shaklda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Yara atrofida umuman hosil bo‘lmaydi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tomonlama o‘tkir damli pichoq tanaga tikka emas, o‘tkir burchak ostida ta’sir qildi. Yara o‘lchami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Tikka ta’sirdagidan kichikroq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Tikka ta’sirdagidan kattaroq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Ta’sir burchagiga bog‘liq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chiqish teshigi hosil bo‘ladi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yarada bir uchi o‘tkir, ikkinchi uchi o‘tmas va biroz dumaloq, ‘P’ simon shaklni aniqladi. Qaysi jism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 tomoni o‘tkir damli xanjar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o‘tkir uchli bigiz yoki mix</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tomoni o‘tkir damli osh pichog‘i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Yassi cheklanmagan yuzali o‘tmas jism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Bolta chopqisining faqat old uchi tanaga kirdi. Chopma yaraning uchlari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uchi ham o‘tkir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uchi ham o‘tmas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Dam tomoni o‘tmas, chuqur tomoni o‘tkir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Dam tomoni o‘tkir, chuqur tomoni o‘tmas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Voqea tafsilotlari bo‘yicha chopma jarohatlar aksariyat holatlarda qanday hodisada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Baxtsiz hodisada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Qotillikda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O‘z-o‘zini o‘ldirishda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Jinoiy abortda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Chopqi kallaning gumbaz suyaklariga qiya ta’sir qildi. Suyakda qanday sinish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Yoriqsimon sinish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Siniqli sinish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Halqasimon sinish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Spiralsimon sinish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Kasallik, chunki sabab ichki ta’sirdir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Tashqi ta’sir natijasida anatomik butunlik yoki funksiya buzilsa, bu tan jarohati deyiladi. Xuddi shu holat ichki ta’sir tufayli yuzaga kelsa, kasallik deb tushuniladi.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Oddiy qo‘sh ko‘p shikastlanish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Bitta turdagi omil ta’sirida paydo bo‘lgani uchun jarohat oddiy. Ikki anatomik sohani qamragani uchun qo‘sh, soni ko‘p bo‘lgani uchun ko‘p shikastlanish hisoblanadi. Bu misol darslikda keltirilgan.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Sud-psixiatrik ekspertiza tayinlanadi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Shikastlovchi omillarning ruhiy turi natijalarini o‘rganish odatda sud psixiatriyasining predmeti bo‘lib, bunda sud-psixiatrik ekspertiza tayinlanadi.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Og‘irroq jism kattaroq jarohat qoldiradi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Jarohatning yaqqolligi va ko‘lami harakatdagi omilning massasi hamda tezligiga to‘g‘ri proporsionaldir. Tezlik teng bo‘lsa, massasi katta jism kattaroq jarohat etkazadi.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29-30-bet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Anjom, kundalik ishda qo‘llanadigan mahsulot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Ishlab chiqarish, uy-ro‘zg‘or yoki kundalik hayotda ishlatiladigan mahsulotlar (bolta, arra, qaychi) anjom hisoblanadi. Qurol hujum yoki mudofaa uchun maxsus tayyorlanadi, jismning esa aniq qo‘llanilish maqsadi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Massasi va harakat tezligiga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 yaqqolligi va ko‘lami ta’sir vaqtidagi kinetik energiyaga bog‘liq. Bu energiya harakatdagi omilning massasi va tezligi bilan belgilanadi, shuning uchun jarohat shu ikki ko‘rsatkichga to‘g‘ri proporsional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29-30-bet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Cheklangan yuza deb</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Cheklangan va cheklanmagan yuzaga bo‘lish nisbiy bo‘lib, shikastlovchi va shikastlanuvchi yuzalarning nisbatiga qarab belgilanadi. Jismning yuzasi shikastlangan soha yuzasidan kichik bo‘lsa, u cheklangan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33-bet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0,1 mm va undan kichik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O‘tkir jismning chekkalari bir-biri bilan burchak hosil qiladi. Yoyning radiusi 0,1 mm va undan kichik bo‘lsa, bunday dam yoki uch o‘tkir deb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48-bet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Chetlari kamroq ochilib turadi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Yara chetlarining ochilish darajasi biriktiruvchi va mushak tolalarining yo‘nalishiga bog‘liq. Yara va tolalar bir-biriga qanchalik parallel bo‘lsa, chekkalar shunchalik kam ochiladi.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48-bet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Tashqi qon ketishi xos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Kesma yaralar odatda chuqur bo‘lmaydi va tana bo‘shliqlariga o‘tmaydi, ular uchun tashqi qon ketish xos. Ichki qon ketishning kuchliroq bo‘lishi esa sanchma yaralarga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49-bet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Eni va chuqurligidan ancha katta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Kesma yaralarda uzunlik eni va chuqurligidan ancha katta bo‘ladi. Aksincha, sanchma yaralarda tashqi o‘lchamlar chuqurligidan kichik bo‘ladi. Shuning uchun bu xususiyat kesma yarani sanchma yaradan ajratishga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49-bet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Kesuvchi jism ta’siridan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Kesuvchi jismning (ustara, uchsiz pichoq) o‘tkir dami kesma yara hosil qiladi. Bunday yaraning chetlari tekis, shilinishsiz, uchlari o‘tkir bo‘ladi. Yara odatda chuqur bo‘lmaydi va tana bo‘shliqlariga o‘tmaydi.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48-49-bet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To‘qimalarni suradi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Sanchuvchi jismning o‘tkir uchi to‘qimalarni ajratadi. Jism tanaga kirgan sari yon tomonlari atrofdagi to‘qimalarni suradi va sanchma yara hosil bo‘ladi. Kesib ajratish esa sanchuvchi-kesuvchi jismning o‘tkir damiga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49-50-bet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Oval yoki dumaloq kesimli jism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Sanchma yaraning shakli jismning ko‘ndalang kesimiga bog‘liq. Kesim oval yoki dumaloq bo‘lsa, yara oval, yoriqsimon, chetlari tekis bo‘ladi. Uch va undan ko‘p qirrali jism esa “G”, “T”, “P”, “U” shaklidagi, uchlari o‘tkir yara hosil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50-bet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O‘tkir burchak tomonida segmentar shaklda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Sanchuvchi jism tikka ta’sir etganda hoshiya sirkulyar bo‘ladi. Qiya ta’sirda esa u o‘tkir burchak tomonida segmentar shaklda bo‘ladi. Bu belgilar jismning kesimi 5 mmdan katta bo‘lganda yaqqolroq ko‘rinadi.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50-bet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Tikka ta’sirdagidan kattaroq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Sanchuvchi-kesuvchi jism tig‘i tanaga tikkaroq ta’sir etsa, yara o‘lchami kichikroq bo‘ladi. Ta’sir burchagi o‘tkir bo‘lsa, kattaroq o‘lchamdagi yaralar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51-bet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Bir tomoni o‘tkir damli osh pichog‘i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 tomoni o‘tkir damli jism odatda uzunchoq ponasimon, chetlari tekis, bir uchi o‘tkir, ikkinchi uchi o‘tmas ‘P’ simon yara hosil qiladi. Ikki tomoni o‘tkir damli jismda esa ikkala uch o‘tkir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51-bet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Dam tomoni o‘tkir, chuqur tomoni o‘tmas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Chopqi qisman kirganda yaraning o‘tkir damga mos uchi o‘tkir bo‘ladi. Chopqining chuqurroq kirgan qismiga mos uchi esa o‘tmas bo‘lib, qo‘shimcha yoriqlar bilan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54-bet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Baxtsiz hodisada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Chopma jarohatlar ko‘pincha baxtsiz hodisalarda hosil bo‘ladi. Qotillik va o‘z-o‘zini o‘ldirishda chopuvchi jismlardan shikastlanish juda 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54-bet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Siniqli sinish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Chopuvchi jism kallaning gumbaz suyaklariga tikka ta’sir qilsa yoriqsimon, qiya ta’sir qilsa siniqli sinishlar vujudga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54-bet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Mexanikomillarning ta’sir etish sharoitlari. Kesma, sanchma, kesma-sanchma va Chopma jaroh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2. Sud-tibbiy travmatologiya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