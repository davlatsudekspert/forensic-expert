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O‘q otar jarohatning asosiy ta’rifiy belgisi nima? 2) Nega kam uchraydigan jarohatlarga alohida e’tibor beriladi? Doskada chizish: «Porox gazlari energiyasi → snaryad → jarohat» zanjirini chizdiring. Tipik xato: portlash jarohatlarini o‘q otar jarohatlardan butunlay tashqarida deb o‘ylash. Tezkor savol: portlovchi moddalardan shikastlanish qaysi toifaga kiradi?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Kichik massa va katta tezlik jarohat xarakteriga qanday ta’sir qilishi mumkin? 2) Mexanikdan tashqari qaysi ta’sir turlari bor? Doskada chizish: o‘tmas/o‘tkir jism va o‘q otar qurol uchun to‘rt belgili solishtirma ro‘yxat. Tipik xato: o‘q otar jarohatni faqat mexanik shikast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Jang va tinchlik davrida qaysi jarohatlar ko‘proq uchraydi? 2) Nega tinchlik davrida ikkala guruh ham muhim? Doskada chizish: jadvalni o‘zlari qayta chizsin. Tipik xato: jang sharoitidagi jarohatlarni tinchlik davri ekspertizasiga aloqasiz deb bilish. Tezkor savol: shartli ikki guruhni ayting.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sud-tibbiy ekspertizada tipik va atipik qurolni farqlash kerak? 2) Individual va guruhiy qurol farqi nimada? Doskada chizish: qurollar tasnifi daraxtini (jangovor, ov, sport, gaz, maxsus; jangovor ichida artillerik va xususan) chizdiring. Tipik xato: atipik qurolni faqat qo‘lbola deb o‘ylash, aslida zavod quroli o‘zgartirilgan bo‘lishi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O‘yiqlar nima uchun kerak? 2) Silliq stvolli ov qurolida kalibr qanday belgilanadi? Doskada chizish: silliq va o‘yiqli stvolning ko‘ndalang kesimini chizib, kalibrni (qarama-qarshi o‘yiqlararo yuzalar orasidagi masofa) ko‘rsating. Tipik xato: silliq stvolli qurol kalibrini millimetr bilan o‘lchanadi deb o‘ylash; manbada u shar o‘qlar soni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og‘zaki bering, javobni slayddan yashirib turing. Muhokama: 1) Tipik va atipik qurol jarohat xususiyatiga qanday ta’sir qilishi mumkin? 2) Kalibr guruhlarini kim eslaydi? Doskada chizish: stvol uzunligi bo‘yicha uch guruhni qurol misollari bilan yozdiring. Tipik xato: pistolet-pulemetni kalta stvolli deb belgilash; u o‘rta uzunlikdagi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kapsyul tarkibida uch xil komponent bor? 2) Gilza ichidagi qismlarni kim sanab beradi? Doskada: patron kesimini chizib, 1-snaryad, 2-gilza, 3-kapsyul, 4-porox raqamlarini qo‘ying. Tipik xato: talabalar patron, gilza va o‘qni bir xil tushuncha deb oladi. Patron butun to‘plam, gilza esa uning korpusi.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maxsus o‘qni qaysi modda bilan bog‘laysiz? 2) Gaz hajmi farqi o‘q uchish masofasiga qanday ta’sir qiladi? Doskada: ikki ustunli solishtirish chizing, qora porox va tutunsiz porox, ularning tarkibi va qo‘llanishi. Tipik xato: qora va tutunsiz poroxning qo‘llanish sohasi aralashtiriladi. Qora porox ov va signal qurollarida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Tiqinlar qanday vazifa bajaradi? 2) Sochma va kartechni nima ajratadi? Doskada: sochmali patron kesimini qatlam tartibida chizing, gilza, kapsyul, porox, tiqin, sochma. Tipik xato: sochmali patron tuzilishini jangovar unitar patron bilan bir xil deb o‘ylash. Sochmali patronda tiqinlar va sochmalar bor.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Qurolning tipik yoki atipikligi ekspertiza uchun nimani anglatadi? 2) O‘yiqli va silliq stvolni qanday farqlaymiz? Doskada: stvolning ko‘ndalang kesimini (silliq va o‘yiqli) chizdiring. Javob: silliq stvolli ov qurolida patron o‘qli yoki sochmali bo‘ladi. Sochma diametri 1-5,5 mm, bundan kattasi kartech. Tipik xato: o‘yiqli stvolni silliq stvolli ov qurolidan farqlamaslik va ularning kalibrini bir xil usulda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Qo‘shimcha omillar qaysi holatlarga bog‘liq (qurol tuzilishi, to‘siq, shikastlanayotgan yuza)? 2) Nega stvol yorilishi qo‘lbola qurolda xavfliroq? Doskada: omillar jadvalini talabalar bilan birga to‘ldiring. Tipik xato: kiyim bo‘lagi yoki suyak bo‘lagini asosiy snaryad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Energiya kamayishi bilan yara shakli qanday o‘zgaradi? 2) Chiqish teshigida ponasimon ta’sir nega ko‘p uchraydi? Doskada: energiya zinapoyasini (ming joul, yuz joul, o‘n joul) chizib, har pog‘onaga yara shaklini yozdiring. Qo‘shimcha: yorma ta’sir tirab otishda va maxsus o‘qlarda ham bo‘lishi mumkin. Tipik xato: yulma ta’sirni yorma ta’sir bilan aralashtirish (defekt bor yoki yo‘q).</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porox gazlarining ta’sir masofasi (10–15 sm) o‘qoldi havonikidan (3–5 sm) uzoqroq? 2) Pushti tus qaysi pigmentlar hisobiga hosil bo‘ladi? Doskada chizing: stvol uchidan nishongacha shkala; 3–5, 3–10 va 10–15 sm oraliqlarni belgilang. Tipik xato: alanga (termik) ta’sirini porox gazlarining mexanik ta’siri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yopiq daftar bilan so‘rang. Muhokama: 1) Nima uchun chiqish teshigida odatda to‘qima defekti bo‘lmaydi? 2) Yorma ta’sir qanday hollarda uchraydi? Doskada chizing: uch ta’sirning yara shakllari (yirtiq, dumaloq defektli, yulduzsimon). Tipik xato: energiya darajalarini (ming, yuz, o‘n joul)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masofani faqat jarohatga qarab aniq aytib bo‘lmaydi? 2) Eksperimentda qanday ob’ektlar tanlanadi? Doskada chizing: ikki xil qurol uchun bir xil distansiyaning turli masofalarini ko‘rsating (A ≠ B). Tipik xato: ‘distansiya’ va ‘masofa’ so‘zlarini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germetik tirab otishda terida stvol uchiga mos iz qoladi? Qiyalab otishda yoriqlar nega faqat bir tomonda? Doskada: uch turdagi kirish teshigi sxemasini chizdiring. Tipik xato: shtansmarkani har qanday tirab otishda bo‘ladi deb o‘ylash; u faqat to‘liq germetik tirab otishda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1-zonada kirish yarasi atrofida nima uchun kuyish va yoriqlar bo‘ladi? Qurol turi zona uzunligiga qanday ta’sir qiladi? Doskada: uch zonani konsentrik doiralar ko‘rinishida chizdiring. Tipik xato: distansiya (belgilar majmui) bilan masofani (sm)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kiyim yoki eshik orqali otilganda tanadagi jarohatda qo‘shimcha omillar nega topilmasligi mumkin? Ekspert buni qanday hisobga olishi kerak? Doskada: o‘q yo‘li, to‘siq va qo‘shimcha omillar qolgan joyni chizdiring. Tipik xato: tanada qo‘shimcha omil yo‘q degan sababli har doim yaqin bo‘lmagan distansiya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o‘q ortidan qurum nishongacha yetib boradi (o‘q ortida bosimi past bo‘shliq hosil bo‘ladi)? 2) Qaysi shartlar buzilsa fenomen rivojlanmaydi? Doskada: o‘q, uning ortidagi bo‘shliq va ikki qavat kiyim sxemasini chizdiring, qurum joylarini belgilang. Tipik xato: talabalar qurum topilgan hamma holatni yaqin distansiya deb hisoblaydi; qurum qaysi qavatda ekanini ko‘rsatish kerak.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Teshik atrofida qurum ham topilsa, qaysi zona deb baho berasiz? 2) Nega faqat belgilar bo‘yicha santimetrdagi masofani aytib bo‘lmaydi? Doskada: uch zonani chiziq ustida belgilab, har biriga qo‘shimcha omillarni yozing. Tipik xato: distansiya va masofani bir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o‘q tegmagan to‘qimada ham o‘zgarishlar bo‘ladi? 2) Ritmik bosim fazalari o‘qning chuqurroq kirishiga qanday sharoit yaratadi? Doskada: yara kanalini va uning atrofidagi uch zonani konsentrik chiziqlar bilan chizdiring. Tipik xato: faqat yara kanalini jarohat deb hisoblash, lat yeyish va chayqalish zonalarini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Ko‘r va yalama jarohat nimasi bilan farq qiladi? 2) Uzlukli kanal nima uchun hayotiylik belgisi? Doskada: uch xil yara (teshib o‘tar, ko‘r, yalama) sxemasini chizdiring. Tipik xato: talabalar ko‘r yarani yalama jarohat bilan aralashtiradi. Diqqat: ko‘r yarada snaryad tanada qoladi, yalamada tanaga to‘liq kirmaydi. Qo‘shimcha: yupqa sohalarda (bilak, ko‘krak) bitta o‘qdan ikkita kirish va ikkita chiqish teshigi ham hosil bo‘lishi mumkin (manba, 90-bet).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chiqish teshigi chetlari tashqariga qayriladi? 2) Qaysi belgi bo‘yicha yara kanali yo‘nalishi taxmin qilinadi? Doskada: kirish va chiqish teshigining yon kesimini chizdiring (to‘qima defekti konusi uchi qaysi tomonga qaraydi). Tipik xato: yulduzsimon yarani avtomatik kirish teshigi deb hisoblash; u chiqish uchun xos. Eslab qolish: kirish – tekis va ichkariga, chiqish – notekis va tashqariga.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suyakdagi defekt shaklidan o‘q yo‘nalishini aniqlash mumkin? 2) Shilinish va ifloslanish hoshiyalari nimadan hosil bo‘ladi? Doskada: yassi suyakda kesik konusni (kichik va katta asos) chizdiring. Tipik xato: shilinish hoshiyasi bilan ifloslanish hoshiyasini bitta narsa deb o‘ylash. Aslida shilinish – ishqalanish natijasi, ifloslanish – qurum va moy izi. Tezkor savol: kesik konusning katta asosi qaysi tomonda?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kirish teshigida shilinish hoshiyasi hosil bo‘ladi? 2) Qaysi hollarda chiqish teshigida ham defekt bo‘lishi mumkin (bilak, elka)? Doskada: kirish va chiqish teshigini yonma-yon sxematik chizdiring, chetlarining qayrilish yo‘nalishini ko‘rsating. Tipik xato: talabalar chiqish teshigini doim kichik deb o‘ylaydi, aslida u odatda kattaroq bo‘ladi.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Masofa ortganda sochmalar nega yoyiladi? 2) Bo‘sh patron tirab otilsa nega xavfli? Doskada: stvoldan nishongacha masofa chizig‘ini chizib, kompakt, nisbiy tarqalma va tarqalma zonalarini belgilang. Tipik xato: snaryadsiz patronni mutlaqo zararsiz deb hisoblash; tirab otilganda u o‘limga olib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Gaz quroli jabrlanganida shifokor sud ekspertizasi uchun nimalarni hujjatlashtirishi kerak? 2) Pnevmatik qurol jarohati qaysi distansiyadagi o‘q otar jarohatga o‘xshaydi? Doskada: ikki ustunli taqqoslash (gaz quroli va pnevmatik qurol): ta’sir manbai, masofa, yara turi. Tipik xato: pnevmatik qurolni porox gazlari bilan ishlaydi deb o‘ylash; u siqilgan havo ishlatadi, shuning uchun qo‘shimcha omil belgilari bo‘lmaydi.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Ekspertiza oldiga qanday 8 ta asosiy savol qo‘yiladi? 2) Jarohatlar ketma-ketligini qaysi belgilar ko‘rsatadi? Doskada chizing: ikki jarohat atrofida qon quyilish, qurum va moy miqdorini solishtiruvchi sodda jadval. Tipik xato: distansiya va masofani aralashtirish, avtomatik qurolda har bir o‘qning alohida distansiyasini aniqlash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jarrohlikdan keyin jarohat belgilari yo‘qolishi mumkin? 2) To‘q rangli kiyimda qaysi usul qo‘llanadi? Doskada chizing: usul va u aniqlaydigan belgi juftliklari jadvalini. Tipik xato: UB va IQ nurlarning vazifasini almashtirish (UB oz qurum va moy uchun, IQ to‘q kiyim uchun).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Qurum va qon izlari nimaga ishora qiladi? 2) Kanal yo‘nalishi va distansiya o‘z-o‘ziga yetkazishga mosmi? Doskada chizing: jabrlangan, qurol va kanal yo‘nalishining sodda chizmasi. Tipik xato: faqat qurum yoki qon izi asosida qat’iy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modda yopiq muhitda boshqacha yonadi? 2) Tasodifiy portlashga kundalik hayotdan misol keltiring. Doskada chizish: yonish va detonatsiya tezligi hamda bosimini ikki ustunli solishtirish. Tipik xato: talabalar yonish va detonatsiyani bir xil jarayon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porox detonatsiyaga uchramaydi va patronda ishlatiladi? 2) Kapsyulda nega aynan sezgir modda kerak? Doskada chizish: birlamchi → ikkilamchi zanjirini (detonator → asosiy zaryad) sxemada ko‘rsating. Tipik xato: poroxni brizant modda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 omil bir necha turdagi shikast berishi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Portlash markaziga qaragan va qarama-qarshi tana yuzasida qanday jarohatlar kutiladi? 2) Ikkilamchi snaryad nima? Doskada chizish: beshta omilni to‘rt ta’sir turiga (mexanik, termik, kimyoviy, baroakustik) o‘q bilan bog‘lang. Tipik xato: ikkilamchi snaryadni portlovchi moslamaning o‘z bo‘lagi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Jarohat ko‘lami portlashdagi bosimga bog‘liq.</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kontaktda zarb to‘lqini asosiy omillar qatorida ko‘rsatilmagan? 2) Distansiya o‘sgani sari omillar qanday kamayadi? Doskada: portlash markazidan chiqqan to‘rtta konsentrik doira chizib, har biriga omillarni yozing. Tipik xato: yaqin va nisbatan yaqin distansiyani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Ballon va bug‘ qozoni portlashidagi jarohat turlarini solishtiring. 2) Zaryadsiz portlashda ekspert qaysi omillarni so‘rab aniqlaydi? Doskada: uch ustunli sxema (ballon, bug‘ qozoni, gaz/un kukuni) va yetakchi jarohat turini yozdirish. Tipik xato: zaryadsiz portlashda ham portlovchi modda gazlari ta’sir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Zaryadsiz moslamalar: gaz ballon, bug‘ qozon, gaz, ko‘mir va un kukuni portlashi.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masofani faqat eksperiment bilan aniqlash mumkin? 2) Pediatr jarohatni qanday hujjatlashtirishi kerak? Doskada: ‘distansiya’ va ‘masofa’ ustunlarini chizib, farqini yozdiring. Tipik xato: distansiya va masofani bir xil tushuncha deb hisoblash.</a:t>
            </a:r>
          </a:p>
          <a:p/>
          <a:p>
            <a:r>
              <a:t>Tekshirish kerak (manbada noaniq):</a:t>
            </a:r>
          </a:p>
          <a:p>
            <a:r>
              <a:t>- Nazorat savollari: o‘q otar jarohatning boshqa mexanik jarohatdan farqi; patron tuzilishi; distansiya va masofa farqi.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O‘q otar qurollardan yetkazilgan jarohatlardan o‘lim hollarida sud-tibbiy ekspertiza. Portlash travmasi.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o‘q otar jarohat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 — shikastlovchi omil (snaryad) porox gazlari energiyasi hisobiga harakatga keltirilgan quroldan etkazilgan shikastlanishdir.</a:t>
            </a:r>
          </a:p>
          <a:p>
            <a:pPr>
              <a:spcAft>
                <a:spcPts val="1200"/>
              </a:spcAft>
            </a:pPr>
            <a:r>
              <a:rPr sz="2200">
                <a:solidFill>
                  <a:srgbClr val="1F2937"/>
                </a:solidFill>
                <a:latin typeface="Calibri"/>
              </a:rPr>
              <a:t>▸  Artillerik snaryad, mina, granata portlashidan hamda turli portlovchi moddalardan etkazilgan shikastlanishlar ham o‘q otar jarohatlar qatoriga kiradi.</a:t>
            </a:r>
          </a:p>
          <a:p>
            <a:pPr>
              <a:spcAft>
                <a:spcPts val="1200"/>
              </a:spcAft>
            </a:pPr>
            <a:r>
              <a:rPr sz="2200">
                <a:solidFill>
                  <a:srgbClr val="1F2937"/>
                </a:solidFill>
                <a:latin typeface="Calibri"/>
              </a:rPr>
              <a:t>▸  Amaliyotda bunday jarohatlar o‘tmas va o‘tkir jismlardan jarohatlarga qaraganda kam uchraydi, lekin huquqni muhofaza idoralari ularni atroflicha tekshiradi.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jarohatlar o‘tmas va o‘tkir jismlardan farqli o‘laroq, qurol va aslahalarning tuzilish xususiyatlari bilan bog‘liq bo‘ladi.</a:t>
            </a:r>
          </a:p>
          <a:p>
            <a:pPr>
              <a:spcAft>
                <a:spcPts val="1200"/>
              </a:spcAft>
            </a:pPr>
            <a:r>
              <a:rPr sz="2200">
                <a:solidFill>
                  <a:srgbClr val="1F2937"/>
                </a:solidFill>
                <a:latin typeface="Calibri"/>
              </a:rPr>
              <a:t>▸  Shikastlovchi snaryad nisbatan kichik massaga ega, lekin juda katta tezlikda harakatlanadi.</a:t>
            </a:r>
          </a:p>
          <a:p>
            <a:pPr>
              <a:spcAft>
                <a:spcPts val="1200"/>
              </a:spcAft>
            </a:pPr>
            <a:r>
              <a:rPr sz="2200">
                <a:solidFill>
                  <a:srgbClr val="1F2937"/>
                </a:solidFill>
                <a:latin typeface="Calibri"/>
              </a:rPr>
              <a:t>▸  Jarohat katta masofadan ham etkazilishi mumkin.</a:t>
            </a:r>
          </a:p>
          <a:p>
            <a:pPr>
              <a:spcAft>
                <a:spcPts val="1200"/>
              </a:spcAft>
            </a:pPr>
            <a:r>
              <a:rPr sz="2200">
                <a:solidFill>
                  <a:srgbClr val="1F2937"/>
                </a:solidFill>
                <a:latin typeface="Calibri"/>
              </a:rPr>
              <a:t>▸  Diqqat: mexanik omildan tashqari termik, kimyoviy va boshqa turdagi ta’sirlar ham bo‘ladi, shuning uchun faqat mexanik shikastni qidirish yetarli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tibbiyotidagi ikki guruh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Shikastlanishlar shartli ravishda ikki guruhga bo‘linadi: o‘q otar jarohatlar va portlash travmasi.</a:t>
            </a:r>
          </a:p>
          <a:p>
            <a:pPr>
              <a:spcAft>
                <a:spcPts val="800"/>
              </a:spcAft>
            </a:pPr>
            <a:r>
              <a:rPr sz="1800">
                <a:solidFill>
                  <a:srgbClr val="1F2937"/>
                </a:solidFill>
                <a:latin typeface="Calibri"/>
              </a:rPr>
              <a:t>▸  Snaryad, mina, granata portlashi jarohatlari asosan jang harakatlari sharoitida kuzatiladi.</a:t>
            </a:r>
          </a:p>
          <a:p>
            <a:pPr>
              <a:spcAft>
                <a:spcPts val="800"/>
              </a:spcAft>
            </a:pPr>
            <a:r>
              <a:rPr sz="1800">
                <a:solidFill>
                  <a:srgbClr val="1F2937"/>
                </a:solidFill>
                <a:latin typeface="Calibri"/>
              </a:rPr>
              <a:t>▸  Tinchlik davrida ekspertiza uchun o‘q otar qurol va portlash hollari ahamiyatli.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O‘q otar jarohatlar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Qurollardan etkazilgan shikast</a:t>
            </a:r>
          </a:p>
          <a:p>
            <a:pPr algn="l">
              <a:spcAft>
                <a:spcPts val="700"/>
              </a:spcAft>
            </a:pPr>
            <a:r>
              <a:rPr sz="1500" b="1">
                <a:solidFill>
                  <a:srgbClr val="C9A227"/>
                </a:solidFill>
                <a:latin typeface="Calibri"/>
              </a:rPr>
              <a:t>●  </a:t>
            </a:r>
            <a:r>
              <a:rPr sz="1500" b="0">
                <a:solidFill>
                  <a:srgbClr val="1F2937"/>
                </a:solidFill>
                <a:latin typeface="Calibri"/>
              </a:rPr>
              <a:t>Tinchlik davrida ham muhim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Portlash travmasi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Portlash hollaridagi shikast</a:t>
            </a:r>
          </a:p>
          <a:p>
            <a:pPr algn="l">
              <a:spcAft>
                <a:spcPts val="700"/>
              </a:spcAft>
            </a:pPr>
            <a:r>
              <a:rPr sz="1500" b="1">
                <a:solidFill>
                  <a:srgbClr val="C9A227"/>
                </a:solidFill>
                <a:latin typeface="Calibri"/>
              </a:rPr>
              <a:t>●  </a:t>
            </a:r>
            <a:r>
              <a:rPr sz="1500" b="0">
                <a:solidFill>
                  <a:srgbClr val="1F2937"/>
                </a:solidFill>
                <a:latin typeface="Calibri"/>
              </a:rPr>
              <a:t>Jangda: snaryad, mina, granata</a:t>
            </a:r>
          </a:p>
          <a:p>
            <a:pPr algn="l">
              <a:spcAft>
                <a:spcPts val="700"/>
              </a:spcAft>
            </a:pPr>
            <a:r>
              <a:rPr sz="1500" b="1">
                <a:solidFill>
                  <a:srgbClr val="C9A227"/>
                </a:solidFill>
                <a:latin typeface="Calibri"/>
              </a:rPr>
              <a:t>●  </a:t>
            </a:r>
            <a:r>
              <a:rPr sz="1500" b="0">
                <a:solidFill>
                  <a:srgbClr val="1F2937"/>
                </a:solidFill>
                <a:latin typeface="Calibri"/>
              </a:rPr>
              <a:t>Tinchlik davrida ham muhim</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guruh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Maqsadi bo‘yicha qurollar jangovor, ov, sport, gaz va maxsus turlarga bo‘linadi.</a:t>
            </a:r>
          </a:p>
          <a:p>
            <a:pPr>
              <a:spcAft>
                <a:spcPts val="800"/>
              </a:spcAft>
            </a:pPr>
            <a:r>
              <a:rPr sz="1800">
                <a:solidFill>
                  <a:srgbClr val="1F2937"/>
                </a:solidFill>
                <a:latin typeface="Calibri"/>
              </a:rPr>
              <a:t>▸  Maxsus zavodda tayyorlangani tipik, qo‘lbola yoki o‘zgartirilgani atipik qurol deyiladi.</a:t>
            </a:r>
          </a:p>
          <a:p>
            <a:pPr>
              <a:spcAft>
                <a:spcPts val="800"/>
              </a:spcAft>
            </a:pPr>
            <a:r>
              <a:rPr sz="1800">
                <a:solidFill>
                  <a:srgbClr val="1F2937"/>
                </a:solidFill>
                <a:latin typeface="Calibri"/>
              </a:rPr>
              <a:t>▸  Jangovor qurol artillerik va xususan turga bo‘linadi; xususan qurol individual yoki guruhiy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O‘q otar qurollar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Maqsadi bo‘yicha</a:t>
            </a:r>
          </a:p>
          <a:p>
            <a:pPr algn="l">
              <a:spcAft>
                <a:spcPts val="0"/>
              </a:spcAft>
            </a:pPr>
            <a:r>
              <a:rPr sz="1200" b="0">
                <a:solidFill>
                  <a:srgbClr val="1F2937"/>
                </a:solidFill>
                <a:latin typeface="Calibri"/>
              </a:rPr>
              <a:t>Jangovor, ov, sport  ·  Gaz va maxsus</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Tipik</a:t>
            </a:r>
          </a:p>
          <a:p>
            <a:pPr algn="l">
              <a:spcAft>
                <a:spcPts val="0"/>
              </a:spcAft>
            </a:pPr>
            <a:r>
              <a:rPr sz="1200" b="0">
                <a:solidFill>
                  <a:srgbClr val="1F2937"/>
                </a:solidFill>
                <a:latin typeface="Calibri"/>
              </a:rPr>
              <a:t>Maxsus zavodda tayyorlangan</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Atipik</a:t>
            </a:r>
          </a:p>
          <a:p>
            <a:pPr algn="l">
              <a:spcAft>
                <a:spcPts val="0"/>
              </a:spcAft>
            </a:pPr>
            <a:r>
              <a:rPr sz="1200" b="0">
                <a:solidFill>
                  <a:srgbClr val="1F2937"/>
                </a:solidFill>
                <a:latin typeface="Calibri"/>
              </a:rPr>
              <a:t>Qo‘lbola yoki o‘zgartirilgan</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Jangovor qurol</a:t>
            </a:r>
          </a:p>
          <a:p>
            <a:pPr algn="l">
              <a:spcAft>
                <a:spcPts val="0"/>
              </a:spcAft>
            </a:pPr>
            <a:r>
              <a:rPr sz="1200" b="0">
                <a:solidFill>
                  <a:srgbClr val="1F2937"/>
                </a:solidFill>
                <a:latin typeface="Calibri"/>
              </a:rPr>
              <a:t>Artillerik va xususan</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Xususan qurol</a:t>
            </a:r>
          </a:p>
          <a:p>
            <a:pPr algn="l">
              <a:spcAft>
                <a:spcPts val="0"/>
              </a:spcAft>
            </a:pPr>
            <a:r>
              <a:rPr sz="1200" b="0">
                <a:solidFill>
                  <a:srgbClr val="1F2937"/>
                </a:solidFill>
                <a:latin typeface="Calibri"/>
              </a:rPr>
              <a:t>Individual: miltiq, pistolet  ·  Guruhiy: pulemet</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Qurollar tasnifi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Stvol — metall naycha; undagi yuqori bosim snaryadni nishon tomon harakatlantiradi.</a:t>
            </a:r>
          </a:p>
          <a:p>
            <a:pPr>
              <a:spcAft>
                <a:spcPts val="800"/>
              </a:spcAft>
            </a:pPr>
            <a:r>
              <a:rPr sz="1800">
                <a:solidFill>
                  <a:srgbClr val="1F2937"/>
                </a:solidFill>
                <a:latin typeface="Calibri"/>
              </a:rPr>
              <a:t>▸  O‘yiqlar o‘qqa aylanma harakat beradi, shu sababli o‘qning tezligi, uchish uzoqligi va aniqligi ortadi.</a:t>
            </a:r>
          </a:p>
          <a:p>
            <a:pPr>
              <a:spcAft>
                <a:spcPts val="800"/>
              </a:spcAft>
            </a:pPr>
            <a:r>
              <a:rPr sz="1800">
                <a:solidFill>
                  <a:srgbClr val="1F2937"/>
                </a:solidFill>
                <a:latin typeface="Calibri"/>
              </a:rPr>
              <a:t>▸  Silliq stvolli ov qurolida kalibr soni katta bo‘lsa, stvol kanalining diametri kichikroq bo‘ladi.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Mayda kalibr</a:t>
            </a:r>
          </a:p>
          <a:p>
            <a:pPr algn="l">
              <a:spcAft>
                <a:spcPts val="100"/>
              </a:spcAft>
            </a:pPr>
            <a:r>
              <a:rPr sz="3000" b="1">
                <a:solidFill>
                  <a:srgbClr val="0B1F3A"/>
                </a:solidFill>
                <a:latin typeface="Calibri"/>
              </a:rPr>
              <a:t>≤ 6</a:t>
            </a:r>
            <a:r>
              <a:rPr sz="1500" b="0">
                <a:solidFill>
                  <a:srgbClr val="6B7280"/>
                </a:solidFill>
                <a:latin typeface="Calibri"/>
              </a:rPr>
              <a:t>  mm</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O‘rta kalibr</a:t>
            </a:r>
          </a:p>
          <a:p>
            <a:pPr algn="l">
              <a:spcAft>
                <a:spcPts val="100"/>
              </a:spcAft>
            </a:pPr>
            <a:r>
              <a:rPr sz="3000" b="1">
                <a:solidFill>
                  <a:srgbClr val="0B1F3A"/>
                </a:solidFill>
                <a:latin typeface="Calibri"/>
              </a:rPr>
              <a:t>7–9</a:t>
            </a:r>
            <a:r>
              <a:rPr sz="1500" b="0">
                <a:solidFill>
                  <a:srgbClr val="6B7280"/>
                </a:solidFill>
                <a:latin typeface="Calibri"/>
              </a:rPr>
              <a:t>  mm</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Yirik kalibr</a:t>
            </a:r>
          </a:p>
          <a:p>
            <a:pPr algn="l">
              <a:spcAft>
                <a:spcPts val="100"/>
              </a:spcAft>
            </a:pPr>
            <a:r>
              <a:rPr sz="3000" b="1">
                <a:solidFill>
                  <a:srgbClr val="0B1F3A"/>
                </a:solidFill>
                <a:latin typeface="Calibri"/>
              </a:rPr>
              <a:t>≥ 10</a:t>
            </a:r>
            <a:r>
              <a:rPr sz="1500" b="0">
                <a:solidFill>
                  <a:srgbClr val="6B7280"/>
                </a:solidFill>
                <a:latin typeface="Calibri"/>
              </a:rPr>
              <a:t>  mm</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Ov qurolida kalibr</a:t>
            </a:r>
          </a:p>
          <a:p>
            <a:pPr algn="l">
              <a:spcAft>
                <a:spcPts val="100"/>
              </a:spcAft>
            </a:pPr>
            <a:r>
              <a:rPr sz="3000" b="1">
                <a:solidFill>
                  <a:srgbClr val="0B1F3A"/>
                </a:solidFill>
                <a:latin typeface="Calibri"/>
              </a:rPr>
              <a:t>10–32</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Ko‘p uchraydigani</a:t>
            </a:r>
          </a:p>
          <a:p>
            <a:pPr algn="l">
              <a:spcAft>
                <a:spcPts val="100"/>
              </a:spcAft>
            </a:pPr>
            <a:r>
              <a:rPr sz="3000" b="1">
                <a:solidFill>
                  <a:srgbClr val="0B1F3A"/>
                </a:solidFill>
                <a:latin typeface="Calibri"/>
              </a:rPr>
              <a:t>12 va 16</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Jangovor stvol o‘yig‘i</a:t>
            </a:r>
          </a:p>
          <a:p>
            <a:pPr algn="l">
              <a:spcAft>
                <a:spcPts val="100"/>
              </a:spcAft>
            </a:pPr>
            <a:r>
              <a:rPr sz="3000" b="1">
                <a:solidFill>
                  <a:srgbClr val="0B1F3A"/>
                </a:solidFill>
                <a:latin typeface="Calibri"/>
              </a:rPr>
              <a:t>4–6</a:t>
            </a:r>
            <a:r>
              <a:rPr sz="1500" b="0">
                <a:solidFill>
                  <a:srgbClr val="6B7280"/>
                </a:solidFill>
                <a:latin typeface="Calibri"/>
              </a:rPr>
              <a:t>  ta</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Stvol va kalibr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qurol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qo‘lbola yoki stvoli kaltalashtirilgan miltiq qaysi turga kiradi? Javob: atipik qurol.</a:t>
            </a:r>
          </a:p>
          <a:p>
            <a:pPr>
              <a:spcAft>
                <a:spcPts val="1200"/>
              </a:spcAft>
            </a:pPr>
            <a:r>
              <a:rPr sz="2200">
                <a:solidFill>
                  <a:srgbClr val="1F2937"/>
                </a:solidFill>
                <a:latin typeface="Calibri"/>
              </a:rPr>
              <a:t>▸  Savol: qaysi qurollar kalta stvolli? Javob: pistolet va revolver; uzun stvolli — miltiq va karabin.</a:t>
            </a:r>
          </a:p>
          <a:p>
            <a:pPr>
              <a:spcAft>
                <a:spcPts val="1200"/>
              </a:spcAft>
            </a:pPr>
            <a:r>
              <a:rPr sz="2200">
                <a:solidFill>
                  <a:srgbClr val="1F2937"/>
                </a:solidFill>
                <a:latin typeface="Calibri"/>
              </a:rPr>
              <a:t>▸  Savol: stvoldagi o‘yiqlar nima beradi? Javob: o‘qqa aylanma harakat; tezlik va aniqlik ortadi.</a:t>
            </a:r>
          </a:p>
          <a:p>
            <a:pPr>
              <a:spcAft>
                <a:spcPts val="1200"/>
              </a:spcAft>
            </a:pPr>
            <a:r>
              <a:rPr sz="2200">
                <a:solidFill>
                  <a:srgbClr val="1F2937"/>
                </a:solidFill>
                <a:latin typeface="Calibri"/>
              </a:rPr>
              <a:t>▸  Diqqat: xato qilish xavfi — silliq stvolda kalibr soni katta ≠ stvol diametri katta; aksincha, diametr kichrayadi.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Jangovar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o‘q (snaryad), porox zaryadi va kapsyul bitta gilza ichiga joylashtirilgan.</a:t>
            </a:r>
          </a:p>
          <a:p>
            <a:pPr>
              <a:spcAft>
                <a:spcPts val="800"/>
              </a:spcAft>
            </a:pPr>
            <a:r>
              <a:rPr sz="1800">
                <a:solidFill>
                  <a:srgbClr val="1F2937"/>
                </a:solidFill>
                <a:latin typeface="Calibri"/>
              </a:rPr>
              <a:t>▸  Kapsyul gilza tubida turadi. Qurol tepkisi urilganda u patrondagi poroxni yondiradi.</a:t>
            </a:r>
          </a:p>
          <a:p>
            <a:pPr>
              <a:spcAft>
                <a:spcPts val="800"/>
              </a:spcAft>
            </a:pPr>
            <a:r>
              <a:rPr sz="1800">
                <a:solidFill>
                  <a:srgbClr val="1F2937"/>
                </a:solidFill>
                <a:latin typeface="Calibri"/>
              </a:rPr>
              <a:t>▸  Kapsyul tarkibi: boshlovchi modda (qo‘rg‘oshin stifnat), yonilg‘i (antimoniy), oksidlovchi (bertole tuzi).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Tepki kapsyulga uriladi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Kapsyul tarkibi alangalanadi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yonadi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gazlari bosimi ortadi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stvol bo‘ylab harakatlanadi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Maxsus o‘qlar va porox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Zirxteshar o‘qning asosi maxsus po‘latdan. Yondiruvchi o‘qda fosfor, iz qoldiruvchi o‘qda bariy va magniy birikmalari bor.</a:t>
            </a:r>
          </a:p>
          <a:p>
            <a:pPr>
              <a:spcAft>
                <a:spcPts val="1200"/>
              </a:spcAft>
            </a:pPr>
            <a:r>
              <a:rPr sz="2200">
                <a:solidFill>
                  <a:srgbClr val="1F2937"/>
                </a:solidFill>
                <a:latin typeface="Calibri"/>
              </a:rPr>
              <a:t>▸  Yorma o‘q nishonga tekkanda mayda qismlarga bo‘linadi. Xalqaro bitimlar jangovar harakatlarda uni taqiqlagan.</a:t>
            </a:r>
          </a:p>
          <a:p>
            <a:pPr>
              <a:spcAft>
                <a:spcPts val="1200"/>
              </a:spcAft>
            </a:pPr>
            <a:r>
              <a:rPr sz="2200">
                <a:solidFill>
                  <a:srgbClr val="1F2937"/>
                </a:solidFill>
                <a:latin typeface="Calibri"/>
              </a:rPr>
              <a:t>▸  Diqqat: tutunsiz porox (nitrotsellyulozadan) jangovar va sport qurollarida ishlatiladi. Qora porox esa asosan ov va signal qurollarida.</a:t>
            </a:r>
          </a:p>
          <a:p>
            <a:pPr>
              <a:spcAft>
                <a:spcPts val="1200"/>
              </a:spcAft>
            </a:pPr>
            <a:r>
              <a:rPr sz="2200">
                <a:solidFill>
                  <a:srgbClr val="1F2937"/>
                </a:solidFill>
                <a:latin typeface="Calibri"/>
              </a:rPr>
              <a:t>▸  1 g qora porox yonganda taxminan 300 kub sm gaz hosil bo‘ladi. Tutunsiz poroxda bu uch barobar ko‘p, shuning uchun o‘q uzoqqa yetadi.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 82–83, 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va ov patronlari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Sochmali patron gilzasi latun, plastmassa yoki kartondan tayyorlanadi. Zaryad sifatida qora porox ishlatilishi mumkin.</a:t>
            </a:r>
          </a:p>
          <a:p>
            <a:pPr>
              <a:spcAft>
                <a:spcPts val="1200"/>
              </a:spcAft>
            </a:pPr>
            <a:r>
              <a:rPr sz="2200">
                <a:solidFill>
                  <a:srgbClr val="1F2937"/>
                </a:solidFill>
                <a:latin typeface="Calibri"/>
              </a:rPr>
              <a:t>▸  Porox kigiz, karton yoki plastmassa tiqin bilan yopiladi. Ustiga sochmalar solinadi va ular ham tiqin bilan yopiladi.</a:t>
            </a:r>
          </a:p>
          <a:p>
            <a:pPr>
              <a:spcAft>
                <a:spcPts val="1200"/>
              </a:spcAft>
            </a:pPr>
            <a:r>
              <a:rPr sz="2200">
                <a:solidFill>
                  <a:srgbClr val="1F2937"/>
                </a:solidFill>
                <a:latin typeface="Calibri"/>
              </a:rPr>
              <a:t>▸  Sochma deb diametri 1 mm dan 5,5 mm gacha bo‘lgan mayda sharchalar aytiladi. Undan kattasi katta sochma (kartech) deyiladi.</a:t>
            </a:r>
          </a:p>
          <a:p>
            <a:pPr>
              <a:spcAft>
                <a:spcPts val="1200"/>
              </a:spcAft>
            </a:pPr>
            <a:r>
              <a:rPr sz="2200">
                <a:solidFill>
                  <a:srgbClr val="1F2937"/>
                </a:solidFill>
                <a:latin typeface="Calibri"/>
              </a:rPr>
              <a:t>▸  Silliq stvolli ov qurolining o‘qli patronida diametri 10 mm dan katta sharsimon qo‘rg‘oshin o‘q, Yakan yoki Brenneke o‘qi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qurol va patron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ekspertizaga stvoli va qo‘ndog‘i kalta qilingan miltiq keltirildi. U tipik qurolmi yoki atipikmi?</a:t>
            </a:r>
          </a:p>
          <a:p>
            <a:pPr>
              <a:spcAft>
                <a:spcPts val="1200"/>
              </a:spcAft>
            </a:pPr>
            <a:r>
              <a:rPr sz="2200">
                <a:solidFill>
                  <a:srgbClr val="1F2937"/>
                </a:solidFill>
                <a:latin typeface="Calibri"/>
              </a:rPr>
              <a:t>▸  Qo‘lbola yoki biror maqsadda o‘zgartirilgan qurol atipik deyiladi. Maxsus ishlab chiqarishda tayyorlangani tipikdir.</a:t>
            </a:r>
          </a:p>
          <a:p>
            <a:pPr>
              <a:spcAft>
                <a:spcPts val="1200"/>
              </a:spcAft>
            </a:pPr>
            <a:r>
              <a:rPr sz="2200">
                <a:solidFill>
                  <a:srgbClr val="1F2937"/>
                </a:solidFill>
                <a:latin typeface="Calibri"/>
              </a:rPr>
              <a:t>▸  Jangovor va sport qurollari stvolida 4-6 vintsimon o‘yiq bo‘ladi. Ular o‘qqa o‘qi atrofida aylanma harakat beradi.</a:t>
            </a:r>
          </a:p>
          <a:p>
            <a:pPr>
              <a:spcAft>
                <a:spcPts val="1200"/>
              </a:spcAft>
            </a:pPr>
            <a:r>
              <a:rPr sz="2200">
                <a:solidFill>
                  <a:srgbClr val="1F2937"/>
                </a:solidFill>
                <a:latin typeface="Calibri"/>
              </a:rPr>
              <a:t>▸  Savol: silliq stvolli ov qurolida qanday patron bo‘ladi? Sochma bilan katta sochma (kartech) farqi nimada?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Porox 0,01-0,001 sek.da yonib gaz bosimini hosil qiladi; o‘yiqli stvolda bosim 2000-3000 atm. bo‘ladi.</a:t>
            </a:r>
          </a:p>
          <a:p>
            <a:pPr>
              <a:spcAft>
                <a:spcPts val="800"/>
              </a:spcAft>
            </a:pPr>
            <a:r>
              <a:rPr sz="1800">
                <a:solidFill>
                  <a:srgbClr val="1F2937"/>
                </a:solidFill>
                <a:latin typeface="Calibri"/>
              </a:rPr>
              <a:t>▸  Gaz bosimi qurolni biroz orqaga itaradi. Qo‘lbola qurol stvoli yorilib, qurol ushlaganni shikastlashi mumkin.</a:t>
            </a:r>
          </a:p>
          <a:p>
            <a:pPr>
              <a:spcAft>
                <a:spcPts val="800"/>
              </a:spcAft>
            </a:pPr>
            <a:r>
              <a:rPr sz="1800">
                <a:solidFill>
                  <a:srgbClr val="1F2937"/>
                </a:solidFill>
                <a:latin typeface="Calibri"/>
              </a:rPr>
              <a:t>▸  Diqqat: asosiy snaryad (o‘q, sochma) ≠ ikkilamchi snaryad (kiyim, suyak bo‘lagi, to‘siq).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Shikastlovchi omillar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Asosiy snaryad</a:t>
            </a:r>
          </a:p>
          <a:p>
            <a:pPr algn="l">
              <a:spcAft>
                <a:spcPts val="0"/>
              </a:spcAft>
            </a:pPr>
            <a:r>
              <a:rPr sz="1200" b="0">
                <a:solidFill>
                  <a:srgbClr val="1F2937"/>
                </a:solidFill>
                <a:latin typeface="Calibri"/>
              </a:rPr>
              <a:t>O‘q, sochma va ularning qismlari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Qo‘shimcha omillar</a:t>
            </a:r>
          </a:p>
          <a:p>
            <a:pPr algn="l">
              <a:spcAft>
                <a:spcPts val="0"/>
              </a:spcAft>
            </a:pPr>
            <a:r>
              <a:rPr sz="1200" b="0">
                <a:solidFill>
                  <a:srgbClr val="1F2937"/>
                </a:solidFill>
                <a:latin typeface="Calibri"/>
              </a:rPr>
              <a:t>O‘qoldi havo, alanga, gaz  ·  Qurum, porox</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Qurol va qismlari</a:t>
            </a:r>
          </a:p>
          <a:p>
            <a:pPr algn="l">
              <a:spcAft>
                <a:spcPts val="0"/>
              </a:spcAft>
            </a:pPr>
            <a:r>
              <a:rPr sz="1200" b="0">
                <a:solidFill>
                  <a:srgbClr val="1F2937"/>
                </a:solidFill>
                <a:latin typeface="Calibri"/>
              </a:rPr>
              <a:t>Stvol yorilganda shikast beradi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snaryad</a:t>
            </a:r>
          </a:p>
          <a:p>
            <a:pPr algn="l">
              <a:spcAft>
                <a:spcPts val="0"/>
              </a:spcAft>
            </a:pPr>
            <a:r>
              <a:rPr sz="1200" b="0">
                <a:solidFill>
                  <a:srgbClr val="1F2937"/>
                </a:solidFill>
                <a:latin typeface="Calibri"/>
              </a:rPr>
              <a:t>Kiyim, suyak bo‘lagi, to‘siq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Omillar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ta’sir turlari: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Yulma ta’sirda to‘qima defekti (minus-to‘qima) hosil bo‘ladi. Uni N.I.Pirogov 1849 yilda tasvirlagan.</a:t>
            </a:r>
          </a:p>
          <a:p>
            <a:pPr>
              <a:spcAft>
                <a:spcPts val="800"/>
              </a:spcAft>
            </a:pPr>
            <a:r>
              <a:rPr sz="1800">
                <a:solidFill>
                  <a:srgbClr val="1F2937"/>
                </a:solidFill>
                <a:latin typeface="Calibri"/>
              </a:rPr>
              <a:t>▸  Pirogov bu holatni “to‘qima o‘zligini yo‘qotishi” deb nomlagan.</a:t>
            </a:r>
          </a:p>
          <a:p>
            <a:pPr>
              <a:spcAft>
                <a:spcPts val="800"/>
              </a:spcAft>
            </a:pPr>
            <a:r>
              <a:rPr sz="1800">
                <a:solidFill>
                  <a:srgbClr val="1F2937"/>
                </a:solidFill>
                <a:latin typeface="Calibri"/>
              </a:rPr>
              <a:t>▸  Ponasimon ta’sirda to‘qima defekti bo‘lmaydi. Odatda chiqish teshigi shu ta’sirdan hosil bo‘ladi.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Yorma</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 necha ming joul</a:t>
            </a:r>
          </a:p>
          <a:p>
            <a:pPr algn="l">
              <a:spcAft>
                <a:spcPts val="700"/>
              </a:spcAft>
            </a:pPr>
            <a:r>
              <a:rPr sz="1500" b="1">
                <a:solidFill>
                  <a:srgbClr val="C9A227"/>
                </a:solidFill>
                <a:latin typeface="Calibri"/>
              </a:rPr>
              <a:t>●  </a:t>
            </a:r>
            <a:r>
              <a:rPr sz="1500" b="0">
                <a:solidFill>
                  <a:srgbClr val="1F2937"/>
                </a:solidFill>
                <a:latin typeface="Calibri"/>
              </a:rPr>
              <a:t>Yara snaryaddan bir necha barobar katta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Yulma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 necha yuz joul</a:t>
            </a:r>
          </a:p>
          <a:p>
            <a:pPr algn="l">
              <a:spcAft>
                <a:spcPts val="700"/>
              </a:spcAft>
            </a:pPr>
            <a:r>
              <a:rPr sz="1500" b="1">
                <a:solidFill>
                  <a:srgbClr val="C9A227"/>
                </a:solidFill>
                <a:latin typeface="Calibri"/>
              </a:rPr>
              <a:t>●  </a:t>
            </a:r>
            <a:r>
              <a:rPr sz="1500" b="0">
                <a:solidFill>
                  <a:srgbClr val="1F2937"/>
                </a:solidFill>
                <a:latin typeface="Calibri"/>
              </a:rPr>
              <a:t>Defekt kichikroq, chetlari tekis</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Ponasimon</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 necha o‘n joul</a:t>
            </a:r>
          </a:p>
          <a:p>
            <a:pPr algn="l">
              <a:spcAft>
                <a:spcPts val="700"/>
              </a:spcAft>
            </a:pPr>
            <a:r>
              <a:rPr sz="1500" b="1">
                <a:solidFill>
                  <a:srgbClr val="C9A227"/>
                </a:solidFill>
                <a:latin typeface="Calibri"/>
              </a:rPr>
              <a:t>●  </a:t>
            </a:r>
            <a:r>
              <a:rPr sz="1500" b="0">
                <a:solidFill>
                  <a:srgbClr val="1F2937"/>
                </a:solidFill>
                <a:latin typeface="Calibri"/>
              </a:rPr>
              <a:t>Yoriqsimon, yulduzsimon, defektsiz</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Energiya va yara xususiyati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omillarning mexanik, termik, kimyoviy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ta’sir: o‘qoldi havo 3–5 sm da to‘qima defekti, shilinish hoshiyasi, laxtaksimon yorilish; porox gazlari 10–15 sm da shilinish, qontalash, yorilish.</a:t>
            </a:r>
          </a:p>
          <a:p>
            <a:pPr>
              <a:spcAft>
                <a:spcPts val="1200"/>
              </a:spcAft>
            </a:pPr>
            <a:r>
              <a:rPr sz="2200">
                <a:solidFill>
                  <a:srgbClr val="1F2937"/>
                </a:solidFill>
                <a:latin typeface="Calibri"/>
              </a:rPr>
              <a:t>▸  Qurum, porox va metall zarrachalari terida faqat yuzaki, yengil kontuzion (lat yeyish) ta’sir qiladi.</a:t>
            </a:r>
          </a:p>
          <a:p>
            <a:pPr>
              <a:spcAft>
                <a:spcPts val="1200"/>
              </a:spcAft>
            </a:pPr>
            <a:r>
              <a:rPr sz="2200">
                <a:solidFill>
                  <a:srgbClr val="1F2937"/>
                </a:solidFill>
                <a:latin typeface="Calibri"/>
              </a:rPr>
              <a:t>▸  Termik ta’sir: o‘q otish alangasi 3–10 sm masofada kiyim, teri va sochni kuydirishi mumkin; alanga yonmagan porox zarrachalarining portlashidan hosil bo‘ladi.</a:t>
            </a:r>
          </a:p>
          <a:p>
            <a:pPr>
              <a:spcAft>
                <a:spcPts val="1200"/>
              </a:spcAft>
            </a:pPr>
            <a:r>
              <a:rPr sz="2200">
                <a:solidFill>
                  <a:srgbClr val="1F2937"/>
                </a:solidFill>
                <a:latin typeface="Calibri"/>
              </a:rPr>
              <a:t>▸  Kimyoviy ta’sir porox gazlaridan: qonda karboksigemoglobin, mushaklarda karboksimioglobin hosil bo‘ladi. Kirish teshigi atrofi pushti tus 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 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energiya bir necha ming joul bo‘lsa, qanday ta’sir? Javob: yorma. Yara o‘qdan bir necha barobar katta, chetlari notekis, radial yoriqli.</a:t>
            </a:r>
          </a:p>
          <a:p>
            <a:pPr>
              <a:spcAft>
                <a:spcPts val="1200"/>
              </a:spcAft>
            </a:pPr>
            <a:r>
              <a:rPr sz="2200">
                <a:solidFill>
                  <a:srgbClr val="1F2937"/>
                </a:solidFill>
                <a:latin typeface="Calibri"/>
              </a:rPr>
              <a:t>▸  Savol: bir necha yuz joul-chi? Javob: yulma. To‘qima defekti hosil bo‘ladi, chetlari tekis, o‘lchami o‘q diametridan kichik.</a:t>
            </a:r>
          </a:p>
          <a:p>
            <a:pPr>
              <a:spcAft>
                <a:spcPts val="1200"/>
              </a:spcAft>
            </a:pPr>
            <a:r>
              <a:rPr sz="2200">
                <a:solidFill>
                  <a:srgbClr val="1F2937"/>
                </a:solidFill>
                <a:latin typeface="Calibri"/>
              </a:rPr>
              <a:t>▸  Savol: bir necha o‘n joul-chi? Javob: ponasimon. To‘qima defekti bo‘lmaydi, yara yoriqsimon yoki yulduzsimon; chiqish teshigi ko‘pincha shundan hosil bo‘ladi.</a:t>
            </a:r>
          </a:p>
          <a:p>
            <a:pPr>
              <a:spcAft>
                <a:spcPts val="1200"/>
              </a:spcAft>
            </a:pPr>
            <a:r>
              <a:rPr sz="2200">
                <a:solidFill>
                  <a:srgbClr val="1F2937"/>
                </a:solidFill>
                <a:latin typeface="Calibri"/>
              </a:rPr>
              <a:t>▸  Diqqat: xato qilish xavfi! Yulma ≠ ponasimon: yulmada to‘qima defekti bor, ponasimonda yo‘q. O‘qoldi havo 3–5 sm, porox gazlari 10–15 sm masofada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Distansiya — belgilar majmui, masofa esa stvol uchi bilan nishon orasidagi uzunlik. Ular aynan emas.</a:t>
            </a:r>
          </a:p>
          <a:p>
            <a:pPr>
              <a:spcAft>
                <a:spcPts val="800"/>
              </a:spcAft>
            </a:pPr>
            <a:r>
              <a:rPr sz="1800">
                <a:solidFill>
                  <a:srgbClr val="1F2937"/>
                </a:solidFill>
                <a:latin typeface="Calibri"/>
              </a:rPr>
              <a:t>▸  Turli qurollardan otishda bir xil distansiya har xil masofaga to‘g‘ri kelishi mumkin.</a:t>
            </a:r>
          </a:p>
          <a:p>
            <a:pPr>
              <a:spcAft>
                <a:spcPts val="800"/>
              </a:spcAft>
            </a:pPr>
            <a:r>
              <a:rPr sz="1800">
                <a:solidFill>
                  <a:srgbClr val="1F2937"/>
                </a:solidFill>
                <a:latin typeface="Calibri"/>
              </a:rPr>
              <a:t>▸  Masofa eksperiment bilan topiladi: o‘sha qurol va patrondan o‘xshash ob’ektga turli masofadan o‘q uziladi.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Distansiya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Belgilar majmui</a:t>
            </a:r>
          </a:p>
          <a:p>
            <a:pPr algn="l">
              <a:spcAft>
                <a:spcPts val="700"/>
              </a:spcAft>
            </a:pPr>
            <a:r>
              <a:rPr sz="1500" b="1">
                <a:solidFill>
                  <a:srgbClr val="C9A227"/>
                </a:solidFill>
                <a:latin typeface="Calibri"/>
              </a:rPr>
              <a:t>●  </a:t>
            </a:r>
            <a:r>
              <a:rPr sz="1500" b="0">
                <a:solidFill>
                  <a:srgbClr val="1F2937"/>
                </a:solidFill>
                <a:latin typeface="Calibri"/>
              </a:rPr>
              <a:t>Tirab, yaqin, yaqin bo‘lmagan</a:t>
            </a:r>
          </a:p>
          <a:p>
            <a:pPr algn="l">
              <a:spcAft>
                <a:spcPts val="700"/>
              </a:spcAft>
            </a:pPr>
            <a:r>
              <a:rPr sz="1500" b="1">
                <a:solidFill>
                  <a:srgbClr val="C9A227"/>
                </a:solidFill>
                <a:latin typeface="Calibri"/>
              </a:rPr>
              <a:t>●  </a:t>
            </a:r>
            <a:r>
              <a:rPr sz="1500" b="0">
                <a:solidFill>
                  <a:srgbClr val="1F2937"/>
                </a:solidFill>
                <a:latin typeface="Calibri"/>
              </a:rPr>
              <a:t>Kiyim va tanadagi xos belgilar</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Masofa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Stvol uchi–nishon oralig‘i</a:t>
            </a:r>
          </a:p>
          <a:p>
            <a:pPr algn="l">
              <a:spcAft>
                <a:spcPts val="700"/>
              </a:spcAft>
            </a:pPr>
            <a:r>
              <a:rPr sz="1500" b="1">
                <a:solidFill>
                  <a:srgbClr val="C9A227"/>
                </a:solidFill>
                <a:latin typeface="Calibri"/>
              </a:rPr>
              <a:t>●  </a:t>
            </a:r>
            <a:r>
              <a:rPr sz="1500" b="0">
                <a:solidFill>
                  <a:srgbClr val="1F2937"/>
                </a:solidFill>
                <a:latin typeface="Calibri"/>
              </a:rPr>
              <a:t>Uzunlik birligida o‘lchanadi</a:t>
            </a:r>
          </a:p>
          <a:p>
            <a:pPr algn="l">
              <a:spcAft>
                <a:spcPts val="700"/>
              </a:spcAft>
            </a:pPr>
            <a:r>
              <a:rPr sz="1500" b="1">
                <a:solidFill>
                  <a:srgbClr val="C9A227"/>
                </a:solidFill>
                <a:latin typeface="Calibri"/>
              </a:rPr>
              <a:t>●  </a:t>
            </a:r>
            <a:r>
              <a:rPr sz="1500" b="0">
                <a:solidFill>
                  <a:srgbClr val="1F2937"/>
                </a:solidFill>
                <a:latin typeface="Calibri"/>
              </a:rPr>
              <a:t>Eksperimental o‘q uzish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Distansiya va masofa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Tirab otishning uch turi farqlanadi: to‘liq germetik, to‘liq va qiyalab tirab otish.</a:t>
            </a:r>
          </a:p>
          <a:p>
            <a:pPr>
              <a:spcAft>
                <a:spcPts val="800"/>
              </a:spcAft>
            </a:pPr>
            <a:r>
              <a:rPr sz="1800">
                <a:solidFill>
                  <a:srgbClr val="1F2937"/>
                </a:solidFill>
                <a:latin typeface="Calibri"/>
              </a:rPr>
              <a:t>▸  To‘liq tirab otishda stvol uchi butunlay tegib turadi; porox gazlari ichki a’zolarni yorib yuborishi mumkin.</a:t>
            </a:r>
          </a:p>
          <a:p>
            <a:pPr>
              <a:spcAft>
                <a:spcPts val="800"/>
              </a:spcAft>
            </a:pPr>
            <a:r>
              <a:rPr sz="1800">
                <a:solidFill>
                  <a:srgbClr val="1F2937"/>
                </a:solidFill>
                <a:latin typeface="Calibri"/>
              </a:rPr>
              <a:t>▸  Yara kanali boshida yumshoq to‘qima pushti bo‘ladi: karboksigemoglobin va karboksimioglobin hosil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Tirab otish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To‘liq germetik</a:t>
            </a:r>
          </a:p>
          <a:p>
            <a:pPr algn="l">
              <a:spcAft>
                <a:spcPts val="0"/>
              </a:spcAft>
            </a:pPr>
            <a:r>
              <a:rPr sz="1200" b="0">
                <a:solidFill>
                  <a:srgbClr val="1F2937"/>
                </a:solidFill>
                <a:latin typeface="Calibri"/>
              </a:rPr>
              <a:t>Stvol uchi shaklidagi bosma iz</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To‘liq tirab otish</a:t>
            </a:r>
          </a:p>
          <a:p>
            <a:pPr algn="l">
              <a:spcAft>
                <a:spcPts val="0"/>
              </a:spcAft>
            </a:pPr>
            <a:r>
              <a:rPr sz="1200" b="0">
                <a:solidFill>
                  <a:srgbClr val="1F2937"/>
                </a:solidFill>
                <a:latin typeface="Calibri"/>
              </a:rPr>
              <a:t>Yara chetlari ko‘chgan, yoriqlar</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Qiyalab tirab otish</a:t>
            </a:r>
          </a:p>
          <a:p>
            <a:pPr algn="l">
              <a:spcAft>
                <a:spcPts val="0"/>
              </a:spcAft>
            </a:pPr>
            <a:r>
              <a:rPr sz="1200" b="0">
                <a:solidFill>
                  <a:srgbClr val="1F2937"/>
                </a:solidFill>
                <a:latin typeface="Calibri"/>
              </a:rPr>
              <a:t>Zarrachalar “tilsimon”  ·  Yoriq bir burchakda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Tirab otishning uch turi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Qo‘shimcha omillar ta’siri belgilariga qarab yaqin distansiyada uch zona ajratiladi.</a:t>
            </a:r>
          </a:p>
          <a:p>
            <a:pPr>
              <a:spcAft>
                <a:spcPts val="800"/>
              </a:spcAft>
            </a:pPr>
            <a:r>
              <a:rPr sz="1800">
                <a:solidFill>
                  <a:srgbClr val="1F2937"/>
                </a:solidFill>
                <a:latin typeface="Calibri"/>
              </a:rPr>
              <a:t>▸  Stvol va nishon orasidagi masofa uzaygan sari qurum va zarrachalar bilan qoplangan yuza kattalashadi.</a:t>
            </a:r>
          </a:p>
          <a:p>
            <a:pPr>
              <a:spcAft>
                <a:spcPts val="800"/>
              </a:spcAft>
            </a:pPr>
            <a:r>
              <a:rPr sz="1800">
                <a:solidFill>
                  <a:srgbClr val="1F2937"/>
                </a:solidFill>
                <a:latin typeface="Calibri"/>
              </a:rPr>
              <a:t>▸  Diqqat: silliq stvolli ov miltiqlarida uchinchi zona 500 sm gacha bo‘lishi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95383"/>
                <a:gridCol w="2177401"/>
                <a:gridCol w="2115190"/>
              </a:tblGrid>
              <a:tr h="768096">
                <a:tc>
                  <a:txBody>
                    <a:bodyPr/>
                    <a:lstStyle/>
                    <a:p>
                      <a:r>
                        <a:rPr sz="1600" b="1">
                          <a:solidFill>
                            <a:srgbClr val="FFFFFF"/>
                          </a:solidFill>
                        </a:rPr>
                        <a:t>Zona</a:t>
                      </a:r>
                    </a:p>
                  </a:txBody>
                  <a:tcPr marL="73152" marR="73152" marT="36576" marB="36576">
                    <a:solidFill>
                      <a:srgbClr val="0B1F3A"/>
                    </a:solidFill>
                  </a:tcPr>
                </a:tc>
                <a:tc>
                  <a:txBody>
                    <a:bodyPr/>
                    <a:lstStyle/>
                    <a:p>
                      <a:r>
                        <a:rPr sz="1600" b="1">
                          <a:solidFill>
                            <a:srgbClr val="FFFFFF"/>
                          </a:solidFill>
                        </a:rPr>
                        <a:t>Belgilari</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768096">
                <a:tc>
                  <a:txBody>
                    <a:bodyPr/>
                    <a:lstStyle/>
                    <a:p>
                      <a:r>
                        <a:rPr sz="1500" b="0">
                          <a:solidFill>
                            <a:srgbClr val="1F2937"/>
                          </a:solidFill>
                        </a:rPr>
                        <a:t>1-zona</a:t>
                      </a:r>
                    </a:p>
                  </a:txBody>
                  <a:tcPr marL="73152" marR="73152" marT="36576" marB="36576">
                    <a:solidFill>
                      <a:srgbClr val="E8EEF6"/>
                    </a:solidFill>
                  </a:tcPr>
                </a:tc>
                <a:tc>
                  <a:txBody>
                    <a:bodyPr/>
                    <a:lstStyle/>
                    <a:p>
                      <a:r>
                        <a:rPr sz="1500" b="0">
                          <a:solidFill>
                            <a:srgbClr val="1F2937"/>
                          </a:solidFill>
                        </a:rPr>
                        <a:t>Porox gazi, qurum, zarrachalar, moy</a:t>
                      </a:r>
                    </a:p>
                  </a:txBody>
                  <a:tcPr marL="73152" marR="73152" marT="36576" marB="36576">
                    <a:solidFill>
                      <a:srgbClr val="E8EEF6"/>
                    </a:solidFill>
                  </a:tcPr>
                </a:tc>
                <a:tc>
                  <a:txBody>
                    <a:bodyPr/>
                    <a:lstStyle/>
                    <a:p>
                      <a:r>
                        <a:rPr sz="1500" b="0">
                          <a:solidFill>
                            <a:srgbClr val="1F2937"/>
                          </a:solidFill>
                        </a:rPr>
                        <a:t>Makarov ~1, AK 3, miltiq ~5 sm</a:t>
                      </a:r>
                    </a:p>
                  </a:txBody>
                  <a:tcPr marL="73152" marR="73152" marT="36576" marB="36576">
                    <a:solidFill>
                      <a:srgbClr val="E8EEF6"/>
                    </a:solidFill>
                  </a:tcPr>
                </a:tc>
              </a:tr>
              <a:tr h="768096">
                <a:tc>
                  <a:txBody>
                    <a:bodyPr/>
                    <a:lstStyle/>
                    <a:p>
                      <a:r>
                        <a:rPr sz="1500" b="0">
                          <a:solidFill>
                            <a:srgbClr val="1F2937"/>
                          </a:solidFill>
                        </a:rPr>
                        <a:t>2-zona</a:t>
                      </a:r>
                    </a:p>
                  </a:txBody>
                  <a:tcPr marL="73152" marR="73152" marT="36576" marB="36576">
                    <a:solidFill>
                      <a:srgbClr val="FFFFFF"/>
                    </a:solidFill>
                  </a:tcPr>
                </a:tc>
                <a:tc>
                  <a:txBody>
                    <a:bodyPr/>
                    <a:lstStyle/>
                    <a:p>
                      <a:r>
                        <a:rPr sz="1500" b="0">
                          <a:solidFill>
                            <a:srgbClr val="1F2937"/>
                          </a:solidFill>
                        </a:rPr>
                        <a:t>Gaz izi yo‘q; qurum, porox, metall</a:t>
                      </a:r>
                    </a:p>
                  </a:txBody>
                  <a:tcPr marL="73152" marR="73152" marT="36576" marB="36576">
                    <a:solidFill>
                      <a:srgbClr val="FFFFFF"/>
                    </a:solidFill>
                  </a:tcPr>
                </a:tc>
                <a:tc>
                  <a:txBody>
                    <a:bodyPr/>
                    <a:lstStyle/>
                    <a:p>
                      <a:r>
                        <a:rPr sz="1500" b="0">
                          <a:solidFill>
                            <a:srgbClr val="1F2937"/>
                          </a:solidFill>
                        </a:rPr>
                        <a:t>Ko‘p qurolda 25–35 sm</a:t>
                      </a:r>
                    </a:p>
                  </a:txBody>
                  <a:tcPr marL="73152" marR="73152" marT="36576" marB="36576">
                    <a:solidFill>
                      <a:srgbClr val="FFFFFF"/>
                    </a:solidFill>
                  </a:tcPr>
                </a:tc>
              </a:tr>
              <a:tr h="768096">
                <a:tc>
                  <a:txBody>
                    <a:bodyPr/>
                    <a:lstStyle/>
                    <a:p>
                      <a:r>
                        <a:rPr sz="1500" b="0">
                          <a:solidFill>
                            <a:srgbClr val="1F2937"/>
                          </a:solidFill>
                        </a:rPr>
                        <a:t>3-zona</a:t>
                      </a:r>
                    </a:p>
                  </a:txBody>
                  <a:tcPr marL="73152" marR="73152" marT="36576" marB="36576">
                    <a:solidFill>
                      <a:srgbClr val="E8EEF6"/>
                    </a:solidFill>
                  </a:tcPr>
                </a:tc>
                <a:tc>
                  <a:txBody>
                    <a:bodyPr/>
                    <a:lstStyle/>
                    <a:p>
                      <a:r>
                        <a:rPr sz="1500" b="0">
                          <a:solidFill>
                            <a:srgbClr val="1F2937"/>
                          </a:solidFill>
                        </a:rPr>
                        <a:t>Faqat porox va metall zarrachalari</a:t>
                      </a:r>
                    </a:p>
                  </a:txBody>
                  <a:tcPr marL="73152" marR="73152" marT="36576" marB="36576">
                    <a:solidFill>
                      <a:srgbClr val="E8EEF6"/>
                    </a:solidFill>
                  </a:tcPr>
                </a:tc>
                <a:tc>
                  <a:txBody>
                    <a:bodyPr/>
                    <a:lstStyle/>
                    <a:p>
                      <a:r>
                        <a:rPr sz="1500" b="0">
                          <a:solidFill>
                            <a:srgbClr val="1F2937"/>
                          </a:solidFill>
                        </a:rPr>
                        <a:t>Makarov 150, AK 200, miltiq 250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Yaqin distansiya zonalari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to‘siq bo‘lganda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Stvol uchi va jabrlangan o‘rtasida to‘siq bo‘lsa, o‘q uni teshib o‘tib nishonga tegadi.</a:t>
            </a:r>
          </a:p>
          <a:p>
            <a:pPr>
              <a:spcAft>
                <a:spcPts val="1200"/>
              </a:spcAft>
            </a:pPr>
            <a:r>
              <a:rPr sz="2200">
                <a:solidFill>
                  <a:srgbClr val="1F2937"/>
                </a:solidFill>
                <a:latin typeface="Calibri"/>
              </a:rPr>
              <a:t>▸  Bu holatda barcha qo‘shimcha omillar to‘siqda qoladi.</a:t>
            </a:r>
          </a:p>
          <a:p>
            <a:pPr>
              <a:spcAft>
                <a:spcPts val="1200"/>
              </a:spcAft>
            </a:pPr>
            <a:r>
              <a:rPr sz="2200">
                <a:solidFill>
                  <a:srgbClr val="1F2937"/>
                </a:solidFill>
                <a:latin typeface="Calibri"/>
              </a:rPr>
              <a:t>▸  O‘q to‘siq bilan ta’sirlashganda deformatsiyalanishi, qisman yoki to‘liq parchalanishi mumkin; energiyasi kamayadi, yo‘nalishi o‘zgaradi.</a:t>
            </a:r>
          </a:p>
          <a:p>
            <a:pPr>
              <a:spcAft>
                <a:spcPts val="1200"/>
              </a:spcAft>
            </a:pPr>
            <a:r>
              <a:rPr sz="2200">
                <a:solidFill>
                  <a:srgbClr val="1F2937"/>
                </a:solidFill>
                <a:latin typeface="Calibri"/>
              </a:rPr>
              <a:t>▸  Natijada shu qurol, distansiya va masofadan odatda hosil bo‘ladigan jarohatlardan farqli atipik jarohatlar yetkaziladi.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kirish teshigi atrofida qo‘shimcha omillar ta’siri belgilari aniqlanmaydi.</a:t>
            </a:r>
          </a:p>
          <a:p>
            <a:pPr>
              <a:spcAft>
                <a:spcPts val="800"/>
              </a:spcAft>
            </a:pPr>
            <a:r>
              <a:rPr sz="1800">
                <a:solidFill>
                  <a:srgbClr val="1F2937"/>
                </a:solidFill>
                <a:latin typeface="Calibri"/>
              </a:rPr>
              <a:t>▸  Vinogradov fenomeni uchun o‘q tezligi kamida 500 m/sek, kiyim tanaga yopishmagan va kuchli shamol yo‘q bo‘lishi kerak.</a:t>
            </a:r>
          </a:p>
          <a:p>
            <a:pPr>
              <a:spcAft>
                <a:spcPts val="800"/>
              </a:spcAft>
            </a:pPr>
            <a:r>
              <a:rPr sz="1800">
                <a:solidFill>
                  <a:srgbClr val="1F2937"/>
                </a:solidFill>
                <a:latin typeface="Calibri"/>
              </a:rPr>
              <a:t>▸  Diqqat: Vinogradov fenomeni ≠ yaqin distansiya. Birinchi qavat kiyimning tashqi yuzasida qurum bo‘lmaydi.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Yaqin distansiya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qavat kiyimida qurum bor</a:t>
            </a:r>
          </a:p>
          <a:p>
            <a:pPr algn="l">
              <a:spcAft>
                <a:spcPts val="700"/>
              </a:spcAft>
            </a:pPr>
            <a:r>
              <a:rPr sz="1500" b="1">
                <a:solidFill>
                  <a:srgbClr val="C9A227"/>
                </a:solidFill>
                <a:latin typeface="Calibri"/>
              </a:rPr>
              <a:t>●  </a:t>
            </a:r>
            <a:r>
              <a:rPr sz="1500" b="0">
                <a:solidFill>
                  <a:srgbClr val="1F2937"/>
                </a:solidFill>
                <a:latin typeface="Calibri"/>
              </a:rPr>
              <a:t>Kiyimning tashqi yuzasida</a:t>
            </a:r>
          </a:p>
          <a:p>
            <a:pPr algn="l">
              <a:spcAft>
                <a:spcPts val="700"/>
              </a:spcAft>
            </a:pPr>
            <a:r>
              <a:rPr sz="1500" b="1">
                <a:solidFill>
                  <a:srgbClr val="C9A227"/>
                </a:solidFill>
                <a:latin typeface="Calibri"/>
              </a:rPr>
              <a:t>●  </a:t>
            </a:r>
            <a:r>
              <a:rPr sz="1500" b="0">
                <a:solidFill>
                  <a:srgbClr val="1F2937"/>
                </a:solidFill>
                <a:latin typeface="Calibri"/>
              </a:rPr>
              <a:t>Qurum ko‘p</a:t>
            </a:r>
          </a:p>
          <a:p>
            <a:pPr algn="l">
              <a:spcAft>
                <a:spcPts val="700"/>
              </a:spcAft>
            </a:pPr>
            <a:r>
              <a:rPr sz="1500" b="1">
                <a:solidFill>
                  <a:srgbClr val="C9A227"/>
                </a:solidFill>
                <a:latin typeface="Calibri"/>
              </a:rPr>
              <a:t>●  </a:t>
            </a:r>
            <a:r>
              <a:rPr sz="1500" b="0">
                <a:solidFill>
                  <a:srgbClr val="1F2937"/>
                </a:solidFill>
                <a:latin typeface="Calibri"/>
              </a:rPr>
              <a:t>Markazdan chetga kamayadi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Vinogradov fenomeni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qavatda qurum yo‘q</a:t>
            </a:r>
          </a:p>
          <a:p>
            <a:pPr algn="l">
              <a:spcAft>
                <a:spcPts val="700"/>
              </a:spcAft>
            </a:pPr>
            <a:r>
              <a:rPr sz="1500" b="1">
                <a:solidFill>
                  <a:srgbClr val="C9A227"/>
                </a:solidFill>
                <a:latin typeface="Calibri"/>
              </a:rPr>
              <a:t>●  </a:t>
            </a:r>
            <a:r>
              <a:rPr sz="1500" b="0">
                <a:solidFill>
                  <a:srgbClr val="1F2937"/>
                </a:solidFill>
                <a:latin typeface="Calibri"/>
              </a:rPr>
              <a:t>Ichki qavat va tanada, teshik atrofi</a:t>
            </a:r>
          </a:p>
          <a:p>
            <a:pPr algn="l">
              <a:spcAft>
                <a:spcPts val="700"/>
              </a:spcAft>
            </a:pPr>
            <a:r>
              <a:rPr sz="1500" b="1">
                <a:solidFill>
                  <a:srgbClr val="C9A227"/>
                </a:solidFill>
                <a:latin typeface="Calibri"/>
              </a:rPr>
              <a:t>●  </a:t>
            </a:r>
            <a:r>
              <a:rPr sz="1500" b="0">
                <a:solidFill>
                  <a:srgbClr val="1F2937"/>
                </a:solidFill>
                <a:latin typeface="Calibri"/>
              </a:rPr>
              <a:t>Qurum ancha oz</a:t>
            </a:r>
          </a:p>
          <a:p>
            <a:pPr algn="l">
              <a:spcAft>
                <a:spcPts val="700"/>
              </a:spcAft>
            </a:pPr>
            <a:r>
              <a:rPr sz="1500" b="1">
                <a:solidFill>
                  <a:srgbClr val="C9A227"/>
                </a:solidFill>
                <a:latin typeface="Calibri"/>
              </a:rPr>
              <a:t>●  </a:t>
            </a:r>
            <a:r>
              <a:rPr sz="1500" b="0">
                <a:solidFill>
                  <a:srgbClr val="1F2937"/>
                </a:solidFill>
                <a:latin typeface="Calibri"/>
              </a:rPr>
              <a:t>Chekkaga qarab ortadi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Vinogradov fenomeni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kirish teshigi atrofida faqat porox va metall zarrachalari topilgan. Porox gazlari ta’siri belgilari yo‘q.</a:t>
            </a:r>
          </a:p>
          <a:p>
            <a:pPr>
              <a:spcAft>
                <a:spcPts val="1200"/>
              </a:spcAft>
            </a:pPr>
            <a:r>
              <a:rPr sz="2200">
                <a:solidFill>
                  <a:srgbClr val="1F2937"/>
                </a:solidFill>
                <a:latin typeface="Calibri"/>
              </a:rPr>
              <a:t>▸  Savol: qaysi zonaga mos keladi? Bu belgilar yaqin distansiyaning uchinchi zonasiga xos: Makarov pistoletida 150 sm gacha.</a:t>
            </a:r>
          </a:p>
          <a:p>
            <a:pPr>
              <a:spcAft>
                <a:spcPts val="1200"/>
              </a:spcAft>
            </a:pPr>
            <a:r>
              <a:rPr sz="2200">
                <a:solidFill>
                  <a:srgbClr val="1F2937"/>
                </a:solidFill>
                <a:latin typeface="Calibri"/>
              </a:rPr>
              <a:t>▸  Aniq masofa uchun o‘sha qurol va patrondan foydalanib, o‘xshash nishonlarga tajriba o‘qlari uzilib, natijalar taqqoslanadi.</a:t>
            </a:r>
          </a:p>
          <a:p>
            <a:pPr>
              <a:spcAft>
                <a:spcPts val="1200"/>
              </a:spcAft>
            </a:pPr>
            <a:r>
              <a:rPr sz="2200">
                <a:solidFill>
                  <a:srgbClr val="1F2937"/>
                </a:solidFill>
                <a:latin typeface="Calibri"/>
              </a:rPr>
              <a:t>▸  Diqqat: distansiya belgilar majmui, masofa esa stvol uchi bilan nishon orasidagi uzunlik. Ular bir narsa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86-87,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mexanizmi: zarb ta’siri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Jarohat uch guruh omilga bog‘liq: snaryad xususiyatlari, ballistika va shikastlangan soha xususiyatlari.</a:t>
            </a:r>
          </a:p>
          <a:p>
            <a:pPr>
              <a:spcAft>
                <a:spcPts val="800"/>
              </a:spcAft>
            </a:pPr>
            <a:r>
              <a:rPr sz="1800">
                <a:solidFill>
                  <a:srgbClr val="1F2937"/>
                </a:solidFill>
                <a:latin typeface="Calibri"/>
              </a:rPr>
              <a:t>▸  Zarb kuchi yon va orqaga ham tarqaladi; hosil bo‘lgan vaqtincha bo‘shliqlar pulsatsiyalanadi.</a:t>
            </a:r>
          </a:p>
          <a:p>
            <a:pPr>
              <a:spcAft>
                <a:spcPts val="800"/>
              </a:spcAft>
            </a:pPr>
            <a:r>
              <a:rPr sz="1800">
                <a:solidFill>
                  <a:srgbClr val="1F2937"/>
                </a:solidFill>
                <a:latin typeface="Calibri"/>
              </a:rPr>
              <a:t>▸  Yara devorida uch zona: kanal, lat yeyish (0,3 dan 1–2 sm gacha), chayqalish (4–5 sm va undan ortiq).</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Kuchli zarb</a:t>
            </a:r>
          </a:p>
          <a:p>
            <a:pPr algn="l">
              <a:spcAft>
                <a:spcPts val="200"/>
              </a:spcAft>
            </a:pPr>
            <a:r>
              <a:rPr sz="1400" b="0">
                <a:solidFill>
                  <a:srgbClr val="1F2937"/>
                </a:solidFill>
                <a:latin typeface="Calibri"/>
              </a:rPr>
              <a:t>Kichik yuzaga kuchli zarb</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Siqilish to‘lqini</a:t>
            </a:r>
          </a:p>
          <a:p>
            <a:pPr algn="l">
              <a:spcAft>
                <a:spcPts val="200"/>
              </a:spcAft>
            </a:pPr>
            <a:r>
              <a:rPr sz="1400" b="0">
                <a:solidFill>
                  <a:srgbClr val="1F2937"/>
                </a:solidFill>
                <a:latin typeface="Calibri"/>
              </a:rPr>
              <a:t>Yon tomonga tarqaladi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Bosim fazalari</a:t>
            </a:r>
          </a:p>
          <a:p>
            <a:pPr algn="l">
              <a:spcAft>
                <a:spcPts val="200"/>
              </a:spcAft>
            </a:pPr>
            <a:r>
              <a:rPr sz="1400" b="0">
                <a:solidFill>
                  <a:srgbClr val="1F2937"/>
                </a:solidFill>
                <a:latin typeface="Calibri"/>
              </a:rPr>
              <a:t>Musbat va manfiy bosim</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Bo‘shliq</a:t>
            </a:r>
          </a:p>
          <a:p>
            <a:pPr algn="l">
              <a:spcAft>
                <a:spcPts val="200"/>
              </a:spcAft>
            </a:pPr>
            <a:r>
              <a:rPr sz="1400" b="0">
                <a:solidFill>
                  <a:srgbClr val="1F2937"/>
                </a:solidFill>
                <a:latin typeface="Calibri"/>
              </a:rPr>
              <a:t>Vaqtincha bo‘shliq pulsatsiyasi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Uch zona</a:t>
            </a:r>
          </a:p>
          <a:p>
            <a:pPr algn="l">
              <a:spcAft>
                <a:spcPts val="200"/>
              </a:spcAft>
            </a:pPr>
            <a:r>
              <a:rPr sz="1400" b="0">
                <a:solidFill>
                  <a:srgbClr val="1F2937"/>
                </a:solidFill>
                <a:latin typeface="Calibri"/>
              </a:rPr>
              <a:t>Kanal, lat yeyish, chayqalish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Zarb ta’siri mexanizmi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 90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turlari va yara kanali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Teshib o‘tar jarohatda uch qism farqlanadi: kirish teshigi, yara kanali va chiqish teshigi.</a:t>
            </a:r>
          </a:p>
          <a:p>
            <a:pPr>
              <a:spcAft>
                <a:spcPts val="1200"/>
              </a:spcAft>
            </a:pPr>
            <a:r>
              <a:rPr sz="2200">
                <a:solidFill>
                  <a:srgbClr val="1F2937"/>
                </a:solidFill>
                <a:latin typeface="Calibri"/>
              </a:rPr>
              <a:t>▸  Ko‘r yarada chiqish teshigi bo‘lmaydi, snaryad kanal oxirida qoladi. Yalama jarohatda o‘q to‘liq kirmaydi: uzunchoq shilinma yoki ariqchasimon yara.</a:t>
            </a:r>
          </a:p>
          <a:p>
            <a:pPr>
              <a:spcAft>
                <a:spcPts val="1200"/>
              </a:spcAft>
            </a:pPr>
            <a:r>
              <a:rPr sz="2200">
                <a:solidFill>
                  <a:srgbClr val="1F2937"/>
                </a:solidFill>
                <a:latin typeface="Calibri"/>
              </a:rPr>
              <a:t>▸  Yara kanali to‘g‘ri, siniq yoki yoysimon bo‘ladi. Uzlukli kanal to‘qimalar qisqarishidan hosil bo‘ladi va odatda jarohat hayotiyligini ko‘rsatadi.</a:t>
            </a:r>
          </a:p>
          <a:p>
            <a:pPr>
              <a:spcAft>
                <a:spcPts val="1200"/>
              </a:spcAft>
            </a:pPr>
            <a:r>
              <a:rPr sz="2200">
                <a:solidFill>
                  <a:srgbClr val="1F2937"/>
                </a:solidFill>
                <a:latin typeface="Calibri"/>
              </a:rPr>
              <a:t>▸  Og‘irlik markazi siljigan o‘q tanada turg‘unligini yo‘qotadi. Energiya to‘qimaga to‘liqroq beriladi: katta kanal, ichki a’zolar yorilishi, suyak sinishi.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teshiklarini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Kirish teshigida muftasimon qon quyilish bo‘ladi, to‘qimalar qatlamlarga ajraladi.</a:t>
            </a:r>
          </a:p>
          <a:p>
            <a:pPr>
              <a:spcAft>
                <a:spcPts val="800"/>
              </a:spcAft>
            </a:pPr>
            <a:r>
              <a:rPr sz="1800">
                <a:solidFill>
                  <a:srgbClr val="1F2937"/>
                </a:solidFill>
                <a:latin typeface="Calibri"/>
              </a:rPr>
              <a:t>▸  Chiqishda qon quyilishlar assimetrik, to‘qimalar qatlamlarga ajralmaydi.</a:t>
            </a:r>
          </a:p>
          <a:p>
            <a:pPr>
              <a:spcAft>
                <a:spcPts val="800"/>
              </a:spcAft>
            </a:pPr>
            <a:r>
              <a:rPr sz="1800">
                <a:solidFill>
                  <a:srgbClr val="1F2937"/>
                </a:solidFill>
                <a:latin typeface="Calibri"/>
              </a:rPr>
              <a:t>▸  Diqqat: yupqa sohalarda (bilak, elka) chiqishda ham defekt bo‘lishi mumkin, uchi tashqariga qaraydi.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Kirish teshigi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Dumaloq, oval</a:t>
            </a:r>
          </a:p>
          <a:p>
            <a:pPr algn="l">
              <a:spcAft>
                <a:spcPts val="700"/>
              </a:spcAft>
            </a:pPr>
            <a:r>
              <a:rPr sz="1500" b="1">
                <a:solidFill>
                  <a:srgbClr val="C9A227"/>
                </a:solidFill>
                <a:latin typeface="Calibri"/>
              </a:rPr>
              <a:t>●  </a:t>
            </a:r>
            <a:r>
              <a:rPr sz="1500" b="0">
                <a:solidFill>
                  <a:srgbClr val="1F2937"/>
                </a:solidFill>
                <a:latin typeface="Calibri"/>
              </a:rPr>
              <a:t>To‘qima defekti ko‘pincha bo‘ladi</a:t>
            </a:r>
          </a:p>
          <a:p>
            <a:pPr algn="l">
              <a:spcAft>
                <a:spcPts val="700"/>
              </a:spcAft>
            </a:pPr>
            <a:r>
              <a:rPr sz="1500" b="1">
                <a:solidFill>
                  <a:srgbClr val="C9A227"/>
                </a:solidFill>
                <a:latin typeface="Calibri"/>
              </a:rPr>
              <a:t>●  </a:t>
            </a:r>
            <a:r>
              <a:rPr sz="1500" b="0">
                <a:solidFill>
                  <a:srgbClr val="1F2937"/>
                </a:solidFill>
                <a:latin typeface="Calibri"/>
              </a:rPr>
              <a:t>Chetlari tekis, ichkariga qayrilgan</a:t>
            </a:r>
          </a:p>
          <a:p>
            <a:pPr algn="l">
              <a:spcAft>
                <a:spcPts val="700"/>
              </a:spcAft>
            </a:pPr>
            <a:r>
              <a:rPr sz="1500" b="1">
                <a:solidFill>
                  <a:srgbClr val="C9A227"/>
                </a:solidFill>
                <a:latin typeface="Calibri"/>
              </a:rPr>
              <a:t>●  </a:t>
            </a:r>
            <a:r>
              <a:rPr sz="1500" b="0">
                <a:solidFill>
                  <a:srgbClr val="1F2937"/>
                </a:solidFill>
                <a:latin typeface="Calibri"/>
              </a:rPr>
              <a:t>Shilinish va ifloslanish hoshiyasi bor</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Chiqish teshigi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Yoriqsimon, yoysimon, yulduzsimon</a:t>
            </a:r>
          </a:p>
          <a:p>
            <a:pPr algn="l">
              <a:spcAft>
                <a:spcPts val="700"/>
              </a:spcAft>
            </a:pPr>
            <a:r>
              <a:rPr sz="1500" b="1">
                <a:solidFill>
                  <a:srgbClr val="C9A227"/>
                </a:solidFill>
                <a:latin typeface="Calibri"/>
              </a:rPr>
              <a:t>●  </a:t>
            </a:r>
            <a:r>
              <a:rPr sz="1500" b="0">
                <a:solidFill>
                  <a:srgbClr val="1F2937"/>
                </a:solidFill>
                <a:latin typeface="Calibri"/>
              </a:rPr>
              <a:t>Defekt kamdan kam bo‘ladi</a:t>
            </a:r>
          </a:p>
          <a:p>
            <a:pPr algn="l">
              <a:spcAft>
                <a:spcPts val="700"/>
              </a:spcAft>
            </a:pPr>
            <a:r>
              <a:rPr sz="1500" b="1">
                <a:solidFill>
                  <a:srgbClr val="C9A227"/>
                </a:solidFill>
                <a:latin typeface="Calibri"/>
              </a:rPr>
              <a:t>●  </a:t>
            </a:r>
            <a:r>
              <a:rPr sz="1500" b="0">
                <a:solidFill>
                  <a:srgbClr val="1F2937"/>
                </a:solidFill>
                <a:latin typeface="Calibri"/>
              </a:rPr>
              <a:t>Chetlari notekis, tashqariga qayrilgan</a:t>
            </a:r>
          </a:p>
          <a:p>
            <a:pPr algn="l">
              <a:spcAft>
                <a:spcPts val="700"/>
              </a:spcAft>
            </a:pPr>
            <a:r>
              <a:rPr sz="1500" b="1">
                <a:solidFill>
                  <a:srgbClr val="C9A227"/>
                </a:solidFill>
                <a:latin typeface="Calibri"/>
              </a:rPr>
              <a:t>●  </a:t>
            </a:r>
            <a:r>
              <a:rPr sz="1500" b="0">
                <a:solidFill>
                  <a:srgbClr val="1F2937"/>
                </a:solidFill>
                <a:latin typeface="Calibri"/>
              </a:rPr>
              <a:t>Hoshiyalar odatda yo‘q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Kirish va chiqish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92,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Hoshiyalar va suyaklardagi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Kirish chetida kengligi 1-3 mm shilinish hoshiyasi hosil bo‘ladi, uning tashqi diametri o‘q diametriga teng. Yumshoq sohalarda (qorin, dumba) u kengroq bo‘ladi.</a:t>
            </a:r>
          </a:p>
          <a:p>
            <a:pPr>
              <a:spcAft>
                <a:spcPts val="1200"/>
              </a:spcAft>
            </a:pPr>
            <a:r>
              <a:rPr sz="2200">
                <a:solidFill>
                  <a:srgbClr val="1F2937"/>
                </a:solidFill>
                <a:latin typeface="Calibri"/>
              </a:rPr>
              <a:t>▸  O‘q yuzasidagi qurum va moy teri chetida ifloslanish hoshiyasini hosil qiladi. Ikki hoshiya ustma-ust joylashadi; Pirogov kitobida (1865) keltirilgan.</a:t>
            </a:r>
          </a:p>
          <a:p>
            <a:pPr>
              <a:spcAft>
                <a:spcPts val="1200"/>
              </a:spcAft>
            </a:pPr>
            <a:r>
              <a:rPr sz="2200">
                <a:solidFill>
                  <a:srgbClr val="1F2937"/>
                </a:solidFill>
                <a:latin typeface="Calibri"/>
              </a:rPr>
              <a:t>▸  Yassi suyakda o‘q kirgan joyda kesik konus shaklidagi defekt hosil bo‘ladi. Snaryad yo‘nalishi kichik asosdan katta asos tomonga qaraydi.</a:t>
            </a:r>
          </a:p>
          <a:p>
            <a:pPr>
              <a:spcAft>
                <a:spcPts val="1200"/>
              </a:spcAft>
            </a:pPr>
            <a:r>
              <a:rPr sz="2200">
                <a:solidFill>
                  <a:srgbClr val="1F2937"/>
                </a:solidFill>
                <a:latin typeface="Calibri"/>
              </a:rPr>
              <a:t>▸  Naysimon suyakda kirishda radial darzli dumaloq defekt bo‘ladi. Chiqishda defekt kattaroq, darzlar uzunasiga yo‘nalgan.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 92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teshik dumaloq yoki oval, chetlari nisbatan tekis va ichkariga qayrilgan? Javob: kirish teshigi.</a:t>
            </a:r>
          </a:p>
          <a:p>
            <a:pPr>
              <a:spcAft>
                <a:spcPts val="1200"/>
              </a:spcAft>
            </a:pPr>
            <a:r>
              <a:rPr sz="2200">
                <a:solidFill>
                  <a:srgbClr val="1F2937"/>
                </a:solidFill>
                <a:latin typeface="Calibri"/>
              </a:rPr>
              <a:t>▸  Savol: shilinish va ifloslanish hoshiyasi qayerda bo‘ladi? Javob: kirish teshigida; chiqish teshigida ko‘pincha bo‘lmaydi.</a:t>
            </a:r>
          </a:p>
          <a:p>
            <a:pPr>
              <a:spcAft>
                <a:spcPts val="1200"/>
              </a:spcAft>
            </a:pPr>
            <a:r>
              <a:rPr sz="2200">
                <a:solidFill>
                  <a:srgbClr val="1F2937"/>
                </a:solidFill>
                <a:latin typeface="Calibri"/>
              </a:rPr>
              <a:t>▸  Savol: to‘qima defekti qaysi teshikka xos? Javob: kirish teshigiga; chiqishda kamdan kam hollarda uchraydi.</a:t>
            </a:r>
          </a:p>
          <a:p>
            <a:pPr>
              <a:spcAft>
                <a:spcPts val="1200"/>
              </a:spcAft>
            </a:pPr>
            <a:r>
              <a:rPr sz="2200">
                <a:solidFill>
                  <a:srgbClr val="1F2937"/>
                </a:solidFill>
                <a:latin typeface="Calibri"/>
              </a:rPr>
              <a:t>▸  Diqqat: xato qilish xavfi. Chiqish teshigi kattaroq, yoriqsimon yoki yulduzsimon, chetlari tashqariga qayrilgan. Kirish teshigi bilan adashtirmang.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 91-92, 92-93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va snaryadsiz patronlardan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 silliq stvolli ov miltig‘ida ishlatiladi. Odatda ko‘r yaralar hosil bo‘ladi.</a:t>
            </a:r>
          </a:p>
          <a:p>
            <a:pPr>
              <a:spcAft>
                <a:spcPts val="800"/>
              </a:spcAft>
            </a:pPr>
            <a:r>
              <a:rPr sz="1800">
                <a:solidFill>
                  <a:srgbClr val="1F2937"/>
                </a:solidFill>
                <a:latin typeface="Calibri"/>
              </a:rPr>
              <a:t>▸  Snaryadsiz patronda o‘q yo‘q: jarohatni tirab yoki yaqindan otishda porox gazlari yetkazadi.</a:t>
            </a:r>
          </a:p>
          <a:p>
            <a:pPr>
              <a:spcAft>
                <a:spcPts val="800"/>
              </a:spcAft>
            </a:pPr>
            <a:r>
              <a:rPr sz="1800">
                <a:solidFill>
                  <a:srgbClr val="1F2937"/>
                </a:solidFill>
                <a:latin typeface="Calibri"/>
              </a:rPr>
              <a:t>▸  Tirab otilsa ko‘r yara va ichki a’zolar yorilishi mumkin; bir necha sm da jiddiy jarohat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84751"/>
                <a:gridCol w="1219200"/>
                <a:gridCol w="2684023"/>
              </a:tblGrid>
              <a:tr h="614476">
                <a:tc>
                  <a:txBody>
                    <a:bodyPr/>
                    <a:lstStyle/>
                    <a:p>
                      <a:r>
                        <a:rPr sz="1600" b="1">
                          <a:solidFill>
                            <a:srgbClr val="FFFFFF"/>
                          </a:solidFill>
                        </a:rPr>
                        <a:t>Masofa</a:t>
                      </a:r>
                    </a:p>
                  </a:txBody>
                  <a:tcPr marL="73152" marR="73152" marT="36576" marB="36576">
                    <a:solidFill>
                      <a:srgbClr val="0B1F3A"/>
                    </a:solidFill>
                  </a:tcPr>
                </a:tc>
                <a:tc>
                  <a:txBody>
                    <a:bodyPr/>
                    <a:lstStyle/>
                    <a:p>
                      <a:r>
                        <a:rPr sz="1600" b="1">
                          <a:solidFill>
                            <a:srgbClr val="FFFFFF"/>
                          </a:solidFill>
                        </a:rPr>
                        <a:t>Ta’sir turi</a:t>
                      </a:r>
                    </a:p>
                  </a:txBody>
                  <a:tcPr marL="73152" marR="73152" marT="36576" marB="36576">
                    <a:solidFill>
                      <a:srgbClr val="0B1F3A"/>
                    </a:solidFill>
                  </a:tcPr>
                </a:tc>
                <a:tc>
                  <a:txBody>
                    <a:bodyPr/>
                    <a:lstStyle/>
                    <a:p>
                      <a:r>
                        <a:rPr sz="1600" b="1">
                          <a:solidFill>
                            <a:srgbClr val="FFFFFF"/>
                          </a:solidFill>
                        </a:rPr>
                        <a:t>Jarohat</a:t>
                      </a:r>
                    </a:p>
                  </a:txBody>
                  <a:tcPr marL="73152" marR="73152" marT="36576" marB="36576">
                    <a:solidFill>
                      <a:srgbClr val="0B1F3A"/>
                    </a:solidFill>
                  </a:tcPr>
                </a:tc>
              </a:tr>
              <a:tr h="614476">
                <a:tc>
                  <a:txBody>
                    <a:bodyPr/>
                    <a:lstStyle/>
                    <a:p>
                      <a:r>
                        <a:rPr sz="1500" b="0">
                          <a:solidFill>
                            <a:srgbClr val="1F2937"/>
                          </a:solidFill>
                        </a:rPr>
                        <a:t>Tirab yoki 1 m gacha</a:t>
                      </a:r>
                    </a:p>
                  </a:txBody>
                  <a:tcPr marL="73152" marR="73152" marT="36576" marB="36576">
                    <a:solidFill>
                      <a:srgbClr val="E8EEF6"/>
                    </a:solidFill>
                  </a:tcPr>
                </a:tc>
                <a:tc>
                  <a:txBody>
                    <a:bodyPr/>
                    <a:lstStyle/>
                    <a:p>
                      <a:r>
                        <a:rPr sz="1500" b="0">
                          <a:solidFill>
                            <a:srgbClr val="1F2937"/>
                          </a:solidFill>
                        </a:rPr>
                        <a:t>Kompakt</a:t>
                      </a:r>
                    </a:p>
                  </a:txBody>
                  <a:tcPr marL="73152" marR="73152" marT="36576" marB="36576">
                    <a:solidFill>
                      <a:srgbClr val="E8EEF6"/>
                    </a:solidFill>
                  </a:tcPr>
                </a:tc>
                <a:tc>
                  <a:txBody>
                    <a:bodyPr/>
                    <a:lstStyle/>
                    <a:p>
                      <a:r>
                        <a:rPr sz="1500" b="0">
                          <a:solidFill>
                            <a:srgbClr val="1F2937"/>
                          </a:solidFill>
                        </a:rPr>
                        <a:t>Bitta teshik, patron diametriga teng</a:t>
                      </a:r>
                    </a:p>
                  </a:txBody>
                  <a:tcPr marL="73152" marR="73152" marT="36576" marB="36576">
                    <a:solidFill>
                      <a:srgbClr val="E8EEF6"/>
                    </a:solidFill>
                  </a:tcPr>
                </a:tc>
              </a:tr>
              <a:tr h="614476">
                <a:tc>
                  <a:txBody>
                    <a:bodyPr/>
                    <a:lstStyle/>
                    <a:p>
                      <a:r>
                        <a:rPr sz="1500" b="0">
                          <a:solidFill>
                            <a:srgbClr val="1F2937"/>
                          </a:solidFill>
                        </a:rPr>
                        <a:t>5 m gacha</a:t>
                      </a:r>
                    </a:p>
                  </a:txBody>
                  <a:tcPr marL="73152" marR="73152" marT="36576" marB="36576">
                    <a:solidFill>
                      <a:srgbClr val="FFFFFF"/>
                    </a:solidFill>
                  </a:tcPr>
                </a:tc>
                <a:tc>
                  <a:txBody>
                    <a:bodyPr/>
                    <a:lstStyle/>
                    <a:p>
                      <a:r>
                        <a:rPr sz="1500" b="0">
                          <a:solidFill>
                            <a:srgbClr val="1F2937"/>
                          </a:solidFill>
                        </a:rPr>
                        <a:t>Nisbiy tarqalma</a:t>
                      </a:r>
                    </a:p>
                  </a:txBody>
                  <a:tcPr marL="73152" marR="73152" marT="36576" marB="36576">
                    <a:solidFill>
                      <a:srgbClr val="FFFFFF"/>
                    </a:solidFill>
                  </a:tcPr>
                </a:tc>
                <a:tc>
                  <a:txBody>
                    <a:bodyPr/>
                    <a:lstStyle/>
                    <a:p>
                      <a:r>
                        <a:rPr sz="1500" b="0">
                          <a:solidFill>
                            <a:srgbClr val="1F2937"/>
                          </a:solidFill>
                        </a:rPr>
                        <a:t>Asosiy teshik va atrofida mayda yaralar</a:t>
                      </a:r>
                    </a:p>
                  </a:txBody>
                  <a:tcPr marL="73152" marR="73152" marT="36576" marB="36576">
                    <a:solidFill>
                      <a:srgbClr val="FFFFFF"/>
                    </a:solidFill>
                  </a:tcPr>
                </a:tc>
              </a:tr>
              <a:tr h="614476">
                <a:tc>
                  <a:txBody>
                    <a:bodyPr/>
                    <a:lstStyle/>
                    <a:p>
                      <a:r>
                        <a:rPr sz="1500" b="0">
                          <a:solidFill>
                            <a:srgbClr val="1F2937"/>
                          </a:solidFill>
                        </a:rPr>
                        <a:t>5 m dan uzoq</a:t>
                      </a:r>
                    </a:p>
                  </a:txBody>
                  <a:tcPr marL="73152" marR="73152" marT="36576" marB="36576">
                    <a:solidFill>
                      <a:srgbClr val="E8EEF6"/>
                    </a:solidFill>
                  </a:tcPr>
                </a:tc>
                <a:tc>
                  <a:txBody>
                    <a:bodyPr/>
                    <a:lstStyle/>
                    <a:p>
                      <a:r>
                        <a:rPr sz="1500" b="0">
                          <a:solidFill>
                            <a:srgbClr val="1F2937"/>
                          </a:solidFill>
                        </a:rPr>
                        <a:t>Tarqalma</a:t>
                      </a:r>
                    </a:p>
                  </a:txBody>
                  <a:tcPr marL="73152" marR="73152" marT="36576" marB="36576">
                    <a:solidFill>
                      <a:srgbClr val="E8EEF6"/>
                    </a:solidFill>
                  </a:tcPr>
                </a:tc>
                <a:tc>
                  <a:txBody>
                    <a:bodyPr/>
                    <a:lstStyle/>
                    <a:p>
                      <a:r>
                        <a:rPr sz="1500" b="0">
                          <a:solidFill>
                            <a:srgbClr val="1F2937"/>
                          </a:solidFill>
                        </a:rPr>
                        <a:t>Mayda, o‘xshash yaralar</a:t>
                      </a:r>
                    </a:p>
                  </a:txBody>
                  <a:tcPr marL="73152" marR="73152" marT="36576" marB="36576">
                    <a:solidFill>
                      <a:srgbClr val="E8EEF6"/>
                    </a:solidFill>
                  </a:tcPr>
                </a:tc>
              </a:tr>
              <a:tr h="614476">
                <a:tc>
                  <a:txBody>
                    <a:bodyPr/>
                    <a:lstStyle/>
                    <a:p>
                      <a:r>
                        <a:rPr sz="1500" b="0">
                          <a:solidFill>
                            <a:srgbClr val="1F2937"/>
                          </a:solidFill>
                        </a:rPr>
                        <a:t>Tirab (bo‘sh patron)</a:t>
                      </a:r>
                    </a:p>
                  </a:txBody>
                  <a:tcPr marL="73152" marR="73152" marT="36576" marB="36576">
                    <a:solidFill>
                      <a:srgbClr val="FFFFFF"/>
                    </a:solidFill>
                  </a:tcPr>
                </a:tc>
                <a:tc>
                  <a:txBody>
                    <a:bodyPr/>
                    <a:lstStyle/>
                    <a:p>
                      <a:r>
                        <a:rPr sz="1500" b="0">
                          <a:solidFill>
                            <a:srgbClr val="1F2937"/>
                          </a:solidFill>
                        </a:rPr>
                        <a:t>Porox gazlari</a:t>
                      </a:r>
                    </a:p>
                  </a:txBody>
                  <a:tcPr marL="73152" marR="73152" marT="36576" marB="36576">
                    <a:solidFill>
                      <a:srgbClr val="FFFFFF"/>
                    </a:solidFill>
                  </a:tcPr>
                </a:tc>
                <a:tc>
                  <a:txBody>
                    <a:bodyPr/>
                    <a:lstStyle/>
                    <a:p>
                      <a:r>
                        <a:rPr sz="1500" b="0">
                          <a:solidFill>
                            <a:srgbClr val="1F2937"/>
                          </a:solidFill>
                        </a:rPr>
                        <a:t>Katta defekt, chetlari yoriqli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Sochma va bo‘sh patron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93, 94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Gaz va pnevmatik qurollardan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Gaz quroli irritant (ko‘z, burun, tomoq, nafas yo‘llarini ta’sirlovchi modda) bilan vaqtincha ishdan chiqaradi. Ta’sir 2-3 m da, taxminan bir soat davom etadi.</a:t>
            </a:r>
          </a:p>
          <a:p>
            <a:pPr>
              <a:spcAft>
                <a:spcPts val="1200"/>
              </a:spcAft>
            </a:pPr>
            <a:r>
              <a:rPr sz="2000">
                <a:solidFill>
                  <a:srgbClr val="1F2937"/>
                </a:solidFill>
                <a:latin typeface="Calibri"/>
              </a:rPr>
              <a:t>▸  Belgilari: og‘riq, yo‘tal, ko‘zdan yosh oqishi, blefarospazm. Asorat: keratit, kon’yunktivit, bronxit, pnevmoniya. Qoldiq oqibat 7 kungacha aniqlanadi.</a:t>
            </a:r>
          </a:p>
          <a:p>
            <a:pPr>
              <a:spcAft>
                <a:spcPts val="1200"/>
              </a:spcAft>
            </a:pPr>
            <a:r>
              <a:rPr sz="2000">
                <a:solidFill>
                  <a:srgbClr val="1F2937"/>
                </a:solidFill>
                <a:latin typeface="Calibri"/>
              </a:rPr>
              <a:t>▸  Sud-kimyoviy tekshiruvda irritant izlari teri, kiyim va buyumlardan etil spirtli doka tampon bilan olinadi va germetik idishda laboratoriyaga yuboriladi.</a:t>
            </a:r>
          </a:p>
          <a:p>
            <a:pPr>
              <a:spcAft>
                <a:spcPts val="1200"/>
              </a:spcAft>
            </a:pPr>
            <a:r>
              <a:rPr sz="2000">
                <a:solidFill>
                  <a:srgbClr val="1F2937"/>
                </a:solidFill>
                <a:latin typeface="Calibri"/>
              </a:rPr>
              <a:t>▸  Pnevmatik qurol o‘qi siqilgan havo bilan uchadi va 30-50 m ga yetadi. Qo‘shimcha omil izi yo‘q, yara ko‘r; ba’zan og‘ir jarohat o‘limga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95, 95-96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hollarida ekspertiza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Savollar: jarohat o‘q otar quroldan yetkazilganmi, qanday qurol va snaryaddan? Distansiya, masofa, kirish-chiqish teshiklari, yara kanali yo‘nalishi aniqlanadi.</a:t>
            </a:r>
          </a:p>
          <a:p>
            <a:pPr>
              <a:spcAft>
                <a:spcPts val="1200"/>
              </a:spcAft>
            </a:pPr>
            <a:r>
              <a:rPr sz="2000">
                <a:solidFill>
                  <a:srgbClr val="1F2937"/>
                </a:solidFill>
                <a:latin typeface="Calibri"/>
              </a:rPr>
              <a:t>▸  Yana so‘raladi: stvol va jabrlanganning o‘zaro holati, jarohatlar ketma-ketligi, qurol avtomatikmi, jarohat jabrlanganning o‘zi tomonidan yetkazilganmi.</a:t>
            </a:r>
          </a:p>
          <a:p>
            <a:pPr>
              <a:spcAft>
                <a:spcPts val="1200"/>
              </a:spcAft>
            </a:pPr>
            <a:r>
              <a:rPr sz="2000">
                <a:solidFill>
                  <a:srgbClr val="1F2937"/>
                </a:solidFill>
                <a:latin typeface="Calibri"/>
              </a:rPr>
              <a:t>▸  Ketma-ketlik: dastlabki jarohatda qon quyilish yaqqolroq, qurum va metall zarrachalari keyingisida ko‘proq, moy zarralari esa dastlabkisida ko‘proq bo‘ladi.</a:t>
            </a:r>
          </a:p>
          <a:p>
            <a:pPr>
              <a:spcAft>
                <a:spcPts val="1200"/>
              </a:spcAft>
            </a:pPr>
            <a:r>
              <a:rPr sz="2000">
                <a:solidFill>
                  <a:srgbClr val="1F2937"/>
                </a:solidFill>
                <a:latin typeface="Calibri"/>
              </a:rPr>
              <a:t>▸  Avtomatik qurolda (minutiga 900 tagacha o‘q) bir tomonda ko‘p yaqin jarohat bo‘ladi; teshik shakli, kanal yo‘nalishi va distansiya farqlanmaydi.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96, 97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usullari va tibbiy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ekspertizasida makro- va mikroskopik tekshiruvga instrumental va laboratoriya usullari qo‘shiladi.</a:t>
            </a:r>
          </a:p>
          <a:p>
            <a:pPr>
              <a:spcAft>
                <a:spcPts val="800"/>
              </a:spcAft>
            </a:pPr>
            <a:r>
              <a:rPr sz="1800">
                <a:solidFill>
                  <a:srgbClr val="1F2937"/>
                </a:solidFill>
                <a:latin typeface="Calibri"/>
              </a:rPr>
              <a:t>▸  Muolajada jarohat belgilari o‘zgaradi; vrach teshiklar va kanalni tibbiy hujjatga to‘liq yozishi lozim.</a:t>
            </a:r>
          </a:p>
          <a:p>
            <a:pPr>
              <a:spcAft>
                <a:spcPts val="800"/>
              </a:spcAft>
            </a:pPr>
            <a:r>
              <a:rPr sz="1800">
                <a:solidFill>
                  <a:srgbClr val="1F2937"/>
                </a:solidFill>
                <a:latin typeface="Calibri"/>
              </a:rPr>
              <a:t>▸  Yara kanalidagi o‘q, sochmalar, kiyim va poyafzal o‘ramda huquqni muhofaza etuvchi idoralarga topshiriladi.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83763"/>
                <a:gridCol w="2604212"/>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Nimani topadi</a:t>
                      </a:r>
                    </a:p>
                  </a:txBody>
                  <a:tcPr marL="73152" marR="73152" marT="36576" marB="36576">
                    <a:solidFill>
                      <a:srgbClr val="0B1F3A"/>
                    </a:solidFill>
                  </a:tcPr>
                </a:tc>
              </a:tr>
              <a:tr h="614476">
                <a:tc>
                  <a:txBody>
                    <a:bodyPr/>
                    <a:lstStyle/>
                    <a:p>
                      <a:r>
                        <a:rPr sz="1700" b="0">
                          <a:solidFill>
                            <a:srgbClr val="1F2937"/>
                          </a:solidFill>
                        </a:rPr>
                        <a:t>Rentgen; Bukki nurlari</a:t>
                      </a:r>
                    </a:p>
                  </a:txBody>
                  <a:tcPr marL="73152" marR="73152" marT="36576" marB="36576">
                    <a:solidFill>
                      <a:srgbClr val="E8EEF6"/>
                    </a:solidFill>
                  </a:tcPr>
                </a:tc>
                <a:tc>
                  <a:txBody>
                    <a:bodyPr/>
                    <a:lstStyle/>
                    <a:p>
                      <a:r>
                        <a:rPr sz="1700" b="0">
                          <a:solidFill>
                            <a:srgbClr val="1F2937"/>
                          </a:solidFill>
                        </a:rPr>
                        <a:t>O‘q, sochma; teshik atrofida metall</a:t>
                      </a:r>
                    </a:p>
                  </a:txBody>
                  <a:tcPr marL="73152" marR="73152" marT="36576" marB="36576">
                    <a:solidFill>
                      <a:srgbClr val="E8EEF6"/>
                    </a:solidFill>
                  </a:tcPr>
                </a:tc>
              </a:tr>
              <a:tr h="614476">
                <a:tc>
                  <a:txBody>
                    <a:bodyPr/>
                    <a:lstStyle/>
                    <a:p>
                      <a:r>
                        <a:rPr sz="1700" b="0">
                          <a:solidFill>
                            <a:srgbClr val="1F2937"/>
                          </a:solidFill>
                        </a:rPr>
                        <a:t>Kontakt-diffuzion; spektral</a:t>
                      </a:r>
                    </a:p>
                  </a:txBody>
                  <a:tcPr marL="73152" marR="73152" marT="36576" marB="36576">
                    <a:solidFill>
                      <a:srgbClr val="FFFFFF"/>
                    </a:solidFill>
                  </a:tcPr>
                </a:tc>
                <a:tc>
                  <a:txBody>
                    <a:bodyPr/>
                    <a:lstStyle/>
                    <a:p>
                      <a:r>
                        <a:rPr sz="1700" b="0">
                          <a:solidFill>
                            <a:srgbClr val="1F2937"/>
                          </a:solidFill>
                        </a:rPr>
                        <a:t>Metall borligi va turi</a:t>
                      </a:r>
                    </a:p>
                  </a:txBody>
                  <a:tcPr marL="73152" marR="73152" marT="36576" marB="36576">
                    <a:solidFill>
                      <a:srgbClr val="FFFFFF"/>
                    </a:solidFill>
                  </a:tcPr>
                </a:tc>
              </a:tr>
              <a:tr h="614476">
                <a:tc>
                  <a:txBody>
                    <a:bodyPr/>
                    <a:lstStyle/>
                    <a:p>
                      <a:r>
                        <a:rPr sz="1700" b="0">
                          <a:solidFill>
                            <a:srgbClr val="1F2937"/>
                          </a:solidFill>
                        </a:rPr>
                        <a:t>Ultrabinafsha (UB) nur</a:t>
                      </a:r>
                    </a:p>
                  </a:txBody>
                  <a:tcPr marL="73152" marR="73152" marT="36576" marB="36576">
                    <a:solidFill>
                      <a:srgbClr val="E8EEF6"/>
                    </a:solidFill>
                  </a:tcPr>
                </a:tc>
                <a:tc>
                  <a:txBody>
                    <a:bodyPr/>
                    <a:lstStyle/>
                    <a:p>
                      <a:r>
                        <a:rPr sz="1700" b="0">
                          <a:solidFill>
                            <a:srgbClr val="1F2937"/>
                          </a:solidFill>
                        </a:rPr>
                        <a:t>Oz miqdordagi qurum va moy</a:t>
                      </a:r>
                    </a:p>
                  </a:txBody>
                  <a:tcPr marL="73152" marR="73152" marT="36576" marB="36576">
                    <a:solidFill>
                      <a:srgbClr val="E8EEF6"/>
                    </a:solidFill>
                  </a:tcPr>
                </a:tc>
              </a:tr>
              <a:tr h="614476">
                <a:tc>
                  <a:txBody>
                    <a:bodyPr/>
                    <a:lstStyle/>
                    <a:p>
                      <a:r>
                        <a:rPr sz="1700" b="0">
                          <a:solidFill>
                            <a:srgbClr val="1F2937"/>
                          </a:solidFill>
                        </a:rPr>
                        <a:t>Infraqizil (IQ) fotografiya</a:t>
                      </a:r>
                    </a:p>
                  </a:txBody>
                  <a:tcPr marL="73152" marR="73152" marT="36576" marB="36576">
                    <a:solidFill>
                      <a:srgbClr val="FFFFFF"/>
                    </a:solidFill>
                  </a:tcPr>
                </a:tc>
                <a:tc>
                  <a:txBody>
                    <a:bodyPr/>
                    <a:lstStyle/>
                    <a:p>
                      <a:r>
                        <a:rPr sz="1700" b="0">
                          <a:solidFill>
                            <a:srgbClr val="1F2937"/>
                          </a:solidFill>
                        </a:rPr>
                        <a:t>To‘q kiyimda qurum, porox, metall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Instrumental usullar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o‘z-o‘ziga yetkazish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 murda yonida o‘q otar qurol topildi. Qo‘l yuzalarida, burun va quloq teshiklarida qurum izlari bor.</a:t>
            </a:r>
          </a:p>
          <a:p>
            <a:pPr>
              <a:spcAft>
                <a:spcPts val="1200"/>
              </a:spcAft>
            </a:pPr>
            <a:r>
              <a:rPr sz="2200">
                <a:solidFill>
                  <a:srgbClr val="1F2937"/>
                </a:solidFill>
                <a:latin typeface="Calibri"/>
              </a:rPr>
              <a:t>▸  Qurol stvolining uchida va qo‘l kaftida jabrlanganning qon izlari topildi; bu o‘zi otganligini taxmin qildirishi mumkin.</a:t>
            </a:r>
          </a:p>
          <a:p>
            <a:pPr>
              <a:spcAft>
                <a:spcPts val="1200"/>
              </a:spcAft>
            </a:pPr>
            <a:r>
              <a:rPr sz="2200">
                <a:solidFill>
                  <a:srgbClr val="1F2937"/>
                </a:solidFill>
                <a:latin typeface="Calibri"/>
              </a:rPr>
              <a:t>▸  Tekshiriladi: tepkini o‘zi bosa olganmi, otish distansiyasi va masofasi hamda jarohat kanalining yo‘nalishi mos keladimi.</a:t>
            </a:r>
          </a:p>
          <a:p>
            <a:pPr>
              <a:spcAft>
                <a:spcPts val="1200"/>
              </a:spcAft>
            </a:pPr>
            <a:r>
              <a:rPr sz="2200">
                <a:solidFill>
                  <a:srgbClr val="1F2937"/>
                </a:solidFill>
                <a:latin typeface="Calibri"/>
              </a:rPr>
              <a:t>▸  Savol: nega bitta belgi bilan xulosa qilib bo‘lmaydi? Masala qator holatlarni birgalikda aniqlash orqali hal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 tushuncha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Portlash — moddalarning fizik yoki kimyoviy o‘zgarishi natijasida juda qisqa vaqtda katta miqdordagi energiyaning ajralishi.</a:t>
            </a:r>
          </a:p>
          <a:p>
            <a:pPr>
              <a:spcAft>
                <a:spcPts val="1200"/>
              </a:spcAft>
            </a:pPr>
            <a:r>
              <a:rPr sz="2200">
                <a:solidFill>
                  <a:srgbClr val="1F2937"/>
                </a:solidFill>
                <a:latin typeface="Calibri"/>
              </a:rPr>
              <a:t>▸  Portlash uch turga bo‘linadi: tabiiy (yashin, vulqon, meteorit), qasddan (portlovchi moddalar) va tasodifiy (gaz ballonlari, bug‘ qozonlari).</a:t>
            </a:r>
          </a:p>
          <a:p>
            <a:pPr>
              <a:spcAft>
                <a:spcPts val="1200"/>
              </a:spcAft>
            </a:pPr>
            <a:r>
              <a:rPr sz="2200">
                <a:solidFill>
                  <a:srgbClr val="1F2937"/>
                </a:solidFill>
                <a:latin typeface="Calibri"/>
              </a:rPr>
              <a:t>▸  Portlovchi modda yonish yoki detonatsiya orqali o‘zgaradi. Yonish sekinroq, ammo yopiq muhitda tezlashadi: qora porox 400 m/sek gacha yonadi.</a:t>
            </a:r>
          </a:p>
          <a:p>
            <a:pPr>
              <a:spcAft>
                <a:spcPts val="1200"/>
              </a:spcAft>
            </a:pPr>
            <a:r>
              <a:rPr sz="2200">
                <a:solidFill>
                  <a:srgbClr val="1F2937"/>
                </a:solidFill>
                <a:latin typeface="Calibri"/>
              </a:rPr>
              <a:t>▸  Detonatsiya zarb to‘lqini ta’sirida bo‘ladi va tezligi bir necha ming m/sek. Trotilda bosim yuz ming atmosferadan oshadi. Diqqat: yonish ≠ detonatsiya.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Portlovchi moddalar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Agregat holati bo‘yicha portlovchi moddalar qattiq, suyuq va gazsimon bo‘ladi.</a:t>
            </a:r>
          </a:p>
          <a:p>
            <a:pPr>
              <a:spcAft>
                <a:spcPts val="800"/>
              </a:spcAft>
            </a:pPr>
            <a:r>
              <a:rPr sz="1800">
                <a:solidFill>
                  <a:srgbClr val="1F2937"/>
                </a:solidFill>
                <a:latin typeface="Calibri"/>
              </a:rPr>
              <a:t>▸  Birlamchi moddalar juda sezgir, shuning uchun o‘q otar qurol kapsyuli va detonatorlar tarkibida bo‘ladi.</a:t>
            </a:r>
          </a:p>
          <a:p>
            <a:pPr>
              <a:spcAft>
                <a:spcPts val="800"/>
              </a:spcAft>
            </a:pPr>
            <a:r>
              <a:rPr sz="1800">
                <a:solidFill>
                  <a:srgbClr val="1F2937"/>
                </a:solidFill>
                <a:latin typeface="Calibri"/>
              </a:rPr>
              <a:t>▸  Ikkilamchi moddalar snaryad, granata, mina, bomba, qurilish va tog‘-kon sanoatida ishlatiladi.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Portlovchi moddalar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Birlamchi (initsial)</a:t>
            </a:r>
          </a:p>
          <a:p>
            <a:pPr algn="l">
              <a:spcAft>
                <a:spcPts val="0"/>
              </a:spcAft>
            </a:pPr>
            <a:r>
              <a:rPr sz="1200" b="0">
                <a:solidFill>
                  <a:srgbClr val="1F2937"/>
                </a:solidFill>
                <a:latin typeface="Calibri"/>
              </a:rPr>
              <a:t>Juda sezgir; kapsyul, detonator  ·  Simob sianid</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(brizant)</a:t>
            </a:r>
          </a:p>
          <a:p>
            <a:pPr algn="l">
              <a:spcAft>
                <a:spcPts val="0"/>
              </a:spcAft>
            </a:pPr>
            <a:r>
              <a:rPr sz="1200" b="0">
                <a:solidFill>
                  <a:srgbClr val="1F2937"/>
                </a:solidFill>
                <a:latin typeface="Calibri"/>
              </a:rPr>
              <a:t>Detonatsiya ta’sirida qo‘zg‘aladi  ·  Trotil, ammonal</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Tarqatuvchi</a:t>
            </a:r>
          </a:p>
          <a:p>
            <a:pPr algn="l">
              <a:spcAft>
                <a:spcPts val="0"/>
              </a:spcAft>
            </a:pPr>
            <a:r>
              <a:rPr sz="1200" b="0">
                <a:solidFill>
                  <a:srgbClr val="1F2937"/>
                </a:solidFill>
                <a:latin typeface="Calibri"/>
              </a:rPr>
              <a:t>Yonib parchalanadi: porox</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Pirotexnik tarkib</a:t>
            </a:r>
          </a:p>
          <a:p>
            <a:pPr algn="l">
              <a:spcAft>
                <a:spcPts val="0"/>
              </a:spcAft>
            </a:pPr>
            <a:r>
              <a:rPr sz="1200" b="0">
                <a:solidFill>
                  <a:srgbClr val="1F2937"/>
                </a:solidFill>
                <a:latin typeface="Calibri"/>
              </a:rPr>
              <a:t>Oksidlovchi va yonilg‘i aralashmasi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Moddalar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 99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ta’sir turlari (Popov)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Portlash omillari mexanik, termik, kimyoviy va baroakustik shikast beradi (V.L.Popov bo‘yicha jadval).</a:t>
            </a:r>
          </a:p>
          <a:p>
            <a:pPr>
              <a:spcAft>
                <a:spcPts val="800"/>
              </a:spcAft>
            </a:pPr>
            <a:r>
              <a:rPr sz="1600">
                <a:solidFill>
                  <a:srgbClr val="1F2937"/>
                </a:solidFill>
                <a:latin typeface="Calibri"/>
              </a:rPr>
              <a:t>▸  Portlash gazlarining mexanik ta’siri: teri va teri ostida yorma, lat yara, qontalash; termik ta’siri: teri va soch kuyishi.</a:t>
            </a:r>
          </a:p>
          <a:p>
            <a:pPr>
              <a:spcAft>
                <a:spcPts val="800"/>
              </a:spcAft>
            </a:pPr>
            <a:r>
              <a:rPr sz="1600">
                <a:solidFill>
                  <a:srgbClr val="1F2937"/>
                </a:solidFill>
                <a:latin typeface="Calibri"/>
              </a:rPr>
              <a:t>▸  Kimyoviy ta’sirda karboksigemoglobin hosil bo‘ladi; portlovchi modda zarralari asosan yuzaki murakkab (mexanik, termik, kimyoviy) ta’sir qiladi.</a:t>
            </a:r>
          </a:p>
          <a:p>
            <a:pPr>
              <a:spcAft>
                <a:spcPts val="800"/>
              </a:spcAft>
            </a:pPr>
            <a:r>
              <a:rPr sz="1600">
                <a:solidFill>
                  <a:srgbClr val="1F2937"/>
                </a:solidFill>
                <a:latin typeface="Calibri"/>
              </a:rPr>
              <a:t>▸  Baroakustik travma asosan atrof-muhit zarb to‘lqinidan: quloq nog‘ora pardasi va o‘pka shikastlanishi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Portlash ta’sir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Mexanik</a:t>
            </a:r>
          </a:p>
          <a:p>
            <a:pPr algn="l">
              <a:spcAft>
                <a:spcPts val="0"/>
              </a:spcAft>
            </a:pPr>
            <a:r>
              <a:rPr sz="1200" b="0">
                <a:solidFill>
                  <a:srgbClr val="1F2937"/>
                </a:solidFill>
                <a:latin typeface="Calibri"/>
              </a:rPr>
              <a:t>Gaz, zarralar, zarb to‘lqini  ·  Moslama bo‘laklari, snaryadlar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Termik</a:t>
            </a:r>
          </a:p>
          <a:p>
            <a:pPr algn="l">
              <a:spcAft>
                <a:spcPts val="0"/>
              </a:spcAft>
            </a:pPr>
            <a:r>
              <a:rPr sz="1200" b="0">
                <a:solidFill>
                  <a:srgbClr val="1F2937"/>
                </a:solidFill>
                <a:latin typeface="Calibri"/>
              </a:rPr>
              <a:t>Gaz, zarralar  ·  Kiyim va jismlar yonishi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Kimyoviy</a:t>
            </a:r>
          </a:p>
          <a:p>
            <a:pPr algn="l">
              <a:spcAft>
                <a:spcPts val="0"/>
              </a:spcAft>
            </a:pPr>
            <a:r>
              <a:rPr sz="1200" b="0">
                <a:solidFill>
                  <a:srgbClr val="1F2937"/>
                </a:solidFill>
                <a:latin typeface="Calibri"/>
              </a:rPr>
              <a:t>Gaz, zarralar  ·  Maxsus kimyoviy moddalar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Baroakustik</a:t>
            </a:r>
          </a:p>
          <a:p>
            <a:pPr algn="l">
              <a:spcAft>
                <a:spcPts val="0"/>
              </a:spcAft>
            </a:pPr>
            <a:r>
              <a:rPr sz="1200" b="0">
                <a:solidFill>
                  <a:srgbClr val="1F2937"/>
                </a:solidFill>
                <a:latin typeface="Calibri"/>
              </a:rPr>
              <a:t>Portlash gazlari  ·  Zarb to‘lqini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Jadval 4.5 (Popov, 1999)</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100, 101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Portlashning shikastlovchi omillari va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Ta’sir turlari: mexanik, termik, kimyoviy va baroakustik. Baroakustik travmada quloq nog‘ora pardasi va o‘pka shikastlanishi mumkin.</a:t>
            </a:r>
          </a:p>
          <a:p>
            <a:pPr>
              <a:spcAft>
                <a:spcPts val="800"/>
              </a:spcAft>
            </a:pPr>
            <a:r>
              <a:rPr sz="1800">
                <a:solidFill>
                  <a:srgbClr val="1F2937"/>
                </a:solidFill>
                <a:latin typeface="Calibri"/>
              </a:rPr>
              <a:t>▸  Zarb to‘lqini cheklanmagan yassi o‘tmas jism kabi uradi; moslama bo‘laklarining tezligi bir necha ming m/sek gacha.</a:t>
            </a:r>
          </a:p>
          <a:p>
            <a:pPr>
              <a:spcAft>
                <a:spcPts val="800"/>
              </a:spcAft>
            </a:pPr>
            <a:r>
              <a:rPr sz="1800">
                <a:solidFill>
                  <a:srgbClr val="1F2937"/>
                </a:solidFill>
                <a:latin typeface="Calibri"/>
              </a:rPr>
              <a:t>▸  Maxsus vositalar (mix, bolt, yonilg‘i, toksik va biologik moddalar) turli shikast va infeksiya keltiradi.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Portlash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Detonatsiya mahsulotlari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Atrof-muhit zarb to‘lqini</a:t>
            </a:r>
          </a:p>
          <a:p>
            <a:pPr algn="l">
              <a:spcAft>
                <a:spcPts val="0"/>
              </a:spcAft>
            </a:pPr>
            <a:r>
              <a:rPr sz="1200" b="0">
                <a:solidFill>
                  <a:srgbClr val="1F2937"/>
                </a:solidFill>
                <a:latin typeface="Calibri"/>
              </a:rPr>
              <a:t>Yassi o‘tmas jism kabi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Moslama bo‘laklari</a:t>
            </a:r>
          </a:p>
          <a:p>
            <a:pPr algn="l">
              <a:spcAft>
                <a:spcPts val="0"/>
              </a:spcAft>
            </a:pPr>
            <a:r>
              <a:rPr sz="1200" b="0">
                <a:solidFill>
                  <a:srgbClr val="1F2937"/>
                </a:solidFill>
                <a:latin typeface="Calibri"/>
              </a:rPr>
              <a:t>Tezlik bir necha ming m/sek</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 vositalar</a:t>
            </a:r>
          </a:p>
          <a:p>
            <a:pPr algn="l">
              <a:spcAft>
                <a:spcPts val="0"/>
              </a:spcAft>
            </a:pPr>
            <a:r>
              <a:rPr sz="1200" b="0">
                <a:solidFill>
                  <a:srgbClr val="1F2937"/>
                </a:solidFill>
                <a:latin typeface="Calibri"/>
              </a:rPr>
              <a:t>Mix, bolt, yonilg‘i, toksik</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Ikkilamchi snaryadlar</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Beshta omil</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99-101, 100, 101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Zarb to‘lqini, bo‘laklar va snaryadlar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Zarb to‘lqini cheklanmagan yassi o‘tmas jism kabi ta’sir etadi: portlash markazi tomonida mexanik jarohat, qarama-qarshi yuzada urilish jarohati.</a:t>
            </a:r>
          </a:p>
          <a:p>
            <a:pPr>
              <a:spcAft>
                <a:spcPts val="800"/>
              </a:spcAft>
            </a:pPr>
            <a:r>
              <a:rPr sz="1600">
                <a:solidFill>
                  <a:srgbClr val="1F2937"/>
                </a:solidFill>
                <a:latin typeface="Calibri"/>
              </a:rPr>
              <a:t>▸  Moslama bo‘laklarining boshlang‘ich tezligi bir necha ming m/sek gacha: shilinma, qontalash, yara, suyak sinishi, ba’zan tana qismlari ajralishi.</a:t>
            </a:r>
          </a:p>
          <a:p>
            <a:pPr>
              <a:spcAft>
                <a:spcPts val="800"/>
              </a:spcAft>
            </a:pPr>
            <a:r>
              <a:rPr sz="1600">
                <a:solidFill>
                  <a:srgbClr val="1F2937"/>
                </a:solidFill>
                <a:latin typeface="Calibri"/>
              </a:rPr>
              <a:t>▸  Ikkilamchi snaryadlar asosan mexanik, bo‘laklarga nisbatan yengilroq jarohat beradi; ikkilamchi alangalanish termik shikast keltiradi.</a:t>
            </a:r>
          </a:p>
          <a:p>
            <a:pPr>
              <a:spcAft>
                <a:spcPts val="800"/>
              </a:spcAft>
            </a:pPr>
            <a:r>
              <a:rPr sz="1600">
                <a:solidFill>
                  <a:srgbClr val="1F2937"/>
                </a:solidFill>
                <a:latin typeface="Calibri"/>
              </a:rPr>
              <a:t>▸  Sintetik material va qoplamalar yonishi termik jarohatdan tashqari toksik moddalar bilan zaharlanishga olib kelishi mumkin.</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Zarb to‘lqini</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Yassi o‘tmas jism kabi</a:t>
            </a:r>
          </a:p>
          <a:p>
            <a:pPr algn="l">
              <a:spcAft>
                <a:spcPts val="700"/>
              </a:spcAft>
            </a:pPr>
            <a:r>
              <a:rPr sz="1500" b="1">
                <a:solidFill>
                  <a:srgbClr val="C9A227"/>
                </a:solidFill>
                <a:latin typeface="Calibri"/>
              </a:rPr>
              <a:t>●  </a:t>
            </a:r>
            <a:r>
              <a:rPr sz="1500" b="0">
                <a:solidFill>
                  <a:srgbClr val="1F2937"/>
                </a:solidFill>
                <a:latin typeface="Calibri"/>
              </a:rPr>
              <a:t>Markaz tomonida mexanik jarohat</a:t>
            </a:r>
          </a:p>
          <a:p>
            <a:pPr algn="l">
              <a:spcAft>
                <a:spcPts val="700"/>
              </a:spcAft>
            </a:pPr>
            <a:r>
              <a:rPr sz="1500" b="1">
                <a:solidFill>
                  <a:srgbClr val="C9A227"/>
                </a:solidFill>
                <a:latin typeface="Calibri"/>
              </a:rPr>
              <a:t>●  </a:t>
            </a:r>
            <a:r>
              <a:rPr sz="1500" b="0">
                <a:solidFill>
                  <a:srgbClr val="1F2937"/>
                </a:solidFill>
                <a:latin typeface="Calibri"/>
              </a:rPr>
              <a:t>Qarama-qarshi yuzada urilish</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Moslama bo‘laklari</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Tezlik bir necha ming m/sek</a:t>
            </a:r>
          </a:p>
          <a:p>
            <a:pPr algn="l">
              <a:spcAft>
                <a:spcPts val="700"/>
              </a:spcAft>
            </a:pPr>
            <a:r>
              <a:rPr sz="1500" b="1">
                <a:solidFill>
                  <a:srgbClr val="C9A227"/>
                </a:solidFill>
                <a:latin typeface="Calibri"/>
              </a:rPr>
              <a:t>●  </a:t>
            </a:r>
            <a:r>
              <a:rPr sz="1500" b="0">
                <a:solidFill>
                  <a:srgbClr val="1F2937"/>
                </a:solidFill>
                <a:latin typeface="Calibri"/>
              </a:rPr>
              <a:t>Shilinma, yara, sinish</a:t>
            </a:r>
          </a:p>
          <a:p>
            <a:pPr algn="l">
              <a:spcAft>
                <a:spcPts val="700"/>
              </a:spcAft>
            </a:pPr>
            <a:r>
              <a:rPr sz="1500" b="1">
                <a:solidFill>
                  <a:srgbClr val="C9A227"/>
                </a:solidFill>
                <a:latin typeface="Calibri"/>
              </a:rPr>
              <a:t>●  </a:t>
            </a:r>
            <a:r>
              <a:rPr sz="1500" b="0">
                <a:solidFill>
                  <a:srgbClr val="1F2937"/>
                </a:solidFill>
                <a:latin typeface="Calibri"/>
              </a:rPr>
              <a:t>Tana qismlari ajralishi mumkin</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Ikkilamchi snaryadlar</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Asosan mexanik, yengilroq</a:t>
            </a:r>
          </a:p>
          <a:p>
            <a:pPr algn="l">
              <a:spcAft>
                <a:spcPts val="700"/>
              </a:spcAft>
            </a:pPr>
            <a:r>
              <a:rPr sz="1500" b="1">
                <a:solidFill>
                  <a:srgbClr val="C9A227"/>
                </a:solidFill>
                <a:latin typeface="Calibri"/>
              </a:rPr>
              <a:t>●  </a:t>
            </a:r>
            <a:r>
              <a:rPr sz="1500" b="0">
                <a:solidFill>
                  <a:srgbClr val="1F2937"/>
                </a:solidFill>
                <a:latin typeface="Calibri"/>
              </a:rPr>
              <a:t>Alangalanish: termik shikast</a:t>
            </a:r>
          </a:p>
          <a:p>
            <a:pPr algn="l">
              <a:spcAft>
                <a:spcPts val="700"/>
              </a:spcAft>
            </a:pPr>
            <a:r>
              <a:rPr sz="1500" b="1">
                <a:solidFill>
                  <a:srgbClr val="C9A227"/>
                </a:solidFill>
                <a:latin typeface="Calibri"/>
              </a:rPr>
              <a:t>●  </a:t>
            </a:r>
            <a:r>
              <a:rPr sz="1500" b="0">
                <a:solidFill>
                  <a:srgbClr val="1F2937"/>
                </a:solidFill>
                <a:latin typeface="Calibri"/>
              </a:rPr>
              <a:t>Yonish: toksik moddalar</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omilning ta’siri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100, 100-101, 101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distansiyalari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Portlashning to‘rtta shartli distansiyasi farqlanadi: kontakt, yaqin, nisbatan yaqin va yaqin bo‘lmagan.</a:t>
            </a:r>
          </a:p>
          <a:p>
            <a:pPr>
              <a:spcAft>
                <a:spcPts val="800"/>
              </a:spcAft>
            </a:pPr>
            <a:r>
              <a:rPr sz="1800">
                <a:solidFill>
                  <a:srgbClr val="1F2937"/>
                </a:solidFill>
                <a:latin typeface="Calibri"/>
              </a:rPr>
              <a:t>▸  Har bir distansiyaning aniq masofasi portlovchi modda, moslama xususiyati va zaryad quvvatiga bog‘liq.</a:t>
            </a:r>
          </a:p>
          <a:p>
            <a:pPr>
              <a:spcAft>
                <a:spcPts val="800"/>
              </a:spcAft>
            </a:pPr>
            <a:r>
              <a:rPr sz="1800">
                <a:solidFill>
                  <a:srgbClr val="1F2937"/>
                </a:solidFill>
                <a:latin typeface="Calibri"/>
              </a:rPr>
              <a:t>▸  Diqqat: yaqin distansiyada detonatsiya mahsulotlari bor, nisbatan yaqinda esa ikkilamchi snaryadlar qo‘shiladi.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Kontakt</a:t>
            </a:r>
          </a:p>
          <a:p>
            <a:pPr algn="l">
              <a:spcAft>
                <a:spcPts val="200"/>
              </a:spcAft>
            </a:pPr>
            <a:r>
              <a:rPr sz="1400" b="0">
                <a:solidFill>
                  <a:srgbClr val="1F2937"/>
                </a:solidFill>
                <a:latin typeface="Calibri"/>
              </a:rPr>
              <a:t>Detonatsiya mahsulotlari, bo‘laklar</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Yaqin</a:t>
            </a:r>
          </a:p>
          <a:p>
            <a:pPr algn="l">
              <a:spcAft>
                <a:spcPts val="200"/>
              </a:spcAft>
            </a:pPr>
            <a:r>
              <a:rPr sz="1400" b="0">
                <a:solidFill>
                  <a:srgbClr val="1F2937"/>
                </a:solidFill>
                <a:latin typeface="Calibri"/>
              </a:rPr>
              <a:t>Gazlar, bo‘laklar, zarb to‘lqini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Nisbatan yaqin</a:t>
            </a:r>
          </a:p>
          <a:p>
            <a:pPr algn="l">
              <a:spcAft>
                <a:spcPts val="200"/>
              </a:spcAft>
            </a:pPr>
            <a:r>
              <a:rPr sz="1400" b="0">
                <a:solidFill>
                  <a:srgbClr val="1F2937"/>
                </a:solidFill>
                <a:latin typeface="Calibri"/>
              </a:rPr>
              <a:t>Zarb to‘lqini, bo‘laklar, ikkilamchi snaryad</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Yaqin bo‘lmagan</a:t>
            </a:r>
          </a:p>
          <a:p>
            <a:pPr algn="l">
              <a:spcAft>
                <a:spcPts val="200"/>
              </a:spcAft>
            </a:pPr>
            <a:r>
              <a:rPr sz="1400" b="0">
                <a:solidFill>
                  <a:srgbClr val="1F2937"/>
                </a:solidFill>
                <a:latin typeface="Calibri"/>
              </a:rPr>
              <a:t>Bo‘laklar, ikkilamchi snaryadlar</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Portlash distansiyalari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portlash hodisasi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zaryadsiz moslama portlagan. Jarohat xususiyati moslama turi, oraliq masofa va atrofdagi jismlarga bog‘liq.</a:t>
            </a:r>
          </a:p>
          <a:p>
            <a:pPr>
              <a:spcAft>
                <a:spcPts val="1200"/>
              </a:spcAft>
            </a:pPr>
            <a:r>
              <a:rPr sz="2200">
                <a:solidFill>
                  <a:srgbClr val="1F2937"/>
                </a:solidFill>
                <a:latin typeface="Calibri"/>
              </a:rPr>
              <a:t>▸  Gaz ballonlari portlaganda asosiy jarohatlar ballon devorining bo‘laklaridan yetkaziladi.</a:t>
            </a:r>
          </a:p>
          <a:p>
            <a:pPr>
              <a:spcAft>
                <a:spcPts val="1200"/>
              </a:spcAft>
            </a:pPr>
            <a:r>
              <a:rPr sz="2200">
                <a:solidFill>
                  <a:srgbClr val="1F2937"/>
                </a:solidFill>
                <a:latin typeface="Calibri"/>
              </a:rPr>
              <a:t>▸  Bug‘ qozoni portlaganda asosan termik jarohatlar bo‘ladi. Tabiiy gaz, ko‘mir va un kukuni portlaganda zarb to‘lqinidan mexanik jarohat ham qo‘shiladi.</a:t>
            </a:r>
          </a:p>
          <a:p>
            <a:pPr>
              <a:spcAft>
                <a:spcPts val="1200"/>
              </a:spcAft>
            </a:pPr>
            <a:r>
              <a:rPr sz="2200">
                <a:solidFill>
                  <a:srgbClr val="1F2937"/>
                </a:solidFill>
                <a:latin typeface="Calibri"/>
              </a:rPr>
              <a:t>▸  Savol: qaysi portlashda yetakchi jarohat bo‘laklardan, qaysisida termik ta’sirdan bo‘ladi?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 101-102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ekspertizasi va vrach vazifasi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Portlash ekspertizasida jarohat turi va xususiyatidan tashqari portlovchi modda va moslama xususiyati, portlash distansiyasi aniqlanadi.</a:t>
            </a:r>
          </a:p>
          <a:p>
            <a:pPr>
              <a:spcAft>
                <a:spcPts val="800"/>
              </a:spcAft>
            </a:pPr>
            <a:r>
              <a:rPr sz="1600">
                <a:solidFill>
                  <a:srgbClr val="1F2937"/>
                </a:solidFill>
                <a:latin typeface="Calibri"/>
              </a:rPr>
              <a:t>▸  Zaryadsiz moslama portlashida jarohat moslama turi, oraliq masofa va atrofdagi jismlarga bog‘liq.</a:t>
            </a:r>
          </a:p>
          <a:p>
            <a:pPr>
              <a:spcAft>
                <a:spcPts val="800"/>
              </a:spcAft>
            </a:pPr>
            <a:r>
              <a:rPr sz="1600">
                <a:solidFill>
                  <a:srgbClr val="1F2937"/>
                </a:solidFill>
                <a:latin typeface="Calibri"/>
              </a:rPr>
              <a:t>▸  Gaz ballonida asosan ballon devori bo‘laklaridan; bug‘ qozonida termik; gaz, ko‘mir, un kukunida termik va zarb to‘lqinidan mexanik jarohat.</a:t>
            </a:r>
          </a:p>
          <a:p>
            <a:pPr>
              <a:spcAft>
                <a:spcPts val="800"/>
              </a:spcAft>
            </a:pPr>
            <a:r>
              <a:rPr sz="1600">
                <a:solidFill>
                  <a:srgbClr val="1F2937"/>
                </a:solidFill>
                <a:latin typeface="Calibri"/>
              </a:rPr>
              <a:t>▸  Vrach tan jarohatlarini to‘liq tekshirib hujjatlaydi, kiyim va tanadagi yot jismlarni qisqa muddatda huquqni muhofaza idoralariga topshiradi.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Portlash ekspertizasi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Jarohat</a:t>
            </a:r>
          </a:p>
          <a:p>
            <a:pPr algn="l">
              <a:spcAft>
                <a:spcPts val="0"/>
              </a:spcAft>
            </a:pPr>
            <a:r>
              <a:rPr sz="1200" b="0">
                <a:solidFill>
                  <a:srgbClr val="1F2937"/>
                </a:solidFill>
                <a:latin typeface="Calibri"/>
              </a:rPr>
              <a:t>Turi va xususiyati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Modda va moslama</a:t>
            </a:r>
          </a:p>
          <a:p>
            <a:pPr algn="l">
              <a:spcAft>
                <a:spcPts val="0"/>
              </a:spcAft>
            </a:pPr>
            <a:r>
              <a:rPr sz="1200" b="0">
                <a:solidFill>
                  <a:srgbClr val="1F2937"/>
                </a:solidFill>
                <a:latin typeface="Calibri"/>
              </a:rPr>
              <a:t>Xususiyatini aniqlash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Distansiya</a:t>
            </a:r>
          </a:p>
          <a:p>
            <a:pPr algn="l">
              <a:spcAft>
                <a:spcPts val="0"/>
              </a:spcAft>
            </a:pPr>
            <a:r>
              <a:rPr sz="1200" b="0">
                <a:solidFill>
                  <a:srgbClr val="1F2937"/>
                </a:solidFill>
                <a:latin typeface="Calibri"/>
              </a:rPr>
              <a:t>Portlash distansiyasi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Vrach vazifasi</a:t>
            </a:r>
          </a:p>
          <a:p>
            <a:pPr algn="l">
              <a:spcAft>
                <a:spcPts val="0"/>
              </a:spcAft>
            </a:pPr>
            <a:r>
              <a:rPr sz="1200" b="0">
                <a:solidFill>
                  <a:srgbClr val="1F2937"/>
                </a:solidFill>
                <a:latin typeface="Calibri"/>
              </a:rPr>
              <a:t>To‘liq hujjatlash  ·  Yot jismlarni topshirish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Aniqlanadigan masalalar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102, 101, 101-102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Distansiya — belgilar majmui (tirab, yaqin, yaqin bo‘lmagan). Masofa — stvol uchi bilan nishon orasidagi uzunlik. Distansiya ≠ masofa.</a:t>
            </a:r>
          </a:p>
          <a:p>
            <a:pPr>
              <a:spcAft>
                <a:spcPts val="1200"/>
              </a:spcAft>
            </a:pPr>
            <a:r>
              <a:rPr sz="2200">
                <a:solidFill>
                  <a:srgbClr val="1F2937"/>
                </a:solidFill>
                <a:latin typeface="Calibri"/>
              </a:rPr>
              <a:t>▸  Ekspertiza hal qiladigan masalalar: quroldan otilganligi, kirish va chiqish teshigi, kanal yo‘nalishi, jarohatlar ketma-ketligi va o‘z-o‘ziga yetkazilganligi.</a:t>
            </a:r>
          </a:p>
          <a:p>
            <a:pPr>
              <a:spcAft>
                <a:spcPts val="1200"/>
              </a:spcAft>
            </a:pPr>
            <a:r>
              <a:rPr sz="2200">
                <a:solidFill>
                  <a:srgbClr val="1F2937"/>
                </a:solidFill>
                <a:latin typeface="Calibri"/>
              </a:rPr>
              <a:t>▸  Shifokor jarohatlarni to‘liq yozishi, topilgan yot jismlarni esa tezda huquqni muhofaza etuvchi idoralarga topshirishi kerak.</a:t>
            </a:r>
          </a:p>
          <a:p>
            <a:pPr>
              <a:spcAft>
                <a:spcPts val="1200"/>
              </a:spcAft>
            </a:pPr>
            <a:r>
              <a:rPr sz="2200">
                <a:solidFill>
                  <a:srgbClr val="1F2937"/>
                </a:solidFill>
                <a:latin typeface="Calibri"/>
              </a:rPr>
              <a:t>▸  Nazorat savollari: o‘q otar jarohatning boshqa mexanik jarohatdan farqi; patron tuzilishi; distansiya va masofa farqi.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96-97, 98, 102, 102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Pirogov to‘qima defektini 1849 yilda tasvirlagan va uni “to‘qima o‘zligini yo‘qotishi” deb atagan. Shilinish va ifloslanish hoshiyalarini esa 1865 yilgi kitobida bayon etgan.</a:t>
            </a:r>
          </a:p>
          <a:p>
            <a:pPr>
              <a:spcAft>
                <a:spcPts val="1200"/>
              </a:spcAft>
            </a:pPr>
            <a:r>
              <a:rPr sz="1800">
                <a:solidFill>
                  <a:srgbClr val="1F2937"/>
                </a:solidFill>
                <a:latin typeface="Calibri"/>
              </a:rPr>
              <a:t>▸  Hodisa tahlili (Vinogradov fenomeni): yaqin bo‘lmagan masofadan otilganda ichki qavat kiyimda oz qurum topilishi mumkin. Buning uchun o‘q tezligi kamida 500 m/sek, kiyim tanaga yopishmagan va kuchli shamol bo‘lmasligi kerak. Qurum o‘q ortidagi past bosimli bo‘shliq bilan kirib keladi.</a:t>
            </a:r>
          </a:p>
          <a:p>
            <a:pPr>
              <a:spcAft>
                <a:spcPts val="1200"/>
              </a:spcAft>
            </a:pPr>
            <a:r>
              <a:rPr sz="1800">
                <a:solidFill>
                  <a:srgbClr val="1F2937"/>
                </a:solidFill>
                <a:latin typeface="Calibri"/>
              </a:rPr>
              <a:t>▸  Eslab qolish usuli: “Kirish — ichkariga, chiqish — chetga”. Kirish teshigi dumaloq, chetlari tekis va ichkariga qayrilgan, hoshiyali. Chiqish teshigi yoriqsimon, notekis, tashqariga qayrilgan, hoshiyasiz.</a:t>
            </a:r>
          </a:p>
          <a:p>
            <a:pPr>
              <a:spcAft>
                <a:spcPts val="1200"/>
              </a:spcAft>
            </a:pPr>
            <a:r>
              <a:rPr sz="1800">
                <a:solidFill>
                  <a:srgbClr val="1F2937"/>
                </a:solidFill>
                <a:latin typeface="Calibri"/>
              </a:rPr>
              <a:t>▸  Yaqin distansiyaning uchinchi zonasida faqat porox va metall zarrachalari qoladi. Bu zona Makarov pistoletida 150 sm gacha, Kalashnikov avtomatida 200 sm gacha, silliq stvolli ov miltig‘ida 500 sm gacha bo‘lishi mumkin.</a:t>
            </a:r>
          </a:p>
          <a:p>
            <a:pPr>
              <a:spcAft>
                <a:spcPts val="1200"/>
              </a:spcAft>
            </a:pPr>
            <a:r>
              <a:rPr sz="1800">
                <a:solidFill>
                  <a:srgbClr val="1F2937"/>
                </a:solidFill>
                <a:latin typeface="Calibri"/>
              </a:rPr>
              <a:t>▸  Diqqat: distansiya ≠ masofa. Distansiya — belgilar majmui (tirab, yaqin, yaqin bo‘lmagan). Masofa — stvol uchidan nishongacha uzunlik. Masofani faqat o‘sha qurol va patron bilan o‘tkazilgan eksperiment aniqlaydi.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O‘q otar qurollardan yetkazilgan jarohatlardan o‘lim hollarida sud-tibb</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