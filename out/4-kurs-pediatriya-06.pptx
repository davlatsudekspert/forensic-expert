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savollari: 1) O‘q otar jarohatning asosiy ta’rifiy belgisi nima? 2) Nega kam uchraydigan jarohatlarga alohida e’tibor beriladi? Doskada chizish: «Porox gazlari energiyasi → snaryad → jarohat» zanjirini chizdiring. Tipik xato: portlash jarohatlarini o‘q otar jarohatlardan butunlay tashqarida deb o‘ylash. Tezkor savol: portlovchi moddalardan shikastlanish qaysi toifaga kiradi?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1) Kichik massa va katta tezlik jarohat xarakteriga qanday ta’sir qilishi mumkin? 2) Mexanikdan tashqari qaysi ta’sir turlari bor? Doskada chizish: o‘tmas/o‘tkir jism va o‘q otar qurol uchun to‘rt belgili solishtirma ro‘yxat. Tipik xato: o‘q otar jarohatni faqat mexanik shikast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savollari: 1) Jang va tinchlik davrida qaysi jarohatlar ko‘proq uchraydi? 2) Nega tinchlik davrida ikkala guruh ham muhim? Doskada chizish: jadvalni o‘zlari qayta chizsin. Tipik xato: jang sharoitidagi jarohatlarni tinchlik davri ekspertizasiga aloqasiz deb bilish. Tezkor savol: shartli ikki guruhni ayting.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sud-tibbiy ekspertizada tipik va atipik qurolni farqlash kerak? 2) Individual va guruhiy qurol farqi nimada? Doskada chizish: qurollar tasnifi daraxtini (jangovor, ov, sport, gaz, maxsus; jangovor ichida artillerik va xususan) chizdiring. Tipik xato: atipik qurolni faqat qo‘lbola deb o‘ylash, aslida zavod quroli o‘zgartirilgan bo‘lishi ham mumkin.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O‘yiqlar nima uchun kerak? 2) Silliq stvolli ov qurolida kalibr qanday belgilanadi? Doskada chizish: silliq va o‘yiqli stvolning ko‘ndalang kesimini chizib, kalibrni (qarama-qarshi o‘yiqlararo yuzalar orasidagi masofa) ko‘rsating. Tipik xato: silliq stvolli qurol kalibrini millimetr bilan o‘lchanadi deb o‘ylash; manbada u shar o‘qlar soni bilan belgilanadi.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Talabalarga savollarni og‘zaki bering, javobni slayddan yashirib turing. Muhokama: 1) Tipik va atipik qurol jarohat xususiyatiga qanday ta’sir qilishi mumkin? 2) Kalibr guruhlarini kim eslaydi? Doskada chizish: stvol uzunligi bo‘yicha uch guruhni qurol misollari bilan yozdiring. Tipik xato: pistolet-pulemetni kalta stvolli deb belgilash; u o‘rta uzunlikdagi guruhga kiradi.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kapsyul tarkibida uch xil komponent bor? 2) Gilza ichidagi qismlarni kim sanab beradi? Doskada: patron kesimini chizib, 1-snaryad, 2-gilza, 3-kapsyul, 4-porox raqamlarini qo‘ying. Tipik xato: talabalar patron, gilza va o‘qni bir xil tushuncha deb oladi. Patron butun to‘plam, gilza esa uning korpusi.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maxsus o‘qni qaysi modda bilan bog‘laysiz? 2) Gaz hajmi farqi o‘q uchish masofasiga qanday ta’sir qiladi? Doskada: ikki ustunli solishtirish chizing, qora porox va tutunsiz porox, ularning tarkibi va qo‘llanishi. Tipik xato: qora va tutunsiz poroxning qo‘llanish sohasi aralashtiriladi. Qora porox ov va signal qurollarida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Tiqinlar qanday vazifa bajaradi? 2) Sochma va kartechni nima ajratadi? Doskada: sochmali patron kesimini qatlam tartibida chizing, gilza, kapsyul, porox, tiqin, sochma. Tipik xato: sochmali patron tuzilishini jangovar unitar patron bilan bir xil deb o‘ylash. Sochmali patronda tiqinlar va sochmalar bor.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Qurolning tipik yoki atipikligi ekspertiza uchun nimani anglatadi? 2) O‘yiqli va silliq stvolni qanday farqlaymiz? Doskada: stvolning ko‘ndalang kesimini (silliq va o‘yiqli) chizdiring. Javob: silliq stvolli ov qurolida patron o‘qli yoki sochmali bo‘ladi. Sochma diametri 1-5,5 mm, bundan kattasi kartech. Tipik xato: o‘yiqli stvolni silliq stvolli ov qurolidan farqlamaslik va ularning kalibrini bir xil usulda hisoblash.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Qo‘shimcha omillar qaysi holatlarga bog‘liq (qurol tuzilishi, to‘siq, shikastlanayotgan yuza)? 2) Nega stvol yorilishi qo‘lbola qurolda xavfliroq? Doskada: omillar jadvalini talabalar bilan birga to‘ldiring. Tipik xato: kiyim bo‘lagi yoki suyak bo‘lagini asosiy snaryad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Energiya kamayishi bilan yara shakli qanday o‘zgaradi? 2) Chiqish teshigida ponasimon ta’sir nega ko‘p uchraydi? Doskada: energiya zinapoyasini (ming joul, yuz joul, o‘n joul) chizib, har pog‘onaga yara shaklini yozdiring. Qo‘shimcha: yorma ta’sir tirab otishda va maxsus o‘qlarda ham bo‘lishi mumkin. Tipik xato: yulma ta’sirni yorma ta’sir bilan aralashtirish (defekt bor yoki yo‘q).</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porox gazlarining ta’sir masofasi (10–15 sm) o‘qoldi havonikidan (3–5 sm) uzoqroq? 2) Pushti tus qaysi pigmentlar hisobiga hosil bo‘ladi? Doskada chizing: stvol uchidan nishongacha shkala; 3–5, 3–10 va 10–15 sm oraliqlarni belgilang. Tipik xato: alanga (termik) ta’sirini porox gazlarining mexanik ta’siri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Talabalarga savollarni yopiq daftar bilan so‘rang. Muhokama: 1) Nima uchun chiqish teshigida odatda to‘qima defekti bo‘lmaydi? 2) Yorma ta’sir qanday hollarda uchraydi? Doskada chizing: uch ta’sirning yara shakllari (yirtiq, dumaloq defektli, yulduzsimon). Tipik xato: energiya darajalarini (ming, yuz, o‘n joul) chalkashtirish.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masofani faqat jarohatga qarab aniq aytib bo‘lmaydi? 2) Eksperimentda qanday ob’ektlar tanlanadi? Doskada chizing: ikki xil qurol uchun bir xil distansiyaning turli masofalarini ko‘rsating (A ≠ B). Tipik xato: ‘distansiya’ va ‘masofa’ so‘zlarini sinonim sifatida ishlatish.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germetik tirab otishda terida stvol uchiga mos iz qoladi? Qiyalab otishda yoriqlar nega faqat bir tomonda? Doskada: uch turdagi kirish teshigi sxemasini chizdiring. Tipik xato: shtansmarkani har qanday tirab otishda bo‘ladi deb o‘ylash; u faqat to‘liq germetik tirab otishda hosil bo‘ladi.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1-zonada kirish yarasi atrofida nima uchun kuyish va yoriqlar bo‘ladi? Qurol turi zona uzunligiga qanday ta’sir qiladi? Doskada: uch zonani konsentrik doiralar ko‘rinishida chizdiring. Tipik xato: distansiya (belgilar majmui) bilan masofani (sm)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kiyim yoki eshik orqali otilganda tanadagi jarohatda qo‘shimcha omillar nega topilmasligi mumkin? Ekspert buni qanday hisobga olishi kerak? Doskada: o‘q yo‘li, to‘siq va qo‘shimcha omillar qolgan joyni chizdiring. Tipik xato: tanada qo‘shimcha omil yo‘q degan sababli har doim yaqin bo‘lmagan distansiya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o‘q ortidan qurum nishongacha yetib boradi (o‘q ortida bosimi past bo‘shliq hosil bo‘ladi)? 2) Qaysi shartlar buzilsa fenomen rivojlanmaydi? Doskada: o‘q, uning ortidagi bo‘shliq va ikki qavat kiyim sxemasini chizdiring, qurum joylarini belgilang. Tipik xato: talabalar qurum topilgan hamma holatni yaqin distansiya deb hisoblaydi; qurum qaysi qavatda ekanini ko‘rsatish kerak.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Teshik atrofida qurum ham topilsa, qaysi zona deb baho berasiz? 2) Nega faqat belgilar bo‘yicha santimetrdagi masofani aytib bo‘lmaydi? Doskada: uch zonani chiziq ustida belgilab, har biriga qo‘shimcha omillarni yozing. Tipik xato: distansiya va masofani bir tushuncha deb olish.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o‘q tegmagan to‘qimada ham o‘zgarishlar bo‘ladi? 2) Ritmik bosim fazalari o‘qning chuqurroq kirishiga qanday sharoit yaratadi? Doskada: yara kanalini va uning atrofidagi uch zonani konsentrik chiziqlar bilan chizdiring. Tipik xato: faqat yara kanalini jarohat deb hisoblash, lat yeyish va chayqalish zonalarini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Ko‘r va yalama jarohat nimasi bilan farq qiladi? 2) Uzlukli kanal nima uchun hayotiylik belgisi? Doskada: uch xil yara (teshib o‘tar, ko‘r, yalama) sxemasini chizdiring. Tipik xato: talabalar ko‘r yarani yalama jarohat bilan aralashtiradi. Diqqat: ko‘r yarada snaryad tanada qoladi, yalamada tanaga to‘liq kirmaydi. Qo‘shimcha: yupqa sohalarda (bilak, ko‘krak) bitta o‘qdan ikkita kirish va ikkita chiqish teshigi ham hosil bo‘lishi mumkin (manba, 90-bet).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Nima uchun chiqish teshigi chetlari tashqariga qayriladi? 2) Qaysi belgi bo‘yicha yara kanali yo‘nalishi taxmin qilinadi? Doskada: kirish va chiqish teshigining yon kesimini chizdiring (to‘qima defekti konusi uchi qaysi tomonga qaraydi). Tipik xato: yulduzsimon yarani avtomatik kirish teshigi deb hisoblash; u chiqish uchun xos. Eslab qolish: kirish – tekis va ichkariga, chiqish – notekis va tashqariga.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suyakdagi defekt shaklidan o‘q yo‘nalishini aniqlash mumkin? 2) Shilinish va ifloslanish hoshiyalari nimadan hosil bo‘ladi? Doskada: yassi suyakda kesik konusni (kichik va katta asos) chizdiring. Tipik xato: shilinish hoshiyasi bilan ifloslanish hoshiyasini bitta narsa deb o‘ylash. Aslida shilinish – ishqalanish natijasi, ifloslanish – qurum va moy izi. Tezkor savol: kesik konusning katta asosi qaysi tomonda?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kirish teshigida shilinish hoshiyasi hosil bo‘ladi? 2) Qaysi hollarda chiqish teshigida ham defekt bo‘lishi mumkin (bilak, elka)? Doskada: kirish va chiqish teshigini yonma-yon sxematik chizdiring, chetlarining qayrilish yo‘nalishini ko‘rsating. Tipik xato: talabalar chiqish teshigini doim kichik deb o‘ylaydi, aslida u odatda kattaroq bo‘ladi.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Masofa ortganda sochmalar nega yoyiladi? 2) Bo‘sh patron tirab otilsa nega xavfli? Doskada: stvoldan nishongacha masofa chizig‘ini chizib, kompakt, nisbiy tarqalma va tarqalma zonalarini belgilang. Tipik xato: snaryadsiz patronni mutlaqo zararsiz deb hisoblash; tirab otilganda u o‘limga olib kelishi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Gaz quroli jabrlanganida shifokor sud ekspertizasi uchun nimalarni hujjatlashtirishi kerak? 2) Pnevmatik qurol jarohati qaysi distansiyadagi o‘q otar jarohatga o‘xshaydi? Doskada: ikki ustunli taqqoslash (gaz quroli va pnevmatik qurol): ta’sir manbai, masofa, yara turi. Tipik xato: pnevmatik qurolni porox gazlari bilan ishlaydi deb o‘ylash; u siqilgan havo ishlatadi, shuning uchun qo‘shimcha omil belgilari bo‘lmaydi.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Ekspertiza oldiga qanday 8 ta asosiy savol qo‘yiladi? 2) Jarohatlar ketma-ketligini qaysi belgilar ko‘rsatadi? Doskada chizing: ikki jarohat atrofida qon quyilish, qurum va moy miqdorini solishtiruvchi sodda jadval. Tipik xato: distansiya va masofani aralashtirish, avtomatik qurolda har bir o‘qning alohida distansiyasini aniqlash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jarrohlikdan keyin jarohat belgilari yo‘qolishi mumkin? 2) To‘q rangli kiyimda qaysi usul qo‘llanadi? Doskada chizing: usul va u aniqlaydigan belgi juftliklari jadvalini. Tipik xato: UB va IQ nurlarning vazifasini almashtirish (UB oz qurum va moy uchun, IQ to‘q kiyim uchun).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Qurum va qon izlari nimaga ishora qiladi? 2) Kanal yo‘nalishi va distansiya o‘z-o‘ziga yetkazishga mosmi? Doskada chizing: jabrlangan, qurol va kanal yo‘nalishining sodda chizmasi. Tipik xato: faqat qurum yoki qon izi asosida qat’iy xulosa chiqarish.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xil modda yopiq muhitda boshqacha yonadi? 2) Tasodifiy portlashga kundalik hayotdan misol keltiring. Doskada chizish: yonish va detonatsiya tezligi hamda bosimini ikki ustunli solishtirish. Tipik xato: talabalar yonish va detonatsiyani bir xil jarayon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porox detonatsiyaga uchramaydi va patronda ishlatiladi? 2) Kapsyulda nega aynan sezgir modda kerak? Doskada chizish: birlamchi → ikkilamchi zanjirini (detonator → asosiy zaryad) sxemada ko‘rsating. Tipik xato: poroxni brizant modda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Portlash markaziga qaragan va qarama-qarshi tana yuzasida qanday jarohatlar kutiladi? 2) Ikkilamchi snaryad nima? Doskada chizish: beshta omilni to‘rt ta’sir turiga (mexanik, termik, kimyoviy, baroakustik) o‘q bilan bog‘lang. Tipik xato: ikkilamchi snaryadni portlovchi moslamaning o‘z bo‘lagi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kontaktda zarb to‘lqini asosiy omillar qatorida ko‘rsatilmagan? 2) Distansiya o‘sgani sari omillar qanday kamayadi? Doskada: portlash markazidan chiqqan to‘rtta konsentrik doira chizib, har biriga omillarni yozing. Tipik xato: yaqin va nisbatan yaqin distansiyani aralashtirib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Ballon va bug‘ qozoni portlashidagi jarohat turlarini solishtiring. 2) Zaryadsiz portlashda ekspert qaysi omillarni so‘rab aniqlaydi? Doskada: uch ustunli sxema (ballon, bug‘ qozoni, gaz/un kukuni) va yetakchi jarohat turini yozdirish. Tipik xato: zaryadsiz portlashda ham portlovchi modda gazlari ta’sir qiladi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masofani faqat eksperiment bilan aniqlash mumkin? 2) Pediatr jarohatni qanday hujjatlashtirishi kerak? Doskada: ‘distansiya’ va ‘masofa’ ustunlarini chizib, farqini yozdiring. Tipik xato: distansiya va masofani bir xil tushuncha deb hisoblash.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mashgʻulot: O‘q otar qurollardan yetkazilgan jarohatlardan o‘lim hollarida sud-tibbiy ekspertiza. Portlash travmasi.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Mavzuga kirish: o‘q otar jarohat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 otar jarohat — shikastlovchi omil (snaryad) porox gazlari energiyasi hisobiga harakatga keltirilgan quroldan etkazilgan shikastlanishdir.</a:t>
            </a:r>
          </a:p>
          <a:p>
            <a:pPr>
              <a:spcAft>
                <a:spcPts val="1200"/>
              </a:spcAft>
            </a:pPr>
            <a:r>
              <a:rPr sz="2200">
                <a:solidFill>
                  <a:srgbClr val="1F2937"/>
                </a:solidFill>
                <a:latin typeface="Calibri"/>
              </a:rPr>
              <a:t>▸  Artillerik snaryad, mina, granata portlashidan hamda turli portlovchi moddalardan etkazilgan shikastlanishlar ham o‘q otar jarohatlar qatoriga kiradi.</a:t>
            </a:r>
          </a:p>
          <a:p>
            <a:pPr>
              <a:spcAft>
                <a:spcPts val="1200"/>
              </a:spcAft>
            </a:pPr>
            <a:r>
              <a:rPr sz="2200">
                <a:solidFill>
                  <a:srgbClr val="1F2937"/>
                </a:solidFill>
                <a:latin typeface="Calibri"/>
              </a:rPr>
              <a:t>▸  Amaliyotda bunday jarohatlar o‘tmas va o‘tkir jismlardan jarohatlarga qaraganda kam uchraydi. Shunga qaramay, huquqni muhofaza idoralari ularni atroflicha tekshiradi.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jarohatlarning o‘ziga xosligi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 otar jarohatlar o‘tmas va o‘tkir jismlardan farqli o‘laroq, qurol va aslahalarning tuzilish xususiyatlari bilan bog‘liq bo‘ladi.</a:t>
            </a:r>
          </a:p>
          <a:p>
            <a:pPr>
              <a:spcAft>
                <a:spcPts val="1200"/>
              </a:spcAft>
            </a:pPr>
            <a:r>
              <a:rPr sz="2200">
                <a:solidFill>
                  <a:srgbClr val="1F2937"/>
                </a:solidFill>
                <a:latin typeface="Calibri"/>
              </a:rPr>
              <a:t>▸  Shikastlovchi snaryad nisbatan kichik massaga ega, lekin juda katta tezlikda harakatlanadi.</a:t>
            </a:r>
          </a:p>
          <a:p>
            <a:pPr>
              <a:spcAft>
                <a:spcPts val="1200"/>
              </a:spcAft>
            </a:pPr>
            <a:r>
              <a:rPr sz="2200">
                <a:solidFill>
                  <a:srgbClr val="1F2937"/>
                </a:solidFill>
                <a:latin typeface="Calibri"/>
              </a:rPr>
              <a:t>▸  Jarohat katta masofadan ham etkazilishi mumkin.</a:t>
            </a:r>
          </a:p>
          <a:p>
            <a:pPr>
              <a:spcAft>
                <a:spcPts val="1200"/>
              </a:spcAft>
            </a:pPr>
            <a:r>
              <a:rPr sz="2200">
                <a:solidFill>
                  <a:srgbClr val="1F2937"/>
                </a:solidFill>
                <a:latin typeface="Calibri"/>
              </a:rPr>
              <a:t>▸  Diqqat: mexanik omildan tashqari termik, kimyoviy va boshqa turdagi ta’sirlar ham bo‘ladi, shuning uchun faqat mexanik shikastni qidirish yetarli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 tibbiyotidagi ikki guruh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Shikastlanishlar shartli ravishda ikki guruhga bo‘linadi: o‘q otar jarohatlar va portlash travmasi.</a:t>
            </a:r>
          </a:p>
          <a:p>
            <a:pPr>
              <a:spcAft>
                <a:spcPts val="800"/>
              </a:spcAft>
            </a:pPr>
            <a:r>
              <a:rPr sz="1800">
                <a:solidFill>
                  <a:srgbClr val="1F2937"/>
                </a:solidFill>
                <a:latin typeface="Calibri"/>
              </a:rPr>
              <a:t>▸  Snaryad, mina, granata portlashi jarohatlari asosan jang harakatlari sharoitida kuzatiladi.</a:t>
            </a:r>
          </a:p>
          <a:p>
            <a:pPr>
              <a:spcAft>
                <a:spcPts val="800"/>
              </a:spcAft>
            </a:pPr>
            <a:r>
              <a:rPr sz="1800">
                <a:solidFill>
                  <a:srgbClr val="1F2937"/>
                </a:solidFill>
                <a:latin typeface="Calibri"/>
              </a:rPr>
              <a:t>▸  Tinchlik davrida ekspertiza uchun o‘q otar qurol va portlash hollari ahamiyatli.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60583"/>
                <a:gridCol w="3427391"/>
              </a:tblGrid>
              <a:tr h="411480">
                <a:tc>
                  <a:txBody>
                    <a:bodyPr/>
                    <a:lstStyle/>
                    <a:p>
                      <a:r>
                        <a:rPr sz="1400" b="1">
                          <a:solidFill>
                            <a:srgbClr val="FFFFFF"/>
                          </a:solidFill>
                        </a:rPr>
                        <a:t>Guruh</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O‘q otar jarohatlar</a:t>
                      </a:r>
                    </a:p>
                  </a:txBody>
                  <a:tcPr marL="73152" marR="73152" marT="36576" marB="36576">
                    <a:solidFill>
                      <a:srgbClr val="E8EEF6"/>
                    </a:solidFill>
                  </a:tcPr>
                </a:tc>
                <a:tc>
                  <a:txBody>
                    <a:bodyPr/>
                    <a:lstStyle/>
                    <a:p>
                      <a:r>
                        <a:rPr sz="1300" b="0">
                          <a:solidFill>
                            <a:srgbClr val="1F2937"/>
                          </a:solidFill>
                        </a:rPr>
                        <a:t>Qurollardan etkazilgan shikast</a:t>
                      </a:r>
                    </a:p>
                  </a:txBody>
                  <a:tcPr marL="73152" marR="73152" marT="36576" marB="36576">
                    <a:solidFill>
                      <a:srgbClr val="E8EEF6"/>
                    </a:solidFill>
                  </a:tcPr>
                </a:tc>
              </a:tr>
              <a:tr h="411480">
                <a:tc>
                  <a:txBody>
                    <a:bodyPr/>
                    <a:lstStyle/>
                    <a:p>
                      <a:r>
                        <a:rPr sz="1300" b="0">
                          <a:solidFill>
                            <a:srgbClr val="1F2937"/>
                          </a:solidFill>
                        </a:rPr>
                        <a:t>Portlash travmasi</a:t>
                      </a:r>
                    </a:p>
                  </a:txBody>
                  <a:tcPr marL="73152" marR="73152" marT="36576" marB="36576">
                    <a:solidFill>
                      <a:srgbClr val="FFFFFF"/>
                    </a:solidFill>
                  </a:tcPr>
                </a:tc>
                <a:tc>
                  <a:txBody>
                    <a:bodyPr/>
                    <a:lstStyle/>
                    <a:p>
                      <a:r>
                        <a:rPr sz="1300" b="0">
                          <a:solidFill>
                            <a:srgbClr val="1F2937"/>
                          </a:solidFill>
                        </a:rPr>
                        <a:t>Portlash hollaridagi shikast</a:t>
                      </a:r>
                    </a:p>
                  </a:txBody>
                  <a:tcPr marL="73152" marR="73152" marT="36576" marB="36576">
                    <a:solidFill>
                      <a:srgbClr val="FFFFFF"/>
                    </a:solidFill>
                  </a:tcPr>
                </a:tc>
              </a:tr>
              <a:tr h="411480">
                <a:tc>
                  <a:txBody>
                    <a:bodyPr/>
                    <a:lstStyle/>
                    <a:p>
                      <a:r>
                        <a:rPr sz="1300" b="0">
                          <a:solidFill>
                            <a:srgbClr val="1F2937"/>
                          </a:solidFill>
                        </a:rPr>
                        <a:t>Jang sharoiti</a:t>
                      </a:r>
                    </a:p>
                  </a:txBody>
                  <a:tcPr marL="73152" marR="73152" marT="36576" marB="36576">
                    <a:solidFill>
                      <a:srgbClr val="E8EEF6"/>
                    </a:solidFill>
                  </a:tcPr>
                </a:tc>
                <a:tc>
                  <a:txBody>
                    <a:bodyPr/>
                    <a:lstStyle/>
                    <a:p>
                      <a:r>
                        <a:rPr sz="1300" b="0">
                          <a:solidFill>
                            <a:srgbClr val="1F2937"/>
                          </a:solidFill>
                        </a:rPr>
                        <a:t>Snaryad, mina, granata portlashi</a:t>
                      </a:r>
                    </a:p>
                  </a:txBody>
                  <a:tcPr marL="73152" marR="73152" marT="36576" marB="36576">
                    <a:solidFill>
                      <a:srgbClr val="E8EEF6"/>
                    </a:solidFill>
                  </a:tcPr>
                </a:tc>
              </a:tr>
              <a:tr h="411480">
                <a:tc>
                  <a:txBody>
                    <a:bodyPr/>
                    <a:lstStyle/>
                    <a:p>
                      <a:r>
                        <a:rPr sz="1300" b="0">
                          <a:solidFill>
                            <a:srgbClr val="1F2937"/>
                          </a:solidFill>
                        </a:rPr>
                        <a:t>Tinchlik davri</a:t>
                      </a:r>
                    </a:p>
                  </a:txBody>
                  <a:tcPr marL="73152" marR="73152" marT="36576" marB="36576">
                    <a:solidFill>
                      <a:srgbClr val="FFFFFF"/>
                    </a:solidFill>
                  </a:tcPr>
                </a:tc>
                <a:tc>
                  <a:txBody>
                    <a:bodyPr/>
                    <a:lstStyle/>
                    <a:p>
                      <a:r>
                        <a:rPr sz="1300" b="0">
                          <a:solidFill>
                            <a:srgbClr val="1F2937"/>
                          </a:solidFill>
                        </a:rPr>
                        <a:t>Ikkala guruh ham ekspertizada muhim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guruh va qo‘llanish sharoiti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qurollar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Maqsadi bo‘yicha qurollar jangovor, ov, sport, gaz va maxsus turlarga bo‘linadi.</a:t>
            </a:r>
          </a:p>
          <a:p>
            <a:pPr>
              <a:spcAft>
                <a:spcPts val="800"/>
              </a:spcAft>
            </a:pPr>
            <a:r>
              <a:rPr sz="1800">
                <a:solidFill>
                  <a:srgbClr val="1F2937"/>
                </a:solidFill>
                <a:latin typeface="Calibri"/>
              </a:rPr>
              <a:t>▸  Maxsus zavodda tayyorlangani tipik, qo‘lbola yoki o‘zgartirilgani atipik qurol deyiladi.</a:t>
            </a:r>
          </a:p>
          <a:p>
            <a:pPr>
              <a:spcAft>
                <a:spcPts val="800"/>
              </a:spcAft>
            </a:pPr>
            <a:r>
              <a:rPr sz="1800">
                <a:solidFill>
                  <a:srgbClr val="1F2937"/>
                </a:solidFill>
                <a:latin typeface="Calibri"/>
              </a:rPr>
              <a:t>▸  Jangovor qurol artillerik va xususan turga bo‘linadi; xususan qurol individual yoki guruhiy bo‘ladi.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66807"/>
                <a:gridCol w="3721167"/>
              </a:tblGrid>
              <a:tr h="411480">
                <a:tc>
                  <a:txBody>
                    <a:bodyPr/>
                    <a:lstStyle/>
                    <a:p>
                      <a:r>
                        <a:rPr sz="1400" b="1">
                          <a:solidFill>
                            <a:srgbClr val="FFFFFF"/>
                          </a:solidFill>
                        </a:rPr>
                        <a:t>Tushuncha</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Tipik qurol</a:t>
                      </a:r>
                    </a:p>
                  </a:txBody>
                  <a:tcPr marL="73152" marR="73152" marT="36576" marB="36576">
                    <a:solidFill>
                      <a:srgbClr val="E8EEF6"/>
                    </a:solidFill>
                  </a:tcPr>
                </a:tc>
                <a:tc>
                  <a:txBody>
                    <a:bodyPr/>
                    <a:lstStyle/>
                    <a:p>
                      <a:r>
                        <a:rPr sz="1300" b="0">
                          <a:solidFill>
                            <a:srgbClr val="1F2937"/>
                          </a:solidFill>
                        </a:rPr>
                        <a:t>maxsus ishlab chiqarishda tayyorlangan</a:t>
                      </a:r>
                    </a:p>
                  </a:txBody>
                  <a:tcPr marL="73152" marR="73152" marT="36576" marB="36576">
                    <a:solidFill>
                      <a:srgbClr val="E8EEF6"/>
                    </a:solidFill>
                  </a:tcPr>
                </a:tc>
              </a:tr>
              <a:tr h="411480">
                <a:tc>
                  <a:txBody>
                    <a:bodyPr/>
                    <a:lstStyle/>
                    <a:p>
                      <a:r>
                        <a:rPr sz="1300" b="0">
                          <a:solidFill>
                            <a:srgbClr val="1F2937"/>
                          </a:solidFill>
                        </a:rPr>
                        <a:t>Atipik qurol</a:t>
                      </a:r>
                    </a:p>
                  </a:txBody>
                  <a:tcPr marL="73152" marR="73152" marT="36576" marB="36576">
                    <a:solidFill>
                      <a:srgbClr val="FFFFFF"/>
                    </a:solidFill>
                  </a:tcPr>
                </a:tc>
                <a:tc>
                  <a:txBody>
                    <a:bodyPr/>
                    <a:lstStyle/>
                    <a:p>
                      <a:r>
                        <a:rPr sz="1300" b="0">
                          <a:solidFill>
                            <a:srgbClr val="1F2937"/>
                          </a:solidFill>
                        </a:rPr>
                        <a:t>qo‘lbola yoki o‘zgartirilgan</a:t>
                      </a:r>
                    </a:p>
                  </a:txBody>
                  <a:tcPr marL="73152" marR="73152" marT="36576" marB="36576">
                    <a:solidFill>
                      <a:srgbClr val="FFFFFF"/>
                    </a:solidFill>
                  </a:tcPr>
                </a:tc>
              </a:tr>
              <a:tr h="411480">
                <a:tc>
                  <a:txBody>
                    <a:bodyPr/>
                    <a:lstStyle/>
                    <a:p>
                      <a:r>
                        <a:rPr sz="1300" b="0">
                          <a:solidFill>
                            <a:srgbClr val="1F2937"/>
                          </a:solidFill>
                        </a:rPr>
                        <a:t>Individual</a:t>
                      </a:r>
                    </a:p>
                  </a:txBody>
                  <a:tcPr marL="73152" marR="73152" marT="36576" marB="36576">
                    <a:solidFill>
                      <a:srgbClr val="E8EEF6"/>
                    </a:solidFill>
                  </a:tcPr>
                </a:tc>
                <a:tc>
                  <a:txBody>
                    <a:bodyPr/>
                    <a:lstStyle/>
                    <a:p>
                      <a:r>
                        <a:rPr sz="1300" b="0">
                          <a:solidFill>
                            <a:srgbClr val="1F2937"/>
                          </a:solidFill>
                        </a:rPr>
                        <a:t>miltiq, avtomat, pistolet</a:t>
                      </a:r>
                    </a:p>
                  </a:txBody>
                  <a:tcPr marL="73152" marR="73152" marT="36576" marB="36576">
                    <a:solidFill>
                      <a:srgbClr val="E8EEF6"/>
                    </a:solidFill>
                  </a:tcPr>
                </a:tc>
              </a:tr>
              <a:tr h="411480">
                <a:tc>
                  <a:txBody>
                    <a:bodyPr/>
                    <a:lstStyle/>
                    <a:p>
                      <a:r>
                        <a:rPr sz="1300" b="0">
                          <a:solidFill>
                            <a:srgbClr val="1F2937"/>
                          </a:solidFill>
                        </a:rPr>
                        <a:t>Guruhiy</a:t>
                      </a:r>
                    </a:p>
                  </a:txBody>
                  <a:tcPr marL="73152" marR="73152" marT="36576" marB="36576">
                    <a:solidFill>
                      <a:srgbClr val="FFFFFF"/>
                    </a:solidFill>
                  </a:tcPr>
                </a:tc>
                <a:tc>
                  <a:txBody>
                    <a:bodyPr/>
                    <a:lstStyle/>
                    <a:p>
                      <a:r>
                        <a:rPr sz="1300" b="0">
                          <a:solidFill>
                            <a:srgbClr val="1F2937"/>
                          </a:solidFill>
                        </a:rPr>
                        <a:t>pulemet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Tipik/atipik va individual/guruhiy</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Stvol va kalibr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Stvol — metall naycha; undagi yuqori bosim snaryadni nishon tomon harakatlantiradi.</a:t>
            </a:r>
          </a:p>
          <a:p>
            <a:pPr>
              <a:spcAft>
                <a:spcPts val="800"/>
              </a:spcAft>
            </a:pPr>
            <a:r>
              <a:rPr sz="1800">
                <a:solidFill>
                  <a:srgbClr val="1F2937"/>
                </a:solidFill>
                <a:latin typeface="Calibri"/>
              </a:rPr>
              <a:t>▸  O‘yiqlar o‘qqa aylanma harakat beradi, shu sababli o‘qning tezligi, uchish uzoqligi va aniqligi ortadi.</a:t>
            </a:r>
          </a:p>
          <a:p>
            <a:pPr>
              <a:spcAft>
                <a:spcPts val="800"/>
              </a:spcAft>
            </a:pPr>
            <a:r>
              <a:rPr sz="1800">
                <a:solidFill>
                  <a:srgbClr val="1F2937"/>
                </a:solidFill>
                <a:latin typeface="Calibri"/>
              </a:rPr>
              <a:t>▸  Silliq stvolli ov qurolida kalibr soni katta bo‘lsa, stvol kanalining diametri kichikroq bo‘ladi.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66344"/>
                <a:gridCol w="3421630"/>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Turlari</a:t>
                      </a:r>
                    </a:p>
                  </a:txBody>
                  <a:tcPr marL="73152" marR="73152" marT="36576" marB="36576">
                    <a:solidFill>
                      <a:srgbClr val="0B1F3A"/>
                    </a:solidFill>
                  </a:tcPr>
                </a:tc>
              </a:tr>
              <a:tr h="411480">
                <a:tc>
                  <a:txBody>
                    <a:bodyPr/>
                    <a:lstStyle/>
                    <a:p>
                      <a:r>
                        <a:rPr sz="1300" b="0">
                          <a:solidFill>
                            <a:srgbClr val="1F2937"/>
                          </a:solidFill>
                        </a:rPr>
                        <a:t>Stvol uzunligi</a:t>
                      </a:r>
                    </a:p>
                  </a:txBody>
                  <a:tcPr marL="73152" marR="73152" marT="36576" marB="36576">
                    <a:solidFill>
                      <a:srgbClr val="E8EEF6"/>
                    </a:solidFill>
                  </a:tcPr>
                </a:tc>
                <a:tc>
                  <a:txBody>
                    <a:bodyPr/>
                    <a:lstStyle/>
                    <a:p>
                      <a:r>
                        <a:rPr sz="1300" b="0">
                          <a:solidFill>
                            <a:srgbClr val="1F2937"/>
                          </a:solidFill>
                        </a:rPr>
                        <a:t>uzun, o‘rta, kalta</a:t>
                      </a:r>
                    </a:p>
                  </a:txBody>
                  <a:tcPr marL="73152" marR="73152" marT="36576" marB="36576">
                    <a:solidFill>
                      <a:srgbClr val="E8EEF6"/>
                    </a:solidFill>
                  </a:tcPr>
                </a:tc>
              </a:tr>
              <a:tr h="411480">
                <a:tc>
                  <a:txBody>
                    <a:bodyPr/>
                    <a:lstStyle/>
                    <a:p>
                      <a:r>
                        <a:rPr sz="1300" b="0">
                          <a:solidFill>
                            <a:srgbClr val="1F2937"/>
                          </a:solidFill>
                        </a:rPr>
                        <a:t>Ichki yuza</a:t>
                      </a:r>
                    </a:p>
                  </a:txBody>
                  <a:tcPr marL="73152" marR="73152" marT="36576" marB="36576">
                    <a:solidFill>
                      <a:srgbClr val="FFFFFF"/>
                    </a:solidFill>
                  </a:tcPr>
                </a:tc>
                <a:tc>
                  <a:txBody>
                    <a:bodyPr/>
                    <a:lstStyle/>
                    <a:p>
                      <a:r>
                        <a:rPr sz="1300" b="0">
                          <a:solidFill>
                            <a:srgbClr val="1F2937"/>
                          </a:solidFill>
                        </a:rPr>
                        <a:t>silliq yoki o‘yiqli</a:t>
                      </a:r>
                    </a:p>
                  </a:txBody>
                  <a:tcPr marL="73152" marR="73152" marT="36576" marB="36576">
                    <a:solidFill>
                      <a:srgbClr val="FFFFFF"/>
                    </a:solidFill>
                  </a:tcPr>
                </a:tc>
              </a:tr>
              <a:tr h="411480">
                <a:tc>
                  <a:txBody>
                    <a:bodyPr/>
                    <a:lstStyle/>
                    <a:p>
                      <a:r>
                        <a:rPr sz="1300" b="0">
                          <a:solidFill>
                            <a:srgbClr val="1F2937"/>
                          </a:solidFill>
                        </a:rPr>
                        <a:t>O‘yiqli kalibr</a:t>
                      </a:r>
                    </a:p>
                  </a:txBody>
                  <a:tcPr marL="73152" marR="73152" marT="36576" marB="36576">
                    <a:solidFill>
                      <a:srgbClr val="E8EEF6"/>
                    </a:solidFill>
                  </a:tcPr>
                </a:tc>
                <a:tc>
                  <a:txBody>
                    <a:bodyPr/>
                    <a:lstStyle/>
                    <a:p>
                      <a:r>
                        <a:rPr sz="1300" b="0">
                          <a:solidFill>
                            <a:srgbClr val="1F2937"/>
                          </a:solidFill>
                        </a:rPr>
                        <a:t>mayda ≤6; o‘rta 7–9; yirik ≥10 mm</a:t>
                      </a:r>
                    </a:p>
                  </a:txBody>
                  <a:tcPr marL="73152" marR="73152" marT="36576" marB="36576">
                    <a:solidFill>
                      <a:srgbClr val="E8EEF6"/>
                    </a:solidFill>
                  </a:tcPr>
                </a:tc>
              </a:tr>
              <a:tr h="411480">
                <a:tc>
                  <a:txBody>
                    <a:bodyPr/>
                    <a:lstStyle/>
                    <a:p>
                      <a:r>
                        <a:rPr sz="1300" b="0">
                          <a:solidFill>
                            <a:srgbClr val="1F2937"/>
                          </a:solidFill>
                        </a:rPr>
                        <a:t>Ov qurolida kalibr</a:t>
                      </a:r>
                    </a:p>
                  </a:txBody>
                  <a:tcPr marL="73152" marR="73152" marT="36576" marB="36576">
                    <a:solidFill>
                      <a:srgbClr val="FFFFFF"/>
                    </a:solidFill>
                  </a:tcPr>
                </a:tc>
                <a:tc>
                  <a:txBody>
                    <a:bodyPr/>
                    <a:lstStyle/>
                    <a:p>
                      <a:r>
                        <a:rPr sz="1300" b="0">
                          <a:solidFill>
                            <a:srgbClr val="1F2937"/>
                          </a:solidFill>
                        </a:rPr>
                        <a:t>10 dan 32 gacha; ko‘p 12 va 16</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Stvol va kalibr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80, 81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 qurol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qo‘lbola yoki stvoli kaltalashtirilgan miltiq qaysi turga kiradi? Javob: atipik qurol.</a:t>
            </a:r>
          </a:p>
          <a:p>
            <a:pPr>
              <a:spcAft>
                <a:spcPts val="1200"/>
              </a:spcAft>
            </a:pPr>
            <a:r>
              <a:rPr sz="2200">
                <a:solidFill>
                  <a:srgbClr val="1F2937"/>
                </a:solidFill>
                <a:latin typeface="Calibri"/>
              </a:rPr>
              <a:t>▸  Savol: qaysi qurollar kalta stvolli? Javob: pistolet va revolver; uzun stvolli — miltiq va karabin.</a:t>
            </a:r>
          </a:p>
          <a:p>
            <a:pPr>
              <a:spcAft>
                <a:spcPts val="1200"/>
              </a:spcAft>
            </a:pPr>
            <a:r>
              <a:rPr sz="2200">
                <a:solidFill>
                  <a:srgbClr val="1F2937"/>
                </a:solidFill>
                <a:latin typeface="Calibri"/>
              </a:rPr>
              <a:t>▸  Savol: stvoldagi o‘yiqlar nima beradi? Javob: o‘qqa aylanma harakat; tezlik va aniqlik ortadi.</a:t>
            </a:r>
          </a:p>
          <a:p>
            <a:pPr>
              <a:spcAft>
                <a:spcPts val="1200"/>
              </a:spcAft>
            </a:pPr>
            <a:r>
              <a:rPr sz="2200">
                <a:solidFill>
                  <a:srgbClr val="1F2937"/>
                </a:solidFill>
                <a:latin typeface="Calibri"/>
              </a:rPr>
              <a:t>▸  Diqqat: xato qilish xavfi — silliq stvolda kalibr soni katta ≠ stvol diametri katta; aksincha, diametr kichrayadi.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80, 81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Jangovar patronning tuzilishi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Unitar patronda o‘q (snaryad), porox zaryadi va kapsyul bitta gilza ichiga joylashtirilgan.</a:t>
            </a:r>
          </a:p>
          <a:p>
            <a:pPr>
              <a:spcAft>
                <a:spcPts val="800"/>
              </a:spcAft>
            </a:pPr>
            <a:r>
              <a:rPr sz="1800">
                <a:solidFill>
                  <a:srgbClr val="1F2937"/>
                </a:solidFill>
                <a:latin typeface="Calibri"/>
              </a:rPr>
              <a:t>▸  Kapsyul gilza tubida turadi. Qurol tepkisi urilganda u patrondagi poroxni yondiradi.</a:t>
            </a:r>
          </a:p>
          <a:p>
            <a:pPr>
              <a:spcAft>
                <a:spcPts val="800"/>
              </a:spcAft>
            </a:pPr>
            <a:r>
              <a:rPr sz="1800">
                <a:solidFill>
                  <a:srgbClr val="1F2937"/>
                </a:solidFill>
                <a:latin typeface="Calibri"/>
              </a:rPr>
              <a:t>▸  Kapsyul tarkibi: boshlovchi modda (qo‘rg‘oshin stifnat), yonilg‘i (antimoniy), oksidlovchi (bertole tuzi).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Tepki kapsyulga uriladi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Kapsyul tarkibi alangalanadi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Porox yonadi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Porox gazlari bosimi ortadi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 stvol bo‘ylab harakatlanadi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Otish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Maxsus o‘qlar va porox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Zirxteshar o‘qning asosi maxsus po‘latdan. Yondiruvchi o‘qda fosfor, iz qoldiruvchi o‘qda bariy va magniy birikmalari bor.</a:t>
            </a:r>
          </a:p>
          <a:p>
            <a:pPr>
              <a:spcAft>
                <a:spcPts val="1200"/>
              </a:spcAft>
            </a:pPr>
            <a:r>
              <a:rPr sz="2200">
                <a:solidFill>
                  <a:srgbClr val="1F2937"/>
                </a:solidFill>
                <a:latin typeface="Calibri"/>
              </a:rPr>
              <a:t>▸  Yorma o‘q nishonga tekkanda mayda qismlarga bo‘linadi. Xalqaro bitimlar jangovar harakatlarda uni taqiqlagan.</a:t>
            </a:r>
          </a:p>
          <a:p>
            <a:pPr>
              <a:spcAft>
                <a:spcPts val="1200"/>
              </a:spcAft>
            </a:pPr>
            <a:r>
              <a:rPr sz="2200">
                <a:solidFill>
                  <a:srgbClr val="1F2937"/>
                </a:solidFill>
                <a:latin typeface="Calibri"/>
              </a:rPr>
              <a:t>▸  Diqqat: tutunsiz porox (nitrotsellyulozadan) jangovar va sport qurollarida ishlatiladi. Qora porox esa asosan ov va signal qurollarida.</a:t>
            </a:r>
          </a:p>
          <a:p>
            <a:pPr>
              <a:spcAft>
                <a:spcPts val="1200"/>
              </a:spcAft>
            </a:pPr>
            <a:r>
              <a:rPr sz="2200">
                <a:solidFill>
                  <a:srgbClr val="1F2937"/>
                </a:solidFill>
                <a:latin typeface="Calibri"/>
              </a:rPr>
              <a:t>▸  1 g qora porox yonganda taxminan 300 kub sm gaz hosil bo‘ladi. Tutunsiz poroxda bu uch barobar ko‘p, shuning uchun o‘q uzoqqa yetadi.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82, 82–83, 83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Sochmali patron va ov patronlari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Sochmali patron gilzasi latun, plastmassa yoki kartondan tayyorlanadi. Zaryad sifatida qora porox ishlatilishi mumkin.</a:t>
            </a:r>
          </a:p>
          <a:p>
            <a:pPr>
              <a:spcAft>
                <a:spcPts val="1200"/>
              </a:spcAft>
            </a:pPr>
            <a:r>
              <a:rPr sz="2200">
                <a:solidFill>
                  <a:srgbClr val="1F2937"/>
                </a:solidFill>
                <a:latin typeface="Calibri"/>
              </a:rPr>
              <a:t>▸  Porox kigiz, karton yoki plastmassa tiqin bilan yopiladi. Ustiga sochmalar solinadi va ular ham tiqin bilan yopiladi.</a:t>
            </a:r>
          </a:p>
          <a:p>
            <a:pPr>
              <a:spcAft>
                <a:spcPts val="1200"/>
              </a:spcAft>
            </a:pPr>
            <a:r>
              <a:rPr sz="2200">
                <a:solidFill>
                  <a:srgbClr val="1F2937"/>
                </a:solidFill>
                <a:latin typeface="Calibri"/>
              </a:rPr>
              <a:t>▸  Sochma deb diametri 1 mm dan 5,5 mm gacha bo‘lgan mayda sharchalar aytiladi. Undan kattasi katta sochma (kartech) deyiladi.</a:t>
            </a:r>
          </a:p>
          <a:p>
            <a:pPr>
              <a:spcAft>
                <a:spcPts val="1200"/>
              </a:spcAft>
            </a:pPr>
            <a:r>
              <a:rPr sz="2200">
                <a:solidFill>
                  <a:srgbClr val="1F2937"/>
                </a:solidFill>
                <a:latin typeface="Calibri"/>
              </a:rPr>
              <a:t>▸  Silliq stvolli ov qurolining o‘qli patronida diametri 10 mm dan katta sharsimon qo‘rg‘oshin o‘q, Yakan yoki Brenneke o‘qi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qurol va patron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ekspertizaga stvoli va qo‘ndog‘i kalta qilingan miltiq keltirildi. U tipik qurolmi yoki atipikmi?</a:t>
            </a:r>
          </a:p>
          <a:p>
            <a:pPr>
              <a:spcAft>
                <a:spcPts val="1200"/>
              </a:spcAft>
            </a:pPr>
            <a:r>
              <a:rPr sz="2200">
                <a:solidFill>
                  <a:srgbClr val="1F2937"/>
                </a:solidFill>
                <a:latin typeface="Calibri"/>
              </a:rPr>
              <a:t>▸  Qo‘lbola yoki biror maqsadda o‘zgartirilgan qurol atipik deyiladi. Maxsus ishlab chiqarishda tayyorlangani tipikdir.</a:t>
            </a:r>
          </a:p>
          <a:p>
            <a:pPr>
              <a:spcAft>
                <a:spcPts val="1200"/>
              </a:spcAft>
            </a:pPr>
            <a:r>
              <a:rPr sz="2200">
                <a:solidFill>
                  <a:srgbClr val="1F2937"/>
                </a:solidFill>
                <a:latin typeface="Calibri"/>
              </a:rPr>
              <a:t>▸  Jangovor va sport qurollari stvolida 4-6 vintsimon o‘yiq bo‘ladi. Ular o‘qqa o‘qi atrofida aylanma harakat beradi.</a:t>
            </a:r>
          </a:p>
          <a:p>
            <a:pPr>
              <a:spcAft>
                <a:spcPts val="1200"/>
              </a:spcAft>
            </a:pPr>
            <a:r>
              <a:rPr sz="2200">
                <a:solidFill>
                  <a:srgbClr val="1F2937"/>
                </a:solidFill>
                <a:latin typeface="Calibri"/>
              </a:rPr>
              <a:t>▸  Savol: silliq stvolli ov qurolida qanday patron bo‘ladi? Sochma bilan katta sochma (kartech) farqi nimada?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80, 81, 83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otishning shikastlovchi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Porox 0,01-0,001 sek.da yonib gaz bosimini hosil qiladi; o‘yiqli stvolda bosim 2000-3000 atm. bo‘ladi.</a:t>
            </a:r>
          </a:p>
          <a:p>
            <a:pPr>
              <a:spcAft>
                <a:spcPts val="800"/>
              </a:spcAft>
            </a:pPr>
            <a:r>
              <a:rPr sz="1800">
                <a:solidFill>
                  <a:srgbClr val="1F2937"/>
                </a:solidFill>
                <a:latin typeface="Calibri"/>
              </a:rPr>
              <a:t>▸  Gaz bosimi qurolni biroz orqaga itaradi. Qo‘lbola qurol stvoli yorilib, qurol ushlaganni shikastlashi mumkin.</a:t>
            </a:r>
          </a:p>
          <a:p>
            <a:pPr>
              <a:spcAft>
                <a:spcPts val="800"/>
              </a:spcAft>
            </a:pPr>
            <a:r>
              <a:rPr sz="1800">
                <a:solidFill>
                  <a:srgbClr val="1F2937"/>
                </a:solidFill>
                <a:latin typeface="Calibri"/>
              </a:rPr>
              <a:t>▸  Diqqat: asosiy snaryad (o‘q, sochma) ≠ ikkilamchi snaryad (kiyim, suyak bo‘lagi, to‘siq).</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669886"/>
                <a:gridCol w="3618088"/>
              </a:tblGrid>
              <a:tr h="411480">
                <a:tc>
                  <a:txBody>
                    <a:bodyPr/>
                    <a:lstStyle/>
                    <a:p>
                      <a:r>
                        <a:rPr sz="1400" b="1">
                          <a:solidFill>
                            <a:srgbClr val="FFFFFF"/>
                          </a:solidFill>
                        </a:rPr>
                        <a:t>Omil</a:t>
                      </a:r>
                    </a:p>
                  </a:txBody>
                  <a:tcPr marL="73152" marR="73152" marT="36576" marB="36576">
                    <a:solidFill>
                      <a:srgbClr val="0B1F3A"/>
                    </a:solidFill>
                  </a:tcPr>
                </a:tc>
                <a:tc>
                  <a:txBody>
                    <a:bodyPr/>
                    <a:lstStyle/>
                    <a:p>
                      <a:r>
                        <a:rPr sz="1400" b="1">
                          <a:solidFill>
                            <a:srgbClr val="FFFFFF"/>
                          </a:solidFill>
                        </a:rPr>
                        <a:t>Tarkibi</a:t>
                      </a:r>
                    </a:p>
                  </a:txBody>
                  <a:tcPr marL="73152" marR="73152" marT="36576" marB="36576">
                    <a:solidFill>
                      <a:srgbClr val="0B1F3A"/>
                    </a:solidFill>
                  </a:tcPr>
                </a:tc>
              </a:tr>
              <a:tr h="411480">
                <a:tc>
                  <a:txBody>
                    <a:bodyPr/>
                    <a:lstStyle/>
                    <a:p>
                      <a:r>
                        <a:rPr sz="1300" b="0">
                          <a:solidFill>
                            <a:srgbClr val="1F2937"/>
                          </a:solidFill>
                        </a:rPr>
                        <a:t>Asosiy snaryad</a:t>
                      </a:r>
                    </a:p>
                  </a:txBody>
                  <a:tcPr marL="73152" marR="73152" marT="36576" marB="36576">
                    <a:solidFill>
                      <a:srgbClr val="E8EEF6"/>
                    </a:solidFill>
                  </a:tcPr>
                </a:tc>
                <a:tc>
                  <a:txBody>
                    <a:bodyPr/>
                    <a:lstStyle/>
                    <a:p>
                      <a:r>
                        <a:rPr sz="1300" b="0">
                          <a:solidFill>
                            <a:srgbClr val="1F2937"/>
                          </a:solidFill>
                        </a:rPr>
                        <a:t>O‘q, sochma va ularning qismlari</a:t>
                      </a:r>
                    </a:p>
                  </a:txBody>
                  <a:tcPr marL="73152" marR="73152" marT="36576" marB="36576">
                    <a:solidFill>
                      <a:srgbClr val="E8EEF6"/>
                    </a:solidFill>
                  </a:tcPr>
                </a:tc>
              </a:tr>
              <a:tr h="411480">
                <a:tc>
                  <a:txBody>
                    <a:bodyPr/>
                    <a:lstStyle/>
                    <a:p>
                      <a:r>
                        <a:rPr sz="1300" b="0">
                          <a:solidFill>
                            <a:srgbClr val="1F2937"/>
                          </a:solidFill>
                        </a:rPr>
                        <a:t>Qo‘shimcha omillar</a:t>
                      </a:r>
                    </a:p>
                  </a:txBody>
                  <a:tcPr marL="73152" marR="73152" marT="36576" marB="36576">
                    <a:solidFill>
                      <a:srgbClr val="FFFFFF"/>
                    </a:solidFill>
                  </a:tcPr>
                </a:tc>
                <a:tc>
                  <a:txBody>
                    <a:bodyPr/>
                    <a:lstStyle/>
                    <a:p>
                      <a:r>
                        <a:rPr sz="1300" b="0">
                          <a:solidFill>
                            <a:srgbClr val="1F2937"/>
                          </a:solidFill>
                        </a:rPr>
                        <a:t>O‘qoldi havo, alanga, gaz, qurum, porox</a:t>
                      </a:r>
                    </a:p>
                  </a:txBody>
                  <a:tcPr marL="73152" marR="73152" marT="36576" marB="36576">
                    <a:solidFill>
                      <a:srgbClr val="FFFFFF"/>
                    </a:solidFill>
                  </a:tcPr>
                </a:tc>
              </a:tr>
              <a:tr h="411480">
                <a:tc>
                  <a:txBody>
                    <a:bodyPr/>
                    <a:lstStyle/>
                    <a:p>
                      <a:r>
                        <a:rPr sz="1300" b="0">
                          <a:solidFill>
                            <a:srgbClr val="1F2937"/>
                          </a:solidFill>
                        </a:rPr>
                        <a:t>Qurol va qismlari</a:t>
                      </a:r>
                    </a:p>
                  </a:txBody>
                  <a:tcPr marL="73152" marR="73152" marT="36576" marB="36576">
                    <a:solidFill>
                      <a:srgbClr val="E8EEF6"/>
                    </a:solidFill>
                  </a:tcPr>
                </a:tc>
                <a:tc>
                  <a:txBody>
                    <a:bodyPr/>
                    <a:lstStyle/>
                    <a:p>
                      <a:r>
                        <a:rPr sz="1300" b="0">
                          <a:solidFill>
                            <a:srgbClr val="1F2937"/>
                          </a:solidFill>
                        </a:rPr>
                        <a:t>Stvol yorilganda shikast beradi</a:t>
                      </a:r>
                    </a:p>
                  </a:txBody>
                  <a:tcPr marL="73152" marR="73152" marT="36576" marB="36576">
                    <a:solidFill>
                      <a:srgbClr val="E8EEF6"/>
                    </a:solidFill>
                  </a:tcPr>
                </a:tc>
              </a:tr>
              <a:tr h="411480">
                <a:tc>
                  <a:txBody>
                    <a:bodyPr/>
                    <a:lstStyle/>
                    <a:p>
                      <a:r>
                        <a:rPr sz="1300" b="0">
                          <a:solidFill>
                            <a:srgbClr val="1F2937"/>
                          </a:solidFill>
                        </a:rPr>
                        <a:t>Ikkilamchi snaryad</a:t>
                      </a:r>
                    </a:p>
                  </a:txBody>
                  <a:tcPr marL="73152" marR="73152" marT="36576" marB="36576">
                    <a:solidFill>
                      <a:srgbClr val="FFFFFF"/>
                    </a:solidFill>
                  </a:tcPr>
                </a:tc>
                <a:tc>
                  <a:txBody>
                    <a:bodyPr/>
                    <a:lstStyle/>
                    <a:p>
                      <a:r>
                        <a:rPr sz="1300" b="0">
                          <a:solidFill>
                            <a:srgbClr val="1F2937"/>
                          </a:solidFill>
                        </a:rPr>
                        <a:t>Kiyim, suyak bo‘lagi, to‘siq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Shikastlovchi omillar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83, 84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ta’sir turlari: yorma, yulma, ponasimon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Yulma ta’sirda to‘qima defekti (minus-to‘qima) hosil bo‘ladi. Uni N.I.Pirogov 1849 yilda tasvirlagan.</a:t>
            </a:r>
          </a:p>
          <a:p>
            <a:pPr>
              <a:spcAft>
                <a:spcPts val="800"/>
              </a:spcAft>
            </a:pPr>
            <a:r>
              <a:rPr sz="1800">
                <a:solidFill>
                  <a:srgbClr val="1F2937"/>
                </a:solidFill>
                <a:latin typeface="Calibri"/>
              </a:rPr>
              <a:t>▸  Pirogov bu holatni “to‘qima o‘zligini yo‘qotishi” deb nomlagan.</a:t>
            </a:r>
          </a:p>
          <a:p>
            <a:pPr>
              <a:spcAft>
                <a:spcPts val="800"/>
              </a:spcAft>
            </a:pPr>
            <a:r>
              <a:rPr sz="1800">
                <a:solidFill>
                  <a:srgbClr val="1F2937"/>
                </a:solidFill>
                <a:latin typeface="Calibri"/>
              </a:rPr>
              <a:t>▸  Ponasimon ta’sirda to‘qima defekti bo‘lmaydi. Odatda chiqish teshigi shu ta’sirdan hosil bo‘ladi.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143345"/>
                <a:gridCol w="1357723"/>
                <a:gridCol w="2786905"/>
              </a:tblGrid>
              <a:tr h="411480">
                <a:tc>
                  <a:txBody>
                    <a:bodyPr/>
                    <a:lstStyle/>
                    <a:p>
                      <a:r>
                        <a:rPr sz="1300" b="1">
                          <a:solidFill>
                            <a:srgbClr val="FFFFFF"/>
                          </a:solidFill>
                        </a:rPr>
                        <a:t>Ta’sir</a:t>
                      </a:r>
                    </a:p>
                  </a:txBody>
                  <a:tcPr marL="73152" marR="73152" marT="36576" marB="36576">
                    <a:solidFill>
                      <a:srgbClr val="0B1F3A"/>
                    </a:solidFill>
                  </a:tcPr>
                </a:tc>
                <a:tc>
                  <a:txBody>
                    <a:bodyPr/>
                    <a:lstStyle/>
                    <a:p>
                      <a:r>
                        <a:rPr sz="1300" b="1">
                          <a:solidFill>
                            <a:srgbClr val="FFFFFF"/>
                          </a:solidFill>
                        </a:rPr>
                        <a:t>Energiya</a:t>
                      </a:r>
                    </a:p>
                  </a:txBody>
                  <a:tcPr marL="73152" marR="73152" marT="36576" marB="36576">
                    <a:solidFill>
                      <a:srgbClr val="0B1F3A"/>
                    </a:solidFill>
                  </a:tcPr>
                </a:tc>
                <a:tc>
                  <a:txBody>
                    <a:bodyPr/>
                    <a:lstStyle/>
                    <a:p>
                      <a:r>
                        <a:rPr sz="1300" b="1">
                          <a:solidFill>
                            <a:srgbClr val="FFFFFF"/>
                          </a:solidFill>
                        </a:rPr>
                        <a:t>Yara</a:t>
                      </a:r>
                    </a:p>
                  </a:txBody>
                  <a:tcPr marL="73152" marR="73152" marT="36576" marB="36576">
                    <a:solidFill>
                      <a:srgbClr val="0B1F3A"/>
                    </a:solidFill>
                  </a:tcPr>
                </a:tc>
              </a:tr>
              <a:tr h="411480">
                <a:tc>
                  <a:txBody>
                    <a:bodyPr/>
                    <a:lstStyle/>
                    <a:p>
                      <a:r>
                        <a:rPr sz="1200" b="0">
                          <a:solidFill>
                            <a:srgbClr val="1F2937"/>
                          </a:solidFill>
                        </a:rPr>
                        <a:t>Yorma</a:t>
                      </a:r>
                    </a:p>
                  </a:txBody>
                  <a:tcPr marL="73152" marR="73152" marT="36576" marB="36576">
                    <a:solidFill>
                      <a:srgbClr val="E8EEF6"/>
                    </a:solidFill>
                  </a:tcPr>
                </a:tc>
                <a:tc>
                  <a:txBody>
                    <a:bodyPr/>
                    <a:lstStyle/>
                    <a:p>
                      <a:r>
                        <a:rPr sz="1200" b="0">
                          <a:solidFill>
                            <a:srgbClr val="1F2937"/>
                          </a:solidFill>
                        </a:rPr>
                        <a:t>Bir necha ming joul</a:t>
                      </a:r>
                    </a:p>
                  </a:txBody>
                  <a:tcPr marL="73152" marR="73152" marT="36576" marB="36576">
                    <a:solidFill>
                      <a:srgbClr val="E8EEF6"/>
                    </a:solidFill>
                  </a:tcPr>
                </a:tc>
                <a:tc>
                  <a:txBody>
                    <a:bodyPr/>
                    <a:lstStyle/>
                    <a:p>
                      <a:r>
                        <a:rPr sz="1200" b="0">
                          <a:solidFill>
                            <a:srgbClr val="1F2937"/>
                          </a:solidFill>
                        </a:rPr>
                        <a:t>Yara snaryaddan bir necha barobar katta</a:t>
                      </a:r>
                    </a:p>
                  </a:txBody>
                  <a:tcPr marL="73152" marR="73152" marT="36576" marB="36576">
                    <a:solidFill>
                      <a:srgbClr val="E8EEF6"/>
                    </a:solidFill>
                  </a:tcPr>
                </a:tc>
              </a:tr>
              <a:tr h="411480">
                <a:tc>
                  <a:txBody>
                    <a:bodyPr/>
                    <a:lstStyle/>
                    <a:p>
                      <a:r>
                        <a:rPr sz="1200" b="0">
                          <a:solidFill>
                            <a:srgbClr val="1F2937"/>
                          </a:solidFill>
                        </a:rPr>
                        <a:t>Yulma</a:t>
                      </a:r>
                    </a:p>
                  </a:txBody>
                  <a:tcPr marL="73152" marR="73152" marT="36576" marB="36576">
                    <a:solidFill>
                      <a:srgbClr val="FFFFFF"/>
                    </a:solidFill>
                  </a:tcPr>
                </a:tc>
                <a:tc>
                  <a:txBody>
                    <a:bodyPr/>
                    <a:lstStyle/>
                    <a:p>
                      <a:r>
                        <a:rPr sz="1200" b="0">
                          <a:solidFill>
                            <a:srgbClr val="1F2937"/>
                          </a:solidFill>
                        </a:rPr>
                        <a:t>Bir necha yuz joul</a:t>
                      </a:r>
                    </a:p>
                  </a:txBody>
                  <a:tcPr marL="73152" marR="73152" marT="36576" marB="36576">
                    <a:solidFill>
                      <a:srgbClr val="FFFFFF"/>
                    </a:solidFill>
                  </a:tcPr>
                </a:tc>
                <a:tc>
                  <a:txBody>
                    <a:bodyPr/>
                    <a:lstStyle/>
                    <a:p>
                      <a:r>
                        <a:rPr sz="1200" b="0">
                          <a:solidFill>
                            <a:srgbClr val="1F2937"/>
                          </a:solidFill>
                        </a:rPr>
                        <a:t>Defekt kichikroq, chetlari tekis</a:t>
                      </a:r>
                    </a:p>
                  </a:txBody>
                  <a:tcPr marL="73152" marR="73152" marT="36576" marB="36576">
                    <a:solidFill>
                      <a:srgbClr val="FFFFFF"/>
                    </a:solidFill>
                  </a:tcPr>
                </a:tc>
              </a:tr>
              <a:tr h="411480">
                <a:tc>
                  <a:txBody>
                    <a:bodyPr/>
                    <a:lstStyle/>
                    <a:p>
                      <a:r>
                        <a:rPr sz="1200" b="0">
                          <a:solidFill>
                            <a:srgbClr val="1F2937"/>
                          </a:solidFill>
                        </a:rPr>
                        <a:t>Ponasimon</a:t>
                      </a:r>
                    </a:p>
                  </a:txBody>
                  <a:tcPr marL="73152" marR="73152" marT="36576" marB="36576">
                    <a:solidFill>
                      <a:srgbClr val="E8EEF6"/>
                    </a:solidFill>
                  </a:tcPr>
                </a:tc>
                <a:tc>
                  <a:txBody>
                    <a:bodyPr/>
                    <a:lstStyle/>
                    <a:p>
                      <a:r>
                        <a:rPr sz="1200" b="0">
                          <a:solidFill>
                            <a:srgbClr val="1F2937"/>
                          </a:solidFill>
                        </a:rPr>
                        <a:t>Bir necha o‘n joul</a:t>
                      </a:r>
                    </a:p>
                  </a:txBody>
                  <a:tcPr marL="73152" marR="73152" marT="36576" marB="36576">
                    <a:solidFill>
                      <a:srgbClr val="E8EEF6"/>
                    </a:solidFill>
                  </a:tcPr>
                </a:tc>
                <a:tc>
                  <a:txBody>
                    <a:bodyPr/>
                    <a:lstStyle/>
                    <a:p>
                      <a:r>
                        <a:rPr sz="1200" b="0">
                          <a:solidFill>
                            <a:srgbClr val="1F2937"/>
                          </a:solidFill>
                        </a:rPr>
                        <a:t>Yoriqsimon, yulduzsimon, defektsiz</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Energiya va yara xususiyati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Qo‘shimcha omillarning mexanik, termik, kimyoviy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Mexanik ta’sir: o‘qoldi havo 3–5 sm masofada to‘qima defekti, shilinish hoshiyasi va terining laxtaksimon yorilishini beradi. Porox gazlari 10–15 sm masofada shilinish, qontalash, yumshoq to‘qima yorilishini keltiradi.</a:t>
            </a:r>
          </a:p>
          <a:p>
            <a:pPr>
              <a:spcAft>
                <a:spcPts val="1200"/>
              </a:spcAft>
            </a:pPr>
            <a:r>
              <a:rPr sz="2000">
                <a:solidFill>
                  <a:srgbClr val="1F2937"/>
                </a:solidFill>
                <a:latin typeface="Calibri"/>
              </a:rPr>
              <a:t>▸  Qurum, porox va metall zarrachalari terida faqat yuzaki, yengil kontuzion (lat yeyish) ta’sir qiladi.</a:t>
            </a:r>
          </a:p>
          <a:p>
            <a:pPr>
              <a:spcAft>
                <a:spcPts val="1200"/>
              </a:spcAft>
            </a:pPr>
            <a:r>
              <a:rPr sz="2000">
                <a:solidFill>
                  <a:srgbClr val="1F2937"/>
                </a:solidFill>
                <a:latin typeface="Calibri"/>
              </a:rPr>
              <a:t>▸  Termik ta’sir: o‘q otish alangasi 3–10 sm masofada kiyim, teri va sochni kuydirishi mumkin. Alanga yonib ulgurmagan porox zarrachalarining havo kislorodi bilan portlashidan hosil bo‘ladi.</a:t>
            </a:r>
          </a:p>
          <a:p>
            <a:pPr>
              <a:spcAft>
                <a:spcPts val="1200"/>
              </a:spcAft>
            </a:pPr>
            <a:r>
              <a:rPr sz="2000">
                <a:solidFill>
                  <a:srgbClr val="1F2937"/>
                </a:solidFill>
                <a:latin typeface="Calibri"/>
              </a:rPr>
              <a:t>▸  Kimyoviy ta’sir porox gazlaridan: qonda karboksigemoglobin, mushaklarda karboksimioglobin hosil bo‘ladi. Kirish teshigi atrofi pushti tus 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85, 86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shikastlovchi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snaryad energiyasi bir necha ming joul bo‘lsa, qanday ta’sir bo‘ladi? Javob: yorma. Yara o‘qdan bir necha barobar katta, chetlari notekis, radial yoriqli.</a:t>
            </a:r>
          </a:p>
          <a:p>
            <a:pPr>
              <a:spcAft>
                <a:spcPts val="1200"/>
              </a:spcAft>
            </a:pPr>
            <a:r>
              <a:rPr sz="2000">
                <a:solidFill>
                  <a:srgbClr val="1F2937"/>
                </a:solidFill>
                <a:latin typeface="Calibri"/>
              </a:rPr>
              <a:t>▸  Savol: bir necha yuz joul-chi? Javob: yulma. To‘qima defekti hosil bo‘ladi, chetlari tekis, o‘lchami o‘q diametridan kichik.</a:t>
            </a:r>
          </a:p>
          <a:p>
            <a:pPr>
              <a:spcAft>
                <a:spcPts val="1200"/>
              </a:spcAft>
            </a:pPr>
            <a:r>
              <a:rPr sz="2000">
                <a:solidFill>
                  <a:srgbClr val="1F2937"/>
                </a:solidFill>
                <a:latin typeface="Calibri"/>
              </a:rPr>
              <a:t>▸  Savol: bir necha o‘n joul-chi? Javob: ponasimon. To‘qima defekti bo‘lmaydi, yara yoriqsimon yoki yulduzsimon; chiqish teshigi ko‘pincha shundan hosil bo‘ladi.</a:t>
            </a:r>
          </a:p>
          <a:p>
            <a:pPr>
              <a:spcAft>
                <a:spcPts val="1200"/>
              </a:spcAft>
            </a:pPr>
            <a:r>
              <a:rPr sz="2000">
                <a:solidFill>
                  <a:srgbClr val="1F2937"/>
                </a:solidFill>
                <a:latin typeface="Calibri"/>
              </a:rPr>
              <a:t>▸  Diqqat: xato qilish xavfi! Yulma ≠ ponasimon: yulmada to‘qima defekti bor, ponasimonda yo‘q. O‘qoldi havo 3–5 sm, porox gazlari 10–15 sm masofada ta’sir 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otish distansiyasi va masofasi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Distansiya — belgilar majmui, masofa esa stvol uchi bilan nishon orasidagi uzunlik. Ular aynan emas.</a:t>
            </a:r>
          </a:p>
          <a:p>
            <a:pPr>
              <a:spcAft>
                <a:spcPts val="800"/>
              </a:spcAft>
            </a:pPr>
            <a:r>
              <a:rPr sz="1800">
                <a:solidFill>
                  <a:srgbClr val="1F2937"/>
                </a:solidFill>
                <a:latin typeface="Calibri"/>
              </a:rPr>
              <a:t>▸  Turli qurollardan otishda bir xil distansiya har xil masofaga to‘g‘ri kelishi mumkin.</a:t>
            </a:r>
          </a:p>
          <a:p>
            <a:pPr>
              <a:spcAft>
                <a:spcPts val="800"/>
              </a:spcAft>
            </a:pPr>
            <a:r>
              <a:rPr sz="1800">
                <a:solidFill>
                  <a:srgbClr val="1F2937"/>
                </a:solidFill>
                <a:latin typeface="Calibri"/>
              </a:rPr>
              <a:t>▸  Masofa eksperiment bilan topiladi: o‘sha qurol va patrondan o‘xshash ob’ektga turli masofadan o‘q uziladi.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143345"/>
                <a:gridCol w="2143773"/>
                <a:gridCol w="2000855"/>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Distansiya</a:t>
                      </a:r>
                    </a:p>
                  </a:txBody>
                  <a:tcPr marL="73152" marR="73152" marT="36576" marB="36576">
                    <a:solidFill>
                      <a:srgbClr val="0B1F3A"/>
                    </a:solidFill>
                  </a:tcPr>
                </a:tc>
                <a:tc>
                  <a:txBody>
                    <a:bodyPr/>
                    <a:lstStyle/>
                    <a:p>
                      <a:r>
                        <a:rPr sz="1300" b="1">
                          <a:solidFill>
                            <a:srgbClr val="FFFFFF"/>
                          </a:solidFill>
                        </a:rPr>
                        <a:t>Masofa</a:t>
                      </a:r>
                    </a:p>
                  </a:txBody>
                  <a:tcPr marL="73152" marR="73152" marT="36576" marB="36576">
                    <a:solidFill>
                      <a:srgbClr val="0B1F3A"/>
                    </a:solidFill>
                  </a:tcPr>
                </a:tc>
              </a:tr>
              <a:tr h="411480">
                <a:tc>
                  <a:txBody>
                    <a:bodyPr/>
                    <a:lstStyle/>
                    <a:p>
                      <a:r>
                        <a:rPr sz="1200" b="0">
                          <a:solidFill>
                            <a:srgbClr val="1F2937"/>
                          </a:solidFill>
                        </a:rPr>
                        <a:t>Mohiyati</a:t>
                      </a:r>
                    </a:p>
                  </a:txBody>
                  <a:tcPr marL="73152" marR="73152" marT="36576" marB="36576">
                    <a:solidFill>
                      <a:srgbClr val="E8EEF6"/>
                    </a:solidFill>
                  </a:tcPr>
                </a:tc>
                <a:tc>
                  <a:txBody>
                    <a:bodyPr/>
                    <a:lstStyle/>
                    <a:p>
                      <a:r>
                        <a:rPr sz="1200" b="0">
                          <a:solidFill>
                            <a:srgbClr val="1F2937"/>
                          </a:solidFill>
                        </a:rPr>
                        <a:t>Belgilar majmui</a:t>
                      </a:r>
                    </a:p>
                  </a:txBody>
                  <a:tcPr marL="73152" marR="73152" marT="36576" marB="36576">
                    <a:solidFill>
                      <a:srgbClr val="E8EEF6"/>
                    </a:solidFill>
                  </a:tcPr>
                </a:tc>
                <a:tc>
                  <a:txBody>
                    <a:bodyPr/>
                    <a:lstStyle/>
                    <a:p>
                      <a:r>
                        <a:rPr sz="1200" b="0">
                          <a:solidFill>
                            <a:srgbClr val="1F2937"/>
                          </a:solidFill>
                        </a:rPr>
                        <a:t>Stvol uchi–nishon oralig‘i</a:t>
                      </a:r>
                    </a:p>
                  </a:txBody>
                  <a:tcPr marL="73152" marR="73152" marT="36576" marB="36576">
                    <a:solidFill>
                      <a:srgbClr val="E8EEF6"/>
                    </a:solidFill>
                  </a:tcPr>
                </a:tc>
              </a:tr>
              <a:tr h="411480">
                <a:tc>
                  <a:txBody>
                    <a:bodyPr/>
                    <a:lstStyle/>
                    <a:p>
                      <a:r>
                        <a:rPr sz="1200" b="0">
                          <a:solidFill>
                            <a:srgbClr val="1F2937"/>
                          </a:solidFill>
                        </a:rPr>
                        <a:t>Turlari</a:t>
                      </a:r>
                    </a:p>
                  </a:txBody>
                  <a:tcPr marL="73152" marR="73152" marT="36576" marB="36576">
                    <a:solidFill>
                      <a:srgbClr val="FFFFFF"/>
                    </a:solidFill>
                  </a:tcPr>
                </a:tc>
                <a:tc>
                  <a:txBody>
                    <a:bodyPr/>
                    <a:lstStyle/>
                    <a:p>
                      <a:r>
                        <a:rPr sz="1200" b="0">
                          <a:solidFill>
                            <a:srgbClr val="1F2937"/>
                          </a:solidFill>
                        </a:rPr>
                        <a:t>Tirab, yaqin, yaqin bo‘lmagan</a:t>
                      </a:r>
                    </a:p>
                  </a:txBody>
                  <a:tcPr marL="73152" marR="73152" marT="36576" marB="36576">
                    <a:solidFill>
                      <a:srgbClr val="FFFFFF"/>
                    </a:solidFill>
                  </a:tcPr>
                </a:tc>
                <a:tc>
                  <a:txBody>
                    <a:bodyPr/>
                    <a:lstStyle/>
                    <a:p>
                      <a:r>
                        <a:rPr sz="1200" b="0">
                          <a:solidFill>
                            <a:srgbClr val="1F2937"/>
                          </a:solidFill>
                        </a:rPr>
                        <a:t>Uzunlik birligida o‘lchanadi</a:t>
                      </a:r>
                    </a:p>
                  </a:txBody>
                  <a:tcPr marL="73152" marR="73152" marT="36576" marB="36576">
                    <a:solidFill>
                      <a:srgbClr val="FFFFFF"/>
                    </a:solidFill>
                  </a:tcPr>
                </a:tc>
              </a:tr>
              <a:tr h="411480">
                <a:tc>
                  <a:txBody>
                    <a:bodyPr/>
                    <a:lstStyle/>
                    <a:p>
                      <a:r>
                        <a:rPr sz="1200" b="0">
                          <a:solidFill>
                            <a:srgbClr val="1F2937"/>
                          </a:solidFill>
                        </a:rPr>
                        <a:t>Aniqlash</a:t>
                      </a:r>
                    </a:p>
                  </a:txBody>
                  <a:tcPr marL="73152" marR="73152" marT="36576" marB="36576">
                    <a:solidFill>
                      <a:srgbClr val="E8EEF6"/>
                    </a:solidFill>
                  </a:tcPr>
                </a:tc>
                <a:tc>
                  <a:txBody>
                    <a:bodyPr/>
                    <a:lstStyle/>
                    <a:p>
                      <a:r>
                        <a:rPr sz="1200" b="0">
                          <a:solidFill>
                            <a:srgbClr val="1F2937"/>
                          </a:solidFill>
                        </a:rPr>
                        <a:t>Kiyim va tanadagi xos belgilar</a:t>
                      </a:r>
                    </a:p>
                  </a:txBody>
                  <a:tcPr marL="73152" marR="73152" marT="36576" marB="36576">
                    <a:solidFill>
                      <a:srgbClr val="E8EEF6"/>
                    </a:solidFill>
                  </a:tcPr>
                </a:tc>
                <a:tc>
                  <a:txBody>
                    <a:bodyPr/>
                    <a:lstStyle/>
                    <a:p>
                      <a:r>
                        <a:rPr sz="1200" b="0">
                          <a:solidFill>
                            <a:srgbClr val="1F2937"/>
                          </a:solidFill>
                        </a:rPr>
                        <a:t>Eksperimental o‘q uzish</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Distansiya va masofa farqi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86, 86–87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Tirab o‘q otishda shikastlanish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Tirab otishning uch turi farqlanadi: to‘liq germetik, to‘liq va qiyalab tirab otish.</a:t>
            </a:r>
          </a:p>
          <a:p>
            <a:pPr>
              <a:spcAft>
                <a:spcPts val="800"/>
              </a:spcAft>
            </a:pPr>
            <a:r>
              <a:rPr sz="1800">
                <a:solidFill>
                  <a:srgbClr val="1F2937"/>
                </a:solidFill>
                <a:latin typeface="Calibri"/>
              </a:rPr>
              <a:t>▸  To‘liq tirab otishda stvol uchi butunlay tegib turadi; porox gazlari ichki a’zolarni yorib yuborishi mumkin.</a:t>
            </a:r>
          </a:p>
          <a:p>
            <a:pPr>
              <a:spcAft>
                <a:spcPts val="800"/>
              </a:spcAft>
            </a:pPr>
            <a:r>
              <a:rPr sz="1800">
                <a:solidFill>
                  <a:srgbClr val="1F2937"/>
                </a:solidFill>
                <a:latin typeface="Calibri"/>
              </a:rPr>
              <a:t>▸  Yara kanali boshida yumshoq to‘qima pushti bo‘ladi: karboksigemoglobin va karboksimioglobin hosil bo‘ladi.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702907"/>
                <a:gridCol w="3585067"/>
              </a:tblGrid>
              <a:tr h="411480">
                <a:tc>
                  <a:txBody>
                    <a:bodyPr/>
                    <a:lstStyle/>
                    <a:p>
                      <a:r>
                        <a:rPr sz="1400" b="1">
                          <a:solidFill>
                            <a:srgbClr val="FFFFFF"/>
                          </a:solidFill>
                        </a:rPr>
                        <a:t>Tur</a:t>
                      </a:r>
                    </a:p>
                  </a:txBody>
                  <a:tcPr marL="73152" marR="73152" marT="36576" marB="36576">
                    <a:solidFill>
                      <a:srgbClr val="0B1F3A"/>
                    </a:solidFill>
                  </a:tcPr>
                </a:tc>
                <a:tc>
                  <a:txBody>
                    <a:bodyPr/>
                    <a:lstStyle/>
                    <a:p>
                      <a:r>
                        <a:rPr sz="1400" b="1">
                          <a:solidFill>
                            <a:srgbClr val="FFFFFF"/>
                          </a:solidFill>
                        </a:rPr>
                        <a:t>Asosiy belgi</a:t>
                      </a:r>
                    </a:p>
                  </a:txBody>
                  <a:tcPr marL="73152" marR="73152" marT="36576" marB="36576">
                    <a:solidFill>
                      <a:srgbClr val="0B1F3A"/>
                    </a:solidFill>
                  </a:tcPr>
                </a:tc>
              </a:tr>
              <a:tr h="411480">
                <a:tc>
                  <a:txBody>
                    <a:bodyPr/>
                    <a:lstStyle/>
                    <a:p>
                      <a:r>
                        <a:rPr sz="1300" b="0">
                          <a:solidFill>
                            <a:srgbClr val="1F2937"/>
                          </a:solidFill>
                        </a:rPr>
                        <a:t>To‘liq germetik</a:t>
                      </a:r>
                    </a:p>
                  </a:txBody>
                  <a:tcPr marL="73152" marR="73152" marT="36576" marB="36576">
                    <a:solidFill>
                      <a:srgbClr val="E8EEF6"/>
                    </a:solidFill>
                  </a:tcPr>
                </a:tc>
                <a:tc>
                  <a:txBody>
                    <a:bodyPr/>
                    <a:lstStyle/>
                    <a:p>
                      <a:r>
                        <a:rPr sz="1300" b="0">
                          <a:solidFill>
                            <a:srgbClr val="1F2937"/>
                          </a:solidFill>
                        </a:rPr>
                        <a:t>Stvol uchi shaklidagi bosma iz (shtansmarka)</a:t>
                      </a:r>
                    </a:p>
                  </a:txBody>
                  <a:tcPr marL="73152" marR="73152" marT="36576" marB="36576">
                    <a:solidFill>
                      <a:srgbClr val="E8EEF6"/>
                    </a:solidFill>
                  </a:tcPr>
                </a:tc>
              </a:tr>
              <a:tr h="411480">
                <a:tc>
                  <a:txBody>
                    <a:bodyPr/>
                    <a:lstStyle/>
                    <a:p>
                      <a:r>
                        <a:rPr sz="1300" b="0">
                          <a:solidFill>
                            <a:srgbClr val="1F2937"/>
                          </a:solidFill>
                        </a:rPr>
                        <a:t>To‘liq tirab otish</a:t>
                      </a:r>
                    </a:p>
                  </a:txBody>
                  <a:tcPr marL="73152" marR="73152" marT="36576" marB="36576">
                    <a:solidFill>
                      <a:srgbClr val="FFFFFF"/>
                    </a:solidFill>
                  </a:tcPr>
                </a:tc>
                <a:tc>
                  <a:txBody>
                    <a:bodyPr/>
                    <a:lstStyle/>
                    <a:p>
                      <a:r>
                        <a:rPr sz="1300" b="0">
                          <a:solidFill>
                            <a:srgbClr val="1F2937"/>
                          </a:solidFill>
                        </a:rPr>
                        <a:t>Yara chetlari ko‘chgan, yoriqlar bor</a:t>
                      </a:r>
                    </a:p>
                  </a:txBody>
                  <a:tcPr marL="73152" marR="73152" marT="36576" marB="36576">
                    <a:solidFill>
                      <a:srgbClr val="FFFFFF"/>
                    </a:solidFill>
                  </a:tcPr>
                </a:tc>
              </a:tr>
              <a:tr h="411480">
                <a:tc>
                  <a:txBody>
                    <a:bodyPr/>
                    <a:lstStyle/>
                    <a:p>
                      <a:r>
                        <a:rPr sz="1300" b="0">
                          <a:solidFill>
                            <a:srgbClr val="1F2937"/>
                          </a:solidFill>
                        </a:rPr>
                        <a:t>Qiyalab tirab otish</a:t>
                      </a:r>
                    </a:p>
                  </a:txBody>
                  <a:tcPr marL="73152" marR="73152" marT="36576" marB="36576">
                    <a:solidFill>
                      <a:srgbClr val="E8EEF6"/>
                    </a:solidFill>
                  </a:tcPr>
                </a:tc>
                <a:tc>
                  <a:txBody>
                    <a:bodyPr/>
                    <a:lstStyle/>
                    <a:p>
                      <a:r>
                        <a:rPr sz="1300" b="0">
                          <a:solidFill>
                            <a:srgbClr val="1F2937"/>
                          </a:solidFill>
                        </a:rPr>
                        <a:t>Zarrachalar “tilsimon”, yoriq bir burchakda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Tirab otish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Yaqin distansiya: uch zona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Qo‘shimcha omillar ta’siri belgilariga qarab yaqin distansiyada uch zona ajratiladi.</a:t>
            </a:r>
          </a:p>
          <a:p>
            <a:pPr>
              <a:spcAft>
                <a:spcPts val="800"/>
              </a:spcAft>
            </a:pPr>
            <a:r>
              <a:rPr sz="1800">
                <a:solidFill>
                  <a:srgbClr val="1F2937"/>
                </a:solidFill>
                <a:latin typeface="Calibri"/>
              </a:rPr>
              <a:t>▸  Stvol va nishon orasidagi masofa uzaygan sari qurum va zarrachalar bilan qoplangan yuza kattalashadi.</a:t>
            </a:r>
          </a:p>
          <a:p>
            <a:pPr>
              <a:spcAft>
                <a:spcPts val="800"/>
              </a:spcAft>
            </a:pPr>
            <a:r>
              <a:rPr sz="1800">
                <a:solidFill>
                  <a:srgbClr val="1F2937"/>
                </a:solidFill>
                <a:latin typeface="Calibri"/>
              </a:rPr>
              <a:t>▸  Diqqat: silliq stvolli ov miltiqlarida uchinchi zona 500 sm gacha bo‘lishi mumkin.</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940084"/>
                <a:gridCol w="2350211"/>
                <a:gridCol w="1997679"/>
              </a:tblGrid>
              <a:tr h="411480">
                <a:tc>
                  <a:txBody>
                    <a:bodyPr/>
                    <a:lstStyle/>
                    <a:p>
                      <a:r>
                        <a:rPr sz="1300" b="1">
                          <a:solidFill>
                            <a:srgbClr val="FFFFFF"/>
                          </a:solidFill>
                        </a:rPr>
                        <a:t>Zona</a:t>
                      </a:r>
                    </a:p>
                  </a:txBody>
                  <a:tcPr marL="73152" marR="73152" marT="36576" marB="36576">
                    <a:solidFill>
                      <a:srgbClr val="0B1F3A"/>
                    </a:solidFill>
                  </a:tcPr>
                </a:tc>
                <a:tc>
                  <a:txBody>
                    <a:bodyPr/>
                    <a:lstStyle/>
                    <a:p>
                      <a:r>
                        <a:rPr sz="1300" b="1">
                          <a:solidFill>
                            <a:srgbClr val="FFFFFF"/>
                          </a:solidFill>
                        </a:rPr>
                        <a:t>Belgilari</a:t>
                      </a:r>
                    </a:p>
                  </a:txBody>
                  <a:tcPr marL="73152" marR="73152" marT="36576" marB="36576">
                    <a:solidFill>
                      <a:srgbClr val="0B1F3A"/>
                    </a:solidFill>
                  </a:tcPr>
                </a:tc>
                <a:tc>
                  <a:txBody>
                    <a:bodyPr/>
                    <a:lstStyle/>
                    <a:p>
                      <a:r>
                        <a:rPr sz="1300" b="1">
                          <a:solidFill>
                            <a:srgbClr val="FFFFFF"/>
                          </a:solidFill>
                        </a:rPr>
                        <a:t>Masofa</a:t>
                      </a:r>
                    </a:p>
                  </a:txBody>
                  <a:tcPr marL="73152" marR="73152" marT="36576" marB="36576">
                    <a:solidFill>
                      <a:srgbClr val="0B1F3A"/>
                    </a:solidFill>
                  </a:tcPr>
                </a:tc>
              </a:tr>
              <a:tr h="411480">
                <a:tc>
                  <a:txBody>
                    <a:bodyPr/>
                    <a:lstStyle/>
                    <a:p>
                      <a:r>
                        <a:rPr sz="1200" b="0">
                          <a:solidFill>
                            <a:srgbClr val="1F2937"/>
                          </a:solidFill>
                        </a:rPr>
                        <a:t>1-zona</a:t>
                      </a:r>
                    </a:p>
                  </a:txBody>
                  <a:tcPr marL="73152" marR="73152" marT="36576" marB="36576">
                    <a:solidFill>
                      <a:srgbClr val="E8EEF6"/>
                    </a:solidFill>
                  </a:tcPr>
                </a:tc>
                <a:tc>
                  <a:txBody>
                    <a:bodyPr/>
                    <a:lstStyle/>
                    <a:p>
                      <a:r>
                        <a:rPr sz="1200" b="0">
                          <a:solidFill>
                            <a:srgbClr val="1F2937"/>
                          </a:solidFill>
                        </a:rPr>
                        <a:t>Porox gazi, qurum, zarrachalar, moy</a:t>
                      </a:r>
                    </a:p>
                  </a:txBody>
                  <a:tcPr marL="73152" marR="73152" marT="36576" marB="36576">
                    <a:solidFill>
                      <a:srgbClr val="E8EEF6"/>
                    </a:solidFill>
                  </a:tcPr>
                </a:tc>
                <a:tc>
                  <a:txBody>
                    <a:bodyPr/>
                    <a:lstStyle/>
                    <a:p>
                      <a:r>
                        <a:rPr sz="1200" b="0">
                          <a:solidFill>
                            <a:srgbClr val="1F2937"/>
                          </a:solidFill>
                        </a:rPr>
                        <a:t>Makarov ~1, AK 3, miltiq ~5 sm</a:t>
                      </a:r>
                    </a:p>
                  </a:txBody>
                  <a:tcPr marL="73152" marR="73152" marT="36576" marB="36576">
                    <a:solidFill>
                      <a:srgbClr val="E8EEF6"/>
                    </a:solidFill>
                  </a:tcPr>
                </a:tc>
              </a:tr>
              <a:tr h="411480">
                <a:tc>
                  <a:txBody>
                    <a:bodyPr/>
                    <a:lstStyle/>
                    <a:p>
                      <a:r>
                        <a:rPr sz="1200" b="0">
                          <a:solidFill>
                            <a:srgbClr val="1F2937"/>
                          </a:solidFill>
                        </a:rPr>
                        <a:t>2-zona</a:t>
                      </a:r>
                    </a:p>
                  </a:txBody>
                  <a:tcPr marL="73152" marR="73152" marT="36576" marB="36576">
                    <a:solidFill>
                      <a:srgbClr val="FFFFFF"/>
                    </a:solidFill>
                  </a:tcPr>
                </a:tc>
                <a:tc>
                  <a:txBody>
                    <a:bodyPr/>
                    <a:lstStyle/>
                    <a:p>
                      <a:r>
                        <a:rPr sz="1200" b="0">
                          <a:solidFill>
                            <a:srgbClr val="1F2937"/>
                          </a:solidFill>
                        </a:rPr>
                        <a:t>Porox gazi izi yo‘q; qurum, porox, metall</a:t>
                      </a:r>
                    </a:p>
                  </a:txBody>
                  <a:tcPr marL="73152" marR="73152" marT="36576" marB="36576">
                    <a:solidFill>
                      <a:srgbClr val="FFFFFF"/>
                    </a:solidFill>
                  </a:tcPr>
                </a:tc>
                <a:tc>
                  <a:txBody>
                    <a:bodyPr/>
                    <a:lstStyle/>
                    <a:p>
                      <a:r>
                        <a:rPr sz="1200" b="0">
                          <a:solidFill>
                            <a:srgbClr val="1F2937"/>
                          </a:solidFill>
                        </a:rPr>
                        <a:t>Ko‘p qurolda 25–35 sm</a:t>
                      </a:r>
                    </a:p>
                  </a:txBody>
                  <a:tcPr marL="73152" marR="73152" marT="36576" marB="36576">
                    <a:solidFill>
                      <a:srgbClr val="FFFFFF"/>
                    </a:solidFill>
                  </a:tcPr>
                </a:tc>
              </a:tr>
              <a:tr h="411480">
                <a:tc>
                  <a:txBody>
                    <a:bodyPr/>
                    <a:lstStyle/>
                    <a:p>
                      <a:r>
                        <a:rPr sz="1200" b="0">
                          <a:solidFill>
                            <a:srgbClr val="1F2937"/>
                          </a:solidFill>
                        </a:rPr>
                        <a:t>3-zona</a:t>
                      </a:r>
                    </a:p>
                  </a:txBody>
                  <a:tcPr marL="73152" marR="73152" marT="36576" marB="36576">
                    <a:solidFill>
                      <a:srgbClr val="E8EEF6"/>
                    </a:solidFill>
                  </a:tcPr>
                </a:tc>
                <a:tc>
                  <a:txBody>
                    <a:bodyPr/>
                    <a:lstStyle/>
                    <a:p>
                      <a:r>
                        <a:rPr sz="1200" b="0">
                          <a:solidFill>
                            <a:srgbClr val="1F2937"/>
                          </a:solidFill>
                        </a:rPr>
                        <a:t>Faqat porox va metall zarrachalari</a:t>
                      </a:r>
                    </a:p>
                  </a:txBody>
                  <a:tcPr marL="73152" marR="73152" marT="36576" marB="36576">
                    <a:solidFill>
                      <a:srgbClr val="E8EEF6"/>
                    </a:solidFill>
                  </a:tcPr>
                </a:tc>
                <a:tc>
                  <a:txBody>
                    <a:bodyPr/>
                    <a:lstStyle/>
                    <a:p>
                      <a:r>
                        <a:rPr sz="1200" b="0">
                          <a:solidFill>
                            <a:srgbClr val="1F2937"/>
                          </a:solidFill>
                        </a:rPr>
                        <a:t>Makarov 150, AK 200, miltiq 250 sm</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Yaqin distansiya zonalari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87, 88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Yaqin distansiya: to‘siq bo‘lganda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Stvol uchi va jabrlangan o‘rtasida to‘siq bo‘lsa, o‘q uni teshib o‘tib nishonga tegadi.</a:t>
            </a:r>
          </a:p>
          <a:p>
            <a:pPr>
              <a:spcAft>
                <a:spcPts val="1200"/>
              </a:spcAft>
            </a:pPr>
            <a:r>
              <a:rPr sz="2200">
                <a:solidFill>
                  <a:srgbClr val="1F2937"/>
                </a:solidFill>
                <a:latin typeface="Calibri"/>
              </a:rPr>
              <a:t>▸  Bu holatda barcha qo‘shimcha omillar to‘siqda qoladi.</a:t>
            </a:r>
          </a:p>
          <a:p>
            <a:pPr>
              <a:spcAft>
                <a:spcPts val="1200"/>
              </a:spcAft>
            </a:pPr>
            <a:r>
              <a:rPr sz="2200">
                <a:solidFill>
                  <a:srgbClr val="1F2937"/>
                </a:solidFill>
                <a:latin typeface="Calibri"/>
              </a:rPr>
              <a:t>▸  O‘q to‘siq bilan ta’sirlashganda deformatsiyalanishi, qisman yoki to‘liq parchalanishi mumkin; energiyasi kamayadi, yo‘nalishi o‘zgaradi.</a:t>
            </a:r>
          </a:p>
          <a:p>
            <a:pPr>
              <a:spcAft>
                <a:spcPts val="1200"/>
              </a:spcAft>
            </a:pPr>
            <a:r>
              <a:rPr sz="2200">
                <a:solidFill>
                  <a:srgbClr val="1F2937"/>
                </a:solidFill>
                <a:latin typeface="Calibri"/>
              </a:rPr>
              <a:t>▸  Natijada shu qurol, distansiya va masofadan odatda hosil bo‘ladigan jarohatlardan farqli atipik jarohatlar yetkaziladi.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Yaqin bo‘lmagan distansiya va Vinogradov fenomeni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Yaqin bo‘lmagan distansiyada kirish teshigi atrofida qo‘shimcha omillar ta’siri belgilari aniqlanmaydi.</a:t>
            </a:r>
          </a:p>
          <a:p>
            <a:pPr>
              <a:spcAft>
                <a:spcPts val="800"/>
              </a:spcAft>
            </a:pPr>
            <a:r>
              <a:rPr sz="1800">
                <a:solidFill>
                  <a:srgbClr val="1F2937"/>
                </a:solidFill>
                <a:latin typeface="Calibri"/>
              </a:rPr>
              <a:t>▸  Vinogradov fenomeni uchun o‘q tezligi kamida 500 m/sek, kiyim tanaga yopishmagan va kuchli shamol yo‘q bo‘lishi kerak.</a:t>
            </a:r>
          </a:p>
          <a:p>
            <a:pPr>
              <a:spcAft>
                <a:spcPts val="800"/>
              </a:spcAft>
            </a:pPr>
            <a:r>
              <a:rPr sz="1800">
                <a:solidFill>
                  <a:srgbClr val="1F2937"/>
                </a:solidFill>
                <a:latin typeface="Calibri"/>
              </a:rPr>
              <a:t>▸  Diqqat: Vinogradov fenomeni ≠ yaqin distansiya. Birinchi qavat kiyimning tashqi yuzasida qurum bo‘lmaydi.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660178"/>
                <a:gridCol w="1537202"/>
                <a:gridCol w="2090594"/>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Yaqin distansiya</a:t>
                      </a:r>
                    </a:p>
                  </a:txBody>
                  <a:tcPr marL="73152" marR="73152" marT="36576" marB="36576">
                    <a:solidFill>
                      <a:srgbClr val="0B1F3A"/>
                    </a:solidFill>
                  </a:tcPr>
                </a:tc>
                <a:tc>
                  <a:txBody>
                    <a:bodyPr/>
                    <a:lstStyle/>
                    <a:p>
                      <a:r>
                        <a:rPr sz="1300" b="1">
                          <a:solidFill>
                            <a:srgbClr val="FFFFFF"/>
                          </a:solidFill>
                        </a:rPr>
                        <a:t>Vinogradov</a:t>
                      </a:r>
                    </a:p>
                  </a:txBody>
                  <a:tcPr marL="73152" marR="73152" marT="36576" marB="36576">
                    <a:solidFill>
                      <a:srgbClr val="0B1F3A"/>
                    </a:solidFill>
                  </a:tcPr>
                </a:tc>
              </a:tr>
              <a:tr h="411480">
                <a:tc>
                  <a:txBody>
                    <a:bodyPr/>
                    <a:lstStyle/>
                    <a:p>
                      <a:r>
                        <a:rPr sz="1200" b="0">
                          <a:solidFill>
                            <a:srgbClr val="1F2937"/>
                          </a:solidFill>
                        </a:rPr>
                        <a:t>Tashqi qavat kiyimida qurum</a:t>
                      </a:r>
                    </a:p>
                  </a:txBody>
                  <a:tcPr marL="73152" marR="73152" marT="36576" marB="36576">
                    <a:solidFill>
                      <a:srgbClr val="E8EEF6"/>
                    </a:solidFill>
                  </a:tcPr>
                </a:tc>
                <a:tc>
                  <a:txBody>
                    <a:bodyPr/>
                    <a:lstStyle/>
                    <a:p>
                      <a:r>
                        <a:rPr sz="1200" b="0">
                          <a:solidFill>
                            <a:srgbClr val="1F2937"/>
                          </a:solidFill>
                        </a:rPr>
                        <a:t>Jarohat atrofida bo‘ladi</a:t>
                      </a:r>
                    </a:p>
                  </a:txBody>
                  <a:tcPr marL="73152" marR="73152" marT="36576" marB="36576">
                    <a:solidFill>
                      <a:srgbClr val="E8EEF6"/>
                    </a:solidFill>
                  </a:tcPr>
                </a:tc>
                <a:tc>
                  <a:txBody>
                    <a:bodyPr/>
                    <a:lstStyle/>
                    <a:p>
                      <a:r>
                        <a:rPr sz="1200" b="0">
                          <a:solidFill>
                            <a:srgbClr val="1F2937"/>
                          </a:solidFill>
                        </a:rPr>
                        <a:t>Bo‘lmaydi</a:t>
                      </a:r>
                    </a:p>
                  </a:txBody>
                  <a:tcPr marL="73152" marR="73152" marT="36576" marB="36576">
                    <a:solidFill>
                      <a:srgbClr val="E8EEF6"/>
                    </a:solidFill>
                  </a:tcPr>
                </a:tc>
              </a:tr>
              <a:tr h="411480">
                <a:tc>
                  <a:txBody>
                    <a:bodyPr/>
                    <a:lstStyle/>
                    <a:p>
                      <a:r>
                        <a:rPr sz="1200" b="0">
                          <a:solidFill>
                            <a:srgbClr val="1F2937"/>
                          </a:solidFill>
                        </a:rPr>
                        <a:t>Qurum joyi</a:t>
                      </a:r>
                    </a:p>
                  </a:txBody>
                  <a:tcPr marL="73152" marR="73152" marT="36576" marB="36576">
                    <a:solidFill>
                      <a:srgbClr val="FFFFFF"/>
                    </a:solidFill>
                  </a:tcPr>
                </a:tc>
                <a:tc>
                  <a:txBody>
                    <a:bodyPr/>
                    <a:lstStyle/>
                    <a:p>
                      <a:r>
                        <a:rPr sz="1200" b="0">
                          <a:solidFill>
                            <a:srgbClr val="1F2937"/>
                          </a:solidFill>
                        </a:rPr>
                        <a:t>Kiyimning tashqi yuzasi</a:t>
                      </a:r>
                    </a:p>
                  </a:txBody>
                  <a:tcPr marL="73152" marR="73152" marT="36576" marB="36576">
                    <a:solidFill>
                      <a:srgbClr val="FFFFFF"/>
                    </a:solidFill>
                  </a:tcPr>
                </a:tc>
                <a:tc>
                  <a:txBody>
                    <a:bodyPr/>
                    <a:lstStyle/>
                    <a:p>
                      <a:r>
                        <a:rPr sz="1200" b="0">
                          <a:solidFill>
                            <a:srgbClr val="1F2937"/>
                          </a:solidFill>
                        </a:rPr>
                        <a:t>Ichki qavat va tana, teshik atrofi</a:t>
                      </a:r>
                    </a:p>
                  </a:txBody>
                  <a:tcPr marL="73152" marR="73152" marT="36576" marB="36576">
                    <a:solidFill>
                      <a:srgbClr val="FFFFFF"/>
                    </a:solidFill>
                  </a:tcPr>
                </a:tc>
              </a:tr>
              <a:tr h="411480">
                <a:tc>
                  <a:txBody>
                    <a:bodyPr/>
                    <a:lstStyle/>
                    <a:p>
                      <a:r>
                        <a:rPr sz="1200" b="0">
                          <a:solidFill>
                            <a:srgbClr val="1F2937"/>
                          </a:solidFill>
                        </a:rPr>
                        <a:t>Qurum miqdori</a:t>
                      </a:r>
                    </a:p>
                  </a:txBody>
                  <a:tcPr marL="73152" marR="73152" marT="36576" marB="36576">
                    <a:solidFill>
                      <a:srgbClr val="E8EEF6"/>
                    </a:solidFill>
                  </a:tcPr>
                </a:tc>
                <a:tc>
                  <a:txBody>
                    <a:bodyPr/>
                    <a:lstStyle/>
                    <a:p>
                      <a:r>
                        <a:rPr sz="1200" b="0">
                          <a:solidFill>
                            <a:srgbClr val="1F2937"/>
                          </a:solidFill>
                        </a:rPr>
                        <a:t>Ko‘p</a:t>
                      </a:r>
                    </a:p>
                  </a:txBody>
                  <a:tcPr marL="73152" marR="73152" marT="36576" marB="36576">
                    <a:solidFill>
                      <a:srgbClr val="E8EEF6"/>
                    </a:solidFill>
                  </a:tcPr>
                </a:tc>
                <a:tc>
                  <a:txBody>
                    <a:bodyPr/>
                    <a:lstStyle/>
                    <a:p>
                      <a:r>
                        <a:rPr sz="1200" b="0">
                          <a:solidFill>
                            <a:srgbClr val="1F2937"/>
                          </a:solidFill>
                        </a:rPr>
                        <a:t>Ancha oz</a:t>
                      </a:r>
                    </a:p>
                  </a:txBody>
                  <a:tcPr marL="73152" marR="73152" marT="36576" marB="36576">
                    <a:solidFill>
                      <a:srgbClr val="E8EEF6"/>
                    </a:solidFill>
                  </a:tcPr>
                </a:tc>
              </a:tr>
              <a:tr h="411480">
                <a:tc>
                  <a:txBody>
                    <a:bodyPr/>
                    <a:lstStyle/>
                    <a:p>
                      <a:r>
                        <a:rPr sz="1200" b="0">
                          <a:solidFill>
                            <a:srgbClr val="1F2937"/>
                          </a:solidFill>
                        </a:rPr>
                        <a:t>Intensivlik</a:t>
                      </a:r>
                    </a:p>
                  </a:txBody>
                  <a:tcPr marL="73152" marR="73152" marT="36576" marB="36576">
                    <a:solidFill>
                      <a:srgbClr val="FFFFFF"/>
                    </a:solidFill>
                  </a:tcPr>
                </a:tc>
                <a:tc>
                  <a:txBody>
                    <a:bodyPr/>
                    <a:lstStyle/>
                    <a:p>
                      <a:r>
                        <a:rPr sz="1200" b="0">
                          <a:solidFill>
                            <a:srgbClr val="1F2937"/>
                          </a:solidFill>
                        </a:rPr>
                        <a:t>Markazdan chetga kamayadi</a:t>
                      </a:r>
                    </a:p>
                  </a:txBody>
                  <a:tcPr marL="73152" marR="73152" marT="36576" marB="36576">
                    <a:solidFill>
                      <a:srgbClr val="FFFFFF"/>
                    </a:solidFill>
                  </a:tcPr>
                </a:tc>
                <a:tc>
                  <a:txBody>
                    <a:bodyPr/>
                    <a:lstStyle/>
                    <a:p>
                      <a:r>
                        <a:rPr sz="1200" b="0">
                          <a:solidFill>
                            <a:srgbClr val="1F2937"/>
                          </a:solidFill>
                        </a:rPr>
                        <a:t>Chekkaga qarab ortadi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Vinogradov fenomeni va yaqin distansiya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88-89, 89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distansiyani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murdada kirish teshigi atrofida faqat porox va metall zarrachalari topilgan. Porox gazlari ta’siri belgilari yo‘q.</a:t>
            </a:r>
          </a:p>
          <a:p>
            <a:pPr>
              <a:spcAft>
                <a:spcPts val="1200"/>
              </a:spcAft>
            </a:pPr>
            <a:r>
              <a:rPr sz="2200">
                <a:solidFill>
                  <a:srgbClr val="1F2937"/>
                </a:solidFill>
                <a:latin typeface="Calibri"/>
              </a:rPr>
              <a:t>▸  Savol: qaysi zonaga mos keladi? Bu belgilar yaqin distansiyaning uchinchi zonasiga xos: Makarov pistoletida 150 sm gacha.</a:t>
            </a:r>
          </a:p>
          <a:p>
            <a:pPr>
              <a:spcAft>
                <a:spcPts val="1200"/>
              </a:spcAft>
            </a:pPr>
            <a:r>
              <a:rPr sz="2200">
                <a:solidFill>
                  <a:srgbClr val="1F2937"/>
                </a:solidFill>
                <a:latin typeface="Calibri"/>
              </a:rPr>
              <a:t>▸  Aniq masofa uchun o‘sha qurol va patrondan foydalanib, o‘xshash nishonlarga tajriba o‘qlari uzilib, natijalar taqqoslanadi.</a:t>
            </a:r>
          </a:p>
          <a:p>
            <a:pPr>
              <a:spcAft>
                <a:spcPts val="1200"/>
              </a:spcAft>
            </a:pPr>
            <a:r>
              <a:rPr sz="2200">
                <a:solidFill>
                  <a:srgbClr val="1F2937"/>
                </a:solidFill>
                <a:latin typeface="Calibri"/>
              </a:rPr>
              <a:t>▸  Diqqat: distansiya belgilar majmui, masofa esa stvol uchi bilan nishon orasidagi uzunlik. Ular bir narsa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88, 86-87, 86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 mexanizmi: zarb ta’siri nazariyasi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 uch guruh omilga bog‘liq: snaryad xususiyatlari, ballistika va shikastlangan soha xususiyatlari.</a:t>
            </a:r>
          </a:p>
          <a:p>
            <a:pPr>
              <a:spcAft>
                <a:spcPts val="800"/>
              </a:spcAft>
            </a:pPr>
            <a:r>
              <a:rPr sz="1800">
                <a:solidFill>
                  <a:srgbClr val="1F2937"/>
                </a:solidFill>
                <a:latin typeface="Calibri"/>
              </a:rPr>
              <a:t>▸  Zarb kuchi yon va orqaga ham tarqaladi; hosil bo‘lgan vaqtincha bo‘shliqlar pulsatsiyalanadi.</a:t>
            </a:r>
          </a:p>
          <a:p>
            <a:pPr>
              <a:spcAft>
                <a:spcPts val="800"/>
              </a:spcAft>
            </a:pPr>
            <a:r>
              <a:rPr sz="1800">
                <a:solidFill>
                  <a:srgbClr val="1F2937"/>
                </a:solidFill>
                <a:latin typeface="Calibri"/>
              </a:rPr>
              <a:t>▸  Yara devorida uch zona: kanal, lat yeyish (0,3 dan 1–2 sm gacha), chayqalish (4–5 sm va undan ortiq).</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Kichik yuzaga kuchli zarb</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Siqilish to‘lqini yon tomonga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Musbat/manfiy bosim fazalari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Vaqtincha bo‘shliq pulsatsiyasi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Yara devorida uch zona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Zarb ta’siri mexanizmi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89, 90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Yara turlari va yara kanali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Teshib o‘tar jarohatda uch qism farqlanadi: kirish teshigi, yara kanali va chiqish teshigi.</a:t>
            </a:r>
          </a:p>
          <a:p>
            <a:pPr>
              <a:spcAft>
                <a:spcPts val="1200"/>
              </a:spcAft>
            </a:pPr>
            <a:r>
              <a:rPr sz="2200">
                <a:solidFill>
                  <a:srgbClr val="1F2937"/>
                </a:solidFill>
                <a:latin typeface="Calibri"/>
              </a:rPr>
              <a:t>▸  Ko‘r yarada chiqish teshigi bo‘lmaydi, snaryad kanal oxirida qoladi. Yalama jarohatda o‘q tanaga to‘liq kirmaydi: uzunchoq shilinma yoki ariqchasimon yara hosil bo‘ladi.</a:t>
            </a:r>
          </a:p>
          <a:p>
            <a:pPr>
              <a:spcAft>
                <a:spcPts val="1200"/>
              </a:spcAft>
            </a:pPr>
            <a:r>
              <a:rPr sz="2200">
                <a:solidFill>
                  <a:srgbClr val="1F2937"/>
                </a:solidFill>
                <a:latin typeface="Calibri"/>
              </a:rPr>
              <a:t>▸  Yara kanali to‘g‘ri, siniq yoki yoysimon bo‘ladi. Uzlukli kanal to‘qimalar qisqarishidan hosil bo‘ladi va odatda jarohat hayotiyligini ko‘rsatadi.</a:t>
            </a:r>
          </a:p>
          <a:p>
            <a:pPr>
              <a:spcAft>
                <a:spcPts val="1200"/>
              </a:spcAft>
            </a:pPr>
            <a:r>
              <a:rPr sz="2200">
                <a:solidFill>
                  <a:srgbClr val="1F2937"/>
                </a:solidFill>
                <a:latin typeface="Calibri"/>
              </a:rPr>
              <a:t>▸  Og‘irlik markazi siljigan o‘q tanada turg‘unligini yo‘qotadi. Energiya to‘qimaga to‘liqroq beriladi: katta kanal, ichki a’zolar yorilishi, suyak sinishi.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va chiqish teshiklarini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Kirish teshigida muftasimon qon quyilish bo‘ladi, to‘qimalar qatlamlarga ajraladi.</a:t>
            </a:r>
          </a:p>
          <a:p>
            <a:pPr>
              <a:spcAft>
                <a:spcPts val="800"/>
              </a:spcAft>
            </a:pPr>
            <a:r>
              <a:rPr sz="1800">
                <a:solidFill>
                  <a:srgbClr val="1F2937"/>
                </a:solidFill>
                <a:latin typeface="Calibri"/>
              </a:rPr>
              <a:t>▸  Chiqishda qon quyilishlar assimetrik, to‘qimalar qatlamlarga ajralmaydi.</a:t>
            </a:r>
          </a:p>
          <a:p>
            <a:pPr>
              <a:spcAft>
                <a:spcPts val="800"/>
              </a:spcAft>
            </a:pPr>
            <a:r>
              <a:rPr sz="1800">
                <a:solidFill>
                  <a:srgbClr val="1F2937"/>
                </a:solidFill>
                <a:latin typeface="Calibri"/>
              </a:rPr>
              <a:t>▸  Diqqat: yupqa sohalarda (bilak, elka) chiqishda ham defekt bo‘lishi mumkin, uchi tashqariga qaraydi.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007233"/>
                <a:gridCol w="2203322"/>
                <a:gridCol w="2077418"/>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Kirish</a:t>
                      </a:r>
                    </a:p>
                  </a:txBody>
                  <a:tcPr marL="73152" marR="73152" marT="36576" marB="36576">
                    <a:solidFill>
                      <a:srgbClr val="0B1F3A"/>
                    </a:solidFill>
                  </a:tcPr>
                </a:tc>
                <a:tc>
                  <a:txBody>
                    <a:bodyPr/>
                    <a:lstStyle/>
                    <a:p>
                      <a:r>
                        <a:rPr sz="1300" b="1">
                          <a:solidFill>
                            <a:srgbClr val="FFFFFF"/>
                          </a:solidFill>
                        </a:rPr>
                        <a:t>Chiqish</a:t>
                      </a:r>
                    </a:p>
                  </a:txBody>
                  <a:tcPr marL="73152" marR="73152" marT="36576" marB="36576">
                    <a:solidFill>
                      <a:srgbClr val="0B1F3A"/>
                    </a:solidFill>
                  </a:tcPr>
                </a:tc>
              </a:tr>
              <a:tr h="411480">
                <a:tc>
                  <a:txBody>
                    <a:bodyPr/>
                    <a:lstStyle/>
                    <a:p>
                      <a:r>
                        <a:rPr sz="1200" b="0">
                          <a:solidFill>
                            <a:srgbClr val="1F2937"/>
                          </a:solidFill>
                        </a:rPr>
                        <a:t>Shakli</a:t>
                      </a:r>
                    </a:p>
                  </a:txBody>
                  <a:tcPr marL="73152" marR="73152" marT="36576" marB="36576">
                    <a:solidFill>
                      <a:srgbClr val="E8EEF6"/>
                    </a:solidFill>
                  </a:tcPr>
                </a:tc>
                <a:tc>
                  <a:txBody>
                    <a:bodyPr/>
                    <a:lstStyle/>
                    <a:p>
                      <a:r>
                        <a:rPr sz="1200" b="0">
                          <a:solidFill>
                            <a:srgbClr val="1F2937"/>
                          </a:solidFill>
                        </a:rPr>
                        <a:t>Dumaloq, oval</a:t>
                      </a:r>
                    </a:p>
                  </a:txBody>
                  <a:tcPr marL="73152" marR="73152" marT="36576" marB="36576">
                    <a:solidFill>
                      <a:srgbClr val="E8EEF6"/>
                    </a:solidFill>
                  </a:tcPr>
                </a:tc>
                <a:tc>
                  <a:txBody>
                    <a:bodyPr/>
                    <a:lstStyle/>
                    <a:p>
                      <a:r>
                        <a:rPr sz="1200" b="0">
                          <a:solidFill>
                            <a:srgbClr val="1F2937"/>
                          </a:solidFill>
                        </a:rPr>
                        <a:t>Yoriqsimon, yoysimon, yulduzsimon</a:t>
                      </a:r>
                    </a:p>
                  </a:txBody>
                  <a:tcPr marL="73152" marR="73152" marT="36576" marB="36576">
                    <a:solidFill>
                      <a:srgbClr val="E8EEF6"/>
                    </a:solidFill>
                  </a:tcPr>
                </a:tc>
              </a:tr>
              <a:tr h="411480">
                <a:tc>
                  <a:txBody>
                    <a:bodyPr/>
                    <a:lstStyle/>
                    <a:p>
                      <a:r>
                        <a:rPr sz="1200" b="0">
                          <a:solidFill>
                            <a:srgbClr val="1F2937"/>
                          </a:solidFill>
                        </a:rPr>
                        <a:t>To‘qima defekti</a:t>
                      </a:r>
                    </a:p>
                  </a:txBody>
                  <a:tcPr marL="73152" marR="73152" marT="36576" marB="36576">
                    <a:solidFill>
                      <a:srgbClr val="FFFFFF"/>
                    </a:solidFill>
                  </a:tcPr>
                </a:tc>
                <a:tc>
                  <a:txBody>
                    <a:bodyPr/>
                    <a:lstStyle/>
                    <a:p>
                      <a:r>
                        <a:rPr sz="1200" b="0">
                          <a:solidFill>
                            <a:srgbClr val="1F2937"/>
                          </a:solidFill>
                        </a:rPr>
                        <a:t>Ko‘pincha bo‘ladi</a:t>
                      </a:r>
                    </a:p>
                  </a:txBody>
                  <a:tcPr marL="73152" marR="73152" marT="36576" marB="36576">
                    <a:solidFill>
                      <a:srgbClr val="FFFFFF"/>
                    </a:solidFill>
                  </a:tcPr>
                </a:tc>
                <a:tc>
                  <a:txBody>
                    <a:bodyPr/>
                    <a:lstStyle/>
                    <a:p>
                      <a:r>
                        <a:rPr sz="1200" b="0">
                          <a:solidFill>
                            <a:srgbClr val="1F2937"/>
                          </a:solidFill>
                        </a:rPr>
                        <a:t>Kamdan kam hollarda bo‘ladi</a:t>
                      </a:r>
                    </a:p>
                  </a:txBody>
                  <a:tcPr marL="73152" marR="73152" marT="36576" marB="36576">
                    <a:solidFill>
                      <a:srgbClr val="FFFFFF"/>
                    </a:solidFill>
                  </a:tcPr>
                </a:tc>
              </a:tr>
              <a:tr h="411480">
                <a:tc>
                  <a:txBody>
                    <a:bodyPr/>
                    <a:lstStyle/>
                    <a:p>
                      <a:r>
                        <a:rPr sz="1200" b="0">
                          <a:solidFill>
                            <a:srgbClr val="1F2937"/>
                          </a:solidFill>
                        </a:rPr>
                        <a:t>Chetlari</a:t>
                      </a:r>
                    </a:p>
                  </a:txBody>
                  <a:tcPr marL="73152" marR="73152" marT="36576" marB="36576">
                    <a:solidFill>
                      <a:srgbClr val="E8EEF6"/>
                    </a:solidFill>
                  </a:tcPr>
                </a:tc>
                <a:tc>
                  <a:txBody>
                    <a:bodyPr/>
                    <a:lstStyle/>
                    <a:p>
                      <a:r>
                        <a:rPr sz="1200" b="0">
                          <a:solidFill>
                            <a:srgbClr val="1F2937"/>
                          </a:solidFill>
                        </a:rPr>
                        <a:t>Nisbatan tekis, ichkariga qayrilgan</a:t>
                      </a:r>
                    </a:p>
                  </a:txBody>
                  <a:tcPr marL="73152" marR="73152" marT="36576" marB="36576">
                    <a:solidFill>
                      <a:srgbClr val="E8EEF6"/>
                    </a:solidFill>
                  </a:tcPr>
                </a:tc>
                <a:tc>
                  <a:txBody>
                    <a:bodyPr/>
                    <a:lstStyle/>
                    <a:p>
                      <a:r>
                        <a:rPr sz="1200" b="0">
                          <a:solidFill>
                            <a:srgbClr val="1F2937"/>
                          </a:solidFill>
                        </a:rPr>
                        <a:t>Notekis, tashqariga qayrilgan</a:t>
                      </a:r>
                    </a:p>
                  </a:txBody>
                  <a:tcPr marL="73152" marR="73152" marT="36576" marB="36576">
                    <a:solidFill>
                      <a:srgbClr val="E8EEF6"/>
                    </a:solidFill>
                  </a:tcPr>
                </a:tc>
              </a:tr>
              <a:tr h="411480">
                <a:tc>
                  <a:txBody>
                    <a:bodyPr/>
                    <a:lstStyle/>
                    <a:p>
                      <a:r>
                        <a:rPr sz="1200" b="0">
                          <a:solidFill>
                            <a:srgbClr val="1F2937"/>
                          </a:solidFill>
                        </a:rPr>
                        <a:t>Hoshiyalar</a:t>
                      </a:r>
                    </a:p>
                  </a:txBody>
                  <a:tcPr marL="73152" marR="73152" marT="36576" marB="36576">
                    <a:solidFill>
                      <a:srgbClr val="FFFFFF"/>
                    </a:solidFill>
                  </a:tcPr>
                </a:tc>
                <a:tc>
                  <a:txBody>
                    <a:bodyPr/>
                    <a:lstStyle/>
                    <a:p>
                      <a:r>
                        <a:rPr sz="1200" b="0">
                          <a:solidFill>
                            <a:srgbClr val="1F2937"/>
                          </a:solidFill>
                        </a:rPr>
                        <a:t>Shilinish va ifloslanish bor</a:t>
                      </a:r>
                    </a:p>
                  </a:txBody>
                  <a:tcPr marL="73152" marR="73152" marT="36576" marB="36576">
                    <a:solidFill>
                      <a:srgbClr val="FFFFFF"/>
                    </a:solidFill>
                  </a:tcPr>
                </a:tc>
                <a:tc>
                  <a:txBody>
                    <a:bodyPr/>
                    <a:lstStyle/>
                    <a:p>
                      <a:r>
                        <a:rPr sz="1200" b="0">
                          <a:solidFill>
                            <a:srgbClr val="1F2937"/>
                          </a:solidFill>
                        </a:rPr>
                        <a:t>Odatda yo‘q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Kirish va chiqish teshigi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92, 93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Hoshiyalar va suyaklardagi o‘zgarishlar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Kirish chetida kengligi 1-3 mm shilinish hoshiyasi hosil bo‘ladi, uning tashqi diametri o‘q diametriga teng. Yumshoq sohalarda (qorin, dumba) u kengroq bo‘ladi.</a:t>
            </a:r>
          </a:p>
          <a:p>
            <a:pPr>
              <a:spcAft>
                <a:spcPts val="1200"/>
              </a:spcAft>
            </a:pPr>
            <a:r>
              <a:rPr sz="2200">
                <a:solidFill>
                  <a:srgbClr val="1F2937"/>
                </a:solidFill>
                <a:latin typeface="Calibri"/>
              </a:rPr>
              <a:t>▸  O‘q yuzasidagi qurum va moy teri chetida ifloslanish hoshiyasini hosil qiladi. Ikki hoshiya ustma-ust joylashadi; ular 1865 yilda N.I.Pirogov kitobida keltirilgan.</a:t>
            </a:r>
          </a:p>
          <a:p>
            <a:pPr>
              <a:spcAft>
                <a:spcPts val="1200"/>
              </a:spcAft>
            </a:pPr>
            <a:r>
              <a:rPr sz="2200">
                <a:solidFill>
                  <a:srgbClr val="1F2937"/>
                </a:solidFill>
                <a:latin typeface="Calibri"/>
              </a:rPr>
              <a:t>▸  Yassi suyakda o‘q kirgan joyda kesik konus shaklidagi defekt hosil bo‘ladi. Snaryad yo‘nalishi kichik asosdan katta asos tomonga qaraydi.</a:t>
            </a:r>
          </a:p>
          <a:p>
            <a:pPr>
              <a:spcAft>
                <a:spcPts val="1200"/>
              </a:spcAft>
            </a:pPr>
            <a:r>
              <a:rPr sz="2200">
                <a:solidFill>
                  <a:srgbClr val="1F2937"/>
                </a:solidFill>
                <a:latin typeface="Calibri"/>
              </a:rPr>
              <a:t>▸  Naysimon suyakda kirishda radial darzli dumaloq defekt bo‘ladi. Chiqishda defekt kattaroq, darzlar uzunasiga yo‘nalgan.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91, 92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kirish va chiqish teshigi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qaysi teshik dumaloq yoki oval, chetlari nisbatan tekis va ichkariga qayrilgan? Javob: kirish teshigi.</a:t>
            </a:r>
          </a:p>
          <a:p>
            <a:pPr>
              <a:spcAft>
                <a:spcPts val="1200"/>
              </a:spcAft>
            </a:pPr>
            <a:r>
              <a:rPr sz="2200">
                <a:solidFill>
                  <a:srgbClr val="1F2937"/>
                </a:solidFill>
                <a:latin typeface="Calibri"/>
              </a:rPr>
              <a:t>▸  Savol: shilinish va ifloslanish hoshiyasi qayerda bo‘ladi? Javob: kirish teshigida; chiqish teshigida ko‘pincha bo‘lmaydi.</a:t>
            </a:r>
          </a:p>
          <a:p>
            <a:pPr>
              <a:spcAft>
                <a:spcPts val="1200"/>
              </a:spcAft>
            </a:pPr>
            <a:r>
              <a:rPr sz="2200">
                <a:solidFill>
                  <a:srgbClr val="1F2937"/>
                </a:solidFill>
                <a:latin typeface="Calibri"/>
              </a:rPr>
              <a:t>▸  Savol: to‘qima defekti qaysi teshikka xos? Javob: kirish teshigiga; chiqishda kamdan kam hollarda uchraydi.</a:t>
            </a:r>
          </a:p>
          <a:p>
            <a:pPr>
              <a:spcAft>
                <a:spcPts val="1200"/>
              </a:spcAft>
            </a:pPr>
            <a:r>
              <a:rPr sz="2200">
                <a:solidFill>
                  <a:srgbClr val="1F2937"/>
                </a:solidFill>
                <a:latin typeface="Calibri"/>
              </a:rPr>
              <a:t>▸  Diqqat: xato qilish xavfi. Chiqish teshigi kattaroq, yoriqsimon yoki yulduzsimon, chetlari tashqariga qayrilgan. Kirish teshigi bilan adashtirmang.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90, 91-92, 92-93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Sochmali va snaryadsiz patronlardan jarohat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Sochmali patron silliq stvolli ov miltig‘ida ishlatiladi. Odatda ko‘r yaralar hosil bo‘ladi.</a:t>
            </a:r>
          </a:p>
          <a:p>
            <a:pPr>
              <a:spcAft>
                <a:spcPts val="800"/>
              </a:spcAft>
            </a:pPr>
            <a:r>
              <a:rPr sz="1800">
                <a:solidFill>
                  <a:srgbClr val="1F2937"/>
                </a:solidFill>
                <a:latin typeface="Calibri"/>
              </a:rPr>
              <a:t>▸  Snaryadsiz patronda o‘q yo‘q: jarohatni tirab yoki yaqindan otishda porox gazlari yetkazadi.</a:t>
            </a:r>
          </a:p>
          <a:p>
            <a:pPr>
              <a:spcAft>
                <a:spcPts val="800"/>
              </a:spcAft>
            </a:pPr>
            <a:r>
              <a:rPr sz="1800">
                <a:solidFill>
                  <a:srgbClr val="1F2937"/>
                </a:solidFill>
                <a:latin typeface="Calibri"/>
              </a:rPr>
              <a:t>▸  Tirab otilsa ko‘r yara va ichki a’zolar yorilishi mumkin; bir necha sm da jiddiy jarohat bo‘lmaydi.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391572"/>
                <a:gridCol w="1182836"/>
                <a:gridCol w="2713566"/>
              </a:tblGrid>
              <a:tr h="411480">
                <a:tc>
                  <a:txBody>
                    <a:bodyPr/>
                    <a:lstStyle/>
                    <a:p>
                      <a:r>
                        <a:rPr sz="1300" b="1">
                          <a:solidFill>
                            <a:srgbClr val="FFFFFF"/>
                          </a:solidFill>
                        </a:rPr>
                        <a:t>Masofa</a:t>
                      </a:r>
                    </a:p>
                  </a:txBody>
                  <a:tcPr marL="73152" marR="73152" marT="36576" marB="36576">
                    <a:solidFill>
                      <a:srgbClr val="0B1F3A"/>
                    </a:solidFill>
                  </a:tcPr>
                </a:tc>
                <a:tc>
                  <a:txBody>
                    <a:bodyPr/>
                    <a:lstStyle/>
                    <a:p>
                      <a:r>
                        <a:rPr sz="1300" b="1">
                          <a:solidFill>
                            <a:srgbClr val="FFFFFF"/>
                          </a:solidFill>
                        </a:rPr>
                        <a:t>Ta’sir turi</a:t>
                      </a:r>
                    </a:p>
                  </a:txBody>
                  <a:tcPr marL="73152" marR="73152" marT="36576" marB="36576">
                    <a:solidFill>
                      <a:srgbClr val="0B1F3A"/>
                    </a:solidFill>
                  </a:tcPr>
                </a:tc>
                <a:tc>
                  <a:txBody>
                    <a:bodyPr/>
                    <a:lstStyle/>
                    <a:p>
                      <a:r>
                        <a:rPr sz="1300" b="1">
                          <a:solidFill>
                            <a:srgbClr val="FFFFFF"/>
                          </a:solidFill>
                        </a:rPr>
                        <a:t>Jarohat</a:t>
                      </a:r>
                    </a:p>
                  </a:txBody>
                  <a:tcPr marL="73152" marR="73152" marT="36576" marB="36576">
                    <a:solidFill>
                      <a:srgbClr val="0B1F3A"/>
                    </a:solidFill>
                  </a:tcPr>
                </a:tc>
              </a:tr>
              <a:tr h="411480">
                <a:tc>
                  <a:txBody>
                    <a:bodyPr/>
                    <a:lstStyle/>
                    <a:p>
                      <a:r>
                        <a:rPr sz="1200" b="0">
                          <a:solidFill>
                            <a:srgbClr val="1F2937"/>
                          </a:solidFill>
                        </a:rPr>
                        <a:t>Tirab yoki 1 m gacha</a:t>
                      </a:r>
                    </a:p>
                  </a:txBody>
                  <a:tcPr marL="73152" marR="73152" marT="36576" marB="36576">
                    <a:solidFill>
                      <a:srgbClr val="E8EEF6"/>
                    </a:solidFill>
                  </a:tcPr>
                </a:tc>
                <a:tc>
                  <a:txBody>
                    <a:bodyPr/>
                    <a:lstStyle/>
                    <a:p>
                      <a:r>
                        <a:rPr sz="1200" b="0">
                          <a:solidFill>
                            <a:srgbClr val="1F2937"/>
                          </a:solidFill>
                        </a:rPr>
                        <a:t>Kompakt</a:t>
                      </a:r>
                    </a:p>
                  </a:txBody>
                  <a:tcPr marL="73152" marR="73152" marT="36576" marB="36576">
                    <a:solidFill>
                      <a:srgbClr val="E8EEF6"/>
                    </a:solidFill>
                  </a:tcPr>
                </a:tc>
                <a:tc>
                  <a:txBody>
                    <a:bodyPr/>
                    <a:lstStyle/>
                    <a:p>
                      <a:r>
                        <a:rPr sz="1200" b="0">
                          <a:solidFill>
                            <a:srgbClr val="1F2937"/>
                          </a:solidFill>
                        </a:rPr>
                        <a:t>Bitta teshik, patron diametriga teng</a:t>
                      </a:r>
                    </a:p>
                  </a:txBody>
                  <a:tcPr marL="73152" marR="73152" marT="36576" marB="36576">
                    <a:solidFill>
                      <a:srgbClr val="E8EEF6"/>
                    </a:solidFill>
                  </a:tcPr>
                </a:tc>
              </a:tr>
              <a:tr h="411480">
                <a:tc>
                  <a:txBody>
                    <a:bodyPr/>
                    <a:lstStyle/>
                    <a:p>
                      <a:r>
                        <a:rPr sz="1200" b="0">
                          <a:solidFill>
                            <a:srgbClr val="1F2937"/>
                          </a:solidFill>
                        </a:rPr>
                        <a:t>5 m gacha</a:t>
                      </a:r>
                    </a:p>
                  </a:txBody>
                  <a:tcPr marL="73152" marR="73152" marT="36576" marB="36576">
                    <a:solidFill>
                      <a:srgbClr val="FFFFFF"/>
                    </a:solidFill>
                  </a:tcPr>
                </a:tc>
                <a:tc>
                  <a:txBody>
                    <a:bodyPr/>
                    <a:lstStyle/>
                    <a:p>
                      <a:r>
                        <a:rPr sz="1200" b="0">
                          <a:solidFill>
                            <a:srgbClr val="1F2937"/>
                          </a:solidFill>
                        </a:rPr>
                        <a:t>Nisbiy tarqalma</a:t>
                      </a:r>
                    </a:p>
                  </a:txBody>
                  <a:tcPr marL="73152" marR="73152" marT="36576" marB="36576">
                    <a:solidFill>
                      <a:srgbClr val="FFFFFF"/>
                    </a:solidFill>
                  </a:tcPr>
                </a:tc>
                <a:tc>
                  <a:txBody>
                    <a:bodyPr/>
                    <a:lstStyle/>
                    <a:p>
                      <a:r>
                        <a:rPr sz="1200" b="0">
                          <a:solidFill>
                            <a:srgbClr val="1F2937"/>
                          </a:solidFill>
                        </a:rPr>
                        <a:t>Asosiy teshik va atrofida mayda yaralar</a:t>
                      </a:r>
                    </a:p>
                  </a:txBody>
                  <a:tcPr marL="73152" marR="73152" marT="36576" marB="36576">
                    <a:solidFill>
                      <a:srgbClr val="FFFFFF"/>
                    </a:solidFill>
                  </a:tcPr>
                </a:tc>
              </a:tr>
              <a:tr h="411480">
                <a:tc>
                  <a:txBody>
                    <a:bodyPr/>
                    <a:lstStyle/>
                    <a:p>
                      <a:r>
                        <a:rPr sz="1200" b="0">
                          <a:solidFill>
                            <a:srgbClr val="1F2937"/>
                          </a:solidFill>
                        </a:rPr>
                        <a:t>5 m dan uzoq</a:t>
                      </a:r>
                    </a:p>
                  </a:txBody>
                  <a:tcPr marL="73152" marR="73152" marT="36576" marB="36576">
                    <a:solidFill>
                      <a:srgbClr val="E8EEF6"/>
                    </a:solidFill>
                  </a:tcPr>
                </a:tc>
                <a:tc>
                  <a:txBody>
                    <a:bodyPr/>
                    <a:lstStyle/>
                    <a:p>
                      <a:r>
                        <a:rPr sz="1200" b="0">
                          <a:solidFill>
                            <a:srgbClr val="1F2937"/>
                          </a:solidFill>
                        </a:rPr>
                        <a:t>Tarqalma</a:t>
                      </a:r>
                    </a:p>
                  </a:txBody>
                  <a:tcPr marL="73152" marR="73152" marT="36576" marB="36576">
                    <a:solidFill>
                      <a:srgbClr val="E8EEF6"/>
                    </a:solidFill>
                  </a:tcPr>
                </a:tc>
                <a:tc>
                  <a:txBody>
                    <a:bodyPr/>
                    <a:lstStyle/>
                    <a:p>
                      <a:r>
                        <a:rPr sz="1200" b="0">
                          <a:solidFill>
                            <a:srgbClr val="1F2937"/>
                          </a:solidFill>
                        </a:rPr>
                        <a:t>Mayda, o‘xshash yaralar</a:t>
                      </a:r>
                    </a:p>
                  </a:txBody>
                  <a:tcPr marL="73152" marR="73152" marT="36576" marB="36576">
                    <a:solidFill>
                      <a:srgbClr val="E8EEF6"/>
                    </a:solidFill>
                  </a:tcPr>
                </a:tc>
              </a:tr>
              <a:tr h="411480">
                <a:tc>
                  <a:txBody>
                    <a:bodyPr/>
                    <a:lstStyle/>
                    <a:p>
                      <a:r>
                        <a:rPr sz="1200" b="0">
                          <a:solidFill>
                            <a:srgbClr val="1F2937"/>
                          </a:solidFill>
                        </a:rPr>
                        <a:t>Tirab (bo‘sh patron)</a:t>
                      </a:r>
                    </a:p>
                  </a:txBody>
                  <a:tcPr marL="73152" marR="73152" marT="36576" marB="36576">
                    <a:solidFill>
                      <a:srgbClr val="FFFFFF"/>
                    </a:solidFill>
                  </a:tcPr>
                </a:tc>
                <a:tc>
                  <a:txBody>
                    <a:bodyPr/>
                    <a:lstStyle/>
                    <a:p>
                      <a:r>
                        <a:rPr sz="1200" b="0">
                          <a:solidFill>
                            <a:srgbClr val="1F2937"/>
                          </a:solidFill>
                        </a:rPr>
                        <a:t>Porox gazlari</a:t>
                      </a:r>
                    </a:p>
                  </a:txBody>
                  <a:tcPr marL="73152" marR="73152" marT="36576" marB="36576">
                    <a:solidFill>
                      <a:srgbClr val="FFFFFF"/>
                    </a:solidFill>
                  </a:tcPr>
                </a:tc>
                <a:tc>
                  <a:txBody>
                    <a:bodyPr/>
                    <a:lstStyle/>
                    <a:p>
                      <a:r>
                        <a:rPr sz="1200" b="0">
                          <a:solidFill>
                            <a:srgbClr val="1F2937"/>
                          </a:solidFill>
                        </a:rPr>
                        <a:t>Katta defekt, chetlari yoriqli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Sochma va bo‘sh patron ta’siri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93, 94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Gaz va pnevmatik qurollardan jarohat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Gaz quroli irritant (ko‘z, burun, tomoq, nafas yo‘llarini ta’sirlovchi modda) bilan vaqtincha ishdan chiqaradi. Ta’sir 2-3 m da, taxminan bir soat davom etadi.</a:t>
            </a:r>
          </a:p>
          <a:p>
            <a:pPr>
              <a:spcAft>
                <a:spcPts val="1200"/>
              </a:spcAft>
            </a:pPr>
            <a:r>
              <a:rPr sz="2000">
                <a:solidFill>
                  <a:srgbClr val="1F2937"/>
                </a:solidFill>
                <a:latin typeface="Calibri"/>
              </a:rPr>
              <a:t>▸  Belgilari: og‘riq, yo‘tal, ko‘zdan yosh oqishi, blefarospazm. Asorat: keratit, kon’yunktivit, bronxit, pnevmoniya. Qoldiq oqibat 7 kungacha aniqlanadi.</a:t>
            </a:r>
          </a:p>
          <a:p>
            <a:pPr>
              <a:spcAft>
                <a:spcPts val="1200"/>
              </a:spcAft>
            </a:pPr>
            <a:r>
              <a:rPr sz="2000">
                <a:solidFill>
                  <a:srgbClr val="1F2937"/>
                </a:solidFill>
                <a:latin typeface="Calibri"/>
              </a:rPr>
              <a:t>▸  Sud-kimyoviy tekshiruvda irritant izlari teri, kiyim va buyumlardan etil spirtli doka tampon bilan olinadi va germetik idishda laboratoriyaga yuboriladi.</a:t>
            </a:r>
          </a:p>
          <a:p>
            <a:pPr>
              <a:spcAft>
                <a:spcPts val="1200"/>
              </a:spcAft>
            </a:pPr>
            <a:r>
              <a:rPr sz="2000">
                <a:solidFill>
                  <a:srgbClr val="1F2937"/>
                </a:solidFill>
                <a:latin typeface="Calibri"/>
              </a:rPr>
              <a:t>▸  Pnevmatik qurol o‘qi siqilgan havo bilan uchadi va 30-50 m ga yetadi. Qo‘shimcha omil izi bo‘lmaydi, yara ko‘r bo‘ladi; ba’zan og‘ir jarohat o‘limga olib keladi.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95, 95-96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 hollarida ekspertiza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Savollar: jarohat o‘q otar quroldan yetkazilganmi, qanday qurol va snaryaddan? Otish distansiyasi va masofasi, kirish-chiqish teshiklari, yara kanali yo‘nalishi aniqlanadi.</a:t>
            </a:r>
          </a:p>
          <a:p>
            <a:pPr>
              <a:spcAft>
                <a:spcPts val="1200"/>
              </a:spcAft>
            </a:pPr>
            <a:r>
              <a:rPr sz="2000">
                <a:solidFill>
                  <a:srgbClr val="1F2937"/>
                </a:solidFill>
                <a:latin typeface="Calibri"/>
              </a:rPr>
              <a:t>▸  Yana so‘raladi: stvol va jabrlanganning o‘zaro holati, jarohatlar ketma-ketligi, qurol avtomatikmi, jarohat jabrlanganning o‘zi tomonidan yetkazilganmi.</a:t>
            </a:r>
          </a:p>
          <a:p>
            <a:pPr>
              <a:spcAft>
                <a:spcPts val="1200"/>
              </a:spcAft>
            </a:pPr>
            <a:r>
              <a:rPr sz="2000">
                <a:solidFill>
                  <a:srgbClr val="1F2937"/>
                </a:solidFill>
                <a:latin typeface="Calibri"/>
              </a:rPr>
              <a:t>▸  Ketma-ketlik: dastlabki jarohatda qon quyilish yaqqolroq, qurum va metall zarrachalari keyingisida ko‘proq, moy zarralari esa dastlabkisida ko‘proq bo‘ladi.</a:t>
            </a:r>
          </a:p>
          <a:p>
            <a:pPr>
              <a:spcAft>
                <a:spcPts val="1200"/>
              </a:spcAft>
            </a:pPr>
            <a:r>
              <a:rPr sz="2000">
                <a:solidFill>
                  <a:srgbClr val="1F2937"/>
                </a:solidFill>
                <a:latin typeface="Calibri"/>
              </a:rPr>
              <a:t>▸  Avtomatik qurolda (minutiga 900 tagacha o‘q) bir tomonda ko‘p yaqin jarohat bo‘ladi; teshik shakli, kanal yo‘nalishi va distansiya farqlanmaydi.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96, 97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usullari va tibbiy hujjatlar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Murda ekspertizasida makro- va mikroskopik tekshiruvga instrumental va laboratoriya usullari qo‘shiladi.</a:t>
            </a:r>
          </a:p>
          <a:p>
            <a:pPr>
              <a:spcAft>
                <a:spcPts val="800"/>
              </a:spcAft>
            </a:pPr>
            <a:r>
              <a:rPr sz="1800">
                <a:solidFill>
                  <a:srgbClr val="1F2937"/>
                </a:solidFill>
                <a:latin typeface="Calibri"/>
              </a:rPr>
              <a:t>▸  Muolajada jarohat belgilari o‘zgaradi; vrach teshiklar va kanalni tibbiy hujjatga to‘liq yozishi lozim.</a:t>
            </a:r>
          </a:p>
          <a:p>
            <a:pPr>
              <a:spcAft>
                <a:spcPts val="800"/>
              </a:spcAft>
            </a:pPr>
            <a:r>
              <a:rPr sz="1800">
                <a:solidFill>
                  <a:srgbClr val="1F2937"/>
                </a:solidFill>
                <a:latin typeface="Calibri"/>
              </a:rPr>
              <a:t>▸  Yara kanalidagi o‘q, sochmalar, kiyim va poyafzal o‘ramda huquqni muhofaza etuvchi idoralarga topshiriladi.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2302827"/>
                <a:gridCol w="2985147"/>
              </a:tblGrid>
              <a:tr h="411480">
                <a:tc>
                  <a:txBody>
                    <a:bodyPr/>
                    <a:lstStyle/>
                    <a:p>
                      <a:r>
                        <a:rPr sz="1400" b="1">
                          <a:solidFill>
                            <a:srgbClr val="FFFFFF"/>
                          </a:solidFill>
                        </a:rPr>
                        <a:t>Usul</a:t>
                      </a:r>
                    </a:p>
                  </a:txBody>
                  <a:tcPr marL="73152" marR="73152" marT="36576" marB="36576">
                    <a:solidFill>
                      <a:srgbClr val="0B1F3A"/>
                    </a:solidFill>
                  </a:tcPr>
                </a:tc>
                <a:tc>
                  <a:txBody>
                    <a:bodyPr/>
                    <a:lstStyle/>
                    <a:p>
                      <a:r>
                        <a:rPr sz="1400" b="1">
                          <a:solidFill>
                            <a:srgbClr val="FFFFFF"/>
                          </a:solidFill>
                        </a:rPr>
                        <a:t>Nimani topadi</a:t>
                      </a:r>
                    </a:p>
                  </a:txBody>
                  <a:tcPr marL="73152" marR="73152" marT="36576" marB="36576">
                    <a:solidFill>
                      <a:srgbClr val="0B1F3A"/>
                    </a:solidFill>
                  </a:tcPr>
                </a:tc>
              </a:tr>
              <a:tr h="411480">
                <a:tc>
                  <a:txBody>
                    <a:bodyPr/>
                    <a:lstStyle/>
                    <a:p>
                      <a:r>
                        <a:rPr sz="1300" b="0">
                          <a:solidFill>
                            <a:srgbClr val="1F2937"/>
                          </a:solidFill>
                        </a:rPr>
                        <a:t>Rentgen; Bukki nurlari</a:t>
                      </a:r>
                    </a:p>
                  </a:txBody>
                  <a:tcPr marL="73152" marR="73152" marT="36576" marB="36576">
                    <a:solidFill>
                      <a:srgbClr val="E8EEF6"/>
                    </a:solidFill>
                  </a:tcPr>
                </a:tc>
                <a:tc>
                  <a:txBody>
                    <a:bodyPr/>
                    <a:lstStyle/>
                    <a:p>
                      <a:r>
                        <a:rPr sz="1300" b="0">
                          <a:solidFill>
                            <a:srgbClr val="1F2937"/>
                          </a:solidFill>
                        </a:rPr>
                        <a:t>O‘q, sochma; teshik atrofida metall</a:t>
                      </a:r>
                    </a:p>
                  </a:txBody>
                  <a:tcPr marL="73152" marR="73152" marT="36576" marB="36576">
                    <a:solidFill>
                      <a:srgbClr val="E8EEF6"/>
                    </a:solidFill>
                  </a:tcPr>
                </a:tc>
              </a:tr>
              <a:tr h="411480">
                <a:tc>
                  <a:txBody>
                    <a:bodyPr/>
                    <a:lstStyle/>
                    <a:p>
                      <a:r>
                        <a:rPr sz="1300" b="0">
                          <a:solidFill>
                            <a:srgbClr val="1F2937"/>
                          </a:solidFill>
                        </a:rPr>
                        <a:t>Kontakt-diffuzion; spektral</a:t>
                      </a:r>
                    </a:p>
                  </a:txBody>
                  <a:tcPr marL="73152" marR="73152" marT="36576" marB="36576">
                    <a:solidFill>
                      <a:srgbClr val="FFFFFF"/>
                    </a:solidFill>
                  </a:tcPr>
                </a:tc>
                <a:tc>
                  <a:txBody>
                    <a:bodyPr/>
                    <a:lstStyle/>
                    <a:p>
                      <a:r>
                        <a:rPr sz="1300" b="0">
                          <a:solidFill>
                            <a:srgbClr val="1F2937"/>
                          </a:solidFill>
                        </a:rPr>
                        <a:t>Metall borligi va turi</a:t>
                      </a:r>
                    </a:p>
                  </a:txBody>
                  <a:tcPr marL="73152" marR="73152" marT="36576" marB="36576">
                    <a:solidFill>
                      <a:srgbClr val="FFFFFF"/>
                    </a:solidFill>
                  </a:tcPr>
                </a:tc>
              </a:tr>
              <a:tr h="411480">
                <a:tc>
                  <a:txBody>
                    <a:bodyPr/>
                    <a:lstStyle/>
                    <a:p>
                      <a:r>
                        <a:rPr sz="1300" b="0">
                          <a:solidFill>
                            <a:srgbClr val="1F2937"/>
                          </a:solidFill>
                        </a:rPr>
                        <a:t>Ultrabinafsha (UB) nur</a:t>
                      </a:r>
                    </a:p>
                  </a:txBody>
                  <a:tcPr marL="73152" marR="73152" marT="36576" marB="36576">
                    <a:solidFill>
                      <a:srgbClr val="E8EEF6"/>
                    </a:solidFill>
                  </a:tcPr>
                </a:tc>
                <a:tc>
                  <a:txBody>
                    <a:bodyPr/>
                    <a:lstStyle/>
                    <a:p>
                      <a:r>
                        <a:rPr sz="1300" b="0">
                          <a:solidFill>
                            <a:srgbClr val="1F2937"/>
                          </a:solidFill>
                        </a:rPr>
                        <a:t>Oz miqdordagi qurum va moy</a:t>
                      </a:r>
                    </a:p>
                  </a:txBody>
                  <a:tcPr marL="73152" marR="73152" marT="36576" marB="36576">
                    <a:solidFill>
                      <a:srgbClr val="E8EEF6"/>
                    </a:solidFill>
                  </a:tcPr>
                </a:tc>
              </a:tr>
              <a:tr h="411480">
                <a:tc>
                  <a:txBody>
                    <a:bodyPr/>
                    <a:lstStyle/>
                    <a:p>
                      <a:r>
                        <a:rPr sz="1300" b="0">
                          <a:solidFill>
                            <a:srgbClr val="1F2937"/>
                          </a:solidFill>
                        </a:rPr>
                        <a:t>Infraqizil (IQ) fotografiya</a:t>
                      </a:r>
                    </a:p>
                  </a:txBody>
                  <a:tcPr marL="73152" marR="73152" marT="36576" marB="36576">
                    <a:solidFill>
                      <a:srgbClr val="FFFFFF"/>
                    </a:solidFill>
                  </a:tcPr>
                </a:tc>
                <a:tc>
                  <a:txBody>
                    <a:bodyPr/>
                    <a:lstStyle/>
                    <a:p>
                      <a:r>
                        <a:rPr sz="1300" b="0">
                          <a:solidFill>
                            <a:srgbClr val="1F2937"/>
                          </a:solidFill>
                        </a:rPr>
                        <a:t>To‘q kiyimda qurum, porox, metall</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Instrumental usullar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o‘z-o‘ziga yetkazish masalasi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Faraz: murda yonida o‘q otar qurol topildi. Qo‘l yuzalarida, burun va quloq teshiklarida qurum izlari bor.</a:t>
            </a:r>
          </a:p>
          <a:p>
            <a:pPr>
              <a:spcAft>
                <a:spcPts val="1200"/>
              </a:spcAft>
            </a:pPr>
            <a:r>
              <a:rPr sz="2200">
                <a:solidFill>
                  <a:srgbClr val="1F2937"/>
                </a:solidFill>
                <a:latin typeface="Calibri"/>
              </a:rPr>
              <a:t>▸  Qurol stvolining uchida va qo‘l kaftida jabrlanganning qon izlari topildi; bu o‘zi otganligini taxmin qildirishi mumkin.</a:t>
            </a:r>
          </a:p>
          <a:p>
            <a:pPr>
              <a:spcAft>
                <a:spcPts val="1200"/>
              </a:spcAft>
            </a:pPr>
            <a:r>
              <a:rPr sz="2200">
                <a:solidFill>
                  <a:srgbClr val="1F2937"/>
                </a:solidFill>
                <a:latin typeface="Calibri"/>
              </a:rPr>
              <a:t>▸  Tekshiriladi: tepkini o‘zi bosa olganmi, otish distansiyasi va masofasi hamda jarohat kanalining yo‘nalishi mos keladimi.</a:t>
            </a:r>
          </a:p>
          <a:p>
            <a:pPr>
              <a:spcAft>
                <a:spcPts val="1200"/>
              </a:spcAft>
            </a:pPr>
            <a:r>
              <a:rPr sz="2200">
                <a:solidFill>
                  <a:srgbClr val="1F2937"/>
                </a:solidFill>
                <a:latin typeface="Calibri"/>
              </a:rPr>
              <a:t>▸  Savol: nega bitta belgi bilan xulosa qilib bo‘lmaydi? Masala qator holatlarni birgalikda aniqlash orqali hal etiladi.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Portlash travmasi: tushuncha va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Portlash — moddalarning fizik yoki kimyoviy o‘zgarishi natijasida juda qisqa vaqtda katta miqdordagi energiyaning ajralishi.</a:t>
            </a:r>
          </a:p>
          <a:p>
            <a:pPr>
              <a:spcAft>
                <a:spcPts val="1200"/>
              </a:spcAft>
            </a:pPr>
            <a:r>
              <a:rPr sz="2200">
                <a:solidFill>
                  <a:srgbClr val="1F2937"/>
                </a:solidFill>
                <a:latin typeface="Calibri"/>
              </a:rPr>
              <a:t>▸  Portlash uch turga bo‘linadi: tabiiy (yashin, vulqon, meteorit), qasddan (portlovchi moddalar) va tasodifiy (gaz ballonlari, bug‘ qozonlari).</a:t>
            </a:r>
          </a:p>
          <a:p>
            <a:pPr>
              <a:spcAft>
                <a:spcPts val="1200"/>
              </a:spcAft>
            </a:pPr>
            <a:r>
              <a:rPr sz="2200">
                <a:solidFill>
                  <a:srgbClr val="1F2937"/>
                </a:solidFill>
                <a:latin typeface="Calibri"/>
              </a:rPr>
              <a:t>▸  Portlovchi modda yonish yoki detonatsiya orqali o‘zgaradi. Yonish sekinroq, ammo yopiq muhitda tezlashadi: qora porox 400 m/sek gacha yonadi.</a:t>
            </a:r>
          </a:p>
          <a:p>
            <a:pPr>
              <a:spcAft>
                <a:spcPts val="1200"/>
              </a:spcAft>
            </a:pPr>
            <a:r>
              <a:rPr sz="2200">
                <a:solidFill>
                  <a:srgbClr val="1F2937"/>
                </a:solidFill>
                <a:latin typeface="Calibri"/>
              </a:rPr>
              <a:t>▸  Detonatsiya zarb to‘lqini ta’sirida bo‘ladi va tezligi bir necha ming m/sek. Trotilda bosim yuz ming atmosferadan oshadi. Diqqat: yonish ≠ detonatsiya.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Portlovchi moddalar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Agregat holati bo‘yicha portlovchi moddalar qattiq, suyuq va gazsimon bo‘ladi.</a:t>
            </a:r>
          </a:p>
          <a:p>
            <a:pPr>
              <a:spcAft>
                <a:spcPts val="800"/>
              </a:spcAft>
            </a:pPr>
            <a:r>
              <a:rPr sz="1800">
                <a:solidFill>
                  <a:srgbClr val="1F2937"/>
                </a:solidFill>
                <a:latin typeface="Calibri"/>
              </a:rPr>
              <a:t>▸  Birlamchi moddalar juda sezgir, shuning uchun o‘q otar qurol kapsyuli va detonatorlar tarkibida bo‘ladi.</a:t>
            </a:r>
          </a:p>
          <a:p>
            <a:pPr>
              <a:spcAft>
                <a:spcPts val="800"/>
              </a:spcAft>
            </a:pPr>
            <a:r>
              <a:rPr sz="1800">
                <a:solidFill>
                  <a:srgbClr val="1F2937"/>
                </a:solidFill>
                <a:latin typeface="Calibri"/>
              </a:rPr>
              <a:t>▸  Ikkilamchi moddalar snaryad, granata, mina, bomba, qurilish va tog‘-kon sanoatida ishlatiladi.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01661"/>
                <a:gridCol w="1982990"/>
                <a:gridCol w="2203322"/>
              </a:tblGrid>
              <a:tr h="411480">
                <a:tc>
                  <a:txBody>
                    <a:bodyPr/>
                    <a:lstStyle/>
                    <a:p>
                      <a:r>
                        <a:rPr sz="1300" b="1">
                          <a:solidFill>
                            <a:srgbClr val="FFFFFF"/>
                          </a:solidFill>
                        </a:rPr>
                        <a:t>Guruh</a:t>
                      </a:r>
                    </a:p>
                  </a:txBody>
                  <a:tcPr marL="73152" marR="73152" marT="36576" marB="36576">
                    <a:solidFill>
                      <a:srgbClr val="0B1F3A"/>
                    </a:solidFill>
                  </a:tcPr>
                </a:tc>
                <a:tc>
                  <a:txBody>
                    <a:bodyPr/>
                    <a:lstStyle/>
                    <a:p>
                      <a:r>
                        <a:rPr sz="1300" b="1">
                          <a:solidFill>
                            <a:srgbClr val="FFFFFF"/>
                          </a:solidFill>
                        </a:rPr>
                        <a:t>Xususiyat</a:t>
                      </a:r>
                    </a:p>
                  </a:txBody>
                  <a:tcPr marL="73152" marR="73152" marT="36576" marB="36576">
                    <a:solidFill>
                      <a:srgbClr val="0B1F3A"/>
                    </a:solidFill>
                  </a:tcPr>
                </a:tc>
                <a:tc>
                  <a:txBody>
                    <a:bodyPr/>
                    <a:lstStyle/>
                    <a:p>
                      <a:r>
                        <a:rPr sz="1300" b="1">
                          <a:solidFill>
                            <a:srgbClr val="FFFFFF"/>
                          </a:solidFill>
                        </a:rPr>
                        <a:t>Misol</a:t>
                      </a:r>
                    </a:p>
                  </a:txBody>
                  <a:tcPr marL="73152" marR="73152" marT="36576" marB="36576">
                    <a:solidFill>
                      <a:srgbClr val="0B1F3A"/>
                    </a:solidFill>
                  </a:tcPr>
                </a:tc>
              </a:tr>
              <a:tr h="411480">
                <a:tc>
                  <a:txBody>
                    <a:bodyPr/>
                    <a:lstStyle/>
                    <a:p>
                      <a:r>
                        <a:rPr sz="1200" b="0">
                          <a:solidFill>
                            <a:srgbClr val="1F2937"/>
                          </a:solidFill>
                        </a:rPr>
                        <a:t>Birlamchi (initsial)</a:t>
                      </a:r>
                    </a:p>
                  </a:txBody>
                  <a:tcPr marL="73152" marR="73152" marT="36576" marB="36576">
                    <a:solidFill>
                      <a:srgbClr val="E8EEF6"/>
                    </a:solidFill>
                  </a:tcPr>
                </a:tc>
                <a:tc>
                  <a:txBody>
                    <a:bodyPr/>
                    <a:lstStyle/>
                    <a:p>
                      <a:r>
                        <a:rPr sz="1200" b="0">
                          <a:solidFill>
                            <a:srgbClr val="1F2937"/>
                          </a:solidFill>
                        </a:rPr>
                        <a:t>Juda sezgir; boshqalarni qo‘zg‘atadi</a:t>
                      </a:r>
                    </a:p>
                  </a:txBody>
                  <a:tcPr marL="73152" marR="73152" marT="36576" marB="36576">
                    <a:solidFill>
                      <a:srgbClr val="E8EEF6"/>
                    </a:solidFill>
                  </a:tcPr>
                </a:tc>
                <a:tc>
                  <a:txBody>
                    <a:bodyPr/>
                    <a:lstStyle/>
                    <a:p>
                      <a:r>
                        <a:rPr sz="1200" b="0">
                          <a:solidFill>
                            <a:srgbClr val="1F2937"/>
                          </a:solidFill>
                        </a:rPr>
                        <a:t>Simob sianid, qo‘rg‘oshin trinitrorezorsinat</a:t>
                      </a:r>
                    </a:p>
                  </a:txBody>
                  <a:tcPr marL="73152" marR="73152" marT="36576" marB="36576">
                    <a:solidFill>
                      <a:srgbClr val="E8EEF6"/>
                    </a:solidFill>
                  </a:tcPr>
                </a:tc>
              </a:tr>
              <a:tr h="411480">
                <a:tc>
                  <a:txBody>
                    <a:bodyPr/>
                    <a:lstStyle/>
                    <a:p>
                      <a:r>
                        <a:rPr sz="1200" b="0">
                          <a:solidFill>
                            <a:srgbClr val="1F2937"/>
                          </a:solidFill>
                        </a:rPr>
                        <a:t>Ikkilamchi (brizant)</a:t>
                      </a:r>
                    </a:p>
                  </a:txBody>
                  <a:tcPr marL="73152" marR="73152" marT="36576" marB="36576">
                    <a:solidFill>
                      <a:srgbClr val="FFFFFF"/>
                    </a:solidFill>
                  </a:tcPr>
                </a:tc>
                <a:tc>
                  <a:txBody>
                    <a:bodyPr/>
                    <a:lstStyle/>
                    <a:p>
                      <a:r>
                        <a:rPr sz="1200" b="0">
                          <a:solidFill>
                            <a:srgbClr val="1F2937"/>
                          </a:solidFill>
                        </a:rPr>
                        <a:t>Detonatsiya ta’sirida qo‘zg‘aladi</a:t>
                      </a:r>
                    </a:p>
                  </a:txBody>
                  <a:tcPr marL="73152" marR="73152" marT="36576" marB="36576">
                    <a:solidFill>
                      <a:srgbClr val="FFFFFF"/>
                    </a:solidFill>
                  </a:tcPr>
                </a:tc>
                <a:tc>
                  <a:txBody>
                    <a:bodyPr/>
                    <a:lstStyle/>
                    <a:p>
                      <a:r>
                        <a:rPr sz="1200" b="0">
                          <a:solidFill>
                            <a:srgbClr val="1F2937"/>
                          </a:solidFill>
                        </a:rPr>
                        <a:t>Trotil, ammonal</a:t>
                      </a:r>
                    </a:p>
                  </a:txBody>
                  <a:tcPr marL="73152" marR="73152" marT="36576" marB="36576">
                    <a:solidFill>
                      <a:srgbClr val="FFFFFF"/>
                    </a:solidFill>
                  </a:tcPr>
                </a:tc>
              </a:tr>
              <a:tr h="411480">
                <a:tc>
                  <a:txBody>
                    <a:bodyPr/>
                    <a:lstStyle/>
                    <a:p>
                      <a:r>
                        <a:rPr sz="1200" b="0">
                          <a:solidFill>
                            <a:srgbClr val="1F2937"/>
                          </a:solidFill>
                        </a:rPr>
                        <a:t>Tarqatuvchi</a:t>
                      </a:r>
                    </a:p>
                  </a:txBody>
                  <a:tcPr marL="73152" marR="73152" marT="36576" marB="36576">
                    <a:solidFill>
                      <a:srgbClr val="E8EEF6"/>
                    </a:solidFill>
                  </a:tcPr>
                </a:tc>
                <a:tc>
                  <a:txBody>
                    <a:bodyPr/>
                    <a:lstStyle/>
                    <a:p>
                      <a:r>
                        <a:rPr sz="1200" b="0">
                          <a:solidFill>
                            <a:srgbClr val="1F2937"/>
                          </a:solidFill>
                        </a:rPr>
                        <a:t>Detonatsiyasiz, yonib parchalanadi</a:t>
                      </a:r>
                    </a:p>
                  </a:txBody>
                  <a:tcPr marL="73152" marR="73152" marT="36576" marB="36576">
                    <a:solidFill>
                      <a:srgbClr val="E8EEF6"/>
                    </a:solidFill>
                  </a:tcPr>
                </a:tc>
                <a:tc>
                  <a:txBody>
                    <a:bodyPr/>
                    <a:lstStyle/>
                    <a:p>
                      <a:r>
                        <a:rPr sz="1200" b="0">
                          <a:solidFill>
                            <a:srgbClr val="1F2937"/>
                          </a:solidFill>
                        </a:rPr>
                        <a:t>Porox</a:t>
                      </a:r>
                    </a:p>
                  </a:txBody>
                  <a:tcPr marL="73152" marR="73152" marT="36576" marB="36576">
                    <a:solidFill>
                      <a:srgbClr val="E8EEF6"/>
                    </a:solidFill>
                  </a:tcPr>
                </a:tc>
              </a:tr>
              <a:tr h="411480">
                <a:tc>
                  <a:txBody>
                    <a:bodyPr/>
                    <a:lstStyle/>
                    <a:p>
                      <a:r>
                        <a:rPr sz="1200" b="0">
                          <a:solidFill>
                            <a:srgbClr val="1F2937"/>
                          </a:solidFill>
                        </a:rPr>
                        <a:t>Pirotexnik tarkib</a:t>
                      </a:r>
                    </a:p>
                  </a:txBody>
                  <a:tcPr marL="73152" marR="73152" marT="36576" marB="36576">
                    <a:solidFill>
                      <a:srgbClr val="FFFFFF"/>
                    </a:solidFill>
                  </a:tcPr>
                </a:tc>
                <a:tc>
                  <a:txBody>
                    <a:bodyPr/>
                    <a:lstStyle/>
                    <a:p>
                      <a:r>
                        <a:rPr sz="1200" b="0">
                          <a:solidFill>
                            <a:srgbClr val="1F2937"/>
                          </a:solidFill>
                        </a:rPr>
                        <a:t>Oksidlovchi va yonilg‘i aralashmasi</a:t>
                      </a:r>
                    </a:p>
                  </a:txBody>
                  <a:tcPr marL="73152" marR="73152" marT="36576" marB="36576">
                    <a:solidFill>
                      <a:srgbClr val="FFFFFF"/>
                    </a:solidFill>
                  </a:tcPr>
                </a:tc>
                <a:tc>
                  <a:txBody>
                    <a:bodyPr/>
                    <a:lstStyle/>
                    <a:p>
                      <a:r>
                        <a:rPr sz="1200" b="0">
                          <a:solidFill>
                            <a:srgbClr val="1F2937"/>
                          </a:solidFill>
                        </a:rPr>
                        <a:t>Yorituvchi, yondiruvchi signal raketalari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Portlovchi moddalar guruhlari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98, 99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Portlashning shikastlovchi omillari va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Ta’sir turlari: mexanik, termik, kimyoviy va baroakustik. Baroakustik travmada quloq nog‘ora pardasi va o‘pka shikastlanishi mumkin.</a:t>
            </a:r>
          </a:p>
          <a:p>
            <a:pPr>
              <a:spcAft>
                <a:spcPts val="800"/>
              </a:spcAft>
            </a:pPr>
            <a:r>
              <a:rPr sz="1800">
                <a:solidFill>
                  <a:srgbClr val="1F2937"/>
                </a:solidFill>
                <a:latin typeface="Calibri"/>
              </a:rPr>
              <a:t>▸  Zarb to‘lqini cheklanmagan yassi o‘tmas jism kabi uradi; moslama bo‘laklarining tezligi bir necha ming m/sek gacha.</a:t>
            </a:r>
          </a:p>
          <a:p>
            <a:pPr>
              <a:spcAft>
                <a:spcPts val="800"/>
              </a:spcAft>
            </a:pPr>
            <a:r>
              <a:rPr sz="1800">
                <a:solidFill>
                  <a:srgbClr val="1F2937"/>
                </a:solidFill>
                <a:latin typeface="Calibri"/>
              </a:rPr>
              <a:t>▸  Maxsus vositalar (mix, bolt, yonilg‘i, toksik va biologik moddalar) turli shikast va infeksiya keltiradi.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Detonatsiya mahsulotlari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Atrof-muhit zarb to‘lqini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Portlovchi moslama bo‘laklari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Maxsus shikastlovchi vositalar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Ikkilamchi snaryadlar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Beshta shikastlovchi omil</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99-101, 100, 101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Portlash distansiyalari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Portlashning to‘rtta shartli distansiyasi farqlanadi: kontakt, yaqin, nisbatan yaqin va yaqin bo‘lmagan.</a:t>
            </a:r>
          </a:p>
          <a:p>
            <a:pPr>
              <a:spcAft>
                <a:spcPts val="800"/>
              </a:spcAft>
            </a:pPr>
            <a:r>
              <a:rPr sz="1800">
                <a:solidFill>
                  <a:srgbClr val="1F2937"/>
                </a:solidFill>
                <a:latin typeface="Calibri"/>
              </a:rPr>
              <a:t>▸  Har bir distansiyaning aniq masofasi portlovchi modda, moslama xususiyati va zaryad quvvatiga bog‘liq.</a:t>
            </a:r>
          </a:p>
          <a:p>
            <a:pPr>
              <a:spcAft>
                <a:spcPts val="800"/>
              </a:spcAft>
            </a:pPr>
            <a:r>
              <a:rPr sz="1800">
                <a:solidFill>
                  <a:srgbClr val="1F2937"/>
                </a:solidFill>
                <a:latin typeface="Calibri"/>
              </a:rPr>
              <a:t>▸  Diqqat: yaqin distansiyada detonatsiya mahsulotlari bor, nisbatan yaqinda esa ikkilamchi snaryadlar qo‘shiladi.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Distansiya</a:t>
                      </a:r>
                    </a:p>
                  </a:txBody>
                  <a:tcPr marL="73152" marR="73152" marT="36576" marB="36576">
                    <a:solidFill>
                      <a:srgbClr val="0B1F3A"/>
                    </a:solidFill>
                  </a:tcPr>
                </a:tc>
                <a:tc>
                  <a:txBody>
                    <a:bodyPr/>
                    <a:lstStyle/>
                    <a:p>
                      <a:r>
                        <a:rPr sz="1400" b="1">
                          <a:solidFill>
                            <a:srgbClr val="FFFFFF"/>
                          </a:solidFill>
                        </a:rPr>
                        <a:t>Ustuvor omillar</a:t>
                      </a:r>
                    </a:p>
                  </a:txBody>
                  <a:tcPr marL="73152" marR="73152" marT="36576" marB="36576">
                    <a:solidFill>
                      <a:srgbClr val="0B1F3A"/>
                    </a:solidFill>
                  </a:tcPr>
                </a:tc>
              </a:tr>
              <a:tr h="411480">
                <a:tc>
                  <a:txBody>
                    <a:bodyPr/>
                    <a:lstStyle/>
                    <a:p>
                      <a:r>
                        <a:rPr sz="1300" b="0">
                          <a:solidFill>
                            <a:srgbClr val="1F2937"/>
                          </a:solidFill>
                        </a:rPr>
                        <a:t>Kontakt</a:t>
                      </a:r>
                    </a:p>
                  </a:txBody>
                  <a:tcPr marL="73152" marR="73152" marT="36576" marB="36576">
                    <a:solidFill>
                      <a:srgbClr val="E8EEF6"/>
                    </a:solidFill>
                  </a:tcPr>
                </a:tc>
                <a:tc>
                  <a:txBody>
                    <a:bodyPr/>
                    <a:lstStyle/>
                    <a:p>
                      <a:r>
                        <a:rPr sz="1300" b="0">
                          <a:solidFill>
                            <a:srgbClr val="1F2937"/>
                          </a:solidFill>
                        </a:rPr>
                        <a:t>Detonatsiya mahsulotlari, moslama bo‘laklari</a:t>
                      </a:r>
                    </a:p>
                  </a:txBody>
                  <a:tcPr marL="73152" marR="73152" marT="36576" marB="36576">
                    <a:solidFill>
                      <a:srgbClr val="E8EEF6"/>
                    </a:solidFill>
                  </a:tcPr>
                </a:tc>
              </a:tr>
              <a:tr h="411480">
                <a:tc>
                  <a:txBody>
                    <a:bodyPr/>
                    <a:lstStyle/>
                    <a:p>
                      <a:r>
                        <a:rPr sz="1300" b="0">
                          <a:solidFill>
                            <a:srgbClr val="1F2937"/>
                          </a:solidFill>
                        </a:rPr>
                        <a:t>Yaqin</a:t>
                      </a:r>
                    </a:p>
                  </a:txBody>
                  <a:tcPr marL="73152" marR="73152" marT="36576" marB="36576">
                    <a:solidFill>
                      <a:srgbClr val="FFFFFF"/>
                    </a:solidFill>
                  </a:tcPr>
                </a:tc>
                <a:tc>
                  <a:txBody>
                    <a:bodyPr/>
                    <a:lstStyle/>
                    <a:p>
                      <a:r>
                        <a:rPr sz="1300" b="0">
                          <a:solidFill>
                            <a:srgbClr val="1F2937"/>
                          </a:solidFill>
                        </a:rPr>
                        <a:t>Gazlar, bo‘laklar, zarb to‘lqini</a:t>
                      </a:r>
                    </a:p>
                  </a:txBody>
                  <a:tcPr marL="73152" marR="73152" marT="36576" marB="36576">
                    <a:solidFill>
                      <a:srgbClr val="FFFFFF"/>
                    </a:solidFill>
                  </a:tcPr>
                </a:tc>
              </a:tr>
              <a:tr h="411480">
                <a:tc>
                  <a:txBody>
                    <a:bodyPr/>
                    <a:lstStyle/>
                    <a:p>
                      <a:r>
                        <a:rPr sz="1300" b="0">
                          <a:solidFill>
                            <a:srgbClr val="1F2937"/>
                          </a:solidFill>
                        </a:rPr>
                        <a:t>Nisbatan yaqin</a:t>
                      </a:r>
                    </a:p>
                  </a:txBody>
                  <a:tcPr marL="73152" marR="73152" marT="36576" marB="36576">
                    <a:solidFill>
                      <a:srgbClr val="E8EEF6"/>
                    </a:solidFill>
                  </a:tcPr>
                </a:tc>
                <a:tc>
                  <a:txBody>
                    <a:bodyPr/>
                    <a:lstStyle/>
                    <a:p>
                      <a:r>
                        <a:rPr sz="1300" b="0">
                          <a:solidFill>
                            <a:srgbClr val="1F2937"/>
                          </a:solidFill>
                        </a:rPr>
                        <a:t>Zarb to‘lqini, bo‘laklar, ikkilamchi snaryad</a:t>
                      </a:r>
                    </a:p>
                  </a:txBody>
                  <a:tcPr marL="73152" marR="73152" marT="36576" marB="36576">
                    <a:solidFill>
                      <a:srgbClr val="E8EEF6"/>
                    </a:solidFill>
                  </a:tcPr>
                </a:tc>
              </a:tr>
              <a:tr h="411480">
                <a:tc>
                  <a:txBody>
                    <a:bodyPr/>
                    <a:lstStyle/>
                    <a:p>
                      <a:r>
                        <a:rPr sz="1300" b="0">
                          <a:solidFill>
                            <a:srgbClr val="1F2937"/>
                          </a:solidFill>
                        </a:rPr>
                        <a:t>Yaqin bo‘lmagan</a:t>
                      </a:r>
                    </a:p>
                  </a:txBody>
                  <a:tcPr marL="73152" marR="73152" marT="36576" marB="36576">
                    <a:solidFill>
                      <a:srgbClr val="FFFFFF"/>
                    </a:solidFill>
                  </a:tcPr>
                </a:tc>
                <a:tc>
                  <a:txBody>
                    <a:bodyPr/>
                    <a:lstStyle/>
                    <a:p>
                      <a:r>
                        <a:rPr sz="1300" b="0">
                          <a:solidFill>
                            <a:srgbClr val="1F2937"/>
                          </a:solidFill>
                        </a:rPr>
                        <a:t>Moslama bo‘laklari, ikkilamchi snaryadlar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Distansiya va omillar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portlash hodisasi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zaryadsiz moslama portlagan. Jarohat xususiyati moslama turi, oraliq masofa va atrofdagi jismlarga bog‘liq.</a:t>
            </a:r>
          </a:p>
          <a:p>
            <a:pPr>
              <a:spcAft>
                <a:spcPts val="1200"/>
              </a:spcAft>
            </a:pPr>
            <a:r>
              <a:rPr sz="2200">
                <a:solidFill>
                  <a:srgbClr val="1F2937"/>
                </a:solidFill>
                <a:latin typeface="Calibri"/>
              </a:rPr>
              <a:t>▸  Gaz ballonlari portlaganda asosiy jarohatlar ballon devorining bo‘laklaridan yetkaziladi.</a:t>
            </a:r>
          </a:p>
          <a:p>
            <a:pPr>
              <a:spcAft>
                <a:spcPts val="1200"/>
              </a:spcAft>
            </a:pPr>
            <a:r>
              <a:rPr sz="2200">
                <a:solidFill>
                  <a:srgbClr val="1F2937"/>
                </a:solidFill>
                <a:latin typeface="Calibri"/>
              </a:rPr>
              <a:t>▸  Bug‘ qozoni portlaganda asosan termik jarohatlar bo‘ladi. Tabiiy gaz, ko‘mir va un kukuni portlaganda zarb to‘lqinidan mexanik jarohat ham qo‘shiladi.</a:t>
            </a:r>
          </a:p>
          <a:p>
            <a:pPr>
              <a:spcAft>
                <a:spcPts val="1200"/>
              </a:spcAft>
            </a:pPr>
            <a:r>
              <a:rPr sz="2200">
                <a:solidFill>
                  <a:srgbClr val="1F2937"/>
                </a:solidFill>
                <a:latin typeface="Calibri"/>
              </a:rPr>
              <a:t>▸  Savol: qaysi portlashda yetakchi jarohat bo‘laklardan, qaysisida termik ta’sirdan bo‘ladi? Nima uchun?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101, 101-102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Distansiya — belgilar majmui (tirab, yaqin, yaqin bo‘lmagan). Masofa — stvol uchi bilan nishon orasidagi uzunlik. Distansiya ≠ masofa.</a:t>
            </a:r>
          </a:p>
          <a:p>
            <a:pPr>
              <a:spcAft>
                <a:spcPts val="1200"/>
              </a:spcAft>
            </a:pPr>
            <a:r>
              <a:rPr sz="2200">
                <a:solidFill>
                  <a:srgbClr val="1F2937"/>
                </a:solidFill>
                <a:latin typeface="Calibri"/>
              </a:rPr>
              <a:t>▸  Ekspertiza hal qiladigan masalalar: quroldan otilganligi, kirish va chiqish teshigi, kanal yo‘nalishi, jarohatlar ketma-ketligi va o‘z-o‘ziga yetkazilganligi.</a:t>
            </a:r>
          </a:p>
          <a:p>
            <a:pPr>
              <a:spcAft>
                <a:spcPts val="1200"/>
              </a:spcAft>
            </a:pPr>
            <a:r>
              <a:rPr sz="2200">
                <a:solidFill>
                  <a:srgbClr val="1F2937"/>
                </a:solidFill>
                <a:latin typeface="Calibri"/>
              </a:rPr>
              <a:t>▸  Shifokor jarohatlarni to‘liq yozishi, topilgan yot jismlarni esa tezda huquqni muhofaza etuvchi idoralarga topshirishi kerak.</a:t>
            </a:r>
          </a:p>
          <a:p>
            <a:pPr>
              <a:spcAft>
                <a:spcPts val="1200"/>
              </a:spcAft>
            </a:pPr>
            <a:r>
              <a:rPr sz="2200">
                <a:solidFill>
                  <a:srgbClr val="1F2937"/>
                </a:solidFill>
                <a:latin typeface="Calibri"/>
              </a:rPr>
              <a:t>▸  Nazorat savollari: o‘q otar jarohatning boshqa mexanik jarohatdan farqi; patron tuzilishi; distansiya va masofa farqi. (?)</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86, 96-97, 98, 102, 102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Pirogov to‘qima defektini 1849 yilda tasvirlagan va uni “to‘qima o‘zligini yo‘qotishi” deb atagan. Shilinish va ifloslanish hoshiyalarini esa 1865 yilgi kitobida bayon etgan.</a:t>
            </a:r>
          </a:p>
          <a:p>
            <a:pPr>
              <a:spcAft>
                <a:spcPts val="1200"/>
              </a:spcAft>
            </a:pPr>
            <a:r>
              <a:rPr sz="1800">
                <a:solidFill>
                  <a:srgbClr val="1F2937"/>
                </a:solidFill>
                <a:latin typeface="Calibri"/>
              </a:rPr>
              <a:t>▸  Hodisa tahlili (Vinogradov fenomeni): yaqin bo‘lmagan masofadan otilganda ichki qavat kiyimda oz qurum topilishi mumkin. Buning uchun o‘q tezligi kamida 500 m/sek, kiyim tanaga yopishmagan va kuchli shamol bo‘lmasligi kerak. Qurum o‘q ortidagi past bosimli bo‘shliq bilan kirib keladi.</a:t>
            </a:r>
          </a:p>
          <a:p>
            <a:pPr>
              <a:spcAft>
                <a:spcPts val="1200"/>
              </a:spcAft>
            </a:pPr>
            <a:r>
              <a:rPr sz="1800">
                <a:solidFill>
                  <a:srgbClr val="1F2937"/>
                </a:solidFill>
                <a:latin typeface="Calibri"/>
              </a:rPr>
              <a:t>▸  Eslab qolish usuli: “Kirish — ichkariga, chiqish — chetga”. Kirish teshigi dumaloq, chetlari tekis va ichkariga qayrilgan, hoshiyali. Chiqish teshigi yoriqsimon, notekis, tashqariga qayrilgan, hoshiyasiz.</a:t>
            </a:r>
          </a:p>
          <a:p>
            <a:pPr>
              <a:spcAft>
                <a:spcPts val="1200"/>
              </a:spcAft>
            </a:pPr>
            <a:r>
              <a:rPr sz="1800">
                <a:solidFill>
                  <a:srgbClr val="1F2937"/>
                </a:solidFill>
                <a:latin typeface="Calibri"/>
              </a:rPr>
              <a:t>▸  Yaqin distansiyaning uchinchi zonasida faqat porox va metall zarrachalari qoladi. Bu zona Makarov pistoletida 150 sm gacha, Kalashnikov avtomatida 200 sm gacha, silliq stvolli ov miltig‘ida 500 sm gacha bo‘lishi mumkin.</a:t>
            </a:r>
          </a:p>
          <a:p>
            <a:pPr>
              <a:spcAft>
                <a:spcPts val="1200"/>
              </a:spcAft>
            </a:pPr>
            <a:r>
              <a:rPr sz="1800">
                <a:solidFill>
                  <a:srgbClr val="1F2937"/>
                </a:solidFill>
                <a:latin typeface="Calibri"/>
              </a:rPr>
              <a:t>▸  Diqqat: distansiya ≠ masofa. Distansiya — belgilar majmui (tirab, yaqin, yaqin bo‘lmagan). Masofa — stvol uchidan nishongacha uzunlik. Masofani faqat o‘sha qurol va patron bilan o‘tkazilgan eksperiment aniqlaydi.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jangovar qurol stvolining kesimida 4-6 ta vintsimon o‘yiqni ko‘rdi. Bu o‘yiqlarning asosiy vazifasi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Porox gazlarini stvol bo‘ylab tezroq yo‘naltirish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O‘qqa aylanma harakat berib, aniqlik va uzoqlikni oshirish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Gilzadagi kapsyulni mexanik usulda yondirib yuborish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Stvol ichidagi bosimni butunlay kamaytirib turish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Ikkita silliq stvolli ov quroli bor: biri 12 kalibrli, ikkinchisi 16 kalibrli. Qaysi birining stvol kanali diametri kichikroq?</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12 kalibrli ov quroli, chunki sonning kichikligi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Ikkalasining kanal diametri bir xil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Buni faqat patron turiga qarab aniqlash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16 kalibrli ov quroli, chunki kalibr soni kattaroq</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Jangovar patron kapsyulida bertole tuzi aniqlandi. Bu modda kapsyul tarkibida qanday vazifa bajaradi?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Oksidlovchi vazifasini bajaradi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Boshlovchi portlovchi modda hisoblanadi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Yonilg‘i vazifasini bajaradi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Gilzani mustahkamlovchi qotishma hisoblanadi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Sochmali patronda sochma deb qaysi diametrdagi mayda sharchalar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0,5 mm dan 1 mm gacha bo‘lgan sharchalar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5,5 mm dan 10 mm gacha bo‘lgan sharchalar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 mm dan 5,5 mm gacha bo‘lgan sharchalar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mm dan katta bo‘lgan sharchalar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Ekspertizaga qo‘lbola yasalgan, stvoli va qo‘ndog‘i kalta qilingan miltiq keltirildi. Bu qurol qaysi turga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Atipik o‘q otar qurol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Tipik sport o‘q otar quroli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Maxsus start pistoleti turi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Silliq stvolli gaz quroli turi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o‘q kirish teshigida dumaloq, chetlari tekis defektni topdi. Defekt o‘lchami o‘q diametridan kichik, snaryad energiyasi bir necha yuz joul bo‘lgan. Bu qanday mexanik ta’sir?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Yorma ta’sir, yara o‘q diametridan bir necha barobar katta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Yulma ta’sir, to‘qima bir qismining yulinib ketishi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Ponasimon ta’sir, to‘qima defektisiz yoriqsimon yara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Kontuzion ta’sir, qurum zarrachalarining yuzaki lat yetkazishi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Murdada o‘q otar jarohat topildi. Otish masofasini santimetrlarda aniq belgilash uchun ekspert qaysi usuldan foydalanishi shart?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jabrlangan kiyimidagi qurum miqdorini ko‘z bilan baholashi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yara atrofidagi shilinish hoshiyasining kengligini o‘lchashi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yara kanalining yo‘nalishini rentgenda aniqlab, xulosa qilishi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Shu qurol va patrondan o‘xshash nishonga turli masofalardan otib solishtirishi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Jabrlanganning terisida shakli va o‘lchami stvol uchi kesimiga mos shilinma (shtansmarka) topildi. Bu qaysi otish turiga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To‘liq germetik tirab otishga xos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Qiyalab tirab otishga, tilsimon qurum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Yaqin distansiyaning birinchi zonasiga xos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Yaqin bo‘lmagan distansiyadan otishga xos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Kirish teshigida porox gazlari ta’siri belgilari yo‘q. Uning atrofida qurum, porox, metall zarrachalari va moy sachralari bor. Bu yaqin distansiyaning qaysi zonasi?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Birinchi zona, barcha qo‘shimcha omillar belgilari bor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Uchinchi zona, faqat porox va metall zarrachalari bor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Ikkinchi zona, porox gazlari ta’siri belgisiz holat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Zona yo‘q, bu yaqin bo‘lmagan distansiyaga xos holat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Qo‘shimcha omillardan porox gazlari qanday masofada mexanik ta’sir ko‘rsatib, shilinish, qontalash va yumshoq to‘qimalar yorilishini keltirib chiqaradi?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3-5 sm masofagacha ta’sir ko‘rsatadi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10-15 sm masofagacha ta’sir ko‘rsatadi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25-35 sm masofagacha ta’sir ko‘rsatadi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150 sm masofagacha ta’sir ko‘rsatadi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Yaqin bo‘lmagan distansiyadan otilgan o‘q kirish teshigi atrofida birinchi qavat kiyimning tashqi yuzasida qurum yo‘q, ichki yuzasida va tanada esa oz qurum bor. Bu qaysi hodisa?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Tirab otishda shtansmarka hosil bo‘lishi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Vinogradov fenomeni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Yaqin distansiyaning uchinchi zonasi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Yulma ta’sirli to‘qima defekti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Zarb ta’siri nazariyasiga ko‘ra o‘q otar yara devorida ajratiladigan zonalardan qaysi birining kengligi eng katta (4–5 sm va undan ortiq)?</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Bevosita yara kanali zonasi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To‘qimalarning lat eyishi zonasi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To‘qimalarning chayqalish zonasi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Shilinish hoshiyasi zonasi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O‘q tanaga to‘liq kirmadi va terida uzunchoq, o‘rta qismi ariqchasimon chuqurlashgan jarohat qoldirdi. Bu qaysi jarohat turi?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Ko‘r yara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Teshib o‘tar yara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Uzlukli yara kanali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Yalama shikastlanish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jarohatni ko‘rdi: shakli yoriqsimon, chetlari notekis va tashqariga qayrilgan, shilinish va ifloslanish hoshiyalari yo‘q. Bu qaysi teshik?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Chiqish teshigi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Kirish teshigi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Tirab otishdagi teshik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Yalama jarohat teshigi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Pnevmatik qurollarda snaryad qaysi energiya hisobiga harakatlanadi?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Porox gazlarining energiyasi hisobiga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Siqilgan havoning energiyasi hisobiga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Kapsyul alangasining energiyasi hisobiga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Portlovchi modda detonatsiyasi hisobiga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ekspertizasida jabrlanganning qo‘l kaftida va stvol uchida uning o‘z qon izlari, qo‘llarida esa qurum topildi. Bu topilmalar ekspertizaning qaysi savoliga javob berishda hisobga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Shikastlanish o‘q otar quroldan etkazilganmi, degan savolga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Otishning distansiyasi qanday bo‘lgani haqidagi savolga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 jabrlanganning o‘zi tomonidan etkazilganmi, degan savolga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Qurol avtomatik turdagi bo‘lganmi, degan savolga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Hodisa joyidan olingan to‘q rangli kiyimda otishning qo‘shimcha omillari (qurum, porox, metall zarrachalari) borligini aniqlash kerak. Qaysi usul qo‘llanadi?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Infraqizil nurlarda fotografiya o‘tkaziladi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Ultrabinafsha nurlarda tekshiruv o‘tkaziladi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Yumshoq nurlarda rentgenografiya o‘tkaziladi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Emission spektral analiz usuli qo‘llaniladi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Murdada ikkita o‘q otar jarohat bor. A jarohat atrofida moy zarrachalari ko‘proq, qurum va metall zarrachalari kamroq; B jarohat atrofida esa aksincha. Qaysi javob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 jarohat birinchi etkazilgan, chunki unda qurum ko‘p</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Ketma-ketlikni faqat suyak darzlari orqali aniqlash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Ikkala jarohat ham bir vaqtning o‘zida etkazilgan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jarohat birinchi, B jarohat keyin etkazilgan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Portlashdan keyin jabrlanganda jarohatlar faqat portlovchi moslama bo‘laklari va ikkilamchi snaryadlardan etkazilgan. Bu portlashning qaysi distansiyasiga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Portlovchi moslamaning tana bilan kontakti distansiyasiga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Yaqin bo‘lmagan distansiyaga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Yaqin distansiyaga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Nisbatan yaqin distansiyaga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 portlovchi moddalardan qaysi biri ikkilamchi (brizant) guruhiga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Simob sianid moddasi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Qo‘rg‘oshin trinitrorezorsinat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Trotil moddasi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Porox moddasi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O‘qqa aylanma harakat berib, aniqlik va uzoqlikni oshirish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Jangovor va sport qurollari stvolidagi vintsimon o‘yiqlar snaryadga o‘qi atrofida aylanma harakat beradi. Natijada o‘qning tezligi kattaroq, uchishi uzoqroq va aniqroq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81-bet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16 kalibrli ov quroli, chunki kalibr soni kattaroq</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Silliq stvolli ov qurolining kalibri bir funt qo‘rg‘oshindan chiqadigan sharsimon o‘qlar soni bilan belgilanadi. Kalibr soni katta bo‘lgan sari stvol kanalining diametri kichikroq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81-bet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Oksidlovchi vazifasini bajaradi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Kapsyul tarkibida qo‘rg‘oshin stifnat boshlovchi portlovchi modda, antimoniy yonilg‘i, bertole tuzi esa oksidlovchi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82-bet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1 mm dan 5,5 mm gacha bo‘lgan sharchalar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Diametri 1 mm dan 5,5 mm gacha bo‘lgan mayda sharchalar sochma deyiladi. Bundan katta sharchalar katta sochma (kartech) deb ataladi.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83-bet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Atipik o‘q otar qurol</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Tipik qurol maxsus ishlab chiqarish sharoitida tayyorlanadi. Qo‘lbola yasalgan yoki ma’lum maqsadda o‘zgartirilgan (masalan, stvoli va qo‘ndog‘i kalta qilingan) qurol atipik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80-bet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Yulma ta’sir, to‘qima bir qismining yulinib ketishi bilan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Bir necha yuz joul energiyali o‘q to‘qimaning bir qismini yulib oladi. Natijada o‘lchami o‘q diametridan kichik, chetlari tekis defekt hosil bo‘ladi. Yorma ta’sirda yara o‘qdan katta bo‘ladi. Ponasimon ta’sirda defekt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85-bet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Shu qurol va patrondan o‘xshash nishonga turli masofalardan otib solishtirishi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Distansiya belgilar majmui bo‘yicha aniqlanadi. Masofa uchun esa shu qurol va patronlar bilan o‘xshash ob’ektlarga turli oraliqlardan eksperimental otish o‘tkaziladi. Natija jabrlangandagi jarohatlar bilan taqqoslanadi.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86-bet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To‘liq germetik tirab otishga xos</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To‘liq germetik tirab otishda porox gazlari terini chuqur to‘qimadan ajratib, stvol uchiga bosadi. Shunda terida stvol uchi shaklidagi bosma iz (shtansmarka) qoladi.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87-bet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Ikkinchi zona, porox gazlari ta’siri belgisiz holat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Ikkinchi zonada porox gazlari ta’siri aniqlanmaydi. Kirish teshigi faqat o‘q ta’sirida hosil bo‘ladi, atrofida esa qurum, porox, metall zarrachalari va moy bo‘ladi. Birinchi zonada gazlar belgisi bor. Uchinchida faqat porox va metall zarrachalari qoladi.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88-bet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Taxminan 10-15 sm masofagacha ta’sir ko‘rsatadi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Porox gazlari 10-15 sm masofada mexanik ta’sir ko‘rsatadi. 3-5 sm esa stvoldagi o‘q oldi havoning ta’sir masofasidir.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85-bet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Vinogradov fenomeni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Vinogradov fenomenida o‘q ortidagi past bosimli bo‘shliqqa tushgan qurum o‘q ortidan kiradi. Qurum ichki qavatda va tanada oz miqdorda qoladi, birinchi qavat tashqi yuzasida bo‘lmaydi. Buning uchun o‘q tezligi kamida 500 m/sek bo‘lishi, kiyim tanaga zich yopishmagan bo‘lishi va kuchli shamol bo‘lmasligi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89-bet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To‘qimalarning chayqalish zonasi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Yara devorida uch zona bor: bevosita yara kanali, lat eyish zonasi (0,3 sm dan 1–2 sm gacha) va chayqalish zonasi (4–5 sm va undan ortiq). Shilinish hoshiyasi bu zonalarga kirmaydi, u kirish teshigi chetidagi alohida belgidir.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90-bet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Yalama shikastlanish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Yalama shikastlanishda snaryad tanaga to‘liq kirmaydi va uzunchoq shilinma yoki ariqchasimon yara hosil qiladi. Ko‘r yarada snaryad yara kanalining oxirida qoladi. Teshib o‘tar yarada kirish teshigi, kanal va chiqish teshigi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90-bet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Chiqish teshigi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Chiqish teshigi yoriqsimon, yoysimon yoki yulduzsimon bo‘ladi, chetlari notekis va tashqariga qayrilgan. Unda shilinish va ifloslanish hoshiyalari ko‘pincha bo‘lmaydi. Kirish teshigi esa dumaloq yoki oval, chetlari nisbatan tekis va ichkariga qayrilgan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92-bet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Siqilgan havoning energiyasi hisobiga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Pnevmatik qurollar tuzilishi bo‘yicha o‘q otar qurollarga o‘xshaydi. Ammo snaryad porox gazlari bilan emas, siqilgan havo energiyasi bilan harakatga keladi. Shu sababli bunday otishda qo‘shimcha omillar belgilari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95-bet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Jarohat jabrlanganning o‘zi tomonidan etkazilganmi, degan savolga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Jarohatning o‘z-o‘ziga etkazilganligi masalasi tepkini bosish imkoniyati, distansiya va masofa, yara kanali yo‘nalishi bilan baholanadi. Qo‘l yuzalarida, burun va quloq teshiklarida qurum izlari, stvol uchida va qo‘l kaftida jabrlanganning qon izlari topilishi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97-bet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Infraqizil nurlarda fotografiya o‘tkaziladi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To‘q rangli kiyimlarda qo‘shimcha omillarni ko‘rish uchun infraqizil nurlarda fotografiya qilinadi. Ultrabinafsha nur oz miqdordagi qurum va moy zarrachalari uchun, Bukki nurlari esa kirish teshigi atrofidagi metall zarrachalari uchun ishlatiladi.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98-bet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 jarohat birinchi, B jarohat keyin etkazilgan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Qurum va metall zarrachalari keyingi jarohatlarda dastlabkilarga nisbatan ko‘proq, moy zarrachalari esa dastlabki jarohat atrofida ko‘proq bo‘ladi. Shunga ko‘ra A birinchi etkazilgan.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97-bet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Yaqin bo‘lmagan distansiyaga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Yaqin bo‘lmagan distansiyada portlovchi moslama bo‘laklari va ikkilamchi snaryadlar asosiy shikastlovchi omil bo‘ladi. Nisbatan yaqin distansiyada bularga atrof-muhit zarb to‘lqini ham qo‘shiladi.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101-bet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Trotil moddasi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Brizant moddalar detonatsiya ta’sirida qo‘zg‘aladi, ularga trotil va ammonal kiradi. Simob sianid va qo‘rg‘oshin trinitrorezorsinat birlamchi (initsial) guruhga, porox esa tarqatuvchi guruhga mansub.</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99-bet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O‘q otar qurollardan yetkazilgan jarohatlardan o‘lim hollarida sud-tibb</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4. O'q otar qurollardan jarohatlar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