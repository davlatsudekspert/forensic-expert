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Nima uchun bolalar shifokori transport travmasini bilishi kerak? 2) Nega ekspertizalarning aksariyati avtotravmaga to‘g‘ri keladi? Doskada: dars rejasi (mexanik jarohatlar – o‘tkir va o‘tmas jismlar – balandlikdan yiqilish – avtotravma) sxemasini chizdiring. Tipik xato: transport travmasi va avtotravmani bir xil tushunchа deb hisoblash. Avtotravma transport travmasining bir turi, xolos.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Talabalar qaysi savollarga hozirdan javob bera oladi? 2) Qaysi tushunchalar noaniq? Doskada: darsda ko‘rib chiqiladigan jarohat turlarining ro‘yxatini yozdiring. Tipik xato: manbada faqat savol bo‘lgan mavzuni to‘liq o‘rganilgan deb hisoblash. Javoblar uchun darslikning tegishli boblariga murojaat qilish kerak.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Sirkulyar va varaqsimon arra yaralari qanday farqlanadi? 2) Yara ichidagi suyak qipiqlari nimani bildiradi? Doskada: arra tishlari qoldirgan yo‘lkasimon yara sxemasini chizdiring. Tipik xato: arralama yarasini oddiy kesma yara deb qabul qilish. Aslida u mayda sanchma yoki sanchma-kesma yaralar qatoridan iborat bo‘ladi.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Arralama o‘raligi nima uchun arra qalinligidan kengroq bo‘ladi? 2) Suyakdagi iz qurolni aniqlashda nega muhim? Doskada: ikki ustunli jadvalni talabalar bilan birga chizing va har katakni to‘ldiring. Tipik xato: sirkulyar arra izi bilan varaqsimon arra izini aralashtirish (yoysimon izlar va parallel ariqchalar o‘rni almashadi).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To‘g‘ri javob: varaqsimon arra (oldinga-orqaga harakat). Muhokama: 1) Qaysi belgilar bu xulosaga olib keldi? 2) Yara uchidagi tirnalmalar nimani bildiradi? Doskada: yara va suyak yuzasining sodda sxemasini chizing. Tipik xato: faqat yara chetiga qarab xulosa chiqarib, suyakdagi izlarni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transport travmasi jamiyat uchun katta muammo? 2) Pediatr sifatida bolalar xavfsizligida qanday chora ko‘rish mumkin? Doskada: ta’rifdagi uchta tarkibiy qismni (tashqi qism, ichki qism, yiqilish) chizma bilan ko‘rsating. Tipik xato: halok bo‘lganlar soni (1,2 mln) bilan jarohat olganlar sonini (50 mln)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o‘lim holatlarida ulush tirik shaxslarnikidan yuqori? 2) Pediatr vrach amaliyotida bu raqamlar nimani anglatadi? Doskada chizish: uch qatorli jadvalni talabalar bilan birga to‘ldiring. Tipik xato: 60-65% va 20-25% ni aralashtirish yoki 90% ni barcha mexanik jarohatlarga nisbatan deb o‘ylash (u faqat transport travmasi ekspertizalari ichidagi avtotravma ulushi).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Transport vositasi turiga qarab qaysi travmalar ajratiladi? 2) Qaysi hodisa murakkab travma hisoblanadi? Doskada chizish: sxemani chizib, har turga bittadan misol yozdiring. Tipik xato: murakkab travmani bitta transport vositasidagi bir necha jarohat turi bilan chalkashtirish; manbada u turli transport vositalarining to‘qnashuvi sifatida berilgan.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kiyim-poyafzal dalil bo‘lishi mumkin? 2) Ekspertiza materiallari profilaktikaga qanday yordam beradi? Doskada chizish: kiyimni yechish, quritish, o‘rash va topshirish ketma-ketligini 4 bosqichli strelkalar bilan yozing. Tipik xato: kiyimni jarohatni tekshirgach tashlab yuborish yoki uni isitib/yuvib quritish; manbada xona sharoitida quritish va qog‘ozga o‘rash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Shifokor kiyimga nega e’tibor berishi kerak? (2) Pediatriya amaliyotida bolaning kiyimini saqlash kimga topshiriladi? Doskada: vrachning birinchi harakatlari zanjirini (tekshirish, tavsiflash, kiyimni saqlash, topshirish) chizing. Tipik xato: talabalar faqat davolashni aytib, kiyim-bosh va poyafzalni e’tibordan chetda qoldiradi.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Blits-so‘rov: savollarni og‘zaki bering, javobni 20 soniyada oling. Muhokama: nega transport travmasi XX asrning 60-yillaridan sud tibbiyotining alohida qismi bo‘ldi? Doskada: to‘rtta raqamni (1,2 mln; 60-65%; 20-25%; 90%) ustun qilib yozing. Tipik xato: 60-65% (o‘lim holatlari) va 20-25% (tirik shaxslar) ko‘rsatkichlarini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Olti turdan qaysi biri eng ko‘p uchraydi? (2) Murakkab avtotravma nimani anglatadi? Doskada: olti turni ketma-ket raqamlab yozing va har biriga bittadan misol keltiring. Tipik xato: murakkab avtotravmani boshqa turdagi transportlar to‘qnashuvi (masalan, mototsikl-avtomobil) bilan chalkashtirish; bu murakkab transport travmasi.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jarohatlar diagnostik ahamiyatiga ko‘ra guruhlanadi? 2) Qaysi guruh eng ishonchli ma’lumot beradi? Doskada jadvalni to‘rt guruh bo‘yicha chizdirib, har biriga bittadan misol yozdiring. Tipik xato: talabalar “xos” va “spetsifik” atamalarini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Bamper-jarohat bo‘yicha qanday ma’lumot olish mumkin? 2) “Cho‘ntak” qanday hosil bo‘ladi? Doskada uchburchak bamper-sinishni chizib, asosi qaysi tomonda ekanini belgilatting. Tipik xato: kontakt jarohatni xos jarohat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Nima uchun shilinma va qontalash avtotravmani isbotlamaydi? 2) Oyna siniqlaridan olingan yara qaysi yaraga o‘xshaydi? Doskada ikki ustunli solishtirma chizdiring: “xos bo‘lmagan” va “imitatsion”. Tipik xato: imitatsion jarohatni spetsifik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guruh avtomobilning aniq qismini ko‘rsatadi? 2) Nega xos bo‘lmagan jarohat bo‘yicha avtotravma haqida xulosa qilib bo‘lmaydi? Doskada: to‘rt guruhli jadvalni chizib, har biriga bittadan misol yozdiring. Tipik xato: spetsifik (kontakt) va xos jarohatlarni aralashtirish, imitatsion jarohatni avtotravma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yuk avtomobilida ikkinchi faza bo‘lmaydi? 2) Har bir fazada qanday jarohat kutiladi? Doskada: to‘rt fazali zanjirni chizib, ostiga jarohat turini yozdiring. Tipik xato: bolalarda ham barcha to‘rt faza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Uchburchak sinishning asosi qaysi tomonga qaraydi va bu nimani bildiradi? 2) Bamper-jarohat bo‘yicha qanday ma’lumotlarni aniqlash mumkin (rusum, tezlik, ta’sir sohasi, jabrlanganning holati)? Doskada: boldir suyagidagi uchburchak sinishni chizib, asosini belgilang. Tipik xato: bamper-jarohatni spetsifik deb hisoblash, vaholanki u xos jarohatlar qatoriga kiradi.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3-fazada jarohat birinchi ta’sirga qarama-qarshi tomonda bo‘ladi? 2) Parallel shilinmalar yo‘nalishi nimani ko‘rsatadi? Doskada: odam siluetini chizib, to‘rt fazaning jarohat joylarini turli rangda belgilang. Tipik xato: 2- va 3-fazadagi jarohat tomonlarini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bolada ikkinchi faza kuzatilmaydi? 2) Bamper-jarohat bo‘yicha qanday xulosalar chiqarish mumkin (avtomobil rusumi, tezlik, birlamchi zarb sohasi, jabrlanganning holati)? Doskada: bola va kattalar siluetini chizib, og‘irlik markazi va bamper balandligini solishtiring. Tipik xato: kattalar fazalarini bolaga mexanik ko‘chirish.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To‘liq va noto‘liq bosib o‘tish nimasi bilan farq qiladi? 2) Nima uchun siqilish eng og‘ir jarohatlarni beradi? Doskada: besh fazani strelkalar bilan zanjir qilib chizing va har faza yoniga asosiy jarohat turini yozing. Tipik xato: piyodaning to‘rt fazasini g‘ildirakning besh fazasi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pozitiv izda shilinma ham bo‘ladi, negativ izda esa faqat qontalash? 2) Nega kiyimdagi iz asosan qoplanma bo‘ladi? Doskada: protektor naqshini chizib, bo‘rtiq va botiq qismlarni ko‘rsating, ularga mos iz turini yozdiring. Tipik xato: pozitiv va negativ izni, jarohat va qoplanma izni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g‘ildirak chiqqan tomonda jarohat og‘irroq bo‘ladi? 2) Pediatr uchun bola ko‘kragi yoki qorni bosib o‘tilganda qaysi ichki a’zolarni tekshirish muhim? Doskada: tana konturini chizib, soha bo‘yicha jarohatlarni strelka bilan belgilang. Tipik xato: ko‘krakdagi qobirg‘a sinishini bir tomonlama deb yozish; manbada ikki tomonlama ko‘p chiziqli sinish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Izdan transport turini aniqlash uchun qanday ma’lumotlar kerak? 2) Qaysi fazalarda spetsifik va xos jarohatlar hosil bo‘ladi? Doskada: bosib o‘tishning besh fazasini ketma-ket yozing, “sakrab tushish” bo‘ladigan joyni belgilang. Tipik xato: to‘rtinchi fazada jarohat yo‘qligidan bosib o‘tish bo‘lmagan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haydovchida jarohatlar tananing old va chap yuzasida joylashadi? 2) Rul izi qaysi fazaga to‘g‘ri keladi? Doskada: 4 fazali zanjirni chizib, har faza yoniga xos jarohatni yozing. Tipik xato: fazalar tartibini aralashtirish yoki rulga urilishni birinchi faza deb o‘ylash (birinchi faza — oyoqlarning panelga urilishi).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old o‘rindiq eng xavfli? 2) Kamar qachon himoyachidan shikastlovchiga aylanadi? Doskada: jadvalni daftarga ko‘chirtiring va har katakka bittadan jarohat misoli qo‘shtiring. Diqqat: xato qilish xavfi — kamar ≠ mutlaq himoya: tezlik belgilangandan katta bo‘lsa, kamarning o‘zi jarohat beradi. Tipik xato: orqa o‘rindiq jarohatsiz deb o‘ylash; manbada u faqat nisbatan kam shikastlanadi.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Qaysi belgi harakatdagi avtomobildan tushishni oddiy balandlikdan yiqilishdan farqlaydi? 2) Boshga yoki oyoqqa tushganda qanday sinishlar kutiladi? Doskada: tana erga tushish variantlari (bosh, ko‘krak, dumba, oyoq) va ularga mos jarohatlar sxemasini chizing. Tipik xato: erda siljish izlarini (yo‘lkasimon shilinmalar) e’tiborsiz qoldirish; aynan shu belgi ikki hodisani ajratadi. Bevosita va bilvosita sinishni aralashtirish ham uchraydi.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bir xil yiqilishda tana qaysi qismi bilan tushgani jarohat turini belgilaydi? 2) Bevosita va bilvosita sinishni misolda tushuntiring. Doskada: odam siluetini chizib, boshi, ko‘kragi, dumbasi va oyog‘i bilan tushishdagi sinish joylarini belgilang. Tipik xato: bilvosita sinishni zarb tushgan joydagi sinish deb o‘ylash. Pediatriya uchun: bolalarda ham jarohat tushish holatiga bog‘liqligini eslating.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Siqilish bo‘ladigan jismlarni sanang (avtomobil qismi, boshqa transport, daraxt, devor). 2) Ekximotik kontur ekspertizada nimani ko‘rsatadi? Doskada: zanjir sxemasini ko‘chirib chizing va har bosqichga bitta jarohat yozing. Tipik xato: birinchi fazadagi kontakt jarohatni asosiy jarohat deb hisoblash; asosiy jarohat ikkinchi fazada hosil bo‘ladi.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Bu holatda qaysi turlar birga kelgan va nega murakkab avtotravma deyiladi? 2) Qaysi faza jarohati balandlikdan yiqilishdan farqlovchi belgi beradi? Doskada: uch fazani ketma-ket chizing (urilish, erga tushish, siljish). Tipik xato: erda siljish fazasini unutib, jarohatni faqat balandlikdan yiqilish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mototsiklda haydovchi va yo‘lovchi barcha holatlarda shikastlanadi? 2) Nega 4-faza (erda siljish) kuzatilmaydi? Doskada chizish: jadvalni o‘zlari to‘ldirsin va mototsiklning piyodaga zarb nuqtalarini (g‘ildirak, rul, richag, zinapoya) belgilasin. Tipik xato: mototsikl va avtomobil g‘ildiragi bilan bosib o‘tishdagi jarohatlar og‘irligini bir xil deb o‘ylash; mototsiklda massa kichik, jarohat yengilroq. Qo‘shimcha: aravachadagi yo‘lovchida oshiq-boldir va tizza bo‘g‘imlari shikastlanadi.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“T” shaklli shilinma tananing qaysi tomonida hosil bo‘ladi va nima uchun? 2) Ajralish chetlari bo‘yicha rels va g‘ildirak tomonini qanday farqlaymiz? Doskada chizish: g‘ildirak, rels boshchasi va tana kesimini chizib, bosilish va shilinish yo‘lkalarini ko‘rsating. Qo‘shimcha raqamlar: bosilish yo‘lkasi g‘ildirak tomonida 12-14 sm, rels tomonida 7-8 sm; dastlab yumshoq, oqimtir, keyin quriydi va to‘q-qo‘ng‘ir bo‘ladi. Tipik xato: bosilish yo‘lkasi bilan chetidagi shilinish yo‘lkasini aralashtirish; shilinish yo‘lkasi bir tekis emas, unda chuqur tirnalmalar va ifloslanish bo‘ladi.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O‘rmalovchi traktorda nima uchun bilvosita jarohatlar hosil bo‘lmaydi? 2) Zanjir tishlari izi ekspertizada nimani ko‘rsatadi? Doskada chizish: zanjir traklari va ularning tayanch yuzasida perpendikulyar tishlarni sxematik chizing. Tipik xato: traktor travmasini avtotravma bilan butunlay bir xil deb hisoblash; protektor izlari va fazalar sonida farq bor. Qo‘shimcha: tishlarning solishtirma ta’siri alohida olingan traklarga nisbatan bir necha o‘n barobar katta, shu sababli jiddiy jarohatlar yuzaga keladi.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aviatravmada bir nechta omil birga ta’sir qiladi? 2) Identifikatsiya nega ayniqsa muhim? Doskada: to‘rt tur va to‘rt omil jadvalini chizdiring. Tipik xato: portlash dekompressiyasi (8 km dan yuqori) bilan balandlik dekompressiyasini (19 km va undan yuqori)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Kiyimdagi moy va ko‘mir zarralari nimani ko‘rsatadi? 2) Quloqdagi qon quyilish nega falokat sababini bildiradi? Doskada: g‘ildirak, rels va “T” shilinma joylashuvi sxemasini chizdiring. Tipik xato: “T” shilinmani g‘ildirak tanadan tushayotgan tomonda deb ko‘rsatish.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Pediatr vrach uchun avtotravma turi va fazalarini bilish nega foydali? 2) Kiyim-boshni saqlash ekspertizada qanday yordam beradi? Doskada: avtotravmaning olti turi va jarohat guruhlari sxemasini chizdiring. Tipik xato: xos bo‘lmagan jarohat (shilinma, qontalash) asosida avtotravma haqida aniq xulosa chiqarish.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mashgʻulot: Mexanik jarohatlar. O‘tkir va o‘tmas jismlarlardan yetkazilgan jarohatlar. Balandlikdan yiqilish natijasida olingan jarohatlarning o‘ziga xos xususiyatlari. Avtotravma, tasnifi.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Transport travmasi – harakatdagi transport vositasining tashqi va ichki qismlaridan, undan yiqilishdan olingan jarohatlar majmui. Avtotravma shunday turlardan biri.</a:t>
            </a:r>
          </a:p>
          <a:p>
            <a:pPr>
              <a:spcAft>
                <a:spcPts val="1200"/>
              </a:spcAft>
            </a:pPr>
            <a:r>
              <a:rPr sz="2000">
                <a:solidFill>
                  <a:srgbClr val="1F2937"/>
                </a:solidFill>
                <a:latin typeface="Calibri"/>
              </a:rPr>
              <a:t>▸  Jahon sog‘liqni saqlash tashkiloti ma’lumoti: yo‘l-transport hodisalarida yiliga 1,2 milliondan ortiq kishi halok bo‘ladi, 50 milliondan ortig‘i jarohatlanadi.</a:t>
            </a:r>
          </a:p>
          <a:p>
            <a:pPr>
              <a:spcAft>
                <a:spcPts val="1200"/>
              </a:spcAft>
            </a:pPr>
            <a:r>
              <a:rPr sz="2000">
                <a:solidFill>
                  <a:srgbClr val="1F2937"/>
                </a:solidFill>
                <a:latin typeface="Calibri"/>
              </a:rPr>
              <a:t>▸  Mexanik jarohatdan o‘lim holatlarining 60-65 foizi transport travmasiga to‘g‘ri keladi. Ekspertizalarning 90 foizdan ortig‘ini avtotravma tashkil etadi.</a:t>
            </a:r>
          </a:p>
          <a:p>
            <a:pPr>
              <a:spcAft>
                <a:spcPts val="1200"/>
              </a:spcAft>
            </a:pPr>
            <a:r>
              <a:rPr sz="2000">
                <a:solidFill>
                  <a:srgbClr val="1F2937"/>
                </a:solidFill>
                <a:latin typeface="Calibri"/>
              </a:rPr>
              <a:t>▸  Transport travmasi o‘tgan asrning 60-yillaridan sud tibbiyotining alohida qismi sifatida ajratilgan. Sabab: jarohat mexanizmi va ekspertizaning o‘ziga xosligi.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 bo‘yicha asosiy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Nazorat savollarida tan jarohati tushunchasi, shikastlovchi omillar, jarohatlar tasnifi va travmatizm turlari so‘raladi. Mazmuni bobda batafsil berilmagan. (?)</a:t>
            </a:r>
          </a:p>
          <a:p>
            <a:pPr>
              <a:spcAft>
                <a:spcPts val="1200"/>
              </a:spcAft>
            </a:pPr>
            <a:r>
              <a:rPr sz="2200">
                <a:solidFill>
                  <a:srgbClr val="1F2937"/>
                </a:solidFill>
                <a:latin typeface="Calibri"/>
              </a:rPr>
              <a:t>▸  O‘tmas jismlar tasnifi, impression va inersion travma farqi, ta’sir mexanizmlari, shilinma va qontalash ahamiyati savol sifatida keltirilgan. (?)</a:t>
            </a:r>
          </a:p>
          <a:p>
            <a:pPr>
              <a:spcAft>
                <a:spcPts val="1200"/>
              </a:spcAft>
            </a:pPr>
            <a:r>
              <a:rPr sz="2200">
                <a:solidFill>
                  <a:srgbClr val="1F2937"/>
                </a:solidFill>
                <a:latin typeface="Calibri"/>
              </a:rPr>
              <a:t>▸  Savollarda yaralar xususiyatlari, suyaklar doimiy deformatsiyasi va balandlikdan hamda yuzaga yiqilishda hosil bo‘ladigan jarohatlar ham so‘ralgan. (?)</a:t>
            </a:r>
          </a:p>
          <a:p>
            <a:pPr>
              <a:spcAft>
                <a:spcPts val="1200"/>
              </a:spcAft>
            </a:pPr>
            <a:r>
              <a:rPr sz="2200">
                <a:solidFill>
                  <a:srgbClr val="1F2937"/>
                </a:solidFill>
                <a:latin typeface="Calibri"/>
              </a:rPr>
              <a:t>▸  Kesma, sanchma, sanchma-kesma va chopma yaralarning farqli belgilari ham nazorat savollari qatorida. Javoblar bu parchada yo‘q. (?)</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55, 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Arralama yaralarining umumiy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Arra bilan zarbda tishlar o‘lchamiga mos, yo‘lkasimon joylashgan ko‘plab mayda sanchma yoki sanchma-kesma yaralar hosil bo‘ladi.</a:t>
            </a:r>
          </a:p>
          <a:p>
            <a:pPr>
              <a:spcAft>
                <a:spcPts val="1200"/>
              </a:spcAft>
            </a:pPr>
            <a:r>
              <a:rPr sz="2200">
                <a:solidFill>
                  <a:srgbClr val="1F2937"/>
                </a:solidFill>
                <a:latin typeface="Calibri"/>
              </a:rPr>
              <a:t>▸  Zarb kuchli bo‘lsa, siniq chiziqsimon yara vujudga keladi. Uning tubida yara chekka devorlari orasida to‘qima boylamlari ko‘rinadi.</a:t>
            </a:r>
          </a:p>
          <a:p>
            <a:pPr>
              <a:spcAft>
                <a:spcPts val="1200"/>
              </a:spcAft>
            </a:pPr>
            <a:r>
              <a:rPr sz="2200">
                <a:solidFill>
                  <a:srgbClr val="1F2937"/>
                </a:solidFill>
                <a:latin typeface="Calibri"/>
              </a:rPr>
              <a:t>▸  Sirkulyar arra yarasining chetlari notekis, tishli, ba’zan mayda laxtakli. Suyakning arralama yuzasi nisbatan tekis, yoysimon izli bo‘ladi.</a:t>
            </a:r>
          </a:p>
          <a:p>
            <a:pPr>
              <a:spcAft>
                <a:spcPts val="1200"/>
              </a:spcAft>
            </a:pPr>
            <a:r>
              <a:rPr sz="2200">
                <a:solidFill>
                  <a:srgbClr val="1F2937"/>
                </a:solidFill>
                <a:latin typeface="Calibri"/>
              </a:rPr>
              <a:t>▸  Yara ichida, chetlarida va atrofida yumshoq to‘qimaning mayda zarralari hamda suyak qipiqlari bo‘ladi. Bu arralama yarasining muhim belgisi.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Sirkulyar va varaqsimon arra izlari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Arralama o‘raligi arra varag‘ining qalinligidan kattaroq bo‘ladi.</a:t>
            </a:r>
          </a:p>
          <a:p>
            <a:pPr>
              <a:spcAft>
                <a:spcPts val="800"/>
              </a:spcAft>
            </a:pPr>
            <a:r>
              <a:rPr sz="1800">
                <a:solidFill>
                  <a:srgbClr val="1F2937"/>
                </a:solidFill>
                <a:latin typeface="Calibri"/>
              </a:rPr>
              <a:t>▸  Arra zarbida tish o‘lchamiga mos mayda sanchma yoki sanchma-kesma yaralar qatori hosil bo‘ladi.</a:t>
            </a:r>
          </a:p>
          <a:p>
            <a:pPr>
              <a:spcAft>
                <a:spcPts val="800"/>
              </a:spcAft>
            </a:pPr>
            <a:r>
              <a:rPr sz="1800">
                <a:solidFill>
                  <a:srgbClr val="1F2937"/>
                </a:solidFill>
                <a:latin typeface="Calibri"/>
              </a:rPr>
              <a:t>▸  Yara ichida va atrofida yumshoq to‘qima zarrachalari hamda suyak qipiqlari bo‘ladi.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919647"/>
                <a:gridCol w="2184163"/>
                <a:gridCol w="2184163"/>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Sirkulyar</a:t>
                      </a:r>
                    </a:p>
                  </a:txBody>
                  <a:tcPr marL="73152" marR="73152" marT="36576" marB="36576">
                    <a:solidFill>
                      <a:srgbClr val="0B1F3A"/>
                    </a:solidFill>
                  </a:tcPr>
                </a:tc>
                <a:tc>
                  <a:txBody>
                    <a:bodyPr/>
                    <a:lstStyle/>
                    <a:p>
                      <a:r>
                        <a:rPr sz="1300" b="1">
                          <a:solidFill>
                            <a:srgbClr val="FFFFFF"/>
                          </a:solidFill>
                        </a:rPr>
                        <a:t>Varaqsimon</a:t>
                      </a:r>
                    </a:p>
                  </a:txBody>
                  <a:tcPr marL="73152" marR="73152" marT="36576" marB="36576">
                    <a:solidFill>
                      <a:srgbClr val="0B1F3A"/>
                    </a:solidFill>
                  </a:tcPr>
                </a:tc>
              </a:tr>
              <a:tr h="411480">
                <a:tc>
                  <a:txBody>
                    <a:bodyPr/>
                    <a:lstStyle/>
                    <a:p>
                      <a:r>
                        <a:rPr sz="1200" b="0">
                          <a:solidFill>
                            <a:srgbClr val="1F2937"/>
                          </a:solidFill>
                        </a:rPr>
                        <a:t>Harakat</a:t>
                      </a:r>
                    </a:p>
                  </a:txBody>
                  <a:tcPr marL="73152" marR="73152" marT="36576" marB="36576">
                    <a:solidFill>
                      <a:srgbClr val="E8EEF6"/>
                    </a:solidFill>
                  </a:tcPr>
                </a:tc>
                <a:tc>
                  <a:txBody>
                    <a:bodyPr/>
                    <a:lstStyle/>
                    <a:p>
                      <a:r>
                        <a:rPr sz="1200" b="0">
                          <a:solidFill>
                            <a:srgbClr val="1F2937"/>
                          </a:solidFill>
                        </a:rPr>
                        <a:t>Aylanma harakat</a:t>
                      </a:r>
                    </a:p>
                  </a:txBody>
                  <a:tcPr marL="73152" marR="73152" marT="36576" marB="36576">
                    <a:solidFill>
                      <a:srgbClr val="E8EEF6"/>
                    </a:solidFill>
                  </a:tcPr>
                </a:tc>
                <a:tc>
                  <a:txBody>
                    <a:bodyPr/>
                    <a:lstStyle/>
                    <a:p>
                      <a:r>
                        <a:rPr sz="1200" b="0">
                          <a:solidFill>
                            <a:srgbClr val="1F2937"/>
                          </a:solidFill>
                        </a:rPr>
                        <a:t>Oldinga-orqaga harakat</a:t>
                      </a:r>
                    </a:p>
                  </a:txBody>
                  <a:tcPr marL="73152" marR="73152" marT="36576" marB="36576">
                    <a:solidFill>
                      <a:srgbClr val="E8EEF6"/>
                    </a:solidFill>
                  </a:tcPr>
                </a:tc>
              </a:tr>
              <a:tr h="411480">
                <a:tc>
                  <a:txBody>
                    <a:bodyPr/>
                    <a:lstStyle/>
                    <a:p>
                      <a:r>
                        <a:rPr sz="1200" b="0">
                          <a:solidFill>
                            <a:srgbClr val="1F2937"/>
                          </a:solidFill>
                        </a:rPr>
                        <a:t>Yara chetlari</a:t>
                      </a:r>
                    </a:p>
                  </a:txBody>
                  <a:tcPr marL="73152" marR="73152" marT="36576" marB="36576">
                    <a:solidFill>
                      <a:srgbClr val="FFFFFF"/>
                    </a:solidFill>
                  </a:tcPr>
                </a:tc>
                <a:tc>
                  <a:txBody>
                    <a:bodyPr/>
                    <a:lstStyle/>
                    <a:p>
                      <a:r>
                        <a:rPr sz="1200" b="0">
                          <a:solidFill>
                            <a:srgbClr val="1F2937"/>
                          </a:solidFill>
                        </a:rPr>
                        <a:t>Notekis, tishli, ba’zan mayda laxtakli</a:t>
                      </a:r>
                    </a:p>
                  </a:txBody>
                  <a:tcPr marL="73152" marR="73152" marT="36576" marB="36576">
                    <a:solidFill>
                      <a:srgbClr val="FFFFFF"/>
                    </a:solidFill>
                  </a:tcPr>
                </a:tc>
                <a:tc>
                  <a:txBody>
                    <a:bodyPr/>
                    <a:lstStyle/>
                    <a:p>
                      <a:r>
                        <a:rPr sz="1200" b="0">
                          <a:solidFill>
                            <a:srgbClr val="1F2937"/>
                          </a:solidFill>
                        </a:rPr>
                        <a:t>Chiziqsimon, mayda tishli, shilinishli</a:t>
                      </a:r>
                    </a:p>
                  </a:txBody>
                  <a:tcPr marL="73152" marR="73152" marT="36576" marB="36576">
                    <a:solidFill>
                      <a:srgbClr val="FFFFFF"/>
                    </a:solidFill>
                  </a:tcPr>
                </a:tc>
              </a:tr>
              <a:tr h="411480">
                <a:tc>
                  <a:txBody>
                    <a:bodyPr/>
                    <a:lstStyle/>
                    <a:p>
                      <a:r>
                        <a:rPr sz="1200" b="0">
                          <a:solidFill>
                            <a:srgbClr val="1F2937"/>
                          </a:solidFill>
                        </a:rPr>
                        <a:t>Suyak yuzasi</a:t>
                      </a:r>
                    </a:p>
                  </a:txBody>
                  <a:tcPr marL="73152" marR="73152" marT="36576" marB="36576">
                    <a:solidFill>
                      <a:srgbClr val="E8EEF6"/>
                    </a:solidFill>
                  </a:tcPr>
                </a:tc>
                <a:tc>
                  <a:txBody>
                    <a:bodyPr/>
                    <a:lstStyle/>
                    <a:p>
                      <a:r>
                        <a:rPr sz="1200" b="0">
                          <a:solidFill>
                            <a:srgbClr val="1F2937"/>
                          </a:solidFill>
                        </a:rPr>
                        <a:t>Nisbatan tekis, yoysimon izlar</a:t>
                      </a:r>
                    </a:p>
                  </a:txBody>
                  <a:tcPr marL="73152" marR="73152" marT="36576" marB="36576">
                    <a:solidFill>
                      <a:srgbClr val="E8EEF6"/>
                    </a:solidFill>
                  </a:tcPr>
                </a:tc>
                <a:tc>
                  <a:txBody>
                    <a:bodyPr/>
                    <a:lstStyle/>
                    <a:p>
                      <a:r>
                        <a:rPr sz="1200" b="0">
                          <a:solidFill>
                            <a:srgbClr val="1F2937"/>
                          </a:solidFill>
                        </a:rPr>
                        <a:t>Parallel burtmalar va ariqchalar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arra izlarini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arralama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yara chiziqsimon, chetlari mayda tishli va notekis, shilinish alomatlari bor. Uchlarida yuzaki kesma va tirnalmalar.</a:t>
            </a:r>
          </a:p>
          <a:p>
            <a:pPr>
              <a:spcAft>
                <a:spcPts val="1200"/>
              </a:spcAft>
            </a:pPr>
            <a:r>
              <a:rPr sz="2200">
                <a:solidFill>
                  <a:srgbClr val="1F2937"/>
                </a:solidFill>
                <a:latin typeface="Calibri"/>
              </a:rPr>
              <a:t>▸  Suyakning arralama yuzasida arra varag‘iga mos parallel joylashgan burtma va ariqchalar aniqlangan.</a:t>
            </a:r>
          </a:p>
          <a:p>
            <a:pPr>
              <a:spcAft>
                <a:spcPts val="1200"/>
              </a:spcAft>
            </a:pPr>
            <a:r>
              <a:rPr sz="2200">
                <a:solidFill>
                  <a:srgbClr val="1F2937"/>
                </a:solidFill>
                <a:latin typeface="Calibri"/>
              </a:rPr>
              <a:t>▸  Savol: qaysi arra ishlatilgan, sirkulyarmi yoki varaqsimonmi? Javobni belgilar bilan asoslang.</a:t>
            </a:r>
          </a:p>
          <a:p>
            <a:pPr>
              <a:spcAft>
                <a:spcPts val="1200"/>
              </a:spcAft>
            </a:pPr>
            <a:r>
              <a:rPr sz="2200">
                <a:solidFill>
                  <a:srgbClr val="1F2937"/>
                </a:solidFill>
                <a:latin typeface="Calibri"/>
              </a:rPr>
              <a:t>▸  Diqqat: xato qilish xavfi. Yoysimon izlar sirkulyar arraga, parallel ariqchalar varaq arraga xos.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Transport travmasi tushunchasi va tarqalishi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Transport travmasi: harakatdagi transport vositasining tashqi va ichki qismlaridan hamda undan yiqilishda olingan jarohatlar majmui.</a:t>
            </a:r>
          </a:p>
          <a:p>
            <a:pPr>
              <a:spcAft>
                <a:spcPts val="1200"/>
              </a:spcAft>
            </a:pPr>
            <a:r>
              <a:rPr sz="2200">
                <a:solidFill>
                  <a:srgbClr val="1F2937"/>
                </a:solidFill>
                <a:latin typeface="Calibri"/>
              </a:rPr>
              <a:t>▸  Jahon sog‘liqni saqlash tashkiloti (JSST) ma’lumotiga ko‘ra, yo‘l-transport hodisalarida yiliga 1,2 milliondan ziyod kishi halok bo‘ladi, 50 milliondan ortig‘i jarohat oladi.</a:t>
            </a:r>
          </a:p>
          <a:p>
            <a:pPr>
              <a:spcAft>
                <a:spcPts val="1200"/>
              </a:spcAft>
            </a:pPr>
            <a:r>
              <a:rPr sz="2200">
                <a:solidFill>
                  <a:srgbClr val="1F2937"/>
                </a:solidFill>
                <a:latin typeface="Calibri"/>
              </a:rPr>
              <a:t>▸  Jahon banki hisobi bo‘yicha moddiy ziyon barcha mamlakatlar yalpi ichki mahsuloti (YaIM)ning 1,5-2,0 %ini tashkil etadi.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Transport travmasining ekspertizadagi ulushi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Mexanik jarohatdan o‘lim holatlarining 60-65%i transport travmasiga to‘g‘ri keladi.</a:t>
            </a:r>
          </a:p>
          <a:p>
            <a:pPr>
              <a:spcAft>
                <a:spcPts val="800"/>
              </a:spcAft>
            </a:pPr>
            <a:r>
              <a:rPr sz="1800">
                <a:solidFill>
                  <a:srgbClr val="1F2937"/>
                </a:solidFill>
                <a:latin typeface="Calibri"/>
              </a:rPr>
              <a:t>▸  Tirik shaxslar ekspertizasida mexanik jarohatlarning 20-25%i transport travmasidir.</a:t>
            </a:r>
          </a:p>
          <a:p>
            <a:pPr>
              <a:spcAft>
                <a:spcPts val="800"/>
              </a:spcAft>
            </a:pPr>
            <a:r>
              <a:rPr sz="1800">
                <a:solidFill>
                  <a:srgbClr val="1F2937"/>
                </a:solidFill>
                <a:latin typeface="Calibri"/>
              </a:rPr>
              <a:t>▸  Jahon sog‘liqni saqlash tashkiloti: yiliga 1,2 mln dan ziyod kishi halok, 50 mln dan ortig‘i jarohatlanadi.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3660905"/>
                <a:gridCol w="1627069"/>
              </a:tblGrid>
              <a:tr h="411480">
                <a:tc>
                  <a:txBody>
                    <a:bodyPr/>
                    <a:lstStyle/>
                    <a:p>
                      <a:r>
                        <a:rPr sz="1400" b="1">
                          <a:solidFill>
                            <a:srgbClr val="FFFFFF"/>
                          </a:solidFill>
                        </a:rPr>
                        <a:t>Ekspertiza</a:t>
                      </a:r>
                    </a:p>
                  </a:txBody>
                  <a:tcPr marL="73152" marR="73152" marT="36576" marB="36576">
                    <a:solidFill>
                      <a:srgbClr val="0B1F3A"/>
                    </a:solidFill>
                  </a:tcPr>
                </a:tc>
                <a:tc>
                  <a:txBody>
                    <a:bodyPr/>
                    <a:lstStyle/>
                    <a:p>
                      <a:r>
                        <a:rPr sz="1400" b="1">
                          <a:solidFill>
                            <a:srgbClr val="FFFFFF"/>
                          </a:solidFill>
                        </a:rPr>
                        <a:t>Ulush</a:t>
                      </a:r>
                    </a:p>
                  </a:txBody>
                  <a:tcPr marL="73152" marR="73152" marT="36576" marB="36576">
                    <a:solidFill>
                      <a:srgbClr val="0B1F3A"/>
                    </a:solidFill>
                  </a:tcPr>
                </a:tc>
              </a:tr>
              <a:tr h="411480">
                <a:tc>
                  <a:txBody>
                    <a:bodyPr/>
                    <a:lstStyle/>
                    <a:p>
                      <a:r>
                        <a:rPr sz="1300" b="0">
                          <a:solidFill>
                            <a:srgbClr val="1F2937"/>
                          </a:solidFill>
                        </a:rPr>
                        <a:t>Mexanik jarohatdan o‘lim holatlari</a:t>
                      </a:r>
                    </a:p>
                  </a:txBody>
                  <a:tcPr marL="73152" marR="73152" marT="36576" marB="36576">
                    <a:solidFill>
                      <a:srgbClr val="E8EEF6"/>
                    </a:solidFill>
                  </a:tcPr>
                </a:tc>
                <a:tc>
                  <a:txBody>
                    <a:bodyPr/>
                    <a:lstStyle/>
                    <a:p>
                      <a:r>
                        <a:rPr sz="1300" b="0">
                          <a:solidFill>
                            <a:srgbClr val="1F2937"/>
                          </a:solidFill>
                        </a:rPr>
                        <a:t>60-65%</a:t>
                      </a:r>
                    </a:p>
                  </a:txBody>
                  <a:tcPr marL="73152" marR="73152" marT="36576" marB="36576">
                    <a:solidFill>
                      <a:srgbClr val="E8EEF6"/>
                    </a:solidFill>
                  </a:tcPr>
                </a:tc>
              </a:tr>
              <a:tr h="411480">
                <a:tc>
                  <a:txBody>
                    <a:bodyPr/>
                    <a:lstStyle/>
                    <a:p>
                      <a:r>
                        <a:rPr sz="1300" b="0">
                          <a:solidFill>
                            <a:srgbClr val="1F2937"/>
                          </a:solidFill>
                        </a:rPr>
                        <a:t>Tirik shaxslar ekspertizasi</a:t>
                      </a:r>
                    </a:p>
                  </a:txBody>
                  <a:tcPr marL="73152" marR="73152" marT="36576" marB="36576">
                    <a:solidFill>
                      <a:srgbClr val="FFFFFF"/>
                    </a:solidFill>
                  </a:tcPr>
                </a:tc>
                <a:tc>
                  <a:txBody>
                    <a:bodyPr/>
                    <a:lstStyle/>
                    <a:p>
                      <a:r>
                        <a:rPr sz="1300" b="0">
                          <a:solidFill>
                            <a:srgbClr val="1F2937"/>
                          </a:solidFill>
                        </a:rPr>
                        <a:t>20-25%</a:t>
                      </a:r>
                    </a:p>
                  </a:txBody>
                  <a:tcPr marL="73152" marR="73152" marT="36576" marB="36576">
                    <a:solidFill>
                      <a:srgbClr val="FFFFFF"/>
                    </a:solidFill>
                  </a:tcPr>
                </a:tc>
              </a:tr>
              <a:tr h="411480">
                <a:tc>
                  <a:txBody>
                    <a:bodyPr/>
                    <a:lstStyle/>
                    <a:p>
                      <a:r>
                        <a:rPr sz="1300" b="0">
                          <a:solidFill>
                            <a:srgbClr val="1F2937"/>
                          </a:solidFill>
                        </a:rPr>
                        <a:t>Transport travmasi ichida avtotravma</a:t>
                      </a:r>
                    </a:p>
                  </a:txBody>
                  <a:tcPr marL="73152" marR="73152" marT="36576" marB="36576">
                    <a:solidFill>
                      <a:srgbClr val="E8EEF6"/>
                    </a:solidFill>
                  </a:tcPr>
                </a:tc>
                <a:tc>
                  <a:txBody>
                    <a:bodyPr/>
                    <a:lstStyle/>
                    <a:p>
                      <a:r>
                        <a:rPr sz="1300" b="0">
                          <a:solidFill>
                            <a:srgbClr val="1F2937"/>
                          </a:solidFill>
                        </a:rPr>
                        <a:t>90% dan ortig‘i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Transport travmasi ulushi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Bob 3. Transport travmasi (57-bet)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Transport travmasining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Transport travmasi — transport vositasining qismlaridan va undan yiqilishda olingan jarohatlar majmui.</a:t>
            </a:r>
          </a:p>
          <a:p>
            <a:pPr>
              <a:spcAft>
                <a:spcPts val="800"/>
              </a:spcAft>
            </a:pPr>
            <a:r>
              <a:rPr sz="1800">
                <a:solidFill>
                  <a:srgbClr val="1F2937"/>
                </a:solidFill>
                <a:latin typeface="Calibri"/>
              </a:rPr>
              <a:t>▸  Murakkab travma — turli transport vositalari to‘qnashganda olinadi, masalan, mototsikl-avtomobil.</a:t>
            </a:r>
          </a:p>
          <a:p>
            <a:pPr>
              <a:spcAft>
                <a:spcPts val="800"/>
              </a:spcAft>
            </a:pPr>
            <a:r>
              <a:rPr sz="1800">
                <a:solidFill>
                  <a:srgbClr val="1F2937"/>
                </a:solidFill>
                <a:latin typeface="Calibri"/>
              </a:rPr>
              <a:t>▸  Avtotravma — transport travmasining eng ko‘p uchraydigan turi.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Transport travmasi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Avto-, mototsikl-, velosiped</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Traktor va rels travmasi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Aviatsion va suv travmasi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Murakkab (turli transport)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Turlar sxemasi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Bob 3. Transport travmasi (57-bet), Bob 3. Transport travmasi (58-bet)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Kiyim-boshni saqlash va profilaktika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Vrach jarohatni to‘liq tekshirib tavsiflashi, shuningdek jabrlanganning kiyim-boshi va poyafzaliga ham e’tibor berishi lozim.</a:t>
            </a:r>
          </a:p>
          <a:p>
            <a:pPr>
              <a:spcAft>
                <a:spcPts val="1200"/>
              </a:spcAft>
            </a:pPr>
            <a:r>
              <a:rPr sz="2200">
                <a:solidFill>
                  <a:srgbClr val="1F2937"/>
                </a:solidFill>
                <a:latin typeface="Calibri"/>
              </a:rPr>
              <a:t>▸  Kiyim va poyafzalda hodisani tekshirish uchun muhim jarohat va ifloslanish alomatlari bo‘lishi mumkin; ularni ehtiyotkorlik bilan yechish kerak.</a:t>
            </a:r>
          </a:p>
          <a:p>
            <a:pPr>
              <a:spcAft>
                <a:spcPts val="1200"/>
              </a:spcAft>
            </a:pPr>
            <a:r>
              <a:rPr sz="2200">
                <a:solidFill>
                  <a:srgbClr val="1F2937"/>
                </a:solidFill>
                <a:latin typeface="Calibri"/>
              </a:rPr>
              <a:t>▸  Zarur holatlarda kiyim xona sharoitida quritiladi, qog‘oz o‘ramga solinadi va huquqni muhofaza etuvchi idoralar xodimlariga topshiriladi.</a:t>
            </a:r>
          </a:p>
          <a:p>
            <a:pPr>
              <a:spcAft>
                <a:spcPts val="1200"/>
              </a:spcAft>
            </a:pPr>
            <a:r>
              <a:rPr sz="2200">
                <a:solidFill>
                  <a:srgbClr val="1F2937"/>
                </a:solidFill>
                <a:latin typeface="Calibri"/>
              </a:rPr>
              <a:t>▸  Ekspertiza materiallarini tahlil qilish transport travmasini kamaytirishga qaratilgan chora-tadbirlar uchun taklif va tavsiyalar berish imkonini beradi.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Bob 3. Transport travmasi (57-bet), Bob 3. Transport travmasi (57-58-betlar), Bob 3. Transport travmasi (58-bet)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transport travmasi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yo‘lda avtomobil urib ketgan bola shifoxonaga keltirildi. Vrach jarohatlarni to‘liq tekshiradi va batafsil tavsiflaydi.</a:t>
            </a:r>
          </a:p>
          <a:p>
            <a:pPr>
              <a:spcAft>
                <a:spcPts val="1200"/>
              </a:spcAft>
            </a:pPr>
            <a:r>
              <a:rPr sz="2200">
                <a:solidFill>
                  <a:srgbClr val="1F2937"/>
                </a:solidFill>
                <a:latin typeface="Calibri"/>
              </a:rPr>
              <a:t>▸  Bolaning kiyim-boshi va poyafzaliga ham e’tibor beriladi: ularda jarohat va ifloslanish alomatlari bo‘lishi mumkin.</a:t>
            </a:r>
          </a:p>
          <a:p>
            <a:pPr>
              <a:spcAft>
                <a:spcPts val="1200"/>
              </a:spcAft>
            </a:pPr>
            <a:r>
              <a:rPr sz="2200">
                <a:solidFill>
                  <a:srgbClr val="1F2937"/>
                </a:solidFill>
                <a:latin typeface="Calibri"/>
              </a:rPr>
              <a:t>▸  Kiyim imkon qadar ehtiyotkorlik bilan echiladi, kerak bo‘lsa xonada quritiladi, qog‘oz o‘ramga solinib huquqni muhofaza idoralariga topshiriladi.</a:t>
            </a:r>
          </a:p>
          <a:p>
            <a:pPr>
              <a:spcAft>
                <a:spcPts val="1200"/>
              </a:spcAft>
            </a:pPr>
            <a:r>
              <a:rPr sz="2200">
                <a:solidFill>
                  <a:srgbClr val="1F2937"/>
                </a:solidFill>
                <a:latin typeface="Calibri"/>
              </a:rPr>
              <a:t>▸  Savol: kiyim va poyafzalni nega tashlab yubormaslik kerak, ularda ekspertiza uchun qanday ma’lumot saqlanishi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57, 57-58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transport travmasi nima? Javob: harakatdagi transport vositasining tashqi va ichki qismlaridan hamda undan yiqilishda olingan jarohatlar majmui.</a:t>
            </a:r>
          </a:p>
          <a:p>
            <a:pPr>
              <a:spcAft>
                <a:spcPts val="1200"/>
              </a:spcAft>
            </a:pPr>
            <a:r>
              <a:rPr sz="2000">
                <a:solidFill>
                  <a:srgbClr val="1F2937"/>
                </a:solidFill>
                <a:latin typeface="Calibri"/>
              </a:rPr>
              <a:t>▸  Savol: JSST (Jahon sog‘liqni saqlash tashkiloti) bo‘yicha yo‘l-transport hodisalarida yiliga qancha odam halok bo‘ladi? Javob: 1,2 milliondan ziyod, 50 milliondan ortiq kishi jarohatlanadi.</a:t>
            </a:r>
          </a:p>
          <a:p>
            <a:pPr>
              <a:spcAft>
                <a:spcPts val="1200"/>
              </a:spcAft>
            </a:pPr>
            <a:r>
              <a:rPr sz="2000">
                <a:solidFill>
                  <a:srgbClr val="1F2937"/>
                </a:solidFill>
                <a:latin typeface="Calibri"/>
              </a:rPr>
              <a:t>▸  Savol: mexanik jarohatdan o‘limlarning qanchasi transport travmasiga to‘g‘ri keladi? Javob: 60-65%; tirik shaxslar ekspertizasida mexanik jarohatlarning 20-25%i.</a:t>
            </a:r>
          </a:p>
          <a:p>
            <a:pPr>
              <a:spcAft>
                <a:spcPts val="1200"/>
              </a:spcAft>
            </a:pPr>
            <a:r>
              <a:rPr sz="2000">
                <a:solidFill>
                  <a:srgbClr val="1F2937"/>
                </a:solidFill>
                <a:latin typeface="Calibri"/>
              </a:rPr>
              <a:t>▸  Savol: transport travmasi ekspertizalarida qaysi tur yetakchi? Javob: avtomobil travmasi, ekspertizalarning 90%idan ortig‘i.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Avtotravma va Matishev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Avtotravma — transport travmasining eng ko‘p uchraydigan turi.</a:t>
            </a:r>
          </a:p>
          <a:p>
            <a:pPr>
              <a:spcAft>
                <a:spcPts val="800"/>
              </a:spcAft>
            </a:pPr>
            <a:r>
              <a:rPr sz="1800">
                <a:solidFill>
                  <a:srgbClr val="1F2937"/>
                </a:solidFill>
                <a:latin typeface="Calibri"/>
              </a:rPr>
              <a:t>▸  Avtomobilning tashqi va ichki qismlaridan hamda undan yiqilishda olingan jarohatlar majmui.</a:t>
            </a:r>
          </a:p>
          <a:p>
            <a:pPr>
              <a:spcAft>
                <a:spcPts val="800"/>
              </a:spcAft>
            </a:pPr>
            <a:r>
              <a:rPr sz="1800">
                <a:solidFill>
                  <a:srgbClr val="1F2937"/>
                </a:solidFill>
                <a:latin typeface="Calibri"/>
              </a:rPr>
              <a:t>▸  Matishev va hammualliflari (1968) tasnifi bo‘yicha avtotravmaning olti turi farqlanadi.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83809"/>
                <a:gridCol w="2152082"/>
                <a:gridCol w="2152082"/>
              </a:tblGrid>
              <a:tr h="411480">
                <a:tc>
                  <a:txBody>
                    <a:bodyPr/>
                    <a:lstStyle/>
                    <a:p>
                      <a:r>
                        <a:rPr sz="1300" b="1">
                          <a:solidFill>
                            <a:srgbClr val="FFFFFF"/>
                          </a:solidFill>
                        </a:rPr>
                        <a:t>Raqam</a:t>
                      </a:r>
                    </a:p>
                  </a:txBody>
                  <a:tcPr marL="73152" marR="73152" marT="36576" marB="36576">
                    <a:solidFill>
                      <a:srgbClr val="0B1F3A"/>
                    </a:solidFill>
                  </a:tcPr>
                </a:tc>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Izoh</a:t>
                      </a:r>
                    </a:p>
                  </a:txBody>
                  <a:tcPr marL="73152" marR="73152" marT="36576" marB="36576">
                    <a:solidFill>
                      <a:srgbClr val="0B1F3A"/>
                    </a:solidFill>
                  </a:tcPr>
                </a:tc>
              </a:tr>
              <a:tr h="411480">
                <a:tc>
                  <a:txBody>
                    <a:bodyPr/>
                    <a:lstStyle/>
                    <a:p>
                      <a:r>
                        <a:rPr sz="1200" b="0">
                          <a:solidFill>
                            <a:srgbClr val="1F2937"/>
                          </a:solidFill>
                        </a:rPr>
                        <a:t>1-2</a:t>
                      </a:r>
                    </a:p>
                  </a:txBody>
                  <a:tcPr marL="73152" marR="73152" marT="36576" marB="36576">
                    <a:solidFill>
                      <a:srgbClr val="E8EEF6"/>
                    </a:solidFill>
                  </a:tcPr>
                </a:tc>
                <a:tc>
                  <a:txBody>
                    <a:bodyPr/>
                    <a:lstStyle/>
                    <a:p>
                      <a:r>
                        <a:rPr sz="1200" b="0">
                          <a:solidFill>
                            <a:srgbClr val="1F2937"/>
                          </a:solidFill>
                        </a:rPr>
                        <a:t>To‘qnashuv; g‘ildirak bosib o‘tishi</a:t>
                      </a:r>
                    </a:p>
                  </a:txBody>
                  <a:tcPr marL="73152" marR="73152" marT="36576" marB="36576">
                    <a:solidFill>
                      <a:srgbClr val="E8EEF6"/>
                    </a:solidFill>
                  </a:tcPr>
                </a:tc>
                <a:tc>
                  <a:txBody>
                    <a:bodyPr/>
                    <a:lstStyle/>
                    <a:p>
                      <a:r>
                        <a:rPr sz="1200" b="0">
                          <a:solidFill>
                            <a:srgbClr val="1F2937"/>
                          </a:solidFill>
                        </a:rPr>
                        <a:t>Avtomobil tashqaridan ta’sir qiladi</a:t>
                      </a:r>
                    </a:p>
                  </a:txBody>
                  <a:tcPr marL="73152" marR="73152" marT="36576" marB="36576">
                    <a:solidFill>
                      <a:srgbClr val="E8EEF6"/>
                    </a:solidFill>
                  </a:tcPr>
                </a:tc>
              </a:tr>
              <a:tr h="411480">
                <a:tc>
                  <a:txBody>
                    <a:bodyPr/>
                    <a:lstStyle/>
                    <a:p>
                      <a:r>
                        <a:rPr sz="1200" b="0">
                          <a:solidFill>
                            <a:srgbClr val="1F2937"/>
                          </a:solidFill>
                        </a:rPr>
                        <a:t>3-4</a:t>
                      </a:r>
                    </a:p>
                  </a:txBody>
                  <a:tcPr marL="73152" marR="73152" marT="36576" marB="36576">
                    <a:solidFill>
                      <a:srgbClr val="FFFFFF"/>
                    </a:solidFill>
                  </a:tcPr>
                </a:tc>
                <a:tc>
                  <a:txBody>
                    <a:bodyPr/>
                    <a:lstStyle/>
                    <a:p>
                      <a:r>
                        <a:rPr sz="1200" b="0">
                          <a:solidFill>
                            <a:srgbClr val="1F2937"/>
                          </a:solidFill>
                        </a:rPr>
                        <a:t>Ichida shikastlanish; yiqilish</a:t>
                      </a:r>
                    </a:p>
                  </a:txBody>
                  <a:tcPr marL="73152" marR="73152" marT="36576" marB="36576">
                    <a:solidFill>
                      <a:srgbClr val="FFFFFF"/>
                    </a:solidFill>
                  </a:tcPr>
                </a:tc>
                <a:tc>
                  <a:txBody>
                    <a:bodyPr/>
                    <a:lstStyle/>
                    <a:p>
                      <a:r>
                        <a:rPr sz="1200" b="0">
                          <a:solidFill>
                            <a:srgbClr val="1F2937"/>
                          </a:solidFill>
                        </a:rPr>
                        <a:t>Avtomobil ichida yoki undan tushish</a:t>
                      </a:r>
                    </a:p>
                  </a:txBody>
                  <a:tcPr marL="73152" marR="73152" marT="36576" marB="36576">
                    <a:solidFill>
                      <a:srgbClr val="FFFFFF"/>
                    </a:solidFill>
                  </a:tcPr>
                </a:tc>
              </a:tr>
              <a:tr h="411480">
                <a:tc>
                  <a:txBody>
                    <a:bodyPr/>
                    <a:lstStyle/>
                    <a:p>
                      <a:r>
                        <a:rPr sz="1200" b="0">
                          <a:solidFill>
                            <a:srgbClr val="1F2937"/>
                          </a:solidFill>
                        </a:rPr>
                        <a:t>5</a:t>
                      </a:r>
                    </a:p>
                  </a:txBody>
                  <a:tcPr marL="73152" marR="73152" marT="36576" marB="36576">
                    <a:solidFill>
                      <a:srgbClr val="E8EEF6"/>
                    </a:solidFill>
                  </a:tcPr>
                </a:tc>
                <a:tc>
                  <a:txBody>
                    <a:bodyPr/>
                    <a:lstStyle/>
                    <a:p>
                      <a:r>
                        <a:rPr sz="1200" b="0">
                          <a:solidFill>
                            <a:srgbClr val="1F2937"/>
                          </a:solidFill>
                        </a:rPr>
                        <a:t>Qisilish</a:t>
                      </a:r>
                    </a:p>
                  </a:txBody>
                  <a:tcPr marL="73152" marR="73152" marT="36576" marB="36576">
                    <a:solidFill>
                      <a:srgbClr val="E8EEF6"/>
                    </a:solidFill>
                  </a:tcPr>
                </a:tc>
                <a:tc>
                  <a:txBody>
                    <a:bodyPr/>
                    <a:lstStyle/>
                    <a:p>
                      <a:r>
                        <a:rPr sz="1200" b="0">
                          <a:solidFill>
                            <a:srgbClr val="1F2937"/>
                          </a:solidFill>
                        </a:rPr>
                        <a:t>Avtomobil va boshqa jism orasida</a:t>
                      </a:r>
                    </a:p>
                  </a:txBody>
                  <a:tcPr marL="73152" marR="73152" marT="36576" marB="36576">
                    <a:solidFill>
                      <a:srgbClr val="E8EEF6"/>
                    </a:solidFill>
                  </a:tcPr>
                </a:tc>
              </a:tr>
              <a:tr h="411480">
                <a:tc>
                  <a:txBody>
                    <a:bodyPr/>
                    <a:lstStyle/>
                    <a:p>
                      <a:r>
                        <a:rPr sz="1200" b="0">
                          <a:solidFill>
                            <a:srgbClr val="1F2937"/>
                          </a:solidFill>
                        </a:rPr>
                        <a:t>6</a:t>
                      </a:r>
                    </a:p>
                  </a:txBody>
                  <a:tcPr marL="73152" marR="73152" marT="36576" marB="36576">
                    <a:solidFill>
                      <a:srgbClr val="FFFFFF"/>
                    </a:solidFill>
                  </a:tcPr>
                </a:tc>
                <a:tc>
                  <a:txBody>
                    <a:bodyPr/>
                    <a:lstStyle/>
                    <a:p>
                      <a:r>
                        <a:rPr sz="1200" b="0">
                          <a:solidFill>
                            <a:srgbClr val="1F2937"/>
                          </a:solidFill>
                        </a:rPr>
                        <a:t>Murakkab avtotravma</a:t>
                      </a:r>
                    </a:p>
                  </a:txBody>
                  <a:tcPr marL="73152" marR="73152" marT="36576" marB="36576">
                    <a:solidFill>
                      <a:srgbClr val="FFFFFF"/>
                    </a:solidFill>
                  </a:tcPr>
                </a:tc>
                <a:tc>
                  <a:txBody>
                    <a:bodyPr/>
                    <a:lstStyle/>
                    <a:p>
                      <a:r>
                        <a:rPr sz="1200" b="0">
                          <a:solidFill>
                            <a:srgbClr val="1F2937"/>
                          </a:solidFill>
                        </a:rPr>
                        <a:t>Ikki va undan ortiq tur birga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Matishev tasnifi (1968)</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Avtotravma jarohatlarining to‘rt guruhi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Avtotravmadagi jarohatlar diagnostik ahamiyatiga ko‘ra shartli ravishda to‘rt guruhga bo‘linadi.</a:t>
            </a:r>
          </a:p>
          <a:p>
            <a:pPr>
              <a:spcAft>
                <a:spcPts val="800"/>
              </a:spcAft>
            </a:pPr>
            <a:r>
              <a:rPr sz="1800">
                <a:solidFill>
                  <a:srgbClr val="1F2937"/>
                </a:solidFill>
                <a:latin typeface="Calibri"/>
              </a:rPr>
              <a:t>▸  Guruhlash shikastlanish mexanizmini, avtotravma turini va ba’zan uning fazasini aniqlashga yordam beradi.</a:t>
            </a:r>
          </a:p>
          <a:p>
            <a:pPr>
              <a:spcAft>
                <a:spcPts val="800"/>
              </a:spcAft>
            </a:pPr>
            <a:r>
              <a:rPr sz="1800">
                <a:solidFill>
                  <a:srgbClr val="1F2937"/>
                </a:solidFill>
                <a:latin typeface="Calibri"/>
              </a:rPr>
              <a:t>▸  Guruhlar avtotravma jarohatini boshqa hodisadagi jarohatdan farqlashda amaliy ahamiyatga ega.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09759"/>
                <a:gridCol w="2103818"/>
                <a:gridCol w="2274397"/>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Belgisi</a:t>
                      </a:r>
                    </a:p>
                  </a:txBody>
                  <a:tcPr marL="73152" marR="73152" marT="36576" marB="36576">
                    <a:solidFill>
                      <a:srgbClr val="0B1F3A"/>
                    </a:solidFill>
                  </a:tcPr>
                </a:tc>
                <a:tc>
                  <a:txBody>
                    <a:bodyPr/>
                    <a:lstStyle/>
                    <a:p>
                      <a:r>
                        <a:rPr sz="1300" b="1">
                          <a:solidFill>
                            <a:srgbClr val="FFFFFF"/>
                          </a:solidFill>
                        </a:rPr>
                        <a:t>Ahamiyati</a:t>
                      </a:r>
                    </a:p>
                  </a:txBody>
                  <a:tcPr marL="73152" marR="73152" marT="36576" marB="36576">
                    <a:solidFill>
                      <a:srgbClr val="0B1F3A"/>
                    </a:solidFill>
                  </a:tcPr>
                </a:tc>
              </a:tr>
              <a:tr h="411480">
                <a:tc>
                  <a:txBody>
                    <a:bodyPr/>
                    <a:lstStyle/>
                    <a:p>
                      <a:r>
                        <a:rPr sz="1200" b="0">
                          <a:solidFill>
                            <a:srgbClr val="1F2937"/>
                          </a:solidFill>
                        </a:rPr>
                        <a:t>Spetsifik</a:t>
                      </a:r>
                    </a:p>
                  </a:txBody>
                  <a:tcPr marL="73152" marR="73152" marT="36576" marB="36576">
                    <a:solidFill>
                      <a:srgbClr val="E8EEF6"/>
                    </a:solidFill>
                  </a:tcPr>
                </a:tc>
                <a:tc>
                  <a:txBody>
                    <a:bodyPr/>
                    <a:lstStyle/>
                    <a:p>
                      <a:r>
                        <a:rPr sz="1200" b="0">
                          <a:solidFill>
                            <a:srgbClr val="1F2937"/>
                          </a:solidFill>
                        </a:rPr>
                        <a:t>Avtomobil qismining shakli va rasmi</a:t>
                      </a:r>
                    </a:p>
                  </a:txBody>
                  <a:tcPr marL="73152" marR="73152" marT="36576" marB="36576">
                    <a:solidFill>
                      <a:srgbClr val="E8EEF6"/>
                    </a:solidFill>
                  </a:tcPr>
                </a:tc>
                <a:tc>
                  <a:txBody>
                    <a:bodyPr/>
                    <a:lstStyle/>
                    <a:p>
                      <a:r>
                        <a:rPr sz="1200" b="0">
                          <a:solidFill>
                            <a:srgbClr val="1F2937"/>
                          </a:solidFill>
                        </a:rPr>
                        <a:t>Turi, ba’zan konkret avtomobil</a:t>
                      </a:r>
                    </a:p>
                  </a:txBody>
                  <a:tcPr marL="73152" marR="73152" marT="36576" marB="36576">
                    <a:solidFill>
                      <a:srgbClr val="E8EEF6"/>
                    </a:solidFill>
                  </a:tcPr>
                </a:tc>
              </a:tr>
              <a:tr h="411480">
                <a:tc>
                  <a:txBody>
                    <a:bodyPr/>
                    <a:lstStyle/>
                    <a:p>
                      <a:r>
                        <a:rPr sz="1200" b="0">
                          <a:solidFill>
                            <a:srgbClr val="1F2937"/>
                          </a:solidFill>
                        </a:rPr>
                        <a:t>Xos</a:t>
                      </a:r>
                    </a:p>
                  </a:txBody>
                  <a:tcPr marL="73152" marR="73152" marT="36576" marB="36576">
                    <a:solidFill>
                      <a:srgbClr val="FFFFFF"/>
                    </a:solidFill>
                  </a:tcPr>
                </a:tc>
                <a:tc>
                  <a:txBody>
                    <a:bodyPr/>
                    <a:lstStyle/>
                    <a:p>
                      <a:r>
                        <a:rPr sz="1200" b="0">
                          <a:solidFill>
                            <a:srgbClr val="1F2937"/>
                          </a:solidFill>
                        </a:rPr>
                        <a:t>Muayyan tur yoki fazaga mos keladi</a:t>
                      </a:r>
                    </a:p>
                  </a:txBody>
                  <a:tcPr marL="73152" marR="73152" marT="36576" marB="36576">
                    <a:solidFill>
                      <a:srgbClr val="FFFFFF"/>
                    </a:solidFill>
                  </a:tcPr>
                </a:tc>
                <a:tc>
                  <a:txBody>
                    <a:bodyPr/>
                    <a:lstStyle/>
                    <a:p>
                      <a:r>
                        <a:rPr sz="1200" b="0">
                          <a:solidFill>
                            <a:srgbClr val="1F2937"/>
                          </a:solidFill>
                        </a:rPr>
                        <a:t>Avtotravma turi yoki fazasi</a:t>
                      </a:r>
                    </a:p>
                  </a:txBody>
                  <a:tcPr marL="73152" marR="73152" marT="36576" marB="36576">
                    <a:solidFill>
                      <a:srgbClr val="FFFFFF"/>
                    </a:solidFill>
                  </a:tcPr>
                </a:tc>
              </a:tr>
              <a:tr h="411480">
                <a:tc>
                  <a:txBody>
                    <a:bodyPr/>
                    <a:lstStyle/>
                    <a:p>
                      <a:r>
                        <a:rPr sz="1200" b="0">
                          <a:solidFill>
                            <a:srgbClr val="1F2937"/>
                          </a:solidFill>
                        </a:rPr>
                        <a:t>Xos bo‘lmagan</a:t>
                      </a:r>
                    </a:p>
                  </a:txBody>
                  <a:tcPr marL="73152" marR="73152" marT="36576" marB="36576">
                    <a:solidFill>
                      <a:srgbClr val="E8EEF6"/>
                    </a:solidFill>
                  </a:tcPr>
                </a:tc>
                <a:tc>
                  <a:txBody>
                    <a:bodyPr/>
                    <a:lstStyle/>
                    <a:p>
                      <a:r>
                        <a:rPr sz="1200" b="0">
                          <a:solidFill>
                            <a:srgbClr val="1F2937"/>
                          </a:solidFill>
                        </a:rPr>
                        <a:t>Spetsifik va xos belgilari yo‘q</a:t>
                      </a:r>
                    </a:p>
                  </a:txBody>
                  <a:tcPr marL="73152" marR="73152" marT="36576" marB="36576">
                    <a:solidFill>
                      <a:srgbClr val="E8EEF6"/>
                    </a:solidFill>
                  </a:tcPr>
                </a:tc>
                <a:tc>
                  <a:txBody>
                    <a:bodyPr/>
                    <a:lstStyle/>
                    <a:p>
                      <a:r>
                        <a:rPr sz="1200" b="0">
                          <a:solidFill>
                            <a:srgbClr val="1F2937"/>
                          </a:solidFill>
                        </a:rPr>
                        <a:t>Avtotravma haqida xulosa qilib bo‘lmaydi</a:t>
                      </a:r>
                    </a:p>
                  </a:txBody>
                  <a:tcPr marL="73152" marR="73152" marT="36576" marB="36576">
                    <a:solidFill>
                      <a:srgbClr val="E8EEF6"/>
                    </a:solidFill>
                  </a:tcPr>
                </a:tc>
              </a:tr>
              <a:tr h="411480">
                <a:tc>
                  <a:txBody>
                    <a:bodyPr/>
                    <a:lstStyle/>
                    <a:p>
                      <a:r>
                        <a:rPr sz="1200" b="0">
                          <a:solidFill>
                            <a:srgbClr val="1F2937"/>
                          </a:solidFill>
                        </a:rPr>
                        <a:t>Imitatsion</a:t>
                      </a:r>
                    </a:p>
                  </a:txBody>
                  <a:tcPr marL="73152" marR="73152" marT="36576" marB="36576">
                    <a:solidFill>
                      <a:srgbClr val="FFFFFF"/>
                    </a:solidFill>
                  </a:tcPr>
                </a:tc>
                <a:tc>
                  <a:txBody>
                    <a:bodyPr/>
                    <a:lstStyle/>
                    <a:p>
                      <a:r>
                        <a:rPr sz="1200" b="0">
                          <a:solidFill>
                            <a:srgbClr val="1F2937"/>
                          </a:solidFill>
                        </a:rPr>
                        <a:t>Boshqa hodisadagi jarohatga o‘xshaydi</a:t>
                      </a:r>
                    </a:p>
                  </a:txBody>
                  <a:tcPr marL="73152" marR="73152" marT="36576" marB="36576">
                    <a:solidFill>
                      <a:srgbClr val="FFFFFF"/>
                    </a:solidFill>
                  </a:tcPr>
                </a:tc>
                <a:tc>
                  <a:txBody>
                    <a:bodyPr/>
                    <a:lstStyle/>
                    <a:p>
                      <a:r>
                        <a:rPr sz="1200" b="0">
                          <a:solidFill>
                            <a:srgbClr val="1F2937"/>
                          </a:solidFill>
                        </a:rPr>
                        <a:t>Adashtirishi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Jarohat guruhlari va ahamiyati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58, 60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Spetsifik va xos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Spetsifik (kontakt) jarohat avtomobilning aniq qismi (fara, old bezak, shina protektori) ta’sirida hosil bo‘ladi. Uning shakli shu qismga mos keladi.</a:t>
            </a:r>
          </a:p>
          <a:p>
            <a:pPr>
              <a:spcAft>
                <a:spcPts val="1200"/>
              </a:spcAft>
            </a:pPr>
            <a:r>
              <a:rPr sz="2200">
                <a:solidFill>
                  <a:srgbClr val="1F2937"/>
                </a:solidFill>
                <a:latin typeface="Calibri"/>
              </a:rPr>
              <a:t>▸  Xos jarohatlarga bamper-jarohat, sirpanish va sudralish izlari, qobirg‘alarning ko‘p sinishi, qonli “cho‘ntaklar” kiradi.</a:t>
            </a:r>
          </a:p>
          <a:p>
            <a:pPr>
              <a:spcAft>
                <a:spcPts val="1200"/>
              </a:spcAft>
            </a:pPr>
            <a:r>
              <a:rPr sz="2200">
                <a:solidFill>
                  <a:srgbClr val="1F2937"/>
                </a:solidFill>
                <a:latin typeface="Calibri"/>
              </a:rPr>
              <a:t>▸  Bamper-jarohat odatda ko‘ndalang shilinma, qontalash yoki yara bo‘ladi. Bamper-sinish uchburchak shaklda, asosi birlamchi zarb tomonida.</a:t>
            </a:r>
          </a:p>
          <a:p>
            <a:pPr>
              <a:spcAft>
                <a:spcPts val="1200"/>
              </a:spcAft>
            </a:pPr>
            <a:r>
              <a:rPr sz="2200">
                <a:solidFill>
                  <a:srgbClr val="1F2937"/>
                </a:solidFill>
                <a:latin typeface="Calibri"/>
              </a:rPr>
              <a:t>▸  Bo‘yin umurtqalarining “qamchisimon” sinishi va umurtqa tanalarining kompression sinishi ham xos jarohatlar qatoriga kiradi.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59, 60, 61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Xos bo‘lmagan va imitatsion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Xos bo‘lmagan jarohatlarda spetsifik va xos belgilar yo‘q, shuning uchun ular bo‘yicha avtotravma haqida to‘xtam qilib bo‘lmaydi.</a:t>
            </a:r>
          </a:p>
          <a:p>
            <a:pPr>
              <a:spcAft>
                <a:spcPts val="1200"/>
              </a:spcAft>
            </a:pPr>
            <a:r>
              <a:rPr sz="2200">
                <a:solidFill>
                  <a:srgbClr val="1F2937"/>
                </a:solidFill>
                <a:latin typeface="Calibri"/>
              </a:rPr>
              <a:t>▸  Bu guruhga asosan tanadagi shilinmalar, qontalashlar va ayrim yaralar kiradi.</a:t>
            </a:r>
          </a:p>
          <a:p>
            <a:pPr>
              <a:spcAft>
                <a:spcPts val="1200"/>
              </a:spcAft>
            </a:pPr>
            <a:r>
              <a:rPr sz="2200">
                <a:solidFill>
                  <a:srgbClr val="1F2937"/>
                </a:solidFill>
                <a:latin typeface="Calibri"/>
              </a:rPr>
              <a:t>▸  Imitatsion jarohat: old oyna siniqlari kesma yoki sanchma-kesma yarani, tashqariga bo‘rtgan boltlar esa sanchma yarani eslatadi.</a:t>
            </a:r>
          </a:p>
          <a:p>
            <a:pPr>
              <a:spcAft>
                <a:spcPts val="1200"/>
              </a:spcAft>
            </a:pPr>
            <a:r>
              <a:rPr sz="2200">
                <a:solidFill>
                  <a:srgbClr val="1F2937"/>
                </a:solidFill>
                <a:latin typeface="Calibri"/>
              </a:rPr>
              <a:t>▸  Diqqat: imitatsion jarohat boshqa hodisalardagi jarohatlarga o‘xshaydi, shuning uchun adashtirishi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jarohat guruhlari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Vaziyat: piyodada fara shaklini eslatuvchi iz, qobirg‘alarning ko‘p sinishi va kesma yara aniqlangan.</a:t>
            </a:r>
          </a:p>
          <a:p>
            <a:pPr>
              <a:spcAft>
                <a:spcPts val="800"/>
              </a:spcAft>
            </a:pPr>
            <a:r>
              <a:rPr sz="1800">
                <a:solidFill>
                  <a:srgbClr val="1F2937"/>
                </a:solidFill>
                <a:latin typeface="Calibri"/>
              </a:rPr>
              <a:t>▸  Savol: har bir jarohat to‘rt guruhdan qaysi biriga kiradi va avtotravma haqida nimani ko‘rsatadi?</a:t>
            </a:r>
          </a:p>
          <a:p>
            <a:pPr>
              <a:spcAft>
                <a:spcPts val="800"/>
              </a:spcAft>
            </a:pPr>
            <a:r>
              <a:rPr sz="1800">
                <a:solidFill>
                  <a:srgbClr val="1F2937"/>
                </a:solidFill>
                <a:latin typeface="Calibri"/>
              </a:rPr>
              <a:t>▸  Diqqat: oyna siniqlaridan olingan imitatsion jarohat kesma yaraga o‘xshaydi, lekin avtotravmaga xos emas. Spetsifik ≠ xos.</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Misol</a:t>
                      </a:r>
                    </a:p>
                  </a:txBody>
                  <a:tcPr marL="73152" marR="73152" marT="36576" marB="36576">
                    <a:solidFill>
                      <a:srgbClr val="0B1F3A"/>
                    </a:solidFill>
                  </a:tcPr>
                </a:tc>
              </a:tr>
              <a:tr h="411480">
                <a:tc>
                  <a:txBody>
                    <a:bodyPr/>
                    <a:lstStyle/>
                    <a:p>
                      <a:r>
                        <a:rPr sz="1300" b="0">
                          <a:solidFill>
                            <a:srgbClr val="1F2937"/>
                          </a:solidFill>
                        </a:rPr>
                        <a:t>Spetsifik</a:t>
                      </a:r>
                    </a:p>
                  </a:txBody>
                  <a:tcPr marL="73152" marR="73152" marT="36576" marB="36576">
                    <a:solidFill>
                      <a:srgbClr val="E8EEF6"/>
                    </a:solidFill>
                  </a:tcPr>
                </a:tc>
                <a:tc>
                  <a:txBody>
                    <a:bodyPr/>
                    <a:lstStyle/>
                    <a:p>
                      <a:r>
                        <a:rPr sz="1300" b="0">
                          <a:solidFill>
                            <a:srgbClr val="1F2937"/>
                          </a:solidFill>
                        </a:rPr>
                        <a:t>Fara shaklini takrorlovchi iz</a:t>
                      </a:r>
                    </a:p>
                  </a:txBody>
                  <a:tcPr marL="73152" marR="73152" marT="36576" marB="36576">
                    <a:solidFill>
                      <a:srgbClr val="E8EEF6"/>
                    </a:solidFill>
                  </a:tcPr>
                </a:tc>
              </a:tr>
              <a:tr h="411480">
                <a:tc>
                  <a:txBody>
                    <a:bodyPr/>
                    <a:lstStyle/>
                    <a:p>
                      <a:r>
                        <a:rPr sz="1300" b="0">
                          <a:solidFill>
                            <a:srgbClr val="1F2937"/>
                          </a:solidFill>
                        </a:rPr>
                        <a:t>Xos</a:t>
                      </a:r>
                    </a:p>
                  </a:txBody>
                  <a:tcPr marL="73152" marR="73152" marT="36576" marB="36576">
                    <a:solidFill>
                      <a:srgbClr val="FFFFFF"/>
                    </a:solidFill>
                  </a:tcPr>
                </a:tc>
                <a:tc>
                  <a:txBody>
                    <a:bodyPr/>
                    <a:lstStyle/>
                    <a:p>
                      <a:r>
                        <a:rPr sz="1300" b="0">
                          <a:solidFill>
                            <a:srgbClr val="1F2937"/>
                          </a:solidFill>
                        </a:rPr>
                        <a:t>Bamper-jarohat, qobirg‘alar ko‘p sinishi</a:t>
                      </a:r>
                    </a:p>
                  </a:txBody>
                  <a:tcPr marL="73152" marR="73152" marT="36576" marB="36576">
                    <a:solidFill>
                      <a:srgbClr val="FFFFFF"/>
                    </a:solidFill>
                  </a:tcPr>
                </a:tc>
              </a:tr>
              <a:tr h="411480">
                <a:tc>
                  <a:txBody>
                    <a:bodyPr/>
                    <a:lstStyle/>
                    <a:p>
                      <a:r>
                        <a:rPr sz="1300" b="0">
                          <a:solidFill>
                            <a:srgbClr val="1F2937"/>
                          </a:solidFill>
                        </a:rPr>
                        <a:t>Xos bo‘lmagan</a:t>
                      </a:r>
                    </a:p>
                  </a:txBody>
                  <a:tcPr marL="73152" marR="73152" marT="36576" marB="36576">
                    <a:solidFill>
                      <a:srgbClr val="E8EEF6"/>
                    </a:solidFill>
                  </a:tcPr>
                </a:tc>
                <a:tc>
                  <a:txBody>
                    <a:bodyPr/>
                    <a:lstStyle/>
                    <a:p>
                      <a:r>
                        <a:rPr sz="1300" b="0">
                          <a:solidFill>
                            <a:srgbClr val="1F2937"/>
                          </a:solidFill>
                        </a:rPr>
                        <a:t>Oddiy shilinma, qontalash</a:t>
                      </a:r>
                    </a:p>
                  </a:txBody>
                  <a:tcPr marL="73152" marR="73152" marT="36576" marB="36576">
                    <a:solidFill>
                      <a:srgbClr val="E8EEF6"/>
                    </a:solidFill>
                  </a:tcPr>
                </a:tc>
              </a:tr>
              <a:tr h="411480">
                <a:tc>
                  <a:txBody>
                    <a:bodyPr/>
                    <a:lstStyle/>
                    <a:p>
                      <a:r>
                        <a:rPr sz="1300" b="0">
                          <a:solidFill>
                            <a:srgbClr val="1F2937"/>
                          </a:solidFill>
                        </a:rPr>
                        <a:t>Imitatsion</a:t>
                      </a:r>
                    </a:p>
                  </a:txBody>
                  <a:tcPr marL="73152" marR="73152" marT="36576" marB="36576">
                    <a:solidFill>
                      <a:srgbClr val="FFFFFF"/>
                    </a:solidFill>
                  </a:tcPr>
                </a:tc>
                <a:tc>
                  <a:txBody>
                    <a:bodyPr/>
                    <a:lstStyle/>
                    <a:p>
                      <a:r>
                        <a:rPr sz="1300" b="0">
                          <a:solidFill>
                            <a:srgbClr val="1F2937"/>
                          </a:solidFill>
                        </a:rPr>
                        <a:t>Old oyna siniqlaridan kesma yara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Avtotravma jarohat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59-60, 58-60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Piyoda to‘qnashuvi: to‘rt faza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Avtomobil old qismi bilan to‘qnashuvda to‘rt faza farqlanadi. Yuk avtomobilida ikkinchi faza bo‘lmaydi.</a:t>
            </a:r>
          </a:p>
          <a:p>
            <a:pPr>
              <a:spcAft>
                <a:spcPts val="800"/>
              </a:spcAft>
            </a:pPr>
            <a:r>
              <a:rPr sz="1800">
                <a:solidFill>
                  <a:srgbClr val="1F2937"/>
                </a:solidFill>
                <a:latin typeface="Calibri"/>
              </a:rPr>
              <a:t>▸  Yosh bolalarda zarb og‘irlik markazidan yuqoriga tushgani uchun ikkinchi faza kuzatilmaydi.</a:t>
            </a:r>
          </a:p>
          <a:p>
            <a:pPr>
              <a:spcAft>
                <a:spcPts val="800"/>
              </a:spcAft>
            </a:pPr>
            <a:r>
              <a:rPr sz="1800">
                <a:solidFill>
                  <a:srgbClr val="1F2937"/>
                </a:solidFill>
                <a:latin typeface="Calibri"/>
              </a:rPr>
              <a:t>▸  Tezlik past bo‘lsa, to‘rtinchi faza bo‘lmasligi mumkin; sirpanishda parallel shilinmalar hosil bo‘ladi.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Qismlar bilan zarb</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Avtomobilga yiqilish</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Uloqtirilish va erga tushish</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Erda sirpanish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Fazalar ketma-ketligi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61, 61-62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Bamper-jarohatlar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Bamper ta’sirida odatda ko‘ndalang joylashgan shilinma, qontalash yoki yara hosil bo‘ladi.</a:t>
            </a:r>
          </a:p>
          <a:p>
            <a:pPr>
              <a:spcAft>
                <a:spcPts val="1200"/>
              </a:spcAft>
            </a:pPr>
            <a:r>
              <a:rPr sz="2200">
                <a:solidFill>
                  <a:srgbClr val="1F2937"/>
                </a:solidFill>
                <a:latin typeface="Calibri"/>
              </a:rPr>
              <a:t>▸  Yengil avtomobil bilan to‘qnashuvda boldir suyaklari, yuk avtomobilida esa son suyaklari sinadi. Bu bamper balandligi va tezlikka bog‘liq.</a:t>
            </a:r>
          </a:p>
          <a:p>
            <a:pPr>
              <a:spcAft>
                <a:spcPts val="1200"/>
              </a:spcAft>
            </a:pPr>
            <a:r>
              <a:rPr sz="2200">
                <a:solidFill>
                  <a:srgbClr val="1F2937"/>
                </a:solidFill>
                <a:latin typeface="Calibri"/>
              </a:rPr>
              <a:t>▸  Bamper-sinish odatda uchburchak shaklda bo‘ladi, uning asosi birlamchi zarb tomonida joylashadi.</a:t>
            </a:r>
          </a:p>
          <a:p>
            <a:pPr>
              <a:spcAft>
                <a:spcPts val="1200"/>
              </a:spcAft>
            </a:pPr>
            <a:r>
              <a:rPr sz="2200">
                <a:solidFill>
                  <a:srgbClr val="1F2937"/>
                </a:solidFill>
                <a:latin typeface="Calibri"/>
              </a:rPr>
              <a:t>▸  Bamper ingichka bo‘lib, tezlik 55-60 km/soatdan katta bo‘lsa, suyaklarda halqasimon sinish paydo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Fazalar bo‘yicha jarohatlar xaritasi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Birinchi faza: fara va bamper shaklini eslatuvchi shilinma hamda qontalash, ya’ni kontakt jarohatlar.</a:t>
            </a:r>
          </a:p>
          <a:p>
            <a:pPr>
              <a:spcAft>
                <a:spcPts val="800"/>
              </a:spcAft>
            </a:pPr>
            <a:r>
              <a:rPr sz="1800">
                <a:solidFill>
                  <a:srgbClr val="1F2937"/>
                </a:solidFill>
                <a:latin typeface="Calibri"/>
              </a:rPr>
              <a:t>▸  Diqqat: 2-fazada jarohat zarb tomonida, 3-fazada esa unga qarama-qarshi tomonda bo‘ladi.</a:t>
            </a:r>
          </a:p>
          <a:p>
            <a:pPr>
              <a:spcAft>
                <a:spcPts val="800"/>
              </a:spcAft>
            </a:pPr>
            <a:r>
              <a:rPr sz="1800">
                <a:solidFill>
                  <a:srgbClr val="1F2937"/>
                </a:solidFill>
                <a:latin typeface="Calibri"/>
              </a:rPr>
              <a:t>▸  To‘rtinchi fazada tananing yerdagi sirpanishiga mos parallel shilinmalar hosil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38320"/>
                <a:gridCol w="1874827"/>
                <a:gridCol w="1874827"/>
              </a:tblGrid>
              <a:tr h="411480">
                <a:tc>
                  <a:txBody>
                    <a:bodyPr/>
                    <a:lstStyle/>
                    <a:p>
                      <a:r>
                        <a:rPr sz="1300" b="1">
                          <a:solidFill>
                            <a:srgbClr val="FFFFFF"/>
                          </a:solidFill>
                        </a:rPr>
                        <a:t>Faza</a:t>
                      </a:r>
                    </a:p>
                  </a:txBody>
                  <a:tcPr marL="73152" marR="73152" marT="36576" marB="36576">
                    <a:solidFill>
                      <a:srgbClr val="0B1F3A"/>
                    </a:solidFill>
                  </a:tcPr>
                </a:tc>
                <a:tc>
                  <a:txBody>
                    <a:bodyPr/>
                    <a:lstStyle/>
                    <a:p>
                      <a:r>
                        <a:rPr sz="1300" b="1">
                          <a:solidFill>
                            <a:srgbClr val="FFFFFF"/>
                          </a:solidFill>
                        </a:rPr>
                        <a:t>Jarohat joyi</a:t>
                      </a:r>
                    </a:p>
                  </a:txBody>
                  <a:tcPr marL="73152" marR="73152" marT="36576" marB="36576">
                    <a:solidFill>
                      <a:srgbClr val="0B1F3A"/>
                    </a:solidFill>
                  </a:tcPr>
                </a:tc>
                <a:tc>
                  <a:txBody>
                    <a:bodyPr/>
                    <a:lstStyle/>
                    <a:p>
                      <a:r>
                        <a:rPr sz="1300" b="1">
                          <a:solidFill>
                            <a:srgbClr val="FFFFFF"/>
                          </a:solidFill>
                        </a:rPr>
                        <a:t>Mexanizm/belgi</a:t>
                      </a:r>
                    </a:p>
                  </a:txBody>
                  <a:tcPr marL="73152" marR="73152" marT="36576" marB="36576">
                    <a:solidFill>
                      <a:srgbClr val="0B1F3A"/>
                    </a:solidFill>
                  </a:tcPr>
                </a:tc>
              </a:tr>
              <a:tr h="411480">
                <a:tc>
                  <a:txBody>
                    <a:bodyPr/>
                    <a:lstStyle/>
                    <a:p>
                      <a:r>
                        <a:rPr sz="1200" b="0">
                          <a:solidFill>
                            <a:srgbClr val="1F2937"/>
                          </a:solidFill>
                        </a:rPr>
                        <a:t>1. Avtomobil qismlari bilan zarb</a:t>
                      </a:r>
                    </a:p>
                  </a:txBody>
                  <a:tcPr marL="73152" marR="73152" marT="36576" marB="36576">
                    <a:solidFill>
                      <a:srgbClr val="E8EEF6"/>
                    </a:solidFill>
                  </a:tcPr>
                </a:tc>
                <a:tc>
                  <a:txBody>
                    <a:bodyPr/>
                    <a:lstStyle/>
                    <a:p>
                      <a:r>
                        <a:rPr sz="1200" b="0">
                          <a:solidFill>
                            <a:srgbClr val="1F2937"/>
                          </a:solidFill>
                        </a:rPr>
                        <a:t>Birlamchi ta’sir sohasi, bamper-jarohat</a:t>
                      </a:r>
                    </a:p>
                  </a:txBody>
                  <a:tcPr marL="73152" marR="73152" marT="36576" marB="36576">
                    <a:solidFill>
                      <a:srgbClr val="E8EEF6"/>
                    </a:solidFill>
                  </a:tcPr>
                </a:tc>
                <a:tc>
                  <a:txBody>
                    <a:bodyPr/>
                    <a:lstStyle/>
                    <a:p>
                      <a:r>
                        <a:rPr sz="1200" b="0">
                          <a:solidFill>
                            <a:srgbClr val="1F2937"/>
                          </a:solidFill>
                        </a:rPr>
                        <a:t>Zarb va tananing umumiy chayqalishi</a:t>
                      </a:r>
                    </a:p>
                  </a:txBody>
                  <a:tcPr marL="73152" marR="73152" marT="36576" marB="36576">
                    <a:solidFill>
                      <a:srgbClr val="E8EEF6"/>
                    </a:solidFill>
                  </a:tcPr>
                </a:tc>
              </a:tr>
              <a:tr h="411480">
                <a:tc>
                  <a:txBody>
                    <a:bodyPr/>
                    <a:lstStyle/>
                    <a:p>
                      <a:r>
                        <a:rPr sz="1200" b="0">
                          <a:solidFill>
                            <a:srgbClr val="1F2937"/>
                          </a:solidFill>
                        </a:rPr>
                        <a:t>2. Avtomobilga yiqilish</a:t>
                      </a:r>
                    </a:p>
                  </a:txBody>
                  <a:tcPr marL="73152" marR="73152" marT="36576" marB="36576">
                    <a:solidFill>
                      <a:srgbClr val="FFFFFF"/>
                    </a:solidFill>
                  </a:tcPr>
                </a:tc>
                <a:tc>
                  <a:txBody>
                    <a:bodyPr/>
                    <a:lstStyle/>
                    <a:p>
                      <a:r>
                        <a:rPr sz="1200" b="0">
                          <a:solidFill>
                            <a:srgbClr val="1F2937"/>
                          </a:solidFill>
                        </a:rPr>
                        <a:t>Birinchi ta’sir tomoni: bosh, ko‘krak</a:t>
                      </a:r>
                    </a:p>
                  </a:txBody>
                  <a:tcPr marL="73152" marR="73152" marT="36576" marB="36576">
                    <a:solidFill>
                      <a:srgbClr val="FFFFFF"/>
                    </a:solidFill>
                  </a:tcPr>
                </a:tc>
                <a:tc>
                  <a:txBody>
                    <a:bodyPr/>
                    <a:lstStyle/>
                    <a:p>
                      <a:r>
                        <a:rPr sz="1200" b="0">
                          <a:solidFill>
                            <a:srgbClr val="1F2937"/>
                          </a:solidFill>
                        </a:rPr>
                        <a:t>Zarb, chayqalish</a:t>
                      </a:r>
                    </a:p>
                  </a:txBody>
                  <a:tcPr marL="73152" marR="73152" marT="36576" marB="36576">
                    <a:solidFill>
                      <a:srgbClr val="FFFFFF"/>
                    </a:solidFill>
                  </a:tcPr>
                </a:tc>
              </a:tr>
              <a:tr h="411480">
                <a:tc>
                  <a:txBody>
                    <a:bodyPr/>
                    <a:lstStyle/>
                    <a:p>
                      <a:r>
                        <a:rPr sz="1200" b="0">
                          <a:solidFill>
                            <a:srgbClr val="1F2937"/>
                          </a:solidFill>
                        </a:rPr>
                        <a:t>3. Uloqtirilish va erga tushish</a:t>
                      </a:r>
                    </a:p>
                  </a:txBody>
                  <a:tcPr marL="73152" marR="73152" marT="36576" marB="36576">
                    <a:solidFill>
                      <a:srgbClr val="E8EEF6"/>
                    </a:solidFill>
                  </a:tcPr>
                </a:tc>
                <a:tc>
                  <a:txBody>
                    <a:bodyPr/>
                    <a:lstStyle/>
                    <a:p>
                      <a:r>
                        <a:rPr sz="1200" b="0">
                          <a:solidFill>
                            <a:srgbClr val="1F2937"/>
                          </a:solidFill>
                        </a:rPr>
                        <a:t>Birinchi ta’sirga qarama-qarshi tomon</a:t>
                      </a:r>
                    </a:p>
                  </a:txBody>
                  <a:tcPr marL="73152" marR="73152" marT="36576" marB="36576">
                    <a:solidFill>
                      <a:srgbClr val="E8EEF6"/>
                    </a:solidFill>
                  </a:tcPr>
                </a:tc>
                <a:tc>
                  <a:txBody>
                    <a:bodyPr/>
                    <a:lstStyle/>
                    <a:p>
                      <a:r>
                        <a:rPr sz="1200" b="0">
                          <a:solidFill>
                            <a:srgbClr val="1F2937"/>
                          </a:solidFill>
                        </a:rPr>
                        <a:t>Erga zarb; barcha sohalar shikastlanadi</a:t>
                      </a:r>
                    </a:p>
                  </a:txBody>
                  <a:tcPr marL="73152" marR="73152" marT="36576" marB="36576">
                    <a:solidFill>
                      <a:srgbClr val="E8EEF6"/>
                    </a:solidFill>
                  </a:tcPr>
                </a:tc>
              </a:tr>
              <a:tr h="411480">
                <a:tc>
                  <a:txBody>
                    <a:bodyPr/>
                    <a:lstStyle/>
                    <a:p>
                      <a:r>
                        <a:rPr sz="1200" b="0">
                          <a:solidFill>
                            <a:srgbClr val="1F2937"/>
                          </a:solidFill>
                        </a:rPr>
                        <a:t>4. Erda sirpanish</a:t>
                      </a:r>
                    </a:p>
                  </a:txBody>
                  <a:tcPr marL="73152" marR="73152" marT="36576" marB="36576">
                    <a:solidFill>
                      <a:srgbClr val="FFFFFF"/>
                    </a:solidFill>
                  </a:tcPr>
                </a:tc>
                <a:tc>
                  <a:txBody>
                    <a:bodyPr/>
                    <a:lstStyle/>
                    <a:p>
                      <a:r>
                        <a:rPr sz="1200" b="0">
                          <a:solidFill>
                            <a:srgbClr val="1F2937"/>
                          </a:solidFill>
                        </a:rPr>
                        <a:t>Sirpanish yo‘nalishiga mos</a:t>
                      </a:r>
                    </a:p>
                  </a:txBody>
                  <a:tcPr marL="73152" marR="73152" marT="36576" marB="36576">
                    <a:solidFill>
                      <a:srgbClr val="FFFFFF"/>
                    </a:solidFill>
                  </a:tcPr>
                </a:tc>
                <a:tc>
                  <a:txBody>
                    <a:bodyPr/>
                    <a:lstStyle/>
                    <a:p>
                      <a:r>
                        <a:rPr sz="1200" b="0">
                          <a:solidFill>
                            <a:srgbClr val="1F2937"/>
                          </a:solidFill>
                        </a:rPr>
                        <a:t>Parallel shilinmalar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Piyoda to‘qnashuvi: fazalar xaritasi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61, 62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va tezkor savol: yosh bola piyoda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yosh bola piyoda harakatdagi avtomobilning old qismi bilan to‘qnashgan, avtomobil tezligi past.</a:t>
            </a:r>
          </a:p>
          <a:p>
            <a:pPr>
              <a:spcAft>
                <a:spcPts val="1200"/>
              </a:spcAft>
            </a:pPr>
            <a:r>
              <a:rPr sz="2200">
                <a:solidFill>
                  <a:srgbClr val="1F2937"/>
                </a:solidFill>
                <a:latin typeface="Calibri"/>
              </a:rPr>
              <a:t>▸  Bolada dastlabki zarb og‘irlik markazidan yuqori sohaga tushadi, shuning uchun ikkinchi faza bo‘lmaydi. Past tezlikda to‘rtinchi faza ham bo‘lmasligi mumkin.</a:t>
            </a:r>
          </a:p>
          <a:p>
            <a:pPr>
              <a:spcAft>
                <a:spcPts val="1200"/>
              </a:spcAft>
            </a:pPr>
            <a:r>
              <a:rPr sz="2200">
                <a:solidFill>
                  <a:srgbClr val="1F2937"/>
                </a:solidFill>
                <a:latin typeface="Calibri"/>
              </a:rPr>
              <a:t>▸  Bamper-jarohat: engil avtomobilda boldir suyaklari, yuk avtomobilida son suyaklari sinadi. Sinish uchburchak shaklida, asosi birlamchi zarb tomonida bo‘ladi.</a:t>
            </a:r>
          </a:p>
          <a:p>
            <a:pPr>
              <a:spcAft>
                <a:spcPts val="1200"/>
              </a:spcAft>
            </a:pPr>
            <a:r>
              <a:rPr sz="2200">
                <a:solidFill>
                  <a:srgbClr val="1F2937"/>
                </a:solidFill>
                <a:latin typeface="Calibri"/>
              </a:rPr>
              <a:t>▸  Tezkor savol: bu bolada qaysi fazalar kutiladi va bamper-jarohat avtomobil haqida nimani ko‘rsatadi?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G‘ildirak bilan bosib o‘tish: besh faza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To‘liq bosib o‘tishda g‘ildirak tanani kesib o‘tadi, noto‘liq o‘tishda esa faqat tanaga chiqadi.</a:t>
            </a:r>
          </a:p>
          <a:p>
            <a:pPr>
              <a:spcAft>
                <a:spcPts val="800"/>
              </a:spcAft>
            </a:pPr>
            <a:r>
              <a:rPr sz="1800">
                <a:solidFill>
                  <a:srgbClr val="1F2937"/>
                </a:solidFill>
                <a:latin typeface="Calibri"/>
              </a:rPr>
              <a:t>▸  Yo‘nalish tana o‘qiga nisbatan ko‘ndalang, egri yoki uzunasiga bo‘lishi mumkin.</a:t>
            </a:r>
          </a:p>
          <a:p>
            <a:pPr>
              <a:spcAft>
                <a:spcPts val="800"/>
              </a:spcAft>
            </a:pPr>
            <a:r>
              <a:rPr sz="1800">
                <a:solidFill>
                  <a:srgbClr val="1F2937"/>
                </a:solidFill>
                <a:latin typeface="Calibri"/>
              </a:rPr>
              <a:t>▸  Og‘ir jarohatlar tananing g‘ildirak va yer orasida siqilishidan; spetsifik jarohatlar asosan 3–4-fazada.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G‘ildirak tanaga uriladi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Tananing siljishi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G‘ildirak tanaga chiqadi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G‘ildirak tanadan tushadi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Tananing ikkilamchi siljishi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Bosib o‘tishning besh fazasi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Shina protektori izlari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Protektor izi — spetsifik (kontakt) jarohat. G‘ildirak bilan bosib o‘tishda u nisbatan ko‘p uchraydi.</a:t>
            </a:r>
          </a:p>
          <a:p>
            <a:pPr>
              <a:spcAft>
                <a:spcPts val="800"/>
              </a:spcAft>
            </a:pPr>
            <a:r>
              <a:rPr sz="1800">
                <a:solidFill>
                  <a:srgbClr val="1F2937"/>
                </a:solidFill>
                <a:latin typeface="Calibri"/>
              </a:rPr>
              <a:t>▸  Iz jarohat izi (qontalash, shilinma) yoki qoplanma iz (ifloslanish) shaklida bo‘lishi mumkin.</a:t>
            </a:r>
          </a:p>
          <a:p>
            <a:pPr>
              <a:spcAft>
                <a:spcPts val="800"/>
              </a:spcAft>
            </a:pPr>
            <a:r>
              <a:rPr sz="1800">
                <a:solidFill>
                  <a:srgbClr val="1F2937"/>
                </a:solidFill>
                <a:latin typeface="Calibri"/>
              </a:rPr>
              <a:t>▸  Diqqat: xato qilish xavfi — pozitiv iz ≠ negativ iz. Ularning jarohat ko‘rinishi turlicha.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95383"/>
                <a:gridCol w="2301824"/>
                <a:gridCol w="1990767"/>
              </a:tblGrid>
              <a:tr h="411480">
                <a:tc>
                  <a:txBody>
                    <a:bodyPr/>
                    <a:lstStyle/>
                    <a:p>
                      <a:r>
                        <a:rPr sz="1300" b="1">
                          <a:solidFill>
                            <a:srgbClr val="FFFFFF"/>
                          </a:solidFill>
                        </a:rPr>
                        <a:t>Iz turi</a:t>
                      </a:r>
                    </a:p>
                  </a:txBody>
                  <a:tcPr marL="73152" marR="73152" marT="36576" marB="36576">
                    <a:solidFill>
                      <a:srgbClr val="0B1F3A"/>
                    </a:solidFill>
                  </a:tcPr>
                </a:tc>
                <a:tc>
                  <a:txBody>
                    <a:bodyPr/>
                    <a:lstStyle/>
                    <a:p>
                      <a:r>
                        <a:rPr sz="1300" b="1">
                          <a:solidFill>
                            <a:srgbClr val="FFFFFF"/>
                          </a:solidFill>
                        </a:rPr>
                        <a:t>Hosil bo‘lishi</a:t>
                      </a:r>
                    </a:p>
                  </a:txBody>
                  <a:tcPr marL="73152" marR="73152" marT="36576" marB="36576">
                    <a:solidFill>
                      <a:srgbClr val="0B1F3A"/>
                    </a:solidFill>
                  </a:tcPr>
                </a:tc>
                <a:tc>
                  <a:txBody>
                    <a:bodyPr/>
                    <a:lstStyle/>
                    <a:p>
                      <a:r>
                        <a:rPr sz="1300" b="1">
                          <a:solidFill>
                            <a:srgbClr val="FFFFFF"/>
                          </a:solidFill>
                        </a:rPr>
                        <a:t>Ko‘rinishi</a:t>
                      </a:r>
                    </a:p>
                  </a:txBody>
                  <a:tcPr marL="73152" marR="73152" marT="36576" marB="36576">
                    <a:solidFill>
                      <a:srgbClr val="0B1F3A"/>
                    </a:solidFill>
                  </a:tcPr>
                </a:tc>
              </a:tr>
              <a:tr h="411480">
                <a:tc>
                  <a:txBody>
                    <a:bodyPr/>
                    <a:lstStyle/>
                    <a:p>
                      <a:r>
                        <a:rPr sz="1200" b="0">
                          <a:solidFill>
                            <a:srgbClr val="1F2937"/>
                          </a:solidFill>
                        </a:rPr>
                        <a:t>Pozitiv</a:t>
                      </a:r>
                    </a:p>
                  </a:txBody>
                  <a:tcPr marL="73152" marR="73152" marT="36576" marB="36576">
                    <a:solidFill>
                      <a:srgbClr val="E8EEF6"/>
                    </a:solidFill>
                  </a:tcPr>
                </a:tc>
                <a:tc>
                  <a:txBody>
                    <a:bodyPr/>
                    <a:lstStyle/>
                    <a:p>
                      <a:r>
                        <a:rPr sz="1200" b="0">
                          <a:solidFill>
                            <a:srgbClr val="1F2937"/>
                          </a:solidFill>
                        </a:rPr>
                        <a:t>Protektorning bo‘rtib turgan qismidan</a:t>
                      </a:r>
                    </a:p>
                  </a:txBody>
                  <a:tcPr marL="73152" marR="73152" marT="36576" marB="36576">
                    <a:solidFill>
                      <a:srgbClr val="E8EEF6"/>
                    </a:solidFill>
                  </a:tcPr>
                </a:tc>
                <a:tc>
                  <a:txBody>
                    <a:bodyPr/>
                    <a:lstStyle/>
                    <a:p>
                      <a:r>
                        <a:rPr sz="1200" b="0">
                          <a:solidFill>
                            <a:srgbClr val="1F2937"/>
                          </a:solidFill>
                        </a:rPr>
                        <a:t>Shilinma, qontalash</a:t>
                      </a:r>
                    </a:p>
                  </a:txBody>
                  <a:tcPr marL="73152" marR="73152" marT="36576" marB="36576">
                    <a:solidFill>
                      <a:srgbClr val="E8EEF6"/>
                    </a:solidFill>
                  </a:tcPr>
                </a:tc>
              </a:tr>
              <a:tr h="411480">
                <a:tc>
                  <a:txBody>
                    <a:bodyPr/>
                    <a:lstStyle/>
                    <a:p>
                      <a:r>
                        <a:rPr sz="1200" b="0">
                          <a:solidFill>
                            <a:srgbClr val="1F2937"/>
                          </a:solidFill>
                        </a:rPr>
                        <a:t>Negativ</a:t>
                      </a:r>
                    </a:p>
                  </a:txBody>
                  <a:tcPr marL="73152" marR="73152" marT="36576" marB="36576">
                    <a:solidFill>
                      <a:srgbClr val="FFFFFF"/>
                    </a:solidFill>
                  </a:tcPr>
                </a:tc>
                <a:tc>
                  <a:txBody>
                    <a:bodyPr/>
                    <a:lstStyle/>
                    <a:p>
                      <a:r>
                        <a:rPr sz="1200" b="0">
                          <a:solidFill>
                            <a:srgbClr val="1F2937"/>
                          </a:solidFill>
                        </a:rPr>
                        <a:t>Protektorning botiq qismidan</a:t>
                      </a:r>
                    </a:p>
                  </a:txBody>
                  <a:tcPr marL="73152" marR="73152" marT="36576" marB="36576">
                    <a:solidFill>
                      <a:srgbClr val="FFFFFF"/>
                    </a:solidFill>
                  </a:tcPr>
                </a:tc>
                <a:tc>
                  <a:txBody>
                    <a:bodyPr/>
                    <a:lstStyle/>
                    <a:p>
                      <a:r>
                        <a:rPr sz="1200" b="0">
                          <a:solidFill>
                            <a:srgbClr val="1F2937"/>
                          </a:solidFill>
                        </a:rPr>
                        <a:t>Faqat qontalash</a:t>
                      </a:r>
                    </a:p>
                  </a:txBody>
                  <a:tcPr marL="73152" marR="73152" marT="36576" marB="36576">
                    <a:solidFill>
                      <a:srgbClr val="FFFFFF"/>
                    </a:solidFill>
                  </a:tcPr>
                </a:tc>
              </a:tr>
              <a:tr h="411480">
                <a:tc>
                  <a:txBody>
                    <a:bodyPr/>
                    <a:lstStyle/>
                    <a:p>
                      <a:r>
                        <a:rPr sz="1200" b="0">
                          <a:solidFill>
                            <a:srgbClr val="1F2937"/>
                          </a:solidFill>
                        </a:rPr>
                        <a:t>Tanada</a:t>
                      </a:r>
                    </a:p>
                  </a:txBody>
                  <a:tcPr marL="73152" marR="73152" marT="36576" marB="36576">
                    <a:solidFill>
                      <a:srgbClr val="E8EEF6"/>
                    </a:solidFill>
                  </a:tcPr>
                </a:tc>
                <a:tc>
                  <a:txBody>
                    <a:bodyPr/>
                    <a:lstStyle/>
                    <a:p>
                      <a:r>
                        <a:rPr sz="1200" b="0">
                          <a:solidFill>
                            <a:srgbClr val="1F2937"/>
                          </a:solidFill>
                        </a:rPr>
                        <a:t>Jarohat izi yoki qoplanma iz</a:t>
                      </a:r>
                    </a:p>
                  </a:txBody>
                  <a:tcPr marL="73152" marR="73152" marT="36576" marB="36576">
                    <a:solidFill>
                      <a:srgbClr val="E8EEF6"/>
                    </a:solidFill>
                  </a:tcPr>
                </a:tc>
                <a:tc>
                  <a:txBody>
                    <a:bodyPr/>
                    <a:lstStyle/>
                    <a:p>
                      <a:r>
                        <a:rPr sz="1200" b="0">
                          <a:solidFill>
                            <a:srgbClr val="1F2937"/>
                          </a:solidFill>
                        </a:rPr>
                        <a:t>Qontalash, shilinma, ifloslanish</a:t>
                      </a:r>
                    </a:p>
                  </a:txBody>
                  <a:tcPr marL="73152" marR="73152" marT="36576" marB="36576">
                    <a:solidFill>
                      <a:srgbClr val="E8EEF6"/>
                    </a:solidFill>
                  </a:tcPr>
                </a:tc>
              </a:tr>
              <a:tr h="411480">
                <a:tc>
                  <a:txBody>
                    <a:bodyPr/>
                    <a:lstStyle/>
                    <a:p>
                      <a:r>
                        <a:rPr sz="1200" b="0">
                          <a:solidFill>
                            <a:srgbClr val="1F2937"/>
                          </a:solidFill>
                        </a:rPr>
                        <a:t>Kiyimda</a:t>
                      </a:r>
                    </a:p>
                  </a:txBody>
                  <a:tcPr marL="73152" marR="73152" marT="36576" marB="36576">
                    <a:solidFill>
                      <a:srgbClr val="FFFFFF"/>
                    </a:solidFill>
                  </a:tcPr>
                </a:tc>
                <a:tc>
                  <a:txBody>
                    <a:bodyPr/>
                    <a:lstStyle/>
                    <a:p>
                      <a:r>
                        <a:rPr sz="1200" b="0">
                          <a:solidFill>
                            <a:srgbClr val="1F2937"/>
                          </a:solidFill>
                        </a:rPr>
                        <a:t>Asosan qoplanma iz</a:t>
                      </a:r>
                    </a:p>
                  </a:txBody>
                  <a:tcPr marL="73152" marR="73152" marT="36576" marB="36576">
                    <a:solidFill>
                      <a:srgbClr val="FFFFFF"/>
                    </a:solidFill>
                  </a:tcPr>
                </a:tc>
                <a:tc>
                  <a:txBody>
                    <a:bodyPr/>
                    <a:lstStyle/>
                    <a:p>
                      <a:r>
                        <a:rPr sz="1200" b="0">
                          <a:solidFill>
                            <a:srgbClr val="1F2937"/>
                          </a:solidFill>
                        </a:rPr>
                        <a:t>Ifloslanish shaklida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Protektor izlari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Tana sohalari bo‘yicha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Uchinchi va to‘rtinchi fazadagi jarohatlar g‘ildirak qaysi tana sohasidan o‘tganiga bog‘liq.</a:t>
            </a:r>
          </a:p>
          <a:p>
            <a:pPr>
              <a:spcAft>
                <a:spcPts val="800"/>
              </a:spcAft>
            </a:pPr>
            <a:r>
              <a:rPr sz="1800">
                <a:solidFill>
                  <a:srgbClr val="1F2937"/>
                </a:solidFill>
                <a:latin typeface="Calibri"/>
              </a:rPr>
              <a:t>▸  Boshni bosib o‘tganda quloq supralari to‘liq yoki qisman ajralishi ham mumkin.</a:t>
            </a:r>
          </a:p>
          <a:p>
            <a:pPr>
              <a:spcAft>
                <a:spcPts val="800"/>
              </a:spcAft>
            </a:pPr>
            <a:r>
              <a:rPr sz="1800">
                <a:solidFill>
                  <a:srgbClr val="1F2937"/>
                </a:solidFill>
                <a:latin typeface="Calibri"/>
              </a:rPr>
              <a:t>▸  Odatda g‘ildirak tanaga chiqqan tomonda shikastlanish jiddiyroq bo‘ladi.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19647"/>
                <a:gridCol w="2184163"/>
                <a:gridCol w="2184163"/>
              </a:tblGrid>
              <a:tr h="411480">
                <a:tc>
                  <a:txBody>
                    <a:bodyPr/>
                    <a:lstStyle/>
                    <a:p>
                      <a:r>
                        <a:rPr sz="1300" b="1">
                          <a:solidFill>
                            <a:srgbClr val="FFFFFF"/>
                          </a:solidFill>
                        </a:rPr>
                        <a:t>Soha</a:t>
                      </a:r>
                    </a:p>
                  </a:txBody>
                  <a:tcPr marL="73152" marR="73152" marT="36576" marB="36576">
                    <a:solidFill>
                      <a:srgbClr val="0B1F3A"/>
                    </a:solidFill>
                  </a:tcPr>
                </a:tc>
                <a:tc>
                  <a:txBody>
                    <a:bodyPr/>
                    <a:lstStyle/>
                    <a:p>
                      <a:r>
                        <a:rPr sz="1300" b="1">
                          <a:solidFill>
                            <a:srgbClr val="FFFFFF"/>
                          </a:solidFill>
                        </a:rPr>
                        <a:t>Suyaklar</a:t>
                      </a:r>
                    </a:p>
                  </a:txBody>
                  <a:tcPr marL="73152" marR="73152" marT="36576" marB="36576">
                    <a:solidFill>
                      <a:srgbClr val="0B1F3A"/>
                    </a:solidFill>
                  </a:tcPr>
                </a:tc>
                <a:tc>
                  <a:txBody>
                    <a:bodyPr/>
                    <a:lstStyle/>
                    <a:p>
                      <a:r>
                        <a:rPr sz="1300" b="1">
                          <a:solidFill>
                            <a:srgbClr val="FFFFFF"/>
                          </a:solidFill>
                        </a:rPr>
                        <a:t>Ichki a’zolar</a:t>
                      </a:r>
                    </a:p>
                  </a:txBody>
                  <a:tcPr marL="73152" marR="73152" marT="36576" marB="36576">
                    <a:solidFill>
                      <a:srgbClr val="0B1F3A"/>
                    </a:solidFill>
                  </a:tcPr>
                </a:tc>
              </a:tr>
              <a:tr h="411480">
                <a:tc>
                  <a:txBody>
                    <a:bodyPr/>
                    <a:lstStyle/>
                    <a:p>
                      <a:r>
                        <a:rPr sz="1200" b="0">
                          <a:solidFill>
                            <a:srgbClr val="1F2937"/>
                          </a:solidFill>
                        </a:rPr>
                        <a:t>Bosh</a:t>
                      </a:r>
                    </a:p>
                  </a:txBody>
                  <a:tcPr marL="73152" marR="73152" marT="36576" marB="36576">
                    <a:solidFill>
                      <a:srgbClr val="E8EEF6"/>
                    </a:solidFill>
                  </a:tcPr>
                </a:tc>
                <a:tc>
                  <a:txBody>
                    <a:bodyPr/>
                    <a:lstStyle/>
                    <a:p>
                      <a:r>
                        <a:rPr sz="1200" b="0">
                          <a:solidFill>
                            <a:srgbClr val="1F2937"/>
                          </a:solidFill>
                        </a:rPr>
                        <a:t>Kalla, yuz suyaklarining ko‘p sinishi</a:t>
                      </a:r>
                    </a:p>
                  </a:txBody>
                  <a:tcPr marL="73152" marR="73152" marT="36576" marB="36576">
                    <a:solidFill>
                      <a:srgbClr val="E8EEF6"/>
                    </a:solidFill>
                  </a:tcPr>
                </a:tc>
                <a:tc>
                  <a:txBody>
                    <a:bodyPr/>
                    <a:lstStyle/>
                    <a:p>
                      <a:r>
                        <a:rPr sz="1200" b="0">
                          <a:solidFill>
                            <a:srgbClr val="1F2937"/>
                          </a:solidFill>
                        </a:rPr>
                        <a:t>Bosh miya majaqlanadi</a:t>
                      </a:r>
                    </a:p>
                  </a:txBody>
                  <a:tcPr marL="73152" marR="73152" marT="36576" marB="36576">
                    <a:solidFill>
                      <a:srgbClr val="E8EEF6"/>
                    </a:solidFill>
                  </a:tcPr>
                </a:tc>
              </a:tr>
              <a:tr h="411480">
                <a:tc>
                  <a:txBody>
                    <a:bodyPr/>
                    <a:lstStyle/>
                    <a:p>
                      <a:r>
                        <a:rPr sz="1200" b="0">
                          <a:solidFill>
                            <a:srgbClr val="1F2937"/>
                          </a:solidFill>
                        </a:rPr>
                        <a:t>Ko‘krak</a:t>
                      </a:r>
                    </a:p>
                  </a:txBody>
                  <a:tcPr marL="73152" marR="73152" marT="36576" marB="36576">
                    <a:solidFill>
                      <a:srgbClr val="FFFFFF"/>
                    </a:solidFill>
                  </a:tcPr>
                </a:tc>
                <a:tc>
                  <a:txBody>
                    <a:bodyPr/>
                    <a:lstStyle/>
                    <a:p>
                      <a:r>
                        <a:rPr sz="1200" b="0">
                          <a:solidFill>
                            <a:srgbClr val="1F2937"/>
                          </a:solidFill>
                        </a:rPr>
                        <a:t>Qobirg‘alar ikki tomonlama ko‘p sinadi</a:t>
                      </a:r>
                    </a:p>
                  </a:txBody>
                  <a:tcPr marL="73152" marR="73152" marT="36576" marB="36576">
                    <a:solidFill>
                      <a:srgbClr val="FFFFFF"/>
                    </a:solidFill>
                  </a:tcPr>
                </a:tc>
                <a:tc>
                  <a:txBody>
                    <a:bodyPr/>
                    <a:lstStyle/>
                    <a:p>
                      <a:r>
                        <a:rPr sz="1200" b="0">
                          <a:solidFill>
                            <a:srgbClr val="1F2937"/>
                          </a:solidFill>
                        </a:rPr>
                        <a:t>Shikastlanadi, ba’zan siljiydi</a:t>
                      </a:r>
                    </a:p>
                  </a:txBody>
                  <a:tcPr marL="73152" marR="73152" marT="36576" marB="36576">
                    <a:solidFill>
                      <a:srgbClr val="FFFFFF"/>
                    </a:solidFill>
                  </a:tcPr>
                </a:tc>
              </a:tr>
              <a:tr h="411480">
                <a:tc>
                  <a:txBody>
                    <a:bodyPr/>
                    <a:lstStyle/>
                    <a:p>
                      <a:r>
                        <a:rPr sz="1200" b="0">
                          <a:solidFill>
                            <a:srgbClr val="1F2937"/>
                          </a:solidFill>
                        </a:rPr>
                        <a:t>Qorin</a:t>
                      </a:r>
                    </a:p>
                  </a:txBody>
                  <a:tcPr marL="73152" marR="73152" marT="36576" marB="36576">
                    <a:solidFill>
                      <a:srgbClr val="E8EEF6"/>
                    </a:solidFill>
                  </a:tcPr>
                </a:tc>
                <a:tc>
                  <a:txBody>
                    <a:bodyPr/>
                    <a:lstStyle/>
                    <a:p>
                      <a:r>
                        <a:rPr sz="1200" b="0">
                          <a:solidFill>
                            <a:srgbClr val="1F2937"/>
                          </a:solidFill>
                        </a:rPr>
                        <a:t>—</a:t>
                      </a:r>
                    </a:p>
                  </a:txBody>
                  <a:tcPr marL="73152" marR="73152" marT="36576" marB="36576">
                    <a:solidFill>
                      <a:srgbClr val="E8EEF6"/>
                    </a:solidFill>
                  </a:tcPr>
                </a:tc>
                <a:tc>
                  <a:txBody>
                    <a:bodyPr/>
                    <a:lstStyle/>
                    <a:p>
                      <a:r>
                        <a:rPr sz="1200" b="0">
                          <a:solidFill>
                            <a:srgbClr val="1F2937"/>
                          </a:solidFill>
                        </a:rPr>
                        <a:t>Jarohat, ko‘krak va anal tomon siljish</a:t>
                      </a:r>
                    </a:p>
                  </a:txBody>
                  <a:tcPr marL="73152" marR="73152" marT="36576" marB="36576">
                    <a:solidFill>
                      <a:srgbClr val="E8EEF6"/>
                    </a:solidFill>
                  </a:tcPr>
                </a:tc>
              </a:tr>
              <a:tr h="411480">
                <a:tc>
                  <a:txBody>
                    <a:bodyPr/>
                    <a:lstStyle/>
                    <a:p>
                      <a:r>
                        <a:rPr sz="1200" b="0">
                          <a:solidFill>
                            <a:srgbClr val="1F2937"/>
                          </a:solidFill>
                        </a:rPr>
                        <a:t>Tos va oyoq</a:t>
                      </a:r>
                    </a:p>
                  </a:txBody>
                  <a:tcPr marL="73152" marR="73152" marT="36576" marB="36576">
                    <a:solidFill>
                      <a:srgbClr val="FFFFFF"/>
                    </a:solidFill>
                  </a:tcPr>
                </a:tc>
                <a:tc>
                  <a:txBody>
                    <a:bodyPr/>
                    <a:lstStyle/>
                    <a:p>
                      <a:r>
                        <a:rPr sz="1200" b="0">
                          <a:solidFill>
                            <a:srgbClr val="1F2937"/>
                          </a:solidFill>
                        </a:rPr>
                        <a:t>Tos ko‘p sinadi; oyoqda siniqli sinish</a:t>
                      </a:r>
                    </a:p>
                  </a:txBody>
                  <a:tcPr marL="73152" marR="73152" marT="36576" marB="36576">
                    <a:solidFill>
                      <a:srgbClr val="FFFFFF"/>
                    </a:solidFill>
                  </a:tcPr>
                </a:tc>
                <a:tc>
                  <a:txBody>
                    <a:bodyPr/>
                    <a:lstStyle/>
                    <a:p>
                      <a:r>
                        <a:rPr sz="1200" b="0">
                          <a:solidFill>
                            <a:srgbClr val="1F2937"/>
                          </a:solidFill>
                        </a:rPr>
                        <a:t>Tos bo‘shlig‘i a’zolari shikastlanadi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G‘ildirak o‘tgan soha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64, 65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g‘ildirak izi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kiyimda protektorning ifloslanish izi, tanada esa shilinma va qontalash topildi. Bosib o‘tish gumon qilinmoqda.</a:t>
            </a:r>
          </a:p>
          <a:p>
            <a:pPr>
              <a:spcAft>
                <a:spcPts val="1200"/>
              </a:spcAft>
            </a:pPr>
            <a:r>
              <a:rPr sz="2200">
                <a:solidFill>
                  <a:srgbClr val="1F2937"/>
                </a:solidFill>
                <a:latin typeface="Calibri"/>
              </a:rPr>
              <a:t>▸  1-savol: tanadagi iz qanday ko‘rinadi? Pozitiv iz shilinma-qontalash, negativ iz faqat qontalash bo‘ladi.</a:t>
            </a:r>
          </a:p>
          <a:p>
            <a:pPr>
              <a:spcAft>
                <a:spcPts val="1200"/>
              </a:spcAft>
            </a:pPr>
            <a:r>
              <a:rPr sz="2200">
                <a:solidFill>
                  <a:srgbClr val="1F2937"/>
                </a:solidFill>
                <a:latin typeface="Calibri"/>
              </a:rPr>
              <a:t>▸  2-savol: transport turi qanday aniqlanadi? Traktor shinasi izi avtomobil shinasi izidan yaqqol farq qiladi, shu sababli izlar solishtiriladi.</a:t>
            </a:r>
          </a:p>
          <a:p>
            <a:pPr>
              <a:spcAft>
                <a:spcPts val="1200"/>
              </a:spcAft>
            </a:pPr>
            <a:r>
              <a:rPr sz="2200">
                <a:solidFill>
                  <a:srgbClr val="1F2937"/>
                </a:solidFill>
                <a:latin typeface="Calibri"/>
              </a:rPr>
              <a:t>▸  3-savol: to‘rtinchi fazada jarohat yo‘qligi bosib o‘tilmaganini bildiradimi? Yo‘q: tezlik 20 km/soatdan oshsa, g‘ildirak “sakrab tushadi”.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63, 74, 65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Avtomobil ichida: haydovchi jarohatlari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Haydovchida jarohat 4 fazada: oyoq, ko‘krak, bosh va bo‘yin, keyin orqaga tashlanish.</a:t>
            </a:r>
          </a:p>
          <a:p>
            <a:pPr>
              <a:spcAft>
                <a:spcPts val="800"/>
              </a:spcAft>
            </a:pPr>
            <a:r>
              <a:rPr sz="1800">
                <a:solidFill>
                  <a:srgbClr val="1F2937"/>
                </a:solidFill>
                <a:latin typeface="Calibri"/>
              </a:rPr>
              <a:t>▸  Rulga urilganda ko‘krakda yarim oysimon shilinma va qontalash, iyakda lat yara bo‘ladi.</a:t>
            </a:r>
          </a:p>
          <a:p>
            <a:pPr>
              <a:spcAft>
                <a:spcPts val="800"/>
              </a:spcAft>
            </a:pPr>
            <a:r>
              <a:rPr sz="1800">
                <a:solidFill>
                  <a:srgbClr val="1F2937"/>
                </a:solidFill>
                <a:latin typeface="Calibri"/>
              </a:rPr>
              <a:t>▸  Jarohatlar old va chap yuzada; katta tezlikda poyafzal tagida pedal izi bo‘lishi mumkin.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Oyoqlar panelga uriladi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Ko‘krak rulga uriladi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Bosh tepa qism va oynaga uriladi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Tana orqaga tashlanadi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Haydovchida shikast fazalari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Yo‘lovchilar va xavfsizlik kamari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Old o‘rindiqda bosh keskin oldinga harakatlanib, kalla va yuz suyaklari sinadi, miya lat yeydi.</a:t>
            </a:r>
          </a:p>
          <a:p>
            <a:pPr>
              <a:spcAft>
                <a:spcPts val="800"/>
              </a:spcAft>
            </a:pPr>
            <a:r>
              <a:rPr sz="1800">
                <a:solidFill>
                  <a:srgbClr val="1F2937"/>
                </a:solidFill>
                <a:latin typeface="Calibri"/>
              </a:rPr>
              <a:t>▸  Old oyna siniqlaridan yuzda shilinma va kesma yaralar; katta tezlikda yo‘lovchi otilib chiqishi mumkin.</a:t>
            </a:r>
          </a:p>
          <a:p>
            <a:pPr>
              <a:spcAft>
                <a:spcPts val="800"/>
              </a:spcAft>
            </a:pPr>
            <a:r>
              <a:rPr sz="1800">
                <a:solidFill>
                  <a:srgbClr val="1F2937"/>
                </a:solidFill>
                <a:latin typeface="Calibri"/>
              </a:rPr>
              <a:t>▸  Diagonal kamar bo‘yin boylamlari, to‘sh-umrov bo‘g‘ini yorilishi va qobirg‘a sinishini berishi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76378"/>
                <a:gridCol w="3411596"/>
              </a:tblGrid>
              <a:tr h="411480">
                <a:tc>
                  <a:txBody>
                    <a:bodyPr/>
                    <a:lstStyle/>
                    <a:p>
                      <a:r>
                        <a:rPr sz="1400" b="1">
                          <a:solidFill>
                            <a:srgbClr val="FFFFFF"/>
                          </a:solidFill>
                        </a:rPr>
                        <a:t>O‘rin / kamar</a:t>
                      </a:r>
                    </a:p>
                  </a:txBody>
                  <a:tcPr marL="73152" marR="73152" marT="36576" marB="36576">
                    <a:solidFill>
                      <a:srgbClr val="0B1F3A"/>
                    </a:solidFill>
                  </a:tcPr>
                </a:tc>
                <a:tc>
                  <a:txBody>
                    <a:bodyPr/>
                    <a:lstStyle/>
                    <a:p>
                      <a:r>
                        <a:rPr sz="1400" b="1">
                          <a:solidFill>
                            <a:srgbClr val="FFFFFF"/>
                          </a:solidFill>
                        </a:rPr>
                        <a:t>Xususiyati</a:t>
                      </a:r>
                    </a:p>
                  </a:txBody>
                  <a:tcPr marL="73152" marR="73152" marT="36576" marB="36576">
                    <a:solidFill>
                      <a:srgbClr val="0B1F3A"/>
                    </a:solidFill>
                  </a:tcPr>
                </a:tc>
              </a:tr>
              <a:tr h="411480">
                <a:tc>
                  <a:txBody>
                    <a:bodyPr/>
                    <a:lstStyle/>
                    <a:p>
                      <a:r>
                        <a:rPr sz="1300" b="0">
                          <a:solidFill>
                            <a:srgbClr val="1F2937"/>
                          </a:solidFill>
                        </a:rPr>
                        <a:t>Oldingi o‘rindiq</a:t>
                      </a:r>
                    </a:p>
                  </a:txBody>
                  <a:tcPr marL="73152" marR="73152" marT="36576" marB="36576">
                    <a:solidFill>
                      <a:srgbClr val="E8EEF6"/>
                    </a:solidFill>
                  </a:tcPr>
                </a:tc>
                <a:tc>
                  <a:txBody>
                    <a:bodyPr/>
                    <a:lstStyle/>
                    <a:p>
                      <a:r>
                        <a:rPr sz="1300" b="0">
                          <a:solidFill>
                            <a:srgbClr val="1F2937"/>
                          </a:solidFill>
                        </a:rPr>
                        <a:t>Eng xavfli; tana fiksatsiya qilinmagan</a:t>
                      </a:r>
                    </a:p>
                  </a:txBody>
                  <a:tcPr marL="73152" marR="73152" marT="36576" marB="36576">
                    <a:solidFill>
                      <a:srgbClr val="E8EEF6"/>
                    </a:solidFill>
                  </a:tcPr>
                </a:tc>
              </a:tr>
              <a:tr h="411480">
                <a:tc>
                  <a:txBody>
                    <a:bodyPr/>
                    <a:lstStyle/>
                    <a:p>
                      <a:r>
                        <a:rPr sz="1300" b="0">
                          <a:solidFill>
                            <a:srgbClr val="1F2937"/>
                          </a:solidFill>
                        </a:rPr>
                        <a:t>Orqa o‘rindiq</a:t>
                      </a:r>
                    </a:p>
                  </a:txBody>
                  <a:tcPr marL="73152" marR="73152" marT="36576" marB="36576">
                    <a:solidFill>
                      <a:srgbClr val="FFFFFF"/>
                    </a:solidFill>
                  </a:tcPr>
                </a:tc>
                <a:tc>
                  <a:txBody>
                    <a:bodyPr/>
                    <a:lstStyle/>
                    <a:p>
                      <a:r>
                        <a:rPr sz="1300" b="0">
                          <a:solidFill>
                            <a:srgbClr val="1F2937"/>
                          </a:solidFill>
                        </a:rPr>
                        <a:t>Kamroq; oldingi o‘rindiq orqasiga urilish</a:t>
                      </a:r>
                    </a:p>
                  </a:txBody>
                  <a:tcPr marL="73152" marR="73152" marT="36576" marB="36576">
                    <a:solidFill>
                      <a:srgbClr val="FFFFFF"/>
                    </a:solidFill>
                  </a:tcPr>
                </a:tc>
              </a:tr>
              <a:tr h="411480">
                <a:tc>
                  <a:txBody>
                    <a:bodyPr/>
                    <a:lstStyle/>
                    <a:p>
                      <a:r>
                        <a:rPr sz="1300" b="0">
                          <a:solidFill>
                            <a:srgbClr val="1F2937"/>
                          </a:solidFill>
                        </a:rPr>
                        <a:t>Kamar, me’yoriy tezlik</a:t>
                      </a:r>
                    </a:p>
                  </a:txBody>
                  <a:tcPr marL="73152" marR="73152" marT="36576" marB="36576">
                    <a:solidFill>
                      <a:srgbClr val="E8EEF6"/>
                    </a:solidFill>
                  </a:tcPr>
                </a:tc>
                <a:tc>
                  <a:txBody>
                    <a:bodyPr/>
                    <a:lstStyle/>
                    <a:p>
                      <a:r>
                        <a:rPr sz="1300" b="0">
                          <a:solidFill>
                            <a:srgbClr val="1F2937"/>
                          </a:solidFill>
                        </a:rPr>
                        <a:t>Shikastlanishning oldini oladi</a:t>
                      </a:r>
                    </a:p>
                  </a:txBody>
                  <a:tcPr marL="73152" marR="73152" marT="36576" marB="36576">
                    <a:solidFill>
                      <a:srgbClr val="E8EEF6"/>
                    </a:solidFill>
                  </a:tcPr>
                </a:tc>
              </a:tr>
              <a:tr h="411480">
                <a:tc>
                  <a:txBody>
                    <a:bodyPr/>
                    <a:lstStyle/>
                    <a:p>
                      <a:r>
                        <a:rPr sz="1300" b="0">
                          <a:solidFill>
                            <a:srgbClr val="1F2937"/>
                          </a:solidFill>
                        </a:rPr>
                        <a:t>Kamar, tezlik katta</a:t>
                      </a:r>
                    </a:p>
                  </a:txBody>
                  <a:tcPr marL="73152" marR="73152" marT="36576" marB="36576">
                    <a:solidFill>
                      <a:srgbClr val="FFFFFF"/>
                    </a:solidFill>
                  </a:tcPr>
                </a:tc>
                <a:tc>
                  <a:txBody>
                    <a:bodyPr/>
                    <a:lstStyle/>
                    <a:p>
                      <a:r>
                        <a:rPr sz="1300" b="0">
                          <a:solidFill>
                            <a:srgbClr val="1F2937"/>
                          </a:solidFill>
                        </a:rPr>
                        <a:t>O‘zi shikastlovchi omilga aylanadi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O‘rin va kamar xavfi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66, 66-67, 67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Avtomobildan tushib ketish va balandlikdan yiqilish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Uch faza: mashina qismlariga urilish, erga tushish, erda siljish.</a:t>
            </a:r>
          </a:p>
          <a:p>
            <a:pPr>
              <a:spcAft>
                <a:spcPts val="800"/>
              </a:spcAft>
            </a:pPr>
            <a:r>
              <a:rPr sz="1800">
                <a:solidFill>
                  <a:srgbClr val="1F2937"/>
                </a:solidFill>
                <a:latin typeface="Calibri"/>
              </a:rPr>
              <a:t>▸  Asosiy jarohat erga tushishda: boshga — kalla, bo‘yin umurtqalari; oyoqqa — bilvosita sinishlar.</a:t>
            </a:r>
          </a:p>
          <a:p>
            <a:pPr>
              <a:spcAft>
                <a:spcPts val="800"/>
              </a:spcAft>
            </a:pPr>
            <a:r>
              <a:rPr sz="1800">
                <a:solidFill>
                  <a:srgbClr val="1F2937"/>
                </a:solidFill>
                <a:latin typeface="Calibri"/>
              </a:rPr>
              <a:t>▸  Tezlik 25 km/soatdan oshsa, tana chayqalishidan ichki a’zolar jarohati paydo bo‘ladi.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210500"/>
                <a:gridCol w="2357290"/>
                <a:gridCol w="1720184"/>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Avtomobildan</a:t>
                      </a:r>
                    </a:p>
                  </a:txBody>
                  <a:tcPr marL="73152" marR="73152" marT="36576" marB="36576">
                    <a:solidFill>
                      <a:srgbClr val="0B1F3A"/>
                    </a:solidFill>
                  </a:tcPr>
                </a:tc>
                <a:tc>
                  <a:txBody>
                    <a:bodyPr/>
                    <a:lstStyle/>
                    <a:p>
                      <a:r>
                        <a:rPr sz="1300" b="1">
                          <a:solidFill>
                            <a:srgbClr val="FFFFFF"/>
                          </a:solidFill>
                        </a:rPr>
                        <a:t>Balandlikdan</a:t>
                      </a:r>
                    </a:p>
                  </a:txBody>
                  <a:tcPr marL="73152" marR="73152" marT="36576" marB="36576">
                    <a:solidFill>
                      <a:srgbClr val="0B1F3A"/>
                    </a:solidFill>
                  </a:tcPr>
                </a:tc>
              </a:tr>
              <a:tr h="411480">
                <a:tc>
                  <a:txBody>
                    <a:bodyPr/>
                    <a:lstStyle/>
                    <a:p>
                      <a:r>
                        <a:rPr sz="1200" b="0">
                          <a:solidFill>
                            <a:srgbClr val="1F2937"/>
                          </a:solidFill>
                        </a:rPr>
                        <a:t>Erda siljish izlari</a:t>
                      </a:r>
                    </a:p>
                  </a:txBody>
                  <a:tcPr marL="73152" marR="73152" marT="36576" marB="36576">
                    <a:solidFill>
                      <a:srgbClr val="E8EEF6"/>
                    </a:solidFill>
                  </a:tcPr>
                </a:tc>
                <a:tc>
                  <a:txBody>
                    <a:bodyPr/>
                    <a:lstStyle/>
                    <a:p>
                      <a:r>
                        <a:rPr sz="1200" b="0">
                          <a:solidFill>
                            <a:srgbClr val="1F2937"/>
                          </a:solidFill>
                        </a:rPr>
                        <a:t>Parallel yo‘lkasimon shilinmalar bor</a:t>
                      </a:r>
                    </a:p>
                  </a:txBody>
                  <a:tcPr marL="73152" marR="73152" marT="36576" marB="36576">
                    <a:solidFill>
                      <a:srgbClr val="E8EEF6"/>
                    </a:solidFill>
                  </a:tcPr>
                </a:tc>
                <a:tc>
                  <a:txBody>
                    <a:bodyPr/>
                    <a:lstStyle/>
                    <a:p>
                      <a:r>
                        <a:rPr sz="1200" b="0">
                          <a:solidFill>
                            <a:srgbClr val="1F2937"/>
                          </a:solidFill>
                        </a:rPr>
                        <a:t>Bunday uchinchi faza yo‘q</a:t>
                      </a:r>
                    </a:p>
                  </a:txBody>
                  <a:tcPr marL="73152" marR="73152" marT="36576" marB="36576">
                    <a:solidFill>
                      <a:srgbClr val="E8EEF6"/>
                    </a:solidFill>
                  </a:tcPr>
                </a:tc>
              </a:tr>
              <a:tr h="411480">
                <a:tc>
                  <a:txBody>
                    <a:bodyPr/>
                    <a:lstStyle/>
                    <a:p>
                      <a:r>
                        <a:rPr sz="1200" b="0">
                          <a:solidFill>
                            <a:srgbClr val="1F2937"/>
                          </a:solidFill>
                        </a:rPr>
                        <a:t>Bevosita jarohat</a:t>
                      </a:r>
                    </a:p>
                  </a:txBody>
                  <a:tcPr marL="73152" marR="73152" marT="36576" marB="36576">
                    <a:solidFill>
                      <a:srgbClr val="FFFFFF"/>
                    </a:solidFill>
                  </a:tcPr>
                </a:tc>
                <a:tc>
                  <a:txBody>
                    <a:bodyPr/>
                    <a:lstStyle/>
                    <a:p>
                      <a:r>
                        <a:rPr sz="1200" b="0">
                          <a:solidFill>
                            <a:srgbClr val="1F2937"/>
                          </a:solidFill>
                        </a:rPr>
                        <a:t>Mashina qismlaridan va erga tushishda</a:t>
                      </a:r>
                    </a:p>
                  </a:txBody>
                  <a:tcPr marL="73152" marR="73152" marT="36576" marB="36576">
                    <a:solidFill>
                      <a:srgbClr val="FFFFFF"/>
                    </a:solidFill>
                  </a:tcPr>
                </a:tc>
                <a:tc>
                  <a:txBody>
                    <a:bodyPr/>
                    <a:lstStyle/>
                    <a:p>
                      <a:r>
                        <a:rPr sz="1200" b="0">
                          <a:solidFill>
                            <a:srgbClr val="1F2937"/>
                          </a:solidFill>
                        </a:rPr>
                        <a:t>Erga tushishda</a:t>
                      </a:r>
                    </a:p>
                  </a:txBody>
                  <a:tcPr marL="73152" marR="73152" marT="36576" marB="36576">
                    <a:solidFill>
                      <a:srgbClr val="FFFFFF"/>
                    </a:solidFill>
                  </a:tcPr>
                </a:tc>
              </a:tr>
              <a:tr h="411480">
                <a:tc>
                  <a:txBody>
                    <a:bodyPr/>
                    <a:lstStyle/>
                    <a:p>
                      <a:r>
                        <a:rPr sz="1200" b="0">
                          <a:solidFill>
                            <a:srgbClr val="1F2937"/>
                          </a:solidFill>
                        </a:rPr>
                        <a:t>Bilvosita jarohat</a:t>
                      </a:r>
                    </a:p>
                  </a:txBody>
                  <a:tcPr marL="73152" marR="73152" marT="36576" marB="36576">
                    <a:solidFill>
                      <a:srgbClr val="E8EEF6"/>
                    </a:solidFill>
                  </a:tcPr>
                </a:tc>
                <a:tc>
                  <a:txBody>
                    <a:bodyPr/>
                    <a:lstStyle/>
                    <a:p>
                      <a:r>
                        <a:rPr sz="1200" b="0">
                          <a:solidFill>
                            <a:srgbClr val="1F2937"/>
                          </a:solidFill>
                        </a:rPr>
                        <a:t>Hosil bo‘ladi</a:t>
                      </a:r>
                    </a:p>
                  </a:txBody>
                  <a:tcPr marL="73152" marR="73152" marT="36576" marB="36576">
                    <a:solidFill>
                      <a:srgbClr val="E8EEF6"/>
                    </a:solidFill>
                  </a:tcPr>
                </a:tc>
                <a:tc>
                  <a:txBody>
                    <a:bodyPr/>
                    <a:lstStyle/>
                    <a:p>
                      <a:r>
                        <a:rPr sz="1200" b="0">
                          <a:solidFill>
                            <a:srgbClr val="1F2937"/>
                          </a:solidFill>
                        </a:rPr>
                        <a:t>Xuddi shunday hosil bo‘ladi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hodisani farqlash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67, 67-68, 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Yiqilishda tana qismlari bo‘yicha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Ko‘pincha tana erga boshi bilan tushadi: kalla va yuz suyaklari sinadi, bosh miya lat yeydi, ikkinchi bo‘yin umurtqasining tishsimon o‘simtasi sinishi mumkin.</a:t>
            </a:r>
          </a:p>
          <a:p>
            <a:pPr>
              <a:spcAft>
                <a:spcPts val="1200"/>
              </a:spcAft>
            </a:pPr>
            <a:r>
              <a:rPr sz="2000">
                <a:solidFill>
                  <a:srgbClr val="1F2937"/>
                </a:solidFill>
                <a:latin typeface="Calibri"/>
              </a:rPr>
              <a:t>▸  Ko‘krak bilan tushganda tepa (1–4) va o‘rta (5–8) qobirg‘alar, dumba bilan tushganda tos suyaklari va bel umurtqalari tanasi (kompression sinish) shikastlanadi.</a:t>
            </a:r>
          </a:p>
          <a:p>
            <a:pPr>
              <a:spcAft>
                <a:spcPts val="1200"/>
              </a:spcAft>
            </a:pPr>
            <a:r>
              <a:rPr sz="2000">
                <a:solidFill>
                  <a:srgbClr val="1F2937"/>
                </a:solidFill>
                <a:latin typeface="Calibri"/>
              </a:rPr>
              <a:t>▸  Diqqat: oyoq bilan tushganda oyoq kafti bevosita, boldir, son, tos va pastki ko‘krak-bel umurtqalari esa bilvosita sinadi. Bevosita ≠ bilvosita.</a:t>
            </a:r>
          </a:p>
          <a:p>
            <a:pPr>
              <a:spcAft>
                <a:spcPts val="1200"/>
              </a:spcAft>
            </a:pPr>
            <a:r>
              <a:rPr sz="2000">
                <a:solidFill>
                  <a:srgbClr val="1F2937"/>
                </a:solidFill>
                <a:latin typeface="Calibri"/>
              </a:rPr>
              <a:t>▸  Tezlik 25 km/soatdan oshsa, yiqilishning barcha variantlarida tana chayqalib, ichki a’zolar jarohatlanadi. Tezlik oshgan sari jarohat og‘irroq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67-68, 68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Qisilish natijasidagi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Qisilish juda kam uchraydi; zarb va siqilish mexanizmi bilan jarohat ikki fazada yetkaziladi.</a:t>
            </a:r>
          </a:p>
          <a:p>
            <a:pPr>
              <a:spcAft>
                <a:spcPts val="800"/>
              </a:spcAft>
            </a:pPr>
            <a:r>
              <a:rPr sz="1800">
                <a:solidFill>
                  <a:srgbClr val="1F2937"/>
                </a:solidFill>
                <a:latin typeface="Calibri"/>
              </a:rPr>
              <a:t>▸  Kiyim choklari va burmalari terida qon quyilish shaklida iz qoldiradi. Bu ekximotik kontur deyiladi.</a:t>
            </a:r>
          </a:p>
          <a:p>
            <a:pPr>
              <a:spcAft>
                <a:spcPts val="800"/>
              </a:spcAft>
            </a:pPr>
            <a:r>
              <a:rPr sz="1800">
                <a:solidFill>
                  <a:srgbClr val="1F2937"/>
                </a:solidFill>
                <a:latin typeface="Calibri"/>
              </a:rPr>
              <a:t>▸  Ko‘krak va qorin siqilsa, kompression asfiksiya (siqilishdan bo‘g‘ilish) tufayli o‘lim bo‘lishi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1-faza: tashqi qism bilan zarb</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Kontakt jarohat: shilinma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2-faza: jism orasida siqilish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Ekximotik kontur (kiyim izi)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Kompression asfiksiya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Qisilishda jarohat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68, 69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ichida, tushib ketish, qisilish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yo‘lovchi katta tezlikdagi to‘qnashuvda old oyna orqali otilib chiqdi, erga boshi bilan tushdi va erda sirpandi.</a:t>
            </a:r>
          </a:p>
          <a:p>
            <a:pPr>
              <a:spcAft>
                <a:spcPts val="1200"/>
              </a:spcAft>
            </a:pPr>
            <a:r>
              <a:rPr sz="2200">
                <a:solidFill>
                  <a:srgbClr val="1F2937"/>
                </a:solidFill>
                <a:latin typeface="Calibri"/>
              </a:rPr>
              <a:t>▸  Tahlil: avtomobil ichidagi shikastlanishdan keyin tushib ketish odatda murakkab avtotravma bo‘ladi. Tushib ketishda uch faza bor: urilish, erga tushish, erda siljish.</a:t>
            </a:r>
          </a:p>
          <a:p>
            <a:pPr>
              <a:spcAft>
                <a:spcPts val="1200"/>
              </a:spcAft>
            </a:pPr>
            <a:r>
              <a:rPr sz="2200">
                <a:solidFill>
                  <a:srgbClr val="1F2937"/>
                </a:solidFill>
                <a:latin typeface="Calibri"/>
              </a:rPr>
              <a:t>▸  Erda siljishdagi parallel yo‘lkasimon shilinmalar tushib ketishni oddiy balandlikdan yiqilishdan farqlaydi.</a:t>
            </a:r>
          </a:p>
          <a:p>
            <a:pPr>
              <a:spcAft>
                <a:spcPts val="1200"/>
              </a:spcAft>
            </a:pPr>
            <a:r>
              <a:rPr sz="2200">
                <a:solidFill>
                  <a:srgbClr val="1F2937"/>
                </a:solidFill>
                <a:latin typeface="Calibri"/>
              </a:rPr>
              <a:t>▸  Tezkor savol 3: tana avtomobil va daraxt orasida qisilsa, bu avtotravmaning qaysi turi va nechta fazasi bor? Javob: qisilish, ikki faza.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66-67, 67, 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Mototsikl travmasi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Besh turi bor: piyoda bilan to‘qnashuv, bosib o‘tish, yiqilish, boshqa jism bilan to‘qnashuv, murakkab tur.</a:t>
            </a:r>
          </a:p>
          <a:p>
            <a:pPr>
              <a:spcAft>
                <a:spcPts val="800"/>
              </a:spcAft>
            </a:pPr>
            <a:r>
              <a:rPr sz="1800">
                <a:solidFill>
                  <a:srgbClr val="1F2937"/>
                </a:solidFill>
                <a:latin typeface="Calibri"/>
              </a:rPr>
              <a:t>▸  Mototsikl travmasi asosan kech bahor, yoz va erta kuz oylarida uchraydi (mavsumiylik).</a:t>
            </a:r>
          </a:p>
          <a:p>
            <a:pPr>
              <a:spcAft>
                <a:spcPts val="800"/>
              </a:spcAft>
            </a:pPr>
            <a:r>
              <a:rPr sz="1800">
                <a:solidFill>
                  <a:srgbClr val="1F2937"/>
                </a:solidFill>
                <a:latin typeface="Calibri"/>
              </a:rPr>
              <a:t>▸  Diqqat: mototsiklda haydovchi va yo‘lovchi ham shikastlanadi; xos izlar boldir va son yuzalarida.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62658"/>
                <a:gridCol w="1281933"/>
                <a:gridCol w="2243383"/>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Avtotravma</a:t>
                      </a:r>
                    </a:p>
                  </a:txBody>
                  <a:tcPr marL="73152" marR="73152" marT="36576" marB="36576">
                    <a:solidFill>
                      <a:srgbClr val="0B1F3A"/>
                    </a:solidFill>
                  </a:tcPr>
                </a:tc>
                <a:tc>
                  <a:txBody>
                    <a:bodyPr/>
                    <a:lstStyle/>
                    <a:p>
                      <a:r>
                        <a:rPr sz="1300" b="1">
                          <a:solidFill>
                            <a:srgbClr val="FFFFFF"/>
                          </a:solidFill>
                        </a:rPr>
                        <a:t>Mototsikl</a:t>
                      </a:r>
                    </a:p>
                  </a:txBody>
                  <a:tcPr marL="73152" marR="73152" marT="36576" marB="36576">
                    <a:solidFill>
                      <a:srgbClr val="0B1F3A"/>
                    </a:solidFill>
                  </a:tcPr>
                </a:tc>
              </a:tr>
              <a:tr h="411480">
                <a:tc>
                  <a:txBody>
                    <a:bodyPr/>
                    <a:lstStyle/>
                    <a:p>
                      <a:r>
                        <a:rPr sz="1200" b="0">
                          <a:solidFill>
                            <a:srgbClr val="1F2937"/>
                          </a:solidFill>
                        </a:rPr>
                        <a:t>Uchrashi</a:t>
                      </a:r>
                    </a:p>
                  </a:txBody>
                  <a:tcPr marL="73152" marR="73152" marT="36576" marB="36576">
                    <a:solidFill>
                      <a:srgbClr val="E8EEF6"/>
                    </a:solidFill>
                  </a:tcPr>
                </a:tc>
                <a:tc>
                  <a:txBody>
                    <a:bodyPr/>
                    <a:lstStyle/>
                    <a:p>
                      <a:r>
                        <a:rPr sz="1200" b="0">
                          <a:solidFill>
                            <a:srgbClr val="1F2937"/>
                          </a:solidFill>
                        </a:rPr>
                        <a:t>Ko‘p uchraydi</a:t>
                      </a:r>
                    </a:p>
                  </a:txBody>
                  <a:tcPr marL="73152" marR="73152" marT="36576" marB="36576">
                    <a:solidFill>
                      <a:srgbClr val="E8EEF6"/>
                    </a:solidFill>
                  </a:tcPr>
                </a:tc>
                <a:tc>
                  <a:txBody>
                    <a:bodyPr/>
                    <a:lstStyle/>
                    <a:p>
                      <a:r>
                        <a:rPr sz="1200" b="0">
                          <a:solidFill>
                            <a:srgbClr val="1F2937"/>
                          </a:solidFill>
                        </a:rPr>
                        <a:t>Ancha kam, mavsumiy</a:t>
                      </a:r>
                    </a:p>
                  </a:txBody>
                  <a:tcPr marL="73152" marR="73152" marT="36576" marB="36576">
                    <a:solidFill>
                      <a:srgbClr val="E8EEF6"/>
                    </a:solidFill>
                  </a:tcPr>
                </a:tc>
              </a:tr>
              <a:tr h="411480">
                <a:tc>
                  <a:txBody>
                    <a:bodyPr/>
                    <a:lstStyle/>
                    <a:p>
                      <a:r>
                        <a:rPr sz="1200" b="0">
                          <a:solidFill>
                            <a:srgbClr val="1F2937"/>
                          </a:solidFill>
                        </a:rPr>
                        <a:t>Shikastlanuvchilar</a:t>
                      </a:r>
                    </a:p>
                  </a:txBody>
                  <a:tcPr marL="73152" marR="73152" marT="36576" marB="36576">
                    <a:solidFill>
                      <a:srgbClr val="FFFFFF"/>
                    </a:solidFill>
                  </a:tcPr>
                </a:tc>
                <a:tc>
                  <a:txBody>
                    <a:bodyPr/>
                    <a:lstStyle/>
                    <a:p>
                      <a:r>
                        <a:rPr sz="1200" b="0">
                          <a:solidFill>
                            <a:srgbClr val="1F2937"/>
                          </a:solidFill>
                        </a:rPr>
                        <a:t>Har holatda emas</a:t>
                      </a:r>
                    </a:p>
                  </a:txBody>
                  <a:tcPr marL="73152" marR="73152" marT="36576" marB="36576">
                    <a:solidFill>
                      <a:srgbClr val="FFFFFF"/>
                    </a:solidFill>
                  </a:tcPr>
                </a:tc>
                <a:tc>
                  <a:txBody>
                    <a:bodyPr/>
                    <a:lstStyle/>
                    <a:p>
                      <a:r>
                        <a:rPr sz="1200" b="0">
                          <a:solidFill>
                            <a:srgbClr val="1F2937"/>
                          </a:solidFill>
                        </a:rPr>
                        <a:t>Barcha holatda shikastlanadi</a:t>
                      </a:r>
                    </a:p>
                  </a:txBody>
                  <a:tcPr marL="73152" marR="73152" marT="36576" marB="36576">
                    <a:solidFill>
                      <a:srgbClr val="FFFFFF"/>
                    </a:solidFill>
                  </a:tcPr>
                </a:tc>
              </a:tr>
              <a:tr h="411480">
                <a:tc>
                  <a:txBody>
                    <a:bodyPr/>
                    <a:lstStyle/>
                    <a:p>
                      <a:r>
                        <a:rPr sz="1200" b="0">
                          <a:solidFill>
                            <a:srgbClr val="1F2937"/>
                          </a:solidFill>
                        </a:rPr>
                        <a:t>Erda siljish (4-faza)</a:t>
                      </a:r>
                    </a:p>
                  </a:txBody>
                  <a:tcPr marL="73152" marR="73152" marT="36576" marB="36576">
                    <a:solidFill>
                      <a:srgbClr val="E8EEF6"/>
                    </a:solidFill>
                  </a:tcPr>
                </a:tc>
                <a:tc>
                  <a:txBody>
                    <a:bodyPr/>
                    <a:lstStyle/>
                    <a:p>
                      <a:r>
                        <a:rPr sz="1200" b="0">
                          <a:solidFill>
                            <a:srgbClr val="1F2937"/>
                          </a:solidFill>
                        </a:rPr>
                        <a:t>Kuzatiladi</a:t>
                      </a:r>
                    </a:p>
                  </a:txBody>
                  <a:tcPr marL="73152" marR="73152" marT="36576" marB="36576">
                    <a:solidFill>
                      <a:srgbClr val="E8EEF6"/>
                    </a:solidFill>
                  </a:tcPr>
                </a:tc>
                <a:tc>
                  <a:txBody>
                    <a:bodyPr/>
                    <a:lstStyle/>
                    <a:p>
                      <a:r>
                        <a:rPr sz="1200" b="0">
                          <a:solidFill>
                            <a:srgbClr val="1F2937"/>
                          </a:solidFill>
                        </a:rPr>
                        <a:t>Kuzatilmaydi</a:t>
                      </a:r>
                    </a:p>
                  </a:txBody>
                  <a:tcPr marL="73152" marR="73152" marT="36576" marB="36576">
                    <a:solidFill>
                      <a:srgbClr val="E8EEF6"/>
                    </a:solidFill>
                  </a:tcPr>
                </a:tc>
              </a:tr>
              <a:tr h="411480">
                <a:tc>
                  <a:txBody>
                    <a:bodyPr/>
                    <a:lstStyle/>
                    <a:p>
                      <a:r>
                        <a:rPr sz="1200" b="0">
                          <a:solidFill>
                            <a:srgbClr val="1F2937"/>
                          </a:solidFill>
                        </a:rPr>
                        <a:t>G‘ildirak bilan bosish</a:t>
                      </a:r>
                    </a:p>
                  </a:txBody>
                  <a:tcPr marL="73152" marR="73152" marT="36576" marB="36576">
                    <a:solidFill>
                      <a:srgbClr val="FFFFFF"/>
                    </a:solidFill>
                  </a:tcPr>
                </a:tc>
                <a:tc>
                  <a:txBody>
                    <a:bodyPr/>
                    <a:lstStyle/>
                    <a:p>
                      <a:r>
                        <a:rPr sz="1200" b="0">
                          <a:solidFill>
                            <a:srgbClr val="1F2937"/>
                          </a:solidFill>
                        </a:rPr>
                        <a:t>Ko‘lami og‘irroq</a:t>
                      </a:r>
                    </a:p>
                  </a:txBody>
                  <a:tcPr marL="73152" marR="73152" marT="36576" marB="36576">
                    <a:solidFill>
                      <a:srgbClr val="FFFFFF"/>
                    </a:solidFill>
                  </a:tcPr>
                </a:tc>
                <a:tc>
                  <a:txBody>
                    <a:bodyPr/>
                    <a:lstStyle/>
                    <a:p>
                      <a:r>
                        <a:rPr sz="1200" b="0">
                          <a:solidFill>
                            <a:srgbClr val="1F2937"/>
                          </a:solidFill>
                        </a:rPr>
                        <a:t>Yengilroq (massa kichik)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Avtotravma va mototsikl travmasi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69, 69-70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Rels travmasi: bosilish va shilinish yo‘lkalari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Olti turi bor: to‘qnashuv, bosib o‘tish, yiqilish, transport ichida shikast, siqilish, murakkab travma.</a:t>
            </a:r>
          </a:p>
          <a:p>
            <a:pPr>
              <a:spcAft>
                <a:spcPts val="800"/>
              </a:spcAft>
            </a:pPr>
            <a:r>
              <a:rPr sz="1800">
                <a:solidFill>
                  <a:srgbClr val="1F2937"/>
                </a:solidFill>
                <a:latin typeface="Calibri"/>
              </a:rPr>
              <a:t>▸  “T” shaklli shilinma (“chimchi” belgisi) g‘ildirak chiqayotgan, relslar oralig‘iga qaragan sohada bo‘ladi.</a:t>
            </a:r>
          </a:p>
          <a:p>
            <a:pPr>
              <a:spcAft>
                <a:spcPts val="800"/>
              </a:spcAft>
            </a:pPr>
            <a:r>
              <a:rPr sz="1800">
                <a:solidFill>
                  <a:srgbClr val="1F2937"/>
                </a:solidFill>
                <a:latin typeface="Calibri"/>
              </a:rPr>
              <a:t>▸  Tana bo‘linganda rels tomonida chetlar tekis, g‘ildirak tomonida yirik tishsimon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G‘ildirak toji tanaga tegadi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 shaklli shilinma (chimchi)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Bosilish yo‘lkasi hosil bo‘ladi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Chetida shilinish yo‘lkalari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Tana ikkiga bo‘linishi mumkin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Rels travmasida izlar ketma-ketligi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70-71, 72, 73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Traktor travmasi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Olti turi bor: to‘qnashuv, bosib o‘tish, kabinada shikast, yiqilish, siqilish, murakkab travma.</a:t>
            </a:r>
          </a:p>
          <a:p>
            <a:pPr>
              <a:spcAft>
                <a:spcPts val="800"/>
              </a:spcAft>
            </a:pPr>
            <a:r>
              <a:rPr sz="1800">
                <a:solidFill>
                  <a:srgbClr val="1F2937"/>
                </a:solidFill>
                <a:latin typeface="Calibri"/>
              </a:rPr>
              <a:t>▸  Asosan qishloq joylarda uchraydi; sanoat, qurilish va kommunal xo‘jalikda ham kuzatilishi mumkin.</a:t>
            </a:r>
          </a:p>
          <a:p>
            <a:pPr>
              <a:spcAft>
                <a:spcPts val="800"/>
              </a:spcAft>
            </a:pPr>
            <a:r>
              <a:rPr sz="1800">
                <a:solidFill>
                  <a:srgbClr val="1F2937"/>
                </a:solidFill>
                <a:latin typeface="Calibri"/>
              </a:rPr>
              <a:t>▸  O‘rmalovchi traktor tishlari kiyim va tanani ilib, tagiga tortadi; ifloslanish izi zanjir traklariga mos.</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278411"/>
                <a:gridCol w="2150055"/>
                <a:gridCol w="1859507"/>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G‘ildirakli</a:t>
                      </a:r>
                    </a:p>
                  </a:txBody>
                  <a:tcPr marL="73152" marR="73152" marT="36576" marB="36576">
                    <a:solidFill>
                      <a:srgbClr val="0B1F3A"/>
                    </a:solidFill>
                  </a:tcPr>
                </a:tc>
                <a:tc>
                  <a:txBody>
                    <a:bodyPr/>
                    <a:lstStyle/>
                    <a:p>
                      <a:r>
                        <a:rPr sz="1300" b="1">
                          <a:solidFill>
                            <a:srgbClr val="FFFFFF"/>
                          </a:solidFill>
                        </a:rPr>
                        <a:t>O‘rmalovchi</a:t>
                      </a:r>
                    </a:p>
                  </a:txBody>
                  <a:tcPr marL="73152" marR="73152" marT="36576" marB="36576">
                    <a:solidFill>
                      <a:srgbClr val="0B1F3A"/>
                    </a:solidFill>
                  </a:tcPr>
                </a:tc>
              </a:tr>
              <a:tr h="411480">
                <a:tc>
                  <a:txBody>
                    <a:bodyPr/>
                    <a:lstStyle/>
                    <a:p>
                      <a:r>
                        <a:rPr sz="1200" b="0">
                          <a:solidFill>
                            <a:srgbClr val="1F2937"/>
                          </a:solidFill>
                        </a:rPr>
                        <a:t>To‘qnashuvdagi fazalar</a:t>
                      </a:r>
                    </a:p>
                  </a:txBody>
                  <a:tcPr marL="73152" marR="73152" marT="36576" marB="36576">
                    <a:solidFill>
                      <a:srgbClr val="E8EEF6"/>
                    </a:solidFill>
                  </a:tcPr>
                </a:tc>
                <a:tc>
                  <a:txBody>
                    <a:bodyPr/>
                    <a:lstStyle/>
                    <a:p>
                      <a:r>
                        <a:rPr sz="1200" b="0">
                          <a:solidFill>
                            <a:srgbClr val="1F2937"/>
                          </a:solidFill>
                        </a:rPr>
                        <a:t>2-faza kuzatilmaydi</a:t>
                      </a:r>
                    </a:p>
                  </a:txBody>
                  <a:tcPr marL="73152" marR="73152" marT="36576" marB="36576">
                    <a:solidFill>
                      <a:srgbClr val="E8EEF6"/>
                    </a:solidFill>
                  </a:tcPr>
                </a:tc>
                <a:tc>
                  <a:txBody>
                    <a:bodyPr/>
                    <a:lstStyle/>
                    <a:p>
                      <a:r>
                        <a:rPr sz="1200" b="0">
                          <a:solidFill>
                            <a:srgbClr val="1F2937"/>
                          </a:solidFill>
                        </a:rPr>
                        <a:t>4-faza bo‘lmaydi</a:t>
                      </a:r>
                    </a:p>
                  </a:txBody>
                  <a:tcPr marL="73152" marR="73152" marT="36576" marB="36576">
                    <a:solidFill>
                      <a:srgbClr val="E8EEF6"/>
                    </a:solidFill>
                  </a:tcPr>
                </a:tc>
              </a:tr>
              <a:tr h="411480">
                <a:tc>
                  <a:txBody>
                    <a:bodyPr/>
                    <a:lstStyle/>
                    <a:p>
                      <a:r>
                        <a:rPr sz="1200" b="0">
                          <a:solidFill>
                            <a:srgbClr val="1F2937"/>
                          </a:solidFill>
                        </a:rPr>
                        <a:t>To‘qnashuv jarohati</a:t>
                      </a:r>
                    </a:p>
                  </a:txBody>
                  <a:tcPr marL="73152" marR="73152" marT="36576" marB="36576">
                    <a:solidFill>
                      <a:srgbClr val="FFFFFF"/>
                    </a:solidFill>
                  </a:tcPr>
                </a:tc>
                <a:tc>
                  <a:txBody>
                    <a:bodyPr/>
                    <a:lstStyle/>
                    <a:p>
                      <a:r>
                        <a:rPr sz="1200" b="0">
                          <a:solidFill>
                            <a:srgbClr val="1F2937"/>
                          </a:solidFill>
                        </a:rPr>
                        <a:t>Ko‘krak-qorin, ichki a’zolar</a:t>
                      </a:r>
                    </a:p>
                  </a:txBody>
                  <a:tcPr marL="73152" marR="73152" marT="36576" marB="36576">
                    <a:solidFill>
                      <a:srgbClr val="FFFFFF"/>
                    </a:solidFill>
                  </a:tcPr>
                </a:tc>
                <a:tc>
                  <a:txBody>
                    <a:bodyPr/>
                    <a:lstStyle/>
                    <a:p>
                      <a:r>
                        <a:rPr sz="1200" b="0">
                          <a:solidFill>
                            <a:srgbClr val="1F2937"/>
                          </a:solidFill>
                        </a:rPr>
                        <a:t>Mahalliy; bilvosita yo‘q</a:t>
                      </a:r>
                    </a:p>
                  </a:txBody>
                  <a:tcPr marL="73152" marR="73152" marT="36576" marB="36576">
                    <a:solidFill>
                      <a:srgbClr val="FFFFFF"/>
                    </a:solidFill>
                  </a:tcPr>
                </a:tc>
              </a:tr>
              <a:tr h="411480">
                <a:tc>
                  <a:txBody>
                    <a:bodyPr/>
                    <a:lstStyle/>
                    <a:p>
                      <a:r>
                        <a:rPr sz="1200" b="0">
                          <a:solidFill>
                            <a:srgbClr val="1F2937"/>
                          </a:solidFill>
                        </a:rPr>
                        <a:t>Bosib o‘tish</a:t>
                      </a:r>
                    </a:p>
                  </a:txBody>
                  <a:tcPr marL="73152" marR="73152" marT="36576" marB="36576">
                    <a:solidFill>
                      <a:srgbClr val="E8EEF6"/>
                    </a:solidFill>
                  </a:tcPr>
                </a:tc>
                <a:tc>
                  <a:txBody>
                    <a:bodyPr/>
                    <a:lstStyle/>
                    <a:p>
                      <a:r>
                        <a:rPr sz="1200" b="0">
                          <a:solidFill>
                            <a:srgbClr val="1F2937"/>
                          </a:solidFill>
                        </a:rPr>
                        <a:t>Massa va g‘ildirak o‘lchamiga bog‘liq</a:t>
                      </a:r>
                    </a:p>
                  </a:txBody>
                  <a:tcPr marL="73152" marR="73152" marT="36576" marB="36576">
                    <a:solidFill>
                      <a:srgbClr val="E8EEF6"/>
                    </a:solidFill>
                  </a:tcPr>
                </a:tc>
                <a:tc>
                  <a:txBody>
                    <a:bodyPr/>
                    <a:lstStyle/>
                    <a:p>
                      <a:r>
                        <a:rPr sz="1200" b="0">
                          <a:solidFill>
                            <a:srgbClr val="1F2937"/>
                          </a:solidFill>
                        </a:rPr>
                        <a:t>2-faza yo‘q; zanjir tortib oladi</a:t>
                      </a:r>
                    </a:p>
                  </a:txBody>
                  <a:tcPr marL="73152" marR="73152" marT="36576" marB="36576">
                    <a:solidFill>
                      <a:srgbClr val="E8EEF6"/>
                    </a:solidFill>
                  </a:tcPr>
                </a:tc>
              </a:tr>
              <a:tr h="411480">
                <a:tc>
                  <a:txBody>
                    <a:bodyPr/>
                    <a:lstStyle/>
                    <a:p>
                      <a:r>
                        <a:rPr sz="1200" b="0">
                          <a:solidFill>
                            <a:srgbClr val="1F2937"/>
                          </a:solidFill>
                        </a:rPr>
                        <a:t>Iz</a:t>
                      </a:r>
                    </a:p>
                  </a:txBody>
                  <a:tcPr marL="73152" marR="73152" marT="36576" marB="36576">
                    <a:solidFill>
                      <a:srgbClr val="FFFFFF"/>
                    </a:solidFill>
                  </a:tcPr>
                </a:tc>
                <a:tc>
                  <a:txBody>
                    <a:bodyPr/>
                    <a:lstStyle/>
                    <a:p>
                      <a:r>
                        <a:rPr sz="1200" b="0">
                          <a:solidFill>
                            <a:srgbClr val="1F2937"/>
                          </a:solidFill>
                        </a:rPr>
                        <a:t>Protektor izi avtodan farq qiladi</a:t>
                      </a:r>
                    </a:p>
                  </a:txBody>
                  <a:tcPr marL="73152" marR="73152" marT="36576" marB="36576">
                    <a:solidFill>
                      <a:srgbClr val="FFFFFF"/>
                    </a:solidFill>
                  </a:tcPr>
                </a:tc>
                <a:tc>
                  <a:txBody>
                    <a:bodyPr/>
                    <a:lstStyle/>
                    <a:p>
                      <a:r>
                        <a:rPr sz="1200" b="0">
                          <a:solidFill>
                            <a:srgbClr val="1F2937"/>
                          </a:solidFill>
                        </a:rPr>
                        <a:t>Kiyimda zanjir traklariga mos iz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G‘ildirakli va o‘rmalovchi traktor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74, 74-75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Aviatravma: turlari va shikastlovchi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Aviatravmaning to‘rt turi: apparat ichida, uni tark etishda, erga urilishda va erda shikastlanish.</a:t>
            </a:r>
          </a:p>
          <a:p>
            <a:pPr>
              <a:spcAft>
                <a:spcPts val="800"/>
              </a:spcAft>
            </a:pPr>
            <a:r>
              <a:rPr sz="1800">
                <a:solidFill>
                  <a:srgbClr val="1F2937"/>
                </a:solidFill>
                <a:latin typeface="Calibri"/>
              </a:rPr>
              <a:t>▸  Omillar bir vaqtda yoki ketma-ket ta’sir qiladi. Portlash to‘lqini, termik va toksik omillar ham bor.</a:t>
            </a:r>
          </a:p>
          <a:p>
            <a:pPr>
              <a:spcAft>
                <a:spcPts val="800"/>
              </a:spcAft>
            </a:pPr>
            <a:r>
              <a:rPr sz="1800">
                <a:solidFill>
                  <a:srgbClr val="1F2937"/>
                </a:solidFill>
                <a:latin typeface="Calibri"/>
              </a:rPr>
              <a:t>▸  Murdalarni, ayniqsa ekipaj a’zolarini, identifikatsiya qilish muhim ahamiyatga ega.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033836"/>
                <a:gridCol w="3254138"/>
              </a:tblGrid>
              <a:tr h="411480">
                <a:tc>
                  <a:txBody>
                    <a:bodyPr/>
                    <a:lstStyle/>
                    <a:p>
                      <a:r>
                        <a:rPr sz="1400" b="1">
                          <a:solidFill>
                            <a:srgbClr val="FFFFFF"/>
                          </a:solidFill>
                        </a:rPr>
                        <a:t>Omil</a:t>
                      </a:r>
                    </a:p>
                  </a:txBody>
                  <a:tcPr marL="73152" marR="73152" marT="36576" marB="36576">
                    <a:solidFill>
                      <a:srgbClr val="0B1F3A"/>
                    </a:solidFill>
                  </a:tcPr>
                </a:tc>
                <a:tc>
                  <a:txBody>
                    <a:bodyPr/>
                    <a:lstStyle/>
                    <a:p>
                      <a:r>
                        <a:rPr sz="1400" b="1">
                          <a:solidFill>
                            <a:srgbClr val="FFFFFF"/>
                          </a:solidFill>
                        </a:rPr>
                        <a:t>Oqibat</a:t>
                      </a:r>
                    </a:p>
                  </a:txBody>
                  <a:tcPr marL="73152" marR="73152" marT="36576" marB="36576">
                    <a:solidFill>
                      <a:srgbClr val="0B1F3A"/>
                    </a:solidFill>
                  </a:tcPr>
                </a:tc>
              </a:tr>
              <a:tr h="411480">
                <a:tc>
                  <a:txBody>
                    <a:bodyPr/>
                    <a:lstStyle/>
                    <a:p>
                      <a:r>
                        <a:rPr sz="1300" b="0">
                          <a:solidFill>
                            <a:srgbClr val="1F2937"/>
                          </a:solidFill>
                        </a:rPr>
                        <a:t>Dinamik o‘ta kuch</a:t>
                      </a:r>
                    </a:p>
                  </a:txBody>
                  <a:tcPr marL="73152" marR="73152" marT="36576" marB="36576">
                    <a:solidFill>
                      <a:srgbClr val="E8EEF6"/>
                    </a:solidFill>
                  </a:tcPr>
                </a:tc>
                <a:tc>
                  <a:txBody>
                    <a:bodyPr/>
                    <a:lstStyle/>
                    <a:p>
                      <a:r>
                        <a:rPr sz="1300" b="0">
                          <a:solidFill>
                            <a:srgbClr val="1F2937"/>
                          </a:solidFill>
                        </a:rPr>
                        <a:t>Miya qonsizlanishi, hushning yo‘qolishi</a:t>
                      </a:r>
                    </a:p>
                  </a:txBody>
                  <a:tcPr marL="73152" marR="73152" marT="36576" marB="36576">
                    <a:solidFill>
                      <a:srgbClr val="E8EEF6"/>
                    </a:solidFill>
                  </a:tcPr>
                </a:tc>
              </a:tr>
              <a:tr h="411480">
                <a:tc>
                  <a:txBody>
                    <a:bodyPr/>
                    <a:lstStyle/>
                    <a:p>
                      <a:r>
                        <a:rPr sz="1300" b="0">
                          <a:solidFill>
                            <a:srgbClr val="1F2937"/>
                          </a:solidFill>
                        </a:rPr>
                        <a:t>Qarama-qarshi havo oqimi</a:t>
                      </a:r>
                    </a:p>
                  </a:txBody>
                  <a:tcPr marL="73152" marR="73152" marT="36576" marB="36576">
                    <a:solidFill>
                      <a:srgbClr val="FFFFFF"/>
                    </a:solidFill>
                  </a:tcPr>
                </a:tc>
                <a:tc>
                  <a:txBody>
                    <a:bodyPr/>
                    <a:lstStyle/>
                    <a:p>
                      <a:r>
                        <a:rPr sz="1300" b="0">
                          <a:solidFill>
                            <a:srgbClr val="1F2937"/>
                          </a:solidFill>
                        </a:rPr>
                        <a:t>Yuz to‘qimalarining ajralishi, barotravma</a:t>
                      </a:r>
                    </a:p>
                  </a:txBody>
                  <a:tcPr marL="73152" marR="73152" marT="36576" marB="36576">
                    <a:solidFill>
                      <a:srgbClr val="FFFFFF"/>
                    </a:solidFill>
                  </a:tcPr>
                </a:tc>
              </a:tr>
              <a:tr h="411480">
                <a:tc>
                  <a:txBody>
                    <a:bodyPr/>
                    <a:lstStyle/>
                    <a:p>
                      <a:r>
                        <a:rPr sz="1300" b="0">
                          <a:solidFill>
                            <a:srgbClr val="1F2937"/>
                          </a:solidFill>
                        </a:rPr>
                        <a:t>Portlash dekompressiyasi</a:t>
                      </a:r>
                    </a:p>
                  </a:txBody>
                  <a:tcPr marL="73152" marR="73152" marT="36576" marB="36576">
                    <a:solidFill>
                      <a:srgbClr val="E8EEF6"/>
                    </a:solidFill>
                  </a:tcPr>
                </a:tc>
                <a:tc>
                  <a:txBody>
                    <a:bodyPr/>
                    <a:lstStyle/>
                    <a:p>
                      <a:r>
                        <a:rPr sz="1300" b="0">
                          <a:solidFill>
                            <a:srgbClr val="1F2937"/>
                          </a:solidFill>
                        </a:rPr>
                        <a:t>O‘pka va quloq barotravmasi</a:t>
                      </a:r>
                    </a:p>
                  </a:txBody>
                  <a:tcPr marL="73152" marR="73152" marT="36576" marB="36576">
                    <a:solidFill>
                      <a:srgbClr val="E8EEF6"/>
                    </a:solidFill>
                  </a:tcPr>
                </a:tc>
              </a:tr>
              <a:tr h="411480">
                <a:tc>
                  <a:txBody>
                    <a:bodyPr/>
                    <a:lstStyle/>
                    <a:p>
                      <a:r>
                        <a:rPr sz="1300" b="0">
                          <a:solidFill>
                            <a:srgbClr val="1F2937"/>
                          </a:solidFill>
                        </a:rPr>
                        <a:t>Balandlik dekompressiyasi</a:t>
                      </a:r>
                    </a:p>
                  </a:txBody>
                  <a:tcPr marL="73152" marR="73152" marT="36576" marB="36576">
                    <a:solidFill>
                      <a:srgbClr val="FFFFFF"/>
                    </a:solidFill>
                  </a:tcPr>
                </a:tc>
                <a:tc>
                  <a:txBody>
                    <a:bodyPr/>
                    <a:lstStyle/>
                    <a:p>
                      <a:r>
                        <a:rPr sz="1300" b="0">
                          <a:solidFill>
                            <a:srgbClr val="1F2937"/>
                          </a:solidFill>
                        </a:rPr>
                        <a:t>Qon tomirlarida gaz pufakchalari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omillar va oqibatlari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75, 76-78, 78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va tezkor savol: rels va aviatravma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1: temir yo‘lda topilgan jabrlanganning kiyimi va tanasida moy va ko‘mir zarralari, terisida “T” shaklidagi shilinma bor. Bu qaysi travma?</a:t>
            </a:r>
          </a:p>
          <a:p>
            <a:pPr>
              <a:spcAft>
                <a:spcPts val="1200"/>
              </a:spcAft>
            </a:pPr>
            <a:r>
              <a:rPr sz="2200">
                <a:solidFill>
                  <a:srgbClr val="1F2937"/>
                </a:solidFill>
                <a:latin typeface="Calibri"/>
              </a:rPr>
              <a:t>▸  Tezkor savol: “T” shilinma (“chimchi” belgisi) tananing qaysi tomonida bo‘ladi? Javob: g‘ildirakka qaragan, relslar oralig‘i tomonda, g‘ildirak chiqayotgan sohada.</a:t>
            </a:r>
          </a:p>
          <a:p>
            <a:pPr>
              <a:spcAft>
                <a:spcPts val="1200"/>
              </a:spcAft>
            </a:pPr>
            <a:r>
              <a:rPr sz="2200">
                <a:solidFill>
                  <a:srgbClr val="1F2937"/>
                </a:solidFill>
                <a:latin typeface="Calibri"/>
              </a:rPr>
              <a:t>▸  Voqea 2: samolyot katta balandlikda germetizatsiyasi buzilib qulagan. Murdalarda nog‘ora pardasi yorilgan, o‘rta quloqda qon quyilgan. Sabab nima?</a:t>
            </a:r>
          </a:p>
          <a:p>
            <a:pPr>
              <a:spcAft>
                <a:spcPts val="1200"/>
              </a:spcAft>
            </a:pPr>
            <a:r>
              <a:rPr sz="2200">
                <a:solidFill>
                  <a:srgbClr val="1F2937"/>
                </a:solidFill>
                <a:latin typeface="Calibri"/>
              </a:rPr>
              <a:t>▸  Diqqat: portlash dekompressiyasi (8 km dan yuqori) ≠ balandlik dekompressiyasi (19 km va undan yuqori, teri osti yog‘da gaz pufakchalari).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71-73, 72, 77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xulosalar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Transport travmasi avtomobil, mototsikl, velosiped, traktor, rels, aviatsion va suv transporti turlariga bo‘linadi. Ekspertizalarning 90% dan ortig‘ini avtotravma tashkil etadi.</a:t>
            </a:r>
          </a:p>
          <a:p>
            <a:pPr>
              <a:spcAft>
                <a:spcPts val="1200"/>
              </a:spcAft>
            </a:pPr>
            <a:r>
              <a:rPr sz="2200">
                <a:solidFill>
                  <a:srgbClr val="1F2937"/>
                </a:solidFill>
                <a:latin typeface="Calibri"/>
              </a:rPr>
              <a:t>▸  Avtotravmaning olti turi bor: to‘qnashuv, g‘ildirak bilan bosib o‘tish, avtomobil ichida shikastlanish, yiqilish, qisilish va murakkab tur.</a:t>
            </a:r>
          </a:p>
          <a:p>
            <a:pPr>
              <a:spcAft>
                <a:spcPts val="1200"/>
              </a:spcAft>
            </a:pPr>
            <a:r>
              <a:rPr sz="2200">
                <a:solidFill>
                  <a:srgbClr val="1F2937"/>
                </a:solidFill>
                <a:latin typeface="Calibri"/>
              </a:rPr>
              <a:t>▸  Har turning o‘z fazalari bor: to‘qnashuvda to‘rtta, g‘ildirak bilan bosib o‘tishda beshta, avtomobildan tushib ketishda uchta.</a:t>
            </a:r>
          </a:p>
          <a:p>
            <a:pPr>
              <a:spcAft>
                <a:spcPts val="1200"/>
              </a:spcAft>
            </a:pPr>
            <a:r>
              <a:rPr sz="2200">
                <a:solidFill>
                  <a:srgbClr val="1F2937"/>
                </a:solidFill>
                <a:latin typeface="Calibri"/>
              </a:rPr>
              <a:t>▸  Jarohatlar to‘rt guruhga bo‘linadi: spetsifik, xos, xos bo‘lmagan va imitatsion. Bu ekspertiza hamda to‘g‘ri tashhis va davolash uchun muhim.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57, 58, 61-67, 58-60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Qiziqarli fakt: Jahon sogʻliqni saqlash tashkilotining maʼlumotlariga koʻra, dunyoda yoʻl-transport hodisalarida har yili 1,2 milliondan ortiq kishi halok boʻladi, 50 milliondan ortiq kishi jarohatlanadi. Mexanik jarohatlardan oʻlim holatlarining 60-65 %i transport travmasiga toʻgʻri keladi.</a:t>
            </a:r>
          </a:p>
          <a:p>
            <a:pPr>
              <a:spcAft>
                <a:spcPts val="1200"/>
              </a:spcAft>
            </a:pPr>
            <a:r>
              <a:rPr sz="1800">
                <a:solidFill>
                  <a:srgbClr val="1F2937"/>
                </a:solidFill>
                <a:latin typeface="Calibri"/>
              </a:rPr>
              <a:t>▸  Eslab qolish usuli (oʻzimiz tuzgan): avtotravmaning 6 turi — “To‘qnashuv, Bosib o‘tish, Ichida, Yiqilish, Qisilish, Murakkab”. Har turning bosh harfini eslang: T-B-I-Y-Q-M. Bu tartib darslikdagi Matishev tasnifiga mos keladi.</a:t>
            </a:r>
          </a:p>
          <a:p>
            <a:pPr>
              <a:spcAft>
                <a:spcPts val="1200"/>
              </a:spcAft>
            </a:pPr>
            <a:r>
              <a:rPr sz="1800">
                <a:solidFill>
                  <a:srgbClr val="1F2937"/>
                </a:solidFill>
                <a:latin typeface="Calibri"/>
              </a:rPr>
              <a:t>▸  Pediatriya uchun muhim hodisa: yosh bolalarda dastlabki zarb tananing ogʻirlik markazidan yuqoriga toʻgʻri keladi. Shu sababli piyoda avtomobilga yiqilish (ikkinchi) fazasi boʻlmaydi. Bu katta yoshlilardagi jarohatlar manzarasidan farq qiladi.</a:t>
            </a:r>
          </a:p>
          <a:p>
            <a:pPr>
              <a:spcAft>
                <a:spcPts val="1200"/>
              </a:spcAft>
            </a:pPr>
            <a:r>
              <a:rPr sz="1800">
                <a:solidFill>
                  <a:srgbClr val="1F2937"/>
                </a:solidFill>
                <a:latin typeface="Calibri"/>
              </a:rPr>
              <a:t>▸  Hodisa tahlili: bamper-sinish uchburchak shaklida boʻlib, uning asosi birlamchi zarb tomonida turadi. Yengil avtomobilda odatda boldir suyaklari, yuk avtomobilida son suyaklari sinadi. Shunga qarab avtomobil turi va tezligi haqida fikr yuritish mumkin.</a:t>
            </a:r>
          </a:p>
          <a:p>
            <a:pPr>
              <a:spcAft>
                <a:spcPts val="1200"/>
              </a:spcAft>
            </a:pPr>
            <a:r>
              <a:rPr sz="1800">
                <a:solidFill>
                  <a:srgbClr val="1F2937"/>
                </a:solidFill>
                <a:latin typeface="Calibri"/>
              </a:rPr>
              <a:t>▸  Qiziqarli fakt: rels travmasida gʻildirak tanaga chiqayotgan tomonda “T” shaklidagi shilinma (“chimchi” belgisi) hosil boʻladi. Gʻildirak bilan rels oraligʻidagi tanaga 1 kv. sm ga 5 tonna va undan ortiq kuch taʼsir qilishi mumkin.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Murdada suyakning arralama yuzasi nisbatan tekis, unda yoysimon izlar bor, yara chetlari notekis, tishli va mayda laxtakli. Qaysi asbob ishlatilgan?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Varaqsimon arraning harakati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Sirkulyar arraning aylanma harakati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Bolta bilan chopish zarbi harakati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Pichoqning kesish-sanchish harakati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Yara chiziqsimon, chetlari mayda tishli, uchlarida yuzaki kesma va tirnalmalar bor, suyakda parallel ariqchalar aniqlandi. Qaysi harakat natijasi?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Varaqsimon arraning oldinga-orqaga harakati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Sirkulyar arraning aylanma harakati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Pichoqning sanchib kesish harakati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O‘tmas jismning ezib o‘tish harakati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Yo‘l-transport hodisasidan jabrlangan shaxsga yordam ko‘rsatayotgan vrach uning kiyim-boshi bilan qanday munosabatda bo‘lishi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Yuvib, nam holda polietilen paketga solishi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Quyoshda quritib, ochiq holda saqlab qo‘yishi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Tozalab, dazmollab, sumkaga solib berishi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Ehtiyot bilan echib, xonada quritib, qog‘ozga o‘rashi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Sud-tibbiy ekspertiza ma’lumotlariga ko‘ra, mexanik jarohatlardan o‘lim holatlarining qancha qismi transport travmasiga to‘g‘ri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20-25 foizi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1,5-2,0 foizi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60-65 foizi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90 foizdan ortig‘i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Mototsikl va avtomobil to‘qnashganda olingan shikastlanish transport travmasining qaysi turiga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Mototsikl travmasi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Murakkab transport travmasi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Avtomobil travmasi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Rels travmasi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Jabrlanganning tanasida shakli va o‘lchami avtomobil farasiga mos keladigan shilinma-qontalash topildi. Bu jarohat qaysi guruhga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Xos jarohatlar guruhi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Xos bo‘lmagan jarohatlar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Spetsifik kontakt jarohat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Imitatsion jarohatlar guruhi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A.A.Matishev va boshqalar tasnifi (1968) bo‘yicha avtotravma nechta turga bo‘linadi?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Oltita tur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Beshta tur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To‘rtta tur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Yettita tur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Yengil avtomobil piyodaning oyog‘iga bamper bilan urildi. Bamper-sinish ko‘proq qaysi suyaklarda aniqlanadi?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Son suyaklari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Qovurg‘alar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Bilak suyaklari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Boldir suyaklari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Piyodaning tanasida erdagi harakat yo‘nalishiga mos, parallel yo‘lkasimon shilinmalar topildi. Bu to‘qnashuvning qaysi fazasida hosil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Avtomobil qismlari bilan zarb fazasi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Tananing erda sirpanish fazasi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Tananing avtomobilga yiqilish fazasi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Tananing uloqtirilish va tushish fazasi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 jarohatlardan qaysi biri avtotravmadagi xos jarohatlar qatoriga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Old oyna siniqlaridan kesma yara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Tanadagi oddiy shilinma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Bo‘yin umurtqalarining “qamchisimon” sinishi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Farasi shaklidagi shilinma izi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Yosh bola harakatdagi avtomobil bilan to‘qnashdi, dastlabki zarb og‘irlik markazidan yuqoriga tushdi. Qaysi faza kuzatilmaydi?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Avtomobil qismlari bilan zarb fazasi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Tananing avtomobilga yiqilish fazasi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Tananing uloqtirilib erga tushish fazasi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Tananing erda sirpanish fazasi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Avtomobil g‘ildiragi tanadan 20 km/soat va undan katta tezlikda o‘tdi. Qaysi fazada jarohat bo‘lmasligi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Birinchi faza: g‘ildirakning tanaga urilishi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Ikkinchi faza: tananing harakat yo‘nalishida siljishi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To‘rtinchi faza: g‘ildirakning tanadan tushishi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Beshinchi faza: tananing ikkilamchi siljishi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Murdaning tanasida g‘ildirak shinasidan faqat qontalash ko‘rinishidagi iz topildi. Bu protektorning qaysi qismidan hosil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Protektorning bo‘rtib turgan qismidan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Shina yon devorining ishqalanishidan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Protektorning chetki qirrasidan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Protektorning botiq qismidan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Haydovchida ko‘krakda yarim oysimon shilinma va qontalash, iyakda lat yara aniqlandi. Bu jarohatlar qaysi ta’sirdan hosil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Ko‘krakning rulga urilishidan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Oyoqlarning avtomobil paneliga urilishidan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Boshning old oynaga urilishidan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Tananing orqaga tashlanishidan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shaxsda erdagi siljishdan hosil bo‘lgan parallel yo‘lkasimon shilinmalarni topdi. Bu qaysi shikastlanishni balandlikdan yiqilishdan farqlaydi?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Kalla va yuz suyaklarining sinishi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Bo‘yin umurtqalarining kompression sinishi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Avtomobildan tushib ketishni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Oyoq kafti suyaklarining sinishi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Avtomobildan tushib ketgan jabrlanuvchi erga dumbasi bilan urilgan. Qaysi jarohatlar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Tepa va o‘rta qobirg‘alarning sinishi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Oyoq kafti suyaklarining bevosita sinishi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Tos suyaklari va bel umurtqalarining sinishi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Ikkinchi bo‘yin umurtqasi tishsimon o‘simtasi sinishi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Yo‘lovchining ko‘krak va qorin sohasi avtomobil bilan devor orasida siqilgan. O‘limning qaysi mexanizmi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Ko‘krak va qorin siqilishidan kompression asfiksiya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Balandlik dekompressiyasidan gaz pufakchalari hosil bo‘lishi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Qamchisimon sinishdan orqa miyaning to‘liq uzilishi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Kiyim konturi hosil bo‘lishidan katta qon yo‘qotish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tanada parallel yo‘lkasimon shilinmalarni topdi. Bu harakatdagi avtomobildan tushib ketishni oddiy balandlikdan yiqilishdan qaysi belgi bilan farqlashga yordam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Kalla va yuz suyaklarining ko‘plab sinishi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Oyoq kafti suyaklarining bevosita sinishi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Bo‘yin umurtqalarining kompression sinishi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Erda siljish natijasidagi yo‘lkasimon shilinmalar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Poyezd g‘ildiragi tanani bosib o‘tgan. “T” shaklidagi shilinma tananing qaysi sohasida aniqlanadi?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Relsdan tashqaridagi, g‘ildirak tushayotgan sohada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G‘ildirakka qaragan, relslar oralig‘idagi, chiqish sohasida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G‘ildirakdan teskari, relslar oralig‘idagi tomonda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Rels boshchasiga qaragan, relsdan tashqaridagi tomonda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Katta balandlikda halokatga uchragan samolyot qurbonlari murdalari tekshirilmoqda. Germetizatsiya buzilganini qaysi topilma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Nog‘ora pardasi yorilishi va o‘rta quloq bo‘shlig‘iga qon quyilishi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Teri osti yog‘ qavatida gaz pufakchalari bo‘lishi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Og‘iz burchaklarining yorilishi va ko‘z olmasi shikastlanishi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Qorin devorining ko‘ndalang yorilishi va yoysimon shilinma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Sirkulyar arraning aylanma harakati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Sirkulyar arraning aylanma harakatida chetlari notekis, tishli, ba’zan mayda laxtakli yaralar hosil bo‘ladi. Suyakning arralama yuzalari nisbatan tekis bo‘lib, yoysimon izlar bilan ko‘rinadi. Varaqsimon arrada esa parallel burtma va ariqchalar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55-bet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Varaqsimon arraning oldinga-orqaga harakati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Varaqsimon arraning oldinga-orqaga harakatida yara chiziqsimon, chetlari mayda tishli va notekis bo‘ladi, uchlarida yuzaki kesma va tirnalmalar qoladi. Suyak arralama yuzalarida arra varag‘iga mos parallel burtma va ariqchalar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55-bet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Ehtiyot bilan echib, xonada quritib, qog‘ozga o‘rashi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Kiyim va poyafzalda hodisani tekshirish uchun muhim jarohat va ifloslanish izlari bo‘lishi mumkin. Shuning uchun ular ehtiyotkorlik bilan echiladi, kerak bo‘lsa xona sharoitida quritiladi, qog‘oz o‘ramga solinib huquqni muhofaza idoralariga topshiriladi.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57-58-bet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60-65 foizi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Mexanik jarohatlardan o‘lim holatlarining 60-65 foizi transport travmasi hissasiga to‘g‘ri keladi. 20-25 foiz esa tirik shaxslar ekspertizasidagi ulushdir. 90 foizdan ortig‘i transport travmasi ekspertizalaridagi avtomobil travmasi ulushiga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57-bet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Murakkab transport travmasi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Shikastlanish har xil turdagi transport vositalarining to‘qnashuvida olinsa, murakkab transport travmasi deyiladi. Misol sifatida mototsikl-avtomobil yoki avtomobil-traktor travmasi keltirilgan.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57-bet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Spetsifik kontakt jarohat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Spetsifik jarohat avtomobilning ma’lum qismi (fara, old bezak, shina protektori) bilan ta’sirlanishdan hosil bo‘ladi. Shuning uchun uni kontakt jarohat ham deyishadi. Uning shakli va o‘lchami avtomobilning kontaktdagi qismiga mos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59-bet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Oltita tur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Tasnifda olti tur bor: avtomobil bilan to‘qnashuv, g‘ildirak bilan bosib o‘tish, avtomobil ichida shikastlanish, avtomobildan yiqilish, qisilish va murakkab avtotravma (ikki va undan ortiq turning birgalikda kuzatilishi).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58-bet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Boldir suyaklari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Yengil avtomobillar bilan to‘qnashuvda bamper balandligiga mos ravishda boldir suyaklari sinadi. Yuk avtomobillarida esa son suyaklarining sinishi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61-bet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Tananing erda sirpanish fazasi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Piyoda bilan to‘qnashuvning to‘rtinchi fazasi tananing erda sirpanishidir. Shu fazada sirpanish yo‘nalishiga mos parallel shilinmalar hosil bo‘ladi. Past tezlikda bu faza bo‘lmasligi ham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61-62-bet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Bo‘yin umurtqalarining “qamchisimon” sinishi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Bo‘yin umurtqalarining “qamchisimon” sinishi xos jarohatlarga kiradi. Oddiy shilinma xos bo‘lmagan, old oyna siniqlaridan kesma yara imitatsion, fara izi esa spetsifik jarohat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60-bet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Tananing avtomobilga yiqilish fazasi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Yosh bolalarda dastlabki zarb tananing og‘irlik markazidan yuqori sohaga to‘g‘ri keladi. Shu sababli tananing avtomobilga yiqilishi (ikkinchi faza)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61-bet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To‘rtinchi faza: g‘ildirakning tanadan tushishi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Tezlik 20 km/soat va undan katta bo‘lsa, g‘ildirak tanadan “sakrab tushadi”. Shuning uchun to‘rtinchi fazada biron-bir jarohat etkazilmasligi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65-bet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Protektorning botiq qismidan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Protektorning bo‘rtib turgan qismidan pozitiv izlar (shilinma-qontalash), botiq qismlaridan negativ izlar hosil bo‘ladi. Negativ izlar faqat qontalash ko‘rinishida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63-bet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Ko‘krakning rulga urilishidan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Rulga urilishda ko‘krakda yarim oysimon shilinma va qontalashlar, iyakda lat yara hosil bo‘ladi. Ko‘krakning rulga urilishi haydovchida jarohat hosil bo‘lishining ikkinchi fazasidir.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66-bet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Avtomobildan tushib ketishni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Harakatdagi avtomobildan tushib ketishda uchinchi fazada tana inersiya bo‘yicha erda siljiydi. Natijada parallel yo‘lkasimon shilinmalar hosil bo‘ladi, balandlikdan yiqilishda bunday jarohat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68-bet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Tos suyaklari va bel umurtqalarining sinishi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Dumba bilan erga tushganda tos suyaklari sinadi va bel umurtqalari tanasi kompression sinadi. Ko‘krak bilan tushganda tepa va o‘rta qobirg‘alar sinadi. Oyoqlar bilan tushganda oyoq kafti suyaklari bevosita sinadi. Bo‘yin umurtqasi tishsimon o‘simtasi sinishi esa boshi bilan tushganda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Bob 3. Transport travmasi-bet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Ko‘krak va qorin siqilishidan kompression asfiksiya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Avtomobil va harakatsiz jism orasida ko‘krak va qorin siqilganda kompression asfiksiyadan o‘lim sodir bo‘lishi mumkin. Kiyimning ekximotik konturi bu holatda faqat belgi sifatida aniqlanadi. Balandlik dekompressiyasi esa aviatravmaga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Bob 3. Transport travmasi-bet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Erda siljish natijasidagi yo‘lkasimon shilinmalar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Uchinchi fazada tana inersiya bo‘yicha erda siljiydi va parallel yo‘lkasimon shilinmalar hosil bo‘ladi. Harakatdagi avtomobildan tushib ketish balandlikdan yiqilishdan shu fazadagi jarohatlar bilan farqlanadi. Kalla, oyoq kafti va bo‘yin umurtqalari sinishi esa ikkala holatda ham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Bob 3. Transport travmasi-bet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G‘ildirakka qaragan, relslar oralig‘idagi, chiqish sohasida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G‘ildirak toji va rels boshchasining ichki qirrasi orasida qisilgan teri ishqalanadi va “T” shaklidagi shilinma (“chimchi” belgisi) hosil bo‘ladi. U tananing g‘ildirakka qaragan va relslar oralig‘i tomonidagi, g‘ildirak tanaga chiqayotgan sohasida joylashadi.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Bob 3. Transport travmasi-bet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Nog‘ora pardasi yorilishi va o‘rta quloq bo‘shlig‘iga qon quyilishi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Murdalarda chekka suyaklarini tekshirishda nog‘ora pardasining yorilishi va o‘rta hamda ichki quloq bo‘shliqlaridagi qon quyilishlar halokat sababi germetizatsiya buzilishi ekanini ko‘rsatadi. Gaz pufakchalari esa 19 km va undan baland parvozdagi balandlik dekompressiyasiga xos. Qarama-qarshi havo oqimi ta’sirida og‘iz burchaklari yoriladi. Qorin devori yorilishi esa xavfsizlik kamari ta’siridan.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Bob 3. Transport travmasi-bet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jarohatlar. O‘tkir va o‘tmas jismlarlardan yetkazilgan jarohatl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3. Transport travmasi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