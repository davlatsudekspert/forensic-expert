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savollari: 1) Oilaviy shifokor davrida bemor bilan munosabat bugungidan nimasi bilan farq qilgan? 2) Nega modelni «soddalashtirilgan tizim» deyishadi? Doskada chizish: mavzuning uch bo‘limini uchta ustun qilib yozing (modellar, klinik xavf, 1997 yilgi konventsiya). Tipik xato: talabalar modelni har bir bemorga aynan mos keladigan qoida deb o‘ylaydi, aslida u ko‘p uchraydigan jihatlarning umumlashmasi.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 savollari: 1) Qaysi vaziyatda bemorning shaxsiyati va holatiga qarab ikki modelni birga qo‘llash kerak? 2) «Nopaternalistik» va «avtonomiya modeli» nega bir narsa? Doskada chizish: jadvalni o‘zlari daftarga ko‘chirib, har ustunga bittadan klinik misol yozsin. Tipik xato (Diqqat): avtonomiya modelida shifokor bemorga g‘amxo‘rlik qilmaydi deb o‘ylash; aslida u g‘amxo‘rlik qiladi, lekin oxirida bemorning qaror huquqini tan 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savollari: 1) «Ota–bola» o‘xshatishi shifokor–bemor munosabatida qayerda to‘g‘ri, qayerda noto‘g‘ri? 2) Kuchli paternalizm bilan kuchsiz paternalizmning farqi nimada? Doskada chizish: «shifokor → qaror → bemor» bir tomonlama strelkasini chizing. Tipik xato: paternalizmni faqat salbiy hodisa deb baholash; kitobda ikkala modelning ham ijobiy va salbiy tomonlari borligi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Hushsiz bemorda qaror kim tomonidan va nima uchun qabul qilinadi? 2) Kuchsiz paternalizm qachon tugashi kerak? Doskada chizish: ikki ustunli jadval (kuchli | kuchsiz) va o‘rtasiga vaqt o‘qi: nokompetentlikdan kompetentlikka. Tipik xato: kuchsiz paternalizmni ‘yumshoq kuchli paternalizm’ deb tushunish; aslida u faqat vaqtincha nokompetent bemorga, kompetentlikni tiklash maqsadida qo‘llanadi. Diqqat: kuchli ≠ kuchsiz.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bola uchun rozilikni ota-ona beradi? 2) Rozilik beruvchi shaxs bemor manfaatini qanday himoya qiladi? Doskada chizish: ‘bemor → qonuniy vakil → shifokor’ zanjiri. Tipik xato: surrogat rozilikni bemorning o‘zi bergan rozilik bilan adashtirish; bunda rozilikni bemor emas, vakil beradi. Yosh chegarasi (14 yosh) faqat O‘zbekiston bo‘yicha kitobdan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vaziyatda avtonomiya modeli yetarli emas? 2) Modellarni uyg‘unlashtirish bemor manfaatiga qanday xizmat qiladi? Doskada chizish: paternalistik va avtonomiya modellarini ikki qutb qilib, ular orasiga strelka va ‘vaziyatga qarab’ deb yozing. Tipik xato: avtonomiyani ‘shifokor g‘amxo‘rlik qilmaydi’ deb tushunish; kitobga ko‘ra shifokor g‘amxo‘rlik qiladi, lekin bemor qarorini hurmat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Talabalar javobni daftarga yozadi, so‘ng juftlikda tekshiradi. Muhokama savollari: 1) Qaysi holatda shifokorning o‘rniga qaror qabul qilishi oqlanadi? 2) Kuchsiz paternalizm qachon tugashi kerak? Doskada chizish: ikki ustun — «kuchli» va «kuchsiz» paternalizm, har biriga bitta misol. Tipik xato: kuchsiz paternalizmni kuchli bilan aralashtirish va uni doimiy holat deb o‘ylash. Qo‘shimcha: kuchsiz paternalizm tushunchasini 1971-yilda Dj. Feynberg kiritgan.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 savollari: 1) Nima uchun shoshilinch tibbiyotda bemor fikrini so‘rash qiyin? 2) Rahbarlik–kooperatsiyada bemor kompetent bo‘lsa ham nega paternalizmga yaqin hisoblanadi? Doskada chizish: uchta model uchun «shifokor — bemor» strelkalari (bir tomonlama yoki ikki tomonlama). Tipik xato: rahbarlik–kooperatsiyani hamkorlik bilan aralashtirish; birinchisida bemor shifokor qarorini so‘zsiz bajaradi. Hamkorlik modelining qo‘llanishi manbada to‘liq o‘qilmaydi, shuning uchun ehtiyotkor ayting.</a:t>
            </a:r>
          </a:p>
          <a:p/>
          <a:p>
            <a:r>
              <a:t>Tekshirish kerak (manbada noaniq):</a:t>
            </a:r>
          </a:p>
          <a:p>
            <a:r>
              <a:t>- Hamkorlikda bemor shifokor tavsiyasini oladi va bajaradi; surunkali kasallikda qo‘llanishi mumkin (matn aniq o‘qilmaydi).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 savollari: 1) Injenerlik modelida bemorning shaxsiy xususiyatlari nega deyarli hisobga olinmaydi? 2) Kollegial modelda haqiqiy tenglik nega amalda kam uchraydi (kompetentlik darajasi teng emas)? Doskada chizish: to‘rt model uchun «paternalizm — nopaternalizm» o‘qi, modellarni shu o‘qqa joylashtirish. Tipik xato: kollegial va kontrakt modellarni bir xil deb o‘ylash; kontraktda aniq shartnoma va tomonlarning nazorati bor, kollegialda esa ishonch asosiy.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kollegial modelda haqiqiy tenglikka erishish qiyin? 2) Kontraktda shartnoma bekor qilinsa, bemor yoki shifokor uchun qanday oqibat bo‘lishi mumkin? Doskada chizish: ikki ustun (kollegial | kontrakt), har biriga ‘kim nazorat qiladi’ va ‘kompetentlik talabi’ni yozdiring. Tipik xato: kollegial modelni ‘shifokor va bemor har doim teng’ deb tushunish. Aslida tenglik kompetentlik tengligini talab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Qaysi modelda shifokor faqat ma’lumot beradi? 2) Kengashishda bemorning qadriyatlari qanday hisobga olinadi? Doskada chizish: to‘rt modelni ‘shifokor qarori ← → bemor qarori’ shkalasida joylashtiring. Tipik xato: talqin qilish va kengashishni mustaqil qutblar deb o‘ylash; ular oraliq variantlar.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Tezkor savol: ‘Hushsiz bemorga qaysi model mos?’ (sakral) va ‘Kompetent surunkali bemorga?’ (kollegial yoki kontrakt). Doskada chizish: ikki juft (sakral–kontrakt, ma’lumot berish–talqin qilish) farqini ‘kim qaror qiladi’ bo‘yicha belgilang. Tipik xato: ‘kontrakt’ so‘zini faqat pul munosabati deb tushunish, aslida bu o‘zaro shartlar va nazorat modeli.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hamshira bemor bilan shifokordan ko‘proq vaqt o‘tkazadi va bu modelga qanday ta’sir qiladi? 2) Qaysi modelda bemor eng ko‘p mustaqil? Doskada chizing: uchta model nomi va yonida hamshira vazifasini bir jumlada yozing. Tipik xato: texnik model bilan kontrakt klinik modelni aralashtirish. Texnikda hamshira faqat bajaradi, kontraktda esa bemor qaror chiqaradi. Texnik modelning qo‘llanish holati manbada aniq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Bir bemorni bir nechta shifokor ko‘rsa, nima yo‘qoladi? 2) Reklama va tibbiy savodxonlik ishonchga qanday ta’sir qiladi? Doskada chizing: 5 tugunli zanjirni va har bir tugun yoniga o‘z misolingizni yozing. Tipik xato: bozor munosabatlarini faqat salbiy deb olish. Manbada muammo manfaatlarning mos kelmasligi sifatida ko‘rsatilgan. Diqqat: shifokorga qat’iy emas, maqsadga muvofiq dinamik yondashuv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Talabalar juftlikda A va B holatini muhokama qiladi. Muhokama: 1) Bemor ixtiyorini bildira olmasa, qaror kimga topshiriladi? 2) Surunkali kasallikda bemorning kompetentligi nimani o‘zgartiradi? Doskada chizing: ikki ustunli jadval (holat va mos model). Tipik xato: kollegial modelni har doim mumkin deb o‘ylash. Manbada uning amalda kam uchrashi qayd etilgan.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klinik tadqiqotda tavakkal tushunchasi muhim? 2) Morbid va iatrogen xavfni bir bemor misolida ajrating. Doskada: ikki ustunli jadvalni (morbid / iatrogen) o‘zingiz chizing va 2 tadan belgi yozing. Tipik xato: talabalar iatrogen xavfni faqat shifokor xatosi deb o‘ylaydi, aslida u muolaja bilan bog‘liq xavfning umumiy nomi.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O‘zini-o‘zi davolash nega xavfni oshiradi? 2) Klinik sinov ishtirokchisi qaysi guruhga kiradi? Doskada: markazda “muolaja”, atrofida uchta guruhni strelkalar bilan chizing. Tipik xato: faqat bemorni xavf sub’ekti deb hisoblash, xodim va o‘xshash holatdagi shaxslarni unutish. Tezkor savol: xavf manbalaridan uchtasini ayting.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xavf nazorati aynan xodimning shaxsiy mas’uliyati bilan bog‘lanadi? 2) Qaror qabul qilishda boshqa mulohazalar bemor xavfsizligiga zid kelsa, nima ustun bo‘ladi? Doskada: ikki ustunli ro‘yxat — “Kim mas’ul?” va “Nima birinchi?” — tuzing. Tipik xato: ikki prinsipni bir-biridan farqlamaslik. Tezkor savol: ustuvorlik prinsipida bemorning qaysi jihati birinchi o‘rinda turadi?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tibbiy ko‘rsatma birinchi o‘rinda turadi? 2) Bemor xohishi va hayot sifati bir narsami? Doskada: 4 ta kvadratni tartib raqami bilan chizing va har biriga bittadan misol yozing. Tipik xato: kontekstual holatlarni (oila, iqtisodiy omillar, konfidensiallik) hayot sifati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Bemor rad etsa, shifokor nimani baholashi kerak? 2) Oila yordam bera olmasa, qaror o‘zgaradimi? Doskada: jadvalni talabalar bilan birga to‘ldiring. Tipik xato: bemor rad etdi, demak qaror tayyor deb o‘ylash; to‘rtala kvadrat ketma-ket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Savollarni og‘zaki so‘rang, javobni talabalar aytsin, so‘ng slaydni oching. Muhokama: morbid va iatrogen xavfga bittadan o‘z misolingizni keltiring. Doskada: morbid xavf va iatrogen xavf uchun ikki ustun chizing. Tipik xato: iatrogen xavfni faqat shifokor xatosi deb tushunish; bu muolaja o‘tkazilishi bilan bog‘liq xavf.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Shared decision’da shifokor va bemorning roli “ma‘lumot berish” modelidan nimasi bilan farq qiladi? 2) Qaysi vaziyatda bu model qiyin amalga oshadi? Doskada: ikki ustun chizing – “ma‘lumot berish: qaror bemorda” va “shared decision: qaror birga”. Tipik xato: talabalar shared decision’ni patronalizm yoki oddiy ma‘lumot berish bilan aralashtiradi. Eslatma: 75-betda “muhokama modeli” deyiladi, 54-betda esa Emanuellarning “talqin qilish” va “kengashish” modellari berilgan; atamalar farqini izohlang.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salbiy effekt ijobiy natijaga erishish vositasi bo‘lmasligi kerak? 2) Niyatni qanday baholaymiz? Doskada: muolajadan ikki o‘q chizing – “maqsad” va “qo‘shimcha salbiy effekt”, so‘ng 4 shartni yozing. Tipik xato: salbiy oqibatni maqsadning bir qismi deb hisoblash yoki proporsionallikni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Vrach hayotni saqlash uchun xavfli muolaja qilsa, qaysi shartlar tekshiriladi? 2) Nega ko‘p odamlar hayotiga tahdid asosli xavfni inkor qiladi? Doskada: 4 shartli zanjirni chizing va oxirida “asossiz” istisnoni alohida yozing. Tipik xato: faqat natijaga qarab baholash – asoslilik shartlari va zararni oldini olish choralari ham muhim. Eslatma: bu qoida vrach faoliyatida asosan noilojlik holatida, boshqa yo‘l bo‘lmaganda qo‘llanadi.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Bemorning haddan tashqari kutishi rozilik jarayonida qanday kamaytiriladi? 2) Mablag‘ tejash nega bemor xavfsizligiga tahdid bo‘lishi mumkin? Doskada: besh darajani zanjir shaklida chizdiring va har biriga bittadan misol yozdiring. Tipik xato: tizimli xatoni alohida xodimning shaxsiy xatosi bilan aralashtirish (tizimli xato ≠ xodimning xatosi; u yordam ko‘rsatishni tashkil etishdagi muammodan kelib chiqadi). Bonus: bemorning jinsi, yoshi, hamroh kasalliklari ham xavfga ta’sir etishini eslatib o‘ting (78-bet).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Jazodan qo‘rqish muhiti xatolarni yashirishga olib kelmaydimi? 2) Axborotli rozilik shifokor mas’uliyatiga qanday ta’sir qiladi? Doskada: ‘xavfsizlik madaniyati’ so‘zi atrofida omillar (ishonch, haqqoniylik, kasbiy saviya) klasterini chizdiring. Tipik xato: xavfsizlik madaniyatini faqat qonun talablariga rioya qilish deb tushunish; kitobda ishonch va haqqoniylik muhiti ham ta’kidlanadi.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Bitta ‘nega?’ bilan to‘xtash nima uchun yetarli emas? 2) Ildiz sabab bilan bevosita sababni qanday farqlaysiz? Doskada: o‘zingiz tanlagan sodda nohush holat bo‘yicha ‘nega?’ zanjirini guruhlarda chizdiring. Tipik xato: birinchi topilgan sababni (masalan, xodimning bexabarligi) ildiz sabab deb hisoblash; kitobda chuqur, tizimli sabablarni topish talab etiladi. Diagramma sxematik: kitobda qadamlar soni emas, ‘nega?’ savolini bir necha marta berish ta’kidlanadi.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6-8 daqiqa. Muhokama: 1) Bu holatda xavf qaysi shartlarga ko‘ra asosli bo‘ladi? 2) “Nega” savoliga 3-4 marta javob berib, tizimli sababni toping. Doskada chizish: ‘xavfli muolaja → asorat → sabablar zanjiri’ sxemasi. Tipik xato: talabalar asoratning o‘zini avtomatik ravishda aybdorlik deb hisoblaydi. Vaziyat o‘quv misolidir, kitobdagi real holat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Lind davrida sitrusning sababi (vitamin C) noma’lum bo‘lsa ham xulosa to‘g‘ri chiqdi? 2) O‘zida tajriba qilish axloqan qanchalik maqbul? Doskada chizish: yilma-yil vaqt chizig‘i (1754, 1796, 1929). Tipik xato: Jennerni vaksina ‘kashfiyotchisi’ emas, asoschisi deb atash; Linddagi yil va dengizchilar guruhlarini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Ixtiyoriy rozilik nega birinchi talab bo‘ldi? 2) Etika qo‘mitasi tadqiqotchini qanday cheklaydi? Doskada chizish: ‘loyiha → qo‘mita ma’qullashi → tadqiqot → qo‘mita nazorati’ zanjiri. Tipik xato: etika qo‘mitasi talabini Nyurnbergga, ixtiyoriy rozilikni esa faqat Xelsinkiga nisbat berish. Diqqat: Nyurnberg ≠ Xelsinki.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Ishtirokchilarga davo berilmagani nima uchun axloqqa zid? 2) Bicher maqolasi jamoatchilik fikriga qanday ta’sir qildi? Doskada: 1966 (Bicher) va 1932–1972 (Tuskigi) uchun ikki qatorli vaqt chizig‘i chizdiring. Tipik xato: Bicher maqolasini (1966, 22 tadqiqot) Tuskigi tadqiqotlari (1932–1972, zahm)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Tuskigi tadqiqotida qaysi prinsip buzilgan? 2) Cheklangan avtonomiyali shaxs misolini keltiring. Doskada: uch prinsipni uchta ustun qilib chizing va har biriga bittadan misol yozing. Tipik xato: ezgulikni faqat “foyda keltirish” deb tushunish; u zarar bermaslik yoki zararni kamaytirishni ham o‘z ichiga 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Savollarni og‘zaki so‘rang, talabalar juftlikda javob bersin. Muhokama: Nyurnberg kodeksi, Xelsinki deklaratsiyasi va Belmont hisoboti o‘rtasida qanday izchillik bor? Doskada: uch hujjatni yil tartibida (1947, 1964, 1978) yozdiring. Tipik xato: hujjatlar yillarini va qabul qilgan tashkilotlarni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Ma’lumotli rozilik nega faqat bir martalik emas? 2) Rozilik bera olmaydigan shaxsni nima uchun alohida himoya qilish kerak? Doskada: 16 va 17-moddalarni ikki ustunli jadval qilib chizdiring. Tipik xato: talabalar rozilik bir marta berilsa tugaydi deb o‘ylaydi; aslida uni istalgan vaqtda qaytarish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Ishtirokchi rozilikni qaytarsa, tadqiqotchi qanday harakat qiladi? 2) Rozilik bera olmaydigan shaxsni himoya qilishda yana qanday kafolatlar kerak? Doskada: voqea bosqichlarini (rozilik – ishtirok – qaytarish) chizdiring. Tipik xato: rozilik qog‘ozga yozilgach tadqiqotchi mas’uliyatdan ozod bo‘ladi deb o‘ylash. 17-modda tafsiloti kitobda yo‘q, buni alohida ayting.</a:t>
            </a:r>
          </a:p>
          <a:p/>
          <a:p>
            <a:r>
              <a:t>Tekshirish kerak (manbada noaniq):</a:t>
            </a:r>
          </a:p>
          <a:p>
            <a:r>
              <a:t>- Ishtirokchi rozilik berishga qodir bo‘lmasa, 17-modda alohida himoya talablarini belgilaydi; matnda tafsiloti to‘liq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Qaysi vaziyatda qaysi model mosroq? 2) Klinik xavf qachon asosli deb topiladi? Doskada: uch blok (modellar, klinik xavf, tadqiqot himoyasi) bo‘yicha kalit so‘zlarni yozdiring. Tipik xato: bitta modelni har doim to‘g‘ri deb hisoblash; kitobda ikkala modelning ham ijobiy va salbiy tomonlari borligi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Inson huquqlari va biotibbiyot to‘g‘risidagi Yevropa konventsiyasi (1997); shifokor–bemor va hamshira–bemor munosabat modellari; klinik xavf va tibbiy yordam xavfsizligi (A3)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reja va model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 uch bo‘limdan iborat: shifokor–bemor va hamshira–bemor munosabat modellari, klinik xavf va xavfsizlik, Yevropa konventsiyasi (1997).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Model – soddalashtirilgan nazariy tizim. U shunday munosabatlarga xos, ko‘p kuzatiladigan jihatlarni jamlaydi.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Munosabat modeli shifokorlik an’analari, kasbning axloqiy mezonlari va bemor holatining o‘ziga xosligi bilan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bemorga alohida yondashuv taxminan ikki asr oldin tibbiy muassasalar paydo bo‘lishi bilan chiqdi. Ilgari bemorlar uyda davolangan.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51-56; 72-80; 147-148, 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 asosiy model: paternalistik va nopaternalistik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Paternalistik model an’anaviy bo‘lib, uzoq tarixga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Nopaternalistik, ya’ni avtonomiya modeli o‘tgan asrning ikkinchi yarmida shakllana boshlagan.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modelning ham ijobiy va salbiy jihatlari bor, amalda ular birga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7009"/>
                <a:gridCol w="1907138"/>
                <a:gridCol w="199382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Paternalistik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Avtonomiya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Shifokor roli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Hal qiluvchi shaxs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Teng huquqli hamkor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roli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Passiv, qaror qilmaydi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Mustaqil qaror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Tarixi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An’anaviy, uzoq tarix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O‘tgan asr 2-yarmidan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Gippokrat asarlari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avtonomiya huquqi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model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51,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Paternalistik model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Lotincha pater – ota. Munosabatda shifokor asosiy, hamma narsani hal qiluvchi shaxs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Bemorga mustaqil bo‘lmagan, o‘z davolanishi haqida to‘liq qaror qabul qila olmaydigan, passiv shaxs sifatida qaraladi.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Ota bolani himoya qilgani kabi, shifokor bemor manfaatini o‘ylaydi va uning o‘rniga qaror qabul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modelga Gippokrat asarlarida asos solingan. Kuchli paternalizmda bemor qaror qabul qilishda umuman qatnashmaydi.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Kuchli va kuchsiz paternalizm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paternalizmda shifokor mutlaq ustuvor, bemor qarorda umuman qatnashmaydi.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Kuchsiz paternalizm tushunchasini 1971-yilda J. Feynberg kiritgan.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vaqtincha qaror qila olmaydigan bemorga qo‘llanadi: hushsizlik, davolanadigan ruhiy buzilish.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573530"/>
                <a:gridCol w="237713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Kuchli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Kuchsiz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Shifokor o‘rni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Mutlaq ustuvor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Vaqtincha bemor o‘rniga qaror qiladi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ishtiroki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Umuman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Vaqtincha nokompetent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Shifokor ustuvorligi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Tezroq kompetentlikni qaytarish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Kuchli va kuchsiz paternalizm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51, 51-52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Surrogat rozilik: bolalar va layoqatsiz bemorlar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Amaldagi tartibga ko‘ra O‘zbekistonda 14 yoshgacha bolalar va muomalaga layoqatsiz bemorlar uchun rozilik ota-ona yoki qonuniy vakildan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Kitobda bu rozilik ‘ma’lumot olgan holda rozilik’ deb ataladi; nazorat savolida ‘surrogat rozilik’ atamasi ham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Shosh va Hollender fikricha, faollik–passivlik modeli shoshilinch tibbiyot va pediatriyada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kuchsiz paternalizmda shifokor vaqtincha nokompetent bemor o‘rniga qaror qiladi, bolalarda esa rozilikni ota-ona yoki vakil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52, 52, 56, 51-52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Nopaternalistik (avtonomiya)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Nopaternalistik, ya’ni avtonomiya modeli o‘tgan asrning ikkinchi yarmida shakllana boshlagan; paternalistik model esa an’anaviy va uzoq tarixga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modelda shifokor va bemor munosabatda teng huquqli hamkor hisoblanadi. Bemor o‘z sog‘lig‘i va davolanishi haqida mustaqil qaror qila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 bemorga g‘amxo‘rlik qilsa-da, oxir-oqibat shaxsni hurmat qilishi va mustaqil qaror qilish huquqini tan olishi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Ikkala modelning ham ijobiy va salbiy tomonlari bor, shuning uchun bemor holatiga qarab ularning uyg‘unlashuvi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51,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kuchli paternalizm nima? Javob: shifokor mutlaq ustun turadi, bemor qaror qabul qilishda umuman qatnashmaydi.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kuchsiz paternalizm qachon qo‘llanadi? Javob: bemor vaqtincha qaror qila olmasa (hushsiz holat, davolanadigan ruhiy buzilish). Maqsad — uni tezroq kompetent holatga qaytarish.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14 yoshgacha bola yoki muomalaga layoqatsiz bemor uchun kim rozilik beradi? Javob: ota-onasi yoki qonuniy vakili (surrogat rozilik).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kuchli ≠ kuchsiz paternalizm. Kuchsizida shifokor ustunligi vaqtinchalik va maqsad bemorni tezroq kompetent holatga qaytarishdir.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51, 51-52, 52,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Shash va Hollender: uch model (1956)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1956-yilda T. Shash va M. Hollender shifokor–bemor munosabatining uch modelini taklif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ikki model paternalizmga yaqin: shifokor qarori ustun, bemor avtonomiyasi kam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Hamkorlikda bemor shifokor tavsiyasini oladi va bajaradi; surunkali kasallikda qo‘llanishi mumkin (matn aniq o‘qilmaydi).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2740"/>
                <a:gridCol w="919619"/>
                <a:gridCol w="149561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Qo‘llanishi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Aktivlik–passivlik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Shifokor hal qiladi; bemor fikri hisobsiz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Shoshilinch tibbiyot, pediatriya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Rahbarlik–kooperatsiya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Kompetent bemor so‘zsiz bajaradi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Infeksion kasalliklar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Hamkorlik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nisbatan mustaqil, shifokor hamkor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Surunkali kasalliklar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model solishtiruvi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52, 53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Vitch: to‘rt model (1970-yillar)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1970-yillarda R. Vitch to‘rt modelni ajratgan: sakral, injenerlik, kollegial va kontrakt.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Sakral model paternalizmga, kollegial model nopaternalizmga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Vitchning fikricha, shaxs avtonomiyasini ta’minlashga kontrakt modeli ko‘proq mos keladi.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991871"/>
                <a:gridCol w="184068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Qo‘llanishi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Sakral (pastor)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qarorda qatnashmaydi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Hushsiz bemor; palliativ yordam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Injenerlik (texnik)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— mexanizm, shifokor — ekspert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Yuqori texnologiya; o‘tkir davr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Kollegial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Teng huquqli, o‘zaro ishonchli hamkorlar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Kompetent bemor; surunkali kasallik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Kontrakt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Shartnoma bo‘yicha; buzilsa bekor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Tomonlar kompetent bo‘lishi shart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Vitch modellari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53, 54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Kollegial va kontrakt: avtonomiya nuqtai nazaridan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Kollegial modelda shifokor va bemor teng huquqli, o‘zaro ishonchli hamkor. Model nopaternalistik yondashuvga tayanadi.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ma’lum darajada kompetent bemorlarda qo‘llanadi, asosan surunkali kasalliklarni davolash jarayonida.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Haqiqiy tenglik tomonlarning imkoniyati va kompetentligi teng bo‘lishini talab qiladi. Shifokor va bemor buni qiyin ta’minlaydi, amalda kam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Kontrakt modelda tomonlar tuzilgan shartnomaga muvofiq ishlaydi; shart buzilsa, shartnoma bekor qilinishi mumkin. Vitch fikricha, avtonomiya uchun eng mos model shu.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53, 54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Emanuel va Emanuel: to‘rt model (1992)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1992-yilda E. va L. Emanuel shifokor faoliyatiga oid to‘rt modelni ajratgan.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Ma’lumot berishda avtonomiya saqlanadi, bemordan ma’lum darajada kompetentlik talab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Talqin qilish va kengashish modellari paternalistik hamda ma’lumot berish oralig‘idagi variantlardir.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27350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Shifokor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Paternalistik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Manfaatni ko‘zlab, o‘zi qaror qiladi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Ma’lumot berish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Ma’lumot beradi; qaror bemorda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Talqin 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Maqsad, xavf va oqibatni izohlaydi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Kengashish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Ustoz-do‘st kabi, qadriyatga mos tanlov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Shifokorning roli modellarda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modellarni adashtirmang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Sakral ≠ kontrakt. Sakral model paternalizmga asoslangan, bemor qarorda ishtirok etmaydi; kontraktda ikkala tomon jarayonni nazorat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Ma’lumot berish ≠ talqin qilish. Birinchisida shifokor faqat ma’lumot beradi; ikkinchisida maslahatchi sifatida maqsad, xavf va oqibatni ham izohlaydi.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Kollegial model tenglik talabi tufayli amalda kam uchraydi. Sakral model hushsiz bemorda va palliativ yordamda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Kontraktda shartnoma tuzgan tomonlar kompetent bo‘lishi shart; kompetentlik yo‘q bo‘lsa, bu model mos kelmaydi.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53-54, 54, 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Hamshira–bemor munosabat modellari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Hamshira shifokorga qaraganda bemor bilan ko‘proq bo‘ladi va ko‘p muolajani o‘zi bajaradi.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Hamshira–bemor munosabatlari birinchi marta 1980 yilda o‘rganilgan va uch model ajratilgan.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Ona o‘rnini bosuvchi model cheklangan imkoniyatli, og‘ir ahvoldagi bemorlarga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095245"/>
                <a:gridCol w="197352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Hamshira 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Bemor holati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Ona o‘rnini bosuvchi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Manfaatini himoya qiladi, to‘liq javobgar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Imkoniyati cheklangan, og‘ir ahvolda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Texnik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belgilangan muolajani bajaradi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aniq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Kontrakt klinik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qarorini huquqini hurmat qilib bajaradi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Maqsad va qarorni o‘zi belgilaydi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Hamshira modellari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54, 55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Zamonaviy muammolar: ixtisoslik, bozor, ishonch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bir necha shifokor bilan muloqot qiladi; munosabat yaxlit shaxsga emas, rasmiy tus 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Bozorda shifokor xizmat yaratuvchi, bemor iste’molchi; ularning manfaatlari mos kelmasligi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Ishonch pasayib, o‘zini-o‘zi davolash ko‘paydi; shifokordan sabr va dinamik yondashuv talab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Ko‘p ixtisoslik, ko‘p shifokor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Munosabat rasmiylashadi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Yordam xizmatga aylanadi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Shifokorga ishonch pasayadi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O‘zini-o‘zi davolash ko‘payadi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Muammolar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55, 55-56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model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A: bemor hushsiz, irodasini bildira olmaydi. Mos model sakral (pastor): qarorni shifokor bemor manfaati uchun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B: surunkali kasal, ma’lum darajada kompetent bemor. Mos model kollegial: tenghuquqli, o‘zaro ishonchli hamkorlik.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haqiqiy tenglik kompetentlikda ham tenglikni talab qiladi; shifokor va bemorda bu qiyin, amalda kam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hushsiz bemorda nega bemorsiz qaror qabul qilinadi, surunkali bemorda esa nega hamkorlik zarur?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53, 52-53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xavf tushunchasi: morbid va iatrogen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Xavf (tavakkal) — noxush oqibat ehtimoli bor noaniqlik; “xavf” va “tahdid” unga ma’nodosh so‘zlar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Morbid xavf — muolajadan oldingi sog‘liq holatidan; iatrogen xavf — muolajaning o‘zidan kelib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morbid ≠ iatrogen. Birinchisi kasallik holatiga, ikkinchisi davolash amaliga bog‘liq.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800"/>
                <a:gridCol w="2052050"/>
                <a:gridCol w="1973125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Morbid xavf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Iatrogen xavf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Nimaga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Bemorning sog‘lig‘i holati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Muolajani o‘tkazish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Vaqt bo‘yicha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Muolajaga qadar mavjud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Muolajani o‘tkazish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xavf manbai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 manbalari va ta’sirlangan shaxslar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Xavf yangi usullar sinovida, xavfli muolaja qarorida va xodimlar nuqsonlarida paydo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shifokorga murojaat qilmay o‘zini-o‘zi davolasa, noxush hodisa ehtimoli ancha yuqori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Xavfni uch guruh shaxs nuqtai nazaridan ko‘rib chiqish lozim.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Kimlar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Muolaja ob’ekti — bemorlar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2-guruh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Muolajani bajaruvchi tibbiy xodimlar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3-guruh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O‘xshash holatdagi shaxslar (klinik sinov)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Xavfdan ta’sirlanuvchi 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72, 72-73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Mas’uliyat konsentratsiyasi va ustuvorlik prinsipi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tavakkal doim shaxsiy xarakterga ega: harakatni tibbiy xodim boshqa shaxsga, ya’ni bemorga nisbatan bajaradi.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Mas’uliyat konsentratsiyasi prinsipi: muolajadagi xavf darajasini nazorat qilish va kamaytirish bo‘yicha xodimning shaxsiy mas’uliyati kuchaytiriladi va jamlanadi.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Ustuvorlik prinsipi: xavfga oid masalalar boshqa klinik mulohazalardan ustun; qaror avvalo bemor xavfsizligi va manfaatini ko‘zlab qabul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konsentratsiya — kim mas’ul ekanini, ustuvorlik — qaysi masala birinchi turishini bildiradi. Boshqa mulohazalar ikkilamchi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Klinik qarorning to‘rt kvadrat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Jonsen va boshqalar (1982) usuli individual klinik qarorda to‘rt masalani ko‘rib chiqishni nazarda tutadi.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ko‘rsatma: tashxis, muqobil davo variantlari, prognoz va asorat xavfi to‘planib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kvadratlar aynan shu ketma-ketlikda, birinchisidan to‘rtinchisigacha ko‘riladi.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Tibbiy ko‘rsatmalar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Bemorning xohishi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Hayot sifati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Kontekstual holatlar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To‘rt kvadrat ketma-ketligi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To‘rt kvadrat: o‘tkir pnevmoniya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Ushakov (2016) misolida bemor kasalxonaga yotishni rad etib, uyda davolanishni xohlaydi.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 oila uyda qancha yordam va qanday sharoit yarata olishiga qarab qabul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bu yerda ko‘rsatma va xohish mos kelmaydi; 3- va 4-kvadratlar qarorga yordam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Kvadrat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 ko‘rsatma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O‘tkir pnevmoniya, statsionarda davolash kerak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Bemor xohishi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Uyda davolanmoqchi, xavfdan ogohlantirilgan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Hayot sifati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Stress kasallikka zarar berishi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Kontekst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Oila uyda qancha yordam bera oladi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Misol kvadratlar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morbid va iatrogen xavf qanday farqlanadi? Javob: biri muolajadan oldingi sog‘liq holatiga, ikkinchisi muolajani o‘tkazishga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to‘rt kvadratda qaysi masala birinchi, qaysi oxirgi? Javob: tibbiy ko‘rsatma birinchi, kontekstual holatlar oxirgi.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mas‘uliyat konsentratsiyasi nimani anglatadi? Javob: xavfni nazorat qilish va kamaytirishda xodimning shaxsiy mas‘uliyatini kuchaytirish va jamlash.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72, 74, 73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Birgalikda qaror qabul qilish modeli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 huquqlari talablariga ko‘proq mos va bemorning individual ehtiyojiga mutanosib modellardan biri – “shared decision”.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modelda shifokor bemorga faqat ma‘lumot yetkazish bilan cheklanib qolmaydi.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Muolaja haqidagi qarorni shifokor va bemor o‘zaro hamkorlikda, birgalikda qabul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“ma‘lumot berish” modelida shifokor faqat ma‘lumot beradi, qarorni bemor o‘zi qabul qiladi. Mohiyati shared decision’dan farq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75, 54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Qo‘sh effekt prinsipi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muolaja bir vaqtda ham maqsadli foyda, ham qo‘shimcha salbiy effektga olib kelishi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Salbiy natija maqsad emas; u ikkilamchi nohush oqibat sifatida yuzaga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Oldindan ko‘rilgan salbiy oqibatning oldini olish bo‘yicha barcha choralar ko‘rilishi shart.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1. Harakat mohiyati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O‘zi noto‘g‘ri bo‘lmasligi, axloqan maqbul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2. Niyat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Salbiy oqibat ko‘rilsa ham, ezgu niyat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3. Vosita ≠ oqibat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Salbiy effekt ijobiy natijaga vosita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4. Proporsionallik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Ijobiy effekt salbiydan ancha salmoqli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Qo‘sh effektning 4 sharti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75,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Asosli xavf: Jinoyat kodeksi 41-moddasi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foydali maqsad uchun kasbiy asosli xavf qilib zarar yetkazish jinoyat deb topilmaydi.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Asosli xavfda maqsadga erishilmasa yoki zarar foydadan ko‘p bo‘lsa ham, javobgarlik yuzaga kelmaydi.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odamlar halokati, ekologik halokat yoki og‘ir oqibat xavfi bilinsa, xavf asosli hisoblanmaydi.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Ijtimoiy foydali maqsad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Ilmiy-texnik bilimga muvofiq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Boshqacha erishib bo‘lmaydi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Oldini olish choralari ko‘rilgan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Xavf asosli deb topiladi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Xavf qachon asosli bo‘ladi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76,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Britaniya tibbiyot assotsiatsiyasi: xavfning besh darajasi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Britaniya tibbiyot assotsiatsiyasi klinik xavfni besh yo‘nalishda ko‘rib chiqishni tavsiya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Bemorlar ko‘p narsa kutadi, shifokor esa har doim mo‘jizakor bo‘lolmaydi; xavfni tushuntirish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Diagnostik xato davolash nuqsoniga, so‘ng asoratga olib boradigan xatolar zanjirini yaratishi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Bemorning xavfni qabul qilishi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Shifokor kompetensiyasi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Tizimli xato-kamchiliklar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Mablag‘ tejash xavfi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Bartaraf etib bo‘lmaydigan xavf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Xavfning besh darajasi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madaniyati va tashkiliy bioetika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Tashkiliy bioetika tibbiy yordam ko‘rsatishdagi tizimli shart-sharoitlarni va ularning yordam sifatiga ta’sirini o‘rganadi.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Xato va jazolanish ehtimoli xodimlar faoliyatiga qo‘rquv aralashtirmasligi kerak; rasmiyatchilik natija bermaydi, chora-tadbirlarni rahbariyat va jamoa birga olib boradi.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Rivojlangan mamlakatlarda xavfsizlik madaniyatini shakllantirish uchun bemor xavfsizligi dasturlari joriy etilmoqda; xavfsizlikni oshirish uzluksiz jarayon.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Axborotli rozilik bemorga xavf va muqobil usullarni bildirib, qarorning asosliligini oshiradi va shifokorni ham mas’uliyatliroq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77, 79, 79-80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Ildiz sabablar tahlili va ‘beshta nega’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Xatoni takrorlamaslik — yaxshilashning eng oddiy va kam xarajatli usuli.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Tahlilda nohush holatning ildiz sabablari va unga bilvosita ta’sir etgan omillar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‘Beshta nega’ texnikasida har holat bo‘yicha ‘nega?’ savoliga bir necha marta javob izlanadi.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Nohush hodisa aniqlanadi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Birinchi ‘nega?’ savoli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Navbatdagi ‘nega?’ savollari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Chuqur tizimli sabab topiladi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Takrorlamaslik choralari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Beshta nega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xavf va asosli qaror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O‘quv vaziyati: bemor hayotini saqlab qolishning boshqa yo‘li yo‘q edi. Shifokor xavfli muolajani tanladi va asorat yuz berdi.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kodeksining 41-moddasi: xavf ilmiy bilimlarga mos, maqsadga xavfsiz erishib bo‘lmagan va zararning oldini olish choralari ko‘rilgan bo‘lsa, asosli.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odam halok bo‘lishi yoki ekologik falokat xavfini bila turib qilingan tavakkalchilik asosli deb topilmaydi.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xato bitta shifokorniki yoki tizimniki? Britaniya tibbiyot assotsiatsiyasi tizimli xatolarni ajratadi; sabab “beshta nega” bilan qidiriladi.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77, 76, 78-79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Biotibbiy tadqiqotlar tarixi: kashfiyotlar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Yorg 17 xil dorini, Forsman esa yurak kateterini o‘zida sinab ko‘rgan fidoyi tadqiqotchilardir.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Bekon: tibbiyot ilmiy asoslanishi kerak, ammo odamda tajriba o‘tkazish axloqan qiyin.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Bernar: ilm taraqqiyoti uchun odamlarni xavf ostiga qo‘yish axloqqa zid.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185796"/>
                <a:gridCol w="152864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Shaxs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Tajriba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Pare (1510-1590)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Qaynoq smolasiz, toza bog‘lam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 yaxshiroq bitgan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Lind, 1754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Dengizchilarga turlicha ovqat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Sitrus holatni yaxshilagan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Jenner, 1796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O‘g‘il bolaga sigir chechagi moddasi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 rivojlanmagan; vaksina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Forsman, 1929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O‘zida yurak kateterizatsiyasi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Usul xavfsizligi isbotlangan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Kashfiyotlar xronologiyasi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144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Nyurnberg kodeksi va Xelsinki deklaratsiyasi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Nyurnberg kodeksi (1947) nasist shifokorlari sudi yakuni bo‘yicha qabul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Xelsinki deklaratsiyasi (Jahon tibbiyot assotsiatsiyasi, 1964) Nyurnberg talablarini yangiladi.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Ishtirokchi rozi bo‘lsa ham, shifokorning uni himoya qilish mas‘uliyati bekor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017163"/>
                <a:gridCol w="234295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Talab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Nyurnberg kodeksi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1947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Ixtiyoriy rozilik – birinchi talab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Nyurnberg kodeksi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1947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Zarar va azobdan ishonchli himoya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Xelsinki deklaratsiyasi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1964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Loyiha etika qo‘mitasida ma’qullanadi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Xelsinki deklaratsiyasi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1964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Tadqiqot qo‘mita nazoratida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hujjat talablari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144, 145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Bicher maqolasi va Tuskigi tadqiqotlari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1966-yilda amerikalik olim Genri Bicherning “Etika va klinik tekshiruvlar” maqolasi chop etildi. Unda ishtirokchilar ogohlantirilmagan, hayoti va sog‘lig‘iga xavfli 22 tadqiqot keltirilgan.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Bicher xulosasi: tibbiyot tadqiqotchilari ba’zan axloqqa zid tajribalar o‘tkazadi. Maqola katta shov-shuv keltirib chiqardi.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Tuskigi tadqiqotlari (1932–1972): AQSh Milliy sog‘liqni saqlash xizmati zahm kasalligining tabiiy kechishini o‘rgandi. Ishtirokchilar — 400 ga yaqin savodsiz afroamerikalik erkak.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Tadqiqotchilar asoratlar va o‘limlarni faqat qayd etdi, davo qo‘llamadi. Kongress tadqiqotni to‘xtatdi, taqiqlovchi qonun qabul qildi; 1997-yilda Prezident B. Klinton uzr so‘radi.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145, 146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Belmont prinsiplari (1978)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1978-yilda Milliy komissiya Belmont hisobotini e’lon qildi. Undagi prinsiplar keyin Belmont prinsiplari deb ataldi.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Hisobot tadqiqot etikasiga va bioetikaning mustaqil fan bo‘lib shakllanishiga katta ta’sir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Prinsiplar ixtiyoriy rozilikni, xavf va foydani baholashni, ishtirokchilarni adolatli tanlashni nazarda tutadi.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450"/>
                <a:gridCol w="346752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Prinsip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Shaxsni hurmat 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Avtonomiya; cheklanganlarni himoya 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Ezgulik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Zarar bermaslik, foydani ko‘paytirish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Adolatlilik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Foyda va kompensatsiya adolatli bo‘linadi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Belmont prinsiplari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147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Nyurnberg kodeksidagi birinchi talab nima? Javob: insonning ixtiyoriy roziligi.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Xelsinki deklaratsiyasi (1964) bo‘yicha tadqiqot loyihasini kim ko‘rib chiqadi? Javob: etika qo‘mitasi; u tadqiqotni ham nazorat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Belmont prinsiplarini sanang. Javob: shaxsni hurmat qilish, ezgulik, adolatlilik.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ishtirokchi rozi bo‘lsa, shifokor mas’uliyatdan ozod bo‘ladimi? Yo‘q. Xelsinki deklaratsiyasiga ko‘ra, mas’uliyat rozilik bilan olinmaydi.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144, 145, 147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Oviedo konventsiyasi (1997): 16 va 17-moddalar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Konventsiyani Yevropa Kengashi 1997 yilda qabul qilgan; u biotibbiyotda inson huquqi va qadr-qimmatini himoya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16-modda tadqiqotda qatnashuvchilarni himoya qiladi: ularning ma’lumotli roziligi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bergan shaxs uni istalgan vaqtda qaytarib olishi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Tadqiqot ishtirokchilari himoyasi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Ma’lumotli rozilik zarur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Rozilikni istalgan vaqt qaytarish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17-modda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Rozilik bera olmaydiganlar himoyasi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Oviedo: 16 va 17-moddalar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147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tadqiqotda rozilik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ishtirokchi ma’lumotli rozilik berdi, keyin tadqiqot o‘rtasida fikridan qaytdi. Tadqiqotchi nima qilishi kerak?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Konventsiyaning 16-moddasiga ko‘ra, ishtirokchi rozilikni istalgan vaqtda qaytarib olishi mumkin; bu huquq hurmat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Ishtirokchi rozilik berishga qodir bo‘lmasa, 17-modda alohida himoya talablarini belgilaydi; matnda tafsiloti to‘liq berilmagan.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Helsinki deklaratsiyasiga ko‘ra, ishtirokchi rozi bo‘lsa ham, tadqiqotchining mas’uliyati yo‘qolmaydi.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147, 147-148, 145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Shifokor–bemor modeli vaziyatga qarab tanlanadi: bemor shaxsi va sog‘lig‘i holati hisobga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Klinik xavf asosli bo‘lishi uchun maqsadga xavfsiz yo‘l bilan erishib bo‘lmasligi va zararning oldini olish choralari ko‘rilishi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Tadqiqotda Oviedo konventsiyasi rozilik va himoyani, Belmont tamoyillari hurmat, ezgulik va adolatlilikni talab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Xavfsizlik madaniyati xatoni takrorlamaslik va uning ildiz sabablarini tahlil qilishga tayanadi.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52, 56, 76-77, 147-148, 79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klinik qarorning «to‘rt kvadrat» usuli 4 savoldan iborat va aynan shu tartibda ko‘riladi: 1) tibbiy ko‘rsatmalar, 2) bemorning istagi, 3) hayot sifati, 4) kontekstual holatlar. Qisqartma: «T-B-H-K». Kontekstga oila, iqtisodiy omillar va konfidensiallik kiradi.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o‘tkir pnevmoniyali bemor statsionarda davolanishi kerak, ammo u uyda davolanmoqchi va oqibatlari haqida ogohlantirilgan. Gospitalizatsiya kuchli stress berishi va kasallik kechishiga salbiy ta’sir qilishi mumkin. Shuning uchun oila uyda qanday yordam bera olishi ham baholanadi.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qo‘sh effekt printsipining 4 sharti: harakatning mohiyati (axloqan nojo‘ya bo‘lmasligi), subyektning niyati (ezgu niyat), vosita va oqibatni farqlash (salbiy effekt vosita emas), mutanosiblik (ijobiy natija salbiydan salmoqli). Qisqartma: «M-N-V-M».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usul: xatoni takrorlamaslik tibbiy yordamni yaxshilashning eng oddiy va kam xarajatli yo‘lidir. Buning uchun «ozak sabablar tahlili» ishlatiladi. Chuqur tizimli sabablarni topish uchun «beshta nega» texnikasi tavsiya etiladi: har holatda bir necha marta «nega?» deb so‘raladi.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Yevropa Kengashining 1997-yilgi konventsiyasi (Oviedo) tadqiqot ishtirokchisidan ma’lumotli rozilik talab qiladi (16-modda). Rozilik bergan shaxs uni istalgan vaqtda qaytarib olishi mumkin. Rozilik berishga qodir bo‘lmaganlarning himoyasi alohida 17-moddada berilgan.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Inson huquqlari va biotibbiyot to‘g‘risidagi Yevropa konventsiyasi (1997); shifokor–bemor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Z.A., Indiaminov S.I. Bioetika (o‘quv qo‘llanma), Samarqand. 2022. V, VIII, XIV boblar (modellar, klinik xavf, Oviedo), kitob betlari 51-59; 72-80; 143-150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Egasining manba taqdimoti (G‘iyosov Z.A., Indiaminov S.I., Bioetika, Samarqand, 2022 asosida tayyorlangan). Bioetika 3 mavzu taqdimot - manba.pptx (egasining manba taqdimoti, kitob matni EMAS), 15-28-slaydlar. 2026. Slaydlarda ko‘rsatilgan: G‘iyosov va Indiaminov 2022, 51-56 (munosabat modellari), 72-77 (klinik xavf), 147-148 (Oviedo); Council of Europe ETS 164, 5/10/16/17-moddalar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