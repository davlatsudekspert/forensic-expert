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Oilaviy shifokor davrida bemor bilan munosabat bugungidan nimasi bilan farq qilgan? 2) Nega modelni «soddalashtirilgan tizim» deyishadi? Doskada chizish: mavzuning uch bo‘limini uchta ustun qilib yozing (modellar, klinik xavf, 1997 yilgi konventsiya). Tipik xato: talabalar modelni har bir bemorga aynan mos keladigan qoida deb o‘ylaydi, aslida u ko‘p uchraydigan jihatlarning umumlashmasi.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Qaysi vaziyatda bemorning shaxsiyati va holatiga qarab ikki modelni birga qo‘llash kerak? 2) «Nopaternalistik» va «avtonomiya modeli» nega bir narsa? Doskada chizish: jadvalni o‘zlari daftarga ko‘chirib, har ustunga bittadan klinik misol yozsin. Tipik xato (Diqqat): avtonomiya modelida shifokor bemorga g‘amxo‘rlik qilmaydi deb o‘ylash; aslida u g‘amxo‘rlik qiladi, lekin oxirida bemorning qaror huquqini tan 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«Ota–bola» o‘xshatishi shifokor–bemor munosabatida qayerda to‘g‘ri, qayerda noto‘g‘ri? 2) Kuchli paternalizm bilan kuchsiz paternalizmning farqi nimada? Doskada chizish: «shifokor → qaror → bemor» bir tomonlama strelkasini chizing. Tipik xato: paternalizmni faqat salbiy hodisa deb baholash; kitobda ikkala modelning ham ijobiy va salbiy tomonlari borligi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Hushsiz bemorda qaror kim tomonidan va nima uchun qabul qilinadi? 2) Kuchsiz paternalizm qachon tugashi kerak? Doskada chizish: ikki ustunli jadval (kuchli | kuchsiz) va o‘rtasiga vaqt o‘qi: nokompetentlikdan kompetentlikka. Tipik xato: kuchsiz paternalizmni ‘yumshoq kuchli paternalizm’ deb tushunish; aslida u faqat vaqtincha nokompetent bemorga, kompetentlikni tiklash maqsadida qo‘llanadi. Diqqat: kuchli ≠ kuchsiz.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 uchun rozilikni ota-ona beradi? 2) Rozilik beruvchi shaxs bemor manfaatini qanday himoya qiladi? Doskada chizish: ‘bemor → qonuniy vakil → shifokor’ zanjiri. Tipik xato: surrogat rozilikni bemorning o‘zi bergan rozilik bilan adashtirish; bunda rozilikni bemor emas, vakil beradi. Yosh chegarasi (14 yosh) faqat O‘zbekiston bo‘yicha kitobdan olingan.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vaziyatda avtonomiya modeli yetarli emas? 2) Modellarni uyg‘unlashtirish bemor manfaatiga qanday xizmat qiladi? Doskada chizish: paternalistik va avtonomiya modellarini ikki qutb qilib, ular orasiga strelka va ‘vaziyatga qarab’ deb yozing. Tipik xato: avtonomiyani ‘shifokor g‘amxo‘rlik qilmaydi’ deb tushunish; kitobga ko‘ra shifokor g‘amxo‘rlik qiladi, lekin bemor qarorini hurmat qiladi.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javobni daftarga yozadi, so‘ng juftlikda tekshiradi. Muhokama savollari: 1) Qaysi holatda shifokorning o‘rniga qaror qabul qilishi oqlanadi? 2) Kuchsiz paternalizm qachon tugashi kerak? Doskada chizish: ikki ustun — «kuchli» va «kuchsiz» paternalizm, har biriga bitta misol. Tipik xato: kuchsiz paternalizmni kuchli bilan aralashtirish va uni doimiy holat deb o‘ylash. Qo‘shimcha: kuchsiz paternalizm tushunchasini 1971-yilda Dj. Feynberg kiritgan.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1) Nima uchun shoshilinch tibbiyotda bemor fikrini so‘rash qiyin? 2) Rahbarlik–kooperatsiyada bemor kompetent bo‘lsa ham nega paternalizmga yaqin hisoblanadi? Doskada chizish: uchta model uchun «shifokor — bemor» strelkalari (bir tomonlama yoki ikki tomonlama). Tipik xato: rahbarlik–kooperatsiyani hamkorlik bilan aralashtirish; birinchisida bemor shifokor qarorini so‘zsiz bajaradi. Hamkorlik modelining qo‘llanishi manbada to‘liq o‘qilmaydi, shuning uchun ehtiyotkor ayting.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savollari: 1) Injenerlik modelida bemorning shaxsiy xususiyatlari nega deyarli hisobga olinmaydi? 2) Kollegial modelda haqiqiy tenglik nega amalda kam uchraydi (kompetentlik darajasi teng emas)? Doskada chizish: to‘rt model uchun «paternalizm — nopaternalizm» o‘qi, modellarni shu o‘qqa joylashtirish. Tipik xato: kollegial va kontrakt modellarni bir xil deb o‘ylash; kontraktda aniq shartnoma va tomonlarning nazorati bor, kollegialda esa ishonch asosiy.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kollegial modelda haqiqiy tenglikka erishish qiyin? 2) Kontraktda shartnoma bekor qilinsa, bemor yoki shifokor uchun qanday oqibat bo‘lishi mumkin? Doskada chizish: ikki ustun (kollegial | kontrakt), har biriga ‘kim nazorat qiladi’ va ‘kompetentlik talabi’ni yozdiring. Tipik xato: kollegial modelni ‘shifokor va bemor har doim teng’ deb tushunish. Aslida tenglik kompetentlik tengligini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modelda shifokor faqat ma’lumot beradi? 2) Kengashishda bemorning qadriyatlari qanday hisobga olinadi? Doskada chizish: to‘rt modelni ‘shifokor qarori ← → bemor qarori’ shkalasida joylashtiring. Tipik xato: talqin qilish va kengashishni mustaqil qutblar deb o‘ylash; ular oraliq variantlar.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Tezkor savol: ‘Hushsiz bemorga qaysi model mos?’ (sakral) va ‘Kompetent surunkali bemorga?’ (kollegial yoki kontrakt). Doskada chizish: ikki juft (sakral–kontrakt, ma’lumot berish–talqin qilish) farqini ‘kim qaror qiladi’ bo‘yicha belgilang. Tipik xato: ‘kontrakt’ so‘zini faqat pul munosabati deb tushunish, aslida bu o‘zaro shartlar va nazorat modeli.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hamshira bemor bilan shifokordan ko‘proq vaqt o‘tkazadi va bu modelga qanday ta’sir qiladi? 2) Qaysi modelda bemor eng ko‘p mustaqil? Doskada chizing: uchta model nomi va yonida hamshira vazifasini bir jumlada yozing. Tipik xato: texnik model bilan kontrakt klinik modelni aralashtirish. Texnikda hamshira faqat bajaradi, kontraktda esa bemor qaror chiqaradi. Texnik modelning qo‘llanish holati manbada aniq berilmagan.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Bir bemorni bir nechta shifokor ko‘rsa, nima yo‘qoladi? 2) Reklama va tibbiy savodxonlik ishonchga qanday ta’sir qiladi? Doskada chizing: 5 tugunli zanjirni va har bir tugun yoniga o‘z misolingizni yozing. Tipik xato: bozor munosabatlarini faqat salbiy deb olish. Manbada muammo manfaatlarning mos kelmasligi sifatida ko‘rsatilgan. Diqqat: shifokorga qat’iy emas, maqsadga muvofiq dinamik yondashuv kerak.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Talabalar juftlikda A va B holatini muhokama qiladi. Muhokama: 1) Bemor ixtiyorini bildira olmasa, qaror kimga topshiriladi? 2) Surunkali kasallikda bemorning kompetentligi nimani o‘zgartiradi? Doskada chizing: ikki ustunli jadval (holat va mos model). Tipik xato: kollegial modelni har doim mumkin deb o‘ylash. Manbada uning amalda kam uchrashi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klinik tadqiqotda tavakkal tushunchasi muhim? 2) Morbid va iatrogen xavfni bir bemor misolida ajrating. Doskada: ikki ustunli jadvalni (morbid / iatrogen) o‘zingiz chizing va 2 tadan belgi yozing. Tipik xato: talabalar iatrogen xavfni faqat shifokor xatosi deb o‘ylaydi, aslida u muolaja bilan bog‘liq xavfning umumiy nomi.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O‘zini-o‘zi davolash nega xavfni oshiradi? 2) Klinik sinov ishtirokchisi qaysi guruhga kiradi? Doskada: markazda “muolaja”, atrofida uchta guruhni strelkalar bilan chizing. Tipik xato: faqat bemorni xavf sub’ekti deb hisoblash, xodim va o‘xshash holatdagi shaxslarni unutish. Tezkor savol: xavf manbalaridan uchtasini ayting.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xavf nazorati aynan xodimning shaxsiy mas’uliyati bilan bog‘lanadi? 2) Qaror qabul qilishda boshqa mulohazalar bemor xavfsizligiga zid kelsa, nima ustun bo‘ladi? Doskada: ikki ustunli ro‘yxat — “Kim mas’ul?” va “Nima birinchi?” — tuzing. Tipik xato: ikki prinsipni bir-biridan farqlamaslik. Tezkor savol: ustuvorlik prinsipida bemorning qaysi jihati birinchi o‘rinda turadi?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tibbiy ko‘rsatma birinchi o‘rinda turadi? 2) Bemor xohishi va hayot sifati bir narsami? Doskada: 4 ta kvadratni tartib raqami bilan chizing va har biriga bittadan misol yozing. Tipik xato: kontekstual holatlarni (oila, iqtisodiy omillar, konfidensiallik) hayot sifati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Bemor rad etsa, shifokor nimani baholashi kerak? 2) Oila yordam bera olmasa, qaror o‘zgaradimi? Doskada: jadvalni talabalar bilan birga to‘ldiring. Tipik xato: bemor rad etdi, demak qaror tayyor deb o‘ylash; to‘rtala kvadrat ketma-ket ko‘riladi.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og‘zaki so‘rang, javobni talabalar aytsin, so‘ng slaydni oching. Muhokama: morbid va iatrogen xavfga bittadan o‘z misolingizni keltiring. Doskada: morbid xavf va iatrogen xavf uchun ikki ustun chizing. Tipik xato: iatrogen xavfni faqat shifokor xatosi deb tushunish; bu muolaja o‘tkazilishi bilan bog‘liq xavf.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Shared decision’da shifokor va bemorning roli “ma‘lumot berish” modelidan nimasi bilan farq qiladi? 2) Qaysi vaziyatda bu model qiyin amalga oshadi? Doskada: ikki ustun chizing – “ma‘lumot berish: qaror bemorda” va “shared decision: qaror birga”. Tipik xato: talabalar shared decision’ni patronalizm yoki oddiy ma‘lumot berish bilan aralashtiradi. Eslatma: 75-betda “muhokama modeli” deyiladi, 54-betda esa Emanuellarning “talqin qilish” va “kengashish” modellari berilgan; atamalar farqini izohlang.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salbiy effekt ijobiy natijaga erishish vositasi bo‘lmasligi kerak? 2) Niyatni qanday baholaymiz? Doskada: muolajadan ikki o‘q chizing – “maqsad” va “qo‘shimcha salbiy effekt”, so‘ng 4 shartni yozing. Tipik xato: salbiy oqibatni maqsadning bir qismi deb hisoblash yoki proporsionallikni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Vrach hayotni saqlash uchun xavfli muolaja qilsa, qaysi shartlar tekshiriladi? 2) Nega ko‘p odamlar hayotiga tahdid asosli xavfni inkor qiladi? Doskada: 4 shartli zanjirni chizing va oxirida “asossiz” istisnoni alohida yozing. Tipik xato: faqat natijaga qarab baholash – asoslilik shartlari va zararni oldini olish choralari ham muhim. Eslatma: bu qoida vrach faoliyatida asosan noilojlik holatida, boshqa yo‘l bo‘lmaganda qo‘llanadi.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Bemorning haddan tashqari kutishi rozilik jarayonida qanday kamaytiriladi? 2) Mablag‘ tejash nega bemor xavfsizligiga tahdid bo‘lishi mumkin? Doskada: besh darajani zanjir shaklida chizdiring va har biriga bittadan misol yozdiring. Tipik xato: tizimli xatoni alohida xodimning shaxsiy xatosi bilan aralashtirish (tizimli xato ≠ xodimning xatosi; u yordam ko‘rsatishni tashkil etishdagi muammodan kelib chiqadi). Bonus: bemorning jinsi, yoshi, hamroh kasalliklari ham xavfga ta’sir etishini eslatib o‘ting (78-bet).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Jazodan qo‘rqish muhiti xatolarni yashirishga olib kelmaydimi? 2) Axborotli rozilik shifokor mas’uliyatiga qanday ta’sir qiladi? Doskada: ‘xavfsizlik madaniyati’ so‘zi atrofida omillar (ishonch, haqqoniylik, kasbiy saviya) klasterini chizdiring. Tipik xato: xavfsizlik madaniyatini faqat qonun talablariga rioya qilish deb tushunish; kitobda ishonch va haqqoniylik muhiti ham ta’kidlanadi.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Bitta ‘nega?’ bilan to‘xtash nima uchun yetarli emas? 2) Ildiz sabab bilan bevosita sababni qanday farqlaysiz? Doskada: o‘zingiz tanlagan sodda nohush holat bo‘yicha ‘nega?’ zanjirini guruhlarda chizdiring. Tipik xato: birinchi topilgan sababni (masalan, xodimning bexabarligi) ildiz sabab deb hisoblash; kitobda chuqur, tizimli sabablarni topish talab etiladi. Diagramma sxematik: kitobda qadamlar soni emas, ‘nega?’ savolini bir necha marta berish ta’kidlanadi.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6-8 daqiqa. Muhokama: 1) Bu holatda xavf qaysi shartlarga ko‘ra asosli bo‘ladi? 2) “Nega” savoliga 3-4 marta javob berib, tizimli sababni toping. Doskada chizish: ‘xavfli muolaja → asorat → sabablar zanjiri’ sxemasi. Tipik xato: talabalar asoratning o‘zini avtomatik ravishda aybdorlik deb hisoblaydi. Vaziyat o‘quv misolidir, kitobdagi real holat emas.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Lind davrida sitrusning sababi (vitamin C) noma’lum bo‘lsa ham xulosa to‘g‘ri chiqdi? 2) O‘zida tajriba qilish axloqan qanchalik maqbul? Doskada chizish: yilma-yil vaqt chizig‘i (1754, 1796, 1929). Tipik xato: Jennerni vaksina ‘kashfiyotchisi’ emas, asoschisi deb atash; Linddagi yil va dengizchilar guruhlarini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Ixtiyoriy rozilik nega birinchi talab bo‘ldi? 2) Etika qo‘mitasi tadqiqotchini qanday cheklaydi? Doskada chizish: ‘loyiha → qo‘mita ma’qullashi → tadqiqot → qo‘mita nazorati’ zanjiri. Tipik xato: etika qo‘mitasi talabini Nyurnbergga, ixtiyoriy rozilikni esa faqat Xelsinkiga nisbat berish. Diqqat: Nyurnberg ≠ Xelsinki.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Ishtirokchilarga davo berilmagani nima uchun axloqqa zid? 2) Bicher maqolasi jamoatchilik fikriga qanday ta’sir qildi? Doskada: 1966 (Bicher) va 1932–1972 (Tuskigi) uchun ikki qatorli vaqt chizig‘i chizdiring. Tipik xato: Bicher maqolasini (1966, 22 tadqiqot) Tuskigi tadqiqotlari (1932–1972, zahm)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Tuskigi tadqiqotida qaysi prinsip buzilgan? 2) Cheklangan avtonomiyali shaxs misolini keltiring. Doskada: uch prinsipni uchta ustun qilib chizing va har biriga bittadan misol yozing. Tipik xato: ezgulikni faqat “foyda keltirish” deb tushunish; u zarar bermaslik yoki zararni kamaytirishni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talabalar juftlikda javob bersin. Muhokama: Nyurnberg kodeksi, Xelsinki deklaratsiyasi va Belmont hisoboti o‘rtasida qanday izchillik bor? Doskada: uch hujjatni yil tartibida (1947, 1964, 1978) yozdiring. Tipik xato: hujjatlar yillarini va qabul qilgan tashkilotlarni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Ma’lumotli rozilik nega faqat bir martalik emas? 2) Rozilik bera olmaydigan shaxsni nima uchun alohida himoya qilish kerak? Doskada: 16 va 17-moddalarni ikki ustunli jadval qilib chizdiring. Tipik xato: talabalar rozilik bir marta berilsa tugaydi deb o‘ylaydi; aslida uni istalgan vaqtda qaytarish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Ishtirokchi rozilikni qaytarsa, tadqiqotchi qanday harakat qiladi? 2) Rozilik bera olmaydigan shaxsni himoya qilishda yana qanday kafolatlar kerak? Doskada: voqea bosqichlarini (rozilik – ishtirok – qaytarish) chizdiring. Tipik xato: rozilik qog‘ozga yozilgach tadqiqotchi mas’uliyatdan ozod bo‘ladi deb o‘ylash. 17-modda tafsiloti kitobda yo‘q, buni alohida ayting.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Qaysi vaziyatda qaysi model mosroq? 2) Klinik xavf qachon asosli deb topiladi? Doskada: uch blok (modellar, klinik xavf, tadqiqot himoyasi) bo‘yicha kalit so‘zlarni yozdiring. Tipik xato: bitta modelni har doim to‘g‘ri deb hisoblash; kitobda ikkala modelning ham ijobiy va salbiy tomonlari borligi aytilgan.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Inson huquqlari va biotibbiyot to‘g‘risidagi Yevropa konventsiyasi (1997); shifokor–bemor va hamshira–bemor munosabat modellari; klinik xavf va tibbiy yordam xavfsizligi (A3)</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reja va model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uch bo‘limdan iborat: shifokor–bemor va hamshira–bemor munosabat modellari, klinik xavf va xavfsizlik, Yevropa konventsiyasi (1997).</a:t>
            </a:r>
          </a:p>
          <a:p>
            <a:pPr>
              <a:spcAft>
                <a:spcPts val="1200"/>
              </a:spcAft>
            </a:pPr>
            <a:r>
              <a:rPr sz="2200">
                <a:solidFill>
                  <a:srgbClr val="1F2937"/>
                </a:solidFill>
                <a:latin typeface="Calibri"/>
              </a:rPr>
              <a:t>▸  Model – soddalashtirilgan nazariy tizim. U shunday munosabatlarga xos, ko‘p kuzatiladigan jihatlarni jamlaydi.</a:t>
            </a:r>
          </a:p>
          <a:p>
            <a:pPr>
              <a:spcAft>
                <a:spcPts val="1200"/>
              </a:spcAft>
            </a:pPr>
            <a:r>
              <a:rPr sz="2200">
                <a:solidFill>
                  <a:srgbClr val="1F2937"/>
                </a:solidFill>
                <a:latin typeface="Calibri"/>
              </a:rPr>
              <a:t>▸  Munosabat modeli shifokorlik an’analari, kasbning axloqiy mezonlari va bemor holatining o‘ziga xosligi bilan belgilanadi.</a:t>
            </a:r>
          </a:p>
          <a:p>
            <a:pPr>
              <a:spcAft>
                <a:spcPts val="1200"/>
              </a:spcAft>
            </a:pPr>
            <a:r>
              <a:rPr sz="2200">
                <a:solidFill>
                  <a:srgbClr val="1F2937"/>
                </a:solidFill>
                <a:latin typeface="Calibri"/>
              </a:rPr>
              <a:t>▸  Har bir bemorga alohida yondashuv taxminan ikki asr oldin tibbiy muassasalar paydo bo‘lishi bilan chiqdi. Ilgari bemorlar uyda davolangan.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51-56; 72-80; 147-148, 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 asosiy model: paternalistik va nopaternalistik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Paternalistik model an’anaviy bo‘lib, uzoq tarixga ega.</a:t>
            </a:r>
          </a:p>
          <a:p>
            <a:pPr>
              <a:spcAft>
                <a:spcPts val="800"/>
              </a:spcAft>
            </a:pPr>
            <a:r>
              <a:rPr sz="1800">
                <a:solidFill>
                  <a:srgbClr val="1F2937"/>
                </a:solidFill>
                <a:latin typeface="Calibri"/>
              </a:rPr>
              <a:t>▸  Nopaternalistik, ya’ni avtonomiya modeli o‘tgan asrning ikkinchi yarmida shakllana boshlagan.</a:t>
            </a:r>
          </a:p>
          <a:p>
            <a:pPr>
              <a:spcAft>
                <a:spcPts val="800"/>
              </a:spcAft>
            </a:pPr>
            <a:r>
              <a:rPr sz="1800">
                <a:solidFill>
                  <a:srgbClr val="1F2937"/>
                </a:solidFill>
                <a:latin typeface="Calibri"/>
              </a:rPr>
              <a:t>▸  Ikkala modelning ham ijobiy va salbiy jihatlari bor, amalda ular birga qo‘llanadi.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87009"/>
                <a:gridCol w="1907138"/>
                <a:gridCol w="199382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Paternalistik</a:t>
                      </a:r>
                    </a:p>
                  </a:txBody>
                  <a:tcPr marL="73152" marR="73152" marT="36576" marB="36576">
                    <a:solidFill>
                      <a:srgbClr val="0B1F3A"/>
                    </a:solidFill>
                  </a:tcPr>
                </a:tc>
                <a:tc>
                  <a:txBody>
                    <a:bodyPr/>
                    <a:lstStyle/>
                    <a:p>
                      <a:r>
                        <a:rPr sz="1300" b="1">
                          <a:solidFill>
                            <a:srgbClr val="FFFFFF"/>
                          </a:solidFill>
                        </a:rPr>
                        <a:t>Avtonomiya</a:t>
                      </a:r>
                    </a:p>
                  </a:txBody>
                  <a:tcPr marL="73152" marR="73152" marT="36576" marB="36576">
                    <a:solidFill>
                      <a:srgbClr val="0B1F3A"/>
                    </a:solidFill>
                  </a:tcPr>
                </a:tc>
              </a:tr>
              <a:tr h="411480">
                <a:tc>
                  <a:txBody>
                    <a:bodyPr/>
                    <a:lstStyle/>
                    <a:p>
                      <a:r>
                        <a:rPr sz="1200" b="0">
                          <a:solidFill>
                            <a:srgbClr val="1F2937"/>
                          </a:solidFill>
                        </a:rPr>
                        <a:t>Shifokor roli</a:t>
                      </a:r>
                    </a:p>
                  </a:txBody>
                  <a:tcPr marL="73152" marR="73152" marT="36576" marB="36576">
                    <a:solidFill>
                      <a:srgbClr val="E8EEF6"/>
                    </a:solidFill>
                  </a:tcPr>
                </a:tc>
                <a:tc>
                  <a:txBody>
                    <a:bodyPr/>
                    <a:lstStyle/>
                    <a:p>
                      <a:r>
                        <a:rPr sz="1200" b="0">
                          <a:solidFill>
                            <a:srgbClr val="1F2937"/>
                          </a:solidFill>
                        </a:rPr>
                        <a:t>Hal qiluvchi shaxs</a:t>
                      </a:r>
                    </a:p>
                  </a:txBody>
                  <a:tcPr marL="73152" marR="73152" marT="36576" marB="36576">
                    <a:solidFill>
                      <a:srgbClr val="E8EEF6"/>
                    </a:solidFill>
                  </a:tcPr>
                </a:tc>
                <a:tc>
                  <a:txBody>
                    <a:bodyPr/>
                    <a:lstStyle/>
                    <a:p>
                      <a:r>
                        <a:rPr sz="1200" b="0">
                          <a:solidFill>
                            <a:srgbClr val="1F2937"/>
                          </a:solidFill>
                        </a:rPr>
                        <a:t>Teng huquqli hamkor</a:t>
                      </a:r>
                    </a:p>
                  </a:txBody>
                  <a:tcPr marL="73152" marR="73152" marT="36576" marB="36576">
                    <a:solidFill>
                      <a:srgbClr val="E8EEF6"/>
                    </a:solidFill>
                  </a:tcPr>
                </a:tc>
              </a:tr>
              <a:tr h="411480">
                <a:tc>
                  <a:txBody>
                    <a:bodyPr/>
                    <a:lstStyle/>
                    <a:p>
                      <a:r>
                        <a:rPr sz="1200" b="0">
                          <a:solidFill>
                            <a:srgbClr val="1F2937"/>
                          </a:solidFill>
                        </a:rPr>
                        <a:t>Bemor roli</a:t>
                      </a:r>
                    </a:p>
                  </a:txBody>
                  <a:tcPr marL="73152" marR="73152" marT="36576" marB="36576">
                    <a:solidFill>
                      <a:srgbClr val="FFFFFF"/>
                    </a:solidFill>
                  </a:tcPr>
                </a:tc>
                <a:tc>
                  <a:txBody>
                    <a:bodyPr/>
                    <a:lstStyle/>
                    <a:p>
                      <a:r>
                        <a:rPr sz="1200" b="0">
                          <a:solidFill>
                            <a:srgbClr val="1F2937"/>
                          </a:solidFill>
                        </a:rPr>
                        <a:t>Passiv, qaror qilmaydi</a:t>
                      </a:r>
                    </a:p>
                  </a:txBody>
                  <a:tcPr marL="73152" marR="73152" marT="36576" marB="36576">
                    <a:solidFill>
                      <a:srgbClr val="FFFFFF"/>
                    </a:solidFill>
                  </a:tcPr>
                </a:tc>
                <a:tc>
                  <a:txBody>
                    <a:bodyPr/>
                    <a:lstStyle/>
                    <a:p>
                      <a:r>
                        <a:rPr sz="1200" b="0">
                          <a:solidFill>
                            <a:srgbClr val="1F2937"/>
                          </a:solidFill>
                        </a:rPr>
                        <a:t>Mustaqil qaror qiladi</a:t>
                      </a:r>
                    </a:p>
                  </a:txBody>
                  <a:tcPr marL="73152" marR="73152" marT="36576" marB="36576">
                    <a:solidFill>
                      <a:srgbClr val="FFFFFF"/>
                    </a:solidFill>
                  </a:tcPr>
                </a:tc>
              </a:tr>
              <a:tr h="411480">
                <a:tc>
                  <a:txBody>
                    <a:bodyPr/>
                    <a:lstStyle/>
                    <a:p>
                      <a:r>
                        <a:rPr sz="1200" b="0">
                          <a:solidFill>
                            <a:srgbClr val="1F2937"/>
                          </a:solidFill>
                        </a:rPr>
                        <a:t>Tarixi</a:t>
                      </a:r>
                    </a:p>
                  </a:txBody>
                  <a:tcPr marL="73152" marR="73152" marT="36576" marB="36576">
                    <a:solidFill>
                      <a:srgbClr val="E8EEF6"/>
                    </a:solidFill>
                  </a:tcPr>
                </a:tc>
                <a:tc>
                  <a:txBody>
                    <a:bodyPr/>
                    <a:lstStyle/>
                    <a:p>
                      <a:r>
                        <a:rPr sz="1200" b="0">
                          <a:solidFill>
                            <a:srgbClr val="1F2937"/>
                          </a:solidFill>
                        </a:rPr>
                        <a:t>An’anaviy, uzoq tarix</a:t>
                      </a:r>
                    </a:p>
                  </a:txBody>
                  <a:tcPr marL="73152" marR="73152" marT="36576" marB="36576">
                    <a:solidFill>
                      <a:srgbClr val="E8EEF6"/>
                    </a:solidFill>
                  </a:tcPr>
                </a:tc>
                <a:tc>
                  <a:txBody>
                    <a:bodyPr/>
                    <a:lstStyle/>
                    <a:p>
                      <a:r>
                        <a:rPr sz="1200" b="0">
                          <a:solidFill>
                            <a:srgbClr val="1F2937"/>
                          </a:solidFill>
                        </a:rPr>
                        <a:t>O‘tgan asr 2-yarmidan</a:t>
                      </a:r>
                    </a:p>
                  </a:txBody>
                  <a:tcPr marL="73152" marR="73152" marT="36576" marB="36576">
                    <a:solidFill>
                      <a:srgbClr val="E8EEF6"/>
                    </a:solidFill>
                  </a:tcPr>
                </a:tc>
              </a:tr>
              <a:tr h="411480">
                <a:tc>
                  <a:txBody>
                    <a:bodyPr/>
                    <a:lstStyle/>
                    <a:p>
                      <a:r>
                        <a:rPr sz="1200" b="0">
                          <a:solidFill>
                            <a:srgbClr val="1F2937"/>
                          </a:solidFill>
                        </a:rPr>
                        <a:t>Asos</a:t>
                      </a:r>
                    </a:p>
                  </a:txBody>
                  <a:tcPr marL="73152" marR="73152" marT="36576" marB="36576">
                    <a:solidFill>
                      <a:srgbClr val="FFFFFF"/>
                    </a:solidFill>
                  </a:tcPr>
                </a:tc>
                <a:tc>
                  <a:txBody>
                    <a:bodyPr/>
                    <a:lstStyle/>
                    <a:p>
                      <a:r>
                        <a:rPr sz="1200" b="0">
                          <a:solidFill>
                            <a:srgbClr val="1F2937"/>
                          </a:solidFill>
                        </a:rPr>
                        <a:t>Gippokrat asarlari</a:t>
                      </a:r>
                    </a:p>
                  </a:txBody>
                  <a:tcPr marL="73152" marR="73152" marT="36576" marB="36576">
                    <a:solidFill>
                      <a:srgbClr val="FFFFFF"/>
                    </a:solidFill>
                  </a:tcPr>
                </a:tc>
                <a:tc>
                  <a:txBody>
                    <a:bodyPr/>
                    <a:lstStyle/>
                    <a:p>
                      <a:r>
                        <a:rPr sz="1200" b="0">
                          <a:solidFill>
                            <a:srgbClr val="1F2937"/>
                          </a:solidFill>
                        </a:rPr>
                        <a:t>Bemor avtonomiya huquqi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model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51,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Paternalistik model mohiyati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Lotincha pater – ota. Munosabatda shifokor asosiy, hamma narsani hal qiluvchi shaxs hisoblanadi.</a:t>
            </a:r>
          </a:p>
          <a:p>
            <a:pPr>
              <a:spcAft>
                <a:spcPts val="1200"/>
              </a:spcAft>
            </a:pPr>
            <a:r>
              <a:rPr sz="2200">
                <a:solidFill>
                  <a:srgbClr val="1F2937"/>
                </a:solidFill>
                <a:latin typeface="Calibri"/>
              </a:rPr>
              <a:t>▸  Bemorga mustaqil bo‘lmagan, o‘z davolanishi haqida to‘liq qaror qabul qila olmaydigan, passiv shaxs sifatida qaraladi.</a:t>
            </a:r>
          </a:p>
          <a:p>
            <a:pPr>
              <a:spcAft>
                <a:spcPts val="1200"/>
              </a:spcAft>
            </a:pPr>
            <a:r>
              <a:rPr sz="2200">
                <a:solidFill>
                  <a:srgbClr val="1F2937"/>
                </a:solidFill>
                <a:latin typeface="Calibri"/>
              </a:rPr>
              <a:t>▸  Ota bolani himoya qilgani kabi, shifokor bemor manfaatini o‘ylaydi va uning o‘rniga qaror qabul qiladi.</a:t>
            </a:r>
          </a:p>
          <a:p>
            <a:pPr>
              <a:spcAft>
                <a:spcPts val="1200"/>
              </a:spcAft>
            </a:pPr>
            <a:r>
              <a:rPr sz="2200">
                <a:solidFill>
                  <a:srgbClr val="1F2937"/>
                </a:solidFill>
                <a:latin typeface="Calibri"/>
              </a:rPr>
              <a:t>▸  Bu modelga Gippokrat asarlarida asos solingan. Kuchli paternalizmda bemor qaror qabul qilishda umuman qatnashmaydi.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Kuchli va kuchsiz paternalizm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Kuchli paternalizmda shifokor mutlaq ustuvor, bemor qarorda umuman qatnashmaydi.</a:t>
            </a:r>
          </a:p>
          <a:p>
            <a:pPr>
              <a:spcAft>
                <a:spcPts val="800"/>
              </a:spcAft>
            </a:pPr>
            <a:r>
              <a:rPr sz="1800">
                <a:solidFill>
                  <a:srgbClr val="1F2937"/>
                </a:solidFill>
                <a:latin typeface="Calibri"/>
              </a:rPr>
              <a:t>▸  Kuchsiz paternalizm tushunchasini 1971-yilda J. Feynberg kiritgan.</a:t>
            </a:r>
          </a:p>
          <a:p>
            <a:pPr>
              <a:spcAft>
                <a:spcPts val="800"/>
              </a:spcAft>
            </a:pPr>
            <a:r>
              <a:rPr sz="1800">
                <a:solidFill>
                  <a:srgbClr val="1F2937"/>
                </a:solidFill>
                <a:latin typeface="Calibri"/>
              </a:rPr>
              <a:t>▸  U vaqtincha qaror qila olmaydigan bemorga qo‘llanadi: hushsizlik, davolanadigan ruhiy buzilish.</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75105"/>
                <a:gridCol w="1468881"/>
                <a:gridCol w="264398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Kuchli</a:t>
                      </a:r>
                    </a:p>
                  </a:txBody>
                  <a:tcPr marL="73152" marR="73152" marT="36576" marB="36576">
                    <a:solidFill>
                      <a:srgbClr val="0B1F3A"/>
                    </a:solidFill>
                  </a:tcPr>
                </a:tc>
                <a:tc>
                  <a:txBody>
                    <a:bodyPr/>
                    <a:lstStyle/>
                    <a:p>
                      <a:r>
                        <a:rPr sz="1300" b="1">
                          <a:solidFill>
                            <a:srgbClr val="FFFFFF"/>
                          </a:solidFill>
                        </a:rPr>
                        <a:t>Kuchsiz</a:t>
                      </a:r>
                    </a:p>
                  </a:txBody>
                  <a:tcPr marL="73152" marR="73152" marT="36576" marB="36576">
                    <a:solidFill>
                      <a:srgbClr val="0B1F3A"/>
                    </a:solidFill>
                  </a:tcPr>
                </a:tc>
              </a:tr>
              <a:tr h="411480">
                <a:tc>
                  <a:txBody>
                    <a:bodyPr/>
                    <a:lstStyle/>
                    <a:p>
                      <a:r>
                        <a:rPr sz="1200" b="0">
                          <a:solidFill>
                            <a:srgbClr val="1F2937"/>
                          </a:solidFill>
                        </a:rPr>
                        <a:t>Shifokor o‘rni</a:t>
                      </a:r>
                    </a:p>
                  </a:txBody>
                  <a:tcPr marL="73152" marR="73152" marT="36576" marB="36576">
                    <a:solidFill>
                      <a:srgbClr val="E8EEF6"/>
                    </a:solidFill>
                  </a:tcPr>
                </a:tc>
                <a:tc>
                  <a:txBody>
                    <a:bodyPr/>
                    <a:lstStyle/>
                    <a:p>
                      <a:r>
                        <a:rPr sz="1200" b="0">
                          <a:solidFill>
                            <a:srgbClr val="1F2937"/>
                          </a:solidFill>
                        </a:rPr>
                        <a:t>Mutlaq ustuvor</a:t>
                      </a:r>
                    </a:p>
                  </a:txBody>
                  <a:tcPr marL="73152" marR="73152" marT="36576" marB="36576">
                    <a:solidFill>
                      <a:srgbClr val="E8EEF6"/>
                    </a:solidFill>
                  </a:tcPr>
                </a:tc>
                <a:tc>
                  <a:txBody>
                    <a:bodyPr/>
                    <a:lstStyle/>
                    <a:p>
                      <a:r>
                        <a:rPr sz="1200" b="0">
                          <a:solidFill>
                            <a:srgbClr val="1F2937"/>
                          </a:solidFill>
                        </a:rPr>
                        <a:t>Vaqtincha bemor o‘rniga qaror qiladi</a:t>
                      </a:r>
                    </a:p>
                  </a:txBody>
                  <a:tcPr marL="73152" marR="73152" marT="36576" marB="36576">
                    <a:solidFill>
                      <a:srgbClr val="E8EEF6"/>
                    </a:solidFill>
                  </a:tcPr>
                </a:tc>
              </a:tr>
              <a:tr h="411480">
                <a:tc>
                  <a:txBody>
                    <a:bodyPr/>
                    <a:lstStyle/>
                    <a:p>
                      <a:r>
                        <a:rPr sz="1200" b="0">
                          <a:solidFill>
                            <a:srgbClr val="1F2937"/>
                          </a:solidFill>
                        </a:rPr>
                        <a:t>Bemor ishtiroki</a:t>
                      </a:r>
                    </a:p>
                  </a:txBody>
                  <a:tcPr marL="73152" marR="73152" marT="36576" marB="36576">
                    <a:solidFill>
                      <a:srgbClr val="FFFFFF"/>
                    </a:solidFill>
                  </a:tcPr>
                </a:tc>
                <a:tc>
                  <a:txBody>
                    <a:bodyPr/>
                    <a:lstStyle/>
                    <a:p>
                      <a:r>
                        <a:rPr sz="1200" b="0">
                          <a:solidFill>
                            <a:srgbClr val="1F2937"/>
                          </a:solidFill>
                        </a:rPr>
                        <a:t>Umuman yo‘q</a:t>
                      </a:r>
                    </a:p>
                  </a:txBody>
                  <a:tcPr marL="73152" marR="73152" marT="36576" marB="36576">
                    <a:solidFill>
                      <a:srgbClr val="FFFFFF"/>
                    </a:solidFill>
                  </a:tcPr>
                </a:tc>
                <a:tc>
                  <a:txBody>
                    <a:bodyPr/>
                    <a:lstStyle/>
                    <a:p>
                      <a:r>
                        <a:rPr sz="1200" b="0">
                          <a:solidFill>
                            <a:srgbClr val="1F2937"/>
                          </a:solidFill>
                        </a:rPr>
                        <a:t>Vaqtincha nokompetent</a:t>
                      </a:r>
                    </a:p>
                  </a:txBody>
                  <a:tcPr marL="73152" marR="73152" marT="36576" marB="36576">
                    <a:solidFill>
                      <a:srgbClr val="FFFFFF"/>
                    </a:solidFill>
                  </a:tcPr>
                </a:tc>
              </a:tr>
              <a:tr h="411480">
                <a:tc>
                  <a:txBody>
                    <a:bodyPr/>
                    <a:lstStyle/>
                    <a:p>
                      <a:r>
                        <a:rPr sz="1200" b="0">
                          <a:solidFill>
                            <a:srgbClr val="1F2937"/>
                          </a:solidFill>
                        </a:rPr>
                        <a:t>Maqsad</a:t>
                      </a:r>
                    </a:p>
                  </a:txBody>
                  <a:tcPr marL="73152" marR="73152" marT="36576" marB="36576">
                    <a:solidFill>
                      <a:srgbClr val="E8EEF6"/>
                    </a:solidFill>
                  </a:tcPr>
                </a:tc>
                <a:tc>
                  <a:txBody>
                    <a:bodyPr/>
                    <a:lstStyle/>
                    <a:p>
                      <a:r>
                        <a:rPr sz="1200" b="0">
                          <a:solidFill>
                            <a:srgbClr val="1F2937"/>
                          </a:solidFill>
                        </a:rPr>
                        <a:t>Shifokor ustuvorligi</a:t>
                      </a:r>
                    </a:p>
                  </a:txBody>
                  <a:tcPr marL="73152" marR="73152" marT="36576" marB="36576">
                    <a:solidFill>
                      <a:srgbClr val="E8EEF6"/>
                    </a:solidFill>
                  </a:tcPr>
                </a:tc>
                <a:tc>
                  <a:txBody>
                    <a:bodyPr/>
                    <a:lstStyle/>
                    <a:p>
                      <a:r>
                        <a:rPr sz="1200" b="0">
                          <a:solidFill>
                            <a:srgbClr val="1F2937"/>
                          </a:solidFill>
                        </a:rPr>
                        <a:t>Tezroq kompetentlikni qaytarish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Kuchli va kuchsiz paternalizm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51, 51-52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Surrogat rozilik: bolalar va layoqatsiz bemorlar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Amaldagi tartibga ko‘ra O‘zbekistonda 14 yoshgacha bolalar va muomalaga layoqatsiz bemorlar uchun rozilik ota-ona yoki qonuniy vakildan olinadi.</a:t>
            </a:r>
          </a:p>
          <a:p>
            <a:pPr>
              <a:spcAft>
                <a:spcPts val="1200"/>
              </a:spcAft>
            </a:pPr>
            <a:r>
              <a:rPr sz="2200">
                <a:solidFill>
                  <a:srgbClr val="1F2937"/>
                </a:solidFill>
                <a:latin typeface="Calibri"/>
              </a:rPr>
              <a:t>▸  Kitobda bu rozilik ‘ma’lumot olgan holda rozilik’ deb ataladi; nazorat savolida ‘surrogat rozilik’ atamasi ham uchraydi.</a:t>
            </a:r>
          </a:p>
          <a:p>
            <a:pPr>
              <a:spcAft>
                <a:spcPts val="1200"/>
              </a:spcAft>
            </a:pPr>
            <a:r>
              <a:rPr sz="2200">
                <a:solidFill>
                  <a:srgbClr val="1F2937"/>
                </a:solidFill>
                <a:latin typeface="Calibri"/>
              </a:rPr>
              <a:t>▸  Shosh va Hollender fikricha, faollik–passivlik modeli shoshilinch tibbiyot va pediatriyada qo‘llanadi.</a:t>
            </a:r>
          </a:p>
          <a:p>
            <a:pPr>
              <a:spcAft>
                <a:spcPts val="1200"/>
              </a:spcAft>
            </a:pPr>
            <a:r>
              <a:rPr sz="2200">
                <a:solidFill>
                  <a:srgbClr val="1F2937"/>
                </a:solidFill>
                <a:latin typeface="Calibri"/>
              </a:rPr>
              <a:t>▸  Diqqat: kuchsiz paternalizmda shifokor vaqtincha nokompetent bemor o‘rniga qaror qiladi, bolalarda esa rozilikni ota-ona yoki vakil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52, 52, 56, 51-52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Nopaternalistik (avtonomiya) model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Nopaternalistik, ya’ni avtonomiya modeli o‘tgan asrning ikkinchi yarmida shakllana boshlagan; paternalistik model esa an’anaviy va uzoq tarixga ega.</a:t>
            </a:r>
          </a:p>
          <a:p>
            <a:pPr>
              <a:spcAft>
                <a:spcPts val="1200"/>
              </a:spcAft>
            </a:pPr>
            <a:r>
              <a:rPr sz="2200">
                <a:solidFill>
                  <a:srgbClr val="1F2937"/>
                </a:solidFill>
                <a:latin typeface="Calibri"/>
              </a:rPr>
              <a:t>▸  Bu modelda shifokor va bemor munosabatda teng huquqli hamkor hisoblanadi. Bemor o‘z sog‘lig‘i va davolanishi haqida mustaqil qaror qila oladi.</a:t>
            </a:r>
          </a:p>
          <a:p>
            <a:pPr>
              <a:spcAft>
                <a:spcPts val="1200"/>
              </a:spcAft>
            </a:pPr>
            <a:r>
              <a:rPr sz="2200">
                <a:solidFill>
                  <a:srgbClr val="1F2937"/>
                </a:solidFill>
                <a:latin typeface="Calibri"/>
              </a:rPr>
              <a:t>▸  Shifokor bemorga g‘amxo‘rlik qilsa-da, oxir-oqibat shaxsni hurmat qilishi va mustaqil qaror qilish huquqini tan olishi lozim.</a:t>
            </a:r>
          </a:p>
          <a:p>
            <a:pPr>
              <a:spcAft>
                <a:spcPts val="1200"/>
              </a:spcAft>
            </a:pPr>
            <a:r>
              <a:rPr sz="2200">
                <a:solidFill>
                  <a:srgbClr val="1F2937"/>
                </a:solidFill>
                <a:latin typeface="Calibri"/>
              </a:rPr>
              <a:t>▸  Ikkala modelning ham ijobiy va salbiy tomonlari bor, shuning uchun bemor holatiga qarab ularning uyg‘unlashuvi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51,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kuchli paternalizm nima? Javob: shifokor mutlaq ustun turadi, bemor qaror qabul qilishda umuman qatnashmaydi.</a:t>
            </a:r>
          </a:p>
          <a:p>
            <a:pPr>
              <a:spcAft>
                <a:spcPts val="1200"/>
              </a:spcAft>
            </a:pPr>
            <a:r>
              <a:rPr sz="2200">
                <a:solidFill>
                  <a:srgbClr val="1F2937"/>
                </a:solidFill>
                <a:latin typeface="Calibri"/>
              </a:rPr>
              <a:t>▸  Savol: kuchsiz paternalizm qachon qo‘llanadi? Javob: bemor vaqtincha qaror qila olmasa (hushsiz holat, davolanadigan ruhiy buzilish). Maqsad — uni tezroq kompetent holatga qaytarish.</a:t>
            </a:r>
          </a:p>
          <a:p>
            <a:pPr>
              <a:spcAft>
                <a:spcPts val="1200"/>
              </a:spcAft>
            </a:pPr>
            <a:r>
              <a:rPr sz="2200">
                <a:solidFill>
                  <a:srgbClr val="1F2937"/>
                </a:solidFill>
                <a:latin typeface="Calibri"/>
              </a:rPr>
              <a:t>▸  Savol: 14 yoshgacha bola yoki muomalaga layoqatsiz bemor uchun kim rozilik beradi? Javob: ota-onasi yoki qonuniy vakili (surrogat rozilik).</a:t>
            </a:r>
          </a:p>
          <a:p>
            <a:pPr>
              <a:spcAft>
                <a:spcPts val="1200"/>
              </a:spcAft>
            </a:pPr>
            <a:r>
              <a:rPr sz="2200">
                <a:solidFill>
                  <a:srgbClr val="1F2937"/>
                </a:solidFill>
                <a:latin typeface="Calibri"/>
              </a:rPr>
              <a:t>▸  Diqqat: kuchli ≠ kuchsiz paternalizm. Kuchsizida shifokor ustunligi vaqtinchalik va maqsad bemorni tezroq kompetent holatga qaytarishdir.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51, 51-52, 52,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Shash va Hollender: uch model (1956)</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1956-yilda T. Shash va M. Hollender shifokor–bemor munosabatining uch modelini taklif qilgan.</a:t>
            </a:r>
          </a:p>
          <a:p>
            <a:pPr>
              <a:spcAft>
                <a:spcPts val="800"/>
              </a:spcAft>
            </a:pPr>
            <a:r>
              <a:rPr sz="1800">
                <a:solidFill>
                  <a:srgbClr val="1F2937"/>
                </a:solidFill>
                <a:latin typeface="Calibri"/>
              </a:rPr>
              <a:t>▸  Dastlabki ikki model paternalizmga yaqin: shifokor qarori ustun, bemor avtonomiyasi kam hisobga olinadi.</a:t>
            </a:r>
          </a:p>
          <a:p>
            <a:pPr>
              <a:spcAft>
                <a:spcPts val="800"/>
              </a:spcAft>
            </a:pPr>
            <a:r>
              <a:rPr sz="1800">
                <a:solidFill>
                  <a:srgbClr val="1F2937"/>
                </a:solidFill>
                <a:latin typeface="Calibri"/>
              </a:rPr>
              <a:t>▸  Hamkorlikda bemor shifokor tavsiyasini oladi va bajaradi; surunkali kasallikda qo‘llanishi mumkin (matn aniq o‘qilmaydi). (?)</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237611"/>
                <a:gridCol w="2250202"/>
                <a:gridCol w="1800161"/>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Mohiyat</a:t>
                      </a:r>
                    </a:p>
                  </a:txBody>
                  <a:tcPr marL="73152" marR="73152" marT="36576" marB="36576">
                    <a:solidFill>
                      <a:srgbClr val="0B1F3A"/>
                    </a:solidFill>
                  </a:tcPr>
                </a:tc>
                <a:tc>
                  <a:txBody>
                    <a:bodyPr/>
                    <a:lstStyle/>
                    <a:p>
                      <a:r>
                        <a:rPr sz="1300" b="1">
                          <a:solidFill>
                            <a:srgbClr val="FFFFFF"/>
                          </a:solidFill>
                        </a:rPr>
                        <a:t>Qo‘llanishi</a:t>
                      </a:r>
                    </a:p>
                  </a:txBody>
                  <a:tcPr marL="73152" marR="73152" marT="36576" marB="36576">
                    <a:solidFill>
                      <a:srgbClr val="0B1F3A"/>
                    </a:solidFill>
                  </a:tcPr>
                </a:tc>
              </a:tr>
              <a:tr h="411480">
                <a:tc>
                  <a:txBody>
                    <a:bodyPr/>
                    <a:lstStyle/>
                    <a:p>
                      <a:r>
                        <a:rPr sz="1200" b="0">
                          <a:solidFill>
                            <a:srgbClr val="1F2937"/>
                          </a:solidFill>
                        </a:rPr>
                        <a:t>Aktivlik–passivlik</a:t>
                      </a:r>
                    </a:p>
                  </a:txBody>
                  <a:tcPr marL="73152" marR="73152" marT="36576" marB="36576">
                    <a:solidFill>
                      <a:srgbClr val="E8EEF6"/>
                    </a:solidFill>
                  </a:tcPr>
                </a:tc>
                <a:tc>
                  <a:txBody>
                    <a:bodyPr/>
                    <a:lstStyle/>
                    <a:p>
                      <a:r>
                        <a:rPr sz="1200" b="0">
                          <a:solidFill>
                            <a:srgbClr val="1F2937"/>
                          </a:solidFill>
                        </a:rPr>
                        <a:t>Shifokor hal qiladi; bemor fikri hisobsiz</a:t>
                      </a:r>
                    </a:p>
                  </a:txBody>
                  <a:tcPr marL="73152" marR="73152" marT="36576" marB="36576">
                    <a:solidFill>
                      <a:srgbClr val="E8EEF6"/>
                    </a:solidFill>
                  </a:tcPr>
                </a:tc>
                <a:tc>
                  <a:txBody>
                    <a:bodyPr/>
                    <a:lstStyle/>
                    <a:p>
                      <a:r>
                        <a:rPr sz="1200" b="0">
                          <a:solidFill>
                            <a:srgbClr val="1F2937"/>
                          </a:solidFill>
                        </a:rPr>
                        <a:t>Shoshilinch tibbiyot, pediatriya</a:t>
                      </a:r>
                    </a:p>
                  </a:txBody>
                  <a:tcPr marL="73152" marR="73152" marT="36576" marB="36576">
                    <a:solidFill>
                      <a:srgbClr val="E8EEF6"/>
                    </a:solidFill>
                  </a:tcPr>
                </a:tc>
              </a:tr>
              <a:tr h="411480">
                <a:tc>
                  <a:txBody>
                    <a:bodyPr/>
                    <a:lstStyle/>
                    <a:p>
                      <a:r>
                        <a:rPr sz="1200" b="0">
                          <a:solidFill>
                            <a:srgbClr val="1F2937"/>
                          </a:solidFill>
                        </a:rPr>
                        <a:t>Rahbarlik–kooperatsiya</a:t>
                      </a:r>
                    </a:p>
                  </a:txBody>
                  <a:tcPr marL="73152" marR="73152" marT="36576" marB="36576">
                    <a:solidFill>
                      <a:srgbClr val="FFFFFF"/>
                    </a:solidFill>
                  </a:tcPr>
                </a:tc>
                <a:tc>
                  <a:txBody>
                    <a:bodyPr/>
                    <a:lstStyle/>
                    <a:p>
                      <a:r>
                        <a:rPr sz="1200" b="0">
                          <a:solidFill>
                            <a:srgbClr val="1F2937"/>
                          </a:solidFill>
                        </a:rPr>
                        <a:t>Kompetent bemor so‘zsiz bajaradi</a:t>
                      </a:r>
                    </a:p>
                  </a:txBody>
                  <a:tcPr marL="73152" marR="73152" marT="36576" marB="36576">
                    <a:solidFill>
                      <a:srgbClr val="FFFFFF"/>
                    </a:solidFill>
                  </a:tcPr>
                </a:tc>
                <a:tc>
                  <a:txBody>
                    <a:bodyPr/>
                    <a:lstStyle/>
                    <a:p>
                      <a:r>
                        <a:rPr sz="1200" b="0">
                          <a:solidFill>
                            <a:srgbClr val="1F2937"/>
                          </a:solidFill>
                        </a:rPr>
                        <a:t>Infeksion kasalliklar</a:t>
                      </a:r>
                    </a:p>
                  </a:txBody>
                  <a:tcPr marL="73152" marR="73152" marT="36576" marB="36576">
                    <a:solidFill>
                      <a:srgbClr val="FFFFFF"/>
                    </a:solidFill>
                  </a:tcPr>
                </a:tc>
              </a:tr>
              <a:tr h="411480">
                <a:tc>
                  <a:txBody>
                    <a:bodyPr/>
                    <a:lstStyle/>
                    <a:p>
                      <a:r>
                        <a:rPr sz="1200" b="0">
                          <a:solidFill>
                            <a:srgbClr val="1F2937"/>
                          </a:solidFill>
                        </a:rPr>
                        <a:t>Hamkorlik</a:t>
                      </a:r>
                    </a:p>
                  </a:txBody>
                  <a:tcPr marL="73152" marR="73152" marT="36576" marB="36576">
                    <a:solidFill>
                      <a:srgbClr val="E8EEF6"/>
                    </a:solidFill>
                  </a:tcPr>
                </a:tc>
                <a:tc>
                  <a:txBody>
                    <a:bodyPr/>
                    <a:lstStyle/>
                    <a:p>
                      <a:r>
                        <a:rPr sz="1200" b="0">
                          <a:solidFill>
                            <a:srgbClr val="1F2937"/>
                          </a:solidFill>
                        </a:rPr>
                        <a:t>Bemor nisbatan mustaqil, shifokor hamkor</a:t>
                      </a:r>
                    </a:p>
                  </a:txBody>
                  <a:tcPr marL="73152" marR="73152" marT="36576" marB="36576">
                    <a:solidFill>
                      <a:srgbClr val="E8EEF6"/>
                    </a:solidFill>
                  </a:tcPr>
                </a:tc>
                <a:tc>
                  <a:txBody>
                    <a:bodyPr/>
                    <a:lstStyle/>
                    <a:p>
                      <a:r>
                        <a:rPr sz="1200" b="0">
                          <a:solidFill>
                            <a:srgbClr val="1F2937"/>
                          </a:solidFill>
                        </a:rPr>
                        <a:t>Surunkali kasalliklar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model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52, 53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Vitch: to‘rt model (1970-yillar)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1970-yillarda R. Vitch to‘rt modelni ajratgan: sakral, injenerlik, kollegial va kontrakt.</a:t>
            </a:r>
          </a:p>
          <a:p>
            <a:pPr>
              <a:spcAft>
                <a:spcPts val="800"/>
              </a:spcAft>
            </a:pPr>
            <a:r>
              <a:rPr sz="1800">
                <a:solidFill>
                  <a:srgbClr val="1F2937"/>
                </a:solidFill>
                <a:latin typeface="Calibri"/>
              </a:rPr>
              <a:t>▸  Sakral model paternalizmga, kollegial model nopaternalizmga asoslanadi.</a:t>
            </a:r>
          </a:p>
          <a:p>
            <a:pPr>
              <a:spcAft>
                <a:spcPts val="800"/>
              </a:spcAft>
            </a:pPr>
            <a:r>
              <a:rPr sz="1800">
                <a:solidFill>
                  <a:srgbClr val="1F2937"/>
                </a:solidFill>
                <a:latin typeface="Calibri"/>
              </a:rPr>
              <a:t>▸  Vitchning fikricha, shaxs avtonomiyasini ta’minlashga kontrakt modeli ko‘proq mos keladi.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68846"/>
                <a:gridCol w="2250202"/>
                <a:gridCol w="1968926"/>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Mohiyat</a:t>
                      </a:r>
                    </a:p>
                  </a:txBody>
                  <a:tcPr marL="73152" marR="73152" marT="36576" marB="36576">
                    <a:solidFill>
                      <a:srgbClr val="0B1F3A"/>
                    </a:solidFill>
                  </a:tcPr>
                </a:tc>
                <a:tc>
                  <a:txBody>
                    <a:bodyPr/>
                    <a:lstStyle/>
                    <a:p>
                      <a:r>
                        <a:rPr sz="1300" b="1">
                          <a:solidFill>
                            <a:srgbClr val="FFFFFF"/>
                          </a:solidFill>
                        </a:rPr>
                        <a:t>Qo‘llanishi</a:t>
                      </a:r>
                    </a:p>
                  </a:txBody>
                  <a:tcPr marL="73152" marR="73152" marT="36576" marB="36576">
                    <a:solidFill>
                      <a:srgbClr val="0B1F3A"/>
                    </a:solidFill>
                  </a:tcPr>
                </a:tc>
              </a:tr>
              <a:tr h="411480">
                <a:tc>
                  <a:txBody>
                    <a:bodyPr/>
                    <a:lstStyle/>
                    <a:p>
                      <a:r>
                        <a:rPr sz="1200" b="0">
                          <a:solidFill>
                            <a:srgbClr val="1F2937"/>
                          </a:solidFill>
                        </a:rPr>
                        <a:t>Sakral (pastor)</a:t>
                      </a:r>
                    </a:p>
                  </a:txBody>
                  <a:tcPr marL="73152" marR="73152" marT="36576" marB="36576">
                    <a:solidFill>
                      <a:srgbClr val="E8EEF6"/>
                    </a:solidFill>
                  </a:tcPr>
                </a:tc>
                <a:tc>
                  <a:txBody>
                    <a:bodyPr/>
                    <a:lstStyle/>
                    <a:p>
                      <a:r>
                        <a:rPr sz="1200" b="0">
                          <a:solidFill>
                            <a:srgbClr val="1F2937"/>
                          </a:solidFill>
                        </a:rPr>
                        <a:t>Bemor qarorda qatnashmaydi</a:t>
                      </a:r>
                    </a:p>
                  </a:txBody>
                  <a:tcPr marL="73152" marR="73152" marT="36576" marB="36576">
                    <a:solidFill>
                      <a:srgbClr val="E8EEF6"/>
                    </a:solidFill>
                  </a:tcPr>
                </a:tc>
                <a:tc>
                  <a:txBody>
                    <a:bodyPr/>
                    <a:lstStyle/>
                    <a:p>
                      <a:r>
                        <a:rPr sz="1200" b="0">
                          <a:solidFill>
                            <a:srgbClr val="1F2937"/>
                          </a:solidFill>
                        </a:rPr>
                        <a:t>Hushsiz bemor; palliativ yordam</a:t>
                      </a:r>
                    </a:p>
                  </a:txBody>
                  <a:tcPr marL="73152" marR="73152" marT="36576" marB="36576">
                    <a:solidFill>
                      <a:srgbClr val="E8EEF6"/>
                    </a:solidFill>
                  </a:tcPr>
                </a:tc>
              </a:tr>
              <a:tr h="411480">
                <a:tc>
                  <a:txBody>
                    <a:bodyPr/>
                    <a:lstStyle/>
                    <a:p>
                      <a:r>
                        <a:rPr sz="1200" b="0">
                          <a:solidFill>
                            <a:srgbClr val="1F2937"/>
                          </a:solidFill>
                        </a:rPr>
                        <a:t>Injenerlik (texnik)</a:t>
                      </a:r>
                    </a:p>
                  </a:txBody>
                  <a:tcPr marL="73152" marR="73152" marT="36576" marB="36576">
                    <a:solidFill>
                      <a:srgbClr val="FFFFFF"/>
                    </a:solidFill>
                  </a:tcPr>
                </a:tc>
                <a:tc>
                  <a:txBody>
                    <a:bodyPr/>
                    <a:lstStyle/>
                    <a:p>
                      <a:r>
                        <a:rPr sz="1200" b="0">
                          <a:solidFill>
                            <a:srgbClr val="1F2937"/>
                          </a:solidFill>
                        </a:rPr>
                        <a:t>Bemor — mexanizm, shifokor — ekspert</a:t>
                      </a:r>
                    </a:p>
                  </a:txBody>
                  <a:tcPr marL="73152" marR="73152" marT="36576" marB="36576">
                    <a:solidFill>
                      <a:srgbClr val="FFFFFF"/>
                    </a:solidFill>
                  </a:tcPr>
                </a:tc>
                <a:tc>
                  <a:txBody>
                    <a:bodyPr/>
                    <a:lstStyle/>
                    <a:p>
                      <a:r>
                        <a:rPr sz="1200" b="0">
                          <a:solidFill>
                            <a:srgbClr val="1F2937"/>
                          </a:solidFill>
                        </a:rPr>
                        <a:t>Yuqori texnologiya; o‘tkir davr</a:t>
                      </a:r>
                    </a:p>
                  </a:txBody>
                  <a:tcPr marL="73152" marR="73152" marT="36576" marB="36576">
                    <a:solidFill>
                      <a:srgbClr val="FFFFFF"/>
                    </a:solidFill>
                  </a:tcPr>
                </a:tc>
              </a:tr>
              <a:tr h="411480">
                <a:tc>
                  <a:txBody>
                    <a:bodyPr/>
                    <a:lstStyle/>
                    <a:p>
                      <a:r>
                        <a:rPr sz="1200" b="0">
                          <a:solidFill>
                            <a:srgbClr val="1F2937"/>
                          </a:solidFill>
                        </a:rPr>
                        <a:t>Kollegial</a:t>
                      </a:r>
                    </a:p>
                  </a:txBody>
                  <a:tcPr marL="73152" marR="73152" marT="36576" marB="36576">
                    <a:solidFill>
                      <a:srgbClr val="E8EEF6"/>
                    </a:solidFill>
                  </a:tcPr>
                </a:tc>
                <a:tc>
                  <a:txBody>
                    <a:bodyPr/>
                    <a:lstStyle/>
                    <a:p>
                      <a:r>
                        <a:rPr sz="1200" b="0">
                          <a:solidFill>
                            <a:srgbClr val="1F2937"/>
                          </a:solidFill>
                        </a:rPr>
                        <a:t>Teng huquqli, o‘zaro ishonchli hamkorlar</a:t>
                      </a:r>
                    </a:p>
                  </a:txBody>
                  <a:tcPr marL="73152" marR="73152" marT="36576" marB="36576">
                    <a:solidFill>
                      <a:srgbClr val="E8EEF6"/>
                    </a:solidFill>
                  </a:tcPr>
                </a:tc>
                <a:tc>
                  <a:txBody>
                    <a:bodyPr/>
                    <a:lstStyle/>
                    <a:p>
                      <a:r>
                        <a:rPr sz="1200" b="0">
                          <a:solidFill>
                            <a:srgbClr val="1F2937"/>
                          </a:solidFill>
                        </a:rPr>
                        <a:t>Kompetent bemor; surunkali kasallik</a:t>
                      </a:r>
                    </a:p>
                  </a:txBody>
                  <a:tcPr marL="73152" marR="73152" marT="36576" marB="36576">
                    <a:solidFill>
                      <a:srgbClr val="E8EEF6"/>
                    </a:solidFill>
                  </a:tcPr>
                </a:tc>
              </a:tr>
              <a:tr h="411480">
                <a:tc>
                  <a:txBody>
                    <a:bodyPr/>
                    <a:lstStyle/>
                    <a:p>
                      <a:r>
                        <a:rPr sz="1200" b="0">
                          <a:solidFill>
                            <a:srgbClr val="1F2937"/>
                          </a:solidFill>
                        </a:rPr>
                        <a:t>Kontrakt</a:t>
                      </a:r>
                    </a:p>
                  </a:txBody>
                  <a:tcPr marL="73152" marR="73152" marT="36576" marB="36576">
                    <a:solidFill>
                      <a:srgbClr val="FFFFFF"/>
                    </a:solidFill>
                  </a:tcPr>
                </a:tc>
                <a:tc>
                  <a:txBody>
                    <a:bodyPr/>
                    <a:lstStyle/>
                    <a:p>
                      <a:r>
                        <a:rPr sz="1200" b="0">
                          <a:solidFill>
                            <a:srgbClr val="1F2937"/>
                          </a:solidFill>
                        </a:rPr>
                        <a:t>Shartnoma bo‘yicha; buzilsa bekor bo‘ladi</a:t>
                      </a:r>
                    </a:p>
                  </a:txBody>
                  <a:tcPr marL="73152" marR="73152" marT="36576" marB="36576">
                    <a:solidFill>
                      <a:srgbClr val="FFFFFF"/>
                    </a:solidFill>
                  </a:tcPr>
                </a:tc>
                <a:tc>
                  <a:txBody>
                    <a:bodyPr/>
                    <a:lstStyle/>
                    <a:p>
                      <a:r>
                        <a:rPr sz="1200" b="0">
                          <a:solidFill>
                            <a:srgbClr val="1F2937"/>
                          </a:solidFill>
                        </a:rPr>
                        <a:t>Tomonlar kompetent bo‘lishi shart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Vitch modellari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53,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Kollegial va kontrakt: avtonomiya nuqtai nazaridan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Kollegial modelda shifokor va bemor teng huquqli, o‘zaro ishonchli hamkor. Model nopaternalistik yondashuvga tayanadi.</a:t>
            </a:r>
          </a:p>
          <a:p>
            <a:pPr>
              <a:spcAft>
                <a:spcPts val="1200"/>
              </a:spcAft>
            </a:pPr>
            <a:r>
              <a:rPr sz="2200">
                <a:solidFill>
                  <a:srgbClr val="1F2937"/>
                </a:solidFill>
                <a:latin typeface="Calibri"/>
              </a:rPr>
              <a:t>▸  U ma’lum darajada kompetent bemorlarda qo‘llanadi, asosan surunkali kasalliklarni davolash jarayonida.</a:t>
            </a:r>
          </a:p>
          <a:p>
            <a:pPr>
              <a:spcAft>
                <a:spcPts val="1200"/>
              </a:spcAft>
            </a:pPr>
            <a:r>
              <a:rPr sz="2200">
                <a:solidFill>
                  <a:srgbClr val="1F2937"/>
                </a:solidFill>
                <a:latin typeface="Calibri"/>
              </a:rPr>
              <a:t>▸  Haqiqiy tenglik tomonlarning imkoniyati va kompetentligi teng bo‘lishini talab qiladi. Shifokor va bemor buni qiyin ta’minlaydi, amalda kam uchraydi.</a:t>
            </a:r>
          </a:p>
          <a:p>
            <a:pPr>
              <a:spcAft>
                <a:spcPts val="1200"/>
              </a:spcAft>
            </a:pPr>
            <a:r>
              <a:rPr sz="2200">
                <a:solidFill>
                  <a:srgbClr val="1F2937"/>
                </a:solidFill>
                <a:latin typeface="Calibri"/>
              </a:rPr>
              <a:t>▸  Kontrakt modelda tomonlar tuzilgan shartnomaga muvofiq ishlaydi; shart buzilsa, shartnoma bekor qilinishi mumkin. Vitch fikricha, avtonomiya uchun eng mos model shu.</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53,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Emanuel va Emanuel: to‘rt model (1992)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1992-yilda E. va L. Emanuel shifokor faoliyatiga oid to‘rt modelni ajratgan.</a:t>
            </a:r>
          </a:p>
          <a:p>
            <a:pPr>
              <a:spcAft>
                <a:spcPts val="800"/>
              </a:spcAft>
            </a:pPr>
            <a:r>
              <a:rPr sz="1800">
                <a:solidFill>
                  <a:srgbClr val="1F2937"/>
                </a:solidFill>
                <a:latin typeface="Calibri"/>
              </a:rPr>
              <a:t>▸  Ma’lumot berishda avtonomiya saqlanadi, bemordan ma’lum darajada kompetentlik talab qilinadi.</a:t>
            </a:r>
          </a:p>
          <a:p>
            <a:pPr>
              <a:spcAft>
                <a:spcPts val="800"/>
              </a:spcAft>
            </a:pPr>
            <a:r>
              <a:rPr sz="1800">
                <a:solidFill>
                  <a:srgbClr val="1F2937"/>
                </a:solidFill>
                <a:latin typeface="Calibri"/>
              </a:rPr>
              <a:t>▸  Talqin qilish va kengashish modellari paternalistik hamda ma’lumot berish oralig‘idagi variantlardir.</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38320"/>
                <a:gridCol w="3749655"/>
              </a:tblGrid>
              <a:tr h="411480">
                <a:tc>
                  <a:txBody>
                    <a:bodyPr/>
                    <a:lstStyle/>
                    <a:p>
                      <a:r>
                        <a:rPr sz="1400" b="1">
                          <a:solidFill>
                            <a:srgbClr val="FFFFFF"/>
                          </a:solidFill>
                        </a:rPr>
                        <a:t>Model</a:t>
                      </a:r>
                    </a:p>
                  </a:txBody>
                  <a:tcPr marL="73152" marR="73152" marT="36576" marB="36576">
                    <a:solidFill>
                      <a:srgbClr val="0B1F3A"/>
                    </a:solidFill>
                  </a:tcPr>
                </a:tc>
                <a:tc>
                  <a:txBody>
                    <a:bodyPr/>
                    <a:lstStyle/>
                    <a:p>
                      <a:r>
                        <a:rPr sz="1400" b="1">
                          <a:solidFill>
                            <a:srgbClr val="FFFFFF"/>
                          </a:solidFill>
                        </a:rPr>
                        <a:t>Shifokor</a:t>
                      </a:r>
                    </a:p>
                  </a:txBody>
                  <a:tcPr marL="73152" marR="73152" marT="36576" marB="36576">
                    <a:solidFill>
                      <a:srgbClr val="0B1F3A"/>
                    </a:solidFill>
                  </a:tcPr>
                </a:tc>
              </a:tr>
              <a:tr h="411480">
                <a:tc>
                  <a:txBody>
                    <a:bodyPr/>
                    <a:lstStyle/>
                    <a:p>
                      <a:r>
                        <a:rPr sz="1300" b="0">
                          <a:solidFill>
                            <a:srgbClr val="1F2937"/>
                          </a:solidFill>
                        </a:rPr>
                        <a:t>Paternalistik</a:t>
                      </a:r>
                    </a:p>
                  </a:txBody>
                  <a:tcPr marL="73152" marR="73152" marT="36576" marB="36576">
                    <a:solidFill>
                      <a:srgbClr val="E8EEF6"/>
                    </a:solidFill>
                  </a:tcPr>
                </a:tc>
                <a:tc>
                  <a:txBody>
                    <a:bodyPr/>
                    <a:lstStyle/>
                    <a:p>
                      <a:r>
                        <a:rPr sz="1300" b="0">
                          <a:solidFill>
                            <a:srgbClr val="1F2937"/>
                          </a:solidFill>
                        </a:rPr>
                        <a:t>Manfaatni ko‘zlab, o‘zi qaror qiladi</a:t>
                      </a:r>
                    </a:p>
                  </a:txBody>
                  <a:tcPr marL="73152" marR="73152" marT="36576" marB="36576">
                    <a:solidFill>
                      <a:srgbClr val="E8EEF6"/>
                    </a:solidFill>
                  </a:tcPr>
                </a:tc>
              </a:tr>
              <a:tr h="411480">
                <a:tc>
                  <a:txBody>
                    <a:bodyPr/>
                    <a:lstStyle/>
                    <a:p>
                      <a:r>
                        <a:rPr sz="1300" b="0">
                          <a:solidFill>
                            <a:srgbClr val="1F2937"/>
                          </a:solidFill>
                        </a:rPr>
                        <a:t>Ma’lumot berish</a:t>
                      </a:r>
                    </a:p>
                  </a:txBody>
                  <a:tcPr marL="73152" marR="73152" marT="36576" marB="36576">
                    <a:solidFill>
                      <a:srgbClr val="FFFFFF"/>
                    </a:solidFill>
                  </a:tcPr>
                </a:tc>
                <a:tc>
                  <a:txBody>
                    <a:bodyPr/>
                    <a:lstStyle/>
                    <a:p>
                      <a:r>
                        <a:rPr sz="1300" b="0">
                          <a:solidFill>
                            <a:srgbClr val="1F2937"/>
                          </a:solidFill>
                        </a:rPr>
                        <a:t>Ma’lumot beradi; qaror bemorda</a:t>
                      </a:r>
                    </a:p>
                  </a:txBody>
                  <a:tcPr marL="73152" marR="73152" marT="36576" marB="36576">
                    <a:solidFill>
                      <a:srgbClr val="FFFFFF"/>
                    </a:solidFill>
                  </a:tcPr>
                </a:tc>
              </a:tr>
              <a:tr h="411480">
                <a:tc>
                  <a:txBody>
                    <a:bodyPr/>
                    <a:lstStyle/>
                    <a:p>
                      <a:r>
                        <a:rPr sz="1300" b="0">
                          <a:solidFill>
                            <a:srgbClr val="1F2937"/>
                          </a:solidFill>
                        </a:rPr>
                        <a:t>Talqin qilish</a:t>
                      </a:r>
                    </a:p>
                  </a:txBody>
                  <a:tcPr marL="73152" marR="73152" marT="36576" marB="36576">
                    <a:solidFill>
                      <a:srgbClr val="E8EEF6"/>
                    </a:solidFill>
                  </a:tcPr>
                </a:tc>
                <a:tc>
                  <a:txBody>
                    <a:bodyPr/>
                    <a:lstStyle/>
                    <a:p>
                      <a:r>
                        <a:rPr sz="1300" b="0">
                          <a:solidFill>
                            <a:srgbClr val="1F2937"/>
                          </a:solidFill>
                        </a:rPr>
                        <a:t>Maqsad, xavf va oqibatni izohlaydi</a:t>
                      </a:r>
                    </a:p>
                  </a:txBody>
                  <a:tcPr marL="73152" marR="73152" marT="36576" marB="36576">
                    <a:solidFill>
                      <a:srgbClr val="E8EEF6"/>
                    </a:solidFill>
                  </a:tcPr>
                </a:tc>
              </a:tr>
              <a:tr h="411480">
                <a:tc>
                  <a:txBody>
                    <a:bodyPr/>
                    <a:lstStyle/>
                    <a:p>
                      <a:r>
                        <a:rPr sz="1300" b="0">
                          <a:solidFill>
                            <a:srgbClr val="1F2937"/>
                          </a:solidFill>
                        </a:rPr>
                        <a:t>Kengashish</a:t>
                      </a:r>
                    </a:p>
                  </a:txBody>
                  <a:tcPr marL="73152" marR="73152" marT="36576" marB="36576">
                    <a:solidFill>
                      <a:srgbClr val="FFFFFF"/>
                    </a:solidFill>
                  </a:tcPr>
                </a:tc>
                <a:tc>
                  <a:txBody>
                    <a:bodyPr/>
                    <a:lstStyle/>
                    <a:p>
                      <a:r>
                        <a:rPr sz="1300" b="0">
                          <a:solidFill>
                            <a:srgbClr val="1F2937"/>
                          </a:solidFill>
                        </a:rPr>
                        <a:t>Ustoz-do‘st kabi, qadriyatga mos tanlov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Shifokorning roli modellarda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modellarni adashtirmang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Sakral ≠ kontrakt. Sakral model paternalizmga asoslangan, bemor qarorda ishtirok etmaydi; kontraktda ikkala tomon jarayonni nazorat qiladi.</a:t>
            </a:r>
          </a:p>
          <a:p>
            <a:pPr>
              <a:spcAft>
                <a:spcPts val="1200"/>
              </a:spcAft>
            </a:pPr>
            <a:r>
              <a:rPr sz="2200">
                <a:solidFill>
                  <a:srgbClr val="1F2937"/>
                </a:solidFill>
                <a:latin typeface="Calibri"/>
              </a:rPr>
              <a:t>▸  Ma’lumot berish ≠ talqin qilish. Birinchisida shifokor faqat ma’lumot beradi; ikkinchisida maslahatchi sifatida maqsad, xavf va oqibatni ham izohlaydi.</a:t>
            </a:r>
          </a:p>
          <a:p>
            <a:pPr>
              <a:spcAft>
                <a:spcPts val="1200"/>
              </a:spcAft>
            </a:pPr>
            <a:r>
              <a:rPr sz="2200">
                <a:solidFill>
                  <a:srgbClr val="1F2937"/>
                </a:solidFill>
                <a:latin typeface="Calibri"/>
              </a:rPr>
              <a:t>▸  Kollegial model tenglik talabi tufayli amalda kam uchraydi. Sakral model hushsiz bemorda va palliativ yordamda qo‘llanadi.</a:t>
            </a:r>
          </a:p>
          <a:p>
            <a:pPr>
              <a:spcAft>
                <a:spcPts val="1200"/>
              </a:spcAft>
            </a:pPr>
            <a:r>
              <a:rPr sz="2200">
                <a:solidFill>
                  <a:srgbClr val="1F2937"/>
                </a:solidFill>
                <a:latin typeface="Calibri"/>
              </a:rPr>
              <a:t>▸  Kontraktda shartnoma tuzgan tomonlar kompetent bo‘lishi shart; kompetentlik yo‘q bo‘lsa, bu model mos kelmaydi.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53-54, 54, 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Hamshira–bemor munosabat modellari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Hamshira shifokorga qaraganda bemor bilan ko‘proq bo‘ladi va ko‘p muolajani o‘zi bajaradi.</a:t>
            </a:r>
          </a:p>
          <a:p>
            <a:pPr>
              <a:spcAft>
                <a:spcPts val="800"/>
              </a:spcAft>
            </a:pPr>
            <a:r>
              <a:rPr sz="1800">
                <a:solidFill>
                  <a:srgbClr val="1F2937"/>
                </a:solidFill>
                <a:latin typeface="Calibri"/>
              </a:rPr>
              <a:t>▸  Hamshira–bemor munosabatlari birinchi marta 1980 yilda o‘rganilgan va uch model ajratilgan.</a:t>
            </a:r>
          </a:p>
          <a:p>
            <a:pPr>
              <a:spcAft>
                <a:spcPts val="800"/>
              </a:spcAft>
            </a:pPr>
            <a:r>
              <a:rPr sz="1800">
                <a:solidFill>
                  <a:srgbClr val="1F2937"/>
                </a:solidFill>
                <a:latin typeface="Calibri"/>
              </a:rPr>
              <a:t>▸  Ona o‘rnini bosuvchi model cheklangan imkoniyatli, og‘ir ahvoldagi bemorlarga qo‘llanadi.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01661"/>
                <a:gridCol w="2203322"/>
                <a:gridCol w="1982990"/>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Hamshira vazifasi</a:t>
                      </a:r>
                    </a:p>
                  </a:txBody>
                  <a:tcPr marL="73152" marR="73152" marT="36576" marB="36576">
                    <a:solidFill>
                      <a:srgbClr val="0B1F3A"/>
                    </a:solidFill>
                  </a:tcPr>
                </a:tc>
                <a:tc>
                  <a:txBody>
                    <a:bodyPr/>
                    <a:lstStyle/>
                    <a:p>
                      <a:r>
                        <a:rPr sz="1300" b="1">
                          <a:solidFill>
                            <a:srgbClr val="FFFFFF"/>
                          </a:solidFill>
                        </a:rPr>
                        <a:t>Bemor holati</a:t>
                      </a:r>
                    </a:p>
                  </a:txBody>
                  <a:tcPr marL="73152" marR="73152" marT="36576" marB="36576">
                    <a:solidFill>
                      <a:srgbClr val="0B1F3A"/>
                    </a:solidFill>
                  </a:tcPr>
                </a:tc>
              </a:tr>
              <a:tr h="411480">
                <a:tc>
                  <a:txBody>
                    <a:bodyPr/>
                    <a:lstStyle/>
                    <a:p>
                      <a:r>
                        <a:rPr sz="1200" b="0">
                          <a:solidFill>
                            <a:srgbClr val="1F2937"/>
                          </a:solidFill>
                        </a:rPr>
                        <a:t>Ona o‘rnini bosuvchi</a:t>
                      </a:r>
                    </a:p>
                  </a:txBody>
                  <a:tcPr marL="73152" marR="73152" marT="36576" marB="36576">
                    <a:solidFill>
                      <a:srgbClr val="E8EEF6"/>
                    </a:solidFill>
                  </a:tcPr>
                </a:tc>
                <a:tc>
                  <a:txBody>
                    <a:bodyPr/>
                    <a:lstStyle/>
                    <a:p>
                      <a:r>
                        <a:rPr sz="1200" b="0">
                          <a:solidFill>
                            <a:srgbClr val="1F2937"/>
                          </a:solidFill>
                        </a:rPr>
                        <a:t>Manfaatini himoya qiladi, to‘liq javobgar</a:t>
                      </a:r>
                    </a:p>
                  </a:txBody>
                  <a:tcPr marL="73152" marR="73152" marT="36576" marB="36576">
                    <a:solidFill>
                      <a:srgbClr val="E8EEF6"/>
                    </a:solidFill>
                  </a:tcPr>
                </a:tc>
                <a:tc>
                  <a:txBody>
                    <a:bodyPr/>
                    <a:lstStyle/>
                    <a:p>
                      <a:r>
                        <a:rPr sz="1200" b="0">
                          <a:solidFill>
                            <a:srgbClr val="1F2937"/>
                          </a:solidFill>
                        </a:rPr>
                        <a:t>Imkoniyati cheklangan, og‘ir ahvolda</a:t>
                      </a:r>
                    </a:p>
                  </a:txBody>
                  <a:tcPr marL="73152" marR="73152" marT="36576" marB="36576">
                    <a:solidFill>
                      <a:srgbClr val="E8EEF6"/>
                    </a:solidFill>
                  </a:tcPr>
                </a:tc>
              </a:tr>
              <a:tr h="411480">
                <a:tc>
                  <a:txBody>
                    <a:bodyPr/>
                    <a:lstStyle/>
                    <a:p>
                      <a:r>
                        <a:rPr sz="1200" b="0">
                          <a:solidFill>
                            <a:srgbClr val="1F2937"/>
                          </a:solidFill>
                        </a:rPr>
                        <a:t>Texnik</a:t>
                      </a:r>
                    </a:p>
                  </a:txBody>
                  <a:tcPr marL="73152" marR="73152" marT="36576" marB="36576">
                    <a:solidFill>
                      <a:srgbClr val="FFFFFF"/>
                    </a:solidFill>
                  </a:tcPr>
                </a:tc>
                <a:tc>
                  <a:txBody>
                    <a:bodyPr/>
                    <a:lstStyle/>
                    <a:p>
                      <a:r>
                        <a:rPr sz="1200" b="0">
                          <a:solidFill>
                            <a:srgbClr val="1F2937"/>
                          </a:solidFill>
                        </a:rPr>
                        <a:t>Faqat belgilangan muolajani bajaradi</a:t>
                      </a:r>
                    </a:p>
                  </a:txBody>
                  <a:tcPr marL="73152" marR="73152" marT="36576" marB="36576">
                    <a:solidFill>
                      <a:srgbClr val="FFFFFF"/>
                    </a:solidFill>
                  </a:tcPr>
                </a:tc>
                <a:tc>
                  <a:txBody>
                    <a:bodyPr/>
                    <a:lstStyle/>
                    <a:p>
                      <a:r>
                        <a:rPr sz="1200" b="0">
                          <a:solidFill>
                            <a:srgbClr val="1F2937"/>
                          </a:solidFill>
                        </a:rPr>
                        <a:t>Manbada aniq ko‘rsatilmagan</a:t>
                      </a:r>
                    </a:p>
                  </a:txBody>
                  <a:tcPr marL="73152" marR="73152" marT="36576" marB="36576">
                    <a:solidFill>
                      <a:srgbClr val="FFFFFF"/>
                    </a:solidFill>
                  </a:tcPr>
                </a:tc>
              </a:tr>
              <a:tr h="411480">
                <a:tc>
                  <a:txBody>
                    <a:bodyPr/>
                    <a:lstStyle/>
                    <a:p>
                      <a:r>
                        <a:rPr sz="1200" b="0">
                          <a:solidFill>
                            <a:srgbClr val="1F2937"/>
                          </a:solidFill>
                        </a:rPr>
                        <a:t>Kontrakt klinik</a:t>
                      </a:r>
                    </a:p>
                  </a:txBody>
                  <a:tcPr marL="73152" marR="73152" marT="36576" marB="36576">
                    <a:solidFill>
                      <a:srgbClr val="E8EEF6"/>
                    </a:solidFill>
                  </a:tcPr>
                </a:tc>
                <a:tc>
                  <a:txBody>
                    <a:bodyPr/>
                    <a:lstStyle/>
                    <a:p>
                      <a:r>
                        <a:rPr sz="1200" b="0">
                          <a:solidFill>
                            <a:srgbClr val="1F2937"/>
                          </a:solidFill>
                        </a:rPr>
                        <a:t>Bemor qarorini huquqini hurmat qilib bajaradi</a:t>
                      </a:r>
                    </a:p>
                  </a:txBody>
                  <a:tcPr marL="73152" marR="73152" marT="36576" marB="36576">
                    <a:solidFill>
                      <a:srgbClr val="E8EEF6"/>
                    </a:solidFill>
                  </a:tcPr>
                </a:tc>
                <a:tc>
                  <a:txBody>
                    <a:bodyPr/>
                    <a:lstStyle/>
                    <a:p>
                      <a:r>
                        <a:rPr sz="1200" b="0">
                          <a:solidFill>
                            <a:srgbClr val="1F2937"/>
                          </a:solidFill>
                        </a:rPr>
                        <a:t>Maqsad va qarorni o‘zi belgilaydi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Hamshira modellari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54,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Zamonaviy muammolar: ixtisoslik, bozor, ishonch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Bemor bir necha shifokor bilan muloqot qiladi; munosabat yaxlit shaxsga emas, rasmiy tus oladi.</a:t>
            </a:r>
          </a:p>
          <a:p>
            <a:pPr>
              <a:spcAft>
                <a:spcPts val="800"/>
              </a:spcAft>
            </a:pPr>
            <a:r>
              <a:rPr sz="1800">
                <a:solidFill>
                  <a:srgbClr val="1F2937"/>
                </a:solidFill>
                <a:latin typeface="Calibri"/>
              </a:rPr>
              <a:t>▸  Bozorda shifokor xizmat yaratuvchi, bemor iste’molchi; ularning manfaatlari mos kelmasligi mumkin.</a:t>
            </a:r>
          </a:p>
          <a:p>
            <a:pPr>
              <a:spcAft>
                <a:spcPts val="800"/>
              </a:spcAft>
            </a:pPr>
            <a:r>
              <a:rPr sz="1800">
                <a:solidFill>
                  <a:srgbClr val="1F2937"/>
                </a:solidFill>
                <a:latin typeface="Calibri"/>
              </a:rPr>
              <a:t>▸  Ishonch pasayib, o‘zini-o‘zi davolash ko‘paydi; shifokordan sabr va dinamik yondashuv talab etiladi.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ixtisoslik, ko‘p shifokor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Munosabat rasmiylashadi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Yordam xizmatga aylanadi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Shifokorga ishonch pasayadi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O‘zini-o‘zi davolash ko‘payadi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Muammolar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55, 55-56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model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bemor hushsiz, irodasini bildira olmaydi. Mos model sakral (pastor): qarorni shifokor bemor manfaati uchun chiqaradi.</a:t>
            </a:r>
          </a:p>
          <a:p>
            <a:pPr>
              <a:spcAft>
                <a:spcPts val="1200"/>
              </a:spcAft>
            </a:pPr>
            <a:r>
              <a:rPr sz="2200">
                <a:solidFill>
                  <a:srgbClr val="1F2937"/>
                </a:solidFill>
                <a:latin typeface="Calibri"/>
              </a:rPr>
              <a:t>▸  Vaziyat B: surunkali kasal, ma’lum darajada kompetent bemor. Mos model kollegial: tenghuquqli, o‘zaro ishonchli hamkorlik.</a:t>
            </a:r>
          </a:p>
          <a:p>
            <a:pPr>
              <a:spcAft>
                <a:spcPts val="1200"/>
              </a:spcAft>
            </a:pPr>
            <a:r>
              <a:rPr sz="2200">
                <a:solidFill>
                  <a:srgbClr val="1F2937"/>
                </a:solidFill>
                <a:latin typeface="Calibri"/>
              </a:rPr>
              <a:t>▸  Diqqat: haqiqiy tenglik kompetentlikda ham tenglikni talab qiladi; shifokor va bemorda bu qiyin, amalda kam uchraydi.</a:t>
            </a:r>
          </a:p>
          <a:p>
            <a:pPr>
              <a:spcAft>
                <a:spcPts val="1200"/>
              </a:spcAft>
            </a:pPr>
            <a:r>
              <a:rPr sz="2200">
                <a:solidFill>
                  <a:srgbClr val="1F2937"/>
                </a:solidFill>
                <a:latin typeface="Calibri"/>
              </a:rPr>
              <a:t>▸  Savol: hushsiz bemorda nega bemorsiz qaror qabul qilinadi, surunkali bemorda esa nega hamkorlik zarur?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53, 52-53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xavf tushunchasi: morbid va iatrogen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Xavf (tavakkal) — noxush oqibat ehtimoli bor noaniqlik; “xavf” va “tahdid” unga ma’nodosh so‘zlar hisoblanadi.</a:t>
            </a:r>
          </a:p>
          <a:p>
            <a:pPr>
              <a:spcAft>
                <a:spcPts val="800"/>
              </a:spcAft>
            </a:pPr>
            <a:r>
              <a:rPr sz="1800">
                <a:solidFill>
                  <a:srgbClr val="1F2937"/>
                </a:solidFill>
                <a:latin typeface="Calibri"/>
              </a:rPr>
              <a:t>▸  Morbid xavf — muolajadan oldingi sog‘liq holatidan; iatrogen xavf — muolajaning o‘zidan kelib chiqadi.</a:t>
            </a:r>
          </a:p>
          <a:p>
            <a:pPr>
              <a:spcAft>
                <a:spcPts val="800"/>
              </a:spcAft>
            </a:pPr>
            <a:r>
              <a:rPr sz="1800">
                <a:solidFill>
                  <a:srgbClr val="1F2937"/>
                </a:solidFill>
                <a:latin typeface="Calibri"/>
              </a:rPr>
              <a:t>▸  Diqqat: morbid ≠ iatrogen. Birinchisi kasallik holatiga, ikkinchisi davolash amaliga bog‘liq.</a:t>
            </a:r>
          </a:p>
        </p:txBody>
      </p:sp>
      <p:graphicFrame>
        <p:nvGraphicFramePr>
          <p:cNvPr id="9" name="Table 8"/>
          <p:cNvGraphicFramePr>
            <a:graphicFrameLocks noGrp="1"/>
          </p:cNvGraphicFramePr>
          <p:nvPr/>
        </p:nvGraphicFramePr>
        <p:xfrm>
          <a:off x="6263640" y="1463040"/>
          <a:ext cx="5287975" cy="1234440"/>
        </p:xfrm>
        <a:graphic>
          <a:graphicData uri="http://schemas.openxmlformats.org/drawingml/2006/table">
            <a:tbl>
              <a:tblPr firstRow="1" bandRow="1">
                <a:tableStyleId>{5C22544A-7EE6-4342-B048-85BDC9FD1C3A}</a:tableStyleId>
              </a:tblPr>
              <a:tblGrid>
                <a:gridCol w="1262800"/>
                <a:gridCol w="2052050"/>
                <a:gridCol w="1973125"/>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Morbid xavf</a:t>
                      </a:r>
                    </a:p>
                  </a:txBody>
                  <a:tcPr marL="73152" marR="73152" marT="36576" marB="36576">
                    <a:solidFill>
                      <a:srgbClr val="0B1F3A"/>
                    </a:solidFill>
                  </a:tcPr>
                </a:tc>
                <a:tc>
                  <a:txBody>
                    <a:bodyPr/>
                    <a:lstStyle/>
                    <a:p>
                      <a:r>
                        <a:rPr sz="1300" b="1">
                          <a:solidFill>
                            <a:srgbClr val="FFFFFF"/>
                          </a:solidFill>
                        </a:rPr>
                        <a:t>Iatrogen xavf</a:t>
                      </a:r>
                    </a:p>
                  </a:txBody>
                  <a:tcPr marL="73152" marR="73152" marT="36576" marB="36576">
                    <a:solidFill>
                      <a:srgbClr val="0B1F3A"/>
                    </a:solidFill>
                  </a:tcPr>
                </a:tc>
              </a:tr>
              <a:tr h="411480">
                <a:tc>
                  <a:txBody>
                    <a:bodyPr/>
                    <a:lstStyle/>
                    <a:p>
                      <a:r>
                        <a:rPr sz="1200" b="0">
                          <a:solidFill>
                            <a:srgbClr val="1F2937"/>
                          </a:solidFill>
                        </a:rPr>
                        <a:t>Nimaga bog‘liq</a:t>
                      </a:r>
                    </a:p>
                  </a:txBody>
                  <a:tcPr marL="73152" marR="73152" marT="36576" marB="36576">
                    <a:solidFill>
                      <a:srgbClr val="E8EEF6"/>
                    </a:solidFill>
                  </a:tcPr>
                </a:tc>
                <a:tc>
                  <a:txBody>
                    <a:bodyPr/>
                    <a:lstStyle/>
                    <a:p>
                      <a:r>
                        <a:rPr sz="1200" b="0">
                          <a:solidFill>
                            <a:srgbClr val="1F2937"/>
                          </a:solidFill>
                        </a:rPr>
                        <a:t>Bemorning sog‘lig‘i holati</a:t>
                      </a:r>
                    </a:p>
                  </a:txBody>
                  <a:tcPr marL="73152" marR="73152" marT="36576" marB="36576">
                    <a:solidFill>
                      <a:srgbClr val="E8EEF6"/>
                    </a:solidFill>
                  </a:tcPr>
                </a:tc>
                <a:tc>
                  <a:txBody>
                    <a:bodyPr/>
                    <a:lstStyle/>
                    <a:p>
                      <a:r>
                        <a:rPr sz="1200" b="0">
                          <a:solidFill>
                            <a:srgbClr val="1F2937"/>
                          </a:solidFill>
                        </a:rPr>
                        <a:t>Muolajani o‘tkazish</a:t>
                      </a:r>
                    </a:p>
                  </a:txBody>
                  <a:tcPr marL="73152" marR="73152" marT="36576" marB="36576">
                    <a:solidFill>
                      <a:srgbClr val="E8EEF6"/>
                    </a:solidFill>
                  </a:tcPr>
                </a:tc>
              </a:tr>
              <a:tr h="411480">
                <a:tc>
                  <a:txBody>
                    <a:bodyPr/>
                    <a:lstStyle/>
                    <a:p>
                      <a:r>
                        <a:rPr sz="1200" b="0">
                          <a:solidFill>
                            <a:srgbClr val="1F2937"/>
                          </a:solidFill>
                        </a:rPr>
                        <a:t>Vaqt bo‘yicha</a:t>
                      </a:r>
                    </a:p>
                  </a:txBody>
                  <a:tcPr marL="73152" marR="73152" marT="36576" marB="36576">
                    <a:solidFill>
                      <a:srgbClr val="FFFFFF"/>
                    </a:solidFill>
                  </a:tcPr>
                </a:tc>
                <a:tc>
                  <a:txBody>
                    <a:bodyPr/>
                    <a:lstStyle/>
                    <a:p>
                      <a:r>
                        <a:rPr sz="1200" b="0">
                          <a:solidFill>
                            <a:srgbClr val="1F2937"/>
                          </a:solidFill>
                        </a:rPr>
                        <a:t>Muolajaga qadar mavjud</a:t>
                      </a:r>
                    </a:p>
                  </a:txBody>
                  <a:tcPr marL="73152" marR="73152" marT="36576" marB="36576">
                    <a:solidFill>
                      <a:srgbClr val="FFFFFF"/>
                    </a:solidFill>
                  </a:tcPr>
                </a:tc>
                <a:tc>
                  <a:txBody>
                    <a:bodyPr/>
                    <a:lstStyle/>
                    <a:p>
                      <a:r>
                        <a:rPr sz="1200" b="0">
                          <a:solidFill>
                            <a:srgbClr val="1F2937"/>
                          </a:solidFill>
                        </a:rPr>
                        <a:t>Muolajani o‘tkazish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xavf manbai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 manbalari va ta’sirlangan shaxslar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Xavf yangi usullar sinovida, xavfli muolaja qarorida va xodimlar nuqsonlarida paydo bo‘lishi mumkin.</a:t>
            </a:r>
          </a:p>
          <a:p>
            <a:pPr>
              <a:spcAft>
                <a:spcPts val="800"/>
              </a:spcAft>
            </a:pPr>
            <a:r>
              <a:rPr sz="1800">
                <a:solidFill>
                  <a:srgbClr val="1F2937"/>
                </a:solidFill>
                <a:latin typeface="Calibri"/>
              </a:rPr>
              <a:t>▸  Bemor shifokorga murojaat qilmay o‘zini-o‘zi davolasa, noxush hodisa ehtimoli ancha yuqori bo‘ladi.</a:t>
            </a:r>
          </a:p>
          <a:p>
            <a:pPr>
              <a:spcAft>
                <a:spcPts val="800"/>
              </a:spcAft>
            </a:pPr>
            <a:r>
              <a:rPr sz="1800">
                <a:solidFill>
                  <a:srgbClr val="1F2937"/>
                </a:solidFill>
                <a:latin typeface="Calibri"/>
              </a:rPr>
              <a:t>▸  Xavfni uch guruh shaxs nuqtai nazaridan ko‘rib chiqish lozim.</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Kimlar</a:t>
                      </a:r>
                    </a:p>
                  </a:txBody>
                  <a:tcPr marL="73152" marR="73152" marT="36576" marB="36576">
                    <a:solidFill>
                      <a:srgbClr val="0B1F3A"/>
                    </a:solidFill>
                  </a:tcPr>
                </a:tc>
              </a:tr>
              <a:tr h="411480">
                <a:tc>
                  <a:txBody>
                    <a:bodyPr/>
                    <a:lstStyle/>
                    <a:p>
                      <a:r>
                        <a:rPr sz="1300" b="0">
                          <a:solidFill>
                            <a:srgbClr val="1F2937"/>
                          </a:solidFill>
                        </a:rPr>
                        <a:t>1-guruh</a:t>
                      </a:r>
                    </a:p>
                  </a:txBody>
                  <a:tcPr marL="73152" marR="73152" marT="36576" marB="36576">
                    <a:solidFill>
                      <a:srgbClr val="E8EEF6"/>
                    </a:solidFill>
                  </a:tcPr>
                </a:tc>
                <a:tc>
                  <a:txBody>
                    <a:bodyPr/>
                    <a:lstStyle/>
                    <a:p>
                      <a:r>
                        <a:rPr sz="1300" b="0">
                          <a:solidFill>
                            <a:srgbClr val="1F2937"/>
                          </a:solidFill>
                        </a:rPr>
                        <a:t>Muolaja ob’ekti — bemorlar</a:t>
                      </a:r>
                    </a:p>
                  </a:txBody>
                  <a:tcPr marL="73152" marR="73152" marT="36576" marB="36576">
                    <a:solidFill>
                      <a:srgbClr val="E8EEF6"/>
                    </a:solidFill>
                  </a:tcPr>
                </a:tc>
              </a:tr>
              <a:tr h="411480">
                <a:tc>
                  <a:txBody>
                    <a:bodyPr/>
                    <a:lstStyle/>
                    <a:p>
                      <a:r>
                        <a:rPr sz="1300" b="0">
                          <a:solidFill>
                            <a:srgbClr val="1F2937"/>
                          </a:solidFill>
                        </a:rPr>
                        <a:t>2-guruh</a:t>
                      </a:r>
                    </a:p>
                  </a:txBody>
                  <a:tcPr marL="73152" marR="73152" marT="36576" marB="36576">
                    <a:solidFill>
                      <a:srgbClr val="FFFFFF"/>
                    </a:solidFill>
                  </a:tcPr>
                </a:tc>
                <a:tc>
                  <a:txBody>
                    <a:bodyPr/>
                    <a:lstStyle/>
                    <a:p>
                      <a:r>
                        <a:rPr sz="1300" b="0">
                          <a:solidFill>
                            <a:srgbClr val="1F2937"/>
                          </a:solidFill>
                        </a:rPr>
                        <a:t>Muolajani bajaruvchi tibbiy xodimlar</a:t>
                      </a:r>
                    </a:p>
                  </a:txBody>
                  <a:tcPr marL="73152" marR="73152" marT="36576" marB="36576">
                    <a:solidFill>
                      <a:srgbClr val="FFFFFF"/>
                    </a:solidFill>
                  </a:tcPr>
                </a:tc>
              </a:tr>
              <a:tr h="411480">
                <a:tc>
                  <a:txBody>
                    <a:bodyPr/>
                    <a:lstStyle/>
                    <a:p>
                      <a:r>
                        <a:rPr sz="1300" b="0">
                          <a:solidFill>
                            <a:srgbClr val="1F2937"/>
                          </a:solidFill>
                        </a:rPr>
                        <a:t>3-guruh</a:t>
                      </a:r>
                    </a:p>
                  </a:txBody>
                  <a:tcPr marL="73152" marR="73152" marT="36576" marB="36576">
                    <a:solidFill>
                      <a:srgbClr val="E8EEF6"/>
                    </a:solidFill>
                  </a:tcPr>
                </a:tc>
                <a:tc>
                  <a:txBody>
                    <a:bodyPr/>
                    <a:lstStyle/>
                    <a:p>
                      <a:r>
                        <a:rPr sz="1300" b="0">
                          <a:solidFill>
                            <a:srgbClr val="1F2937"/>
                          </a:solidFill>
                        </a:rPr>
                        <a:t>O‘xshash holatdagi shaxslar (klinik sinov)</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Xavfdan ta’sirlanuvchi guruhlar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72, 72-73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Mas’uliyat konsentratsiyasi va ustuvorlik prinsipi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tavakkal doim shaxsiy xarakterga ega: harakatni tibbiy xodim boshqa shaxsga, ya’ni bemorga nisbatan bajaradi.</a:t>
            </a:r>
          </a:p>
          <a:p>
            <a:pPr>
              <a:spcAft>
                <a:spcPts val="1200"/>
              </a:spcAft>
            </a:pPr>
            <a:r>
              <a:rPr sz="2200">
                <a:solidFill>
                  <a:srgbClr val="1F2937"/>
                </a:solidFill>
                <a:latin typeface="Calibri"/>
              </a:rPr>
              <a:t>▸  Mas’uliyat konsentratsiyasi prinsipi: muolajadagi xavf darajasini nazorat qilish va kamaytirish bo‘yicha xodimning shaxsiy mas’uliyati kuchaytiriladi va jamlanadi.</a:t>
            </a:r>
          </a:p>
          <a:p>
            <a:pPr>
              <a:spcAft>
                <a:spcPts val="1200"/>
              </a:spcAft>
            </a:pPr>
            <a:r>
              <a:rPr sz="2200">
                <a:solidFill>
                  <a:srgbClr val="1F2937"/>
                </a:solidFill>
                <a:latin typeface="Calibri"/>
              </a:rPr>
              <a:t>▸  Ustuvorlik prinsipi: xavfga oid masalalar boshqa klinik mulohazalardan ustun; qaror avvalo bemor xavfsizligi va manfaatini ko‘zlab qabul qilinadi.</a:t>
            </a:r>
          </a:p>
          <a:p>
            <a:pPr>
              <a:spcAft>
                <a:spcPts val="1200"/>
              </a:spcAft>
            </a:pPr>
            <a:r>
              <a:rPr sz="2200">
                <a:solidFill>
                  <a:srgbClr val="1F2937"/>
                </a:solidFill>
                <a:latin typeface="Calibri"/>
              </a:rPr>
              <a:t>▸  Diqqat: konsentratsiya — kim mas’ul ekanini, ustuvorlik — qaysi masala birinchi turishini bildiradi. Boshqa mulohazalar ikkilamchi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qarorning to‘rt kvadrat usuli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Jonsen va boshqalar (1982) usuli individual klinik qarorda to‘rt masalani ko‘rib chiqishni nazarda tutadi.</a:t>
            </a:r>
          </a:p>
          <a:p>
            <a:pPr>
              <a:spcAft>
                <a:spcPts val="800"/>
              </a:spcAft>
            </a:pPr>
            <a:r>
              <a:rPr sz="1800">
                <a:solidFill>
                  <a:srgbClr val="1F2937"/>
                </a:solidFill>
                <a:latin typeface="Calibri"/>
              </a:rPr>
              <a:t>▸  Tibbiy ko‘rsatma: tashxis, muqobil davo variantlari, prognoz va asorat xavfi to‘planib baholanadi.</a:t>
            </a:r>
          </a:p>
          <a:p>
            <a:pPr>
              <a:spcAft>
                <a:spcPts val="800"/>
              </a:spcAft>
            </a:pPr>
            <a:r>
              <a:rPr sz="1800">
                <a:solidFill>
                  <a:srgbClr val="1F2937"/>
                </a:solidFill>
                <a:latin typeface="Calibri"/>
              </a:rPr>
              <a:t>▸  Eslab qoling: kvadratlar aynan shu ketma-ketlikda, birinchisidan to‘rtinchisigacha ko‘riladi.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Tibbiy ko‘rsatmalar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Bemorning xohishi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Hayot sifati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Kontekstual holatlar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kvadrat ketma-ketligi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kvadrat: o‘tkir pnevmoniya misoli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Ushakov (2016) misolida bemor kasalxonaga yotishni rad etib, uyda davolanishni xohlaydi.</a:t>
            </a:r>
          </a:p>
          <a:p>
            <a:pPr>
              <a:spcAft>
                <a:spcPts val="800"/>
              </a:spcAft>
            </a:pPr>
            <a:r>
              <a:rPr sz="1800">
                <a:solidFill>
                  <a:srgbClr val="1F2937"/>
                </a:solidFill>
                <a:latin typeface="Calibri"/>
              </a:rPr>
              <a:t>▸  Qaror oila uyda qancha yordam va qanday sharoit yarata olishiga qarab qabul qilinadi.</a:t>
            </a:r>
          </a:p>
          <a:p>
            <a:pPr>
              <a:spcAft>
                <a:spcPts val="800"/>
              </a:spcAft>
            </a:pPr>
            <a:r>
              <a:rPr sz="1800">
                <a:solidFill>
                  <a:srgbClr val="1F2937"/>
                </a:solidFill>
                <a:latin typeface="Calibri"/>
              </a:rPr>
              <a:t>▸  Diqqat: bu yerda ko‘rsatma va xohish mos kelmaydi; 3- va 4-kvadratlar qarorga yordam beradi.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Kvadrat</a:t>
                      </a:r>
                    </a:p>
                  </a:txBody>
                  <a:tcPr marL="73152" marR="73152" marT="36576" marB="36576">
                    <a:solidFill>
                      <a:srgbClr val="0B1F3A"/>
                    </a:solidFill>
                  </a:tcPr>
                </a:tc>
                <a:tc>
                  <a:txBody>
                    <a:bodyPr/>
                    <a:lstStyle/>
                    <a:p>
                      <a:r>
                        <a:rPr sz="1400" b="1">
                          <a:solidFill>
                            <a:srgbClr val="FFFFFF"/>
                          </a:solidFill>
                        </a:rPr>
                        <a:t>Misolda</a:t>
                      </a:r>
                    </a:p>
                  </a:txBody>
                  <a:tcPr marL="73152" marR="73152" marT="36576" marB="36576">
                    <a:solidFill>
                      <a:srgbClr val="0B1F3A"/>
                    </a:solidFill>
                  </a:tcPr>
                </a:tc>
              </a:tr>
              <a:tr h="411480">
                <a:tc>
                  <a:txBody>
                    <a:bodyPr/>
                    <a:lstStyle/>
                    <a:p>
                      <a:r>
                        <a:rPr sz="1300" b="0">
                          <a:solidFill>
                            <a:srgbClr val="1F2937"/>
                          </a:solidFill>
                        </a:rPr>
                        <a:t>Tibbiy ko‘rsatma</a:t>
                      </a:r>
                    </a:p>
                  </a:txBody>
                  <a:tcPr marL="73152" marR="73152" marT="36576" marB="36576">
                    <a:solidFill>
                      <a:srgbClr val="E8EEF6"/>
                    </a:solidFill>
                  </a:tcPr>
                </a:tc>
                <a:tc>
                  <a:txBody>
                    <a:bodyPr/>
                    <a:lstStyle/>
                    <a:p>
                      <a:r>
                        <a:rPr sz="1300" b="0">
                          <a:solidFill>
                            <a:srgbClr val="1F2937"/>
                          </a:solidFill>
                        </a:rPr>
                        <a:t>O‘tkir pnevmoniya, statsionarda davolash kerak</a:t>
                      </a:r>
                    </a:p>
                  </a:txBody>
                  <a:tcPr marL="73152" marR="73152" marT="36576" marB="36576">
                    <a:solidFill>
                      <a:srgbClr val="E8EEF6"/>
                    </a:solidFill>
                  </a:tcPr>
                </a:tc>
              </a:tr>
              <a:tr h="411480">
                <a:tc>
                  <a:txBody>
                    <a:bodyPr/>
                    <a:lstStyle/>
                    <a:p>
                      <a:r>
                        <a:rPr sz="1300" b="0">
                          <a:solidFill>
                            <a:srgbClr val="1F2937"/>
                          </a:solidFill>
                        </a:rPr>
                        <a:t>Bemor xohishi</a:t>
                      </a:r>
                    </a:p>
                  </a:txBody>
                  <a:tcPr marL="73152" marR="73152" marT="36576" marB="36576">
                    <a:solidFill>
                      <a:srgbClr val="FFFFFF"/>
                    </a:solidFill>
                  </a:tcPr>
                </a:tc>
                <a:tc>
                  <a:txBody>
                    <a:bodyPr/>
                    <a:lstStyle/>
                    <a:p>
                      <a:r>
                        <a:rPr sz="1300" b="0">
                          <a:solidFill>
                            <a:srgbClr val="1F2937"/>
                          </a:solidFill>
                        </a:rPr>
                        <a:t>Uyda davolanmoqchi, xavfdan ogohlantirilgan</a:t>
                      </a:r>
                    </a:p>
                  </a:txBody>
                  <a:tcPr marL="73152" marR="73152" marT="36576" marB="36576">
                    <a:solidFill>
                      <a:srgbClr val="FFFFFF"/>
                    </a:solidFill>
                  </a:tcPr>
                </a:tc>
              </a:tr>
              <a:tr h="411480">
                <a:tc>
                  <a:txBody>
                    <a:bodyPr/>
                    <a:lstStyle/>
                    <a:p>
                      <a:r>
                        <a:rPr sz="1300" b="0">
                          <a:solidFill>
                            <a:srgbClr val="1F2937"/>
                          </a:solidFill>
                        </a:rPr>
                        <a:t>Hayot sifati</a:t>
                      </a:r>
                    </a:p>
                  </a:txBody>
                  <a:tcPr marL="73152" marR="73152" marT="36576" marB="36576">
                    <a:solidFill>
                      <a:srgbClr val="E8EEF6"/>
                    </a:solidFill>
                  </a:tcPr>
                </a:tc>
                <a:tc>
                  <a:txBody>
                    <a:bodyPr/>
                    <a:lstStyle/>
                    <a:p>
                      <a:r>
                        <a:rPr sz="1300" b="0">
                          <a:solidFill>
                            <a:srgbClr val="1F2937"/>
                          </a:solidFill>
                        </a:rPr>
                        <a:t>Stress kasallikka zarar berishi mumkin</a:t>
                      </a:r>
                    </a:p>
                  </a:txBody>
                  <a:tcPr marL="73152" marR="73152" marT="36576" marB="36576">
                    <a:solidFill>
                      <a:srgbClr val="E8EEF6"/>
                    </a:solidFill>
                  </a:tcPr>
                </a:tc>
              </a:tr>
              <a:tr h="411480">
                <a:tc>
                  <a:txBody>
                    <a:bodyPr/>
                    <a:lstStyle/>
                    <a:p>
                      <a:r>
                        <a:rPr sz="1300" b="0">
                          <a:solidFill>
                            <a:srgbClr val="1F2937"/>
                          </a:solidFill>
                        </a:rPr>
                        <a:t>Kontekst</a:t>
                      </a:r>
                    </a:p>
                  </a:txBody>
                  <a:tcPr marL="73152" marR="73152" marT="36576" marB="36576">
                    <a:solidFill>
                      <a:srgbClr val="FFFFFF"/>
                    </a:solidFill>
                  </a:tcPr>
                </a:tc>
                <a:tc>
                  <a:txBody>
                    <a:bodyPr/>
                    <a:lstStyle/>
                    <a:p>
                      <a:r>
                        <a:rPr sz="1300" b="0">
                          <a:solidFill>
                            <a:srgbClr val="1F2937"/>
                          </a:solidFill>
                        </a:rPr>
                        <a:t>Oila uyda qancha yordam bera 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Misol kvadratlar bo‘yicha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morbid va iatrogen xavf qanday farqlanadi? Javob: biri muolajadan oldingi sog‘liq holatiga, ikkinchisi muolajani o‘tkazishga bog‘liq.</a:t>
            </a:r>
          </a:p>
          <a:p>
            <a:pPr>
              <a:spcAft>
                <a:spcPts val="1200"/>
              </a:spcAft>
            </a:pPr>
            <a:r>
              <a:rPr sz="2200">
                <a:solidFill>
                  <a:srgbClr val="1F2937"/>
                </a:solidFill>
                <a:latin typeface="Calibri"/>
              </a:rPr>
              <a:t>▸  2-savol: to‘rt kvadratda qaysi masala birinchi, qaysi oxirgi? Javob: tibbiy ko‘rsatma birinchi, kontekstual holatlar oxirgi.</a:t>
            </a:r>
          </a:p>
          <a:p>
            <a:pPr>
              <a:spcAft>
                <a:spcPts val="1200"/>
              </a:spcAft>
            </a:pPr>
            <a:r>
              <a:rPr sz="2200">
                <a:solidFill>
                  <a:srgbClr val="1F2937"/>
                </a:solidFill>
                <a:latin typeface="Calibri"/>
              </a:rPr>
              <a:t>▸  3-savol: mas‘uliyat konsentratsiyasi nimani anglatadi? Javob: xavfni nazorat qilish va kamaytirishda xodimning shaxsiy mas‘uliyatini kuchaytirish va jamlash.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72, 74, 73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Birgalikda qaror qabul qilish modeli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Inson huquqlari talablariga ko‘proq mos va bemorning individual ehtiyojiga mutanosib modellardan biri – “shared decision”.</a:t>
            </a:r>
          </a:p>
          <a:p>
            <a:pPr>
              <a:spcAft>
                <a:spcPts val="1200"/>
              </a:spcAft>
            </a:pPr>
            <a:r>
              <a:rPr sz="2200">
                <a:solidFill>
                  <a:srgbClr val="1F2937"/>
                </a:solidFill>
                <a:latin typeface="Calibri"/>
              </a:rPr>
              <a:t>▸  Bu modelda shifokor bemorga faqat ma‘lumot yetkazish bilan cheklanib qolmaydi.</a:t>
            </a:r>
          </a:p>
          <a:p>
            <a:pPr>
              <a:spcAft>
                <a:spcPts val="1200"/>
              </a:spcAft>
            </a:pPr>
            <a:r>
              <a:rPr sz="2200">
                <a:solidFill>
                  <a:srgbClr val="1F2937"/>
                </a:solidFill>
                <a:latin typeface="Calibri"/>
              </a:rPr>
              <a:t>▸  Muolaja haqidagi qarorni shifokor va bemor o‘zaro hamkorlikda, birgalikda qabul qiladi.</a:t>
            </a:r>
          </a:p>
          <a:p>
            <a:pPr>
              <a:spcAft>
                <a:spcPts val="1200"/>
              </a:spcAft>
            </a:pPr>
            <a:r>
              <a:rPr sz="2200">
                <a:solidFill>
                  <a:srgbClr val="1F2937"/>
                </a:solidFill>
                <a:latin typeface="Calibri"/>
              </a:rPr>
              <a:t>▸  Diqqat: “ma‘lumot berish” modelida shifokor faqat ma‘lumot beradi, qarorni bemor o‘zi qabul qiladi. Mohiyati shared decision’dan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75,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 effekt prinsipi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Bitta muolaja bir vaqtda ham maqsadli foyda, ham qo‘shimcha salbiy effektga olib kelishi mumkin.</a:t>
            </a:r>
          </a:p>
          <a:p>
            <a:pPr>
              <a:spcAft>
                <a:spcPts val="800"/>
              </a:spcAft>
            </a:pPr>
            <a:r>
              <a:rPr sz="1800">
                <a:solidFill>
                  <a:srgbClr val="1F2937"/>
                </a:solidFill>
                <a:latin typeface="Calibri"/>
              </a:rPr>
              <a:t>▸  Salbiy natija maqsad emas; u ikkilamchi nohush oqibat sifatida yuzaga keladi.</a:t>
            </a:r>
          </a:p>
          <a:p>
            <a:pPr>
              <a:spcAft>
                <a:spcPts val="800"/>
              </a:spcAft>
            </a:pPr>
            <a:r>
              <a:rPr sz="1800">
                <a:solidFill>
                  <a:srgbClr val="1F2937"/>
                </a:solidFill>
                <a:latin typeface="Calibri"/>
              </a:rPr>
              <a:t>▸  Oldindan ko‘rilgan salbiy oqibatning oldini olish bo‘yicha barcha choralar ko‘rilishi shart.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Shart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 Harakat mohiyati</a:t>
                      </a:r>
                    </a:p>
                  </a:txBody>
                  <a:tcPr marL="73152" marR="73152" marT="36576" marB="36576">
                    <a:solidFill>
                      <a:srgbClr val="E8EEF6"/>
                    </a:solidFill>
                  </a:tcPr>
                </a:tc>
                <a:tc>
                  <a:txBody>
                    <a:bodyPr/>
                    <a:lstStyle/>
                    <a:p>
                      <a:r>
                        <a:rPr sz="1300" b="0">
                          <a:solidFill>
                            <a:srgbClr val="1F2937"/>
                          </a:solidFill>
                        </a:rPr>
                        <a:t>O‘zi noto‘g‘ri bo‘lmasligi, axloqan maqbul</a:t>
                      </a:r>
                    </a:p>
                  </a:txBody>
                  <a:tcPr marL="73152" marR="73152" marT="36576" marB="36576">
                    <a:solidFill>
                      <a:srgbClr val="E8EEF6"/>
                    </a:solidFill>
                  </a:tcPr>
                </a:tc>
              </a:tr>
              <a:tr h="411480">
                <a:tc>
                  <a:txBody>
                    <a:bodyPr/>
                    <a:lstStyle/>
                    <a:p>
                      <a:r>
                        <a:rPr sz="1300" b="0">
                          <a:solidFill>
                            <a:srgbClr val="1F2937"/>
                          </a:solidFill>
                        </a:rPr>
                        <a:t>2. Niyat</a:t>
                      </a:r>
                    </a:p>
                  </a:txBody>
                  <a:tcPr marL="73152" marR="73152" marT="36576" marB="36576">
                    <a:solidFill>
                      <a:srgbClr val="FFFFFF"/>
                    </a:solidFill>
                  </a:tcPr>
                </a:tc>
                <a:tc>
                  <a:txBody>
                    <a:bodyPr/>
                    <a:lstStyle/>
                    <a:p>
                      <a:r>
                        <a:rPr sz="1300" b="0">
                          <a:solidFill>
                            <a:srgbClr val="1F2937"/>
                          </a:solidFill>
                        </a:rPr>
                        <a:t>Salbiy oqibat ko‘rilsa ham, ezgu niyat</a:t>
                      </a:r>
                    </a:p>
                  </a:txBody>
                  <a:tcPr marL="73152" marR="73152" marT="36576" marB="36576">
                    <a:solidFill>
                      <a:srgbClr val="FFFFFF"/>
                    </a:solidFill>
                  </a:tcPr>
                </a:tc>
              </a:tr>
              <a:tr h="411480">
                <a:tc>
                  <a:txBody>
                    <a:bodyPr/>
                    <a:lstStyle/>
                    <a:p>
                      <a:r>
                        <a:rPr sz="1300" b="0">
                          <a:solidFill>
                            <a:srgbClr val="1F2937"/>
                          </a:solidFill>
                        </a:rPr>
                        <a:t>3. Vosita ≠ oqibat</a:t>
                      </a:r>
                    </a:p>
                  </a:txBody>
                  <a:tcPr marL="73152" marR="73152" marT="36576" marB="36576">
                    <a:solidFill>
                      <a:srgbClr val="E8EEF6"/>
                    </a:solidFill>
                  </a:tcPr>
                </a:tc>
                <a:tc>
                  <a:txBody>
                    <a:bodyPr/>
                    <a:lstStyle/>
                    <a:p>
                      <a:r>
                        <a:rPr sz="1300" b="0">
                          <a:solidFill>
                            <a:srgbClr val="1F2937"/>
                          </a:solidFill>
                        </a:rPr>
                        <a:t>Salbiy effekt ijobiy natijaga vosita emas</a:t>
                      </a:r>
                    </a:p>
                  </a:txBody>
                  <a:tcPr marL="73152" marR="73152" marT="36576" marB="36576">
                    <a:solidFill>
                      <a:srgbClr val="E8EEF6"/>
                    </a:solidFill>
                  </a:tcPr>
                </a:tc>
              </a:tr>
              <a:tr h="411480">
                <a:tc>
                  <a:txBody>
                    <a:bodyPr/>
                    <a:lstStyle/>
                    <a:p>
                      <a:r>
                        <a:rPr sz="1300" b="0">
                          <a:solidFill>
                            <a:srgbClr val="1F2937"/>
                          </a:solidFill>
                        </a:rPr>
                        <a:t>4. Proporsionallik</a:t>
                      </a:r>
                    </a:p>
                  </a:txBody>
                  <a:tcPr marL="73152" marR="73152" marT="36576" marB="36576">
                    <a:solidFill>
                      <a:srgbClr val="FFFFFF"/>
                    </a:solidFill>
                  </a:tcPr>
                </a:tc>
                <a:tc>
                  <a:txBody>
                    <a:bodyPr/>
                    <a:lstStyle/>
                    <a:p>
                      <a:r>
                        <a:rPr sz="1300" b="0">
                          <a:solidFill>
                            <a:srgbClr val="1F2937"/>
                          </a:solidFill>
                        </a:rPr>
                        <a:t>Ijobiy effekt salbiydan ancha salmoqli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Qo‘sh effektning 4 sharti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75, 76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Asosli xavf: Jinoyat kodeksi 41-moddasi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Ijtimoiy foydali maqsad uchun kasbiy asosli xavf qilib zarar yetkazish jinoyat deb topilmaydi.</a:t>
            </a:r>
          </a:p>
          <a:p>
            <a:pPr>
              <a:spcAft>
                <a:spcPts val="800"/>
              </a:spcAft>
            </a:pPr>
            <a:r>
              <a:rPr sz="1800">
                <a:solidFill>
                  <a:srgbClr val="1F2937"/>
                </a:solidFill>
                <a:latin typeface="Calibri"/>
              </a:rPr>
              <a:t>▸  Asosli xavfda maqsadga erishilmasa yoki zarar foydadan ko‘p bo‘lsa ham, javobgarlik yuzaga kelmaydi.</a:t>
            </a:r>
          </a:p>
          <a:p>
            <a:pPr>
              <a:spcAft>
                <a:spcPts val="800"/>
              </a:spcAft>
            </a:pPr>
            <a:r>
              <a:rPr sz="1800">
                <a:solidFill>
                  <a:srgbClr val="1F2937"/>
                </a:solidFill>
                <a:latin typeface="Calibri"/>
              </a:rPr>
              <a:t>▸  Diqqat: odamlar halokati, ekologik halokat yoki og‘ir oqibat xavfi bilinsa, xavf asosli hisoblanmaydi.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Ijtimoiy foydali maqsad</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Ilmiy-texnik bilimga muvofiq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Boshqacha erishib bo‘lmaydi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Oldini olish choralari ko‘rilgan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asosli deb topiladi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 qachon asosli bo‘ladi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76,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Britaniya tibbiyot assotsiatsiyasi: xavfning besh darajasi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Britaniya tibbiyot assotsiatsiyasi klinik xavfni besh yo‘nalishda ko‘rib chiqishni tavsiya etadi.</a:t>
            </a:r>
          </a:p>
          <a:p>
            <a:pPr>
              <a:spcAft>
                <a:spcPts val="800"/>
              </a:spcAft>
            </a:pPr>
            <a:r>
              <a:rPr sz="1800">
                <a:solidFill>
                  <a:srgbClr val="1F2937"/>
                </a:solidFill>
                <a:latin typeface="Calibri"/>
              </a:rPr>
              <a:t>▸  Bemorlar ko‘p narsa kutadi, shifokor esa har doim mo‘jizakor bo‘lolmaydi; xavfni tushuntirish zarur.</a:t>
            </a:r>
          </a:p>
          <a:p>
            <a:pPr>
              <a:spcAft>
                <a:spcPts val="800"/>
              </a:spcAft>
            </a:pPr>
            <a:r>
              <a:rPr sz="1800">
                <a:solidFill>
                  <a:srgbClr val="1F2937"/>
                </a:solidFill>
                <a:latin typeface="Calibri"/>
              </a:rPr>
              <a:t>▸  Diagnostik xato davolash nuqsoniga, so‘ng asoratga olib boradigan xatolar zanjirini yaratishi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Bemorning xavfni qabul qilishi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kompetensiyasi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Tizimli xato-kamchiliklar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Mablag‘ tejash xavfi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Bartaraf etib bo‘lmaydigan xavf</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Xavfning besh darajasi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Xavfsizlik madaniyati va tashkiliy bioetika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Tashkiliy bioetika tibbiy yordam ko‘rsatishdagi tizimli shart-sharoitlarni va ularning yordam sifatiga ta’sirini o‘rganadi.</a:t>
            </a:r>
          </a:p>
          <a:p>
            <a:pPr>
              <a:spcAft>
                <a:spcPts val="1200"/>
              </a:spcAft>
            </a:pPr>
            <a:r>
              <a:rPr sz="2200">
                <a:solidFill>
                  <a:srgbClr val="1F2937"/>
                </a:solidFill>
                <a:latin typeface="Calibri"/>
              </a:rPr>
              <a:t>▸  Xato va jazolanish ehtimoli xodimlar faoliyatiga qo‘rquv aralashtirmasligi kerak; rasmiyatchilik natija bermaydi, chora-tadbirlarni rahbariyat va jamoa birga olib boradi.</a:t>
            </a:r>
          </a:p>
          <a:p>
            <a:pPr>
              <a:spcAft>
                <a:spcPts val="1200"/>
              </a:spcAft>
            </a:pPr>
            <a:r>
              <a:rPr sz="2200">
                <a:solidFill>
                  <a:srgbClr val="1F2937"/>
                </a:solidFill>
                <a:latin typeface="Calibri"/>
              </a:rPr>
              <a:t>▸  Rivojlangan mamlakatlarda xavfsizlik madaniyatini shakllantirish uchun bemor xavfsizligi dasturlari joriy etilmoqda; xavfsizlikni oshirish uzluksiz jarayon.</a:t>
            </a:r>
          </a:p>
          <a:p>
            <a:pPr>
              <a:spcAft>
                <a:spcPts val="1200"/>
              </a:spcAft>
            </a:pPr>
            <a:r>
              <a:rPr sz="2200">
                <a:solidFill>
                  <a:srgbClr val="1F2937"/>
                </a:solidFill>
                <a:latin typeface="Calibri"/>
              </a:rPr>
              <a:t>▸  Axborotli rozilik bemorga xavf va muqobil usullarni bildirib, qarorning asosliligini oshiradi va shifokorni ham mas’uliyatliroq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77, 79, 79-80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sabablar tahlili va ‘beshta nega’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Xatoni takrorlamaslik — yaxshilashning eng oddiy va kam xarajatli usuli.</a:t>
            </a:r>
          </a:p>
          <a:p>
            <a:pPr>
              <a:spcAft>
                <a:spcPts val="800"/>
              </a:spcAft>
            </a:pPr>
            <a:r>
              <a:rPr sz="1800">
                <a:solidFill>
                  <a:srgbClr val="1F2937"/>
                </a:solidFill>
                <a:latin typeface="Calibri"/>
              </a:rPr>
              <a:t>▸  Tahlilda nohush holatning ildiz sabablari va unga bilvosita ta’sir etgan omillar aniqlanadi.</a:t>
            </a:r>
          </a:p>
          <a:p>
            <a:pPr>
              <a:spcAft>
                <a:spcPts val="800"/>
              </a:spcAft>
            </a:pPr>
            <a:r>
              <a:rPr sz="1800">
                <a:solidFill>
                  <a:srgbClr val="1F2937"/>
                </a:solidFill>
                <a:latin typeface="Calibri"/>
              </a:rPr>
              <a:t>▸  ‘Beshta nega’ texnikasida har holat bo‘yicha ‘nega?’ savoliga bir necha marta javob izlanadi.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Nohush hodisa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Birinchi ‘nega?’ savoli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Navbatdagi ‘nega?’ savollari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Chuqur tizimli sabab topiladi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Takrorlamaslik choralari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Beshta nega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xavf va asosli qaror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vaziyati: bemor hayotini saqlab qolishning boshqa yo‘li yo‘q edi. Shifokor xavfli muolajani tanladi va asorat yuz berdi.</a:t>
            </a:r>
          </a:p>
          <a:p>
            <a:pPr>
              <a:spcAft>
                <a:spcPts val="1200"/>
              </a:spcAft>
            </a:pPr>
            <a:r>
              <a:rPr sz="2200">
                <a:solidFill>
                  <a:srgbClr val="1F2937"/>
                </a:solidFill>
                <a:latin typeface="Calibri"/>
              </a:rPr>
              <a:t>▸  Jinoyat kodeksining 41-moddasi: xavf ilmiy bilimlarga mos, maqsadga xavfsiz erishib bo‘lmagan va zararning oldini olish choralari ko‘rilgan bo‘lsa, asosli.</a:t>
            </a:r>
          </a:p>
          <a:p>
            <a:pPr>
              <a:spcAft>
                <a:spcPts val="1200"/>
              </a:spcAft>
            </a:pPr>
            <a:r>
              <a:rPr sz="2200">
                <a:solidFill>
                  <a:srgbClr val="1F2937"/>
                </a:solidFill>
                <a:latin typeface="Calibri"/>
              </a:rPr>
              <a:t>▸  Ko‘p odam halok bo‘lishi yoki ekologik falokat xavfini bila turib qilingan tavakkalchilik asosli deb topilmaydi.</a:t>
            </a:r>
          </a:p>
          <a:p>
            <a:pPr>
              <a:spcAft>
                <a:spcPts val="1200"/>
              </a:spcAft>
            </a:pPr>
            <a:r>
              <a:rPr sz="2200">
                <a:solidFill>
                  <a:srgbClr val="1F2937"/>
                </a:solidFill>
                <a:latin typeface="Calibri"/>
              </a:rPr>
              <a:t>▸  Savol: xato bitta shifokorniki yoki tizimniki? Britaniya tibbiyot assotsiatsiyasi tizimli xatolarni ajratadi; sabab “beshta nega” bilan qidiriladi.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77, 76, 78-79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Biotibbiy tadqiqotlar tarixi: kashfiyotlar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Yorg 17 xil dorini, Forsman esa yurak kateterini o‘zida sinab ko‘rgan fidoyi tadqiqotchilardir.</a:t>
            </a:r>
          </a:p>
          <a:p>
            <a:pPr>
              <a:spcAft>
                <a:spcPts val="800"/>
              </a:spcAft>
            </a:pPr>
            <a:r>
              <a:rPr sz="1800">
                <a:solidFill>
                  <a:srgbClr val="1F2937"/>
                </a:solidFill>
                <a:latin typeface="Calibri"/>
              </a:rPr>
              <a:t>▸  Bekon: tibbiyot ilmiy asoslanishi kerak, ammo odamda tajriba o‘tkazish axloqan qiyin.</a:t>
            </a:r>
          </a:p>
          <a:p>
            <a:pPr>
              <a:spcAft>
                <a:spcPts val="800"/>
              </a:spcAft>
            </a:pPr>
            <a:r>
              <a:rPr sz="1800">
                <a:solidFill>
                  <a:srgbClr val="1F2937"/>
                </a:solidFill>
                <a:latin typeface="Calibri"/>
              </a:rPr>
              <a:t>▸  Bernar: ilm taraqqiyoti uchun odamlarni xavf ostiga qo‘yish axloqqa zid.</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19368"/>
                <a:gridCol w="2293579"/>
                <a:gridCol w="1975026"/>
              </a:tblGrid>
              <a:tr h="411480">
                <a:tc>
                  <a:txBody>
                    <a:bodyPr/>
                    <a:lstStyle/>
                    <a:p>
                      <a:r>
                        <a:rPr sz="1300" b="1">
                          <a:solidFill>
                            <a:srgbClr val="FFFFFF"/>
                          </a:solidFill>
                        </a:rPr>
                        <a:t>Shaxs</a:t>
                      </a:r>
                    </a:p>
                  </a:txBody>
                  <a:tcPr marL="73152" marR="73152" marT="36576" marB="36576">
                    <a:solidFill>
                      <a:srgbClr val="0B1F3A"/>
                    </a:solidFill>
                  </a:tcPr>
                </a:tc>
                <a:tc>
                  <a:txBody>
                    <a:bodyPr/>
                    <a:lstStyle/>
                    <a:p>
                      <a:r>
                        <a:rPr sz="1300" b="1">
                          <a:solidFill>
                            <a:srgbClr val="FFFFFF"/>
                          </a:solidFill>
                        </a:rPr>
                        <a:t>Tajriba</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Pare (1510-1590)</a:t>
                      </a:r>
                    </a:p>
                  </a:txBody>
                  <a:tcPr marL="73152" marR="73152" marT="36576" marB="36576">
                    <a:solidFill>
                      <a:srgbClr val="E8EEF6"/>
                    </a:solidFill>
                  </a:tcPr>
                </a:tc>
                <a:tc>
                  <a:txBody>
                    <a:bodyPr/>
                    <a:lstStyle/>
                    <a:p>
                      <a:r>
                        <a:rPr sz="1200" b="0">
                          <a:solidFill>
                            <a:srgbClr val="1F2937"/>
                          </a:solidFill>
                        </a:rPr>
                        <a:t>Qaynoq smolasiz, toza bog‘lam</a:t>
                      </a:r>
                    </a:p>
                  </a:txBody>
                  <a:tcPr marL="73152" marR="73152" marT="36576" marB="36576">
                    <a:solidFill>
                      <a:srgbClr val="E8EEF6"/>
                    </a:solidFill>
                  </a:tcPr>
                </a:tc>
                <a:tc>
                  <a:txBody>
                    <a:bodyPr/>
                    <a:lstStyle/>
                    <a:p>
                      <a:r>
                        <a:rPr sz="1200" b="0">
                          <a:solidFill>
                            <a:srgbClr val="1F2937"/>
                          </a:solidFill>
                        </a:rPr>
                        <a:t>Jarohat yaxshiroq bitgan</a:t>
                      </a:r>
                    </a:p>
                  </a:txBody>
                  <a:tcPr marL="73152" marR="73152" marT="36576" marB="36576">
                    <a:solidFill>
                      <a:srgbClr val="E8EEF6"/>
                    </a:solidFill>
                  </a:tcPr>
                </a:tc>
              </a:tr>
              <a:tr h="411480">
                <a:tc>
                  <a:txBody>
                    <a:bodyPr/>
                    <a:lstStyle/>
                    <a:p>
                      <a:r>
                        <a:rPr sz="1200" b="0">
                          <a:solidFill>
                            <a:srgbClr val="1F2937"/>
                          </a:solidFill>
                        </a:rPr>
                        <a:t>Lind, 1754</a:t>
                      </a:r>
                    </a:p>
                  </a:txBody>
                  <a:tcPr marL="73152" marR="73152" marT="36576" marB="36576">
                    <a:solidFill>
                      <a:srgbClr val="FFFFFF"/>
                    </a:solidFill>
                  </a:tcPr>
                </a:tc>
                <a:tc>
                  <a:txBody>
                    <a:bodyPr/>
                    <a:lstStyle/>
                    <a:p>
                      <a:r>
                        <a:rPr sz="1200" b="0">
                          <a:solidFill>
                            <a:srgbClr val="1F2937"/>
                          </a:solidFill>
                        </a:rPr>
                        <a:t>Dengizchilarga turlicha ovqat</a:t>
                      </a:r>
                    </a:p>
                  </a:txBody>
                  <a:tcPr marL="73152" marR="73152" marT="36576" marB="36576">
                    <a:solidFill>
                      <a:srgbClr val="FFFFFF"/>
                    </a:solidFill>
                  </a:tcPr>
                </a:tc>
                <a:tc>
                  <a:txBody>
                    <a:bodyPr/>
                    <a:lstStyle/>
                    <a:p>
                      <a:r>
                        <a:rPr sz="1200" b="0">
                          <a:solidFill>
                            <a:srgbClr val="1F2937"/>
                          </a:solidFill>
                        </a:rPr>
                        <a:t>Sitrus holatni yaxshilagan</a:t>
                      </a:r>
                    </a:p>
                  </a:txBody>
                  <a:tcPr marL="73152" marR="73152" marT="36576" marB="36576">
                    <a:solidFill>
                      <a:srgbClr val="FFFFFF"/>
                    </a:solidFill>
                  </a:tcPr>
                </a:tc>
              </a:tr>
              <a:tr h="411480">
                <a:tc>
                  <a:txBody>
                    <a:bodyPr/>
                    <a:lstStyle/>
                    <a:p>
                      <a:r>
                        <a:rPr sz="1200" b="0">
                          <a:solidFill>
                            <a:srgbClr val="1F2937"/>
                          </a:solidFill>
                        </a:rPr>
                        <a:t>Jenner, 1796</a:t>
                      </a:r>
                    </a:p>
                  </a:txBody>
                  <a:tcPr marL="73152" marR="73152" marT="36576" marB="36576">
                    <a:solidFill>
                      <a:srgbClr val="E8EEF6"/>
                    </a:solidFill>
                  </a:tcPr>
                </a:tc>
                <a:tc>
                  <a:txBody>
                    <a:bodyPr/>
                    <a:lstStyle/>
                    <a:p>
                      <a:r>
                        <a:rPr sz="1200" b="0">
                          <a:solidFill>
                            <a:srgbClr val="1F2937"/>
                          </a:solidFill>
                        </a:rPr>
                        <a:t>O‘g‘il bolaga sigir chechagi moddasi</a:t>
                      </a:r>
                    </a:p>
                  </a:txBody>
                  <a:tcPr marL="73152" marR="73152" marT="36576" marB="36576">
                    <a:solidFill>
                      <a:srgbClr val="E8EEF6"/>
                    </a:solidFill>
                  </a:tcPr>
                </a:tc>
                <a:tc>
                  <a:txBody>
                    <a:bodyPr/>
                    <a:lstStyle/>
                    <a:p>
                      <a:r>
                        <a:rPr sz="1200" b="0">
                          <a:solidFill>
                            <a:srgbClr val="1F2937"/>
                          </a:solidFill>
                        </a:rPr>
                        <a:t>Kasallik rivojlanmagan; vaksina</a:t>
                      </a:r>
                    </a:p>
                  </a:txBody>
                  <a:tcPr marL="73152" marR="73152" marT="36576" marB="36576">
                    <a:solidFill>
                      <a:srgbClr val="E8EEF6"/>
                    </a:solidFill>
                  </a:tcPr>
                </a:tc>
              </a:tr>
              <a:tr h="411480">
                <a:tc>
                  <a:txBody>
                    <a:bodyPr/>
                    <a:lstStyle/>
                    <a:p>
                      <a:r>
                        <a:rPr sz="1200" b="0">
                          <a:solidFill>
                            <a:srgbClr val="1F2937"/>
                          </a:solidFill>
                        </a:rPr>
                        <a:t>Forsman, 1929</a:t>
                      </a:r>
                    </a:p>
                  </a:txBody>
                  <a:tcPr marL="73152" marR="73152" marT="36576" marB="36576">
                    <a:solidFill>
                      <a:srgbClr val="FFFFFF"/>
                    </a:solidFill>
                  </a:tcPr>
                </a:tc>
                <a:tc>
                  <a:txBody>
                    <a:bodyPr/>
                    <a:lstStyle/>
                    <a:p>
                      <a:r>
                        <a:rPr sz="1200" b="0">
                          <a:solidFill>
                            <a:srgbClr val="1F2937"/>
                          </a:solidFill>
                        </a:rPr>
                        <a:t>O‘zida yurak kateterizatsiyasi</a:t>
                      </a:r>
                    </a:p>
                  </a:txBody>
                  <a:tcPr marL="73152" marR="73152" marT="36576" marB="36576">
                    <a:solidFill>
                      <a:srgbClr val="FFFFFF"/>
                    </a:solidFill>
                  </a:tcPr>
                </a:tc>
                <a:tc>
                  <a:txBody>
                    <a:bodyPr/>
                    <a:lstStyle/>
                    <a:p>
                      <a:r>
                        <a:rPr sz="1200" b="0">
                          <a:solidFill>
                            <a:srgbClr val="1F2937"/>
                          </a:solidFill>
                        </a:rPr>
                        <a:t>Usul xavfsizligi isbotlangan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Kashfiyotlar xronologiyasi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Nyurnberg kodeksi va Xelsinki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Nyurnberg kodeksi (1947) nasist shifokorlari sudi yakuni bo‘yicha qabul qilingan.</a:t>
            </a:r>
          </a:p>
          <a:p>
            <a:pPr>
              <a:spcAft>
                <a:spcPts val="800"/>
              </a:spcAft>
            </a:pPr>
            <a:r>
              <a:rPr sz="1800">
                <a:solidFill>
                  <a:srgbClr val="1F2937"/>
                </a:solidFill>
                <a:latin typeface="Calibri"/>
              </a:rPr>
              <a:t>▸  Xelsinki deklaratsiyasi (Jahon tibbiyot assotsiatsiyasi, 1964) Nyurnberg talablarini yangiladi.</a:t>
            </a:r>
          </a:p>
          <a:p>
            <a:pPr>
              <a:spcAft>
                <a:spcPts val="800"/>
              </a:spcAft>
            </a:pPr>
            <a:r>
              <a:rPr sz="1800">
                <a:solidFill>
                  <a:srgbClr val="1F2937"/>
                </a:solidFill>
                <a:latin typeface="Calibri"/>
              </a:rPr>
              <a:t>▸  Ishtirokchi rozi bo‘lsa ham, shifokorning uni himoya qilish mas‘uliyati bekor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00308"/>
                <a:gridCol w="1113257"/>
                <a:gridCol w="2574408"/>
              </a:tblGrid>
              <a:tr h="411480">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Yil</a:t>
                      </a:r>
                    </a:p>
                  </a:txBody>
                  <a:tcPr marL="73152" marR="73152" marT="36576" marB="36576">
                    <a:solidFill>
                      <a:srgbClr val="0B1F3A"/>
                    </a:solidFill>
                  </a:tcPr>
                </a:tc>
                <a:tc>
                  <a:txBody>
                    <a:bodyPr/>
                    <a:lstStyle/>
                    <a:p>
                      <a:r>
                        <a:rPr sz="1300" b="1">
                          <a:solidFill>
                            <a:srgbClr val="FFFFFF"/>
                          </a:solidFill>
                        </a:rPr>
                        <a:t>Talab</a:t>
                      </a:r>
                    </a:p>
                  </a:txBody>
                  <a:tcPr marL="73152" marR="73152" marT="36576" marB="36576">
                    <a:solidFill>
                      <a:srgbClr val="0B1F3A"/>
                    </a:solidFill>
                  </a:tcPr>
                </a:tc>
              </a:tr>
              <a:tr h="411480">
                <a:tc>
                  <a:txBody>
                    <a:bodyPr/>
                    <a:lstStyle/>
                    <a:p>
                      <a:r>
                        <a:rPr sz="1200" b="0">
                          <a:solidFill>
                            <a:srgbClr val="1F2937"/>
                          </a:solidFill>
                        </a:rPr>
                        <a:t>Nyurnberg kodeksi</a:t>
                      </a:r>
                    </a:p>
                  </a:txBody>
                  <a:tcPr marL="73152" marR="73152" marT="36576" marB="36576">
                    <a:solidFill>
                      <a:srgbClr val="E8EEF6"/>
                    </a:solidFill>
                  </a:tcPr>
                </a:tc>
                <a:tc>
                  <a:txBody>
                    <a:bodyPr/>
                    <a:lstStyle/>
                    <a:p>
                      <a:r>
                        <a:rPr sz="1200" b="0">
                          <a:solidFill>
                            <a:srgbClr val="1F2937"/>
                          </a:solidFill>
                        </a:rPr>
                        <a:t>1947</a:t>
                      </a:r>
                    </a:p>
                  </a:txBody>
                  <a:tcPr marL="73152" marR="73152" marT="36576" marB="36576">
                    <a:solidFill>
                      <a:srgbClr val="E8EEF6"/>
                    </a:solidFill>
                  </a:tcPr>
                </a:tc>
                <a:tc>
                  <a:txBody>
                    <a:bodyPr/>
                    <a:lstStyle/>
                    <a:p>
                      <a:r>
                        <a:rPr sz="1200" b="0">
                          <a:solidFill>
                            <a:srgbClr val="1F2937"/>
                          </a:solidFill>
                        </a:rPr>
                        <a:t>Ixtiyoriy rozilik – birinchi talab</a:t>
                      </a:r>
                    </a:p>
                  </a:txBody>
                  <a:tcPr marL="73152" marR="73152" marT="36576" marB="36576">
                    <a:solidFill>
                      <a:srgbClr val="E8EEF6"/>
                    </a:solidFill>
                  </a:tcPr>
                </a:tc>
              </a:tr>
              <a:tr h="411480">
                <a:tc>
                  <a:txBody>
                    <a:bodyPr/>
                    <a:lstStyle/>
                    <a:p>
                      <a:r>
                        <a:rPr sz="1200" b="0">
                          <a:solidFill>
                            <a:srgbClr val="1F2937"/>
                          </a:solidFill>
                        </a:rPr>
                        <a:t>Nyurnberg kodeksi</a:t>
                      </a:r>
                    </a:p>
                  </a:txBody>
                  <a:tcPr marL="73152" marR="73152" marT="36576" marB="36576">
                    <a:solidFill>
                      <a:srgbClr val="FFFFFF"/>
                    </a:solidFill>
                  </a:tcPr>
                </a:tc>
                <a:tc>
                  <a:txBody>
                    <a:bodyPr/>
                    <a:lstStyle/>
                    <a:p>
                      <a:r>
                        <a:rPr sz="1200" b="0">
                          <a:solidFill>
                            <a:srgbClr val="1F2937"/>
                          </a:solidFill>
                        </a:rPr>
                        <a:t>1947</a:t>
                      </a:r>
                    </a:p>
                  </a:txBody>
                  <a:tcPr marL="73152" marR="73152" marT="36576" marB="36576">
                    <a:solidFill>
                      <a:srgbClr val="FFFFFF"/>
                    </a:solidFill>
                  </a:tcPr>
                </a:tc>
                <a:tc>
                  <a:txBody>
                    <a:bodyPr/>
                    <a:lstStyle/>
                    <a:p>
                      <a:r>
                        <a:rPr sz="1200" b="0">
                          <a:solidFill>
                            <a:srgbClr val="1F2937"/>
                          </a:solidFill>
                        </a:rPr>
                        <a:t>Zarar va azobdan ishonchli himoya</a:t>
                      </a:r>
                    </a:p>
                  </a:txBody>
                  <a:tcPr marL="73152" marR="73152" marT="36576" marB="36576">
                    <a:solidFill>
                      <a:srgbClr val="FFFFFF"/>
                    </a:solidFill>
                  </a:tcPr>
                </a:tc>
              </a:tr>
              <a:tr h="411480">
                <a:tc>
                  <a:txBody>
                    <a:bodyPr/>
                    <a:lstStyle/>
                    <a:p>
                      <a:r>
                        <a:rPr sz="1200" b="0">
                          <a:solidFill>
                            <a:srgbClr val="1F2937"/>
                          </a:solidFill>
                        </a:rPr>
                        <a:t>Xelsinki deklaratsiyasi</a:t>
                      </a:r>
                    </a:p>
                  </a:txBody>
                  <a:tcPr marL="73152" marR="73152" marT="36576" marB="36576">
                    <a:solidFill>
                      <a:srgbClr val="E8EEF6"/>
                    </a:solidFill>
                  </a:tcPr>
                </a:tc>
                <a:tc>
                  <a:txBody>
                    <a:bodyPr/>
                    <a:lstStyle/>
                    <a:p>
                      <a:r>
                        <a:rPr sz="1200" b="0">
                          <a:solidFill>
                            <a:srgbClr val="1F2937"/>
                          </a:solidFill>
                        </a:rPr>
                        <a:t>1964</a:t>
                      </a:r>
                    </a:p>
                  </a:txBody>
                  <a:tcPr marL="73152" marR="73152" marT="36576" marB="36576">
                    <a:solidFill>
                      <a:srgbClr val="E8EEF6"/>
                    </a:solidFill>
                  </a:tcPr>
                </a:tc>
                <a:tc>
                  <a:txBody>
                    <a:bodyPr/>
                    <a:lstStyle/>
                    <a:p>
                      <a:r>
                        <a:rPr sz="1200" b="0">
                          <a:solidFill>
                            <a:srgbClr val="1F2937"/>
                          </a:solidFill>
                        </a:rPr>
                        <a:t>Loyiha etika qo‘mitasida ma’qullanadi</a:t>
                      </a:r>
                    </a:p>
                  </a:txBody>
                  <a:tcPr marL="73152" marR="73152" marT="36576" marB="36576">
                    <a:solidFill>
                      <a:srgbClr val="E8EEF6"/>
                    </a:solidFill>
                  </a:tcPr>
                </a:tc>
              </a:tr>
              <a:tr h="411480">
                <a:tc>
                  <a:txBody>
                    <a:bodyPr/>
                    <a:lstStyle/>
                    <a:p>
                      <a:r>
                        <a:rPr sz="1200" b="0">
                          <a:solidFill>
                            <a:srgbClr val="1F2937"/>
                          </a:solidFill>
                        </a:rPr>
                        <a:t>Xelsinki deklaratsiyasi</a:t>
                      </a:r>
                    </a:p>
                  </a:txBody>
                  <a:tcPr marL="73152" marR="73152" marT="36576" marB="36576">
                    <a:solidFill>
                      <a:srgbClr val="FFFFFF"/>
                    </a:solidFill>
                  </a:tcPr>
                </a:tc>
                <a:tc>
                  <a:txBody>
                    <a:bodyPr/>
                    <a:lstStyle/>
                    <a:p>
                      <a:r>
                        <a:rPr sz="1200" b="0">
                          <a:solidFill>
                            <a:srgbClr val="1F2937"/>
                          </a:solidFill>
                        </a:rPr>
                        <a:t>1964</a:t>
                      </a:r>
                    </a:p>
                  </a:txBody>
                  <a:tcPr marL="73152" marR="73152" marT="36576" marB="36576">
                    <a:solidFill>
                      <a:srgbClr val="FFFFFF"/>
                    </a:solidFill>
                  </a:tcPr>
                </a:tc>
                <a:tc>
                  <a:txBody>
                    <a:bodyPr/>
                    <a:lstStyle/>
                    <a:p>
                      <a:r>
                        <a:rPr sz="1200" b="0">
                          <a:solidFill>
                            <a:srgbClr val="1F2937"/>
                          </a:solidFill>
                        </a:rPr>
                        <a:t>Tadqiqot qo‘mita nazoratida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hujjat talablari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144, 145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Bicher maqolasi va Tuskigi tadqiqotlari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1966-yilda amerikalik olim Genri Bicherning “Etika va klinik tekshiruvlar” maqolasi chop etildi. Unda ishtirokchilar ogohlantirilmagan, hayoti va sog‘lig‘iga xavfli 22 tadqiqot keltirilgan.</a:t>
            </a:r>
          </a:p>
          <a:p>
            <a:pPr>
              <a:spcAft>
                <a:spcPts val="1200"/>
              </a:spcAft>
            </a:pPr>
            <a:r>
              <a:rPr sz="2000">
                <a:solidFill>
                  <a:srgbClr val="1F2937"/>
                </a:solidFill>
                <a:latin typeface="Calibri"/>
              </a:rPr>
              <a:t>▸  Bicher xulosasi: tibbiyot tadqiqotchilari ba’zan axloqqa zid tajribalar o‘tkazadi. Maqola katta shov-shuv keltirib chiqardi.</a:t>
            </a:r>
          </a:p>
          <a:p>
            <a:pPr>
              <a:spcAft>
                <a:spcPts val="1200"/>
              </a:spcAft>
            </a:pPr>
            <a:r>
              <a:rPr sz="2000">
                <a:solidFill>
                  <a:srgbClr val="1F2937"/>
                </a:solidFill>
                <a:latin typeface="Calibri"/>
              </a:rPr>
              <a:t>▸  Tuskigi tadqiqotlari (1932–1972): AQSh Milliy sog‘liqni saqlash xizmati zahm kasalligining tabiiy kechishini o‘rgandi. Ishtirokchilar — 400 ga yaqin savodsiz afroamerikalik erkak.</a:t>
            </a:r>
          </a:p>
          <a:p>
            <a:pPr>
              <a:spcAft>
                <a:spcPts val="1200"/>
              </a:spcAft>
            </a:pPr>
            <a:r>
              <a:rPr sz="2000">
                <a:solidFill>
                  <a:srgbClr val="1F2937"/>
                </a:solidFill>
                <a:latin typeface="Calibri"/>
              </a:rPr>
              <a:t>▸  Tadqiqotchilar asoratlar va o‘limlarni faqat qayd etdi, davo qo‘llamadi. Kongress tadqiqotni to‘xtatdi, taqiqlovchi qonun qabul qildi; 1997-yilda Prezident B. Klinton uzr so‘radi.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145, 146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Belmont prinsiplari (1978)</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1978-yilda Milliy komissiya Belmont hisobotini e’lon qildi. Undagi prinsiplar keyin Belmont prinsiplari deb ataldi.</a:t>
            </a:r>
          </a:p>
          <a:p>
            <a:pPr>
              <a:spcAft>
                <a:spcPts val="800"/>
              </a:spcAft>
            </a:pPr>
            <a:r>
              <a:rPr sz="1800">
                <a:solidFill>
                  <a:srgbClr val="1F2937"/>
                </a:solidFill>
                <a:latin typeface="Calibri"/>
              </a:rPr>
              <a:t>▸  Hisobot tadqiqot etikasiga va bioetikaning mustaqil fan bo‘lib shakllanishiga katta ta’sir qildi.</a:t>
            </a:r>
          </a:p>
          <a:p>
            <a:pPr>
              <a:spcAft>
                <a:spcPts val="800"/>
              </a:spcAft>
            </a:pPr>
            <a:r>
              <a:rPr sz="1800">
                <a:solidFill>
                  <a:srgbClr val="1F2937"/>
                </a:solidFill>
                <a:latin typeface="Calibri"/>
              </a:rPr>
              <a:t>▸  Prinsiplar ixtiyoriy rozilikni, xavf va foydani baholashni, ishtirokchilarni adolatli tanlashni nazarda tutadi.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Prinsip</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Shaxsni hurmat qilish</a:t>
                      </a:r>
                    </a:p>
                  </a:txBody>
                  <a:tcPr marL="73152" marR="73152" marT="36576" marB="36576">
                    <a:solidFill>
                      <a:srgbClr val="E8EEF6"/>
                    </a:solidFill>
                  </a:tcPr>
                </a:tc>
                <a:tc>
                  <a:txBody>
                    <a:bodyPr/>
                    <a:lstStyle/>
                    <a:p>
                      <a:r>
                        <a:rPr sz="1300" b="0">
                          <a:solidFill>
                            <a:srgbClr val="1F2937"/>
                          </a:solidFill>
                        </a:rPr>
                        <a:t>Avtonomiya; cheklanganlarni himoya qilish</a:t>
                      </a:r>
                    </a:p>
                  </a:txBody>
                  <a:tcPr marL="73152" marR="73152" marT="36576" marB="36576">
                    <a:solidFill>
                      <a:srgbClr val="E8EEF6"/>
                    </a:solidFill>
                  </a:tcPr>
                </a:tc>
              </a:tr>
              <a:tr h="411480">
                <a:tc>
                  <a:txBody>
                    <a:bodyPr/>
                    <a:lstStyle/>
                    <a:p>
                      <a:r>
                        <a:rPr sz="1300" b="0">
                          <a:solidFill>
                            <a:srgbClr val="1F2937"/>
                          </a:solidFill>
                        </a:rPr>
                        <a:t>Ezgulik</a:t>
                      </a:r>
                    </a:p>
                  </a:txBody>
                  <a:tcPr marL="73152" marR="73152" marT="36576" marB="36576">
                    <a:solidFill>
                      <a:srgbClr val="FFFFFF"/>
                    </a:solidFill>
                  </a:tcPr>
                </a:tc>
                <a:tc>
                  <a:txBody>
                    <a:bodyPr/>
                    <a:lstStyle/>
                    <a:p>
                      <a:r>
                        <a:rPr sz="1300" b="0">
                          <a:solidFill>
                            <a:srgbClr val="1F2937"/>
                          </a:solidFill>
                        </a:rPr>
                        <a:t>Zarar bermaslik, foydani ko‘paytirish</a:t>
                      </a:r>
                    </a:p>
                  </a:txBody>
                  <a:tcPr marL="73152" marR="73152" marT="36576" marB="36576">
                    <a:solidFill>
                      <a:srgbClr val="FFFFFF"/>
                    </a:solidFill>
                  </a:tcPr>
                </a:tc>
              </a:tr>
              <a:tr h="411480">
                <a:tc>
                  <a:txBody>
                    <a:bodyPr/>
                    <a:lstStyle/>
                    <a:p>
                      <a:r>
                        <a:rPr sz="1300" b="0">
                          <a:solidFill>
                            <a:srgbClr val="1F2937"/>
                          </a:solidFill>
                        </a:rPr>
                        <a:t>Adolatlilik</a:t>
                      </a:r>
                    </a:p>
                  </a:txBody>
                  <a:tcPr marL="73152" marR="73152" marT="36576" marB="36576">
                    <a:solidFill>
                      <a:srgbClr val="E8EEF6"/>
                    </a:solidFill>
                  </a:tcPr>
                </a:tc>
                <a:tc>
                  <a:txBody>
                    <a:bodyPr/>
                    <a:lstStyle/>
                    <a:p>
                      <a:r>
                        <a:rPr sz="1300" b="0">
                          <a:solidFill>
                            <a:srgbClr val="1F2937"/>
                          </a:solidFill>
                        </a:rPr>
                        <a:t>Foyda va kompensatsiya adolatli bo‘linadi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Belmont prinsiplari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Nyurnberg kodeksidagi birinchi talab nima? Javob: insonning ixtiyoriy roziligi.</a:t>
            </a:r>
          </a:p>
          <a:p>
            <a:pPr>
              <a:spcAft>
                <a:spcPts val="1200"/>
              </a:spcAft>
            </a:pPr>
            <a:r>
              <a:rPr sz="2200">
                <a:solidFill>
                  <a:srgbClr val="1F2937"/>
                </a:solidFill>
                <a:latin typeface="Calibri"/>
              </a:rPr>
              <a:t>▸  2-savol: Xelsinki deklaratsiyasi (1964) bo‘yicha tadqiqot loyihasini kim ko‘rib chiqadi? Javob: etika qo‘mitasi; u tadqiqotni ham nazorat qiladi.</a:t>
            </a:r>
          </a:p>
          <a:p>
            <a:pPr>
              <a:spcAft>
                <a:spcPts val="1200"/>
              </a:spcAft>
            </a:pPr>
            <a:r>
              <a:rPr sz="2200">
                <a:solidFill>
                  <a:srgbClr val="1F2937"/>
                </a:solidFill>
                <a:latin typeface="Calibri"/>
              </a:rPr>
              <a:t>▸  3-savol: Belmont prinsiplarini sanang. Javob: shaxsni hurmat qilish, ezgulik, adolatlilik.</a:t>
            </a:r>
          </a:p>
          <a:p>
            <a:pPr>
              <a:spcAft>
                <a:spcPts val="1200"/>
              </a:spcAft>
            </a:pPr>
            <a:r>
              <a:rPr sz="2200">
                <a:solidFill>
                  <a:srgbClr val="1F2937"/>
                </a:solidFill>
                <a:latin typeface="Calibri"/>
              </a:rPr>
              <a:t>▸  Diqqat: ishtirokchi rozi bo‘lsa, shifokor mas’uliyatdan ozod bo‘ladimi? Yo‘q. Xelsinki deklaratsiyasiga ko‘ra, mas’uliyat rozilik bilan olinmaydi.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144, 145, 147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Oviedo konventsiyasi (1997): 16 va 17-moddalar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Konventsiyani Yevropa Kengashi 1997 yilda qabul qilgan; u biotibbiyotda inson huquqi va qadr-qimmatini himoya qiladi.</a:t>
            </a:r>
          </a:p>
          <a:p>
            <a:pPr>
              <a:spcAft>
                <a:spcPts val="800"/>
              </a:spcAft>
            </a:pPr>
            <a:r>
              <a:rPr sz="1800">
                <a:solidFill>
                  <a:srgbClr val="1F2937"/>
                </a:solidFill>
                <a:latin typeface="Calibri"/>
              </a:rPr>
              <a:t>▸  16-modda tadqiqotda qatnashuvchilarni himoya qiladi: ularning ma’lumotli roziligi zarur.</a:t>
            </a:r>
          </a:p>
          <a:p>
            <a:pPr>
              <a:spcAft>
                <a:spcPts val="800"/>
              </a:spcAft>
            </a:pPr>
            <a:r>
              <a:rPr sz="1800">
                <a:solidFill>
                  <a:srgbClr val="1F2937"/>
                </a:solidFill>
                <a:latin typeface="Calibri"/>
              </a:rPr>
              <a:t>▸  Rozilik bergan shaxs uni istalgan vaqtda qaytarib olishi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Modda</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16-modda</a:t>
                      </a:r>
                    </a:p>
                  </a:txBody>
                  <a:tcPr marL="73152" marR="73152" marT="36576" marB="36576">
                    <a:solidFill>
                      <a:srgbClr val="E8EEF6"/>
                    </a:solidFill>
                  </a:tcPr>
                </a:tc>
                <a:tc>
                  <a:txBody>
                    <a:bodyPr/>
                    <a:lstStyle/>
                    <a:p>
                      <a:r>
                        <a:rPr sz="1300" b="0">
                          <a:solidFill>
                            <a:srgbClr val="1F2937"/>
                          </a:solidFill>
                        </a:rPr>
                        <a:t>Tadqiqot ishtirokchilari himoyasi</a:t>
                      </a:r>
                    </a:p>
                  </a:txBody>
                  <a:tcPr marL="73152" marR="73152" marT="36576" marB="36576">
                    <a:solidFill>
                      <a:srgbClr val="E8EEF6"/>
                    </a:solidFill>
                  </a:tcPr>
                </a:tc>
              </a:tr>
              <a:tr h="411480">
                <a:tc>
                  <a:txBody>
                    <a:bodyPr/>
                    <a:lstStyle/>
                    <a:p>
                      <a:r>
                        <a:rPr sz="1300" b="0">
                          <a:solidFill>
                            <a:srgbClr val="1F2937"/>
                          </a:solidFill>
                        </a:rPr>
                        <a:t>16-modda</a:t>
                      </a:r>
                    </a:p>
                  </a:txBody>
                  <a:tcPr marL="73152" marR="73152" marT="36576" marB="36576">
                    <a:solidFill>
                      <a:srgbClr val="FFFFFF"/>
                    </a:solidFill>
                  </a:tcPr>
                </a:tc>
                <a:tc>
                  <a:txBody>
                    <a:bodyPr/>
                    <a:lstStyle/>
                    <a:p>
                      <a:r>
                        <a:rPr sz="1300" b="0">
                          <a:solidFill>
                            <a:srgbClr val="1F2937"/>
                          </a:solidFill>
                        </a:rPr>
                        <a:t>Ma’lumotli rozilik zarur</a:t>
                      </a:r>
                    </a:p>
                  </a:txBody>
                  <a:tcPr marL="73152" marR="73152" marT="36576" marB="36576">
                    <a:solidFill>
                      <a:srgbClr val="FFFFFF"/>
                    </a:solidFill>
                  </a:tcPr>
                </a:tc>
              </a:tr>
              <a:tr h="411480">
                <a:tc>
                  <a:txBody>
                    <a:bodyPr/>
                    <a:lstStyle/>
                    <a:p>
                      <a:r>
                        <a:rPr sz="1300" b="0">
                          <a:solidFill>
                            <a:srgbClr val="1F2937"/>
                          </a:solidFill>
                        </a:rPr>
                        <a:t>16-modda</a:t>
                      </a:r>
                    </a:p>
                  </a:txBody>
                  <a:tcPr marL="73152" marR="73152" marT="36576" marB="36576">
                    <a:solidFill>
                      <a:srgbClr val="E8EEF6"/>
                    </a:solidFill>
                  </a:tcPr>
                </a:tc>
                <a:tc>
                  <a:txBody>
                    <a:bodyPr/>
                    <a:lstStyle/>
                    <a:p>
                      <a:r>
                        <a:rPr sz="1300" b="0">
                          <a:solidFill>
                            <a:srgbClr val="1F2937"/>
                          </a:solidFill>
                        </a:rPr>
                        <a:t>Rozilikni istalgan vaqt qaytarish mumkin</a:t>
                      </a:r>
                    </a:p>
                  </a:txBody>
                  <a:tcPr marL="73152" marR="73152" marT="36576" marB="36576">
                    <a:solidFill>
                      <a:srgbClr val="E8EEF6"/>
                    </a:solidFill>
                  </a:tcPr>
                </a:tc>
              </a:tr>
              <a:tr h="411480">
                <a:tc>
                  <a:txBody>
                    <a:bodyPr/>
                    <a:lstStyle/>
                    <a:p>
                      <a:r>
                        <a:rPr sz="1300" b="0">
                          <a:solidFill>
                            <a:srgbClr val="1F2937"/>
                          </a:solidFill>
                        </a:rPr>
                        <a:t>17-modda</a:t>
                      </a:r>
                    </a:p>
                  </a:txBody>
                  <a:tcPr marL="73152" marR="73152" marT="36576" marB="36576">
                    <a:solidFill>
                      <a:srgbClr val="FFFFFF"/>
                    </a:solidFill>
                  </a:tcPr>
                </a:tc>
                <a:tc>
                  <a:txBody>
                    <a:bodyPr/>
                    <a:lstStyle/>
                    <a:p>
                      <a:r>
                        <a:rPr sz="1300" b="0">
                          <a:solidFill>
                            <a:srgbClr val="1F2937"/>
                          </a:solidFill>
                        </a:rPr>
                        <a:t>Rozilik bera olmaydiganlar himoyasi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Oviedo: 16 va 17-moddalar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tadqiqotda rozilik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ishtirokchi ma’lumotli rozilik berdi, keyin tadqiqot o‘rtasida fikridan qaytdi. Tadqiqotchi nima qilishi kerak?</a:t>
            </a:r>
          </a:p>
          <a:p>
            <a:pPr>
              <a:spcAft>
                <a:spcPts val="1200"/>
              </a:spcAft>
            </a:pPr>
            <a:r>
              <a:rPr sz="2200">
                <a:solidFill>
                  <a:srgbClr val="1F2937"/>
                </a:solidFill>
                <a:latin typeface="Calibri"/>
              </a:rPr>
              <a:t>▸  Konventsiyaning 16-moddasiga ko‘ra, ishtirokchi rozilikni istalgan vaqtda qaytarib olishi mumkin; bu huquq hurmat qilinadi.</a:t>
            </a:r>
          </a:p>
          <a:p>
            <a:pPr>
              <a:spcAft>
                <a:spcPts val="1200"/>
              </a:spcAft>
            </a:pPr>
            <a:r>
              <a:rPr sz="2200">
                <a:solidFill>
                  <a:srgbClr val="1F2937"/>
                </a:solidFill>
                <a:latin typeface="Calibri"/>
              </a:rPr>
              <a:t>▸  Ishtirokchi rozilik berishga qodir bo‘lmasa, 17-modda alohida himoya talablarini belgilaydi; matnda tafsiloti to‘liq berilmagan. (?)</a:t>
            </a:r>
          </a:p>
          <a:p>
            <a:pPr>
              <a:spcAft>
                <a:spcPts val="1200"/>
              </a:spcAft>
            </a:pPr>
            <a:r>
              <a:rPr sz="2200">
                <a:solidFill>
                  <a:srgbClr val="1F2937"/>
                </a:solidFill>
                <a:latin typeface="Calibri"/>
              </a:rPr>
              <a:t>▸  Diqqat: Helsinki deklaratsiyasiga ko‘ra, ishtirokchi rozi bo‘lsa ham, tadqiqotchining mas’uliyati yo‘qolmaydi.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147, 147-148, 145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Shifokor–bemor modeli vaziyatga qarab tanlanadi: bemor shaxsi va sog‘lig‘i holati hisobga olinadi.</a:t>
            </a:r>
          </a:p>
          <a:p>
            <a:pPr>
              <a:spcAft>
                <a:spcPts val="1200"/>
              </a:spcAft>
            </a:pPr>
            <a:r>
              <a:rPr sz="2200">
                <a:solidFill>
                  <a:srgbClr val="1F2937"/>
                </a:solidFill>
                <a:latin typeface="Calibri"/>
              </a:rPr>
              <a:t>▸  Klinik xavf asosli bo‘lishi uchun maqsadga xavfsiz yo‘l bilan erishib bo‘lmasligi va zararning oldini olish choralari ko‘rilishi shart.</a:t>
            </a:r>
          </a:p>
          <a:p>
            <a:pPr>
              <a:spcAft>
                <a:spcPts val="1200"/>
              </a:spcAft>
            </a:pPr>
            <a:r>
              <a:rPr sz="2200">
                <a:solidFill>
                  <a:srgbClr val="1F2937"/>
                </a:solidFill>
                <a:latin typeface="Calibri"/>
              </a:rPr>
              <a:t>▸  Tadqiqotda Oviedo konventsiyasi rozilik va himoyani, Belmont tamoyillari hurmat, ezgulik va adolatlilikni talab qiladi.</a:t>
            </a:r>
          </a:p>
          <a:p>
            <a:pPr>
              <a:spcAft>
                <a:spcPts val="1200"/>
              </a:spcAft>
            </a:pPr>
            <a:r>
              <a:rPr sz="2200">
                <a:solidFill>
                  <a:srgbClr val="1F2937"/>
                </a:solidFill>
                <a:latin typeface="Calibri"/>
              </a:rPr>
              <a:t>▸  Xavfsizlik madaniyati xatoni takrorlamaslik va uning ildiz sabablarini tahlil qilishga tayanadi.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52, 56, 76-77, 147-148, 79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klinik qarorning «to‘rt kvadrat» usuli 4 savoldan iborat va aynan shu tartibda ko‘riladi: 1) tibbiy ko‘rsatmalar, 2) bemorning istagi, 3) hayot sifati, 4) kontekstual holatlar. Qisqartma: «T-B-H-K». Kontekstga oila, iqtisodiy omillar va konfidensiallik kiradi.</a:t>
            </a:r>
          </a:p>
          <a:p>
            <a:pPr>
              <a:spcAft>
                <a:spcPts val="1200"/>
              </a:spcAft>
            </a:pPr>
            <a:r>
              <a:rPr sz="1800">
                <a:solidFill>
                  <a:srgbClr val="1F2937"/>
                </a:solidFill>
                <a:latin typeface="Calibri"/>
              </a:rPr>
              <a:t>▸  Hodisa tahlili: o‘tkir pnevmoniyali bemor statsionarda davolanishi kerak, ammo u uyda davolanmoqchi va oqibatlari haqida ogohlantirilgan. Gospitalizatsiya kuchli stress berishi va kasallik kechishiga salbiy ta’sir qilishi mumkin. Shuning uchun oila uyda qanday yordam bera olishi ham baholanadi.</a:t>
            </a:r>
          </a:p>
          <a:p>
            <a:pPr>
              <a:spcAft>
                <a:spcPts val="1200"/>
              </a:spcAft>
            </a:pPr>
            <a:r>
              <a:rPr sz="1800">
                <a:solidFill>
                  <a:srgbClr val="1F2937"/>
                </a:solidFill>
                <a:latin typeface="Calibri"/>
              </a:rPr>
              <a:t>▸  Eslab qolish usuli: qo‘sh effekt printsipining 4 sharti: harakatning mohiyati (axloqan nojo‘ya bo‘lmasligi), subyektning niyati (ezgu niyat), vosita va oqibatni farqlash (salbiy effekt vosita emas), mutanosiblik (ijobiy natija salbiydan salmoqli). Qisqartma: «M-N-V-M».</a:t>
            </a:r>
          </a:p>
          <a:p>
            <a:pPr>
              <a:spcAft>
                <a:spcPts val="1200"/>
              </a:spcAft>
            </a:pPr>
            <a:r>
              <a:rPr sz="1800">
                <a:solidFill>
                  <a:srgbClr val="1F2937"/>
                </a:solidFill>
                <a:latin typeface="Calibri"/>
              </a:rPr>
              <a:t>▸  Amaliy usul: xatoni takrorlamaslik tibbiy yordamni yaxshilashning eng oddiy va kam xarajatli yo‘lidir. Buning uchun «ozak sabablar tahlili» ishlatiladi. Chuqur tizimli sabablarni topish uchun «beshta nega» texnikasi tavsiya etiladi: har holatda bir necha marta «nega?» deb so‘raladi.</a:t>
            </a:r>
          </a:p>
          <a:p>
            <a:pPr>
              <a:spcAft>
                <a:spcPts val="1200"/>
              </a:spcAft>
            </a:pPr>
            <a:r>
              <a:rPr sz="1800">
                <a:solidFill>
                  <a:srgbClr val="1F2937"/>
                </a:solidFill>
                <a:latin typeface="Calibri"/>
              </a:rPr>
              <a:t>▸  Diqqat: Yevropa Kengashining 1997-yilgi konventsiyasi (Oviedo) tadqiqot ishtirokchisidan ma’lumotli rozilik talab qiladi (16-modda). Rozilik bergan shaxs uni istalgan vaqtda qaytarib olishi mumkin. Rozilik berishga qodir bo‘lmaganlarning himoyasi alohida 17-moddada berilgan.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hushsiz, o‘z xohish-irodasini ifodalay olmaydi. R. Vitchning qaysi modeli bu holatda qo‘llaniladi?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Kollegial tipdagi model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Sakral (pastor) tipidagi model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Kontrakt (shartnoma) tipidagi model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Muhandislik (texnik) tipidagi model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hush holatida va vaqtincha qaror qabul qila olmaydi. Shifokor uni imkon qadar tezroq kompetent holatga qaytarish maqsadida qaror qabul qiladi. Bu qaysi model?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Kuchli paternalizm modeli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Axborot berish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Kuchsiz paternalizm modeli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Kontrakt tipidagi model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Operatsiya rejalashtirilgan bemor 10 yoshda. Amaldagi tartibga ko‘ra, tibbiy muolajaga rozilik kimdan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Bolaning o‘zi mustaqil rozilik bera 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davolovchi shifokorning o‘zi qaror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Rozilikni hamshira bolaning o‘rniga rasmiylashtiradi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Rozilik ota-onasi yoki qonuniy vakilidan olinadi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 Shash va M. Hollender (1956) bo‘yicha shoshilinch tibbiyot va pediatriyada qaysi model qo‘llaniladi?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Aktivlik–passivlik modeli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Hamkorlik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Rahbarlik–kooperatsiya modeli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Sakral (pastor) tipidagi model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va bemor tuzilgan shartnoma bo‘yicha harakat qilmoqda. Tomonlardan biri shartnoma talablarini lozim darajada bajarmadi. Vitchning kontrakt modelida nima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Shartnoma bekor qilinishi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Shifokor bemor o‘rniga qaror qabul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Shartnoma o‘z-o‘zidan majburiy davom etadi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Model avtomatik ravishda sakral modelga o‘tadi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va bemor tuzilgan kelishuv bo‘yicha harakat qiladi. Shart bajarilmasa, kelishuv bekor qilinishi mumkin. Bu Vitchning qaysi modeli?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Sakral (pastor) model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Injenerlik (texnik) model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Kontrakt (shartnoma) model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Kollegial model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faqat tegishli ma’lumotni beradi, hal qiluvchi qarorni esa bemor o‘zi qabul qiladi. Bu Emanuel va Emanuel (1992) modellaridan qaysi biri?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Paternalistik model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Ma’lumot berish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Talqin qilish modeli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Kengashish modeli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hushsiz, o‘z xohish-irodasini bildira olmaydi. Qaror bemor manfaatini ko‘zlab, shifokor tomonidan qabul qilinadi. Bu Vitchning qaysi modeli?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Sakral (pastor) model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Kollegial model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Kontrakt model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Injenerlik model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«Ona o‘rnini bosuvchi hamshira» modeli qaysi bemorlarga nisbatan qo‘llaniladi?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Kompetent bo‘lib, mustaqil qaror qabul qiluvchi bemorlarga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surunkali kasal, ahvoli yengil bemorlarga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Maqsad va manfaatlarini o‘zi belgilovchi bemorlarga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Imkoniyati cheklangan, og‘ir ahvoldagi bemorlarga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Muolajadan so‘ng asorat kuzatildi. Xavf bemorning kasalligidan emas, muolajaning o‘zini o‘tkazish bilan bog‘liq edi. Bu qanday xavf?</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Morbid xavf</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Iatrogen xavf</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Tizimli xato xavfi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Tejash bilan bog‘liq xavf</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O‘tkir pnevmoniyali bemor uyda davolanmoqchi. Shifokor oila a’zolari uyda yordam ko‘rsata olishini baholayapti. Bu to‘rt kvadratning qaysi biriga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Tibbiy ko‘rsatmalar kvadrati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Bemorning xohish-istagi kvadrati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Kontekstual holatlar kvadrati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Hayot sifati kvadrati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bemorga faqat ma’lumot berish bilan cheklanmadi. U muolaja haqidagi qarorni bemor bilan hamkorlikda qabul qildi. Bu qaysi model?</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Birgalikda qaror qabul qilish modeli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Axborot berish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Sakral (pastor) model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Muhandislik (texnik) model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Qo‘sh effekt prinsipiga ko‘ra, muolajaning salbiy effekti qanday bo‘lishi shart?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Ijobiy natijadan ko‘ra salmoqliroq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Muolajaning asosiy maqsadi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Oldindan hech kim ko‘ra olmaydigan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Ijobiy natijaga erishish vositasi bo‘lmasligi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Muolaja ko‘p odamlar halok bo‘lishi yoki ekologik halokat xavfini bila turib qilindi. Jinoyat kodeksi 41-moddasiga ko‘ra bu xavf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Maqsad ijtimoiy foydali bo‘lsa, asosli deb topiladi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Asosli deb topilmaydi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Chora ko‘rilgan bo‘lsa, asosli deb topiladi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Zarar foydadan kam bo‘lsa, asosli deb topiladi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Diagnostikadagi xato davolashda nuqson keltirib chiqardi, bu esa asoratlarga olib keldi. Britaniya tibbiyot assotsiatsiyasi bo‘yicha bu xavfning qaysi darajasi?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 tomonidan xavfning qabul qilinishi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Tizimli xato-kamchiliklar natijasidagi xavf</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Shifokorning yetarli kompetensiyaga ega emasligi xavfi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Mablag‘ni tejash bilan bog‘liq xavf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bemor hayotini saqlab qolish uchun boshqa yo‘l bo‘lmagan holatda xavfli muolajani zamonaviy ilmiy bilimlarga muvofiq o‘tkazdi va zararning oldini olish choralarini ko‘rdi. O‘zbekiston Jinoyat kodeksining 41-moddasiga ko‘ra bunday xavf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Asosli tavakkalchilik sifatida jinoyat hisoblanmaydi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Zarar ehtimoli bo‘lgani uchun doim jinoyat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bemorning yozma roziligi bo‘lsa asosli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kutilgan natijaga erishilsa asosli hisoblanadi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 Jenner 1796-yilda o‘g‘il bolaga sigir chechagi bilan kasallangan bemordagi pufakcha moddasini yuborib, qaysi kashfiyotga asos soldi?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Sitrus mahsulotlari bilan singani davolash usuliga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Yurakni kateterizatsiya qilish usulini ishlab chiqishga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Qora chechakning oldini oluvchi vaksina kashfiyotiga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Toza bog‘lam bilan o‘q jarohatini davolash usuliga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«Ishtirokchi yozma rozilik berdi, shuning uchun uning himoyasi uchun mas’uliyat menda emas», deydi. Xelsinki deklaratsiyasiga ko‘ra bu fikr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Ishtirokchi rozi bo‘lsa, mas’uliyat undan olib tashlanadi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Mas’uliyat faqat tadqiqot homiysining zimmasida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Etika qo‘mitasi tasdig‘i bo‘lsa, mas’uliyat tugaydi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Rozilik bo‘lsa ham tadqiqotchining mas’uliyati saqlanadi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 tugagach, ishtirokchilarga tegishli kompensatsiya berildi va tibbiy yordam davom ettirildi. Bu Belmont prinsiplaridan qaysi biriga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Shaxsni hurmat qilish prinsipi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Adolatlilik prinsipi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Ezgulik prinsipi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Qo‘sh effekt prinsipi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Tadqiqotda ishtirok etishga ongli rozilik bergan shaxs keyin fikrini o‘zgartirdi. Yevropa Kengashining 1997-yilgi konventsiyasi 16-moddasiga ko‘ra u nima qila 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 rozilikni istalgan vaqtda qaytarib olishi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 rozilikni faqat tadqiqot tugagach qaytara 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Rozilikni qaytarish uchun etika qo‘mitasi ruxsati kerak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 marta bergan rozilik tadqiqot oxirigacha majburiy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Sakral (pastor) tipidagi model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Sakral (pastor) modeli paternalizmga asoslangan. Unda bemor qarorda ishtirok etmaydi, masalalarni shifokor hal qiladi. U bemor hushsiz bo‘lib, irodasini bildira olmaganda qo‘llaniladi. Kollegial va kontrakt modellari kompetent bemorni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53-bet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Kuchsiz paternalizm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Kuchsiz paternalizm tushunchasini 1971-yilda Dj. Faynberg kiritgan. U vaqtincha nokompetent bemorga nisbatan qo‘llanadi. Kuchli paternalizmda esa bemor qarorda umuman ishtirok etmaydi.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51-52-bet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Rozilik ota-onasi yoki qonuniy vakilidan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Qonun-tartibga ko‘ra, 14 yoshgacha bo‘lgan bolalardan va muomalaga layoqatsiz bemorlardan rozilik ota-onasi yoki qonuniy vakillaridan olinadi. Manbada bu holat surrogat rozilik tushunchasi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52-bet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Aktivlik–passivlik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Aktivlik–passivlik modeli paternalizmga asoslangan. Shifokor barcha qarorlarni mustaqil qabul qiladi, bemorning fikri hisobga olinmaydi. Mualliflar uni shoshilinch tibbiyot va pediatriyada qo‘llaniladi deb ko‘rsatgan. Sakral model esa Vitchniki, Shash va Hollender modellari qatorida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52-bet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Shartnoma bekor qilinishi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Kontrakt modelida tomonlar shartnomaga muvofiq harakat qiladi. Talablar bajarilmasa, shartnoma bekor qilinishi mumkin. Bunda ikkala tomon ham jarayonni nazorat qila oladi va ikkalasi kompetent bo‘lishi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Kontrakt (shartnoma) model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Kontrakt modelida tomonlar tuzilgan shartnomaga muvofiq harakat qiladi. Biror tomon shartni bajarmasa, shartnoma bekor qilinishi mumkin. Vitchning fikricha, bu model shaxs avtonomiyasini ta’minlashga ko‘proq mos keladi. Kollegial modelda esa tenglik va o‘zaro ishonch asosiy o‘rin tutadi.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54-bet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Ma’lumot berish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Ma’lumot berish modelida shifokorning vazifasi bemorga ma’lumot berish bilan cheklanadi, qarorni bemor qabul qiladi. Talqin qilish modelida shifokor muolajaning maqsadi va xavflarini ham izohlaydi. Kengashish modelida shifokor bemorning qadriyatlariga mos variantni tanlashga yordam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54-bet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Sakral (pastor) model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Sakral (pastor) model paternalizmga asoslanadi: bemor qaror qabul qilishda ishtirok etmaydi. Bu model bemor hushsiz bo‘lganda va davolab bo‘lmaydigan bemorlarga palliativ yordam ko‘rsatishda qo‘llaniladi. Kollegial va kontrakt modellarda bemor kompetent hamkor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53-bet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Imkoniyati cheklangan, og‘ir ahvoldagi bemorlarga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modelda hamshira bemor manfaatini himoya qilishga javobgar bo‘lib, uning hayoti va sog‘lig‘i uchun to‘liq mas’ul hisoblanadi. U imkoniyati cheklangan, muomalaga layoqatsiz va og‘ir ahvoldagi bemorlarga qo‘llaniladi. Maqsadini o‘zi belgilovchi bemor kontrakt klinik modelga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55-bet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Iatrogen xavf</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Muolajani o‘tkazish bilan bog‘liq xavf iatrogen xavf deyiladi. Muolajadan oldin bemorning salomatlik holati bilan bog‘liq xavf esa morbid xavf hisoblanadi. Tizimli xato va tejash bilan bog‘liq xavflar esa Britaniya tibbiyot assotsiatsiyasi ko‘rsatgan boshqa yo‘nalishlardir.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72-bet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Kontekstual holatlar kvadrati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Kontekstual holatlar kvadratida oila a’zolari va yaqinlari, iqtisodiy omillar, konfidensiallik muammolari kabi tashqi omillar ko‘rib chiqiladi. Pnevmoniya misolining 4-bandi shunday: oila uyda qanchalik yordam bera olishi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Birgalikda qaror qabul qilish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Birgalikda qaror qabul qilish modelida shifokor faqat ma’lumot yetkazmaydi. Qaror o‘zaro hamkorlikda shifokor va bemor tomonidan birgalikda qabul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75-bet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Ijobiy natijaga erishish vositasi bo‘lmasligi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Prinsipning uchinchi qismi vosita bilan oqibatni farqlashni talab qiladi. Salbiy natija maqsad ham, ijobiy natijaga erishish vositasi ham emas, u ikkilamchi nohush oqibat sifatida yuzaga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75-76-bet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Asosli deb topilmaydi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41-moddaga ko‘ra odamlarning halok bo‘lish xavfi, ekologik halokat yoki boshqa og‘ir oqibatlar ehtimolini bila turib qilingan tavakkalchilik asosli deb topilmaydi.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76-77-bet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Shifokorning yetarli kompetensiyaga ega emasligi xavfi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Shifokorning kompetensiyasi yetishmasligi bilan bog‘liq xavfda o‘zaro bog‘liq xato-kamchiliklar zanjiri kuzatiladi. Masalan, diagnostikadagi xato davolashdagi nuqsonlarga, so‘ng asoratlarga olib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78-bet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Asosli tavakkalchilik sifatida jinoyat hisoblanmaydi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Maqsadga tavakkalsiz erishib bo‘lmasa, harakat zamonaviy bilimlarga mos kelsa va zararning oldini olish choralari ko‘rilgan bo‘lsa, tavakkalchilik asosli deb topiladi. Kutilgan natijaga erishilmasa yoki zarar foydadan ko‘p bo‘lsa ham, zarar javobgarlikka sabab bo‘lmaydi. Shuning uchun natijaning muvaffaqiyati shart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76-77-bet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Qora chechakning oldini oluvchi vaksina kashfiyotiga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Jenner sut sog‘uvchi ayollarning qora chechakka kam chalinishiga e’tibor qaratgan. U bolaga sigir chechagi moddasini yuborgan, keyin bolaga qora chechak yuqtirilganda kasallik rivojlanmagan. Shu tariqa vaksina kashf etilgan, Jenner esa vaksinatsiyaning asoschisi hisoblanadi. Singa bilan sitrus Lind, kateterizatsiya Forsman, toza bog‘lam esa Pare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143-144-bet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Rozilik bo‘lsa ham tadqiqotchining mas’uliyati saqlanadi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Deklaratsiyada shifokor va boshqa tibbiyot xodimining tadqiqot ishtirokchilarini himoya qilish uchun mas’uliyati ishtirokchi rozi bo‘lgan taqdirda ham unga yuklanmasligi, ya’ni olib tashlanmasligi qayd etilgan. Etika qo‘mitasi loyihani ko‘rib chiqadi va jarayonni nazorat qiladi, lekin tadqiqotchining mas’uliyatini bekor qilmaydi.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145-bet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Adolatlilik prinsipi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Adolatlilik prinsipiga ko‘ra foyda va manfaatlar adolatli taqsimlanadi, ishtirokchilarga kompensatsiya beriladi va tadqiqot tugagach ham tibbiy yordam ko‘rsatiladi. Shaxsni hurmat qilish avtonomiyaga, ezgulik zarar bermaslikka tegishli. Qo‘sh effekt Belmont prinsipi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147-bet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 rozilikni istalgan vaqtda qaytarib olishi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Konventsiyaning 16-moddasi tadqiqot ishtirokchilarini himoya qiladi. Unda ma’lumot olgan holda berilgan rozilik zarur ekani va rozilik bergan shaxs uni istalgan vaqtda qaytarib olishi mumkinligi ko‘rsatilgan. 17-modda esa rozilik berishga qodir bo‘lmagan shaxslar himoyasiga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147-148-bet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Inson huquqlari va biotibbiyot to‘g‘risidagi Yevropa konventsiyasi (1997); shifokor–bemor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V, VIII, XIV boblar (modellar, klinik xavf, Oviedo), kitob betlari 51-59; 72-80; 143-150</a:t>
            </a:r>
          </a:p>
          <a:p>
            <a:pPr>
              <a:spcAft>
                <a:spcPts val="1200"/>
              </a:spcAft>
            </a:pPr>
            <a:r>
              <a:rPr sz="2000">
                <a:solidFill>
                  <a:srgbClr val="1F2937"/>
                </a:solidFill>
                <a:latin typeface="Calibri"/>
              </a:rPr>
              <a:t>▸  Egasining manba taqdimoti (G‘iyosov Z.A., Indiaminov S.I., Bioetika, Samarqand, 2022 asosida tayyorlangan). Bioetika 3 mavzu taqdimot - manba.pptx (egasining manba taqdimoti, kitob matni EMAS), 15-28-slaydlar. 2026. Slaydlarda ko‘rsatilgan: G‘iyosov va Indiaminov 2022, 51-56 (munosabat modellari), 72-77 (klinik xavf), 147-148 (Oviedo); Council of Europe ETS 164, 5/10/16/17-moddalar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