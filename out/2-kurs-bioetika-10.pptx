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Nega bemor huquqlari aynan XX asr o‘rtasida muhim masalaga aylandi? Bemor huquqlari qonunga qanday o‘tadi? Doskada: 1972 → 1981 → 1995 → 1996 vaqt chizig‘ini chizdiring. Eslatma: berilgan manbada Qizil Xoch va Chegara bilmas shifokorlar haqida ma’lumot yo‘q, shuning uchun ular haqida raqam yoki fakt keltirilmaydi. Ma’ruzada manbadagi tashkilotlar (JTA, JSST, YUNESKO, Yevropa Kengashi) olinadi. Tipik xato: talabalar Qizil Xoch va Chegara bilmas shifokorlarni qo‘llanmada bor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Jeneva deklaratsiyasi va Lissabon deklaratsiyasi nima bilan farq qiladi? Etika qo‘mitalari uchun xalqaro qo‘llanma nega kerak? Doskada: jadvalni o‘zlari chizib, har hujjatga bitta kalit so‘z yozsinlar. Diqqat: Jeneva ≠ Lissabon. Jeneva vrach qasamyodi, Lissabon bemor huquqlari. Tipik xato: Xelsinki deklaratsiyasini bemor huquqlari hujjati deb aytish. Manbada u maxsus qo‘mitalar tahririda tilga olingan.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Bemorning huquqi shifokor yoki jamiyat manfaatiga zid kelsa nima bo‘ladi? 19-modda tibbiyotda qanday ma’no beradi? Doskada: ‘huquq – burch – javobgarlik’ uchburchagini chizdiring. Tipik xato: 18-moddadagi tenglikni imtiyozlar umuman bo‘lmasligi deb tushunish. Manbada imtiyozlar faqat qonun bilan belgilanishi aytilgan. Tezkor savol: huquqni cheklash uchun qanday hujjat kerak?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rozilikka oid qism aynan tibbiyot uchun muhim? 2) Aybsizlik prezumpsiyasi shifokorga qanday aloqador? Doskada: 24, 25, 27-moddalarni va 26-modda uch qismini ustun shaklida chizdiring. Tipik xato: 26-moddaning qismlarini va moddalarning raqamlarini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yoki kartochkalar bilan so‘rang, talabalar juftlikda javob beradi. Muhokama: qaysi moddani eslab qolish qiyin va nega? Doskada: modda raqami – mazmun juftliklarini yozdiring. Tipik xato: 24 va 25-moddalarni bir-biriga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40-modda bemor huquqlari bilan qanday bog‘lanadi? 2) Bemor huquqi buzilsa, 44-modda qanday yo‘l beradi? Doskada: 40, 43, 44, 45-moddalarni ’huquq – kafolat – himoya’ zanjiri sifatida chizdiring. Tipik xato: 43-modda (davlat ta’minoti) bilan 44-moddani (sudga shikoyat)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huquqni burchsiz tasavvur qilib bo‘lmaydi? 2) Tibbiyot xodimi va bemor burchlariga misol keltiring. Doskada: uchburchak chizing (huquq – majburiyat – javobgarlik) va o‘qlar bilan bog‘lang. Tipik xato: talabalar faqat huquqlarni sanab, burchlarni va javobgarlikni unutadi.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To‘g‘ri javob: 26-moddaning uchinchi qismi buziladi – fuqaroning roziligisiz unda tibbiy yoki ilmiy tajriba o‘tkazish taqiqlangan. Muhokama: 1) Nega rozilik ixtiyoriy va ma’lumotli bo‘lishi kerak? 2) Shikoyat qaysi yo‘llar bilan mumkin? Doskada: 26-moddaning uch qismini ustun shaklida yozing. Tipik xato: 26-moddani faqat aybsizlik prezumpsiyasi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harakat aynan XX asr o‘rtalarida kuchaydi? 2) Xalqaro deklaratsiya milliy qonunga qanday ta’sir qiladi? Doskada: to‘rt sanani vaqt o‘qida chizing. Tipik xato: 1972-yildagi AQSh hujjati bilan 1981-yildagi Lissabon deklaratsiyasini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Resurs cheklangan bo‘lsa, nega faqat tibbiy mezon qo‘llanadi? 2) Hushsiz bemorda kim rozilik beradi? Doskada: 1–5-tamoyillar jadvalini talabalar bilan birga chizdiring. Tipik xato: 4-tamoyilni (hushsiz bemor) 5-tamoyil (muomalaga layoqatsiz bemor)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Qanday holatda ma’lumotni bemordan yashirish asosli bo‘ladi? 2) Nega sir o‘limdan keyin ham saqlanadi? Doskada: ‘qoida → istisno’ juftligini 7- va 8-tamoyil uchun yozdiring. Tipik xato: istisnoni umumiy qoida deb o‘ylash, ya’ni ma’lumotni bemordan doim yashirish mumkin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Og‘riqsiz munosib ketish huquqi shifokordan nimani talab qiladi? 2) Diniy qo‘llab-quvvatlashni rad etish huquqi nima uchun muhim? Doskada: 11 tamoyilning raqam va qisqa nomlarini ketma-ket yozdiring. Tipik xato: 10-tamoyilni (munosib ketish huquqi) evtanaziya huquqi deb tushunish; kitobda bunday gap yo‘q.</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11 tamoyildan nechtasini daftarsiz sanay olasiz? 2) 4- va 5-tamoyil farqi nimada? Doskada: 11 tamoyilni ikki ustunga (tibbiy xizmat / bemor erkinligi) ajratib yozdiring. Tipik xato: hushsiz bemor bilan muomalaga layoqatsiz bemorni aralashtirish va 5-tamoyilda bemorning ishtirokini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Qonuniy vakil kelib qolsa, vaziyat qanday o‘zgaradi? 2) Bemor oldin davolanishni rad etgan bo‘lsa-chi? Doskada: qaror qabul qilish zanjirini chizdiring (vakil → konsilium → navbatchi vrach). Tipik xato: vrach qarorni rahbariyatga xabar qilishni unutadi va ‘manfaat’ tushunchasini o‘zboshimchalik deb talqin qiladi.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bemor huquqlari bilan birga shifokor huquqlari ham himoyalanishi kerak? 2) 13-modda Konstitutsiyaning qaysi moddasi bilan bog‘liq (18-modda)? Doskada: jadvalni daftarga ko‘chirtiring va sanalarni yozdiring. Tipik xato: qabul qilingan sana (29-avgust) bilan kuchga kirgan sanani (14-sentabr)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huquqlar bemorning shaxsiy qarori bilan, qaysilari muassasa tashkiliy sharoiti bilan bog‘liq? 2) Huquq buzilsa, bemor birinchi navbatda qayerga murojaat qiladi? Doskada: 24-moddadagi 9 ta huquqni ustunlarga ajrating. Tipik xato: shifokor tanlash huquqini ‘‘istalgan vaqtda istalgan shifokor’’ deb mutlaqlashtirish, shuningdek shikoyat yo‘llarini faqat sud bilan cheklash.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Yomon prognozni bemorga qanday ‘‘diplomatik’’ yetkazish mumkin? 2) Bemor oilasiga xabar berishni taqiqlagan bo‘lsa nima bo‘ladi? Doskada: ‘‘kimga ma’lumot beriladi’’ sxemasini (bemor, qonuniy vakil, oila) chizing. Tipik xato: oila a’zolariga xabarni bemor roziligisiz har doim berish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rozilik shaklini qonunda aniq belgilash muhim bo‘lishi mumkin? 2) Navbatchi shifokor qarori qachon asosli bo‘ladi? Doskada: favqulodda holatda qarorlar zanjirini chizing. Tipik xato: kechiktirib bo‘lmaydigan holatda rozilik shart emas deb hisoblash; aslida qarorni konsilium yoki shifokor qabul qiladi va rahbariyat keyin xabardor qilinadi.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Bemor rad etsa, shifokor nima qiladi? 2) Nega yuqumli kasallikda rozilik shart emas? Doskada: 27- va 28-moddalarni ikki ustunli jadvalda chizdiring. Tipik xato: talabalar yozma rad tasdiqnomasi har holda majburiy deb o‘ylaydi. Manbaga ko‘ra, qonun buni barcha holatda qat’iy talab qilmaydi; aniqlik quyi hujjatlarda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Savolni ovoz chiqarib so‘rang, 2-3 talabadan javob oling. Muhokama: 1) Konsilium va navbatchi vrach qarori qanday farqlanadi? 2) Qaror keyin kimga xabar qilinadi? (muassasa rahbariyatiga). Doskada: 27 va 28 ni ’bemor irodasi’ va ’jamiyat xavfi’ deb ikki o‘qqa joylashtiring. Tipik xato: ’roziliksiz’ degan so‘zni ’istalgan holatda’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sir vafotdan keyin ham saqlanadi? 2) Jinoyat shubhasi bo‘lsa, shifokor kimga xabar beradi? (tegishli huquqni muhofaza etuvchi idoralarga). Doskada: ’Sir’ doirasini chizib, 6 ta istisnoni o‘q bilan ko‘rsating. Tipik xato: talabalar istisnolarni sirni ’bekor qilish’ deb tushunadi. Aslida bu cheklangan, qonunda sanalgan holatlardir. Eslatma: jadvaldagi oxirgi qator ikki istisnoni birlashtiradi.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Bemordan ma’lumotni yashirish qachon oqlanadi? 2) Nega etika va qonun to‘liq mos tushmasligi mumkin? Doskada: ikki ustunli jadval chizdirib, 7-tamoyilning 2-bandini ikkala tomonga yozdiring. Tipik xato: deklaratsiyani majburiy qonun deb tushunish yoki 25-modda matnida istisno bor deb aytish; manbada u ko‘rsatilmagan.</a:t>
            </a:r>
          </a:p>
          <a:p/>
          <a:p>
            <a:r>
              <a:t>Tekshirish kerak (manbada noaniq):</a:t>
            </a:r>
          </a:p>
          <a:p>
            <a:r>
              <a:t>- Qonunning 25-moddasi to‘liq ma’lumot olish huquqini beradi; yashirish istisnosi aytilmagan.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shifokor siri asosiy guruhda? 2) Qo‘shimcha huquq qachon ta’minlanmay qolishi mumkin? Doskada: uchta doira chizib, har biriga 2 tadan misol yozdiring. Tipik xato: shifokorni tanlash huquqini asosiy guruhga kiritish; manbada u tashkiliy guruhda.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Bemor yoki yaqinlari xodimni haqorat qilsa, bu qaysi tamoyilga zid? 2) Huquq, majburiyat va javobgarlik nega o‘zaro bog‘liq? Doskada: ikki tomonli o‘q chizib, «bemor ↔ xodim» orasiga o‘zaro hurmatni yozdiring. Tipik xato: majburiyatlar faqat shifokorda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Rad etish huquqi qachon cheklanadi? 2) Shifokor qanday hujjat tuzadi? Doskada ikki ustunli sxema chizdiring: 27-modda va 28-modda. Tipik xato: talaba har qanday kasallikda rozilikni chetlab o‘tish mumkin deb o‘ylaydi, aslida shart atrofdagilarga xavf va qonuniy tartibdir.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o‘zini reklama qilish etikaga mos kelmaydi? 2) Jeneva qasamyodi qaysi holatlarda sinovdan o‘tadi? Doskada ikki ustun chizing: kodeks bandlari va qasamyod majburiyatlari. Tipik xato: Jeneva deklaratsiyasini Lissabon deklaratsiyasi (bemor huquqlari)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Yomon tashxisni bemorga qanday yetkazish kerak? 2) Qachon bosh tortish mumkin va keyin nima qilinadi? Doskada «bosh tortish» sxemasini chizdiring: shart, tavsiya, rahbariyatga xabar. Tipik xato: hayotga xavf bo‘lganda ham bosh tortish mumkin deb o‘ylash, aslida shart faqat xavf bo‘lmaganda.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Ishonch yo‘qligi shifokorga qanday huquq beradi? 2) Rahbariyatga xabar berish nima uchun kerak? Doskada chizish: «sabab → bosh tortish → boshqa mutaxassis → rahbariyatga xabar» zanjirini chizdiring. Tipik xato: talabalar bosh tortishni hayotga xavf bor holatda ham mumkin deb o‘ylaydi. Manbada shart aniq: hayotga xavf tug‘dirmasa.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birinchi qo‘mitalarda faqat shifokorlar bo‘lishi kamchilik edi? 2) Nyurnberg va Taskidji holatlari nimani ko‘rsatdi? Doskada chizish: vaqt chizig‘ini (Nyurnberg → 1960-yillar → 1975 → 1990-yillar) chizdiring. Tipik xato: Xelsinki deklaratsiyasini Jahon tibbiyot assotsiatsiyasi emas, AQSh hujjati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tur bevosita shifoxonadagi amaliy muammolar bilan ishlaydi? 2) Siyosat ishlab chiqadigan qo‘mita bilan tadqiqot qo‘mitasi nimasi bilan farq qiladi? Doskada chizish: to‘rt turni to‘rt ustun qilib chizing. Tipik xato: tashkilotlarni (YUNESKO, Jahon sog‘liqni saqlash tashkiloti) qo‘mita turlari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nega mamlakatlarda qo‘mitani tuzish usuli (Kongress, Prezident farmoni, hukumat) har xil? Milliy, regional va mahalliy qo‘mita vazifalari qanday farqlanadi? Doskada: 3 pog‘onali piramida (milliy–regional–mahalliy) va har biriga bittadan vazifa yozing. Tipik xato: regional qo‘mitani mahalliy bilan aralashtirish (mahalliy — aynan muassasadagi amaliy muammolar va tadqiqot loyihalarini ko‘radi). Eslatma: Shvetsiya bandidagi OCR matni qisman o‘qilmaydi, faqat o‘qiladigan qismi berildi.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qo‘mita a’zolari tekshiruv o‘tkazuvchi muassasaga bog‘liq bo‘lmasligi kerak? Oshkoralik tamoyili qarorlar sir saqlanmasligini nimaga xizmat qiladi? Doskada: 4 tamoyilni 4 ta doira ko‘rinishida chizing. Diqqat: xato qilish xavfi — Amerika modeli ≠ Yevropa modeli (birida qaror majburiy, ikkinchisida tavsiya). Tipik xato: SOP ni qo‘mita tamoyili deb o‘ylash; u ish qadamlari standartidir.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nega mintaqa va muassasalarda qo‘mita bo‘lishi kerak? Qaysi yo‘nalish talabalar tayyorgarligiga bevosita bog‘liq? Doskada: ikki ustun — «O‘zbekistonda mavjud» (vazirlik, Ibn Sino jamg‘armasi) va «ma’lumot yo‘q» (hududiy, muassasa). Tipik xato: oxirgi bandagi yo‘nalishlarni faqat O‘zbekistonga xos deb o‘ylash; manbada ular sog‘liqni saqlash idoralari qo‘mitalari uchun umumiy ro‘yxat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individual maslahatda subyektivlik xavfi yuqori? 2) Nega AQShda kichik guruh modeli ko‘proq tanlanadi? Doskada chizish: uch modelni ‘tezlik – ishonchlilik’ o‘qida joylashtiring. Tipik xato: kichik guruh maslahatini etika qo‘mitasi bilan aralashtirish; qo‘mita alohida, rasmiy tuzilma.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Vaziyat o‘quv maqsadida manbadagi ma’lumotlardan tuzilgan. Muhokama: 1) 2-holatda kichik guruh modeli yetarlimi? 2) Qat’iy yondashuv uchun konsultantda qanday vakolat kerak? Doskada chizish: ikki holat uchun ‘model + yondashuv’ juftligini yozing. Tipik xato: vaqt omilini hisobga olmay faqat eng ishonchli modelni tanlash.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Konstitutsiya, deklaratsiya, qonun va etika qo‘mitasi bir-birini qanday to‘ldiradi? 2) Manbada viloyat va muassasalardagi etika qo‘mitalari faoliyati haqida ma’lumot yo‘qligi (154-bet) nimani anglatadi? Doskada chizish: to‘rt bosqichli zanjir ‘Konstitutsiya → deklaratsiya → qonun → etika tuzilmasi’. Tipik xato: etika va huquq me’yorlari to‘liq mos keladi deb o‘ylash; manbada bu aytilmagan.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Xalqaro jamoat tashkilotlari (Qizil Xoch, Chegara bilmas shifokorlar va b.) va O‘zbekiston sog‘liqni saqlash tizimini takomillashtirish qarorlari (A2)</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Bemor huquqlari uchun harakat XX asrning 70-yillarida boshlandi. 1972-yilda Amerika kasalxonalar assotsiatsiyasi “Bemor huquqlari to‘g‘risida Bill”ni qabul qildi.</a:t>
            </a:r>
          </a:p>
          <a:p>
            <a:pPr>
              <a:spcAft>
                <a:spcPts val="1200"/>
              </a:spcAft>
            </a:pPr>
            <a:r>
              <a:rPr sz="2000">
                <a:solidFill>
                  <a:srgbClr val="1F2937"/>
                </a:solidFill>
                <a:latin typeface="Calibri"/>
              </a:rPr>
              <a:t>▸  Jahon tibbiyot assotsiatsiyasi (JTA) 1981-yilda Lissabon deklaratsiyasini qabul qildi, 1995-yilda unga o‘zgartishlar kiritildi. Unda bemor huquqlariga oid 11 ta tamoyil bor.</a:t>
            </a:r>
          </a:p>
          <a:p>
            <a:pPr>
              <a:spcAft>
                <a:spcPts val="1200"/>
              </a:spcAft>
            </a:pPr>
            <a:r>
              <a:rPr sz="2000">
                <a:solidFill>
                  <a:srgbClr val="1F2937"/>
                </a:solidFill>
                <a:latin typeface="Calibri"/>
              </a:rPr>
              <a:t>▸  O‘zbekistonda “Fuqarolar sog‘ligini saqlash to‘g‘risida”gi qonun 1996-yil 29-avgustda qabul qilingan va shu yilning 14-sentabridan kuchga kirgan.</a:t>
            </a:r>
          </a:p>
          <a:p>
            <a:pPr>
              <a:spcAft>
                <a:spcPts val="1200"/>
              </a:spcAft>
            </a:pPr>
            <a:r>
              <a:rPr sz="2000">
                <a:solidFill>
                  <a:srgbClr val="1F2937"/>
                </a:solidFill>
                <a:latin typeface="Calibri"/>
              </a:rPr>
              <a:t>▸  Ma’ruza rejasi: xalqaro tashkilotlar hujjatlari, Konstitutsiya, bemor va vrach huquqlari, etika qo‘mitalari. Maqsad: ularni O‘zbekiston qonunchiligi bilan bog‘lash.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40, 42, 38-50; 151-158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Xalqaro tashkilotlar va ularning hujjatlari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JTA hujjatlari vrach burchini (Jeneva, etika kodeksi) va bemor huquqlarini (Lissabon) belgilaydi.</a:t>
            </a:r>
          </a:p>
          <a:p>
            <a:pPr>
              <a:spcAft>
                <a:spcPts val="800"/>
              </a:spcAft>
            </a:pPr>
            <a:r>
              <a:rPr sz="1800">
                <a:solidFill>
                  <a:srgbClr val="1F2937"/>
                </a:solidFill>
                <a:latin typeface="Calibri"/>
              </a:rPr>
              <a:t>▸  JSST 2000-yilda biotibbiy tekshiruvlar etika qo‘mitalari uchun qo‘llanma tayyorlagan.</a:t>
            </a:r>
          </a:p>
          <a:p>
            <a:pPr>
              <a:spcAft>
                <a:spcPts val="800"/>
              </a:spcAft>
            </a:pPr>
            <a:r>
              <a:rPr sz="1800">
                <a:solidFill>
                  <a:srgbClr val="1F2937"/>
                </a:solidFill>
                <a:latin typeface="Calibri"/>
              </a:rPr>
              <a:t>▸  YUNESKO qo‘llanmasi bioetika qo‘mitalarining to‘rt turini ajratadi.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337310"/>
                <a:gridCol w="1904696"/>
                <a:gridCol w="2045969"/>
              </a:tblGrid>
              <a:tr h="614476">
                <a:tc>
                  <a:txBody>
                    <a:bodyPr/>
                    <a:lstStyle/>
                    <a:p>
                      <a:r>
                        <a:rPr sz="1600" b="1">
                          <a:solidFill>
                            <a:srgbClr val="FFFFFF"/>
                          </a:solidFill>
                        </a:rPr>
                        <a:t>Tashkilot</a:t>
                      </a:r>
                    </a:p>
                  </a:txBody>
                  <a:tcPr marL="73152" marR="73152" marT="36576" marB="36576">
                    <a:solidFill>
                      <a:srgbClr val="0B1F3A"/>
                    </a:solidFill>
                  </a:tcPr>
                </a:tc>
                <a:tc>
                  <a:txBody>
                    <a:bodyPr/>
                    <a:lstStyle/>
                    <a:p>
                      <a:r>
                        <a:rPr sz="1600" b="1">
                          <a:solidFill>
                            <a:srgbClr val="FFFFFF"/>
                          </a:solidFill>
                        </a:rPr>
                        <a:t>Hujjat</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r>
              <a:tr h="614476">
                <a:tc>
                  <a:txBody>
                    <a:bodyPr/>
                    <a:lstStyle/>
                    <a:p>
                      <a:r>
                        <a:rPr sz="1500" b="0">
                          <a:solidFill>
                            <a:srgbClr val="1F2937"/>
                          </a:solidFill>
                        </a:rPr>
                        <a:t>JTA</a:t>
                      </a:r>
                    </a:p>
                  </a:txBody>
                  <a:tcPr marL="73152" marR="73152" marT="36576" marB="36576">
                    <a:solidFill>
                      <a:srgbClr val="E8EEF6"/>
                    </a:solidFill>
                  </a:tcPr>
                </a:tc>
                <a:tc>
                  <a:txBody>
                    <a:bodyPr/>
                    <a:lstStyle/>
                    <a:p>
                      <a:r>
                        <a:rPr sz="1500" b="0">
                          <a:solidFill>
                            <a:srgbClr val="1F2937"/>
                          </a:solidFill>
                        </a:rPr>
                        <a:t>Jeneva deklaratsiyasi, Tibbiy etika kodeksi</a:t>
                      </a:r>
                    </a:p>
                  </a:txBody>
                  <a:tcPr marL="73152" marR="73152" marT="36576" marB="36576">
                    <a:solidFill>
                      <a:srgbClr val="E8EEF6"/>
                    </a:solidFill>
                  </a:tcPr>
                </a:tc>
                <a:tc>
                  <a:txBody>
                    <a:bodyPr/>
                    <a:lstStyle/>
                    <a:p>
                      <a:r>
                        <a:rPr sz="1500" b="0">
                          <a:solidFill>
                            <a:srgbClr val="1F2937"/>
                          </a:solidFill>
                        </a:rPr>
                        <a:t>Vrach majburiyatlari, shifokor siri</a:t>
                      </a:r>
                    </a:p>
                  </a:txBody>
                  <a:tcPr marL="73152" marR="73152" marT="36576" marB="36576">
                    <a:solidFill>
                      <a:srgbClr val="E8EEF6"/>
                    </a:solidFill>
                  </a:tcPr>
                </a:tc>
              </a:tr>
              <a:tr h="614476">
                <a:tc>
                  <a:txBody>
                    <a:bodyPr/>
                    <a:lstStyle/>
                    <a:p>
                      <a:r>
                        <a:rPr sz="1500" b="0">
                          <a:solidFill>
                            <a:srgbClr val="1F2937"/>
                          </a:solidFill>
                        </a:rPr>
                        <a:t>JTA</a:t>
                      </a:r>
                    </a:p>
                  </a:txBody>
                  <a:tcPr marL="73152" marR="73152" marT="36576" marB="36576">
                    <a:solidFill>
                      <a:srgbClr val="FFFFFF"/>
                    </a:solidFill>
                  </a:tcPr>
                </a:tc>
                <a:tc>
                  <a:txBody>
                    <a:bodyPr/>
                    <a:lstStyle/>
                    <a:p>
                      <a:r>
                        <a:rPr sz="1500" b="0">
                          <a:solidFill>
                            <a:srgbClr val="1F2937"/>
                          </a:solidFill>
                        </a:rPr>
                        <a:t>Lissabon (1981), Xelsinki (1975)</a:t>
                      </a:r>
                    </a:p>
                  </a:txBody>
                  <a:tcPr marL="73152" marR="73152" marT="36576" marB="36576">
                    <a:solidFill>
                      <a:srgbClr val="FFFFFF"/>
                    </a:solidFill>
                  </a:tcPr>
                </a:tc>
                <a:tc>
                  <a:txBody>
                    <a:bodyPr/>
                    <a:lstStyle/>
                    <a:p>
                      <a:r>
                        <a:rPr sz="1500" b="0">
                          <a:solidFill>
                            <a:srgbClr val="1F2937"/>
                          </a:solidFill>
                        </a:rPr>
                        <a:t>Bemor huquqlari; maxsus qo‘mitalar</a:t>
                      </a:r>
                    </a:p>
                  </a:txBody>
                  <a:tcPr marL="73152" marR="73152" marT="36576" marB="36576">
                    <a:solidFill>
                      <a:srgbClr val="FFFFFF"/>
                    </a:solidFill>
                  </a:tcPr>
                </a:tc>
              </a:tr>
              <a:tr h="614476">
                <a:tc>
                  <a:txBody>
                    <a:bodyPr/>
                    <a:lstStyle/>
                    <a:p>
                      <a:r>
                        <a:rPr sz="1500" b="0">
                          <a:solidFill>
                            <a:srgbClr val="1F2937"/>
                          </a:solidFill>
                        </a:rPr>
                        <a:t>JSST</a:t>
                      </a:r>
                    </a:p>
                  </a:txBody>
                  <a:tcPr marL="73152" marR="73152" marT="36576" marB="36576">
                    <a:solidFill>
                      <a:srgbClr val="E8EEF6"/>
                    </a:solidFill>
                  </a:tcPr>
                </a:tc>
                <a:tc>
                  <a:txBody>
                    <a:bodyPr/>
                    <a:lstStyle/>
                    <a:p>
                      <a:r>
                        <a:rPr sz="1500" b="0">
                          <a:solidFill>
                            <a:srgbClr val="1F2937"/>
                          </a:solidFill>
                        </a:rPr>
                        <a:t>Qo‘llanma (2000)</a:t>
                      </a:r>
                    </a:p>
                  </a:txBody>
                  <a:tcPr marL="73152" marR="73152" marT="36576" marB="36576">
                    <a:solidFill>
                      <a:srgbClr val="E8EEF6"/>
                    </a:solidFill>
                  </a:tcPr>
                </a:tc>
                <a:tc>
                  <a:txBody>
                    <a:bodyPr/>
                    <a:lstStyle/>
                    <a:p>
                      <a:r>
                        <a:rPr sz="1500" b="0">
                          <a:solidFill>
                            <a:srgbClr val="1F2937"/>
                          </a:solidFill>
                        </a:rPr>
                        <a:t>Biotibbiy tekshiruv etika qo‘mitalari</a:t>
                      </a:r>
                    </a:p>
                  </a:txBody>
                  <a:tcPr marL="73152" marR="73152" marT="36576" marB="36576">
                    <a:solidFill>
                      <a:srgbClr val="E8EEF6"/>
                    </a:solidFill>
                  </a:tcPr>
                </a:tc>
              </a:tr>
              <a:tr h="614476">
                <a:tc>
                  <a:txBody>
                    <a:bodyPr/>
                    <a:lstStyle/>
                    <a:p>
                      <a:r>
                        <a:rPr sz="1500" b="0">
                          <a:solidFill>
                            <a:srgbClr val="1F2937"/>
                          </a:solidFill>
                        </a:rPr>
                        <a:t>YUNESKO; Yevropa Kengashi</a:t>
                      </a:r>
                    </a:p>
                  </a:txBody>
                  <a:tcPr marL="73152" marR="73152" marT="36576" marB="36576">
                    <a:solidFill>
                      <a:srgbClr val="FFFFFF"/>
                    </a:solidFill>
                  </a:tcPr>
                </a:tc>
                <a:tc>
                  <a:txBody>
                    <a:bodyPr/>
                    <a:lstStyle/>
                    <a:p>
                      <a:r>
                        <a:rPr sz="1500" b="0">
                          <a:solidFill>
                            <a:srgbClr val="1F2937"/>
                          </a:solidFill>
                        </a:rPr>
                        <a:t>Bioetika qo‘mitalari, komissiyalari</a:t>
                      </a:r>
                    </a:p>
                  </a:txBody>
                  <a:tcPr marL="73152" marR="73152" marT="36576" marB="36576">
                    <a:solidFill>
                      <a:srgbClr val="FFFFFF"/>
                    </a:solidFill>
                  </a:tcPr>
                </a:tc>
                <a:tc>
                  <a:txBody>
                    <a:bodyPr/>
                    <a:lstStyle/>
                    <a:p>
                      <a:r>
                        <a:rPr sz="1500" b="0">
                          <a:solidFill>
                            <a:srgbClr val="1F2937"/>
                          </a:solidFill>
                        </a:rPr>
                        <a:t>YUNESKO qo‘llanmasida 4 tur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Tashkilotlar va hujjatlar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40; 46-47, 154, 152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Konstitutsiya: tenglik va daxlsizlik (18–20-moddalar)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Konstitutsiyaning ikkinchi bo‘limi inson va fuqarolarning asosiy huquq, erkinlik va burchlariga bag‘ishlangan.</a:t>
            </a:r>
          </a:p>
          <a:p>
            <a:pPr>
              <a:spcAft>
                <a:spcPts val="800"/>
              </a:spcAft>
            </a:pPr>
            <a:r>
              <a:rPr sz="1800">
                <a:solidFill>
                  <a:srgbClr val="1F2937"/>
                </a:solidFill>
                <a:latin typeface="Calibri"/>
              </a:rPr>
              <a:t>▸  Huquq, majburiyat va javobgarlik bir-biridan ajralmas tushunchalar sifatida qabul qilinishi lozim.</a:t>
            </a:r>
          </a:p>
          <a:p>
            <a:pPr>
              <a:spcAft>
                <a:spcPts val="800"/>
              </a:spcAft>
            </a:pPr>
            <a:r>
              <a:rPr sz="1800">
                <a:solidFill>
                  <a:srgbClr val="1F2937"/>
                </a:solidFill>
                <a:latin typeface="Calibri"/>
              </a:rPr>
              <a:t>▸  Fuqarolar o‘z huquqlarini sud orqali himoya qilish huquqiga ega (44-modda).</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900080"/>
                <a:gridCol w="2193947"/>
                <a:gridCol w="2193947"/>
              </a:tblGrid>
              <a:tr h="76809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Qoida</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768096">
                <a:tc>
                  <a:txBody>
                    <a:bodyPr/>
                    <a:lstStyle/>
                    <a:p>
                      <a:r>
                        <a:rPr sz="1500" b="0">
                          <a:solidFill>
                            <a:srgbClr val="1F2937"/>
                          </a:solidFill>
                        </a:rPr>
                        <a:t>18</a:t>
                      </a:r>
                    </a:p>
                  </a:txBody>
                  <a:tcPr marL="73152" marR="73152" marT="36576" marB="36576">
                    <a:solidFill>
                      <a:srgbClr val="E8EEF6"/>
                    </a:solidFill>
                  </a:tcPr>
                </a:tc>
                <a:tc>
                  <a:txBody>
                    <a:bodyPr/>
                    <a:lstStyle/>
                    <a:p>
                      <a:r>
                        <a:rPr sz="1500" b="0">
                          <a:solidFill>
                            <a:srgbClr val="1F2937"/>
                          </a:solidFill>
                        </a:rPr>
                        <a:t>Qonun oldida tenglik</a:t>
                      </a:r>
                    </a:p>
                  </a:txBody>
                  <a:tcPr marL="73152" marR="73152" marT="36576" marB="36576">
                    <a:solidFill>
                      <a:srgbClr val="E8EEF6"/>
                    </a:solidFill>
                  </a:tcPr>
                </a:tc>
                <a:tc>
                  <a:txBody>
                    <a:bodyPr/>
                    <a:lstStyle/>
                    <a:p>
                      <a:r>
                        <a:rPr sz="1500" b="0">
                          <a:solidFill>
                            <a:srgbClr val="1F2937"/>
                          </a:solidFill>
                        </a:rPr>
                        <a:t>Jinsi, irqi, tilidan qat’i nazar</a:t>
                      </a:r>
                    </a:p>
                  </a:txBody>
                  <a:tcPr marL="73152" marR="73152" marT="36576" marB="36576">
                    <a:solidFill>
                      <a:srgbClr val="E8EEF6"/>
                    </a:solidFill>
                  </a:tcPr>
                </a:tc>
              </a:tr>
              <a:tr h="768096">
                <a:tc>
                  <a:txBody>
                    <a:bodyPr/>
                    <a:lstStyle/>
                    <a:p>
                      <a:r>
                        <a:rPr sz="1500" b="0">
                          <a:solidFill>
                            <a:srgbClr val="1F2937"/>
                          </a:solidFill>
                        </a:rPr>
                        <a:t>19</a:t>
                      </a:r>
                    </a:p>
                  </a:txBody>
                  <a:tcPr marL="73152" marR="73152" marT="36576" marB="36576">
                    <a:solidFill>
                      <a:srgbClr val="FFFFFF"/>
                    </a:solidFill>
                  </a:tcPr>
                </a:tc>
                <a:tc>
                  <a:txBody>
                    <a:bodyPr/>
                    <a:lstStyle/>
                    <a:p>
                      <a:r>
                        <a:rPr sz="1500" b="0">
                          <a:solidFill>
                            <a:srgbClr val="1F2937"/>
                          </a:solidFill>
                        </a:rPr>
                        <a:t>Huquq faqat sud qarori bilan cheklanadi</a:t>
                      </a:r>
                    </a:p>
                  </a:txBody>
                  <a:tcPr marL="73152" marR="73152" marT="36576" marB="36576">
                    <a:solidFill>
                      <a:srgbClr val="FFFFFF"/>
                    </a:solidFill>
                  </a:tcPr>
                </a:tc>
                <a:tc>
                  <a:txBody>
                    <a:bodyPr/>
                    <a:lstStyle/>
                    <a:p>
                      <a:r>
                        <a:rPr sz="1500" b="0">
                          <a:solidFill>
                            <a:srgbClr val="1F2937"/>
                          </a:solidFill>
                        </a:rPr>
                        <a:t>Qonuniy huquqlar daxlsiz</a:t>
                      </a:r>
                    </a:p>
                  </a:txBody>
                  <a:tcPr marL="73152" marR="73152" marT="36576" marB="36576">
                    <a:solidFill>
                      <a:srgbClr val="FFFFFF"/>
                    </a:solidFill>
                  </a:tcPr>
                </a:tc>
              </a:tr>
              <a:tr h="768096">
                <a:tc>
                  <a:txBody>
                    <a:bodyPr/>
                    <a:lstStyle/>
                    <a:p>
                      <a:r>
                        <a:rPr sz="1500" b="0">
                          <a:solidFill>
                            <a:srgbClr val="1F2937"/>
                          </a:solidFill>
                        </a:rPr>
                        <a:t>20</a:t>
                      </a:r>
                    </a:p>
                  </a:txBody>
                  <a:tcPr marL="73152" marR="73152" marT="36576" marB="36576">
                    <a:solidFill>
                      <a:srgbClr val="E8EEF6"/>
                    </a:solidFill>
                  </a:tcPr>
                </a:tc>
                <a:tc>
                  <a:txBody>
                    <a:bodyPr/>
                    <a:lstStyle/>
                    <a:p>
                      <a:r>
                        <a:rPr sz="1500" b="0">
                          <a:solidFill>
                            <a:srgbClr val="1F2937"/>
                          </a:solidFill>
                        </a:rPr>
                        <a:t>Huquqdan foydalanish chegarasi</a:t>
                      </a:r>
                    </a:p>
                  </a:txBody>
                  <a:tcPr marL="73152" marR="73152" marT="36576" marB="36576">
                    <a:solidFill>
                      <a:srgbClr val="E8EEF6"/>
                    </a:solidFill>
                  </a:tcPr>
                </a:tc>
                <a:tc>
                  <a:txBody>
                    <a:bodyPr/>
                    <a:lstStyle/>
                    <a:p>
                      <a:r>
                        <a:rPr sz="1500" b="0">
                          <a:solidFill>
                            <a:srgbClr val="1F2937"/>
                          </a:solidFill>
                        </a:rPr>
                        <a:t>Boshqalar manfaatiga zarar yetkazmaslik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18–20-moddalar mazmuni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38, 40, 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Yashash huquqi va 26-modda: uch tezis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24-modda: yashash huquqi ajralmas; 25-modda: erkinlik va shaxsiy daxlsizlik huquqi.</a:t>
            </a:r>
          </a:p>
          <a:p>
            <a:pPr>
              <a:spcAft>
                <a:spcPts val="800"/>
              </a:spcAft>
            </a:pPr>
            <a:r>
              <a:rPr sz="1800">
                <a:solidFill>
                  <a:srgbClr val="1F2937"/>
                </a:solidFill>
                <a:latin typeface="Calibri"/>
              </a:rPr>
              <a:t>▸  27-modda: sha’n-obro‘ himoyasi, shaxsiy hayotga aralashmaslik va turar joy daxlsizligi.</a:t>
            </a:r>
          </a:p>
          <a:p>
            <a:pPr>
              <a:spcAft>
                <a:spcPts val="800"/>
              </a:spcAft>
            </a:pPr>
            <a:r>
              <a:rPr sz="1800">
                <a:solidFill>
                  <a:srgbClr val="1F2937"/>
                </a:solidFill>
                <a:latin typeface="Calibri"/>
              </a:rPr>
              <a:t>▸  26-modda uch qismli (jadvalga qarang); qiynoq tibbiyotga xos emas, ammo ehtimoli istisno etilmaydi.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566807"/>
                <a:gridCol w="3721167"/>
              </a:tblGrid>
              <a:tr h="768096">
                <a:tc>
                  <a:txBody>
                    <a:bodyPr/>
                    <a:lstStyle/>
                    <a:p>
                      <a:r>
                        <a:rPr sz="1800" b="1">
                          <a:solidFill>
                            <a:srgbClr val="FFFFFF"/>
                          </a:solidFill>
                        </a:rPr>
                        <a:t>Qism</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768096">
                <a:tc>
                  <a:txBody>
                    <a:bodyPr/>
                    <a:lstStyle/>
                    <a:p>
                      <a:r>
                        <a:rPr sz="1700" b="0">
                          <a:solidFill>
                            <a:srgbClr val="1F2937"/>
                          </a:solidFill>
                        </a:rPr>
                        <a:t>1-qism</a:t>
                      </a:r>
                    </a:p>
                  </a:txBody>
                  <a:tcPr marL="73152" marR="73152" marT="36576" marB="36576">
                    <a:solidFill>
                      <a:srgbClr val="E8EEF6"/>
                    </a:solidFill>
                  </a:tcPr>
                </a:tc>
                <a:tc>
                  <a:txBody>
                    <a:bodyPr/>
                    <a:lstStyle/>
                    <a:p>
                      <a:r>
                        <a:rPr sz="1700" b="0">
                          <a:solidFill>
                            <a:srgbClr val="1F2937"/>
                          </a:solidFill>
                        </a:rPr>
                        <a:t>Aybsizlik prezumpsiyasi</a:t>
                      </a:r>
                    </a:p>
                  </a:txBody>
                  <a:tcPr marL="73152" marR="73152" marT="36576" marB="36576">
                    <a:solidFill>
                      <a:srgbClr val="E8EEF6"/>
                    </a:solidFill>
                  </a:tcPr>
                </a:tc>
              </a:tr>
              <a:tr h="768096">
                <a:tc>
                  <a:txBody>
                    <a:bodyPr/>
                    <a:lstStyle/>
                    <a:p>
                      <a:r>
                        <a:rPr sz="1700" b="0">
                          <a:solidFill>
                            <a:srgbClr val="1F2937"/>
                          </a:solidFill>
                        </a:rPr>
                        <a:t>2-qism</a:t>
                      </a:r>
                    </a:p>
                  </a:txBody>
                  <a:tcPr marL="73152" marR="73152" marT="36576" marB="36576">
                    <a:solidFill>
                      <a:srgbClr val="FFFFFF"/>
                    </a:solidFill>
                  </a:tcPr>
                </a:tc>
                <a:tc>
                  <a:txBody>
                    <a:bodyPr/>
                    <a:lstStyle/>
                    <a:p>
                      <a:r>
                        <a:rPr sz="1700" b="0">
                          <a:solidFill>
                            <a:srgbClr val="1F2937"/>
                          </a:solidFill>
                        </a:rPr>
                        <a:t>Qiynoq va qadrni kamsitish taqiqi</a:t>
                      </a:r>
                    </a:p>
                  </a:txBody>
                  <a:tcPr marL="73152" marR="73152" marT="36576" marB="36576">
                    <a:solidFill>
                      <a:srgbClr val="FFFFFF"/>
                    </a:solidFill>
                  </a:tcPr>
                </a:tc>
              </a:tr>
              <a:tr h="768096">
                <a:tc>
                  <a:txBody>
                    <a:bodyPr/>
                    <a:lstStyle/>
                    <a:p>
                      <a:r>
                        <a:rPr sz="1700" b="0">
                          <a:solidFill>
                            <a:srgbClr val="1F2937"/>
                          </a:solidFill>
                        </a:rPr>
                        <a:t>3-qism</a:t>
                      </a:r>
                    </a:p>
                  </a:txBody>
                  <a:tcPr marL="73152" marR="73152" marT="36576" marB="36576">
                    <a:solidFill>
                      <a:srgbClr val="E8EEF6"/>
                    </a:solidFill>
                  </a:tcPr>
                </a:tc>
                <a:tc>
                  <a:txBody>
                    <a:bodyPr/>
                    <a:lstStyle/>
                    <a:p>
                      <a:r>
                        <a:rPr sz="1700" b="0">
                          <a:solidFill>
                            <a:srgbClr val="1F2937"/>
                          </a:solidFill>
                        </a:rPr>
                        <a:t>Roziliksiz tibbiy/ilmiy tajriba taqiqi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26-modda: uch qism</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38, 38-39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Konstitutsiya moddalari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yashash huquqi qaysi moddada? Shaxsiy daxlsizlik huquqi-chi? (Javob: 24-modda va 25-modda.)</a:t>
            </a:r>
          </a:p>
          <a:p>
            <a:pPr>
              <a:spcAft>
                <a:spcPts val="1200"/>
              </a:spcAft>
            </a:pPr>
            <a:r>
              <a:rPr sz="2200">
                <a:solidFill>
                  <a:srgbClr val="1F2937"/>
                </a:solidFill>
                <a:latin typeface="Calibri"/>
              </a:rPr>
              <a:t>▸  Savol 2: sha’n-obro‘ himoyasi va turar joy daxlsizligi qaysi moddada kafolatlangan? (Javob: 27-modda.)</a:t>
            </a:r>
          </a:p>
          <a:p>
            <a:pPr>
              <a:spcAft>
                <a:spcPts val="1200"/>
              </a:spcAft>
            </a:pPr>
            <a:r>
              <a:rPr sz="2200">
                <a:solidFill>
                  <a:srgbClr val="1F2937"/>
                </a:solidFill>
                <a:latin typeface="Calibri"/>
              </a:rPr>
              <a:t>▸  Savol 3: aybsizlik prezumpsiyasi 26-moddaning qaysi qismida? Rozilikka oid qism-chi? (Javob: birinchi va uchinchi qism.)</a:t>
            </a:r>
          </a:p>
          <a:p>
            <a:pPr>
              <a:spcAft>
                <a:spcPts val="1200"/>
              </a:spcAft>
            </a:pPr>
            <a:r>
              <a:rPr sz="2200">
                <a:solidFill>
                  <a:srgbClr val="1F2937"/>
                </a:solidFill>
                <a:latin typeface="Calibri"/>
              </a:rPr>
              <a:t>▸  Diqqat: xato qilish xavfi — 26-modda qismlarini aralashtirmang: aybsizlik ≠ qiynoq taqiqi ≠ tajribaga rozilik.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38, 38-39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Malakali tibbiy xizmat huquqi va davlat kafolati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40-modda fuqarolarning malakali tibbiy xizmatdan foydalanish huquqini kafolatlaydi; tibbiy yordamning barcha turlaridan malakali bahramand bo‘lish nazarda tutiladi.</a:t>
            </a:r>
          </a:p>
          <a:p>
            <a:pPr>
              <a:spcAft>
                <a:spcPts val="1200"/>
              </a:spcAft>
            </a:pPr>
            <a:r>
              <a:rPr sz="2200">
                <a:solidFill>
                  <a:srgbClr val="1F2937"/>
                </a:solidFill>
                <a:latin typeface="Calibri"/>
              </a:rPr>
              <a:t>▸  43-modda: mustahkamlangan huquq va erkinliklarni davlat ta’minlaydi. Bu davlatning burchi; fuqarolarning ham davlat oldida burchlari bor.</a:t>
            </a:r>
          </a:p>
          <a:p>
            <a:pPr>
              <a:spcAft>
                <a:spcPts val="1200"/>
              </a:spcAft>
            </a:pPr>
            <a:r>
              <a:rPr sz="2200">
                <a:solidFill>
                  <a:srgbClr val="1F2937"/>
                </a:solidFill>
                <a:latin typeface="Calibri"/>
              </a:rPr>
              <a:t>▸  44-modda: huquqni sud orqali himoya qilish va davlat organlari, mansabdorlar, jamoat birlashmalarining g‘ayriqonuniy harakati ustidan sudga shikoyat qilish kafolatlangan.</a:t>
            </a:r>
          </a:p>
          <a:p>
            <a:pPr>
              <a:spcAft>
                <a:spcPts val="1200"/>
              </a:spcAft>
            </a:pPr>
            <a:r>
              <a:rPr sz="2200">
                <a:solidFill>
                  <a:srgbClr val="1F2937"/>
                </a:solidFill>
                <a:latin typeface="Calibri"/>
              </a:rPr>
              <a:t>▸  45-modda: voyaga yetmaganlar, mehnatga layoqatsizlar va yolg‘iz keksalarning huquqlari davlat himoyasida.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Fuqarolar burchlari: huquq, majburiyat,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Konstitutsiyaning XI bobi fuqarolarning burchlariga bag‘ishlangan. Huquqqa ega bo‘lish ma’lum burch va majburiyatlarni ham taqozo etadi.</a:t>
            </a:r>
          </a:p>
          <a:p>
            <a:pPr>
              <a:spcAft>
                <a:spcPts val="1200"/>
              </a:spcAft>
            </a:pPr>
            <a:r>
              <a:rPr sz="2200">
                <a:solidFill>
                  <a:srgbClr val="1F2937"/>
                </a:solidFill>
                <a:latin typeface="Calibri"/>
              </a:rPr>
              <a:t>▸  Fuqarolar Konstitutsiya va qonunlarga rioya etishi, boshqalarning huquqi, sha’ni va qadr-qimmatini hurmat qilishi, soliq va mahalliy yig‘imlarni to‘lashi shart.</a:t>
            </a:r>
          </a:p>
          <a:p>
            <a:pPr>
              <a:spcAft>
                <a:spcPts val="1200"/>
              </a:spcAft>
            </a:pPr>
            <a:r>
              <a:rPr sz="2200">
                <a:solidFill>
                  <a:srgbClr val="1F2937"/>
                </a:solidFill>
                <a:latin typeface="Calibri"/>
              </a:rPr>
              <a:t>▸  Fuqarolar O‘zbekistonni himoya qilishi, xalqning tarixiy, ma’naviy va madaniy merosini asrashi, tabiiy muhitga ehtiyotkor bo‘lishi lozim.</a:t>
            </a:r>
          </a:p>
          <a:p>
            <a:pPr>
              <a:spcAft>
                <a:spcPts val="1200"/>
              </a:spcAft>
            </a:pPr>
            <a:r>
              <a:rPr sz="2200">
                <a:solidFill>
                  <a:srgbClr val="1F2937"/>
                </a:solidFill>
                <a:latin typeface="Calibri"/>
              </a:rPr>
              <a:t>▸  Burchga rioya qilinmasa, javobgarlik kelib chiqadi. Shu sabab huquq, majburiyat va javobgarlik uzviy, ajralmas tushunchalar sifatida qabul qilinadi.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39, 39-40,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rozilikka asoslangan tajriba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tadqiqotchi fuqarodan so‘ramasdan, uning roziligisiz o‘zida tibbiy yoki ilmiy tajriba o‘tkazmoqda.</a:t>
            </a:r>
          </a:p>
          <a:p>
            <a:pPr>
              <a:spcAft>
                <a:spcPts val="1200"/>
              </a:spcAft>
            </a:pPr>
            <a:r>
              <a:rPr sz="2200">
                <a:solidFill>
                  <a:srgbClr val="1F2937"/>
                </a:solidFill>
                <a:latin typeface="Calibri"/>
              </a:rPr>
              <a:t>▸  Savol: bu holat Konstitutsiyaning qaysi normasini buzadi va fuqaro o‘z huquqini qayerda himoya qila oladi?</a:t>
            </a:r>
          </a:p>
          <a:p>
            <a:pPr>
              <a:spcAft>
                <a:spcPts val="1200"/>
              </a:spcAft>
            </a:pPr>
            <a:r>
              <a:rPr sz="2200">
                <a:solidFill>
                  <a:srgbClr val="1F2937"/>
                </a:solidFill>
                <a:latin typeface="Calibri"/>
              </a:rPr>
              <a:t>▸  Maslahat: Konstitutsiyaning 26-moddasida uchta tezis bor – aybsizlik prezumpsiyasi, qiynoq va zo‘ravonlikning taqiqi hamda rozilik talabi.</a:t>
            </a:r>
          </a:p>
          <a:p>
            <a:pPr>
              <a:spcAft>
                <a:spcPts val="1200"/>
              </a:spcAft>
            </a:pPr>
            <a:r>
              <a:rPr sz="2200">
                <a:solidFill>
                  <a:srgbClr val="1F2937"/>
                </a:solidFill>
                <a:latin typeface="Calibri"/>
              </a:rPr>
              <a:t>▸  Fuqaro o‘z huquqini sud orqali himoya qilishi va noqonuniy harakatlar ustidan sudga shikoyat qilishi mumkin (44-modda).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39, 38-39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Bemor huquqlari harakati tarixi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XX asrning 70-yillarida dunyoning turli mamlakatlarida bemor huquqlari uchun harakat boshlandi.</a:t>
            </a:r>
          </a:p>
          <a:p>
            <a:pPr>
              <a:spcAft>
                <a:spcPts val="800"/>
              </a:spcAft>
            </a:pPr>
            <a:r>
              <a:rPr sz="1800">
                <a:solidFill>
                  <a:srgbClr val="1F2937"/>
                </a:solidFill>
                <a:latin typeface="Calibri"/>
              </a:rPr>
              <a:t>▸  Lissabon deklaratsiyasida bemor huquqlariga oid 11 ta tamoyil keltirilgan.</a:t>
            </a:r>
          </a:p>
          <a:p>
            <a:pPr>
              <a:spcAft>
                <a:spcPts val="800"/>
              </a:spcAft>
            </a:pPr>
            <a:r>
              <a:rPr sz="1800">
                <a:solidFill>
                  <a:srgbClr val="1F2937"/>
                </a:solidFill>
                <a:latin typeface="Calibri"/>
              </a:rPr>
              <a:t>▸  Deklaratsiya aksariyat mamlakatlar, jumladan O‘zbekiston qonunchiligida inobatga olingan.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1786586"/>
                <a:gridCol w="2045969"/>
              </a:tblGrid>
              <a:tr h="614476">
                <a:tc>
                  <a:txBody>
                    <a:bodyPr/>
                    <a:lstStyle/>
                    <a:p>
                      <a:r>
                        <a:rPr sz="1600" b="1">
                          <a:solidFill>
                            <a:srgbClr val="FFFFFF"/>
                          </a:solidFill>
                        </a:rPr>
                        <a:t>Sana</a:t>
                      </a:r>
                    </a:p>
                  </a:txBody>
                  <a:tcPr marL="73152" marR="73152" marT="36576" marB="36576">
                    <a:solidFill>
                      <a:srgbClr val="0B1F3A"/>
                    </a:solidFill>
                  </a:tcPr>
                </a:tc>
                <a:tc>
                  <a:txBody>
                    <a:bodyPr/>
                    <a:lstStyle/>
                    <a:p>
                      <a:r>
                        <a:rPr sz="1600" b="1">
                          <a:solidFill>
                            <a:srgbClr val="FFFFFF"/>
                          </a:solidFill>
                        </a:rPr>
                        <a:t>Voqea</a:t>
                      </a:r>
                    </a:p>
                  </a:txBody>
                  <a:tcPr marL="73152" marR="73152" marT="36576" marB="36576">
                    <a:solidFill>
                      <a:srgbClr val="0B1F3A"/>
                    </a:solidFill>
                  </a:tcPr>
                </a:tc>
                <a:tc>
                  <a:txBody>
                    <a:bodyPr/>
                    <a:lstStyle/>
                    <a:p>
                      <a:r>
                        <a:rPr sz="1600" b="1">
                          <a:solidFill>
                            <a:srgbClr val="FFFFFF"/>
                          </a:solidFill>
                        </a:rPr>
                        <a:t>Kim</a:t>
                      </a:r>
                    </a:p>
                  </a:txBody>
                  <a:tcPr marL="73152" marR="73152" marT="36576" marB="36576">
                    <a:solidFill>
                      <a:srgbClr val="0B1F3A"/>
                    </a:solidFill>
                  </a:tcPr>
                </a:tc>
              </a:tr>
              <a:tr h="614476">
                <a:tc>
                  <a:txBody>
                    <a:bodyPr/>
                    <a:lstStyle/>
                    <a:p>
                      <a:r>
                        <a:rPr sz="1500" b="0">
                          <a:solidFill>
                            <a:srgbClr val="1F2937"/>
                          </a:solidFill>
                        </a:rPr>
                        <a:t>XX asr 70-yillari</a:t>
                      </a:r>
                    </a:p>
                  </a:txBody>
                  <a:tcPr marL="73152" marR="73152" marT="36576" marB="36576">
                    <a:solidFill>
                      <a:srgbClr val="E8EEF6"/>
                    </a:solidFill>
                  </a:tcPr>
                </a:tc>
                <a:tc>
                  <a:txBody>
                    <a:bodyPr/>
                    <a:lstStyle/>
                    <a:p>
                      <a:r>
                        <a:rPr sz="1500" b="0">
                          <a:solidFill>
                            <a:srgbClr val="1F2937"/>
                          </a:solidFill>
                        </a:rPr>
                        <a:t>Bemor huquqlari harakati boshlandi</a:t>
                      </a:r>
                    </a:p>
                  </a:txBody>
                  <a:tcPr marL="73152" marR="73152" marT="36576" marB="36576">
                    <a:solidFill>
                      <a:srgbClr val="E8EEF6"/>
                    </a:solidFill>
                  </a:tcPr>
                </a:tc>
                <a:tc>
                  <a:txBody>
                    <a:bodyPr/>
                    <a:lstStyle/>
                    <a:p>
                      <a:r>
                        <a:rPr sz="1500" b="0">
                          <a:solidFill>
                            <a:srgbClr val="1F2937"/>
                          </a:solidFill>
                        </a:rPr>
                        <a:t>Turli mamlakatlar</a:t>
                      </a:r>
                    </a:p>
                  </a:txBody>
                  <a:tcPr marL="73152" marR="73152" marT="36576" marB="36576">
                    <a:solidFill>
                      <a:srgbClr val="E8EEF6"/>
                    </a:solidFill>
                  </a:tcPr>
                </a:tc>
              </a:tr>
              <a:tr h="614476">
                <a:tc>
                  <a:txBody>
                    <a:bodyPr/>
                    <a:lstStyle/>
                    <a:p>
                      <a:r>
                        <a:rPr sz="1500" b="0">
                          <a:solidFill>
                            <a:srgbClr val="1F2937"/>
                          </a:solidFill>
                        </a:rPr>
                        <a:t>1972-yil</a:t>
                      </a:r>
                    </a:p>
                  </a:txBody>
                  <a:tcPr marL="73152" marR="73152" marT="36576" marB="36576">
                    <a:solidFill>
                      <a:srgbClr val="FFFFFF"/>
                    </a:solidFill>
                  </a:tcPr>
                </a:tc>
                <a:tc>
                  <a:txBody>
                    <a:bodyPr/>
                    <a:lstStyle/>
                    <a:p>
                      <a:r>
                        <a:rPr sz="1500" b="0">
                          <a:solidFill>
                            <a:srgbClr val="1F2937"/>
                          </a:solidFill>
                        </a:rPr>
                        <a:t>Bemor huquqlari to‘g‘risida Bill</a:t>
                      </a:r>
                    </a:p>
                  </a:txBody>
                  <a:tcPr marL="73152" marR="73152" marT="36576" marB="36576">
                    <a:solidFill>
                      <a:srgbClr val="FFFFFF"/>
                    </a:solidFill>
                  </a:tcPr>
                </a:tc>
                <a:tc>
                  <a:txBody>
                    <a:bodyPr/>
                    <a:lstStyle/>
                    <a:p>
                      <a:r>
                        <a:rPr sz="1500" b="0">
                          <a:solidFill>
                            <a:srgbClr val="1F2937"/>
                          </a:solidFill>
                        </a:rPr>
                        <a:t>AQSh kasalxonalar assotsiatsiyasi</a:t>
                      </a:r>
                    </a:p>
                  </a:txBody>
                  <a:tcPr marL="73152" marR="73152" marT="36576" marB="36576">
                    <a:solidFill>
                      <a:srgbClr val="FFFFFF"/>
                    </a:solidFill>
                  </a:tcPr>
                </a:tc>
              </a:tr>
              <a:tr h="614476">
                <a:tc>
                  <a:txBody>
                    <a:bodyPr/>
                    <a:lstStyle/>
                    <a:p>
                      <a:r>
                        <a:rPr sz="1500" b="0">
                          <a:solidFill>
                            <a:srgbClr val="1F2937"/>
                          </a:solidFill>
                        </a:rPr>
                        <a:t>1981-yil</a:t>
                      </a:r>
                    </a:p>
                  </a:txBody>
                  <a:tcPr marL="73152" marR="73152" marT="36576" marB="36576">
                    <a:solidFill>
                      <a:srgbClr val="E8EEF6"/>
                    </a:solidFill>
                  </a:tcPr>
                </a:tc>
                <a:tc>
                  <a:txBody>
                    <a:bodyPr/>
                    <a:lstStyle/>
                    <a:p>
                      <a:r>
                        <a:rPr sz="1500" b="0">
                          <a:solidFill>
                            <a:srgbClr val="1F2937"/>
                          </a:solidFill>
                        </a:rPr>
                        <a:t>Lissabon deklaratsiyasi qabul qilindi</a:t>
                      </a:r>
                    </a:p>
                  </a:txBody>
                  <a:tcPr marL="73152" marR="73152" marT="36576" marB="36576">
                    <a:solidFill>
                      <a:srgbClr val="E8EEF6"/>
                    </a:solidFill>
                  </a:tcPr>
                </a:tc>
                <a:tc>
                  <a:txBody>
                    <a:bodyPr/>
                    <a:lstStyle/>
                    <a:p>
                      <a:r>
                        <a:rPr sz="1500" b="0">
                          <a:solidFill>
                            <a:srgbClr val="1F2937"/>
                          </a:solidFill>
                        </a:rPr>
                        <a:t>Jahon tibbiyot assotsiatsiyasi</a:t>
                      </a:r>
                    </a:p>
                  </a:txBody>
                  <a:tcPr marL="73152" marR="73152" marT="36576" marB="36576">
                    <a:solidFill>
                      <a:srgbClr val="E8EEF6"/>
                    </a:solidFill>
                  </a:tcPr>
                </a:tc>
              </a:tr>
              <a:tr h="614476">
                <a:tc>
                  <a:txBody>
                    <a:bodyPr/>
                    <a:lstStyle/>
                    <a:p>
                      <a:r>
                        <a:rPr sz="1500" b="0">
                          <a:solidFill>
                            <a:srgbClr val="1F2937"/>
                          </a:solidFill>
                        </a:rPr>
                        <a:t>1995-yil</a:t>
                      </a:r>
                    </a:p>
                  </a:txBody>
                  <a:tcPr marL="73152" marR="73152" marT="36576" marB="36576">
                    <a:solidFill>
                      <a:srgbClr val="FFFFFF"/>
                    </a:solidFill>
                  </a:tcPr>
                </a:tc>
                <a:tc>
                  <a:txBody>
                    <a:bodyPr/>
                    <a:lstStyle/>
                    <a:p>
                      <a:r>
                        <a:rPr sz="1500" b="0">
                          <a:solidFill>
                            <a:srgbClr val="1F2937"/>
                          </a:solidFill>
                        </a:rPr>
                        <a:t>Deklaratsiyaga o‘zgartish kiritildi</a:t>
                      </a:r>
                    </a:p>
                  </a:txBody>
                  <a:tcPr marL="73152" marR="73152" marT="36576" marB="36576">
                    <a:solidFill>
                      <a:srgbClr val="FFFFFF"/>
                    </a:solidFill>
                  </a:tcPr>
                </a:tc>
                <a:tc>
                  <a:txBody>
                    <a:bodyPr/>
                    <a:lstStyle/>
                    <a:p>
                      <a:r>
                        <a:rPr sz="1500" b="0">
                          <a:solidFill>
                            <a:srgbClr val="1F2937"/>
                          </a:solidFill>
                        </a:rPr>
                        <a:t>Jahon tibbiyot assotsiatsiyasi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Bemor huquqlari vaqt chizig‘i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40,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Lissabon deklaratsiyasi: 1–5-tamoyillar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Jahon tibbiyot assotsiatsiyasi deklaratsiyani 1981-yilda qabul qilgan, 1995-yilda to‘ldirgan; unda 11 tamoyil bor.</a:t>
            </a:r>
          </a:p>
          <a:p>
            <a:pPr>
              <a:spcAft>
                <a:spcPts val="800"/>
              </a:spcAft>
            </a:pPr>
            <a:r>
              <a:rPr sz="1800">
                <a:solidFill>
                  <a:srgbClr val="1F2937"/>
                </a:solidFill>
                <a:latin typeface="Calibri"/>
              </a:rPr>
              <a:t>▸  Hushsiz bemorda qonuniy vakil bo‘lmasa, qaror bemorning manfaatidan kelib chiqib qabul qilinadi.</a:t>
            </a:r>
          </a:p>
          <a:p>
            <a:pPr>
              <a:spcAft>
                <a:spcPts val="800"/>
              </a:spcAft>
            </a:pPr>
            <a:r>
              <a:rPr sz="1800">
                <a:solidFill>
                  <a:srgbClr val="1F2937"/>
                </a:solidFill>
                <a:latin typeface="Calibri"/>
              </a:rPr>
              <a:t>▸  Muomalaga layoqatsiz bemor ham qarorda imkon qadar bevosita ishtirok etishi lozim.</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140916"/>
                <a:gridCol w="1691639"/>
              </a:tblGrid>
              <a:tr h="614476">
                <a:tc>
                  <a:txBody>
                    <a:bodyPr/>
                    <a:lstStyle/>
                    <a:p>
                      <a:r>
                        <a:rPr sz="1600" b="1">
                          <a:solidFill>
                            <a:srgbClr val="FFFFFF"/>
                          </a:solidFill>
                        </a:rPr>
                        <a:t>Tamoyil</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c>
                  <a:txBody>
                    <a:bodyPr/>
                    <a:lstStyle/>
                    <a:p>
                      <a:r>
                        <a:rPr sz="1600" b="1">
                          <a:solidFill>
                            <a:srgbClr val="FFFFFF"/>
                          </a:solidFill>
                        </a:rPr>
                        <a:t>Qaror egasi</a:t>
                      </a:r>
                    </a:p>
                  </a:txBody>
                  <a:tcPr marL="73152" marR="73152" marT="36576" marB="36576">
                    <a:solidFill>
                      <a:srgbClr val="0B1F3A"/>
                    </a:solidFill>
                  </a:tcPr>
                </a:tc>
              </a:tr>
              <a:tr h="614476">
                <a:tc>
                  <a:txBody>
                    <a:bodyPr/>
                    <a:lstStyle/>
                    <a:p>
                      <a:r>
                        <a:rPr sz="1500" b="0">
                          <a:solidFill>
                            <a:srgbClr val="1F2937"/>
                          </a:solidFill>
                        </a:rPr>
                        <a:t>1. Sifatli xizmat</a:t>
                      </a:r>
                    </a:p>
                  </a:txBody>
                  <a:tcPr marL="73152" marR="73152" marT="36576" marB="36576">
                    <a:solidFill>
                      <a:srgbClr val="E8EEF6"/>
                    </a:solidFill>
                  </a:tcPr>
                </a:tc>
                <a:tc>
                  <a:txBody>
                    <a:bodyPr/>
                    <a:lstStyle/>
                    <a:p>
                      <a:r>
                        <a:rPr sz="1500" b="0">
                          <a:solidFill>
                            <a:srgbClr val="1F2937"/>
                          </a:solidFill>
                        </a:rPr>
                        <a:t>Cheklangan resursda tanlov tibbiy mezonda</a:t>
                      </a:r>
                    </a:p>
                  </a:txBody>
                  <a:tcPr marL="73152" marR="73152" marT="36576" marB="36576">
                    <a:solidFill>
                      <a:srgbClr val="E8EEF6"/>
                    </a:solidFill>
                  </a:tcPr>
                </a:tc>
                <a:tc>
                  <a:txBody>
                    <a:bodyPr/>
                    <a:lstStyle/>
                    <a:p>
                      <a:r>
                        <a:rPr sz="1500" b="0">
                          <a:solidFill>
                            <a:srgbClr val="1F2937"/>
                          </a:solidFill>
                        </a:rPr>
                        <a:t>Barcha bemorlar, kamsitishsiz</a:t>
                      </a:r>
                    </a:p>
                  </a:txBody>
                  <a:tcPr marL="73152" marR="73152" marT="36576" marB="36576">
                    <a:solidFill>
                      <a:srgbClr val="E8EEF6"/>
                    </a:solidFill>
                  </a:tcPr>
                </a:tc>
              </a:tr>
              <a:tr h="614476">
                <a:tc>
                  <a:txBody>
                    <a:bodyPr/>
                    <a:lstStyle/>
                    <a:p>
                      <a:r>
                        <a:rPr sz="1500" b="0">
                          <a:solidFill>
                            <a:srgbClr val="1F2937"/>
                          </a:solidFill>
                        </a:rPr>
                        <a:t>2. Erkin tanlov</a:t>
                      </a:r>
                    </a:p>
                  </a:txBody>
                  <a:tcPr marL="73152" marR="73152" marT="36576" marB="36576">
                    <a:solidFill>
                      <a:srgbClr val="FFFFFF"/>
                    </a:solidFill>
                  </a:tcPr>
                </a:tc>
                <a:tc>
                  <a:txBody>
                    <a:bodyPr/>
                    <a:lstStyle/>
                    <a:p>
                      <a:r>
                        <a:rPr sz="1500" b="0">
                          <a:solidFill>
                            <a:srgbClr val="1F2937"/>
                          </a:solidFill>
                        </a:rPr>
                        <a:t>Shifokor va muassasani tanlash, maslahat</a:t>
                      </a:r>
                    </a:p>
                  </a:txBody>
                  <a:tcPr marL="73152" marR="73152" marT="36576" marB="36576">
                    <a:solidFill>
                      <a:srgbClr val="FFFFFF"/>
                    </a:solidFill>
                  </a:tcPr>
                </a:tc>
                <a:tc>
                  <a:txBody>
                    <a:bodyPr/>
                    <a:lstStyle/>
                    <a:p>
                      <a:r>
                        <a:rPr sz="1500" b="0">
                          <a:solidFill>
                            <a:srgbClr val="1F2937"/>
                          </a:solidFill>
                        </a:rPr>
                        <a:t>Bemorning o‘zi</a:t>
                      </a:r>
                    </a:p>
                  </a:txBody>
                  <a:tcPr marL="73152" marR="73152" marT="36576" marB="36576">
                    <a:solidFill>
                      <a:srgbClr val="FFFFFF"/>
                    </a:solidFill>
                  </a:tcPr>
                </a:tc>
              </a:tr>
              <a:tr h="614476">
                <a:tc>
                  <a:txBody>
                    <a:bodyPr/>
                    <a:lstStyle/>
                    <a:p>
                      <a:r>
                        <a:rPr sz="1500" b="0">
                          <a:solidFill>
                            <a:srgbClr val="1F2937"/>
                          </a:solidFill>
                        </a:rPr>
                        <a:t>3. O‘zi belgilash</a:t>
                      </a:r>
                    </a:p>
                  </a:txBody>
                  <a:tcPr marL="73152" marR="73152" marT="36576" marB="36576">
                    <a:solidFill>
                      <a:srgbClr val="E8EEF6"/>
                    </a:solidFill>
                  </a:tcPr>
                </a:tc>
                <a:tc>
                  <a:txBody>
                    <a:bodyPr/>
                    <a:lstStyle/>
                    <a:p>
                      <a:r>
                        <a:rPr sz="1500" b="0">
                          <a:solidFill>
                            <a:srgbClr val="1F2937"/>
                          </a:solidFill>
                        </a:rPr>
                        <a:t>Ma’lumot olib, mustaqil qaror qabul qiladi</a:t>
                      </a:r>
                    </a:p>
                  </a:txBody>
                  <a:tcPr marL="73152" marR="73152" marT="36576" marB="36576">
                    <a:solidFill>
                      <a:srgbClr val="E8EEF6"/>
                    </a:solidFill>
                  </a:tcPr>
                </a:tc>
                <a:tc>
                  <a:txBody>
                    <a:bodyPr/>
                    <a:lstStyle/>
                    <a:p>
                      <a:r>
                        <a:rPr sz="1500" b="0">
                          <a:solidFill>
                            <a:srgbClr val="1F2937"/>
                          </a:solidFill>
                        </a:rPr>
                        <a:t>Bemorning o‘zi</a:t>
                      </a:r>
                    </a:p>
                  </a:txBody>
                  <a:tcPr marL="73152" marR="73152" marT="36576" marB="36576">
                    <a:solidFill>
                      <a:srgbClr val="E8EEF6"/>
                    </a:solidFill>
                  </a:tcPr>
                </a:tc>
              </a:tr>
              <a:tr h="614476">
                <a:tc>
                  <a:txBody>
                    <a:bodyPr/>
                    <a:lstStyle/>
                    <a:p>
                      <a:r>
                        <a:rPr sz="1500" b="0">
                          <a:solidFill>
                            <a:srgbClr val="1F2937"/>
                          </a:solidFill>
                        </a:rPr>
                        <a:t>4–5. Hushsiz / layoqatsiz</a:t>
                      </a:r>
                    </a:p>
                  </a:txBody>
                  <a:tcPr marL="73152" marR="73152" marT="36576" marB="36576">
                    <a:solidFill>
                      <a:srgbClr val="FFFFFF"/>
                    </a:solidFill>
                  </a:tcPr>
                </a:tc>
                <a:tc>
                  <a:txBody>
                    <a:bodyPr/>
                    <a:lstStyle/>
                    <a:p>
                      <a:r>
                        <a:rPr sz="1500" b="0">
                          <a:solidFill>
                            <a:srgbClr val="1F2937"/>
                          </a:solidFill>
                        </a:rPr>
                        <a:t>Rozilik qonuniy vakildan olinadi</a:t>
                      </a:r>
                    </a:p>
                  </a:txBody>
                  <a:tcPr marL="73152" marR="73152" marT="36576" marB="36576">
                    <a:solidFill>
                      <a:srgbClr val="FFFFFF"/>
                    </a:solidFill>
                  </a:tcPr>
                </a:tc>
                <a:tc>
                  <a:txBody>
                    <a:bodyPr/>
                    <a:lstStyle/>
                    <a:p>
                      <a:r>
                        <a:rPr sz="1500" b="0">
                          <a:solidFill>
                            <a:srgbClr val="1F2937"/>
                          </a:solidFill>
                        </a:rPr>
                        <a:t>Qonuniy vakil yoki manfaat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1–5-tamoyillar qisqacha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40, 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Lissabon deklaratsiyasi: 6–8-tamoyillar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Bemorning xohishiga qarshi muolaja faqat tibbiy etika tamoyillariga mos holda, qonunda belgilangan istisno hollarda o‘tkaziladi.</a:t>
            </a:r>
          </a:p>
          <a:p>
            <a:pPr>
              <a:spcAft>
                <a:spcPts val="1200"/>
              </a:spcAft>
            </a:pPr>
            <a:r>
              <a:rPr sz="2000">
                <a:solidFill>
                  <a:srgbClr val="1F2937"/>
                </a:solidFill>
                <a:latin typeface="Calibri"/>
              </a:rPr>
              <a:t>▸  Bemor sog‘lig‘i va tibbiy hujjatlari haqida tushunarli, mahalliy madaniyatni hisobga olgan ma’lumot oladi; ma’lumot beriladigan shaxsni o‘zi tanlaydi.</a:t>
            </a:r>
          </a:p>
          <a:p>
            <a:pPr>
              <a:spcAft>
                <a:spcPts val="1200"/>
              </a:spcAft>
            </a:pPr>
            <a:r>
              <a:rPr sz="2000">
                <a:solidFill>
                  <a:srgbClr val="1F2937"/>
                </a:solidFill>
                <a:latin typeface="Calibri"/>
              </a:rPr>
              <a:t>▸  Istisno: hayoti va sog‘lig‘iga jiddiy xavf bo‘lishiga yetarli asos bo‘lsa, ma’lumot yashirilishi mumkin. Diqqat: bu band qonun normalariga to‘liq mos kelmaydi.</a:t>
            </a:r>
          </a:p>
          <a:p>
            <a:pPr>
              <a:spcAft>
                <a:spcPts val="1200"/>
              </a:spcAft>
            </a:pPr>
            <a:r>
              <a:rPr sz="2000">
                <a:solidFill>
                  <a:srgbClr val="1F2937"/>
                </a:solidFill>
                <a:latin typeface="Calibri"/>
              </a:rPr>
              <a:t>▸  Salomatlik holati, tashxis, davolash, prognoz va shaxsga oid ma’lumotlar bemor o‘limidan keyin ham sir saqlanadi. Istisno: avlodlarning irsiy kasallik xavfi haqidagi ma’lumoti.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41, 41, 45, 41-42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Lissabon deklaratsiyasi: 9–11-tamoyillar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Har kim sog‘lom turmush tarzi, tibbiy xizmat, kasalliklarning oldini olish va erta aniqlash bo‘yicha sanitariya ma’rifatidan foydalanishga haqli.</a:t>
            </a:r>
          </a:p>
          <a:p>
            <a:pPr>
              <a:spcAft>
                <a:spcPts val="1200"/>
              </a:spcAft>
            </a:pPr>
            <a:r>
              <a:rPr sz="2200">
                <a:solidFill>
                  <a:srgbClr val="1F2937"/>
                </a:solidFill>
                <a:latin typeface="Calibri"/>
              </a:rPr>
              <a:t>▸  Yordam jarayonida inson sha’ni, qadr-qimmati va shaxsiy hayot daxlsizligi hurmat qilinadi. Bemor azobini yengillashtirish huquqiga ega.</a:t>
            </a:r>
          </a:p>
          <a:p>
            <a:pPr>
              <a:spcAft>
                <a:spcPts val="1200"/>
              </a:spcAft>
            </a:pPr>
            <a:r>
              <a:rPr sz="2200">
                <a:solidFill>
                  <a:srgbClr val="1F2937"/>
                </a:solidFill>
                <a:latin typeface="Calibri"/>
              </a:rPr>
              <a:t>▸  Davolab bo‘lmaydigan kasallikda bemor hayotdan munosib va imkon qadar og‘riqsiz ketish huquqiga ega. Diniy qo‘llab-quvvatlashni olishi yoki rad etishi mumkin.</a:t>
            </a:r>
          </a:p>
          <a:p>
            <a:pPr>
              <a:spcAft>
                <a:spcPts val="1200"/>
              </a:spcAft>
            </a:pPr>
            <a:r>
              <a:rPr sz="2200">
                <a:solidFill>
                  <a:srgbClr val="1F2937"/>
                </a:solidFill>
                <a:latin typeface="Calibri"/>
              </a:rPr>
              <a:t>▸  Lissabon deklaratsiyasi ko‘p mamlakatlarda, jumladan O‘zbekistonda sog‘liqni saqlash qonun hujjatlarida inobatga olingan.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Lissabon deklaratsiyasi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Lissabon deklaratsiyasini kim qabul qilgan? Javob: Jahon tibbiyot assotsiatsiyasi, 1981-yilda; 1995-yilda unga o‘zgartirishlar kiritilgan.</a:t>
            </a:r>
          </a:p>
          <a:p>
            <a:pPr>
              <a:spcAft>
                <a:spcPts val="1200"/>
              </a:spcAft>
            </a:pPr>
            <a:r>
              <a:rPr sz="2200">
                <a:solidFill>
                  <a:srgbClr val="1F2937"/>
                </a:solidFill>
                <a:latin typeface="Calibri"/>
              </a:rPr>
              <a:t>▸  Savol: nechta tamoyil bor? Javob: 11 ta, sifatli xizmat olish huquqidan tortib diniy qo‘llab-quvvatlash huquqigacha.</a:t>
            </a:r>
          </a:p>
          <a:p>
            <a:pPr>
              <a:spcAft>
                <a:spcPts val="1200"/>
              </a:spcAft>
            </a:pPr>
            <a:r>
              <a:rPr sz="2200">
                <a:solidFill>
                  <a:srgbClr val="1F2937"/>
                </a:solidFill>
                <a:latin typeface="Calibri"/>
              </a:rPr>
              <a:t>▸  Diqqat: 4-tamoyil (hushsiz bemor) ≠ 5-tamoyil (muomalaga loyiq bo‘lmagan bemor, masalan, balog‘atga yetmagan).</a:t>
            </a:r>
          </a:p>
          <a:p>
            <a:pPr>
              <a:spcAft>
                <a:spcPts val="1200"/>
              </a:spcAft>
            </a:pPr>
            <a:r>
              <a:rPr sz="2200">
                <a:solidFill>
                  <a:srgbClr val="1F2937"/>
                </a:solidFill>
                <a:latin typeface="Calibri"/>
              </a:rPr>
              <a:t>▸  5-tamoyilda rozilikni qonuniy vakil beradi, ammo bemor qaror qabul qilishda imkon qadar maksimal darajada bevosita ishtirok etishi lozim.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40, 40-42,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hushsiz holatdagi bemor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 hushsiz holda shifoxonaga keltirildi. Qonuniy vakili topilmadi, davolanishni rad etish haqida oldingi bayonoti ham yo‘q.</a:t>
            </a:r>
          </a:p>
          <a:p>
            <a:pPr>
              <a:spcAft>
                <a:spcPts val="1200"/>
              </a:spcAft>
            </a:pPr>
            <a:r>
              <a:rPr sz="2200">
                <a:solidFill>
                  <a:srgbClr val="1F2937"/>
                </a:solidFill>
                <a:latin typeface="Calibri"/>
              </a:rPr>
              <a:t>▸  Lissabon deklaratsiyasining 4-tamoyili: bunday holda qaror bemorning manfaatini ko‘zlab qabul qilinadi.</a:t>
            </a:r>
          </a:p>
          <a:p>
            <a:pPr>
              <a:spcAft>
                <a:spcPts val="1200"/>
              </a:spcAft>
            </a:pPr>
            <a:r>
              <a:rPr sz="2200">
                <a:solidFill>
                  <a:srgbClr val="1F2937"/>
                </a:solidFill>
                <a:latin typeface="Calibri"/>
              </a:rPr>
              <a:t>▸  O‘zbekiston qonuniga ko‘ra, kechiktirib bo‘lmaydigan holda masalani konsilium hal qiladi. Imkon bo‘lmasa, davolovchi yoki navbatchi vrach qaror qiladi.</a:t>
            </a:r>
          </a:p>
          <a:p>
            <a:pPr>
              <a:spcAft>
                <a:spcPts val="1200"/>
              </a:spcAft>
            </a:pPr>
            <a:r>
              <a:rPr sz="2200">
                <a:solidFill>
                  <a:srgbClr val="1F2937"/>
                </a:solidFill>
                <a:latin typeface="Calibri"/>
              </a:rPr>
              <a:t>▸  Savol talabalarga: kim rozilik beradi va vrach qarordan keyin nima qilishi shart? Maslahat: muassasa rahbariyatini xabardor qilishi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41,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“Fuqarolar sog‘ligini saqlash to‘g‘risida”gi qonun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Keyin qonunga bir qator o‘zgartirishlar kiritilgan, lekin uning asosiy mazmuni o‘zgarmagan.</a:t>
            </a:r>
          </a:p>
          <a:p>
            <a:pPr>
              <a:spcAft>
                <a:spcPts val="800"/>
              </a:spcAft>
            </a:pPr>
            <a:r>
              <a:rPr sz="1800">
                <a:solidFill>
                  <a:srgbClr val="1F2937"/>
                </a:solidFill>
                <a:latin typeface="Calibri"/>
              </a:rPr>
              <a:t>▸  13-modda: sog‘liqni saqlash huquqi daxlsiz; davlat uni kamsitishlardan himoya qilishni kafolatlaydi.</a:t>
            </a:r>
          </a:p>
          <a:p>
            <a:pPr>
              <a:spcAft>
                <a:spcPts val="800"/>
              </a:spcAft>
            </a:pPr>
            <a:r>
              <a:rPr sz="1800">
                <a:solidFill>
                  <a:srgbClr val="1F2937"/>
                </a:solidFill>
                <a:latin typeface="Calibri"/>
              </a:rPr>
              <a:t>▸  Besh asosiy tamoyilning birinchisi: sog‘liqni saqlashda inson huquqlariga rioya qilish.</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497099"/>
                <a:gridCol w="2790875"/>
              </a:tblGrid>
              <a:tr h="614476">
                <a:tc>
                  <a:txBody>
                    <a:bodyPr/>
                    <a:lstStyle/>
                    <a:p>
                      <a:r>
                        <a:rPr sz="1800" b="1">
                          <a:solidFill>
                            <a:srgbClr val="FFFFFF"/>
                          </a:solidFill>
                        </a:rPr>
                        <a:t>Ko‘rsatkich</a:t>
                      </a:r>
                    </a:p>
                  </a:txBody>
                  <a:tcPr marL="73152" marR="73152" marT="36576" marB="36576">
                    <a:solidFill>
                      <a:srgbClr val="0B1F3A"/>
                    </a:solidFill>
                  </a:tcPr>
                </a:tc>
                <a:tc>
                  <a:txBody>
                    <a:bodyPr/>
                    <a:lstStyle/>
                    <a:p>
                      <a:r>
                        <a:rPr sz="1800" b="1">
                          <a:solidFill>
                            <a:srgbClr val="FFFFFF"/>
                          </a:solidFill>
                        </a:rPr>
                        <a:t>Ma’lumot</a:t>
                      </a:r>
                    </a:p>
                  </a:txBody>
                  <a:tcPr marL="73152" marR="73152" marT="36576" marB="36576">
                    <a:solidFill>
                      <a:srgbClr val="0B1F3A"/>
                    </a:solidFill>
                  </a:tcPr>
                </a:tc>
              </a:tr>
              <a:tr h="614476">
                <a:tc>
                  <a:txBody>
                    <a:bodyPr/>
                    <a:lstStyle/>
                    <a:p>
                      <a:r>
                        <a:rPr sz="1700" b="0">
                          <a:solidFill>
                            <a:srgbClr val="1F2937"/>
                          </a:solidFill>
                        </a:rPr>
                        <a:t>Qabul qilingan</a:t>
                      </a:r>
                    </a:p>
                  </a:txBody>
                  <a:tcPr marL="73152" marR="73152" marT="36576" marB="36576">
                    <a:solidFill>
                      <a:srgbClr val="E8EEF6"/>
                    </a:solidFill>
                  </a:tcPr>
                </a:tc>
                <a:tc>
                  <a:txBody>
                    <a:bodyPr/>
                    <a:lstStyle/>
                    <a:p>
                      <a:r>
                        <a:rPr sz="1700" b="0">
                          <a:solidFill>
                            <a:srgbClr val="1F2937"/>
                          </a:solidFill>
                        </a:rPr>
                        <a:t>1996-yil 29-avgust</a:t>
                      </a:r>
                    </a:p>
                  </a:txBody>
                  <a:tcPr marL="73152" marR="73152" marT="36576" marB="36576">
                    <a:solidFill>
                      <a:srgbClr val="E8EEF6"/>
                    </a:solidFill>
                  </a:tcPr>
                </a:tc>
              </a:tr>
              <a:tr h="614476">
                <a:tc>
                  <a:txBody>
                    <a:bodyPr/>
                    <a:lstStyle/>
                    <a:p>
                      <a:r>
                        <a:rPr sz="1700" b="0">
                          <a:solidFill>
                            <a:srgbClr val="1F2937"/>
                          </a:solidFill>
                        </a:rPr>
                        <a:t>Kuchga kirgan</a:t>
                      </a:r>
                    </a:p>
                  </a:txBody>
                  <a:tcPr marL="73152" marR="73152" marT="36576" marB="36576">
                    <a:solidFill>
                      <a:srgbClr val="FFFFFF"/>
                    </a:solidFill>
                  </a:tcPr>
                </a:tc>
                <a:tc>
                  <a:txBody>
                    <a:bodyPr/>
                    <a:lstStyle/>
                    <a:p>
                      <a:r>
                        <a:rPr sz="1700" b="0">
                          <a:solidFill>
                            <a:srgbClr val="1F2937"/>
                          </a:solidFill>
                        </a:rPr>
                        <a:t>1996-yil 14-sentabr</a:t>
                      </a:r>
                    </a:p>
                  </a:txBody>
                  <a:tcPr marL="73152" marR="73152" marT="36576" marB="36576">
                    <a:solidFill>
                      <a:srgbClr val="FFFFFF"/>
                    </a:solidFill>
                  </a:tcPr>
                </a:tc>
              </a:tr>
              <a:tr h="614476">
                <a:tc>
                  <a:txBody>
                    <a:bodyPr/>
                    <a:lstStyle/>
                    <a:p>
                      <a:r>
                        <a:rPr sz="1700" b="0">
                          <a:solidFill>
                            <a:srgbClr val="1F2937"/>
                          </a:solidFill>
                        </a:rPr>
                        <a:t>Tuzilishi</a:t>
                      </a:r>
                    </a:p>
                  </a:txBody>
                  <a:tcPr marL="73152" marR="73152" marT="36576" marB="36576">
                    <a:solidFill>
                      <a:srgbClr val="E8EEF6"/>
                    </a:solidFill>
                  </a:tcPr>
                </a:tc>
                <a:tc>
                  <a:txBody>
                    <a:bodyPr/>
                    <a:lstStyle/>
                    <a:p>
                      <a:r>
                        <a:rPr sz="1700" b="0">
                          <a:solidFill>
                            <a:srgbClr val="1F2937"/>
                          </a:solidFill>
                        </a:rPr>
                        <a:t>6 qism, 47 modda</a:t>
                      </a:r>
                    </a:p>
                  </a:txBody>
                  <a:tcPr marL="73152" marR="73152" marT="36576" marB="36576">
                    <a:solidFill>
                      <a:srgbClr val="E8EEF6"/>
                    </a:solidFill>
                  </a:tcPr>
                </a:tc>
              </a:tr>
              <a:tr h="614476">
                <a:tc>
                  <a:txBody>
                    <a:bodyPr/>
                    <a:lstStyle/>
                    <a:p>
                      <a:r>
                        <a:rPr sz="1700" b="0">
                          <a:solidFill>
                            <a:srgbClr val="1F2937"/>
                          </a:solidFill>
                        </a:rPr>
                        <a:t>42-modda</a:t>
                      </a:r>
                    </a:p>
                  </a:txBody>
                  <a:tcPr marL="73152" marR="73152" marT="36576" marB="36576">
                    <a:solidFill>
                      <a:srgbClr val="FFFFFF"/>
                    </a:solidFill>
                  </a:tcPr>
                </a:tc>
                <a:tc>
                  <a:txBody>
                    <a:bodyPr/>
                    <a:lstStyle/>
                    <a:p>
                      <a:r>
                        <a:rPr sz="1700" b="0">
                          <a:solidFill>
                            <a:srgbClr val="1F2937"/>
                          </a:solidFill>
                        </a:rPr>
                        <a:t>Kuchini yo‘qotgan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Qonun: asosiy ma’lumotlar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42, 46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Qonunning 24-moddasi: bemor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Tibbiy yordamga murojaat qilgan bemor hurmat va mehr-muruvvatga haqli. U shifokor va davolash muassasasini tanlaydi, sanitariya-gigiena talablariga mos sharoitda davolanadi.</a:t>
            </a:r>
          </a:p>
          <a:p>
            <a:pPr>
              <a:spcAft>
                <a:spcPts val="1200"/>
              </a:spcAft>
            </a:pPr>
            <a:r>
              <a:rPr sz="2000">
                <a:solidFill>
                  <a:srgbClr val="1F2937"/>
                </a:solidFill>
                <a:latin typeface="Calibri"/>
              </a:rPr>
              <a:t>▸  Bemor so‘rasa, boshqa mutaxassislar konsiliumi va maslahatidan foydalanadi. Tibbiy aralashuvga ixtiyoriy rozilik berishi yoki uni rad etishi mumkin.</a:t>
            </a:r>
          </a:p>
          <a:p>
            <a:pPr>
              <a:spcAft>
                <a:spcPts val="1200"/>
              </a:spcAft>
            </a:pPr>
            <a:r>
              <a:rPr sz="2000">
                <a:solidFill>
                  <a:srgbClr val="1F2937"/>
                </a:solidFill>
                <a:latin typeface="Calibri"/>
              </a:rPr>
              <a:t>▸  Murojaat faktini, tashxisni va davolash vaqtida olingan ma’lumotlar sir saqlanadi. Ixtiyoriy tibbiy sug‘urta, zararning qoplanishi va advokat qo‘yilishi ham huquqlar qatorida.</a:t>
            </a:r>
          </a:p>
          <a:p>
            <a:pPr>
              <a:spcAft>
                <a:spcPts val="1200"/>
              </a:spcAft>
            </a:pPr>
            <a:r>
              <a:rPr sz="2000">
                <a:solidFill>
                  <a:srgbClr val="1F2937"/>
                </a:solidFill>
                <a:latin typeface="Calibri"/>
              </a:rPr>
              <a:t>▸  Huquq buzilsa, bemor yoki uning qonuniy vakili shikoyatni davolash muassasasi rahbariyatiga, yuqori boshqaruv organiga yoki sudga topshirishi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25-modda: ma’lumot olish huquqi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Har bir fuqaro sog‘lig‘i holati, tekshiruv va davolash natijalari, tashxis, prognoz, davolash usullari va ularning xavfi haqida to‘liq ma’lumot olishga haqli.</a:t>
            </a:r>
          </a:p>
          <a:p>
            <a:pPr>
              <a:spcAft>
                <a:spcPts val="1200"/>
              </a:spcAft>
            </a:pPr>
            <a:r>
              <a:rPr sz="2200">
                <a:solidFill>
                  <a:srgbClr val="1F2937"/>
                </a:solidFill>
                <a:latin typeface="Calibri"/>
              </a:rPr>
              <a:t>▸  O‘n to‘rt yoshga to‘lmagan yoki layoqatsiz deb topilgan shaxslar haqidagi ma’lumot ularning qonuniy vakillariga beriladi.</a:t>
            </a:r>
          </a:p>
          <a:p>
            <a:pPr>
              <a:spcAft>
                <a:spcPts val="1200"/>
              </a:spcAft>
            </a:pPr>
            <a:r>
              <a:rPr sz="2200">
                <a:solidFill>
                  <a:srgbClr val="1F2937"/>
                </a:solidFill>
                <a:latin typeface="Calibri"/>
              </a:rPr>
              <a:t>▸  Kasallik kechishi yomon bo‘lishi taxmin qilinsa, ma’lumot fuqaroga aytiladi. U taqiqlamagan bo‘lsa, oila a’zolariga etika me’yorlariga rioya qilib xabar qilinadi.</a:t>
            </a:r>
          </a:p>
          <a:p>
            <a:pPr>
              <a:spcAft>
                <a:spcPts val="1200"/>
              </a:spcAft>
            </a:pPr>
            <a:r>
              <a:rPr sz="2200">
                <a:solidFill>
                  <a:srgbClr val="1F2937"/>
                </a:solidFill>
                <a:latin typeface="Calibri"/>
              </a:rPr>
              <a:t>▸  Fuqaro talabiga ko‘ra, uning sog‘lig‘i holatini aks ettiruvchi tibbiy hujjatlardan ko‘chirmalar berilishi lozim.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43, 43-44, 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26-modda: tibbiy aralashuvga rozilik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 aralashuv kasallik haqida ma’lumot olgan fuqaroning ixtiyoriy roziligi bilangina o‘tkaziladi.</a:t>
            </a:r>
          </a:p>
          <a:p>
            <a:pPr>
              <a:spcAft>
                <a:spcPts val="800"/>
              </a:spcAft>
            </a:pPr>
            <a:r>
              <a:rPr sz="1800">
                <a:solidFill>
                  <a:srgbClr val="1F2937"/>
                </a:solidFill>
                <a:latin typeface="Calibri"/>
              </a:rPr>
              <a:t>▸  Rozilik shakli (yozma yoki og‘zaki) qonunda belgilanmagan; buni qonun osti hujjatlari aniqlashi mumkin.</a:t>
            </a:r>
          </a:p>
          <a:p>
            <a:pPr>
              <a:spcAft>
                <a:spcPts val="800"/>
              </a:spcAft>
            </a:pPr>
            <a:r>
              <a:rPr sz="1800">
                <a:solidFill>
                  <a:srgbClr val="1F2937"/>
                </a:solidFill>
                <a:latin typeface="Calibri"/>
              </a:rPr>
              <a:t>▸  14 yoshgacha va layoqatsiz deb topilganlar uchun rozilikni qonuniy vakil beradi.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Rozilik bildirish imkoni yo‘q</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Kechiktirib bo‘lmaydigan holat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Konsilium qaror qiladi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Konsilium bo‘lmasa: shifokor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Rahbariyat xabardor qilinadi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Rozilik olib bo‘lmaganda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27–28-moddalar: rad etish va majburiy yordam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Bemor yoki uning qonuniy vakili tibbiy aralashuvni rad etishi yoki to‘xtatishni talab qilishi mumkin (27-modda).</a:t>
            </a:r>
          </a:p>
          <a:p>
            <a:pPr>
              <a:spcAft>
                <a:spcPts val="800"/>
              </a:spcAft>
            </a:pPr>
            <a:r>
              <a:rPr sz="1800">
                <a:solidFill>
                  <a:srgbClr val="1F2937"/>
                </a:solidFill>
                <a:latin typeface="Calibri"/>
              </a:rPr>
              <a:t>▸  Shifokor yozma rad tasdiqnomasini oladi; imkoni bo‘lmasa, guvohlar ishtirokida dalolatnoma tuzadi.</a:t>
            </a:r>
          </a:p>
          <a:p>
            <a:pPr>
              <a:spcAft>
                <a:spcPts val="800"/>
              </a:spcAft>
            </a:pPr>
            <a:r>
              <a:rPr sz="1800">
                <a:solidFill>
                  <a:srgbClr val="1F2937"/>
                </a:solidFill>
                <a:latin typeface="Calibri"/>
              </a:rPr>
              <a:t>▸  28-modda: kasallik atrofdagilarga xavf tug‘dirsa, roziliksiz tibbiy yordam ko‘rsatilishi mumkin.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164080"/>
                <a:gridCol w="1927859"/>
                <a:gridCol w="1196036"/>
              </a:tblGrid>
              <a:tr h="61447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27-modda</a:t>
                      </a:r>
                    </a:p>
                  </a:txBody>
                  <a:tcPr marL="73152" marR="73152" marT="36576" marB="36576">
                    <a:solidFill>
                      <a:srgbClr val="0B1F3A"/>
                    </a:solidFill>
                  </a:tcPr>
                </a:tc>
                <a:tc>
                  <a:txBody>
                    <a:bodyPr/>
                    <a:lstStyle/>
                    <a:p>
                      <a:r>
                        <a:rPr sz="1600" b="1">
                          <a:solidFill>
                            <a:srgbClr val="FFFFFF"/>
                          </a:solidFill>
                        </a:rPr>
                        <a:t>28-modda</a:t>
                      </a:r>
                    </a:p>
                  </a:txBody>
                  <a:tcPr marL="73152" marR="73152" marT="36576" marB="36576">
                    <a:solidFill>
                      <a:srgbClr val="0B1F3A"/>
                    </a:solidFill>
                  </a:tcPr>
                </a:tc>
              </a:tr>
              <a:tr h="614476">
                <a:tc>
                  <a:txBody>
                    <a:bodyPr/>
                    <a:lstStyle/>
                    <a:p>
                      <a:r>
                        <a:rPr sz="1500" b="0">
                          <a:solidFill>
                            <a:srgbClr val="1F2937"/>
                          </a:solidFill>
                        </a:rPr>
                        <a:t>Asosi</a:t>
                      </a:r>
                    </a:p>
                  </a:txBody>
                  <a:tcPr marL="73152" marR="73152" marT="36576" marB="36576">
                    <a:solidFill>
                      <a:srgbClr val="E8EEF6"/>
                    </a:solidFill>
                  </a:tcPr>
                </a:tc>
                <a:tc>
                  <a:txBody>
                    <a:bodyPr/>
                    <a:lstStyle/>
                    <a:p>
                      <a:r>
                        <a:rPr sz="1500" b="0">
                          <a:solidFill>
                            <a:srgbClr val="1F2937"/>
                          </a:solidFill>
                        </a:rPr>
                        <a:t>Bemorning xohish-irodasi</a:t>
                      </a:r>
                    </a:p>
                  </a:txBody>
                  <a:tcPr marL="73152" marR="73152" marT="36576" marB="36576">
                    <a:solidFill>
                      <a:srgbClr val="E8EEF6"/>
                    </a:solidFill>
                  </a:tcPr>
                </a:tc>
                <a:tc>
                  <a:txBody>
                    <a:bodyPr/>
                    <a:lstStyle/>
                    <a:p>
                      <a:r>
                        <a:rPr sz="1500" b="0">
                          <a:solidFill>
                            <a:srgbClr val="1F2937"/>
                          </a:solidFill>
                        </a:rPr>
                        <a:t>Atrofdagilarga xavf</a:t>
                      </a:r>
                    </a:p>
                  </a:txBody>
                  <a:tcPr marL="73152" marR="73152" marT="36576" marB="36576">
                    <a:solidFill>
                      <a:srgbClr val="E8EEF6"/>
                    </a:solidFill>
                  </a:tcPr>
                </a:tc>
              </a:tr>
              <a:tr h="614476">
                <a:tc>
                  <a:txBody>
                    <a:bodyPr/>
                    <a:lstStyle/>
                    <a:p>
                      <a:r>
                        <a:rPr sz="1500" b="0">
                          <a:solidFill>
                            <a:srgbClr val="1F2937"/>
                          </a:solidFill>
                        </a:rPr>
                        <a:t>Kim qaror qiladi</a:t>
                      </a:r>
                    </a:p>
                  </a:txBody>
                  <a:tcPr marL="73152" marR="73152" marT="36576" marB="36576">
                    <a:solidFill>
                      <a:srgbClr val="FFFFFF"/>
                    </a:solidFill>
                  </a:tcPr>
                </a:tc>
                <a:tc>
                  <a:txBody>
                    <a:bodyPr/>
                    <a:lstStyle/>
                    <a:p>
                      <a:r>
                        <a:rPr sz="1500" b="0">
                          <a:solidFill>
                            <a:srgbClr val="1F2937"/>
                          </a:solidFill>
                        </a:rPr>
                        <a:t>Bemor yoki qonuniy vakil</a:t>
                      </a:r>
                    </a:p>
                  </a:txBody>
                  <a:tcPr marL="73152" marR="73152" marT="36576" marB="36576">
                    <a:solidFill>
                      <a:srgbClr val="FFFFFF"/>
                    </a:solidFill>
                  </a:tcPr>
                </a:tc>
                <a:tc>
                  <a:txBody>
                    <a:bodyPr/>
                    <a:lstStyle/>
                    <a:p>
                      <a:r>
                        <a:rPr sz="1500" b="0">
                          <a:solidFill>
                            <a:srgbClr val="1F2937"/>
                          </a:solidFill>
                        </a:rPr>
                        <a:t>Qonundagi asos va tartib</a:t>
                      </a:r>
                    </a:p>
                  </a:txBody>
                  <a:tcPr marL="73152" marR="73152" marT="36576" marB="36576">
                    <a:solidFill>
                      <a:srgbClr val="FFFFFF"/>
                    </a:solidFill>
                  </a:tcPr>
                </a:tc>
              </a:tr>
              <a:tr h="614476">
                <a:tc>
                  <a:txBody>
                    <a:bodyPr/>
                    <a:lstStyle/>
                    <a:p>
                      <a:r>
                        <a:rPr sz="1500" b="0">
                          <a:solidFill>
                            <a:srgbClr val="1F2937"/>
                          </a:solidFill>
                        </a:rPr>
                        <a:t>Rasmiylashtirish</a:t>
                      </a:r>
                    </a:p>
                  </a:txBody>
                  <a:tcPr marL="73152" marR="73152" marT="36576" marB="36576">
                    <a:solidFill>
                      <a:srgbClr val="E8EEF6"/>
                    </a:solidFill>
                  </a:tcPr>
                </a:tc>
                <a:tc>
                  <a:txBody>
                    <a:bodyPr/>
                    <a:lstStyle/>
                    <a:p>
                      <a:r>
                        <a:rPr sz="1500" b="0">
                          <a:solidFill>
                            <a:srgbClr val="1F2937"/>
                          </a:solidFill>
                        </a:rPr>
                        <a:t>Yozma tasdiq yoki dalolatnoma</a:t>
                      </a:r>
                    </a:p>
                  </a:txBody>
                  <a:tcPr marL="73152" marR="73152" marT="36576" marB="36576">
                    <a:solidFill>
                      <a:srgbClr val="E8EEF6"/>
                    </a:solidFill>
                  </a:tcPr>
                </a:tc>
                <a:tc>
                  <a:txBody>
                    <a:bodyPr/>
                    <a:lstStyle/>
                    <a:p>
                      <a:r>
                        <a:rPr sz="1500" b="0">
                          <a:solidFill>
                            <a:srgbClr val="1F2937"/>
                          </a:solidFill>
                        </a:rPr>
                        <a:t>Tekshiruv, kasalxona, yakkalash</a:t>
                      </a:r>
                    </a:p>
                  </a:txBody>
                  <a:tcPr marL="73152" marR="73152" marT="36576" marB="36576">
                    <a:solidFill>
                      <a:srgbClr val="E8EEF6"/>
                    </a:solidFill>
                  </a:tcPr>
                </a:tc>
              </a:tr>
              <a:tr h="614476">
                <a:tc>
                  <a:txBody>
                    <a:bodyPr/>
                    <a:lstStyle/>
                    <a:p>
                      <a:r>
                        <a:rPr sz="1500" b="0">
                          <a:solidFill>
                            <a:srgbClr val="1F2937"/>
                          </a:solidFill>
                        </a:rPr>
                        <a:t>Misol</a:t>
                      </a:r>
                    </a:p>
                  </a:txBody>
                  <a:tcPr marL="73152" marR="73152" marT="36576" marB="36576">
                    <a:solidFill>
                      <a:srgbClr val="FFFFFF"/>
                    </a:solidFill>
                  </a:tcPr>
                </a:tc>
                <a:tc>
                  <a:txBody>
                    <a:bodyPr/>
                    <a:lstStyle/>
                    <a:p>
                      <a:r>
                        <a:rPr sz="1500" b="0">
                          <a:solidFill>
                            <a:srgbClr val="1F2937"/>
                          </a:solidFill>
                        </a:rPr>
                        <a:t>Rad etish yoki to‘xtatish</a:t>
                      </a:r>
                    </a:p>
                  </a:txBody>
                  <a:tcPr marL="73152" marR="73152" marT="36576" marB="36576">
                    <a:solidFill>
                      <a:srgbClr val="FFFFFF"/>
                    </a:solidFill>
                  </a:tcPr>
                </a:tc>
                <a:tc>
                  <a:txBody>
                    <a:bodyPr/>
                    <a:lstStyle/>
                    <a:p>
                      <a:r>
                        <a:rPr sz="1500" b="0">
                          <a:solidFill>
                            <a:srgbClr val="1F2937"/>
                          </a:solidFill>
                        </a:rPr>
                        <a:t>Xavfli yuqumli kasalliklar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27-modda va 28-modda farqi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44, 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rozilik va rad etish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tibbiy aralashuv qaysi holatlarda bemorning roziligisiz o‘tkazilishi mumkin? Bir daqiqada javob bering.</a:t>
            </a:r>
          </a:p>
          <a:p>
            <a:pPr>
              <a:spcAft>
                <a:spcPts val="1200"/>
              </a:spcAft>
            </a:pPr>
            <a:r>
              <a:rPr sz="2200">
                <a:solidFill>
                  <a:srgbClr val="1F2937"/>
                </a:solidFill>
                <a:latin typeface="Calibri"/>
              </a:rPr>
              <a:t>▸  Bemor xohishini bildira olmasa va aralashuvni kechiktirib bo‘lmasa, qaror konsiliumda qabul qilinadi. Imkon bo‘lmasa, davolovchi yoki navbatchi vrach hal qiladi.</a:t>
            </a:r>
          </a:p>
          <a:p>
            <a:pPr>
              <a:spcAft>
                <a:spcPts val="1200"/>
              </a:spcAft>
            </a:pPr>
            <a:r>
              <a:rPr sz="2200">
                <a:solidFill>
                  <a:srgbClr val="1F2937"/>
                </a:solidFill>
                <a:latin typeface="Calibri"/>
              </a:rPr>
              <a:t>▸  Kasallik atrofdagilarga xavf tug‘dirsa, qonunda belgilangan tartibda roziliksiz tekshiruv, yotqizish yoki yakkalab qo‘yish mumkin.</a:t>
            </a:r>
          </a:p>
          <a:p>
            <a:pPr>
              <a:spcAft>
                <a:spcPts val="1200"/>
              </a:spcAft>
            </a:pPr>
            <a:r>
              <a:rPr sz="2200">
                <a:solidFill>
                  <a:srgbClr val="1F2937"/>
                </a:solidFill>
                <a:latin typeface="Calibri"/>
              </a:rPr>
              <a:t>▸  Diqqat: xato qilish xavfi. Rad etish (27-modda) bemorning huquqi, majburiy yordam (28-modda) esa atrofdagilar xavfi bilan bog‘liq. Ularni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44-45, 44, 45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siri va uning istisnolari (45-modda)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Shifokor siri bemor vafotidan keyin ham saqlanadi; istisnolar qonunning 45-moddasida sanab o‘tilgan.</a:t>
            </a:r>
          </a:p>
          <a:p>
            <a:pPr>
              <a:spcAft>
                <a:spcPts val="800"/>
              </a:spcAft>
            </a:pPr>
            <a:r>
              <a:rPr sz="1800">
                <a:solidFill>
                  <a:srgbClr val="1F2937"/>
                </a:solidFill>
                <a:latin typeface="Calibri"/>
              </a:rPr>
              <a:t>▸  14 yoshgacha yoki layoqatsiz deb topilgan bemorning ota-onasi yoki vakilini xabardor qilish roziliksiz mumkin.</a:t>
            </a:r>
          </a:p>
          <a:p>
            <a:pPr>
              <a:spcAft>
                <a:spcPts val="800"/>
              </a:spcAft>
            </a:pPr>
            <a:r>
              <a:rPr sz="1800">
                <a:solidFill>
                  <a:srgbClr val="1F2937"/>
                </a:solidFill>
                <a:latin typeface="Calibri"/>
              </a:rPr>
              <a:t>▸  Jinoyat kodeksi 241-modda: jinoyat haqida xabar bermaslik yoki uni yashirish jinoiy javobgarlikka olib keladi.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308834"/>
                <a:gridCol w="2979140"/>
              </a:tblGrid>
              <a:tr h="614476">
                <a:tc>
                  <a:txBody>
                    <a:bodyPr/>
                    <a:lstStyle/>
                    <a:p>
                      <a:r>
                        <a:rPr sz="1800" b="1">
                          <a:solidFill>
                            <a:srgbClr val="FFFFFF"/>
                          </a:solidFill>
                        </a:rPr>
                        <a:t>Holat</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14 yoshgacha / layoqatsiz</a:t>
                      </a:r>
                    </a:p>
                  </a:txBody>
                  <a:tcPr marL="73152" marR="73152" marT="36576" marB="36576">
                    <a:solidFill>
                      <a:srgbClr val="E8EEF6"/>
                    </a:solidFill>
                  </a:tcPr>
                </a:tc>
                <a:tc>
                  <a:txBody>
                    <a:bodyPr/>
                    <a:lstStyle/>
                    <a:p>
                      <a:r>
                        <a:rPr sz="1700" b="0">
                          <a:solidFill>
                            <a:srgbClr val="1F2937"/>
                          </a:solidFill>
                        </a:rPr>
                        <a:t>Vakilni xabardor qilish</a:t>
                      </a:r>
                    </a:p>
                  </a:txBody>
                  <a:tcPr marL="73152" marR="73152" marT="36576" marB="36576">
                    <a:solidFill>
                      <a:srgbClr val="E8EEF6"/>
                    </a:solidFill>
                  </a:tcPr>
                </a:tc>
              </a:tr>
              <a:tr h="614476">
                <a:tc>
                  <a:txBody>
                    <a:bodyPr/>
                    <a:lstStyle/>
                    <a:p>
                      <a:r>
                        <a:rPr sz="1700" b="0">
                          <a:solidFill>
                            <a:srgbClr val="1F2937"/>
                          </a:solidFill>
                        </a:rPr>
                        <a:t>Xohishini bildira olmaydi</a:t>
                      </a:r>
                    </a:p>
                  </a:txBody>
                  <a:tcPr marL="73152" marR="73152" marT="36576" marB="36576">
                    <a:solidFill>
                      <a:srgbClr val="FFFFFF"/>
                    </a:solidFill>
                  </a:tcPr>
                </a:tc>
                <a:tc>
                  <a:txBody>
                    <a:bodyPr/>
                    <a:lstStyle/>
                    <a:p>
                      <a:r>
                        <a:rPr sz="1700" b="0">
                          <a:solidFill>
                            <a:srgbClr val="1F2937"/>
                          </a:solidFill>
                        </a:rPr>
                        <a:t>Tekshirish va davolash maqsadida</a:t>
                      </a:r>
                    </a:p>
                  </a:txBody>
                  <a:tcPr marL="73152" marR="73152" marT="36576" marB="36576">
                    <a:solidFill>
                      <a:srgbClr val="FFFFFF"/>
                    </a:solidFill>
                  </a:tcPr>
                </a:tc>
              </a:tr>
              <a:tr h="614476">
                <a:tc>
                  <a:txBody>
                    <a:bodyPr/>
                    <a:lstStyle/>
                    <a:p>
                      <a:r>
                        <a:rPr sz="1700" b="0">
                          <a:solidFill>
                            <a:srgbClr val="1F2937"/>
                          </a:solidFill>
                        </a:rPr>
                        <a:t>Atrofdagilarga xavf</a:t>
                      </a:r>
                    </a:p>
                  </a:txBody>
                  <a:tcPr marL="73152" marR="73152" marT="36576" marB="36576">
                    <a:solidFill>
                      <a:srgbClr val="E8EEF6"/>
                    </a:solidFill>
                  </a:tcPr>
                </a:tc>
                <a:tc>
                  <a:txBody>
                    <a:bodyPr/>
                    <a:lstStyle/>
                    <a:p>
                      <a:r>
                        <a:rPr sz="1700" b="0">
                          <a:solidFill>
                            <a:srgbClr val="1F2937"/>
                          </a:solidFill>
                        </a:rPr>
                        <a:t>Yuqumli kasallik, ommaviy zaharlanish</a:t>
                      </a:r>
                    </a:p>
                  </a:txBody>
                  <a:tcPr marL="73152" marR="73152" marT="36576" marB="36576">
                    <a:solidFill>
                      <a:srgbClr val="E8EEF6"/>
                    </a:solidFill>
                  </a:tcPr>
                </a:tc>
              </a:tr>
              <a:tr h="614476">
                <a:tc>
                  <a:txBody>
                    <a:bodyPr/>
                    <a:lstStyle/>
                    <a:p>
                      <a:r>
                        <a:rPr sz="1700" b="0">
                          <a:solidFill>
                            <a:srgbClr val="1F2937"/>
                          </a:solidFill>
                        </a:rPr>
                        <a:t>Rasmiy so‘rov / noqonuniy zarar</a:t>
                      </a:r>
                    </a:p>
                  </a:txBody>
                  <a:tcPr marL="73152" marR="73152" marT="36576" marB="36576">
                    <a:solidFill>
                      <a:srgbClr val="FFFFFF"/>
                    </a:solidFill>
                  </a:tcPr>
                </a:tc>
                <a:tc>
                  <a:txBody>
                    <a:bodyPr/>
                    <a:lstStyle/>
                    <a:p>
                      <a:r>
                        <a:rPr sz="1700" b="0">
                          <a:solidFill>
                            <a:srgbClr val="1F2937"/>
                          </a:solidFill>
                        </a:rPr>
                        <a:t>Surishtiruv, tergov, prokuratura, sud; zarar gumoni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Sirni oshkor etish holatlari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47-48,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Lissabon deklaratsiyasi va qonun: o‘xshashlik va farq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Diqqat: Lissabon deklaratsiyasi ≠ qonun. Etika talablari qonun me’yoriga aylangan, ammo to‘liq mos tushmaydi.</a:t>
            </a:r>
          </a:p>
          <a:p>
            <a:pPr>
              <a:spcAft>
                <a:spcPts val="800"/>
              </a:spcAft>
            </a:pPr>
            <a:r>
              <a:rPr sz="1800">
                <a:solidFill>
                  <a:srgbClr val="1F2937"/>
                </a:solidFill>
                <a:latin typeface="Calibri"/>
              </a:rPr>
              <a:t>▸  Lissabon 7-tamoyilining 2-bandi: hayotga jiddiy xavf bo‘lsa, ma’lumot bemordan yashirilishi mumkin.</a:t>
            </a:r>
          </a:p>
          <a:p>
            <a:pPr>
              <a:spcAft>
                <a:spcPts val="800"/>
              </a:spcAft>
            </a:pPr>
            <a:r>
              <a:rPr sz="1800">
                <a:solidFill>
                  <a:srgbClr val="1F2937"/>
                </a:solidFill>
                <a:latin typeface="Calibri"/>
              </a:rPr>
              <a:t>▸  Qonunning 25-moddasi to‘liq ma’lumot olish huquqini beradi; yashirish istisnosi aytilmagan.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337310"/>
                <a:gridCol w="2164080"/>
                <a:gridCol w="1786585"/>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Lissabon dekl.</a:t>
                      </a:r>
                    </a:p>
                  </a:txBody>
                  <a:tcPr marL="73152" marR="73152" marT="36576" marB="36576">
                    <a:solidFill>
                      <a:srgbClr val="0B1F3A"/>
                    </a:solidFill>
                  </a:tcPr>
                </a:tc>
                <a:tc>
                  <a:txBody>
                    <a:bodyPr/>
                    <a:lstStyle/>
                    <a:p>
                      <a:r>
                        <a:rPr sz="1600" b="1">
                          <a:solidFill>
                            <a:srgbClr val="FFFFFF"/>
                          </a:solidFill>
                        </a:rPr>
                        <a:t>Qonun</a:t>
                      </a:r>
                    </a:p>
                  </a:txBody>
                  <a:tcPr marL="73152" marR="73152" marT="36576" marB="36576">
                    <a:solidFill>
                      <a:srgbClr val="0B1F3A"/>
                    </a:solidFill>
                  </a:tcPr>
                </a:tc>
              </a:tr>
              <a:tr h="614476">
                <a:tc>
                  <a:txBody>
                    <a:bodyPr/>
                    <a:lstStyle/>
                    <a:p>
                      <a:r>
                        <a:rPr sz="1500" b="0">
                          <a:solidFill>
                            <a:srgbClr val="1F2937"/>
                          </a:solidFill>
                        </a:rPr>
                        <a:t>Qabul qilinishi</a:t>
                      </a:r>
                    </a:p>
                  </a:txBody>
                  <a:tcPr marL="73152" marR="73152" marT="36576" marB="36576">
                    <a:solidFill>
                      <a:srgbClr val="E8EEF6"/>
                    </a:solidFill>
                  </a:tcPr>
                </a:tc>
                <a:tc>
                  <a:txBody>
                    <a:bodyPr/>
                    <a:lstStyle/>
                    <a:p>
                      <a:r>
                        <a:rPr sz="1500" b="0">
                          <a:solidFill>
                            <a:srgbClr val="1F2937"/>
                          </a:solidFill>
                        </a:rPr>
                        <a:t>Jahon tibbiyot assotsiatsiyasi, 1981</a:t>
                      </a:r>
                    </a:p>
                  </a:txBody>
                  <a:tcPr marL="73152" marR="73152" marT="36576" marB="36576">
                    <a:solidFill>
                      <a:srgbClr val="E8EEF6"/>
                    </a:solidFill>
                  </a:tcPr>
                </a:tc>
                <a:tc>
                  <a:txBody>
                    <a:bodyPr/>
                    <a:lstStyle/>
                    <a:p>
                      <a:r>
                        <a:rPr sz="1500" b="0">
                          <a:solidFill>
                            <a:srgbClr val="1F2937"/>
                          </a:solidFill>
                        </a:rPr>
                        <a:t>1996-yil 29-avgust; 14-sentabrdan kuchda</a:t>
                      </a:r>
                    </a:p>
                  </a:txBody>
                  <a:tcPr marL="73152" marR="73152" marT="36576" marB="36576">
                    <a:solidFill>
                      <a:srgbClr val="E8EEF6"/>
                    </a:solidFill>
                  </a:tcPr>
                </a:tc>
              </a:tr>
              <a:tr h="614476">
                <a:tc>
                  <a:txBody>
                    <a:bodyPr/>
                    <a:lstStyle/>
                    <a:p>
                      <a:r>
                        <a:rPr sz="1500" b="0">
                          <a:solidFill>
                            <a:srgbClr val="1F2937"/>
                          </a:solidFill>
                        </a:rPr>
                        <a:t>Huquqlar bayoni</a:t>
                      </a:r>
                    </a:p>
                  </a:txBody>
                  <a:tcPr marL="73152" marR="73152" marT="36576" marB="36576">
                    <a:solidFill>
                      <a:srgbClr val="FFFFFF"/>
                    </a:solidFill>
                  </a:tcPr>
                </a:tc>
                <a:tc>
                  <a:txBody>
                    <a:bodyPr/>
                    <a:lstStyle/>
                    <a:p>
                      <a:r>
                        <a:rPr sz="1500" b="0">
                          <a:solidFill>
                            <a:srgbClr val="1F2937"/>
                          </a:solidFill>
                        </a:rPr>
                        <a:t>11 ta tamoyil</a:t>
                      </a:r>
                    </a:p>
                  </a:txBody>
                  <a:tcPr marL="73152" marR="73152" marT="36576" marB="36576">
                    <a:solidFill>
                      <a:srgbClr val="FFFFFF"/>
                    </a:solidFill>
                  </a:tcPr>
                </a:tc>
                <a:tc>
                  <a:txBody>
                    <a:bodyPr/>
                    <a:lstStyle/>
                    <a:p>
                      <a:r>
                        <a:rPr sz="1500" b="0">
                          <a:solidFill>
                            <a:srgbClr val="1F2937"/>
                          </a:solidFill>
                        </a:rPr>
                        <a:t>24-modda: bemor huquqlari ro‘yxati</a:t>
                      </a:r>
                    </a:p>
                  </a:txBody>
                  <a:tcPr marL="73152" marR="73152" marT="36576" marB="36576">
                    <a:solidFill>
                      <a:srgbClr val="FFFFFF"/>
                    </a:solidFill>
                  </a:tcPr>
                </a:tc>
              </a:tr>
              <a:tr h="614476">
                <a:tc>
                  <a:txBody>
                    <a:bodyPr/>
                    <a:lstStyle/>
                    <a:p>
                      <a:r>
                        <a:rPr sz="1500" b="0">
                          <a:solidFill>
                            <a:srgbClr val="1F2937"/>
                          </a:solidFill>
                        </a:rPr>
                        <a:t>Ma’lumot olish</a:t>
                      </a:r>
                    </a:p>
                  </a:txBody>
                  <a:tcPr marL="73152" marR="73152" marT="36576" marB="36576">
                    <a:solidFill>
                      <a:srgbClr val="E8EEF6"/>
                    </a:solidFill>
                  </a:tcPr>
                </a:tc>
                <a:tc>
                  <a:txBody>
                    <a:bodyPr/>
                    <a:lstStyle/>
                    <a:p>
                      <a:r>
                        <a:rPr sz="1500" b="0">
                          <a:solidFill>
                            <a:srgbClr val="1F2937"/>
                          </a:solidFill>
                        </a:rPr>
                        <a:t>Jiddiy xavf bo‘lsa, yashirish mumkin</a:t>
                      </a:r>
                    </a:p>
                  </a:txBody>
                  <a:tcPr marL="73152" marR="73152" marT="36576" marB="36576">
                    <a:solidFill>
                      <a:srgbClr val="E8EEF6"/>
                    </a:solidFill>
                  </a:tcPr>
                </a:tc>
                <a:tc>
                  <a:txBody>
                    <a:bodyPr/>
                    <a:lstStyle/>
                    <a:p>
                      <a:r>
                        <a:rPr sz="1500" b="0">
                          <a:solidFill>
                            <a:srgbClr val="1F2937"/>
                          </a:solidFill>
                        </a:rPr>
                        <a:t>To‘liq ma’lumot olish huquqi (25-modda)</a:t>
                      </a:r>
                    </a:p>
                  </a:txBody>
                  <a:tcPr marL="73152" marR="73152" marT="36576" marB="36576">
                    <a:solidFill>
                      <a:srgbClr val="E8EEF6"/>
                    </a:solidFill>
                  </a:tcPr>
                </a:tc>
              </a:tr>
              <a:tr h="614476">
                <a:tc>
                  <a:txBody>
                    <a:bodyPr/>
                    <a:lstStyle/>
                    <a:p>
                      <a:r>
                        <a:rPr sz="1500" b="0">
                          <a:solidFill>
                            <a:srgbClr val="1F2937"/>
                          </a:solidFill>
                        </a:rPr>
                        <a:t>Umumiy xulosa</a:t>
                      </a:r>
                    </a:p>
                  </a:txBody>
                  <a:tcPr marL="73152" marR="73152" marT="36576" marB="36576">
                    <a:solidFill>
                      <a:srgbClr val="FFFFFF"/>
                    </a:solidFill>
                  </a:tcPr>
                </a:tc>
                <a:tc>
                  <a:txBody>
                    <a:bodyPr/>
                    <a:lstStyle/>
                    <a:p>
                      <a:r>
                        <a:rPr sz="1500" b="0">
                          <a:solidFill>
                            <a:srgbClr val="1F2937"/>
                          </a:solidFill>
                        </a:rPr>
                        <a:t>G‘oyalar qonunga kirgan</a:t>
                      </a:r>
                    </a:p>
                  </a:txBody>
                  <a:tcPr marL="73152" marR="73152" marT="36576" marB="36576">
                    <a:solidFill>
                      <a:srgbClr val="FFFFFF"/>
                    </a:solidFill>
                  </a:tcPr>
                </a:tc>
                <a:tc>
                  <a:txBody>
                    <a:bodyPr/>
                    <a:lstStyle/>
                    <a:p>
                      <a:r>
                        <a:rPr sz="1500" b="0">
                          <a:solidFill>
                            <a:srgbClr val="1F2937"/>
                          </a:solidFill>
                        </a:rPr>
                        <a:t>Asosan mos, lekin to‘liq emas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Deklaratsiya va qonun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45, 41, 43-44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Bemor huquqlarining uch guruhi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Bemor huquqlari ahamiyat darajasiga ko‘ra shartli ravishda uch guruhga bo‘linadi.</a:t>
            </a:r>
          </a:p>
          <a:p>
            <a:pPr>
              <a:spcAft>
                <a:spcPts val="800"/>
              </a:spcAft>
            </a:pPr>
            <a:r>
              <a:rPr sz="1800">
                <a:solidFill>
                  <a:srgbClr val="1F2937"/>
                </a:solidFill>
                <a:latin typeface="Calibri"/>
              </a:rPr>
              <a:t>▸  Asosiy huquqlar: rozilik, rad etish, sog‘lig‘i va o‘z huquqlari haqida ma’lumot, shifokor siri.</a:t>
            </a:r>
          </a:p>
          <a:p>
            <a:pPr>
              <a:spcAft>
                <a:spcPts val="800"/>
              </a:spcAft>
            </a:pPr>
            <a:r>
              <a:rPr sz="1800">
                <a:solidFill>
                  <a:srgbClr val="1F2937"/>
                </a:solidFill>
                <a:latin typeface="Calibri"/>
              </a:rPr>
              <a:t>▸  Tashkiliy huquqlar: shifokor va muassasani tanlash, sanitar sharoit, zararning qoplanishi.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55420"/>
                <a:gridCol w="1890061"/>
                <a:gridCol w="1942493"/>
              </a:tblGrid>
              <a:tr h="76809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768096">
                <a:tc>
                  <a:txBody>
                    <a:bodyPr/>
                    <a:lstStyle/>
                    <a:p>
                      <a:r>
                        <a:rPr sz="1500" b="0">
                          <a:solidFill>
                            <a:srgbClr val="1F2937"/>
                          </a:solidFill>
                        </a:rPr>
                        <a:t>Asosiy</a:t>
                      </a:r>
                    </a:p>
                  </a:txBody>
                  <a:tcPr marL="73152" marR="73152" marT="36576" marB="36576">
                    <a:solidFill>
                      <a:srgbClr val="E8EEF6"/>
                    </a:solidFill>
                  </a:tcPr>
                </a:tc>
                <a:tc>
                  <a:txBody>
                    <a:bodyPr/>
                    <a:lstStyle/>
                    <a:p>
                      <a:r>
                        <a:rPr sz="1500" b="0">
                          <a:solidFill>
                            <a:srgbClr val="1F2937"/>
                          </a:solidFill>
                        </a:rPr>
                        <a:t>Birinchi navbatda ta’minlanadi</a:t>
                      </a:r>
                    </a:p>
                  </a:txBody>
                  <a:tcPr marL="73152" marR="73152" marT="36576" marB="36576">
                    <a:solidFill>
                      <a:srgbClr val="E8EEF6"/>
                    </a:solidFill>
                  </a:tcPr>
                </a:tc>
                <a:tc>
                  <a:txBody>
                    <a:bodyPr/>
                    <a:lstStyle/>
                    <a:p>
                      <a:r>
                        <a:rPr sz="1500" b="0">
                          <a:solidFill>
                            <a:srgbClr val="1F2937"/>
                          </a:solidFill>
                        </a:rPr>
                        <a:t>Ma’lumotli rozilik; shifokor siri</a:t>
                      </a:r>
                    </a:p>
                  </a:txBody>
                  <a:tcPr marL="73152" marR="73152" marT="36576" marB="36576">
                    <a:solidFill>
                      <a:srgbClr val="E8EEF6"/>
                    </a:solidFill>
                  </a:tcPr>
                </a:tc>
              </a:tr>
              <a:tr h="768096">
                <a:tc>
                  <a:txBody>
                    <a:bodyPr/>
                    <a:lstStyle/>
                    <a:p>
                      <a:r>
                        <a:rPr sz="1500" b="0">
                          <a:solidFill>
                            <a:srgbClr val="1F2937"/>
                          </a:solidFill>
                        </a:rPr>
                        <a:t>Qo‘shimcha</a:t>
                      </a:r>
                    </a:p>
                  </a:txBody>
                  <a:tcPr marL="73152" marR="73152" marT="36576" marB="36576">
                    <a:solidFill>
                      <a:srgbClr val="FFFFFF"/>
                    </a:solidFill>
                  </a:tcPr>
                </a:tc>
                <a:tc>
                  <a:txBody>
                    <a:bodyPr/>
                    <a:lstStyle/>
                    <a:p>
                      <a:r>
                        <a:rPr sz="1500" b="0">
                          <a:solidFill>
                            <a:srgbClr val="1F2937"/>
                          </a:solidFill>
                        </a:rPr>
                        <a:t>Yordamchi; ba’zan zarur bo‘lmaydi</a:t>
                      </a:r>
                    </a:p>
                  </a:txBody>
                  <a:tcPr marL="73152" marR="73152" marT="36576" marB="36576">
                    <a:solidFill>
                      <a:srgbClr val="FFFFFF"/>
                    </a:solidFill>
                  </a:tcPr>
                </a:tc>
                <a:tc>
                  <a:txBody>
                    <a:bodyPr/>
                    <a:lstStyle/>
                    <a:p>
                      <a:r>
                        <a:rPr sz="1500" b="0">
                          <a:solidFill>
                            <a:srgbClr val="1F2937"/>
                          </a:solidFill>
                        </a:rPr>
                        <a:t>Advokat, ruhoniy, og‘riqni yengillatish</a:t>
                      </a:r>
                    </a:p>
                  </a:txBody>
                  <a:tcPr marL="73152" marR="73152" marT="36576" marB="36576">
                    <a:solidFill>
                      <a:srgbClr val="FFFFFF"/>
                    </a:solidFill>
                  </a:tcPr>
                </a:tc>
              </a:tr>
              <a:tr h="768096">
                <a:tc>
                  <a:txBody>
                    <a:bodyPr/>
                    <a:lstStyle/>
                    <a:p>
                      <a:r>
                        <a:rPr sz="1500" b="0">
                          <a:solidFill>
                            <a:srgbClr val="1F2937"/>
                          </a:solidFill>
                        </a:rPr>
                        <a:t>Tashkiliy</a:t>
                      </a:r>
                    </a:p>
                  </a:txBody>
                  <a:tcPr marL="73152" marR="73152" marT="36576" marB="36576">
                    <a:solidFill>
                      <a:srgbClr val="E8EEF6"/>
                    </a:solidFill>
                  </a:tcPr>
                </a:tc>
                <a:tc>
                  <a:txBody>
                    <a:bodyPr/>
                    <a:lstStyle/>
                    <a:p>
                      <a:r>
                        <a:rPr sz="1500" b="0">
                          <a:solidFill>
                            <a:srgbClr val="1F2937"/>
                          </a:solidFill>
                        </a:rPr>
                        <a:t>Xizmat tashkil etilishi bilan bog‘liq</a:t>
                      </a:r>
                    </a:p>
                  </a:txBody>
                  <a:tcPr marL="73152" marR="73152" marT="36576" marB="36576">
                    <a:solidFill>
                      <a:srgbClr val="E8EEF6"/>
                    </a:solidFill>
                  </a:tcPr>
                </a:tc>
                <a:tc>
                  <a:txBody>
                    <a:bodyPr/>
                    <a:lstStyle/>
                    <a:p>
                      <a:r>
                        <a:rPr sz="1500" b="0">
                          <a:solidFill>
                            <a:srgbClr val="1F2937"/>
                          </a:solidFill>
                        </a:rPr>
                        <a:t>Shifokorni tanlash; zararni qoplash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45, 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Bemorlarning majburiyatlari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Bemor huquqlari amalda asosan tibbiyot xodimlari harakati bilan ta’minlanadi. Shu sabab ularni xodimlar burchi sifatida ham ko‘rish mumkin.</a:t>
            </a:r>
          </a:p>
          <a:p>
            <a:pPr>
              <a:spcAft>
                <a:spcPts val="1200"/>
              </a:spcAft>
            </a:pPr>
            <a:r>
              <a:rPr sz="2200">
                <a:solidFill>
                  <a:srgbClr val="1F2937"/>
                </a:solidFill>
                <a:latin typeface="Calibri"/>
              </a:rPr>
              <a:t>▸  Shu bilan birga, bemorlarning tibbiyot xodimlariga nisbatan majburiyatlari ham mavjudligini ta’kidlash zarur.</a:t>
            </a:r>
          </a:p>
          <a:p>
            <a:pPr>
              <a:spcAft>
                <a:spcPts val="1200"/>
              </a:spcAft>
            </a:pPr>
            <a:r>
              <a:rPr sz="2200">
                <a:solidFill>
                  <a:srgbClr val="1F2937"/>
                </a:solidFill>
                <a:latin typeface="Calibri"/>
              </a:rPr>
              <a:t>▸  «Fuqarolar sog‘lig‘ini saqlash to‘g‘risida»gi qonunning birinchi tamoyili: inson huquqlariga rioya. Bunda bemorning ham, xodimning ham huquqi ta’minlanadi.</a:t>
            </a:r>
          </a:p>
          <a:p>
            <a:pPr>
              <a:spcAft>
                <a:spcPts val="1200"/>
              </a:spcAft>
            </a:pPr>
            <a:r>
              <a:rPr sz="2200">
                <a:solidFill>
                  <a:srgbClr val="1F2937"/>
                </a:solidFill>
                <a:latin typeface="Calibri"/>
              </a:rPr>
              <a:t>▸  Bemorlar va yaqinlari xodimlar bilan umuminsoniy axloq-odob me’yorlariga rioya qilishi, ularning sha’ni va qadr-qimmatini hurmat qilishi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yuqumli kasallik va rad etish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yuqumli kasallik gumon qilingan bemor davolanishdan voz kechmoqda. Savol: u buni qonuniy rad eta oladimi?</a:t>
            </a:r>
          </a:p>
          <a:p>
            <a:pPr>
              <a:spcAft>
                <a:spcPts val="1200"/>
              </a:spcAft>
            </a:pPr>
            <a:r>
              <a:rPr sz="2200">
                <a:solidFill>
                  <a:srgbClr val="1F2937"/>
                </a:solidFill>
                <a:latin typeface="Calibri"/>
              </a:rPr>
              <a:t>▸  27-modda: bemor yoki qonuniy vakili aralashuvni rad etishi mumkin. Shifokor yozma rad tasdiqnomasini oladi, imkon bo‘lmasa guvohlar bilan dalolatnoma tuzadi.</a:t>
            </a:r>
          </a:p>
          <a:p>
            <a:pPr>
              <a:spcAft>
                <a:spcPts val="1200"/>
              </a:spcAft>
            </a:pPr>
            <a:r>
              <a:rPr sz="2200">
                <a:solidFill>
                  <a:srgbClr val="1F2937"/>
                </a:solidFill>
                <a:latin typeface="Calibri"/>
              </a:rPr>
              <a:t>▸  28-modda: kasallik atrofdagilarga xavf tug‘dirsa, roziliksiz tekshiruv, kasalxonaga yotqizish, kuzatish va yakkalab qo‘yish mumkin. Bu, ayniqsa, yuqumli kasalliklarga tegishli.</a:t>
            </a:r>
          </a:p>
          <a:p>
            <a:pPr>
              <a:spcAft>
                <a:spcPts val="1200"/>
              </a:spcAft>
            </a:pPr>
            <a:r>
              <a:rPr sz="2200">
                <a:solidFill>
                  <a:srgbClr val="1F2937"/>
                </a:solidFill>
                <a:latin typeface="Calibri"/>
              </a:rPr>
              <a:t>▸  Diqqat: xato qilish xavfi! 27-modda (rad etish huquqi) ≠ 28-modda (xavf tug‘ilganda roziliksiz yordam). Xavf borligi aniqlanishi shart.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44, 45, 44-45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majburiyatlari: Jeneva deklaratsiyasi va kodeks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Tibbiy etika xalqaro kodeksining 1-bandi: shifokor doim yuqori kasbiy standartlarni ushlaydi, malakasini oshiradi, yangi bilim va ko‘nikma egallaydi.</a:t>
            </a:r>
          </a:p>
          <a:p>
            <a:pPr>
              <a:spcAft>
                <a:spcPts val="1200"/>
              </a:spcAft>
            </a:pPr>
            <a:r>
              <a:rPr sz="2000">
                <a:solidFill>
                  <a:srgbClr val="1F2937"/>
                </a:solidFill>
                <a:latin typeface="Calibri"/>
              </a:rPr>
              <a:t>▸  Shifokor bemor va hamkasblar bilan rostgo‘y bo‘ladi, nokompetent va yolg‘onchi hamkasblarga qarshi kurashadi. Foyda ko‘zlash mustaqil qarorga ta’sir qilmaydi.</a:t>
            </a:r>
          </a:p>
          <a:p>
            <a:pPr>
              <a:spcAft>
                <a:spcPts val="1200"/>
              </a:spcAft>
            </a:pPr>
            <a:r>
              <a:rPr sz="2000">
                <a:solidFill>
                  <a:srgbClr val="1F2937"/>
                </a:solidFill>
                <a:latin typeface="Calibri"/>
              </a:rPr>
              <a:t>▸  Shifokor hamdardlik va inson sha’niga hurmatni ustun qo‘yadi, hayotni saqlashni burch deb biladi. Zarurat bo‘lsa har kimga shoshilinch yordam beradi.</a:t>
            </a:r>
          </a:p>
          <a:p>
            <a:pPr>
              <a:spcAft>
                <a:spcPts val="1200"/>
              </a:spcAft>
            </a:pPr>
            <a:r>
              <a:rPr sz="2000">
                <a:solidFill>
                  <a:srgbClr val="1F2937"/>
                </a:solidFill>
                <a:latin typeface="Calibri"/>
              </a:rPr>
              <a:t>▸  Jeneva deklaratsiyasi (shifokorlarning xalqaro qasamyodi): umr bo‘yi insoniylikka xizmat, hayotni boshlanishidan hurmat qilish. Tahdid ostida ham bilimni insonlik qonunlariga qarshi ishlatmaslik.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muloqot madaniyati va uning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Murojaat, sog‘liq holati va tashxis sir saqlanadi, bemor vafotidan keyin ham. Gersen: doktorning qulog‘i bo‘lishi, lekin og‘zi bo‘lmasligi lozim.</a:t>
            </a:r>
          </a:p>
          <a:p>
            <a:pPr>
              <a:spcAft>
                <a:spcPts val="1200"/>
              </a:spcAft>
            </a:pPr>
            <a:r>
              <a:rPr sz="2000">
                <a:solidFill>
                  <a:srgbClr val="1F2937"/>
                </a:solidFill>
                <a:latin typeface="Calibri"/>
              </a:rPr>
              <a:t>▸  Muloqotda nima emas, qanday aytilgani ham muhim. Shou: «ha» va «yo‘q» ni yozish bir xil, aytish turlicha. Kazins: «besh bemordan ikkitasi o‘ladi» o‘rniga «uchtasi tuzaladi» deyiladi.</a:t>
            </a:r>
          </a:p>
          <a:p>
            <a:pPr>
              <a:spcAft>
                <a:spcPts val="1200"/>
              </a:spcAft>
            </a:pPr>
            <a:r>
              <a:rPr sz="2000">
                <a:solidFill>
                  <a:srgbClr val="1F2937"/>
                </a:solidFill>
                <a:latin typeface="Calibri"/>
              </a:rPr>
              <a:t>▸  Shifokor sha’ni, qadr-qimmati va kasbiy obro‘sini himoya qiladi, malaka oshiradi. Bemorga yordamda aloqa va transportdan bepul, to‘sqinliksiz foydalanadi.</a:t>
            </a:r>
          </a:p>
          <a:p>
            <a:pPr>
              <a:spcAft>
                <a:spcPts val="1200"/>
              </a:spcAft>
            </a:pPr>
            <a:r>
              <a:rPr sz="2000">
                <a:solidFill>
                  <a:srgbClr val="1F2937"/>
                </a:solidFill>
                <a:latin typeface="Calibri"/>
              </a:rPr>
              <a:t>▸  Ishonch yo‘q yoki bemor ko‘rsatmaga rioya qilmasa va hayotga xavf bo‘lmasa, shifokor davolashdan bosh tortadi. U boshqa mutaxassisni tavsiya qilib, rahbariyatni xabardor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47, 48-49, 49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davolashdan bosh tortgan shifokor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 va shifokor o‘rtasida ishonch yo‘q, bemor shifokor ko‘rsatmalariga amal qilmaydi, biroq uning hayotiga xavf yo‘q.</a:t>
            </a:r>
          </a:p>
          <a:p>
            <a:pPr>
              <a:spcAft>
                <a:spcPts val="1200"/>
              </a:spcAft>
            </a:pPr>
            <a:r>
              <a:rPr sz="2200">
                <a:solidFill>
                  <a:srgbClr val="1F2937"/>
                </a:solidFill>
                <a:latin typeface="Calibri"/>
              </a:rPr>
              <a:t>▸  Savol: bunday holda shifokor davolashdan bosh tortishi mumkinmi va keyin qanday yo‘l tutishi shart?</a:t>
            </a:r>
          </a:p>
          <a:p>
            <a:pPr>
              <a:spcAft>
                <a:spcPts val="1200"/>
              </a:spcAft>
            </a:pPr>
            <a:r>
              <a:rPr sz="2200">
                <a:solidFill>
                  <a:srgbClr val="1F2937"/>
                </a:solidFill>
                <a:latin typeface="Calibri"/>
              </a:rPr>
              <a:t>▸  Javob: shifokor bosh tortishi mumkin. U bemorga boshqa mutaxassisni tavsiya qiladi va o‘z muassasasi rahbariyatiga xabar beradi.</a:t>
            </a:r>
          </a:p>
          <a:p>
            <a:pPr>
              <a:spcAft>
                <a:spcPts val="1200"/>
              </a:spcAft>
            </a:pPr>
            <a:r>
              <a:rPr sz="2200">
                <a:solidFill>
                  <a:srgbClr val="1F2937"/>
                </a:solidFill>
                <a:latin typeface="Calibri"/>
              </a:rPr>
              <a:t>▸  Diqqat: xato qilish xavfi — bosh tortish faqat hayotga xavf bo‘lmaganda mumkin. Zarurat tug‘ilsa, istalgan shaxsga shoshilinch yordam ko‘rsatiladi.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49, 47, 49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Etika qo‘mitalarining paydo bo‘lishi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G‘oya Nyurnberg jarayonida tug‘ildi; Bicher maqolasi va Taskidji tadqiqotlari ochilgach, zarurat oshdi.</a:t>
            </a:r>
          </a:p>
          <a:p>
            <a:pPr>
              <a:spcAft>
                <a:spcPts val="800"/>
              </a:spcAft>
            </a:pPr>
            <a:r>
              <a:rPr sz="1800">
                <a:solidFill>
                  <a:srgbClr val="1F2937"/>
                </a:solidFill>
                <a:latin typeface="Calibri"/>
              </a:rPr>
              <a:t>▸  Keyin qo‘mitalar fanlararo bo‘ldi: huquqshunos, din vakili, psixolog va boshqalar qo‘shildi.</a:t>
            </a:r>
          </a:p>
          <a:p>
            <a:pPr>
              <a:spcAft>
                <a:spcPts val="800"/>
              </a:spcAft>
            </a:pPr>
            <a:r>
              <a:rPr sz="1800">
                <a:solidFill>
                  <a:srgbClr val="1F2937"/>
                </a:solidFill>
                <a:latin typeface="Calibri"/>
              </a:rPr>
              <a:t>▸  AQShda tadqiqot qonuni va Milliy komissiya tuzildi; qo‘mitalar bioetikani amaliyotga olib kirdi.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Davr</a:t>
                      </a:r>
                    </a:p>
                  </a:txBody>
                  <a:tcPr marL="73152" marR="73152" marT="36576" marB="36576">
                    <a:solidFill>
                      <a:srgbClr val="0B1F3A"/>
                    </a:solidFill>
                  </a:tcPr>
                </a:tc>
                <a:tc>
                  <a:txBody>
                    <a:bodyPr/>
                    <a:lstStyle/>
                    <a:p>
                      <a:r>
                        <a:rPr sz="1800" b="1">
                          <a:solidFill>
                            <a:srgbClr val="FFFFFF"/>
                          </a:solidFill>
                        </a:rPr>
                        <a:t>Voqea</a:t>
                      </a:r>
                    </a:p>
                  </a:txBody>
                  <a:tcPr marL="73152" marR="73152" marT="36576" marB="36576">
                    <a:solidFill>
                      <a:srgbClr val="0B1F3A"/>
                    </a:solidFill>
                  </a:tcPr>
                </a:tc>
              </a:tr>
              <a:tr h="614476">
                <a:tc>
                  <a:txBody>
                    <a:bodyPr/>
                    <a:lstStyle/>
                    <a:p>
                      <a:r>
                        <a:rPr sz="1700" b="0">
                          <a:solidFill>
                            <a:srgbClr val="1F2937"/>
                          </a:solidFill>
                        </a:rPr>
                        <a:t>Nyurnberg jarayoni</a:t>
                      </a:r>
                    </a:p>
                  </a:txBody>
                  <a:tcPr marL="73152" marR="73152" marT="36576" marB="36576">
                    <a:solidFill>
                      <a:srgbClr val="E8EEF6"/>
                    </a:solidFill>
                  </a:tcPr>
                </a:tc>
                <a:tc>
                  <a:txBody>
                    <a:bodyPr/>
                    <a:lstStyle/>
                    <a:p>
                      <a:r>
                        <a:rPr sz="1700" b="0">
                          <a:solidFill>
                            <a:srgbClr val="1F2937"/>
                          </a:solidFill>
                        </a:rPr>
                        <a:t>Tajribada insonni himoya qilish g‘oyasi</a:t>
                      </a:r>
                    </a:p>
                  </a:txBody>
                  <a:tcPr marL="73152" marR="73152" marT="36576" marB="36576">
                    <a:solidFill>
                      <a:srgbClr val="E8EEF6"/>
                    </a:solidFill>
                  </a:tcPr>
                </a:tc>
              </a:tr>
              <a:tr h="614476">
                <a:tc>
                  <a:txBody>
                    <a:bodyPr/>
                    <a:lstStyle/>
                    <a:p>
                      <a:r>
                        <a:rPr sz="1700" b="0">
                          <a:solidFill>
                            <a:srgbClr val="1F2937"/>
                          </a:solidFill>
                        </a:rPr>
                        <a:t>1960-yillar, AQSh</a:t>
                      </a:r>
                    </a:p>
                  </a:txBody>
                  <a:tcPr marL="73152" marR="73152" marT="36576" marB="36576">
                    <a:solidFill>
                      <a:srgbClr val="FFFFFF"/>
                    </a:solidFill>
                  </a:tcPr>
                </a:tc>
                <a:tc>
                  <a:txBody>
                    <a:bodyPr/>
                    <a:lstStyle/>
                    <a:p>
                      <a:r>
                        <a:rPr sz="1700" b="0">
                          <a:solidFill>
                            <a:srgbClr val="1F2937"/>
                          </a:solidFill>
                        </a:rPr>
                        <a:t>Dastlabki qo‘mitalar, faqat tibbiyotchilar</a:t>
                      </a:r>
                    </a:p>
                  </a:txBody>
                  <a:tcPr marL="73152" marR="73152" marT="36576" marB="36576">
                    <a:solidFill>
                      <a:srgbClr val="FFFFFF"/>
                    </a:solidFill>
                  </a:tcPr>
                </a:tc>
              </a:tr>
              <a:tr h="614476">
                <a:tc>
                  <a:txBody>
                    <a:bodyPr/>
                    <a:lstStyle/>
                    <a:p>
                      <a:r>
                        <a:rPr sz="1700" b="0">
                          <a:solidFill>
                            <a:srgbClr val="1F2937"/>
                          </a:solidFill>
                        </a:rPr>
                        <a:t>1975-yil</a:t>
                      </a:r>
                    </a:p>
                  </a:txBody>
                  <a:tcPr marL="73152" marR="73152" marT="36576" marB="36576">
                    <a:solidFill>
                      <a:srgbClr val="E8EEF6"/>
                    </a:solidFill>
                  </a:tcPr>
                </a:tc>
                <a:tc>
                  <a:txBody>
                    <a:bodyPr/>
                    <a:lstStyle/>
                    <a:p>
                      <a:r>
                        <a:rPr sz="1700" b="0">
                          <a:solidFill>
                            <a:srgbClr val="1F2937"/>
                          </a:solidFill>
                        </a:rPr>
                        <a:t>Xelsinki deklaratsiyasida maxsus qo‘mitalar</a:t>
                      </a:r>
                    </a:p>
                  </a:txBody>
                  <a:tcPr marL="73152" marR="73152" marT="36576" marB="36576">
                    <a:solidFill>
                      <a:srgbClr val="E8EEF6"/>
                    </a:solidFill>
                  </a:tcPr>
                </a:tc>
              </a:tr>
              <a:tr h="614476">
                <a:tc>
                  <a:txBody>
                    <a:bodyPr/>
                    <a:lstStyle/>
                    <a:p>
                      <a:r>
                        <a:rPr sz="1700" b="0">
                          <a:solidFill>
                            <a:srgbClr val="1F2937"/>
                          </a:solidFill>
                        </a:rPr>
                        <a:t>1990-yillar, AQSh</a:t>
                      </a:r>
                    </a:p>
                  </a:txBody>
                  <a:tcPr marL="73152" marR="73152" marT="36576" marB="36576">
                    <a:solidFill>
                      <a:srgbClr val="FFFFFF"/>
                    </a:solidFill>
                  </a:tcPr>
                </a:tc>
                <a:tc>
                  <a:txBody>
                    <a:bodyPr/>
                    <a:lstStyle/>
                    <a:p>
                      <a:r>
                        <a:rPr sz="1700" b="0">
                          <a:solidFill>
                            <a:srgbClr val="1F2937"/>
                          </a:solidFill>
                        </a:rPr>
                        <a:t>Prezident komissiyasi tuzildi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Qo‘mitalar tarixi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151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Xalqaro tashkilotlar va qo‘mita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1990-yillarda YUNESKO huzurida bioetika bo‘yicha xalqaro qo‘mita tashkil etilgan.</a:t>
            </a:r>
          </a:p>
          <a:p>
            <a:pPr>
              <a:spcAft>
                <a:spcPts val="800"/>
              </a:spcAft>
            </a:pPr>
            <a:r>
              <a:rPr sz="1800">
                <a:solidFill>
                  <a:srgbClr val="1F2937"/>
                </a:solidFill>
                <a:latin typeface="Calibri"/>
              </a:rPr>
              <a:t>▸  Jahon sog‘liqni saqlash tashkiloti, Jahon tibbiyot assotsiatsiyasi, Yevropa Kengashida ham qo‘mitalar bor.</a:t>
            </a:r>
          </a:p>
          <a:p>
            <a:pPr>
              <a:spcAft>
                <a:spcPts val="800"/>
              </a:spcAft>
            </a:pPr>
            <a:r>
              <a:rPr sz="1800">
                <a:solidFill>
                  <a:srgbClr val="1F2937"/>
                </a:solidFill>
                <a:latin typeface="Calibri"/>
              </a:rPr>
              <a:t>▸  YUNESKO qo‘llanmasi bo‘yicha qo‘mitalarning to‘rt turi bo‘lishi mumkin (jadvalda).</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Tur</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1-tur</a:t>
                      </a:r>
                    </a:p>
                  </a:txBody>
                  <a:tcPr marL="73152" marR="73152" marT="36576" marB="36576">
                    <a:solidFill>
                      <a:srgbClr val="E8EEF6"/>
                    </a:solidFill>
                  </a:tcPr>
                </a:tc>
                <a:tc>
                  <a:txBody>
                    <a:bodyPr/>
                    <a:lstStyle/>
                    <a:p>
                      <a:r>
                        <a:rPr sz="1700" b="0">
                          <a:solidFill>
                            <a:srgbClr val="1F2937"/>
                          </a:solidFill>
                        </a:rPr>
                        <a:t>Siyosat va tavsiyalar ishlab chiqish</a:t>
                      </a:r>
                    </a:p>
                  </a:txBody>
                  <a:tcPr marL="73152" marR="73152" marT="36576" marB="36576">
                    <a:solidFill>
                      <a:srgbClr val="E8EEF6"/>
                    </a:solidFill>
                  </a:tcPr>
                </a:tc>
              </a:tr>
              <a:tr h="614476">
                <a:tc>
                  <a:txBody>
                    <a:bodyPr/>
                    <a:lstStyle/>
                    <a:p>
                      <a:r>
                        <a:rPr sz="1700" b="0">
                          <a:solidFill>
                            <a:srgbClr val="1F2937"/>
                          </a:solidFill>
                        </a:rPr>
                        <a:t>2-tur</a:t>
                      </a:r>
                    </a:p>
                  </a:txBody>
                  <a:tcPr marL="73152" marR="73152" marT="36576" marB="36576">
                    <a:solidFill>
                      <a:srgbClr val="FFFFFF"/>
                    </a:solidFill>
                  </a:tcPr>
                </a:tc>
                <a:tc>
                  <a:txBody>
                    <a:bodyPr/>
                    <a:lstStyle/>
                    <a:p>
                      <a:r>
                        <a:rPr sz="1700" b="0">
                          <a:solidFill>
                            <a:srgbClr val="1F2937"/>
                          </a:solidFill>
                        </a:rPr>
                        <a:t>Tibbiy kasbiy assotsiatsiyalar qo‘mitasi</a:t>
                      </a:r>
                    </a:p>
                  </a:txBody>
                  <a:tcPr marL="73152" marR="73152" marT="36576" marB="36576">
                    <a:solidFill>
                      <a:srgbClr val="FFFFFF"/>
                    </a:solidFill>
                  </a:tcPr>
                </a:tc>
              </a:tr>
              <a:tr h="614476">
                <a:tc>
                  <a:txBody>
                    <a:bodyPr/>
                    <a:lstStyle/>
                    <a:p>
                      <a:r>
                        <a:rPr sz="1700" b="0">
                          <a:solidFill>
                            <a:srgbClr val="1F2937"/>
                          </a:solidFill>
                        </a:rPr>
                        <a:t>3-tur</a:t>
                      </a:r>
                    </a:p>
                  </a:txBody>
                  <a:tcPr marL="73152" marR="73152" marT="36576" marB="36576">
                    <a:solidFill>
                      <a:srgbClr val="E8EEF6"/>
                    </a:solidFill>
                  </a:tcPr>
                </a:tc>
                <a:tc>
                  <a:txBody>
                    <a:bodyPr/>
                    <a:lstStyle/>
                    <a:p>
                      <a:r>
                        <a:rPr sz="1700" b="0">
                          <a:solidFill>
                            <a:srgbClr val="1F2937"/>
                          </a:solidFill>
                        </a:rPr>
                        <a:t>Tibbiy muassasalar bioetika qo‘mitasi</a:t>
                      </a:r>
                    </a:p>
                  </a:txBody>
                  <a:tcPr marL="73152" marR="73152" marT="36576" marB="36576">
                    <a:solidFill>
                      <a:srgbClr val="E8EEF6"/>
                    </a:solidFill>
                  </a:tcPr>
                </a:tc>
              </a:tr>
              <a:tr h="614476">
                <a:tc>
                  <a:txBody>
                    <a:bodyPr/>
                    <a:lstStyle/>
                    <a:p>
                      <a:r>
                        <a:rPr sz="1700" b="0">
                          <a:solidFill>
                            <a:srgbClr val="1F2937"/>
                          </a:solidFill>
                        </a:rPr>
                        <a:t>4-tur</a:t>
                      </a:r>
                    </a:p>
                  </a:txBody>
                  <a:tcPr marL="73152" marR="73152" marT="36576" marB="36576">
                    <a:solidFill>
                      <a:srgbClr val="FFFFFF"/>
                    </a:solidFill>
                  </a:tcPr>
                </a:tc>
                <a:tc>
                  <a:txBody>
                    <a:bodyPr/>
                    <a:lstStyle/>
                    <a:p>
                      <a:r>
                        <a:rPr sz="1700" b="0">
                          <a:solidFill>
                            <a:srgbClr val="1F2937"/>
                          </a:solidFill>
                        </a:rPr>
                        <a:t>Ilmiy tadqiqot bioetikasi qo‘mitasi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YUNESKO bo‘yicha 4 tur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152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Qo‘mita darajalari va mamlakatlar tajribasi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Milliy qo‘mita siyosat asoslarini, regional qo‘mita mintaqa muammolarini, mahalliy qo‘mita amaliy yordam va ilmiy loyihalarning etik jihatlarini ko‘radi.</a:t>
            </a:r>
          </a:p>
          <a:p>
            <a:pPr>
              <a:spcAft>
                <a:spcPts val="1200"/>
              </a:spcAft>
            </a:pPr>
            <a:r>
              <a:rPr sz="2000">
                <a:solidFill>
                  <a:srgbClr val="1F2937"/>
                </a:solidFill>
                <a:latin typeface="Calibri"/>
              </a:rPr>
              <a:t>▸  Tuzilishi turlicha: AQShda Kongress Prezident komissiyasini, Fransiyada Prezident farmoni milliy qo‘mitani, Shvetsiyada hukumat qo‘mitani tuzgan.</a:t>
            </a:r>
          </a:p>
          <a:p>
            <a:pPr>
              <a:spcAft>
                <a:spcPts val="1200"/>
              </a:spcAft>
            </a:pPr>
            <a:r>
              <a:rPr sz="2000">
                <a:solidFill>
                  <a:srgbClr val="1F2937"/>
                </a:solidFill>
                <a:latin typeface="Calibri"/>
              </a:rPr>
              <a:t>▸  Fransiya — tadqiqotlardagi axloqiy muammolar, Italiya — biotexnologiya xavfsizligi, Polsha — qonunlarni etik baholash. Rossiyada qo‘mitalar 1987-yildan, asosan ilmiy tadqiqotlar bilan.</a:t>
            </a:r>
          </a:p>
          <a:p>
            <a:pPr>
              <a:spcAft>
                <a:spcPts val="1200"/>
              </a:spcAft>
            </a:pPr>
            <a:r>
              <a:rPr sz="2000">
                <a:solidFill>
                  <a:srgbClr val="1F2937"/>
                </a:solidFill>
                <a:latin typeface="Calibri"/>
              </a:rPr>
              <a:t>▸  Zamonaviy bioetika 6 qismdan iborat: akademik bioetika, sog‘liqni saqlash idoralari qo‘mitalari, muassasa komissiyalari, kasbiy uyushmalar, bemorlar birlashmalari, ijtimoiy harakatlar.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153, 152-153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Qo‘mita tamoyillari va ikki model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Tamoyillar: mustaqillik, fanlararolik, oshkoralik, plyuralizm (turli fikrlarni inobatga olish).</a:t>
            </a:r>
          </a:p>
          <a:p>
            <a:pPr>
              <a:spcAft>
                <a:spcPts val="800"/>
              </a:spcAft>
            </a:pPr>
            <a:r>
              <a:rPr sz="1800">
                <a:solidFill>
                  <a:srgbClr val="1F2937"/>
                </a:solidFill>
                <a:latin typeface="Calibri"/>
              </a:rPr>
              <a:t>▸  JSST (Jahon sog‘liqni saqlash tashkiloti) qo‘llanmasi (2000) qo‘mita tarkibi va ekspertiza tartibini beradi.</a:t>
            </a:r>
          </a:p>
          <a:p>
            <a:pPr>
              <a:spcAft>
                <a:spcPts val="800"/>
              </a:spcAft>
            </a:pPr>
            <a:r>
              <a:rPr sz="1800">
                <a:solidFill>
                  <a:srgbClr val="1F2937"/>
                </a:solidFill>
                <a:latin typeface="Calibri"/>
              </a:rPr>
              <a:t>▸  SOP — standart operatsion protsedura: qo‘mita ishining qadamlari tartibi.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2108050"/>
                <a:gridCol w="1842614"/>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Amerika</a:t>
                      </a:r>
                    </a:p>
                  </a:txBody>
                  <a:tcPr marL="73152" marR="73152" marT="36576" marB="36576">
                    <a:solidFill>
                      <a:srgbClr val="0B1F3A"/>
                    </a:solidFill>
                  </a:tcPr>
                </a:tc>
                <a:tc>
                  <a:txBody>
                    <a:bodyPr/>
                    <a:lstStyle/>
                    <a:p>
                      <a:r>
                        <a:rPr sz="1600" b="1">
                          <a:solidFill>
                            <a:srgbClr val="FFFFFF"/>
                          </a:solidFill>
                        </a:rPr>
                        <a:t>Yevropa</a:t>
                      </a:r>
                    </a:p>
                  </a:txBody>
                  <a:tcPr marL="73152" marR="73152" marT="36576" marB="36576">
                    <a:solidFill>
                      <a:srgbClr val="0B1F3A"/>
                    </a:solidFill>
                  </a:tcPr>
                </a:tc>
              </a:tr>
              <a:tr h="768096">
                <a:tc>
                  <a:txBody>
                    <a:bodyPr/>
                    <a:lstStyle/>
                    <a:p>
                      <a:r>
                        <a:rPr sz="1500" b="0">
                          <a:solidFill>
                            <a:srgbClr val="1F2937"/>
                          </a:solidFill>
                        </a:rPr>
                        <a:t>Rasmiylik</a:t>
                      </a:r>
                    </a:p>
                  </a:txBody>
                  <a:tcPr marL="73152" marR="73152" marT="36576" marB="36576">
                    <a:solidFill>
                      <a:srgbClr val="E8EEF6"/>
                    </a:solidFill>
                  </a:tcPr>
                </a:tc>
                <a:tc>
                  <a:txBody>
                    <a:bodyPr/>
                    <a:lstStyle/>
                    <a:p>
                      <a:r>
                        <a:rPr sz="1500" b="0">
                          <a:solidFill>
                            <a:srgbClr val="1F2937"/>
                          </a:solidFill>
                        </a:rPr>
                        <a:t>Rasmiyroq, qonun bilan belgilangan</a:t>
                      </a:r>
                    </a:p>
                  </a:txBody>
                  <a:tcPr marL="73152" marR="73152" marT="36576" marB="36576">
                    <a:solidFill>
                      <a:srgbClr val="E8EEF6"/>
                    </a:solidFill>
                  </a:tcPr>
                </a:tc>
                <a:tc>
                  <a:txBody>
                    <a:bodyPr/>
                    <a:lstStyle/>
                    <a:p>
                      <a:r>
                        <a:rPr sz="1500" b="0">
                          <a:solidFill>
                            <a:srgbClr val="1F2937"/>
                          </a:solidFill>
                        </a:rPr>
                        <a:t>Nisbatan norasmiy</a:t>
                      </a:r>
                    </a:p>
                  </a:txBody>
                  <a:tcPr marL="73152" marR="73152" marT="36576" marB="36576">
                    <a:solidFill>
                      <a:srgbClr val="E8EEF6"/>
                    </a:solidFill>
                  </a:tcPr>
                </a:tc>
              </a:tr>
              <a:tr h="768096">
                <a:tc>
                  <a:txBody>
                    <a:bodyPr/>
                    <a:lstStyle/>
                    <a:p>
                      <a:r>
                        <a:rPr sz="1500" b="0">
                          <a:solidFill>
                            <a:srgbClr val="1F2937"/>
                          </a:solidFill>
                        </a:rPr>
                        <a:t>Qarorlar</a:t>
                      </a:r>
                    </a:p>
                  </a:txBody>
                  <a:tcPr marL="73152" marR="73152" marT="36576" marB="36576">
                    <a:solidFill>
                      <a:srgbClr val="FFFFFF"/>
                    </a:solidFill>
                  </a:tcPr>
                </a:tc>
                <a:tc>
                  <a:txBody>
                    <a:bodyPr/>
                    <a:lstStyle/>
                    <a:p>
                      <a:r>
                        <a:rPr sz="1500" b="0">
                          <a:solidFill>
                            <a:srgbClr val="1F2937"/>
                          </a:solidFill>
                        </a:rPr>
                        <a:t>Majburiy xususiyatda</a:t>
                      </a:r>
                    </a:p>
                  </a:txBody>
                  <a:tcPr marL="73152" marR="73152" marT="36576" marB="36576">
                    <a:solidFill>
                      <a:srgbClr val="FFFFFF"/>
                    </a:solidFill>
                  </a:tcPr>
                </a:tc>
                <a:tc>
                  <a:txBody>
                    <a:bodyPr/>
                    <a:lstStyle/>
                    <a:p>
                      <a:r>
                        <a:rPr sz="1500" b="0">
                          <a:solidFill>
                            <a:srgbClr val="1F2937"/>
                          </a:solidFill>
                        </a:rPr>
                        <a:t>Ko‘proq tavsiya xususiyatida</a:t>
                      </a:r>
                    </a:p>
                  </a:txBody>
                  <a:tcPr marL="73152" marR="73152" marT="36576" marB="36576">
                    <a:solidFill>
                      <a:srgbClr val="FFFFFF"/>
                    </a:solidFill>
                  </a:tcPr>
                </a:tc>
              </a:tr>
              <a:tr h="768096">
                <a:tc>
                  <a:txBody>
                    <a:bodyPr/>
                    <a:lstStyle/>
                    <a:p>
                      <a:r>
                        <a:rPr sz="1500" b="0">
                          <a:solidFill>
                            <a:srgbClr val="1F2937"/>
                          </a:solidFill>
                        </a:rPr>
                        <a:t>Huquq</a:t>
                      </a:r>
                    </a:p>
                  </a:txBody>
                  <a:tcPr marL="73152" marR="73152" marT="36576" marB="36576">
                    <a:solidFill>
                      <a:srgbClr val="E8EEF6"/>
                    </a:solidFill>
                  </a:tcPr>
                </a:tc>
                <a:tc>
                  <a:txBody>
                    <a:bodyPr/>
                    <a:lstStyle/>
                    <a:p>
                      <a:r>
                        <a:rPr sz="1500" b="0">
                          <a:solidFill>
                            <a:srgbClr val="1F2937"/>
                          </a:solidFill>
                        </a:rPr>
                        <a:t>Taqiqlash huquqiga ega</a:t>
                      </a:r>
                    </a:p>
                  </a:txBody>
                  <a:tcPr marL="73152" marR="73152" marT="36576" marB="36576">
                    <a:solidFill>
                      <a:srgbClr val="E8EEF6"/>
                    </a:solidFill>
                  </a:tcPr>
                </a:tc>
                <a:tc>
                  <a:txBody>
                    <a:bodyPr/>
                    <a:lstStyle/>
                    <a:p>
                      <a:r>
                        <a:rPr sz="1500" b="0">
                          <a:solidFill>
                            <a:srgbClr val="1F2937"/>
                          </a:solidFill>
                        </a:rPr>
                        <a:t>Asosan tavsiya beradi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Amerika va Yevropa modeli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154, 154-155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etika qo‘mitalari va faoliyat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Dastlabki bioetika qo‘mitasi Sog‘liqni saqlash vazirligi huzurida tuzilgan; birinchi rahbari akademik M.S. Abdullaxujayeva bo‘lgan.</a:t>
            </a:r>
          </a:p>
          <a:p>
            <a:pPr>
              <a:spcAft>
                <a:spcPts val="1200"/>
              </a:spcAft>
            </a:pPr>
            <a:r>
              <a:rPr sz="2200">
                <a:solidFill>
                  <a:srgbClr val="1F2937"/>
                </a:solidFill>
                <a:latin typeface="Calibri"/>
              </a:rPr>
              <a:t>▸  Keyinroq shunday tuzilma Ibn Sino nomli Xalqaro jamg‘armada ham tashkil etilgan.</a:t>
            </a:r>
          </a:p>
          <a:p>
            <a:pPr>
              <a:spcAft>
                <a:spcPts val="1200"/>
              </a:spcAft>
            </a:pPr>
            <a:r>
              <a:rPr sz="2200">
                <a:solidFill>
                  <a:srgbClr val="1F2937"/>
                </a:solidFill>
                <a:latin typeface="Calibri"/>
              </a:rPr>
              <a:t>▸  Hududiy va mahalliy idoralar, davolash muassasalari, ilmiy tashkilotlardagi etika qo‘mitalari faoliyati haqida ma’lumot yo‘q.</a:t>
            </a:r>
          </a:p>
          <a:p>
            <a:pPr>
              <a:spcAft>
                <a:spcPts val="1200"/>
              </a:spcAft>
            </a:pPr>
            <a:r>
              <a:rPr sz="2200">
                <a:solidFill>
                  <a:srgbClr val="1F2937"/>
                </a:solidFill>
                <a:latin typeface="Calibri"/>
              </a:rPr>
              <a:t>▸  Sog‘liqni saqlash idoralari qo‘mitalari yo‘nalishlari: davolash, klinik sinovlar, ta’lim, qonunchilik, xizmatni tashkil etish, ijtimoiy-huquqiy, ekologik masalalar.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153-154, 154, 155-156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 maslahat: 3 model va 3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Individual maslahatni bitta konsultant beradi. Undan keng bilim va tajriba talab etiladi.</a:t>
            </a:r>
          </a:p>
          <a:p>
            <a:pPr>
              <a:spcAft>
                <a:spcPts val="800"/>
              </a:spcAft>
            </a:pPr>
            <a:r>
              <a:rPr sz="1800">
                <a:solidFill>
                  <a:srgbClr val="1F2937"/>
                </a:solidFill>
                <a:latin typeface="Calibri"/>
              </a:rPr>
              <a:t>▸  Natijasiga ko‘ra uch yondashuv bor: ma’lumot beruvchi, vositachi (kelishuvga yo‘naltiruvchi) va qat’iy yondashuv.</a:t>
            </a:r>
          </a:p>
          <a:p>
            <a:pPr>
              <a:spcAft>
                <a:spcPts val="800"/>
              </a:spcAft>
            </a:pPr>
            <a:r>
              <a:rPr sz="1800">
                <a:solidFill>
                  <a:srgbClr val="1F2937"/>
                </a:solidFill>
                <a:latin typeface="Calibri"/>
              </a:rPr>
              <a:t>▸  AQSh tajribasida kichik guruh modeli ko‘proq qo‘llanadi va ko‘p holatda eng maqbul hisoblanadi.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55420"/>
                <a:gridCol w="1872336"/>
                <a:gridCol w="1960218"/>
              </a:tblGrid>
              <a:tr h="768096">
                <a:tc>
                  <a:txBody>
                    <a:bodyPr/>
                    <a:lstStyle/>
                    <a:p>
                      <a:r>
                        <a:rPr sz="1600" b="1">
                          <a:solidFill>
                            <a:srgbClr val="FFFFFF"/>
                          </a:solidFill>
                        </a:rPr>
                        <a:t>Model</a:t>
                      </a:r>
                    </a:p>
                  </a:txBody>
                  <a:tcPr marL="73152" marR="73152" marT="36576" marB="36576">
                    <a:solidFill>
                      <a:srgbClr val="0B1F3A"/>
                    </a:solidFill>
                  </a:tcPr>
                </a:tc>
                <a:tc>
                  <a:txBody>
                    <a:bodyPr/>
                    <a:lstStyle/>
                    <a:p>
                      <a:r>
                        <a:rPr sz="1600" b="1">
                          <a:solidFill>
                            <a:srgbClr val="FFFFFF"/>
                          </a:solidFill>
                        </a:rPr>
                        <a:t>Afzallik</a:t>
                      </a:r>
                    </a:p>
                  </a:txBody>
                  <a:tcPr marL="73152" marR="73152" marT="36576" marB="36576">
                    <a:solidFill>
                      <a:srgbClr val="0B1F3A"/>
                    </a:solidFill>
                  </a:tcPr>
                </a:tc>
                <a:tc>
                  <a:txBody>
                    <a:bodyPr/>
                    <a:lstStyle/>
                    <a:p>
                      <a:r>
                        <a:rPr sz="1600" b="1">
                          <a:solidFill>
                            <a:srgbClr val="FFFFFF"/>
                          </a:solidFill>
                        </a:rPr>
                        <a:t>Kamchilik</a:t>
                      </a:r>
                    </a:p>
                  </a:txBody>
                  <a:tcPr marL="73152" marR="73152" marT="36576" marB="36576">
                    <a:solidFill>
                      <a:srgbClr val="0B1F3A"/>
                    </a:solidFill>
                  </a:tcPr>
                </a:tc>
              </a:tr>
              <a:tr h="768096">
                <a:tc>
                  <a:txBody>
                    <a:bodyPr/>
                    <a:lstStyle/>
                    <a:p>
                      <a:r>
                        <a:rPr sz="1500" b="0">
                          <a:solidFill>
                            <a:srgbClr val="1F2937"/>
                          </a:solidFill>
                        </a:rPr>
                        <a:t>Individual</a:t>
                      </a:r>
                    </a:p>
                  </a:txBody>
                  <a:tcPr marL="73152" marR="73152" marT="36576" marB="36576">
                    <a:solidFill>
                      <a:srgbClr val="E8EEF6"/>
                    </a:solidFill>
                  </a:tcPr>
                </a:tc>
                <a:tc>
                  <a:txBody>
                    <a:bodyPr/>
                    <a:lstStyle/>
                    <a:p>
                      <a:r>
                        <a:rPr sz="1500" b="0">
                          <a:solidFill>
                            <a:srgbClr val="1F2937"/>
                          </a:solidFill>
                        </a:rPr>
                        <a:t>Shoshilinch holatda qulay</a:t>
                      </a:r>
                    </a:p>
                  </a:txBody>
                  <a:tcPr marL="73152" marR="73152" marT="36576" marB="36576">
                    <a:solidFill>
                      <a:srgbClr val="E8EEF6"/>
                    </a:solidFill>
                  </a:tcPr>
                </a:tc>
                <a:tc>
                  <a:txBody>
                    <a:bodyPr/>
                    <a:lstStyle/>
                    <a:p>
                      <a:r>
                        <a:rPr sz="1500" b="0">
                          <a:solidFill>
                            <a:srgbClr val="1F2937"/>
                          </a:solidFill>
                        </a:rPr>
                        <a:t>Subyektivlik belgisi bo‘lishi mumkin</a:t>
                      </a:r>
                    </a:p>
                  </a:txBody>
                  <a:tcPr marL="73152" marR="73152" marT="36576" marB="36576">
                    <a:solidFill>
                      <a:srgbClr val="E8EEF6"/>
                    </a:solidFill>
                  </a:tcPr>
                </a:tc>
              </a:tr>
              <a:tr h="768096">
                <a:tc>
                  <a:txBody>
                    <a:bodyPr/>
                    <a:lstStyle/>
                    <a:p>
                      <a:r>
                        <a:rPr sz="1500" b="0">
                          <a:solidFill>
                            <a:srgbClr val="1F2937"/>
                          </a:solidFill>
                        </a:rPr>
                        <a:t>Kichik guruh</a:t>
                      </a:r>
                    </a:p>
                  </a:txBody>
                  <a:tcPr marL="73152" marR="73152" marT="36576" marB="36576">
                    <a:solidFill>
                      <a:srgbClr val="FFFFFF"/>
                    </a:solidFill>
                  </a:tcPr>
                </a:tc>
                <a:tc>
                  <a:txBody>
                    <a:bodyPr/>
                    <a:lstStyle/>
                    <a:p>
                      <a:r>
                        <a:rPr sz="1500" b="0">
                          <a:solidFill>
                            <a:srgbClr val="1F2937"/>
                          </a:solidFill>
                        </a:rPr>
                        <a:t>Oddiy holatda tezkor, ishonchliroq</a:t>
                      </a:r>
                    </a:p>
                  </a:txBody>
                  <a:tcPr marL="73152" marR="73152" marT="36576" marB="36576">
                    <a:solidFill>
                      <a:srgbClr val="FFFFFF"/>
                    </a:solidFill>
                  </a:tcPr>
                </a:tc>
                <a:tc>
                  <a:txBody>
                    <a:bodyPr/>
                    <a:lstStyle/>
                    <a:p>
                      <a:r>
                        <a:rPr sz="1500" b="0">
                          <a:solidFill>
                            <a:srgbClr val="1F2937"/>
                          </a:solidFill>
                        </a:rPr>
                        <a:t>Subyektivlik to‘liq istisno bo‘lmaydi</a:t>
                      </a:r>
                    </a:p>
                  </a:txBody>
                  <a:tcPr marL="73152" marR="73152" marT="36576" marB="36576">
                    <a:solidFill>
                      <a:srgbClr val="FFFFFF"/>
                    </a:solidFill>
                  </a:tcPr>
                </a:tc>
              </a:tr>
              <a:tr h="768096">
                <a:tc>
                  <a:txBody>
                    <a:bodyPr/>
                    <a:lstStyle/>
                    <a:p>
                      <a:r>
                        <a:rPr sz="1500" b="0">
                          <a:solidFill>
                            <a:srgbClr val="1F2937"/>
                          </a:solidFill>
                        </a:rPr>
                        <a:t>Etika qo‘mitasi</a:t>
                      </a:r>
                    </a:p>
                  </a:txBody>
                  <a:tcPr marL="73152" marR="73152" marT="36576" marB="36576">
                    <a:solidFill>
                      <a:srgbClr val="E8EEF6"/>
                    </a:solidFill>
                  </a:tcPr>
                </a:tc>
                <a:tc>
                  <a:txBody>
                    <a:bodyPr/>
                    <a:lstStyle/>
                    <a:p>
                      <a:r>
                        <a:rPr sz="1500" b="0">
                          <a:solidFill>
                            <a:srgbClr val="1F2937"/>
                          </a:solidFill>
                        </a:rPr>
                        <a:t>Eng ishonchli, asoslangan xulosa</a:t>
                      </a:r>
                    </a:p>
                  </a:txBody>
                  <a:tcPr marL="73152" marR="73152" marT="36576" marB="36576">
                    <a:solidFill>
                      <a:srgbClr val="E8EEF6"/>
                    </a:solidFill>
                  </a:tcPr>
                </a:tc>
                <a:tc>
                  <a:txBody>
                    <a:bodyPr/>
                    <a:lstStyle/>
                    <a:p>
                      <a:r>
                        <a:rPr sz="1500" b="0">
                          <a:solidFill>
                            <a:srgbClr val="1F2937"/>
                          </a:solidFill>
                        </a:rPr>
                        <a:t>Tashkil etish vaqt talab qiladi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Etik maslahat modellari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156, 157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etik nizoni hal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1-holat: shifoxonada shoshilinch vaziyatda etik ikkilanish paydo bo‘ldi va qaror zudlik bilan kerak.</a:t>
            </a:r>
          </a:p>
          <a:p>
            <a:pPr>
              <a:spcAft>
                <a:spcPts val="1200"/>
              </a:spcAft>
            </a:pPr>
            <a:r>
              <a:rPr sz="2200">
                <a:solidFill>
                  <a:srgbClr val="1F2937"/>
                </a:solidFill>
                <a:latin typeface="Calibri"/>
              </a:rPr>
              <a:t>▸  2-holat: bemor yaqinlari va shifokorlar o‘rtasida qadriyatlar bo‘yicha murakkab nizo cho‘zilmoqda, vaqt bor.</a:t>
            </a:r>
          </a:p>
          <a:p>
            <a:pPr>
              <a:spcAft>
                <a:spcPts val="1200"/>
              </a:spcAft>
            </a:pPr>
            <a:r>
              <a:rPr sz="2200">
                <a:solidFill>
                  <a:srgbClr val="1F2937"/>
                </a:solidFill>
                <a:latin typeface="Calibri"/>
              </a:rPr>
              <a:t>▸  Manbaga ko‘ra: shoshilinchda individual maslahat qulay, murakkab nizoda etika qo‘mitasi ishonchliroq, ammo vaqt talab qiladi.</a:t>
            </a:r>
          </a:p>
          <a:p>
            <a:pPr>
              <a:spcAft>
                <a:spcPts val="1200"/>
              </a:spcAft>
            </a:pPr>
            <a:r>
              <a:rPr sz="2200">
                <a:solidFill>
                  <a:srgbClr val="1F2937"/>
                </a:solidFill>
                <a:latin typeface="Calibri"/>
              </a:rPr>
              <a:t>▸  Savol: har ikki holatda qaysi model va qaysi yondashuv (ma’lumot beruvchi, vositachi, qat’iy) mos keladi? Asoslang.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156, 156-157, 157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takomillashtirish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Konstitutsiyaning 40-moddasi malakali tibbiy xizmat huquqini kafolatlaydi. Lissabon deklaratsiyasi bemor huquqlarining 11 tamoyilini beradi.</a:t>
            </a:r>
          </a:p>
          <a:p>
            <a:pPr>
              <a:spcAft>
                <a:spcPts val="1200"/>
              </a:spcAft>
            </a:pPr>
            <a:r>
              <a:rPr sz="2200">
                <a:solidFill>
                  <a:srgbClr val="1F2937"/>
                </a:solidFill>
                <a:latin typeface="Calibri"/>
              </a:rPr>
              <a:t>▸  “Fuqarolar sog‘lig‘ini saqlash to‘g‘risida”gi qonunning 24-moddasi bemor huquqlarini beradi va deklaratsiyaga asosan mos keladi.</a:t>
            </a:r>
          </a:p>
          <a:p>
            <a:pPr>
              <a:spcAft>
                <a:spcPts val="1200"/>
              </a:spcAft>
            </a:pPr>
            <a:r>
              <a:rPr sz="2200">
                <a:solidFill>
                  <a:srgbClr val="1F2937"/>
                </a:solidFill>
                <a:latin typeface="Calibri"/>
              </a:rPr>
              <a:t>▸  Qonun hujjatlarida bemorlarning majburiyatlari, shifokorlarning huquqlari va ularni himoya qilish ham aks etishi zarur.</a:t>
            </a:r>
          </a:p>
          <a:p>
            <a:pPr>
              <a:spcAft>
                <a:spcPts val="1200"/>
              </a:spcAft>
            </a:pPr>
            <a:r>
              <a:rPr sz="2200">
                <a:solidFill>
                  <a:srgbClr val="1F2937"/>
                </a:solidFill>
                <a:latin typeface="Calibri"/>
              </a:rPr>
              <a:t>▸  Har bir sog‘liqni saqlash idorasi va muassasasida etika tuzilmasi bo‘lishi maqsadga muvofiq: u muammolarni o‘z vaqtida o‘rganadi.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39-40, 42-43, 49, 157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Bemor huquqlari harakati XX asrning 70-yillarida boshlangan. 1972 yilda Amerika kasalxonalar assotsiatsiyasi birinchi bo‘lib “Bemor huquqlari to‘g‘risida Bill”ni qabul qilgan. 1981 yilda Jahon tibbiyot assotsiatsiyasi Lissabon deklaratsiyasini qabul qildi (1995 yilda o‘zgartirilgan), unda 11 ta prinsip bor. O‘zbekistonning sog‘liqni saqlash qonunchiligi ham shu deklaratsiyani inobatga olgan.</a:t>
            </a:r>
          </a:p>
          <a:p>
            <a:pPr>
              <a:spcAft>
                <a:spcPts val="1200"/>
              </a:spcAft>
            </a:pPr>
            <a:r>
              <a:rPr sz="1800">
                <a:solidFill>
                  <a:srgbClr val="1F2937"/>
                </a:solidFill>
                <a:latin typeface="Calibri"/>
              </a:rPr>
              <a:t>▸  Hodisa tahlili: so‘z tanlash bemorga ta’sir qiladi. Oshqozon saratoni gumon qilinib operatsiya qilingan bemorda saraton topilmasa, “Siz bekorga operatsiya qilindingiz” demaslik kerak. Manbadagi tavsiya: “Baxtli inson ekansiz, sizda rak yo‘q”. Shuningdek, “besh bemordan ikkitasi o‘ladi” o‘rniga “uchtasi tuzaladi” deyish tavsiya etilgan. Savol: bu haqiqatni yashirishmi yoki muloqot madaniyati?</a:t>
            </a:r>
          </a:p>
          <a:p>
            <a:pPr>
              <a:spcAft>
                <a:spcPts val="1200"/>
              </a:spcAft>
            </a:pPr>
            <a:r>
              <a:rPr sz="1800">
                <a:solidFill>
                  <a:srgbClr val="1F2937"/>
                </a:solidFill>
                <a:latin typeface="Calibri"/>
              </a:rPr>
              <a:t>▸  Eslab qolish usuli (o‘qituvchi uchun, manba mazmuniga tayangan): bemor huquqlari uch guruhga bo‘linadi. Asosiy: rozilik, rad etish, ma’lumot olish, shifokor siri. Qo‘shimcha (fakultativ): maslahat, advokat, og‘riqni yengillashtirish, diniy xodim. Tashkiliy (kontekstual): shifokorni tanlash, sanitariya sharoiti, zararning qoplanishi. “Asosiy – birinchi navbatda; qo‘shimcha – ba’zan ta’minlanmasligi mumkin.”</a:t>
            </a:r>
          </a:p>
          <a:p>
            <a:pPr>
              <a:spcAft>
                <a:spcPts val="1200"/>
              </a:spcAft>
            </a:pPr>
            <a:r>
              <a:rPr sz="1800">
                <a:solidFill>
                  <a:srgbClr val="1F2937"/>
                </a:solidFill>
                <a:latin typeface="Calibri"/>
              </a:rPr>
              <a:t>▸  Etika qo‘mitalarining ikki modeli: Amerika modeli rasmiyroq, faoliyati qonun bilan belgilanadi, qo‘mita taqiqlash huquqiga ega va qarorlari majburiy. Yevropa modeli norasmiyroq, qarorlari ko‘proq tavsiya xarakterida. Eslab qolish: “Amerika – majburiy, Yevropa – tavsiya”. Qo‘mita prinsiplari: mustaqillik, fanlararolik, oshkoralik, plyuralizm.</a:t>
            </a:r>
          </a:p>
          <a:p>
            <a:pPr>
              <a:spcAft>
                <a:spcPts val="1200"/>
              </a:spcAft>
            </a:pPr>
            <a:r>
              <a:rPr sz="1800">
                <a:solidFill>
                  <a:srgbClr val="1F2937"/>
                </a:solidFill>
                <a:latin typeface="Calibri"/>
              </a:rPr>
              <a:t>▸  Etika tuzilmalari g‘oyasi birinchi marta Nyurnberg jarayonida, natsist shifokorlarning jinoyatlari ko‘rib chiqilganda paydo bo‘lgan. Tajribalarda odamlarni himoya qilish zarurligi shunda anglangan. Keyinroq Taskidji tadqiqotlarining oshkor bo‘lishi bu masalaning naqadar dolzarbligini tasdiqlagan. Dastlabki etika qo‘mitalari 1960-yillarda AQShda tashkil etilgan.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Xalqaro jamoat tashkilotlari (Qizil Xoch, Chegara bilmas shifokorlar va b.) va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Indiaminov S.I. Bioetika (o‘quv qo‘llanma), Samarqand. 2022. IV va XV boblar, kitob betlari 38-50; 151-158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