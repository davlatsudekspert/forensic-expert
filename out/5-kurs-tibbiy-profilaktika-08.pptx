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nima uchun zaharlanishlar amaliyotda tez-tez uchraydi? Sud tibbiyoti fanining toksikologiyadan boshlanishi nimani anglatadi? Doskaga: zo‘raki o‘lim sabablarini 1-2-3 o‘rin bo‘yicha yozdiring. Tipik xato: zaharlanishni birinchi o‘ringa qo‘yish.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dori qaysi holatda zaharga aylanadi? Kundalik hayotdan nisbiylikka misol keltiring. Doskaga: «modda → doza → dori yoki zahar» chizing. Tipik xato: ayrim moddalarni mutlaq zahar yoki mutlaq zararsiz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nima uchun sud-tibbiy toksikologiyaning maqsadi boshqa turlardan farq qiladi? Bir hodisada klinik va sud-tibbiy yondashuvni solishtiring. Doskaga: jadvalni daftarga ko‘chirtiring. Tipik xato: sud-tibbiy toksikologiyani faqat davolash fani deb tushunish.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Nima uchun baxtsiz hodisalar ko‘p uchraydi? 2) Yatrogen zaharlanishni qaysi turga kiritamiz? Doskada jadvalni chizdiring: tur — qasd bor/yo‘q — uchrash tartibi. Tipik xato: ‘zaharlanishda asosiy tur — qotillik’ deb o‘ylash; aslida u kamdan-kam uchraydi.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Talabalarga vaziyatni o‘qing, 1 daqiqa o‘ylashga bering. Muhokama: 1) Qasd bo‘lmasa, nega bu hodisa baribir sud-tibbiy ahamiyatga ega? 2) Dori dozasi xatosi va dori almashtirilishi farqi nimada? Doskada ‘qasd — tur’ juftliklarini yozdiring. Tipik xato: yatrogen zaharlanishni qasddan sodir etilgan deb baholash.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bir xil doza bolada va kattada har xil ta’sir qiladi? 2) Alkogol yoki is gazida yopiq muhit nimaga xavfli? Doskada to‘rt omilni kvadrat sxema qilib chizdiring va har biriga bittadan misol yozdiring. Tipik xato: faqat modda dozasini hisobga olib, organizm va tashqi sharoitni unutish.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kimyoviy tarkibi o‘xshash is gazi va karbonat angidridning toksikligi har xil? 2) Fenolning konsentrlangan va suyultirilgan eritmasi nega turlicha ta’sir qiladi? Doskada chizish: uch pog‘onali doza zinasi (terapevtik – toksik – letal). Diqqat: xato qilish xavfi: is gazi ≠ karbonat angidrid; kimyoviy formulasi o‘xshashligi toksikligi ham o‘xshash degani emas. Tipik xato: talaba konsentratsiya va miqdorni bir tushuncha deb hisoblaydi.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bariy sulfat bemorga xavfsiz, bariy xlorid esa xavfli? 2) Yog‘da eruvchanlik kasbiy zaharlanishda nimani anglatadi? Doskada chizish: gaz &gt; suyuq &gt; qattiq strelkasi va ostiga "qonga o‘tish tezligi" deb yozing. Tipik xato: bariy tuzlarining ikkalasini ham bir xil zaharli deb hisoblash. Tezkor savol: qaysi modda shikastlanmagan teri orqali so‘riladi?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Zaharlanish holatida ichimlik yoki ovqatning tarkibi nega ekspertiza uchun muhim? 2) Kumulyatsiya nima uchun surunkali zaharlanishda xavfli? Doskada chizish: zahar → vexikulum → organizm zanjirini chizing. Tipik xato: margimush va sianidlarning kislotali/ishqoriy muhitdagi ta’sirini aralashtirish (margimush ishqoriyda kuchayadi, sianid kislotalida). Tezkor savol: yog‘li muhit qaysi guruh zaharlarini kuchaytiradi?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Muhokama: (1) Nega Paratsels “faqat doza zaharni dorigga aylantiradi” degan? (2) Bariy sulfat va bariy xlorid farqi nimada? Doskada: zaharli modda omillari ro‘yxatini 5 ta kalit so‘z bilan chizdiring. Tipik xato: kimyoviy tuzilishi o‘xshash moddalar toksikligi ham bir xil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bolalar zaharga sezgirroq? (2) To‘la oshqozon zahar ta’sirini qanday o‘zgartiradi? Doskada: organizm omillari 5 ta (massa, jins, yosh, salomatlik, oshqozon massasi) ro‘yxatini yozing. Tipik xato: jins farqini asosiy omil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Tolerantlik va bog‘liqlik qanday farqlanadi? (2) Nega xolinesteraza yetishmasa miorelaksantlar xavfliroq? Doskada: tolerantlik → dozani oshirish → bog‘liqlik → abstinensiya zanjirini chizing. Tipik xato: idiosinkraziyani oddiy allergiya yoki oddiy tolerantlik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yog‘da eruvchi modda butun teri orqali ham so‘riladi? 2) Nega nafas yo‘li orqali kirgan zahar oshqozondan kirganiga qaraganda kuchliroq? Doskada: zahar kirish yo‘llarini chizib, jigardan o‘tadigan va o‘tmaydigan yo‘llarni ikki rangda ajrating. Tipik xato: barcha yo‘llarni bir xil kuchli deb hisoblash; jigardan o‘tish farqini unutish.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Nima uchun doza tana vazniga bog‘lab hisoblanadi? 2) Sog‘lom va kasal odamda bir xil doza nega turlicha oqibat beradi? Doskada: to‘rt guruh omil (zahar, organizm, kirish yo‘li, tashqi sharoit) bo‘yicha vaziyatni jadvalga joylang. Diqqat: xato qilish xavfi — zahar mutlaq tushuncha emas, nisbiy; ta’sir dozaga va organizmga bog‘liq. Tipik xato: faqat zahar turiga e’tibor berib, organizm holatini inobatga olmaslik.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funksional zaharlarda murdada xos o‘zgarish bo‘lmasligi mumkin? 2) “Uch nuqta” qoidasi nimani anglatadi? Doskada: uch bosqichni zanjir shaklida chizing va har biriga bitta misol yozing. Tipik xato: faqat laboratoriya natijasiga tayanib, hodisa tafsilotlari va klinik ma’lumotlarni inobatga olmaslik.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Nega bir xil rangli dog‘ yagona dalil bo‘la olmaydi? 2) Mushak qotishining tez yoki sust bo‘lishi qaysi zaharlar guruhini farqlashga yordam beradi? Doskada: jadvalni ko‘chiring va yoniga hid ustunini qo‘shing. Tipik xato: is gazining pushti rangini sianidning yorqin olcha rangi bilan adashtirish.</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“Uch nuqta” nima uchun zarur? 2) Zahar manbai noma’lum bo‘lsa nega ko‘p ob’ekt olinadi? Doskada: “kirgan joy – ta’sir joyi – chiqqan joy” zanjirini yozing. Tipik xato: qonni boshqa ob’ektlar bilan bitta idishga solish. Chuqur chirishda 1,5-2,0 kg aralash massa (“o‘rta sinama”) olinishini eslating.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Avval javobni yashirib, talabalarga mustaqil yechtiring. Muhokama: 1) Zahar teri orqali kirsa ob’ektlar qanday o‘zgaradi? 2) Qaysi ob’ekt “chiqqan joy”ni bildiradi? Doskada: oshqozon – jigar – buyrak ketma-ketligini chizing. Tipik xato: faqat oshqozon massasini yuborish.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zaharning qonga tez o‘tishi toksik ta’sirni kuchaytiradi? 2) Metabolit nima uchun asl moddadan xavfliroq bo‘lishi mumkin? Doskada: zanjirni chizing, tagiga metanol va etilenglikol metabolitlarini yozing. Qo‘shimcha: yog‘da eruvchi moddalar miya, jigar, yog‘ to‘qimasida; margimush va qo‘rg‘oshin suyak, sochda to‘planadi. Tipik xato: toksikokinetika bilan toksikodinamikani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Nima uchun mahalliy zaharlar ham umumiy reaksiya chaqiradi? 2) Funksional zaharlarda murdada nega ko‘pincha xos o‘zgarish topilmaydi? Doskada: tasnif daraxtini chizing (mahalliy / umumiy → destruktiv, gemotrop, funksional). Tipik xato: mahalliy zaharda umumiy ta’sir umuman bo‘lmaydi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Talabalar juftlikda javob beradi, keyin o‘qituvchi tekshiradi. Muhokama: 1) Metabolit tushunchasini o‘z so‘zingiz bilan tushuntiring. 2) Funksional zaharlar tasnifda qaysi guruhga kiradi? Doskada: kinetika va dinamika farqini ikki ustunli jadvalda yozing. Tipik xato: biotransformatsiyani chiqarilish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Nega kislotada nekroz «quruq» bo‘ladi? 2) Erta va kech o‘lim sabablari qanday farqlanadi? Doskada: «H⁺ → suvsizlanish → oqsil ivishi → quruq nekroz → strup» zanjirini chizdiring. Tipik xato: kislota nekrozini ishqor nekrozi bilan aralashtirish. Eslab qolish yordami (o‘qituvchi tavsiyasi): kislota — quruq, ishqor — suyuq.</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daqiqa. Muhokama: 1) Sulfat kislotada nega perforatsiya ko‘proq? 2) Sirka kislotasida nega buyrak shikastlanadi? Doskada: jadvalni talabalar bilan to‘ldiring (kislota — rang — xususiyat). Diqqat: sirka kislotasi ≠ karbol kislotasi (sirka — gemoliz, karbol — nerv-protoplazmatik zahar, koma). Tipik xato: nitrat kislotada sarg‘ish rang hamma konsentratsiyada bo‘ladi deb o‘ylash (faqat &gt;30%). Tezkor savol: oshqozon shilliq qavati qo‘ng‘ir-qora bo‘lsa, qaysi kislota?</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Kislota va ishqor nekrozi qanday farqlanadi? 2) Nashatir spirtini alkogol bilan ichish nega xavfli? Doskada: ikki ustunli solishtirish (kislota — quruq, koagulyasion; ishqor — suyuq, kollikvatsion). Tipik xato: ammoniy gidroksidni kaliy/natriy gidroksid kabi kuchli mahalliy ta’sirli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Nega formalin zaharlanishida shilliq qavat o‘zgarmagan ko‘rinadi? 2) Vodorod peroksidda oshqozon yorilishi qanday tushuntiriladi? Doskada chizish: to‘rt modda va ularning murdadagi ayirt qiluvchi belgisini ro‘yxat qilib yozing. Tipik xato: talabalar barcha o‘yuvchi moddalarda bir xil kuyish manzarasi bo‘ladi deb o‘ylaydi.</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Birinchi murda qaysi zahardan va nima uchun? 2) Qaysi qo‘shimcha tekshiruv (sud-kimyoviy) tashxisni tasdiqlaydi? Doskada chizish: ikki ustunli solishtirma jadval (kislota va ishqor: nekroz turi, konsistensiya, rang). Tipik xato: kollikvatsion va koagulyasion nekrozni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Sulfgidril guruhlarini bog‘lash nega butun organizmga ta’sir qiladi? 2) Yo‘l bo‘yidagi qo‘ziqorinni iste’mol qilish qanday xavf tug‘diradi? Doskada chizish: mexanizm zanjiri (zahar, SH-guruh, ferment inaktivatsiyasi, to‘qima shikasti). Tipik xato: sof metallni (masalan, sof simob) og‘iz orqali ham zaharli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Nega organik simob bilan zaharlanishda stomatit bo‘lmaydi, ensefalopatiya esa yaqqol? 2) Simob murdada o‘nlab yil o‘tgach ham aniqlanishi ekspertiza uchun nimani anglatadi? Doskada: jadvalni talabalar bilan birga chizing va murda belgilarini (ichak, buyrak, og‘iz) yozing. Tipik xato: sulema (anorganik) va granozan (organik) belgilarini aralashtirish yoki sof simobni har doim zararsiz deb o‘ylash. Bug‘ va mayda dispers holatda simob nafas yo‘llari orqali kuchli zaharlaydi.</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Margimushning ichak va paralitik turi klinikada qanday farq qiladi? 2) Kumulyatsiya xususiyati toksikologik tekshiruvda qanday foyda beradi? Doskada: to‘rt moddaning xos belgilarini ustunlarga ajratib chizing. Tipik xato: toza margimush zaharli deb o‘ylash. Aslida toza holda suvda erimagani uchun zaharli emas, havoda oksidlanganda zaharli birikmalar hosil bo‘ladi (uch valentlilari besh valentlilardan zaharliroq).</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Nega o‘lim tez bo‘lganda yoki jabrlanganda toza havoda bo‘lgan holda karboksigemoglobin past yoki manfiy chiqishi mumkin? 2) Nima uchun kasalxonada qon namunasini iloji boricha erta olish kerak? Doskada: murdaning rangi va uch sinama natijalarini (normal qon va karboksigemoglobinli qon) yonma-yon chizing. Tipik xato: sinamalar natijasini teskari eslash. Normal qon ishqor yoki formaldegid bilan qo‘ng‘ir-qora bo‘ladi, karboksigemoglobinli qonda rang o‘zgarmaydi. Yashinsimon shaklda karboksigemoglobin faqat chap qorincha va aorta boshlang‘ich qismidagi qondan topilishi mumkin.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nitratlar nitritdan kuchsizroq? 2) Nega 1-2 kundan keyin qonda metgemoglobin topilmasligi mumkin? Doskada chizish: gemoglobin → metgemoglobin (Fe3+) → kislorod tashimaydi → gemik gipoksiya. Tipik xato: metgemoglobinni karboksigemoglobin bilan adashtirish.</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Dog‘ rangi nimani ko‘rsatadi va nima uchun yetarli emas? 2) Tasdiqlash uchun qaysi laboratoriya usullari kerak? Doskada chizish: ikki ustunli taqqoslash (rang, sinama, tasdiqlash). Tipik xato: faqat dog‘ rangiga qarab xulosa chiqarish.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sianidda qonda kislorod bor, lekin to‘qima gipoksiyasi rivojlanadi? 2) Nega kech o‘limda fosfororganik modda topilmasligi mumkin? Doskada chizish: zahar → ferment bloki → to‘qima nafasi yoki atsetilxolin to‘planishi. Tipik xato: sianid va fosfororganik zaharning nishonini (sitoxromoksidaza va xolinesteraza)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12 daqiqa. Muhokama: 1) Nega rezorbsiya va eliminatsiya davrida qon va siydikdagi spirt miqdori turlicha bo‘ladi? 2) Nega namunani imkon qadar erta olish kerak? Doskada chizing: etanol → atsetaldegid → sirka kislotasi → suv va karbonat angidrid zanjiri (p.157). Qo‘shimcha: atsetaldegid toksik, poxmele sindromini beradi (p.157). Murdada 5,0 promille va undan ko‘p spirt o‘lim sababi hisoblanadi (p.160). Tipik xato: Rappoport sinamasi musbat bo‘lsa ham, tish kariesi, o‘pkaning surunkali kasalliklari va qandli diabetda soxta musbat natija chiqishi mumkin (p.159). Shuning uchun uni qat’iy dalil deb bo‘lmaydi.</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12 daqiqa. Surrogat — etil spirtining o‘rnini bosuvchi ichimlik; unga metil, propil, butil, amil spirtlari, etilenglikol, denaturat, tetraetilqo‘rg‘oshin kiradi (p.161). Muhokama: 1) Metanolning ‘yashirin bosqichi’ nega xavfli? 2) Nima uchun metanol ko‘pincha etil spirti o‘rniga ichiladi? Doskada chizing: metanol → formaldegid + chumoli kislotasi sxemasi. Qo‘shimcha ma’lumot: propil spirti letal dozasi 300 ml, butil spirtiniki 200–250 ml (p.162); metanol qonda 3–5 kun, etilenglikol 3–6 kun, tetraetilqo‘rg‘oshin 3 oygacha aniqlanishi mumkin (p.162–163). Tipik xato: metanolning butun molekulasi kuchsiz narkotik, kuchli zaharni uning metabolitlari beradi (p.161).</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daqiqa. Muhokama: 1) Uyqu dorisi topilganda nima uchun miqdoriy tekshiruv kerak? 2) Nima uchun bolalar strixninga ko‘proq sezgir? Doskada chizing: strixnin talvasasi xurujining rivojlanish zanjiri (kuchsiz ta’sir → xuruj → xurujlar tezlashishi → o‘lim). Diqqat: uyqu dorilari alkogol yoki boshqa sedativ moddalar bilan birga ta’sirni kuchaytiradi (p.164); terapevtik dozada qabul qilingan bo‘lishi ham mumkin, shuning uchun sud-kimyoda miqdor aniqlanadi (p.164). Strixnin barqaror zahar, murdada oylab saqlanadi (p.165). Tipik xato: uyqu dorilari uchun murdada xos o‘zgarish bor deb o‘ylash; aslida topilmaydi, faqat tez o‘lim belgilari bo‘ladi (p.164).</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Atropin va pilokarpin qorachiqqa qanday qarama-qarshi ta’sir qiladi? 2) Miorelaksantdan o‘lgan murdada nega xos belgi topilmaydi va tashxis nimaga tayanadi? Doskada chizing: ikki ustunli sxema — qorachiq kengaygan (atropin) va torayган (pilokarpin) belgilar. Tipik xato: atropin va pilokarpin belgilarini aralashtirish; klofelinning letal dozasi bolalarda kattalarnikidan ancha kam ekanini unutish.</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Nega narkotik mastligi baxtsiz hodisa va qotillik xavfini oshiradi? 2) Murdadagi 4 guruh o‘zgarish (spetsifik, qayta qabul izlari, in’eksiya infeksiyalari, turmush tarzi) nima uchun faqat bilvosita dalil? Doskada chizing: 4 guruhli o‘zgarishlar zanjiri. Tipik xato: in’eksiya izlari yoki ozginlikni narkotik iste’molining qat’iy isboti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9 daq. Muhokama: 1) Nega uy sharoitida tayyorlangan konserva botulizm xavfini oshiradi? 2) Guruhiy zaharlanishda klinik va sud-kimyoviy tekshiruvdan tashqari qaysi tekshiruv zarur? Doskada chizing: ovqatdan zaharlanish tasnifi daraxti (bakterial va nobakterial tarmoqlari). Tipik xato: tayyor ovqatga tashqaridan zahar qo‘shishni ovqatdan zaharlanishga kiritish.</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 Muhokama savollari: 1) Zahar topilmasa, zaharlanish bo‘lmagan deb xulosa qilish mumkinmi? 2) Soxta musbat natijaning qanday sabablari bor? Doskada chizish: ikki ustunli jadval – «zahar topildi, lekin zaharlanish yo‘q» va «zaharlanish bor, lekin zahar topilmadi», sabablari bilan. Tipik xato: talaba laboratoriya natijasini yagona va hal qiluvchi dalil deb hisoblaydi, holbuki u boshqa ma’lumotlar bilan birga baholanadi.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№3. Ma’ruza: Sud-tibbiy toksikologiya.</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sud-tibbiy toksikologiya va uning o‘rni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84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Kimyoviy omillar ta’sirida sog‘liqning buzilishi va o‘lim holatlari murda hamda tirik shaxslar ekspertizasida nisbatan keng uchraydi.</a:t>
            </a:r>
          </a:p>
          <a:p>
            <a:pPr>
              <a:spcAft>
                <a:spcPts val="1200"/>
              </a:spcAft>
            </a:pPr>
            <a:r>
              <a:rPr sz="2200">
                <a:solidFill>
                  <a:srgbClr val="1F2937"/>
                </a:solidFill>
                <a:latin typeface="Calibri"/>
              </a:rPr>
              <a:t>▸  Zo‘raki o‘lim tarkibida zaharlanishlar uchinchi o‘rinda turadi: mexanik jarohatlar va mexanik asfiksiyadan keyin keladi.</a:t>
            </a:r>
          </a:p>
          <a:p>
            <a:pPr>
              <a:spcAft>
                <a:spcPts val="1200"/>
              </a:spcAft>
            </a:pPr>
            <a:r>
              <a:rPr sz="2200">
                <a:solidFill>
                  <a:srgbClr val="1F2937"/>
                </a:solidFill>
                <a:latin typeface="Calibri"/>
              </a:rPr>
              <a:t>▸  Sud tibbiyotining fan sifatida shakllanishi aynan sud-tibbiy toksikologiyadan boshlangan.</a:t>
            </a:r>
          </a:p>
          <a:p>
            <a:pPr>
              <a:spcAft>
                <a:spcPts val="1200"/>
              </a:spcAft>
            </a:pPr>
            <a:r>
              <a:rPr sz="2200">
                <a:solidFill>
                  <a:srgbClr val="1F2937"/>
                </a:solidFill>
                <a:latin typeface="Calibri"/>
              </a:rPr>
              <a:t>▸  Eslab qoling: zo‘raki o‘lim tartibi — jarohat, asfiksiya, so‘ng zaharlanish (uchinchi o‘rin).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 va zaharlanish tushunchalari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84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Zahar nisbiy tushuncha: oz miqdori sog‘liqni buzadigan yoki o‘limga olib keladigan modda zahar deyiladi.</a:t>
            </a:r>
          </a:p>
          <a:p>
            <a:pPr>
              <a:spcAft>
                <a:spcPts val="1200"/>
              </a:spcAft>
            </a:pPr>
            <a:r>
              <a:rPr sz="2200">
                <a:solidFill>
                  <a:srgbClr val="1F2937"/>
                </a:solidFill>
                <a:latin typeface="Calibri"/>
              </a:rPr>
              <a:t>▸  Tabiatda mutlaq zahar yo‘q, mutlaq beziyon modda ham yo‘q.</a:t>
            </a:r>
          </a:p>
          <a:p>
            <a:pPr>
              <a:spcAft>
                <a:spcPts val="1200"/>
              </a:spcAft>
            </a:pPr>
            <a:r>
              <a:rPr sz="2200">
                <a:solidFill>
                  <a:srgbClr val="1F2937"/>
                </a:solidFill>
                <a:latin typeface="Calibri"/>
              </a:rPr>
              <a:t>▸  Paratsels iborasi: faqat doza ma’lum bir moddani doriga yoki zaharga aylantiradi.</a:t>
            </a:r>
          </a:p>
          <a:p>
            <a:pPr>
              <a:spcAft>
                <a:spcPts val="1200"/>
              </a:spcAft>
            </a:pPr>
            <a:r>
              <a:rPr sz="2200">
                <a:solidFill>
                  <a:srgbClr val="1F2937"/>
                </a:solidFill>
                <a:latin typeface="Calibri"/>
              </a:rPr>
              <a:t>▸  Oz miqdordagi modda ta’sirida vujudga keladigan sog‘liq buzilishi zaharlanish deb ataladi.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Toksikologiya yo‘nalishlari va sud-tibbiy vazifalar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84</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Toksikologiya zahar va zaharlanishlarni o‘rganadigan fan bo‘lib, bir necha yo‘nalishga ega.</a:t>
            </a:r>
          </a:p>
          <a:p>
            <a:pPr>
              <a:spcAft>
                <a:spcPts val="800"/>
              </a:spcAft>
            </a:pPr>
            <a:r>
              <a:rPr sz="1800">
                <a:solidFill>
                  <a:srgbClr val="1F2937"/>
                </a:solidFill>
                <a:latin typeface="Calibri"/>
              </a:rPr>
              <a:t>▸  Boshqa turlari sabablar, tibbiy yordam va oldini olish masalalariga yo‘naltirilgan.</a:t>
            </a:r>
          </a:p>
          <a:p>
            <a:pPr>
              <a:spcAft>
                <a:spcPts val="800"/>
              </a:spcAft>
            </a:pPr>
            <a:r>
              <a:rPr sz="1800">
                <a:solidFill>
                  <a:srgbClr val="1F2937"/>
                </a:solidFill>
                <a:latin typeface="Calibri"/>
              </a:rPr>
              <a:t>▸  Sud-tibbiy toksikologiya huquqni muhofaza idoralari qo‘ygan vazifalarni hal etadi.</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983809"/>
                <a:gridCol w="2398035"/>
                <a:gridCol w="1906130"/>
              </a:tblGrid>
              <a:tr h="411480">
                <a:tc>
                  <a:txBody>
                    <a:bodyPr/>
                    <a:lstStyle/>
                    <a:p>
                      <a:r>
                        <a:rPr sz="1300" b="1">
                          <a:solidFill>
                            <a:srgbClr val="FFFFFF"/>
                          </a:solidFill>
                        </a:rPr>
                        <a:t>Jihat</a:t>
                      </a:r>
                    </a:p>
                  </a:txBody>
                  <a:tcPr marL="73152" marR="73152" marT="36576" marB="36576">
                    <a:solidFill>
                      <a:srgbClr val="0B1F3A"/>
                    </a:solidFill>
                  </a:tcPr>
                </a:tc>
                <a:tc>
                  <a:txBody>
                    <a:bodyPr/>
                    <a:lstStyle/>
                    <a:p>
                      <a:r>
                        <a:rPr sz="1300" b="1">
                          <a:solidFill>
                            <a:srgbClr val="FFFFFF"/>
                          </a:solidFill>
                        </a:rPr>
                        <a:t>Boshqa turlari</a:t>
                      </a:r>
                    </a:p>
                  </a:txBody>
                  <a:tcPr marL="73152" marR="73152" marT="36576" marB="36576">
                    <a:solidFill>
                      <a:srgbClr val="0B1F3A"/>
                    </a:solidFill>
                  </a:tcPr>
                </a:tc>
                <a:tc>
                  <a:txBody>
                    <a:bodyPr/>
                    <a:lstStyle/>
                    <a:p>
                      <a:r>
                        <a:rPr sz="1300" b="1">
                          <a:solidFill>
                            <a:srgbClr val="FFFFFF"/>
                          </a:solidFill>
                        </a:rPr>
                        <a:t>Sud-tibbiy</a:t>
                      </a:r>
                    </a:p>
                  </a:txBody>
                  <a:tcPr marL="73152" marR="73152" marT="36576" marB="36576">
                    <a:solidFill>
                      <a:srgbClr val="0B1F3A"/>
                    </a:solidFill>
                  </a:tcPr>
                </a:tc>
              </a:tr>
              <a:tr h="411480">
                <a:tc>
                  <a:txBody>
                    <a:bodyPr/>
                    <a:lstStyle/>
                    <a:p>
                      <a:r>
                        <a:rPr sz="1200" b="0">
                          <a:solidFill>
                            <a:srgbClr val="1F2937"/>
                          </a:solidFill>
                        </a:rPr>
                        <a:t>Turlari</a:t>
                      </a:r>
                    </a:p>
                  </a:txBody>
                  <a:tcPr marL="73152" marR="73152" marT="36576" marB="36576">
                    <a:solidFill>
                      <a:srgbClr val="E8EEF6"/>
                    </a:solidFill>
                  </a:tcPr>
                </a:tc>
                <a:tc>
                  <a:txBody>
                    <a:bodyPr/>
                    <a:lstStyle/>
                    <a:p>
                      <a:r>
                        <a:rPr sz="1200" b="0">
                          <a:solidFill>
                            <a:srgbClr val="1F2937"/>
                          </a:solidFill>
                        </a:rPr>
                        <a:t>Sanoat, qishloq xo‘jaligi, harbiy va b.</a:t>
                      </a:r>
                    </a:p>
                  </a:txBody>
                  <a:tcPr marL="73152" marR="73152" marT="36576" marB="36576">
                    <a:solidFill>
                      <a:srgbClr val="E8EEF6"/>
                    </a:solidFill>
                  </a:tcPr>
                </a:tc>
                <a:tc>
                  <a:txBody>
                    <a:bodyPr/>
                    <a:lstStyle/>
                    <a:p>
                      <a:r>
                        <a:rPr sz="1200" b="0">
                          <a:solidFill>
                            <a:srgbClr val="1F2937"/>
                          </a:solidFill>
                        </a:rPr>
                        <a:t>Sud-tibbiy toksikologiya</a:t>
                      </a:r>
                    </a:p>
                  </a:txBody>
                  <a:tcPr marL="73152" marR="73152" marT="36576" marB="36576">
                    <a:solidFill>
                      <a:srgbClr val="E8EEF6"/>
                    </a:solidFill>
                  </a:tcPr>
                </a:tc>
              </a:tr>
              <a:tr h="411480">
                <a:tc>
                  <a:txBody>
                    <a:bodyPr/>
                    <a:lstStyle/>
                    <a:p>
                      <a:r>
                        <a:rPr sz="1200" b="0">
                          <a:solidFill>
                            <a:srgbClr val="1F2937"/>
                          </a:solidFill>
                        </a:rPr>
                        <a:t>Asosiy maqsad</a:t>
                      </a:r>
                    </a:p>
                  </a:txBody>
                  <a:tcPr marL="73152" marR="73152" marT="36576" marB="36576">
                    <a:solidFill>
                      <a:srgbClr val="FFFFFF"/>
                    </a:solidFill>
                  </a:tcPr>
                </a:tc>
                <a:tc>
                  <a:txBody>
                    <a:bodyPr/>
                    <a:lstStyle/>
                    <a:p>
                      <a:r>
                        <a:rPr sz="1200" b="0">
                          <a:solidFill>
                            <a:srgbClr val="1F2937"/>
                          </a:solidFill>
                        </a:rPr>
                        <a:t>Sabablar, oldini olish</a:t>
                      </a:r>
                    </a:p>
                  </a:txBody>
                  <a:tcPr marL="73152" marR="73152" marT="36576" marB="36576">
                    <a:solidFill>
                      <a:srgbClr val="FFFFFF"/>
                    </a:solidFill>
                  </a:tcPr>
                </a:tc>
                <a:tc>
                  <a:txBody>
                    <a:bodyPr/>
                    <a:lstStyle/>
                    <a:p>
                      <a:r>
                        <a:rPr sz="1200" b="0">
                          <a:solidFill>
                            <a:srgbClr val="1F2937"/>
                          </a:solidFill>
                        </a:rPr>
                        <a:t>Idoralar vazifalarini hal etish</a:t>
                      </a:r>
                    </a:p>
                  </a:txBody>
                  <a:tcPr marL="73152" marR="73152" marT="36576" marB="36576">
                    <a:solidFill>
                      <a:srgbClr val="FFFFFF"/>
                    </a:solidFill>
                  </a:tcPr>
                </a:tc>
              </a:tr>
              <a:tr h="411480">
                <a:tc>
                  <a:txBody>
                    <a:bodyPr/>
                    <a:lstStyle/>
                    <a:p>
                      <a:r>
                        <a:rPr sz="1200" b="0">
                          <a:solidFill>
                            <a:srgbClr val="1F2937"/>
                          </a:solidFill>
                        </a:rPr>
                        <a:t>Jabrlanganlarga</a:t>
                      </a:r>
                    </a:p>
                  </a:txBody>
                  <a:tcPr marL="73152" marR="73152" marT="36576" marB="36576">
                    <a:solidFill>
                      <a:srgbClr val="E8EEF6"/>
                    </a:solidFill>
                  </a:tcPr>
                </a:tc>
                <a:tc>
                  <a:txBody>
                    <a:bodyPr/>
                    <a:lstStyle/>
                    <a:p>
                      <a:r>
                        <a:rPr sz="1200" b="0">
                          <a:solidFill>
                            <a:srgbClr val="1F2937"/>
                          </a:solidFill>
                        </a:rPr>
                        <a:t>Malakali tibbiy yordam</a:t>
                      </a:r>
                    </a:p>
                  </a:txBody>
                  <a:tcPr marL="73152" marR="73152" marT="36576" marB="36576">
                    <a:solidFill>
                      <a:srgbClr val="E8EEF6"/>
                    </a:solidFill>
                  </a:tcPr>
                </a:tc>
                <a:tc>
                  <a:txBody>
                    <a:bodyPr/>
                    <a:lstStyle/>
                    <a:p>
                      <a:r>
                        <a:rPr sz="1200" b="0">
                          <a:solidFill>
                            <a:srgbClr val="1F2937"/>
                          </a:solidFill>
                        </a:rPr>
                        <a:t>Huquqiy savollarga javob</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Toksikologiya turlarini solishtirish</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Zaharlanishlarning vujudga kelish tafsilotlari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84</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Zaharlanish qotillik, o‘z-o‘zini o‘ldirish yoki baxtsiz hodisa tarzida bo‘lishi mumkin.</a:t>
            </a:r>
          </a:p>
          <a:p>
            <a:pPr>
              <a:spcAft>
                <a:spcPts val="800"/>
              </a:spcAft>
            </a:pPr>
            <a:r>
              <a:rPr sz="1800">
                <a:solidFill>
                  <a:srgbClr val="1F2937"/>
                </a:solidFill>
                <a:latin typeface="Calibri"/>
              </a:rPr>
              <a:t>▸  Sud-tibbiy ekspertiza ma’lumotlariga ko‘ra, aksariyat holatlar baxtsiz hodisalardir.</a:t>
            </a:r>
          </a:p>
          <a:p>
            <a:pPr>
              <a:spcAft>
                <a:spcPts val="800"/>
              </a:spcAft>
            </a:pPr>
            <a:r>
              <a:rPr sz="1800">
                <a:solidFill>
                  <a:srgbClr val="1F2937"/>
                </a:solidFill>
                <a:latin typeface="Calibri"/>
              </a:rPr>
              <a:t>▸  Yatrogen zaharlanishda dori dozasi noto‘g‘ri belgilanadi yoki bir dori o‘rniga boshqa modda qo‘llanadi.</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2033836"/>
                <a:gridCol w="1627069"/>
                <a:gridCol w="1627069"/>
              </a:tblGrid>
              <a:tr h="411480">
                <a:tc>
                  <a:txBody>
                    <a:bodyPr/>
                    <a:lstStyle/>
                    <a:p>
                      <a:r>
                        <a:rPr sz="1300" b="1">
                          <a:solidFill>
                            <a:srgbClr val="FFFFFF"/>
                          </a:solidFill>
                        </a:rPr>
                        <a:t>Turi</a:t>
                      </a:r>
                    </a:p>
                  </a:txBody>
                  <a:tcPr marL="73152" marR="73152" marT="36576" marB="36576">
                    <a:solidFill>
                      <a:srgbClr val="0B1F3A"/>
                    </a:solidFill>
                  </a:tcPr>
                </a:tc>
                <a:tc>
                  <a:txBody>
                    <a:bodyPr/>
                    <a:lstStyle/>
                    <a:p>
                      <a:r>
                        <a:rPr sz="1300" b="1">
                          <a:solidFill>
                            <a:srgbClr val="FFFFFF"/>
                          </a:solidFill>
                        </a:rPr>
                        <a:t>Qasd</a:t>
                      </a:r>
                    </a:p>
                  </a:txBody>
                  <a:tcPr marL="73152" marR="73152" marT="36576" marB="36576">
                    <a:solidFill>
                      <a:srgbClr val="0B1F3A"/>
                    </a:solidFill>
                  </a:tcPr>
                </a:tc>
                <a:tc>
                  <a:txBody>
                    <a:bodyPr/>
                    <a:lstStyle/>
                    <a:p>
                      <a:r>
                        <a:rPr sz="1300" b="1">
                          <a:solidFill>
                            <a:srgbClr val="FFFFFF"/>
                          </a:solidFill>
                        </a:rPr>
                        <a:t>Uchrashi</a:t>
                      </a:r>
                    </a:p>
                  </a:txBody>
                  <a:tcPr marL="73152" marR="73152" marT="36576" marB="36576">
                    <a:solidFill>
                      <a:srgbClr val="0B1F3A"/>
                    </a:solidFill>
                  </a:tcPr>
                </a:tc>
              </a:tr>
              <a:tr h="411480">
                <a:tc>
                  <a:txBody>
                    <a:bodyPr/>
                    <a:lstStyle/>
                    <a:p>
                      <a:r>
                        <a:rPr sz="1200" b="0">
                          <a:solidFill>
                            <a:srgbClr val="1F2937"/>
                          </a:solidFill>
                        </a:rPr>
                        <a:t>Baxtsiz hodisa</a:t>
                      </a:r>
                    </a:p>
                  </a:txBody>
                  <a:tcPr marL="73152" marR="73152" marT="36576" marB="36576">
                    <a:solidFill>
                      <a:srgbClr val="E8EEF6"/>
                    </a:solidFill>
                  </a:tcPr>
                </a:tc>
                <a:tc>
                  <a:txBody>
                    <a:bodyPr/>
                    <a:lstStyle/>
                    <a:p>
                      <a:r>
                        <a:rPr sz="1200" b="0">
                          <a:solidFill>
                            <a:srgbClr val="1F2937"/>
                          </a:solidFill>
                        </a:rPr>
                        <a:t>Tasodifan</a:t>
                      </a:r>
                    </a:p>
                  </a:txBody>
                  <a:tcPr marL="73152" marR="73152" marT="36576" marB="36576">
                    <a:solidFill>
                      <a:srgbClr val="E8EEF6"/>
                    </a:solidFill>
                  </a:tcPr>
                </a:tc>
                <a:tc>
                  <a:txBody>
                    <a:bodyPr/>
                    <a:lstStyle/>
                    <a:p>
                      <a:r>
                        <a:rPr sz="1200" b="0">
                          <a:solidFill>
                            <a:srgbClr val="1F2937"/>
                          </a:solidFill>
                        </a:rPr>
                        <a:t>Eng ko‘p</a:t>
                      </a:r>
                    </a:p>
                  </a:txBody>
                  <a:tcPr marL="73152" marR="73152" marT="36576" marB="36576">
                    <a:solidFill>
                      <a:srgbClr val="E8EEF6"/>
                    </a:solidFill>
                  </a:tcPr>
                </a:tc>
              </a:tr>
              <a:tr h="411480">
                <a:tc>
                  <a:txBody>
                    <a:bodyPr/>
                    <a:lstStyle/>
                    <a:p>
                      <a:r>
                        <a:rPr sz="1200" b="0">
                          <a:solidFill>
                            <a:srgbClr val="1F2937"/>
                          </a:solidFill>
                        </a:rPr>
                        <a:t>O‘z-o‘zini o‘ldirish</a:t>
                      </a:r>
                    </a:p>
                  </a:txBody>
                  <a:tcPr marL="73152" marR="73152" marT="36576" marB="36576">
                    <a:solidFill>
                      <a:srgbClr val="FFFFFF"/>
                    </a:solidFill>
                  </a:tcPr>
                </a:tc>
                <a:tc>
                  <a:txBody>
                    <a:bodyPr/>
                    <a:lstStyle/>
                    <a:p>
                      <a:r>
                        <a:rPr sz="1200" b="0">
                          <a:solidFill>
                            <a:srgbClr val="1F2937"/>
                          </a:solidFill>
                        </a:rPr>
                        <a:t>Qasddan</a:t>
                      </a:r>
                    </a:p>
                  </a:txBody>
                  <a:tcPr marL="73152" marR="73152" marT="36576" marB="36576">
                    <a:solidFill>
                      <a:srgbClr val="FFFFFF"/>
                    </a:solidFill>
                  </a:tcPr>
                </a:tc>
                <a:tc>
                  <a:txBody>
                    <a:bodyPr/>
                    <a:lstStyle/>
                    <a:p>
                      <a:r>
                        <a:rPr sz="1200" b="0">
                          <a:solidFill>
                            <a:srgbClr val="1F2937"/>
                          </a:solidFill>
                        </a:rPr>
                        <a:t>Ikkinchi o‘rinda</a:t>
                      </a:r>
                    </a:p>
                  </a:txBody>
                  <a:tcPr marL="73152" marR="73152" marT="36576" marB="36576">
                    <a:solidFill>
                      <a:srgbClr val="FFFFFF"/>
                    </a:solidFill>
                  </a:tcPr>
                </a:tc>
              </a:tr>
              <a:tr h="411480">
                <a:tc>
                  <a:txBody>
                    <a:bodyPr/>
                    <a:lstStyle/>
                    <a:p>
                      <a:r>
                        <a:rPr sz="1200" b="0">
                          <a:solidFill>
                            <a:srgbClr val="1F2937"/>
                          </a:solidFill>
                        </a:rPr>
                        <a:t>Qotillik</a:t>
                      </a:r>
                    </a:p>
                  </a:txBody>
                  <a:tcPr marL="73152" marR="73152" marT="36576" marB="36576">
                    <a:solidFill>
                      <a:srgbClr val="E8EEF6"/>
                    </a:solidFill>
                  </a:tcPr>
                </a:tc>
                <a:tc>
                  <a:txBody>
                    <a:bodyPr/>
                    <a:lstStyle/>
                    <a:p>
                      <a:r>
                        <a:rPr sz="1200" b="0">
                          <a:solidFill>
                            <a:srgbClr val="1F2937"/>
                          </a:solidFill>
                        </a:rPr>
                        <a:t>Qasddan</a:t>
                      </a:r>
                    </a:p>
                  </a:txBody>
                  <a:tcPr marL="73152" marR="73152" marT="36576" marB="36576">
                    <a:solidFill>
                      <a:srgbClr val="E8EEF6"/>
                    </a:solidFill>
                  </a:tcPr>
                </a:tc>
                <a:tc>
                  <a:txBody>
                    <a:bodyPr/>
                    <a:lstStyle/>
                    <a:p>
                      <a:r>
                        <a:rPr sz="1200" b="0">
                          <a:solidFill>
                            <a:srgbClr val="1F2937"/>
                          </a:solidFill>
                        </a:rPr>
                        <a:t>Kamdan-kam</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Zaharlanish turlari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zaharlanish turi va tafsiloti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84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tibbiy muolajada dori dozasi belgilashda xatoga yo‘l qo‘yildi, bemor zaharlandi.</a:t>
            </a:r>
          </a:p>
          <a:p>
            <a:pPr>
              <a:spcAft>
                <a:spcPts val="1200"/>
              </a:spcAft>
            </a:pPr>
            <a:r>
              <a:rPr sz="2200">
                <a:solidFill>
                  <a:srgbClr val="1F2937"/>
                </a:solidFill>
                <a:latin typeface="Calibri"/>
              </a:rPr>
              <a:t>▸  Ikkinchi vaziyat: muolajada bir dori o‘rniga xato tarzda boshqa modda qo‘llandi va asorat yuz berdi.</a:t>
            </a:r>
          </a:p>
          <a:p>
            <a:pPr>
              <a:spcAft>
                <a:spcPts val="1200"/>
              </a:spcAft>
            </a:pPr>
            <a:r>
              <a:rPr sz="2200">
                <a:solidFill>
                  <a:srgbClr val="1F2937"/>
                </a:solidFill>
                <a:latin typeface="Calibri"/>
              </a:rPr>
              <a:t>▸  Savol: bu holatlar qaysi turga kiradi va ularda qasd bormi? Javob: baxtsiz hodisa, yatrogen; qasd yo‘q.</a:t>
            </a:r>
          </a:p>
          <a:p>
            <a:pPr>
              <a:spcAft>
                <a:spcPts val="1200"/>
              </a:spcAft>
            </a:pPr>
            <a:r>
              <a:rPr sz="2200">
                <a:solidFill>
                  <a:srgbClr val="1F2937"/>
                </a:solidFill>
                <a:latin typeface="Calibri"/>
              </a:rPr>
              <a:t>▸  Diqqat: qasddan zaharlash qotillik yoki o‘z-o‘zini o‘ldirish, tasodifiy zaharlanish esa baxtsiz hodisa hisoblanadi.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Zaharlanishga ta’sir etuvchi to‘rt guruh omil</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84</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Zaharlanishda to‘rt guruh omil farqlanadi: zahar, organizm, kirish yo‘li va tashqi sharoit.</a:t>
            </a:r>
          </a:p>
          <a:p>
            <a:pPr>
              <a:spcAft>
                <a:spcPts val="800"/>
              </a:spcAft>
            </a:pPr>
            <a:r>
              <a:rPr sz="1800">
                <a:solidFill>
                  <a:srgbClr val="1F2937"/>
                </a:solidFill>
                <a:latin typeface="Calibri"/>
              </a:rPr>
              <a:t>▸  Kimyoviy tuzilishi o‘xshash is gazi va karbonat angidridning zaharliligi bir xil emas.</a:t>
            </a:r>
          </a:p>
          <a:p>
            <a:pPr>
              <a:spcAft>
                <a:spcPts val="800"/>
              </a:spcAft>
            </a:pPr>
            <a:r>
              <a:rPr sz="1800">
                <a:solidFill>
                  <a:srgbClr val="1F2937"/>
                </a:solidFill>
                <a:latin typeface="Calibri"/>
              </a:rPr>
              <a:t>▸  Zahar qonga qancha tez va to‘liq o‘tsa, toksik ta’sir shuncha kuchli bo‘ladi.</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1510850"/>
                <a:gridCol w="3777125"/>
              </a:tblGrid>
              <a:tr h="411480">
                <a:tc>
                  <a:txBody>
                    <a:bodyPr/>
                    <a:lstStyle/>
                    <a:p>
                      <a:r>
                        <a:rPr sz="1400" b="1">
                          <a:solidFill>
                            <a:srgbClr val="FFFFFF"/>
                          </a:solidFill>
                        </a:rPr>
                        <a:t>Guruh</a:t>
                      </a:r>
                    </a:p>
                  </a:txBody>
                  <a:tcPr marL="73152" marR="73152" marT="36576" marB="36576">
                    <a:solidFill>
                      <a:srgbClr val="0B1F3A"/>
                    </a:solidFill>
                  </a:tcPr>
                </a:tc>
                <a:tc>
                  <a:txBody>
                    <a:bodyPr/>
                    <a:lstStyle/>
                    <a:p>
                      <a:r>
                        <a:rPr sz="1400" b="1">
                          <a:solidFill>
                            <a:srgbClr val="FFFFFF"/>
                          </a:solidFill>
                        </a:rPr>
                        <a:t>Misollar</a:t>
                      </a:r>
                    </a:p>
                  </a:txBody>
                  <a:tcPr marL="73152" marR="73152" marT="36576" marB="36576">
                    <a:solidFill>
                      <a:srgbClr val="0B1F3A"/>
                    </a:solidFill>
                  </a:tcPr>
                </a:tc>
              </a:tr>
              <a:tr h="411480">
                <a:tc>
                  <a:txBody>
                    <a:bodyPr/>
                    <a:lstStyle/>
                    <a:p>
                      <a:r>
                        <a:rPr sz="1300" b="0">
                          <a:solidFill>
                            <a:srgbClr val="1F2937"/>
                          </a:solidFill>
                        </a:rPr>
                        <a:t>Zaharli modda</a:t>
                      </a:r>
                    </a:p>
                  </a:txBody>
                  <a:tcPr marL="73152" marR="73152" marT="36576" marB="36576">
                    <a:solidFill>
                      <a:srgbClr val="E8EEF6"/>
                    </a:solidFill>
                  </a:tcPr>
                </a:tc>
                <a:tc>
                  <a:txBody>
                    <a:bodyPr/>
                    <a:lstStyle/>
                    <a:p>
                      <a:r>
                        <a:rPr sz="1300" b="0">
                          <a:solidFill>
                            <a:srgbClr val="1F2937"/>
                          </a:solidFill>
                        </a:rPr>
                        <a:t>Kimyoviy tuzilish, doza, eruvchanlik</a:t>
                      </a:r>
                    </a:p>
                  </a:txBody>
                  <a:tcPr marL="73152" marR="73152" marT="36576" marB="36576">
                    <a:solidFill>
                      <a:srgbClr val="E8EEF6"/>
                    </a:solidFill>
                  </a:tcPr>
                </a:tc>
              </a:tr>
              <a:tr h="411480">
                <a:tc>
                  <a:txBody>
                    <a:bodyPr/>
                    <a:lstStyle/>
                    <a:p>
                      <a:r>
                        <a:rPr sz="1300" b="0">
                          <a:solidFill>
                            <a:srgbClr val="1F2937"/>
                          </a:solidFill>
                        </a:rPr>
                        <a:t>Organizm</a:t>
                      </a:r>
                    </a:p>
                  </a:txBody>
                  <a:tcPr marL="73152" marR="73152" marT="36576" marB="36576">
                    <a:solidFill>
                      <a:srgbClr val="FFFFFF"/>
                    </a:solidFill>
                  </a:tcPr>
                </a:tc>
                <a:tc>
                  <a:txBody>
                    <a:bodyPr/>
                    <a:lstStyle/>
                    <a:p>
                      <a:r>
                        <a:rPr sz="1300" b="0">
                          <a:solidFill>
                            <a:srgbClr val="1F2937"/>
                          </a:solidFill>
                        </a:rPr>
                        <a:t>Vazn, yosh, salomatlik, genetika</a:t>
                      </a:r>
                    </a:p>
                  </a:txBody>
                  <a:tcPr marL="73152" marR="73152" marT="36576" marB="36576">
                    <a:solidFill>
                      <a:srgbClr val="FFFFFF"/>
                    </a:solidFill>
                  </a:tcPr>
                </a:tc>
              </a:tr>
              <a:tr h="411480">
                <a:tc>
                  <a:txBody>
                    <a:bodyPr/>
                    <a:lstStyle/>
                    <a:p>
                      <a:r>
                        <a:rPr sz="1300" b="0">
                          <a:solidFill>
                            <a:srgbClr val="1F2937"/>
                          </a:solidFill>
                        </a:rPr>
                        <a:t>Kirish yo‘li</a:t>
                      </a:r>
                    </a:p>
                  </a:txBody>
                  <a:tcPr marL="73152" marR="73152" marT="36576" marB="36576">
                    <a:solidFill>
                      <a:srgbClr val="E8EEF6"/>
                    </a:solidFill>
                  </a:tcPr>
                </a:tc>
                <a:tc>
                  <a:txBody>
                    <a:bodyPr/>
                    <a:lstStyle/>
                    <a:p>
                      <a:r>
                        <a:rPr sz="1300" b="0">
                          <a:solidFill>
                            <a:srgbClr val="1F2937"/>
                          </a:solidFill>
                        </a:rPr>
                        <a:t>Teri, og‘iz, nafas, to‘g‘ri ichak, in’eksiya</a:t>
                      </a:r>
                    </a:p>
                  </a:txBody>
                  <a:tcPr marL="73152" marR="73152" marT="36576" marB="36576">
                    <a:solidFill>
                      <a:srgbClr val="E8EEF6"/>
                    </a:solidFill>
                  </a:tcPr>
                </a:tc>
              </a:tr>
              <a:tr h="411480">
                <a:tc>
                  <a:txBody>
                    <a:bodyPr/>
                    <a:lstStyle/>
                    <a:p>
                      <a:r>
                        <a:rPr sz="1300" b="0">
                          <a:solidFill>
                            <a:srgbClr val="1F2937"/>
                          </a:solidFill>
                        </a:rPr>
                        <a:t>Tashqi sharoit</a:t>
                      </a:r>
                    </a:p>
                  </a:txBody>
                  <a:tcPr marL="73152" marR="73152" marT="36576" marB="36576">
                    <a:solidFill>
                      <a:srgbClr val="FFFFFF"/>
                    </a:solidFill>
                  </a:tcPr>
                </a:tc>
                <a:tc>
                  <a:txBody>
                    <a:bodyPr/>
                    <a:lstStyle/>
                    <a:p>
                      <a:r>
                        <a:rPr sz="1300" b="0">
                          <a:solidFill>
                            <a:srgbClr val="1F2937"/>
                          </a:solidFill>
                        </a:rPr>
                        <a:t>Yopiq, issiq, nam muhit moyillik yaratadi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Omil guruhlari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132, 132-133, 134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Zaharli moddaga bog‘liq omillar: tuzilish va doza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84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Moddaning xususiyatini avvalo uning kimyoviy tuzilishi belgilaydi.</a:t>
            </a:r>
          </a:p>
          <a:p>
            <a:pPr>
              <a:spcAft>
                <a:spcPts val="1200"/>
              </a:spcAft>
            </a:pPr>
            <a:r>
              <a:rPr sz="2200">
                <a:solidFill>
                  <a:srgbClr val="1F2937"/>
                </a:solidFill>
                <a:latin typeface="Calibri"/>
              </a:rPr>
              <a:t>▸  Is gazi va karbonat angidrid ikkalasi ham uglerod va kislorod atomlaridan iborat. Shunga qaramay, ularning toksik xususiyati bir xil emas.</a:t>
            </a:r>
          </a:p>
          <a:p>
            <a:pPr>
              <a:spcAft>
                <a:spcPts val="1200"/>
              </a:spcAft>
            </a:pPr>
            <a:r>
              <a:rPr sz="2200">
                <a:solidFill>
                  <a:srgbClr val="1F2937"/>
                </a:solidFill>
                <a:latin typeface="Calibri"/>
              </a:rPr>
              <a:t>▸  Modda miqdori ham muhim. Farmakologiyada dorining terapevtik, toksik va letal dozalari farqlanadi.</a:t>
            </a:r>
          </a:p>
          <a:p>
            <a:pPr>
              <a:spcAft>
                <a:spcPts val="1200"/>
              </a:spcAft>
            </a:pPr>
            <a:r>
              <a:rPr sz="2200">
                <a:solidFill>
                  <a:srgbClr val="1F2937"/>
                </a:solidFill>
                <a:latin typeface="Calibri"/>
              </a:rPr>
              <a:t>▸  Konsentratsiya ta’sirni o‘zgartiradi: 3% sirka eritmasini sirka essensiyasi bilan taqqoslab bo‘lmaydi. Konsentrlangan fenol mahalliy kuyish, suyultirilgani rezorbtiv ta’sir beradi.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132, 132-133, 133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Agregat holat, eruvchanlik, barqarorlik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84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Gazsimon moddalar suyuqlarga, suyuqlar qattiq moddalarga nisbatan kuchliroq ta’sir qiladi. Sababi zaharning qonga qanchalik tez o‘tishidir.</a:t>
            </a:r>
          </a:p>
          <a:p>
            <a:pPr>
              <a:spcAft>
                <a:spcPts val="1200"/>
              </a:spcAft>
            </a:pPr>
            <a:r>
              <a:rPr sz="2200">
                <a:solidFill>
                  <a:srgbClr val="1F2937"/>
                </a:solidFill>
                <a:latin typeface="Calibri"/>
              </a:rPr>
              <a:t>▸  Bariy sulfat suvda erimaydi, shuning uchun oshqozon-ichak rentgenografiyasida butqa sifatida ishlatiladi. Suvda eriydigan bariy xlorid esa kuchli zahar.</a:t>
            </a:r>
          </a:p>
          <a:p>
            <a:pPr>
              <a:spcAft>
                <a:spcPts val="1200"/>
              </a:spcAft>
            </a:pPr>
            <a:r>
              <a:rPr sz="2200">
                <a:solidFill>
                  <a:srgbClr val="1F2937"/>
                </a:solidFill>
                <a:latin typeface="Calibri"/>
              </a:rPr>
              <a:t>▸  Fosfororganik birikmalar yog‘da yaxshi eriydi. Ular shilliq qavatlar orqali, hatto shikastlanmagan teri orqali ham qonga o‘tadi.</a:t>
            </a:r>
          </a:p>
          <a:p>
            <a:pPr>
              <a:spcAft>
                <a:spcPts val="1200"/>
              </a:spcAft>
            </a:pPr>
            <a:r>
              <a:rPr sz="2200">
                <a:solidFill>
                  <a:srgbClr val="1F2937"/>
                </a:solidFill>
                <a:latin typeface="Calibri"/>
              </a:rPr>
              <a:t>▸  Moddaning saqlanish davomidagi barqarorligi ham muhim. Dorining terapevtik ta’siri ma’lum vaqt doirasida bo‘ladi, keyin u o‘zgarishi mumkin; saqlash sharoiti ham ahamiyatli.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Vexikulum va kumulyatsiya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84</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Zahar kamdan-kam toza kiradi; uni olib kiruvchi ichimlik yoki ovqat – vexikulum.</a:t>
            </a:r>
          </a:p>
          <a:p>
            <a:pPr>
              <a:spcAft>
                <a:spcPts val="800"/>
              </a:spcAft>
            </a:pPr>
            <a:r>
              <a:rPr sz="1800">
                <a:solidFill>
                  <a:srgbClr val="1F2937"/>
                </a:solidFill>
                <a:latin typeface="Calibri"/>
              </a:rPr>
              <a:t>▸  Vexikulum zaharning toksik ta’sir darajasini o‘zgartirishi mumkin.</a:t>
            </a:r>
          </a:p>
          <a:p>
            <a:pPr>
              <a:spcAft>
                <a:spcPts val="800"/>
              </a:spcAft>
            </a:pPr>
            <a:r>
              <a:rPr sz="1800">
                <a:solidFill>
                  <a:srgbClr val="1F2937"/>
                </a:solidFill>
                <a:latin typeface="Calibri"/>
              </a:rPr>
              <a:t>▸  Og‘ir metall birikmalari organizmda to‘planadi – bu kumulyatsiya, uning ahamiyati katta.</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2266275"/>
                <a:gridCol w="1510850"/>
                <a:gridCol w="1510850"/>
              </a:tblGrid>
              <a:tr h="411480">
                <a:tc>
                  <a:txBody>
                    <a:bodyPr/>
                    <a:lstStyle/>
                    <a:p>
                      <a:r>
                        <a:rPr sz="1300" b="1">
                          <a:solidFill>
                            <a:srgbClr val="FFFFFF"/>
                          </a:solidFill>
                        </a:rPr>
                        <a:t>Zahar</a:t>
                      </a:r>
                    </a:p>
                  </a:txBody>
                  <a:tcPr marL="73152" marR="73152" marT="36576" marB="36576">
                    <a:solidFill>
                      <a:srgbClr val="0B1F3A"/>
                    </a:solidFill>
                  </a:tcPr>
                </a:tc>
                <a:tc>
                  <a:txBody>
                    <a:bodyPr/>
                    <a:lstStyle/>
                    <a:p>
                      <a:r>
                        <a:rPr sz="1300" b="1">
                          <a:solidFill>
                            <a:srgbClr val="FFFFFF"/>
                          </a:solidFill>
                        </a:rPr>
                        <a:t>Muhit</a:t>
                      </a:r>
                    </a:p>
                  </a:txBody>
                  <a:tcPr marL="73152" marR="73152" marT="36576" marB="36576">
                    <a:solidFill>
                      <a:srgbClr val="0B1F3A"/>
                    </a:solidFill>
                  </a:tcPr>
                </a:tc>
                <a:tc>
                  <a:txBody>
                    <a:bodyPr/>
                    <a:lstStyle/>
                    <a:p>
                      <a:r>
                        <a:rPr sz="1300" b="1">
                          <a:solidFill>
                            <a:srgbClr val="FFFFFF"/>
                          </a:solidFill>
                        </a:rPr>
                        <a:t>Ta’sir</a:t>
                      </a:r>
                    </a:p>
                  </a:txBody>
                  <a:tcPr marL="73152" marR="73152" marT="36576" marB="36576">
                    <a:solidFill>
                      <a:srgbClr val="0B1F3A"/>
                    </a:solidFill>
                  </a:tcPr>
                </a:tc>
              </a:tr>
              <a:tr h="411480">
                <a:tc>
                  <a:txBody>
                    <a:bodyPr/>
                    <a:lstStyle/>
                    <a:p>
                      <a:r>
                        <a:rPr sz="1200" b="0">
                          <a:solidFill>
                            <a:srgbClr val="1F2937"/>
                          </a:solidFill>
                        </a:rPr>
                        <a:t>Margimush birikmalari</a:t>
                      </a:r>
                    </a:p>
                  </a:txBody>
                  <a:tcPr marL="73152" marR="73152" marT="36576" marB="36576">
                    <a:solidFill>
                      <a:srgbClr val="E8EEF6"/>
                    </a:solidFill>
                  </a:tcPr>
                </a:tc>
                <a:tc>
                  <a:txBody>
                    <a:bodyPr/>
                    <a:lstStyle/>
                    <a:p>
                      <a:r>
                        <a:rPr sz="1200" b="0">
                          <a:solidFill>
                            <a:srgbClr val="1F2937"/>
                          </a:solidFill>
                        </a:rPr>
                        <a:t>Ishqoriy</a:t>
                      </a:r>
                    </a:p>
                  </a:txBody>
                  <a:tcPr marL="73152" marR="73152" marT="36576" marB="36576">
                    <a:solidFill>
                      <a:srgbClr val="E8EEF6"/>
                    </a:solidFill>
                  </a:tcPr>
                </a:tc>
                <a:tc>
                  <a:txBody>
                    <a:bodyPr/>
                    <a:lstStyle/>
                    <a:p>
                      <a:r>
                        <a:rPr sz="1200" b="0">
                          <a:solidFill>
                            <a:srgbClr val="1F2937"/>
                          </a:solidFill>
                        </a:rPr>
                        <a:t>Kuchayadi</a:t>
                      </a:r>
                    </a:p>
                  </a:txBody>
                  <a:tcPr marL="73152" marR="73152" marT="36576" marB="36576">
                    <a:solidFill>
                      <a:srgbClr val="E8EEF6"/>
                    </a:solidFill>
                  </a:tcPr>
                </a:tc>
              </a:tr>
              <a:tr h="411480">
                <a:tc>
                  <a:txBody>
                    <a:bodyPr/>
                    <a:lstStyle/>
                    <a:p>
                      <a:r>
                        <a:rPr sz="1200" b="0">
                          <a:solidFill>
                            <a:srgbClr val="1F2937"/>
                          </a:solidFill>
                        </a:rPr>
                        <a:t>Margimush birikmalari</a:t>
                      </a:r>
                    </a:p>
                  </a:txBody>
                  <a:tcPr marL="73152" marR="73152" marT="36576" marB="36576">
                    <a:solidFill>
                      <a:srgbClr val="FFFFFF"/>
                    </a:solidFill>
                  </a:tcPr>
                </a:tc>
                <a:tc>
                  <a:txBody>
                    <a:bodyPr/>
                    <a:lstStyle/>
                    <a:p>
                      <a:r>
                        <a:rPr sz="1200" b="0">
                          <a:solidFill>
                            <a:srgbClr val="1F2937"/>
                          </a:solidFill>
                        </a:rPr>
                        <a:t>Kislotali</a:t>
                      </a:r>
                    </a:p>
                  </a:txBody>
                  <a:tcPr marL="73152" marR="73152" marT="36576" marB="36576">
                    <a:solidFill>
                      <a:srgbClr val="FFFFFF"/>
                    </a:solidFill>
                  </a:tcPr>
                </a:tc>
                <a:tc>
                  <a:txBody>
                    <a:bodyPr/>
                    <a:lstStyle/>
                    <a:p>
                      <a:r>
                        <a:rPr sz="1200" b="0">
                          <a:solidFill>
                            <a:srgbClr val="1F2937"/>
                          </a:solidFill>
                        </a:rPr>
                        <a:t>Susayadi</a:t>
                      </a:r>
                    </a:p>
                  </a:txBody>
                  <a:tcPr marL="73152" marR="73152" marT="36576" marB="36576">
                    <a:solidFill>
                      <a:srgbClr val="FFFFFF"/>
                    </a:solidFill>
                  </a:tcPr>
                </a:tc>
              </a:tr>
              <a:tr h="411480">
                <a:tc>
                  <a:txBody>
                    <a:bodyPr/>
                    <a:lstStyle/>
                    <a:p>
                      <a:r>
                        <a:rPr sz="1200" b="0">
                          <a:solidFill>
                            <a:srgbClr val="1F2937"/>
                          </a:solidFill>
                        </a:rPr>
                        <a:t>Sianidlar</a:t>
                      </a:r>
                    </a:p>
                  </a:txBody>
                  <a:tcPr marL="73152" marR="73152" marT="36576" marB="36576">
                    <a:solidFill>
                      <a:srgbClr val="E8EEF6"/>
                    </a:solidFill>
                  </a:tcPr>
                </a:tc>
                <a:tc>
                  <a:txBody>
                    <a:bodyPr/>
                    <a:lstStyle/>
                    <a:p>
                      <a:r>
                        <a:rPr sz="1200" b="0">
                          <a:solidFill>
                            <a:srgbClr val="1F2937"/>
                          </a:solidFill>
                        </a:rPr>
                        <a:t>Kislotali</a:t>
                      </a:r>
                    </a:p>
                  </a:txBody>
                  <a:tcPr marL="73152" marR="73152" marT="36576" marB="36576">
                    <a:solidFill>
                      <a:srgbClr val="E8EEF6"/>
                    </a:solidFill>
                  </a:tcPr>
                </a:tc>
                <a:tc>
                  <a:txBody>
                    <a:bodyPr/>
                    <a:lstStyle/>
                    <a:p>
                      <a:r>
                        <a:rPr sz="1200" b="0">
                          <a:solidFill>
                            <a:srgbClr val="1F2937"/>
                          </a:solidFill>
                        </a:rPr>
                        <a:t>Kuchliroq</a:t>
                      </a:r>
                    </a:p>
                  </a:txBody>
                  <a:tcPr marL="73152" marR="73152" marT="36576" marB="36576">
                    <a:solidFill>
                      <a:srgbClr val="E8EEF6"/>
                    </a:solidFill>
                  </a:tcPr>
                </a:tc>
              </a:tr>
              <a:tr h="411480">
                <a:tc>
                  <a:txBody>
                    <a:bodyPr/>
                    <a:lstStyle/>
                    <a:p>
                      <a:r>
                        <a:rPr sz="1200" b="0">
                          <a:solidFill>
                            <a:srgbClr val="1F2937"/>
                          </a:solidFill>
                        </a:rPr>
                        <a:t>Fosfororganik birikmalar</a:t>
                      </a:r>
                    </a:p>
                  </a:txBody>
                  <a:tcPr marL="73152" marR="73152" marT="36576" marB="36576">
                    <a:solidFill>
                      <a:srgbClr val="FFFFFF"/>
                    </a:solidFill>
                  </a:tcPr>
                </a:tc>
                <a:tc>
                  <a:txBody>
                    <a:bodyPr/>
                    <a:lstStyle/>
                    <a:p>
                      <a:r>
                        <a:rPr sz="1200" b="0">
                          <a:solidFill>
                            <a:srgbClr val="1F2937"/>
                          </a:solidFill>
                        </a:rPr>
                        <a:t>Yog‘li</a:t>
                      </a:r>
                    </a:p>
                  </a:txBody>
                  <a:tcPr marL="73152" marR="73152" marT="36576" marB="36576">
                    <a:solidFill>
                      <a:srgbClr val="FFFFFF"/>
                    </a:solidFill>
                  </a:tcPr>
                </a:tc>
                <a:tc>
                  <a:txBody>
                    <a:bodyPr/>
                    <a:lstStyle/>
                    <a:p>
                      <a:r>
                        <a:rPr sz="1200" b="0">
                          <a:solidFill>
                            <a:srgbClr val="1F2937"/>
                          </a:solidFill>
                        </a:rPr>
                        <a:t>Kuchayadi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Muhitning zahar ta’siriga ta’siri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zahar bilan bog‘liq omillar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84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Savol: bir xil zahar bo‘lsa-da, ta’siri nega turlicha? Javob: modda xususiyatlari ahamiyatli — kimyoviy tuzilishi, miqdori, agregat holati, eruvchanligi, barqarorligi.</a:t>
            </a:r>
          </a:p>
          <a:p>
            <a:pPr>
              <a:spcAft>
                <a:spcPts val="1200"/>
              </a:spcAft>
            </a:pPr>
            <a:r>
              <a:rPr sz="2000">
                <a:solidFill>
                  <a:srgbClr val="1F2937"/>
                </a:solidFill>
                <a:latin typeface="Calibri"/>
              </a:rPr>
              <a:t>▸  Diqqat: xato qilish xavfi! Is gazi va karbonat angidrid o‘xshash tuzilishga ega (uglerod va kislorod), lekin toksik xususiyatlari bir xil emas.</a:t>
            </a:r>
          </a:p>
          <a:p>
            <a:pPr>
              <a:spcAft>
                <a:spcPts val="1200"/>
              </a:spcAft>
            </a:pPr>
            <a:r>
              <a:rPr sz="2000">
                <a:solidFill>
                  <a:srgbClr val="1F2937"/>
                </a:solidFill>
                <a:latin typeface="Calibri"/>
              </a:rPr>
              <a:t>▸  Konsentratsiya hal qiladi: 3% sirka kislota va sirka essensiyasini taqqoslab bo‘lmaydi. Konsentrlangan fenol mahalliy kuyish, suyultirilgani rezorbtiv ta’sir beradi.</a:t>
            </a:r>
          </a:p>
          <a:p>
            <a:pPr>
              <a:spcAft>
                <a:spcPts val="1200"/>
              </a:spcAft>
            </a:pPr>
            <a:r>
              <a:rPr sz="2000">
                <a:solidFill>
                  <a:srgbClr val="1F2937"/>
                </a:solidFill>
                <a:latin typeface="Calibri"/>
              </a:rPr>
              <a:t>▸  Eslab qoling: gaz suyuqdan, suyuq qattiqdan kuchliroq ta’sir qiladi, chunki qonga tez o‘tadi. Bariy sulfat erimaydi, eruvchan bariy xlorid esa kuchli zahar.</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132-133, 133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Organizm bilan bog‘liq omillar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84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Tana massasi: bir xil miqdordagi zahar turli vaznli odamlarda bir xil ta’sir qilmaydi. Shuning uchun dori dozasi 1 kg vaznga hisoblanadi.</a:t>
            </a:r>
          </a:p>
          <a:p>
            <a:pPr>
              <a:spcAft>
                <a:spcPts val="1200"/>
              </a:spcAft>
            </a:pPr>
            <a:r>
              <a:rPr sz="2200">
                <a:solidFill>
                  <a:srgbClr val="1F2937"/>
                </a:solidFill>
                <a:latin typeface="Calibri"/>
              </a:rPr>
              <a:t>▸  Jinslar o‘rtasida umumiy farq bo‘lmaydi, ammo ayollarda ayrim fiziologik davrlarda (masalan, homiladorlik) sezgirlik ortadi.</a:t>
            </a:r>
          </a:p>
          <a:p>
            <a:pPr>
              <a:spcAft>
                <a:spcPts val="1200"/>
              </a:spcAft>
            </a:pPr>
            <a:r>
              <a:rPr sz="2200">
                <a:solidFill>
                  <a:srgbClr val="1F2937"/>
                </a:solidFill>
                <a:latin typeface="Calibri"/>
              </a:rPr>
              <a:t>▸  Bolalar kattalarga qaraganda sezgirroq: vazni kichik va umumiy qarshilik tizimi to‘liq shakllanmagan. Sog‘lom odam kuchliroq, yurak, jigar, buyrak kasalida qarshilik pasayadi.</a:t>
            </a:r>
          </a:p>
          <a:p>
            <a:pPr>
              <a:spcAft>
                <a:spcPts val="1200"/>
              </a:spcAft>
            </a:pPr>
            <a:r>
              <a:rPr sz="2200">
                <a:solidFill>
                  <a:srgbClr val="1F2937"/>
                </a:solidFill>
                <a:latin typeface="Calibri"/>
              </a:rPr>
              <a:t>▸  Zahar og‘iz orqali kirsa, oshqozondagi massaning mavjudligi, tarkibi va miqdori muhim: u zahar ta’sirini va qonga so‘rilishini vaqtincha yoki doimiy o‘zgartiradi.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133-134, 134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Genetik sezgirlik, tolerantlik va bog‘liqlik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84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Xolinesteraza fermenti aktivligining tug‘ma pastligi motor-paralitik moddalar (masalan, miorelaksantlar) ta’sirini kuchaytiradi.</a:t>
            </a:r>
          </a:p>
          <a:p>
            <a:pPr>
              <a:spcAft>
                <a:spcPts val="1200"/>
              </a:spcAft>
            </a:pPr>
            <a:r>
              <a:rPr sz="2000">
                <a:solidFill>
                  <a:srgbClr val="1F2937"/>
                </a:solidFill>
                <a:latin typeface="Calibri"/>
              </a:rPr>
              <a:t>▸  Eritrotsitlarda glyukoza-6-fosfatdegidrogenaza (G-6-FDG) yetishmasa, sulfanilamidlar va ayrim antibiotiklarga sezgirlik ortadi. Idiosinkraziya ham genetik xususiyat bilan bog‘liq.</a:t>
            </a:r>
          </a:p>
          <a:p>
            <a:pPr>
              <a:spcAft>
                <a:spcPts val="1200"/>
              </a:spcAft>
            </a:pPr>
            <a:r>
              <a:rPr sz="2000">
                <a:solidFill>
                  <a:srgbClr val="1F2937"/>
                </a:solidFill>
                <a:latin typeface="Calibri"/>
              </a:rPr>
              <a:t>▸  Tolerantlik — modda qisqa vaqtda takror ta’sir qilganda o‘rganib qolish. U uyqu dorilari, analgetiklar va gipotenziv preparatlarda kuzatiladi.</a:t>
            </a:r>
          </a:p>
          <a:p>
            <a:pPr>
              <a:spcAft>
                <a:spcPts val="1200"/>
              </a:spcAft>
            </a:pPr>
            <a:r>
              <a:rPr sz="2000">
                <a:solidFill>
                  <a:srgbClr val="1F2937"/>
                </a:solidFill>
                <a:latin typeface="Calibri"/>
              </a:rPr>
              <a:t>▸  Giyohvand moddalarda tolerantlikka ruhiy va jismoniy bog‘liqlik qo‘shiladi: ko‘proq qabul qilishga intilish, qabul qilinmasa abstinensiya sindromi (narkomaniya, toksikomaniya).</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Zaharning kirish yo‘li va tashqi sharoit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84</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Kirish yo‘llari: teri, og‘iz, nafas yo‘li, to‘g‘ri ichak, in’eksiya. Qonga tez o‘tsa, ta’sir kuchli bo‘ladi.</a:t>
            </a:r>
          </a:p>
          <a:p>
            <a:pPr>
              <a:spcAft>
                <a:spcPts val="800"/>
              </a:spcAft>
            </a:pPr>
            <a:r>
              <a:rPr sz="1800">
                <a:solidFill>
                  <a:srgbClr val="1F2937"/>
                </a:solidFill>
                <a:latin typeface="Calibri"/>
              </a:rPr>
              <a:t>▸  Nafas yo‘li, to‘g‘ri ichak, qindan so‘rilgan zahar jigardan o‘tmaydi va kuchliroq ta’sir qiladi.</a:t>
            </a:r>
          </a:p>
          <a:p>
            <a:pPr>
              <a:spcAft>
                <a:spcPts val="800"/>
              </a:spcAft>
            </a:pPr>
            <a:r>
              <a:rPr sz="1800">
                <a:solidFill>
                  <a:srgbClr val="1F2937"/>
                </a:solidFill>
                <a:latin typeface="Calibri"/>
              </a:rPr>
              <a:t>▸  Yopiq, issiq, nam muhit alkogol va is gazi ta’sirini kuchaytiradi; ochiq, sovuq havo susaytiradi.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2308834"/>
                <a:gridCol w="2979140"/>
              </a:tblGrid>
              <a:tr h="411480">
                <a:tc>
                  <a:txBody>
                    <a:bodyPr/>
                    <a:lstStyle/>
                    <a:p>
                      <a:r>
                        <a:rPr sz="1400" b="1">
                          <a:solidFill>
                            <a:srgbClr val="FFFFFF"/>
                          </a:solidFill>
                        </a:rPr>
                        <a:t>Holat</a:t>
                      </a:r>
                    </a:p>
                  </a:txBody>
                  <a:tcPr marL="73152" marR="73152" marT="36576" marB="36576">
                    <a:solidFill>
                      <a:srgbClr val="0B1F3A"/>
                    </a:solidFill>
                  </a:tcPr>
                </a:tc>
                <a:tc>
                  <a:txBody>
                    <a:bodyPr/>
                    <a:lstStyle/>
                    <a:p>
                      <a:r>
                        <a:rPr sz="1400" b="1">
                          <a:solidFill>
                            <a:srgbClr val="FFFFFF"/>
                          </a:solidFill>
                        </a:rPr>
                        <a:t>Natija</a:t>
                      </a:r>
                    </a:p>
                  </a:txBody>
                  <a:tcPr marL="73152" marR="73152" marT="36576" marB="36576">
                    <a:solidFill>
                      <a:srgbClr val="0B1F3A"/>
                    </a:solidFill>
                  </a:tcPr>
                </a:tc>
              </a:tr>
              <a:tr h="411480">
                <a:tc>
                  <a:txBody>
                    <a:bodyPr/>
                    <a:lstStyle/>
                    <a:p>
                      <a:r>
                        <a:rPr sz="1300" b="0">
                          <a:solidFill>
                            <a:srgbClr val="1F2937"/>
                          </a:solidFill>
                        </a:rPr>
                        <a:t>Suvda, yog‘da erimaydi</a:t>
                      </a:r>
                    </a:p>
                  </a:txBody>
                  <a:tcPr marL="73152" marR="73152" marT="36576" marB="36576">
                    <a:solidFill>
                      <a:srgbClr val="E8EEF6"/>
                    </a:solidFill>
                  </a:tcPr>
                </a:tc>
                <a:tc>
                  <a:txBody>
                    <a:bodyPr/>
                    <a:lstStyle/>
                    <a:p>
                      <a:r>
                        <a:rPr sz="1300" b="0">
                          <a:solidFill>
                            <a:srgbClr val="1F2937"/>
                          </a:solidFill>
                        </a:rPr>
                        <a:t>Faqat mahalliy ta’sir</a:t>
                      </a:r>
                    </a:p>
                  </a:txBody>
                  <a:tcPr marL="73152" marR="73152" marT="36576" marB="36576">
                    <a:solidFill>
                      <a:srgbClr val="E8EEF6"/>
                    </a:solidFill>
                  </a:tcPr>
                </a:tc>
              </a:tr>
              <a:tr h="411480">
                <a:tc>
                  <a:txBody>
                    <a:bodyPr/>
                    <a:lstStyle/>
                    <a:p>
                      <a:r>
                        <a:rPr sz="1300" b="0">
                          <a:solidFill>
                            <a:srgbClr val="1F2937"/>
                          </a:solidFill>
                        </a:rPr>
                        <a:t>Yog‘da yaxshi eriydi</a:t>
                      </a:r>
                    </a:p>
                  </a:txBody>
                  <a:tcPr marL="73152" marR="73152" marT="36576" marB="36576">
                    <a:solidFill>
                      <a:srgbClr val="FFFFFF"/>
                    </a:solidFill>
                  </a:tcPr>
                </a:tc>
                <a:tc>
                  <a:txBody>
                    <a:bodyPr/>
                    <a:lstStyle/>
                    <a:p>
                      <a:r>
                        <a:rPr sz="1300" b="0">
                          <a:solidFill>
                            <a:srgbClr val="1F2937"/>
                          </a:solidFill>
                        </a:rPr>
                        <a:t>Shilliq qavat va butun teri orqali so‘riladi</a:t>
                      </a:r>
                    </a:p>
                  </a:txBody>
                  <a:tcPr marL="73152" marR="73152" marT="36576" marB="36576">
                    <a:solidFill>
                      <a:srgbClr val="FFFFFF"/>
                    </a:solidFill>
                  </a:tcPr>
                </a:tc>
              </a:tr>
              <a:tr h="411480">
                <a:tc>
                  <a:txBody>
                    <a:bodyPr/>
                    <a:lstStyle/>
                    <a:p>
                      <a:r>
                        <a:rPr sz="1300" b="0">
                          <a:solidFill>
                            <a:srgbClr val="1F2937"/>
                          </a:solidFill>
                        </a:rPr>
                        <a:t>Nafas yo‘li, to‘g‘ri ichak, qin</a:t>
                      </a:r>
                    </a:p>
                  </a:txBody>
                  <a:tcPr marL="73152" marR="73152" marT="36576" marB="36576">
                    <a:solidFill>
                      <a:srgbClr val="E8EEF6"/>
                    </a:solidFill>
                  </a:tcPr>
                </a:tc>
                <a:tc>
                  <a:txBody>
                    <a:bodyPr/>
                    <a:lstStyle/>
                    <a:p>
                      <a:r>
                        <a:rPr sz="1300" b="0">
                          <a:solidFill>
                            <a:srgbClr val="1F2937"/>
                          </a:solidFill>
                        </a:rPr>
                        <a:t>Jigardan o‘tmaydi, ta’sir kuchliroq</a:t>
                      </a:r>
                    </a:p>
                  </a:txBody>
                  <a:tcPr marL="73152" marR="73152" marT="36576" marB="36576">
                    <a:solidFill>
                      <a:srgbClr val="E8EEF6"/>
                    </a:solidFill>
                  </a:tcPr>
                </a:tc>
              </a:tr>
              <a:tr h="411480">
                <a:tc>
                  <a:txBody>
                    <a:bodyPr/>
                    <a:lstStyle/>
                    <a:p>
                      <a:r>
                        <a:rPr sz="1300" b="0">
                          <a:solidFill>
                            <a:srgbClr val="1F2937"/>
                          </a:solidFill>
                        </a:rPr>
                        <a:t>Yopiq, issiq, nam muhit</a:t>
                      </a:r>
                    </a:p>
                  </a:txBody>
                  <a:tcPr marL="73152" marR="73152" marT="36576" marB="36576">
                    <a:solidFill>
                      <a:srgbClr val="FFFFFF"/>
                    </a:solidFill>
                  </a:tcPr>
                </a:tc>
                <a:tc>
                  <a:txBody>
                    <a:bodyPr/>
                    <a:lstStyle/>
                    <a:p>
                      <a:r>
                        <a:rPr sz="1300" b="0">
                          <a:solidFill>
                            <a:srgbClr val="1F2937"/>
                          </a:solidFill>
                        </a:rPr>
                        <a:t>Alkogol, is gazi ta’siriga moyillik</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Yo‘l va sharoit ta’siri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134, 135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omillar va zaharlanish xavfi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84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bir xil miqdordagi zahar kattalar va bolaga, shuningdek sog‘lom va yurak yoki jigar kasalligi bor kishiga ta’sir qildi.</a:t>
            </a:r>
          </a:p>
          <a:p>
            <a:pPr>
              <a:spcAft>
                <a:spcPts val="1200"/>
              </a:spcAft>
            </a:pPr>
            <a:r>
              <a:rPr sz="2200">
                <a:solidFill>
                  <a:srgbClr val="1F2937"/>
                </a:solidFill>
                <a:latin typeface="Calibri"/>
              </a:rPr>
              <a:t>▸  Bolalar kattalarga nisbatan sezgirroq: vazni kichik va umumiy qarshilik tizimi to‘liq shakllanmagan.</a:t>
            </a:r>
          </a:p>
          <a:p>
            <a:pPr>
              <a:spcAft>
                <a:spcPts val="1200"/>
              </a:spcAft>
            </a:pPr>
            <a:r>
              <a:rPr sz="2200">
                <a:solidFill>
                  <a:srgbClr val="1F2937"/>
                </a:solidFill>
                <a:latin typeface="Calibri"/>
              </a:rPr>
              <a:t>▸  Yurak, jigar, buyrak kasalligi bor kishida organizmning toksik ta’sirga qarshilik ko‘rsatish qobiliyati ancha cheklanadi.</a:t>
            </a:r>
          </a:p>
          <a:p>
            <a:pPr>
              <a:spcAft>
                <a:spcPts val="1200"/>
              </a:spcAft>
            </a:pPr>
            <a:r>
              <a:rPr sz="2200">
                <a:solidFill>
                  <a:srgbClr val="1F2937"/>
                </a:solidFill>
                <a:latin typeface="Calibri"/>
              </a:rPr>
              <a:t>▸  Savol: qaysi omillar xavfni oshiradi? Zaharli modda is gazi yoki alkogol bo‘lsa, yopiq, issiq, nam xonaning rolini tushuntiring.</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133-134, 134, 135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Sud-tibbiy diagnostika: uch bosqich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84</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1-bosqich: joyni ko‘zdan kechirish (idish, shprits, qusuq, yot hid) va tibbiy hujjatlarni o‘rganish.</a:t>
            </a:r>
          </a:p>
          <a:p>
            <a:pPr>
              <a:spcAft>
                <a:spcPts val="800"/>
              </a:spcAft>
            </a:pPr>
            <a:r>
              <a:rPr sz="1800">
                <a:solidFill>
                  <a:srgbClr val="1F2937"/>
                </a:solidFill>
                <a:latin typeface="Calibri"/>
              </a:rPr>
              <a:t>▸  2-bosqich: in’eksiya izi, murda dog‘i rangi, yot hid, mushak qotishi; ba’zan xos belgi topilmaydi.</a:t>
            </a:r>
          </a:p>
          <a:p>
            <a:pPr>
              <a:spcAft>
                <a:spcPts val="800"/>
              </a:spcAft>
            </a:pPr>
            <a:r>
              <a:rPr sz="1800">
                <a:solidFill>
                  <a:srgbClr val="1F2937"/>
                </a:solidFill>
                <a:latin typeface="Calibri"/>
              </a:rPr>
              <a:t>▸  3-bosqich: eng ko‘p sud-kimyoviy tekshiruv o‘tkaziladi; namuna “uch nuqta” qoidasi bilan olinadi.</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2033836"/>
                <a:gridCol w="3254138"/>
              </a:tblGrid>
              <a:tr h="411480">
                <a:tc>
                  <a:txBody>
                    <a:bodyPr/>
                    <a:lstStyle/>
                    <a:p>
                      <a:r>
                        <a:rPr sz="1400" b="1">
                          <a:solidFill>
                            <a:srgbClr val="FFFFFF"/>
                          </a:solidFill>
                        </a:rPr>
                        <a:t>Bosqich</a:t>
                      </a:r>
                    </a:p>
                  </a:txBody>
                  <a:tcPr marL="73152" marR="73152" marT="36576" marB="36576">
                    <a:solidFill>
                      <a:srgbClr val="0B1F3A"/>
                    </a:solidFill>
                  </a:tcPr>
                </a:tc>
                <a:tc>
                  <a:txBody>
                    <a:bodyPr/>
                    <a:lstStyle/>
                    <a:p>
                      <a:r>
                        <a:rPr sz="1400" b="1">
                          <a:solidFill>
                            <a:srgbClr val="FFFFFF"/>
                          </a:solidFill>
                        </a:rPr>
                        <a:t>Mazmuni</a:t>
                      </a:r>
                    </a:p>
                  </a:txBody>
                  <a:tcPr marL="73152" marR="73152" marT="36576" marB="36576">
                    <a:solidFill>
                      <a:srgbClr val="0B1F3A"/>
                    </a:solidFill>
                  </a:tcPr>
                </a:tc>
              </a:tr>
              <a:tr h="411480">
                <a:tc>
                  <a:txBody>
                    <a:bodyPr/>
                    <a:lstStyle/>
                    <a:p>
                      <a:r>
                        <a:rPr sz="1300" b="0">
                          <a:solidFill>
                            <a:srgbClr val="1F2937"/>
                          </a:solidFill>
                        </a:rPr>
                        <a:t>1. Hodisa joyi, hujjatlar</a:t>
                      </a:r>
                    </a:p>
                  </a:txBody>
                  <a:tcPr marL="73152" marR="73152" marT="36576" marB="36576">
                    <a:solidFill>
                      <a:srgbClr val="E8EEF6"/>
                    </a:solidFill>
                  </a:tcPr>
                </a:tc>
                <a:tc>
                  <a:txBody>
                    <a:bodyPr/>
                    <a:lstStyle/>
                    <a:p>
                      <a:r>
                        <a:rPr sz="1300" b="0">
                          <a:solidFill>
                            <a:srgbClr val="1F2937"/>
                          </a:solidFill>
                        </a:rPr>
                        <a:t>Ko‘zdan kechirish, tibbiy hujjatlar</a:t>
                      </a:r>
                    </a:p>
                  </a:txBody>
                  <a:tcPr marL="73152" marR="73152" marT="36576" marB="36576">
                    <a:solidFill>
                      <a:srgbClr val="E8EEF6"/>
                    </a:solidFill>
                  </a:tcPr>
                </a:tc>
              </a:tr>
              <a:tr h="411480">
                <a:tc>
                  <a:txBody>
                    <a:bodyPr/>
                    <a:lstStyle/>
                    <a:p>
                      <a:r>
                        <a:rPr sz="1300" b="0">
                          <a:solidFill>
                            <a:srgbClr val="1F2937"/>
                          </a:solidFill>
                        </a:rPr>
                        <a:t>2. Murda tekshiruvi</a:t>
                      </a:r>
                    </a:p>
                  </a:txBody>
                  <a:tcPr marL="73152" marR="73152" marT="36576" marB="36576">
                    <a:solidFill>
                      <a:srgbClr val="FFFFFF"/>
                    </a:solidFill>
                  </a:tcPr>
                </a:tc>
                <a:tc>
                  <a:txBody>
                    <a:bodyPr/>
                    <a:lstStyle/>
                    <a:p>
                      <a:r>
                        <a:rPr sz="1300" b="0">
                          <a:solidFill>
                            <a:srgbClr val="1F2937"/>
                          </a:solidFill>
                        </a:rPr>
                        <a:t>Teri rangi, murda dog‘i, hid, mushak qotishi</a:t>
                      </a:r>
                    </a:p>
                  </a:txBody>
                  <a:tcPr marL="73152" marR="73152" marT="36576" marB="36576">
                    <a:solidFill>
                      <a:srgbClr val="FFFFFF"/>
                    </a:solidFill>
                  </a:tcPr>
                </a:tc>
              </a:tr>
              <a:tr h="411480">
                <a:tc>
                  <a:txBody>
                    <a:bodyPr/>
                    <a:lstStyle/>
                    <a:p>
                      <a:r>
                        <a:rPr sz="1300" b="0">
                          <a:solidFill>
                            <a:srgbClr val="1F2937"/>
                          </a:solidFill>
                        </a:rPr>
                        <a:t>3. Laboratoriya</a:t>
                      </a:r>
                    </a:p>
                  </a:txBody>
                  <a:tcPr marL="73152" marR="73152" marT="36576" marB="36576">
                    <a:solidFill>
                      <a:srgbClr val="E8EEF6"/>
                    </a:solidFill>
                  </a:tcPr>
                </a:tc>
                <a:tc>
                  <a:txBody>
                    <a:bodyPr/>
                    <a:lstStyle/>
                    <a:p>
                      <a:r>
                        <a:rPr sz="1300" b="0">
                          <a:solidFill>
                            <a:srgbClr val="1F2937"/>
                          </a:solidFill>
                        </a:rPr>
                        <a:t>Sud-kimyoviy va boshqa tekshiruvlar</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Diagnostika bosqichlari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135, 135-136, 136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Murda dog‘lari rangi, hid va mushak qotishi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84</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Sianidlarda ichki a’zolardan achchiq bodom hidi, sirka kislotasida o‘tkir o‘ziga xos hid seziladi.</a:t>
            </a:r>
          </a:p>
          <a:p>
            <a:pPr>
              <a:spcAft>
                <a:spcPts val="800"/>
              </a:spcAft>
            </a:pPr>
            <a:r>
              <a:rPr sz="1800">
                <a:solidFill>
                  <a:srgbClr val="1F2937"/>
                </a:solidFill>
                <a:latin typeface="Calibri"/>
              </a:rPr>
              <a:t>▸  Strixninda mushak qotishi tez va kuchli; xloral gidrat, kurare, miorelaksantlarda sust va kuchsiz.</a:t>
            </a:r>
          </a:p>
          <a:p>
            <a:pPr>
              <a:spcAft>
                <a:spcPts val="800"/>
              </a:spcAft>
            </a:pPr>
            <a:r>
              <a:rPr sz="1800">
                <a:solidFill>
                  <a:srgbClr val="1F2937"/>
                </a:solidFill>
                <a:latin typeface="Calibri"/>
              </a:rPr>
              <a:t>▸  Diqqat: funksional zaharlarning ko‘pida murdada xos o‘zgarish topilmasligi mumkin.</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3214259"/>
                <a:gridCol w="2073715"/>
              </a:tblGrid>
              <a:tr h="411480">
                <a:tc>
                  <a:txBody>
                    <a:bodyPr/>
                    <a:lstStyle/>
                    <a:p>
                      <a:r>
                        <a:rPr sz="1400" b="1">
                          <a:solidFill>
                            <a:srgbClr val="FFFFFF"/>
                          </a:solidFill>
                        </a:rPr>
                        <a:t>Zahar</a:t>
                      </a:r>
                    </a:p>
                  </a:txBody>
                  <a:tcPr marL="73152" marR="73152" marT="36576" marB="36576">
                    <a:solidFill>
                      <a:srgbClr val="0B1F3A"/>
                    </a:solidFill>
                  </a:tcPr>
                </a:tc>
                <a:tc>
                  <a:txBody>
                    <a:bodyPr/>
                    <a:lstStyle/>
                    <a:p>
                      <a:r>
                        <a:rPr sz="1400" b="1">
                          <a:solidFill>
                            <a:srgbClr val="FFFFFF"/>
                          </a:solidFill>
                        </a:rPr>
                        <a:t>Dog‘ rangi</a:t>
                      </a:r>
                    </a:p>
                  </a:txBody>
                  <a:tcPr marL="73152" marR="73152" marT="36576" marB="36576">
                    <a:solidFill>
                      <a:srgbClr val="0B1F3A"/>
                    </a:solidFill>
                  </a:tcPr>
                </a:tc>
              </a:tr>
              <a:tr h="411480">
                <a:tc>
                  <a:txBody>
                    <a:bodyPr/>
                    <a:lstStyle/>
                    <a:p>
                      <a:r>
                        <a:rPr sz="1300" b="0">
                          <a:solidFill>
                            <a:srgbClr val="1F2937"/>
                          </a:solidFill>
                        </a:rPr>
                        <a:t>Is gazi</a:t>
                      </a:r>
                    </a:p>
                  </a:txBody>
                  <a:tcPr marL="73152" marR="73152" marT="36576" marB="36576">
                    <a:solidFill>
                      <a:srgbClr val="E8EEF6"/>
                    </a:solidFill>
                  </a:tcPr>
                </a:tc>
                <a:tc>
                  <a:txBody>
                    <a:bodyPr/>
                    <a:lstStyle/>
                    <a:p>
                      <a:r>
                        <a:rPr sz="1300" b="0">
                          <a:solidFill>
                            <a:srgbClr val="1F2937"/>
                          </a:solidFill>
                        </a:rPr>
                        <a:t>Pushti</a:t>
                      </a:r>
                    </a:p>
                  </a:txBody>
                  <a:tcPr marL="73152" marR="73152" marT="36576" marB="36576">
                    <a:solidFill>
                      <a:srgbClr val="E8EEF6"/>
                    </a:solidFill>
                  </a:tcPr>
                </a:tc>
              </a:tr>
              <a:tr h="411480">
                <a:tc>
                  <a:txBody>
                    <a:bodyPr/>
                    <a:lstStyle/>
                    <a:p>
                      <a:r>
                        <a:rPr sz="1300" b="0">
                          <a:solidFill>
                            <a:srgbClr val="1F2937"/>
                          </a:solidFill>
                        </a:rPr>
                        <a:t>Sianid kislotasi va tuzlari</a:t>
                      </a:r>
                    </a:p>
                  </a:txBody>
                  <a:tcPr marL="73152" marR="73152" marT="36576" marB="36576">
                    <a:solidFill>
                      <a:srgbClr val="FFFFFF"/>
                    </a:solidFill>
                  </a:tcPr>
                </a:tc>
                <a:tc>
                  <a:txBody>
                    <a:bodyPr/>
                    <a:lstStyle/>
                    <a:p>
                      <a:r>
                        <a:rPr sz="1300" b="0">
                          <a:solidFill>
                            <a:srgbClr val="1F2937"/>
                          </a:solidFill>
                        </a:rPr>
                        <a:t>Yorqin olcha rang</a:t>
                      </a:r>
                    </a:p>
                  </a:txBody>
                  <a:tcPr marL="73152" marR="73152" marT="36576" marB="36576">
                    <a:solidFill>
                      <a:srgbClr val="FFFFFF"/>
                    </a:solidFill>
                  </a:tcPr>
                </a:tc>
              </a:tr>
              <a:tr h="411480">
                <a:tc>
                  <a:txBody>
                    <a:bodyPr/>
                    <a:lstStyle/>
                    <a:p>
                      <a:r>
                        <a:rPr sz="1300" b="0">
                          <a:solidFill>
                            <a:srgbClr val="1F2937"/>
                          </a:solidFill>
                        </a:rPr>
                        <a:t>Metgemoglobin hosil qiluvchilar</a:t>
                      </a:r>
                    </a:p>
                  </a:txBody>
                  <a:tcPr marL="73152" marR="73152" marT="36576" marB="36576">
                    <a:solidFill>
                      <a:srgbClr val="E8EEF6"/>
                    </a:solidFill>
                  </a:tcPr>
                </a:tc>
                <a:tc>
                  <a:txBody>
                    <a:bodyPr/>
                    <a:lstStyle/>
                    <a:p>
                      <a:r>
                        <a:rPr sz="1300" b="0">
                          <a:solidFill>
                            <a:srgbClr val="1F2937"/>
                          </a:solidFill>
                        </a:rPr>
                        <a:t>Jigar rang, qo‘ng‘ir</a:t>
                      </a:r>
                    </a:p>
                  </a:txBody>
                  <a:tcPr marL="73152" marR="73152" marT="36576" marB="36576">
                    <a:solidFill>
                      <a:srgbClr val="E8EEF6"/>
                    </a:solidFill>
                  </a:tcPr>
                </a:tc>
              </a:tr>
              <a:tr h="411480">
                <a:tc>
                  <a:txBody>
                    <a:bodyPr/>
                    <a:lstStyle/>
                    <a:p>
                      <a:r>
                        <a:rPr sz="1300" b="0">
                          <a:solidFill>
                            <a:srgbClr val="1F2937"/>
                          </a:solidFill>
                        </a:rPr>
                        <a:t>Gemoliz chaqiruvchilar</a:t>
                      </a:r>
                    </a:p>
                  </a:txBody>
                  <a:tcPr marL="73152" marR="73152" marT="36576" marB="36576">
                    <a:solidFill>
                      <a:srgbClr val="FFFFFF"/>
                    </a:solidFill>
                  </a:tcPr>
                </a:tc>
                <a:tc>
                  <a:txBody>
                    <a:bodyPr/>
                    <a:lstStyle/>
                    <a:p>
                      <a:r>
                        <a:rPr sz="1300" b="0">
                          <a:solidFill>
                            <a:srgbClr val="1F2937"/>
                          </a:solidFill>
                        </a:rPr>
                        <a:t>Sarg‘imtir</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Zahar va murda dog‘i rangi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Laboratoriya tekshiruvi va “uch nuqta” qoidasi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84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Laboratoriya tekshiruvlari ichida eng ko‘p sud-kimyoviy (toksikologik) tekshiruv o‘tkaziladi; u sifat va miqdoriy bo‘lishi kerak.</a:t>
            </a:r>
          </a:p>
          <a:p>
            <a:pPr>
              <a:spcAft>
                <a:spcPts val="1200"/>
              </a:spcAft>
            </a:pPr>
            <a:r>
              <a:rPr sz="2200">
                <a:solidFill>
                  <a:srgbClr val="1F2937"/>
                </a:solidFill>
                <a:latin typeface="Calibri"/>
              </a:rPr>
              <a:t>▸  Zahar ma’lum bo‘lsa, ob’ektlar “uch nuqta” bo‘yicha olinadi: zahar kirgan, asosan ta’sir etgan va chiqqan joylardan.</a:t>
            </a:r>
          </a:p>
          <a:p>
            <a:pPr>
              <a:spcAft>
                <a:spcPts val="1200"/>
              </a:spcAft>
            </a:pPr>
            <a:r>
              <a:rPr sz="2200">
                <a:solidFill>
                  <a:srgbClr val="1F2937"/>
                </a:solidFill>
                <a:latin typeface="Calibri"/>
              </a:rPr>
              <a:t>▸  Manba noma’lum bo‘lsa olinadi: miyaning 1/3, o‘pkaning 1/4, jigarning 1/3 o‘t qopi bilan, butun buyrak siydik bilan.</a:t>
            </a:r>
          </a:p>
          <a:p>
            <a:pPr>
              <a:spcAft>
                <a:spcPts val="1200"/>
              </a:spcAft>
            </a:pPr>
            <a:r>
              <a:rPr sz="2200">
                <a:solidFill>
                  <a:srgbClr val="1F2937"/>
                </a:solidFill>
                <a:latin typeface="Calibri"/>
              </a:rPr>
              <a:t>▸  Yana oshqozon massasi, 1 m dan ingichka va yo‘g‘on ichak, 100-200 ml qon (har biri alohida idishda) olinadi.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tekshiruv uchun material tanlash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84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og‘iz orqali qabul qilingan zahar, ma’lumki, asosan jigarga ta’sir etgan va siydik orqali chiqarilgan.</a:t>
            </a:r>
          </a:p>
          <a:p>
            <a:pPr>
              <a:spcAft>
                <a:spcPts val="1200"/>
              </a:spcAft>
            </a:pPr>
            <a:r>
              <a:rPr sz="2200">
                <a:solidFill>
                  <a:srgbClr val="1F2937"/>
                </a:solidFill>
                <a:latin typeface="Calibri"/>
              </a:rPr>
              <a:t>▸  Savol: toksikologik tekshiruv uchun murdadan qaysi ob’ektlarni olish kerak va nima uchun?</a:t>
            </a:r>
          </a:p>
          <a:p>
            <a:pPr>
              <a:spcAft>
                <a:spcPts val="1200"/>
              </a:spcAft>
            </a:pPr>
            <a:r>
              <a:rPr sz="2200">
                <a:solidFill>
                  <a:srgbClr val="1F2937"/>
                </a:solidFill>
                <a:latin typeface="Calibri"/>
              </a:rPr>
              <a:t>▸  Javob: oshqozon ichidagi massa, jigarning bir qismi hamda butun buyrak siydik bilan olinadi.</a:t>
            </a:r>
          </a:p>
          <a:p>
            <a:pPr>
              <a:spcAft>
                <a:spcPts val="1200"/>
              </a:spcAft>
            </a:pPr>
            <a:r>
              <a:rPr sz="2200">
                <a:solidFill>
                  <a:srgbClr val="1F2937"/>
                </a:solidFill>
                <a:latin typeface="Calibri"/>
              </a:rPr>
              <a:t>▸  Diqqat: bu uch ob’ekt zaharning kirgan, ta’sir etgan va chiqqan joylariga mos keladi.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Toksikokinetika va toksikodinamika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84</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Toksikokinetika: kirish, taqsimlanish, biotransformatsiya (asosan jigarda), chiqarilish.</a:t>
            </a:r>
          </a:p>
          <a:p>
            <a:pPr>
              <a:spcAft>
                <a:spcPts val="800"/>
              </a:spcAft>
            </a:pPr>
            <a:r>
              <a:rPr sz="1800">
                <a:solidFill>
                  <a:srgbClr val="1F2937"/>
                </a:solidFill>
                <a:latin typeface="Calibri"/>
              </a:rPr>
              <a:t>▸  Toksikodinamika: birlamchi, keyingi, metatoksik ta’sir (sirka kislotasi: kuyish, gemoliz, gepatit).</a:t>
            </a:r>
          </a:p>
          <a:p>
            <a:pPr>
              <a:spcAft>
                <a:spcPts val="800"/>
              </a:spcAft>
            </a:pPr>
            <a:r>
              <a:rPr sz="1800">
                <a:solidFill>
                  <a:srgbClr val="1F2937"/>
                </a:solidFill>
                <a:latin typeface="Calibri"/>
              </a:rPr>
              <a:t>▸  Metanol formaldegidga, etilenglikol oksalat kislotasiga aylanadi: metabolitlar kuchliroq toksik.</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Kirish yo‘li</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Taqsimlanish va to‘planish</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Biotransformatsiya (jigar)</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Chiqarilish: buyrak, o‘pka, o‘t</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Toksikokinetika zanjiri</a:t>
            </a:r>
          </a:p>
        </p:txBody>
      </p:sp>
      <p:sp>
        <p:nvSpPr>
          <p:cNvPr id="17" name="TextBox 16"/>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136–137, 138, 137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Zaharlarning sud-tibbiy tasnifi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84</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Zaharlar asosan mahalliy va asosan umumiy (rezorbtiv) ta’sir etuvchilarga bo‘linadi.</a:t>
            </a:r>
          </a:p>
          <a:p>
            <a:pPr>
              <a:spcAft>
                <a:spcPts val="800"/>
              </a:spcAft>
            </a:pPr>
            <a:r>
              <a:rPr sz="1800">
                <a:solidFill>
                  <a:srgbClr val="1F2937"/>
                </a:solidFill>
                <a:latin typeface="Calibri"/>
              </a:rPr>
              <a:t>▸  Mahalliy zaharlar kontakt joyida nekroz chaqiradi; umumiy zaharlar qonga so‘rilgach ta’sir qiladi.</a:t>
            </a:r>
          </a:p>
          <a:p>
            <a:pPr>
              <a:spcAft>
                <a:spcPts val="800"/>
              </a:spcAft>
            </a:pPr>
            <a:r>
              <a:rPr sz="1800">
                <a:solidFill>
                  <a:srgbClr val="1F2937"/>
                </a:solidFill>
                <a:latin typeface="Calibri"/>
              </a:rPr>
              <a:t>▸  Umumiy zaharlar uch guruhga bo‘linadi: destruktiv, gemotrop (qon) va funksional (V.L. Popov, 1990).</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950647"/>
                <a:gridCol w="1960709"/>
                <a:gridCol w="2376617"/>
              </a:tblGrid>
              <a:tr h="411480">
                <a:tc>
                  <a:txBody>
                    <a:bodyPr/>
                    <a:lstStyle/>
                    <a:p>
                      <a:r>
                        <a:rPr sz="1300" b="1">
                          <a:solidFill>
                            <a:srgbClr val="FFFFFF"/>
                          </a:solidFill>
                        </a:rPr>
                        <a:t>Guruh</a:t>
                      </a:r>
                    </a:p>
                  </a:txBody>
                  <a:tcPr marL="73152" marR="73152" marT="36576" marB="36576">
                    <a:solidFill>
                      <a:srgbClr val="0B1F3A"/>
                    </a:solidFill>
                  </a:tcPr>
                </a:tc>
                <a:tc>
                  <a:txBody>
                    <a:bodyPr/>
                    <a:lstStyle/>
                    <a:p>
                      <a:r>
                        <a:rPr sz="1300" b="1">
                          <a:solidFill>
                            <a:srgbClr val="FFFFFF"/>
                          </a:solidFill>
                        </a:rPr>
                        <a:t>Mohiyati</a:t>
                      </a:r>
                    </a:p>
                  </a:txBody>
                  <a:tcPr marL="73152" marR="73152" marT="36576" marB="36576">
                    <a:solidFill>
                      <a:srgbClr val="0B1F3A"/>
                    </a:solidFill>
                  </a:tcPr>
                </a:tc>
                <a:tc>
                  <a:txBody>
                    <a:bodyPr/>
                    <a:lstStyle/>
                    <a:p>
                      <a:r>
                        <a:rPr sz="1300" b="1">
                          <a:solidFill>
                            <a:srgbClr val="FFFFFF"/>
                          </a:solidFill>
                        </a:rPr>
                        <a:t>Misol</a:t>
                      </a:r>
                    </a:p>
                  </a:txBody>
                  <a:tcPr marL="73152" marR="73152" marT="36576" marB="36576">
                    <a:solidFill>
                      <a:srgbClr val="0B1F3A"/>
                    </a:solidFill>
                  </a:tcPr>
                </a:tc>
              </a:tr>
              <a:tr h="411480">
                <a:tc>
                  <a:txBody>
                    <a:bodyPr/>
                    <a:lstStyle/>
                    <a:p>
                      <a:r>
                        <a:rPr sz="1200" b="0">
                          <a:solidFill>
                            <a:srgbClr val="1F2937"/>
                          </a:solidFill>
                        </a:rPr>
                        <a:t>Mahalliy</a:t>
                      </a:r>
                    </a:p>
                  </a:txBody>
                  <a:tcPr marL="73152" marR="73152" marT="36576" marB="36576">
                    <a:solidFill>
                      <a:srgbClr val="E8EEF6"/>
                    </a:solidFill>
                  </a:tcPr>
                </a:tc>
                <a:tc>
                  <a:txBody>
                    <a:bodyPr/>
                    <a:lstStyle/>
                    <a:p>
                      <a:r>
                        <a:rPr sz="1200" b="0">
                          <a:solidFill>
                            <a:srgbClr val="1F2937"/>
                          </a:solidFill>
                        </a:rPr>
                        <a:t>Kontakt joyida nekroz</a:t>
                      </a:r>
                    </a:p>
                  </a:txBody>
                  <a:tcPr marL="73152" marR="73152" marT="36576" marB="36576">
                    <a:solidFill>
                      <a:srgbClr val="E8EEF6"/>
                    </a:solidFill>
                  </a:tcPr>
                </a:tc>
                <a:tc>
                  <a:txBody>
                    <a:bodyPr/>
                    <a:lstStyle/>
                    <a:p>
                      <a:r>
                        <a:rPr sz="1200" b="0">
                          <a:solidFill>
                            <a:srgbClr val="1F2937"/>
                          </a:solidFill>
                        </a:rPr>
                        <a:t>Kislotalar, ishqorlar, yod tindirmasi</a:t>
                      </a:r>
                    </a:p>
                  </a:txBody>
                  <a:tcPr marL="73152" marR="73152" marT="36576" marB="36576">
                    <a:solidFill>
                      <a:srgbClr val="E8EEF6"/>
                    </a:solidFill>
                  </a:tcPr>
                </a:tc>
              </a:tr>
              <a:tr h="411480">
                <a:tc>
                  <a:txBody>
                    <a:bodyPr/>
                    <a:lstStyle/>
                    <a:p>
                      <a:r>
                        <a:rPr sz="1200" b="0">
                          <a:solidFill>
                            <a:srgbClr val="1F2937"/>
                          </a:solidFill>
                        </a:rPr>
                        <a:t>Destruktiv</a:t>
                      </a:r>
                    </a:p>
                  </a:txBody>
                  <a:tcPr marL="73152" marR="73152" marT="36576" marB="36576">
                    <a:solidFill>
                      <a:srgbClr val="FFFFFF"/>
                    </a:solidFill>
                  </a:tcPr>
                </a:tc>
                <a:tc>
                  <a:txBody>
                    <a:bodyPr/>
                    <a:lstStyle/>
                    <a:p>
                      <a:r>
                        <a:rPr sz="1200" b="0">
                          <a:solidFill>
                            <a:srgbClr val="1F2937"/>
                          </a:solidFill>
                        </a:rPr>
                        <a:t>To‘qima tuzilishini buzadi</a:t>
                      </a:r>
                    </a:p>
                  </a:txBody>
                  <a:tcPr marL="73152" marR="73152" marT="36576" marB="36576">
                    <a:solidFill>
                      <a:srgbClr val="FFFFFF"/>
                    </a:solidFill>
                  </a:tcPr>
                </a:tc>
                <a:tc>
                  <a:txBody>
                    <a:bodyPr/>
                    <a:lstStyle/>
                    <a:p>
                      <a:r>
                        <a:rPr sz="1200" b="0">
                          <a:solidFill>
                            <a:srgbClr val="1F2937"/>
                          </a:solidFill>
                        </a:rPr>
                        <a:t>Simob, qo‘rg‘oshin, margimush</a:t>
                      </a:r>
                    </a:p>
                  </a:txBody>
                  <a:tcPr marL="73152" marR="73152" marT="36576" marB="36576">
                    <a:solidFill>
                      <a:srgbClr val="FFFFFF"/>
                    </a:solidFill>
                  </a:tcPr>
                </a:tc>
              </a:tr>
              <a:tr h="411480">
                <a:tc>
                  <a:txBody>
                    <a:bodyPr/>
                    <a:lstStyle/>
                    <a:p>
                      <a:r>
                        <a:rPr sz="1200" b="0">
                          <a:solidFill>
                            <a:srgbClr val="1F2937"/>
                          </a:solidFill>
                        </a:rPr>
                        <a:t>Gemotrop</a:t>
                      </a:r>
                    </a:p>
                  </a:txBody>
                  <a:tcPr marL="73152" marR="73152" marT="36576" marB="36576">
                    <a:solidFill>
                      <a:srgbClr val="E8EEF6"/>
                    </a:solidFill>
                  </a:tcPr>
                </a:tc>
                <a:tc>
                  <a:txBody>
                    <a:bodyPr/>
                    <a:lstStyle/>
                    <a:p>
                      <a:r>
                        <a:rPr sz="1200" b="0">
                          <a:solidFill>
                            <a:srgbClr val="1F2937"/>
                          </a:solidFill>
                        </a:rPr>
                        <a:t>Qonga ta’sir qiladi</a:t>
                      </a:r>
                    </a:p>
                  </a:txBody>
                  <a:tcPr marL="73152" marR="73152" marT="36576" marB="36576">
                    <a:solidFill>
                      <a:srgbClr val="E8EEF6"/>
                    </a:solidFill>
                  </a:tcPr>
                </a:tc>
                <a:tc>
                  <a:txBody>
                    <a:bodyPr/>
                    <a:lstStyle/>
                    <a:p>
                      <a:r>
                        <a:rPr sz="1200" b="0">
                          <a:solidFill>
                            <a:srgbClr val="1F2937"/>
                          </a:solidFill>
                        </a:rPr>
                        <a:t>Karboksigemoglobin hosil qiluvchilar, arsin</a:t>
                      </a:r>
                    </a:p>
                  </a:txBody>
                  <a:tcPr marL="73152" marR="73152" marT="36576" marB="36576">
                    <a:solidFill>
                      <a:srgbClr val="E8EEF6"/>
                    </a:solidFill>
                  </a:tcPr>
                </a:tc>
              </a:tr>
              <a:tr h="411480">
                <a:tc>
                  <a:txBody>
                    <a:bodyPr/>
                    <a:lstStyle/>
                    <a:p>
                      <a:r>
                        <a:rPr sz="1200" b="0">
                          <a:solidFill>
                            <a:srgbClr val="1F2937"/>
                          </a:solidFill>
                        </a:rPr>
                        <a:t>Funksional</a:t>
                      </a:r>
                    </a:p>
                  </a:txBody>
                  <a:tcPr marL="73152" marR="73152" marT="36576" marB="36576">
                    <a:solidFill>
                      <a:srgbClr val="FFFFFF"/>
                    </a:solidFill>
                  </a:tcPr>
                </a:tc>
                <a:tc>
                  <a:txBody>
                    <a:bodyPr/>
                    <a:lstStyle/>
                    <a:p>
                      <a:r>
                        <a:rPr sz="1200" b="0">
                          <a:solidFill>
                            <a:srgbClr val="1F2937"/>
                          </a:solidFill>
                        </a:rPr>
                        <a:t>Markaziy va periferik nerv tizimi</a:t>
                      </a:r>
                    </a:p>
                  </a:txBody>
                  <a:tcPr marL="73152" marR="73152" marT="36576" marB="36576">
                    <a:solidFill>
                      <a:srgbClr val="FFFFFF"/>
                    </a:solidFill>
                  </a:tcPr>
                </a:tc>
                <a:tc>
                  <a:txBody>
                    <a:bodyPr/>
                    <a:lstStyle/>
                    <a:p>
                      <a:r>
                        <a:rPr sz="1200" b="0">
                          <a:solidFill>
                            <a:srgbClr val="1F2937"/>
                          </a:solidFill>
                        </a:rPr>
                        <a:t>Sianidlar, strixnin, etil spirti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Zaharlar tasnifi (Popov bo‘yicha)</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138, 138–139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tasnif va toksikokinetika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84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biotransformatsiya qaysi a’zoda va qanday yo‘llar bilan o‘tadi? Javob: asosan jigarda; oksidlanish, qaytarilish, gidroliz, sintez.</a:t>
            </a:r>
          </a:p>
          <a:p>
            <a:pPr>
              <a:spcAft>
                <a:spcPts val="1200"/>
              </a:spcAft>
            </a:pPr>
            <a:r>
              <a:rPr sz="2200">
                <a:solidFill>
                  <a:srgbClr val="1F2937"/>
                </a:solidFill>
                <a:latin typeface="Calibri"/>
              </a:rPr>
              <a:t>▸  Savol: fosfororganik birikma oksidlansa, toksikligi qanday o‘zgaradi? Javob: kuchayadi; gidrolizga uchrasa, ancha susayadi.</a:t>
            </a:r>
          </a:p>
          <a:p>
            <a:pPr>
              <a:spcAft>
                <a:spcPts val="1200"/>
              </a:spcAft>
            </a:pPr>
            <a:r>
              <a:rPr sz="2200">
                <a:solidFill>
                  <a:srgbClr val="1F2937"/>
                </a:solidFill>
                <a:latin typeface="Calibri"/>
              </a:rPr>
              <a:t>▸  Savol: metanolning yurak, buyrak va nerv tizimiga ta’siri qaysi metabolitga bog‘liq? Javob: formaldegidga.</a:t>
            </a:r>
          </a:p>
          <a:p>
            <a:pPr>
              <a:spcAft>
                <a:spcPts val="1200"/>
              </a:spcAft>
            </a:pPr>
            <a:r>
              <a:rPr sz="2200">
                <a:solidFill>
                  <a:srgbClr val="1F2937"/>
                </a:solidFill>
                <a:latin typeface="Calibri"/>
              </a:rPr>
              <a:t>▸  Diqqat: xato qilish xavfi — toksikokinetika (zahar organizmda nima bo‘ladi) ≠ toksikodinamika (organizmning zaharga javobi).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137, 138, 136–138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Kislotalar bilan zaharlanish: ta’sir mexanizmi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84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Ta’sir kislota konsentratsiyasi va kontakt davomiyligiga bog‘liq. Erkin vodorod ionlari to‘qimani suvsizlantirib, oqsilni ivitadi: koagulyasion (quruq) nekroz hosil bo‘ladi.</a:t>
            </a:r>
          </a:p>
          <a:p>
            <a:pPr>
              <a:spcAft>
                <a:spcPts val="1200"/>
              </a:spcAft>
            </a:pPr>
            <a:r>
              <a:rPr sz="2000">
                <a:solidFill>
                  <a:srgbClr val="1F2937"/>
                </a:solidFill>
                <a:latin typeface="Calibri"/>
              </a:rPr>
              <a:t>▸  Nekroz joyida quruq, zich, qo‘ng‘ir-qora strup paydo bo‘ladi. Kislota qonga so‘rilsa atsidoz rivojlanib, ichki a’zolarda modda almashinuvi buziladi.</a:t>
            </a:r>
          </a:p>
          <a:p>
            <a:pPr>
              <a:spcAft>
                <a:spcPts val="1200"/>
              </a:spcAft>
            </a:pPr>
            <a:r>
              <a:rPr sz="2000">
                <a:solidFill>
                  <a:srgbClr val="1F2937"/>
                </a:solidFill>
                <a:latin typeface="Calibri"/>
              </a:rPr>
              <a:t>▸  Dastlabki soatlarda o‘limga shok, asfiksiya, ichki qon ketish olib keladi. Kech muddatda sabab pnevmoniya, jigar-buyrak yetishmovchiligi, mediastinit yoki peritonit bo‘ladi.</a:t>
            </a:r>
          </a:p>
          <a:p>
            <a:pPr>
              <a:spcAft>
                <a:spcPts val="1200"/>
              </a:spcAft>
            </a:pPr>
            <a:r>
              <a:rPr sz="2000">
                <a:solidFill>
                  <a:srgbClr val="1F2937"/>
                </a:solidFill>
                <a:latin typeface="Calibri"/>
              </a:rPr>
              <a:t>▸  Letal doza: sulfat va nitrat kislotasi 5–10 ml, xlorid 15–20 ml, sirka essensiyasi (40–80%) 20–40 ml, karbol kislotasi 10–30 ml.</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140, 141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Kislotalar: murda tekshiruvi va turlar farqi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84</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Organik kislotalar kuchsiz dissotsiatsiyalanadi: butun molekula shikastlaydi, nekroz yuzaki, yallig‘lanish kuchli bo‘ladi.</a:t>
            </a:r>
          </a:p>
          <a:p>
            <a:pPr>
              <a:spcAft>
                <a:spcPts val="800"/>
              </a:spcAft>
            </a:pPr>
            <a:r>
              <a:rPr sz="1800">
                <a:solidFill>
                  <a:srgbClr val="1F2937"/>
                </a:solidFill>
                <a:latin typeface="Calibri"/>
              </a:rPr>
              <a:t>▸  Murdada og‘iz atrofida pergament zichlikdagi oqmalar, shilliq qavatlar zichlashgan, ayrim joyda ko‘chgan, yaralar bor.</a:t>
            </a:r>
          </a:p>
          <a:p>
            <a:pPr>
              <a:spcAft>
                <a:spcPts val="800"/>
              </a:spcAft>
            </a:pPr>
            <a:r>
              <a:rPr sz="1800">
                <a:solidFill>
                  <a:srgbClr val="1F2937"/>
                </a:solidFill>
                <a:latin typeface="Calibri"/>
              </a:rPr>
              <a:t>▸  Karbol kislotasi (fenolning 90% eritmasi) — nerv-protoplazmatik zahar; koma, nafas markazi falaji. Siydik havoda yashil-jigarrang bo‘ladi.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950647"/>
                <a:gridCol w="2317202"/>
                <a:gridCol w="2020125"/>
              </a:tblGrid>
              <a:tr h="411480">
                <a:tc>
                  <a:txBody>
                    <a:bodyPr/>
                    <a:lstStyle/>
                    <a:p>
                      <a:r>
                        <a:rPr sz="1300" b="1">
                          <a:solidFill>
                            <a:srgbClr val="FFFFFF"/>
                          </a:solidFill>
                        </a:rPr>
                        <a:t>Kislota</a:t>
                      </a:r>
                    </a:p>
                  </a:txBody>
                  <a:tcPr marL="73152" marR="73152" marT="36576" marB="36576">
                    <a:solidFill>
                      <a:srgbClr val="0B1F3A"/>
                    </a:solidFill>
                  </a:tcPr>
                </a:tc>
                <a:tc>
                  <a:txBody>
                    <a:bodyPr/>
                    <a:lstStyle/>
                    <a:p>
                      <a:r>
                        <a:rPr sz="1300" b="1">
                          <a:solidFill>
                            <a:srgbClr val="FFFFFF"/>
                          </a:solidFill>
                        </a:rPr>
                        <a:t>Shilliq qavat</a:t>
                      </a:r>
                    </a:p>
                  </a:txBody>
                  <a:tcPr marL="73152" marR="73152" marT="36576" marB="36576">
                    <a:solidFill>
                      <a:srgbClr val="0B1F3A"/>
                    </a:solidFill>
                  </a:tcPr>
                </a:tc>
                <a:tc>
                  <a:txBody>
                    <a:bodyPr/>
                    <a:lstStyle/>
                    <a:p>
                      <a:r>
                        <a:rPr sz="1300" b="1">
                          <a:solidFill>
                            <a:srgbClr val="FFFFFF"/>
                          </a:solidFill>
                        </a:rPr>
                        <a:t>Xususiyat</a:t>
                      </a:r>
                    </a:p>
                  </a:txBody>
                  <a:tcPr marL="73152" marR="73152" marT="36576" marB="36576">
                    <a:solidFill>
                      <a:srgbClr val="0B1F3A"/>
                    </a:solidFill>
                  </a:tcPr>
                </a:tc>
              </a:tr>
              <a:tr h="411480">
                <a:tc>
                  <a:txBody>
                    <a:bodyPr/>
                    <a:lstStyle/>
                    <a:p>
                      <a:r>
                        <a:rPr sz="1200" b="0">
                          <a:solidFill>
                            <a:srgbClr val="1F2937"/>
                          </a:solidFill>
                        </a:rPr>
                        <a:t>Sulfat</a:t>
                      </a:r>
                    </a:p>
                  </a:txBody>
                  <a:tcPr marL="73152" marR="73152" marT="36576" marB="36576">
                    <a:solidFill>
                      <a:srgbClr val="E8EEF6"/>
                    </a:solidFill>
                  </a:tcPr>
                </a:tc>
                <a:tc>
                  <a:txBody>
                    <a:bodyPr/>
                    <a:lstStyle/>
                    <a:p>
                      <a:r>
                        <a:rPr sz="1200" b="0">
                          <a:solidFill>
                            <a:srgbClr val="1F2937"/>
                          </a:solidFill>
                        </a:rPr>
                        <a:t>Qo‘ng‘ir-qora</a:t>
                      </a:r>
                    </a:p>
                  </a:txBody>
                  <a:tcPr marL="73152" marR="73152" marT="36576" marB="36576">
                    <a:solidFill>
                      <a:srgbClr val="E8EEF6"/>
                    </a:solidFill>
                  </a:tcPr>
                </a:tc>
                <a:tc>
                  <a:txBody>
                    <a:bodyPr/>
                    <a:lstStyle/>
                    <a:p>
                      <a:r>
                        <a:rPr sz="1200" b="0">
                          <a:solidFill>
                            <a:srgbClr val="1F2937"/>
                          </a:solidFill>
                        </a:rPr>
                        <a:t>Perforatsiya ko‘proq uchraydi</a:t>
                      </a:r>
                    </a:p>
                  </a:txBody>
                  <a:tcPr marL="73152" marR="73152" marT="36576" marB="36576">
                    <a:solidFill>
                      <a:srgbClr val="E8EEF6"/>
                    </a:solidFill>
                  </a:tcPr>
                </a:tc>
              </a:tr>
              <a:tr h="411480">
                <a:tc>
                  <a:txBody>
                    <a:bodyPr/>
                    <a:lstStyle/>
                    <a:p>
                      <a:r>
                        <a:rPr sz="1200" b="0">
                          <a:solidFill>
                            <a:srgbClr val="1F2937"/>
                          </a:solidFill>
                        </a:rPr>
                        <a:t>Nitrat</a:t>
                      </a:r>
                    </a:p>
                  </a:txBody>
                  <a:tcPr marL="73152" marR="73152" marT="36576" marB="36576">
                    <a:solidFill>
                      <a:srgbClr val="FFFFFF"/>
                    </a:solidFill>
                  </a:tcPr>
                </a:tc>
                <a:tc>
                  <a:txBody>
                    <a:bodyPr/>
                    <a:lstStyle/>
                    <a:p>
                      <a:r>
                        <a:rPr sz="1200" b="0">
                          <a:solidFill>
                            <a:srgbClr val="1F2937"/>
                          </a:solidFill>
                        </a:rPr>
                        <a:t>Sarg‘ish (&gt;30%), aks holda qo‘ng‘ir-kul</a:t>
                      </a:r>
                    </a:p>
                  </a:txBody>
                  <a:tcPr marL="73152" marR="73152" marT="36576" marB="36576">
                    <a:solidFill>
                      <a:srgbClr val="FFFFFF"/>
                    </a:solidFill>
                  </a:tcPr>
                </a:tc>
                <a:tc>
                  <a:txBody>
                    <a:bodyPr/>
                    <a:lstStyle/>
                    <a:p>
                      <a:r>
                        <a:rPr sz="1200" b="0">
                          <a:solidFill>
                            <a:srgbClr val="1F2937"/>
                          </a:solidFill>
                        </a:rPr>
                        <a:t>Azot oksidi hidi, o‘pka shishi</a:t>
                      </a:r>
                    </a:p>
                  </a:txBody>
                  <a:tcPr marL="73152" marR="73152" marT="36576" marB="36576">
                    <a:solidFill>
                      <a:srgbClr val="FFFFFF"/>
                    </a:solidFill>
                  </a:tcPr>
                </a:tc>
              </a:tr>
              <a:tr h="411480">
                <a:tc>
                  <a:txBody>
                    <a:bodyPr/>
                    <a:lstStyle/>
                    <a:p>
                      <a:r>
                        <a:rPr sz="1200" b="0">
                          <a:solidFill>
                            <a:srgbClr val="1F2937"/>
                          </a:solidFill>
                        </a:rPr>
                        <a:t>Xlorid</a:t>
                      </a:r>
                    </a:p>
                  </a:txBody>
                  <a:tcPr marL="73152" marR="73152" marT="36576" marB="36576">
                    <a:solidFill>
                      <a:srgbClr val="E8EEF6"/>
                    </a:solidFill>
                  </a:tcPr>
                </a:tc>
                <a:tc>
                  <a:txBody>
                    <a:bodyPr/>
                    <a:lstStyle/>
                    <a:p>
                      <a:r>
                        <a:rPr sz="1200" b="0">
                          <a:solidFill>
                            <a:srgbClr val="1F2937"/>
                          </a:solidFill>
                        </a:rPr>
                        <a:t>Qo‘ng‘ir-kul</a:t>
                      </a:r>
                    </a:p>
                  </a:txBody>
                  <a:tcPr marL="73152" marR="73152" marT="36576" marB="36576">
                    <a:solidFill>
                      <a:srgbClr val="E8EEF6"/>
                    </a:solidFill>
                  </a:tcPr>
                </a:tc>
                <a:tc>
                  <a:txBody>
                    <a:bodyPr/>
                    <a:lstStyle/>
                    <a:p>
                      <a:r>
                        <a:rPr sz="1200" b="0">
                          <a:solidFill>
                            <a:srgbClr val="1F2937"/>
                          </a:solidFill>
                        </a:rPr>
                        <a:t>Hiqildoq va o‘pka shishi ko‘proq</a:t>
                      </a:r>
                    </a:p>
                  </a:txBody>
                  <a:tcPr marL="73152" marR="73152" marT="36576" marB="36576">
                    <a:solidFill>
                      <a:srgbClr val="E8EEF6"/>
                    </a:solidFill>
                  </a:tcPr>
                </a:tc>
              </a:tr>
              <a:tr h="411480">
                <a:tc>
                  <a:txBody>
                    <a:bodyPr/>
                    <a:lstStyle/>
                    <a:p>
                      <a:r>
                        <a:rPr sz="1200" b="0">
                          <a:solidFill>
                            <a:srgbClr val="1F2937"/>
                          </a:solidFill>
                        </a:rPr>
                        <a:t>Sirka</a:t>
                      </a:r>
                    </a:p>
                  </a:txBody>
                  <a:tcPr marL="73152" marR="73152" marT="36576" marB="36576">
                    <a:solidFill>
                      <a:srgbClr val="FFFFFF"/>
                    </a:solidFill>
                  </a:tcPr>
                </a:tc>
                <a:tc>
                  <a:txBody>
                    <a:bodyPr/>
                    <a:lstStyle/>
                    <a:p>
                      <a:r>
                        <a:rPr sz="1200" b="0">
                          <a:solidFill>
                            <a:srgbClr val="1F2937"/>
                          </a:solidFill>
                        </a:rPr>
                        <a:t>Rangi manbada ko‘rsatilmagan</a:t>
                      </a:r>
                    </a:p>
                  </a:txBody>
                  <a:tcPr marL="73152" marR="73152" marT="36576" marB="36576">
                    <a:solidFill>
                      <a:srgbClr val="FFFFFF"/>
                    </a:solidFill>
                  </a:tcPr>
                </a:tc>
                <a:tc>
                  <a:txBody>
                    <a:bodyPr/>
                    <a:lstStyle/>
                    <a:p>
                      <a:r>
                        <a:rPr sz="1200" b="0">
                          <a:solidFill>
                            <a:srgbClr val="1F2937"/>
                          </a:solidFill>
                        </a:rPr>
                        <a:t>Gemoliz, nefroz; o‘tkir sirka hidi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Kislotalar farqi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141, 142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Ishqorlar bilan zaharlanish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84</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Ishqorlar gidroksil anionlari bilan ta’sir etib, oqsillar gidrolizini va yog‘lar sovunlanishini chaqiradi.</a:t>
            </a:r>
          </a:p>
          <a:p>
            <a:pPr>
              <a:spcAft>
                <a:spcPts val="800"/>
              </a:spcAft>
            </a:pPr>
            <a:r>
              <a:rPr sz="1800">
                <a:solidFill>
                  <a:srgbClr val="1F2937"/>
                </a:solidFill>
                <a:latin typeface="Calibri"/>
              </a:rPr>
              <a:t>▸  Kollikvatsion nekroz: to‘qima yumshoq, sirpanuvchan; qon ivimaydi, ishqoriy gematin qo‘ng‘ir tus beradi.</a:t>
            </a:r>
          </a:p>
          <a:p>
            <a:pPr>
              <a:spcAft>
                <a:spcPts val="800"/>
              </a:spcAft>
            </a:pPr>
            <a:r>
              <a:rPr sz="1800">
                <a:solidFill>
                  <a:srgbClr val="1F2937"/>
                </a:solidFill>
                <a:latin typeface="Calibri"/>
              </a:rPr>
              <a:t>▸  Nashatir spirtida murdada ammiak hidi, o‘pka shishi; alkogol bilan birga qabul qilinsa xavfli.</a:t>
            </a:r>
          </a:p>
        </p:txBody>
      </p:sp>
      <p:graphicFrame>
        <p:nvGraphicFramePr>
          <p:cNvPr id="9" name="Table 8"/>
          <p:cNvGraphicFramePr>
            <a:graphicFrameLocks noGrp="1"/>
          </p:cNvGraphicFramePr>
          <p:nvPr/>
        </p:nvGraphicFramePr>
        <p:xfrm>
          <a:off x="6263640" y="1463040"/>
          <a:ext cx="5287974" cy="1234440"/>
        </p:xfrm>
        <a:graphic>
          <a:graphicData uri="http://schemas.openxmlformats.org/drawingml/2006/table">
            <a:tbl>
              <a:tblPr firstRow="1" bandRow="1">
                <a:tableStyleId>{5C22544A-7EE6-4342-B048-85BDC9FD1C3A}</a:tableStyleId>
              </a:tblPr>
              <a:tblGrid>
                <a:gridCol w="1666074"/>
                <a:gridCol w="2462892"/>
                <a:gridCol w="1159008"/>
              </a:tblGrid>
              <a:tr h="411480">
                <a:tc>
                  <a:txBody>
                    <a:bodyPr/>
                    <a:lstStyle/>
                    <a:p>
                      <a:r>
                        <a:rPr sz="1300" b="1">
                          <a:solidFill>
                            <a:srgbClr val="FFFFFF"/>
                          </a:solidFill>
                        </a:rPr>
                        <a:t>Modda</a:t>
                      </a:r>
                    </a:p>
                  </a:txBody>
                  <a:tcPr marL="73152" marR="73152" marT="36576" marB="36576">
                    <a:solidFill>
                      <a:srgbClr val="0B1F3A"/>
                    </a:solidFill>
                  </a:tcPr>
                </a:tc>
                <a:tc>
                  <a:txBody>
                    <a:bodyPr/>
                    <a:lstStyle/>
                    <a:p>
                      <a:r>
                        <a:rPr sz="1300" b="1">
                          <a:solidFill>
                            <a:srgbClr val="FFFFFF"/>
                          </a:solidFill>
                        </a:rPr>
                        <a:t>Mahalliy ta’sir</a:t>
                      </a:r>
                    </a:p>
                  </a:txBody>
                  <a:tcPr marL="73152" marR="73152" marT="36576" marB="36576">
                    <a:solidFill>
                      <a:srgbClr val="0B1F3A"/>
                    </a:solidFill>
                  </a:tcPr>
                </a:tc>
                <a:tc>
                  <a:txBody>
                    <a:bodyPr/>
                    <a:lstStyle/>
                    <a:p>
                      <a:r>
                        <a:rPr sz="1300" b="1">
                          <a:solidFill>
                            <a:srgbClr val="FFFFFF"/>
                          </a:solidFill>
                        </a:rPr>
                        <a:t>Letal doza</a:t>
                      </a:r>
                    </a:p>
                  </a:txBody>
                  <a:tcPr marL="73152" marR="73152" marT="36576" marB="36576">
                    <a:solidFill>
                      <a:srgbClr val="0B1F3A"/>
                    </a:solidFill>
                  </a:tcPr>
                </a:tc>
              </a:tr>
              <a:tr h="411480">
                <a:tc>
                  <a:txBody>
                    <a:bodyPr/>
                    <a:lstStyle/>
                    <a:p>
                      <a:r>
                        <a:rPr sz="1200" b="0">
                          <a:solidFill>
                            <a:srgbClr val="1F2937"/>
                          </a:solidFill>
                        </a:rPr>
                        <a:t>Kaliy, natriy gidroksid</a:t>
                      </a:r>
                    </a:p>
                  </a:txBody>
                  <a:tcPr marL="73152" marR="73152" marT="36576" marB="36576">
                    <a:solidFill>
                      <a:srgbClr val="E8EEF6"/>
                    </a:solidFill>
                  </a:tcPr>
                </a:tc>
                <a:tc>
                  <a:txBody>
                    <a:bodyPr/>
                    <a:lstStyle/>
                    <a:p>
                      <a:r>
                        <a:rPr sz="1200" b="0">
                          <a:solidFill>
                            <a:srgbClr val="1F2937"/>
                          </a:solidFill>
                        </a:rPr>
                        <a:t>Kuchli; kollikvatsion nekroz</a:t>
                      </a:r>
                    </a:p>
                  </a:txBody>
                  <a:tcPr marL="73152" marR="73152" marT="36576" marB="36576">
                    <a:solidFill>
                      <a:srgbClr val="E8EEF6"/>
                    </a:solidFill>
                  </a:tcPr>
                </a:tc>
                <a:tc>
                  <a:txBody>
                    <a:bodyPr/>
                    <a:lstStyle/>
                    <a:p>
                      <a:r>
                        <a:rPr sz="1200" b="0">
                          <a:solidFill>
                            <a:srgbClr val="1F2937"/>
                          </a:solidFill>
                        </a:rPr>
                        <a:t>10–15 g</a:t>
                      </a:r>
                    </a:p>
                  </a:txBody>
                  <a:tcPr marL="73152" marR="73152" marT="36576" marB="36576">
                    <a:solidFill>
                      <a:srgbClr val="E8EEF6"/>
                    </a:solidFill>
                  </a:tcPr>
                </a:tc>
              </a:tr>
              <a:tr h="411480">
                <a:tc>
                  <a:txBody>
                    <a:bodyPr/>
                    <a:lstStyle/>
                    <a:p>
                      <a:r>
                        <a:rPr sz="1200" b="0">
                          <a:solidFill>
                            <a:srgbClr val="1F2937"/>
                          </a:solidFill>
                        </a:rPr>
                        <a:t>Ammoniy gidroksid</a:t>
                      </a:r>
                    </a:p>
                  </a:txBody>
                  <a:tcPr marL="73152" marR="73152" marT="36576" marB="36576">
                    <a:solidFill>
                      <a:srgbClr val="FFFFFF"/>
                    </a:solidFill>
                  </a:tcPr>
                </a:tc>
                <a:tc>
                  <a:txBody>
                    <a:bodyPr/>
                    <a:lstStyle/>
                    <a:p>
                      <a:r>
                        <a:rPr sz="1200" b="0">
                          <a:solidFill>
                            <a:srgbClr val="1F2937"/>
                          </a:solidFill>
                        </a:rPr>
                        <a:t>Kuchsizroq; nafas markaziga ta’sir</a:t>
                      </a:r>
                    </a:p>
                  </a:txBody>
                  <a:tcPr marL="73152" marR="73152" marT="36576" marB="36576">
                    <a:solidFill>
                      <a:srgbClr val="FFFFFF"/>
                    </a:solidFill>
                  </a:tcPr>
                </a:tc>
                <a:tc>
                  <a:txBody>
                    <a:bodyPr/>
                    <a:lstStyle/>
                    <a:p>
                      <a:r>
                        <a:rPr sz="1200" b="0">
                          <a:solidFill>
                            <a:srgbClr val="1F2937"/>
                          </a:solidFill>
                        </a:rPr>
                        <a:t>25–40 ml</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Ishqorlar farqi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142, 143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Boshqa o‘yuvchi moddalar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84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Formalin (formaldegidning 37–40% eritmasi) tasodifan yoki o‘z-o‘zini o‘ldirish uchun ichilishi mumkin. U markaziy nerv tizimi (MNT) va ichki a’zolarga ta’sir qiladi. Tez o‘limda shilliq qavatlar o‘zgarmagan, fiksatsiyalangan bo‘ladi.</a:t>
            </a:r>
          </a:p>
          <a:p>
            <a:pPr>
              <a:spcAft>
                <a:spcPts val="1200"/>
              </a:spcAft>
            </a:pPr>
            <a:r>
              <a:rPr sz="2000">
                <a:solidFill>
                  <a:srgbClr val="1F2937"/>
                </a:solidFill>
                <a:latin typeface="Calibri"/>
              </a:rPr>
              <a:t>▸  Kaliy permanganat kuchli oksidlovchi. U og‘iz orqali yoki bachadon ichiga yuborilganda zaharlaydi. Murdada shilliq qavatda jigarrang-qizg‘ish strup bor. O‘ldiruvchi doza 15–20 g.</a:t>
            </a:r>
          </a:p>
          <a:p>
            <a:pPr>
              <a:spcAft>
                <a:spcPts val="1200"/>
              </a:spcAft>
            </a:pPr>
            <a:r>
              <a:rPr sz="2000">
                <a:solidFill>
                  <a:srgbClr val="1F2937"/>
                </a:solidFill>
                <a:latin typeface="Calibri"/>
              </a:rPr>
              <a:t>▸  Vodorod peroksidning 33% eritmasi (pergidrol) 100 ml hajmda o‘limga olib kelishi mumkin. Murdada shilliq qavat oqimtir, gaz pufakchalaridan ko‘piklangan. Ba’zan oshqozon devori yoriladi.</a:t>
            </a:r>
          </a:p>
          <a:p>
            <a:pPr>
              <a:spcAft>
                <a:spcPts val="1200"/>
              </a:spcAft>
            </a:pPr>
            <a:r>
              <a:rPr sz="2000">
                <a:solidFill>
                  <a:srgbClr val="1F2937"/>
                </a:solidFill>
                <a:latin typeface="Calibri"/>
              </a:rPr>
              <a:t>▸  Yod tindirmasi va Lyugol eritmasi shilliq qavatda qo‘ng‘ir strup hosil qiladi. Qonga so‘rilgach yurak buzilishi, o‘pka shishi, jigar va buyrakda distrofiya rivojlanadi. Hiqildoq shishsa, asfiksiya bo‘lishi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144, 144-145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o‘yuvchi modda bilan zaharlanish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84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Vaziyat: ikki murdada og‘iz atrofida oqmalar bor, ikkalasi ham og‘iz orqali zaharlangan. Birinchisida oshqozon shilliq qavati quruq, zich, qo‘ng‘ir-qora strupli. Ikkinchisida shishgan, kulrang-yashil va yumshoq.</a:t>
            </a:r>
          </a:p>
          <a:p>
            <a:pPr>
              <a:spcAft>
                <a:spcPts val="1200"/>
              </a:spcAft>
            </a:pPr>
            <a:r>
              <a:rPr sz="2000">
                <a:solidFill>
                  <a:srgbClr val="1F2937"/>
                </a:solidFill>
                <a:latin typeface="Calibri"/>
              </a:rPr>
              <a:t>▸  Kislota izi: erkin vodorod ionlari to‘qimani suvsizlantirib, oqsilni ivitadi. Natijada quruq (koagulyasion) nekroz va zich qo‘ng‘ir-qora strup hosil bo‘ladi. Sulfat kislotada oshqozon qo‘ng‘ir-qora tusga kiradi.</a:t>
            </a:r>
          </a:p>
          <a:p>
            <a:pPr>
              <a:spcAft>
                <a:spcPts val="1200"/>
              </a:spcAft>
            </a:pPr>
            <a:r>
              <a:rPr sz="2000">
                <a:solidFill>
                  <a:srgbClr val="1F2937"/>
                </a:solidFill>
                <a:latin typeface="Calibri"/>
              </a:rPr>
              <a:t>▸  Ishqor izi: oqsil suyulib, yog‘ sovunlanadi (kollikvatsion nekroz). Soha yumshoq, shishgan, sirpanuvchan. Oshqozon devori oson yirtiladi, ishqoriy gematin to‘qimani qo‘ng‘ir qiladi.</a:t>
            </a:r>
          </a:p>
          <a:p>
            <a:pPr>
              <a:spcAft>
                <a:spcPts val="1200"/>
              </a:spcAft>
            </a:pPr>
            <a:r>
              <a:rPr sz="2000">
                <a:solidFill>
                  <a:srgbClr val="1F2937"/>
                </a:solidFill>
                <a:latin typeface="Calibri"/>
              </a:rPr>
              <a:t>▸  Diqqat: xato qilish xavfi! Quruq (koagulyasion) nekroz kislotaga, suyuq (kollikvatsion) nekroz ishqorga xos. Savol: qaysi murda kislotadan, qaysi biri ishqordan zaharlangan va nima uchun?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141, 143, 140-141, 143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Destruktiv zaharlar: umumiy tavsif</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84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Bu guruhga og‘ir metallar (simob, qo‘rg‘oshin, talliy), metalloid margimush va ularning birikmalari kiradi. Ular mahalliy ta’sir ko‘rsatadi, qonga so‘rilgach ichki a’zolarda distrofik va nekrotik o‘zgarishlar chaqiradi.</a:t>
            </a:r>
          </a:p>
          <a:p>
            <a:pPr>
              <a:spcAft>
                <a:spcPts val="1200"/>
              </a:spcAft>
            </a:pPr>
            <a:r>
              <a:rPr sz="2000">
                <a:solidFill>
                  <a:srgbClr val="1F2937"/>
                </a:solidFill>
                <a:latin typeface="Calibri"/>
              </a:rPr>
              <a:t>▸  Ular sulfgidril guruhlarini bog‘lab fermentlarni inaktivlaydi. Natijada markaziy va periferik nerv tizimi hamda barcha turdagi modda almashinuvi buziladi. Aksariyati organizmda to‘planadi (kumulyatsiya).</a:t>
            </a:r>
          </a:p>
          <a:p>
            <a:pPr>
              <a:spcAft>
                <a:spcPts val="1200"/>
              </a:spcAft>
            </a:pPr>
            <a:r>
              <a:rPr sz="2000">
                <a:solidFill>
                  <a:srgbClr val="1F2937"/>
                </a:solidFill>
                <a:latin typeface="Calibri"/>
              </a:rPr>
              <a:t>▸  Hozir bunday zaharlanishlar kam uchraydi va asosan kasbiy faoliyat bilan bog‘liq. Sud-tibbiy jihatdan ularning anorganik va organik birikmalari muhimroq.</a:t>
            </a:r>
          </a:p>
          <a:p>
            <a:pPr>
              <a:spcAft>
                <a:spcPts val="1200"/>
              </a:spcAft>
            </a:pPr>
            <a:r>
              <a:rPr sz="2000">
                <a:solidFill>
                  <a:srgbClr val="1F2937"/>
                </a:solidFill>
                <a:latin typeface="Calibri"/>
              </a:rPr>
              <a:t>▸  Qo‘ziqorinlar og‘ir metallarni to‘playdi. Gavjum yo‘l bo‘yida o‘sganlarida metall miqdori yerdagiga nisbatan bir necha yuz barobar ko‘p bo‘lishi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145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Simob va uning birikmalari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84</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Sulema suvda yaxshi eriydigan kuchli zahar. Sof simob ichilsa, erimagani uchun zaharlamaydi.</a:t>
            </a:r>
          </a:p>
          <a:p>
            <a:pPr>
              <a:spcAft>
                <a:spcPts val="800"/>
              </a:spcAft>
            </a:pPr>
            <a:r>
              <a:rPr sz="1800">
                <a:solidFill>
                  <a:srgbClr val="1F2937"/>
                </a:solidFill>
                <a:latin typeface="Calibri"/>
              </a:rPr>
              <a:t>▸  Murdada “sulema dizenteriyasi” (yo‘g‘on ichak) va “sulema buyragi” topiladi.</a:t>
            </a:r>
          </a:p>
          <a:p>
            <a:pPr>
              <a:spcAft>
                <a:spcPts val="800"/>
              </a:spcAft>
            </a:pPr>
            <a:r>
              <a:rPr sz="1800">
                <a:solidFill>
                  <a:srgbClr val="1F2937"/>
                </a:solidFill>
                <a:latin typeface="Calibri"/>
              </a:rPr>
              <a:t>▸  Letal doza: sulema 0,1–0,3 g, granozan 0,2–0,4 g. Simob o‘nlab yillardan keyin ham topiladi.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715018"/>
                <a:gridCol w="1786478"/>
                <a:gridCol w="1786478"/>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Anorganik</a:t>
                      </a:r>
                    </a:p>
                  </a:txBody>
                  <a:tcPr marL="73152" marR="73152" marT="36576" marB="36576">
                    <a:solidFill>
                      <a:srgbClr val="0B1F3A"/>
                    </a:solidFill>
                  </a:tcPr>
                </a:tc>
                <a:tc>
                  <a:txBody>
                    <a:bodyPr/>
                    <a:lstStyle/>
                    <a:p>
                      <a:r>
                        <a:rPr sz="1300" b="1">
                          <a:solidFill>
                            <a:srgbClr val="FFFFFF"/>
                          </a:solidFill>
                        </a:rPr>
                        <a:t>Organik</a:t>
                      </a:r>
                    </a:p>
                  </a:txBody>
                  <a:tcPr marL="73152" marR="73152" marT="36576" marB="36576">
                    <a:solidFill>
                      <a:srgbClr val="0B1F3A"/>
                    </a:solidFill>
                  </a:tcPr>
                </a:tc>
              </a:tr>
              <a:tr h="411480">
                <a:tc>
                  <a:txBody>
                    <a:bodyPr/>
                    <a:lstStyle/>
                    <a:p>
                      <a:r>
                        <a:rPr sz="1200" b="0">
                          <a:solidFill>
                            <a:srgbClr val="1F2937"/>
                          </a:solidFill>
                        </a:rPr>
                        <a:t>Buyrak va ichak shikasti</a:t>
                      </a:r>
                    </a:p>
                  </a:txBody>
                  <a:tcPr marL="73152" marR="73152" marT="36576" marB="36576">
                    <a:solidFill>
                      <a:srgbClr val="E8EEF6"/>
                    </a:solidFill>
                  </a:tcPr>
                </a:tc>
                <a:tc>
                  <a:txBody>
                    <a:bodyPr/>
                    <a:lstStyle/>
                    <a:p>
                      <a:r>
                        <a:rPr sz="1200" b="0">
                          <a:solidFill>
                            <a:srgbClr val="1F2937"/>
                          </a:solidFill>
                        </a:rPr>
                        <a:t>Kuchli (sulema)</a:t>
                      </a:r>
                    </a:p>
                  </a:txBody>
                  <a:tcPr marL="73152" marR="73152" marT="36576" marB="36576">
                    <a:solidFill>
                      <a:srgbClr val="E8EEF6"/>
                    </a:solidFill>
                  </a:tcPr>
                </a:tc>
                <a:tc>
                  <a:txBody>
                    <a:bodyPr/>
                    <a:lstStyle/>
                    <a:p>
                      <a:r>
                        <a:rPr sz="1200" b="0">
                          <a:solidFill>
                            <a:srgbClr val="1F2937"/>
                          </a:solidFill>
                        </a:rPr>
                        <a:t>Kuchsizroq (granozan)</a:t>
                      </a:r>
                    </a:p>
                  </a:txBody>
                  <a:tcPr marL="73152" marR="73152" marT="36576" marB="36576">
                    <a:solidFill>
                      <a:srgbClr val="E8EEF6"/>
                    </a:solidFill>
                  </a:tcPr>
                </a:tc>
              </a:tr>
              <a:tr h="411480">
                <a:tc>
                  <a:txBody>
                    <a:bodyPr/>
                    <a:lstStyle/>
                    <a:p>
                      <a:r>
                        <a:rPr sz="1200" b="0">
                          <a:solidFill>
                            <a:srgbClr val="1F2937"/>
                          </a:solidFill>
                        </a:rPr>
                        <a:t>Stomatit</a:t>
                      </a:r>
                    </a:p>
                  </a:txBody>
                  <a:tcPr marL="73152" marR="73152" marT="36576" marB="36576">
                    <a:solidFill>
                      <a:srgbClr val="FFFFFF"/>
                    </a:solidFill>
                  </a:tcPr>
                </a:tc>
                <a:tc>
                  <a:txBody>
                    <a:bodyPr/>
                    <a:lstStyle/>
                    <a:p>
                      <a:r>
                        <a:rPr sz="1200" b="0">
                          <a:solidFill>
                            <a:srgbClr val="1F2937"/>
                          </a:solidFill>
                        </a:rPr>
                        <a:t>Rivojlanadi</a:t>
                      </a:r>
                    </a:p>
                  </a:txBody>
                  <a:tcPr marL="73152" marR="73152" marT="36576" marB="36576">
                    <a:solidFill>
                      <a:srgbClr val="FFFFFF"/>
                    </a:solidFill>
                  </a:tcPr>
                </a:tc>
                <a:tc>
                  <a:txBody>
                    <a:bodyPr/>
                    <a:lstStyle/>
                    <a:p>
                      <a:r>
                        <a:rPr sz="1200" b="0">
                          <a:solidFill>
                            <a:srgbClr val="1F2937"/>
                          </a:solidFill>
                        </a:rPr>
                        <a:t>Rivojlanmaydi</a:t>
                      </a:r>
                    </a:p>
                  </a:txBody>
                  <a:tcPr marL="73152" marR="73152" marT="36576" marB="36576">
                    <a:solidFill>
                      <a:srgbClr val="FFFFFF"/>
                    </a:solidFill>
                  </a:tcPr>
                </a:tc>
              </a:tr>
              <a:tr h="411480">
                <a:tc>
                  <a:txBody>
                    <a:bodyPr/>
                    <a:lstStyle/>
                    <a:p>
                      <a:r>
                        <a:rPr sz="1200" b="0">
                          <a:solidFill>
                            <a:srgbClr val="1F2937"/>
                          </a:solidFill>
                        </a:rPr>
                        <a:t>Neyrotoksik ta’sir</a:t>
                      </a:r>
                    </a:p>
                  </a:txBody>
                  <a:tcPr marL="73152" marR="73152" marT="36576" marB="36576">
                    <a:solidFill>
                      <a:srgbClr val="E8EEF6"/>
                    </a:solidFill>
                  </a:tcPr>
                </a:tc>
                <a:tc>
                  <a:txBody>
                    <a:bodyPr/>
                    <a:lstStyle/>
                    <a:p>
                      <a:r>
                        <a:rPr sz="1200" b="0">
                          <a:solidFill>
                            <a:srgbClr val="1F2937"/>
                          </a:solidFill>
                        </a:rPr>
                        <a:t>Nisbatan kuchsizroq</a:t>
                      </a:r>
                    </a:p>
                  </a:txBody>
                  <a:tcPr marL="73152" marR="73152" marT="36576" marB="36576">
                    <a:solidFill>
                      <a:srgbClr val="E8EEF6"/>
                    </a:solidFill>
                  </a:tcPr>
                </a:tc>
                <a:tc>
                  <a:txBody>
                    <a:bodyPr/>
                    <a:lstStyle/>
                    <a:p>
                      <a:r>
                        <a:rPr sz="1200" b="0">
                          <a:solidFill>
                            <a:srgbClr val="1F2937"/>
                          </a:solidFill>
                        </a:rPr>
                        <a:t>Kuchliroq, ensefalopatiya</a:t>
                      </a:r>
                    </a:p>
                  </a:txBody>
                  <a:tcPr marL="73152" marR="73152" marT="36576" marB="36576">
                    <a:solidFill>
                      <a:srgbClr val="E8EEF6"/>
                    </a:solidFill>
                  </a:tcPr>
                </a:tc>
              </a:tr>
              <a:tr h="411480">
                <a:tc>
                  <a:txBody>
                    <a:bodyPr/>
                    <a:lstStyle/>
                    <a:p>
                      <a:r>
                        <a:rPr sz="1200" b="0">
                          <a:solidFill>
                            <a:srgbClr val="1F2937"/>
                          </a:solidFill>
                        </a:rPr>
                        <a:t>Kechishi</a:t>
                      </a:r>
                    </a:p>
                  </a:txBody>
                  <a:tcPr marL="73152" marR="73152" marT="36576" marB="36576">
                    <a:solidFill>
                      <a:srgbClr val="FFFFFF"/>
                    </a:solidFill>
                  </a:tcPr>
                </a:tc>
                <a:tc>
                  <a:txBody>
                    <a:bodyPr/>
                    <a:lstStyle/>
                    <a:p>
                      <a:r>
                        <a:rPr sz="1200" b="0">
                          <a:solidFill>
                            <a:srgbClr val="1F2937"/>
                          </a:solidFill>
                        </a:rPr>
                        <a:t>Odatda o‘tkir, haftagacha</a:t>
                      </a:r>
                    </a:p>
                  </a:txBody>
                  <a:tcPr marL="73152" marR="73152" marT="36576" marB="36576">
                    <a:solidFill>
                      <a:srgbClr val="FFFFFF"/>
                    </a:solidFill>
                  </a:tcPr>
                </a:tc>
                <a:tc>
                  <a:txBody>
                    <a:bodyPr/>
                    <a:lstStyle/>
                    <a:p>
                      <a:r>
                        <a:rPr sz="1200" b="0">
                          <a:solidFill>
                            <a:srgbClr val="1F2937"/>
                          </a:solidFill>
                        </a:rPr>
                        <a:t>Odatda surunkali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Anorganik va organik simob</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145, 146, 147</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Qo‘rg‘oshin, talliy va margimush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84</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Qo‘rg‘oshinda ichak va buyrak simobdagidan kuchsizroq, nerv tizimi esa jiddiyroq zararlanadi.</a:t>
            </a:r>
          </a:p>
          <a:p>
            <a:pPr>
              <a:spcAft>
                <a:spcPts val="800"/>
              </a:spcAft>
            </a:pPr>
            <a:r>
              <a:rPr sz="1800">
                <a:solidFill>
                  <a:srgbClr val="1F2937"/>
                </a:solidFill>
                <a:latin typeface="Calibri"/>
              </a:rPr>
              <a:t>▸  Margimushning letal dozasi 0,1–0,2 g. Ichak turida qusish, ich ketishi; paralitik turda koma.</a:t>
            </a:r>
          </a:p>
          <a:p>
            <a:pPr>
              <a:spcAft>
                <a:spcPts val="800"/>
              </a:spcAft>
            </a:pPr>
            <a:r>
              <a:rPr sz="1800">
                <a:solidFill>
                  <a:srgbClr val="1F2937"/>
                </a:solidFill>
                <a:latin typeface="Calibri"/>
              </a:rPr>
              <a:t>▸  Margimush jigar, teri, soch, tirnoq va suyakda yig‘iladi, murdada yillar saqlanadi.</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149559"/>
                <a:gridCol w="1839295"/>
                <a:gridCol w="2299119"/>
              </a:tblGrid>
              <a:tr h="411480">
                <a:tc>
                  <a:txBody>
                    <a:bodyPr/>
                    <a:lstStyle/>
                    <a:p>
                      <a:r>
                        <a:rPr sz="1300" b="1">
                          <a:solidFill>
                            <a:srgbClr val="FFFFFF"/>
                          </a:solidFill>
                        </a:rPr>
                        <a:t>Modda</a:t>
                      </a:r>
                    </a:p>
                  </a:txBody>
                  <a:tcPr marL="73152" marR="73152" marT="36576" marB="36576">
                    <a:solidFill>
                      <a:srgbClr val="0B1F3A"/>
                    </a:solidFill>
                  </a:tcPr>
                </a:tc>
                <a:tc>
                  <a:txBody>
                    <a:bodyPr/>
                    <a:lstStyle/>
                    <a:p>
                      <a:r>
                        <a:rPr sz="1300" b="1">
                          <a:solidFill>
                            <a:srgbClr val="FFFFFF"/>
                          </a:solidFill>
                        </a:rPr>
                        <a:t>Xos belgi</a:t>
                      </a:r>
                    </a:p>
                  </a:txBody>
                  <a:tcPr marL="73152" marR="73152" marT="36576" marB="36576">
                    <a:solidFill>
                      <a:srgbClr val="0B1F3A"/>
                    </a:solidFill>
                  </a:tcPr>
                </a:tc>
                <a:tc>
                  <a:txBody>
                    <a:bodyPr/>
                    <a:lstStyle/>
                    <a:p>
                      <a:r>
                        <a:rPr sz="1300" b="1">
                          <a:solidFill>
                            <a:srgbClr val="FFFFFF"/>
                          </a:solidFill>
                        </a:rPr>
                        <a:t>Izoh</a:t>
                      </a:r>
                    </a:p>
                  </a:txBody>
                  <a:tcPr marL="73152" marR="73152" marT="36576" marB="36576">
                    <a:solidFill>
                      <a:srgbClr val="0B1F3A"/>
                    </a:solidFill>
                  </a:tcPr>
                </a:tc>
              </a:tr>
              <a:tr h="411480">
                <a:tc>
                  <a:txBody>
                    <a:bodyPr/>
                    <a:lstStyle/>
                    <a:p>
                      <a:r>
                        <a:rPr sz="1200" b="0">
                          <a:solidFill>
                            <a:srgbClr val="1F2937"/>
                          </a:solidFill>
                        </a:rPr>
                        <a:t>Qo‘rg‘oshin tuzlari</a:t>
                      </a:r>
                    </a:p>
                  </a:txBody>
                  <a:tcPr marL="73152" marR="73152" marT="36576" marB="36576">
                    <a:solidFill>
                      <a:srgbClr val="E8EEF6"/>
                    </a:solidFill>
                  </a:tcPr>
                </a:tc>
                <a:tc>
                  <a:txBody>
                    <a:bodyPr/>
                    <a:lstStyle/>
                    <a:p>
                      <a:r>
                        <a:rPr sz="1200" b="0">
                          <a:solidFill>
                            <a:srgbClr val="1F2937"/>
                          </a:solidFill>
                        </a:rPr>
                        <a:t>Nerv shikasti, kamqonlik</a:t>
                      </a:r>
                    </a:p>
                  </a:txBody>
                  <a:tcPr marL="73152" marR="73152" marT="36576" marB="36576">
                    <a:solidFill>
                      <a:srgbClr val="E8EEF6"/>
                    </a:solidFill>
                  </a:tcPr>
                </a:tc>
                <a:tc>
                  <a:txBody>
                    <a:bodyPr/>
                    <a:lstStyle/>
                    <a:p>
                      <a:r>
                        <a:rPr sz="1200" b="0">
                          <a:solidFill>
                            <a:srgbClr val="1F2937"/>
                          </a:solidFill>
                        </a:rPr>
                        <a:t>Ichak, buyrak kuchsizroq</a:t>
                      </a:r>
                    </a:p>
                  </a:txBody>
                  <a:tcPr marL="73152" marR="73152" marT="36576" marB="36576">
                    <a:solidFill>
                      <a:srgbClr val="E8EEF6"/>
                    </a:solidFill>
                  </a:tcPr>
                </a:tc>
              </a:tr>
              <a:tr h="411480">
                <a:tc>
                  <a:txBody>
                    <a:bodyPr/>
                    <a:lstStyle/>
                    <a:p>
                      <a:r>
                        <a:rPr sz="1200" b="0">
                          <a:solidFill>
                            <a:srgbClr val="1F2937"/>
                          </a:solidFill>
                        </a:rPr>
                        <a:t>Tetraetilqo‘rg‘oshin</a:t>
                      </a:r>
                    </a:p>
                  </a:txBody>
                  <a:tcPr marL="73152" marR="73152" marT="36576" marB="36576">
                    <a:solidFill>
                      <a:srgbClr val="FFFFFF"/>
                    </a:solidFill>
                  </a:tcPr>
                </a:tc>
                <a:tc>
                  <a:txBody>
                    <a:bodyPr/>
                    <a:lstStyle/>
                    <a:p>
                      <a:r>
                        <a:rPr sz="1200" b="0">
                          <a:solidFill>
                            <a:srgbClr val="1F2937"/>
                          </a:solidFill>
                        </a:rPr>
                        <a:t>Psixoz, gallyusinatsiya, koma</a:t>
                      </a:r>
                    </a:p>
                  </a:txBody>
                  <a:tcPr marL="73152" marR="73152" marT="36576" marB="36576">
                    <a:solidFill>
                      <a:srgbClr val="FFFFFF"/>
                    </a:solidFill>
                  </a:tcPr>
                </a:tc>
                <a:tc>
                  <a:txBody>
                    <a:bodyPr/>
                    <a:lstStyle/>
                    <a:p>
                      <a:r>
                        <a:rPr sz="1200" b="0">
                          <a:solidFill>
                            <a:srgbClr val="1F2937"/>
                          </a:solidFill>
                        </a:rPr>
                        <a:t>Etillangan benzin; hozir taqiqlangan</a:t>
                      </a:r>
                    </a:p>
                  </a:txBody>
                  <a:tcPr marL="73152" marR="73152" marT="36576" marB="36576">
                    <a:solidFill>
                      <a:srgbClr val="FFFFFF"/>
                    </a:solidFill>
                  </a:tcPr>
                </a:tc>
              </a:tr>
              <a:tr h="411480">
                <a:tc>
                  <a:txBody>
                    <a:bodyPr/>
                    <a:lstStyle/>
                    <a:p>
                      <a:r>
                        <a:rPr sz="1200" b="0">
                          <a:solidFill>
                            <a:srgbClr val="1F2937"/>
                          </a:solidFill>
                        </a:rPr>
                        <a:t>Talliy</a:t>
                      </a:r>
                    </a:p>
                  </a:txBody>
                  <a:tcPr marL="73152" marR="73152" marT="36576" marB="36576">
                    <a:solidFill>
                      <a:srgbClr val="E8EEF6"/>
                    </a:solidFill>
                  </a:tcPr>
                </a:tc>
                <a:tc>
                  <a:txBody>
                    <a:bodyPr/>
                    <a:lstStyle/>
                    <a:p>
                      <a:r>
                        <a:rPr sz="1200" b="0">
                          <a:solidFill>
                            <a:srgbClr val="1F2937"/>
                          </a:solidFill>
                        </a:rPr>
                        <a:t>Soch to‘kilishi, polineyropatiya</a:t>
                      </a:r>
                    </a:p>
                  </a:txBody>
                  <a:tcPr marL="73152" marR="73152" marT="36576" marB="36576">
                    <a:solidFill>
                      <a:srgbClr val="E8EEF6"/>
                    </a:solidFill>
                  </a:tcPr>
                </a:tc>
                <a:tc>
                  <a:txBody>
                    <a:bodyPr/>
                    <a:lstStyle/>
                    <a:p>
                      <a:r>
                        <a:rPr sz="1200" b="0">
                          <a:solidFill>
                            <a:srgbClr val="1F2937"/>
                          </a:solidFill>
                        </a:rPr>
                        <a:t>Osh tuziga o‘xshaydi; qotillik holatlari bor</a:t>
                      </a:r>
                    </a:p>
                  </a:txBody>
                  <a:tcPr marL="73152" marR="73152" marT="36576" marB="36576">
                    <a:solidFill>
                      <a:srgbClr val="E8EEF6"/>
                    </a:solidFill>
                  </a:tcPr>
                </a:tc>
              </a:tr>
              <a:tr h="411480">
                <a:tc>
                  <a:txBody>
                    <a:bodyPr/>
                    <a:lstStyle/>
                    <a:p>
                      <a:r>
                        <a:rPr sz="1200" b="0">
                          <a:solidFill>
                            <a:srgbClr val="1F2937"/>
                          </a:solidFill>
                        </a:rPr>
                        <a:t>Margimush</a:t>
                      </a:r>
                    </a:p>
                  </a:txBody>
                  <a:tcPr marL="73152" marR="73152" marT="36576" marB="36576">
                    <a:solidFill>
                      <a:srgbClr val="FFFFFF"/>
                    </a:solidFill>
                  </a:tcPr>
                </a:tc>
                <a:tc>
                  <a:txBody>
                    <a:bodyPr/>
                    <a:lstStyle/>
                    <a:p>
                      <a:r>
                        <a:rPr sz="1200" b="0">
                          <a:solidFill>
                            <a:srgbClr val="1F2937"/>
                          </a:solidFill>
                        </a:rPr>
                        <a:t>Ichak va paralitik tur</a:t>
                      </a:r>
                    </a:p>
                  </a:txBody>
                  <a:tcPr marL="73152" marR="73152" marT="36576" marB="36576">
                    <a:solidFill>
                      <a:srgbClr val="FFFFFF"/>
                    </a:solidFill>
                  </a:tcPr>
                </a:tc>
                <a:tc>
                  <a:txBody>
                    <a:bodyPr/>
                    <a:lstStyle/>
                    <a:p>
                      <a:r>
                        <a:rPr sz="1200" b="0">
                          <a:solidFill>
                            <a:srgbClr val="1F2937"/>
                          </a:solidFill>
                        </a:rPr>
                        <a:t>Soch, tirnoq, suyakda yig‘iladi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Og‘ir metallar solishtirmasi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147, 148–149, 149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Qon zaharlari: is gazi bilan zaharlanish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84</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Is gazi gemoglobin bilan turg‘un karboksigemoglobin hosil qilib, to‘qima gipoksiyasini chaqiradi.</a:t>
            </a:r>
          </a:p>
          <a:p>
            <a:pPr>
              <a:spcAft>
                <a:spcPts val="800"/>
              </a:spcAft>
            </a:pPr>
            <a:r>
              <a:rPr sz="1800">
                <a:solidFill>
                  <a:srgbClr val="1F2937"/>
                </a:solidFill>
                <a:latin typeface="Calibri"/>
              </a:rPr>
              <a:t>▸  Murda dog‘lari pushti-qizg‘ish. Goppe-Zeyler va Libman sinamalarida qon rangi o‘zgarmaydi.</a:t>
            </a:r>
          </a:p>
          <a:p>
            <a:pPr>
              <a:spcAft>
                <a:spcPts val="800"/>
              </a:spcAft>
            </a:pPr>
            <a:r>
              <a:rPr sz="1800">
                <a:solidFill>
                  <a:srgbClr val="1F2937"/>
                </a:solidFill>
                <a:latin typeface="Calibri"/>
              </a:rPr>
              <a:t>▸  Spektroskopiyada qaytaruvchi qo‘shilsa ham ikki yutish yo‘lakchasi bittaga aylanmaydi.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2606748"/>
                <a:gridCol w="2681226"/>
              </a:tblGrid>
              <a:tr h="411480">
                <a:tc>
                  <a:txBody>
                    <a:bodyPr/>
                    <a:lstStyle/>
                    <a:p>
                      <a:r>
                        <a:rPr sz="1400" b="1">
                          <a:solidFill>
                            <a:srgbClr val="FFFFFF"/>
                          </a:solidFill>
                        </a:rPr>
                        <a:t>Ko‘rsatkich</a:t>
                      </a:r>
                    </a:p>
                  </a:txBody>
                  <a:tcPr marL="73152" marR="73152" marT="36576" marB="36576">
                    <a:solidFill>
                      <a:srgbClr val="0B1F3A"/>
                    </a:solidFill>
                  </a:tcPr>
                </a:tc>
                <a:tc>
                  <a:txBody>
                    <a:bodyPr/>
                    <a:lstStyle/>
                    <a:p>
                      <a:r>
                        <a:rPr sz="1400" b="1">
                          <a:solidFill>
                            <a:srgbClr val="FFFFFF"/>
                          </a:solidFill>
                        </a:rPr>
                        <a:t>Oqibat</a:t>
                      </a:r>
                    </a:p>
                  </a:txBody>
                  <a:tcPr marL="73152" marR="73152" marT="36576" marB="36576">
                    <a:solidFill>
                      <a:srgbClr val="0B1F3A"/>
                    </a:solidFill>
                  </a:tcPr>
                </a:tc>
              </a:tr>
              <a:tr h="411480">
                <a:tc>
                  <a:txBody>
                    <a:bodyPr/>
                    <a:lstStyle/>
                    <a:p>
                      <a:r>
                        <a:rPr sz="1300" b="0">
                          <a:solidFill>
                            <a:srgbClr val="1F2937"/>
                          </a:solidFill>
                        </a:rPr>
                        <a:t>Karboksigemoglobin 25–30% dan oshsa</a:t>
                      </a:r>
                    </a:p>
                  </a:txBody>
                  <a:tcPr marL="73152" marR="73152" marT="36576" marB="36576">
                    <a:solidFill>
                      <a:srgbClr val="E8EEF6"/>
                    </a:solidFill>
                  </a:tcPr>
                </a:tc>
                <a:tc>
                  <a:txBody>
                    <a:bodyPr/>
                    <a:lstStyle/>
                    <a:p>
                      <a:r>
                        <a:rPr sz="1300" b="0">
                          <a:solidFill>
                            <a:srgbClr val="1F2937"/>
                          </a:solidFill>
                        </a:rPr>
                        <a:t>Dastlabki belgilar paydo bo‘ladi</a:t>
                      </a:r>
                    </a:p>
                  </a:txBody>
                  <a:tcPr marL="73152" marR="73152" marT="36576" marB="36576">
                    <a:solidFill>
                      <a:srgbClr val="E8EEF6"/>
                    </a:solidFill>
                  </a:tcPr>
                </a:tc>
              </a:tr>
              <a:tr h="411480">
                <a:tc>
                  <a:txBody>
                    <a:bodyPr/>
                    <a:lstStyle/>
                    <a:p>
                      <a:r>
                        <a:rPr sz="1300" b="0">
                          <a:solidFill>
                            <a:srgbClr val="1F2937"/>
                          </a:solidFill>
                        </a:rPr>
                        <a:t>Karboksigemoglobin 60% dan oshsa</a:t>
                      </a:r>
                    </a:p>
                  </a:txBody>
                  <a:tcPr marL="73152" marR="73152" marT="36576" marB="36576">
                    <a:solidFill>
                      <a:srgbClr val="FFFFFF"/>
                    </a:solidFill>
                  </a:tcPr>
                </a:tc>
                <a:tc>
                  <a:txBody>
                    <a:bodyPr/>
                    <a:lstStyle/>
                    <a:p>
                      <a:r>
                        <a:rPr sz="1300" b="0">
                          <a:solidFill>
                            <a:srgbClr val="1F2937"/>
                          </a:solidFill>
                        </a:rPr>
                        <a:t>Nafas markazi falaji, o‘lim</a:t>
                      </a:r>
                    </a:p>
                  </a:txBody>
                  <a:tcPr marL="73152" marR="73152" marT="36576" marB="36576">
                    <a:solidFill>
                      <a:srgbClr val="FFFFFF"/>
                    </a:solidFill>
                  </a:tcPr>
                </a:tc>
              </a:tr>
              <a:tr h="411480">
                <a:tc>
                  <a:txBody>
                    <a:bodyPr/>
                    <a:lstStyle/>
                    <a:p>
                      <a:r>
                        <a:rPr sz="1300" b="0">
                          <a:solidFill>
                            <a:srgbClr val="1F2937"/>
                          </a:solidFill>
                        </a:rPr>
                        <a:t>Havoda 0,4% is gazi</a:t>
                      </a:r>
                    </a:p>
                  </a:txBody>
                  <a:tcPr marL="73152" marR="73152" marT="36576" marB="36576">
                    <a:solidFill>
                      <a:srgbClr val="E8EEF6"/>
                    </a:solidFill>
                  </a:tcPr>
                </a:tc>
                <a:tc>
                  <a:txBody>
                    <a:bodyPr/>
                    <a:lstStyle/>
                    <a:p>
                      <a:r>
                        <a:rPr sz="1300" b="0">
                          <a:solidFill>
                            <a:srgbClr val="1F2937"/>
                          </a:solidFill>
                        </a:rPr>
                        <a:t>20–30 daqiqada o‘lim</a:t>
                      </a:r>
                    </a:p>
                  </a:txBody>
                  <a:tcPr marL="73152" marR="73152" marT="36576" marB="36576">
                    <a:solidFill>
                      <a:srgbClr val="E8EEF6"/>
                    </a:solidFill>
                  </a:tcPr>
                </a:tc>
              </a:tr>
              <a:tr h="411480">
                <a:tc>
                  <a:txBody>
                    <a:bodyPr/>
                    <a:lstStyle/>
                    <a:p>
                      <a:r>
                        <a:rPr sz="1300" b="0">
                          <a:solidFill>
                            <a:srgbClr val="1F2937"/>
                          </a:solidFill>
                        </a:rPr>
                        <a:t>Havoda 1% dan ortiq</a:t>
                      </a:r>
                    </a:p>
                  </a:txBody>
                  <a:tcPr marL="73152" marR="73152" marT="36576" marB="36576">
                    <a:solidFill>
                      <a:srgbClr val="FFFFFF"/>
                    </a:solidFill>
                  </a:tcPr>
                </a:tc>
                <a:tc>
                  <a:txBody>
                    <a:bodyPr/>
                    <a:lstStyle/>
                    <a:p>
                      <a:r>
                        <a:rPr sz="1300" b="0">
                          <a:solidFill>
                            <a:srgbClr val="1F2937"/>
                          </a:solidFill>
                        </a:rPr>
                        <a:t>Yashinsimon shakl, soniyalarda o‘lim</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Is gazi: darajalar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150, 151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Metgemoglobin hosil qiluvchi zaharlar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84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Nitrit va nitrat tuzlari, nitrobenzol, anilin, kaliy xlorat (Bertole tuzi) va gidroxinon metgemoglobin hosil qiladi. Ular rezina va bo‘yoq ishlab chiqarishda hamda konservada ishlatiladi.</a:t>
            </a:r>
          </a:p>
          <a:p>
            <a:pPr>
              <a:spcAft>
                <a:spcPts val="1200"/>
              </a:spcAft>
            </a:pPr>
            <a:r>
              <a:rPr sz="2000">
                <a:solidFill>
                  <a:srgbClr val="1F2937"/>
                </a:solidFill>
                <a:latin typeface="Calibri"/>
              </a:rPr>
              <a:t>▸  Metgemoglobinda uch valentli temir gidroksil bilan bog‘langan. Gemoglobin kislorodni tashiy olmaydi va gemik gipoksiya rivojlanadi.</a:t>
            </a:r>
          </a:p>
          <a:p>
            <a:pPr>
              <a:spcAft>
                <a:spcPts val="1200"/>
              </a:spcAft>
            </a:pPr>
            <a:r>
              <a:rPr sz="2000">
                <a:solidFill>
                  <a:srgbClr val="1F2937"/>
                </a:solidFill>
                <a:latin typeface="Calibri"/>
              </a:rPr>
              <a:t>▸  Nitratlar ichakda nitritga aylangandagina metgemoglobin hosil qiladi, shu sababli nitritlardan kuchsizroq ta’sir etadi.</a:t>
            </a:r>
          </a:p>
          <a:p>
            <a:pPr>
              <a:spcAft>
                <a:spcPts val="1200"/>
              </a:spcAft>
            </a:pPr>
            <a:r>
              <a:rPr sz="2000">
                <a:solidFill>
                  <a:srgbClr val="1F2937"/>
                </a:solidFill>
                <a:latin typeface="Calibri"/>
              </a:rPr>
              <a:t>▸  Birinchi kuni o‘lim o‘tkir gemik gipoksiyadan, keyingi kunlarda o‘tkir buyrak yetishmovchiligidan bo‘ladi. Murda dog‘lari ko‘kimtir-kulrang yoki qo‘ng‘ir, ichki a’zolar jigarrang.</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152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is gazi va metgemoglobin</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84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ikkita murda ko‘rildi. Birida dog‘lar pushti-qizg‘ish, ikkinchisida ko‘kimtir-kulrang yoki qo‘ng‘ir. Ikkalasida ham gipoksiyadan o‘lim gumon qilinmoqda.</a:t>
            </a:r>
          </a:p>
          <a:p>
            <a:pPr>
              <a:spcAft>
                <a:spcPts val="1200"/>
              </a:spcAft>
            </a:pPr>
            <a:r>
              <a:rPr sz="2200">
                <a:solidFill>
                  <a:srgbClr val="1F2937"/>
                </a:solidFill>
                <a:latin typeface="Calibri"/>
              </a:rPr>
              <a:t>▸  Goppe-Zeyler sinamasida ishqor qo‘shilganda normal qon qo‘ng‘ir-qora bo‘ladi. Karboksigemoglobinli qonning rangi o‘zgarmaydi.</a:t>
            </a:r>
          </a:p>
          <a:p>
            <a:pPr>
              <a:spcAft>
                <a:spcPts val="1200"/>
              </a:spcAft>
            </a:pPr>
            <a:r>
              <a:rPr sz="2200">
                <a:solidFill>
                  <a:srgbClr val="1F2937"/>
                </a:solidFill>
                <a:latin typeface="Calibri"/>
              </a:rPr>
              <a:t>▸  Diqqat: xato qilish xavfi! Is gazida dog‘lar pushti, metgemoglobinda qo‘ng‘ir. 1-2 kundan so‘ng qonda metgemoglobin topilmasligi ham mumkin.</a:t>
            </a:r>
          </a:p>
          <a:p>
            <a:pPr>
              <a:spcAft>
                <a:spcPts val="1200"/>
              </a:spcAft>
            </a:pPr>
            <a:r>
              <a:rPr sz="2200">
                <a:solidFill>
                  <a:srgbClr val="1F2937"/>
                </a:solidFill>
                <a:latin typeface="Calibri"/>
              </a:rPr>
              <a:t>▸  Savol: qaysi murdada is gazi, qaysisida metgemoglobin zahari gumon qilinadi? Qaysi sinama va spektroskopiya natijasi buni tasdiqlaydi?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151-152, 151, 151-153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Funksional zaharlar: MNTni falajlovchilar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84</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Funksional zaharlar odatda xos morfologik o‘zgarish bermaydi; diagnoz klinika va laboratoriyaga tayanadi.</a:t>
            </a:r>
          </a:p>
          <a:p>
            <a:pPr>
              <a:spcAft>
                <a:spcPts val="800"/>
              </a:spcAft>
            </a:pPr>
            <a:r>
              <a:rPr sz="1800">
                <a:solidFill>
                  <a:srgbClr val="1F2937"/>
                </a:solidFill>
                <a:latin typeface="Calibri"/>
              </a:rPr>
              <a:t>▸  Sianid antidoti – metgemoglobin hosil qiluvchi moddalar: sian anionini sitoxromdan ajratib, nafasni tiklaydi.</a:t>
            </a:r>
          </a:p>
          <a:p>
            <a:pPr>
              <a:spcAft>
                <a:spcPts val="800"/>
              </a:spcAft>
            </a:pPr>
            <a:r>
              <a:rPr sz="1800">
                <a:solidFill>
                  <a:srgbClr val="1F2937"/>
                </a:solidFill>
                <a:latin typeface="Calibri"/>
              </a:rPr>
              <a:t>▸  Fosfororganik zahar: xolinesteraza so‘nadi; kech o‘limda zahar topilmasa ham ferment aktivligi past bo‘ladi.</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1057595"/>
                <a:gridCol w="1718591"/>
                <a:gridCol w="2511788"/>
              </a:tblGrid>
              <a:tr h="411480">
                <a:tc>
                  <a:txBody>
                    <a:bodyPr/>
                    <a:lstStyle/>
                    <a:p>
                      <a:r>
                        <a:rPr sz="1300" b="1">
                          <a:solidFill>
                            <a:srgbClr val="FFFFFF"/>
                          </a:solidFill>
                        </a:rPr>
                        <a:t>Zahar</a:t>
                      </a:r>
                    </a:p>
                  </a:txBody>
                  <a:tcPr marL="73152" marR="73152" marT="36576" marB="36576">
                    <a:solidFill>
                      <a:srgbClr val="0B1F3A"/>
                    </a:solidFill>
                  </a:tcPr>
                </a:tc>
                <a:tc>
                  <a:txBody>
                    <a:bodyPr/>
                    <a:lstStyle/>
                    <a:p>
                      <a:r>
                        <a:rPr sz="1300" b="1">
                          <a:solidFill>
                            <a:srgbClr val="FFFFFF"/>
                          </a:solidFill>
                        </a:rPr>
                        <a:t>Nishon</a:t>
                      </a:r>
                    </a:p>
                  </a:txBody>
                  <a:tcPr marL="73152" marR="73152" marT="36576" marB="36576">
                    <a:solidFill>
                      <a:srgbClr val="0B1F3A"/>
                    </a:solidFill>
                  </a:tcPr>
                </a:tc>
                <a:tc>
                  <a:txBody>
                    <a:bodyPr/>
                    <a:lstStyle/>
                    <a:p>
                      <a:r>
                        <a:rPr sz="1300" b="1">
                          <a:solidFill>
                            <a:srgbClr val="FFFFFF"/>
                          </a:solidFill>
                        </a:rPr>
                        <a:t>Muhim belgi</a:t>
                      </a:r>
                    </a:p>
                  </a:txBody>
                  <a:tcPr marL="73152" marR="73152" marT="36576" marB="36576">
                    <a:solidFill>
                      <a:srgbClr val="0B1F3A"/>
                    </a:solidFill>
                  </a:tcPr>
                </a:tc>
              </a:tr>
              <a:tr h="411480">
                <a:tc>
                  <a:txBody>
                    <a:bodyPr/>
                    <a:lstStyle/>
                    <a:p>
                      <a:r>
                        <a:rPr sz="1200" b="0">
                          <a:solidFill>
                            <a:srgbClr val="1F2937"/>
                          </a:solidFill>
                        </a:rPr>
                        <a:t>Sianidlar</a:t>
                      </a:r>
                    </a:p>
                  </a:txBody>
                  <a:tcPr marL="73152" marR="73152" marT="36576" marB="36576">
                    <a:solidFill>
                      <a:srgbClr val="E8EEF6"/>
                    </a:solidFill>
                  </a:tcPr>
                </a:tc>
                <a:tc>
                  <a:txBody>
                    <a:bodyPr/>
                    <a:lstStyle/>
                    <a:p>
                      <a:r>
                        <a:rPr sz="1200" b="0">
                          <a:solidFill>
                            <a:srgbClr val="1F2937"/>
                          </a:solidFill>
                        </a:rPr>
                        <a:t>Sitoxromoksidaza temiri</a:t>
                      </a:r>
                    </a:p>
                  </a:txBody>
                  <a:tcPr marL="73152" marR="73152" marT="36576" marB="36576">
                    <a:solidFill>
                      <a:srgbClr val="E8EEF6"/>
                    </a:solidFill>
                  </a:tcPr>
                </a:tc>
                <a:tc>
                  <a:txBody>
                    <a:bodyPr/>
                    <a:lstStyle/>
                    <a:p>
                      <a:r>
                        <a:rPr sz="1200" b="0">
                          <a:solidFill>
                            <a:srgbClr val="1F2937"/>
                          </a:solidFill>
                        </a:rPr>
                        <a:t>Achchiq bodom hidi, olcha rang dog‘lar</a:t>
                      </a:r>
                    </a:p>
                  </a:txBody>
                  <a:tcPr marL="73152" marR="73152" marT="36576" marB="36576">
                    <a:solidFill>
                      <a:srgbClr val="E8EEF6"/>
                    </a:solidFill>
                  </a:tcPr>
                </a:tc>
              </a:tr>
              <a:tr h="411480">
                <a:tc>
                  <a:txBody>
                    <a:bodyPr/>
                    <a:lstStyle/>
                    <a:p>
                      <a:r>
                        <a:rPr sz="1200" b="0">
                          <a:solidFill>
                            <a:srgbClr val="1F2937"/>
                          </a:solidFill>
                        </a:rPr>
                        <a:t>Vodorod sulfid</a:t>
                      </a:r>
                    </a:p>
                  </a:txBody>
                  <a:tcPr marL="73152" marR="73152" marT="36576" marB="36576">
                    <a:solidFill>
                      <a:srgbClr val="FFFFFF"/>
                    </a:solidFill>
                  </a:tcPr>
                </a:tc>
                <a:tc>
                  <a:txBody>
                    <a:bodyPr/>
                    <a:lstStyle/>
                    <a:p>
                      <a:r>
                        <a:rPr sz="1200" b="0">
                          <a:solidFill>
                            <a:srgbClr val="1F2937"/>
                          </a:solidFill>
                        </a:rPr>
                        <a:t>Sitoxrom, sitoxromoksidaza</a:t>
                      </a:r>
                    </a:p>
                  </a:txBody>
                  <a:tcPr marL="73152" marR="73152" marT="36576" marB="36576">
                    <a:solidFill>
                      <a:srgbClr val="FFFFFF"/>
                    </a:solidFill>
                  </a:tcPr>
                </a:tc>
                <a:tc>
                  <a:txBody>
                    <a:bodyPr/>
                    <a:lstStyle/>
                    <a:p>
                      <a:r>
                        <a:rPr sz="1200" b="0">
                          <a:solidFill>
                            <a:srgbClr val="1F2937"/>
                          </a:solidFill>
                        </a:rPr>
                        <a:t>Palag‘da tuxum hidi, olcha rang qon</a:t>
                      </a:r>
                    </a:p>
                  </a:txBody>
                  <a:tcPr marL="73152" marR="73152" marT="36576" marB="36576">
                    <a:solidFill>
                      <a:srgbClr val="FFFFFF"/>
                    </a:solidFill>
                  </a:tcPr>
                </a:tc>
              </a:tr>
              <a:tr h="411480">
                <a:tc>
                  <a:txBody>
                    <a:bodyPr/>
                    <a:lstStyle/>
                    <a:p>
                      <a:r>
                        <a:rPr sz="1200" b="0">
                          <a:solidFill>
                            <a:srgbClr val="1F2937"/>
                          </a:solidFill>
                        </a:rPr>
                        <a:t>Fosfororganik</a:t>
                      </a:r>
                    </a:p>
                  </a:txBody>
                  <a:tcPr marL="73152" marR="73152" marT="36576" marB="36576">
                    <a:solidFill>
                      <a:srgbClr val="E8EEF6"/>
                    </a:solidFill>
                  </a:tcPr>
                </a:tc>
                <a:tc>
                  <a:txBody>
                    <a:bodyPr/>
                    <a:lstStyle/>
                    <a:p>
                      <a:r>
                        <a:rPr sz="1200" b="0">
                          <a:solidFill>
                            <a:srgbClr val="1F2937"/>
                          </a:solidFill>
                        </a:rPr>
                        <a:t>Xolinesteraza fermenti</a:t>
                      </a:r>
                    </a:p>
                  </a:txBody>
                  <a:tcPr marL="73152" marR="73152" marT="36576" marB="36576">
                    <a:solidFill>
                      <a:srgbClr val="E8EEF6"/>
                    </a:solidFill>
                  </a:tcPr>
                </a:tc>
                <a:tc>
                  <a:txBody>
                    <a:bodyPr/>
                    <a:lstStyle/>
                    <a:p>
                      <a:r>
                        <a:rPr sz="1200" b="0">
                          <a:solidFill>
                            <a:srgbClr val="1F2937"/>
                          </a:solidFill>
                        </a:rPr>
                        <a:t>Mioz, mushak qotishi tez va kuchli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MNTni falajlovchi zaharlar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153, 154, 155-156</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Etil spirti: toksikokinetika va mastlik darajalari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84</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Spirt 20% oshqozonda, 80% ichakda so‘riladi; jigarda atsetaldegidga, so‘ng sirka kislotasiga aylanadi.</a:t>
            </a:r>
          </a:p>
          <a:p>
            <a:pPr>
              <a:spcAft>
                <a:spcPts val="800"/>
              </a:spcAft>
            </a:pPr>
            <a:r>
              <a:rPr sz="1800">
                <a:solidFill>
                  <a:srgbClr val="1F2937"/>
                </a:solidFill>
                <a:latin typeface="Calibri"/>
              </a:rPr>
              <a:t>▸  Rappoport sinamasida havo chiqarilgan probirkada pushti rang yo‘qolsa, alkogol bor; 0,3–0,4 promilleni payqaydi.</a:t>
            </a:r>
          </a:p>
          <a:p>
            <a:pPr>
              <a:spcAft>
                <a:spcPts val="800"/>
              </a:spcAft>
            </a:pPr>
            <a:r>
              <a:rPr sz="1800">
                <a:solidFill>
                  <a:srgbClr val="1F2937"/>
                </a:solidFill>
                <a:latin typeface="Calibri"/>
              </a:rPr>
              <a:t>▸  Vidmark konstantasi (P) — soatiga pasayish: 0,10–0,13 dan 0,20–0,24 promillegacha; o‘rtacha 0,13–0,15.</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2643987"/>
                <a:gridCol w="2643987"/>
              </a:tblGrid>
              <a:tr h="411480">
                <a:tc>
                  <a:txBody>
                    <a:bodyPr/>
                    <a:lstStyle/>
                    <a:p>
                      <a:r>
                        <a:rPr sz="1400" b="1">
                          <a:solidFill>
                            <a:srgbClr val="FFFFFF"/>
                          </a:solidFill>
                        </a:rPr>
                        <a:t>Qondagi spirt</a:t>
                      </a:r>
                    </a:p>
                  </a:txBody>
                  <a:tcPr marL="73152" marR="73152" marT="36576" marB="36576">
                    <a:solidFill>
                      <a:srgbClr val="0B1F3A"/>
                    </a:solidFill>
                  </a:tcPr>
                </a:tc>
                <a:tc>
                  <a:txBody>
                    <a:bodyPr/>
                    <a:lstStyle/>
                    <a:p>
                      <a:r>
                        <a:rPr sz="1400" b="1">
                          <a:solidFill>
                            <a:srgbClr val="FFFFFF"/>
                          </a:solidFill>
                        </a:rPr>
                        <a:t>Baho</a:t>
                      </a:r>
                    </a:p>
                  </a:txBody>
                  <a:tcPr marL="73152" marR="73152" marT="36576" marB="36576">
                    <a:solidFill>
                      <a:srgbClr val="0B1F3A"/>
                    </a:solidFill>
                  </a:tcPr>
                </a:tc>
              </a:tr>
              <a:tr h="411480">
                <a:tc>
                  <a:txBody>
                    <a:bodyPr/>
                    <a:lstStyle/>
                    <a:p>
                      <a:r>
                        <a:rPr sz="1300" b="0">
                          <a:solidFill>
                            <a:srgbClr val="1F2937"/>
                          </a:solidFill>
                        </a:rPr>
                        <a:t>0,5–1,5 promille</a:t>
                      </a:r>
                    </a:p>
                  </a:txBody>
                  <a:tcPr marL="73152" marR="73152" marT="36576" marB="36576">
                    <a:solidFill>
                      <a:srgbClr val="E8EEF6"/>
                    </a:solidFill>
                  </a:tcPr>
                </a:tc>
                <a:tc>
                  <a:txBody>
                    <a:bodyPr/>
                    <a:lstStyle/>
                    <a:p>
                      <a:r>
                        <a:rPr sz="1300" b="0">
                          <a:solidFill>
                            <a:srgbClr val="1F2937"/>
                          </a:solidFill>
                        </a:rPr>
                        <a:t>Yengil mastlik</a:t>
                      </a:r>
                    </a:p>
                  </a:txBody>
                  <a:tcPr marL="73152" marR="73152" marT="36576" marB="36576">
                    <a:solidFill>
                      <a:srgbClr val="E8EEF6"/>
                    </a:solidFill>
                  </a:tcPr>
                </a:tc>
              </a:tr>
              <a:tr h="411480">
                <a:tc>
                  <a:txBody>
                    <a:bodyPr/>
                    <a:lstStyle/>
                    <a:p>
                      <a:r>
                        <a:rPr sz="1300" b="0">
                          <a:solidFill>
                            <a:srgbClr val="1F2937"/>
                          </a:solidFill>
                        </a:rPr>
                        <a:t>1,5–2,5 promille</a:t>
                      </a:r>
                    </a:p>
                  </a:txBody>
                  <a:tcPr marL="73152" marR="73152" marT="36576" marB="36576">
                    <a:solidFill>
                      <a:srgbClr val="FFFFFF"/>
                    </a:solidFill>
                  </a:tcPr>
                </a:tc>
                <a:tc>
                  <a:txBody>
                    <a:bodyPr/>
                    <a:lstStyle/>
                    <a:p>
                      <a:r>
                        <a:rPr sz="1300" b="0">
                          <a:solidFill>
                            <a:srgbClr val="1F2937"/>
                          </a:solidFill>
                        </a:rPr>
                        <a:t>O‘rta darajali mastlik</a:t>
                      </a:r>
                    </a:p>
                  </a:txBody>
                  <a:tcPr marL="73152" marR="73152" marT="36576" marB="36576">
                    <a:solidFill>
                      <a:srgbClr val="FFFFFF"/>
                    </a:solidFill>
                  </a:tcPr>
                </a:tc>
              </a:tr>
              <a:tr h="411480">
                <a:tc>
                  <a:txBody>
                    <a:bodyPr/>
                    <a:lstStyle/>
                    <a:p>
                      <a:r>
                        <a:rPr sz="1300" b="0">
                          <a:solidFill>
                            <a:srgbClr val="1F2937"/>
                          </a:solidFill>
                        </a:rPr>
                        <a:t>2,5–3,0 promille</a:t>
                      </a:r>
                    </a:p>
                  </a:txBody>
                  <a:tcPr marL="73152" marR="73152" marT="36576" marB="36576">
                    <a:solidFill>
                      <a:srgbClr val="E8EEF6"/>
                    </a:solidFill>
                  </a:tcPr>
                </a:tc>
                <a:tc>
                  <a:txBody>
                    <a:bodyPr/>
                    <a:lstStyle/>
                    <a:p>
                      <a:r>
                        <a:rPr sz="1300" b="0">
                          <a:solidFill>
                            <a:srgbClr val="1F2937"/>
                          </a:solidFill>
                        </a:rPr>
                        <a:t>Kuchli mastlik</a:t>
                      </a:r>
                    </a:p>
                  </a:txBody>
                  <a:tcPr marL="73152" marR="73152" marT="36576" marB="36576">
                    <a:solidFill>
                      <a:srgbClr val="E8EEF6"/>
                    </a:solidFill>
                  </a:tcPr>
                </a:tc>
              </a:tr>
              <a:tr h="411480">
                <a:tc>
                  <a:txBody>
                    <a:bodyPr/>
                    <a:lstStyle/>
                    <a:p>
                      <a:r>
                        <a:rPr sz="1300" b="0">
                          <a:solidFill>
                            <a:srgbClr val="1F2937"/>
                          </a:solidFill>
                        </a:rPr>
                        <a:t>3,0 promilledan yuqori</a:t>
                      </a:r>
                    </a:p>
                  </a:txBody>
                  <a:tcPr marL="73152" marR="73152" marT="36576" marB="36576">
                    <a:solidFill>
                      <a:srgbClr val="FFFFFF"/>
                    </a:solidFill>
                  </a:tcPr>
                </a:tc>
                <a:tc>
                  <a:txBody>
                    <a:bodyPr/>
                    <a:lstStyle/>
                    <a:p>
                      <a:r>
                        <a:rPr sz="1300" b="0">
                          <a:solidFill>
                            <a:srgbClr val="1F2937"/>
                          </a:solidFill>
                        </a:rPr>
                        <a:t>Zaharlanish</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Mastlik darajalari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157, 159, 159–160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Spirt surrogatlari: metanol, etilenglikol va boshqalar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84</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Metanol formaldegid va chumoli kislotasiga oksidlanadi; atsidoz va to‘qima nafasi buziladi, sekin chiqadi.</a:t>
            </a:r>
          </a:p>
          <a:p>
            <a:pPr>
              <a:spcAft>
                <a:spcPts val="800"/>
              </a:spcAft>
            </a:pPr>
            <a:r>
              <a:rPr sz="1800">
                <a:solidFill>
                  <a:srgbClr val="1F2937"/>
                </a:solidFill>
                <a:latin typeface="Calibri"/>
              </a:rPr>
              <a:t>▸  Kuchsiz mastlikdan so‘ng yashirin bosqich (soatlar–kunlar); keyin ko‘rish buziladi, o‘lim 2–3 kunda.</a:t>
            </a:r>
          </a:p>
          <a:p>
            <a:pPr>
              <a:spcAft>
                <a:spcPts val="800"/>
              </a:spcAft>
            </a:pPr>
            <a:r>
              <a:rPr sz="1800">
                <a:solidFill>
                  <a:srgbClr val="1F2937"/>
                </a:solidFill>
                <a:latin typeface="Calibri"/>
              </a:rPr>
              <a:t>▸  Etilenglikol zaharlanishi 4 bosqichli; metaboliti oksalat kislotasi jigar va buyrakni zararlaydi.</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391572"/>
                <a:gridCol w="1113257"/>
                <a:gridCol w="2783144"/>
              </a:tblGrid>
              <a:tr h="411480">
                <a:tc>
                  <a:txBody>
                    <a:bodyPr/>
                    <a:lstStyle/>
                    <a:p>
                      <a:r>
                        <a:rPr sz="1300" b="1">
                          <a:solidFill>
                            <a:srgbClr val="FFFFFF"/>
                          </a:solidFill>
                        </a:rPr>
                        <a:t>Modda</a:t>
                      </a:r>
                    </a:p>
                  </a:txBody>
                  <a:tcPr marL="73152" marR="73152" marT="36576" marB="36576">
                    <a:solidFill>
                      <a:srgbClr val="0B1F3A"/>
                    </a:solidFill>
                  </a:tcPr>
                </a:tc>
                <a:tc>
                  <a:txBody>
                    <a:bodyPr/>
                    <a:lstStyle/>
                    <a:p>
                      <a:r>
                        <a:rPr sz="1300" b="1">
                          <a:solidFill>
                            <a:srgbClr val="FFFFFF"/>
                          </a:solidFill>
                        </a:rPr>
                        <a:t>Letal doza</a:t>
                      </a:r>
                    </a:p>
                  </a:txBody>
                  <a:tcPr marL="73152" marR="73152" marT="36576" marB="36576">
                    <a:solidFill>
                      <a:srgbClr val="0B1F3A"/>
                    </a:solidFill>
                  </a:tcPr>
                </a:tc>
                <a:tc>
                  <a:txBody>
                    <a:bodyPr/>
                    <a:lstStyle/>
                    <a:p>
                      <a:r>
                        <a:rPr sz="1300" b="1">
                          <a:solidFill>
                            <a:srgbClr val="FFFFFF"/>
                          </a:solidFill>
                        </a:rPr>
                        <a:t>Xos belgi</a:t>
                      </a:r>
                    </a:p>
                  </a:txBody>
                  <a:tcPr marL="73152" marR="73152" marT="36576" marB="36576">
                    <a:solidFill>
                      <a:srgbClr val="0B1F3A"/>
                    </a:solidFill>
                  </a:tcPr>
                </a:tc>
              </a:tr>
              <a:tr h="411480">
                <a:tc>
                  <a:txBody>
                    <a:bodyPr/>
                    <a:lstStyle/>
                    <a:p>
                      <a:r>
                        <a:rPr sz="1200" b="0">
                          <a:solidFill>
                            <a:srgbClr val="1F2937"/>
                          </a:solidFill>
                        </a:rPr>
                        <a:t>Metanol</a:t>
                      </a:r>
                    </a:p>
                  </a:txBody>
                  <a:tcPr marL="73152" marR="73152" marT="36576" marB="36576">
                    <a:solidFill>
                      <a:srgbClr val="E8EEF6"/>
                    </a:solidFill>
                  </a:tcPr>
                </a:tc>
                <a:tc>
                  <a:txBody>
                    <a:bodyPr/>
                    <a:lstStyle/>
                    <a:p>
                      <a:r>
                        <a:rPr sz="1200" b="0">
                          <a:solidFill>
                            <a:srgbClr val="1F2937"/>
                          </a:solidFill>
                        </a:rPr>
                        <a:t>30–100 ml</a:t>
                      </a:r>
                    </a:p>
                  </a:txBody>
                  <a:tcPr marL="73152" marR="73152" marT="36576" marB="36576">
                    <a:solidFill>
                      <a:srgbClr val="E8EEF6"/>
                    </a:solidFill>
                  </a:tcPr>
                </a:tc>
                <a:tc>
                  <a:txBody>
                    <a:bodyPr/>
                    <a:lstStyle/>
                    <a:p>
                      <a:r>
                        <a:rPr sz="1200" b="0">
                          <a:solidFill>
                            <a:srgbClr val="1F2937"/>
                          </a:solidFill>
                        </a:rPr>
                        <a:t>Ko‘rish buziladi, yashirin bosqich</a:t>
                      </a:r>
                    </a:p>
                  </a:txBody>
                  <a:tcPr marL="73152" marR="73152" marT="36576" marB="36576">
                    <a:solidFill>
                      <a:srgbClr val="E8EEF6"/>
                    </a:solidFill>
                  </a:tcPr>
                </a:tc>
              </a:tr>
              <a:tr h="411480">
                <a:tc>
                  <a:txBody>
                    <a:bodyPr/>
                    <a:lstStyle/>
                    <a:p>
                      <a:r>
                        <a:rPr sz="1200" b="0">
                          <a:solidFill>
                            <a:srgbClr val="1F2937"/>
                          </a:solidFill>
                        </a:rPr>
                        <a:t>Etilenglikol</a:t>
                      </a:r>
                    </a:p>
                  </a:txBody>
                  <a:tcPr marL="73152" marR="73152" marT="36576" marB="36576">
                    <a:solidFill>
                      <a:srgbClr val="FFFFFF"/>
                    </a:solidFill>
                  </a:tcPr>
                </a:tc>
                <a:tc>
                  <a:txBody>
                    <a:bodyPr/>
                    <a:lstStyle/>
                    <a:p>
                      <a:r>
                        <a:rPr sz="1200" b="0">
                          <a:solidFill>
                            <a:srgbClr val="1F2937"/>
                          </a:solidFill>
                        </a:rPr>
                        <a:t>100–200 ml</a:t>
                      </a:r>
                    </a:p>
                  </a:txBody>
                  <a:tcPr marL="73152" marR="73152" marT="36576" marB="36576">
                    <a:solidFill>
                      <a:srgbClr val="FFFFFF"/>
                    </a:solidFill>
                  </a:tcPr>
                </a:tc>
                <a:tc>
                  <a:txBody>
                    <a:bodyPr/>
                    <a:lstStyle/>
                    <a:p>
                      <a:r>
                        <a:rPr sz="1200" b="0">
                          <a:solidFill>
                            <a:srgbClr val="1F2937"/>
                          </a:solidFill>
                        </a:rPr>
                        <a:t>Mastlik, yashirin davr, jigar-buyrak zarari</a:t>
                      </a:r>
                    </a:p>
                  </a:txBody>
                  <a:tcPr marL="73152" marR="73152" marT="36576" marB="36576">
                    <a:solidFill>
                      <a:srgbClr val="FFFFFF"/>
                    </a:solidFill>
                  </a:tcPr>
                </a:tc>
              </a:tr>
              <a:tr h="411480">
                <a:tc>
                  <a:txBody>
                    <a:bodyPr/>
                    <a:lstStyle/>
                    <a:p>
                      <a:r>
                        <a:rPr sz="1200" b="0">
                          <a:solidFill>
                            <a:srgbClr val="1F2937"/>
                          </a:solidFill>
                        </a:rPr>
                        <a:t>Amil spirti</a:t>
                      </a:r>
                    </a:p>
                  </a:txBody>
                  <a:tcPr marL="73152" marR="73152" marT="36576" marB="36576">
                    <a:solidFill>
                      <a:srgbClr val="E8EEF6"/>
                    </a:solidFill>
                  </a:tcPr>
                </a:tc>
                <a:tc>
                  <a:txBody>
                    <a:bodyPr/>
                    <a:lstStyle/>
                    <a:p>
                      <a:r>
                        <a:rPr sz="1200" b="0">
                          <a:solidFill>
                            <a:srgbClr val="1F2937"/>
                          </a:solidFill>
                        </a:rPr>
                        <a:t>20–30 ml</a:t>
                      </a:r>
                    </a:p>
                  </a:txBody>
                  <a:tcPr marL="73152" marR="73152" marT="36576" marB="36576">
                    <a:solidFill>
                      <a:srgbClr val="E8EEF6"/>
                    </a:solidFill>
                  </a:tcPr>
                </a:tc>
                <a:tc>
                  <a:txBody>
                    <a:bodyPr/>
                    <a:lstStyle/>
                    <a:p>
                      <a:r>
                        <a:rPr sz="1200" b="0">
                          <a:solidFill>
                            <a:srgbClr val="1F2937"/>
                          </a:solidFill>
                        </a:rPr>
                        <a:t>Sivush moylari hidi</a:t>
                      </a:r>
                    </a:p>
                  </a:txBody>
                  <a:tcPr marL="73152" marR="73152" marT="36576" marB="36576">
                    <a:solidFill>
                      <a:srgbClr val="E8EEF6"/>
                    </a:solidFill>
                  </a:tcPr>
                </a:tc>
              </a:tr>
              <a:tr h="411480">
                <a:tc>
                  <a:txBody>
                    <a:bodyPr/>
                    <a:lstStyle/>
                    <a:p>
                      <a:r>
                        <a:rPr sz="1200" b="0">
                          <a:solidFill>
                            <a:srgbClr val="1F2937"/>
                          </a:solidFill>
                        </a:rPr>
                        <a:t>Tetraetilqo‘rg‘oshin</a:t>
                      </a:r>
                    </a:p>
                  </a:txBody>
                  <a:tcPr marL="73152" marR="73152" marT="36576" marB="36576">
                    <a:solidFill>
                      <a:srgbClr val="FFFFFF"/>
                    </a:solidFill>
                  </a:tcPr>
                </a:tc>
                <a:tc>
                  <a:txBody>
                    <a:bodyPr/>
                    <a:lstStyle/>
                    <a:p>
                      <a:r>
                        <a:rPr sz="1200" b="0">
                          <a:solidFill>
                            <a:srgbClr val="1F2937"/>
                          </a:solidFill>
                        </a:rPr>
                        <a:t>10–15 ml</a:t>
                      </a:r>
                    </a:p>
                  </a:txBody>
                  <a:tcPr marL="73152" marR="73152" marT="36576" marB="36576">
                    <a:solidFill>
                      <a:srgbClr val="FFFFFF"/>
                    </a:solidFill>
                  </a:tcPr>
                </a:tc>
                <a:tc>
                  <a:txBody>
                    <a:bodyPr/>
                    <a:lstStyle/>
                    <a:p>
                      <a:r>
                        <a:rPr sz="1200" b="0">
                          <a:solidFill>
                            <a:srgbClr val="1F2937"/>
                          </a:solidFill>
                        </a:rPr>
                        <a:t>Olma hidi, psixoz, koma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Surrogatlar solishtiruvi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161, 162</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Uyqu dorilari va MNTni qo‘zg‘atuvchi zaharlar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84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Uyqu dorilari (barbituratlar, trankvilizatorlar) markaziy nerv tizimini (MNT) so‘ndiradi; barbituratlar qon tomir o‘tkazuvchanligini ham oshiradi.</a:t>
            </a:r>
          </a:p>
          <a:p>
            <a:pPr>
              <a:spcAft>
                <a:spcPts val="1200"/>
              </a:spcAft>
            </a:pPr>
            <a:r>
              <a:rPr sz="2200">
                <a:solidFill>
                  <a:srgbClr val="1F2937"/>
                </a:solidFill>
                <a:latin typeface="Calibri"/>
              </a:rPr>
              <a:t>▸  Belgilar: chuqur uyqu, bosim va harorat pasayishi, nafas buzilishi, koma; o‘lim nafas markazi falajidan. Barbamil, nembutal letal dozasi 1,0–2,0 g.</a:t>
            </a:r>
          </a:p>
          <a:p>
            <a:pPr>
              <a:spcAft>
                <a:spcPts val="1200"/>
              </a:spcAft>
            </a:pPr>
            <a:r>
              <a:rPr sz="2200">
                <a:solidFill>
                  <a:srgbClr val="1F2937"/>
                </a:solidFill>
                <a:latin typeface="Calibri"/>
              </a:rPr>
              <a:t>▸  Psixotoniklar (kofein, fenamin) va antidepressantlar ruhiy tonusni ko‘taradi; katta dozada titrash, taxikardiya, psixoz; o‘rganib qolish mumkin.</a:t>
            </a:r>
          </a:p>
          <a:p>
            <a:pPr>
              <a:spcAft>
                <a:spcPts val="1200"/>
              </a:spcAft>
            </a:pPr>
            <a:r>
              <a:rPr sz="2200">
                <a:solidFill>
                  <a:srgbClr val="1F2937"/>
                </a:solidFill>
                <a:latin typeface="Calibri"/>
              </a:rPr>
              <a:t>▸  Strixnin: tonik talvasa xurujlari, opistotonus, hush saqlanadi; kuchsiz ta’sir xurujni qo‘zg‘aydi. Letal doza kattalarda 0,1–0,3 g, bolalarda 0,005 g.</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163, 164, 165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MNT va periferik nerv tizimiga ta’sir etuvchi zaharlar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84</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Markaziy nerv tizimi (MNT) va periferik nervlarda impuls o‘tishiga, mediatorlarga ta’sir etadi.</a:t>
            </a:r>
          </a:p>
          <a:p>
            <a:pPr>
              <a:spcAft>
                <a:spcPts val="800"/>
              </a:spcAft>
            </a:pPr>
            <a:r>
              <a:rPr sz="1800">
                <a:solidFill>
                  <a:srgbClr val="1F2937"/>
                </a:solidFill>
                <a:latin typeface="Calibri"/>
              </a:rPr>
              <a:t>▸  Atropin, pilokarpin ko‘pincha dorining yanglish katta dozasidan; paxikarpin — homiladorlikni uzishda.</a:t>
            </a:r>
          </a:p>
          <a:p>
            <a:pPr>
              <a:spcAft>
                <a:spcPts val="800"/>
              </a:spcAft>
            </a:pPr>
            <a:r>
              <a:rPr sz="1800">
                <a:solidFill>
                  <a:srgbClr val="1F2937"/>
                </a:solidFill>
                <a:latin typeface="Calibri"/>
              </a:rPr>
              <a:t>▸  Miorelaksantlarda nafas mushaklari falaji o‘ldiradi; murdada xos belgi yo‘q, sud-kimyo hal qiladi.</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113257"/>
                <a:gridCol w="2574408"/>
                <a:gridCol w="1600308"/>
              </a:tblGrid>
              <a:tr h="411480">
                <a:tc>
                  <a:txBody>
                    <a:bodyPr/>
                    <a:lstStyle/>
                    <a:p>
                      <a:r>
                        <a:rPr sz="1300" b="1">
                          <a:solidFill>
                            <a:srgbClr val="FFFFFF"/>
                          </a:solidFill>
                        </a:rPr>
                        <a:t>Modda</a:t>
                      </a:r>
                    </a:p>
                  </a:txBody>
                  <a:tcPr marL="73152" marR="73152" marT="36576" marB="36576">
                    <a:solidFill>
                      <a:srgbClr val="0B1F3A"/>
                    </a:solidFill>
                  </a:tcPr>
                </a:tc>
                <a:tc>
                  <a:txBody>
                    <a:bodyPr/>
                    <a:lstStyle/>
                    <a:p>
                      <a:r>
                        <a:rPr sz="1300" b="1">
                          <a:solidFill>
                            <a:srgbClr val="FFFFFF"/>
                          </a:solidFill>
                        </a:rPr>
                        <a:t>Asosiy belgi</a:t>
                      </a:r>
                    </a:p>
                  </a:txBody>
                  <a:tcPr marL="73152" marR="73152" marT="36576" marB="36576">
                    <a:solidFill>
                      <a:srgbClr val="0B1F3A"/>
                    </a:solidFill>
                  </a:tcPr>
                </a:tc>
                <a:tc>
                  <a:txBody>
                    <a:bodyPr/>
                    <a:lstStyle/>
                    <a:p>
                      <a:r>
                        <a:rPr sz="1300" b="1">
                          <a:solidFill>
                            <a:srgbClr val="FFFFFF"/>
                          </a:solidFill>
                        </a:rPr>
                        <a:t>Letal doza</a:t>
                      </a:r>
                    </a:p>
                  </a:txBody>
                  <a:tcPr marL="73152" marR="73152" marT="36576" marB="36576">
                    <a:solidFill>
                      <a:srgbClr val="0B1F3A"/>
                    </a:solidFill>
                  </a:tcPr>
                </a:tc>
              </a:tr>
              <a:tr h="411480">
                <a:tc>
                  <a:txBody>
                    <a:bodyPr/>
                    <a:lstStyle/>
                    <a:p>
                      <a:r>
                        <a:rPr sz="1200" b="0">
                          <a:solidFill>
                            <a:srgbClr val="1F2937"/>
                          </a:solidFill>
                        </a:rPr>
                        <a:t>Atropin sulfat</a:t>
                      </a:r>
                    </a:p>
                  </a:txBody>
                  <a:tcPr marL="73152" marR="73152" marT="36576" marB="36576">
                    <a:solidFill>
                      <a:srgbClr val="E8EEF6"/>
                    </a:solidFill>
                  </a:tcPr>
                </a:tc>
                <a:tc>
                  <a:txBody>
                    <a:bodyPr/>
                    <a:lstStyle/>
                    <a:p>
                      <a:r>
                        <a:rPr sz="1200" b="0">
                          <a:solidFill>
                            <a:srgbClr val="1F2937"/>
                          </a:solidFill>
                        </a:rPr>
                        <a:t>Qorachiq kengayadi, alahsirash</a:t>
                      </a:r>
                    </a:p>
                  </a:txBody>
                  <a:tcPr marL="73152" marR="73152" marT="36576" marB="36576">
                    <a:solidFill>
                      <a:srgbClr val="E8EEF6"/>
                    </a:solidFill>
                  </a:tcPr>
                </a:tc>
                <a:tc>
                  <a:txBody>
                    <a:bodyPr/>
                    <a:lstStyle/>
                    <a:p>
                      <a:r>
                        <a:rPr sz="1200" b="0">
                          <a:solidFill>
                            <a:srgbClr val="1F2937"/>
                          </a:solidFill>
                        </a:rPr>
                        <a:t>0,1 g (kattalar)</a:t>
                      </a:r>
                    </a:p>
                  </a:txBody>
                  <a:tcPr marL="73152" marR="73152" marT="36576" marB="36576">
                    <a:solidFill>
                      <a:srgbClr val="E8EEF6"/>
                    </a:solidFill>
                  </a:tcPr>
                </a:tc>
              </a:tr>
              <a:tr h="411480">
                <a:tc>
                  <a:txBody>
                    <a:bodyPr/>
                    <a:lstStyle/>
                    <a:p>
                      <a:r>
                        <a:rPr sz="1200" b="0">
                          <a:solidFill>
                            <a:srgbClr val="1F2937"/>
                          </a:solidFill>
                        </a:rPr>
                        <a:t>Pilokarpin</a:t>
                      </a:r>
                    </a:p>
                  </a:txBody>
                  <a:tcPr marL="73152" marR="73152" marT="36576" marB="36576">
                    <a:solidFill>
                      <a:srgbClr val="FFFFFF"/>
                    </a:solidFill>
                  </a:tcPr>
                </a:tc>
                <a:tc>
                  <a:txBody>
                    <a:bodyPr/>
                    <a:lstStyle/>
                    <a:p>
                      <a:r>
                        <a:rPr sz="1200" b="0">
                          <a:solidFill>
                            <a:srgbClr val="1F2937"/>
                          </a:solidFill>
                        </a:rPr>
                        <a:t>Qorachiq torayadi, ter va so‘lak ko‘p</a:t>
                      </a:r>
                    </a:p>
                  </a:txBody>
                  <a:tcPr marL="73152" marR="73152" marT="36576" marB="36576">
                    <a:solidFill>
                      <a:srgbClr val="FFFFFF"/>
                    </a:solidFill>
                  </a:tcPr>
                </a:tc>
                <a:tc>
                  <a:txBody>
                    <a:bodyPr/>
                    <a:lstStyle/>
                    <a:p>
                      <a:r>
                        <a:rPr sz="1200" b="0">
                          <a:solidFill>
                            <a:srgbClr val="1F2937"/>
                          </a:solidFill>
                        </a:rPr>
                        <a:t>0,06 g</a:t>
                      </a:r>
                    </a:p>
                  </a:txBody>
                  <a:tcPr marL="73152" marR="73152" marT="36576" marB="36576">
                    <a:solidFill>
                      <a:srgbClr val="FFFFFF"/>
                    </a:solidFill>
                  </a:tcPr>
                </a:tc>
              </a:tr>
              <a:tr h="411480">
                <a:tc>
                  <a:txBody>
                    <a:bodyPr/>
                    <a:lstStyle/>
                    <a:p>
                      <a:r>
                        <a:rPr sz="1200" b="0">
                          <a:solidFill>
                            <a:srgbClr val="1F2937"/>
                          </a:solidFill>
                        </a:rPr>
                        <a:t>Paxikarpin</a:t>
                      </a:r>
                    </a:p>
                  </a:txBody>
                  <a:tcPr marL="73152" marR="73152" marT="36576" marB="36576">
                    <a:solidFill>
                      <a:srgbClr val="E8EEF6"/>
                    </a:solidFill>
                  </a:tcPr>
                </a:tc>
                <a:tc>
                  <a:txBody>
                    <a:bodyPr/>
                    <a:lstStyle/>
                    <a:p>
                      <a:r>
                        <a:rPr sz="1200" b="0">
                          <a:solidFill>
                            <a:srgbClr val="1F2937"/>
                          </a:solidFill>
                        </a:rPr>
                        <a:t>Qusish, talvasa, kollaps</a:t>
                      </a:r>
                    </a:p>
                  </a:txBody>
                  <a:tcPr marL="73152" marR="73152" marT="36576" marB="36576">
                    <a:solidFill>
                      <a:srgbClr val="E8EEF6"/>
                    </a:solidFill>
                  </a:tcPr>
                </a:tc>
                <a:tc>
                  <a:txBody>
                    <a:bodyPr/>
                    <a:lstStyle/>
                    <a:p>
                      <a:r>
                        <a:rPr sz="1200" b="0">
                          <a:solidFill>
                            <a:srgbClr val="1F2937"/>
                          </a:solidFill>
                        </a:rPr>
                        <a:t>1,0-2,0 g</a:t>
                      </a:r>
                    </a:p>
                  </a:txBody>
                  <a:tcPr marL="73152" marR="73152" marT="36576" marB="36576">
                    <a:solidFill>
                      <a:srgbClr val="E8EEF6"/>
                    </a:solidFill>
                  </a:tcPr>
                </a:tc>
              </a:tr>
              <a:tr h="411480">
                <a:tc>
                  <a:txBody>
                    <a:bodyPr/>
                    <a:lstStyle/>
                    <a:p>
                      <a:r>
                        <a:rPr sz="1200" b="0">
                          <a:solidFill>
                            <a:srgbClr val="1F2937"/>
                          </a:solidFill>
                        </a:rPr>
                        <a:t>Klofelin</a:t>
                      </a:r>
                    </a:p>
                  </a:txBody>
                  <a:tcPr marL="73152" marR="73152" marT="36576" marB="36576">
                    <a:solidFill>
                      <a:srgbClr val="FFFFFF"/>
                    </a:solidFill>
                  </a:tcPr>
                </a:tc>
                <a:tc>
                  <a:txBody>
                    <a:bodyPr/>
                    <a:lstStyle/>
                    <a:p>
                      <a:r>
                        <a:rPr sz="1200" b="0">
                          <a:solidFill>
                            <a:srgbClr val="1F2937"/>
                          </a:solidFill>
                        </a:rPr>
                        <a:t>Qon bosimi pasayadi, bradikardiya</a:t>
                      </a:r>
                    </a:p>
                  </a:txBody>
                  <a:tcPr marL="73152" marR="73152" marT="36576" marB="36576">
                    <a:solidFill>
                      <a:srgbClr val="FFFFFF"/>
                    </a:solidFill>
                  </a:tcPr>
                </a:tc>
                <a:tc>
                  <a:txBody>
                    <a:bodyPr/>
                    <a:lstStyle/>
                    <a:p>
                      <a:r>
                        <a:rPr sz="1200" b="0">
                          <a:solidFill>
                            <a:srgbClr val="1F2937"/>
                          </a:solidFill>
                        </a:rPr>
                        <a:t>0,005-0,01 g (kattalar)</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Belgilar va letal dozalar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166, 166-167, 167</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Narkotik va psixotrop moddalar bilan zaharlanish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84</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Narkotiklar bilan bog‘liq o‘lim (DRD) katta dozadan tashqari baxtsiz hodisa va qotillikni ham qamraydi.</a:t>
            </a:r>
          </a:p>
          <a:p>
            <a:pPr>
              <a:spcAft>
                <a:spcPts val="800"/>
              </a:spcAft>
            </a:pPr>
            <a:r>
              <a:rPr sz="1800">
                <a:solidFill>
                  <a:srgbClr val="1F2937"/>
                </a:solidFill>
                <a:latin typeface="Calibri"/>
              </a:rPr>
              <a:t>▸  Prekursorlar — narkotik tayyorlashda ishlatiladigan moddalar (masalan, kaliy permanganat, atseton, efedrin).</a:t>
            </a:r>
          </a:p>
          <a:p>
            <a:pPr>
              <a:spcAft>
                <a:spcPts val="800"/>
              </a:spcAft>
            </a:pPr>
            <a:r>
              <a:rPr sz="1800">
                <a:solidFill>
                  <a:srgbClr val="1F2937"/>
                </a:solidFill>
                <a:latin typeface="Calibri"/>
              </a:rPr>
              <a:t>▸  Murdadagi o‘zgarishlar 4 guruhga bo‘linadi; ular bilvosita dalil, ishonchli xulosa sud-kimyoga tayanadi.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909759"/>
                <a:gridCol w="2103818"/>
                <a:gridCol w="2274397"/>
              </a:tblGrid>
              <a:tr h="411480">
                <a:tc>
                  <a:txBody>
                    <a:bodyPr/>
                    <a:lstStyle/>
                    <a:p>
                      <a:r>
                        <a:rPr sz="1300" b="1">
                          <a:solidFill>
                            <a:srgbClr val="FFFFFF"/>
                          </a:solidFill>
                        </a:rPr>
                        <a:t>Modda</a:t>
                      </a:r>
                    </a:p>
                  </a:txBody>
                  <a:tcPr marL="73152" marR="73152" marT="36576" marB="36576">
                    <a:solidFill>
                      <a:srgbClr val="0B1F3A"/>
                    </a:solidFill>
                  </a:tcPr>
                </a:tc>
                <a:tc>
                  <a:txBody>
                    <a:bodyPr/>
                    <a:lstStyle/>
                    <a:p>
                      <a:r>
                        <a:rPr sz="1300" b="1">
                          <a:solidFill>
                            <a:srgbClr val="FFFFFF"/>
                          </a:solidFill>
                        </a:rPr>
                        <a:t>Ta’sir</a:t>
                      </a:r>
                    </a:p>
                  </a:txBody>
                  <a:tcPr marL="73152" marR="73152" marT="36576" marB="36576">
                    <a:solidFill>
                      <a:srgbClr val="0B1F3A"/>
                    </a:solidFill>
                  </a:tcPr>
                </a:tc>
                <a:tc>
                  <a:txBody>
                    <a:bodyPr/>
                    <a:lstStyle/>
                    <a:p>
                      <a:r>
                        <a:rPr sz="1300" b="1">
                          <a:solidFill>
                            <a:srgbClr val="FFFFFF"/>
                          </a:solidFill>
                        </a:rPr>
                        <a:t>Muhim ma’lumot</a:t>
                      </a:r>
                    </a:p>
                  </a:txBody>
                  <a:tcPr marL="73152" marR="73152" marT="36576" marB="36576">
                    <a:solidFill>
                      <a:srgbClr val="0B1F3A"/>
                    </a:solidFill>
                  </a:tcPr>
                </a:tc>
              </a:tr>
              <a:tr h="411480">
                <a:tc>
                  <a:txBody>
                    <a:bodyPr/>
                    <a:lstStyle/>
                    <a:p>
                      <a:r>
                        <a:rPr sz="1200" b="0">
                          <a:solidFill>
                            <a:srgbClr val="1F2937"/>
                          </a:solidFill>
                        </a:rPr>
                        <a:t>Opiatlar</a:t>
                      </a:r>
                    </a:p>
                  </a:txBody>
                  <a:tcPr marL="73152" marR="73152" marT="36576" marB="36576">
                    <a:solidFill>
                      <a:srgbClr val="E8EEF6"/>
                    </a:solidFill>
                  </a:tcPr>
                </a:tc>
                <a:tc>
                  <a:txBody>
                    <a:bodyPr/>
                    <a:lstStyle/>
                    <a:p>
                      <a:r>
                        <a:rPr sz="1200" b="0">
                          <a:solidFill>
                            <a:srgbClr val="1F2937"/>
                          </a:solidFill>
                        </a:rPr>
                        <a:t>Qorachiq torayadi, koma, nafas falaji</a:t>
                      </a:r>
                    </a:p>
                  </a:txBody>
                  <a:tcPr marL="73152" marR="73152" marT="36576" marB="36576">
                    <a:solidFill>
                      <a:srgbClr val="E8EEF6"/>
                    </a:solidFill>
                  </a:tcPr>
                </a:tc>
                <a:tc>
                  <a:txBody>
                    <a:bodyPr/>
                    <a:lstStyle/>
                    <a:p>
                      <a:r>
                        <a:rPr sz="1200" b="0">
                          <a:solidFill>
                            <a:srgbClr val="1F2937"/>
                          </a:solidFill>
                        </a:rPr>
                        <a:t>Morfin ichga 0,2-0,4 g letal</a:t>
                      </a:r>
                    </a:p>
                  </a:txBody>
                  <a:tcPr marL="73152" marR="73152" marT="36576" marB="36576">
                    <a:solidFill>
                      <a:srgbClr val="E8EEF6"/>
                    </a:solidFill>
                  </a:tcPr>
                </a:tc>
              </a:tr>
              <a:tr h="411480">
                <a:tc>
                  <a:txBody>
                    <a:bodyPr/>
                    <a:lstStyle/>
                    <a:p>
                      <a:r>
                        <a:rPr sz="1200" b="0">
                          <a:solidFill>
                            <a:srgbClr val="1F2937"/>
                          </a:solidFill>
                        </a:rPr>
                        <a:t>Nasha</a:t>
                      </a:r>
                    </a:p>
                  </a:txBody>
                  <a:tcPr marL="73152" marR="73152" marT="36576" marB="36576">
                    <a:solidFill>
                      <a:srgbClr val="FFFFFF"/>
                    </a:solidFill>
                  </a:tcPr>
                </a:tc>
                <a:tc>
                  <a:txBody>
                    <a:bodyPr/>
                    <a:lstStyle/>
                    <a:p>
                      <a:r>
                        <a:rPr sz="1200" b="0">
                          <a:solidFill>
                            <a:srgbClr val="1F2937"/>
                          </a:solidFill>
                        </a:rPr>
                        <a:t>Qorachiq kengayadi, qisqa psixoz</a:t>
                      </a:r>
                    </a:p>
                  </a:txBody>
                  <a:tcPr marL="73152" marR="73152" marT="36576" marB="36576">
                    <a:solidFill>
                      <a:srgbClr val="FFFFFF"/>
                    </a:solidFill>
                  </a:tcPr>
                </a:tc>
                <a:tc>
                  <a:txBody>
                    <a:bodyPr/>
                    <a:lstStyle/>
                    <a:p>
                      <a:r>
                        <a:rPr sz="1200" b="0">
                          <a:solidFill>
                            <a:srgbClr val="1F2937"/>
                          </a:solidFill>
                        </a:rPr>
                        <a:t>Tez parchalanadi, odatda o‘limsiz</a:t>
                      </a:r>
                    </a:p>
                  </a:txBody>
                  <a:tcPr marL="73152" marR="73152" marT="36576" marB="36576">
                    <a:solidFill>
                      <a:srgbClr val="FFFFFF"/>
                    </a:solidFill>
                  </a:tcPr>
                </a:tc>
              </a:tr>
              <a:tr h="411480">
                <a:tc>
                  <a:txBody>
                    <a:bodyPr/>
                    <a:lstStyle/>
                    <a:p>
                      <a:r>
                        <a:rPr sz="1200" b="0">
                          <a:solidFill>
                            <a:srgbClr val="1F2937"/>
                          </a:solidFill>
                        </a:rPr>
                        <a:t>Kokain</a:t>
                      </a:r>
                    </a:p>
                  </a:txBody>
                  <a:tcPr marL="73152" marR="73152" marT="36576" marB="36576">
                    <a:solidFill>
                      <a:srgbClr val="E8EEF6"/>
                    </a:solidFill>
                  </a:tcPr>
                </a:tc>
                <a:tc>
                  <a:txBody>
                    <a:bodyPr/>
                    <a:lstStyle/>
                    <a:p>
                      <a:r>
                        <a:rPr sz="1200" b="0">
                          <a:solidFill>
                            <a:srgbClr val="1F2937"/>
                          </a:solidFill>
                        </a:rPr>
                        <a:t>Qo‘zg‘alish bilan eyforiya, aritmiya</a:t>
                      </a:r>
                    </a:p>
                  </a:txBody>
                  <a:tcPr marL="73152" marR="73152" marT="36576" marB="36576">
                    <a:solidFill>
                      <a:srgbClr val="E8EEF6"/>
                    </a:solidFill>
                  </a:tcPr>
                </a:tc>
                <a:tc>
                  <a:txBody>
                    <a:bodyPr/>
                    <a:lstStyle/>
                    <a:p>
                      <a:r>
                        <a:rPr sz="1200" b="0">
                          <a:solidFill>
                            <a:srgbClr val="1F2937"/>
                          </a:solidFill>
                        </a:rPr>
                        <a:t>Nafas falaji yoki qorincha fibrillyasiyasi</a:t>
                      </a:r>
                    </a:p>
                  </a:txBody>
                  <a:tcPr marL="73152" marR="73152" marT="36576" marB="36576">
                    <a:solidFill>
                      <a:srgbClr val="E8EEF6"/>
                    </a:solidFill>
                  </a:tcPr>
                </a:tc>
              </a:tr>
              <a:tr h="411480">
                <a:tc>
                  <a:txBody>
                    <a:bodyPr/>
                    <a:lstStyle/>
                    <a:p>
                      <a:r>
                        <a:rPr sz="1200" b="0">
                          <a:solidFill>
                            <a:srgbClr val="1F2937"/>
                          </a:solidFill>
                        </a:rPr>
                        <a:t>Amfetamin, spays</a:t>
                      </a:r>
                    </a:p>
                  </a:txBody>
                  <a:tcPr marL="73152" marR="73152" marT="36576" marB="36576">
                    <a:solidFill>
                      <a:srgbClr val="FFFFFF"/>
                    </a:solidFill>
                  </a:tcPr>
                </a:tc>
                <a:tc>
                  <a:txBody>
                    <a:bodyPr/>
                    <a:lstStyle/>
                    <a:p>
                      <a:r>
                        <a:rPr sz="1200" b="0">
                          <a:solidFill>
                            <a:srgbClr val="1F2937"/>
                          </a:solidFill>
                        </a:rPr>
                        <a:t>Qo‘zg‘alish, taxikardiya, talvasa</a:t>
                      </a:r>
                    </a:p>
                  </a:txBody>
                  <a:tcPr marL="73152" marR="73152" marT="36576" marB="36576">
                    <a:solidFill>
                      <a:srgbClr val="FFFFFF"/>
                    </a:solidFill>
                  </a:tcPr>
                </a:tc>
                <a:tc>
                  <a:txBody>
                    <a:bodyPr/>
                    <a:lstStyle/>
                    <a:p>
                      <a:r>
                        <a:rPr sz="1200" b="0">
                          <a:solidFill>
                            <a:srgbClr val="1F2937"/>
                          </a:solidFill>
                        </a:rPr>
                        <a:t>Ekstazi letal dozasi 500 mg</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Asosiy moddalar solishtiruvi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168, 171, 172</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Ovqatdan zaharlanish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84</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Ovqatdan zaharlanish bakterial va nobakterial bo‘ladi; tayyor ovqatga zahar keyin qo‘shilsa, bunga kirmaydi.</a:t>
            </a:r>
          </a:p>
          <a:p>
            <a:pPr>
              <a:spcAft>
                <a:spcPts val="800"/>
              </a:spcAft>
            </a:pPr>
            <a:r>
              <a:rPr sz="1800">
                <a:solidFill>
                  <a:srgbClr val="1F2937"/>
                </a:solidFill>
                <a:latin typeface="Calibri"/>
              </a:rPr>
              <a:t>▸  Botulizmda yashirin davr qisqa bo‘lsa, zaharlanish og‘ir; o‘lim odatda 2-kunda nafas markazi falajidan.</a:t>
            </a:r>
          </a:p>
          <a:p>
            <a:pPr>
              <a:spcAft>
                <a:spcPts val="800"/>
              </a:spcAft>
            </a:pPr>
            <a:r>
              <a:rPr sz="1800">
                <a:solidFill>
                  <a:srgbClr val="1F2937"/>
                </a:solidFill>
                <a:latin typeface="Calibri"/>
              </a:rPr>
              <a:t>▸  Blednaya poganka zaharlanganlarning 50-70 %ida o‘ldiradi; strochokda taxminan 30 %.</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094063"/>
                <a:gridCol w="2127346"/>
                <a:gridCol w="2066564"/>
              </a:tblGrid>
              <a:tr h="411480">
                <a:tc>
                  <a:txBody>
                    <a:bodyPr/>
                    <a:lstStyle/>
                    <a:p>
                      <a:r>
                        <a:rPr sz="1300" b="1">
                          <a:solidFill>
                            <a:srgbClr val="FFFFFF"/>
                          </a:solidFill>
                        </a:rPr>
                        <a:t>Tur</a:t>
                      </a:r>
                    </a:p>
                  </a:txBody>
                  <a:tcPr marL="73152" marR="73152" marT="36576" marB="36576">
                    <a:solidFill>
                      <a:srgbClr val="0B1F3A"/>
                    </a:solidFill>
                  </a:tcPr>
                </a:tc>
                <a:tc>
                  <a:txBody>
                    <a:bodyPr/>
                    <a:lstStyle/>
                    <a:p>
                      <a:r>
                        <a:rPr sz="1300" b="1">
                          <a:solidFill>
                            <a:srgbClr val="FFFFFF"/>
                          </a:solidFill>
                        </a:rPr>
                        <a:t>Misol</a:t>
                      </a:r>
                    </a:p>
                  </a:txBody>
                  <a:tcPr marL="73152" marR="73152" marT="36576" marB="36576">
                    <a:solidFill>
                      <a:srgbClr val="0B1F3A"/>
                    </a:solidFill>
                  </a:tcPr>
                </a:tc>
                <a:tc>
                  <a:txBody>
                    <a:bodyPr/>
                    <a:lstStyle/>
                    <a:p>
                      <a:r>
                        <a:rPr sz="1300" b="1">
                          <a:solidFill>
                            <a:srgbClr val="FFFFFF"/>
                          </a:solidFill>
                        </a:rPr>
                        <a:t>Xususiyat</a:t>
                      </a:r>
                    </a:p>
                  </a:txBody>
                  <a:tcPr marL="73152" marR="73152" marT="36576" marB="36576">
                    <a:solidFill>
                      <a:srgbClr val="0B1F3A"/>
                    </a:solidFill>
                  </a:tcPr>
                </a:tc>
              </a:tr>
              <a:tr h="411480">
                <a:tc>
                  <a:txBody>
                    <a:bodyPr/>
                    <a:lstStyle/>
                    <a:p>
                      <a:r>
                        <a:rPr sz="1200" b="0">
                          <a:solidFill>
                            <a:srgbClr val="1F2937"/>
                          </a:solidFill>
                        </a:rPr>
                        <a:t>Toksikoinfeksiya</a:t>
                      </a:r>
                    </a:p>
                  </a:txBody>
                  <a:tcPr marL="73152" marR="73152" marT="36576" marB="36576">
                    <a:solidFill>
                      <a:srgbClr val="E8EEF6"/>
                    </a:solidFill>
                  </a:tcPr>
                </a:tc>
                <a:tc>
                  <a:txBody>
                    <a:bodyPr/>
                    <a:lstStyle/>
                    <a:p>
                      <a:r>
                        <a:rPr sz="1200" b="0">
                          <a:solidFill>
                            <a:srgbClr val="1F2937"/>
                          </a:solidFill>
                        </a:rPr>
                        <a:t>Salmonella, ichak tayoqchasi</a:t>
                      </a:r>
                    </a:p>
                  </a:txBody>
                  <a:tcPr marL="73152" marR="73152" marT="36576" marB="36576">
                    <a:solidFill>
                      <a:srgbClr val="E8EEF6"/>
                    </a:solidFill>
                  </a:tcPr>
                </a:tc>
                <a:tc>
                  <a:txBody>
                    <a:bodyPr/>
                    <a:lstStyle/>
                    <a:p>
                      <a:r>
                        <a:rPr sz="1200" b="0">
                          <a:solidFill>
                            <a:srgbClr val="1F2937"/>
                          </a:solidFill>
                        </a:rPr>
                        <a:t>Gastroenterokolit, suvsizlanish</a:t>
                      </a:r>
                    </a:p>
                  </a:txBody>
                  <a:tcPr marL="73152" marR="73152" marT="36576" marB="36576">
                    <a:solidFill>
                      <a:srgbClr val="E8EEF6"/>
                    </a:solidFill>
                  </a:tcPr>
                </a:tc>
              </a:tr>
              <a:tr h="411480">
                <a:tc>
                  <a:txBody>
                    <a:bodyPr/>
                    <a:lstStyle/>
                    <a:p>
                      <a:r>
                        <a:rPr sz="1200" b="0">
                          <a:solidFill>
                            <a:srgbClr val="1F2937"/>
                          </a:solidFill>
                        </a:rPr>
                        <a:t>Botulizm</a:t>
                      </a:r>
                    </a:p>
                  </a:txBody>
                  <a:tcPr marL="73152" marR="73152" marT="36576" marB="36576">
                    <a:solidFill>
                      <a:srgbClr val="FFFFFF"/>
                    </a:solidFill>
                  </a:tcPr>
                </a:tc>
                <a:tc>
                  <a:txBody>
                    <a:bodyPr/>
                    <a:lstStyle/>
                    <a:p>
                      <a:r>
                        <a:rPr sz="1200" b="0">
                          <a:solidFill>
                            <a:srgbClr val="1F2937"/>
                          </a:solidFill>
                        </a:rPr>
                        <a:t>Uy konservasi, anaerob mikroblar</a:t>
                      </a:r>
                    </a:p>
                  </a:txBody>
                  <a:tcPr marL="73152" marR="73152" marT="36576" marB="36576">
                    <a:solidFill>
                      <a:srgbClr val="FFFFFF"/>
                    </a:solidFill>
                  </a:tcPr>
                </a:tc>
                <a:tc>
                  <a:txBody>
                    <a:bodyPr/>
                    <a:lstStyle/>
                    <a:p>
                      <a:r>
                        <a:rPr sz="1200" b="0">
                          <a:solidFill>
                            <a:srgbClr val="1F2937"/>
                          </a:solidFill>
                        </a:rPr>
                        <a:t>Ko‘rish buziladi, nafas falaji</a:t>
                      </a:r>
                    </a:p>
                  </a:txBody>
                  <a:tcPr marL="73152" marR="73152" marT="36576" marB="36576">
                    <a:solidFill>
                      <a:srgbClr val="FFFFFF"/>
                    </a:solidFill>
                  </a:tcPr>
                </a:tc>
              </a:tr>
              <a:tr h="411480">
                <a:tc>
                  <a:txBody>
                    <a:bodyPr/>
                    <a:lstStyle/>
                    <a:p>
                      <a:r>
                        <a:rPr sz="1200" b="0">
                          <a:solidFill>
                            <a:srgbClr val="1F2937"/>
                          </a:solidFill>
                        </a:rPr>
                        <a:t>Qo‘ziqorin</a:t>
                      </a:r>
                    </a:p>
                  </a:txBody>
                  <a:tcPr marL="73152" marR="73152" marT="36576" marB="36576">
                    <a:solidFill>
                      <a:srgbClr val="E8EEF6"/>
                    </a:solidFill>
                  </a:tcPr>
                </a:tc>
                <a:tc>
                  <a:txBody>
                    <a:bodyPr/>
                    <a:lstStyle/>
                    <a:p>
                      <a:r>
                        <a:rPr sz="1200" b="0">
                          <a:solidFill>
                            <a:srgbClr val="1F2937"/>
                          </a:solidFill>
                        </a:rPr>
                        <a:t>Blednaya poganka, strochok, muxomor</a:t>
                      </a:r>
                    </a:p>
                  </a:txBody>
                  <a:tcPr marL="73152" marR="73152" marT="36576" marB="36576">
                    <a:solidFill>
                      <a:srgbClr val="E8EEF6"/>
                    </a:solidFill>
                  </a:tcPr>
                </a:tc>
                <a:tc>
                  <a:txBody>
                    <a:bodyPr/>
                    <a:lstStyle/>
                    <a:p>
                      <a:r>
                        <a:rPr sz="1200" b="0">
                          <a:solidFill>
                            <a:srgbClr val="1F2937"/>
                          </a:solidFill>
                        </a:rPr>
                        <a:t>Klinika toksin turiga bog‘liq</a:t>
                      </a:r>
                    </a:p>
                  </a:txBody>
                  <a:tcPr marL="73152" marR="73152" marT="36576" marB="36576">
                    <a:solidFill>
                      <a:srgbClr val="E8EEF6"/>
                    </a:solidFill>
                  </a:tcPr>
                </a:tc>
              </a:tr>
              <a:tr h="411480">
                <a:tc>
                  <a:txBody>
                    <a:bodyPr/>
                    <a:lstStyle/>
                    <a:p>
                      <a:r>
                        <a:rPr sz="1200" b="0">
                          <a:solidFill>
                            <a:srgbClr val="1F2937"/>
                          </a:solidFill>
                        </a:rPr>
                        <a:t>Hayvon, qo‘shimcha</a:t>
                      </a:r>
                    </a:p>
                  </a:txBody>
                  <a:tcPr marL="73152" marR="73152" marT="36576" marB="36576">
                    <a:solidFill>
                      <a:srgbClr val="FFFFFF"/>
                    </a:solidFill>
                  </a:tcPr>
                </a:tc>
                <a:tc>
                  <a:txBody>
                    <a:bodyPr/>
                    <a:lstStyle/>
                    <a:p>
                      <a:r>
                        <a:rPr sz="1200" b="0">
                          <a:solidFill>
                            <a:srgbClr val="1F2937"/>
                          </a:solidFill>
                        </a:rPr>
                        <a:t>Baliq ikrasi; zaharli o‘tli don</a:t>
                      </a:r>
                    </a:p>
                  </a:txBody>
                  <a:tcPr marL="73152" marR="73152" marT="36576" marB="36576">
                    <a:solidFill>
                      <a:srgbClr val="FFFFFF"/>
                    </a:solidFill>
                  </a:tcPr>
                </a:tc>
                <a:tc>
                  <a:txBody>
                    <a:bodyPr/>
                    <a:lstStyle/>
                    <a:p>
                      <a:r>
                        <a:rPr sz="1200" b="0">
                          <a:solidFill>
                            <a:srgbClr val="1F2937"/>
                          </a:solidFill>
                        </a:rPr>
                        <a:t>Gastroenterit; guruhiy zaharlanish</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Ovqatdan zaharlanish turlari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172-173, 174, 175-176</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Laboratoriya tekshiruvlari va xulosa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84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Amaliyotda eng ko‘p sud-kimyoviy va gistologik tekshiruvlar o‘tkaziladi. Gistologik usul makroskopik tekshiruvni to‘ldirib, a’zolardagi mikroskopik o‘zgarishlarni ko‘rsatadi.</a:t>
            </a:r>
          </a:p>
          <a:p>
            <a:pPr>
              <a:spcAft>
                <a:spcPts val="1200"/>
              </a:spcAft>
            </a:pPr>
            <a:r>
              <a:rPr sz="2200">
                <a:solidFill>
                  <a:srgbClr val="1F2937"/>
                </a:solidFill>
                <a:latin typeface="Calibri"/>
              </a:rPr>
              <a:t>▸  Zaharlanishsiz ham zahar topilishi (dori, chirish, kasb) yoki zaharlanishda topilmasligi (tez parchalanish, infuziya, kech tekshiruv) mumkin.</a:t>
            </a:r>
          </a:p>
          <a:p>
            <a:pPr>
              <a:spcAft>
                <a:spcPts val="1200"/>
              </a:spcAft>
            </a:pPr>
            <a:r>
              <a:rPr sz="2200">
                <a:solidFill>
                  <a:srgbClr val="1F2937"/>
                </a:solidFill>
                <a:latin typeface="Calibri"/>
              </a:rPr>
              <a:t>▸  Zaharlanish alomatli bemor kelganda ob’ektlar imkon qadar tez olinadi: qon, siydik, oshqozon yuvmasi, qusuq, axlat, zahar qoldig‘i yoki idishi.</a:t>
            </a:r>
          </a:p>
          <a:p>
            <a:pPr>
              <a:spcAft>
                <a:spcPts val="1200"/>
              </a:spcAft>
            </a:pPr>
            <a:r>
              <a:rPr sz="2200">
                <a:solidFill>
                  <a:srgbClr val="1F2937"/>
                </a:solidFill>
                <a:latin typeface="Calibri"/>
              </a:rPr>
              <a:t>▸  Natijalar hamisha voqea tafsiloti, klinik ma’lumot va murdaning makroskopik tekshiruvi bilan birga, tanqidiy baholanadi.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180, 180-181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84</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Eslab qoling: “uch nuqta” qoidasi. Toksikologik tekshiruvga namuna zahar kirgan, asosan ta‘sir etgan va organizmdan chiqqan joydan olinadi. Masalan, ichilgan zahar jigarga ta‘sir qilib siydik bilan chiqsa, oshqozon massasi, jigar bo‘lagi va butun buyrak siydik bilan olinadi.</a:t>
            </a:r>
          </a:p>
          <a:p>
            <a:pPr>
              <a:spcAft>
                <a:spcPts val="1200"/>
              </a:spcAft>
            </a:pPr>
            <a:r>
              <a:rPr sz="1800">
                <a:solidFill>
                  <a:srgbClr val="1F2937"/>
                </a:solidFill>
                <a:latin typeface="Calibri"/>
              </a:rPr>
              <a:t>▸  Hodisa tahlili: metanol va etilenglikolning o‘zi kuchsiz narkotik ta‘sir etadi, asosiy zarar metabolitlardan keladi. Metanoldan formaldegid va chumoli kislotasi, etilenglikoldan oksalat kislotasi hosil bo‘ladi. Shuning uchun dastlabki mastlikdan keyin yashirin davr bo‘lib, ahvol yomonlashishi kechikadi.</a:t>
            </a:r>
          </a:p>
          <a:p>
            <a:pPr>
              <a:spcAft>
                <a:spcPts val="1200"/>
              </a:spcAft>
            </a:pPr>
            <a:r>
              <a:rPr sz="1800">
                <a:solidFill>
                  <a:srgbClr val="1F2937"/>
                </a:solidFill>
                <a:latin typeface="Calibri"/>
              </a:rPr>
              <a:t>▸  Qiziqarli fakt: is gazi bilan zaharlanishda murda dog‘lari pushti-qizg‘ish bo‘ladi, chunki karboksigemoglobin shu rangda. Dastlabki belgilar qondagi karboksigemoglobin 25-30% dan oshganda paydo bo‘ladi, 60% dan oshsa nafas markazi falajidan o‘lim yuz beradi.</a:t>
            </a:r>
          </a:p>
          <a:p>
            <a:pPr>
              <a:spcAft>
                <a:spcPts val="1200"/>
              </a:spcAft>
            </a:pPr>
            <a:r>
              <a:rPr sz="1800">
                <a:solidFill>
                  <a:srgbClr val="1F2937"/>
                </a:solidFill>
                <a:latin typeface="Calibri"/>
              </a:rPr>
              <a:t>▸  Diqqat: achchiq bodom hidi faqat sianidlarga xos deb o‘ylamang. Sianidlarda u uchuvchanligi tufayli tez yo‘qolishi mumkin, nitrobenzol bilan zaharlanganda esa uzoqroq saqlanadi. O‘rik, shaftoli danagi mag‘zidagi amigdalin ham sianid kislotasi hosil qiladi.</a:t>
            </a:r>
          </a:p>
          <a:p>
            <a:pPr>
              <a:spcAft>
                <a:spcPts val="1200"/>
              </a:spcAft>
            </a:pPr>
            <a:r>
              <a:rPr sz="1800">
                <a:solidFill>
                  <a:srgbClr val="1F2937"/>
                </a:solidFill>
                <a:latin typeface="Calibri"/>
              </a:rPr>
              <a:t>▸  Eslab qolish jadvali: qondagi etil spirti 0,5-1,5 promille bo‘lsa yengil, 1,5-2,5 o‘rta, 2,5-3,0 kuchli mastlik. 3,0 promilledan yuqori bo‘lsa zaharlanish deyiladi. Murdadan olingan qonda 5,0 promille va undan ko‘p bo‘lsa, o‘tkir zaharlanish o‘lim sababi hisoblanadi.</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377440"/>
            <a:ext cx="10911535" cy="1280160"/>
          </a:xfrm>
          <a:prstGeom prst="rect">
            <a:avLst/>
          </a:prstGeom>
          <a:noFill/>
        </p:spPr>
        <p:txBody>
          <a:bodyPr wrap="square" anchor="ctr">
            <a:spAutoFit/>
          </a:bodyPr>
          <a:lstStyle/>
          <a:p>
            <a:r>
              <a:rPr sz="4400" b="1">
                <a:solidFill>
                  <a:srgbClr val="FFFFFF"/>
                </a:solidFill>
                <a:latin typeface="Georgia"/>
              </a:rPr>
              <a:t>Bilimingizni sinang</a:t>
            </a:r>
          </a:p>
        </p:txBody>
      </p:sp>
      <p:sp>
        <p:nvSpPr>
          <p:cNvPr id="4" name="TextBox 3"/>
          <p:cNvSpPr txBox="1"/>
          <p:nvPr/>
        </p:nvSpPr>
        <p:spPr>
          <a:xfrm>
            <a:off x="640080" y="3749039"/>
            <a:ext cx="10911535" cy="548640"/>
          </a:xfrm>
          <a:prstGeom prst="rect">
            <a:avLst/>
          </a:prstGeom>
          <a:noFill/>
        </p:spPr>
        <p:txBody>
          <a:bodyPr wrap="square">
            <a:spAutoFit/>
          </a:bodyPr>
          <a:lstStyle/>
          <a:p>
            <a:r>
              <a:rPr sz="2200" b="0">
                <a:solidFill>
                  <a:srgbClr val="C9A227"/>
                </a:solidFill>
                <a:latin typeface="Calibri"/>
              </a:rPr>
              <a:t>20 ta test savoli</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44 / 84</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Talaba “tabiatda mutlaqo zararsiz modda bor” dedi. Darslikdagi qaysi qoida bu fikrga zid?</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Gazsimon moddalar suyuq moddalarga nisbatan kuchliroq ta’sir ko‘rsatadi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Zaharlanish faqat qasddan sodir bo‘ladigan holat hisoblanadi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Zahar nisbiy tushuncha: mutlaq zahar ham, mutlaq beziyon modda ham yo‘q</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Zahar deb faqat laboratoriyada sintez qilingan moddalar ataladi</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45 / 84</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Sud-tibbiy toksikologiyaning boshqa toksikologiya turlaridan asosiy farqi nimada?</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Zaharlanish holatlarida huquqni muhofaza etuvchi idoralar qo‘ygan vazifalarni hal etadi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Jabrlanganlarga malakali tibbiy yordam ko‘rsatish usullarini ishlab chiqadi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Zaharlanishlarning oldini olish choralarini asosiy vazifa qilib oladi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Zaharlanish sabablarini faqat sanoat korxonalarida o‘rganish bilan cheklanadi</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46 / 84</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Shifokor muolajada dori dozasini belgilashda xatoga yo‘l qo‘ydi va bemor zaharlandi. Bu holat qaysi tafsilotga kiradi?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Qasddan sodir etilgan qotillik tarzidagi zaharlash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Zaharlanish orqali amalga oshirilgan o‘z-o‘zini o‘ldirish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Kasbiy faoliyat bilan bog‘liq ishlab chiqarish zaharlanishi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Yatrogen kelib chiqishli tasodifiy zaharlanish (baxtsiz hodisa)</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47 / 84</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Kanalizatsiya quduqida ishlagan ishchi vodorod sulfiddan zaharlandi. Bu holat omillarning qaysi guruhiga mansub?</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Zaharli moddaning kimyoviy tuzilishi va dozasi bilan bog‘liq omillar</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Zahar ta’sir etgan vaqtdagi tashqi shart-sharoit bilan bog‘liq omillar</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Organizmning yoshi va genetik xususiyatlari bilan bog‘liq omillar</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Zaharning organizmga kirish yo‘li bilan bog‘liq omillar</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48 / 84</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Ichimlikka sianid qo‘shilgan. Qaysi muhitda uning umumtoksik ta’siri kuchliroq namoyon bo‘ladi?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Ishqoriy muhitda, chunki bu yerda ta’sir kuchayadi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Yog‘li muhitda, chunki yog‘ ta’sirni kuchaytiradi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Kislotali muhitda, chunki bu yerda ta’sir kuchayadi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Neytral muhitda, chunki muhit ta’sirga aralashmaydi</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49 / 84</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Bir xil dozadagi zahar bolada kattalarga qaraganda kuchliroq ta’sir qildi. Buning asosiy sababi nima?</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Bolada jigar zaharni kattalarga qaraganda juda tez parchalaydi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Bola vazni kichik, umumiy qarshilik tizimi to‘liq shakllanmagan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Bolada zaharli modda faqat teri orqali kirib, tezroq so‘riladi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Bolalar jinsiga ko‘ra zaharga kattalardan ko‘proq sezgir bo‘ladi</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50 / 84</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Bemorda xolinesteraza fermenti aktivligi tug‘ma past. Qaysi moddalar ta’siri kuchayishi mumkin?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Sulfanilamidlar va ayrim antibiotiklarning ta’siri kuchayadi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Uyqu dorilari va analgetiklarga tolerantlik kuchayib ketadi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Barcha dori moddalarga idiosinkraziya shakllanib qoladi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Miorelaksantlar kabi motor-paralitik moddalar ta’siri kuchayadi</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51 / 84</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Zahar to‘g‘ri ichak shilliq qavatidan so‘rildi. Nega uning ta’siri oshqozon-ichakdan so‘rilganga qaraganda kuchliroq?</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Qonga so‘rilgan modda jigar orqali o‘tmaydi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Bu yo‘lda modda faqat mahalliy ta’sir ko‘rsatadi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Qonga so‘rilgan modda jigarda to‘planib qoladi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To‘g‘ri ichakda zahar yog‘da erimay qoladi</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52 / 84</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Og‘iz orqali qabul qilingan zahar asosan jigarga ta’sir etib, siydik bilan chiqadi. “Uch nuqta” qoidasiga ko‘ra qaysi namunalar olinadi?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Bosh miyaning uchdan biri va o‘pkaning to‘rtdan bir qismi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Qon 100-200 ml hamda bir metr uzunlikdagi ingichka ichak</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Oshqozon massasi, jigar bo‘lagi va butun buyrak siydigi bilan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Ko‘krak-qorin ichki a’zolari aralashmasidan 1,5-2,0 kg massa</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53 / 84</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Murdada dog‘lar yorqin olcha rangda, ichki a’zolardan achchiq bodom hidi keladi. Qaysi zahar bilan zaharlanishga shubha qilinadi?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Is gazi bilan zaharlanishga, chunki dog‘lar pushti tusda bo‘ladi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Sianid kislotasi yoki uning tuzlari bilan zaharlanishga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Metgemoglobin hosil qiluvchi moddalar bilan zaharlanishga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Gemoliz chaqiruvchi moddalar bilan zaharlanishga</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54 / 84</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Murda tekshiruvida oshqozon shilliq qavati sarg‘ish, ichki a’zolardan azot oksidlariga xos bo‘g‘uvchi hid keladi. Qaysi kislota bilan zaharlanish ehtimoli eng yuqori?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Sulfat kislota bilan zaharlanish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Nitrat kislota bilan zaharlanish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Xlorid kislota bilan zaharlanish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Sirka kislota bilan zaharlanish</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55 / 84</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Kislotalarning erkin vodorod ionlari ta’sirida to‘qimada qanday nekroz rivojlanadi?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Kollikvatsion (suyuq) nekroz</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Yog‘li nekroz (sovunlanish)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Gangrenoz (chirituvchi) nekroz</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Koagulyasion (quruq) nekroz</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56 / 84</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Jabrlangan tasodifan natriy gidroksid ichgan. Shikastlangan soha ushlab ko‘rilganda qanday bo‘lishi kutiladi?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Yumshoq, shishgan va sirpanuvchan bo‘ladi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Quruq, zich va pergamentsimon bo‘ladi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Qattiq, qo‘ng‘ir-qora strupli bo‘ladi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Quruq, kulrang va g‘ovaksimon bo‘ladi</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57 / 84</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Murdada buyraklar kattalashgan, kapsulasi taranglashgan, po‘stloq qalinlashgan, piramidalar to‘q olcha rang. Bu manzara qanday ataladi?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Sulema dizenteriyasi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Simobli stomatit</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Sulema buyragi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Toksik nekronefroz</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58 / 84</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Is gazi bilan zaharlanishga shubha bor, murda dog‘lari pushti-qizg‘ish. Qonda qaysi o‘zgarish kutiladi?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Metgemoglobin hosil bo‘lishi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Karboksigemoglobin hosil bo‘lishi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Qaytarilgan gemoglobin ko‘pligi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Ishqoriy gematin hosil bo‘lishi</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59 / 84</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Nitrit bilan zaharlangan bemorda 2 kundan so‘ng anemiya va gemoglobinuriyali nefroz belgilari bor, lekin qonda metgemoglobin topilmadi. Buni qanday izohlash to‘g‘ri?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Zaharlanish bo‘lmagan, tashxis noto‘g‘ri qo‘yilgan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1-2 kundan keyin qonda metgemoglobin topilmasligi mumkin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Metgemoglobin faqat siydikda hosil bo‘ladi, qonda emas</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Nitritlar metgemoglobin umuman hosil qilmaydi</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60 / 84</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Yong‘inda is gazidan zaharlanib, bir necha soniyada nafas to‘xtashidan o‘lgan shaxs qonida karboksigemoglobin tekshiruvi manfiy chiqdi. Bu natijaga qanday baho berish to‘g‘ri?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Is gazi bilan zaharlanish to‘liq istisno qilinadi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Manfiy natija zaharlanishni har doim inkor etadi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Tez o‘limda natija past yoki manfiy bo‘lishi mumkin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Karboksigemoglobin faqat siydikda aniqlanadi</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61 / 84</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Murdada dog‘lar olcha rang-qizg‘ish, bo‘shliqlar va o‘pkadan achchiq bodom hidi keladi. Qaysi zaharlanish ehtimoli eng yuqori?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Sianidlar bilan zaharlanish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Is gazi bilan zaharlanish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Metgemoglobin hosil qiluvchi zahar bilan zaharlanish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Vodorod sulfid bilan zaharlanish</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62 / 84</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Haydovchining qonida 2,0 promille etil spirti aniqlandi. Amaldagi qoidalarga ko‘ra mastlik darajasi qanday baholanadi?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Yengil darajali mastlik</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Kuchli darajali mastlik</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Zaharlanish deb baholanadi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O‘rta darajali mastlik</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63 / 84</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Metil spirti (metanol) etil spirtiga nisbatan nima uchun xavfliroq hisoblanadi?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Uning butun molekulasi kuchli narkotik ta’sir ko‘rsatadi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Metabolitlari kuchli toksik va organizmda uzoqroq saqlanadi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U organizmda umuman metabolizmga uchramaydi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U faqat teri orqali so‘riladi, ichilsa zararsiz</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64 / 84</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Zahar nisbiy tushuncha: mutlaq zahar ham, mutlaq beziyon modda ham yo‘q</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Darslikka ko‘ra zahar nisbiy tushuncha. Tabiatda mutlaq zahar bo‘lmaganidek, mutlaq beziyon modda ham yo‘q. Paratsels ham “faqat doza moddani doriga yoki zaharga aylantiradi”, degan. Boshqa variantlar boshqa mavzuga tegishli yoki noto‘g‘ri.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132-bet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65 / 84</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Zaharlanish holatlarida huquqni muhofaza etuvchi idoralar qo‘ygan vazifalarni hal etadi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Toksikologiyaning boshqa turlari zaharlanish sabablari, malakali yordam va oldini olishga yo‘naltirilgan. Sud-tibbiy toksikologiya esa huquqni muhofaza etuvchi idoralar qo‘ygan vazifalarni hal qiladi. Darslik sud tibbiyoti fan sifatida aynan shu yo‘nalishdan shakllanganini ham ta’kidlaydi.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132-bet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3: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66 / 84</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Yatrogen kelib chiqishli tasodifiy zaharlanish (baxtsiz hodisa)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Qotillik va o‘z-o‘zini o‘ldirishda zaharlanish qasddan bo‘ladi, baxtsiz hodisada esa tasodifan. Ayrim tasodifiy zaharlanishlar yatrogen bo‘ladi: dori dozasini belgilashda xato yoki bir dori o‘rniga boshqasini qo‘llash. Shu sababli to‘g‘ri javob D.</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132-bet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4: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67 / 84</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Zahar ta’sir etgan vaqtdagi tashqi shart-sharoit bilan bog‘liq omillar</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Darslik zaharlanishda to‘rt guruh omilni farqlaydi: zaharli modda, organizm, kirish yo‘li va ta’sir vaqtidagi tashqi shart-sharoit. Vodorod sulfid bilan zaharlanish cheklangan muhitda, masalan kanalizatsiya quduqlarida kuzatiladi. Bu tashqi shart-sharoit omiliga kiradi.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135-bet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5: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68 / 84</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Kislotali muhitda, chunki bu yerda ta’sir kuchayadi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Zaharni olib kiruvchi modda — vexikulum toksik ta’sir darajasini o‘zgartiradi. Sianidlar kislotali muhitda kuchliroq ta’sir qiladi. Margimush birikmalari esa aksincha, ishqoriy muhitda kuchayadi. Yog‘li muhit fosfororganik birikmalar ta’sirini kuchaytiradi.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133-bet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6: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69 / 84</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Bola vazni kichik, umumiy qarshilik tizimi to‘liq shakllanmagan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Bolalar kattalarga nisbatan sezgirroq. Buni ikki holat tushuntiradi: vazni kichikligi va umumiy qarshilik ko‘rsatish tizimining to‘liq shakllanmaganligi. Jins bo‘yicha farq bo‘lmaydi, ayollarda esa faqat ayrim fiziologik davrlarda (masalan, homiladorlikda) sezgirlik ortadi.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134-bet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7: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70 / 84</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Miorelaksantlar kabi motor-paralitik moddalar ta’siri kuchayadi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Xolinesteraza aktivligining tug‘ma pastligi motor-paralitik moddalar (masalan, miorelaksantlar) ta’sirini kuchaytiradi. Sulfanilamidlarga sezgirlik esa eritrotsitlarda glyukoza-6-fosfatdegidrogenaza yetishmasligi bilan bog‘liq.</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134-bet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8: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71 / 84</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Qonga so‘rilgan modda jigar orqali o‘tmaydi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Nafas yo‘llari, to‘g‘ri ichak va qin shilliq qavatlaridan qonga so‘rilgan moddalar jigar orqali o‘tmaydi. Shu sababli ular oshqozon-ichakdan so‘rilganlarga nisbatan kuchliroq ta’sir ko‘rsatadi.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135-bet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9: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72 / 84</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Oshqozon massasi, jigar bo‘lagi va butun buyrak siydigi bilan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“Uch nuqta” qoidasida namuna zahar kirgan, asosan ta’sir etgan va chiqqan joylardan olinadi. Bu holatda: oshqozon massasi, jigarning bir qismi va siydigi bilan butun buyrak. Qolgan variantlar zahar manbai noma’lum bo‘lgan yoki chuqur chirigan holatlar uchun.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136-bet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10: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73 / 84</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Sianid kislotasi yoki uning tuzlari bilan zaharlanishga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Sianid kislotasi yoki tuzlari bilan zaharlanganda murda dog‘lari yorqin olcha rangda, ichki a’zolardan achchiq bodom hidi keladi. Is gazida dog‘lar pushti, metgemoglobin hosil qiluvchilarda jigarrang-qo‘ng‘ir, gemolizda sargimtir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136-bet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11: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74 / 84</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Nitrat kislota bilan zaharlanish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Nitrat kislotada ksantoprotein reaksiyasi tufayli shilliq qavat sarg‘ish tusga kiradi (konsentratsiya 30% dan yuqori bo‘lganda). Ichki a’zolardan azot oksidlariga xos bo‘g‘uvchi hid seziladi. Sulfat kislotada shilliq qavat qo‘ng‘ir-qora, xlorid kislotada qo‘ng‘ir-kul rang bo‘ladi. Sirka kislotada o‘tkir sirka hidi keladi.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141-142-bet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12: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75 / 84</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Koagulyasion (quruq) nekroz</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Kislotalar to‘qimalarni suvsizlantiradi va oqsillarni ivitadi, natijada koagulyasion (quruq) nekroz hosil bo‘ladi. Ishqorlarda esa oqsillar suyulib, kollikvatsion nekroz rivojlanadi.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140-bet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13: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76 / 84</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Yumshoq, shishgan va sirpanuvchan bo‘ladi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Ishqorlar to‘qima oqsillarini suyultiradi (kollikvatsion nekroz), yog‘larni sovunlaydi. Shu sababli soha yumshoq, shishgan va sirpanuvchan bo‘ladi. Quruq, zich, strupli o‘zgarishlar kislotalarga xos.</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143-bet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14: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77 / 84</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Sulema buyragi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Sulema (simob dixlorid) bilan zaharlanishda aynan shu buyrak manzarasi “sulema buyragi” deb ataladi. “Sulema dizenteriyasi” esa yo‘g‘on ichakdagi difteritik yallig‘lanishni bildiradi.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146-bet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15: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78 / 84</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Karboksigemoglobin hosil bo‘lishi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Is gazi gemoglobin bilan turg‘un karboksigemoglobin hosil qiladi va u pushti-qizg‘ish rangga ega. Shu sababli murda dog‘lari va ichki a’zolar shu rangda bo‘ladi. Metgemoglobin qo‘ng‘ir rangli, ishqoriy gematin ishqorlarga xos.</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150-151-bet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16: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79 / 84</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1-2 kundan keyin qonda metgemoglobin topilmasligi mumkin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Metgemoglobin hosil qiluvchi zaharlarda o‘lim dastlab o‘tkir gemik gipoksiyadan, keyin buyrak yetishmovchiligidan bo‘ladi. 1-2 kundan so‘ng anemiya va gemoglobinuriyali nefroz belgilari bo‘lsa ham, qonda metgemoglobin aniqlanmasligi mumkin. Og‘ir hollarda u 5-6 kun topiladi.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152-bet</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17: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80 / 84</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Tez o‘limda natija past yoki manfiy bo‘lishi mumkin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Katta konsentratsiyadagi is gazi tufayli o‘lim tez sodir bo‘lganda, qondagi karboksigemoglobin ancha past yoki manfiy bo‘lishi mumkin. Yashinsimon shaklda u faqat yurakning chap qorinchasi va aortaning boshlang‘ich qismidagi qondan topilishi mumkin. Shuning uchun natijaga tanqidiy yondashiladi.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151-bet</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18: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81 / 84</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Sianidlar bilan zaharlanish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Sianidlarda murda dog‘lari olcha rang-qizg‘ish bo‘ladi va achchiq bodom hidi keladi. Is gazida dog‘lar pushti, metgemoglobin hosil qiluvchilarda qo‘ng‘ir-ko‘kimtir bo‘ladi. Vodorod sulfidda hid palag‘da tuxum hidiga o‘xshaydi.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154-bet</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19: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82 / 84</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O‘rta darajali mastlik</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Qonda 0,5-1,5 promille yengil, 1,5-2,5 promille o‘rta, 2,5-3,0 promille kuchli mastlik hisoblanadi. 3,0 promilledan yuqori bo‘lsa zaharlanish deb baholanadi. Demak, 2,0 promille o‘rta darajaga mos keladi.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160-bet</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20: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83 / 84</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Metabolitlari kuchli toksik va organizmda uzoqroq saqlanadi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Metanolning butun molekulasi kuchsiz narkotik ta’sir etadi. Uning metabolitlari formaldegid va chumoli kislotasi esa kuchli toksik. Oksidlanishi etil spirtiga nisbatan sekin kechgani uchun ular organizmda uzoqroq qoladi va ta’siri kuchayadi.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161-bet</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Foydalanilgan manbalar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84 / 84</a:t>
            </a:r>
          </a:p>
        </p:txBody>
      </p:sp>
      <p:sp>
        <p:nvSpPr>
          <p:cNvPr id="8" name="TextBox 7"/>
          <p:cNvSpPr txBox="1"/>
          <p:nvPr/>
        </p:nvSpPr>
        <p:spPr>
          <a:xfrm>
            <a:off x="640080" y="1463040"/>
            <a:ext cx="10911535" cy="4572000"/>
          </a:xfrm>
          <a:prstGeom prst="rect">
            <a:avLst/>
          </a:prstGeom>
          <a:noFill/>
        </p:spPr>
        <p:txBody>
          <a:bodyPr wrap="square">
            <a:spAutoFit/>
          </a:bodyPr>
          <a:lstStyle/>
          <a:p>
            <a:pPr>
              <a:spcAft>
                <a:spcPts val="1200"/>
              </a:spcAft>
            </a:pPr>
            <a:r>
              <a:rPr sz="2000">
                <a:solidFill>
                  <a:srgbClr val="1F2937"/>
                </a:solidFill>
                <a:latin typeface="Calibri"/>
              </a:rPr>
              <a:t>▸  G‘iyosov Z.A. Sud tibbiyoti: darslik, Toshkent: Global Books nashriyoti. 2018. Bob 6. Sud-tibbiy toksikologiya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