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tibbiy profilaktika mutaxassisi zaharlanishlarni bilishi kerak? Zaharlanishlar zo‘raki o‘lim tarkibida nechanchi o‘rinda? Doskada ma’ruza rejasini 4-5 qatorda yozdiring. Tipik xato: talabalar zaharlanishni faqat qotillik bilan bog‘laydi, holbuki u baxtsiz hodisa yoki o‘z-o‘zini o‘ldirish ham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osh tuzi yoki dori ham ma’lum sharoitda zahar bo‘la oladi? Paratsels iborasini o‘z so‘zingiz bilan tushuntiring. Doskada ‘doza → dori yoki zahar’ chiziqli sxemasini chizdiring. Tipik xato: ‘zahar’ moddaning o‘zgarmas xususiyati deb o‘ylash. Diqqat: zahar ≠ doim zaharli modda, hal qiluvchisi doza va sharoit.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sud-tibbiy toksikologiya boshqa yo‘nalishlardan nimasi bilan farq qiladi? Huquqni muhofaza idoralari qanday savollar qo‘yishi mumkin? Doskada ikki ustunli solishtirish jadvalini chizdiring. Tipik xato: sud-tibbiy toksikologiyani zaharlanganlarni davolash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amaliyotda baxtsiz hodisa eng ko‘p uchraydi? 2) Yatrogen zaharlanish qaysi guruhga kiradi: qasddanmi yoki tasodifiy? Doskada jadvalni 3 mezon bo‘yicha chizdiring. Tipik xato: yatrogen zaharlanishni qasddan sodir etilgan deb hisoblash; u tibbiy xato oqibatida tasodifan yuz beradi.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talabalarni navbat bilan so‘rab o‘tkazing. Muhokama: nima uchun “zahar” tushunchasi nisbiy hisoblanadi? Doskada Paratsels iborasini yozdirib, misol keltirtiring. Tipik xato: zaharni doimiy mutlaq xususiyat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Birinchi voqeada qasd belgilari bormi yoki zahar tasodifan ichilganmi? 2) Ikkinchi voqea nima uchun jinoiy qasd bilan bog‘liq, lekin o‘limga olib kelmagan? Doskada ikki ustunli “qasddan / tasodifan” jadvali chizdiring. Tipik xato: zaharlanish bo‘lgan zahoti uni qotillik deb baholash; avval qasd mavjudligi aniqlanadi.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zahar turli odamga turlicha ta’sir qiladi? 2) Qaysi omillarni ekspert hodisa joyida baholay oladi? Doskada chizish: to‘rt kvadratni markaziy ‘Zaharlanish’ atrofida joylashtiring va har biriga 2 ta misol yozing. Tipik xato: talabalar tashqi sharoitni barcha zaharlarga birdek ta’sir qiladi deb o‘ylaydi, aslida u faqat ayrim moddalarda muhim.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Vehikulum nima va u ekspertiza uchun nimani anglatadi? 2) Kumulyatsiya surunkali zaharlanishda qanday rol o‘ynaydi? Doskada chizish: ‘modda → vehikulum → ta’sir kuchayadi/susayadi’ sxemasini margimush va sianid uchun chizing. Tipik xato: ‘vehikulum’ va ‘vaznga to‘g‘ri keladigan doza’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Vehikulum nima va u ekspertiza uchun nimani anglatadi? 2) Kumulyatsiya surunkali zaharlanishda qanday rol o‘ynaydi? Doskada chizish: ‘modda → vehikulum → ta’sir kuchayadi/susayadi’ sxemasini margimush va sianid uchun chizing. Tipik xato: ‘vehikulum’ va ‘vaznga to‘g‘ri keladigan doza’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Voqea tahlili: 1916-yil dekabrida Rasputinga kaliy sianidli pishiriq berilgan, u ichib-yeb o‘zini yaxshi his qilgan. Savol: nega zahar ishlamadi? Muhokama: saqlash sharoiti ekspertiza natijasiga qanday ta’sir qiladi? Doskada chizish: jadvalni ko‘chirib, eruvchan va erimaydigan juftliklarni rangli chiziq bilan ajrating. Tipik xato: erimaydigan moddani doim zararsiz deb hisoblash; kalomel ichakda katta dozada to‘planib qolsa, zaharlanish chaqirishi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bolalar zaharga sezgirroq? 2) Jigar yoki buyrak kasalligi zaharlanish xavfini qanday o‘zgartiradi? Doskada chizish: «zahar — organizm» sxemasi, yon tomonda vazn, yosh, salomatlik, genetika omillari. Tipik xato: idiosinkraziyani oddiy toksik dozaga bog‘lash; u genetik xususiyat bilan tushuntiriladi.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Tolerantlik va abstinensiya qanday bog‘liq? 2) Nima uchun narkomaniya va toksikomaniya farqlanadi? Doskada chizish: narkotikning uch mezoni (tibbiy, ijtimoiy, huquqiy) uchburchagi. Tipik xato: har qanday bog‘lanish keltiradigan moddani narkotik deb hisoblash; huquqiy ro‘yxatga kiritilganlik shart.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nafas yo‘llaridan so‘rilgan modda oshqozondan so‘rilganidan kuchliroq? 2) Qaysi sharoitda is gazidan zaharlanish xavfi oshadi? Doskada chizish: zahar yo‘llari va jigar «filtri» sxemasi. Tipik xato: barcha yo‘llarni bir xil kuchda deb o‘ylash; jigardan o‘tish zaharni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savollarga avval yozma, so‘ng og‘zaki javob beradi. Muhokama: 1) Zaharli modda omillari bilan organizm omillarini qanday farqlaysiz? 2) Nega kirish yo‘li toksik kuchni o‘zgartiradi? Doskada: 4 ustunli emas, 4 ta doira chizing (modda, organizm, kirish yo‘li, tashqi muhit) va har biriga bittadan misol yozing. Tipik xato: kimyoviy tuzilishi o‘xshash moddalar toksikligi ham bir xil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Talabalar uch misolni (bola, fenol, fosfororganik birikma) guruhlarda tahlil qiladi. Muhokama: 1) Fenol konsentratsiyasi ta’sir turini qanday o‘zgartiradi? 2) Qaysi omillar (yosh, vazn, kirish yo‘li) bu holatlarda hal qiluvchi? Doskada: har misol uchun «omil → natija» strelkasini chizing. Tipik xato: konsentrlangan fenol kuchliroq rezorbtiv zahar deb o‘ylash; aslida u asosan mahalliy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Nima uchun funksional zaharlarda tibbiy hujjatlar muhim dalil bo‘ladi? 2) «Uch nuqta» qoidasi nimani anglatadi? Doskada: 3 bosqichli zanjirni chizib, har bosqich ostiga 2 ta misol yozing. Tipik xato: laboratoriyada zahar topilishini yagona isbot deb hisoblash; ekspert barcha ma’lumotlarni (joy, klinika, murda, laboratoriya) birga baholaydi.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bo‘sh idish ham tekshiruvga olinadi? 2) Qusish qaysi holatlarda zaharlanishdan boshqa sabab bo‘lishi mumkin? Doskada: voqea joyidan olinadigan ob’ektlar ro‘yxatini chizdiring. Tipik xato: talaba bitta klinik belgini (qusish, alkogol hidi) yetarli tashxis deb hisoblaydi. Piramidon va epidural gematoma misollarini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zaharlanishga shubhada kesish tartibi oddiy kesishdan farq qiladi? 2) Murda dog‘lari rangi qaysi zaharlarni ko‘rsatadi? Doskada: jadvaldagi belgi–zahar juftliklarini va kesish ketma-ketligini (yurak, qon, oshqozon, ichak) chizdiring. Tipik xato: belgini yagona isbot deb hisoblash; ko‘pgina zaharlar o‘ziga xos o‘zgarish qoldirmaydi. Eslatma: ayrim zaharlanishda (masalan, oq qalpoqchali zamburug‘) mushak qotishi umuman kuzatilmasligi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“Uch nuqta” qoidasini og‘iz orqali kirgan zahar misolida tushuntiring. 2) Nega qon har bir ob’ektdan alohida idishda olinadi va fiksator ishlatilmaydi? Doskada: noma’lum zahar uchun ob’ektlar ro‘yxatini va ulushlarini (1/3, 1/4, 1/3) yozdiring. Tipik xato: sud-kimyoviy natijani yagona va yakuniy isbot deb qabul qilish; xulosa barcha ma’lumotlar yig‘indisiga asoslanadi. Tezkor savol: laboratoriya natijasi manfiy bo‘lsa, zaharlanish yo‘q degan xulosa to‘g‘rimi?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tuproqdan va tobut qoplamasidan nazorat namunasi olinadi? 2) Salbiy sud-kimyoviy natija qachon zaharlanishni inkor etmaydi? Doskada: ikki ustunli ro‘yxat chizing: “saqlanadigan” va “saqlanmaydigan” zaharlar. Tipik xato: talabalar topilgan zaharni avtomatik ravishda o‘lim sababi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tuproqdan va tobut qoplamasidan nazorat namunasi olinadi? 2) Salbiy sud-kimyoviy natija qachon zaharlanishni inkor etmaydi? Doskada: ikki ustunli ro‘yxat chizing: “saqlanadigan” va “saqlanmaydigan” zaharlar. Tipik xato: talabalar topilgan zaharni avtomatik ravishda o‘lim sababi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Birinchi misolda qaysi ma’lumotlar vrachni noto‘g‘ri yo‘lga solgan? 2) Ikkinchi misolda ichki qon ketishga shubha nimaga asoslangan? Doskada: “belgi → mumkin bo‘lgan sabablar” ko‘rinishidagi uch tarmoqli sxema chizing (qusish → zaharlanish / bosh jarohati / o‘sma). Tipik xato: bitta klinik belgiga qarab tashxis qo‘yish.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Birinchi misolda qaysi ma’lumotlar vrachni noto‘g‘ri yo‘lga solgan? 2) Ikkinchi misolda ichki qon ketishga shubha nimaga asoslangan? Doskada: “belgi → mumkin bo‘lgan sabablar” ko‘rinishidagi uch tarmoqli sxema chizing (qusish → zaharlanish / bosh jarohati / o‘sma). Tipik xato: bitta klinik belgiga qarab tashxis qo‘yish.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metabolit ba’zan ona moddadan xavfliroq? 2) Sirka kislotasida birlamchi, keyingi va metatoksik ta’sirni ketma-ket sanang. Doskada: kirish → taqsimlanish → biotransformatsiya → chiqarilish zanjirini chizing. Tipik xato: toksikokinetika (organizm zaharga nima qiladi) va toksikodinamika (zahar organizmga nima qiladi) tushunchalarini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sud-kimyoviy tekshiruvga chiqish va to‘planish joylarini bilish kerak? 2) Nima uchun simob va margimush murdada uzoq saqlanadi? Doskada: ikki ustunli ro‘yxat chizdiring: «qayerdan chiqadi» va «qayerda to‘planadi». Tipik xato: chiqish yo‘lini to‘planish joyi bilan aralashtirish, masalan, buyrak orqali chiqadigan zahar faqat buyrakda to‘planadi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o‘yuvchi zaharlar mahalliy, simob esa umumiy guruhga kiradi? 2) Funksional zaharlarda nega aniq morfologik o‘zgarish kam bo‘ladi? Doskada: tasnif daraxtini chizdiring: zahar → mahalliy / umumiy → destruktiv, qon, funksional. Tipik xato: simob va margimushni mahalliy zahar deb hisoblash. Ular umumiy (rezorbtiv) destruktiv zaharlar.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avval savollarga javob beradi, so‘ng javob bandini oching. Muhokama: 1) Nima uchun guruhlar «asosan» so‘zi bilan ajratilgan? 2) Sianidning qaysi xususiyati uni funksional guruhga kiritadi? Doskada: 2x2 jadval chizdiring (mahalliy/umumiy va ularga misollar). Tipik xato: tasnifni faqat ta’sir joyiga qarab tuzish, ta’sir mexanizmini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kislotada quruq nekroz hosil bo‘ladi? 2) Dastlabki soatlar va kech muddat o‘lim sabablari qanday farqlanadi? Doskada: vodorod ioni → suvsizlanish → oqsil ivishi → koagulyasion nekroz zanjirini chizing. Diqqat, xato xavfi: koagulyasion (quruq) nekroz ≠ kollikvatsion (nam) nekroz; birinchisi kislotaga, ikkinchisi ishqorga xos. Eslatma: Iskandarov-Qo‘ldoshev darsligida letal dozalar boshqacha berilgan (xlorid 10–15 ml, sirka 15–20 ml, 301-bet). Talabalarga manbalar o‘rtasidagi farqni ayting.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Nitrat kislotada sarg‘ish rang nima bilan bog‘liq (ksantoprotein reaksiyasi)? 2) Nima uchun xlorid va sirka kislotalarda hiqildoq va o‘pka shishi ko‘proq? Doskada: jadvalni daftarga ko‘chirtiring, har qatorga bittadan xos belgi qo‘shtiring. Diqqat, xato xavfi: sirka kislotasi faqat mahalliy kuydirmaydi, u gemoliz va buyrak zararini ham chaqiradi. Nitrat kislotada rang konsentratsiyaga bog‘liq: 30% dan past bo‘lsa qo‘ng‘ir-kul. Sirka kislotasi strupining ranggi Xarin darsligida (130-bet)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Jadval ma’lumoti G‘iyosov darsligining 144–145-betlaridan (formalin, kaliy permanganat, vodorod peroksid, yod). Muhokama: 1) Nima uchun ishqorda strup yumshoq, kislotada quruq? 2) Vodorod peroksidda shilliq qavat nega ko‘piklanadi (gaz pufaklari)? Doskada: kislota va ishqorni ikki ustunli jadvalda qiyoslang (ion, nekroz turi, strup konsistensiyasi). Diqqat, xato xavfi: formalinda shilliq qavat o‘zgarmaganday ko‘rinadi, chunki u fiksatsiyalangan; bu belgini o‘zgarish yo‘q deb talqin qilmang.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savollari: 1) Qaysi belgilarga qarab kislota va ishqorni ajratasiz? 2) Nega o‘yuvchi zaharda qusuqdan oshqozonni yuvish haqida ehtiyot bo‘lish kerak? Doskada: ikki ustunli ‘kislota | ishqor’ jadvali (nekroz turi, strup, to‘qima holati). Tipik xato: ikkala nekroz turini ‘quruq’ deb aralashtirish; ishqorda nekroz nam (kollikvatsion) ekanini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Nega sof simob ichilganda zaharlamaydi, bug‘i esa xavfli? 2) Anorganik simob va qo‘rg‘oshin zaharlanishida qaysi a’zolar ko‘proq shikastlanadi? Doskada: ‘sulema – ichak – buyrak’ zanjirini chizing. Tipik xato: organik simobda stomatit va kuchli buyrak shikastlanishini kutish; aslida neyrotoksik ta’sir ustun.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Nega paralitik turda murdada o‘zgarish minimal bo‘ladi? 2) Soch va tirnoq tekshiruvi nega muhim? Doskada: ikki turni solishtiruvchi jadvalni talabalar bilan to‘ldiring. Tipik xato: paralitik turda ham hazm trakti belgilari kuchli deb o‘ylash; aslida ular kuchsiz yoki umuman bo‘lmaydi.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is gazi rang va hidga ega bo‘lmagani uchun xavfli? 2) Qon namunasi nima uchun imkon qadar erta olinishi kerak? Doskada: yuqoridagi zanjirni chizing va yoniga murda belgilarini yozing. Eslatma: dastlabki belgilar karboksigemoglobin 25–30% dan oshganda, 60% dan oshganda nafas markazi falajidan o‘lim; yashinsimon shakl havoda 1% dan ortiq gazda. Dastlabki sinamalarda normal qon qo‘ng‘ir-qora tusga kiradi, karboksigemoglobinli qon rangi o‘zgarmaydi. Diqqat: manfiy tahlil zaharlanish yo‘q degani emas. Tipik xato: murdadagi pushti rangni sovuq ta’siri bilan adashtirish yoki manfiy natijani rad etish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Gemoglobin va metgemoglobin farqi nimada (Fe2+ va Fe3+)? 2) Nima uchun kech tushgan bemorda qonda metgemoglobin topilmasligi mumkin? Doskada: gemoglobin → metgemoglobin o‘zgarishini temir valentligi bilan chizing. Eslatma: dastlabki belgilar metgemoglobin 30% dan oshganda, 70% dan oshganda o‘lim. Tipik xato: achchiq bodom hidini faqat sianidga xos deb hisoblash (nitrobenzolda ham bor) va nitratni nitritdek kuchli zahar deb o‘ylash. Aniqlashda spektrofotometrik va gaz-xromatografik usullar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Sianid va vodorod sulfid ta’sir mexanizmi qanday o‘xshash? 2) Nima uchun hodisa joyidagi havo tarkibini o‘rganish muhim? Doskada: hujayra nafas zanjirini chizib, sitoxromoksidaza blokadasi joyini belgilang. Eslatma: sianidda metgemoglobin hosil qiluvchi moddalar antidot sifatida ishlatilishi mumkin (sian anionlarini sitoxromlardan ajratadi). Diqqat: nordon muhitda sianid ta’siri kuchayadi, ishqoriy muhitda susayadi. Tipik xato: achchiq bodom hidi yo‘q bo‘lsa sianidni rad etish; hid tez yo‘qolishi mumkin. Tashxisda sud-kimyoviy tekshiruv hal qiluvchi.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daqiqa. Jadval manbalari: G‘iyosov Z.A. 137-138 (metanol, etilenglikol) va Iskandarov A.I. 318 (etanol). Muhokama: 1) Nega metanol dastlab narkotik, keyin organlarni zaharlovchi ta’sir ko‘rsatadi? 2) Fosfororganik zaharlanishda murdada qaysi belgilar tashxisga yo‘l ko‘rsatadi? Doskada chizing: fosfororganik birikma → xolinesteraza pasayishi → atsetilxolin yig‘ilishi → xolinergik tizim qo‘zg‘alishi. Tipik xato: metabolitlarni aralashtirish (metanol – formaldegid, etanol – atsetaldegid, etilenglikol – oksalat kislotasi). Diqqat: metabolit zaharliligi asl moddadan kuchli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Javob: voqea tafsiloti, zaharlanish klinikasi va toksikologik (laboratoriya) tekshiruvlari. Muhokama: 1) Nima uchun dastlab ichki qon ketish va jarohat deb o‘ylashgan? 2) Funksional zaharlarda murdada aniq morfologik belgi bo‘lmasa, nimaga tayaniladi? Doskada chizing: tashxis uchburchagi (voqea – klinika – laboratoriya). Tipik xato: sud-kimyoviy natijani yagona dalil deb olish. Izoh: kitobda piramidon funksional zahar guruhiga kiritilmagan; misol o‘ziga xos morfologik belgisiz zaharlanishni aniqlash qiyinligini ko‘rsatish uchun olingan.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Qo‘shimcha: kimyogar-toksikolog detoksikatsiyada olingan qusuq, siydik va dializatni ham tekshiradi (Baizoldanov T., 84). Muhokama: 1) Spirt tahlili uchun namuna olishda qanday xato soxta musbat natija beradi? 2) Nega bir jabrlanuvchida zaharni aniqlashdan oldin qusdirish yoki yuvish foyda, boshqasida xavfli bo‘lishi mumkin? Doskada chizing: «uch nuqta» sxemasi (kirish joyi – ta’sir joyi – chiqish joyi) va og‘iz orqali zaharlanishda olinadigan a’zolar. Tipik xato: faqat murda a’zolarini olish va jabrlanuvchidan olingan qusuq, siydikni unutish.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Uch bosqichning har birida qanday dalillar yig‘iladi? 2) Nega manfiy kimyoviy natija zaharlanishni istisno qilmaydi? Doskada chizish: zaharlar tasnifi daraxti (mahalliy va umumiy, umumiyning uch tarmog‘i bilan). Tipik xato: talabalar laboratoriya natijasini yagona va yakuniy dalil deb hisoblaydi, hodisa tafsiloti va murda belgilarini hisobga olmaydi.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№3. Ma’ruza: Sud-tibbiy toksikologiya.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Ma’ruza maqsadi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ta’siridan sog‘liqning buzilishi va o‘lim holatlari ekspertiza amaliyotida nisbatan keng uchraydi.</a:t>
            </a:r>
          </a:p>
          <a:p>
            <a:pPr>
              <a:spcAft>
                <a:spcPts val="1200"/>
              </a:spcAft>
            </a:pPr>
            <a:r>
              <a:rPr sz="2200">
                <a:solidFill>
                  <a:srgbClr val="1F2937"/>
                </a:solidFill>
                <a:latin typeface="Calibri"/>
              </a:rPr>
              <a:t>▸  Zo‘raki o‘lim tarkibida zaharlanishlar mexanik jarohatlar va mexanik asfiksiyadan keyin uchinchi o‘rinda turadi.</a:t>
            </a:r>
          </a:p>
          <a:p>
            <a:pPr>
              <a:spcAft>
                <a:spcPts val="1200"/>
              </a:spcAft>
            </a:pPr>
            <a:r>
              <a:rPr sz="2200">
                <a:solidFill>
                  <a:srgbClr val="1F2937"/>
                </a:solidFill>
                <a:latin typeface="Calibri"/>
              </a:rPr>
              <a:t>▸  Reja: zahar va zaharlanish tushunchasi, uning omillari, sud-tibbiy diagnostika, toksikokinetika, toksikodinamika va zaharlar tasnifi.</a:t>
            </a:r>
          </a:p>
          <a:p>
            <a:pPr>
              <a:spcAft>
                <a:spcPts val="1200"/>
              </a:spcAft>
            </a:pPr>
            <a:r>
              <a:rPr sz="2200">
                <a:solidFill>
                  <a:srgbClr val="1F2937"/>
                </a:solidFill>
                <a:latin typeface="Calibri"/>
              </a:rPr>
              <a:t>▸  Reja davomi: o‘yuvchi, destruktiv, qon va funksional zaharlar bilan zaharlanishlar.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132-139, 140-153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 iborasi: faqat doza ma’lum bir moddani doriga yoki zaharga aylantiradi.</a:t>
            </a:r>
          </a:p>
          <a:p>
            <a:pPr>
              <a:spcAft>
                <a:spcPts val="1200"/>
              </a:spcAft>
            </a:pPr>
            <a:r>
              <a:rPr sz="2200">
                <a:solidFill>
                  <a:srgbClr val="1F2937"/>
                </a:solidFill>
                <a:latin typeface="Calibri"/>
              </a:rPr>
              <a:t>▸  Oz miqdordagi moddaning ta’siri natijasida vujudga keladigan sog‘liqning buzilishi zaharlanish deb ataladi.</a:t>
            </a:r>
          </a:p>
          <a:p>
            <a:pPr>
              <a:spcAft>
                <a:spcPts val="1200"/>
              </a:spcAft>
            </a:pPr>
            <a:r>
              <a:rPr sz="2200">
                <a:solidFill>
                  <a:srgbClr val="1F2937"/>
                </a:solidFill>
                <a:latin typeface="Calibri"/>
              </a:rPr>
              <a:t>▸  Sud tibbiyotida zahar — oz miqdorda kirsa ham kimyoviy yoki fiziko-kimyoviy xususiyati bilan sog‘liqni buzadigan yoki o‘limga olib keladigan modda.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Iskandarov A.I., Qo‘ldoshev D.R., Sud tibbiyoti, betlar: 284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Yo‘nalishlar: sanoat, qishloq xo‘jaligi, harbiy, oziq-ovqat, maishiy va sud-tibbiy toksikologiya.</a:t>
            </a:r>
          </a:p>
          <a:p>
            <a:pPr>
              <a:spcAft>
                <a:spcPts val="800"/>
              </a:spcAft>
            </a:pPr>
            <a:r>
              <a:rPr sz="1800">
                <a:solidFill>
                  <a:srgbClr val="1F2937"/>
                </a:solidFill>
                <a:latin typeface="Calibri"/>
              </a:rPr>
              <a:t>▸  Diqqat: sud-tibbiy toksikologiya davolash fani emas, huquqiy vazifalarni hal qiladi.</a:t>
            </a:r>
          </a:p>
          <a:p>
            <a:pPr>
              <a:spcAft>
                <a:spcPts val="800"/>
              </a:spcAft>
            </a:pPr>
            <a:r>
              <a:rPr sz="1800">
                <a:solidFill>
                  <a:srgbClr val="1F2937"/>
                </a:solidFill>
                <a:latin typeface="Calibri"/>
              </a:rPr>
              <a:t>▸  Sud tibbiyotining fan sifatida shakllanishi sud-tibbiy toksikologiyadan boshlangan.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Boshqa turlar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Asosiy masala: sabab, oldini olish</a:t>
            </a:r>
          </a:p>
          <a:p>
            <a:pPr algn="l">
              <a:spcAft>
                <a:spcPts val="700"/>
              </a:spcAft>
            </a:pPr>
            <a:r>
              <a:rPr sz="1500" b="1">
                <a:solidFill>
                  <a:srgbClr val="C9A227"/>
                </a:solidFill>
                <a:latin typeface="Calibri"/>
              </a:rPr>
              <a:t>●  </a:t>
            </a:r>
            <a:r>
              <a:rPr sz="1500" b="0">
                <a:solidFill>
                  <a:srgbClr val="1F2937"/>
                </a:solidFill>
                <a:latin typeface="Calibri"/>
              </a:rPr>
              <a:t>Jabrlanganga malakali tibbiy yordam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Sud-tibbiy toksikologiya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Idoralar qo‘ygan masalalar hal etiladi</a:t>
            </a:r>
          </a:p>
          <a:p>
            <a:pPr algn="l">
              <a:spcAft>
                <a:spcPts val="700"/>
              </a:spcAft>
            </a:pPr>
            <a:r>
              <a:rPr sz="1500" b="1">
                <a:solidFill>
                  <a:srgbClr val="C9A227"/>
                </a:solidFill>
                <a:latin typeface="Calibri"/>
              </a:rPr>
              <a:t>●  </a:t>
            </a:r>
            <a:r>
              <a:rPr sz="1500" b="0">
                <a:solidFill>
                  <a:srgbClr val="1F2937"/>
                </a:solidFill>
                <a:latin typeface="Calibri"/>
              </a:rPr>
              <a:t>Davolash emas, ekspertiza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Sud-tibbiy toksikologiya davolash fani emas</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 tasnifi: sabab va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Vujudga kelishiga ko‘ra zaharlanish qotillik, o‘z-o‘zini o‘ldirish yoki baxtsiz hodisa ko‘rinishida bo‘ladi.</a:t>
            </a:r>
          </a:p>
          <a:p>
            <a:pPr>
              <a:spcAft>
                <a:spcPts val="800"/>
              </a:spcAft>
            </a:pPr>
            <a:r>
              <a:rPr sz="1800">
                <a:solidFill>
                  <a:srgbClr val="1F2937"/>
                </a:solidFill>
                <a:latin typeface="Calibri"/>
              </a:rPr>
              <a:t>▸  Amalda ko‘pchiligi baxtsiz hodisa, keyingi o‘rinda suitsid; zaharlab qotillik kamdan-kam uchraydi.</a:t>
            </a:r>
          </a:p>
          <a:p>
            <a:pPr>
              <a:spcAft>
                <a:spcPts val="800"/>
              </a:spcAft>
            </a:pPr>
            <a:r>
              <a:rPr sz="1800">
                <a:solidFill>
                  <a:srgbClr val="1F2937"/>
                </a:solidFill>
                <a:latin typeface="Calibri"/>
              </a:rPr>
              <a:t>▸  Yatrogen zaharlanish: dori dozasini noto‘g‘ri belgilash yoki bir dori o‘rniga boshqasini qo‘llash oqibati.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Zaharlanish tasnifi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Sabab bo‘yicha</a:t>
            </a:r>
          </a:p>
          <a:p>
            <a:pPr algn="l">
              <a:spcAft>
                <a:spcPts val="0"/>
              </a:spcAft>
            </a:pPr>
            <a:r>
              <a:rPr sz="1200" b="0">
                <a:solidFill>
                  <a:srgbClr val="1F2937"/>
                </a:solidFill>
                <a:latin typeface="Calibri"/>
              </a:rPr>
              <a:t>Qasddan yoki tasodifiy  ·  Suitsid, qotillik / xato qabul</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Holat bo‘yicha</a:t>
            </a:r>
          </a:p>
          <a:p>
            <a:pPr algn="l">
              <a:spcAft>
                <a:spcPts val="0"/>
              </a:spcAft>
            </a:pPr>
            <a:r>
              <a:rPr sz="1200" b="0">
                <a:solidFill>
                  <a:srgbClr val="1F2937"/>
                </a:solidFill>
                <a:latin typeface="Calibri"/>
              </a:rPr>
              <a:t>Qotillik, suitsid, baxtsiz hodisa  ·  Aksariyati — baxtsiz hodisa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Joy bo‘yicha</a:t>
            </a:r>
          </a:p>
          <a:p>
            <a:pPr algn="l">
              <a:spcAft>
                <a:spcPts val="0"/>
              </a:spcAft>
            </a:pPr>
            <a:r>
              <a:rPr sz="1200" b="0">
                <a:solidFill>
                  <a:srgbClr val="1F2937"/>
                </a:solidFill>
                <a:latin typeface="Calibri"/>
              </a:rPr>
              <a:t>Ishlab chiqarish, maishiy, yatrogen  ·  Dozani xato belgilash — yatrogen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Zaharlanishlarni guruhlash mezonlari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Sud tibbiyotida zahar nima? Javob: oz miqdori bilan sog‘liqni buzadigan yoki o‘limga olib keladigan modda.</a:t>
            </a:r>
          </a:p>
          <a:p>
            <a:pPr>
              <a:spcAft>
                <a:spcPts val="1200"/>
              </a:spcAft>
            </a:pPr>
            <a:r>
              <a:rPr sz="2200">
                <a:solidFill>
                  <a:srgbClr val="1F2937"/>
                </a:solidFill>
                <a:latin typeface="Calibri"/>
              </a:rPr>
              <a:t>▸  Savol 2: Zaharlanish deb nimaga aytiladi? Javob: oz miqdordagi moddaning ta’sirida vujudga keladigan sog‘liq buzilishi.</a:t>
            </a:r>
          </a:p>
          <a:p>
            <a:pPr>
              <a:spcAft>
                <a:spcPts val="1200"/>
              </a:spcAft>
            </a:pPr>
            <a:r>
              <a:rPr sz="2200">
                <a:solidFill>
                  <a:srgbClr val="1F2937"/>
                </a:solidFill>
                <a:latin typeface="Calibri"/>
              </a:rPr>
              <a:t>▸  Savol 3: Yatrogen zaharlanish qachon bo‘ladi? Javob: tibbiy muolajada doza xatosi yoki dorini almashtirib yuborishda.</a:t>
            </a:r>
          </a:p>
          <a:p>
            <a:pPr>
              <a:spcAft>
                <a:spcPts val="1200"/>
              </a:spcAft>
            </a:pPr>
            <a:r>
              <a:rPr sz="2200">
                <a:solidFill>
                  <a:srgbClr val="1F2937"/>
                </a:solidFill>
                <a:latin typeface="Calibri"/>
              </a:rPr>
              <a:t>▸  Diqqat: xato qilish xavfi — mutlaq zahar ham, mutlaq beziyon modda ham yo‘q; Paratselsga ko‘ra doza moddani dori yoki zaharga aylantiradi.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zaharlanish turini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Ishchilar reaktiv idishlari orasida bittasini “spirt” deb yashirib, tushlikda ichgan; ichganlar xushini yo‘qotib tez o‘lgan, murdada dixloretan topilgan.</a:t>
            </a:r>
          </a:p>
          <a:p>
            <a:pPr>
              <a:spcAft>
                <a:spcPts val="1200"/>
              </a:spcAft>
            </a:pPr>
            <a:r>
              <a:rPr sz="2200">
                <a:solidFill>
                  <a:srgbClr val="1F2937"/>
                </a:solidFill>
                <a:latin typeface="Calibri"/>
              </a:rPr>
              <a:t>▸  15 yoshli qizga nembutal eritmasi teri tagiga yuborilgan; u xushini yo‘qotib ojiz holatga tushgach, zo‘rlangan.</a:t>
            </a:r>
          </a:p>
          <a:p>
            <a:pPr>
              <a:spcAft>
                <a:spcPts val="1200"/>
              </a:spcAft>
            </a:pPr>
            <a:r>
              <a:rPr sz="2200">
                <a:solidFill>
                  <a:srgbClr val="1F2937"/>
                </a:solidFill>
                <a:latin typeface="Calibri"/>
              </a:rPr>
              <a:t>▸  Qasddan zaharlashda jabrlanuvchini ojiz holatga solish (talash, zo‘rlash) uchun ham modda qo‘llanishi mumkin; bunda o‘lim shart emas.</a:t>
            </a:r>
          </a:p>
          <a:p>
            <a:pPr>
              <a:spcAft>
                <a:spcPts val="1200"/>
              </a:spcAft>
            </a:pPr>
            <a:r>
              <a:rPr sz="2200">
                <a:solidFill>
                  <a:srgbClr val="1F2937"/>
                </a:solidFill>
                <a:latin typeface="Calibri"/>
              </a:rPr>
              <a:t>▸  Savol: har ikki voqeani qotillik, suitsid yoki baxtsiz hodisaga ajratishda asosiy mezon nima — qasd bormi yoki zahar tasodifan kirganmi?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293, 289; Baizoldanov T. (Байзолданов Т.)., Токсикологическая химия: учебник, betlar: 55; G‘iyosov Z.A., Sud tibbiyoti: darslik, betlar: 132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zaharli modda, organizm, kirish yo‘li va tashqi shart-sharoit.</a:t>
            </a:r>
          </a:p>
          <a:p>
            <a:pPr>
              <a:spcAft>
                <a:spcPts val="800"/>
              </a:spcAft>
            </a:pPr>
            <a:r>
              <a:rPr sz="1800">
                <a:solidFill>
                  <a:srgbClr val="1F2937"/>
                </a:solidFill>
                <a:latin typeface="Calibri"/>
              </a:rPr>
              <a:t>▸  Zahar qonga qanchalik tez va to‘liq o‘tsa, toksik ta’sir darajasi shunchalik yuqori bo‘ladi.</a:t>
            </a:r>
          </a:p>
          <a:p>
            <a:pPr>
              <a:spcAft>
                <a:spcPts val="800"/>
              </a:spcAft>
            </a:pPr>
            <a:r>
              <a:rPr sz="1800">
                <a:solidFill>
                  <a:srgbClr val="1F2937"/>
                </a:solidFill>
                <a:latin typeface="Calibri"/>
              </a:rPr>
              <a:t>▸  Tashqi sharoit faqat ayrim moddalarda muhim: is gazi va alkogolda yopiq, issiq, nam muhit moyillik yaratadi.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Zaharlanish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Zaharli modda</a:t>
            </a:r>
          </a:p>
          <a:p>
            <a:pPr algn="l">
              <a:spcAft>
                <a:spcPts val="0"/>
              </a:spcAft>
            </a:pPr>
            <a:r>
              <a:rPr sz="1200" b="0">
                <a:solidFill>
                  <a:srgbClr val="1F2937"/>
                </a:solidFill>
                <a:latin typeface="Calibri"/>
              </a:rPr>
              <a:t>Doza, eruvchanlik  ·  Agregat holat</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Organizm</a:t>
            </a:r>
          </a:p>
          <a:p>
            <a:pPr algn="l">
              <a:spcAft>
                <a:spcPts val="0"/>
              </a:spcAft>
            </a:pPr>
            <a:r>
              <a:rPr sz="1200" b="0">
                <a:solidFill>
                  <a:srgbClr val="1F2937"/>
                </a:solidFill>
                <a:latin typeface="Calibri"/>
              </a:rPr>
              <a:t>Vazn, yosh  ·  Sog‘liq, genetika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Kirish yo‘li</a:t>
            </a:r>
          </a:p>
          <a:p>
            <a:pPr algn="l">
              <a:spcAft>
                <a:spcPts val="0"/>
              </a:spcAft>
            </a:pPr>
            <a:r>
              <a:rPr sz="1200" b="0">
                <a:solidFill>
                  <a:srgbClr val="1F2937"/>
                </a:solidFill>
                <a:latin typeface="Calibri"/>
              </a:rPr>
              <a:t>Teri, og‘iz  ·  Nafas yo‘llari, in’eksiya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Tashqi sharoit</a:t>
            </a:r>
          </a:p>
          <a:p>
            <a:pPr algn="l">
              <a:spcAft>
                <a:spcPts val="0"/>
              </a:spcAft>
            </a:pPr>
            <a:r>
              <a:rPr sz="1200" b="0">
                <a:solidFill>
                  <a:srgbClr val="1F2937"/>
                </a:solidFill>
                <a:latin typeface="Calibri"/>
              </a:rPr>
              <a:t>Harorat, namlik  ·  Yopiq muhit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To‘rt guruh omil</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134, 135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tuzilish xususiyatni belgilaydi. Is gazi va karbonat angidrid ikkalasi uglerod va kisloroddan iborat, lekin toksikligi bir xil emas.</a:t>
            </a:r>
          </a:p>
          <a:p>
            <a:pPr>
              <a:spcAft>
                <a:spcPts val="1200"/>
              </a:spcAft>
            </a:pPr>
            <a:r>
              <a:rPr sz="2200">
                <a:solidFill>
                  <a:srgbClr val="1F2937"/>
                </a:solidFill>
                <a:latin typeface="Calibri"/>
              </a:rPr>
              <a:t>▸  Farmakologiyada terapevtik, toksik va letal dozalar farqlanadi.</a:t>
            </a:r>
          </a:p>
          <a:p>
            <a:pPr>
              <a:spcAft>
                <a:spcPts val="1200"/>
              </a:spcAft>
            </a:pPr>
            <a:r>
              <a:rPr sz="2200">
                <a:solidFill>
                  <a:srgbClr val="1F2937"/>
                </a:solidFill>
                <a:latin typeface="Calibri"/>
              </a:rPr>
              <a:t>▸  Gazsimon modda suyuqdan, suyuq modda qattiqdan kuchliroq ta’sir qiladi, chunki qonga tezroq o‘tadi.</a:t>
            </a:r>
          </a:p>
          <a:p>
            <a:pPr>
              <a:spcAft>
                <a:spcPts val="1200"/>
              </a:spcAft>
            </a:pPr>
            <a:r>
              <a:rPr sz="2200">
                <a:solidFill>
                  <a:srgbClr val="1F2937"/>
                </a:solidFill>
                <a:latin typeface="Calibri"/>
              </a:rPr>
              <a:t>▸  Fosfororganik birikmalar yog‘da yaxshi eriydi, shuning uchun shikastlanmagan teri orqali ham so‘riladi. Dorining ta’siri saqlash muddati va sharoitiga bog‘liq.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 bilan bog‘liq omillar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Vehikulum (zaharni olib kiruvchi modda) ta’sirni o‘zgartiradi: margimush ishqoriy, sianid kislotali muhitda kuchayadi.</a:t>
            </a:r>
          </a:p>
          <a:p>
            <a:pPr>
              <a:spcAft>
                <a:spcPts val="1200"/>
              </a:spcAft>
            </a:pPr>
            <a:r>
              <a:rPr sz="2200">
                <a:solidFill>
                  <a:srgbClr val="1F2937"/>
                </a:solidFill>
                <a:latin typeface="Calibri"/>
              </a:rPr>
              <a:t>▸  Og‘ir metallar organizmda to‘planadi (kumulyatsiya).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 farqi: eruvchanlik va konsentratsiya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3% sirka eritmasi bilan sirka essensiyasining ta’sirini taqqoslab bo‘lmaydi. Konsentratsiya hal qiluvchi.</a:t>
            </a:r>
          </a:p>
          <a:p>
            <a:pPr>
              <a:spcAft>
                <a:spcPts val="800"/>
              </a:spcAft>
            </a:pPr>
            <a:r>
              <a:rPr sz="1800">
                <a:solidFill>
                  <a:srgbClr val="1F2937"/>
                </a:solidFill>
                <a:latin typeface="Calibri"/>
              </a:rPr>
              <a:t>▸  Rasputin misoli: kaliy sianid uzoq saqlanib, CO2 bilan birikib, potashga aylandi va zaharsizlandi.</a:t>
            </a:r>
          </a:p>
          <a:p>
            <a:pPr>
              <a:spcAft>
                <a:spcPts val="800"/>
              </a:spcAft>
            </a:pPr>
            <a:r>
              <a:rPr sz="1800">
                <a:solidFill>
                  <a:srgbClr val="1F2937"/>
                </a:solidFill>
                <a:latin typeface="Calibri"/>
              </a:rPr>
              <a:t>▸  Diqqat: sulema ≠ kalomel; bariy xlorid ≠ bariy sulfat. Farqni eruvchanlik belgilaydi.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Erimaydi — zararsiz</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Bariy sulfat: rentgenda butqa</a:t>
            </a:r>
          </a:p>
          <a:p>
            <a:pPr algn="l">
              <a:spcAft>
                <a:spcPts val="700"/>
              </a:spcAft>
            </a:pPr>
            <a:r>
              <a:rPr sz="1500" b="1">
                <a:solidFill>
                  <a:srgbClr val="C9A227"/>
                </a:solidFill>
                <a:latin typeface="Calibri"/>
              </a:rPr>
              <a:t>●  </a:t>
            </a:r>
            <a:r>
              <a:rPr sz="1500" b="0">
                <a:solidFill>
                  <a:srgbClr val="1F2937"/>
                </a:solidFill>
                <a:latin typeface="Calibri"/>
              </a:rPr>
              <a:t>Kalomel: nisbatan zararsiz</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Eriydi — zaharli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Bariy xlorid: kuchli zahar</a:t>
            </a:r>
          </a:p>
          <a:p>
            <a:pPr algn="l">
              <a:spcAft>
                <a:spcPts val="700"/>
              </a:spcAft>
            </a:pPr>
            <a:r>
              <a:rPr sz="1500" b="1">
                <a:solidFill>
                  <a:srgbClr val="C9A227"/>
                </a:solidFill>
                <a:latin typeface="Calibri"/>
              </a:rPr>
              <a:t>●  </a:t>
            </a:r>
            <a:r>
              <a:rPr sz="1500" b="0">
                <a:solidFill>
                  <a:srgbClr val="1F2937"/>
                </a:solidFill>
                <a:latin typeface="Calibri"/>
              </a:rPr>
              <a:t>Sulema: kuchli zaharli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Eruvchanlik zaharlilikni belgilaydi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 Iskandarov A.I., Qo‘ldoshev D.R., Sud tibbiyoti, betlar: 287, 286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Tana massasi muhim: bir xil miqdordagi zahar turli vaznli odamlarda bir xil ta’sir qilmaydi, shu sababli dori dozasi 1 kg vaznga hisoblanadi.</a:t>
            </a:r>
          </a:p>
          <a:p>
            <a:pPr>
              <a:spcAft>
                <a:spcPts val="800"/>
              </a:spcAft>
            </a:pPr>
            <a:r>
              <a:rPr sz="1600">
                <a:solidFill>
                  <a:srgbClr val="1F2937"/>
                </a:solidFill>
                <a:latin typeface="Calibri"/>
              </a:rPr>
              <a:t>▸  Jinslar orasida farq yo‘q, ammo homiladorlikda sezgirlik ortadi. Bolalar kattalardan sezgirroq: vazni kichik, qarshilik tizimi to‘liq shakllanmagan.</a:t>
            </a:r>
          </a:p>
          <a:p>
            <a:pPr>
              <a:spcAft>
                <a:spcPts val="800"/>
              </a:spcAft>
            </a:pPr>
            <a:r>
              <a:rPr sz="1600">
                <a:solidFill>
                  <a:srgbClr val="1F2937"/>
                </a:solidFill>
                <a:latin typeface="Calibri"/>
              </a:rPr>
              <a:t>▸  Sog‘lom organizm kuchliroq qarshilik qiladi; yurak, jigar, buyrak kasalligida bu qobiliyat cheklanadi. Oshqozondagi massa so‘rilishni o‘zgartiradi.</a:t>
            </a:r>
          </a:p>
          <a:p>
            <a:pPr>
              <a:spcAft>
                <a:spcPts val="800"/>
              </a:spcAft>
            </a:pPr>
            <a:r>
              <a:rPr sz="1600">
                <a:solidFill>
                  <a:srgbClr val="1F2937"/>
                </a:solidFill>
                <a:latin typeface="Calibri"/>
              </a:rPr>
              <a:t>▸  Genetika: xolinesteraza past bo‘lsa, miorelaksantlar kuchliroq ta’sir qiladi. Idiosinkraziya — ayrim moddalarga o‘ta sezgirlik.</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Organizm omillari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Tana massasi</a:t>
            </a:r>
          </a:p>
          <a:p>
            <a:pPr algn="l">
              <a:spcAft>
                <a:spcPts val="0"/>
              </a:spcAft>
            </a:pPr>
            <a:r>
              <a:rPr sz="1200" b="0">
                <a:solidFill>
                  <a:srgbClr val="1F2937"/>
                </a:solidFill>
                <a:latin typeface="Calibri"/>
              </a:rPr>
              <a:t>Doza 1 kg vaznga hisoblanadi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Yosh, jins</a:t>
            </a:r>
          </a:p>
          <a:p>
            <a:pPr algn="l">
              <a:spcAft>
                <a:spcPts val="0"/>
              </a:spcAft>
            </a:pPr>
            <a:r>
              <a:rPr sz="1200" b="0">
                <a:solidFill>
                  <a:srgbClr val="1F2937"/>
                </a:solidFill>
                <a:latin typeface="Calibri"/>
              </a:rPr>
              <a:t>Bolalar sezgirroq  ·  Homiladorlikda sezgirlik ortadi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Sog‘liq holati</a:t>
            </a:r>
          </a:p>
          <a:p>
            <a:pPr algn="l">
              <a:spcAft>
                <a:spcPts val="0"/>
              </a:spcAft>
            </a:pPr>
            <a:r>
              <a:rPr sz="1200" b="0">
                <a:solidFill>
                  <a:srgbClr val="1F2937"/>
                </a:solidFill>
                <a:latin typeface="Calibri"/>
              </a:rPr>
              <a:t>Yurak, jigar, buyrak kasalligi  ·  Oshqozondagi massa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Genetika</a:t>
            </a:r>
          </a:p>
          <a:p>
            <a:pPr algn="l">
              <a:spcAft>
                <a:spcPts val="0"/>
              </a:spcAft>
            </a:pPr>
            <a:r>
              <a:rPr sz="1200" b="0">
                <a:solidFill>
                  <a:srgbClr val="1F2937"/>
                </a:solidFill>
                <a:latin typeface="Calibri"/>
              </a:rPr>
              <a:t>Past xolinesteraza  ·  Idiosinkraziya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G‘iyosov, 133–134-betlar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133-134, 134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Tolerantlik, abstinensiya, narkomaniya, toksikomaniya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Zaharning qisqa vaqt ichida takroran ta’siri tolerantlikni (o‘rganib qolishni) keltirishi mumkin: uyqu dorilari, analgetiklar, gipotenziv preparatlarda.</a:t>
            </a:r>
          </a:p>
          <a:p>
            <a:pPr>
              <a:spcAft>
                <a:spcPts val="1200"/>
              </a:spcAft>
            </a:pPr>
            <a:r>
              <a:rPr sz="2200">
                <a:solidFill>
                  <a:srgbClr val="1F2937"/>
                </a:solidFill>
                <a:latin typeface="Calibri"/>
              </a:rPr>
              <a:t>▸  Giyohvand moddalarda tolerantlik bilan ruhiy-jismoniy bog‘liqlik shakllanadi: ko‘proq qabul qilishga intilish, qabul qilinmasa abstinensiya sindromi.</a:t>
            </a:r>
          </a:p>
          <a:p>
            <a:pPr>
              <a:spcAft>
                <a:spcPts val="1200"/>
              </a:spcAft>
            </a:pPr>
            <a:r>
              <a:rPr sz="2200">
                <a:solidFill>
                  <a:srgbClr val="1F2937"/>
                </a:solidFill>
                <a:latin typeface="Calibri"/>
              </a:rPr>
              <a:t>▸  Narkomaniya — narkotik deb tan olingan vositalarni nodavolash maqsadida qo‘llash kasalligi; toksikomaniya — ro‘yxatga kirmagan moddalar bilan.</a:t>
            </a:r>
          </a:p>
          <a:p>
            <a:pPr>
              <a:spcAft>
                <a:spcPts val="1200"/>
              </a:spcAft>
            </a:pPr>
            <a:r>
              <a:rPr sz="2200">
                <a:solidFill>
                  <a:srgbClr val="1F2937"/>
                </a:solidFill>
                <a:latin typeface="Calibri"/>
              </a:rPr>
              <a:t>▸  Diqqat: narkotik deyilishi uchun tibbiy, ijtimoiy va huquqiy mezonlar birga bo‘lishi shart; bittasi yo‘q bo‘lsa, modda narkotik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Baizoldanov T. (Байзолданов Т.)., Токсикологическая химия: учебник, betlar: 61, 60-61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kirish yo‘llari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Kirish yo‘llari: teri, og‘iz, nafas yo‘llari, to‘g‘ri ichak, in’eksiya. Qonga tez o‘tsa, ta’sir kuchli.</a:t>
            </a:r>
          </a:p>
          <a:p>
            <a:pPr>
              <a:spcAft>
                <a:spcPts val="800"/>
              </a:spcAft>
            </a:pPr>
            <a:r>
              <a:rPr sz="1800">
                <a:solidFill>
                  <a:srgbClr val="1F2937"/>
                </a:solidFill>
                <a:latin typeface="Calibri"/>
              </a:rPr>
              <a:t>▸  Yog‘da yaxshi eriydigan moddalar (fosfororganik) shikastlanmagan teri orqali ham so‘riladi.</a:t>
            </a:r>
          </a:p>
          <a:p>
            <a:pPr>
              <a:spcAft>
                <a:spcPts val="800"/>
              </a:spcAft>
            </a:pPr>
            <a:r>
              <a:rPr sz="1800">
                <a:solidFill>
                  <a:srgbClr val="1F2937"/>
                </a:solidFill>
                <a:latin typeface="Calibri"/>
              </a:rPr>
              <a:t>▸  Kasbiy zaharlanishda tashqi sharoit muhim; vodorod sulfid kanalizatsiya quduqlarida kuzatiladi.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Ta’sir kuchliroq</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Nafas yo‘llari, to‘g‘ri ichak, qin</a:t>
            </a:r>
          </a:p>
          <a:p>
            <a:pPr algn="l">
              <a:spcAft>
                <a:spcPts val="700"/>
              </a:spcAft>
            </a:pPr>
            <a:r>
              <a:rPr sz="1500" b="1">
                <a:solidFill>
                  <a:srgbClr val="C9A227"/>
                </a:solidFill>
                <a:latin typeface="Calibri"/>
              </a:rPr>
              <a:t>●  </a:t>
            </a:r>
            <a:r>
              <a:rPr sz="1500" b="0">
                <a:solidFill>
                  <a:srgbClr val="1F2937"/>
                </a:solidFill>
                <a:latin typeface="Calibri"/>
              </a:rPr>
              <a:t>Jigardan o‘tmaydi</a:t>
            </a:r>
          </a:p>
          <a:p>
            <a:pPr algn="l">
              <a:spcAft>
                <a:spcPts val="700"/>
              </a:spcAft>
            </a:pPr>
            <a:r>
              <a:rPr sz="1500" b="1">
                <a:solidFill>
                  <a:srgbClr val="C9A227"/>
                </a:solidFill>
                <a:latin typeface="Calibri"/>
              </a:rPr>
              <a:t>●  </a:t>
            </a:r>
            <a:r>
              <a:rPr sz="1500" b="0">
                <a:solidFill>
                  <a:srgbClr val="1F2937"/>
                </a:solidFill>
                <a:latin typeface="Calibri"/>
              </a:rPr>
              <a:t>Yopiq, issiq, nam muhit</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Ta’sir kuchsizroq</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Oshqozon va ichak shilliq qavati</a:t>
            </a:r>
          </a:p>
          <a:p>
            <a:pPr algn="l">
              <a:spcAft>
                <a:spcPts val="700"/>
              </a:spcAft>
            </a:pPr>
            <a:r>
              <a:rPr sz="1500" b="1">
                <a:solidFill>
                  <a:srgbClr val="C9A227"/>
                </a:solidFill>
                <a:latin typeface="Calibri"/>
              </a:rPr>
              <a:t>●  </a:t>
            </a:r>
            <a:r>
              <a:rPr sz="1500" b="0">
                <a:solidFill>
                  <a:srgbClr val="1F2937"/>
                </a:solidFill>
                <a:latin typeface="Calibri"/>
              </a:rPr>
              <a:t>Jigardan o‘tadi</a:t>
            </a:r>
          </a:p>
          <a:p>
            <a:pPr algn="l">
              <a:spcAft>
                <a:spcPts val="700"/>
              </a:spcAft>
            </a:pPr>
            <a:r>
              <a:rPr sz="1500" b="1">
                <a:solidFill>
                  <a:srgbClr val="C9A227"/>
                </a:solidFill>
                <a:latin typeface="Calibri"/>
              </a:rPr>
              <a:t>●  </a:t>
            </a:r>
            <a:r>
              <a:rPr sz="1500" b="0">
                <a:solidFill>
                  <a:srgbClr val="1F2937"/>
                </a:solidFill>
                <a:latin typeface="Calibri"/>
              </a:rPr>
              <a:t>Ochiq, past harorat va namlik</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Yo‘l va sharoit ta’siri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134, 135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Tezkor savol: zaharlanishda nechta omillar guruhi ahamiyatli? To‘rtta: zaharli modda, organizm, kirish yo‘li va ta’sir vaqtidagi tashqi shart-sharoit.</a:t>
            </a:r>
          </a:p>
          <a:p>
            <a:pPr>
              <a:spcAft>
                <a:spcPts val="1200"/>
              </a:spcAft>
            </a:pPr>
            <a:r>
              <a:rPr sz="2000">
                <a:solidFill>
                  <a:srgbClr val="1F2937"/>
                </a:solidFill>
                <a:latin typeface="Calibri"/>
              </a:rPr>
              <a:t>▸  Savol: fosfororganik birikma nega teri orqali ham xavfli? Chunki yog‘da yaxshi eriydi va shikastlanmagan terdan ham qonga so‘riladi.</a:t>
            </a:r>
          </a:p>
          <a:p>
            <a:pPr>
              <a:spcAft>
                <a:spcPts val="1200"/>
              </a:spcAft>
            </a:pPr>
            <a:r>
              <a:rPr sz="2000">
                <a:solidFill>
                  <a:srgbClr val="1F2937"/>
                </a:solidFill>
                <a:latin typeface="Calibri"/>
              </a:rPr>
              <a:t>▸  Savol: qaysi yo‘l bilan kirgan zahar kuchliroq?</a:t>
            </a:r>
          </a:p>
          <a:p>
            <a:pPr>
              <a:spcAft>
                <a:spcPts val="1200"/>
              </a:spcAft>
            </a:pPr>
            <a:r>
              <a:rPr sz="2000">
                <a:solidFill>
                  <a:srgbClr val="1F2937"/>
                </a:solidFill>
                <a:latin typeface="Calibri"/>
              </a:rPr>
              <a:t>▸  Nafas yo‘llari, to‘g‘ri ichak va qindan so‘rilgan zahar jigardan o‘tmaydi, shuning uchun oshqozon-ichakdan so‘rilganidan kuchliroq ta’sir qiladi.</a:t>
            </a:r>
          </a:p>
          <a:p>
            <a:pPr>
              <a:spcAft>
                <a:spcPts val="1200"/>
              </a:spcAft>
            </a:pPr>
            <a:r>
              <a:rPr sz="2000">
                <a:solidFill>
                  <a:srgbClr val="1F2937"/>
                </a:solidFill>
                <a:latin typeface="Calibri"/>
              </a:rPr>
              <a:t>▸  Diqqat: xato qilish xavfi! Is gazi ≠ karbonat angidrid. Ikkalasi uglerod va kisloroddan iborat, lekin toksik xususiyatlari bir xil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132, 133, 135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omillar va zaharlanish kuchi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uch yoshli bola kichik qadahdagi aroqni ichib, halok bo‘lgan. Savol: bu qaysi omil guruhiga kiradi, nega?</a:t>
            </a:r>
          </a:p>
          <a:p>
            <a:pPr>
              <a:spcAft>
                <a:spcPts val="1200"/>
              </a:spcAft>
            </a:pPr>
            <a:r>
              <a:rPr sz="2200">
                <a:solidFill>
                  <a:srgbClr val="1F2937"/>
                </a:solidFill>
                <a:latin typeface="Calibri"/>
              </a:rPr>
              <a:t>▸  Javob: yosh omili. Bolalar kattalarga nisbatan sezgirroq: vazni kichik, umumiy qarshilik ko‘rsatish tizimi to‘liq shakllanmagan.</a:t>
            </a:r>
          </a:p>
          <a:p>
            <a:pPr>
              <a:spcAft>
                <a:spcPts val="1200"/>
              </a:spcAft>
            </a:pPr>
            <a:r>
              <a:rPr sz="2200">
                <a:solidFill>
                  <a:srgbClr val="1F2937"/>
                </a:solidFill>
                <a:latin typeface="Calibri"/>
              </a:rPr>
              <a:t>▸  Fenol: konsentrlangan eritmasi faqat mahalliy kimyoviy kuyish beradi, suyultirilgani rezorbtiv ta’sir qilib, ichki a’zolar va miyani shikastlaydi.</a:t>
            </a:r>
          </a:p>
          <a:p>
            <a:pPr>
              <a:spcAft>
                <a:spcPts val="1200"/>
              </a:spcAft>
            </a:pPr>
            <a:r>
              <a:rPr sz="2200">
                <a:solidFill>
                  <a:srgbClr val="1F2937"/>
                </a:solidFill>
                <a:latin typeface="Calibri"/>
              </a:rPr>
              <a:t>▸  Savol: fosfororganik birikma bilan ishlagan kishining terisiga zahar tushsa-chi? Yog‘da erishi tufayli u shikastlanmagan teri orqali ham qonga o‘tadi.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287; G‘iyosov Z.A., Sud tibbiyoti: darslik, betlar: 134, 133, 135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1-bosqich: voqea joyini ko‘zdan kechirish, tibbiy hujjatlar bilan tanishish; ashyoviy dalillar olinadi.</a:t>
            </a:r>
          </a:p>
          <a:p>
            <a:pPr>
              <a:spcAft>
                <a:spcPts val="800"/>
              </a:spcAft>
            </a:pPr>
            <a:r>
              <a:rPr sz="1800">
                <a:solidFill>
                  <a:srgbClr val="1F2937"/>
                </a:solidFill>
                <a:latin typeface="Calibri"/>
              </a:rPr>
              <a:t>▸  2-bosqich: murda dog‘lari, hid, mushak qotishi; 3-bosqich: laboratoriya («uch nuqta» qoidasi).</a:t>
            </a:r>
          </a:p>
          <a:p>
            <a:pPr>
              <a:spcAft>
                <a:spcPts val="800"/>
              </a:spcAft>
            </a:pPr>
            <a:r>
              <a:rPr sz="1800">
                <a:solidFill>
                  <a:srgbClr val="1F2937"/>
                </a:solidFill>
                <a:latin typeface="Calibri"/>
              </a:rPr>
              <a:t>▸  Ekspert hal etadi: zaharlanish bo‘lganmi, qaysi modda, qaysi yo‘l, qanday doza.</a:t>
            </a:r>
          </a:p>
        </p:txBody>
      </p:sp>
      <p:sp>
        <p:nvSpPr>
          <p:cNvPr id="9" name="Rounded Rectangle 8"/>
          <p:cNvSpPr/>
          <p:nvPr/>
        </p:nvSpPr>
        <p:spPr>
          <a:xfrm>
            <a:off x="5440680" y="1417320"/>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Voqea joyi</a:t>
            </a:r>
          </a:p>
          <a:p>
            <a:pPr algn="l">
              <a:spcAft>
                <a:spcPts val="200"/>
              </a:spcAft>
            </a:pPr>
            <a:r>
              <a:rPr sz="1400" b="0">
                <a:solidFill>
                  <a:srgbClr val="1F2937"/>
                </a:solidFill>
                <a:latin typeface="Calibri"/>
              </a:rPr>
              <a:t>Ko‘zdan kechirish, tibbiy hujjatlar</a:t>
            </a:r>
          </a:p>
        </p:txBody>
      </p:sp>
      <p:sp>
        <p:nvSpPr>
          <p:cNvPr id="12" name="Rounded Rectangle 11"/>
          <p:cNvSpPr/>
          <p:nvPr/>
        </p:nvSpPr>
        <p:spPr>
          <a:xfrm>
            <a:off x="5440680" y="2801112"/>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6080760" y="2801112"/>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Murda</a:t>
            </a:r>
          </a:p>
          <a:p>
            <a:pPr algn="l">
              <a:spcAft>
                <a:spcPts val="200"/>
              </a:spcAft>
            </a:pPr>
            <a:r>
              <a:rPr sz="1400" b="0">
                <a:solidFill>
                  <a:srgbClr val="1F2937"/>
                </a:solidFill>
                <a:latin typeface="Calibri"/>
              </a:rPr>
              <a:t>Murda dog‘lari, hid, mushak qotishi</a:t>
            </a:r>
          </a:p>
        </p:txBody>
      </p:sp>
      <p:sp>
        <p:nvSpPr>
          <p:cNvPr id="15" name="Rounded Rectangle 14"/>
          <p:cNvSpPr/>
          <p:nvPr/>
        </p:nvSpPr>
        <p:spPr>
          <a:xfrm>
            <a:off x="5440680" y="4184904"/>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4184904"/>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Laboratoriya</a:t>
            </a:r>
          </a:p>
          <a:p>
            <a:pPr algn="l">
              <a:spcAft>
                <a:spcPts val="200"/>
              </a:spcAft>
            </a:pPr>
            <a:r>
              <a:rPr sz="1400" b="0">
                <a:solidFill>
                  <a:srgbClr val="1F2937"/>
                </a:solidFill>
                <a:latin typeface="Calibri"/>
              </a:rPr>
              <a:t>«Uch nuqta» qoidasi</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Diagnostikaning 3 bosqichi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135, 135–136; Iskandarov A.I., Qo‘ldoshev D.R., Sud tibbiyoti, betlar: 293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joyini ko‘zdan kechirish va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joyida zaharga shubha qilingan idishlar, o‘ramlar, qusuq va oshqozon yuvindisi yig‘ilib, o‘ralib, sud-kimyoviy tekshiruvga jo‘natiladi.</a:t>
            </a:r>
          </a:p>
          <a:p>
            <a:pPr>
              <a:spcAft>
                <a:spcPts val="1200"/>
              </a:spcAft>
            </a:pPr>
            <a:r>
              <a:rPr sz="2200">
                <a:solidFill>
                  <a:srgbClr val="1F2937"/>
                </a:solidFill>
                <a:latin typeface="Calibri"/>
              </a:rPr>
              <a:t>▸  Bo‘sh idishlar ham olinadi, chunki ularning yuvindisidan zahar topilishi mumkin. Qusuqda zahar bo‘lib, ichki a’zolarda bo‘lmasligi ham mumkin.</a:t>
            </a:r>
          </a:p>
          <a:p>
            <a:pPr>
              <a:spcAft>
                <a:spcPts val="1200"/>
              </a:spcAft>
            </a:pPr>
            <a:r>
              <a:rPr sz="2200">
                <a:solidFill>
                  <a:srgbClr val="1F2937"/>
                </a:solidFill>
                <a:latin typeface="Calibri"/>
              </a:rPr>
              <a:t>▸  Tibbiy hujjatlar muhim: morfologik o‘zgarish qoldirmaydigan zaharlarda klinik tavsif va avvalgi laboratoriya natijalari salmoqli dalil bo‘ladi.</a:t>
            </a:r>
          </a:p>
          <a:p>
            <a:pPr>
              <a:spcAft>
                <a:spcPts val="1200"/>
              </a:spcAft>
            </a:pPr>
            <a:r>
              <a:rPr sz="2200">
                <a:solidFill>
                  <a:srgbClr val="1F2937"/>
                </a:solidFill>
                <a:latin typeface="Calibri"/>
              </a:rPr>
              <a:t>▸  Diqqat: xato qilish xavfi — bitta klinik belgiga (masalan, qusishga) qarab tashxis qo‘yib bo‘lmaydi; qusish bosh miya jarohatida ham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294-295, 293-294; G‘iyosov Z.A., Sud tibbiyoti: darslik, betlar: 135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tashqi va ichki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Tashqi ko‘rikda og‘iz atrofi dog‘i, qorachiq holati, teri rangi va ichki a’zolar hidiga e’tibor beriladi.</a:t>
            </a:r>
          </a:p>
          <a:p>
            <a:pPr>
              <a:spcAft>
                <a:spcPts val="800"/>
              </a:spcAft>
            </a:pPr>
            <a:r>
              <a:rPr sz="1800">
                <a:solidFill>
                  <a:srgbClr val="1F2937"/>
                </a:solidFill>
                <a:latin typeface="Calibri"/>
              </a:rPr>
              <a:t>▸  Kesishda suv va antiseptik ishlatilmaydi, chunki zaharli moddalar yuvilib ketishi mumkin.</a:t>
            </a:r>
          </a:p>
          <a:p>
            <a:pPr>
              <a:spcAft>
                <a:spcPts val="800"/>
              </a:spcAft>
            </a:pPr>
            <a:r>
              <a:rPr sz="1800">
                <a:solidFill>
                  <a:srgbClr val="1F2937"/>
                </a:solidFill>
                <a:latin typeface="Calibri"/>
              </a:rPr>
              <a:t>▸  Avval yurak kesilib qon olinadi, so‘ng uchlari bog‘langan oshqozon va ichaklar ajratiladi.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726612"/>
                <a:gridCol w="2561362"/>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Ehtimol zahar</a:t>
                      </a:r>
                    </a:p>
                  </a:txBody>
                  <a:tcPr marL="73152" marR="73152" marT="36576" marB="36576">
                    <a:solidFill>
                      <a:srgbClr val="0B1F3A"/>
                    </a:solidFill>
                  </a:tcPr>
                </a:tc>
              </a:tr>
              <a:tr h="614476">
                <a:tc>
                  <a:txBody>
                    <a:bodyPr/>
                    <a:lstStyle/>
                    <a:p>
                      <a:r>
                        <a:rPr sz="1700" b="0">
                          <a:solidFill>
                            <a:srgbClr val="1F2937"/>
                          </a:solidFill>
                        </a:rPr>
                        <a:t>Och qizil murda dog‘lari</a:t>
                      </a:r>
                    </a:p>
                  </a:txBody>
                  <a:tcPr marL="73152" marR="73152" marT="36576" marB="36576">
                    <a:solidFill>
                      <a:srgbClr val="E8EEF6"/>
                    </a:solidFill>
                  </a:tcPr>
                </a:tc>
                <a:tc>
                  <a:txBody>
                    <a:bodyPr/>
                    <a:lstStyle/>
                    <a:p>
                      <a:r>
                        <a:rPr sz="1700" b="0">
                          <a:solidFill>
                            <a:srgbClr val="1F2937"/>
                          </a:solidFill>
                        </a:rPr>
                        <a:t>Is gazi</a:t>
                      </a:r>
                    </a:p>
                  </a:txBody>
                  <a:tcPr marL="73152" marR="73152" marT="36576" marB="36576">
                    <a:solidFill>
                      <a:srgbClr val="E8EEF6"/>
                    </a:solidFill>
                  </a:tcPr>
                </a:tc>
              </a:tr>
              <a:tr h="614476">
                <a:tc>
                  <a:txBody>
                    <a:bodyPr/>
                    <a:lstStyle/>
                    <a:p>
                      <a:r>
                        <a:rPr sz="1700" b="0">
                          <a:solidFill>
                            <a:srgbClr val="1F2937"/>
                          </a:solidFill>
                        </a:rPr>
                        <a:t>Qo‘ng‘ir murda dog‘lari</a:t>
                      </a:r>
                    </a:p>
                  </a:txBody>
                  <a:tcPr marL="73152" marR="73152" marT="36576" marB="36576">
                    <a:solidFill>
                      <a:srgbClr val="FFFFFF"/>
                    </a:solidFill>
                  </a:tcPr>
                </a:tc>
                <a:tc>
                  <a:txBody>
                    <a:bodyPr/>
                    <a:lstStyle/>
                    <a:p>
                      <a:r>
                        <a:rPr sz="1700" b="0">
                          <a:solidFill>
                            <a:srgbClr val="1F2937"/>
                          </a:solidFill>
                        </a:rPr>
                        <a:t>Metgemoglobin hosil qiluvchilar</a:t>
                      </a:r>
                    </a:p>
                  </a:txBody>
                  <a:tcPr marL="73152" marR="73152" marT="36576" marB="36576">
                    <a:solidFill>
                      <a:srgbClr val="FFFFFF"/>
                    </a:solidFill>
                  </a:tcPr>
                </a:tc>
              </a:tr>
              <a:tr h="614476">
                <a:tc>
                  <a:txBody>
                    <a:bodyPr/>
                    <a:lstStyle/>
                    <a:p>
                      <a:r>
                        <a:rPr sz="1700" b="0">
                          <a:solidFill>
                            <a:srgbClr val="1F2937"/>
                          </a:solidFill>
                        </a:rPr>
                        <a:t>Mushak qotishi kuchli rivojlangan</a:t>
                      </a:r>
                    </a:p>
                  </a:txBody>
                  <a:tcPr marL="73152" marR="73152" marT="36576" marB="36576">
                    <a:solidFill>
                      <a:srgbClr val="E8EEF6"/>
                    </a:solidFill>
                  </a:tcPr>
                </a:tc>
                <a:tc>
                  <a:txBody>
                    <a:bodyPr/>
                    <a:lstStyle/>
                    <a:p>
                      <a:r>
                        <a:rPr sz="1700" b="0">
                          <a:solidFill>
                            <a:srgbClr val="1F2937"/>
                          </a:solidFill>
                        </a:rPr>
                        <a:t>Strixnin</a:t>
                      </a:r>
                    </a:p>
                  </a:txBody>
                  <a:tcPr marL="73152" marR="73152" marT="36576" marB="36576">
                    <a:solidFill>
                      <a:srgbClr val="E8EEF6"/>
                    </a:solidFill>
                  </a:tcPr>
                </a:tc>
              </a:tr>
              <a:tr h="614476">
                <a:tc>
                  <a:txBody>
                    <a:bodyPr/>
                    <a:lstStyle/>
                    <a:p>
                      <a:r>
                        <a:rPr sz="1700" b="0">
                          <a:solidFill>
                            <a:srgbClr val="1F2937"/>
                          </a:solidFill>
                        </a:rPr>
                        <a:t>Sarg‘ish teri va ko‘z pardasi</a:t>
                      </a:r>
                    </a:p>
                  </a:txBody>
                  <a:tcPr marL="73152" marR="73152" marT="36576" marB="36576">
                    <a:solidFill>
                      <a:srgbClr val="FFFFFF"/>
                    </a:solidFill>
                  </a:tcPr>
                </a:tc>
                <a:tc>
                  <a:txBody>
                    <a:bodyPr/>
                    <a:lstStyle/>
                    <a:p>
                      <a:r>
                        <a:rPr sz="1700" b="0">
                          <a:solidFill>
                            <a:srgbClr val="1F2937"/>
                          </a:solidFill>
                        </a:rPr>
                        <a:t>Gemolitik zaharlar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Belgi va ehtimoliy zahar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295-296, 296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tekshiruvlari va ob’ekt tanlash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Eng ko‘p sud-kimyoviy tekshiruv o‘tkaziladi, sifat va miqdor aniqlanadi. Gistologik, biokimyoviy, farmakologik, botanik va fizik usullar ham qo‘llanadi.</a:t>
            </a:r>
          </a:p>
          <a:p>
            <a:pPr>
              <a:spcAft>
                <a:spcPts val="800"/>
              </a:spcAft>
            </a:pPr>
            <a:r>
              <a:rPr sz="1600">
                <a:solidFill>
                  <a:srgbClr val="1F2937"/>
                </a:solidFill>
                <a:latin typeface="Calibri"/>
              </a:rPr>
              <a:t>▸  “Uch nuqta” qoidasi: zahar kirgan, asosan ta’sir etgan va chiqqan joylardan ob’ekt olinadi.</a:t>
            </a:r>
          </a:p>
          <a:p>
            <a:pPr>
              <a:spcAft>
                <a:spcPts val="800"/>
              </a:spcAft>
            </a:pPr>
            <a:r>
              <a:rPr sz="1600">
                <a:solidFill>
                  <a:srgbClr val="1F2937"/>
                </a:solidFill>
                <a:latin typeface="Calibri"/>
              </a:rPr>
              <a:t>▸  Og‘iz orqali kirganda oshqozon massasi, jigar bo‘lagi, siydikli buyrak olinadi.</a:t>
            </a:r>
          </a:p>
          <a:p>
            <a:pPr>
              <a:spcAft>
                <a:spcPts val="800"/>
              </a:spcAft>
            </a:pPr>
            <a:r>
              <a:rPr sz="1600">
                <a:solidFill>
                  <a:srgbClr val="1F2937"/>
                </a:solidFill>
                <a:latin typeface="Calibri"/>
              </a:rPr>
              <a:t>▸  Noma’lum zaharda: bosh miyaning 1/3, o‘pkaning 1/4, jigarning 1/3 o‘t qopi bilan, butun buyrak siydik bilan, oshqozon massasi, ichak va 100-200 ml qon olinadi.</a:t>
            </a:r>
          </a:p>
          <a:p>
            <a:pPr>
              <a:spcAft>
                <a:spcPts val="800"/>
              </a:spcAft>
            </a:pPr>
            <a:r>
              <a:rPr sz="1600">
                <a:solidFill>
                  <a:srgbClr val="1F2937"/>
                </a:solidFill>
                <a:latin typeface="Calibri"/>
              </a:rPr>
              <a:t>▸  Diqqat: zahar topilishi yoki topilmasligi o‘z-o‘zidan isbot emas — u murdaga keyin o‘tishi, organizmdan chiqishi yoki emirilishi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«Uch nuqta» qoidasi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Zahar kirgan joy</a:t>
            </a:r>
          </a:p>
          <a:p>
            <a:pPr algn="l">
              <a:spcAft>
                <a:spcPts val="0"/>
              </a:spcAft>
            </a:pPr>
            <a:r>
              <a:rPr sz="1200" b="0">
                <a:solidFill>
                  <a:srgbClr val="1F2937"/>
                </a:solidFill>
                <a:latin typeface="Calibri"/>
              </a:rPr>
              <a:t>Oshqozon massasi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Ta’sir etgan joy</a:t>
            </a:r>
          </a:p>
          <a:p>
            <a:pPr algn="l">
              <a:spcAft>
                <a:spcPts val="0"/>
              </a:spcAft>
            </a:pPr>
            <a:r>
              <a:rPr sz="1200" b="0">
                <a:solidFill>
                  <a:srgbClr val="1F2937"/>
                </a:solidFill>
                <a:latin typeface="Calibri"/>
              </a:rPr>
              <a:t>Jigar bo‘lagi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Zahar chiqqan joy</a:t>
            </a:r>
          </a:p>
          <a:p>
            <a:pPr algn="l">
              <a:spcAft>
                <a:spcPts val="0"/>
              </a:spcAft>
            </a:pPr>
            <a:r>
              <a:rPr sz="1200" b="0">
                <a:solidFill>
                  <a:srgbClr val="1F2937"/>
                </a:solidFill>
                <a:latin typeface="Calibri"/>
              </a:rPr>
              <a:t>Siydikli buyrak</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Og‘iz orqali kirganda</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 Iskandarov A.I., Qo‘ldoshev D.R., Sud tibbiyoti, betlar: 298-299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Natijalarni baholash va ekshumatsiya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Go‘rdan ochilgan murdada kiyim, tobut qoplamasi, bezaklari va murda tegib turgan tuproqdan ham namuna olinadi (tuproqdan 6 ta).</a:t>
            </a:r>
          </a:p>
          <a:p>
            <a:pPr>
              <a:spcAft>
                <a:spcPts val="1200"/>
              </a:spcAft>
            </a:pPr>
            <a:r>
              <a:rPr sz="2200">
                <a:solidFill>
                  <a:srgbClr val="1F2937"/>
                </a:solidFill>
                <a:latin typeface="Calibri"/>
              </a:rPr>
              <a:t>▸  Alkogol va kaliy sianid uzoq saqlanmaydi.</a:t>
            </a:r>
          </a:p>
          <a:p>
            <a:pPr>
              <a:spcAft>
                <a:spcPts val="1200"/>
              </a:spcAft>
            </a:pPr>
            <a:r>
              <a:rPr sz="2200">
                <a:solidFill>
                  <a:srgbClr val="1F2937"/>
                </a:solidFill>
                <a:latin typeface="Calibri"/>
              </a:rPr>
              <a:t>▸  Margimush, og‘ir metall tuzlari va strixnin yaxshi saqlanadi, shuning uchun uzoq ko‘milgan murdada ham topilishi mumkin.</a:t>
            </a:r>
          </a:p>
          <a:p>
            <a:pPr>
              <a:spcAft>
                <a:spcPts val="1200"/>
              </a:spcAft>
            </a:pPr>
            <a:r>
              <a:rPr sz="2200">
                <a:solidFill>
                  <a:srgbClr val="1F2937"/>
                </a:solidFill>
                <a:latin typeface="Calibri"/>
              </a:rPr>
              <a:t>▸  Diqqat: zaharning topilishi har doim zaharlanishni isbotlamaydi.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298, 298-299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Natijalarni baholash va ekshumatsiya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Modda o‘limdan keyin tashqi muhitdan, tobut qoplamasidan yoki iflos idishdan murdaga o‘tishi mumkin.</a:t>
            </a:r>
          </a:p>
          <a:p>
            <a:pPr>
              <a:spcAft>
                <a:spcPts val="1200"/>
              </a:spcAft>
            </a:pPr>
            <a:r>
              <a:rPr sz="2200">
                <a:solidFill>
                  <a:srgbClr val="1F2937"/>
                </a:solidFill>
                <a:latin typeface="Calibri"/>
              </a:rPr>
              <a:t>▸  Salbiy natija zaharlanishni inkor etmaydi: modda o‘lim oldidan organizmdan to‘liq chiqib ketgan yoki parchalangan (biotransformatsiya)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298-299; Харин Г.М. (Kharin G.M.)., Краткий курс судебной медицины: учебное пособие, betlar: 131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diagnostik xato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Misol 1: ko‘chadan xushsiz yosh erkak keltirilgan, og‘zidan kuchli alkogol hidi kelgan, kiyimida qusuq izlari bo‘lgan.</a:t>
            </a:r>
          </a:p>
          <a:p>
            <a:pPr>
              <a:spcAft>
                <a:spcPts val="1200"/>
              </a:spcAft>
            </a:pPr>
            <a:r>
              <a:rPr sz="2200">
                <a:solidFill>
                  <a:srgbClr val="1F2937"/>
                </a:solidFill>
                <a:latin typeface="Calibri"/>
              </a:rPr>
              <a:t>▸  Vrach og‘ir alkogol zaharlanishi deb oshqozonini yuvgan.</a:t>
            </a:r>
          </a:p>
          <a:p>
            <a:pPr>
              <a:spcAft>
                <a:spcPts val="1200"/>
              </a:spcAft>
            </a:pPr>
            <a:r>
              <a:rPr sz="2200">
                <a:solidFill>
                  <a:srgbClr val="1F2937"/>
                </a:solidFill>
                <a:latin typeface="Calibri"/>
              </a:rPr>
              <a:t>▸  U bir necha soatdan keyin vafot etgan. Murdada kalla suyagi g‘umbazining sinishi va epidural gematoma topilgan: bosh jarohati o‘z vaqtida aniqlanmagan.</a:t>
            </a:r>
          </a:p>
          <a:p>
            <a:pPr>
              <a:spcAft>
                <a:spcPts val="1200"/>
              </a:spcAft>
            </a:pPr>
            <a:r>
              <a:rPr sz="2200">
                <a:solidFill>
                  <a:srgbClr val="1F2937"/>
                </a:solidFill>
                <a:latin typeface="Calibri"/>
              </a:rPr>
              <a:t>▸  Misol 2: 3 yoshli qizchada talvasa, og‘zidan ko‘pik va qon bo‘lgan; ichki qon ketish deb o‘ylangan.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293-294, 294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diagnostik xato (davomi)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Kalla ochilganda qon topilmagan, oshqozonida piramidon aniqlangan (yiqilishdan oldin 10 tabletka ichgan).</a:t>
            </a:r>
          </a:p>
          <a:p>
            <a:pPr>
              <a:spcAft>
                <a:spcPts val="1200"/>
              </a:spcAft>
            </a:pPr>
            <a:r>
              <a:rPr sz="2200">
                <a:solidFill>
                  <a:srgbClr val="1F2937"/>
                </a:solidFill>
                <a:latin typeface="Calibri"/>
              </a:rPr>
              <a:t>▸  Savol: qusish, bexushlik yoki alkogol hidi bitta o‘zi tashxis uchun yetarlimi? Qusish bosh miyaga qon quyilishida ham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294, 293-294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Toksikokinetika: zaharning kirishi, taqsimlanishi, metabolizmi va chiqarilishi. Biotransformatsiya asosan jigarda kechadi.</a:t>
            </a:r>
          </a:p>
          <a:p>
            <a:pPr>
              <a:spcAft>
                <a:spcPts val="800"/>
              </a:spcAft>
            </a:pPr>
            <a:r>
              <a:rPr sz="1800">
                <a:solidFill>
                  <a:srgbClr val="1F2937"/>
                </a:solidFill>
                <a:latin typeface="Calibri"/>
              </a:rPr>
              <a:t>▸  Toksikodinamika: organizmning zahar va uning metabolitiga javob reaksiyalari majmui.</a:t>
            </a:r>
          </a:p>
          <a:p>
            <a:pPr>
              <a:spcAft>
                <a:spcPts val="800"/>
              </a:spcAft>
            </a:pPr>
            <a:r>
              <a:rPr sz="1800">
                <a:solidFill>
                  <a:srgbClr val="1F2937"/>
                </a:solidFill>
                <a:latin typeface="Calibri"/>
              </a:rPr>
              <a:t>▸  Sirka kislotasi: birlamchi ta’sir — kimyoviy kuyish; keyingi — gemoliz; metatoksik — toksik gepatit va nefroz.</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Metil spirti</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Metabolit: formaldegid</a:t>
            </a:r>
          </a:p>
          <a:p>
            <a:pPr algn="l">
              <a:spcAft>
                <a:spcPts val="700"/>
              </a:spcAft>
            </a:pPr>
            <a:r>
              <a:rPr sz="1500" b="1">
                <a:solidFill>
                  <a:srgbClr val="C9A227"/>
                </a:solidFill>
                <a:latin typeface="Calibri"/>
              </a:rPr>
              <a:t>●  </a:t>
            </a:r>
            <a:r>
              <a:rPr sz="1500" b="0">
                <a:solidFill>
                  <a:srgbClr val="1F2937"/>
                </a:solidFill>
                <a:latin typeface="Calibri"/>
              </a:rPr>
              <a:t>Kardio-, nefro-, neyrotoksik</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Etil spirti</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Metabolit: atsetaldegid</a:t>
            </a:r>
          </a:p>
          <a:p>
            <a:pPr algn="l">
              <a:spcAft>
                <a:spcPts val="700"/>
              </a:spcAft>
            </a:pPr>
            <a:r>
              <a:rPr sz="1500" b="1">
                <a:solidFill>
                  <a:srgbClr val="C9A227"/>
                </a:solidFill>
                <a:latin typeface="Calibri"/>
              </a:rPr>
              <a:t>●  </a:t>
            </a:r>
            <a:r>
              <a:rPr sz="1500" b="0">
                <a:solidFill>
                  <a:srgbClr val="1F2937"/>
                </a:solidFill>
                <a:latin typeface="Calibri"/>
              </a:rPr>
              <a:t>Kuchliroq toksik modda</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Etilenglikol</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Metabolit: oksalat kislotasi</a:t>
            </a:r>
          </a:p>
          <a:p>
            <a:pPr algn="l">
              <a:spcAft>
                <a:spcPts val="700"/>
              </a:spcAft>
            </a:pPr>
            <a:r>
              <a:rPr sz="1500" b="1">
                <a:solidFill>
                  <a:srgbClr val="C9A227"/>
                </a:solidFill>
                <a:latin typeface="Calibri"/>
              </a:rPr>
              <a:t>●  </a:t>
            </a:r>
            <a:r>
              <a:rPr sz="1500" b="0">
                <a:solidFill>
                  <a:srgbClr val="1F2937"/>
                </a:solidFill>
                <a:latin typeface="Calibri"/>
              </a:rPr>
              <a:t>Gepato-, nefrotoksik</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Oksidlanish: ona modda → metabolit</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136-137, 138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chiqish yo‘llari va to‘planish joylari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Zahar tashqi sekretsiya vazifasi bor a’zolar orqali chiqadi: o‘pka, jigar, buyrak, oshqozon-ichak, teri, sut va so‘lak bezlari.</a:t>
            </a:r>
          </a:p>
          <a:p>
            <a:pPr>
              <a:spcAft>
                <a:spcPts val="800"/>
              </a:spcAft>
            </a:pPr>
            <a:r>
              <a:rPr sz="1600">
                <a:solidFill>
                  <a:srgbClr val="1F2937"/>
                </a:solidFill>
                <a:latin typeface="Calibri"/>
              </a:rPr>
              <a:t>▸  Uchuvchan moddalar o‘pka, suvda eruvchilar buyrak, og‘ir metallar yo‘g‘on ichak, yog‘da eruvchilar o‘t bilan chiqadi.</a:t>
            </a:r>
          </a:p>
          <a:p>
            <a:pPr>
              <a:spcAft>
                <a:spcPts val="800"/>
              </a:spcAft>
            </a:pPr>
            <a:r>
              <a:rPr sz="1600">
                <a:solidFill>
                  <a:srgbClr val="1F2937"/>
                </a:solidFill>
                <a:latin typeface="Calibri"/>
              </a:rPr>
              <a:t>▸  Narkotik va alkogol sut hamda so‘lak bezlari orqali chiqadi.</a:t>
            </a:r>
          </a:p>
          <a:p>
            <a:pPr>
              <a:spcAft>
                <a:spcPts val="800"/>
              </a:spcAft>
            </a:pPr>
            <a:r>
              <a:rPr sz="1600">
                <a:solidFill>
                  <a:srgbClr val="1F2937"/>
                </a:solidFill>
                <a:latin typeface="Calibri"/>
              </a:rPr>
              <a:t>▸  Yog‘da eruvchilar bosh miya, jigar, yog‘ to‘qimasida to‘planadi; suvda eruvchilar mushak, jigar, buyrakda. Margimush va qo‘rg‘oshin suyak va sochda yig‘iladi.</a:t>
            </a:r>
          </a:p>
          <a:p>
            <a:pPr>
              <a:spcAft>
                <a:spcPts val="800"/>
              </a:spcAft>
            </a:pPr>
            <a:r>
              <a:rPr sz="1600">
                <a:solidFill>
                  <a:srgbClr val="1F2937"/>
                </a:solidFill>
                <a:latin typeface="Calibri"/>
              </a:rPr>
              <a:t>▸  Simob miya, suyak va buyrakda to‘planadi. Shu sababli o‘nlab yillardan keyin ham murdadan zaharni topish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Chiqish yo‘llari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O‘pka</a:t>
            </a:r>
          </a:p>
          <a:p>
            <a:pPr algn="l">
              <a:spcAft>
                <a:spcPts val="0"/>
              </a:spcAft>
            </a:pPr>
            <a:r>
              <a:rPr sz="1200" b="0">
                <a:solidFill>
                  <a:srgbClr val="1F2937"/>
                </a:solidFill>
                <a:latin typeface="Calibri"/>
              </a:rPr>
              <a:t>Uchuvchan moddalar</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Buyrak</a:t>
            </a:r>
          </a:p>
          <a:p>
            <a:pPr algn="l">
              <a:spcAft>
                <a:spcPts val="0"/>
              </a:spcAft>
            </a:pPr>
            <a:r>
              <a:rPr sz="1200" b="0">
                <a:solidFill>
                  <a:srgbClr val="1F2937"/>
                </a:solidFill>
                <a:latin typeface="Calibri"/>
              </a:rPr>
              <a:t>Suvda eruvchi moddalar</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Yo‘g‘on ichak</a:t>
            </a:r>
          </a:p>
          <a:p>
            <a:pPr algn="l">
              <a:spcAft>
                <a:spcPts val="0"/>
              </a:spcAft>
            </a:pPr>
            <a:r>
              <a:rPr sz="1200" b="0">
                <a:solidFill>
                  <a:srgbClr val="1F2937"/>
                </a:solidFill>
                <a:latin typeface="Calibri"/>
              </a:rPr>
              <a:t>Og‘ir metallar</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O‘t bilan</a:t>
            </a:r>
          </a:p>
          <a:p>
            <a:pPr algn="l">
              <a:spcAft>
                <a:spcPts val="0"/>
              </a:spcAft>
            </a:pPr>
            <a:r>
              <a:rPr sz="1200" b="0">
                <a:solidFill>
                  <a:srgbClr val="1F2937"/>
                </a:solidFill>
                <a:latin typeface="Calibri"/>
              </a:rPr>
              <a:t>Yog‘da eruvchilar</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Sut, so‘lak bezlari</a:t>
            </a:r>
          </a:p>
          <a:p>
            <a:pPr algn="l">
              <a:spcAft>
                <a:spcPts val="0"/>
              </a:spcAft>
            </a:pPr>
            <a:r>
              <a:rPr sz="1200" b="0">
                <a:solidFill>
                  <a:srgbClr val="1F2937"/>
                </a:solidFill>
                <a:latin typeface="Calibri"/>
              </a:rPr>
              <a:t>Narkotik va alkogol</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G‘iyosov, 137–138-betlar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137, 137-138, 147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ta’sir etuvchilarga bo‘linadi.</a:t>
            </a:r>
          </a:p>
          <a:p>
            <a:pPr>
              <a:spcAft>
                <a:spcPts val="800"/>
              </a:spcAft>
            </a:pPr>
            <a:r>
              <a:rPr sz="1800">
                <a:solidFill>
                  <a:srgbClr val="1F2937"/>
                </a:solidFill>
                <a:latin typeface="Calibri"/>
              </a:rPr>
              <a:t>▸  Mahalliy zaharlar tushgan joyda nekroz chaqiradi; umumiylari qonga so‘rilgach ta’sir etadi (rezorbtiv).</a:t>
            </a:r>
          </a:p>
          <a:p>
            <a:pPr>
              <a:spcAft>
                <a:spcPts val="800"/>
              </a:spcAft>
            </a:pPr>
            <a:r>
              <a:rPr sz="1800">
                <a:solidFill>
                  <a:srgbClr val="1F2937"/>
                </a:solidFill>
                <a:latin typeface="Calibri"/>
              </a:rPr>
              <a:t>▸  Umumiy zaharlar uch guruhga bo‘linadi: destruktiv, qon va funksional zaharlar.</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Zaharlar tasnifi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O‘yuvchi (mahalliy)</a:t>
            </a:r>
          </a:p>
          <a:p>
            <a:pPr algn="l">
              <a:spcAft>
                <a:spcPts val="0"/>
              </a:spcAft>
            </a:pPr>
            <a:r>
              <a:rPr sz="1200" b="0">
                <a:solidFill>
                  <a:srgbClr val="1F2937"/>
                </a:solidFill>
                <a:latin typeface="Calibri"/>
              </a:rPr>
              <a:t>Kislota, ishqor, yod tindirmasi  ·  Tushgan joyda nekroz</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Destruktiv</a:t>
            </a:r>
          </a:p>
          <a:p>
            <a:pPr algn="l">
              <a:spcAft>
                <a:spcPts val="0"/>
              </a:spcAft>
            </a:pPr>
            <a:r>
              <a:rPr sz="1200" b="0">
                <a:solidFill>
                  <a:srgbClr val="1F2937"/>
                </a:solidFill>
                <a:latin typeface="Calibri"/>
              </a:rPr>
              <a:t>Simob, qo‘rg‘oshin, margimush, fosfor  ·  Ichki a’zolarda to‘qima buzilishi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 zaharlari</a:t>
            </a:r>
          </a:p>
          <a:p>
            <a:pPr algn="l">
              <a:spcAft>
                <a:spcPts val="0"/>
              </a:spcAft>
            </a:pPr>
            <a:r>
              <a:rPr sz="1200" b="0">
                <a:solidFill>
                  <a:srgbClr val="1F2937"/>
                </a:solidFill>
                <a:latin typeface="Calibri"/>
              </a:rPr>
              <a:t>Is gazi, metgemoglobin hosil qiluvchi  ·  Gemoglobinga ta’sir, gipoksiya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Funksional</a:t>
            </a:r>
          </a:p>
          <a:p>
            <a:pPr algn="l">
              <a:spcAft>
                <a:spcPts val="0"/>
              </a:spcAft>
            </a:pPr>
            <a:r>
              <a:rPr sz="1200" b="0">
                <a:solidFill>
                  <a:srgbClr val="1F2937"/>
                </a:solidFill>
                <a:latin typeface="Calibri"/>
              </a:rPr>
              <a:t>Sianidlar, strixnin, spirtlar  ·  Nerv tizimi faoliyatini buzadi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Sud-tibbiy tasnif</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138-139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kislotalar va ishqorlar qaysi guruhga kiradi va tushgan joyida qanday o‘zgarish chaqiradi?</a:t>
            </a:r>
          </a:p>
          <a:p>
            <a:pPr>
              <a:spcAft>
                <a:spcPts val="1200"/>
              </a:spcAft>
            </a:pPr>
            <a:r>
              <a:rPr sz="2200">
                <a:solidFill>
                  <a:srgbClr val="1F2937"/>
                </a:solidFill>
                <a:latin typeface="Calibri"/>
              </a:rPr>
              <a:t>▸  Savol 2: simob, qo‘rg‘oshin, margimush, fosfor va sianidlar umumiy zaharlarning qaysi guruhlariga kiradi?</a:t>
            </a:r>
          </a:p>
          <a:p>
            <a:pPr>
              <a:spcAft>
                <a:spcPts val="1200"/>
              </a:spcAft>
            </a:pPr>
            <a:r>
              <a:rPr sz="2200">
                <a:solidFill>
                  <a:srgbClr val="1F2937"/>
                </a:solidFill>
                <a:latin typeface="Calibri"/>
              </a:rPr>
              <a:t>▸  Javob: kislota va ishqor mahalliy zahar (nekroz); simob, qo‘rg‘oshin, margimush, fosfor destruktiv; sianidlar funksional zahar.</a:t>
            </a:r>
          </a:p>
          <a:p>
            <a:pPr>
              <a:spcAft>
                <a:spcPts val="1200"/>
              </a:spcAft>
            </a:pPr>
            <a:r>
              <a:rPr sz="2200">
                <a:solidFill>
                  <a:srgbClr val="1F2937"/>
                </a:solidFill>
                <a:latin typeface="Calibri"/>
              </a:rPr>
              <a:t>▸  Diqqat: xato qilish xavfi. «Asosan mahalliy» zahar ham umumiy reaksiya chaqiradi; mahalliy ≠ faqat mahalliy.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 138-139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zaharlar: kislotalar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Kislotalarni erkin vodorod ionlari shikastlaydi: to‘qimani suvsizlantiradi, oqsilni ivitadi va koagulyasion (quruq) nekroz hosil qiladi.</a:t>
            </a:r>
          </a:p>
          <a:p>
            <a:pPr>
              <a:spcAft>
                <a:spcPts val="800"/>
              </a:spcAft>
            </a:pPr>
            <a:r>
              <a:rPr sz="1600">
                <a:solidFill>
                  <a:srgbClr val="1F2937"/>
                </a:solidFill>
                <a:latin typeface="Calibri"/>
              </a:rPr>
              <a:t>▸  Qizilo‘ngach va oshqozonda kuchli og‘riq, qonli qusuq, ba’zan shilliq parda bo‘laklari chiqadi. Hiqildoq shishishi va ovoz yorig‘i spazmi mumkin.</a:t>
            </a:r>
          </a:p>
          <a:p>
            <a:pPr>
              <a:spcAft>
                <a:spcPts val="800"/>
              </a:spcAft>
            </a:pPr>
            <a:r>
              <a:rPr sz="1600">
                <a:solidFill>
                  <a:srgbClr val="1F2937"/>
                </a:solidFill>
                <a:latin typeface="Calibri"/>
              </a:rPr>
              <a:t>▸  Dastlabki soatlarda o‘lim sababi shok, asfiksiya, ichki qon ketish. Kech muddatda pnevmoniya, jigar-buyrak yetishmovchiligi, mediastenit yoki peritonit.</a:t>
            </a:r>
          </a:p>
          <a:p>
            <a:pPr>
              <a:spcAft>
                <a:spcPts val="800"/>
              </a:spcAft>
            </a:pPr>
            <a:r>
              <a:rPr sz="1600">
                <a:solidFill>
                  <a:srgbClr val="1F2937"/>
                </a:solidFill>
                <a:latin typeface="Calibri"/>
              </a:rPr>
              <a:t>▸  Letal doza: sulfat va nitrat kislota 5–10 ml, xlorid kislota 15–20 ml, sirka essensiyasi 20–40 ml, karbol kislotasi 10–30 ml.</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Sulfat, nitrat kislota</a:t>
            </a:r>
          </a:p>
          <a:p>
            <a:pPr algn="l">
              <a:spcAft>
                <a:spcPts val="100"/>
              </a:spcAft>
            </a:pPr>
            <a:r>
              <a:rPr sz="3000" b="1">
                <a:solidFill>
                  <a:srgbClr val="0B1F3A"/>
                </a:solidFill>
                <a:latin typeface="Calibri"/>
              </a:rPr>
              <a:t>5–10</a:t>
            </a:r>
            <a:r>
              <a:rPr sz="1500" b="0">
                <a:solidFill>
                  <a:srgbClr val="6B7280"/>
                </a:solidFill>
                <a:latin typeface="Calibri"/>
              </a:rPr>
              <a:t>  ml</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Xlorid kislota</a:t>
            </a:r>
          </a:p>
          <a:p>
            <a:pPr algn="l">
              <a:spcAft>
                <a:spcPts val="100"/>
              </a:spcAft>
            </a:pPr>
            <a:r>
              <a:rPr sz="3000" b="1">
                <a:solidFill>
                  <a:srgbClr val="0B1F3A"/>
                </a:solidFill>
                <a:latin typeface="Calibri"/>
              </a:rPr>
              <a:t>15–20</a:t>
            </a:r>
            <a:r>
              <a:rPr sz="1500" b="0">
                <a:solidFill>
                  <a:srgbClr val="6B7280"/>
                </a:solidFill>
                <a:latin typeface="Calibri"/>
              </a:rPr>
              <a:t>  ml</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Sirka essensiyasi</a:t>
            </a:r>
          </a:p>
          <a:p>
            <a:pPr algn="l">
              <a:spcAft>
                <a:spcPts val="100"/>
              </a:spcAft>
            </a:pPr>
            <a:r>
              <a:rPr sz="3000" b="1">
                <a:solidFill>
                  <a:srgbClr val="0B1F3A"/>
                </a:solidFill>
                <a:latin typeface="Calibri"/>
              </a:rPr>
              <a:t>20–40</a:t>
            </a:r>
            <a:r>
              <a:rPr sz="1500" b="0">
                <a:solidFill>
                  <a:srgbClr val="6B7280"/>
                </a:solidFill>
                <a:latin typeface="Calibri"/>
              </a:rPr>
              <a:t>  ml</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Karbol kislotasi</a:t>
            </a:r>
          </a:p>
          <a:p>
            <a:pPr algn="l">
              <a:spcAft>
                <a:spcPts val="100"/>
              </a:spcAft>
            </a:pPr>
            <a:r>
              <a:rPr sz="3000" b="1">
                <a:solidFill>
                  <a:srgbClr val="0B1F3A"/>
                </a:solidFill>
                <a:latin typeface="Calibri"/>
              </a:rPr>
              <a:t>10–30</a:t>
            </a:r>
            <a:r>
              <a:rPr sz="1500" b="0">
                <a:solidFill>
                  <a:srgbClr val="6B7280"/>
                </a:solidFill>
                <a:latin typeface="Calibri"/>
              </a:rPr>
              <a:t>  ml</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Letal dozalar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140, 141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murda belgilari va farqlari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Sulfat kislota kuchli: oshqozon devori ko‘proq shikastlanadi, teshilish (perforatsiya) ko‘p uchraydi.</a:t>
            </a:r>
          </a:p>
          <a:p>
            <a:pPr>
              <a:spcAft>
                <a:spcPts val="800"/>
              </a:spcAft>
            </a:pPr>
            <a:r>
              <a:rPr sz="1800">
                <a:solidFill>
                  <a:srgbClr val="1F2937"/>
                </a:solidFill>
                <a:latin typeface="Calibri"/>
              </a:rPr>
              <a:t>▸  Sirka kislotada gemolitik ta’sir kuchli: gemoglobinuriyali nefroz va o‘tkir buyrak yetishmovchiligi.</a:t>
            </a:r>
          </a:p>
          <a:p>
            <a:pPr>
              <a:spcAft>
                <a:spcPts val="800"/>
              </a:spcAft>
            </a:pPr>
            <a:r>
              <a:rPr sz="1800">
                <a:solidFill>
                  <a:srgbClr val="1F2937"/>
                </a:solidFill>
                <a:latin typeface="Calibri"/>
              </a:rPr>
              <a:t>▸  Fenol (karbol kislotasi): ichki a’zolardan karbol hidi keladi, siydik havoda yashil-jigarrang tusga kiradi.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183071"/>
                <a:gridCol w="2045969"/>
                <a:gridCol w="2058934"/>
              </a:tblGrid>
              <a:tr h="614476">
                <a:tc>
                  <a:txBody>
                    <a:bodyPr/>
                    <a:lstStyle/>
                    <a:p>
                      <a:r>
                        <a:rPr sz="1600" b="1">
                          <a:solidFill>
                            <a:srgbClr val="FFFFFF"/>
                          </a:solidFill>
                        </a:rPr>
                        <a:t>Kislota</a:t>
                      </a:r>
                    </a:p>
                  </a:txBody>
                  <a:tcPr marL="73152" marR="73152" marT="36576" marB="36576">
                    <a:solidFill>
                      <a:srgbClr val="0B1F3A"/>
                    </a:solidFill>
                  </a:tcPr>
                </a:tc>
                <a:tc>
                  <a:txBody>
                    <a:bodyPr/>
                    <a:lstStyle/>
                    <a:p>
                      <a:r>
                        <a:rPr sz="1600" b="1">
                          <a:solidFill>
                            <a:srgbClr val="FFFFFF"/>
                          </a:solidFill>
                        </a:rPr>
                        <a:t>Rang / strup</a:t>
                      </a:r>
                    </a:p>
                  </a:txBody>
                  <a:tcPr marL="73152" marR="73152" marT="36576" marB="36576">
                    <a:solidFill>
                      <a:srgbClr val="0B1F3A"/>
                    </a:solidFill>
                  </a:tcPr>
                </a:tc>
                <a:tc>
                  <a:txBody>
                    <a:bodyPr/>
                    <a:lstStyle/>
                    <a:p>
                      <a:r>
                        <a:rPr sz="1600" b="1">
                          <a:solidFill>
                            <a:srgbClr val="FFFFFF"/>
                          </a:solidFill>
                        </a:rPr>
                        <a:t>Xos jihati</a:t>
                      </a:r>
                    </a:p>
                  </a:txBody>
                  <a:tcPr marL="73152" marR="73152" marT="36576" marB="36576">
                    <a:solidFill>
                      <a:srgbClr val="0B1F3A"/>
                    </a:solidFill>
                  </a:tcPr>
                </a:tc>
              </a:tr>
              <a:tr h="614476">
                <a:tc>
                  <a:txBody>
                    <a:bodyPr/>
                    <a:lstStyle/>
                    <a:p>
                      <a:r>
                        <a:rPr sz="1500" b="0">
                          <a:solidFill>
                            <a:srgbClr val="1F2937"/>
                          </a:solidFill>
                        </a:rPr>
                        <a:t>Sulfat</a:t>
                      </a:r>
                    </a:p>
                  </a:txBody>
                  <a:tcPr marL="73152" marR="73152" marT="36576" marB="36576">
                    <a:solidFill>
                      <a:srgbClr val="E8EEF6"/>
                    </a:solidFill>
                  </a:tcPr>
                </a:tc>
                <a:tc>
                  <a:txBody>
                    <a:bodyPr/>
                    <a:lstStyle/>
                    <a:p>
                      <a:r>
                        <a:rPr sz="1500" b="0">
                          <a:solidFill>
                            <a:srgbClr val="1F2937"/>
                          </a:solidFill>
                        </a:rPr>
                        <a:t>Qo‘ng‘ir-qora</a:t>
                      </a:r>
                    </a:p>
                  </a:txBody>
                  <a:tcPr marL="73152" marR="73152" marT="36576" marB="36576">
                    <a:solidFill>
                      <a:srgbClr val="E8EEF6"/>
                    </a:solidFill>
                  </a:tcPr>
                </a:tc>
                <a:tc>
                  <a:txBody>
                    <a:bodyPr/>
                    <a:lstStyle/>
                    <a:p>
                      <a:r>
                        <a:rPr sz="1500" b="0">
                          <a:solidFill>
                            <a:srgbClr val="1F2937"/>
                          </a:solidFill>
                        </a:rPr>
                        <a:t>Perforatsiya ko‘proq</a:t>
                      </a:r>
                    </a:p>
                  </a:txBody>
                  <a:tcPr marL="73152" marR="73152" marT="36576" marB="36576">
                    <a:solidFill>
                      <a:srgbClr val="E8EEF6"/>
                    </a:solidFill>
                  </a:tcPr>
                </a:tc>
              </a:tr>
              <a:tr h="614476">
                <a:tc>
                  <a:txBody>
                    <a:bodyPr/>
                    <a:lstStyle/>
                    <a:p>
                      <a:r>
                        <a:rPr sz="1500" b="0">
                          <a:solidFill>
                            <a:srgbClr val="1F2937"/>
                          </a:solidFill>
                        </a:rPr>
                        <a:t>Nitrat</a:t>
                      </a:r>
                    </a:p>
                  </a:txBody>
                  <a:tcPr marL="73152" marR="73152" marT="36576" marB="36576">
                    <a:solidFill>
                      <a:srgbClr val="FFFFFF"/>
                    </a:solidFill>
                  </a:tcPr>
                </a:tc>
                <a:tc>
                  <a:txBody>
                    <a:bodyPr/>
                    <a:lstStyle/>
                    <a:p>
                      <a:r>
                        <a:rPr sz="1500" b="0">
                          <a:solidFill>
                            <a:srgbClr val="1F2937"/>
                          </a:solidFill>
                        </a:rPr>
                        <a:t>Sarg‘ish (konts. &gt;30%)</a:t>
                      </a:r>
                    </a:p>
                  </a:txBody>
                  <a:tcPr marL="73152" marR="73152" marT="36576" marB="36576">
                    <a:solidFill>
                      <a:srgbClr val="FFFFFF"/>
                    </a:solidFill>
                  </a:tcPr>
                </a:tc>
                <a:tc>
                  <a:txBody>
                    <a:bodyPr/>
                    <a:lstStyle/>
                    <a:p>
                      <a:r>
                        <a:rPr sz="1500" b="0">
                          <a:solidFill>
                            <a:srgbClr val="1F2937"/>
                          </a:solidFill>
                        </a:rPr>
                        <a:t>Azot oksidi hidi, o‘pka shishi</a:t>
                      </a:r>
                    </a:p>
                  </a:txBody>
                  <a:tcPr marL="73152" marR="73152" marT="36576" marB="36576">
                    <a:solidFill>
                      <a:srgbClr val="FFFFFF"/>
                    </a:solidFill>
                  </a:tcPr>
                </a:tc>
              </a:tr>
              <a:tr h="614476">
                <a:tc>
                  <a:txBody>
                    <a:bodyPr/>
                    <a:lstStyle/>
                    <a:p>
                      <a:r>
                        <a:rPr sz="1500" b="0">
                          <a:solidFill>
                            <a:srgbClr val="1F2937"/>
                          </a:solidFill>
                        </a:rPr>
                        <a:t>Xlorid</a:t>
                      </a:r>
                    </a:p>
                  </a:txBody>
                  <a:tcPr marL="73152" marR="73152" marT="36576" marB="36576">
                    <a:solidFill>
                      <a:srgbClr val="E8EEF6"/>
                    </a:solidFill>
                  </a:tcPr>
                </a:tc>
                <a:tc>
                  <a:txBody>
                    <a:bodyPr/>
                    <a:lstStyle/>
                    <a:p>
                      <a:r>
                        <a:rPr sz="1500" b="0">
                          <a:solidFill>
                            <a:srgbClr val="1F2937"/>
                          </a:solidFill>
                        </a:rPr>
                        <a:t>Qo‘ng‘ir-kul rang</a:t>
                      </a:r>
                    </a:p>
                  </a:txBody>
                  <a:tcPr marL="73152" marR="73152" marT="36576" marB="36576">
                    <a:solidFill>
                      <a:srgbClr val="E8EEF6"/>
                    </a:solidFill>
                  </a:tcPr>
                </a:tc>
                <a:tc>
                  <a:txBody>
                    <a:bodyPr/>
                    <a:lstStyle/>
                    <a:p>
                      <a:r>
                        <a:rPr sz="1500" b="0">
                          <a:solidFill>
                            <a:srgbClr val="1F2937"/>
                          </a:solidFill>
                        </a:rPr>
                        <a:t>Hiqildoq, o‘pka shishi ko‘proq</a:t>
                      </a:r>
                    </a:p>
                  </a:txBody>
                  <a:tcPr marL="73152" marR="73152" marT="36576" marB="36576">
                    <a:solidFill>
                      <a:srgbClr val="E8EEF6"/>
                    </a:solidFill>
                  </a:tcPr>
                </a:tc>
              </a:tr>
              <a:tr h="614476">
                <a:tc>
                  <a:txBody>
                    <a:bodyPr/>
                    <a:lstStyle/>
                    <a:p>
                      <a:r>
                        <a:rPr sz="1500" b="0">
                          <a:solidFill>
                            <a:srgbClr val="1F2937"/>
                          </a:solidFill>
                        </a:rPr>
                        <a:t>Sirka</a:t>
                      </a:r>
                    </a:p>
                  </a:txBody>
                  <a:tcPr marL="73152" marR="73152" marT="36576" marB="36576">
                    <a:solidFill>
                      <a:srgbClr val="FFFFFF"/>
                    </a:solidFill>
                  </a:tcPr>
                </a:tc>
                <a:tc>
                  <a:txBody>
                    <a:bodyPr/>
                    <a:lstStyle/>
                    <a:p>
                      <a:r>
                        <a:rPr sz="1500" b="0">
                          <a:solidFill>
                            <a:srgbClr val="1F2937"/>
                          </a:solidFill>
                        </a:rPr>
                        <a:t>Pushti-qizg‘ish strup</a:t>
                      </a:r>
                    </a:p>
                  </a:txBody>
                  <a:tcPr marL="73152" marR="73152" marT="36576" marB="36576">
                    <a:solidFill>
                      <a:srgbClr val="FFFFFF"/>
                    </a:solidFill>
                  </a:tcPr>
                </a:tc>
                <a:tc>
                  <a:txBody>
                    <a:bodyPr/>
                    <a:lstStyle/>
                    <a:p>
                      <a:r>
                        <a:rPr sz="1500" b="0">
                          <a:solidFill>
                            <a:srgbClr val="1F2937"/>
                          </a:solidFill>
                        </a:rPr>
                        <a:t>Gemoliz; o‘tkir sirka hidi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Kislotalar qiyosi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141-142, 142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zaharlar: ishqorlar va boshqa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Ishqorlar oqsilni suyultiradi: kollikvatsion (nam) nekroz; shikastlangan soha yumshoq, sirpanuvchan.</a:t>
            </a:r>
          </a:p>
          <a:p>
            <a:pPr>
              <a:spcAft>
                <a:spcPts val="800"/>
              </a:spcAft>
            </a:pPr>
            <a:r>
              <a:rPr sz="1800">
                <a:solidFill>
                  <a:srgbClr val="1F2937"/>
                </a:solidFill>
                <a:latin typeface="Calibri"/>
              </a:rPr>
              <a:t>▸  Letal doza: natriy va kaliy gidroksid 10–15 g, nashatir spirti (ammoniy gidroksid) 25–40 ml.</a:t>
            </a:r>
          </a:p>
          <a:p>
            <a:pPr>
              <a:spcAft>
                <a:spcPts val="800"/>
              </a:spcAft>
            </a:pPr>
            <a:r>
              <a:rPr sz="1800">
                <a:solidFill>
                  <a:srgbClr val="1F2937"/>
                </a:solidFill>
                <a:latin typeface="Calibri"/>
              </a:rPr>
              <a:t>▸  Nashatir spirti qonga so‘rilgach nafas markazini buzadi; alkogol bilan birga ichilsa xavf oshadi.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91639"/>
                <a:gridCol w="2400300"/>
                <a:gridCol w="1196036"/>
              </a:tblGrid>
              <a:tr h="61447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Murdadagi belgi</a:t>
                      </a:r>
                    </a:p>
                  </a:txBody>
                  <a:tcPr marL="73152" marR="73152" marT="36576" marB="36576">
                    <a:solidFill>
                      <a:srgbClr val="0B1F3A"/>
                    </a:solidFill>
                  </a:tcPr>
                </a:tc>
                <a:tc>
                  <a:txBody>
                    <a:bodyPr/>
                    <a:lstStyle/>
                    <a:p>
                      <a:r>
                        <a:rPr sz="1600" b="1">
                          <a:solidFill>
                            <a:srgbClr val="FFFFFF"/>
                          </a:solidFill>
                        </a:rPr>
                        <a:t>Qo‘shimcha</a:t>
                      </a:r>
                    </a:p>
                  </a:txBody>
                  <a:tcPr marL="73152" marR="73152" marT="36576" marB="36576">
                    <a:solidFill>
                      <a:srgbClr val="0B1F3A"/>
                    </a:solidFill>
                  </a:tcPr>
                </a:tc>
              </a:tr>
              <a:tr h="614476">
                <a:tc>
                  <a:txBody>
                    <a:bodyPr/>
                    <a:lstStyle/>
                    <a:p>
                      <a:r>
                        <a:rPr sz="1500" b="0">
                          <a:solidFill>
                            <a:srgbClr val="1F2937"/>
                          </a:solidFill>
                        </a:rPr>
                        <a:t>Formalin</a:t>
                      </a:r>
                    </a:p>
                  </a:txBody>
                  <a:tcPr marL="73152" marR="73152" marT="36576" marB="36576">
                    <a:solidFill>
                      <a:srgbClr val="E8EEF6"/>
                    </a:solidFill>
                  </a:tcPr>
                </a:tc>
                <a:tc>
                  <a:txBody>
                    <a:bodyPr/>
                    <a:lstStyle/>
                    <a:p>
                      <a:r>
                        <a:rPr sz="1500" b="0">
                          <a:solidFill>
                            <a:srgbClr val="1F2937"/>
                          </a:solidFill>
                        </a:rPr>
                        <a:t>Shilliq qavat o‘zgarmagan (fiksatsiya)</a:t>
                      </a:r>
                    </a:p>
                  </a:txBody>
                  <a:tcPr marL="73152" marR="73152" marT="36576" marB="36576">
                    <a:solidFill>
                      <a:srgbClr val="E8EEF6"/>
                    </a:solidFill>
                  </a:tcPr>
                </a:tc>
                <a:tc>
                  <a:txBody>
                    <a:bodyPr/>
                    <a:lstStyle/>
                    <a:p>
                      <a:r>
                        <a:rPr sz="1500" b="0">
                          <a:solidFill>
                            <a:srgbClr val="1F2937"/>
                          </a:solidFill>
                        </a:rPr>
                        <a:t>Ichki a’zolardan xos hid</a:t>
                      </a:r>
                    </a:p>
                  </a:txBody>
                  <a:tcPr marL="73152" marR="73152" marT="36576" marB="36576">
                    <a:solidFill>
                      <a:srgbClr val="E8EEF6"/>
                    </a:solidFill>
                  </a:tcPr>
                </a:tc>
              </a:tr>
              <a:tr h="614476">
                <a:tc>
                  <a:txBody>
                    <a:bodyPr/>
                    <a:lstStyle/>
                    <a:p>
                      <a:r>
                        <a:rPr sz="1500" b="0">
                          <a:solidFill>
                            <a:srgbClr val="1F2937"/>
                          </a:solidFill>
                        </a:rPr>
                        <a:t>Kaliy permanganat</a:t>
                      </a:r>
                    </a:p>
                  </a:txBody>
                  <a:tcPr marL="73152" marR="73152" marT="36576" marB="36576">
                    <a:solidFill>
                      <a:srgbClr val="FFFFFF"/>
                    </a:solidFill>
                  </a:tcPr>
                </a:tc>
                <a:tc>
                  <a:txBody>
                    <a:bodyPr/>
                    <a:lstStyle/>
                    <a:p>
                      <a:r>
                        <a:rPr sz="1500" b="0">
                          <a:solidFill>
                            <a:srgbClr val="1F2937"/>
                          </a:solidFill>
                        </a:rPr>
                        <a:t>Jigarrang-qizg‘ish strup</a:t>
                      </a:r>
                    </a:p>
                  </a:txBody>
                  <a:tcPr marL="73152" marR="73152" marT="36576" marB="36576">
                    <a:solidFill>
                      <a:srgbClr val="FFFFFF"/>
                    </a:solidFill>
                  </a:tcPr>
                </a:tc>
                <a:tc>
                  <a:txBody>
                    <a:bodyPr/>
                    <a:lstStyle/>
                    <a:p>
                      <a:r>
                        <a:rPr sz="1500" b="0">
                          <a:solidFill>
                            <a:srgbClr val="1F2937"/>
                          </a:solidFill>
                        </a:rPr>
                        <a:t>Letal doza 15–20 g</a:t>
                      </a:r>
                    </a:p>
                  </a:txBody>
                  <a:tcPr marL="73152" marR="73152" marT="36576" marB="36576">
                    <a:solidFill>
                      <a:srgbClr val="FFFFFF"/>
                    </a:solidFill>
                  </a:tcPr>
                </a:tc>
              </a:tr>
              <a:tr h="614476">
                <a:tc>
                  <a:txBody>
                    <a:bodyPr/>
                    <a:lstStyle/>
                    <a:p>
                      <a:r>
                        <a:rPr sz="1500" b="0">
                          <a:solidFill>
                            <a:srgbClr val="1F2937"/>
                          </a:solidFill>
                        </a:rPr>
                        <a:t>Vodorod peroksid</a:t>
                      </a:r>
                    </a:p>
                  </a:txBody>
                  <a:tcPr marL="73152" marR="73152" marT="36576" marB="36576">
                    <a:solidFill>
                      <a:srgbClr val="E8EEF6"/>
                    </a:solidFill>
                  </a:tcPr>
                </a:tc>
                <a:tc>
                  <a:txBody>
                    <a:bodyPr/>
                    <a:lstStyle/>
                    <a:p>
                      <a:r>
                        <a:rPr sz="1500" b="0">
                          <a:solidFill>
                            <a:srgbClr val="1F2937"/>
                          </a:solidFill>
                        </a:rPr>
                        <a:t>Oqimtir, ko‘piklangan shilliq qavat</a:t>
                      </a:r>
                    </a:p>
                  </a:txBody>
                  <a:tcPr marL="73152" marR="73152" marT="36576" marB="36576">
                    <a:solidFill>
                      <a:srgbClr val="E8EEF6"/>
                    </a:solidFill>
                  </a:tcPr>
                </a:tc>
                <a:tc>
                  <a:txBody>
                    <a:bodyPr/>
                    <a:lstStyle/>
                    <a:p>
                      <a:r>
                        <a:rPr sz="1500" b="0">
                          <a:solidFill>
                            <a:srgbClr val="1F2937"/>
                          </a:solidFill>
                        </a:rPr>
                        <a:t>Pergidrol (33%) 100 ml — o‘lim mumkin</a:t>
                      </a:r>
                    </a:p>
                  </a:txBody>
                  <a:tcPr marL="73152" marR="73152" marT="36576" marB="36576">
                    <a:solidFill>
                      <a:srgbClr val="E8EEF6"/>
                    </a:solidFill>
                  </a:tcPr>
                </a:tc>
              </a:tr>
              <a:tr h="614476">
                <a:tc>
                  <a:txBody>
                    <a:bodyPr/>
                    <a:lstStyle/>
                    <a:p>
                      <a:r>
                        <a:rPr sz="1500" b="0">
                          <a:solidFill>
                            <a:srgbClr val="1F2937"/>
                          </a:solidFill>
                        </a:rPr>
                        <a:t>Yod preparatlari</a:t>
                      </a:r>
                    </a:p>
                  </a:txBody>
                  <a:tcPr marL="73152" marR="73152" marT="36576" marB="36576">
                    <a:solidFill>
                      <a:srgbClr val="FFFFFF"/>
                    </a:solidFill>
                  </a:tcPr>
                </a:tc>
                <a:tc>
                  <a:txBody>
                    <a:bodyPr/>
                    <a:lstStyle/>
                    <a:p>
                      <a:r>
                        <a:rPr sz="1500" b="0">
                          <a:solidFill>
                            <a:srgbClr val="1F2937"/>
                          </a:solidFill>
                        </a:rPr>
                        <a:t>Qo‘ng‘ir strup</a:t>
                      </a:r>
                    </a:p>
                  </a:txBody>
                  <a:tcPr marL="73152" marR="73152" marT="36576" marB="36576">
                    <a:solidFill>
                      <a:srgbClr val="FFFFFF"/>
                    </a:solidFill>
                  </a:tcPr>
                </a:tc>
                <a:tc>
                  <a:txBody>
                    <a:bodyPr/>
                    <a:lstStyle/>
                    <a:p>
                      <a:r>
                        <a:rPr sz="1500" b="0">
                          <a:solidFill>
                            <a:srgbClr val="1F2937"/>
                          </a:solidFill>
                        </a:rPr>
                        <a:t>Hiqildoq shishi, asfiksiya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 o‘yuvchi moddalar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143, 142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o‘yuvchi zahar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og‘iz atrofida oqmalar, qusuq ichida ko‘chgan shilliq parchalar, qizilo‘ngach bo‘ylab kuchli og‘riq. Bu o‘yuvchi zaharga xos belgilar.</a:t>
            </a:r>
          </a:p>
          <a:p>
            <a:pPr>
              <a:spcAft>
                <a:spcPts val="1200"/>
              </a:spcAft>
            </a:pPr>
            <a:r>
              <a:rPr sz="2200">
                <a:solidFill>
                  <a:srgbClr val="1F2937"/>
                </a:solidFill>
                <a:latin typeface="Calibri"/>
              </a:rPr>
              <a:t>▸  Kislotada koagulyasion (quruq) nekroz va zich qo‘ng‘ir-qora strup bo‘ladi. Ishqorda kollikvatsion (nam) nekroz: joy yumshoq, sirpanuvchan, kulrang-yashil.</a:t>
            </a:r>
          </a:p>
          <a:p>
            <a:pPr>
              <a:spcAft>
                <a:spcPts val="1200"/>
              </a:spcAft>
            </a:pPr>
            <a:r>
              <a:rPr sz="2200">
                <a:solidFill>
                  <a:srgbClr val="1F2937"/>
                </a:solidFill>
                <a:latin typeface="Calibri"/>
              </a:rPr>
              <a:t>▸  Kislota turi rangdan taxmin qilinadi: sulfatda shilliq qavat qo‘ng‘ir-qora, nitratda sargimtir. Sirka kislotada gemoliz va o‘tkir sirka hidi ustun.</a:t>
            </a:r>
          </a:p>
          <a:p>
            <a:pPr>
              <a:spcAft>
                <a:spcPts val="1200"/>
              </a:spcAft>
            </a:pPr>
            <a:r>
              <a:rPr sz="2200">
                <a:solidFill>
                  <a:srgbClr val="1F2937"/>
                </a:solidFill>
                <a:latin typeface="Calibri"/>
              </a:rPr>
              <a:t>▸  Diqqat: kislota ≠ ishqor. Kislotada shilliq qavat zichlashadi, notekis qalinlashadi; ishqorda oshqozon devori yumshoq bo‘lib, oson yirtiladi.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141, 140-143, 141-142, 141, 143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va qo‘rg‘oshin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Sof simob ichilganda erimagani uchun zaharlamaydi. Bug‘ va mayda dispers holatda esa nafas yo‘llari orqali yaxshi so‘rilib, og‘ir zaharlanish chaqiradi.</a:t>
            </a:r>
          </a:p>
          <a:p>
            <a:pPr>
              <a:spcAft>
                <a:spcPts val="800"/>
              </a:spcAft>
            </a:pPr>
            <a:r>
              <a:rPr sz="1600">
                <a:solidFill>
                  <a:srgbClr val="1F2937"/>
                </a:solidFill>
                <a:latin typeface="Calibri"/>
              </a:rPr>
              <a:t>▸  Sulema (simob dixlorid) protoplazmatik zahar: og‘izda metall ta’mi, qonli qusish, oliguriya-anuriya. O‘lim ko‘pincha o‘tkir buyrak yetishmovchiligidan.</a:t>
            </a:r>
          </a:p>
          <a:p>
            <a:pPr>
              <a:spcAft>
                <a:spcPts val="800"/>
              </a:spcAft>
            </a:pPr>
            <a:r>
              <a:rPr sz="1600">
                <a:solidFill>
                  <a:srgbClr val="1F2937"/>
                </a:solidFill>
                <a:latin typeface="Calibri"/>
              </a:rPr>
              <a:t>▸  Murdada simobli stomatit, yo‘g‘on ichakda “sulema dizenteriyasi”, kattalashgan “sulema buyragi” (toksik nekronefroz) topiladi.</a:t>
            </a:r>
          </a:p>
          <a:p>
            <a:pPr>
              <a:spcAft>
                <a:spcPts val="800"/>
              </a:spcAft>
            </a:pPr>
            <a:r>
              <a:rPr sz="1600">
                <a:solidFill>
                  <a:srgbClr val="1F2937"/>
                </a:solidFill>
                <a:latin typeface="Calibri"/>
              </a:rPr>
              <a:t>▸  Organik simob (granozan) surunkali, neyrotoksik: oylab yashirin davr, ensefalopatiya. Qo‘rg‘oshinda ichak-buyrak kuchsizroq, nerv tizimi va kamqonlik yaqqol.</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Simob va qo‘rg‘oshin</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Sof simob</a:t>
            </a:r>
          </a:p>
          <a:p>
            <a:pPr algn="l">
              <a:spcAft>
                <a:spcPts val="0"/>
              </a:spcAft>
            </a:pPr>
            <a:r>
              <a:rPr sz="1200" b="0">
                <a:solidFill>
                  <a:srgbClr val="1F2937"/>
                </a:solidFill>
                <a:latin typeface="Calibri"/>
              </a:rPr>
              <a:t>Erimagani uchun zaharlamaydi  ·  Bug‘i xavfli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Sulema</a:t>
            </a:r>
          </a:p>
          <a:p>
            <a:pPr algn="l">
              <a:spcAft>
                <a:spcPts val="0"/>
              </a:spcAft>
            </a:pPr>
            <a:r>
              <a:rPr sz="1200" b="0">
                <a:solidFill>
                  <a:srgbClr val="1F2937"/>
                </a:solidFill>
                <a:latin typeface="Calibri"/>
              </a:rPr>
              <a:t>Metall ta’m, qonli qusish  ·  O‘tkir buyrak yetishmovchiligi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Organik simob</a:t>
            </a:r>
          </a:p>
          <a:p>
            <a:pPr algn="l">
              <a:spcAft>
                <a:spcPts val="0"/>
              </a:spcAft>
            </a:pPr>
            <a:r>
              <a:rPr sz="1200" b="0">
                <a:solidFill>
                  <a:srgbClr val="1F2937"/>
                </a:solidFill>
                <a:latin typeface="Calibri"/>
              </a:rPr>
              <a:t>Neyrotoksik, surunkali  ·  Ensefalopatiya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Qo‘rg‘oshin</a:t>
            </a:r>
          </a:p>
          <a:p>
            <a:pPr algn="l">
              <a:spcAft>
                <a:spcPts val="0"/>
              </a:spcAft>
            </a:pPr>
            <a:r>
              <a:rPr sz="1200" b="0">
                <a:solidFill>
                  <a:srgbClr val="1F2937"/>
                </a:solidFill>
                <a:latin typeface="Calibri"/>
              </a:rPr>
              <a:t>Nerv tizimi, kamqonlik yaqqol</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Destruktiv zaharlar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145, 146, 146-147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margimush va talliy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Margimush fermentlarning sulfgidril guruhini bloklaydi; kapillyarlar falajlanib, bosim tushadi va kollaps yuz beradi.</a:t>
            </a:r>
          </a:p>
          <a:p>
            <a:pPr>
              <a:spcAft>
                <a:spcPts val="800"/>
              </a:spcAft>
            </a:pPr>
            <a:r>
              <a:rPr sz="1800">
                <a:solidFill>
                  <a:srgbClr val="1F2937"/>
                </a:solidFill>
                <a:latin typeface="Calibri"/>
              </a:rPr>
              <a:t>▸  Surunkali zaharlanishda dispepsiya, polineyropatiya, sochning to‘kilishi va tirnoqlarda ko‘ndalang oq yo‘llar kuzatiladi.</a:t>
            </a:r>
          </a:p>
          <a:p>
            <a:pPr>
              <a:spcAft>
                <a:spcPts val="800"/>
              </a:spcAft>
            </a:pPr>
            <a:r>
              <a:rPr sz="1800">
                <a:solidFill>
                  <a:srgbClr val="1F2937"/>
                </a:solidFill>
                <a:latin typeface="Calibri"/>
              </a:rPr>
              <a:t>▸  Margimush soch, tirnoq, suyakda yillab saqlanadi. Talliyda gastroenterit, alopetsiya va polineyropatiya bo‘ladi.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Oshqozon-ichak shakli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Og‘iz orqali qabul qilish</a:t>
            </a:r>
          </a:p>
          <a:p>
            <a:pPr algn="l">
              <a:spcAft>
                <a:spcPts val="700"/>
              </a:spcAft>
            </a:pPr>
            <a:r>
              <a:rPr sz="1500" b="1">
                <a:solidFill>
                  <a:srgbClr val="C9A227"/>
                </a:solidFill>
                <a:latin typeface="Calibri"/>
              </a:rPr>
              <a:t>●  </a:t>
            </a:r>
            <a:r>
              <a:rPr sz="1500" b="0">
                <a:solidFill>
                  <a:srgbClr val="1F2937"/>
                </a:solidFill>
                <a:latin typeface="Calibri"/>
              </a:rPr>
              <a:t>Qusish, vabosimon ich ketishi</a:t>
            </a:r>
          </a:p>
          <a:p>
            <a:pPr algn="l">
              <a:spcAft>
                <a:spcPts val="700"/>
              </a:spcAft>
            </a:pPr>
            <a:r>
              <a:rPr sz="1500" b="1">
                <a:solidFill>
                  <a:srgbClr val="C9A227"/>
                </a:solidFill>
                <a:latin typeface="Calibri"/>
              </a:rPr>
              <a:t>●  </a:t>
            </a:r>
            <a:r>
              <a:rPr sz="1500" b="0">
                <a:solidFill>
                  <a:srgbClr val="1F2937"/>
                </a:solidFill>
                <a:latin typeface="Calibri"/>
              </a:rPr>
              <a:t>Suvsizlanish, gemorragik yallig‘lanish</a:t>
            </a:r>
          </a:p>
          <a:p>
            <a:pPr algn="l">
              <a:spcAft>
                <a:spcPts val="700"/>
              </a:spcAft>
            </a:pPr>
            <a:r>
              <a:rPr sz="1500" b="1">
                <a:solidFill>
                  <a:srgbClr val="C9A227"/>
                </a:solidFill>
                <a:latin typeface="Calibri"/>
              </a:rPr>
              <a:t>●  </a:t>
            </a:r>
            <a:r>
              <a:rPr sz="1500" b="0">
                <a:solidFill>
                  <a:srgbClr val="1F2937"/>
                </a:solidFill>
                <a:latin typeface="Calibri"/>
              </a:rPr>
              <a:t>O‘lim 1-2-kunda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Paralitik shakl</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Katta doza yoki parenteral</a:t>
            </a:r>
          </a:p>
          <a:p>
            <a:pPr algn="l">
              <a:spcAft>
                <a:spcPts val="700"/>
              </a:spcAft>
            </a:pPr>
            <a:r>
              <a:rPr sz="1500" b="1">
                <a:solidFill>
                  <a:srgbClr val="C9A227"/>
                </a:solidFill>
                <a:latin typeface="Calibri"/>
              </a:rPr>
              <a:t>●  </a:t>
            </a:r>
            <a:r>
              <a:rPr sz="1500" b="0">
                <a:solidFill>
                  <a:srgbClr val="1F2937"/>
                </a:solidFill>
                <a:latin typeface="Calibri"/>
              </a:rPr>
              <a:t>Bosh og‘rig‘i, alahsirash, koma</a:t>
            </a:r>
          </a:p>
          <a:p>
            <a:pPr algn="l">
              <a:spcAft>
                <a:spcPts val="700"/>
              </a:spcAft>
            </a:pPr>
            <a:r>
              <a:rPr sz="1500" b="1">
                <a:solidFill>
                  <a:srgbClr val="C9A227"/>
                </a:solidFill>
                <a:latin typeface="Calibri"/>
              </a:rPr>
              <a:t>●  </a:t>
            </a:r>
            <a:r>
              <a:rPr sz="1500" b="0">
                <a:solidFill>
                  <a:srgbClr val="1F2937"/>
                </a:solidFill>
                <a:latin typeface="Calibri"/>
              </a:rPr>
              <a:t>Miya shishi, o‘zgarish minimal</a:t>
            </a:r>
          </a:p>
          <a:p>
            <a:pPr algn="l">
              <a:spcAft>
                <a:spcPts val="700"/>
              </a:spcAft>
            </a:pPr>
            <a:r>
              <a:rPr sz="1500" b="1">
                <a:solidFill>
                  <a:srgbClr val="C9A227"/>
                </a:solidFill>
                <a:latin typeface="Calibri"/>
              </a:rPr>
              <a:t>●  </a:t>
            </a:r>
            <a:r>
              <a:rPr sz="1500" b="0">
                <a:solidFill>
                  <a:srgbClr val="1F2937"/>
                </a:solidFill>
                <a:latin typeface="Calibri"/>
              </a:rPr>
              <a:t>O‘lim dastlabki soatlarda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Margimush: o‘tkir zaharlanish turlari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148, 149, 148-149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Klinika: bosh og‘rig‘i, quloqda shovqin, ko‘ngil aynishi; so‘ng hush yo‘qolishi va talvasali koma.</a:t>
            </a:r>
          </a:p>
          <a:p>
            <a:pPr>
              <a:spcAft>
                <a:spcPts val="800"/>
              </a:spcAft>
            </a:pPr>
            <a:r>
              <a:rPr sz="1800">
                <a:solidFill>
                  <a:srgbClr val="1F2937"/>
                </a:solidFill>
                <a:latin typeface="Calibri"/>
              </a:rPr>
              <a:t>▸  Murda dog‘lari, mushak, suyuq qon pushti-qizg‘ish; ichki a’zolarda to‘laqonlik, mayda qon quyilishlar.</a:t>
            </a:r>
          </a:p>
          <a:p>
            <a:pPr>
              <a:spcAft>
                <a:spcPts val="800"/>
              </a:spcAft>
            </a:pPr>
            <a:r>
              <a:rPr sz="1800">
                <a:solidFill>
                  <a:srgbClr val="1F2937"/>
                </a:solidFill>
                <a:latin typeface="Calibri"/>
              </a:rPr>
              <a:t>▸  Goppe-Zeyler, Libman sinamalari oddiy; tez o‘limda yoki toza havodan so‘ng natija manfiy bo‘lishi mumkin.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Kirish</a:t>
            </a:r>
          </a:p>
          <a:p>
            <a:pPr algn="l">
              <a:spcAft>
                <a:spcPts val="200"/>
              </a:spcAft>
            </a:pPr>
            <a:r>
              <a:rPr sz="1400" b="0">
                <a:solidFill>
                  <a:srgbClr val="1F2937"/>
                </a:solidFill>
                <a:latin typeface="Calibri"/>
              </a:rPr>
              <a:t>Nafas yo‘llari orqali kiradi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Birikish</a:t>
            </a:r>
          </a:p>
          <a:p>
            <a:pPr algn="l">
              <a:spcAft>
                <a:spcPts val="200"/>
              </a:spcAft>
            </a:pPr>
            <a:r>
              <a:rPr sz="1400" b="0">
                <a:solidFill>
                  <a:srgbClr val="1F2937"/>
                </a:solidFill>
                <a:latin typeface="Calibri"/>
              </a:rPr>
              <a:t>Gemoglobin bilan birikadi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Karboksigemoglobin</a:t>
            </a:r>
          </a:p>
          <a:p>
            <a:pPr algn="l">
              <a:spcAft>
                <a:spcPts val="200"/>
              </a:spcAft>
            </a:pPr>
            <a:r>
              <a:rPr sz="1400" b="0">
                <a:solidFill>
                  <a:srgbClr val="1F2937"/>
                </a:solidFill>
                <a:latin typeface="Calibri"/>
              </a:rPr>
              <a:t>Karboksigemoglobin hosil bo‘ladi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Buzilish</a:t>
            </a:r>
          </a:p>
          <a:p>
            <a:pPr algn="l">
              <a:spcAft>
                <a:spcPts val="200"/>
              </a:spcAft>
            </a:pPr>
            <a:r>
              <a:rPr sz="1400" b="0">
                <a:solidFill>
                  <a:srgbClr val="1F2937"/>
                </a:solidFill>
                <a:latin typeface="Calibri"/>
              </a:rPr>
              <a:t>Kislorod tashilishi buziladi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Gipoksiya</a:t>
            </a:r>
          </a:p>
          <a:p>
            <a:pPr algn="l">
              <a:spcAft>
                <a:spcPts val="200"/>
              </a:spcAft>
            </a:pPr>
            <a:r>
              <a:rPr sz="1400" b="0">
                <a:solidFill>
                  <a:srgbClr val="1F2937"/>
                </a:solidFill>
                <a:latin typeface="Calibri"/>
              </a:rPr>
              <a:t>Gemik va to‘qima gipoksiyasi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Is gazi ta’sir zanjiri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150, 151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Metgemoglobin hosil qiluvchi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Nitrit, nitrat tuzlari, nitrobenzol, anilin, bertole tuzi, gidroxinon metgemoglobin hosil qiladi; rezina, bo‘yoq, konserva ishlab chiqarishda ishlatiladi.</a:t>
            </a:r>
          </a:p>
          <a:p>
            <a:pPr>
              <a:spcAft>
                <a:spcPts val="1200"/>
              </a:spcAft>
            </a:pPr>
            <a:r>
              <a:rPr sz="2000">
                <a:solidFill>
                  <a:srgbClr val="1F2937"/>
                </a:solidFill>
                <a:latin typeface="Calibri"/>
              </a:rPr>
              <a:t>▸  Metgemoglobinda uch valentli temir (Fe3+) gidroksil bilan turg‘un bog‘langan; gemoglobin kislorod tashish qobiliyatini yo‘qotadi, gemik gipoksiya rivojlanadi.</a:t>
            </a:r>
          </a:p>
          <a:p>
            <a:pPr>
              <a:spcAft>
                <a:spcPts val="1200"/>
              </a:spcAft>
            </a:pPr>
            <a:r>
              <a:rPr sz="2000">
                <a:solidFill>
                  <a:srgbClr val="1F2937"/>
                </a:solidFill>
                <a:latin typeface="Calibri"/>
              </a:rPr>
              <a:t>▸  Yuqori konsentratsiyada eritrotsitlar chidamliligi susayib, gemoliz, anemiya, metgemoglobinuriya bo‘ladi; nitratlar ichakda nitritga aylangach ta’sir qiladi.</a:t>
            </a:r>
          </a:p>
          <a:p>
            <a:pPr>
              <a:spcAft>
                <a:spcPts val="1200"/>
              </a:spcAft>
            </a:pPr>
            <a:r>
              <a:rPr sz="2000">
                <a:solidFill>
                  <a:srgbClr val="1F2937"/>
                </a:solidFill>
                <a:latin typeface="Calibri"/>
              </a:rPr>
              <a:t>▸  Murda dog‘lari ko‘kimtir-kulrang yoki qo‘ng‘ir, qon jigarrang; nitrobenzolda achchiq bodom, anilinda aromatik hid. 1–2 kundan so‘ng topilmasligi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sianidlar, vodorod sulfid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Sian anioni (-CN) sitoxromoksidazadagi temirni bog‘laydi: qonda kislorod yetarli bo‘lsa ham to‘qima gipoksiyasi, nafas va yurak markazlari falaji rivojlanadi.</a:t>
            </a:r>
          </a:p>
          <a:p>
            <a:pPr>
              <a:spcAft>
                <a:spcPts val="1200"/>
              </a:spcAft>
            </a:pPr>
            <a:r>
              <a:rPr sz="2000">
                <a:solidFill>
                  <a:srgbClr val="1F2937"/>
                </a:solidFill>
                <a:latin typeface="Calibri"/>
              </a:rPr>
              <a:t>▸  Katta dozada hush bir daqiqada yo‘qoladi, talvasa va o‘lim bo‘ladi. Murdada achchiq bodom hidi, olcha rang dog‘lar; hid uchuvchan, tez yo‘qolishi mumkin.</a:t>
            </a:r>
          </a:p>
          <a:p>
            <a:pPr>
              <a:spcAft>
                <a:spcPts val="1200"/>
              </a:spcAft>
            </a:pPr>
            <a:r>
              <a:rPr sz="2000">
                <a:solidFill>
                  <a:srgbClr val="1F2937"/>
                </a:solidFill>
                <a:latin typeface="Calibri"/>
              </a:rPr>
              <a:t>▸  Ho‘l mevalar (o‘rik, shaftoli, olxo‘ri) danagi mag‘zidagi amigdalin ichakda sianid kislotasini hosil qiladi; yashirin davr bir necha soat.</a:t>
            </a:r>
          </a:p>
          <a:p>
            <a:pPr>
              <a:spcAft>
                <a:spcPts val="1200"/>
              </a:spcAft>
            </a:pPr>
            <a:r>
              <a:rPr sz="2000">
                <a:solidFill>
                  <a:srgbClr val="1F2937"/>
                </a:solidFill>
                <a:latin typeface="Calibri"/>
              </a:rPr>
              <a:t>▸  Vodorod sulfid ham sitoxromoksidazadagi temirni bog‘laydi; havoda 1% va undan ko‘p bo‘lsa yashinsimon shakl kuzatiladi.</a:t>
            </a:r>
          </a:p>
          <a:p>
            <a:pPr>
              <a:spcAft>
                <a:spcPts val="1200"/>
              </a:spcAft>
            </a:pPr>
            <a:r>
              <a:rPr sz="2000">
                <a:solidFill>
                  <a:srgbClr val="1F2937"/>
                </a:solidFill>
                <a:latin typeface="Calibri"/>
              </a:rPr>
              <a:t>▸  Murdada palag‘da tuxum hidi, qon va ichki a’zolar olcha rang-qizil; vodorod sulfid kanalizatsiya, shaxtada to‘planadi.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153, 154, 153-154, 154-155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fosfororganiklar va spirtlar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Fosfororganik birikmalar xolinesteraza fermentini so‘ndiradi; to‘qimalarda atsetilxolin to‘planadi.</a:t>
            </a:r>
          </a:p>
          <a:p>
            <a:pPr>
              <a:spcAft>
                <a:spcPts val="800"/>
              </a:spcAft>
            </a:pPr>
            <a:r>
              <a:rPr sz="1800">
                <a:solidFill>
                  <a:srgbClr val="1F2937"/>
                </a:solidFill>
                <a:latin typeface="Calibri"/>
              </a:rPr>
              <a:t>▸  Murdada: erta qotish, qorachiqlar torayishi, ichakda spazm o‘choqlari, shilliq pardalarda ortiqcha suyuqlik.</a:t>
            </a:r>
          </a:p>
          <a:p>
            <a:pPr>
              <a:spcAft>
                <a:spcPts val="800"/>
              </a:spcAft>
            </a:pPr>
            <a:r>
              <a:rPr sz="1800">
                <a:solidFill>
                  <a:srgbClr val="1F2937"/>
                </a:solidFill>
                <a:latin typeface="Calibri"/>
              </a:rPr>
              <a:t>▸  Etanol atsetaldegidga, keyin sirka kislotasi va suvga parchalanadi; atsetaldegid zaharli.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91639"/>
                <a:gridCol w="1691639"/>
                <a:gridCol w="1904697"/>
              </a:tblGrid>
              <a:tr h="76809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Metabolit</a:t>
                      </a:r>
                    </a:p>
                  </a:txBody>
                  <a:tcPr marL="73152" marR="73152" marT="36576" marB="36576">
                    <a:solidFill>
                      <a:srgbClr val="0B1F3A"/>
                    </a:solidFill>
                  </a:tcPr>
                </a:tc>
                <a:tc>
                  <a:txBody>
                    <a:bodyPr/>
                    <a:lstStyle/>
                    <a:p>
                      <a:r>
                        <a:rPr sz="1600" b="1">
                          <a:solidFill>
                            <a:srgbClr val="FFFFFF"/>
                          </a:solidFill>
                        </a:rPr>
                        <a:t>Zaharli ta’sir</a:t>
                      </a:r>
                    </a:p>
                  </a:txBody>
                  <a:tcPr marL="73152" marR="73152" marT="36576" marB="36576">
                    <a:solidFill>
                      <a:srgbClr val="0B1F3A"/>
                    </a:solidFill>
                  </a:tcPr>
                </a:tc>
              </a:tr>
              <a:tr h="768096">
                <a:tc>
                  <a:txBody>
                    <a:bodyPr/>
                    <a:lstStyle/>
                    <a:p>
                      <a:r>
                        <a:rPr sz="1500" b="0">
                          <a:solidFill>
                            <a:srgbClr val="1F2937"/>
                          </a:solidFill>
                        </a:rPr>
                        <a:t>Metil spirti</a:t>
                      </a:r>
                    </a:p>
                  </a:txBody>
                  <a:tcPr marL="73152" marR="73152" marT="36576" marB="36576">
                    <a:solidFill>
                      <a:srgbClr val="E8EEF6"/>
                    </a:solidFill>
                  </a:tcPr>
                </a:tc>
                <a:tc>
                  <a:txBody>
                    <a:bodyPr/>
                    <a:lstStyle/>
                    <a:p>
                      <a:r>
                        <a:rPr sz="1500" b="0">
                          <a:solidFill>
                            <a:srgbClr val="1F2937"/>
                          </a:solidFill>
                        </a:rPr>
                        <a:t>Formaldegid</a:t>
                      </a:r>
                    </a:p>
                  </a:txBody>
                  <a:tcPr marL="73152" marR="73152" marT="36576" marB="36576">
                    <a:solidFill>
                      <a:srgbClr val="E8EEF6"/>
                    </a:solidFill>
                  </a:tcPr>
                </a:tc>
                <a:tc>
                  <a:txBody>
                    <a:bodyPr/>
                    <a:lstStyle/>
                    <a:p>
                      <a:r>
                        <a:rPr sz="1500" b="0">
                          <a:solidFill>
                            <a:srgbClr val="1F2937"/>
                          </a:solidFill>
                        </a:rPr>
                        <a:t>Kardio-, nefro-, neyrotoksik</a:t>
                      </a:r>
                    </a:p>
                  </a:txBody>
                  <a:tcPr marL="73152" marR="73152" marT="36576" marB="36576">
                    <a:solidFill>
                      <a:srgbClr val="E8EEF6"/>
                    </a:solidFill>
                  </a:tcPr>
                </a:tc>
              </a:tr>
              <a:tr h="768096">
                <a:tc>
                  <a:txBody>
                    <a:bodyPr/>
                    <a:lstStyle/>
                    <a:p>
                      <a:r>
                        <a:rPr sz="1500" b="0">
                          <a:solidFill>
                            <a:srgbClr val="1F2937"/>
                          </a:solidFill>
                        </a:rPr>
                        <a:t>Etil spirti</a:t>
                      </a:r>
                    </a:p>
                  </a:txBody>
                  <a:tcPr marL="73152" marR="73152" marT="36576" marB="36576">
                    <a:solidFill>
                      <a:srgbClr val="FFFFFF"/>
                    </a:solidFill>
                  </a:tcPr>
                </a:tc>
                <a:tc>
                  <a:txBody>
                    <a:bodyPr/>
                    <a:lstStyle/>
                    <a:p>
                      <a:r>
                        <a:rPr sz="1500" b="0">
                          <a:solidFill>
                            <a:srgbClr val="1F2937"/>
                          </a:solidFill>
                        </a:rPr>
                        <a:t>Atsetaldegid</a:t>
                      </a:r>
                    </a:p>
                  </a:txBody>
                  <a:tcPr marL="73152" marR="73152" marT="36576" marB="36576">
                    <a:solidFill>
                      <a:srgbClr val="FFFFFF"/>
                    </a:solidFill>
                  </a:tcPr>
                </a:tc>
                <a:tc>
                  <a:txBody>
                    <a:bodyPr/>
                    <a:lstStyle/>
                    <a:p>
                      <a:r>
                        <a:rPr sz="1500" b="0">
                          <a:solidFill>
                            <a:srgbClr val="1F2937"/>
                          </a:solidFill>
                        </a:rPr>
                        <a:t>Yoqimsiz sezgi, nerv tizimi buzilishi</a:t>
                      </a:r>
                    </a:p>
                  </a:txBody>
                  <a:tcPr marL="73152" marR="73152" marT="36576" marB="36576">
                    <a:solidFill>
                      <a:srgbClr val="FFFFFF"/>
                    </a:solidFill>
                  </a:tcPr>
                </a:tc>
              </a:tr>
              <a:tr h="768096">
                <a:tc>
                  <a:txBody>
                    <a:bodyPr/>
                    <a:lstStyle/>
                    <a:p>
                      <a:r>
                        <a:rPr sz="1500" b="0">
                          <a:solidFill>
                            <a:srgbClr val="1F2937"/>
                          </a:solidFill>
                        </a:rPr>
                        <a:t>Etilenglikol</a:t>
                      </a:r>
                    </a:p>
                  </a:txBody>
                  <a:tcPr marL="73152" marR="73152" marT="36576" marB="36576">
                    <a:solidFill>
                      <a:srgbClr val="E8EEF6"/>
                    </a:solidFill>
                  </a:tcPr>
                </a:tc>
                <a:tc>
                  <a:txBody>
                    <a:bodyPr/>
                    <a:lstStyle/>
                    <a:p>
                      <a:r>
                        <a:rPr sz="1500" b="0">
                          <a:solidFill>
                            <a:srgbClr val="1F2937"/>
                          </a:solidFill>
                        </a:rPr>
                        <a:t>Oksalat kislotasi</a:t>
                      </a:r>
                    </a:p>
                  </a:txBody>
                  <a:tcPr marL="73152" marR="73152" marT="36576" marB="36576">
                    <a:solidFill>
                      <a:srgbClr val="E8EEF6"/>
                    </a:solidFill>
                  </a:tcPr>
                </a:tc>
                <a:tc>
                  <a:txBody>
                    <a:bodyPr/>
                    <a:lstStyle/>
                    <a:p>
                      <a:r>
                        <a:rPr sz="1500" b="0">
                          <a:solidFill>
                            <a:srgbClr val="1F2937"/>
                          </a:solidFill>
                        </a:rPr>
                        <a:t>Jigar va buyrakni zaharlaydi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Spirtlar metabolizmi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155; Iskandarov A.I., Qo‘ldoshev D.R., Sud tibbiyoti, betlar: 315, 318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funksional zahar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3 yoshli qizcha yiqilgandan so‘ng xushsiz, tanasi talvasada, og‘zidan ko‘pik va qon kelgan; ichki qon ketishiga shubha qilingan.</a:t>
            </a:r>
          </a:p>
          <a:p>
            <a:pPr>
              <a:spcAft>
                <a:spcPts val="1200"/>
              </a:spcAft>
            </a:pPr>
            <a:r>
              <a:rPr sz="2200">
                <a:solidFill>
                  <a:srgbClr val="1F2937"/>
                </a:solidFill>
                <a:latin typeface="Calibri"/>
              </a:rPr>
              <a:t>▸  Kalla suyagi ochilganda qon topilmadi, qizcha vafot etdi; murdada miya bo‘kishi va yumshoq parda to‘laqonligi aniqlandi.</a:t>
            </a:r>
          </a:p>
          <a:p>
            <a:pPr>
              <a:spcAft>
                <a:spcPts val="1200"/>
              </a:spcAft>
            </a:pPr>
            <a:r>
              <a:rPr sz="2200">
                <a:solidFill>
                  <a:srgbClr val="1F2937"/>
                </a:solidFill>
                <a:latin typeface="Calibri"/>
              </a:rPr>
              <a:t>▸  Sud-kimyoviy tekshiruvda oshqozon va ichki a’zolarda piramidon topildi; qizcha yiqilishdan oldin 10 tabletka ichgani ma’lum bo‘ldi.</a:t>
            </a:r>
          </a:p>
          <a:p>
            <a:pPr>
              <a:spcAft>
                <a:spcPts val="1200"/>
              </a:spcAft>
            </a:pPr>
            <a:r>
              <a:rPr sz="2200">
                <a:solidFill>
                  <a:srgbClr val="1F2937"/>
                </a:solidFill>
                <a:latin typeface="Calibri"/>
              </a:rPr>
              <a:t>▸  Savol: bitta klinik belgiga tayanib tashxis qo‘yish nega xavfli? Tashxisni qaysi uch manba aniqlashtiradi?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294; G‘iyosov Z.A., Sud tibbiyoti: darslik, betlar: 153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Detoksikatsiya va kimyo-toksikologik tahlil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Qonda spirtga tekshiruv uchun teri etanol bilan artilmaydi; sutkadan ortiq xona haroratida saqlansa, qonda 1‰ gacha etanol hosil bo‘ladi.</a:t>
            </a:r>
          </a:p>
          <a:p>
            <a:pPr>
              <a:spcAft>
                <a:spcPts val="1200"/>
              </a:spcAft>
            </a:pPr>
            <a:r>
              <a:rPr sz="2200">
                <a:solidFill>
                  <a:srgbClr val="1F2937"/>
                </a:solidFill>
                <a:latin typeface="Calibri"/>
              </a:rPr>
              <a:t>▸  Detoksikatsiya – zaharni zararsizlantirish va chiqarishni tezlatish: qusdirish, oshqozon yuvish, forsirlangan diurez, dializ, antidot.</a:t>
            </a:r>
          </a:p>
          <a:p>
            <a:pPr>
              <a:spcAft>
                <a:spcPts val="1200"/>
              </a:spcAft>
            </a:pPr>
            <a:r>
              <a:rPr sz="2200">
                <a:solidFill>
                  <a:srgbClr val="1F2937"/>
                </a:solidFill>
                <a:latin typeface="Calibri"/>
              </a:rPr>
              <a:t>▸  Diqqat: kuchli kislota yoki ishqor ichilganda qusdirish nomaqbul; qizilo‘ngach shikasti kuchayadi, nafas yo‘llari kuyishi mumkin.</a:t>
            </a:r>
          </a:p>
          <a:p>
            <a:pPr>
              <a:spcAft>
                <a:spcPts val="1200"/>
              </a:spcAft>
            </a:pPr>
            <a:r>
              <a:rPr sz="2200">
                <a:solidFill>
                  <a:srgbClr val="1F2937"/>
                </a:solidFill>
                <a:latin typeface="Calibri"/>
              </a:rPr>
              <a:t>▸  Zahar ma’lum bo‘lsa, ob’ekt «uch nuqta» qoidasi bilan olinadi: zahar kirgan, ta’sir etgan va chiqqan joydan (oshqozon massasi, jigar, buyrak).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Baizoldanov T. (Байзолданов Т.)., Токсикологическая химия: учебник, betlar: 124, 83, 84; G‘iyosov Z.A., Sud tibbiyoti: darslik, betlar: 136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Zaharlar asosan mahalliy (o‘yuvchi) va asosan umumiy (rezorbtiv) ta’sir etuvchilarga bo‘linadi; umumiylari: destruktiv, qon va funksional zaharlar.</a:t>
            </a:r>
          </a:p>
          <a:p>
            <a:pPr>
              <a:spcAft>
                <a:spcPts val="1200"/>
              </a:spcAft>
            </a:pPr>
            <a:r>
              <a:rPr sz="2000">
                <a:solidFill>
                  <a:srgbClr val="1F2937"/>
                </a:solidFill>
                <a:latin typeface="Calibri"/>
              </a:rPr>
              <a:t>▸  Diagnostika uch bosqichda: hodisa joyi va tibbiy hujjatlar, murda tekshiruvi, laboratoriya tekshiruvlari; uchalasi birgalikda xulosani asoslaydi.</a:t>
            </a:r>
          </a:p>
          <a:p>
            <a:pPr>
              <a:spcAft>
                <a:spcPts val="1200"/>
              </a:spcAft>
            </a:pPr>
            <a:r>
              <a:rPr sz="2000">
                <a:solidFill>
                  <a:srgbClr val="1F2937"/>
                </a:solidFill>
                <a:latin typeface="Calibri"/>
              </a:rPr>
              <a:t>▸  Zahar ma’lum bo‘lsa, namuna «uch nuqta» qoidasi bilan olinadi: zahar kirgan, asosan ta’sir etgan va chiqqan joylardan; noma’lum bo‘lsa ro‘yxat kengroq.</a:t>
            </a:r>
          </a:p>
          <a:p>
            <a:pPr>
              <a:spcAft>
                <a:spcPts val="1200"/>
              </a:spcAft>
            </a:pPr>
            <a:r>
              <a:rPr sz="2000">
                <a:solidFill>
                  <a:srgbClr val="1F2937"/>
                </a:solidFill>
                <a:latin typeface="Calibri"/>
              </a:rPr>
              <a:t>▸  Diqqat: sud-kimyoviy natija o‘zi isbot emas — musbat natija tashqaridan o‘tgan zahardan, manfiysi zahar chiqib ketgani yoki parchalanganidan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138-139, 135-136, 136; Харин Г.М. (Kharin G.M.)., Краткий курс судебной медицины: учебное пособие, betlar: 131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 “uch nuqta” qoidasi. Zaharli modda ma‘lum bo‘lsa, namuna uch joydan olinadi: zahar kirgan, asosan ta‘sir etgan va organizmdan chiqqan joy. Masalan, og‘iz orqali kirgan zahar jigarga ta‘sir etib siydik bilan chiqsa, oshqozon massasi, jigar bo‘lagi va butun buyrak siydik bilan olinadi.</a:t>
            </a:r>
          </a:p>
          <a:p>
            <a:pPr>
              <a:spcAft>
                <a:spcPts val="1200"/>
              </a:spcAft>
            </a:pPr>
            <a:r>
              <a:rPr sz="1800">
                <a:solidFill>
                  <a:srgbClr val="1F2937"/>
                </a:solidFill>
                <a:latin typeface="Calibri"/>
              </a:rPr>
              <a:t>▸  Qiziqarli hodisa — Rasputin voqeasi. Manbada yozilishicha, 1916 yil dekabrida dushmanlari uni kaliy sianidi bilan zaharlamoqchi bo‘ladi. U zaharlanmaydi. Sababi: kaliy sianidi uzoq saqlanib CO2 bilan birikadi va potash (K2CO3) ga aylanib, zaharlilik xususiyatini yo‘qotgan. Xulosa: zaharning saqlanish muddati va sharoiti uning ta‘sirini o‘zgartiradi.</a:t>
            </a:r>
          </a:p>
          <a:p>
            <a:pPr>
              <a:spcAft>
                <a:spcPts val="1200"/>
              </a:spcAft>
            </a:pPr>
            <a:r>
              <a:rPr sz="1800">
                <a:solidFill>
                  <a:srgbClr val="1F2937"/>
                </a:solidFill>
                <a:latin typeface="Calibri"/>
              </a:rPr>
              <a:t>▸  Hodisa tahlili — bitta klinik belgi aldaydi. 3 yoshli qizcha yiqilgandan keyin xushsiz, talvasa va og‘zidan ko‘pik hamda qon kelgan holda keltiriladi. Ichki qon ketishiga shubha qilinadi, kalla suyagi ochiladi, lekin qon topilmaydi. Sud-kimyoviy tekshiruvda ichki organlarda piramidon aniqlanadi: qizcha yiqilishdan oldin 10 tabletka ichgan. Savol: bu holatda qaysi ma‘lumotlar zaharlanishga shubha uyg‘otishi kerak edi?</a:t>
            </a:r>
          </a:p>
          <a:p>
            <a:pPr>
              <a:spcAft>
                <a:spcPts val="1200"/>
              </a:spcAft>
            </a:pPr>
            <a:r>
              <a:rPr sz="1800">
                <a:solidFill>
                  <a:srgbClr val="1F2937"/>
                </a:solidFill>
                <a:latin typeface="Calibri"/>
              </a:rPr>
              <a:t>▸  Eslab qolish usuli — murda dog‘lari rangi. Is gazi: pushti. Sianid kislotasi yoki tuzlari: yorqin olcha rang. Metgemoglobin hosil qiluvchi moddalar: jigar rang, qo‘ng‘ir. Gemoliz chaqiruvchi moddalar: sargish. Bu belgi zaharni taxmin qilishga yordam beradi, lekin laboratoriya tekshiruvi bilan tasdiqlanadi.</a:t>
            </a:r>
          </a:p>
          <a:p>
            <a:pPr>
              <a:spcAft>
                <a:spcPts val="1200"/>
              </a:spcAft>
            </a:pPr>
            <a:r>
              <a:rPr sz="1800">
                <a:solidFill>
                  <a:srgbClr val="1F2937"/>
                </a:solidFill>
                <a:latin typeface="Calibri"/>
              </a:rPr>
              <a:t>▸  Qiziqarli fakt — soch zaharni “eslab qoladi”. Soch kreatininsiz biologik namuna sifatida olish oson, dori va narkotik moddalar unda metabolizmga uchramaydi. Manbada keltirilishicha, ingliz bo‘lmagan shoir Jon Kits sochida opiatlar o‘limidan 167 yil keyin topilgan; stanozolol esa siydikda yo‘qolgan bo‘lsa ham, sochda bir yildan keyin ham aniqlangan.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№3. Ma’ruza: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1600">
                <a:solidFill>
                  <a:srgbClr val="1F2937"/>
                </a:solidFill>
                <a:latin typeface="Calibri"/>
              </a:rPr>
              <a:t>▸  G‘iyosov Z.A. Sud tibbiyoti: darslik, Toshkent: Global Books nashriyoti. 2018. Bob 6. Sud-tibbiy toksikologiya</a:t>
            </a:r>
          </a:p>
          <a:p>
            <a:pPr>
              <a:spcAft>
                <a:spcPts val="800"/>
              </a:spcAft>
            </a:pPr>
            <a:r>
              <a:rPr sz="1600">
                <a:solidFill>
                  <a:srgbClr val="1F2937"/>
                </a:solidFill>
                <a:latin typeface="Calibri"/>
              </a:rPr>
              <a:t>▸  Baizoldanov T. (Байзолданов Т.). Токсикологическая химия: учебник, Almaty: Evero, 2021 (new.krmu.edu.kz ochiq repozitoriy; litsenziya ko‘rsatilmagan — faqat ichki foydalanish). 2021. 1-qism, 3-bob: zaharlanishlar tasnifi va toksikokinetika, s.53-119; 1-qism, 4-bob: kimyoviy-toksikologik tahlil metodologiyasi, s.120-151</a:t>
            </a:r>
          </a:p>
          <a:p>
            <a:pPr>
              <a:spcAft>
                <a:spcPts val="800"/>
              </a:spcAft>
            </a:pPr>
            <a:r>
              <a:rPr sz="1600">
                <a:solidFill>
                  <a:srgbClr val="1F2937"/>
                </a:solidFill>
                <a:latin typeface="Calibri"/>
              </a:rPr>
              <a:t>▸  Iskandarov A.I., Qo‘ldoshev D.R. Sud tibbiyoti (tibbiyot instituti talabalari uchun), Toshkent. XIII-bob. Sud-tibbiy toksikologiya; bet 284-350</a:t>
            </a:r>
          </a:p>
          <a:p>
            <a:pPr>
              <a:spcAft>
                <a:spcPts val="800"/>
              </a:spcAft>
            </a:pPr>
            <a:r>
              <a:rPr sz="1600">
                <a:solidFill>
                  <a:srgbClr val="1F2937"/>
                </a:solidFill>
                <a:latin typeface="Calibri"/>
              </a:rPr>
              <a:t>▸  Ромодановский П.О., Баринов Е.Х. Судебная медицина в схемах и рисунках: учебное пособие, М.: Проспект. 2017. 5-modul. Zaharlovchi moddalar ta’siridan jarohat va o‘lim; bet 375-407</a:t>
            </a:r>
          </a:p>
          <a:p>
            <a:pPr>
              <a:spcAft>
                <a:spcPts val="800"/>
              </a:spcAft>
            </a:pPr>
            <a:r>
              <a:rPr sz="1600">
                <a:solidFill>
                  <a:srgbClr val="1F2937"/>
                </a:solidFill>
                <a:latin typeface="Calibri"/>
              </a:rPr>
              <a:t>▸  Харин Г.М. (Kharin G.M.). Краткий курс судебной медицины: учебное пособие, М.: ГЭОТАР-Медиа. 2006. VI bo‘lim, 15-bob. Zaharlar va zaharlanishlar haqida umumiy ma’lumot; test nazorati; bet 129-138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