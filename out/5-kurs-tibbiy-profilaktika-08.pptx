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nima uchun tibbiy profilaktika mutaxassisi zaharlanishlarni bilishi kerak? Zaharlanishlar zo‘raki o‘lim tarkibida nechanchi o‘rinda? Doskada ma’ruza rejasini 4-5 qatorda yozdiring. Tipik xato: talabalar zaharlanishni faqat qotillik bilan bog‘laydi, holbuki u baxtsiz hodisa yoki o‘z-o‘zini o‘ldirish ham bo‘lishi mumkin.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nega osh tuzi yoki dori ham ma’lum sharoitda zahar bo‘la oladi? Paratsels iborasini o‘z so‘zingiz bilan tushuntiring. Doskada ‘doza → dori yoki zahar’ chiziqli sxemasini chizdiring. Tipik xato: ‘zahar’ moddaning o‘zgarmas xususiyati deb o‘ylash. Diqqat: zahar ≠ doim zaharli modda, hal qiluvchisi doza va sharoit.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sud-tibbiy toksikologiya boshqa yo‘nalishlardan nimasi bilan farq qiladi? Huquqni muhofaza idoralari qanday savollar qo‘yishi mumkin? Doskada ikki ustunli solishtirish jadvalini chizdiring. Tipik xato: sud-tibbiy toksikologiyani zaharlanganlarni davolash bilan adashtirish.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Nima uchun amaliyotda baxtsiz hodisa eng ko‘p uchraydi? 2) Yatrogen zaharlanish qaysi guruhga kiradi: qasddanmi yoki tasodifiy? Doskada jadvalni 3 mezon bo‘yicha chizdiring. Tipik xato: yatrogen zaharlanishni qasddan sodir etilgan deb hisoblash; u tibbiy xato oqibatida tasodifan yuz beradi.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Savollarni og‘zaki, talabalarni navbat bilan so‘rab o‘tkazing. Muhokama: nima uchun “zahar” tushunchasi nisbiy hisoblanadi? Doskada Paratsels iborasini yozdirib, misol keltirtiring. Tipik xato: zaharni doimiy mutlaq xususiyat deb tushunish.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Birinchi voqeada qasd belgilari bormi yoki zahar tasodifan ichilganmi? 2) Ikkinchi voqea nima uchun jinoiy qasd bilan bog‘liq, lekin o‘limga olib kelmagan? Doskada ikki ustunli “qasddan / tasodifan” jadvali chizdiring. Tipik xato: zaharlanish bo‘lgan zahoti uni qotillik deb baholash; avval qasd mavjudligi aniqlanadi.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bir xil zahar turli odamga turlicha ta’sir qiladi? 2) Qaysi omillarni ekspert hodisa joyida baholay oladi? Doskada chizish: to‘rt kvadratni markaziy ‘Zaharlanish’ atrofida joylashtiring va har biriga 2 ta misol yozing. Tipik xato: talabalar tashqi sharoitni barcha zaharlarga birdek ta’sir qiladi deb o‘ylaydi, aslida u faqat ayrim moddalarda muhim.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Vehikulum nima va u ekspertiza uchun nimani anglatadi? 2) Kumulyatsiya surunkali zaharlanishda qanday rol o‘ynaydi? Doskada chizish: ‘modda → vehikulum → ta’sir kuchayadi/susayadi’ sxemasini margimush va sianid uchun chizing. Tipik xato: ‘vehikulum’ va ‘vaznga to‘g‘ri keladigan doza’ tushunchalarini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Voqea tahlili: 1916-yil dekabrida Rasputinga kaliy sianidli pishiriq berilgan, u ichib-yeb o‘zini yaxshi his qilgan. Savol: nega zahar ishlamadi? Muhokama: saqlash sharoiti ekspertiza natijasiga qanday ta’sir qiladi? Doskada chizish: jadvalni ko‘chirib, eruvchan va erimaydigan juftliklarni rangli chiziq bilan ajrating. Tipik xato: erimaydigan moddani doim zararsiz deb hisoblash; kalomel ichakda katta dozada to‘planib qolsa, zaharlanish chaqirishi mumkin.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Nima uchun bolalar zaharga sezgirroq? 2) Jigar yoki buyrak kasalligi zaharlanish xavfini qanday o‘zgartiradi? Doskada chizish: «zahar — organizm» sxemasi, yon tomonda vazn, yosh, salomatlik, genetika omillari. Tipik xato: idiosinkraziyani oddiy toksik dozaga bog‘lash; u genetik xususiyat bilan tushuntiriladi.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Tolerantlik va abstinensiya qanday bog‘liq? 2) Nima uchun narkomaniya va toksikomaniya farqlanadi? Doskada chizish: narkotikning uch mezoni (tibbiy, ijtimoiy, huquqiy) uchburchagi. Tipik xato: har qanday bog‘lanish keltiradigan moddani narkotik deb hisoblash; huquqiy ro‘yxatga kiritilganlik shart.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Nima uchun nafas yo‘llaridan so‘rilgan modda oshqozondan so‘rilganidan kuchliroq? 2) Qaysi sharoitda is gazidan zaharlanish xavfi oshadi? Doskada chizish: zahar yo‘llari va jigar «filtri» sxemasi. Tipik xato: barcha yo‘llarni bir xil kuchda deb o‘ylash; jigardan o‘tish zaharni kamaytiradi.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Talabalar savollarga avval yozma, so‘ng og‘zaki javob beradi. Muhokama: 1) Zaharli modda omillari bilan organizm omillarini qanday farqlaysiz? 2) Nega kirish yo‘li toksik kuchni o‘zgartiradi? Doskada: 4 ustunli emas, 4 ta doira chizing (modda, organizm, kirish yo‘li, tashqi muhit) va har biriga bittadan misol yozing. Tipik xato: kimyoviy tuzilishi o‘xshash moddalar toksikligi ham bir xil deb o‘ylash.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Talabalar uch misolni (bola, fenol, fosfororganik birikma) guruhlarda tahlil qiladi. Muhokama: 1) Fenol konsentratsiyasi ta’sir turini qanday o‘zgartiradi? 2) Qaysi omillar (yosh, vazn, kirish yo‘li) bu holatlarda hal qiluvchi? Doskada: har misol uchun «omil → natija» strelkasini chizing. Tipik xato: konsentrlangan fenol kuchliroq rezorbtiv zahar deb o‘ylash; aslida u asosan mahalliy ta’sir qiladi.</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1) Nima uchun funksional zaharlarda tibbiy hujjatlar muhim dalil bo‘ladi? 2) «Uch nuqta» qoidasi nimani anglatadi? Doskada: 3 bosqichli zanjirni chizib, har bosqich ostiga 2 ta misol yozing. Tipik xato: laboratoriyada zahar topilishini yagona isbot deb hisoblash; ekspert barcha ma’lumotlarni (joy, klinika, murda, laboratoriya) birga baholaydi.</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6-7 daq. Muhokama: 1) Nega bo‘sh idish ham tekshiruvga olinadi? 2) Qusish qaysi holatlarda zaharlanishdan boshqa sabab bo‘lishi mumkin? Doskada: voqea joyidan olinadigan ob’ektlar ro‘yxatini chizdiring. Tipik xato: talaba bitta klinik belgini (qusish, alkogol hidi) yetarli tashxis deb hisoblaydi. Piramidon va epidural gematoma misollarini eslating.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zaharlanishga shubhada kesish tartibi oddiy kesishdan farq qiladi? 2) Murda dog‘lari rangi qaysi zaharlarni ko‘rsatadi? Doskada: jadvaldagi belgi–zahar juftliklarini va kesish ketma-ketligini (yurak, qon, oshqozon, ichak) chizdiring. Tipik xato: belgini yagona isbot deb hisoblash; ko‘pgina zaharlar o‘ziga xos o‘zgarish qoldirmaydi. Eslatma: ayrim zaharlanishda (masalan, oq qalpoqchali zamburug‘) mushak qotishi umuman kuzatilmasligi mumkin.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“Uch nuqta” qoidasini og‘iz orqali kirgan zahar misolida tushuntiring. 2) Nega qon har bir ob’ektdan alohida idishda olinadi va fiksator ishlatilmaydi? Doskada: noma’lum zahar uchun ob’ektlar ro‘yxatini va ulushlarini (1/3, 1/4, 1/3) yozdiring. Tipik xato: sud-kimyoviy natijani yagona va yakuniy isbot deb qabul qilish; xulosa barcha ma’lumotlar yig‘indisiga asoslanadi. Tezkor savol: laboratoriya natijasi manfiy bo‘lsa, zaharlanish yo‘q degan xulosa to‘g‘rimi?</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Nima uchun tuproqdan va tobut qoplamasidan nazorat namunasi olinadi? 2) Salbiy sud-kimyoviy natija qachon zaharlanishni inkor etmaydi? Doskada: ikki ustunli ro‘yxat chizing: “saqlanadigan” va “saqlanmaydigan” zaharlar. Tipik xato: talabalar topilgan zaharni avtomatik ravishda o‘lim sababi deb hisoblaydi.</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Birinchi misolda qaysi ma’lumotlar vrachni noto‘g‘ri yo‘lga solgan? 2) Ikkinchi misolda ichki qon ketishga shubha nimaga asoslangan? Doskada: “belgi → mumkin bo‘lgan sabablar” ko‘rinishidagi uch tarmoqli sxema chizing (qusish → zaharlanish / bosh jarohati / o‘sma). Tipik xato: bitta klinik belgiga qarab tashxis qo‘yish.</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Nima uchun metabolit ba’zan ona moddadan xavfliroq? 2) Sirka kislotasida birlamchi, keyingi va metatoksik ta’sirni ketma-ket sanang. Doskada: kirish → taqsimlanish → biotransformatsiya → chiqarilish zanjirini chizing. Tipik xato: toksikokinetika (organizm zaharga nima qiladi) va toksikodinamika (zahar organizmga nima qiladi) tushunchalarini almashtirib yuborish.</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sud-kimyoviy tekshiruvga chiqish va to‘planish joylarini bilish kerak? 2) Nima uchun simob va margimush murdada uzoq saqlanadi? Doskada: ikki ustunli ro‘yxat chizdiring: «qayerdan chiqadi» va «qayerda to‘planadi». Tipik xato: chiqish yo‘lini to‘planish joyi bilan aralashtirish, masalan, buyrak orqali chiqadigan zahar faqat buyrakda to‘planadi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Nima uchun o‘yuvchi zaharlar mahalliy, simob esa umumiy guruhga kiradi? 2) Funksional zaharlarda nega aniq morfologik o‘zgarish kam bo‘ladi? Doskada: tasnif daraxtini chizdiring: zahar → mahalliy / umumiy → destruktiv, qon, funksional. Tipik xato: simob va margimushni mahalliy zahar deb hisoblash. Ular umumiy (rezorbtiv) destruktiv zaharlar.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Talabalar avval savollarga javob beradi, so‘ng javob bandini oching. Muhokama: 1) Nima uchun guruhlar «asosan» so‘zi bilan ajratilgan? 2) Sianidning qaysi xususiyati uni funksional guruhga kiritadi? Doskada: 2x2 jadval chizdiring (mahalliy/umumiy va ularga misollar). Tipik xato: tasnifni faqat ta’sir joyiga qarab tuzish, ta’sir mexanizmini hisobga olmaslik.</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Nima uchun kislotada quruq nekroz hosil bo‘ladi? 2) Dastlabki soatlar va kech muddat o‘lim sabablari qanday farqlanadi? Doskada: vodorod ioni → suvsizlanish → oqsil ivishi → koagulyasion nekroz zanjirini chizing. Diqqat, xato xavfi: koagulyasion (quruq) nekroz ≠ kollikvatsion (nam) nekroz; birinchisi kislotaga, ikkinchisi ishqorga xos. Eslatma: Iskandarov-Qo‘ldoshev darsligida letal dozalar boshqacha berilgan (xlorid 10–15 ml, sirka 15–20 ml, 301-bet). Talabalarga manbalar o‘rtasidagi farqni ayting.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1) Nitrat kislotada sarg‘ish rang nima bilan bog‘liq (ksantoprotein reaksiyasi)? 2) Nima uchun xlorid va sirka kislotalarda hiqildoq va o‘pka shishi ko‘proq? Doskada: jadvalni daftarga ko‘chirtiring, har qatorga bittadan xos belgi qo‘shtiring. Diqqat, xato xavfi: sirka kislotasi faqat mahalliy kuydirmaydi, u gemoliz va buyrak zararini ham chaqiradi. Nitrat kislotada rang konsentratsiyaga bog‘liq: 30% dan past bo‘lsa qo‘ng‘ir-kul. Sirka kislotasi strupining ranggi Xarin darsligida (130-bet)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Jadval ma’lumoti G‘iyosov darsligining 144–145-betlaridan (formalin, kaliy permanganat, vodorod peroksid, yod). Muhokama: 1) Nima uchun ishqorda strup yumshoq, kislotada quruq? 2) Vodorod peroksidda shilliq qavat nega ko‘piklanadi (gaz pufaklari)? Doskada: kislota va ishqorni ikki ustunli jadvalda qiyoslang (ion, nekroz turi, strup konsistensiyasi). Diqqat, xato xavfi: formalinda shilliq qavat o‘zgarmaganday ko‘rinadi, chunki u fiksatsiyalangan; bu belgini o‘zgarish yo‘q deb talqin qilmang.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savollari: 1) Qaysi belgilarga qarab kislota va ishqorni ajratasiz? 2) Nega o‘yuvchi zaharda qusuqdan oshqozonni yuvish haqida ehtiyot bo‘lish kerak? Doskada: ikki ustunli ‘kislota | ishqor’ jadvali (nekroz turi, strup, to‘qima holati). Tipik xato: ikkala nekroz turini ‘quruq’ deb aralashtirish; ishqorda nekroz nam (kollikvatsion) ekanini unutish.</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savollari: 1) Nega sof simob ichilganda zaharlamaydi, bug‘i esa xavfli? 2) Anorganik simob va qo‘rg‘oshin zaharlanishida qaysi a’zolar ko‘proq shikastlanadi? Doskada: ‘sulema – ichak – buyrak’ zanjirini chizing. Tipik xato: organik simobda stomatit va kuchli buyrak shikastlanishini kutish; aslida neyrotoksik ta’sir ustun.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savollari: 1) Nega paralitik turda murdada o‘zgarish minimal bo‘ladi? 2) Soch va tirnoq tekshiruvi nega muhim? Doskada: ikki turni solishtiruvchi jadvalni talabalar bilan to‘ldiring. Tipik xato: paralitik turda ham hazm trakti belgilari kuchli deb o‘ylash; aslida ular kuchsiz yoki umuman bo‘lmaydi.</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1) Nega is gazi rang va hidga ega bo‘lmagani uchun xavfli? 2) Qon namunasi nima uchun imkon qadar erta olinishi kerak? Doskada: yuqoridagi zanjirni chizing va yoniga murda belgilarini yozing. Eslatma: dastlabki belgilar karboksigemoglobin 25–30% dan oshganda, 60% dan oshganda nafas markazi falajidan o‘lim; yashinsimon shakl havoda 1% dan ortiq gazda. Dastlabki sinamalarda normal qon qo‘ng‘ir-qora tusga kiradi, karboksigemoglobinli qon rangi o‘zgarmaydi. Diqqat: manfiy tahlil zaharlanish yo‘q degani emas. Tipik xato: murdadagi pushti rangni sovuq ta’siri bilan adashtirish yoki manfiy natijani rad etish deb talqin qilish.</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Gemoglobin va metgemoglobin farqi nimada (Fe2+ va Fe3+)? 2) Nima uchun kech tushgan bemorda qonda metgemoglobin topilmasligi mumkin? Doskada: gemoglobin → metgemoglobin o‘zgarishini temir valentligi bilan chizing. Eslatma: dastlabki belgilar metgemoglobin 30% dan oshganda, 70% dan oshganda o‘lim. Tipik xato: achchiq bodom hidini faqat sianidga xos deb hisoblash (nitrobenzolda ham bor) va nitratni nitritdek kuchli zahar deb o‘ylash. Aniqlashda spektrofotometrik va gaz-xromatografik usullar ishlatiladi.</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1) Sianid va vodorod sulfid ta’sir mexanizmi qanday o‘xshash? 2) Nima uchun hodisa joyidagi havo tarkibini o‘rganish muhim? Doskada: hujayra nafas zanjirini chizib, sitoxromoksidaza blokadasi joyini belgilang. Eslatma: sianidda metgemoglobin hosil qiluvchi moddalar antidot sifatida ishlatilishi mumkin (sian anionlarini sitoxromlardan ajratadi). Diqqat: nordon muhitda sianid ta’siri kuchayadi, ishqoriy muhitda susayadi. Tipik xato: achchiq bodom hidi yo‘q bo‘lsa sianidni rad etish; hid tez yo‘qolishi mumkin. Tashxisda sud-kimyoviy tekshiruv hal qiluvchi.</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12 daqiqa. Jadval manbalari: G‘iyosov Z.A. 137-138 (metanol, etilenglikol) va Iskandarov A.I. 318 (etanol). Muhokama: 1) Nega metanol dastlab narkotik, keyin organlarni zaharlovchi ta’sir ko‘rsatadi? 2) Fosfororganik zaharlanishda murdada qaysi belgilar tashxisga yo‘l ko‘rsatadi? Doskada chizing: fosfororganik birikma → xolinesteraza pasayishi → atsetilxolin yig‘ilishi → xolinergik tizim qo‘zg‘alishi. Tipik xato: metabolitlarni aralashtirish (metanol – formaldegid, etanol – atsetaldegid, etilenglikol – oksalat kislotasi). Diqqat: metabolit zaharliligi asl moddadan kuchli bo‘lishi mumkin.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Javob: voqea tafsiloti, zaharlanish klinikasi va toksikologik (laboratoriya) tekshiruvlari. Muhokama: 1) Nima uchun dastlab ichki qon ketish va jarohat deb o‘ylashgan? 2) Funksional zaharlarda murdada aniq morfologik belgi bo‘lmasa, nimaga tayaniladi? Doskada chizing: tashxis uchburchagi (voqea – klinika – laboratoriya). Tipik xato: sud-kimyoviy natijani yagona dalil deb olish. Izoh: kitobda piramidon funksional zahar guruhiga kiritilmagan; misol o‘ziga xos morfologik belgisiz zaharlanishni aniqlash qiyinligini ko‘rsatish uchun olingan.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daqiqa. Qo‘shimcha: kimyogar-toksikolog detoksikatsiyada olingan qusuq, siydik va dializatni ham tekshiradi (Baizoldanov T., 84). Muhokama: 1) Spirt tahlili uchun namuna olishda qanday xato soxta musbat natija beradi? 2) Nega bir jabrlanuvchida zaharni aniqlashdan oldin qusdirish yoki yuvish foyda, boshqasida xavfli bo‘lishi mumkin? Doskada chizing: «uch nuqta» sxemasi (kirish joyi – ta’sir joyi – chiqish joyi) va og‘iz orqali zaharlanishda olinadigan a’zolar. Tipik xato: faqat murda a’zolarini olish va jabrlanuvchidan olingan qusuq, siydikni unutish.</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savollari: 1) Uch bosqichning har birida qanday dalillar yig‘iladi? 2) Nega manfiy kimyoviy natija zaharlanishni istisno qilmaydi? Doskada chizish: zaharlar tasnifi daraxti (mahalliy va umumiy, umumiyning uch tarmog‘i bilan). Tipik xato: talabalar laboratoriya natijasini yagona va yakuniy dalil deb hisoblaydi, hodisa tafsiloti va murda belgilarini hisobga olmaydi.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№3. Ma’ruza: Sud-tibbiy toksikologiya.</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Ma’ruza maqsadi va reja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81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Kimyoviy omillar ta’siridan sog‘liqning buzilishi va o‘lim holatlari ekspertiza amaliyotida nisbatan keng uchraydi.</a:t>
            </a:r>
          </a:p>
          <a:p>
            <a:pPr>
              <a:spcAft>
                <a:spcPts val="1200"/>
              </a:spcAft>
            </a:pPr>
            <a:r>
              <a:rPr sz="2200">
                <a:solidFill>
                  <a:srgbClr val="1F2937"/>
                </a:solidFill>
                <a:latin typeface="Calibri"/>
              </a:rPr>
              <a:t>▸  Zo‘raki o‘lim tarkibida zaharlanishlar mexanik jarohatlar va mexanik asfiksiyadan keyin uchinchi o‘rinda turadi.</a:t>
            </a:r>
          </a:p>
          <a:p>
            <a:pPr>
              <a:spcAft>
                <a:spcPts val="1200"/>
              </a:spcAft>
            </a:pPr>
            <a:r>
              <a:rPr sz="2200">
                <a:solidFill>
                  <a:srgbClr val="1F2937"/>
                </a:solidFill>
                <a:latin typeface="Calibri"/>
              </a:rPr>
              <a:t>▸  Reja: zahar va zaharlanish tushunchasi, uning omillari, sud-tibbiy diagnostika, toksikokinetika, toksikodinamika va zaharlar tasnifi.</a:t>
            </a:r>
          </a:p>
          <a:p>
            <a:pPr>
              <a:spcAft>
                <a:spcPts val="1200"/>
              </a:spcAft>
            </a:pPr>
            <a:r>
              <a:rPr sz="2200">
                <a:solidFill>
                  <a:srgbClr val="1F2937"/>
                </a:solidFill>
                <a:latin typeface="Calibri"/>
              </a:rPr>
              <a:t>▸  Reja davomi: o‘yuvchi, destruktiv, qon va funksional zaharlar bilan zaharlanishlar.</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132, 132-139, 140-153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Zahar va zaharlanish tushunchasi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81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Zahar nisbiy tushuncha: oz miqdori sog‘liqni buzadigan yoki o‘limga olib keladigan modda. Mutlaq zahar ham, mutlaq beziyon modda ham yo‘q.</a:t>
            </a:r>
          </a:p>
          <a:p>
            <a:pPr>
              <a:spcAft>
                <a:spcPts val="1200"/>
              </a:spcAft>
            </a:pPr>
            <a:r>
              <a:rPr sz="2200">
                <a:solidFill>
                  <a:srgbClr val="1F2937"/>
                </a:solidFill>
                <a:latin typeface="Calibri"/>
              </a:rPr>
              <a:t>▸  Paratsels iborasi: faqat doza ma’lum bir moddani doriga yoki zaharga aylantiradi.</a:t>
            </a:r>
          </a:p>
          <a:p>
            <a:pPr>
              <a:spcAft>
                <a:spcPts val="1200"/>
              </a:spcAft>
            </a:pPr>
            <a:r>
              <a:rPr sz="2200">
                <a:solidFill>
                  <a:srgbClr val="1F2937"/>
                </a:solidFill>
                <a:latin typeface="Calibri"/>
              </a:rPr>
              <a:t>▸  Oz miqdordagi moddaning ta’siri natijasida vujudga keladigan sog‘liqning buzilishi zaharlanish deb ataladi.</a:t>
            </a:r>
          </a:p>
          <a:p>
            <a:pPr>
              <a:spcAft>
                <a:spcPts val="1200"/>
              </a:spcAft>
            </a:pPr>
            <a:r>
              <a:rPr sz="2200">
                <a:solidFill>
                  <a:srgbClr val="1F2937"/>
                </a:solidFill>
                <a:latin typeface="Calibri"/>
              </a:rPr>
              <a:t>▸  Sud tibbiyotida zahar deb oz miqdorda kirsa ham kimyoviy yoki fiziko-kimyoviy xususiyatlari bilan sog‘liqni buzadigan yoki o‘limga olib keladigan modda aytiladi.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132; Iskandarov A.I., Qo‘ldoshev D.R., Sud tibbiyoti, betlar: 284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Toksikologiya yo‘nalishlari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81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Yo‘nalishlar: sanoat, qishloq xo‘jaligi, harbiy, oziq-ovqat, maishiy va sud-tibbiy toksikologiya.</a:t>
            </a:r>
          </a:p>
          <a:p>
            <a:pPr>
              <a:spcAft>
                <a:spcPts val="800"/>
              </a:spcAft>
            </a:pPr>
            <a:r>
              <a:rPr sz="1800">
                <a:solidFill>
                  <a:srgbClr val="1F2937"/>
                </a:solidFill>
                <a:latin typeface="Calibri"/>
              </a:rPr>
              <a:t>▸  Diqqat: sud-tibbiy toksikologiya davolash fani emas, huquqiy vazifalarni hal qiladi.</a:t>
            </a:r>
          </a:p>
          <a:p>
            <a:pPr>
              <a:spcAft>
                <a:spcPts val="800"/>
              </a:spcAft>
            </a:pPr>
            <a:r>
              <a:rPr sz="1800">
                <a:solidFill>
                  <a:srgbClr val="1F2937"/>
                </a:solidFill>
                <a:latin typeface="Calibri"/>
              </a:rPr>
              <a:t>▸  Sud tibbiyotining fan sifatida shakllanishi sud-tibbiy toksikologiyadan boshlangan.</a:t>
            </a:r>
          </a:p>
        </p:txBody>
      </p:sp>
      <p:graphicFrame>
        <p:nvGraphicFramePr>
          <p:cNvPr id="9" name="Table 8"/>
          <p:cNvGraphicFramePr>
            <a:graphicFrameLocks noGrp="1"/>
          </p:cNvGraphicFramePr>
          <p:nvPr/>
        </p:nvGraphicFramePr>
        <p:xfrm>
          <a:off x="6263640" y="1463040"/>
          <a:ext cx="5287974" cy="1234440"/>
        </p:xfrm>
        <a:graphic>
          <a:graphicData uri="http://schemas.openxmlformats.org/drawingml/2006/table">
            <a:tbl>
              <a:tblPr firstRow="1" bandRow="1">
                <a:tableStyleId>{5C22544A-7EE6-4342-B048-85BDC9FD1C3A}</a:tableStyleId>
              </a:tblPr>
              <a:tblGrid>
                <a:gridCol w="1383008"/>
                <a:gridCol w="1789776"/>
                <a:gridCol w="2115190"/>
              </a:tblGrid>
              <a:tr h="411480">
                <a:tc>
                  <a:txBody>
                    <a:bodyPr/>
                    <a:lstStyle/>
                    <a:p>
                      <a:r>
                        <a:rPr sz="1300" b="1">
                          <a:solidFill>
                            <a:srgbClr val="FFFFFF"/>
                          </a:solidFill>
                        </a:rPr>
                        <a:t>Ko‘rsatkich</a:t>
                      </a:r>
                    </a:p>
                  </a:txBody>
                  <a:tcPr marL="73152" marR="73152" marT="36576" marB="36576">
                    <a:solidFill>
                      <a:srgbClr val="0B1F3A"/>
                    </a:solidFill>
                  </a:tcPr>
                </a:tc>
                <a:tc>
                  <a:txBody>
                    <a:bodyPr/>
                    <a:lstStyle/>
                    <a:p>
                      <a:r>
                        <a:rPr sz="1300" b="1">
                          <a:solidFill>
                            <a:srgbClr val="FFFFFF"/>
                          </a:solidFill>
                        </a:rPr>
                        <a:t>Boshqa turlar</a:t>
                      </a:r>
                    </a:p>
                  </a:txBody>
                  <a:tcPr marL="73152" marR="73152" marT="36576" marB="36576">
                    <a:solidFill>
                      <a:srgbClr val="0B1F3A"/>
                    </a:solidFill>
                  </a:tcPr>
                </a:tc>
                <a:tc>
                  <a:txBody>
                    <a:bodyPr/>
                    <a:lstStyle/>
                    <a:p>
                      <a:r>
                        <a:rPr sz="1300" b="1">
                          <a:solidFill>
                            <a:srgbClr val="FFFFFF"/>
                          </a:solidFill>
                        </a:rPr>
                        <a:t>Sud-tibbiy</a:t>
                      </a:r>
                    </a:p>
                  </a:txBody>
                  <a:tcPr marL="73152" marR="73152" marT="36576" marB="36576">
                    <a:solidFill>
                      <a:srgbClr val="0B1F3A"/>
                    </a:solidFill>
                  </a:tcPr>
                </a:tc>
              </a:tr>
              <a:tr h="411480">
                <a:tc>
                  <a:txBody>
                    <a:bodyPr/>
                    <a:lstStyle/>
                    <a:p>
                      <a:r>
                        <a:rPr sz="1200" b="0">
                          <a:solidFill>
                            <a:srgbClr val="1F2937"/>
                          </a:solidFill>
                        </a:rPr>
                        <a:t>Asosiy masala</a:t>
                      </a:r>
                    </a:p>
                  </a:txBody>
                  <a:tcPr marL="73152" marR="73152" marT="36576" marB="36576">
                    <a:solidFill>
                      <a:srgbClr val="E8EEF6"/>
                    </a:solidFill>
                  </a:tcPr>
                </a:tc>
                <a:tc>
                  <a:txBody>
                    <a:bodyPr/>
                    <a:lstStyle/>
                    <a:p>
                      <a:r>
                        <a:rPr sz="1200" b="0">
                          <a:solidFill>
                            <a:srgbClr val="1F2937"/>
                          </a:solidFill>
                        </a:rPr>
                        <a:t>Sabab, oldini olish</a:t>
                      </a:r>
                    </a:p>
                  </a:txBody>
                  <a:tcPr marL="73152" marR="73152" marT="36576" marB="36576">
                    <a:solidFill>
                      <a:srgbClr val="E8EEF6"/>
                    </a:solidFill>
                  </a:tcPr>
                </a:tc>
                <a:tc>
                  <a:txBody>
                    <a:bodyPr/>
                    <a:lstStyle/>
                    <a:p>
                      <a:r>
                        <a:rPr sz="1200" b="0">
                          <a:solidFill>
                            <a:srgbClr val="1F2937"/>
                          </a:solidFill>
                        </a:rPr>
                        <a:t>Idoralar qo‘ygan masalalar</a:t>
                      </a:r>
                    </a:p>
                  </a:txBody>
                  <a:tcPr marL="73152" marR="73152" marT="36576" marB="36576">
                    <a:solidFill>
                      <a:srgbClr val="E8EEF6"/>
                    </a:solidFill>
                  </a:tcPr>
                </a:tc>
              </a:tr>
              <a:tr h="411480">
                <a:tc>
                  <a:txBody>
                    <a:bodyPr/>
                    <a:lstStyle/>
                    <a:p>
                      <a:r>
                        <a:rPr sz="1200" b="0">
                          <a:solidFill>
                            <a:srgbClr val="1F2937"/>
                          </a:solidFill>
                        </a:rPr>
                        <a:t>Jabrlanganga</a:t>
                      </a:r>
                    </a:p>
                  </a:txBody>
                  <a:tcPr marL="73152" marR="73152" marT="36576" marB="36576">
                    <a:solidFill>
                      <a:srgbClr val="FFFFFF"/>
                    </a:solidFill>
                  </a:tcPr>
                </a:tc>
                <a:tc>
                  <a:txBody>
                    <a:bodyPr/>
                    <a:lstStyle/>
                    <a:p>
                      <a:r>
                        <a:rPr sz="1200" b="0">
                          <a:solidFill>
                            <a:srgbClr val="1F2937"/>
                          </a:solidFill>
                        </a:rPr>
                        <a:t>Malakali tibbiy yordam</a:t>
                      </a:r>
                    </a:p>
                  </a:txBody>
                  <a:tcPr marL="73152" marR="73152" marT="36576" marB="36576">
                    <a:solidFill>
                      <a:srgbClr val="FFFFFF"/>
                    </a:solidFill>
                  </a:tcPr>
                </a:tc>
                <a:tc>
                  <a:txBody>
                    <a:bodyPr/>
                    <a:lstStyle/>
                    <a:p>
                      <a:r>
                        <a:rPr sz="1200" b="0">
                          <a:solidFill>
                            <a:srgbClr val="1F2937"/>
                          </a:solidFill>
                        </a:rPr>
                        <a:t>Davolash emas, ekspertiza</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Boshqa turlar va sud-tibbiy</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132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Zaharlanishlar tasnifi: sabab va holat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81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Vujudga kelishiga ko‘ra zaharlanish qotillik, o‘z-o‘zini o‘ldirish yoki baxtsiz hodisa ko‘rinishida bo‘ladi.</a:t>
            </a:r>
          </a:p>
          <a:p>
            <a:pPr>
              <a:spcAft>
                <a:spcPts val="800"/>
              </a:spcAft>
            </a:pPr>
            <a:r>
              <a:rPr sz="1800">
                <a:solidFill>
                  <a:srgbClr val="1F2937"/>
                </a:solidFill>
                <a:latin typeface="Calibri"/>
              </a:rPr>
              <a:t>▸  Amalda ko‘pchiligi baxtsiz hodisa, keyingi o‘rinda suitsid; zaharlab qotillik kamdan-kam uchraydi.</a:t>
            </a:r>
          </a:p>
          <a:p>
            <a:pPr>
              <a:spcAft>
                <a:spcPts val="800"/>
              </a:spcAft>
            </a:pPr>
            <a:r>
              <a:rPr sz="1800">
                <a:solidFill>
                  <a:srgbClr val="1F2937"/>
                </a:solidFill>
                <a:latin typeface="Calibri"/>
              </a:rPr>
              <a:t>▸  Yatrogen zaharlanish: dori dozasini noto‘g‘ri belgilash yoki bir dori o‘rniga boshqasini qo‘llash oqibati.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961450"/>
                <a:gridCol w="2103171"/>
                <a:gridCol w="2223353"/>
              </a:tblGrid>
              <a:tr h="411480">
                <a:tc>
                  <a:txBody>
                    <a:bodyPr/>
                    <a:lstStyle/>
                    <a:p>
                      <a:r>
                        <a:rPr sz="1300" b="1">
                          <a:solidFill>
                            <a:srgbClr val="FFFFFF"/>
                          </a:solidFill>
                        </a:rPr>
                        <a:t>Mezon</a:t>
                      </a:r>
                    </a:p>
                  </a:txBody>
                  <a:tcPr marL="73152" marR="73152" marT="36576" marB="36576">
                    <a:solidFill>
                      <a:srgbClr val="0B1F3A"/>
                    </a:solidFill>
                  </a:tcPr>
                </a:tc>
                <a:tc>
                  <a:txBody>
                    <a:bodyPr/>
                    <a:lstStyle/>
                    <a:p>
                      <a:r>
                        <a:rPr sz="1300" b="1">
                          <a:solidFill>
                            <a:srgbClr val="FFFFFF"/>
                          </a:solidFill>
                        </a:rPr>
                        <a:t>Turlari</a:t>
                      </a:r>
                    </a:p>
                  </a:txBody>
                  <a:tcPr marL="73152" marR="73152" marT="36576" marB="36576">
                    <a:solidFill>
                      <a:srgbClr val="0B1F3A"/>
                    </a:solidFill>
                  </a:tcPr>
                </a:tc>
                <a:tc>
                  <a:txBody>
                    <a:bodyPr/>
                    <a:lstStyle/>
                    <a:p>
                      <a:r>
                        <a:rPr sz="1300" b="1">
                          <a:solidFill>
                            <a:srgbClr val="FFFFFF"/>
                          </a:solidFill>
                        </a:rPr>
                        <a:t>Misol</a:t>
                      </a:r>
                    </a:p>
                  </a:txBody>
                  <a:tcPr marL="73152" marR="73152" marT="36576" marB="36576">
                    <a:solidFill>
                      <a:srgbClr val="0B1F3A"/>
                    </a:solidFill>
                  </a:tcPr>
                </a:tc>
              </a:tr>
              <a:tr h="411480">
                <a:tc>
                  <a:txBody>
                    <a:bodyPr/>
                    <a:lstStyle/>
                    <a:p>
                      <a:r>
                        <a:rPr sz="1200" b="0">
                          <a:solidFill>
                            <a:srgbClr val="1F2937"/>
                          </a:solidFill>
                        </a:rPr>
                        <a:t>Sabab bo‘yicha</a:t>
                      </a:r>
                    </a:p>
                  </a:txBody>
                  <a:tcPr marL="73152" marR="73152" marT="36576" marB="36576">
                    <a:solidFill>
                      <a:srgbClr val="E8EEF6"/>
                    </a:solidFill>
                  </a:tcPr>
                </a:tc>
                <a:tc>
                  <a:txBody>
                    <a:bodyPr/>
                    <a:lstStyle/>
                    <a:p>
                      <a:r>
                        <a:rPr sz="1200" b="0">
                          <a:solidFill>
                            <a:srgbClr val="1F2937"/>
                          </a:solidFill>
                        </a:rPr>
                        <a:t>Qasddan yoki tasodifiy</a:t>
                      </a:r>
                    </a:p>
                  </a:txBody>
                  <a:tcPr marL="73152" marR="73152" marT="36576" marB="36576">
                    <a:solidFill>
                      <a:srgbClr val="E8EEF6"/>
                    </a:solidFill>
                  </a:tcPr>
                </a:tc>
                <a:tc>
                  <a:txBody>
                    <a:bodyPr/>
                    <a:lstStyle/>
                    <a:p>
                      <a:r>
                        <a:rPr sz="1200" b="0">
                          <a:solidFill>
                            <a:srgbClr val="1F2937"/>
                          </a:solidFill>
                        </a:rPr>
                        <a:t>Suitsid, qotillik / xato qabul qilish</a:t>
                      </a:r>
                    </a:p>
                  </a:txBody>
                  <a:tcPr marL="73152" marR="73152" marT="36576" marB="36576">
                    <a:solidFill>
                      <a:srgbClr val="E8EEF6"/>
                    </a:solidFill>
                  </a:tcPr>
                </a:tc>
              </a:tr>
              <a:tr h="411480">
                <a:tc>
                  <a:txBody>
                    <a:bodyPr/>
                    <a:lstStyle/>
                    <a:p>
                      <a:r>
                        <a:rPr sz="1200" b="0">
                          <a:solidFill>
                            <a:srgbClr val="1F2937"/>
                          </a:solidFill>
                        </a:rPr>
                        <a:t>Holat bo‘yicha</a:t>
                      </a:r>
                    </a:p>
                  </a:txBody>
                  <a:tcPr marL="73152" marR="73152" marT="36576" marB="36576">
                    <a:solidFill>
                      <a:srgbClr val="FFFFFF"/>
                    </a:solidFill>
                  </a:tcPr>
                </a:tc>
                <a:tc>
                  <a:txBody>
                    <a:bodyPr/>
                    <a:lstStyle/>
                    <a:p>
                      <a:r>
                        <a:rPr sz="1200" b="0">
                          <a:solidFill>
                            <a:srgbClr val="1F2937"/>
                          </a:solidFill>
                        </a:rPr>
                        <a:t>Qotillik, suitsid, baxtsiz hodisa</a:t>
                      </a:r>
                    </a:p>
                  </a:txBody>
                  <a:tcPr marL="73152" marR="73152" marT="36576" marB="36576">
                    <a:solidFill>
                      <a:srgbClr val="FFFFFF"/>
                    </a:solidFill>
                  </a:tcPr>
                </a:tc>
                <a:tc>
                  <a:txBody>
                    <a:bodyPr/>
                    <a:lstStyle/>
                    <a:p>
                      <a:r>
                        <a:rPr sz="1200" b="0">
                          <a:solidFill>
                            <a:srgbClr val="1F2937"/>
                          </a:solidFill>
                        </a:rPr>
                        <a:t>Aksariyati — baxtsiz hodisa</a:t>
                      </a:r>
                    </a:p>
                  </a:txBody>
                  <a:tcPr marL="73152" marR="73152" marT="36576" marB="36576">
                    <a:solidFill>
                      <a:srgbClr val="FFFFFF"/>
                    </a:solidFill>
                  </a:tcPr>
                </a:tc>
              </a:tr>
              <a:tr h="411480">
                <a:tc>
                  <a:txBody>
                    <a:bodyPr/>
                    <a:lstStyle/>
                    <a:p>
                      <a:r>
                        <a:rPr sz="1200" b="0">
                          <a:solidFill>
                            <a:srgbClr val="1F2937"/>
                          </a:solidFill>
                        </a:rPr>
                        <a:t>Joy bo‘yicha</a:t>
                      </a:r>
                    </a:p>
                  </a:txBody>
                  <a:tcPr marL="73152" marR="73152" marT="36576" marB="36576">
                    <a:solidFill>
                      <a:srgbClr val="E8EEF6"/>
                    </a:solidFill>
                  </a:tcPr>
                </a:tc>
                <a:tc>
                  <a:txBody>
                    <a:bodyPr/>
                    <a:lstStyle/>
                    <a:p>
                      <a:r>
                        <a:rPr sz="1200" b="0">
                          <a:solidFill>
                            <a:srgbClr val="1F2937"/>
                          </a:solidFill>
                        </a:rPr>
                        <a:t>Ishlab chiqarish, maishiy, yatrogen</a:t>
                      </a:r>
                    </a:p>
                  </a:txBody>
                  <a:tcPr marL="73152" marR="73152" marT="36576" marB="36576">
                    <a:solidFill>
                      <a:srgbClr val="E8EEF6"/>
                    </a:solidFill>
                  </a:tcPr>
                </a:tc>
                <a:tc>
                  <a:txBody>
                    <a:bodyPr/>
                    <a:lstStyle/>
                    <a:p>
                      <a:r>
                        <a:rPr sz="1200" b="0">
                          <a:solidFill>
                            <a:srgbClr val="1F2937"/>
                          </a:solidFill>
                        </a:rPr>
                        <a:t>Dozani xato belgilash — yatrogen</a:t>
                      </a:r>
                    </a:p>
                  </a:txBody>
                  <a:tcPr marL="73152" marR="73152" marT="36576" marB="36576">
                    <a:solidFill>
                      <a:srgbClr val="E8EEF6"/>
                    </a:solidFill>
                  </a:tcPr>
                </a:tc>
              </a:tr>
              <a:tr h="411480">
                <a:tc>
                  <a:txBody>
                    <a:bodyPr/>
                    <a:lstStyle/>
                    <a:p>
                      <a:r>
                        <a:rPr sz="1200" b="0">
                          <a:solidFill>
                            <a:srgbClr val="1F2937"/>
                          </a:solidFill>
                        </a:rPr>
                        <a:t>Qasddan holatda</a:t>
                      </a:r>
                    </a:p>
                  </a:txBody>
                  <a:tcPr marL="73152" marR="73152" marT="36576" marB="36576">
                    <a:solidFill>
                      <a:srgbClr val="FFFFFF"/>
                    </a:solidFill>
                  </a:tcPr>
                </a:tc>
                <a:tc>
                  <a:txBody>
                    <a:bodyPr/>
                    <a:lstStyle/>
                    <a:p>
                      <a:r>
                        <a:rPr sz="1200" b="0">
                          <a:solidFill>
                            <a:srgbClr val="1F2937"/>
                          </a:solidFill>
                        </a:rPr>
                        <a:t>Suitsid va qotillik</a:t>
                      </a:r>
                    </a:p>
                  </a:txBody>
                  <a:tcPr marL="73152" marR="73152" marT="36576" marB="36576">
                    <a:solidFill>
                      <a:srgbClr val="FFFFFF"/>
                    </a:solidFill>
                  </a:tcPr>
                </a:tc>
                <a:tc>
                  <a:txBody>
                    <a:bodyPr/>
                    <a:lstStyle/>
                    <a:p>
                      <a:r>
                        <a:rPr sz="1200" b="0">
                          <a:solidFill>
                            <a:srgbClr val="1F2937"/>
                          </a:solidFill>
                        </a:rPr>
                        <a:t>Tasodifiy: baxtsiz hodisa, xato</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Zaharlanishlarni guruhlash mezonlari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132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asosiy tushunchalar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81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1: Sud tibbiyotida zahar nima? Javob: oz miqdori bilan sog‘liqni buzadigan yoki o‘limga olib keladigan modda.</a:t>
            </a:r>
          </a:p>
          <a:p>
            <a:pPr>
              <a:spcAft>
                <a:spcPts val="1200"/>
              </a:spcAft>
            </a:pPr>
            <a:r>
              <a:rPr sz="2200">
                <a:solidFill>
                  <a:srgbClr val="1F2937"/>
                </a:solidFill>
                <a:latin typeface="Calibri"/>
              </a:rPr>
              <a:t>▸  Savol 2: Zaharlanish deb nimaga aytiladi? Javob: oz miqdordagi moddaning ta’sirida vujudga keladigan sog‘liq buzilishi.</a:t>
            </a:r>
          </a:p>
          <a:p>
            <a:pPr>
              <a:spcAft>
                <a:spcPts val="1200"/>
              </a:spcAft>
            </a:pPr>
            <a:r>
              <a:rPr sz="2200">
                <a:solidFill>
                  <a:srgbClr val="1F2937"/>
                </a:solidFill>
                <a:latin typeface="Calibri"/>
              </a:rPr>
              <a:t>▸  Savol 3: Yatrogen zaharlanish qachon bo‘ladi? Javob: tibbiy muolajada doza xatosi yoki dorini almashtirib yuborishda.</a:t>
            </a:r>
          </a:p>
          <a:p>
            <a:pPr>
              <a:spcAft>
                <a:spcPts val="1200"/>
              </a:spcAft>
            </a:pPr>
            <a:r>
              <a:rPr sz="2200">
                <a:solidFill>
                  <a:srgbClr val="1F2937"/>
                </a:solidFill>
                <a:latin typeface="Calibri"/>
              </a:rPr>
              <a:t>▸  Diqqat: xato qilish xavfi — mutlaq zahar ham, mutlaq beziyon modda ham yo‘q; Paratselsga ko‘ra doza moddani dori yoki zaharga aylantiradi.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132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zaharlanish turini aniqlash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81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Ishchilar reaktiv idishlari orasida bittasini “spirt” deb yashirib, tushlikda ichgan; ichganlar xushini yo‘qotib tez o‘lgan, murdada dixloretan topilgan.</a:t>
            </a:r>
          </a:p>
          <a:p>
            <a:pPr>
              <a:spcAft>
                <a:spcPts val="1200"/>
              </a:spcAft>
            </a:pPr>
            <a:r>
              <a:rPr sz="2200">
                <a:solidFill>
                  <a:srgbClr val="1F2937"/>
                </a:solidFill>
                <a:latin typeface="Calibri"/>
              </a:rPr>
              <a:t>▸  15 yoshli qizga nembutal eritmasi teri tagiga yuborilgan; u xushini yo‘qotib ojiz holatga tushgach, zo‘rlangan.</a:t>
            </a:r>
          </a:p>
          <a:p>
            <a:pPr>
              <a:spcAft>
                <a:spcPts val="1200"/>
              </a:spcAft>
            </a:pPr>
            <a:r>
              <a:rPr sz="2200">
                <a:solidFill>
                  <a:srgbClr val="1F2937"/>
                </a:solidFill>
                <a:latin typeface="Calibri"/>
              </a:rPr>
              <a:t>▸  Qasddan zaharlashda jabrlanuvchini ojiz holatga solish (talash, zo‘rlash) uchun ham modda qo‘llanishi mumkin; bunda o‘lim shart emas.</a:t>
            </a:r>
          </a:p>
          <a:p>
            <a:pPr>
              <a:spcAft>
                <a:spcPts val="1200"/>
              </a:spcAft>
            </a:pPr>
            <a:r>
              <a:rPr sz="2200">
                <a:solidFill>
                  <a:srgbClr val="1F2937"/>
                </a:solidFill>
                <a:latin typeface="Calibri"/>
              </a:rPr>
              <a:t>▸  Savol: har ikki voqeani qotillik, suitsid yoki baxtsiz hodisaga ajratishda asosiy mezon nima — qasd bormi yoki zahar tasodifan kirganmi?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Iskandarov A.I., Qo‘ldoshev D.R., Sud tibbiyoti, betlar: 293, 289; Baizoldanov T. (Байзолданов Т.)., Токсикологическая химия: учебник, betlar: 55; G‘iyosov Z.A., Sud tibbiyoti: darslik, betlar: 132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Zaharlanishga ta’sir etuvchi to‘rt guruh omil</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81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Zaharlanishda to‘rt guruh omil farqlanadi: zaharli modda, organizm, kirish yo‘li va tashqi shart-sharoit.</a:t>
            </a:r>
          </a:p>
          <a:p>
            <a:pPr>
              <a:spcAft>
                <a:spcPts val="800"/>
              </a:spcAft>
            </a:pPr>
            <a:r>
              <a:rPr sz="1800">
                <a:solidFill>
                  <a:srgbClr val="1F2937"/>
                </a:solidFill>
                <a:latin typeface="Calibri"/>
              </a:rPr>
              <a:t>▸  Zahar qonga qanchalik tez va to‘liq o‘tsa, toksik ta’sir darajasi shunchalik yuqori bo‘ladi.</a:t>
            </a:r>
          </a:p>
          <a:p>
            <a:pPr>
              <a:spcAft>
                <a:spcPts val="800"/>
              </a:spcAft>
            </a:pPr>
            <a:r>
              <a:rPr sz="1800">
                <a:solidFill>
                  <a:srgbClr val="1F2937"/>
                </a:solidFill>
                <a:latin typeface="Calibri"/>
              </a:rPr>
              <a:t>▸  Tashqi sharoit faqat ayrim moddalarda muhim: is gazi va alkogolda yopiq, issiq, nam muhit moyillik yaratadi.</a:t>
            </a:r>
          </a:p>
        </p:txBody>
      </p:sp>
      <p:graphicFrame>
        <p:nvGraphicFramePr>
          <p:cNvPr id="9" name="Table 8"/>
          <p:cNvGraphicFramePr>
            <a:graphicFrameLocks noGrp="1"/>
          </p:cNvGraphicFramePr>
          <p:nvPr/>
        </p:nvGraphicFramePr>
        <p:xfrm>
          <a:off x="6263640" y="1463040"/>
          <a:ext cx="5287975" cy="2057400"/>
        </p:xfrm>
        <a:graphic>
          <a:graphicData uri="http://schemas.openxmlformats.org/drawingml/2006/table">
            <a:tbl>
              <a:tblPr firstRow="1" bandRow="1">
                <a:tableStyleId>{5C22544A-7EE6-4342-B048-85BDC9FD1C3A}</a:tableStyleId>
              </a:tblPr>
              <a:tblGrid>
                <a:gridCol w="1634465"/>
                <a:gridCol w="3653510"/>
              </a:tblGrid>
              <a:tr h="411480">
                <a:tc>
                  <a:txBody>
                    <a:bodyPr/>
                    <a:lstStyle/>
                    <a:p>
                      <a:r>
                        <a:rPr sz="1400" b="1">
                          <a:solidFill>
                            <a:srgbClr val="FFFFFF"/>
                          </a:solidFill>
                        </a:rPr>
                        <a:t>Omil guruhi</a:t>
                      </a:r>
                    </a:p>
                  </a:txBody>
                  <a:tcPr marL="73152" marR="73152" marT="36576" marB="36576">
                    <a:solidFill>
                      <a:srgbClr val="0B1F3A"/>
                    </a:solidFill>
                  </a:tcPr>
                </a:tc>
                <a:tc>
                  <a:txBody>
                    <a:bodyPr/>
                    <a:lstStyle/>
                    <a:p>
                      <a:r>
                        <a:rPr sz="1400" b="1">
                          <a:solidFill>
                            <a:srgbClr val="FFFFFF"/>
                          </a:solidFill>
                        </a:rPr>
                        <a:t>Misol</a:t>
                      </a:r>
                    </a:p>
                  </a:txBody>
                  <a:tcPr marL="73152" marR="73152" marT="36576" marB="36576">
                    <a:solidFill>
                      <a:srgbClr val="0B1F3A"/>
                    </a:solidFill>
                  </a:tcPr>
                </a:tc>
              </a:tr>
              <a:tr h="411480">
                <a:tc>
                  <a:txBody>
                    <a:bodyPr/>
                    <a:lstStyle/>
                    <a:p>
                      <a:r>
                        <a:rPr sz="1300" b="0">
                          <a:solidFill>
                            <a:srgbClr val="1F2937"/>
                          </a:solidFill>
                        </a:rPr>
                        <a:t>Zaharli modda</a:t>
                      </a:r>
                    </a:p>
                  </a:txBody>
                  <a:tcPr marL="73152" marR="73152" marT="36576" marB="36576">
                    <a:solidFill>
                      <a:srgbClr val="E8EEF6"/>
                    </a:solidFill>
                  </a:tcPr>
                </a:tc>
                <a:tc>
                  <a:txBody>
                    <a:bodyPr/>
                    <a:lstStyle/>
                    <a:p>
                      <a:r>
                        <a:rPr sz="1300" b="0">
                          <a:solidFill>
                            <a:srgbClr val="1F2937"/>
                          </a:solidFill>
                        </a:rPr>
                        <a:t>doza, eruvchanlik, agregat holat</a:t>
                      </a:r>
                    </a:p>
                  </a:txBody>
                  <a:tcPr marL="73152" marR="73152" marT="36576" marB="36576">
                    <a:solidFill>
                      <a:srgbClr val="E8EEF6"/>
                    </a:solidFill>
                  </a:tcPr>
                </a:tc>
              </a:tr>
              <a:tr h="411480">
                <a:tc>
                  <a:txBody>
                    <a:bodyPr/>
                    <a:lstStyle/>
                    <a:p>
                      <a:r>
                        <a:rPr sz="1300" b="0">
                          <a:solidFill>
                            <a:srgbClr val="1F2937"/>
                          </a:solidFill>
                        </a:rPr>
                        <a:t>Organizm</a:t>
                      </a:r>
                    </a:p>
                  </a:txBody>
                  <a:tcPr marL="73152" marR="73152" marT="36576" marB="36576">
                    <a:solidFill>
                      <a:srgbClr val="FFFFFF"/>
                    </a:solidFill>
                  </a:tcPr>
                </a:tc>
                <a:tc>
                  <a:txBody>
                    <a:bodyPr/>
                    <a:lstStyle/>
                    <a:p>
                      <a:r>
                        <a:rPr sz="1300" b="0">
                          <a:solidFill>
                            <a:srgbClr val="1F2937"/>
                          </a:solidFill>
                        </a:rPr>
                        <a:t>vazn, yosh, sog‘liq, genetika</a:t>
                      </a:r>
                    </a:p>
                  </a:txBody>
                  <a:tcPr marL="73152" marR="73152" marT="36576" marB="36576">
                    <a:solidFill>
                      <a:srgbClr val="FFFFFF"/>
                    </a:solidFill>
                  </a:tcPr>
                </a:tc>
              </a:tr>
              <a:tr h="411480">
                <a:tc>
                  <a:txBody>
                    <a:bodyPr/>
                    <a:lstStyle/>
                    <a:p>
                      <a:r>
                        <a:rPr sz="1300" b="0">
                          <a:solidFill>
                            <a:srgbClr val="1F2937"/>
                          </a:solidFill>
                        </a:rPr>
                        <a:t>Kirish yo‘li</a:t>
                      </a:r>
                    </a:p>
                  </a:txBody>
                  <a:tcPr marL="73152" marR="73152" marT="36576" marB="36576">
                    <a:solidFill>
                      <a:srgbClr val="E8EEF6"/>
                    </a:solidFill>
                  </a:tcPr>
                </a:tc>
                <a:tc>
                  <a:txBody>
                    <a:bodyPr/>
                    <a:lstStyle/>
                    <a:p>
                      <a:r>
                        <a:rPr sz="1300" b="0">
                          <a:solidFill>
                            <a:srgbClr val="1F2937"/>
                          </a:solidFill>
                        </a:rPr>
                        <a:t>teri, og‘iz, nafas yo‘llari, in’eksiya</a:t>
                      </a:r>
                    </a:p>
                  </a:txBody>
                  <a:tcPr marL="73152" marR="73152" marT="36576" marB="36576">
                    <a:solidFill>
                      <a:srgbClr val="E8EEF6"/>
                    </a:solidFill>
                  </a:tcPr>
                </a:tc>
              </a:tr>
              <a:tr h="411480">
                <a:tc>
                  <a:txBody>
                    <a:bodyPr/>
                    <a:lstStyle/>
                    <a:p>
                      <a:r>
                        <a:rPr sz="1300" b="0">
                          <a:solidFill>
                            <a:srgbClr val="1F2937"/>
                          </a:solidFill>
                        </a:rPr>
                        <a:t>Tashqi sharoit</a:t>
                      </a:r>
                    </a:p>
                  </a:txBody>
                  <a:tcPr marL="73152" marR="73152" marT="36576" marB="36576">
                    <a:solidFill>
                      <a:srgbClr val="FFFFFF"/>
                    </a:solidFill>
                  </a:tcPr>
                </a:tc>
                <a:tc>
                  <a:txBody>
                    <a:bodyPr/>
                    <a:lstStyle/>
                    <a:p>
                      <a:r>
                        <a:rPr sz="1300" b="0">
                          <a:solidFill>
                            <a:srgbClr val="1F2937"/>
                          </a:solidFill>
                        </a:rPr>
                        <a:t>harorat, namlik, yopiq muhit</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To‘rt guruh omil</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132, 134, 135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Zaharli modda bilan bog‘liq omillar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81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Kimyoviy tuzilish xususiyatni belgilaydi. Is gazi va karbonat angidrid ikkalasi uglerod va kisloroddan iborat, lekin toksikligi bir xil emas.</a:t>
            </a:r>
          </a:p>
          <a:p>
            <a:pPr>
              <a:spcAft>
                <a:spcPts val="1200"/>
              </a:spcAft>
            </a:pPr>
            <a:r>
              <a:rPr sz="2000">
                <a:solidFill>
                  <a:srgbClr val="1F2937"/>
                </a:solidFill>
                <a:latin typeface="Calibri"/>
              </a:rPr>
              <a:t>▸  Farmakologiyada terapevtik, toksik va letal dozalar farqlanadi. Gazsimon modda suyuqdan, suyuq modda qattiqdan kuchliroq ta’sir qiladi, chunki qonga tezroq o‘tadi.</a:t>
            </a:r>
          </a:p>
          <a:p>
            <a:pPr>
              <a:spcAft>
                <a:spcPts val="1200"/>
              </a:spcAft>
            </a:pPr>
            <a:r>
              <a:rPr sz="2000">
                <a:solidFill>
                  <a:srgbClr val="1F2937"/>
                </a:solidFill>
                <a:latin typeface="Calibri"/>
              </a:rPr>
              <a:t>▸  Fosfororganik birikmalar yog‘da yaxshi eriydi, shuning uchun shikastlanmagan teri orqali ham so‘riladi. Dorining ta’siri saqlash muddati va sharoitiga bog‘liq.</a:t>
            </a:r>
          </a:p>
          <a:p>
            <a:pPr>
              <a:spcAft>
                <a:spcPts val="1200"/>
              </a:spcAft>
            </a:pPr>
            <a:r>
              <a:rPr sz="2000">
                <a:solidFill>
                  <a:srgbClr val="1F2937"/>
                </a:solidFill>
                <a:latin typeface="Calibri"/>
              </a:rPr>
              <a:t>▸  Vehikulum (zaharni olib kiruvchi modda) ta’sirni o‘zgartiradi: margimush ishqoriy, sianid kislotali muhitda kuchayadi. Og‘ir metallar organizmda to‘planadi (kumulyatsiya).</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133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Zaharlar farqi: eruvchanlik va konsentratsiya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81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3% sirka eritmasi bilan sirka essensiyasining ta’sirini taqqoslab bo‘lmaydi. Konsentratsiya hal qiluvchi.</a:t>
            </a:r>
          </a:p>
          <a:p>
            <a:pPr>
              <a:spcAft>
                <a:spcPts val="800"/>
              </a:spcAft>
            </a:pPr>
            <a:r>
              <a:rPr sz="1800">
                <a:solidFill>
                  <a:srgbClr val="1F2937"/>
                </a:solidFill>
                <a:latin typeface="Calibri"/>
              </a:rPr>
              <a:t>▸  Rasputin misoli: kaliy sianid uzoq saqlanib, CO2 bilan birikib, potashga aylandi va zaharsizlandi.</a:t>
            </a:r>
          </a:p>
          <a:p>
            <a:pPr>
              <a:spcAft>
                <a:spcPts val="800"/>
              </a:spcAft>
            </a:pPr>
            <a:r>
              <a:rPr sz="1800">
                <a:solidFill>
                  <a:srgbClr val="1F2937"/>
                </a:solidFill>
                <a:latin typeface="Calibri"/>
              </a:rPr>
              <a:t>▸  Diqqat: sulema ≠ kalomel; bariy xlorid ≠ bariy sulfat. Farqni eruvchanlik belgilaydi.</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1458751"/>
                <a:gridCol w="1549923"/>
                <a:gridCol w="2279299"/>
              </a:tblGrid>
              <a:tr h="411480">
                <a:tc>
                  <a:txBody>
                    <a:bodyPr/>
                    <a:lstStyle/>
                    <a:p>
                      <a:r>
                        <a:rPr sz="1300" b="1">
                          <a:solidFill>
                            <a:srgbClr val="FFFFFF"/>
                          </a:solidFill>
                        </a:rPr>
                        <a:t>Modda</a:t>
                      </a:r>
                    </a:p>
                  </a:txBody>
                  <a:tcPr marL="73152" marR="73152" marT="36576" marB="36576">
                    <a:solidFill>
                      <a:srgbClr val="0B1F3A"/>
                    </a:solidFill>
                  </a:tcPr>
                </a:tc>
                <a:tc>
                  <a:txBody>
                    <a:bodyPr/>
                    <a:lstStyle/>
                    <a:p>
                      <a:r>
                        <a:rPr sz="1300" b="1">
                          <a:solidFill>
                            <a:srgbClr val="FFFFFF"/>
                          </a:solidFill>
                        </a:rPr>
                        <a:t>Eruvchanlik</a:t>
                      </a:r>
                    </a:p>
                  </a:txBody>
                  <a:tcPr marL="73152" marR="73152" marT="36576" marB="36576">
                    <a:solidFill>
                      <a:srgbClr val="0B1F3A"/>
                    </a:solidFill>
                  </a:tcPr>
                </a:tc>
                <a:tc>
                  <a:txBody>
                    <a:bodyPr/>
                    <a:lstStyle/>
                    <a:p>
                      <a:r>
                        <a:rPr sz="1300" b="1">
                          <a:solidFill>
                            <a:srgbClr val="FFFFFF"/>
                          </a:solidFill>
                        </a:rPr>
                        <a:t>Ta’sir</a:t>
                      </a:r>
                    </a:p>
                  </a:txBody>
                  <a:tcPr marL="73152" marR="73152" marT="36576" marB="36576">
                    <a:solidFill>
                      <a:srgbClr val="0B1F3A"/>
                    </a:solidFill>
                  </a:tcPr>
                </a:tc>
              </a:tr>
              <a:tr h="411480">
                <a:tc>
                  <a:txBody>
                    <a:bodyPr/>
                    <a:lstStyle/>
                    <a:p>
                      <a:r>
                        <a:rPr sz="1200" b="0">
                          <a:solidFill>
                            <a:srgbClr val="1F2937"/>
                          </a:solidFill>
                        </a:rPr>
                        <a:t>Bariy sulfat</a:t>
                      </a:r>
                    </a:p>
                  </a:txBody>
                  <a:tcPr marL="73152" marR="73152" marT="36576" marB="36576">
                    <a:solidFill>
                      <a:srgbClr val="E8EEF6"/>
                    </a:solidFill>
                  </a:tcPr>
                </a:tc>
                <a:tc>
                  <a:txBody>
                    <a:bodyPr/>
                    <a:lstStyle/>
                    <a:p>
                      <a:r>
                        <a:rPr sz="1200" b="0">
                          <a:solidFill>
                            <a:srgbClr val="1F2937"/>
                          </a:solidFill>
                        </a:rPr>
                        <a:t>suvda erimaydi</a:t>
                      </a:r>
                    </a:p>
                  </a:txBody>
                  <a:tcPr marL="73152" marR="73152" marT="36576" marB="36576">
                    <a:solidFill>
                      <a:srgbClr val="E8EEF6"/>
                    </a:solidFill>
                  </a:tcPr>
                </a:tc>
                <a:tc>
                  <a:txBody>
                    <a:bodyPr/>
                    <a:lstStyle/>
                    <a:p>
                      <a:r>
                        <a:rPr sz="1200" b="0">
                          <a:solidFill>
                            <a:srgbClr val="1F2937"/>
                          </a:solidFill>
                        </a:rPr>
                        <a:t>zararsiz; rentgenda butqa</a:t>
                      </a:r>
                    </a:p>
                  </a:txBody>
                  <a:tcPr marL="73152" marR="73152" marT="36576" marB="36576">
                    <a:solidFill>
                      <a:srgbClr val="E8EEF6"/>
                    </a:solidFill>
                  </a:tcPr>
                </a:tc>
              </a:tr>
              <a:tr h="411480">
                <a:tc>
                  <a:txBody>
                    <a:bodyPr/>
                    <a:lstStyle/>
                    <a:p>
                      <a:r>
                        <a:rPr sz="1200" b="0">
                          <a:solidFill>
                            <a:srgbClr val="1F2937"/>
                          </a:solidFill>
                        </a:rPr>
                        <a:t>Bariy xlorid</a:t>
                      </a:r>
                    </a:p>
                  </a:txBody>
                  <a:tcPr marL="73152" marR="73152" marT="36576" marB="36576">
                    <a:solidFill>
                      <a:srgbClr val="FFFFFF"/>
                    </a:solidFill>
                  </a:tcPr>
                </a:tc>
                <a:tc>
                  <a:txBody>
                    <a:bodyPr/>
                    <a:lstStyle/>
                    <a:p>
                      <a:r>
                        <a:rPr sz="1200" b="0">
                          <a:solidFill>
                            <a:srgbClr val="1F2937"/>
                          </a:solidFill>
                        </a:rPr>
                        <a:t>suvda eriydi</a:t>
                      </a:r>
                    </a:p>
                  </a:txBody>
                  <a:tcPr marL="73152" marR="73152" marT="36576" marB="36576">
                    <a:solidFill>
                      <a:srgbClr val="FFFFFF"/>
                    </a:solidFill>
                  </a:tcPr>
                </a:tc>
                <a:tc>
                  <a:txBody>
                    <a:bodyPr/>
                    <a:lstStyle/>
                    <a:p>
                      <a:r>
                        <a:rPr sz="1200" b="0">
                          <a:solidFill>
                            <a:srgbClr val="1F2937"/>
                          </a:solidFill>
                        </a:rPr>
                        <a:t>kuchli zahar</a:t>
                      </a:r>
                    </a:p>
                  </a:txBody>
                  <a:tcPr marL="73152" marR="73152" marT="36576" marB="36576">
                    <a:solidFill>
                      <a:srgbClr val="FFFFFF"/>
                    </a:solidFill>
                  </a:tcPr>
                </a:tc>
              </a:tr>
              <a:tr h="411480">
                <a:tc>
                  <a:txBody>
                    <a:bodyPr/>
                    <a:lstStyle/>
                    <a:p>
                      <a:r>
                        <a:rPr sz="1200" b="0">
                          <a:solidFill>
                            <a:srgbClr val="1F2937"/>
                          </a:solidFill>
                        </a:rPr>
                        <a:t>Sulema</a:t>
                      </a:r>
                    </a:p>
                  </a:txBody>
                  <a:tcPr marL="73152" marR="73152" marT="36576" marB="36576">
                    <a:solidFill>
                      <a:srgbClr val="E8EEF6"/>
                    </a:solidFill>
                  </a:tcPr>
                </a:tc>
                <a:tc>
                  <a:txBody>
                    <a:bodyPr/>
                    <a:lstStyle/>
                    <a:p>
                      <a:r>
                        <a:rPr sz="1200" b="0">
                          <a:solidFill>
                            <a:srgbClr val="1F2937"/>
                          </a:solidFill>
                        </a:rPr>
                        <a:t>eruvchan</a:t>
                      </a:r>
                    </a:p>
                  </a:txBody>
                  <a:tcPr marL="73152" marR="73152" marT="36576" marB="36576">
                    <a:solidFill>
                      <a:srgbClr val="E8EEF6"/>
                    </a:solidFill>
                  </a:tcPr>
                </a:tc>
                <a:tc>
                  <a:txBody>
                    <a:bodyPr/>
                    <a:lstStyle/>
                    <a:p>
                      <a:r>
                        <a:rPr sz="1200" b="0">
                          <a:solidFill>
                            <a:srgbClr val="1F2937"/>
                          </a:solidFill>
                        </a:rPr>
                        <a:t>kuchli zaharli</a:t>
                      </a:r>
                    </a:p>
                  </a:txBody>
                  <a:tcPr marL="73152" marR="73152" marT="36576" marB="36576">
                    <a:solidFill>
                      <a:srgbClr val="E8EEF6"/>
                    </a:solidFill>
                  </a:tcPr>
                </a:tc>
              </a:tr>
              <a:tr h="411480">
                <a:tc>
                  <a:txBody>
                    <a:bodyPr/>
                    <a:lstStyle/>
                    <a:p>
                      <a:r>
                        <a:rPr sz="1200" b="0">
                          <a:solidFill>
                            <a:srgbClr val="1F2937"/>
                          </a:solidFill>
                        </a:rPr>
                        <a:t>Kalomel</a:t>
                      </a:r>
                    </a:p>
                  </a:txBody>
                  <a:tcPr marL="73152" marR="73152" marT="36576" marB="36576">
                    <a:solidFill>
                      <a:srgbClr val="FFFFFF"/>
                    </a:solidFill>
                  </a:tcPr>
                </a:tc>
                <a:tc>
                  <a:txBody>
                    <a:bodyPr/>
                    <a:lstStyle/>
                    <a:p>
                      <a:r>
                        <a:rPr sz="1200" b="0">
                          <a:solidFill>
                            <a:srgbClr val="1F2937"/>
                          </a:solidFill>
                        </a:rPr>
                        <a:t>erimaydi</a:t>
                      </a:r>
                    </a:p>
                  </a:txBody>
                  <a:tcPr marL="73152" marR="73152" marT="36576" marB="36576">
                    <a:solidFill>
                      <a:srgbClr val="FFFFFF"/>
                    </a:solidFill>
                  </a:tcPr>
                </a:tc>
                <a:tc>
                  <a:txBody>
                    <a:bodyPr/>
                    <a:lstStyle/>
                    <a:p>
                      <a:r>
                        <a:rPr sz="1200" b="0">
                          <a:solidFill>
                            <a:srgbClr val="1F2937"/>
                          </a:solidFill>
                        </a:rPr>
                        <a:t>nisbatan zararsiz</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Eruvchanlik va zaharlilik</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133; Iskandarov A.I., Qo‘ldoshev D.R., Sud tibbiyoti, betlar: 287, 286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Organizm bilan bog‘liq omillar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81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Tana massasi muhim: bir xil miqdordagi zahar turli vaznli odamlarda bir xil ta’sir qilmaydi, shu sababli dori dozasi 1 kg vaznga hisoblanadi.</a:t>
            </a:r>
          </a:p>
          <a:p>
            <a:pPr>
              <a:spcAft>
                <a:spcPts val="1200"/>
              </a:spcAft>
            </a:pPr>
            <a:r>
              <a:rPr sz="2200">
                <a:solidFill>
                  <a:srgbClr val="1F2937"/>
                </a:solidFill>
                <a:latin typeface="Calibri"/>
              </a:rPr>
              <a:t>▸  Jinslar orasida farq yo‘q, ammo homiladorlikda sezgirlik ortadi. Bolalar kattalardan sezgirroq: vazni kichik, qarshilik tizimi to‘liq shakllanmagan.</a:t>
            </a:r>
          </a:p>
          <a:p>
            <a:pPr>
              <a:spcAft>
                <a:spcPts val="1200"/>
              </a:spcAft>
            </a:pPr>
            <a:r>
              <a:rPr sz="2200">
                <a:solidFill>
                  <a:srgbClr val="1F2937"/>
                </a:solidFill>
                <a:latin typeface="Calibri"/>
              </a:rPr>
              <a:t>▸  Sog‘lom organizm kuchliroq qarshilik qiladi; yurak, jigar, buyrak kasalligida bu qobiliyat cheklanadi. Oshqozondagi massa so‘rilishni o‘zgartiradi.</a:t>
            </a:r>
          </a:p>
          <a:p>
            <a:pPr>
              <a:spcAft>
                <a:spcPts val="1200"/>
              </a:spcAft>
            </a:pPr>
            <a:r>
              <a:rPr sz="2200">
                <a:solidFill>
                  <a:srgbClr val="1F2937"/>
                </a:solidFill>
                <a:latin typeface="Calibri"/>
              </a:rPr>
              <a:t>▸  Genetika: xolinesteraza past bo‘lsa, miorelaksantlar kuchliroq ta’sir qiladi. Idiosinkraziya — ayrim moddalarga o‘ta sezgirlik.</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133-134, 134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Tolerantlik, abstinensiya, narkomaniya, toksikomaniya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81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Zaharning qisqa vaqt ichida takroran ta’siri tolerantlikni (o‘rganib qolishni) keltirishi mumkin: uyqu dorilari, analgetiklar, gipotenziv preparatlarda.</a:t>
            </a:r>
          </a:p>
          <a:p>
            <a:pPr>
              <a:spcAft>
                <a:spcPts val="1200"/>
              </a:spcAft>
            </a:pPr>
            <a:r>
              <a:rPr sz="2200">
                <a:solidFill>
                  <a:srgbClr val="1F2937"/>
                </a:solidFill>
                <a:latin typeface="Calibri"/>
              </a:rPr>
              <a:t>▸  Giyohvand moddalarda tolerantlik bilan ruhiy-jismoniy bog‘liqlik shakllanadi: ko‘proq qabul qilishga intilish, qabul qilinmasa abstinensiya sindromi.</a:t>
            </a:r>
          </a:p>
          <a:p>
            <a:pPr>
              <a:spcAft>
                <a:spcPts val="1200"/>
              </a:spcAft>
            </a:pPr>
            <a:r>
              <a:rPr sz="2200">
                <a:solidFill>
                  <a:srgbClr val="1F2937"/>
                </a:solidFill>
                <a:latin typeface="Calibri"/>
              </a:rPr>
              <a:t>▸  Narkomaniya — narkotik deb tan olingan vositalarni nodavolash maqsadida qo‘llash kasalligi; toksikomaniya — ro‘yxatga kirmagan moddalar bilan.</a:t>
            </a:r>
          </a:p>
          <a:p>
            <a:pPr>
              <a:spcAft>
                <a:spcPts val="1200"/>
              </a:spcAft>
            </a:pPr>
            <a:r>
              <a:rPr sz="2200">
                <a:solidFill>
                  <a:srgbClr val="1F2937"/>
                </a:solidFill>
                <a:latin typeface="Calibri"/>
              </a:rPr>
              <a:t>▸  Diqqat: narkotik deyilishi uchun tibbiy, ijtimoiy va huquqiy mezonlar birga bo‘lishi shart; bittasi yo‘q bo‘lsa, modda narkotik emas.</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134; Baizoldanov T. (Байзолданов Т.)., Токсикологическая химия: учебник, betlar: 61, 60-61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Zaharning kirish yo‘llari va tashqi sharoit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81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Kirish yo‘llari: teri, og‘iz, nafas yo‘llari, to‘g‘ri ichak, in’eksiya. Qonga tez o‘tsa, ta’sir kuchli.</a:t>
            </a:r>
          </a:p>
          <a:p>
            <a:pPr>
              <a:spcAft>
                <a:spcPts val="800"/>
              </a:spcAft>
            </a:pPr>
            <a:r>
              <a:rPr sz="1800">
                <a:solidFill>
                  <a:srgbClr val="1F2937"/>
                </a:solidFill>
                <a:latin typeface="Calibri"/>
              </a:rPr>
              <a:t>▸  Yog‘da yaxshi eriydigan moddalar (fosfororganik) shikastlanmagan teri orqali ham so‘riladi.</a:t>
            </a:r>
          </a:p>
          <a:p>
            <a:pPr>
              <a:spcAft>
                <a:spcPts val="800"/>
              </a:spcAft>
            </a:pPr>
            <a:r>
              <a:rPr sz="1800">
                <a:solidFill>
                  <a:srgbClr val="1F2937"/>
                </a:solidFill>
                <a:latin typeface="Calibri"/>
              </a:rPr>
              <a:t>▸  Kasbiy zaharlanishda tashqi sharoit muhim; vodorod sulfid kanalizatsiya quduqlarida kuzatiladi.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2429610"/>
                <a:gridCol w="2858364"/>
              </a:tblGrid>
              <a:tr h="411480">
                <a:tc>
                  <a:txBody>
                    <a:bodyPr/>
                    <a:lstStyle/>
                    <a:p>
                      <a:r>
                        <a:rPr sz="1400" b="1">
                          <a:solidFill>
                            <a:srgbClr val="FFFFFF"/>
                          </a:solidFill>
                        </a:rPr>
                        <a:t>Holat</a:t>
                      </a:r>
                    </a:p>
                  </a:txBody>
                  <a:tcPr marL="73152" marR="73152" marT="36576" marB="36576">
                    <a:solidFill>
                      <a:srgbClr val="0B1F3A"/>
                    </a:solidFill>
                  </a:tcPr>
                </a:tc>
                <a:tc>
                  <a:txBody>
                    <a:bodyPr/>
                    <a:lstStyle/>
                    <a:p>
                      <a:r>
                        <a:rPr sz="1400" b="1">
                          <a:solidFill>
                            <a:srgbClr val="FFFFFF"/>
                          </a:solidFill>
                        </a:rPr>
                        <a:t>Natija</a:t>
                      </a:r>
                    </a:p>
                  </a:txBody>
                  <a:tcPr marL="73152" marR="73152" marT="36576" marB="36576">
                    <a:solidFill>
                      <a:srgbClr val="0B1F3A"/>
                    </a:solidFill>
                  </a:tcPr>
                </a:tc>
              </a:tr>
              <a:tr h="411480">
                <a:tc>
                  <a:txBody>
                    <a:bodyPr/>
                    <a:lstStyle/>
                    <a:p>
                      <a:r>
                        <a:rPr sz="1300" b="0">
                          <a:solidFill>
                            <a:srgbClr val="1F2937"/>
                          </a:solidFill>
                        </a:rPr>
                        <a:t>Nafas yo‘llari, to‘g‘ri ichak, qin</a:t>
                      </a:r>
                    </a:p>
                  </a:txBody>
                  <a:tcPr marL="73152" marR="73152" marT="36576" marB="36576">
                    <a:solidFill>
                      <a:srgbClr val="E8EEF6"/>
                    </a:solidFill>
                  </a:tcPr>
                </a:tc>
                <a:tc>
                  <a:txBody>
                    <a:bodyPr/>
                    <a:lstStyle/>
                    <a:p>
                      <a:r>
                        <a:rPr sz="1300" b="0">
                          <a:solidFill>
                            <a:srgbClr val="1F2937"/>
                          </a:solidFill>
                        </a:rPr>
                        <a:t>Jigardan o‘tmaydi, ta’sir kuchliroq</a:t>
                      </a:r>
                    </a:p>
                  </a:txBody>
                  <a:tcPr marL="73152" marR="73152" marT="36576" marB="36576">
                    <a:solidFill>
                      <a:srgbClr val="E8EEF6"/>
                    </a:solidFill>
                  </a:tcPr>
                </a:tc>
              </a:tr>
              <a:tr h="411480">
                <a:tc>
                  <a:txBody>
                    <a:bodyPr/>
                    <a:lstStyle/>
                    <a:p>
                      <a:r>
                        <a:rPr sz="1300" b="0">
                          <a:solidFill>
                            <a:srgbClr val="1F2937"/>
                          </a:solidFill>
                        </a:rPr>
                        <a:t>Oshqozon va ichak shilliq qavati</a:t>
                      </a:r>
                    </a:p>
                  </a:txBody>
                  <a:tcPr marL="73152" marR="73152" marT="36576" marB="36576">
                    <a:solidFill>
                      <a:srgbClr val="FFFFFF"/>
                    </a:solidFill>
                  </a:tcPr>
                </a:tc>
                <a:tc>
                  <a:txBody>
                    <a:bodyPr/>
                    <a:lstStyle/>
                    <a:p>
                      <a:r>
                        <a:rPr sz="1300" b="0">
                          <a:solidFill>
                            <a:srgbClr val="1F2937"/>
                          </a:solidFill>
                        </a:rPr>
                        <a:t>Jigardan o‘tadi, ta’sir kuchsizroq</a:t>
                      </a:r>
                    </a:p>
                  </a:txBody>
                  <a:tcPr marL="73152" marR="73152" marT="36576" marB="36576">
                    <a:solidFill>
                      <a:srgbClr val="FFFFFF"/>
                    </a:solidFill>
                  </a:tcPr>
                </a:tc>
              </a:tr>
              <a:tr h="411480">
                <a:tc>
                  <a:txBody>
                    <a:bodyPr/>
                    <a:lstStyle/>
                    <a:p>
                      <a:r>
                        <a:rPr sz="1300" b="0">
                          <a:solidFill>
                            <a:srgbClr val="1F2937"/>
                          </a:solidFill>
                        </a:rPr>
                        <a:t>Yopiq, issiq, nam muhit</a:t>
                      </a:r>
                    </a:p>
                  </a:txBody>
                  <a:tcPr marL="73152" marR="73152" marT="36576" marB="36576">
                    <a:solidFill>
                      <a:srgbClr val="E8EEF6"/>
                    </a:solidFill>
                  </a:tcPr>
                </a:tc>
                <a:tc>
                  <a:txBody>
                    <a:bodyPr/>
                    <a:lstStyle/>
                    <a:p>
                      <a:r>
                        <a:rPr sz="1300" b="0">
                          <a:solidFill>
                            <a:srgbClr val="1F2937"/>
                          </a:solidFill>
                        </a:rPr>
                        <a:t>Alkogol, is gazi zaharlanishiga moyillik</a:t>
                      </a:r>
                    </a:p>
                  </a:txBody>
                  <a:tcPr marL="73152" marR="73152" marT="36576" marB="36576">
                    <a:solidFill>
                      <a:srgbClr val="E8EEF6"/>
                    </a:solidFill>
                  </a:tcPr>
                </a:tc>
              </a:tr>
              <a:tr h="411480">
                <a:tc>
                  <a:txBody>
                    <a:bodyPr/>
                    <a:lstStyle/>
                    <a:p>
                      <a:r>
                        <a:rPr sz="1300" b="0">
                          <a:solidFill>
                            <a:srgbClr val="1F2937"/>
                          </a:solidFill>
                        </a:rPr>
                        <a:t>Ochiq, past harorat va namlik</a:t>
                      </a:r>
                    </a:p>
                  </a:txBody>
                  <a:tcPr marL="73152" marR="73152" marT="36576" marB="36576">
                    <a:solidFill>
                      <a:srgbClr val="FFFFFF"/>
                    </a:solidFill>
                  </a:tcPr>
                </a:tc>
                <a:tc>
                  <a:txBody>
                    <a:bodyPr/>
                    <a:lstStyle/>
                    <a:p>
                      <a:r>
                        <a:rPr sz="1300" b="0">
                          <a:solidFill>
                            <a:srgbClr val="1F2937"/>
                          </a:solidFill>
                        </a:rPr>
                        <a:t>Ta’sirni susaytiradi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Yo‘l va sharoit ta’siri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134, 135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omillar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81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Tezkor savol: zaharlanishda nechta omillar guruhi ahamiyatli? To‘rtta: zaharli modda, organizm, kirish yo‘li va ta’sir vaqtidagi tashqi shart-sharoit.</a:t>
            </a:r>
          </a:p>
          <a:p>
            <a:pPr>
              <a:spcAft>
                <a:spcPts val="1200"/>
              </a:spcAft>
            </a:pPr>
            <a:r>
              <a:rPr sz="2200">
                <a:solidFill>
                  <a:srgbClr val="1F2937"/>
                </a:solidFill>
                <a:latin typeface="Calibri"/>
              </a:rPr>
              <a:t>▸  Savol: fosfororganik birikma nega teri orqali ham xavfli? Chunki yog‘da yaxshi eriydi va shikastlanmagan terdan ham qonga so‘riladi.</a:t>
            </a:r>
          </a:p>
          <a:p>
            <a:pPr>
              <a:spcAft>
                <a:spcPts val="1200"/>
              </a:spcAft>
            </a:pPr>
            <a:r>
              <a:rPr sz="2200">
                <a:solidFill>
                  <a:srgbClr val="1F2937"/>
                </a:solidFill>
                <a:latin typeface="Calibri"/>
              </a:rPr>
              <a:t>▸  Savol: qaysi yo‘l bilan kirgan zahar kuchliroq? Nafas yo‘llari, to‘g‘ri ichak va qindan so‘rilgani: u jigardan o‘tmaydi, oshqozon-ichakdan so‘rilganidan kuchliroq ta’sir qiladi.</a:t>
            </a:r>
          </a:p>
          <a:p>
            <a:pPr>
              <a:spcAft>
                <a:spcPts val="1200"/>
              </a:spcAft>
            </a:pPr>
            <a:r>
              <a:rPr sz="2200">
                <a:solidFill>
                  <a:srgbClr val="1F2937"/>
                </a:solidFill>
                <a:latin typeface="Calibri"/>
              </a:rPr>
              <a:t>▸  Diqqat: xato qilish xavfi! Is gazi ≠ karbonat angidrid. Ikkalasi uglerod va kisloroddan iborat, lekin toksik xususiyatlari bir xil emas.</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132, 133, 135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omillar va zaharlanish kuchi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81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uch yoshli bola kichik qadahdagi aroqni ichib, halok bo‘lgan. Savol: bu qaysi omil guruhiga kiradi, nega?</a:t>
            </a:r>
          </a:p>
          <a:p>
            <a:pPr>
              <a:spcAft>
                <a:spcPts val="1200"/>
              </a:spcAft>
            </a:pPr>
            <a:r>
              <a:rPr sz="2200">
                <a:solidFill>
                  <a:srgbClr val="1F2937"/>
                </a:solidFill>
                <a:latin typeface="Calibri"/>
              </a:rPr>
              <a:t>▸  Javob: yosh omili. Bolalar kattalarga nisbatan sezgirroq: vazni kichik, umumiy qarshilik ko‘rsatish tizimi to‘liq shakllanmagan.</a:t>
            </a:r>
          </a:p>
          <a:p>
            <a:pPr>
              <a:spcAft>
                <a:spcPts val="1200"/>
              </a:spcAft>
            </a:pPr>
            <a:r>
              <a:rPr sz="2200">
                <a:solidFill>
                  <a:srgbClr val="1F2937"/>
                </a:solidFill>
                <a:latin typeface="Calibri"/>
              </a:rPr>
              <a:t>▸  Fenol: konsentrlangan eritmasi faqat mahalliy kimyoviy kuyish beradi, suyultirilgani rezorbtiv ta’sir qilib, ichki a’zolar va miyani shikastlaydi.</a:t>
            </a:r>
          </a:p>
          <a:p>
            <a:pPr>
              <a:spcAft>
                <a:spcPts val="1200"/>
              </a:spcAft>
            </a:pPr>
            <a:r>
              <a:rPr sz="2200">
                <a:solidFill>
                  <a:srgbClr val="1F2937"/>
                </a:solidFill>
                <a:latin typeface="Calibri"/>
              </a:rPr>
              <a:t>▸  Savol: fosfororganik birikma bilan ishlagan kishining terisiga zahar tushsa-chi? Yog‘da erishi tufayli u shikastlanmagan teri orqali ham qonga o‘tadi.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Iskandarov A.I., Qo‘ldoshev D.R., Sud tibbiyoti, betlar: 287; G‘iyosov Z.A., Sud tibbiyoti: darslik, betlar: 134, 133, 135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Zaharlanishning sud-tibbiy diagnostikasi: 3 bosqich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81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1-bosqich: voqea joyini ko‘zdan kechirish, tibbiy hujjatlar bilan tanishish; ashyoviy dalillar olinadi.</a:t>
            </a:r>
          </a:p>
          <a:p>
            <a:pPr>
              <a:spcAft>
                <a:spcPts val="1200"/>
              </a:spcAft>
            </a:pPr>
            <a:r>
              <a:rPr sz="2200">
                <a:solidFill>
                  <a:srgbClr val="1F2937"/>
                </a:solidFill>
                <a:latin typeface="Calibri"/>
              </a:rPr>
              <a:t>▸  2-bosqich: murda dog‘lari, hid, mushak qotishi; 3-bosqich: laboratoriya («uch nuqta» qoidasi).</a:t>
            </a:r>
          </a:p>
          <a:p>
            <a:pPr>
              <a:spcAft>
                <a:spcPts val="1200"/>
              </a:spcAft>
            </a:pPr>
            <a:r>
              <a:rPr sz="2200">
                <a:solidFill>
                  <a:srgbClr val="1F2937"/>
                </a:solidFill>
                <a:latin typeface="Calibri"/>
              </a:rPr>
              <a:t>▸  Ekspert hal etadi: zaharlanish bo‘lganmi, qaysi modda, qaysi yo‘l, qanday doza.</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135, 135–136; Iskandarov A.I., Qo‘ldoshev D.R., Sud tibbiyoti, betlar: 293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joyini ko‘zdan kechirish va hujjatlar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81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Voqea joyida zaharga shubha qilingan idishlar, o‘ramlar, qusuq va oshqozon yuvindisi yig‘ilib, o‘ralib, sud-kimyoviy tekshiruvga jo‘natiladi.</a:t>
            </a:r>
          </a:p>
          <a:p>
            <a:pPr>
              <a:spcAft>
                <a:spcPts val="1200"/>
              </a:spcAft>
            </a:pPr>
            <a:r>
              <a:rPr sz="2200">
                <a:solidFill>
                  <a:srgbClr val="1F2937"/>
                </a:solidFill>
                <a:latin typeface="Calibri"/>
              </a:rPr>
              <a:t>▸  Bo‘sh idishlar ham olinadi, chunki ularning yuvindisidan zahar topilishi mumkin. Qusuqda zahar bo‘lib, ichki a’zolarda bo‘lmasligi ham mumkin.</a:t>
            </a:r>
          </a:p>
          <a:p>
            <a:pPr>
              <a:spcAft>
                <a:spcPts val="1200"/>
              </a:spcAft>
            </a:pPr>
            <a:r>
              <a:rPr sz="2200">
                <a:solidFill>
                  <a:srgbClr val="1F2937"/>
                </a:solidFill>
                <a:latin typeface="Calibri"/>
              </a:rPr>
              <a:t>▸  Tibbiy hujjatlar muhim: morfologik o‘zgarish qoldirmaydigan zaharlarda klinik tavsif va avvalgi laboratoriya natijalari salmoqli dalil bo‘ladi.</a:t>
            </a:r>
          </a:p>
          <a:p>
            <a:pPr>
              <a:spcAft>
                <a:spcPts val="1200"/>
              </a:spcAft>
            </a:pPr>
            <a:r>
              <a:rPr sz="2200">
                <a:solidFill>
                  <a:srgbClr val="1F2937"/>
                </a:solidFill>
                <a:latin typeface="Calibri"/>
              </a:rPr>
              <a:t>▸  Diqqat: xato qilish xavfi — bitta klinik belgiga (masalan, qusishga) qarab tashxis qo‘yib bo‘lmaydi; qusish bosh miya jarohatida ham bo‘ladi.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Iskandarov A.I., Qo‘ldoshev D.R., Sud tibbiyoti, betlar: 294-295, 293-294; G‘iyosov Z.A., Sud tibbiyoti: darslik, betlar: 135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Murdaning tashqi va ichki belgilari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81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Tashqi ko‘rikda og‘iz atrofi dog‘i, qorachiq holati, teri rangi va ichki a’zolar hidiga e’tibor beriladi.</a:t>
            </a:r>
          </a:p>
          <a:p>
            <a:pPr>
              <a:spcAft>
                <a:spcPts val="800"/>
              </a:spcAft>
            </a:pPr>
            <a:r>
              <a:rPr sz="1800">
                <a:solidFill>
                  <a:srgbClr val="1F2937"/>
                </a:solidFill>
                <a:latin typeface="Calibri"/>
              </a:rPr>
              <a:t>▸  Kesishda suv va antiseptik ishlatilmaydi, chunki zaharli moddalar yuvilib ketishi mumkin.</a:t>
            </a:r>
          </a:p>
          <a:p>
            <a:pPr>
              <a:spcAft>
                <a:spcPts val="800"/>
              </a:spcAft>
            </a:pPr>
            <a:r>
              <a:rPr sz="1800">
                <a:solidFill>
                  <a:srgbClr val="1F2937"/>
                </a:solidFill>
                <a:latin typeface="Calibri"/>
              </a:rPr>
              <a:t>▸  Avval yurak kesilib qon olinadi, so‘ng uchlari bog‘langan oshqozon va ichaklar ajratiladi.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2726612"/>
                <a:gridCol w="2561362"/>
              </a:tblGrid>
              <a:tr h="411480">
                <a:tc>
                  <a:txBody>
                    <a:bodyPr/>
                    <a:lstStyle/>
                    <a:p>
                      <a:r>
                        <a:rPr sz="1400" b="1">
                          <a:solidFill>
                            <a:srgbClr val="FFFFFF"/>
                          </a:solidFill>
                        </a:rPr>
                        <a:t>Belgi</a:t>
                      </a:r>
                    </a:p>
                  </a:txBody>
                  <a:tcPr marL="73152" marR="73152" marT="36576" marB="36576">
                    <a:solidFill>
                      <a:srgbClr val="0B1F3A"/>
                    </a:solidFill>
                  </a:tcPr>
                </a:tc>
                <a:tc>
                  <a:txBody>
                    <a:bodyPr/>
                    <a:lstStyle/>
                    <a:p>
                      <a:r>
                        <a:rPr sz="1400" b="1">
                          <a:solidFill>
                            <a:srgbClr val="FFFFFF"/>
                          </a:solidFill>
                        </a:rPr>
                        <a:t>Ehtimol zahar</a:t>
                      </a:r>
                    </a:p>
                  </a:txBody>
                  <a:tcPr marL="73152" marR="73152" marT="36576" marB="36576">
                    <a:solidFill>
                      <a:srgbClr val="0B1F3A"/>
                    </a:solidFill>
                  </a:tcPr>
                </a:tc>
              </a:tr>
              <a:tr h="411480">
                <a:tc>
                  <a:txBody>
                    <a:bodyPr/>
                    <a:lstStyle/>
                    <a:p>
                      <a:r>
                        <a:rPr sz="1300" b="0">
                          <a:solidFill>
                            <a:srgbClr val="1F2937"/>
                          </a:solidFill>
                        </a:rPr>
                        <a:t>Och qizil murda dog‘lari</a:t>
                      </a:r>
                    </a:p>
                  </a:txBody>
                  <a:tcPr marL="73152" marR="73152" marT="36576" marB="36576">
                    <a:solidFill>
                      <a:srgbClr val="E8EEF6"/>
                    </a:solidFill>
                  </a:tcPr>
                </a:tc>
                <a:tc>
                  <a:txBody>
                    <a:bodyPr/>
                    <a:lstStyle/>
                    <a:p>
                      <a:r>
                        <a:rPr sz="1300" b="0">
                          <a:solidFill>
                            <a:srgbClr val="1F2937"/>
                          </a:solidFill>
                        </a:rPr>
                        <a:t>Is gazi</a:t>
                      </a:r>
                    </a:p>
                  </a:txBody>
                  <a:tcPr marL="73152" marR="73152" marT="36576" marB="36576">
                    <a:solidFill>
                      <a:srgbClr val="E8EEF6"/>
                    </a:solidFill>
                  </a:tcPr>
                </a:tc>
              </a:tr>
              <a:tr h="411480">
                <a:tc>
                  <a:txBody>
                    <a:bodyPr/>
                    <a:lstStyle/>
                    <a:p>
                      <a:r>
                        <a:rPr sz="1300" b="0">
                          <a:solidFill>
                            <a:srgbClr val="1F2937"/>
                          </a:solidFill>
                        </a:rPr>
                        <a:t>Qo‘ng‘ir murda dog‘lari</a:t>
                      </a:r>
                    </a:p>
                  </a:txBody>
                  <a:tcPr marL="73152" marR="73152" marT="36576" marB="36576">
                    <a:solidFill>
                      <a:srgbClr val="FFFFFF"/>
                    </a:solidFill>
                  </a:tcPr>
                </a:tc>
                <a:tc>
                  <a:txBody>
                    <a:bodyPr/>
                    <a:lstStyle/>
                    <a:p>
                      <a:r>
                        <a:rPr sz="1300" b="0">
                          <a:solidFill>
                            <a:srgbClr val="1F2937"/>
                          </a:solidFill>
                        </a:rPr>
                        <a:t>Metgemoglobin hosil qiluvchilar</a:t>
                      </a:r>
                    </a:p>
                  </a:txBody>
                  <a:tcPr marL="73152" marR="73152" marT="36576" marB="36576">
                    <a:solidFill>
                      <a:srgbClr val="FFFFFF"/>
                    </a:solidFill>
                  </a:tcPr>
                </a:tc>
              </a:tr>
              <a:tr h="411480">
                <a:tc>
                  <a:txBody>
                    <a:bodyPr/>
                    <a:lstStyle/>
                    <a:p>
                      <a:r>
                        <a:rPr sz="1300" b="0">
                          <a:solidFill>
                            <a:srgbClr val="1F2937"/>
                          </a:solidFill>
                        </a:rPr>
                        <a:t>Mushak qotishi kuchli rivojlangan</a:t>
                      </a:r>
                    </a:p>
                  </a:txBody>
                  <a:tcPr marL="73152" marR="73152" marT="36576" marB="36576">
                    <a:solidFill>
                      <a:srgbClr val="E8EEF6"/>
                    </a:solidFill>
                  </a:tcPr>
                </a:tc>
                <a:tc>
                  <a:txBody>
                    <a:bodyPr/>
                    <a:lstStyle/>
                    <a:p>
                      <a:r>
                        <a:rPr sz="1300" b="0">
                          <a:solidFill>
                            <a:srgbClr val="1F2937"/>
                          </a:solidFill>
                        </a:rPr>
                        <a:t>Strixnin</a:t>
                      </a:r>
                    </a:p>
                  </a:txBody>
                  <a:tcPr marL="73152" marR="73152" marT="36576" marB="36576">
                    <a:solidFill>
                      <a:srgbClr val="E8EEF6"/>
                    </a:solidFill>
                  </a:tcPr>
                </a:tc>
              </a:tr>
              <a:tr h="411480">
                <a:tc>
                  <a:txBody>
                    <a:bodyPr/>
                    <a:lstStyle/>
                    <a:p>
                      <a:r>
                        <a:rPr sz="1300" b="0">
                          <a:solidFill>
                            <a:srgbClr val="1F2937"/>
                          </a:solidFill>
                        </a:rPr>
                        <a:t>Sarg‘ish teri va ko‘z pardasi</a:t>
                      </a:r>
                    </a:p>
                  </a:txBody>
                  <a:tcPr marL="73152" marR="73152" marT="36576" marB="36576">
                    <a:solidFill>
                      <a:srgbClr val="FFFFFF"/>
                    </a:solidFill>
                  </a:tcPr>
                </a:tc>
                <a:tc>
                  <a:txBody>
                    <a:bodyPr/>
                    <a:lstStyle/>
                    <a:p>
                      <a:r>
                        <a:rPr sz="1300" b="0">
                          <a:solidFill>
                            <a:srgbClr val="1F2937"/>
                          </a:solidFill>
                        </a:rPr>
                        <a:t>Gemolitik zaharlar</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Belgi va ehtimoliy zahar</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Iskandarov A.I., Qo‘ldoshev D.R., Sud tibbiyoti, betlar: 295-296, 296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Laboratoriya tekshiruvlari va ob’ekt tanlash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81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Eng ko‘p sud-kimyoviy tekshiruv o‘tkaziladi, sifat va miqdor aniqlanadi. Gistologik, biokimyoviy, farmakologik, botanik va fizik usullar ham qo‘llanadi.</a:t>
            </a:r>
          </a:p>
          <a:p>
            <a:pPr>
              <a:spcAft>
                <a:spcPts val="1200"/>
              </a:spcAft>
            </a:pPr>
            <a:r>
              <a:rPr sz="2000">
                <a:solidFill>
                  <a:srgbClr val="1F2937"/>
                </a:solidFill>
                <a:latin typeface="Calibri"/>
              </a:rPr>
              <a:t>▸  “Uch nuqta” qoidasi: zahar kirgan, asosan ta’sir etgan va chiqqan joylardan ob’ekt olinadi. Og‘iz orqali kirganda oshqozon massasi, jigar bo‘lagi, siydikli buyrak olinadi.</a:t>
            </a:r>
          </a:p>
          <a:p>
            <a:pPr>
              <a:spcAft>
                <a:spcPts val="1200"/>
              </a:spcAft>
            </a:pPr>
            <a:r>
              <a:rPr sz="2000">
                <a:solidFill>
                  <a:srgbClr val="1F2937"/>
                </a:solidFill>
                <a:latin typeface="Calibri"/>
              </a:rPr>
              <a:t>▸  Noma’lum zaharda: bosh miyaning 1/3, o‘pkaning 1/4, jigarning 1/3 o‘t qopi bilan, butun buyrak siydik bilan, oshqozon massasi, ichak va 100-200 ml qon olinadi.</a:t>
            </a:r>
          </a:p>
          <a:p>
            <a:pPr>
              <a:spcAft>
                <a:spcPts val="1200"/>
              </a:spcAft>
            </a:pPr>
            <a:r>
              <a:rPr sz="2000">
                <a:solidFill>
                  <a:srgbClr val="1F2937"/>
                </a:solidFill>
                <a:latin typeface="Calibri"/>
              </a:rPr>
              <a:t>▸  Diqqat: zahar topilishi yoki topilmasligi o‘z-o‘zidan isbot emas — u murdaga keyin o‘tishi, organizmdan chiqishi yoki emirilishi mumkin.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136; Iskandarov A.I., Qo‘ldoshev D.R., Sud tibbiyoti, betlar: 298-299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Natijalarni baholash va ekshumatsiya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81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Go‘rdan ochilgan murdada kiyim, tobut qoplamasi, bezaklari va murda tegib turgan tuproqdan ham namuna olinadi (tuproqdan 6 ta).</a:t>
            </a:r>
          </a:p>
          <a:p>
            <a:pPr>
              <a:spcAft>
                <a:spcPts val="1200"/>
              </a:spcAft>
            </a:pPr>
            <a:r>
              <a:rPr sz="2000">
                <a:solidFill>
                  <a:srgbClr val="1F2937"/>
                </a:solidFill>
                <a:latin typeface="Calibri"/>
              </a:rPr>
              <a:t>▸  Alkogol va kaliy sianid uzoq saqlanmaydi. Margimush, og‘ir metall tuzlari va strixnin yaxshi saqlanadi, shuning uchun uzoq ko‘milgan murdada ham topilishi mumkin.</a:t>
            </a:r>
          </a:p>
          <a:p>
            <a:pPr>
              <a:spcAft>
                <a:spcPts val="1200"/>
              </a:spcAft>
            </a:pPr>
            <a:r>
              <a:rPr sz="2000">
                <a:solidFill>
                  <a:srgbClr val="1F2937"/>
                </a:solidFill>
                <a:latin typeface="Calibri"/>
              </a:rPr>
              <a:t>▸  Diqqat: zaharning topilishi har doim zaharlanishni isbotlamaydi. Modda o‘limdan keyin tashqi muhitdan, tobut qoplamasidan yoki iflos idishdan murdaga o‘tishi mumkin.</a:t>
            </a:r>
          </a:p>
          <a:p>
            <a:pPr>
              <a:spcAft>
                <a:spcPts val="1200"/>
              </a:spcAft>
            </a:pPr>
            <a:r>
              <a:rPr sz="2000">
                <a:solidFill>
                  <a:srgbClr val="1F2937"/>
                </a:solidFill>
                <a:latin typeface="Calibri"/>
              </a:rPr>
              <a:t>▸  Salbiy natija ham zaharlanishni inkor etmaydi: modda o‘lim oldidan organizmdan to‘liq chiqib ketgan yoki parchalangan (biotransformatsiyaga uchragan) bo‘lishi mumkin.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Iskandarov A.I., Qo‘ldoshev D.R., Sud tibbiyoti, betlar: 298, 298-299; Харин Г.М. (Kharin G.M.)., Краткий курс судебной медицины: учебное пособие, betlar: 131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diagnostik xato</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81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Misol 1: ko‘chadan xushsiz yosh erkak keltirilgan, og‘zidan kuchli alkogol hidi kelgan, kiyimida qusuq izlari bo‘lgan. Vrach og‘ir alkogol zaharlanishi deb oshqozonini yuvgan.</a:t>
            </a:r>
          </a:p>
          <a:p>
            <a:pPr>
              <a:spcAft>
                <a:spcPts val="1200"/>
              </a:spcAft>
            </a:pPr>
            <a:r>
              <a:rPr sz="2000">
                <a:solidFill>
                  <a:srgbClr val="1F2937"/>
                </a:solidFill>
                <a:latin typeface="Calibri"/>
              </a:rPr>
              <a:t>▸  U bir necha soatdan keyin vafot etgan. Murdada kalla suyagi g‘umbazining sinishi va epidural gematoma topilgan: bosh jarohati o‘z vaqtida aniqlanmagan.</a:t>
            </a:r>
          </a:p>
          <a:p>
            <a:pPr>
              <a:spcAft>
                <a:spcPts val="1200"/>
              </a:spcAft>
            </a:pPr>
            <a:r>
              <a:rPr sz="2000">
                <a:solidFill>
                  <a:srgbClr val="1F2937"/>
                </a:solidFill>
                <a:latin typeface="Calibri"/>
              </a:rPr>
              <a:t>▸  Misol 2: 3 yoshli qizchada talvasa, og‘zidan ko‘pik va qon bo‘lgan; ichki qon ketish deb o‘ylangan. Kalla ochilganda qon topilmagan, oshqozonida piramidon aniqlangan (yiqilishdan oldin 10 tabletka ichgan).</a:t>
            </a:r>
          </a:p>
          <a:p>
            <a:pPr>
              <a:spcAft>
                <a:spcPts val="1200"/>
              </a:spcAft>
            </a:pPr>
            <a:r>
              <a:rPr sz="2000">
                <a:solidFill>
                  <a:srgbClr val="1F2937"/>
                </a:solidFill>
                <a:latin typeface="Calibri"/>
              </a:rPr>
              <a:t>▸  Savol: qusish, bexushlik yoki alkogol hidi bitta o‘zi tashxis uchun yetarlimi? Qusish bosh miyaga qon quyilishida ham bo‘lishi mumkin.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Iskandarov A.I., Qo‘ldoshev D.R., Sud tibbiyoti, betlar: 293-294, 294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Toksikokinetika va toksikodinamika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81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Toksikokinetika: zaharning kirishi, taqsimlanishi, metabolizmi va chiqarilishi. Biotransformatsiya asosan jigarda kechadi.</a:t>
            </a:r>
          </a:p>
          <a:p>
            <a:pPr>
              <a:spcAft>
                <a:spcPts val="800"/>
              </a:spcAft>
            </a:pPr>
            <a:r>
              <a:rPr sz="1800">
                <a:solidFill>
                  <a:srgbClr val="1F2937"/>
                </a:solidFill>
                <a:latin typeface="Calibri"/>
              </a:rPr>
              <a:t>▸  Toksikodinamika: organizmning zahar va uning metabolitiga javob reaksiyalari majmui.</a:t>
            </a:r>
          </a:p>
          <a:p>
            <a:pPr>
              <a:spcAft>
                <a:spcPts val="800"/>
              </a:spcAft>
            </a:pPr>
            <a:r>
              <a:rPr sz="1800">
                <a:solidFill>
                  <a:srgbClr val="1F2937"/>
                </a:solidFill>
                <a:latin typeface="Calibri"/>
              </a:rPr>
              <a:t>▸  Sirka kislotasi: birlamchi ta’sir — kimyoviy kuyish; keyingi — gemoliz; metatoksik — toksik gepatit va nefroz.</a:t>
            </a:r>
          </a:p>
        </p:txBody>
      </p:sp>
      <p:graphicFrame>
        <p:nvGraphicFramePr>
          <p:cNvPr id="9" name="Table 8"/>
          <p:cNvGraphicFramePr>
            <a:graphicFrameLocks noGrp="1"/>
          </p:cNvGraphicFramePr>
          <p:nvPr/>
        </p:nvGraphicFramePr>
        <p:xfrm>
          <a:off x="6263640" y="1463040"/>
          <a:ext cx="5287973" cy="1645920"/>
        </p:xfrm>
        <a:graphic>
          <a:graphicData uri="http://schemas.openxmlformats.org/drawingml/2006/table">
            <a:tbl>
              <a:tblPr firstRow="1" bandRow="1">
                <a:tableStyleId>{5C22544A-7EE6-4342-B048-85BDC9FD1C3A}</a:tableStyleId>
              </a:tblPr>
              <a:tblGrid>
                <a:gridCol w="1387009"/>
                <a:gridCol w="1473697"/>
                <a:gridCol w="2427267"/>
              </a:tblGrid>
              <a:tr h="411480">
                <a:tc>
                  <a:txBody>
                    <a:bodyPr/>
                    <a:lstStyle/>
                    <a:p>
                      <a:r>
                        <a:rPr sz="1300" b="1">
                          <a:solidFill>
                            <a:srgbClr val="FFFFFF"/>
                          </a:solidFill>
                        </a:rPr>
                        <a:t>Modda</a:t>
                      </a:r>
                    </a:p>
                  </a:txBody>
                  <a:tcPr marL="73152" marR="73152" marT="36576" marB="36576">
                    <a:solidFill>
                      <a:srgbClr val="0B1F3A"/>
                    </a:solidFill>
                  </a:tcPr>
                </a:tc>
                <a:tc>
                  <a:txBody>
                    <a:bodyPr/>
                    <a:lstStyle/>
                    <a:p>
                      <a:r>
                        <a:rPr sz="1300" b="1">
                          <a:solidFill>
                            <a:srgbClr val="FFFFFF"/>
                          </a:solidFill>
                        </a:rPr>
                        <a:t>Metabolit</a:t>
                      </a:r>
                    </a:p>
                  </a:txBody>
                  <a:tcPr marL="73152" marR="73152" marT="36576" marB="36576">
                    <a:solidFill>
                      <a:srgbClr val="0B1F3A"/>
                    </a:solidFill>
                  </a:tcPr>
                </a:tc>
                <a:tc>
                  <a:txBody>
                    <a:bodyPr/>
                    <a:lstStyle/>
                    <a:p>
                      <a:r>
                        <a:rPr sz="1300" b="1">
                          <a:solidFill>
                            <a:srgbClr val="FFFFFF"/>
                          </a:solidFill>
                        </a:rPr>
                        <a:t>Ta’siri</a:t>
                      </a:r>
                    </a:p>
                  </a:txBody>
                  <a:tcPr marL="73152" marR="73152" marT="36576" marB="36576">
                    <a:solidFill>
                      <a:srgbClr val="0B1F3A"/>
                    </a:solidFill>
                  </a:tcPr>
                </a:tc>
              </a:tr>
              <a:tr h="411480">
                <a:tc>
                  <a:txBody>
                    <a:bodyPr/>
                    <a:lstStyle/>
                    <a:p>
                      <a:r>
                        <a:rPr sz="1200" b="0">
                          <a:solidFill>
                            <a:srgbClr val="1F2937"/>
                          </a:solidFill>
                        </a:rPr>
                        <a:t>Metil spirti</a:t>
                      </a:r>
                    </a:p>
                  </a:txBody>
                  <a:tcPr marL="73152" marR="73152" marT="36576" marB="36576">
                    <a:solidFill>
                      <a:srgbClr val="E8EEF6"/>
                    </a:solidFill>
                  </a:tcPr>
                </a:tc>
                <a:tc>
                  <a:txBody>
                    <a:bodyPr/>
                    <a:lstStyle/>
                    <a:p>
                      <a:r>
                        <a:rPr sz="1200" b="0">
                          <a:solidFill>
                            <a:srgbClr val="1F2937"/>
                          </a:solidFill>
                        </a:rPr>
                        <a:t>Formaldegid</a:t>
                      </a:r>
                    </a:p>
                  </a:txBody>
                  <a:tcPr marL="73152" marR="73152" marT="36576" marB="36576">
                    <a:solidFill>
                      <a:srgbClr val="E8EEF6"/>
                    </a:solidFill>
                  </a:tcPr>
                </a:tc>
                <a:tc>
                  <a:txBody>
                    <a:bodyPr/>
                    <a:lstStyle/>
                    <a:p>
                      <a:r>
                        <a:rPr sz="1200" b="0">
                          <a:solidFill>
                            <a:srgbClr val="1F2937"/>
                          </a:solidFill>
                        </a:rPr>
                        <a:t>Kardio-, nefro-, neyrotoksik</a:t>
                      </a:r>
                    </a:p>
                  </a:txBody>
                  <a:tcPr marL="73152" marR="73152" marT="36576" marB="36576">
                    <a:solidFill>
                      <a:srgbClr val="E8EEF6"/>
                    </a:solidFill>
                  </a:tcPr>
                </a:tc>
              </a:tr>
              <a:tr h="411480">
                <a:tc>
                  <a:txBody>
                    <a:bodyPr/>
                    <a:lstStyle/>
                    <a:p>
                      <a:r>
                        <a:rPr sz="1200" b="0">
                          <a:solidFill>
                            <a:srgbClr val="1F2937"/>
                          </a:solidFill>
                        </a:rPr>
                        <a:t>Etil spirti</a:t>
                      </a:r>
                    </a:p>
                  </a:txBody>
                  <a:tcPr marL="73152" marR="73152" marT="36576" marB="36576">
                    <a:solidFill>
                      <a:srgbClr val="FFFFFF"/>
                    </a:solidFill>
                  </a:tcPr>
                </a:tc>
                <a:tc>
                  <a:txBody>
                    <a:bodyPr/>
                    <a:lstStyle/>
                    <a:p>
                      <a:r>
                        <a:rPr sz="1200" b="0">
                          <a:solidFill>
                            <a:srgbClr val="1F2937"/>
                          </a:solidFill>
                        </a:rPr>
                        <a:t>Atsetaldegid</a:t>
                      </a:r>
                    </a:p>
                  </a:txBody>
                  <a:tcPr marL="73152" marR="73152" marT="36576" marB="36576">
                    <a:solidFill>
                      <a:srgbClr val="FFFFFF"/>
                    </a:solidFill>
                  </a:tcPr>
                </a:tc>
                <a:tc>
                  <a:txBody>
                    <a:bodyPr/>
                    <a:lstStyle/>
                    <a:p>
                      <a:r>
                        <a:rPr sz="1200" b="0">
                          <a:solidFill>
                            <a:srgbClr val="1F2937"/>
                          </a:solidFill>
                        </a:rPr>
                        <a:t>Kuchliroq toksik modda</a:t>
                      </a:r>
                    </a:p>
                  </a:txBody>
                  <a:tcPr marL="73152" marR="73152" marT="36576" marB="36576">
                    <a:solidFill>
                      <a:srgbClr val="FFFFFF"/>
                    </a:solidFill>
                  </a:tcPr>
                </a:tc>
              </a:tr>
              <a:tr h="411480">
                <a:tc>
                  <a:txBody>
                    <a:bodyPr/>
                    <a:lstStyle/>
                    <a:p>
                      <a:r>
                        <a:rPr sz="1200" b="0">
                          <a:solidFill>
                            <a:srgbClr val="1F2937"/>
                          </a:solidFill>
                        </a:rPr>
                        <a:t>Etilenglikol</a:t>
                      </a:r>
                    </a:p>
                  </a:txBody>
                  <a:tcPr marL="73152" marR="73152" marT="36576" marB="36576">
                    <a:solidFill>
                      <a:srgbClr val="E8EEF6"/>
                    </a:solidFill>
                  </a:tcPr>
                </a:tc>
                <a:tc>
                  <a:txBody>
                    <a:bodyPr/>
                    <a:lstStyle/>
                    <a:p>
                      <a:r>
                        <a:rPr sz="1200" b="0">
                          <a:solidFill>
                            <a:srgbClr val="1F2937"/>
                          </a:solidFill>
                        </a:rPr>
                        <a:t>Oksalat kislotasi</a:t>
                      </a:r>
                    </a:p>
                  </a:txBody>
                  <a:tcPr marL="73152" marR="73152" marT="36576" marB="36576">
                    <a:solidFill>
                      <a:srgbClr val="E8EEF6"/>
                    </a:solidFill>
                  </a:tcPr>
                </a:tc>
                <a:tc>
                  <a:txBody>
                    <a:bodyPr/>
                    <a:lstStyle/>
                    <a:p>
                      <a:r>
                        <a:rPr sz="1200" b="0">
                          <a:solidFill>
                            <a:srgbClr val="1F2937"/>
                          </a:solidFill>
                        </a:rPr>
                        <a:t>Gepato-, nefrotoksik</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Oksidlanish: ona modda → metabolit</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136-137, 138</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Zaharlarning chiqish yo‘llari va to‘planish joylari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81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Zahar tashqi sekretsiya vazifasi bor a’zolar orqali chiqadi: o‘pka, jigar, buyrak, oshqozon-ichak, teri, sut va so‘lak bezlari.</a:t>
            </a:r>
          </a:p>
          <a:p>
            <a:pPr>
              <a:spcAft>
                <a:spcPts val="1200"/>
              </a:spcAft>
            </a:pPr>
            <a:r>
              <a:rPr sz="2200">
                <a:solidFill>
                  <a:srgbClr val="1F2937"/>
                </a:solidFill>
                <a:latin typeface="Calibri"/>
              </a:rPr>
              <a:t>▸  Uchuvchan moddalar o‘pka, suvda eruvchilar buyrak, og‘ir metallar yo‘g‘on ichak, yog‘da eruvchilar o‘t bilan chiqadi. Narkotik va alkogol sut hamda so‘lak bezlari orqali chiqadi.</a:t>
            </a:r>
          </a:p>
          <a:p>
            <a:pPr>
              <a:spcAft>
                <a:spcPts val="1200"/>
              </a:spcAft>
            </a:pPr>
            <a:r>
              <a:rPr sz="2200">
                <a:solidFill>
                  <a:srgbClr val="1F2937"/>
                </a:solidFill>
                <a:latin typeface="Calibri"/>
              </a:rPr>
              <a:t>▸  Yog‘da eruvchilar bosh miya, jigar, yog‘ to‘qimasida to‘planadi; suvda eruvchilar mushak, jigar, buyrakda. Margimush va qo‘rg‘oshin suyak va sochda yig‘iladi.</a:t>
            </a:r>
          </a:p>
          <a:p>
            <a:pPr>
              <a:spcAft>
                <a:spcPts val="1200"/>
              </a:spcAft>
            </a:pPr>
            <a:r>
              <a:rPr sz="2200">
                <a:solidFill>
                  <a:srgbClr val="1F2937"/>
                </a:solidFill>
                <a:latin typeface="Calibri"/>
              </a:rPr>
              <a:t>▸  Simob miya, suyak va buyrakda to‘planadi. Shu sababli o‘nlab yillardan keyin ham murdadan zaharni topish mumkin.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137, 137-138, 147</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Zaharlarning sud-tibbiy tasnifi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81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Zaharlar asosan mahalliy va asosan umumiy ta’sir etuvchilarga bo‘linadi.</a:t>
            </a:r>
          </a:p>
          <a:p>
            <a:pPr>
              <a:spcAft>
                <a:spcPts val="800"/>
              </a:spcAft>
            </a:pPr>
            <a:r>
              <a:rPr sz="1800">
                <a:solidFill>
                  <a:srgbClr val="1F2937"/>
                </a:solidFill>
                <a:latin typeface="Calibri"/>
              </a:rPr>
              <a:t>▸  Mahalliy zaharlar tushgan joyda nekroz chaqiradi; umumiylari qonga so‘rilgach ta’sir etadi (rezorbtiv).</a:t>
            </a:r>
          </a:p>
          <a:p>
            <a:pPr>
              <a:spcAft>
                <a:spcPts val="800"/>
              </a:spcAft>
            </a:pPr>
            <a:r>
              <a:rPr sz="1800">
                <a:solidFill>
                  <a:srgbClr val="1F2937"/>
                </a:solidFill>
                <a:latin typeface="Calibri"/>
              </a:rPr>
              <a:t>▸  Umumiy zaharlar uch guruhga bo‘linadi: destruktiv, qon va funksional zaharlar.</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1092081"/>
                <a:gridCol w="2299119"/>
                <a:gridCol w="1896773"/>
              </a:tblGrid>
              <a:tr h="411480">
                <a:tc>
                  <a:txBody>
                    <a:bodyPr/>
                    <a:lstStyle/>
                    <a:p>
                      <a:r>
                        <a:rPr sz="1300" b="1">
                          <a:solidFill>
                            <a:srgbClr val="FFFFFF"/>
                          </a:solidFill>
                        </a:rPr>
                        <a:t>Guruh</a:t>
                      </a:r>
                    </a:p>
                  </a:txBody>
                  <a:tcPr marL="73152" marR="73152" marT="36576" marB="36576">
                    <a:solidFill>
                      <a:srgbClr val="0B1F3A"/>
                    </a:solidFill>
                  </a:tcPr>
                </a:tc>
                <a:tc>
                  <a:txBody>
                    <a:bodyPr/>
                    <a:lstStyle/>
                    <a:p>
                      <a:r>
                        <a:rPr sz="1300" b="1">
                          <a:solidFill>
                            <a:srgbClr val="FFFFFF"/>
                          </a:solidFill>
                        </a:rPr>
                        <a:t>Misollar</a:t>
                      </a:r>
                    </a:p>
                  </a:txBody>
                  <a:tcPr marL="73152" marR="73152" marT="36576" marB="36576">
                    <a:solidFill>
                      <a:srgbClr val="0B1F3A"/>
                    </a:solidFill>
                  </a:tcPr>
                </a:tc>
                <a:tc>
                  <a:txBody>
                    <a:bodyPr/>
                    <a:lstStyle/>
                    <a:p>
                      <a:r>
                        <a:rPr sz="1300" b="1">
                          <a:solidFill>
                            <a:srgbClr val="FFFFFF"/>
                          </a:solidFill>
                        </a:rPr>
                        <a:t>Asosiy ta’sir</a:t>
                      </a:r>
                    </a:p>
                  </a:txBody>
                  <a:tcPr marL="73152" marR="73152" marT="36576" marB="36576">
                    <a:solidFill>
                      <a:srgbClr val="0B1F3A"/>
                    </a:solidFill>
                  </a:tcPr>
                </a:tc>
              </a:tr>
              <a:tr h="411480">
                <a:tc>
                  <a:txBody>
                    <a:bodyPr/>
                    <a:lstStyle/>
                    <a:p>
                      <a:r>
                        <a:rPr sz="1200" b="0">
                          <a:solidFill>
                            <a:srgbClr val="1F2937"/>
                          </a:solidFill>
                        </a:rPr>
                        <a:t>O‘yuvchi (mahalliy)</a:t>
                      </a:r>
                    </a:p>
                  </a:txBody>
                  <a:tcPr marL="73152" marR="73152" marT="36576" marB="36576">
                    <a:solidFill>
                      <a:srgbClr val="E8EEF6"/>
                    </a:solidFill>
                  </a:tcPr>
                </a:tc>
                <a:tc>
                  <a:txBody>
                    <a:bodyPr/>
                    <a:lstStyle/>
                    <a:p>
                      <a:r>
                        <a:rPr sz="1200" b="0">
                          <a:solidFill>
                            <a:srgbClr val="1F2937"/>
                          </a:solidFill>
                        </a:rPr>
                        <a:t>kislota, ishqor, yod tindirmasi</a:t>
                      </a:r>
                    </a:p>
                  </a:txBody>
                  <a:tcPr marL="73152" marR="73152" marT="36576" marB="36576">
                    <a:solidFill>
                      <a:srgbClr val="E8EEF6"/>
                    </a:solidFill>
                  </a:tcPr>
                </a:tc>
                <a:tc>
                  <a:txBody>
                    <a:bodyPr/>
                    <a:lstStyle/>
                    <a:p>
                      <a:r>
                        <a:rPr sz="1200" b="0">
                          <a:solidFill>
                            <a:srgbClr val="1F2937"/>
                          </a:solidFill>
                        </a:rPr>
                        <a:t>tushgan joyda nekroz</a:t>
                      </a:r>
                    </a:p>
                  </a:txBody>
                  <a:tcPr marL="73152" marR="73152" marT="36576" marB="36576">
                    <a:solidFill>
                      <a:srgbClr val="E8EEF6"/>
                    </a:solidFill>
                  </a:tcPr>
                </a:tc>
              </a:tr>
              <a:tr h="411480">
                <a:tc>
                  <a:txBody>
                    <a:bodyPr/>
                    <a:lstStyle/>
                    <a:p>
                      <a:r>
                        <a:rPr sz="1200" b="0">
                          <a:solidFill>
                            <a:srgbClr val="1F2937"/>
                          </a:solidFill>
                        </a:rPr>
                        <a:t>Destruktiv</a:t>
                      </a:r>
                    </a:p>
                  </a:txBody>
                  <a:tcPr marL="73152" marR="73152" marT="36576" marB="36576">
                    <a:solidFill>
                      <a:srgbClr val="FFFFFF"/>
                    </a:solidFill>
                  </a:tcPr>
                </a:tc>
                <a:tc>
                  <a:txBody>
                    <a:bodyPr/>
                    <a:lstStyle/>
                    <a:p>
                      <a:r>
                        <a:rPr sz="1200" b="0">
                          <a:solidFill>
                            <a:srgbClr val="1F2937"/>
                          </a:solidFill>
                        </a:rPr>
                        <a:t>simob, qo‘rg‘oshin, margimush, fosfor</a:t>
                      </a:r>
                    </a:p>
                  </a:txBody>
                  <a:tcPr marL="73152" marR="73152" marT="36576" marB="36576">
                    <a:solidFill>
                      <a:srgbClr val="FFFFFF"/>
                    </a:solidFill>
                  </a:tcPr>
                </a:tc>
                <a:tc>
                  <a:txBody>
                    <a:bodyPr/>
                    <a:lstStyle/>
                    <a:p>
                      <a:r>
                        <a:rPr sz="1200" b="0">
                          <a:solidFill>
                            <a:srgbClr val="1F2937"/>
                          </a:solidFill>
                        </a:rPr>
                        <a:t>ichki a’zolarda to‘qima buzilishi</a:t>
                      </a:r>
                    </a:p>
                  </a:txBody>
                  <a:tcPr marL="73152" marR="73152" marT="36576" marB="36576">
                    <a:solidFill>
                      <a:srgbClr val="FFFFFF"/>
                    </a:solidFill>
                  </a:tcPr>
                </a:tc>
              </a:tr>
              <a:tr h="411480">
                <a:tc>
                  <a:txBody>
                    <a:bodyPr/>
                    <a:lstStyle/>
                    <a:p>
                      <a:r>
                        <a:rPr sz="1200" b="0">
                          <a:solidFill>
                            <a:srgbClr val="1F2937"/>
                          </a:solidFill>
                        </a:rPr>
                        <a:t>Qon zaharlari</a:t>
                      </a:r>
                    </a:p>
                  </a:txBody>
                  <a:tcPr marL="73152" marR="73152" marT="36576" marB="36576">
                    <a:solidFill>
                      <a:srgbClr val="E8EEF6"/>
                    </a:solidFill>
                  </a:tcPr>
                </a:tc>
                <a:tc>
                  <a:txBody>
                    <a:bodyPr/>
                    <a:lstStyle/>
                    <a:p>
                      <a:r>
                        <a:rPr sz="1200" b="0">
                          <a:solidFill>
                            <a:srgbClr val="1F2937"/>
                          </a:solidFill>
                        </a:rPr>
                        <a:t>is gazi, metgemoglobin hosil qiluvchilar</a:t>
                      </a:r>
                    </a:p>
                  </a:txBody>
                  <a:tcPr marL="73152" marR="73152" marT="36576" marB="36576">
                    <a:solidFill>
                      <a:srgbClr val="E8EEF6"/>
                    </a:solidFill>
                  </a:tcPr>
                </a:tc>
                <a:tc>
                  <a:txBody>
                    <a:bodyPr/>
                    <a:lstStyle/>
                    <a:p>
                      <a:r>
                        <a:rPr sz="1200" b="0">
                          <a:solidFill>
                            <a:srgbClr val="1F2937"/>
                          </a:solidFill>
                        </a:rPr>
                        <a:t>gemoglobinga ta’sir, gipoksiya</a:t>
                      </a:r>
                    </a:p>
                  </a:txBody>
                  <a:tcPr marL="73152" marR="73152" marT="36576" marB="36576">
                    <a:solidFill>
                      <a:srgbClr val="E8EEF6"/>
                    </a:solidFill>
                  </a:tcPr>
                </a:tc>
              </a:tr>
              <a:tr h="411480">
                <a:tc>
                  <a:txBody>
                    <a:bodyPr/>
                    <a:lstStyle/>
                    <a:p>
                      <a:r>
                        <a:rPr sz="1200" b="0">
                          <a:solidFill>
                            <a:srgbClr val="1F2937"/>
                          </a:solidFill>
                        </a:rPr>
                        <a:t>Funksional</a:t>
                      </a:r>
                    </a:p>
                  </a:txBody>
                  <a:tcPr marL="73152" marR="73152" marT="36576" marB="36576">
                    <a:solidFill>
                      <a:srgbClr val="FFFFFF"/>
                    </a:solidFill>
                  </a:tcPr>
                </a:tc>
                <a:tc>
                  <a:txBody>
                    <a:bodyPr/>
                    <a:lstStyle/>
                    <a:p>
                      <a:r>
                        <a:rPr sz="1200" b="0">
                          <a:solidFill>
                            <a:srgbClr val="1F2937"/>
                          </a:solidFill>
                        </a:rPr>
                        <a:t>sianidlar, strixnin, spirtlar</a:t>
                      </a:r>
                    </a:p>
                  </a:txBody>
                  <a:tcPr marL="73152" marR="73152" marT="36576" marB="36576">
                    <a:solidFill>
                      <a:srgbClr val="FFFFFF"/>
                    </a:solidFill>
                  </a:tcPr>
                </a:tc>
                <a:tc>
                  <a:txBody>
                    <a:bodyPr/>
                    <a:lstStyle/>
                    <a:p>
                      <a:r>
                        <a:rPr sz="1200" b="0">
                          <a:solidFill>
                            <a:srgbClr val="1F2937"/>
                          </a:solidFill>
                        </a:rPr>
                        <a:t>nerv tizimi faoliyatini buzadi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Zaharlar tasnifi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138, 138-139</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tasnif</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81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1: kislotalar va ishqorlar qaysi guruhga kiradi va tushgan joyida qanday o‘zgarish chaqiradi?</a:t>
            </a:r>
          </a:p>
          <a:p>
            <a:pPr>
              <a:spcAft>
                <a:spcPts val="1200"/>
              </a:spcAft>
            </a:pPr>
            <a:r>
              <a:rPr sz="2200">
                <a:solidFill>
                  <a:srgbClr val="1F2937"/>
                </a:solidFill>
                <a:latin typeface="Calibri"/>
              </a:rPr>
              <a:t>▸  Savol 2: simob, qo‘rg‘oshin, margimush, fosfor va sianidlar umumiy zaharlarning qaysi guruhlariga kiradi?</a:t>
            </a:r>
          </a:p>
          <a:p>
            <a:pPr>
              <a:spcAft>
                <a:spcPts val="1200"/>
              </a:spcAft>
            </a:pPr>
            <a:r>
              <a:rPr sz="2200">
                <a:solidFill>
                  <a:srgbClr val="1F2937"/>
                </a:solidFill>
                <a:latin typeface="Calibri"/>
              </a:rPr>
              <a:t>▸  Javob: kislota va ishqor mahalliy zahar (nekroz); simob, qo‘rg‘oshin, margimush, fosfor destruktiv; sianidlar funksional zahar.</a:t>
            </a:r>
          </a:p>
          <a:p>
            <a:pPr>
              <a:spcAft>
                <a:spcPts val="1200"/>
              </a:spcAft>
            </a:pPr>
            <a:r>
              <a:rPr sz="2200">
                <a:solidFill>
                  <a:srgbClr val="1F2937"/>
                </a:solidFill>
                <a:latin typeface="Calibri"/>
              </a:rPr>
              <a:t>▸  Diqqat: xato qilish xavfi. «Asosan mahalliy» zahar ham umumiy reaksiya chaqiradi; mahalliy ≠ faqat mahalliy.</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138, 138-139</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O‘yuvchi zaharlar: kislotalar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81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Kislotalarni erkin vodorod ionlari shikastlaydi: to‘qimani suvsizlantiradi, oqsilni ivitadi va koagulyasion (quruq) nekroz hosil qiladi.</a:t>
            </a:r>
          </a:p>
          <a:p>
            <a:pPr>
              <a:spcAft>
                <a:spcPts val="1200"/>
              </a:spcAft>
            </a:pPr>
            <a:r>
              <a:rPr sz="2200">
                <a:solidFill>
                  <a:srgbClr val="1F2937"/>
                </a:solidFill>
                <a:latin typeface="Calibri"/>
              </a:rPr>
              <a:t>▸  Qizilo‘ngach va oshqozonda kuchli og‘riq, qonli qusuq, ba’zan shilliq parda bo‘laklari chiqadi. Hiqildoq shishishi va ovoz yorig‘i spazmi mumkin.</a:t>
            </a:r>
          </a:p>
          <a:p>
            <a:pPr>
              <a:spcAft>
                <a:spcPts val="1200"/>
              </a:spcAft>
            </a:pPr>
            <a:r>
              <a:rPr sz="2200">
                <a:solidFill>
                  <a:srgbClr val="1F2937"/>
                </a:solidFill>
                <a:latin typeface="Calibri"/>
              </a:rPr>
              <a:t>▸  Dastlabki soatlarda o‘lim sababi shok, asfiksiya, ichki qon ketish. Kech muddatda pnevmoniya, jigar-buyrak yetishmovchiligi, mediastenit yoki peritonit.</a:t>
            </a:r>
          </a:p>
          <a:p>
            <a:pPr>
              <a:spcAft>
                <a:spcPts val="1200"/>
              </a:spcAft>
            </a:pPr>
            <a:r>
              <a:rPr sz="2200">
                <a:solidFill>
                  <a:srgbClr val="1F2937"/>
                </a:solidFill>
                <a:latin typeface="Calibri"/>
              </a:rPr>
              <a:t>▸  Letal doza: sulfat va nitrat kislota 5–10 ml, xlorid kislota 15–20 ml, sirka essensiyasi 20–40 ml, karbol kislotasi 10–30 ml.</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140, 141</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Kislotalar: murda belgilari va farqlari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81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Sulfat kislota kuchli: oshqozon devori ko‘proq shikastlanadi, teshilish (perforatsiya) ko‘p uchraydi.</a:t>
            </a:r>
          </a:p>
          <a:p>
            <a:pPr>
              <a:spcAft>
                <a:spcPts val="800"/>
              </a:spcAft>
            </a:pPr>
            <a:r>
              <a:rPr sz="1800">
                <a:solidFill>
                  <a:srgbClr val="1F2937"/>
                </a:solidFill>
                <a:latin typeface="Calibri"/>
              </a:rPr>
              <a:t>▸  Sirka kislotada gemolitik ta’sir kuchli: gemoglobinuriyali nefroz va o‘tkir buyrak yetishmovchiligi.</a:t>
            </a:r>
          </a:p>
          <a:p>
            <a:pPr>
              <a:spcAft>
                <a:spcPts val="800"/>
              </a:spcAft>
            </a:pPr>
            <a:r>
              <a:rPr sz="1800">
                <a:solidFill>
                  <a:srgbClr val="1F2937"/>
                </a:solidFill>
                <a:latin typeface="Calibri"/>
              </a:rPr>
              <a:t>▸  Fenol (karbol kislotasi): ichki a’zolardan karbol hidi keladi, siydik havoda yashil-jigarrang tusga kiradi.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244229"/>
                <a:gridCol w="1710815"/>
                <a:gridCol w="2332930"/>
              </a:tblGrid>
              <a:tr h="411480">
                <a:tc>
                  <a:txBody>
                    <a:bodyPr/>
                    <a:lstStyle/>
                    <a:p>
                      <a:r>
                        <a:rPr sz="1300" b="1">
                          <a:solidFill>
                            <a:srgbClr val="FFFFFF"/>
                          </a:solidFill>
                        </a:rPr>
                        <a:t>Kislota</a:t>
                      </a:r>
                    </a:p>
                  </a:txBody>
                  <a:tcPr marL="73152" marR="73152" marT="36576" marB="36576">
                    <a:solidFill>
                      <a:srgbClr val="0B1F3A"/>
                    </a:solidFill>
                  </a:tcPr>
                </a:tc>
                <a:tc>
                  <a:txBody>
                    <a:bodyPr/>
                    <a:lstStyle/>
                    <a:p>
                      <a:r>
                        <a:rPr sz="1300" b="1">
                          <a:solidFill>
                            <a:srgbClr val="FFFFFF"/>
                          </a:solidFill>
                        </a:rPr>
                        <a:t>Rang / strup</a:t>
                      </a:r>
                    </a:p>
                  </a:txBody>
                  <a:tcPr marL="73152" marR="73152" marT="36576" marB="36576">
                    <a:solidFill>
                      <a:srgbClr val="0B1F3A"/>
                    </a:solidFill>
                  </a:tcPr>
                </a:tc>
                <a:tc>
                  <a:txBody>
                    <a:bodyPr/>
                    <a:lstStyle/>
                    <a:p>
                      <a:r>
                        <a:rPr sz="1300" b="1">
                          <a:solidFill>
                            <a:srgbClr val="FFFFFF"/>
                          </a:solidFill>
                        </a:rPr>
                        <a:t>Xos jihati</a:t>
                      </a:r>
                    </a:p>
                  </a:txBody>
                  <a:tcPr marL="73152" marR="73152" marT="36576" marB="36576">
                    <a:solidFill>
                      <a:srgbClr val="0B1F3A"/>
                    </a:solidFill>
                  </a:tcPr>
                </a:tc>
              </a:tr>
              <a:tr h="411480">
                <a:tc>
                  <a:txBody>
                    <a:bodyPr/>
                    <a:lstStyle/>
                    <a:p>
                      <a:r>
                        <a:rPr sz="1200" b="0">
                          <a:solidFill>
                            <a:srgbClr val="1F2937"/>
                          </a:solidFill>
                        </a:rPr>
                        <a:t>Sulfat</a:t>
                      </a:r>
                    </a:p>
                  </a:txBody>
                  <a:tcPr marL="73152" marR="73152" marT="36576" marB="36576">
                    <a:solidFill>
                      <a:srgbClr val="E8EEF6"/>
                    </a:solidFill>
                  </a:tcPr>
                </a:tc>
                <a:tc>
                  <a:txBody>
                    <a:bodyPr/>
                    <a:lstStyle/>
                    <a:p>
                      <a:r>
                        <a:rPr sz="1200" b="0">
                          <a:solidFill>
                            <a:srgbClr val="1F2937"/>
                          </a:solidFill>
                        </a:rPr>
                        <a:t>Qo‘ng‘ir-qora</a:t>
                      </a:r>
                    </a:p>
                  </a:txBody>
                  <a:tcPr marL="73152" marR="73152" marT="36576" marB="36576">
                    <a:solidFill>
                      <a:srgbClr val="E8EEF6"/>
                    </a:solidFill>
                  </a:tcPr>
                </a:tc>
                <a:tc>
                  <a:txBody>
                    <a:bodyPr/>
                    <a:lstStyle/>
                    <a:p>
                      <a:r>
                        <a:rPr sz="1200" b="0">
                          <a:solidFill>
                            <a:srgbClr val="1F2937"/>
                          </a:solidFill>
                        </a:rPr>
                        <a:t>Perforatsiya ko‘proq</a:t>
                      </a:r>
                    </a:p>
                  </a:txBody>
                  <a:tcPr marL="73152" marR="73152" marT="36576" marB="36576">
                    <a:solidFill>
                      <a:srgbClr val="E8EEF6"/>
                    </a:solidFill>
                  </a:tcPr>
                </a:tc>
              </a:tr>
              <a:tr h="411480">
                <a:tc>
                  <a:txBody>
                    <a:bodyPr/>
                    <a:lstStyle/>
                    <a:p>
                      <a:r>
                        <a:rPr sz="1200" b="0">
                          <a:solidFill>
                            <a:srgbClr val="1F2937"/>
                          </a:solidFill>
                        </a:rPr>
                        <a:t>Nitrat</a:t>
                      </a:r>
                    </a:p>
                  </a:txBody>
                  <a:tcPr marL="73152" marR="73152" marT="36576" marB="36576">
                    <a:solidFill>
                      <a:srgbClr val="FFFFFF"/>
                    </a:solidFill>
                  </a:tcPr>
                </a:tc>
                <a:tc>
                  <a:txBody>
                    <a:bodyPr/>
                    <a:lstStyle/>
                    <a:p>
                      <a:r>
                        <a:rPr sz="1200" b="0">
                          <a:solidFill>
                            <a:srgbClr val="1F2937"/>
                          </a:solidFill>
                        </a:rPr>
                        <a:t>Sarg‘ish (konts. &gt;30%)</a:t>
                      </a:r>
                    </a:p>
                  </a:txBody>
                  <a:tcPr marL="73152" marR="73152" marT="36576" marB="36576">
                    <a:solidFill>
                      <a:srgbClr val="FFFFFF"/>
                    </a:solidFill>
                  </a:tcPr>
                </a:tc>
                <a:tc>
                  <a:txBody>
                    <a:bodyPr/>
                    <a:lstStyle/>
                    <a:p>
                      <a:r>
                        <a:rPr sz="1200" b="0">
                          <a:solidFill>
                            <a:srgbClr val="1F2937"/>
                          </a:solidFill>
                        </a:rPr>
                        <a:t>Azot oksidi hidi, o‘pka shishi</a:t>
                      </a:r>
                    </a:p>
                  </a:txBody>
                  <a:tcPr marL="73152" marR="73152" marT="36576" marB="36576">
                    <a:solidFill>
                      <a:srgbClr val="FFFFFF"/>
                    </a:solidFill>
                  </a:tcPr>
                </a:tc>
              </a:tr>
              <a:tr h="411480">
                <a:tc>
                  <a:txBody>
                    <a:bodyPr/>
                    <a:lstStyle/>
                    <a:p>
                      <a:r>
                        <a:rPr sz="1200" b="0">
                          <a:solidFill>
                            <a:srgbClr val="1F2937"/>
                          </a:solidFill>
                        </a:rPr>
                        <a:t>Xlorid</a:t>
                      </a:r>
                    </a:p>
                  </a:txBody>
                  <a:tcPr marL="73152" marR="73152" marT="36576" marB="36576">
                    <a:solidFill>
                      <a:srgbClr val="E8EEF6"/>
                    </a:solidFill>
                  </a:tcPr>
                </a:tc>
                <a:tc>
                  <a:txBody>
                    <a:bodyPr/>
                    <a:lstStyle/>
                    <a:p>
                      <a:r>
                        <a:rPr sz="1200" b="0">
                          <a:solidFill>
                            <a:srgbClr val="1F2937"/>
                          </a:solidFill>
                        </a:rPr>
                        <a:t>Qo‘ng‘ir-kul rang</a:t>
                      </a:r>
                    </a:p>
                  </a:txBody>
                  <a:tcPr marL="73152" marR="73152" marT="36576" marB="36576">
                    <a:solidFill>
                      <a:srgbClr val="E8EEF6"/>
                    </a:solidFill>
                  </a:tcPr>
                </a:tc>
                <a:tc>
                  <a:txBody>
                    <a:bodyPr/>
                    <a:lstStyle/>
                    <a:p>
                      <a:r>
                        <a:rPr sz="1200" b="0">
                          <a:solidFill>
                            <a:srgbClr val="1F2937"/>
                          </a:solidFill>
                        </a:rPr>
                        <a:t>Hiqildoq, o‘pka shishi ko‘proq</a:t>
                      </a:r>
                    </a:p>
                  </a:txBody>
                  <a:tcPr marL="73152" marR="73152" marT="36576" marB="36576">
                    <a:solidFill>
                      <a:srgbClr val="E8EEF6"/>
                    </a:solidFill>
                  </a:tcPr>
                </a:tc>
              </a:tr>
              <a:tr h="411480">
                <a:tc>
                  <a:txBody>
                    <a:bodyPr/>
                    <a:lstStyle/>
                    <a:p>
                      <a:r>
                        <a:rPr sz="1200" b="0">
                          <a:solidFill>
                            <a:srgbClr val="1F2937"/>
                          </a:solidFill>
                        </a:rPr>
                        <a:t>Sirka</a:t>
                      </a:r>
                    </a:p>
                  </a:txBody>
                  <a:tcPr marL="73152" marR="73152" marT="36576" marB="36576">
                    <a:solidFill>
                      <a:srgbClr val="FFFFFF"/>
                    </a:solidFill>
                  </a:tcPr>
                </a:tc>
                <a:tc>
                  <a:txBody>
                    <a:bodyPr/>
                    <a:lstStyle/>
                    <a:p>
                      <a:r>
                        <a:rPr sz="1200" b="0">
                          <a:solidFill>
                            <a:srgbClr val="1F2937"/>
                          </a:solidFill>
                        </a:rPr>
                        <a:t>Pushti-qizg‘ish strup</a:t>
                      </a:r>
                    </a:p>
                  </a:txBody>
                  <a:tcPr marL="73152" marR="73152" marT="36576" marB="36576">
                    <a:solidFill>
                      <a:srgbClr val="FFFFFF"/>
                    </a:solidFill>
                  </a:tcPr>
                </a:tc>
                <a:tc>
                  <a:txBody>
                    <a:bodyPr/>
                    <a:lstStyle/>
                    <a:p>
                      <a:r>
                        <a:rPr sz="1200" b="0">
                          <a:solidFill>
                            <a:srgbClr val="1F2937"/>
                          </a:solidFill>
                        </a:rPr>
                        <a:t>Gemoliz; o‘tkir sirka hidi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Kislotalar qiyosi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141-142, 142</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O‘yuvchi zaharlar: ishqorlar va boshqa moddalar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81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Ishqorlar oqsilni suyultiradi: kollikvatsion (nam) nekroz; shikastlangan soha yumshoq, sirpanuvchan.</a:t>
            </a:r>
          </a:p>
          <a:p>
            <a:pPr>
              <a:spcAft>
                <a:spcPts val="800"/>
              </a:spcAft>
            </a:pPr>
            <a:r>
              <a:rPr sz="1800">
                <a:solidFill>
                  <a:srgbClr val="1F2937"/>
                </a:solidFill>
                <a:latin typeface="Calibri"/>
              </a:rPr>
              <a:t>▸  Letal doza: natriy va kaliy gidroksid 10–15 g, nashatir spirti (ammoniy gidroksid) 25–40 ml.</a:t>
            </a:r>
          </a:p>
          <a:p>
            <a:pPr>
              <a:spcAft>
                <a:spcPts val="800"/>
              </a:spcAft>
            </a:pPr>
            <a:r>
              <a:rPr sz="1800">
                <a:solidFill>
                  <a:srgbClr val="1F2937"/>
                </a:solidFill>
                <a:latin typeface="Calibri"/>
              </a:rPr>
              <a:t>▸  Nashatir spirti qonga so‘rilgach nafas markazini buzadi; alkogol bilan birga ichilsa xavf oshadi.</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977125"/>
                <a:gridCol w="2184163"/>
                <a:gridCol w="2126685"/>
              </a:tblGrid>
              <a:tr h="411480">
                <a:tc>
                  <a:txBody>
                    <a:bodyPr/>
                    <a:lstStyle/>
                    <a:p>
                      <a:r>
                        <a:rPr sz="1300" b="1">
                          <a:solidFill>
                            <a:srgbClr val="FFFFFF"/>
                          </a:solidFill>
                        </a:rPr>
                        <a:t>Modda</a:t>
                      </a:r>
                    </a:p>
                  </a:txBody>
                  <a:tcPr marL="73152" marR="73152" marT="36576" marB="36576">
                    <a:solidFill>
                      <a:srgbClr val="0B1F3A"/>
                    </a:solidFill>
                  </a:tcPr>
                </a:tc>
                <a:tc>
                  <a:txBody>
                    <a:bodyPr/>
                    <a:lstStyle/>
                    <a:p>
                      <a:r>
                        <a:rPr sz="1300" b="1">
                          <a:solidFill>
                            <a:srgbClr val="FFFFFF"/>
                          </a:solidFill>
                        </a:rPr>
                        <a:t>Murdadagi belgi</a:t>
                      </a:r>
                    </a:p>
                  </a:txBody>
                  <a:tcPr marL="73152" marR="73152" marT="36576" marB="36576">
                    <a:solidFill>
                      <a:srgbClr val="0B1F3A"/>
                    </a:solidFill>
                  </a:tcPr>
                </a:tc>
                <a:tc>
                  <a:txBody>
                    <a:bodyPr/>
                    <a:lstStyle/>
                    <a:p>
                      <a:r>
                        <a:rPr sz="1300" b="1">
                          <a:solidFill>
                            <a:srgbClr val="FFFFFF"/>
                          </a:solidFill>
                        </a:rPr>
                        <a:t>Qo‘shimcha</a:t>
                      </a:r>
                    </a:p>
                  </a:txBody>
                  <a:tcPr marL="73152" marR="73152" marT="36576" marB="36576">
                    <a:solidFill>
                      <a:srgbClr val="0B1F3A"/>
                    </a:solidFill>
                  </a:tcPr>
                </a:tc>
              </a:tr>
              <a:tr h="411480">
                <a:tc>
                  <a:txBody>
                    <a:bodyPr/>
                    <a:lstStyle/>
                    <a:p>
                      <a:r>
                        <a:rPr sz="1200" b="0">
                          <a:solidFill>
                            <a:srgbClr val="1F2937"/>
                          </a:solidFill>
                        </a:rPr>
                        <a:t>Formalin</a:t>
                      </a:r>
                    </a:p>
                  </a:txBody>
                  <a:tcPr marL="73152" marR="73152" marT="36576" marB="36576">
                    <a:solidFill>
                      <a:srgbClr val="E8EEF6"/>
                    </a:solidFill>
                  </a:tcPr>
                </a:tc>
                <a:tc>
                  <a:txBody>
                    <a:bodyPr/>
                    <a:lstStyle/>
                    <a:p>
                      <a:r>
                        <a:rPr sz="1200" b="0">
                          <a:solidFill>
                            <a:srgbClr val="1F2937"/>
                          </a:solidFill>
                        </a:rPr>
                        <a:t>Shilliq qavat o‘zgarmagan (fiksatsiya)</a:t>
                      </a:r>
                    </a:p>
                  </a:txBody>
                  <a:tcPr marL="73152" marR="73152" marT="36576" marB="36576">
                    <a:solidFill>
                      <a:srgbClr val="E8EEF6"/>
                    </a:solidFill>
                  </a:tcPr>
                </a:tc>
                <a:tc>
                  <a:txBody>
                    <a:bodyPr/>
                    <a:lstStyle/>
                    <a:p>
                      <a:r>
                        <a:rPr sz="1200" b="0">
                          <a:solidFill>
                            <a:srgbClr val="1F2937"/>
                          </a:solidFill>
                        </a:rPr>
                        <a:t>Ichki a’zolardan xos hid</a:t>
                      </a:r>
                    </a:p>
                  </a:txBody>
                  <a:tcPr marL="73152" marR="73152" marT="36576" marB="36576">
                    <a:solidFill>
                      <a:srgbClr val="E8EEF6"/>
                    </a:solidFill>
                  </a:tcPr>
                </a:tc>
              </a:tr>
              <a:tr h="411480">
                <a:tc>
                  <a:txBody>
                    <a:bodyPr/>
                    <a:lstStyle/>
                    <a:p>
                      <a:r>
                        <a:rPr sz="1200" b="0">
                          <a:solidFill>
                            <a:srgbClr val="1F2937"/>
                          </a:solidFill>
                        </a:rPr>
                        <a:t>Kaliy permanganat</a:t>
                      </a:r>
                    </a:p>
                  </a:txBody>
                  <a:tcPr marL="73152" marR="73152" marT="36576" marB="36576">
                    <a:solidFill>
                      <a:srgbClr val="FFFFFF"/>
                    </a:solidFill>
                  </a:tcPr>
                </a:tc>
                <a:tc>
                  <a:txBody>
                    <a:bodyPr/>
                    <a:lstStyle/>
                    <a:p>
                      <a:r>
                        <a:rPr sz="1200" b="0">
                          <a:solidFill>
                            <a:srgbClr val="1F2937"/>
                          </a:solidFill>
                        </a:rPr>
                        <a:t>Jigarrang-qizg‘ish strup</a:t>
                      </a:r>
                    </a:p>
                  </a:txBody>
                  <a:tcPr marL="73152" marR="73152" marT="36576" marB="36576">
                    <a:solidFill>
                      <a:srgbClr val="FFFFFF"/>
                    </a:solidFill>
                  </a:tcPr>
                </a:tc>
                <a:tc>
                  <a:txBody>
                    <a:bodyPr/>
                    <a:lstStyle/>
                    <a:p>
                      <a:r>
                        <a:rPr sz="1200" b="0">
                          <a:solidFill>
                            <a:srgbClr val="1F2937"/>
                          </a:solidFill>
                        </a:rPr>
                        <a:t>Letal doza 15–20 g</a:t>
                      </a:r>
                    </a:p>
                  </a:txBody>
                  <a:tcPr marL="73152" marR="73152" marT="36576" marB="36576">
                    <a:solidFill>
                      <a:srgbClr val="FFFFFF"/>
                    </a:solidFill>
                  </a:tcPr>
                </a:tc>
              </a:tr>
              <a:tr h="411480">
                <a:tc>
                  <a:txBody>
                    <a:bodyPr/>
                    <a:lstStyle/>
                    <a:p>
                      <a:r>
                        <a:rPr sz="1200" b="0">
                          <a:solidFill>
                            <a:srgbClr val="1F2937"/>
                          </a:solidFill>
                        </a:rPr>
                        <a:t>Vodorod peroksid</a:t>
                      </a:r>
                    </a:p>
                  </a:txBody>
                  <a:tcPr marL="73152" marR="73152" marT="36576" marB="36576">
                    <a:solidFill>
                      <a:srgbClr val="E8EEF6"/>
                    </a:solidFill>
                  </a:tcPr>
                </a:tc>
                <a:tc>
                  <a:txBody>
                    <a:bodyPr/>
                    <a:lstStyle/>
                    <a:p>
                      <a:r>
                        <a:rPr sz="1200" b="0">
                          <a:solidFill>
                            <a:srgbClr val="1F2937"/>
                          </a:solidFill>
                        </a:rPr>
                        <a:t>Oqimtir, ko‘piklangan shilliq qavat</a:t>
                      </a:r>
                    </a:p>
                  </a:txBody>
                  <a:tcPr marL="73152" marR="73152" marT="36576" marB="36576">
                    <a:solidFill>
                      <a:srgbClr val="E8EEF6"/>
                    </a:solidFill>
                  </a:tcPr>
                </a:tc>
                <a:tc>
                  <a:txBody>
                    <a:bodyPr/>
                    <a:lstStyle/>
                    <a:p>
                      <a:r>
                        <a:rPr sz="1200" b="0">
                          <a:solidFill>
                            <a:srgbClr val="1F2937"/>
                          </a:solidFill>
                        </a:rPr>
                        <a:t>Pergidrol (33%) 100 ml — o‘lim mumkin</a:t>
                      </a:r>
                    </a:p>
                  </a:txBody>
                  <a:tcPr marL="73152" marR="73152" marT="36576" marB="36576">
                    <a:solidFill>
                      <a:srgbClr val="E8EEF6"/>
                    </a:solidFill>
                  </a:tcPr>
                </a:tc>
              </a:tr>
              <a:tr h="411480">
                <a:tc>
                  <a:txBody>
                    <a:bodyPr/>
                    <a:lstStyle/>
                    <a:p>
                      <a:r>
                        <a:rPr sz="1200" b="0">
                          <a:solidFill>
                            <a:srgbClr val="1F2937"/>
                          </a:solidFill>
                        </a:rPr>
                        <a:t>Yod preparatlari</a:t>
                      </a:r>
                    </a:p>
                  </a:txBody>
                  <a:tcPr marL="73152" marR="73152" marT="36576" marB="36576">
                    <a:solidFill>
                      <a:srgbClr val="FFFFFF"/>
                    </a:solidFill>
                  </a:tcPr>
                </a:tc>
                <a:tc>
                  <a:txBody>
                    <a:bodyPr/>
                    <a:lstStyle/>
                    <a:p>
                      <a:r>
                        <a:rPr sz="1200" b="0">
                          <a:solidFill>
                            <a:srgbClr val="1F2937"/>
                          </a:solidFill>
                        </a:rPr>
                        <a:t>Qo‘ng‘ir strup</a:t>
                      </a:r>
                    </a:p>
                  </a:txBody>
                  <a:tcPr marL="73152" marR="73152" marT="36576" marB="36576">
                    <a:solidFill>
                      <a:srgbClr val="FFFFFF"/>
                    </a:solidFill>
                  </a:tcPr>
                </a:tc>
                <a:tc>
                  <a:txBody>
                    <a:bodyPr/>
                    <a:lstStyle/>
                    <a:p>
                      <a:r>
                        <a:rPr sz="1200" b="0">
                          <a:solidFill>
                            <a:srgbClr val="1F2937"/>
                          </a:solidFill>
                        </a:rPr>
                        <a:t>Hiqildoq shishi, asfiksiya mumkin</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Boshqa o‘yuvchi moddalar</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143, 142</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o‘yuvchi zahar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81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og‘iz atrofida oqmalar, qusuq ichida ko‘chgan shilliq parchalar, qizilo‘ngach bo‘ylab kuchli og‘riq. Bu o‘yuvchi zaharga xos belgilar.</a:t>
            </a:r>
          </a:p>
          <a:p>
            <a:pPr>
              <a:spcAft>
                <a:spcPts val="1200"/>
              </a:spcAft>
            </a:pPr>
            <a:r>
              <a:rPr sz="2200">
                <a:solidFill>
                  <a:srgbClr val="1F2937"/>
                </a:solidFill>
                <a:latin typeface="Calibri"/>
              </a:rPr>
              <a:t>▸  Kislotada koagulyasion (quruq) nekroz va zich qo‘ng‘ir-qora strup bo‘ladi. Ishqorda kollikvatsion (nam) nekroz: joy yumshoq, sirpanuvchan, kulrang-yashil.</a:t>
            </a:r>
          </a:p>
          <a:p>
            <a:pPr>
              <a:spcAft>
                <a:spcPts val="1200"/>
              </a:spcAft>
            </a:pPr>
            <a:r>
              <a:rPr sz="2200">
                <a:solidFill>
                  <a:srgbClr val="1F2937"/>
                </a:solidFill>
                <a:latin typeface="Calibri"/>
              </a:rPr>
              <a:t>▸  Kislota turi rangdan taxmin qilinadi: sulfatda shilliq qavat qo‘ng‘ir-qora, nitratda sargimtir. Sirka kislotada gemoliz va o‘tkir sirka hidi ustun.</a:t>
            </a:r>
          </a:p>
          <a:p>
            <a:pPr>
              <a:spcAft>
                <a:spcPts val="1200"/>
              </a:spcAft>
            </a:pPr>
            <a:r>
              <a:rPr sz="2200">
                <a:solidFill>
                  <a:srgbClr val="1F2937"/>
                </a:solidFill>
                <a:latin typeface="Calibri"/>
              </a:rPr>
              <a:t>▸  Diqqat: kislota ≠ ishqor. Kislotada shilliq qavat zichlashadi, notekis qalinlashadi; ishqorda oshqozon devori yumshoq bo‘lib, oson yirtiladi.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141, 140-143, 141-142, 141, 143</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Destruktiv zaharlar: simob va qo‘rg‘oshin</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81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Sof simob ichilganda erimagani uchun zaharlamaydi. Bug‘ va mayda dispers holatda esa nafas yo‘llari orqali yaxshi so‘rilib, og‘ir zaharlanish chaqiradi.</a:t>
            </a:r>
          </a:p>
          <a:p>
            <a:pPr>
              <a:spcAft>
                <a:spcPts val="1200"/>
              </a:spcAft>
            </a:pPr>
            <a:r>
              <a:rPr sz="2200">
                <a:solidFill>
                  <a:srgbClr val="1F2937"/>
                </a:solidFill>
                <a:latin typeface="Calibri"/>
              </a:rPr>
              <a:t>▸  Sulema (simob dixlorid) protoplazmatik zahar: og‘izda metall ta’mi, qonli qusish, oliguriya-anuriya. O‘lim ko‘pincha o‘tkir buyrak yetishmovchiligidan.</a:t>
            </a:r>
          </a:p>
          <a:p>
            <a:pPr>
              <a:spcAft>
                <a:spcPts val="1200"/>
              </a:spcAft>
            </a:pPr>
            <a:r>
              <a:rPr sz="2200">
                <a:solidFill>
                  <a:srgbClr val="1F2937"/>
                </a:solidFill>
                <a:latin typeface="Calibri"/>
              </a:rPr>
              <a:t>▸  Murdada simobli stomatit, yo‘g‘on ichakda “sulema dizenteriyasi”, kattalashgan “sulema buyragi” (toksik nekronefroz) topiladi.</a:t>
            </a:r>
          </a:p>
          <a:p>
            <a:pPr>
              <a:spcAft>
                <a:spcPts val="1200"/>
              </a:spcAft>
            </a:pPr>
            <a:r>
              <a:rPr sz="2200">
                <a:solidFill>
                  <a:srgbClr val="1F2937"/>
                </a:solidFill>
                <a:latin typeface="Calibri"/>
              </a:rPr>
              <a:t>▸  Organik simob (granozan) surunkali, neyrotoksik: oylab yashirin davr, ensefalopatiya. Qo‘rg‘oshinda ichak-buyrak kuchsizroq, nerv tizimi va kamqonlik yaqqol.</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145, 146, 146-147</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Destruktiv zaharlar: margimush va talliy</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81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Margimush fermentlarning sulfgidril guruhini bloklaydi; kapillyarlar falajlanib, bosim tushadi va kollaps yuz beradi.</a:t>
            </a:r>
          </a:p>
          <a:p>
            <a:pPr>
              <a:spcAft>
                <a:spcPts val="800"/>
              </a:spcAft>
            </a:pPr>
            <a:r>
              <a:rPr sz="1800">
                <a:solidFill>
                  <a:srgbClr val="1F2937"/>
                </a:solidFill>
                <a:latin typeface="Calibri"/>
              </a:rPr>
              <a:t>▸  Surunkali zaharlanishda dispepsiya, polineyropatiya, sochning to‘kilishi va tirnoqlarda ko‘ndalang oq yo‘llar kuzatiladi.</a:t>
            </a:r>
          </a:p>
          <a:p>
            <a:pPr>
              <a:spcAft>
                <a:spcPts val="800"/>
              </a:spcAft>
            </a:pPr>
            <a:r>
              <a:rPr sz="1800">
                <a:solidFill>
                  <a:srgbClr val="1F2937"/>
                </a:solidFill>
                <a:latin typeface="Calibri"/>
              </a:rPr>
              <a:t>▸  Margimush soch, tirnoq, suyakda yillab saqlanadi. Talliyda gastroenterit, alopetsiya va polineyropatiya bo‘ladi.</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995383"/>
                <a:gridCol w="2364035"/>
                <a:gridCol w="1928555"/>
              </a:tblGrid>
              <a:tr h="411480">
                <a:tc>
                  <a:txBody>
                    <a:bodyPr/>
                    <a:lstStyle/>
                    <a:p>
                      <a:r>
                        <a:rPr sz="1300" b="1">
                          <a:solidFill>
                            <a:srgbClr val="FFFFFF"/>
                          </a:solidFill>
                        </a:rPr>
                        <a:t>Belgi</a:t>
                      </a:r>
                    </a:p>
                  </a:txBody>
                  <a:tcPr marL="73152" marR="73152" marT="36576" marB="36576">
                    <a:solidFill>
                      <a:srgbClr val="0B1F3A"/>
                    </a:solidFill>
                  </a:tcPr>
                </a:tc>
                <a:tc>
                  <a:txBody>
                    <a:bodyPr/>
                    <a:lstStyle/>
                    <a:p>
                      <a:r>
                        <a:rPr sz="1300" b="1">
                          <a:solidFill>
                            <a:srgbClr val="FFFFFF"/>
                          </a:solidFill>
                        </a:rPr>
                        <a:t>Oshqozon-ichak</a:t>
                      </a:r>
                    </a:p>
                  </a:txBody>
                  <a:tcPr marL="73152" marR="73152" marT="36576" marB="36576">
                    <a:solidFill>
                      <a:srgbClr val="0B1F3A"/>
                    </a:solidFill>
                  </a:tcPr>
                </a:tc>
                <a:tc>
                  <a:txBody>
                    <a:bodyPr/>
                    <a:lstStyle/>
                    <a:p>
                      <a:r>
                        <a:rPr sz="1300" b="1">
                          <a:solidFill>
                            <a:srgbClr val="FFFFFF"/>
                          </a:solidFill>
                        </a:rPr>
                        <a:t>Paralitik</a:t>
                      </a:r>
                    </a:p>
                  </a:txBody>
                  <a:tcPr marL="73152" marR="73152" marT="36576" marB="36576">
                    <a:solidFill>
                      <a:srgbClr val="0B1F3A"/>
                    </a:solidFill>
                  </a:tcPr>
                </a:tc>
              </a:tr>
              <a:tr h="411480">
                <a:tc>
                  <a:txBody>
                    <a:bodyPr/>
                    <a:lstStyle/>
                    <a:p>
                      <a:r>
                        <a:rPr sz="1200" b="0">
                          <a:solidFill>
                            <a:srgbClr val="1F2937"/>
                          </a:solidFill>
                        </a:rPr>
                        <a:t>Qabul qilish</a:t>
                      </a:r>
                    </a:p>
                  </a:txBody>
                  <a:tcPr marL="73152" marR="73152" marT="36576" marB="36576">
                    <a:solidFill>
                      <a:srgbClr val="E8EEF6"/>
                    </a:solidFill>
                  </a:tcPr>
                </a:tc>
                <a:tc>
                  <a:txBody>
                    <a:bodyPr/>
                    <a:lstStyle/>
                    <a:p>
                      <a:r>
                        <a:rPr sz="1200" b="0">
                          <a:solidFill>
                            <a:srgbClr val="1F2937"/>
                          </a:solidFill>
                        </a:rPr>
                        <a:t>Og‘iz orqali</a:t>
                      </a:r>
                    </a:p>
                  </a:txBody>
                  <a:tcPr marL="73152" marR="73152" marT="36576" marB="36576">
                    <a:solidFill>
                      <a:srgbClr val="E8EEF6"/>
                    </a:solidFill>
                  </a:tcPr>
                </a:tc>
                <a:tc>
                  <a:txBody>
                    <a:bodyPr/>
                    <a:lstStyle/>
                    <a:p>
                      <a:r>
                        <a:rPr sz="1200" b="0">
                          <a:solidFill>
                            <a:srgbClr val="1F2937"/>
                          </a:solidFill>
                        </a:rPr>
                        <a:t>Katta doza yoki parenteral</a:t>
                      </a:r>
                    </a:p>
                  </a:txBody>
                  <a:tcPr marL="73152" marR="73152" marT="36576" marB="36576">
                    <a:solidFill>
                      <a:srgbClr val="E8EEF6"/>
                    </a:solidFill>
                  </a:tcPr>
                </a:tc>
              </a:tr>
              <a:tr h="411480">
                <a:tc>
                  <a:txBody>
                    <a:bodyPr/>
                    <a:lstStyle/>
                    <a:p>
                      <a:r>
                        <a:rPr sz="1200" b="0">
                          <a:solidFill>
                            <a:srgbClr val="1F2937"/>
                          </a:solidFill>
                        </a:rPr>
                        <a:t>Klinika</a:t>
                      </a:r>
                    </a:p>
                  </a:txBody>
                  <a:tcPr marL="73152" marR="73152" marT="36576" marB="36576">
                    <a:solidFill>
                      <a:srgbClr val="FFFFFF"/>
                    </a:solidFill>
                  </a:tcPr>
                </a:tc>
                <a:tc>
                  <a:txBody>
                    <a:bodyPr/>
                    <a:lstStyle/>
                    <a:p>
                      <a:r>
                        <a:rPr sz="1200" b="0">
                          <a:solidFill>
                            <a:srgbClr val="1F2937"/>
                          </a:solidFill>
                        </a:rPr>
                        <a:t>Qusish, vabosimon ich ketishi</a:t>
                      </a:r>
                    </a:p>
                  </a:txBody>
                  <a:tcPr marL="73152" marR="73152" marT="36576" marB="36576">
                    <a:solidFill>
                      <a:srgbClr val="FFFFFF"/>
                    </a:solidFill>
                  </a:tcPr>
                </a:tc>
                <a:tc>
                  <a:txBody>
                    <a:bodyPr/>
                    <a:lstStyle/>
                    <a:p>
                      <a:r>
                        <a:rPr sz="1200" b="0">
                          <a:solidFill>
                            <a:srgbClr val="1F2937"/>
                          </a:solidFill>
                        </a:rPr>
                        <a:t>Bosh og‘rig‘i, alahsirash, koma</a:t>
                      </a:r>
                    </a:p>
                  </a:txBody>
                  <a:tcPr marL="73152" marR="73152" marT="36576" marB="36576">
                    <a:solidFill>
                      <a:srgbClr val="FFFFFF"/>
                    </a:solidFill>
                  </a:tcPr>
                </a:tc>
              </a:tr>
              <a:tr h="411480">
                <a:tc>
                  <a:txBody>
                    <a:bodyPr/>
                    <a:lstStyle/>
                    <a:p>
                      <a:r>
                        <a:rPr sz="1200" b="0">
                          <a:solidFill>
                            <a:srgbClr val="1F2937"/>
                          </a:solidFill>
                        </a:rPr>
                        <a:t>Murda</a:t>
                      </a:r>
                    </a:p>
                  </a:txBody>
                  <a:tcPr marL="73152" marR="73152" marT="36576" marB="36576">
                    <a:solidFill>
                      <a:srgbClr val="E8EEF6"/>
                    </a:solidFill>
                  </a:tcPr>
                </a:tc>
                <a:tc>
                  <a:txBody>
                    <a:bodyPr/>
                    <a:lstStyle/>
                    <a:p>
                      <a:r>
                        <a:rPr sz="1200" b="0">
                          <a:solidFill>
                            <a:srgbClr val="1F2937"/>
                          </a:solidFill>
                        </a:rPr>
                        <a:t>Suvsizlanish, gemorragik yallig‘lanish</a:t>
                      </a:r>
                    </a:p>
                  </a:txBody>
                  <a:tcPr marL="73152" marR="73152" marT="36576" marB="36576">
                    <a:solidFill>
                      <a:srgbClr val="E8EEF6"/>
                    </a:solidFill>
                  </a:tcPr>
                </a:tc>
                <a:tc>
                  <a:txBody>
                    <a:bodyPr/>
                    <a:lstStyle/>
                    <a:p>
                      <a:r>
                        <a:rPr sz="1200" b="0">
                          <a:solidFill>
                            <a:srgbClr val="1F2937"/>
                          </a:solidFill>
                        </a:rPr>
                        <a:t>Miya shishi, o‘zgarish minimal</a:t>
                      </a:r>
                    </a:p>
                  </a:txBody>
                  <a:tcPr marL="73152" marR="73152" marT="36576" marB="36576">
                    <a:solidFill>
                      <a:srgbClr val="E8EEF6"/>
                    </a:solidFill>
                  </a:tcPr>
                </a:tc>
              </a:tr>
              <a:tr h="411480">
                <a:tc>
                  <a:txBody>
                    <a:bodyPr/>
                    <a:lstStyle/>
                    <a:p>
                      <a:r>
                        <a:rPr sz="1200" b="0">
                          <a:solidFill>
                            <a:srgbClr val="1F2937"/>
                          </a:solidFill>
                        </a:rPr>
                        <a:t>O‘lim</a:t>
                      </a:r>
                    </a:p>
                  </a:txBody>
                  <a:tcPr marL="73152" marR="73152" marT="36576" marB="36576">
                    <a:solidFill>
                      <a:srgbClr val="FFFFFF"/>
                    </a:solidFill>
                  </a:tcPr>
                </a:tc>
                <a:tc>
                  <a:txBody>
                    <a:bodyPr/>
                    <a:lstStyle/>
                    <a:p>
                      <a:r>
                        <a:rPr sz="1200" b="0">
                          <a:solidFill>
                            <a:srgbClr val="1F2937"/>
                          </a:solidFill>
                        </a:rPr>
                        <a:t>1-2-kun</a:t>
                      </a:r>
                    </a:p>
                  </a:txBody>
                  <a:tcPr marL="73152" marR="73152" marT="36576" marB="36576">
                    <a:solidFill>
                      <a:srgbClr val="FFFFFF"/>
                    </a:solidFill>
                  </a:tcPr>
                </a:tc>
                <a:tc>
                  <a:txBody>
                    <a:bodyPr/>
                    <a:lstStyle/>
                    <a:p>
                      <a:r>
                        <a:rPr sz="1200" b="0">
                          <a:solidFill>
                            <a:srgbClr val="1F2937"/>
                          </a:solidFill>
                        </a:rPr>
                        <a:t>Dastlabki soatlarda</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Margimush: o‘tkir zaharlanish turlari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148, 149, 148-149</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Qon zaharlari: is gazi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81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Klinika: bosh og‘rig‘i, quloqda shovqin, ko‘ngil aynishi; so‘ng hush yo‘qolishi va talvasali koma.</a:t>
            </a:r>
          </a:p>
          <a:p>
            <a:pPr>
              <a:spcAft>
                <a:spcPts val="800"/>
              </a:spcAft>
            </a:pPr>
            <a:r>
              <a:rPr sz="1800">
                <a:solidFill>
                  <a:srgbClr val="1F2937"/>
                </a:solidFill>
                <a:latin typeface="Calibri"/>
              </a:rPr>
              <a:t>▸  Murda dog‘lari, mushak, suyuq qon pushti-qizg‘ish; ichki a’zolarda to‘laqonlik, mayda qon quyilishlar.</a:t>
            </a:r>
          </a:p>
          <a:p>
            <a:pPr>
              <a:spcAft>
                <a:spcPts val="800"/>
              </a:spcAft>
            </a:pPr>
            <a:r>
              <a:rPr sz="1800">
                <a:solidFill>
                  <a:srgbClr val="1F2937"/>
                </a:solidFill>
                <a:latin typeface="Calibri"/>
              </a:rPr>
              <a:t>▸  Goppe-Zeyler, Libman sinamalari oddiy; tez o‘limda yoki toza havodan so‘ng natija manfiy bo‘lishi mumkin.</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Is gazi nafas yo‘llari orqali kiradi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Gemoglobin bilan birikadi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Karboksigemoglobin hosil bo‘ladi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Kislorod tashilishi buziladi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Gemik va to‘qima gipoksiyasi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Is gazi ta’sir zanjiri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150, 151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Metgemoglobin hosil qiluvchi zaharlar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81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Nitrit va nitrat tuzlari, nitrobenzol, anilin, bertole tuzi, gidroxinon metgemoglobin hosil qiladi. Ular rezina, bo‘yoq, go‘sht konservasi ishlab chiqarishda va tibbiyotda ishlatiladi.</a:t>
            </a:r>
          </a:p>
          <a:p>
            <a:pPr>
              <a:spcAft>
                <a:spcPts val="1200"/>
              </a:spcAft>
            </a:pPr>
            <a:r>
              <a:rPr sz="2000">
                <a:solidFill>
                  <a:srgbClr val="1F2937"/>
                </a:solidFill>
                <a:latin typeface="Calibri"/>
              </a:rPr>
              <a:t>▸  Metgemoglobinda uch valentli temir (Fe3+) gidroksil bilan turg‘un bog‘langan. Gemoglobin kislorodni bog‘lash va tashish qobiliyatini yo‘qotadi, gemik gipoksiya rivojlanadi.</a:t>
            </a:r>
          </a:p>
          <a:p>
            <a:pPr>
              <a:spcAft>
                <a:spcPts val="1200"/>
              </a:spcAft>
            </a:pPr>
            <a:r>
              <a:rPr sz="2000">
                <a:solidFill>
                  <a:srgbClr val="1F2937"/>
                </a:solidFill>
                <a:latin typeface="Calibri"/>
              </a:rPr>
              <a:t>▸  Yuqori konsentratsiyada eritrotsitlar osmotik chidamliligi susayib, gemoliz, anemiya va metgemoglobinuriya paydo bo‘ladi. Nitratlar ichakda nitritga aylangandagina ta’sir qiladi.</a:t>
            </a:r>
          </a:p>
          <a:p>
            <a:pPr>
              <a:spcAft>
                <a:spcPts val="1200"/>
              </a:spcAft>
            </a:pPr>
            <a:r>
              <a:rPr sz="2000">
                <a:solidFill>
                  <a:srgbClr val="1F2937"/>
                </a:solidFill>
                <a:latin typeface="Calibri"/>
              </a:rPr>
              <a:t>▸  Murda dog‘lari ko‘kimtir-kulrang yoki qo‘ng‘ir, qon va ichki a’zolar jigarrang. Nitrobenzolda achchiq bodom, anilinda aromatik hid keladi. 1–2 kundan so‘ng qonda metgemoglobin topilmasligi ham mumkin.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152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Funksional zaharlar: sianidlar, vodorod sulfid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81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Sian anioni (-CN) sitoxromoksidazadagi temirni bog‘laydi. Qonda kislorod yetarli bo‘lsa ham to‘qima gipoksiyasi, nafas va yurak-qon tomir markazlari falaji rivojlanadi.</a:t>
            </a:r>
          </a:p>
          <a:p>
            <a:pPr>
              <a:spcAft>
                <a:spcPts val="1200"/>
              </a:spcAft>
            </a:pPr>
            <a:r>
              <a:rPr sz="2000">
                <a:solidFill>
                  <a:srgbClr val="1F2937"/>
                </a:solidFill>
                <a:latin typeface="Calibri"/>
              </a:rPr>
              <a:t>▸  Katta dozada hush bir daqiqada yo‘qoladi, talvasa va o‘lim kuzatiladi. Murdada achchiq bodom hidi, olcha rang dog‘lar; hid uchuvchanligi tufayli tez yo‘qolishi mumkin.</a:t>
            </a:r>
          </a:p>
          <a:p>
            <a:pPr>
              <a:spcAft>
                <a:spcPts val="1200"/>
              </a:spcAft>
            </a:pPr>
            <a:r>
              <a:rPr sz="2000">
                <a:solidFill>
                  <a:srgbClr val="1F2937"/>
                </a:solidFill>
                <a:latin typeface="Calibri"/>
              </a:rPr>
              <a:t>▸  Ho‘l mevalar (o‘rik, shaftoli, olxo‘ri) danagi mag‘zidagi amigdalin ichakda sianid kislotasini hosil qiladi. Yashirin davr bir necha soat, o‘lim odatda birinchi kunlarda.</a:t>
            </a:r>
          </a:p>
          <a:p>
            <a:pPr>
              <a:spcAft>
                <a:spcPts val="1200"/>
              </a:spcAft>
            </a:pPr>
            <a:r>
              <a:rPr sz="2000">
                <a:solidFill>
                  <a:srgbClr val="1F2937"/>
                </a:solidFill>
                <a:latin typeface="Calibri"/>
              </a:rPr>
              <a:t>▸  Vodorod sulfid ham sitoxromoksidazadagi temirni bog‘laydi. Havoda 1% va undan ko‘p bo‘lsa yashinsimon shakl; murdada palag‘da tuxum hidi, qon va ichki a’zolar olcha rang-qizil. Kanalizatsiya, shaxtada to‘planadi.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153, 154, 153-154, 154-155</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Funksional zaharlar: fosfororganiklar va spirtlar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81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Fosfororganik birikmalar xolinesteraza fermentini so‘ndiradi; to‘qimalarda atsetilxolin to‘planadi.</a:t>
            </a:r>
          </a:p>
          <a:p>
            <a:pPr>
              <a:spcAft>
                <a:spcPts val="800"/>
              </a:spcAft>
            </a:pPr>
            <a:r>
              <a:rPr sz="1800">
                <a:solidFill>
                  <a:srgbClr val="1F2937"/>
                </a:solidFill>
                <a:latin typeface="Calibri"/>
              </a:rPr>
              <a:t>▸  Murdada: erta qotish, qorachiqlar torayishi, ichakda spazm o‘choqlari, shilliq pardalarda ortiqcha suyuqlik.</a:t>
            </a:r>
          </a:p>
          <a:p>
            <a:pPr>
              <a:spcAft>
                <a:spcPts val="800"/>
              </a:spcAft>
            </a:pPr>
            <a:r>
              <a:rPr sz="1800">
                <a:solidFill>
                  <a:srgbClr val="1F2937"/>
                </a:solidFill>
                <a:latin typeface="Calibri"/>
              </a:rPr>
              <a:t>▸  Etanol atsetaldegidga, keyin sirka kislotasi va suvga parchalanadi; atsetaldegid zaharli.</a:t>
            </a:r>
          </a:p>
        </p:txBody>
      </p:sp>
      <p:graphicFrame>
        <p:nvGraphicFramePr>
          <p:cNvPr id="9" name="Table 8"/>
          <p:cNvGraphicFramePr>
            <a:graphicFrameLocks noGrp="1"/>
          </p:cNvGraphicFramePr>
          <p:nvPr/>
        </p:nvGraphicFramePr>
        <p:xfrm>
          <a:off x="6263640" y="1463040"/>
          <a:ext cx="5287974" cy="1645920"/>
        </p:xfrm>
        <a:graphic>
          <a:graphicData uri="http://schemas.openxmlformats.org/drawingml/2006/table">
            <a:tbl>
              <a:tblPr firstRow="1" bandRow="1">
                <a:tableStyleId>{5C22544A-7EE6-4342-B048-85BDC9FD1C3A}</a:tableStyleId>
              </a:tblPr>
              <a:tblGrid>
                <a:gridCol w="1208680"/>
                <a:gridCol w="1284222"/>
                <a:gridCol w="2795072"/>
              </a:tblGrid>
              <a:tr h="411480">
                <a:tc>
                  <a:txBody>
                    <a:bodyPr/>
                    <a:lstStyle/>
                    <a:p>
                      <a:r>
                        <a:rPr sz="1300" b="1">
                          <a:solidFill>
                            <a:srgbClr val="FFFFFF"/>
                          </a:solidFill>
                        </a:rPr>
                        <a:t>Modda</a:t>
                      </a:r>
                    </a:p>
                  </a:txBody>
                  <a:tcPr marL="73152" marR="73152" marT="36576" marB="36576">
                    <a:solidFill>
                      <a:srgbClr val="0B1F3A"/>
                    </a:solidFill>
                  </a:tcPr>
                </a:tc>
                <a:tc>
                  <a:txBody>
                    <a:bodyPr/>
                    <a:lstStyle/>
                    <a:p>
                      <a:r>
                        <a:rPr sz="1300" b="1">
                          <a:solidFill>
                            <a:srgbClr val="FFFFFF"/>
                          </a:solidFill>
                        </a:rPr>
                        <a:t>Metabolit</a:t>
                      </a:r>
                    </a:p>
                  </a:txBody>
                  <a:tcPr marL="73152" marR="73152" marT="36576" marB="36576">
                    <a:solidFill>
                      <a:srgbClr val="0B1F3A"/>
                    </a:solidFill>
                  </a:tcPr>
                </a:tc>
                <a:tc>
                  <a:txBody>
                    <a:bodyPr/>
                    <a:lstStyle/>
                    <a:p>
                      <a:r>
                        <a:rPr sz="1300" b="1">
                          <a:solidFill>
                            <a:srgbClr val="FFFFFF"/>
                          </a:solidFill>
                        </a:rPr>
                        <a:t>Zaharli ta’sir</a:t>
                      </a:r>
                    </a:p>
                  </a:txBody>
                  <a:tcPr marL="73152" marR="73152" marT="36576" marB="36576">
                    <a:solidFill>
                      <a:srgbClr val="0B1F3A"/>
                    </a:solidFill>
                  </a:tcPr>
                </a:tc>
              </a:tr>
              <a:tr h="411480">
                <a:tc>
                  <a:txBody>
                    <a:bodyPr/>
                    <a:lstStyle/>
                    <a:p>
                      <a:r>
                        <a:rPr sz="1200" b="0">
                          <a:solidFill>
                            <a:srgbClr val="1F2937"/>
                          </a:solidFill>
                        </a:rPr>
                        <a:t>Metil spirti</a:t>
                      </a:r>
                    </a:p>
                  </a:txBody>
                  <a:tcPr marL="73152" marR="73152" marT="36576" marB="36576">
                    <a:solidFill>
                      <a:srgbClr val="E8EEF6"/>
                    </a:solidFill>
                  </a:tcPr>
                </a:tc>
                <a:tc>
                  <a:txBody>
                    <a:bodyPr/>
                    <a:lstStyle/>
                    <a:p>
                      <a:r>
                        <a:rPr sz="1200" b="0">
                          <a:solidFill>
                            <a:srgbClr val="1F2937"/>
                          </a:solidFill>
                        </a:rPr>
                        <a:t>Formaldegid</a:t>
                      </a:r>
                    </a:p>
                  </a:txBody>
                  <a:tcPr marL="73152" marR="73152" marT="36576" marB="36576">
                    <a:solidFill>
                      <a:srgbClr val="E8EEF6"/>
                    </a:solidFill>
                  </a:tcPr>
                </a:tc>
                <a:tc>
                  <a:txBody>
                    <a:bodyPr/>
                    <a:lstStyle/>
                    <a:p>
                      <a:r>
                        <a:rPr sz="1200" b="0">
                          <a:solidFill>
                            <a:srgbClr val="1F2937"/>
                          </a:solidFill>
                        </a:rPr>
                        <a:t>Kardio-, nefro-, neyrotoksik</a:t>
                      </a:r>
                    </a:p>
                  </a:txBody>
                  <a:tcPr marL="73152" marR="73152" marT="36576" marB="36576">
                    <a:solidFill>
                      <a:srgbClr val="E8EEF6"/>
                    </a:solidFill>
                  </a:tcPr>
                </a:tc>
              </a:tr>
              <a:tr h="411480">
                <a:tc>
                  <a:txBody>
                    <a:bodyPr/>
                    <a:lstStyle/>
                    <a:p>
                      <a:r>
                        <a:rPr sz="1200" b="0">
                          <a:solidFill>
                            <a:srgbClr val="1F2937"/>
                          </a:solidFill>
                        </a:rPr>
                        <a:t>Etil spirti</a:t>
                      </a:r>
                    </a:p>
                  </a:txBody>
                  <a:tcPr marL="73152" marR="73152" marT="36576" marB="36576">
                    <a:solidFill>
                      <a:srgbClr val="FFFFFF"/>
                    </a:solidFill>
                  </a:tcPr>
                </a:tc>
                <a:tc>
                  <a:txBody>
                    <a:bodyPr/>
                    <a:lstStyle/>
                    <a:p>
                      <a:r>
                        <a:rPr sz="1200" b="0">
                          <a:solidFill>
                            <a:srgbClr val="1F2937"/>
                          </a:solidFill>
                        </a:rPr>
                        <a:t>Atsetaldegid</a:t>
                      </a:r>
                    </a:p>
                  </a:txBody>
                  <a:tcPr marL="73152" marR="73152" marT="36576" marB="36576">
                    <a:solidFill>
                      <a:srgbClr val="FFFFFF"/>
                    </a:solidFill>
                  </a:tcPr>
                </a:tc>
                <a:tc>
                  <a:txBody>
                    <a:bodyPr/>
                    <a:lstStyle/>
                    <a:p>
                      <a:r>
                        <a:rPr sz="1200" b="0">
                          <a:solidFill>
                            <a:srgbClr val="1F2937"/>
                          </a:solidFill>
                        </a:rPr>
                        <a:t>Yoqimsiz sezgi, nerv tizimi buzilishi</a:t>
                      </a:r>
                    </a:p>
                  </a:txBody>
                  <a:tcPr marL="73152" marR="73152" marT="36576" marB="36576">
                    <a:solidFill>
                      <a:srgbClr val="FFFFFF"/>
                    </a:solidFill>
                  </a:tcPr>
                </a:tc>
              </a:tr>
              <a:tr h="411480">
                <a:tc>
                  <a:txBody>
                    <a:bodyPr/>
                    <a:lstStyle/>
                    <a:p>
                      <a:r>
                        <a:rPr sz="1200" b="0">
                          <a:solidFill>
                            <a:srgbClr val="1F2937"/>
                          </a:solidFill>
                        </a:rPr>
                        <a:t>Etilenglikol</a:t>
                      </a:r>
                    </a:p>
                  </a:txBody>
                  <a:tcPr marL="73152" marR="73152" marT="36576" marB="36576">
                    <a:solidFill>
                      <a:srgbClr val="E8EEF6"/>
                    </a:solidFill>
                  </a:tcPr>
                </a:tc>
                <a:tc>
                  <a:txBody>
                    <a:bodyPr/>
                    <a:lstStyle/>
                    <a:p>
                      <a:r>
                        <a:rPr sz="1200" b="0">
                          <a:solidFill>
                            <a:srgbClr val="1F2937"/>
                          </a:solidFill>
                        </a:rPr>
                        <a:t>Oksalat kislotasi</a:t>
                      </a:r>
                    </a:p>
                  </a:txBody>
                  <a:tcPr marL="73152" marR="73152" marT="36576" marB="36576">
                    <a:solidFill>
                      <a:srgbClr val="E8EEF6"/>
                    </a:solidFill>
                  </a:tcPr>
                </a:tc>
                <a:tc>
                  <a:txBody>
                    <a:bodyPr/>
                    <a:lstStyle/>
                    <a:p>
                      <a:r>
                        <a:rPr sz="1200" b="0">
                          <a:solidFill>
                            <a:srgbClr val="1F2937"/>
                          </a:solidFill>
                        </a:rPr>
                        <a:t>Jigar va buyrakni zaharlaydi</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Spirtlar metabolizmi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155, 315, 318</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funksional zahar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81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Voqea: 3 yoshli qizcha yiqilgandan so‘ng xushsiz, tanasi talvasada, og‘zidan ko‘pik va qon kelgan; ichki qon ketishiga shubha qilingan.</a:t>
            </a:r>
          </a:p>
          <a:p>
            <a:pPr>
              <a:spcAft>
                <a:spcPts val="1200"/>
              </a:spcAft>
            </a:pPr>
            <a:r>
              <a:rPr sz="2200">
                <a:solidFill>
                  <a:srgbClr val="1F2937"/>
                </a:solidFill>
                <a:latin typeface="Calibri"/>
              </a:rPr>
              <a:t>▸  Kalla suyagi ochilganda qon topilmadi, qizcha vafot etdi; murdada miya bo‘kishi va yumshoq parda to‘laqonligi aniqlandi.</a:t>
            </a:r>
          </a:p>
          <a:p>
            <a:pPr>
              <a:spcAft>
                <a:spcPts val="1200"/>
              </a:spcAft>
            </a:pPr>
            <a:r>
              <a:rPr sz="2200">
                <a:solidFill>
                  <a:srgbClr val="1F2937"/>
                </a:solidFill>
                <a:latin typeface="Calibri"/>
              </a:rPr>
              <a:t>▸  Sud-kimyoviy tekshiruvda oshqozon va ichki a’zolarda piramidon topildi; qizcha yiqilishdan oldin 10 tabletka ichgani ma’lum bo‘ldi.</a:t>
            </a:r>
          </a:p>
          <a:p>
            <a:pPr>
              <a:spcAft>
                <a:spcPts val="1200"/>
              </a:spcAft>
            </a:pPr>
            <a:r>
              <a:rPr sz="2200">
                <a:solidFill>
                  <a:srgbClr val="1F2937"/>
                </a:solidFill>
                <a:latin typeface="Calibri"/>
              </a:rPr>
              <a:t>▸  Savol: bitta klinik belgiga tayanib tashxis qo‘yish nega xavfli? Tashxisni qaysi uch manba aniqlashtiradi?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294, 153</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Detoksikatsiya va kimyo-toksikologik tahlil</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81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Qonda spirtga tekshiruv uchun teri etanol bilan artilmaydi; sutkadan ortiq xona haroratida saqlansa, qonda 1‰ gacha etanol hosil bo‘ladi.</a:t>
            </a:r>
          </a:p>
          <a:p>
            <a:pPr>
              <a:spcAft>
                <a:spcPts val="1200"/>
              </a:spcAft>
            </a:pPr>
            <a:r>
              <a:rPr sz="2200">
                <a:solidFill>
                  <a:srgbClr val="1F2937"/>
                </a:solidFill>
                <a:latin typeface="Calibri"/>
              </a:rPr>
              <a:t>▸  Detoksikatsiya – zaharni zararsizlantirish va chiqarishni tezlatish: qusdirish, oshqozon yuvish, forsirlangan diurez, dializ, antidot.</a:t>
            </a:r>
          </a:p>
          <a:p>
            <a:pPr>
              <a:spcAft>
                <a:spcPts val="1200"/>
              </a:spcAft>
            </a:pPr>
            <a:r>
              <a:rPr sz="2200">
                <a:solidFill>
                  <a:srgbClr val="1F2937"/>
                </a:solidFill>
                <a:latin typeface="Calibri"/>
              </a:rPr>
              <a:t>▸  Diqqat: kuchli kislota yoki ishqor ichilganda qusdirish nomaqbul; qizilo‘ngach shikasti kuchayadi, nafas yo‘llari kuyishi mumkin.</a:t>
            </a:r>
          </a:p>
          <a:p>
            <a:pPr>
              <a:spcAft>
                <a:spcPts val="1200"/>
              </a:spcAft>
            </a:pPr>
            <a:r>
              <a:rPr sz="2200">
                <a:solidFill>
                  <a:srgbClr val="1F2937"/>
                </a:solidFill>
                <a:latin typeface="Calibri"/>
              </a:rPr>
              <a:t>▸  Zahar ma’lum bo‘lsa, ob’ekt «uch nuqta» qoidasi bilan olinadi: zahar kirgan, ta’sir etgan va chiqqan joydan (oshqozon massasi, jigar, buyrak).</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Baizoldanov T. (Байзолданов Т.)., Токсикологическая химия: учебник, betlar: 124, 83, 84; G‘iyosov Z.A., Sud tibbiyoti: darslik, betlar: 136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Xulosa va asosiy xulosalar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81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Zaharlar sud-tibbiy jihatdan ikki guruhga bo‘linadi: asosan mahalliy (o‘yuvchi) va asosan umumiy (rezorbtiv) ta’sir etuvchilar. Umumiylari: destruktiv, qon va funksional zaharlar.</a:t>
            </a:r>
          </a:p>
          <a:p>
            <a:pPr>
              <a:spcAft>
                <a:spcPts val="1200"/>
              </a:spcAft>
            </a:pPr>
            <a:r>
              <a:rPr sz="2000">
                <a:solidFill>
                  <a:srgbClr val="1F2937"/>
                </a:solidFill>
                <a:latin typeface="Calibri"/>
              </a:rPr>
              <a:t>▸  Diagnostika uch bosqichda yuritiladi: hodisa joyi va tibbiy hujjatlar, murda tekshiruvi, so‘ng laboratoriya tekshiruvlari. Uchalasi birgalikda xulosani asoslaydi.</a:t>
            </a:r>
          </a:p>
          <a:p>
            <a:pPr>
              <a:spcAft>
                <a:spcPts val="1200"/>
              </a:spcAft>
            </a:pPr>
            <a:r>
              <a:rPr sz="2000">
                <a:solidFill>
                  <a:srgbClr val="1F2937"/>
                </a:solidFill>
                <a:latin typeface="Calibri"/>
              </a:rPr>
              <a:t>▸  Zahar ma’lum bo‘lsa, namuna “uch nuqta” qoidasi bilan olinadi: zahar kirgan, asosan ta’sir etgan va chiqqan joylardan. Noma’lum bo‘lsa, organlar ro‘yxati kengroq bo‘ladi.</a:t>
            </a:r>
          </a:p>
          <a:p>
            <a:pPr>
              <a:spcAft>
                <a:spcPts val="1200"/>
              </a:spcAft>
            </a:pPr>
            <a:r>
              <a:rPr sz="2000">
                <a:solidFill>
                  <a:srgbClr val="1F2937"/>
                </a:solidFill>
                <a:latin typeface="Calibri"/>
              </a:rPr>
              <a:t>▸  Diqqat: xato qilish xavfi — sud-kimyoviy natija o‘zi isbot emas. Musbat natija murdaga tashqaridan o‘tgan zahardan, manfiysi zahar chiqib ketgani yoki parchalanganidan bo‘lishi mumkin.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138-139, 135-136, 136; Харин Г.М. (Kharin G.M.)., Краткий курс судебной медицины: учебное пособие, betlar: 131</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81</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Eslab qolish usuli — “uch nuqta” qoidasi. Zaharli modda ma‘lum bo‘lsa, namuna uch joydan olinadi: zahar kirgan, asosan ta‘sir etgan va organizmdan chiqqan joy. Masalan, og‘iz orqali kirgan zahar jigarga ta‘sir etib siydik bilan chiqsa, oshqozon massasi, jigar bo‘lagi va butun buyrak siydik bilan olinadi.</a:t>
            </a:r>
          </a:p>
          <a:p>
            <a:pPr>
              <a:spcAft>
                <a:spcPts val="1200"/>
              </a:spcAft>
            </a:pPr>
            <a:r>
              <a:rPr sz="1800">
                <a:solidFill>
                  <a:srgbClr val="1F2937"/>
                </a:solidFill>
                <a:latin typeface="Calibri"/>
              </a:rPr>
              <a:t>▸  Qiziqarli hodisa — Rasputin voqeasi. Manbada yozilishicha, 1916 yil dekabrida dushmanlari uni kaliy sianidi bilan zaharlamoqchi bo‘ladi. U zaharlanmaydi. Sababi: kaliy sianidi uzoq saqlanib CO2 bilan birikadi va potash (K2CO3) ga aylanib, zaharlilik xususiyatini yo‘qotgan. Xulosa: zaharning saqlanish muddati va sharoiti uning ta‘sirini o‘zgartiradi.</a:t>
            </a:r>
          </a:p>
          <a:p>
            <a:pPr>
              <a:spcAft>
                <a:spcPts val="1200"/>
              </a:spcAft>
            </a:pPr>
            <a:r>
              <a:rPr sz="1800">
                <a:solidFill>
                  <a:srgbClr val="1F2937"/>
                </a:solidFill>
                <a:latin typeface="Calibri"/>
              </a:rPr>
              <a:t>▸  Hodisa tahlili — bitta klinik belgi aldaydi. 3 yoshli qizcha yiqilgandan keyin xushsiz, talvasa va og‘zidan ko‘pik hamda qon kelgan holda keltiriladi. Ichki qon ketishiga shubha qilinadi, kalla suyagi ochiladi, lekin qon topilmaydi. Sud-kimyoviy tekshiruvda ichki organlarda piramidon aniqlanadi: qizcha yiqilishdan oldin 10 tabletka ichgan. Savol: bu holatda qaysi ma‘lumotlar zaharlanishga shubha uyg‘otishi kerak edi?</a:t>
            </a:r>
          </a:p>
          <a:p>
            <a:pPr>
              <a:spcAft>
                <a:spcPts val="1200"/>
              </a:spcAft>
            </a:pPr>
            <a:r>
              <a:rPr sz="1800">
                <a:solidFill>
                  <a:srgbClr val="1F2937"/>
                </a:solidFill>
                <a:latin typeface="Calibri"/>
              </a:rPr>
              <a:t>▸  Eslab qolish usuli — murda dog‘lari rangi. Is gazi: pushti. Sianid kislotasi yoki tuzlari: yorqin olcha rang. Metgemoglobin hosil qiluvchi moddalar: jigar rang, qo‘ng‘ir. Gemoliz chaqiruvchi moddalar: sargish. Bu belgi zaharni taxmin qilishga yordam beradi, lekin laboratoriya tekshiruvi bilan tasdiqlanadi.</a:t>
            </a:r>
          </a:p>
          <a:p>
            <a:pPr>
              <a:spcAft>
                <a:spcPts val="1200"/>
              </a:spcAft>
            </a:pPr>
            <a:r>
              <a:rPr sz="1800">
                <a:solidFill>
                  <a:srgbClr val="1F2937"/>
                </a:solidFill>
                <a:latin typeface="Calibri"/>
              </a:rPr>
              <a:t>▸  Qiziqarli fakt — soch zaharni “eslab qoladi”. Soch kreatininsiz biologik namuna sifatida olish oson, dori va narkotik moddalar unda metabolizmga uchramaydi. Manbada keltirilishicha, ingliz bo‘lmagan shoir Jon Kits sochida opiatlar o‘limidan 167 yil keyin topilgan; stanozolol esa siydikda yo‘qolgan bo‘lsa ham, sochda bir yildan keyin ham aniqlangan.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377440"/>
            <a:ext cx="10911535" cy="1280160"/>
          </a:xfrm>
          <a:prstGeom prst="rect">
            <a:avLst/>
          </a:prstGeom>
          <a:noFill/>
        </p:spPr>
        <p:txBody>
          <a:bodyPr wrap="square" anchor="ctr">
            <a:spAutoFit/>
          </a:bodyPr>
          <a:lstStyle/>
          <a:p>
            <a:r>
              <a:rPr sz="4400" b="1">
                <a:solidFill>
                  <a:srgbClr val="FFFFFF"/>
                </a:solidFill>
                <a:latin typeface="Georgia"/>
              </a:rPr>
              <a:t>Bilimingizni sinang</a:t>
            </a:r>
          </a:p>
        </p:txBody>
      </p:sp>
      <p:sp>
        <p:nvSpPr>
          <p:cNvPr id="4" name="TextBox 3"/>
          <p:cNvSpPr txBox="1"/>
          <p:nvPr/>
        </p:nvSpPr>
        <p:spPr>
          <a:xfrm>
            <a:off x="640080" y="3749039"/>
            <a:ext cx="10911535" cy="548640"/>
          </a:xfrm>
          <a:prstGeom prst="rect">
            <a:avLst/>
          </a:prstGeom>
          <a:noFill/>
        </p:spPr>
        <p:txBody>
          <a:bodyPr wrap="square">
            <a:spAutoFit/>
          </a:bodyPr>
          <a:lstStyle/>
          <a:p>
            <a:r>
              <a:rPr sz="2200" b="0">
                <a:solidFill>
                  <a:srgbClr val="C9A227"/>
                </a:solidFill>
                <a:latin typeface="Calibri"/>
              </a:rPr>
              <a:t>20 ta test savoli</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81</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Radiolog bemorga oshqozon rentgenida bariy sulfat butqasini berdi va zaharlanish bo‘lmadi. Bariy xlorid esa kuchli zahar hisoblanadi. Shu farqning asosiy sababi nima?</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Bariy sulfat havoda tez oksidlanib, zaharsiz birikmaga o‘tadi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Bariy xlorid suvda eriydi, shu sababli tez qonga o‘tadi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Bariy xlorid doim gazsimon holatda organizmga kiradi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Bariy sulfatning kimyoviy tuzilishi butunlay boshqacha bo‘ladi</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81</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Sud-tibbiy ekspertiza ma’lumotlariga ko‘ra, zaharlanishlarning vujudga kelish tafsilotlari bo‘yicha qaysi turi eng ko‘p uchraydi?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Baxtsiz hodisa tufayli yuz bergan zaharlanishlar</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Qotillik maqsadida qasddan sodir etilgan zaharlash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O‘z-o‘zini o‘ldirish maqsadidagi zaharlanishlar</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Barcha uchala turi bir xil miqdorda uchraydi</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3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81</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Shifokor tibbiy muolajada dori dozasini noto‘g‘ri belgiladi va bemor zaharlandi. Zaharlanishning qaysi turiga kiradi?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Qasddan qotillik maqsadida sodir etilgan zaharlash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O‘z-o‘zini o‘ldirish niyatida qabul qilingan zahar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Zaharli moddalar bilan ishlashdagi kasbiy zaharlanish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Yatrogen kelib chiqishli tasodifiy zaharlanish</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4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81</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Sanoat korxonasida suyultirilgan fenol eritmasi bilan zaharlangan ishchida qanday ta’sir kutiladi?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Faqat mahalliy ta’sir bilan kimyoviy kuyish chaqiradi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Hech qanday zaharli ta’sir ko‘rsatmaydi, chunki suyultirilgan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Rezorbtiv ta’sir ko‘rsatib, ichki a’zolar va miyani shikastlaydi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Faqat teri yuzasida vaqtincha qizarish paydo qiladi</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5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81</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Zaharlanishning vujudga kelishida ahamiyatli bo‘lgan to‘rt guruh omilga quyidagilardan qaysi biri kirmaydi?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Ekspertning shaxsiy malakasi va tajriba darajasi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Zaharning organizmga kirish yo‘li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Zaharli modda bilan bog‘liq xususiyatlar</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Zahar ta’siri vaqtidagi tashqi shart-sharoit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6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81</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Bir xil miqdorda zahar qabul qilgan bola va kattadan bolada zaharlanish og‘irroq kechdi. Kitobga ko‘ra, sabab nima?</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Bolalarda jigar fermentlari kattalardagidan ko‘proq faol bo‘lishi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Bolaning vazni kichikligi va umumiy qarshilik tizimi to‘liq shakllanmagani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Bolalar organizmida zaharning so‘rilishi butunlay to‘xtab qolishi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Bolalarning jinsi zaharga sezgirlikni belgilovchi asosiy omil ekani</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7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81</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Bemor uyqu dorisini qisqa vaqt ichida takroran qabul qildi va dorining avvalgi ta’siri susaydi. Bu holat qanday ataladi?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Idiosinkraziya — moddaga genetik jihatdan o‘ta sezgirlik</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Abstinensiya sindromi — moddani qabul qilmaganda kuzatiladigan holat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Kumulyasiya — zaharli modda organizmda to‘planib borishi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Tolerantlik — organizmning moddaga o‘rganib qolishi</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8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81</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Zaharli modda to‘g‘ri ichak shilliq qavatidan so‘rildi va og‘iz orqali qabul qilingandagidan kuchliroq ta’sir qildi. Kitobga ko‘ra, sababi nima?</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Qonga so‘rilgan modda jigar orqali o‘tmagani uchun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Modda oshqozon kislotasi ta’sirida butunlay parchalangani uchun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To‘g‘ri ichakda zahar faqat yog‘da erishi mumkinligi uchun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Modda bir vaqtda teri orqali ham qonga kirganligi uchun</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9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81</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Zahar og‘iz orqali qabul qilingan, asosan jigarga ta’sir etgan va siydik bilan chiqadi. “Uch nuqta” qoidasiga ko‘ra, tekshiruvga nimalar olinadi?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Bosh miyaning uchdan biri, o‘pkaning to‘rtdan biri va 200 ml qon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Faqat oshqozon ichidagi massa hamda bir metrdan ingichka ichak</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Oshqozon ichidagi massa, jigarning bir qismi va siydigi bilan butun buyrak</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Faqat butun buyrak, o‘t qopi va yurakdagi qonning bir qismi</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10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81</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Murdani tekshirishda murda dog‘lari jigar rang, qo‘ng‘ir tusda topildi. Bu qaysi zaharlar guruhiga shubha uyg‘otadi?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Karboksigemoglobin hosil qiluvchi moddalar, bunda dog‘lar pushti bo‘ladi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Metgemoglobin hosil qiluvchi moddalar, bunda dog‘lar qo‘ng‘ir bo‘ladi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Sianid kislotasi va tuzlari, bunda dog‘lar yorqin olcha rangda bo‘ladi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Gemoliz chaqiruvchi moddalar, bunda dog‘lar sarg‘imtir tusda bo‘ladi</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11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81</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Murda uzoq muddat oldin ko‘milgan. Ekshumatsiyada qaysi zaharning organlar yoki soch-tirnoqdan topilish ehtimoli eng yuqori?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Etil spirti (alkogol)</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Margimush birikmalari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Kaliy sianidi tuzi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Xloroform bug‘lari</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12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81</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3 yoshli qizcha yiqilgandan keyin xushini yo‘qotib, talvasaga tushgan. Ichki qon ketishga shubha bo‘lgan, ammo kalla bo‘shlig‘ida qon topilmagan. Sud-kimyoviy tekshiruvda nima aniqlangan?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Atropin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Strixnin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Nembutal</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Piramidon</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13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81</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Metil spirti bilan zaharlanishda avval narkotik ta’sir, keyin kardio-, nefro- va neyrotoksik o‘zgarishlar rivojlandi. Keyingi o‘zgarishlar qaysi metabolit ta’siri bilan tushuntiriladi?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Formaldegid</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Atsetaldegid</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Oksalat kislotasi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Sirka kislotasi</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14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81</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Ekspert yog‘da yaxshi eriydigan zahar bilan zaharlanishni tekshirmoqda. Bunday modda organizmdan asosan qaysi yo‘l bilan chiqariladi?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Asosan buyrak orqali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Asosan o‘pka orqali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Asosan o‘t bilan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Asosan sut bezlari orqali</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15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81</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Murda tekshiruvida oshqozon shilliq qavati qo‘ng‘ir-qora, devor yemirilgan va perforatsiya kuzatilgan. Qaysi kislota bilan zaharlanish ehtimoli eng yuqori?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Xlorid kislotasi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Sulfat kislotasi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Nitrat kislotasi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Sirka kislotasi</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16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81</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Nosoz pechkali yopiq xonada topilgan murdada murda dog‘lari pushti, qon suyuq. Qaysi zahar ehtimoli katta?</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Anilin yoki nitrit (metgemoglobin hosil bo‘lishi)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Arsin yoki mis sulfat (gemoliz chaqirishi)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Is gazi (karboksigemoglobin hosil bo‘lishi)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Fosfororganik birikma (xolinesteraza so‘nishi)</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17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81</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Murdada yo‘g‘on ichakda difteritik yallig‘lanish, kattalashgan buyrak va og‘izda stomatit topildi. Qaysi zahar ehtimoli katta?</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Simob dixlorid (sulema) bilan zaharlanish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Granozan (simobning organik birikmasi) bilan zaharlanish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Tetraetilqo‘rg‘oshin bilan zaharlanish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Kaliy permanganat bilan zaharlanish</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18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81</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Anilindan zaharlangan bemorda 2-kuni anemiya va gemoglobinuriyali nefroz bor, lekin qonda metgemoglobin topilmadi. Bu natija nimani bildiradi?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Zaharlanish inkor etiladi, chunki qonda metgemoglobin yo‘q</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Bu holat faqat laboratoriya xatosi bilan tushuntiriladi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Qonda metgemoglobin doim 5-6 kun topilishi shart bo‘ladi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1-2 kundan keyin qonda topilmasligi mumkin, bu istisno emas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19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81</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Fermer insektitsid purkagach, uda mioz, bradikardiya va ko‘p shilimshiq ajralishi paydo bo‘ldi. Zaharlanish mexanizmida qaysi ferment so‘nadi?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Sitoxromoksidaza fermenti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Xolinesteraza fermenti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Glyukoza-6-fosfatdegidrogenaza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Alkogoldegidrogenaza fermenti</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20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81</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Zaharlovchi modda ma’lum bo‘lsa, “uch nuqta” qoidasiga ko‘ra laboratoriya uchun ob’ektlar qayerlardan olinadi?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Faqat oshqozon ichidagi massa va qondan olinadi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Faqat zahar ta’sir etgan a’zo to‘qimasidan olinadi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Zahar kirgan, ta’sir etgan va chiqqan joylardan olinadi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Bosh miya, o‘pka va jigarning bir qismidan olinadi</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81</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Bariy xlorid suvda eriydi, shu sababli tez qonga o‘tadi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Moddaning toksik ta’siri eruvchanligiga bog‘liq. Bariy sulfat suvda erimaydi, shuning uchun rentgenda butqa sifatida ishlatiladi. Bariy xlorid suvda eriydi, shu sababli kuchli zahar hisoblanadi.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133-bet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81</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Baxtsiz hodisa tufayli yuz bergan zaharlanishlar</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Ekspertiza ma’lumotlariga ko‘ra aksariyat holatlarni baxtsiz hodisalar tashkil etadi. Ikkinchi o‘rinda o‘z-o‘zini o‘ldirish turadi. Zaharlash yo‘li bilan qotillik kamdan-kam kuzatiladi.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132-bet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3: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63 / 81</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Yatrogen kelib chiqishli tasodifiy zaharlanish</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Ayrim tasodifiy zaharlanishlar yatrogen bo‘ladi. Bunda dori dozasini belgilashda xatoga yo‘l qo‘yiladi yoki bir dorining o‘rniga boshqa modda qo‘llanadi.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132-bet</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4: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64 / 81</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Rezorbtiv ta’sir ko‘rsatib, ichki a’zolar va miyani shikastlaydi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Konsentrlangan fenol faqat mahalliy ta’sir etib kimyoviy kuyishga olib keladi. Suyultirilgan fenol rezorbtiv ta’sir ko‘rsatib, ichki a’zolar va bosh miyani shikastlaydi. Demak, konsentratsiya ta’sir turini o‘zgartiradi.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133-bet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5: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65 / 81</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Ekspertning shaxsiy malakasi va tajriba darajasi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To‘rt guruh omil: zaharli modda, organizm, zaharning kirish yo‘li va ta’sir vaqtidagi tashqi shart-sharoit. Ekspertning malakasi bu guruhlarga kirmaydi.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132-bet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66 / 81</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Bolaning vazni kichikligi va umumiy qarshilik tizimi to‘liq shakllanmagani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Bolalar zaharga sezgirroq: ularning vazni kichik va umumiy qarshilik tizimi to‘liq shakllanmagan. Jins bo‘yicha zaharning ta’sirida farq bo‘lmaydi. Ayollarning sezgirligi faqat ayrim fiziologik davrlarda, masalan homiladorlikda ortadi.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134-bet</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7: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67 / 81</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Tolerantlik — organizmning moddaga o‘rganib qolishi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Zaharli moddaning qisqa vaqt oralig‘ida takroran ta’siri tolerantlikni (o‘rganib qolishni) keltirib chiqaradi. Uyqu dorilari, analgetiklar va gipotenziv preparatlarda shunday bo‘lishi mumkin. Abstinensiya moddani qabul qilmaganda, idiosinkraziya esa o‘ta sezgirlikda kuzatiladi.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134-bet</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8: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68 / 81</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Qonga so‘rilgan modda jigar orqali o‘tmagani uchun</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Nafas yo‘llari, to‘g‘ri ichak va qin shilliq qavatlaridan so‘rilgan moddalar jigardan o‘tmaydi. Shu sababli ular oshqozon va ichakdan so‘rilgan moddalarga qaraganda kuchliroq ta’sir ko‘rsatadi.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135-bet</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69 / 81</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Oshqozon ichidagi massa, jigarning bir qismi va siydigi bilan butun buyrak</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“Uch nuqta” qoidasi bo‘yicha ob’ektlar zahar kirgan, asosan ta’sir etgan va organizmdan chiqqan joylardan olinadi. Bu holatda oshqozon ichidagi massa, jigarning bir qismi va siydigi bilan butun buyrak olinadi.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136-bet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70 / 81</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Metgemoglobin hosil qiluvchi moddalar, bunda dog‘lar qo‘ng‘ir bo‘ladi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Is gazida murda dog‘lari pushti, sianidlarda yorqin olcha rangda bo‘ladi. Metgemoglobin hosil qiluvchi moddalarda jigar rang, qo‘ng‘ir, gemoliz chaqiruvchilarda esa sarg‘imtir tusda bo‘ladi.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136-bet</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11: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71 / 81</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Margimush birikmalari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Alkogol, kaliy sianidi va xloroform hayotda va o‘limdan keyin tez parchalanadi. Margimush, og‘ir metall tuzlari va strixnin yaxshi saqlanadi. Margimush yumshoq to‘qimalar yo‘qolganda ham soch va tirnoqdan aniqlanishi mumkin.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Iskandarov A.I., Qo‘ldoshev D.R., Sud tibbiyoti, 298-bet</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12: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72 / 81</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Piramidon</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Murdada miya moddasining bo‘kishi va yumshoq pardaning to‘laqonligi topilgan. Oshqozon va ichki organlarda piramidon aniqlangan: qizcha yiqilishdan oldin 10 tabletka ichgan. Bitta klinik belgiga qarab tashxis qo‘yish qiyin.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Iskandarov A.I., Qo‘ldoshev D.R., Sud tibbiyoti, 294-bet</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13: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73 / 81</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Formaldegid</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Metil spirtining o‘zi narkotik ta’sir qiladi. Keyingi kardiotoksik, nefrotoksik va neyrotoksik o‘zgarishlarni uning metaboliti formaldegid beradi. Oksalat kislotasi etilenglikolning metabolitidir, atsetaldegid esa etil spirtiniki.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138-bet</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14: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74 / 81</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Asosan o‘t bilan</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Yog‘da eruvchi moddalar o‘t bilan chiqariladi. Uchuvchan moddalar o‘pka, suvda eruvchilar buyrak orqali chiqadi. Narkotiklar va alkogol sut va so‘lak bezlari orqali chiqariladi.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137-138-bet</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15: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75 / 81</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Sulfat kislotasi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Sulfat kislotasi kuchli kislota, shuning uchun oshqozon shilliq qavati qo‘ng‘ir-qora bo‘ladi va perforatsiya ko‘proq kuzatiladi. Nitrat kislotasida to‘qima ksantoprotein reaksiyasi tufayli sarg‘ish bo‘ladi. Xlorid va sirka kislotalarida hiqildoq va o‘pka shishishi ko‘proq uchraydi.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141-142-bet</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16: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76 / 81</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Is gazi (karboksigemoglobin hosil bo‘lishi)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Is gazi bilan zaharlanganda murda dog‘lari pushti bo‘ladi. Metgemoglobin hosil qiluvchilarda dog‘lar jigar rang yoki qo‘ng‘ir, gemoliz chaqiruvchilarda sargimtir bo‘ladi.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136-bet</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17: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77 / 81</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Simob dixlorid (sulema) bilan zaharlanish</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Sulema uchun simobli stomatit, “sulema dizenteriyasi” va “sulema buyragi” xos. Simobning organik birikmalarida buyrak va yo‘g‘on ichak shikasti kuchsizroq bo‘ladi, stomatit rivojlanmaydi.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146-bet</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18: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78 / 81</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1-2 kundan keyin qonda topilmasligi mumkin, bu istisno emas</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Manbada 1-2 kundan so‘ng anemiya va nefroz belgilari bo‘lsa ham qonda metgemoglobin aniqlanmasligi mumkinligi aytilgan. Faqat og‘ir zaharlanishda u 5-6 kun topilishi mumkin.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152-bet</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19: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79 / 81</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Xolinesteraza fermenti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Fosfororganik birikmalar xolinesteraza aktivligini so‘ndiradi. Natijada to‘qimalarda atsetilxolin to‘planib, xolinergik tizim qo‘zg‘aladi. Sitoxromoksidazani sianidlar buzadi.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155-bet</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20: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80 / 81</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Zahar kirgan, ta’sir etgan va chiqqan joylardan olinadi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“Uch nuqta” qoidasi: zahar kirgan, asosan ta’sir etgan va organizmdan chiqqan joylardan namuna olinadi. Masalan, og‘iz orqali kirgan zaharda oshqozon massasi, jigar bo‘lagi va buyrak siydik bilan olinadi.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136-bet</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Adabiyotlar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81 / 81</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2000">
                <a:solidFill>
                  <a:srgbClr val="1F2937"/>
                </a:solidFill>
                <a:latin typeface="Calibri"/>
              </a:rPr>
              <a:t>▸  G‘iyosov Z.A. Sud tibbiyoti: darslik, Toshkent: Global Books nashriyoti. 2018. Bob 6. Sud-tibbiy toksikologiya</a:t>
            </a:r>
          </a:p>
          <a:p>
            <a:pPr>
              <a:spcAft>
                <a:spcPts val="1200"/>
              </a:spcAft>
            </a:pPr>
            <a:r>
              <a:rPr sz="2000">
                <a:solidFill>
                  <a:srgbClr val="1F2937"/>
                </a:solidFill>
                <a:latin typeface="Calibri"/>
              </a:rPr>
              <a:t>▸  Baizoldanov T. (Байзолданов Т.). Токсикологическая химия: учебник, Almaty: Evero, 2021 (new.krmu.edu.kz ochiq repozitoriy; litsenziya ko‘rsatilmagan — faqat ichki foydalanish). 2021. 1-qism, 3-bob: zaharlanishlar tasnifi va toksikokinetika, s.53-119</a:t>
            </a:r>
          </a:p>
          <a:p>
            <a:pPr>
              <a:spcAft>
                <a:spcPts val="1200"/>
              </a:spcAft>
            </a:pPr>
            <a:r>
              <a:rPr sz="2000">
                <a:solidFill>
                  <a:srgbClr val="1F2937"/>
                </a:solidFill>
                <a:latin typeface="Calibri"/>
              </a:rPr>
              <a:t>▸  Baizoldanov T. (Байзолданов Т.). Токсикологическая химия: учебник, Almaty: Evero, 2021 (new.krmu.edu.kz ochiq repozitoriy; litsenziya ko‘rsatilmagan — faqat ichki foydalanish). 2021. 1-qism, 4-bob: kimyoviy-toksikologik tahlil metodologiyasi, s.120-151</a:t>
            </a:r>
          </a:p>
          <a:p>
            <a:pPr>
              <a:spcAft>
                <a:spcPts val="1200"/>
              </a:spcAft>
            </a:pPr>
            <a:r>
              <a:rPr sz="2000">
                <a:solidFill>
                  <a:srgbClr val="1F2937"/>
                </a:solidFill>
                <a:latin typeface="Calibri"/>
              </a:rPr>
              <a:t>▸  Iskandarov A.I., Qo‘ldoshev D.R. Sud tibbiyoti (tibbiyot instituti talabalari uchun), Toshkent (egasi taqdim etgan; yopiq foydalanish). . XIII-bob. Sud-tibbiy toksikologiya; bet 284-350</a:t>
            </a:r>
          </a:p>
          <a:p>
            <a:pPr>
              <a:spcAft>
                <a:spcPts val="1200"/>
              </a:spcAft>
            </a:pPr>
            <a:r>
              <a:rPr sz="2000">
                <a:solidFill>
                  <a:srgbClr val="1F2937"/>
                </a:solidFill>
                <a:latin typeface="Calibri"/>
              </a:rPr>
              <a:t>▸  Ромодановский П.О., Баринов Е.Х. Судебная медицина в схемах и рисунках: учебное пособие, М.: Проспект (egasi taqdim etgan; yopiq foydalanish). 2017. 5-modul. Zaharlovchi moddalar ta’siridan jarohat va o‘lim; bet 375-407</a:t>
            </a:r>
          </a:p>
          <a:p>
            <a:pPr>
              <a:spcAft>
                <a:spcPts val="1200"/>
              </a:spcAft>
            </a:pPr>
            <a:r>
              <a:rPr sz="2000">
                <a:solidFill>
                  <a:srgbClr val="1F2937"/>
                </a:solidFill>
                <a:latin typeface="Calibri"/>
              </a:rPr>
              <a:t>▸  Харин Г.М. (Kharin G.M.). Краткий курс судебной медицины: учебное пособие, М.: ГЭОТАР-Медиа (egasi taqdim etgan; yopiq foydalanish). 2006. VI bo‘lim, 15-bob. Zaharlar va zaharlanishlar haqida umumiy ma’lumot; test nazorati; bet 129-138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