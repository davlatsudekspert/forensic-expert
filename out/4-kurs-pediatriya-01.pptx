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savollari: 1) Pediatr amaliyotida bolaning yoshi yoki shikastlanishi bo‘yicha huquqiy savol qachon tug‘ilishi mumkin? 2) Davolovchi shifokor va sud-tibbiy ekspertning maqsadi qanday farq qiladi? Doskada: ma’ruzaning 5-6 ta asosiy bo‘limini ketma-ket yozib chiqing. Tipik xato: talabalar sud tibbiyotini faqat murda tekshiruvi deb o‘ylaydi, holbuki u tirik shaxslar, ashyoviy dalillar va ish materiallarini ham qamrab oladi.”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savollari: 1) «Dalil manbai bo‘ladigan tibbiy fakt» nimani anglatadi, misol keltiring. 2) Nega fan va ekspertiza alohida tushunchalar? Doskada: ikki ustunli sxema chizing: chapda «Fan – bilimlar», o‘ngda «Ekspertiza – amaliy qo‘llanish». Tipik xato: fan va ekspertiza tushunchalarini aralashtirish, ekspertizani esa oddiy davolash-diagnostika tekshiruvi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savollari: 1) Nega tadqiqot tartibi qat’iy belgilangan bo‘lishi kerak? 2) Natijalarni hujjatlashtirish nima uchun zarur? Doskada: a, b, v, g harflari bilan to‘rt qadamli zanjirni chizib, har biriga bittadan misol yozdiring. Tipik xato: to‘rt xususiyatdan birini tushirib qoldirish, ayniqsa hujjatlashtirishni.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ekspertiza tadqiqot hisoblanadi? 2) Fan va ekspertiza o‘rtasidagi farq nima? Doskada zanjirni chizdiring: idora → tadqiqot → tartib → xulosa. Tipik xato: talabalar “sud tibbiyoti” va “sud-tibbiy ekspertiza” tushunchalarini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predmet ekspertiza ob’ektlari bilan bog‘liq? 2) Sakkiz yo‘nalishdan qaysi biri pediatr uchun eng muhim? Doskada sakkiz yo‘nalish ro‘yxatini yozdiring. Tipik xato: Avdeev tizimi (1948) bilan fanning hozirgi tarkibiy qismlarini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Pediatr qaysi bo‘limga ko‘proq duch keladi? 2) Nega kasb huquqbuzarliklari alohida fanga ajratilgan? Doskada 9 qismni guruhlab chizdiring (guruhlash o‘qituvchi uchun qulaylik, darslikda ro‘yxat sifatida berilgan). Tipik xato: toksikologiyani biologiya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kasb huquqbuzarliklari alohida fanga ajratildi? Popov bo‘yicha uch ta’limotning qaysi biri jarohatlarga tegishli? Doskada chizing: ikki ustun — “Popov: 3 ta’limot” va “Hozirgi 9 qism”. Tipik xato: talabalar 9 qismni Popovning ta’limoti deb o‘ylaydi; 2002-yilda ajralgan fanni hozirgi tarkibda sanaydi.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“fan” va “ekspertiza” farqi nimada? Qaror yoki ajrimsiz tekshiruv ekspertiza hisoblanadimi? Doskada chizing: zanjir “topshiriq → tekshiruv → xulosa”. Tipik xato: fan va ekspertiza tushunchalarini bir-biriga almashtirish; xulosani tekshiruvdan oldin tuziladi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ekspert barcha tibbiy ixtisoslarni to‘liq bilishi shart emas? Jinoiy abort holatida qaysi klinik fan kerak? Doskada chizing: markazda “Sud tibbiyoti”, atrofida to‘rt yo‘nalish. Tipik xato: sud tibbiyotini fundamental fan deb hisoblash; yuridik fanlar aloqasini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Pediatr vrach bolaning jarohatiga davolash nuqtai nazaridan qarasa, ekspert nimaga e’tibor beradi? 2) Nega ekspert barcha ixtisoslikni to‘liq bila olmaydi? Doskada: ikki ustunli jadval (vrach – ekspert) chizdiring. Tipik xato: ekspertni davolovchi vrachning davomi deb o‘ylash; ekspert davolamaydi, huquqiy baho beradi.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Xolislik buzilsa, xulosaga ishonch nima bo‘ladi? 2) Qaysi prinsip talabalarga eng muhim ko‘rinadi va nega? Doskada: beshta prinsipni ketma-ket bloklar ko‘rinishida chizing. Tipik xato: ‘har tomonlamalik’ va ‘to‘liqlik’ni alohida prinsip deb sanash; manbada ular birga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Bola jismoniy zo‘ravonlik izlari bilan keltirilsa, nega shilinma va qontalashni erta tekshirish muhim? 2) Tashabbus huquqi ekspertga qanday imkon beradi? Doskada: vaqt o‘qini chizib, 10-15 kunni belgilang. Tipik xato: mustaqillikni javobgarlikdan ozodlik deb tushunish; aslida u shaxsiy mas’uliyatni yuzaga keltiradi.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Blits-so‘rov: talabalar javobni daftarga yozib, so‘ng juftlikda tekshiradi. Muhokama: 4 kurs pediatriya talabasining klinik yondashuvi ekspert yondashuvidan nimasi bilan farq qiladi? Muhokama: nega ekspert shaxsiy mas’uliyat oladi? Doskaga: ekspertiza xususiyatlarining 4 qismli ro‘yxatini chizdiring. Tipik xato: sud tibbiyotini fundamental fan deb hisoblash, aslida u amaliy qo‘llanma fan.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ob’ektlarning ishonchliligi uchun ekspert emas, tayinlagan shaxs javob beradi? Muhokama: usul qanday talablarga javob berishi kerak (ilmiy asoslangan, oddiy, barqaror natija, takroriy tekshiruv, hujjatlashtirilgan)? Doskaga: uch ustunli usullar jadvalini talabalar bilan birga chizing. Tipik xato: xususiy usullarni (rentgen, kimyoviy) maxsus usullar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Talabalar kichik guruhda vaziyatni muhokama qilib, ob’ekt turini va usul guruhini nomlaydi. Muhokama: jarohat tekshiruvida yana qaysi xususiy usullar kerak bo‘lishi mumkin? Muhokama: natijalarni nega hujjatlashtirish shart? Doskaga: pichoq, jarohat va usul guruhi o‘rtasidagi bog‘lanishni strelkalar bilan chizing. Tipik xato: pichoqni tekshirishni umumilmiy usul deb atash.</a:t>
            </a:r>
          </a:p>
          <a:p/>
          <a:p>
            <a:r>
              <a:t>Tekshirish kerak (manbada noaniq):</a:t>
            </a:r>
          </a:p>
          <a:p>
            <a:r>
              <a:t>- Pichoq ashyoviy dalil sifatida, jarohat esa tirik shaxs yoki murda ob’ekti sifatida tekshiriladi.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qadimda vrach xulosasi dalil sifatida qadrlangan? 2) Sezar misolida jarohatlar sonidan tashqari nima muhim (o‘limga olib kelgan jarohat)? Doskada: to‘rt voqeaning vaqt chizig‘ini chizdiring. Tipik xato: Gippokratni Likurg qonunlari muallifi deb o‘ylash; u faqat qoidalarni tayyorlashda qatnashgan. Sahifa raqamini darslikdan tekshiring.</a:t>
            </a:r>
          </a:p>
          <a:p/>
          <a:p>
            <a:r>
              <a:t>Tekshirish kerak (manbada noaniq):</a:t>
            </a:r>
          </a:p>
          <a:p>
            <a:r>
              <a:t>- Sparta qonunlariga murdani tekshirish qoidalari qo‘shilgan; ularni tayyorlashda Gippokrat ham qatnashgan.</a:t>
            </a:r>
          </a:p>
          <a:p>
            <a:r>
              <a:t>- Yuliy Sezar murdasini vrach Antistius ko‘rdi: 23 jarohatdan faqat bittasi o‘limga olib kelgan.</a:t>
            </a:r>
          </a:p>
          <a:p>
            <a:r>
              <a:t>- Yustinian kodeksida vrach va doyalar ishtiroki shart, ularning xulosasi guvoh ko‘rsatmasidan ustun qo‘yilgan.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O‘pka sinamasi nimani aniqlash uchun kerak (yangi tug‘ilgan chaqaloq murdasi)? 2) Nomlanish ‘sud tibbiyoti‘ nima uchun hozirgacha qoldi? Doskada: zanjirni chizib, har bosqichga bitta so‘z yozing. Tipik xato: Bonni o‘pka sinamasi muallifi deb aralashtirish (sinamani Shreer qo‘llagan; Bon nomni taklif qilgan). Eslatma: fan ayrim davrlarda ‘politsiya tibbiyoti‘, ‘huquq tibbiyoti‘ deb ham atalgan.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Ibn Sino asarini sud-tibbiy ekspertiza deb bo‘lmaydi? 2) Pirogov asarlari bugungi ekspert uchun qaysi jihatdan foydali (jarohatlar)? Doskada: ‘tibbiy yordam maqsadi ≠ sud maqsadi‘ degan solishtirishni yozing. Tipik xato: Ibn Sinoni sud tibbiyotining asoschisi deb atash.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kafedralar aynan oliy tibbiy o‘quv yurtlarida paydo bo‘lgan? 2) Pediatriya instituti kafedrasi (1972) bizning talabalar uchun nimani anglatadi? Doskada: 1920–1993 yillar vaqt chizig‘ini chizdiring. Tipik xato: Andijon (1959) va Samarqand (1935) yillarini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Bir xil ma’lumot turli maqsadda ishlatilishi mumkinmi? 2) Ma’lumotni dalil sifatida qo‘llash uchun nima kerak? Doskada: ikki ustun chizing — «tibbiy yordam maqsadi» va «odil sudlov maqsadi». Tipik xato: Ibn Sinoni birinchi sud-tibbiy ekspert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Javoblar: 1) Antistius, faqat bittasi; 2) Xitoy (1247, Sun-si), Germaniya (1532, Karl V), Vizantiya (VI asr, Yustinian); 3) o‘pka sinamasi; 4) 1972-yil. Muhokama: nega o‘pka sinamasi pediatr uchun muhim? Doskada: sana–shaxs–asar jadvalini to‘ldirtiring. Tipik xato: Karolina (Germaniya) va Yustinian kodeksini (Vizantiya)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II davrda ekspertiza kafedralar zimmasida bo‘lgan? 2) III davrda xizmat qanday tashkil etilgan? Doskada: to‘rt davrli vaqt chizig‘ini chizdiring va har davrga bitta asosiy voqeani yozing. Tipik xato: 1945-yildagi kabinetni III davrga qo‘shib yuborish.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Uch instansiya tizimi bugungi birinchi va ikkinchi instansiya ekspertizalariga qanday o‘xshaydi? 2) Mustaqillik davrida qonun qabul qilinishi nima uchun muhim bo‘ldi? Doskada: 1842-yilgi uch bosqichli instansiya zanjirini chizing. Tipik xato: uchinchi instansiyani gospital vrachlari deb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sud-tibbiy ekspert huquqiy atamalarni bilishi shart? 2) Qonun va kodeksning farqi nimada? Doskada: huquq → qonun → kodeks → Jinoyat kodeksi va JPK zanjirini chizing. Tipik xato: Jinoyat kodeksi va JPK vazifalarini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yosh masalasi pediatr uchun muhim? 2) Moddada sanalmagan holatda ekspertiza tayinlash mumkinmi? Doskada: 173-moddadagi 6 holatni qisqa ro‘yxat qilib yozdiring. Tipik xato: moddadagi ro‘yxatni to‘liq va yopiq deb o‘ylash; modda maxsus bilim kerak bo‘lgan boshqa holatlarni ham nazarda tutadi.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Eksgumatsiyada qaysi ish qabristonda, qaysi biri laboratoriyada bajariladi? 2) Nega joy sharoit ta’minlovchi shaxsni belgilaydi? Doskada: uch variantli jadvalni talabalar bilan chizing. Tipik xato: aralash variantni alohida protsessual tur deb adashtirish; bu faqat o‘tkazish joyi bo‘yicha farq.</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Ekspertning sud majlisidagi huquqlari dastlabki tergovdagidan nimasi bilan farq qiladi? 2) Xulosa sud majlisida nega o‘qib eshittiriladi? Doskada: dastlabki tergov va sud tergovi ekspertining ishtirokini ikki ustunda solishtiring. Tipik xato: ekspert xulosa berib, majlisdan chiqib ketadi deb o‘ylash; u so‘roq qilinishi ham mumkin.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ekspert mustaqil material to‘plamasligi kerak? 2) Tashabbus huquqi qachon foydali? Doskada: ikki ustunli jadval (huquq va majburiyat) chizdiring. Tipik xato: talabalar tashabbus huquqini ekspertga istalgan masalada xulosa berish erkinligi deb tushunadi, aslida u faqat ekspertiza predmetiga oid va ish uchun ahamiyatli masalalarga tegishli.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Davolash muassasasi vrachi tirik shaxsni guvohlantirishda qaysi rolda qatnashadi? 2) Mutaxassis nima uchun hujjat tuzmaydi? Doskada: hodisa joyida mutaxassis va ekspert vazifalarini ikki ustunda chizdiring. Tipik xato: mutaxassis va ekspert tushunchalarini bir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Ekspert qarindoshi ishtirok etayotgan ishda qanday yo‘l tutadi? 2) Nima uchun noto‘g‘ri xulosa uchun jinoiy javobgarlik belgilangan? Doskada: raddiya muddatlari (dastlabki tergovda 24 soat, sudda darhol) va 238, 239, 240-moddalar ro‘yxatini yozdiring. Tipik xato: raddiya masalasini ekspert yoki tomonlar o‘zlari hal qiladi deb o‘ylash, aslida uni ekspertizani tayinlagan shaxs hal etadi.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Javob: qarindoshlik, moddiy yoki xizmat bog‘liqligi, yetarli malaka yo‘qligi raddiya asosi bo‘ladi. Vrach o‘zini o‘zi rad etishi yoki manfaatdor tomon raddiya e’lon qilishi mumkin. Raddiyani faqat ekspertizani tayinlagan shaxs hal qiladi. Dastlabki tergov va surishtiruvda 24 soat ichida, sud majlisida esa shu majlisning o‘zida hal etiladi. Muhokama: 1) Mutaxassis va ekspertning asosiy farqi nimada? 2) Davolovchi vrach guvohlantirishda nega kerak bo‘ladi? Doskada: ikki ustunli jadval chizing, ekspert va mutaxassis rollarini solishtiring. Tipik xato: mutaxassisni ham ekspert deb o‘ylab, unga xulosa tuzdirish.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blits tarzida. Javoblar: 1) gumon qilinuvchi, ayblanuvchi, sudlanuvchi yoki jabrlanuvchining yoshi. 2) Ekspert ekspertiza predmetiga oid va ish uchun ahamiyatli boshqa masalalar bo‘yicha ham fikr bildirishi mumkin. 3) 24 soat ichida, ekspertizani tayinlagan shaxs hal qiladi. 4) Surishtiruv yoki tergov idoralarining qarori, yoki sud ajrimi. Muhokama: ekspertning tashabbus huquqi nima uchun kerak? Doskada: 173-modda bo‘yicha holatlar ro‘yxatini 6 qatorda yozdiring. Tipik xato: ekspertiza ‘qaror yoki ajrim‘ asosida o‘tkazilishini unutib, og‘zaki so‘rovni yetarli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8-10 daqiqa. Muhokama: 1) Qo‘shimcha va qayta ekspertiza farqi nimada? 2) Yo‘l-transport hodisasida nega kompleks ekspertiza kerak bo‘lishi mumkin (sud-tibbiy va avtotexnik)? Doskada: jadvalni chizing va har turga bittadan misol yozing. Tipik xato: qayta ekspertizani qo‘shimcha ekspertiza bilan aralashtirish. Qo‘shimcha ekspertiza kamchilikni to‘ldiradi va odatda avvalgi ekspert bajaradi. Qayta ekspertiza esa shubhali xulosani takroran tekshiradi va dastlabki ekspert unda ishtirok etmaydi.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Tomon xulosadan norozi bo‘lsa, qayta ekspertiza tayinlanadimi? 2) Nima uchun dastlabki ekspert qayta ekspertizani bajarmaydi? Doskada: ikki ustunli jadvalni (maqsad, sabab, ijrochi) talabalar bilan to‘ldiring. Tipik xato: ikkala turni bir xil deb o‘ylash va ijrochi qoidasini chalkashtirish.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Xulosaning tadqiqot qismi nega oddiy odamga tushunarli tilda yozilishi kerak? 2) Xulosa va dalolatnoma qaysi jihati bilan farq qiladi? Doskada: xulosaning uch qismini chizib, har biriga 2 ta mazmun yozing. Tipik xato: xulosani sud uchun majburiy dalil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tuman bo‘linmalariga hududiy byuro rahbarlik qiladi? 2) Qaysi bo‘limda toksikologik tekshiruv o‘tkaziladi? Doskada: Bosh byuro, hududiy byuro va tuman bo‘linmasi zanjirini chizing. Tipik xato: murda va tirik shaxs ekspertizasini bir bo‘limga bog‘lash.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YTHda faqat sud-tibbiy ekspertiza yetarli emas? 2) Dastlabki ekspert qayta ekspertizada nima qila oladi (tushuntirish beradi, tekshiruv va xulosada qatnashmaydi)? Doskada: ikki ustunli sxema chizing: ’kompleks’ (turli fanlar, har ekspert o‘z qismini imzolaydi) va ’qayta’ (xulosaga shubha, yangi ekspertlar). Tipik xato: qo‘shimcha ekspertizani (kamchilikni to‘ldiradi) qayta ekspertiza (xulosani qaytadan tekshiradi)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Pediatr o‘z amaliyotida qanday holatda sud-tibbiy jarayonga jalb qilinishi mumkin? 2) Nega ekspert xulosasi avtomatik majburiy emas? Doskada: ’ekspert ≠ mutaxassis’ ikki ustunli jadvalini (xulosa beradi / hujjat tuzmaydi) talabalar bilan to‘ldiring. Tipik xato: ekspert xulosasini sud uchun majburiy dalil deb o‘ylash.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№1. Maʻruza: Sud tibbiyoti fani, vazifalari va ahamiyati.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 tibbiyoti – alohida tibbiyot fani. U sud, tergov va surishtiruv idoralari uchun zarur bo‘lgan tibbiy-biologik masalalarni hal etishga xizmat qiladi.</a:t>
            </a:r>
          </a:p>
          <a:p>
            <a:pPr>
              <a:spcAft>
                <a:spcPts val="1200"/>
              </a:spcAft>
            </a:pPr>
            <a:r>
              <a:rPr sz="2200">
                <a:solidFill>
                  <a:srgbClr val="1F2937"/>
                </a:solidFill>
                <a:latin typeface="Calibri"/>
              </a:rPr>
              <a:t>▸  Ma’ruza rejasi: fan va ekspertiza tushunchasi, predmeti, boshqa fanlar bilan aloqasi, prinsiplari, ob’ektlari, tarixi, turlari va hujjatlari.</a:t>
            </a:r>
          </a:p>
          <a:p>
            <a:pPr>
              <a:spcAft>
                <a:spcPts val="1200"/>
              </a:spcAft>
            </a:pPr>
            <a:r>
              <a:rPr sz="2200">
                <a:solidFill>
                  <a:srgbClr val="1F2937"/>
                </a:solidFill>
                <a:latin typeface="Calibri"/>
              </a:rPr>
              <a:t>▸  Pediatr uchun ahamiyati: yoshi haqida hujjat bo‘lmasa yoki hujjat shubha tug‘dirsa, shaxsning yoshini aniqlash uchun ekspertiza tayinlanadi.</a:t>
            </a:r>
          </a:p>
          <a:p>
            <a:pPr>
              <a:spcAft>
                <a:spcPts val="1200"/>
              </a:spcAft>
            </a:pPr>
            <a:r>
              <a:rPr sz="2200">
                <a:solidFill>
                  <a:srgbClr val="1F2937"/>
                </a:solidFill>
                <a:latin typeface="Calibri"/>
              </a:rPr>
              <a:t>▸  Natija: talaba ekspert va mutaxassisni farqlaydi, ekspertiza turlarini sanaydi hamda ekspert xulosasining qismlarini bilib 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 4-23, 15, 16-22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tibbiyoti fani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 tibbiyoti – alohida tibbiyot fani. U sud, tergov va surishtiruv idoralari faoliyatida paydo bo‘ladigan tibbiy-biologik masalalarni o‘rganadi.</a:t>
            </a:r>
          </a:p>
          <a:p>
            <a:pPr>
              <a:spcAft>
                <a:spcPts val="1200"/>
              </a:spcAft>
            </a:pPr>
            <a:r>
              <a:rPr sz="2200">
                <a:solidFill>
                  <a:srgbClr val="1F2937"/>
                </a:solidFill>
                <a:latin typeface="Calibri"/>
              </a:rPr>
              <a:t>▸  Fan – huquqni muhofaza etuvchi idoralar uchun dalil manbai bo‘ladigan tibbiy fakt va holatlarni aniqlash, tekshirish va baholashga oid ilmiy bilimlar majmui.</a:t>
            </a:r>
          </a:p>
          <a:p>
            <a:pPr>
              <a:spcAft>
                <a:spcPts val="1200"/>
              </a:spcAft>
            </a:pPr>
            <a:r>
              <a:rPr sz="2200">
                <a:solidFill>
                  <a:srgbClr val="1F2937"/>
                </a:solidFill>
                <a:latin typeface="Calibri"/>
              </a:rPr>
              <a:t>▸  Sud-tibbiy ekspertiza – shu bilimlarning amalda qo‘llanishi. U sud, tergov yoki surishtiruv qo‘ygan vazifani hal etib, ekspert xulosasi bilan yakunlanadi.</a:t>
            </a:r>
          </a:p>
          <a:p>
            <a:pPr>
              <a:spcAft>
                <a:spcPts val="1200"/>
              </a:spcAft>
            </a:pPr>
            <a:r>
              <a:rPr sz="2200">
                <a:solidFill>
                  <a:srgbClr val="1F2937"/>
                </a:solidFill>
                <a:latin typeface="Calibri"/>
              </a:rPr>
              <a:t>▸  Diqqat: xato qilish xavfi – sud tibbiyoti (ilmiy bilimlar majmui) ≠ sud-tibbiy ekspertiza (aniq tartibda o‘tkaziladigan tadqiqot).</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Ekspertizaning to‘rt xususiyati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Ekspertiza mohiyatiga ko‘ra tadqiqot bo‘lib, uning to‘rt xususiyati bor.</a:t>
            </a:r>
          </a:p>
          <a:p>
            <a:pPr>
              <a:spcAft>
                <a:spcPts val="800"/>
              </a:spcAft>
            </a:pPr>
            <a:r>
              <a:rPr sz="1800">
                <a:solidFill>
                  <a:srgbClr val="1F2937"/>
                </a:solidFill>
                <a:latin typeface="Calibri"/>
              </a:rPr>
              <a:t>▸  Tadqiqotni sohaning bilim va ko‘nikmasiga ega mutaxassis, konkret vazifa bo‘yicha, odatda baholash maqsadida o‘tkazadi.</a:t>
            </a:r>
          </a:p>
          <a:p>
            <a:pPr>
              <a:spcAft>
                <a:spcPts val="800"/>
              </a:spcAft>
            </a:pPr>
            <a:r>
              <a:rPr sz="1800">
                <a:solidFill>
                  <a:srgbClr val="1F2937"/>
                </a:solidFill>
                <a:latin typeface="Calibri"/>
              </a:rPr>
              <a:t>▸  Tartib qat’iy belgilanadi; jarayon va natijalar tegishli hujjat bilan rasmiylashtiriladi.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 Mutaxassis o‘tkazadi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 Konkret vazifa, baholash</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 Qat’iy belgilangan tartib</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 Hujjat bilan rasmiylashtirish</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Ekspertizaning to‘rt xususiyati (a-g)</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Sud-tibbiy ekspertiza jarayoni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Sud-tibbiy ekspertiza — sud, tergov va surishtiruv idoralari qo‘ygan vazifani hal etuvchi tadqiqot.</a:t>
            </a:r>
          </a:p>
          <a:p>
            <a:pPr>
              <a:spcAft>
                <a:spcPts val="800"/>
              </a:spcAft>
            </a:pPr>
            <a:r>
              <a:rPr sz="1800">
                <a:solidFill>
                  <a:srgbClr val="1F2937"/>
                </a:solidFill>
                <a:latin typeface="Calibri"/>
              </a:rPr>
              <a:t>▸  Ekspertizaning 4 xususiyati: mutaxassis o‘tkazadi, konkret vazifa, qat’iy tartib, hujjat bilan rasmiylashadi.</a:t>
            </a:r>
          </a:p>
          <a:p>
            <a:pPr>
              <a:spcAft>
                <a:spcPts val="800"/>
              </a:spcAft>
            </a:pPr>
            <a:r>
              <a:rPr sz="1800">
                <a:solidFill>
                  <a:srgbClr val="1F2937"/>
                </a:solidFill>
                <a:latin typeface="Calibri"/>
              </a:rPr>
              <a:t>▸  Diqqat: sud tibbiyoti (fan) ≠ sud-tibbiy ekspertiza (uning amaliy qo‘llanilishi).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Idora vazifa qo‘yadi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Tibbiy bilim bilan tadqiqot</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Belgilangan tartibga rioya</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Ekspert xulosasi tuziladi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bosqichlari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tibbiyotining predmeti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 tibbiyotining predmeti — sud-tibbiy ekspertizaning nazariyasi va amaliyoti.</a:t>
            </a:r>
          </a:p>
          <a:p>
            <a:pPr>
              <a:spcAft>
                <a:spcPts val="1200"/>
              </a:spcAft>
            </a:pPr>
            <a:r>
              <a:rPr sz="2200">
                <a:solidFill>
                  <a:srgbClr val="1F2937"/>
                </a:solidFill>
                <a:latin typeface="Calibri"/>
              </a:rPr>
              <a:t>▸  Ilk bor 1948-yilda M.I.Avdeev fan predmetining ilmiy asoslangan tizimini taklif etgan. U ekspertiza ob’ektlari bilan bog‘liq.</a:t>
            </a:r>
          </a:p>
          <a:p>
            <a:pPr>
              <a:spcAft>
                <a:spcPts val="1200"/>
              </a:spcAft>
            </a:pPr>
            <a:r>
              <a:rPr sz="2200">
                <a:solidFill>
                  <a:srgbClr val="1F2937"/>
                </a:solidFill>
                <a:latin typeface="Calibri"/>
              </a:rPr>
              <a:t>▸  Tizim sakkiz yo‘nalishdan iborat: fan tarixi, tashkiliy va protsessual masalalar, tashqi omillar ta’sirida sog‘liq buzilishi va o‘lim, murda ekspertizasi.</a:t>
            </a:r>
          </a:p>
          <a:p>
            <a:pPr>
              <a:spcAft>
                <a:spcPts val="1200"/>
              </a:spcAft>
            </a:pPr>
            <a:r>
              <a:rPr sz="2200">
                <a:solidFill>
                  <a:srgbClr val="1F2937"/>
                </a:solidFill>
                <a:latin typeface="Calibri"/>
              </a:rPr>
              <a:t>▸  Qolgan yo‘nalishlar: tirik shaxslar, ashyoviy dalillar, tergov va sud materiallari hamda tibbiy xodimlarning kasb huquqbuzarliklari bo‘yicha ekspertiza.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Fanning zamonaviy tarkibiy qismlari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Hozirgi davrda fan mazmunan to‘qqiz tarkibiy qismdan tashkil topadi.</a:t>
            </a:r>
          </a:p>
          <a:p>
            <a:pPr>
              <a:spcAft>
                <a:spcPts val="800"/>
              </a:spcAft>
            </a:pPr>
            <a:r>
              <a:rPr sz="1800">
                <a:solidFill>
                  <a:srgbClr val="1F2937"/>
                </a:solidFill>
                <a:latin typeface="Calibri"/>
              </a:rPr>
              <a:t>▸  V.L.Popov (1999): asosan uch ta’limot — o‘lim, jarohatlar, shaxs identifikatsiyasi.</a:t>
            </a:r>
          </a:p>
          <a:p>
            <a:pPr>
              <a:spcAft>
                <a:spcPts val="800"/>
              </a:spcAft>
            </a:pPr>
            <a:r>
              <a:rPr sz="1800">
                <a:solidFill>
                  <a:srgbClr val="1F2937"/>
                </a:solidFill>
                <a:latin typeface="Calibri"/>
              </a:rPr>
              <a:t>▸  2002-yilda “Tibbiy xodimlarning kasb huquqbuzarliklari” alohida fan bo‘lib ajralib chiqdi.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Guruh</a:t>
                      </a:r>
                    </a:p>
                  </a:txBody>
                  <a:tcPr marL="73152" marR="73152" marT="36576" marB="36576">
                    <a:solidFill>
                      <a:srgbClr val="0B1F3A"/>
                    </a:solidFill>
                  </a:tcPr>
                </a:tc>
                <a:tc>
                  <a:txBody>
                    <a:bodyPr/>
                    <a:lstStyle/>
                    <a:p>
                      <a:r>
                        <a:rPr sz="1800" b="1">
                          <a:solidFill>
                            <a:srgbClr val="FFFFFF"/>
                          </a:solidFill>
                        </a:rPr>
                        <a:t>Bo‘limlar</a:t>
                      </a:r>
                    </a:p>
                  </a:txBody>
                  <a:tcPr marL="73152" marR="73152" marT="36576" marB="36576">
                    <a:solidFill>
                      <a:srgbClr val="0B1F3A"/>
                    </a:solidFill>
                  </a:tcPr>
                </a:tc>
              </a:tr>
              <a:tr h="614476">
                <a:tc>
                  <a:txBody>
                    <a:bodyPr/>
                    <a:lstStyle/>
                    <a:p>
                      <a:r>
                        <a:rPr sz="1700" b="0">
                          <a:solidFill>
                            <a:srgbClr val="1F2937"/>
                          </a:solidFill>
                        </a:rPr>
                        <a:t>Asoslar</a:t>
                      </a:r>
                    </a:p>
                  </a:txBody>
                  <a:tcPr marL="73152" marR="73152" marT="36576" marB="36576">
                    <a:solidFill>
                      <a:srgbClr val="E8EEF6"/>
                    </a:solidFill>
                  </a:tcPr>
                </a:tc>
                <a:tc>
                  <a:txBody>
                    <a:bodyPr/>
                    <a:lstStyle/>
                    <a:p>
                      <a:r>
                        <a:rPr sz="1700" b="0">
                          <a:solidFill>
                            <a:srgbClr val="1F2937"/>
                          </a:solidFill>
                        </a:rPr>
                        <a:t>Tarix; tashkiliy va protsessual asoslar</a:t>
                      </a:r>
                    </a:p>
                  </a:txBody>
                  <a:tcPr marL="73152" marR="73152" marT="36576" marB="36576">
                    <a:solidFill>
                      <a:srgbClr val="E8EEF6"/>
                    </a:solidFill>
                  </a:tcPr>
                </a:tc>
              </a:tr>
              <a:tr h="614476">
                <a:tc>
                  <a:txBody>
                    <a:bodyPr/>
                    <a:lstStyle/>
                    <a:p>
                      <a:r>
                        <a:rPr sz="1700" b="0">
                          <a:solidFill>
                            <a:srgbClr val="1F2937"/>
                          </a:solidFill>
                        </a:rPr>
                        <a:t>O‘lim va jarohat</a:t>
                      </a:r>
                    </a:p>
                  </a:txBody>
                  <a:tcPr marL="73152" marR="73152" marT="36576" marB="36576">
                    <a:solidFill>
                      <a:srgbClr val="FFFFFF"/>
                    </a:solidFill>
                  </a:tcPr>
                </a:tc>
                <a:tc>
                  <a:txBody>
                    <a:bodyPr/>
                    <a:lstStyle/>
                    <a:p>
                      <a:r>
                        <a:rPr sz="1700" b="0">
                          <a:solidFill>
                            <a:srgbClr val="1F2937"/>
                          </a:solidFill>
                        </a:rPr>
                        <a:t>Tanatologiya; travmatologiya</a:t>
                      </a:r>
                    </a:p>
                  </a:txBody>
                  <a:tcPr marL="73152" marR="73152" marT="36576" marB="36576">
                    <a:solidFill>
                      <a:srgbClr val="FFFFFF"/>
                    </a:solidFill>
                  </a:tcPr>
                </a:tc>
              </a:tr>
              <a:tr h="614476">
                <a:tc>
                  <a:txBody>
                    <a:bodyPr/>
                    <a:lstStyle/>
                    <a:p>
                      <a:r>
                        <a:rPr sz="1700" b="0">
                          <a:solidFill>
                            <a:srgbClr val="1F2937"/>
                          </a:solidFill>
                        </a:rPr>
                        <a:t>Maxsus sohalar</a:t>
                      </a:r>
                    </a:p>
                  </a:txBody>
                  <a:tcPr marL="73152" marR="73152" marT="36576" marB="36576">
                    <a:solidFill>
                      <a:srgbClr val="E8EEF6"/>
                    </a:solidFill>
                  </a:tcPr>
                </a:tc>
                <a:tc>
                  <a:txBody>
                    <a:bodyPr/>
                    <a:lstStyle/>
                    <a:p>
                      <a:r>
                        <a:rPr sz="1700" b="0">
                          <a:solidFill>
                            <a:srgbClr val="1F2937"/>
                          </a:solidFill>
                        </a:rPr>
                        <a:t>Akusherlik-ginekologiya; toksikologiya</a:t>
                      </a:r>
                    </a:p>
                  </a:txBody>
                  <a:tcPr marL="73152" marR="73152" marT="36576" marB="36576">
                    <a:solidFill>
                      <a:srgbClr val="E8EEF6"/>
                    </a:solidFill>
                  </a:tcPr>
                </a:tc>
              </a:tr>
              <a:tr h="614476">
                <a:tc>
                  <a:txBody>
                    <a:bodyPr/>
                    <a:lstStyle/>
                    <a:p>
                      <a:r>
                        <a:rPr sz="1700" b="0">
                          <a:solidFill>
                            <a:srgbClr val="1F2937"/>
                          </a:solidFill>
                        </a:rPr>
                        <a:t>Dalil va omillar</a:t>
                      </a:r>
                    </a:p>
                  </a:txBody>
                  <a:tcPr marL="73152" marR="73152" marT="36576" marB="36576">
                    <a:solidFill>
                      <a:srgbClr val="FFFFFF"/>
                    </a:solidFill>
                  </a:tcPr>
                </a:tc>
                <a:tc>
                  <a:txBody>
                    <a:bodyPr/>
                    <a:lstStyle/>
                    <a:p>
                      <a:r>
                        <a:rPr sz="1700" b="0">
                          <a:solidFill>
                            <a:srgbClr val="1F2937"/>
                          </a:solidFill>
                        </a:rPr>
                        <a:t>Biologiya; tashqi omillar; identifikatsiya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Fan tarkibi (9 qism)</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Popov ta‘limotlari va fanning ajralib chiqishi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V.L.Popov (1999) fan mazmuniga ko‘ra uchta ta’limotni ajratadi: o‘lim va o‘limdan keyingi o‘zgarishlar, jarohatlar, shaxs identifikatsiyasi.</a:t>
            </a:r>
          </a:p>
          <a:p>
            <a:pPr>
              <a:spcAft>
                <a:spcPts val="1200"/>
              </a:spcAft>
            </a:pPr>
            <a:r>
              <a:rPr sz="2000">
                <a:solidFill>
                  <a:srgbClr val="1F2937"/>
                </a:solidFill>
                <a:latin typeface="Calibri"/>
              </a:rPr>
              <a:t>▸  Hozirgi fan 9 qismdan iborat: tarix, tashkiliy-protsessual asoslar, tanatologiya, travmatologiya, akusherlik-ginekologiya, toksikologiya, biologiya, tashqi omillar, identifikatsiya.</a:t>
            </a:r>
          </a:p>
          <a:p>
            <a:pPr>
              <a:spcAft>
                <a:spcPts val="1200"/>
              </a:spcAft>
            </a:pPr>
            <a:r>
              <a:rPr sz="2000">
                <a:solidFill>
                  <a:srgbClr val="1F2937"/>
                </a:solidFill>
                <a:latin typeface="Calibri"/>
              </a:rPr>
              <a:t>▸  2002-yilda “Tibbiy xodimlarning kasb huquqbuzarliklari” bo‘limi ajralib chiqib, alohida “Vrach faoliyatining huquqiy asoslari” faniga aylandi.</a:t>
            </a:r>
          </a:p>
          <a:p>
            <a:pPr>
              <a:spcAft>
                <a:spcPts val="1200"/>
              </a:spcAft>
            </a:pPr>
            <a:r>
              <a:rPr sz="2000">
                <a:solidFill>
                  <a:srgbClr val="1F2937"/>
                </a:solidFill>
                <a:latin typeface="Calibri"/>
              </a:rPr>
              <a:t>▸  Diqqat: Popovning uchta ta’limoti ≠ hozirgi to‘qqiz tarkibiy qism. Birinchisi fanning asosiy yo‘nalishlari, ikkinchisi uning to‘liq mazmuni.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fan va ekspertiza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tergovchi qaror chiqarib, murdada o‘lim sababini aniqlashni so‘radi. Mutaxassis tekshiruv o‘tkazib, ekspert xulosasini tuzdi.</a:t>
            </a:r>
          </a:p>
          <a:p>
            <a:pPr>
              <a:spcAft>
                <a:spcPts val="1200"/>
              </a:spcAft>
            </a:pPr>
            <a:r>
              <a:rPr sz="2200">
                <a:solidFill>
                  <a:srgbClr val="1F2937"/>
                </a:solidFill>
                <a:latin typeface="Calibri"/>
              </a:rPr>
              <a:t>▸  Tahlil: bu — sud-tibbiy ekspertiza. Uning to‘rt belgisi: mutaxassis o‘tkazadi, konkret vazifa bor, tartib qat’iy, natija hujjat bilan rasmiylashtiriladi.</a:t>
            </a:r>
          </a:p>
          <a:p>
            <a:pPr>
              <a:spcAft>
                <a:spcPts val="1200"/>
              </a:spcAft>
            </a:pPr>
            <a:r>
              <a:rPr sz="2200">
                <a:solidFill>
                  <a:srgbClr val="1F2937"/>
                </a:solidFill>
                <a:latin typeface="Calibri"/>
              </a:rPr>
              <a:t>▸  Sud tibbiyoti esa fan: u ekspertiza nazariyasi va amaliyotini o‘rganadi. Ekspertiza — shu fan bilimlarining amaldagi qo‘llanilishi.</a:t>
            </a:r>
          </a:p>
          <a:p>
            <a:pPr>
              <a:spcAft>
                <a:spcPts val="1200"/>
              </a:spcAft>
            </a:pPr>
            <a:r>
              <a:rPr sz="2200">
                <a:solidFill>
                  <a:srgbClr val="1F2937"/>
                </a:solidFill>
                <a:latin typeface="Calibri"/>
              </a:rPr>
              <a:t>▸  Savol: ushbu holatda ekspertizaning to‘rt belgisidan qaysilari bajarilgan? Nega tergovchining topshirig‘isiz tadqiqot ekspertiza bo‘lmaydi?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13-14, 4-6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tibbiyotining boshqa fanlar bilan aloqasi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 tibbiyoti fundamental emas, amaliy fan; tibbiy, yuridik, tabiiy va falsafa fanlari bilan bog‘liq.</a:t>
            </a:r>
          </a:p>
          <a:p>
            <a:pPr>
              <a:spcAft>
                <a:spcPts val="800"/>
              </a:spcAft>
            </a:pPr>
            <a:r>
              <a:rPr sz="1800">
                <a:solidFill>
                  <a:srgbClr val="1F2937"/>
                </a:solidFill>
                <a:latin typeface="Calibri"/>
              </a:rPr>
              <a:t>▸  Fundamental tibbiy fanlarni egallamay turib, biror ekspertizani o‘tkazib bo‘lmaydi.</a:t>
            </a:r>
          </a:p>
          <a:p>
            <a:pPr>
              <a:spcAft>
                <a:spcPts val="800"/>
              </a:spcAft>
            </a:pPr>
            <a:r>
              <a:rPr sz="1800">
                <a:solidFill>
                  <a:srgbClr val="1F2937"/>
                </a:solidFill>
                <a:latin typeface="Calibri"/>
              </a:rPr>
              <a:t>▸  Diqqat: davolovchi shifokor ≠ ekspert. Biri davolash uchun, ikkinchisi huquqiy baholash uchun yondashadi.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746758"/>
                <a:gridCol w="3541217"/>
              </a:tblGrid>
              <a:tr h="614476">
                <a:tc>
                  <a:txBody>
                    <a:bodyPr/>
                    <a:lstStyle/>
                    <a:p>
                      <a:r>
                        <a:rPr sz="1800" b="1">
                          <a:solidFill>
                            <a:srgbClr val="FFFFFF"/>
                          </a:solidFill>
                        </a:rPr>
                        <a:t>Yo‘nalish</a:t>
                      </a:r>
                    </a:p>
                  </a:txBody>
                  <a:tcPr marL="73152" marR="73152" marT="36576" marB="36576">
                    <a:solidFill>
                      <a:srgbClr val="0B1F3A"/>
                    </a:solidFill>
                  </a:tcPr>
                </a:tc>
                <a:tc>
                  <a:txBody>
                    <a:bodyPr/>
                    <a:lstStyle/>
                    <a:p>
                      <a:r>
                        <a:rPr sz="1800" b="1">
                          <a:solidFill>
                            <a:srgbClr val="FFFFFF"/>
                          </a:solidFill>
                        </a:rPr>
                        <a:t>Roli</a:t>
                      </a:r>
                    </a:p>
                  </a:txBody>
                  <a:tcPr marL="73152" marR="73152" marT="36576" marB="36576">
                    <a:solidFill>
                      <a:srgbClr val="0B1F3A"/>
                    </a:solidFill>
                  </a:tcPr>
                </a:tc>
              </a:tr>
              <a:tr h="614476">
                <a:tc>
                  <a:txBody>
                    <a:bodyPr/>
                    <a:lstStyle/>
                    <a:p>
                      <a:r>
                        <a:rPr sz="1700" b="0">
                          <a:solidFill>
                            <a:srgbClr val="1F2937"/>
                          </a:solidFill>
                        </a:rPr>
                        <a:t>Fundamental tibbiy</a:t>
                      </a:r>
                    </a:p>
                  </a:txBody>
                  <a:tcPr marL="73152" marR="73152" marT="36576" marB="36576">
                    <a:solidFill>
                      <a:srgbClr val="E8EEF6"/>
                    </a:solidFill>
                  </a:tcPr>
                </a:tc>
                <a:tc>
                  <a:txBody>
                    <a:bodyPr/>
                    <a:lstStyle/>
                    <a:p>
                      <a:r>
                        <a:rPr sz="1700" b="0">
                          <a:solidFill>
                            <a:srgbClr val="1F2937"/>
                          </a:solidFill>
                        </a:rPr>
                        <a:t>Poydevor; ularsiz ekspertiza o‘tmaydi</a:t>
                      </a:r>
                    </a:p>
                  </a:txBody>
                  <a:tcPr marL="73152" marR="73152" marT="36576" marB="36576">
                    <a:solidFill>
                      <a:srgbClr val="E8EEF6"/>
                    </a:solidFill>
                  </a:tcPr>
                </a:tc>
              </a:tr>
              <a:tr h="614476">
                <a:tc>
                  <a:txBody>
                    <a:bodyPr/>
                    <a:lstStyle/>
                    <a:p>
                      <a:r>
                        <a:rPr sz="1700" b="0">
                          <a:solidFill>
                            <a:srgbClr val="1F2937"/>
                          </a:solidFill>
                        </a:rPr>
                        <a:t>Klinik tibbiy</a:t>
                      </a:r>
                    </a:p>
                  </a:txBody>
                  <a:tcPr marL="73152" marR="73152" marT="36576" marB="36576">
                    <a:solidFill>
                      <a:srgbClr val="FFFFFF"/>
                    </a:solidFill>
                  </a:tcPr>
                </a:tc>
                <a:tc>
                  <a:txBody>
                    <a:bodyPr/>
                    <a:lstStyle/>
                    <a:p>
                      <a:r>
                        <a:rPr sz="1700" b="0">
                          <a:solidFill>
                            <a:srgbClr val="1F2937"/>
                          </a:solidFill>
                        </a:rPr>
                        <a:t>Travmatologiya, akusherlik, oftalmologiya</a:t>
                      </a:r>
                    </a:p>
                  </a:txBody>
                  <a:tcPr marL="73152" marR="73152" marT="36576" marB="36576">
                    <a:solidFill>
                      <a:srgbClr val="FFFFFF"/>
                    </a:solidFill>
                  </a:tcPr>
                </a:tc>
              </a:tr>
              <a:tr h="614476">
                <a:tc>
                  <a:txBody>
                    <a:bodyPr/>
                    <a:lstStyle/>
                    <a:p>
                      <a:r>
                        <a:rPr sz="1700" b="0">
                          <a:solidFill>
                            <a:srgbClr val="1F2937"/>
                          </a:solidFill>
                        </a:rPr>
                        <a:t>Kimyo va fizika</a:t>
                      </a:r>
                    </a:p>
                  </a:txBody>
                  <a:tcPr marL="73152" marR="73152" marT="36576" marB="36576">
                    <a:solidFill>
                      <a:srgbClr val="E8EEF6"/>
                    </a:solidFill>
                  </a:tcPr>
                </a:tc>
                <a:tc>
                  <a:txBody>
                    <a:bodyPr/>
                    <a:lstStyle/>
                    <a:p>
                      <a:r>
                        <a:rPr sz="1700" b="0">
                          <a:solidFill>
                            <a:srgbClr val="1F2937"/>
                          </a:solidFill>
                        </a:rPr>
                        <a:t>Zahar tekshiruvi; harorat, elektr toki</a:t>
                      </a:r>
                    </a:p>
                  </a:txBody>
                  <a:tcPr marL="73152" marR="73152" marT="36576" marB="36576">
                    <a:solidFill>
                      <a:srgbClr val="E8EEF6"/>
                    </a:solidFill>
                  </a:tcPr>
                </a:tc>
              </a:tr>
              <a:tr h="614476">
                <a:tc>
                  <a:txBody>
                    <a:bodyPr/>
                    <a:lstStyle/>
                    <a:p>
                      <a:r>
                        <a:rPr sz="1700" b="0">
                          <a:solidFill>
                            <a:srgbClr val="1F2937"/>
                          </a:solidFill>
                        </a:rPr>
                        <a:t>Falsafa va mantiq</a:t>
                      </a:r>
                    </a:p>
                  </a:txBody>
                  <a:tcPr marL="73152" marR="73152" marT="36576" marB="36576">
                    <a:solidFill>
                      <a:srgbClr val="FFFFFF"/>
                    </a:solidFill>
                  </a:tcPr>
                </a:tc>
                <a:tc>
                  <a:txBody>
                    <a:bodyPr/>
                    <a:lstStyle/>
                    <a:p>
                      <a:r>
                        <a:rPr sz="1700" b="0">
                          <a:solidFill>
                            <a:srgbClr val="1F2937"/>
                          </a:solidFill>
                        </a:rPr>
                        <a:t>Dialektik baholash, xulosada mantiq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Fanlar aloqasi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 va davolovchi vrach yondashuvi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Klinik mutaxassis diagnostika va davolashga, ekspert esa holatni huquqiy baholashga e’tibor beradi.</a:t>
            </a:r>
          </a:p>
          <a:p>
            <a:pPr>
              <a:spcAft>
                <a:spcPts val="800"/>
              </a:spcAft>
            </a:pPr>
            <a:r>
              <a:rPr sz="1800">
                <a:solidFill>
                  <a:srgbClr val="1F2937"/>
                </a:solidFill>
                <a:latin typeface="Calibri"/>
              </a:rPr>
              <a:t>▸  Jarohatda travmatologiya, jinoiy abortda ginekologiya, ko‘z shikastida oftalmologiya bilimi zarur.</a:t>
            </a:r>
          </a:p>
          <a:p>
            <a:pPr>
              <a:spcAft>
                <a:spcPts val="800"/>
              </a:spcAft>
            </a:pPr>
            <a:r>
              <a:rPr sz="1800">
                <a:solidFill>
                  <a:srgbClr val="1F2937"/>
                </a:solidFill>
                <a:latin typeface="Calibri"/>
              </a:rPr>
              <a:t>▸  Diqqat: tibbiyotning barcha ixtisosligini to‘liq bilish mumkin emas; ekspertning maqsadi — huquqiy baho.</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337310"/>
                <a:gridCol w="2990849"/>
                <a:gridCol w="959816"/>
              </a:tblGrid>
              <a:tr h="614476">
                <a:tc>
                  <a:txBody>
                    <a:bodyPr/>
                    <a:lstStyle/>
                    <a:p>
                      <a:r>
                        <a:rPr sz="1600" b="1">
                          <a:solidFill>
                            <a:srgbClr val="FFFFFF"/>
                          </a:solidFill>
                        </a:rPr>
                        <a:t>Yo‘nalish</a:t>
                      </a:r>
                    </a:p>
                  </a:txBody>
                  <a:tcPr marL="73152" marR="73152" marT="36576" marB="36576">
                    <a:solidFill>
                      <a:srgbClr val="0B1F3A"/>
                    </a:solidFill>
                  </a:tcPr>
                </a:tc>
                <a:tc>
                  <a:txBody>
                    <a:bodyPr/>
                    <a:lstStyle/>
                    <a:p>
                      <a:r>
                        <a:rPr sz="1600" b="1">
                          <a:solidFill>
                            <a:srgbClr val="FFFFFF"/>
                          </a:solidFill>
                        </a:rPr>
                        <a:t>Vrach</a:t>
                      </a:r>
                    </a:p>
                  </a:txBody>
                  <a:tcPr marL="73152" marR="73152" marT="36576" marB="36576">
                    <a:solidFill>
                      <a:srgbClr val="0B1F3A"/>
                    </a:solidFill>
                  </a:tcPr>
                </a:tc>
                <a:tc>
                  <a:txBody>
                    <a:bodyPr/>
                    <a:lstStyle/>
                    <a:p>
                      <a:r>
                        <a:rPr sz="1600" b="1">
                          <a:solidFill>
                            <a:srgbClr val="FFFFFF"/>
                          </a:solidFill>
                        </a:rPr>
                        <a:t>Ekspert</a:t>
                      </a:r>
                    </a:p>
                  </a:txBody>
                  <a:tcPr marL="73152" marR="73152" marT="36576" marB="36576">
                    <a:solidFill>
                      <a:srgbClr val="0B1F3A"/>
                    </a:solidFill>
                  </a:tcPr>
                </a:tc>
              </a:tr>
              <a:tr h="614476">
                <a:tc>
                  <a:txBody>
                    <a:bodyPr/>
                    <a:lstStyle/>
                    <a:p>
                      <a:r>
                        <a:rPr sz="1500" b="0">
                          <a:solidFill>
                            <a:srgbClr val="1F2937"/>
                          </a:solidFill>
                        </a:rPr>
                        <a:t>Maqsad</a:t>
                      </a:r>
                    </a:p>
                  </a:txBody>
                  <a:tcPr marL="73152" marR="73152" marT="36576" marB="36576">
                    <a:solidFill>
                      <a:srgbClr val="E8EEF6"/>
                    </a:solidFill>
                  </a:tcPr>
                </a:tc>
                <a:tc>
                  <a:txBody>
                    <a:bodyPr/>
                    <a:lstStyle/>
                    <a:p>
                      <a:r>
                        <a:rPr sz="1500" b="0">
                          <a:solidFill>
                            <a:srgbClr val="1F2937"/>
                          </a:solidFill>
                        </a:rPr>
                        <a:t>Davolash, profilaktika</a:t>
                      </a:r>
                    </a:p>
                  </a:txBody>
                  <a:tcPr marL="73152" marR="73152" marT="36576" marB="36576">
                    <a:solidFill>
                      <a:srgbClr val="E8EEF6"/>
                    </a:solidFill>
                  </a:tcPr>
                </a:tc>
                <a:tc>
                  <a:txBody>
                    <a:bodyPr/>
                    <a:lstStyle/>
                    <a:p>
                      <a:r>
                        <a:rPr sz="1500" b="0">
                          <a:solidFill>
                            <a:srgbClr val="1F2937"/>
                          </a:solidFill>
                        </a:rPr>
                        <a:t>Huquqiy baholash</a:t>
                      </a:r>
                    </a:p>
                  </a:txBody>
                  <a:tcPr marL="73152" marR="73152" marT="36576" marB="36576">
                    <a:solidFill>
                      <a:srgbClr val="E8EEF6"/>
                    </a:solidFill>
                  </a:tcPr>
                </a:tc>
              </a:tr>
              <a:tr h="614476">
                <a:tc>
                  <a:txBody>
                    <a:bodyPr/>
                    <a:lstStyle/>
                    <a:p>
                      <a:r>
                        <a:rPr sz="1500" b="0">
                          <a:solidFill>
                            <a:srgbClr val="1F2937"/>
                          </a:solidFill>
                        </a:rPr>
                        <a:t>Jarohat</a:t>
                      </a:r>
                    </a:p>
                  </a:txBody>
                  <a:tcPr marL="73152" marR="73152" marT="36576" marB="36576">
                    <a:solidFill>
                      <a:srgbClr val="FFFFFF"/>
                    </a:solidFill>
                  </a:tcPr>
                </a:tc>
                <a:tc>
                  <a:txBody>
                    <a:bodyPr/>
                    <a:lstStyle/>
                    <a:p>
                      <a:r>
                        <a:rPr sz="1500" b="0">
                          <a:solidFill>
                            <a:srgbClr val="1F2937"/>
                          </a:solidFill>
                        </a:rPr>
                        <a:t>Travmatologiya</a:t>
                      </a:r>
                    </a:p>
                  </a:txBody>
                  <a:tcPr marL="73152" marR="73152" marT="36576" marB="36576">
                    <a:solidFill>
                      <a:srgbClr val="FFFFFF"/>
                    </a:solidFill>
                  </a:tcPr>
                </a:tc>
                <a:tc>
                  <a:txBody>
                    <a:bodyPr/>
                    <a:lstStyle/>
                    <a:p>
                      <a:r>
                        <a:rPr sz="1500" b="0">
                          <a:solidFill>
                            <a:srgbClr val="1F2937"/>
                          </a:solidFill>
                        </a:rPr>
                        <a:t>Shu bilimdan foydalanadi</a:t>
                      </a:r>
                    </a:p>
                  </a:txBody>
                  <a:tcPr marL="73152" marR="73152" marT="36576" marB="36576">
                    <a:solidFill>
                      <a:srgbClr val="FFFFFF"/>
                    </a:solidFill>
                  </a:tcPr>
                </a:tc>
              </a:tr>
              <a:tr h="614476">
                <a:tc>
                  <a:txBody>
                    <a:bodyPr/>
                    <a:lstStyle/>
                    <a:p>
                      <a:r>
                        <a:rPr sz="1500" b="0">
                          <a:solidFill>
                            <a:srgbClr val="1F2937"/>
                          </a:solidFill>
                        </a:rPr>
                        <a:t>Jinoiy abort</a:t>
                      </a:r>
                    </a:p>
                  </a:txBody>
                  <a:tcPr marL="73152" marR="73152" marT="36576" marB="36576">
                    <a:solidFill>
                      <a:srgbClr val="E8EEF6"/>
                    </a:solidFill>
                  </a:tcPr>
                </a:tc>
                <a:tc>
                  <a:txBody>
                    <a:bodyPr/>
                    <a:lstStyle/>
                    <a:p>
                      <a:r>
                        <a:rPr sz="1500" b="0">
                          <a:solidFill>
                            <a:srgbClr val="1F2937"/>
                          </a:solidFill>
                        </a:rPr>
                        <a:t>Akusherlik-ginekologiya</a:t>
                      </a:r>
                    </a:p>
                  </a:txBody>
                  <a:tcPr marL="73152" marR="73152" marT="36576" marB="36576">
                    <a:solidFill>
                      <a:srgbClr val="E8EEF6"/>
                    </a:solidFill>
                  </a:tcPr>
                </a:tc>
                <a:tc>
                  <a:txBody>
                    <a:bodyPr/>
                    <a:lstStyle/>
                    <a:p>
                      <a:r>
                        <a:rPr sz="1500" b="0">
                          <a:solidFill>
                            <a:srgbClr val="1F2937"/>
                          </a:solidFill>
                        </a:rPr>
                        <a:t>Shu bilimdan foydalanadi</a:t>
                      </a:r>
                    </a:p>
                  </a:txBody>
                  <a:tcPr marL="73152" marR="73152" marT="36576" marB="36576">
                    <a:solidFill>
                      <a:srgbClr val="E8EEF6"/>
                    </a:solidFill>
                  </a:tcPr>
                </a:tc>
              </a:tr>
              <a:tr h="614476">
                <a:tc>
                  <a:txBody>
                    <a:bodyPr/>
                    <a:lstStyle/>
                    <a:p>
                      <a:r>
                        <a:rPr sz="1500" b="0">
                          <a:solidFill>
                            <a:srgbClr val="1F2937"/>
                          </a:solidFill>
                        </a:rPr>
                        <a:t>Ko‘z shikasti</a:t>
                      </a:r>
                    </a:p>
                  </a:txBody>
                  <a:tcPr marL="73152" marR="73152" marT="36576" marB="36576">
                    <a:solidFill>
                      <a:srgbClr val="FFFFFF"/>
                    </a:solidFill>
                  </a:tcPr>
                </a:tc>
                <a:tc>
                  <a:txBody>
                    <a:bodyPr/>
                    <a:lstStyle/>
                    <a:p>
                      <a:r>
                        <a:rPr sz="1500" b="0">
                          <a:solidFill>
                            <a:srgbClr val="1F2937"/>
                          </a:solidFill>
                        </a:rPr>
                        <a:t>Oftalmologiya</a:t>
                      </a:r>
                    </a:p>
                  </a:txBody>
                  <a:tcPr marL="73152" marR="73152" marT="36576" marB="36576">
                    <a:solidFill>
                      <a:srgbClr val="FFFFFF"/>
                    </a:solidFill>
                  </a:tcPr>
                </a:tc>
                <a:tc>
                  <a:txBody>
                    <a:bodyPr/>
                    <a:lstStyle/>
                    <a:p>
                      <a:r>
                        <a:rPr sz="1500" b="0">
                          <a:solidFill>
                            <a:srgbClr val="1F2937"/>
                          </a:solidFill>
                        </a:rPr>
                        <a:t>Shu bilimdan foydalanadi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Vrach va ekspert yondashuvi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prinsiplari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 ekspertizasi to‘g‘risida”gi O‘zbekiston Respublikasi Qonuni beshta asosiy prinsipni e’tirof etadi.</a:t>
            </a:r>
          </a:p>
          <a:p>
            <a:pPr>
              <a:spcAft>
                <a:spcPts val="800"/>
              </a:spcAft>
            </a:pPr>
            <a:r>
              <a:rPr sz="1800">
                <a:solidFill>
                  <a:srgbClr val="1F2937"/>
                </a:solidFill>
                <a:latin typeface="Calibri"/>
              </a:rPr>
              <a:t>▸  Prinsiplar ko‘p yillik ekspertiza amaliyotini o‘rganish va tahlil qilish orqali umumlashtirilgan.</a:t>
            </a:r>
          </a:p>
          <a:p>
            <a:pPr>
              <a:spcAft>
                <a:spcPts val="800"/>
              </a:spcAft>
            </a:pPr>
            <a:r>
              <a:rPr sz="1800">
                <a:solidFill>
                  <a:srgbClr val="1F2937"/>
                </a:solidFill>
                <a:latin typeface="Calibri"/>
              </a:rPr>
              <a:t>▸  Ekspert tekshiruvlari hamisha ilmiy asoslangan bo‘lishi lozim.</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Qonuniylik</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Inson huquqlariga rioya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Ekspert mustaqilligi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Xolislik</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Har tomonlamalik, to‘liqlik</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Asosiy prinsiplar</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7-8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Mustaqillik, mas’uliyat va identifikatsiya davri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Diqqat: mustaqillik ≠ javobgarsizlik. Protsessual mustaqillik tekshiruv, natija va xulosa uchun shaxsiy mas’uliyatni keltirib chiqaradi.</a:t>
            </a:r>
          </a:p>
          <a:p>
            <a:pPr>
              <a:spcAft>
                <a:spcPts val="1200"/>
              </a:spcAft>
            </a:pPr>
            <a:r>
              <a:rPr sz="2200">
                <a:solidFill>
                  <a:srgbClr val="1F2937"/>
                </a:solidFill>
                <a:latin typeface="Calibri"/>
              </a:rPr>
              <a:t>▸  Ekspert faqat o‘z vakolati doirasida faoliyat yuritishi mumkin. Tashabbus huquqi tegishli qonunlarda qayd etilgan.</a:t>
            </a:r>
          </a:p>
          <a:p>
            <a:pPr>
              <a:spcAft>
                <a:spcPts val="1200"/>
              </a:spcAft>
            </a:pPr>
            <a:r>
              <a:rPr sz="2200">
                <a:solidFill>
                  <a:srgbClr val="1F2937"/>
                </a:solidFill>
                <a:latin typeface="Calibri"/>
              </a:rPr>
              <a:t>▸  Tashabbus: ekspert qo‘yilgan savollardan tashqari, ekspertiza predmetiga oid va ish uchun muhim boshqa masalalar bo‘yicha ham fikr bildirishi mumkin.</a:t>
            </a:r>
          </a:p>
          <a:p>
            <a:pPr>
              <a:spcAft>
                <a:spcPts val="1200"/>
              </a:spcAft>
            </a:pPr>
            <a:r>
              <a:rPr sz="2200">
                <a:solidFill>
                  <a:srgbClr val="1F2937"/>
                </a:solidFill>
                <a:latin typeface="Calibri"/>
              </a:rPr>
              <a:t>▸  Ob’ektlar faqat ma’lum davrda dalil manbai bo‘ladi: shilinma va qontalashlar aksariyat 10-15 kungacha, murda imkon qadar tez tekshiriladi.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7-8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tushunchalar va prinsiplar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Savol: ekspertiza tadqiqotining 4 xususiyati? Javob: mutaxassis o‘tkazadi, konkret vazifa bo‘yicha, qat’iy tartibda, natija hujjat bilan rasmiylashtiriladi.</a:t>
            </a:r>
          </a:p>
          <a:p>
            <a:pPr>
              <a:spcAft>
                <a:spcPts val="1200"/>
              </a:spcAft>
            </a:pPr>
            <a:r>
              <a:rPr sz="2000">
                <a:solidFill>
                  <a:srgbClr val="1F2937"/>
                </a:solidFill>
                <a:latin typeface="Calibri"/>
              </a:rPr>
              <a:t>▸  Savol: sud tibbiyoti predmeti nima? Javob: sud-tibbiy ekspertizaning nazariyasi va amaliyoti. Uning ilmiy tizimini 1948-yilda M.I.Avdeev taklif etgan.</a:t>
            </a:r>
          </a:p>
          <a:p>
            <a:pPr>
              <a:spcAft>
                <a:spcPts val="1200"/>
              </a:spcAft>
            </a:pPr>
            <a:r>
              <a:rPr sz="2000">
                <a:solidFill>
                  <a:srgbClr val="1F2937"/>
                </a:solidFill>
                <a:latin typeface="Calibri"/>
              </a:rPr>
              <a:t>▸  Savol: qonunda tan olingan asosiy prinsiplar? Javob: qonuniylik, inson huquqlariga rioya, ekspert mustaqilligi, xolislik, har tomonlamalik va to‘liqlik.</a:t>
            </a:r>
          </a:p>
          <a:p>
            <a:pPr>
              <a:spcAft>
                <a:spcPts val="1200"/>
              </a:spcAft>
            </a:pPr>
            <a:r>
              <a:rPr sz="2000">
                <a:solidFill>
                  <a:srgbClr val="1F2937"/>
                </a:solidFill>
                <a:latin typeface="Calibri"/>
              </a:rPr>
              <a:t>▸  Diqqat: xato qilish xavfi! Davolovchi shifokor tashxis va davolashga, sud-tibbiy ekspert esa holatni huquqiy baholashga qaratilgan yondashadi.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Bob 1, 1.1-bo‘lim, Bob 1, 1.2-bo‘lim, Bob 1, 1.4-bo‘lim, Bob 1, 1.3-bo‘lim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ob’ektlari va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Ob’ektlar: murda, tirik shaxslar, ashyoviy dalillar, jinoiy va fuqarolik ishlari materiallari.</a:t>
            </a:r>
          </a:p>
          <a:p>
            <a:pPr>
              <a:spcAft>
                <a:spcPts val="800"/>
              </a:spcAft>
            </a:pPr>
            <a:r>
              <a:rPr sz="1800">
                <a:solidFill>
                  <a:srgbClr val="1F2937"/>
                </a:solidFill>
                <a:latin typeface="Calibri"/>
              </a:rPr>
              <a:t>▸  Ob’ektlarni ekspertizani tayinlagan shaxs taqdim etadi va ularning ishonchliligiga javob beradi.</a:t>
            </a:r>
          </a:p>
          <a:p>
            <a:pPr>
              <a:spcAft>
                <a:spcPts val="800"/>
              </a:spcAft>
            </a:pPr>
            <a:r>
              <a:rPr sz="1800">
                <a:solidFill>
                  <a:srgbClr val="1F2937"/>
                </a:solidFill>
                <a:latin typeface="Calibri"/>
              </a:rPr>
              <a:t>▸  Amaliyotda faqat Bosh sud-tibbiy ekspertiza ruxsat etgan yoki tavsiya qilgan usullar qo‘llanadi.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337310"/>
                <a:gridCol w="1759411"/>
                <a:gridCol w="2191253"/>
              </a:tblGrid>
              <a:tr h="768096">
                <a:tc>
                  <a:txBody>
                    <a:bodyPr/>
                    <a:lstStyle/>
                    <a:p>
                      <a:r>
                        <a:rPr sz="1600" b="1">
                          <a:solidFill>
                            <a:srgbClr val="FFFFFF"/>
                          </a:solidFill>
                        </a:rPr>
                        <a:t>Guruh</a:t>
                      </a:r>
                    </a:p>
                  </a:txBody>
                  <a:tcPr marL="73152" marR="73152" marT="36576" marB="36576">
                    <a:solidFill>
                      <a:srgbClr val="0B1F3A"/>
                    </a:solidFill>
                  </a:tcPr>
                </a:tc>
                <a:tc>
                  <a:txBody>
                    <a:bodyPr/>
                    <a:lstStyle/>
                    <a:p>
                      <a:r>
                        <a:rPr sz="1600" b="1">
                          <a:solidFill>
                            <a:srgbClr val="FFFFFF"/>
                          </a:solidFill>
                        </a:rPr>
                        <a:t>Xususiyati</a:t>
                      </a:r>
                    </a:p>
                  </a:txBody>
                  <a:tcPr marL="73152" marR="73152" marT="36576" marB="36576">
                    <a:solidFill>
                      <a:srgbClr val="0B1F3A"/>
                    </a:solidFill>
                  </a:tcPr>
                </a:tc>
                <a:tc>
                  <a:txBody>
                    <a:bodyPr/>
                    <a:lstStyle/>
                    <a:p>
                      <a:r>
                        <a:rPr sz="1600" b="1">
                          <a:solidFill>
                            <a:srgbClr val="FFFFFF"/>
                          </a:solidFill>
                        </a:rPr>
                        <a:t>Misollar</a:t>
                      </a:r>
                    </a:p>
                  </a:txBody>
                  <a:tcPr marL="73152" marR="73152" marT="36576" marB="36576">
                    <a:solidFill>
                      <a:srgbClr val="0B1F3A"/>
                    </a:solidFill>
                  </a:tcPr>
                </a:tc>
              </a:tr>
              <a:tr h="768096">
                <a:tc>
                  <a:txBody>
                    <a:bodyPr/>
                    <a:lstStyle/>
                    <a:p>
                      <a:r>
                        <a:rPr sz="1500" b="0">
                          <a:solidFill>
                            <a:srgbClr val="1F2937"/>
                          </a:solidFill>
                        </a:rPr>
                        <a:t>Umumilmiy</a:t>
                      </a:r>
                    </a:p>
                  </a:txBody>
                  <a:tcPr marL="73152" marR="73152" marT="36576" marB="36576">
                    <a:solidFill>
                      <a:srgbClr val="E8EEF6"/>
                    </a:solidFill>
                  </a:tcPr>
                </a:tc>
                <a:tc>
                  <a:txBody>
                    <a:bodyPr/>
                    <a:lstStyle/>
                    <a:p>
                      <a:r>
                        <a:rPr sz="1500" b="0">
                          <a:solidFill>
                            <a:srgbClr val="1F2937"/>
                          </a:solidFill>
                        </a:rPr>
                        <a:t>Turli fanlarda umumiy qo‘llanadi</a:t>
                      </a:r>
                    </a:p>
                  </a:txBody>
                  <a:tcPr marL="73152" marR="73152" marT="36576" marB="36576">
                    <a:solidFill>
                      <a:srgbClr val="E8EEF6"/>
                    </a:solidFill>
                  </a:tcPr>
                </a:tc>
                <a:tc>
                  <a:txBody>
                    <a:bodyPr/>
                    <a:lstStyle/>
                    <a:p>
                      <a:r>
                        <a:rPr sz="1500" b="0">
                          <a:solidFill>
                            <a:srgbClr val="1F2937"/>
                          </a:solidFill>
                        </a:rPr>
                        <a:t>Kuzatuv, tavsif, o‘lchash, taqqoslash</a:t>
                      </a:r>
                    </a:p>
                  </a:txBody>
                  <a:tcPr marL="73152" marR="73152" marT="36576" marB="36576">
                    <a:solidFill>
                      <a:srgbClr val="E8EEF6"/>
                    </a:solidFill>
                  </a:tcPr>
                </a:tc>
              </a:tr>
              <a:tr h="768096">
                <a:tc>
                  <a:txBody>
                    <a:bodyPr/>
                    <a:lstStyle/>
                    <a:p>
                      <a:r>
                        <a:rPr sz="1500" b="0">
                          <a:solidFill>
                            <a:srgbClr val="1F2937"/>
                          </a:solidFill>
                        </a:rPr>
                        <a:t>Xususiy</a:t>
                      </a:r>
                    </a:p>
                  </a:txBody>
                  <a:tcPr marL="73152" marR="73152" marT="36576" marB="36576">
                    <a:solidFill>
                      <a:srgbClr val="FFFFFF"/>
                    </a:solidFill>
                  </a:tcPr>
                </a:tc>
                <a:tc>
                  <a:txBody>
                    <a:bodyPr/>
                    <a:lstStyle/>
                    <a:p>
                      <a:r>
                        <a:rPr sz="1500" b="0">
                          <a:solidFill>
                            <a:srgbClr val="1F2937"/>
                          </a:solidFill>
                        </a:rPr>
                        <a:t>Aniq bir fanga tegishli</a:t>
                      </a:r>
                    </a:p>
                  </a:txBody>
                  <a:tcPr marL="73152" marR="73152" marT="36576" marB="36576">
                    <a:solidFill>
                      <a:srgbClr val="FFFFFF"/>
                    </a:solidFill>
                  </a:tcPr>
                </a:tc>
                <a:tc>
                  <a:txBody>
                    <a:bodyPr/>
                    <a:lstStyle/>
                    <a:p>
                      <a:r>
                        <a:rPr sz="1500" b="0">
                          <a:solidFill>
                            <a:srgbClr val="1F2937"/>
                          </a:solidFill>
                        </a:rPr>
                        <a:t>Morfologik, rentgenologik, kimyoviy</a:t>
                      </a:r>
                    </a:p>
                  </a:txBody>
                  <a:tcPr marL="73152" marR="73152" marT="36576" marB="36576">
                    <a:solidFill>
                      <a:srgbClr val="FFFFFF"/>
                    </a:solidFill>
                  </a:tcPr>
                </a:tc>
              </a:tr>
              <a:tr h="768096">
                <a:tc>
                  <a:txBody>
                    <a:bodyPr/>
                    <a:lstStyle/>
                    <a:p>
                      <a:r>
                        <a:rPr sz="1500" b="0">
                          <a:solidFill>
                            <a:srgbClr val="1F2937"/>
                          </a:solidFill>
                        </a:rPr>
                        <a:t>Maxsus</a:t>
                      </a:r>
                    </a:p>
                  </a:txBody>
                  <a:tcPr marL="73152" marR="73152" marT="36576" marB="36576">
                    <a:solidFill>
                      <a:srgbClr val="E8EEF6"/>
                    </a:solidFill>
                  </a:tcPr>
                </a:tc>
                <a:tc>
                  <a:txBody>
                    <a:bodyPr/>
                    <a:lstStyle/>
                    <a:p>
                      <a:r>
                        <a:rPr sz="1500" b="0">
                          <a:solidFill>
                            <a:srgbClr val="1F2937"/>
                          </a:solidFill>
                        </a:rPr>
                        <a:t>Asosan sud-tibbiy amaliyotda</a:t>
                      </a:r>
                    </a:p>
                  </a:txBody>
                  <a:tcPr marL="73152" marR="73152" marT="36576" marB="36576">
                    <a:solidFill>
                      <a:srgbClr val="E8EEF6"/>
                    </a:solidFill>
                  </a:tcPr>
                </a:tc>
                <a:tc>
                  <a:txBody>
                    <a:bodyPr/>
                    <a:lstStyle/>
                    <a:p>
                      <a:r>
                        <a:rPr sz="1500" b="0">
                          <a:solidFill>
                            <a:srgbClr val="1F2937"/>
                          </a:solidFill>
                        </a:rPr>
                        <a:t>Fototaqqoslash, qiyosiy o‘rganish</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Usullar guruhlari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Bob 1, 1.5-bo‘lim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ob’ekt va usulni tanlash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hodisa joyida pichoq topilgan, jabrlanuvchining terisida jarohat bor. Savol: qaysi usul guruhi qo‘llanadi?</a:t>
            </a:r>
          </a:p>
          <a:p>
            <a:pPr>
              <a:spcAft>
                <a:spcPts val="1200"/>
              </a:spcAft>
            </a:pPr>
            <a:r>
              <a:rPr sz="2200">
                <a:solidFill>
                  <a:srgbClr val="1F2937"/>
                </a:solidFill>
                <a:latin typeface="Calibri"/>
              </a:rPr>
              <a:t>▸  Javob: maxsus usul. Teridagi jarohat va pichoq xususiyatlari qiyosiy o‘rganilib, shikastlovchi qurol aniqlanadi.</a:t>
            </a:r>
          </a:p>
          <a:p>
            <a:pPr>
              <a:spcAft>
                <a:spcPts val="1200"/>
              </a:spcAft>
            </a:pPr>
            <a:r>
              <a:rPr sz="2200">
                <a:solidFill>
                  <a:srgbClr val="1F2937"/>
                </a:solidFill>
                <a:latin typeface="Calibri"/>
              </a:rPr>
              <a:t>▸  Pichoq ashyoviy dalil sifatida, jarohat esa tirik shaxs yoki murda ob’ekti sifatida tekshiriladi.</a:t>
            </a:r>
          </a:p>
          <a:p>
            <a:pPr>
              <a:spcAft>
                <a:spcPts val="1200"/>
              </a:spcAft>
            </a:pPr>
            <a:r>
              <a:rPr sz="2200">
                <a:solidFill>
                  <a:srgbClr val="1F2937"/>
                </a:solidFill>
                <a:latin typeface="Calibri"/>
              </a:rPr>
              <a:t>▸  Muhokama: tanlangan usul takroriy tekshirishga imkon berishi va natijalar hujjatlashtirilgan bo‘lishi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Bob 1, 1.5-bo‘lim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Tarix: qadimgi dunyodan o‘rta asrlargacha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Sparta qonunlariga murdani tekshirish qoidalari qo‘shilgan; ularni tayyorlashda Gippokrat ham qatnashgan.</a:t>
            </a:r>
          </a:p>
          <a:p>
            <a:pPr>
              <a:spcAft>
                <a:spcPts val="800"/>
              </a:spcAft>
            </a:pPr>
            <a:r>
              <a:rPr sz="1800">
                <a:solidFill>
                  <a:srgbClr val="1F2937"/>
                </a:solidFill>
                <a:latin typeface="Calibri"/>
              </a:rPr>
              <a:t>▸  Yuliy Sezar murdasini vrach Antistius ko‘rdi: 23 jarohatdan faqat bittasi o‘limga olib kelgan.</a:t>
            </a:r>
          </a:p>
          <a:p>
            <a:pPr>
              <a:spcAft>
                <a:spcPts val="800"/>
              </a:spcAft>
            </a:pPr>
            <a:r>
              <a:rPr sz="1800">
                <a:solidFill>
                  <a:srgbClr val="1F2937"/>
                </a:solidFill>
                <a:latin typeface="Calibri"/>
              </a:rPr>
              <a:t>▸  Yustinian kodeksida vrach va doyalar ishtiroki shart, ularning xulosasi guvoh ko‘rsatmasidan ustun qo‘yilgan.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Davr</a:t>
                      </a:r>
                    </a:p>
                  </a:txBody>
                  <a:tcPr marL="73152" marR="73152" marT="36576" marB="36576">
                    <a:solidFill>
                      <a:srgbClr val="0B1F3A"/>
                    </a:solidFill>
                  </a:tcPr>
                </a:tc>
                <a:tc>
                  <a:txBody>
                    <a:bodyPr/>
                    <a:lstStyle/>
                    <a:p>
                      <a:r>
                        <a:rPr sz="1800" b="1">
                          <a:solidFill>
                            <a:srgbClr val="FFFFFF"/>
                          </a:solidFill>
                        </a:rPr>
                        <a:t>Voqea</a:t>
                      </a:r>
                    </a:p>
                  </a:txBody>
                  <a:tcPr marL="73152" marR="73152" marT="36576" marB="36576">
                    <a:solidFill>
                      <a:srgbClr val="0B1F3A"/>
                    </a:solidFill>
                  </a:tcPr>
                </a:tc>
              </a:tr>
              <a:tr h="614476">
                <a:tc>
                  <a:txBody>
                    <a:bodyPr/>
                    <a:lstStyle/>
                    <a:p>
                      <a:r>
                        <a:rPr sz="1700" b="0">
                          <a:solidFill>
                            <a:srgbClr val="1F2937"/>
                          </a:solidFill>
                        </a:rPr>
                        <a:t>e.a. IX–VIII asr</a:t>
                      </a:r>
                    </a:p>
                  </a:txBody>
                  <a:tcPr marL="73152" marR="73152" marT="36576" marB="36576">
                    <a:solidFill>
                      <a:srgbClr val="E8EEF6"/>
                    </a:solidFill>
                  </a:tcPr>
                </a:tc>
                <a:tc>
                  <a:txBody>
                    <a:bodyPr/>
                    <a:lstStyle/>
                    <a:p>
                      <a:r>
                        <a:rPr sz="1700" b="0">
                          <a:solidFill>
                            <a:srgbClr val="1F2937"/>
                          </a:solidFill>
                        </a:rPr>
                        <a:t>Spartada Likurg qonunlari</a:t>
                      </a:r>
                    </a:p>
                  </a:txBody>
                  <a:tcPr marL="73152" marR="73152" marT="36576" marB="36576">
                    <a:solidFill>
                      <a:srgbClr val="E8EEF6"/>
                    </a:solidFill>
                  </a:tcPr>
                </a:tc>
              </a:tr>
              <a:tr h="614476">
                <a:tc>
                  <a:txBody>
                    <a:bodyPr/>
                    <a:lstStyle/>
                    <a:p>
                      <a:r>
                        <a:rPr sz="1700" b="0">
                          <a:solidFill>
                            <a:srgbClr val="1F2937"/>
                          </a:solidFill>
                        </a:rPr>
                        <a:t>e.a. 44-yil</a:t>
                      </a:r>
                    </a:p>
                  </a:txBody>
                  <a:tcPr marL="73152" marR="73152" marT="36576" marB="36576">
                    <a:solidFill>
                      <a:srgbClr val="FFFFFF"/>
                    </a:solidFill>
                  </a:tcPr>
                </a:tc>
                <a:tc>
                  <a:txBody>
                    <a:bodyPr/>
                    <a:lstStyle/>
                    <a:p>
                      <a:r>
                        <a:rPr sz="1700" b="0">
                          <a:solidFill>
                            <a:srgbClr val="1F2937"/>
                          </a:solidFill>
                        </a:rPr>
                        <a:t>Sezar murdasini Antistius ko‘rgan</a:t>
                      </a:r>
                    </a:p>
                  </a:txBody>
                  <a:tcPr marL="73152" marR="73152" marT="36576" marB="36576">
                    <a:solidFill>
                      <a:srgbClr val="FFFFFF"/>
                    </a:solidFill>
                  </a:tcPr>
                </a:tc>
              </a:tr>
              <a:tr h="614476">
                <a:tc>
                  <a:txBody>
                    <a:bodyPr/>
                    <a:lstStyle/>
                    <a:p>
                      <a:r>
                        <a:rPr sz="1700" b="0">
                          <a:solidFill>
                            <a:srgbClr val="1F2937"/>
                          </a:solidFill>
                        </a:rPr>
                        <a:t>VI asr</a:t>
                      </a:r>
                    </a:p>
                  </a:txBody>
                  <a:tcPr marL="73152" marR="73152" marT="36576" marB="36576">
                    <a:solidFill>
                      <a:srgbClr val="E8EEF6"/>
                    </a:solidFill>
                  </a:tcPr>
                </a:tc>
                <a:tc>
                  <a:txBody>
                    <a:bodyPr/>
                    <a:lstStyle/>
                    <a:p>
                      <a:r>
                        <a:rPr sz="1700" b="0">
                          <a:solidFill>
                            <a:srgbClr val="1F2937"/>
                          </a:solidFill>
                        </a:rPr>
                        <a:t>Yustinian kodeksi: vrach xulosasi dalil</a:t>
                      </a:r>
                    </a:p>
                  </a:txBody>
                  <a:tcPr marL="73152" marR="73152" marT="36576" marB="36576">
                    <a:solidFill>
                      <a:srgbClr val="E8EEF6"/>
                    </a:solidFill>
                  </a:tcPr>
                </a:tc>
              </a:tr>
              <a:tr h="614476">
                <a:tc>
                  <a:txBody>
                    <a:bodyPr/>
                    <a:lstStyle/>
                    <a:p>
                      <a:r>
                        <a:rPr sz="1700" b="0">
                          <a:solidFill>
                            <a:srgbClr val="1F2937"/>
                          </a:solidFill>
                        </a:rPr>
                        <a:t>1247-yil</a:t>
                      </a:r>
                    </a:p>
                  </a:txBody>
                  <a:tcPr marL="73152" marR="73152" marT="36576" marB="36576">
                    <a:solidFill>
                      <a:srgbClr val="FFFFFF"/>
                    </a:solidFill>
                  </a:tcPr>
                </a:tc>
                <a:tc>
                  <a:txBody>
                    <a:bodyPr/>
                    <a:lstStyle/>
                    <a:p>
                      <a:r>
                        <a:rPr sz="1700" b="0">
                          <a:solidFill>
                            <a:srgbClr val="1F2937"/>
                          </a:solidFill>
                        </a:rPr>
                        <a:t>‘Si Yuan Lu‘: murda, qurol, bo‘g‘ish, zahar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Qadimgi davr vaqt chizig‘i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Tarix: XIII-XIX asrlar Yevropada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Karolina (1532) qotillik, zaharlanish, bola tushishi kabi ishlarda vrach ishtirokini majburiy qildi.</a:t>
            </a:r>
          </a:p>
          <a:p>
            <a:pPr>
              <a:spcAft>
                <a:spcPts val="800"/>
              </a:spcAft>
            </a:pPr>
            <a:r>
              <a:rPr sz="1800">
                <a:solidFill>
                  <a:srgbClr val="1F2937"/>
                </a:solidFill>
                <a:latin typeface="Calibri"/>
              </a:rPr>
              <a:t>▸  Pare asarida jarohatlar, is gazi, yashin urishi yoritilgan va sud-tibbiy xulosa namunalari berilgan.</a:t>
            </a:r>
          </a:p>
          <a:p>
            <a:pPr>
              <a:spcAft>
                <a:spcPts val="800"/>
              </a:spcAft>
            </a:pPr>
            <a:r>
              <a:rPr sz="1800">
                <a:solidFill>
                  <a:srgbClr val="1F2937"/>
                </a:solidFill>
                <a:latin typeface="Calibri"/>
              </a:rPr>
              <a:t>▸  XIX asrda Virxov, Rokitanskiy, Gofman, Bruardel, Orfil kabi olimlar fanga salmoqli hissa qo‘shdi.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XIII–XIV asr: Lukka, xirurglar</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1532: Karolina qonuni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XVI asr: Pare asari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1681: Shreer o‘pka sinamasi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Bon: ‘sud tibbiyoti‘ nomi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Yevropada rivoj bosqichlari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 10-11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Pirogov, XX asr va Markaziy Osiyo olimlari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Pirogov 1846 yilgi atlasida murda tekshiruvini tasvirlagan; Kavkaz hisoboti va harbiy-dala jarrohligi asarlarida o‘q otar jarohatlar haqida ma’lumot bergan.</a:t>
            </a:r>
          </a:p>
          <a:p>
            <a:pPr>
              <a:spcAft>
                <a:spcPts val="1200"/>
              </a:spcAft>
            </a:pPr>
            <a:r>
              <a:rPr sz="2200">
                <a:solidFill>
                  <a:srgbClr val="1F2937"/>
                </a:solidFill>
                <a:latin typeface="Calibri"/>
              </a:rPr>
              <a:t>▸  XX asrda, ayniqsa Ikkinchi jahon urushidan keyin, izlanishlar jadallashdi va ko‘plab darslik, qo‘llanmalar yaratildi.</a:t>
            </a:r>
          </a:p>
          <a:p>
            <a:pPr>
              <a:spcAft>
                <a:spcPts val="1200"/>
              </a:spcAft>
            </a:pPr>
            <a:r>
              <a:rPr sz="2200">
                <a:solidFill>
                  <a:srgbClr val="1F2937"/>
                </a:solidFill>
                <a:latin typeface="Calibri"/>
              </a:rPr>
              <a:t>▸  Beruniy, Ibn Sino, Jurjoniy asarlarida sud tibbiyotiga aloqador ma’lumotlar bor; shariat asosidagi sudlovda esa vrach jalb qilinmagan.</a:t>
            </a:r>
          </a:p>
          <a:p>
            <a:pPr>
              <a:spcAft>
                <a:spcPts val="1200"/>
              </a:spcAft>
            </a:pPr>
            <a:r>
              <a:rPr sz="2200">
                <a:solidFill>
                  <a:srgbClr val="1F2937"/>
                </a:solidFill>
                <a:latin typeface="Calibri"/>
              </a:rPr>
              <a:t>▸  Diqqat: Ibn Sinoning ‘Tib qonunlari‘dagi o‘limdan keyingi o‘zgarishlar, zaharlar, jarohatlar haqidagi ma’lumotlar sudlov uchun emas, to‘g‘ri tibbiy yordam uchun yozilgan.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O‘zbekistonda kafedralar tarixi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Birinchi kafedra 1920-yilda Turkiston universitetining tibbiyot fakultetida tashkil qilingan.</a:t>
            </a:r>
          </a:p>
          <a:p>
            <a:pPr>
              <a:spcAft>
                <a:spcPts val="800"/>
              </a:spcAft>
            </a:pPr>
            <a:r>
              <a:rPr sz="1800">
                <a:solidFill>
                  <a:srgbClr val="1F2937"/>
                </a:solidFill>
                <a:latin typeface="Calibri"/>
              </a:rPr>
              <a:t>▸  Keyin kafedralar Samarqand (1935), Andijon (1959) va Toshkent pediatriya tibbiyot institutida (1972) ochilgan.</a:t>
            </a:r>
          </a:p>
          <a:p>
            <a:pPr>
              <a:spcAft>
                <a:spcPts val="800"/>
              </a:spcAft>
            </a:pPr>
            <a:r>
              <a:rPr sz="1800">
                <a:solidFill>
                  <a:srgbClr val="1F2937"/>
                </a:solidFill>
                <a:latin typeface="Calibri"/>
              </a:rPr>
              <a:t>▸  1993-yilda Toshkent vrachlar malakasini oshirish instituti qoshida sud tibbiyoti kursi ochilgan.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1920: Turkiston universiteti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1935: Samarqand instituti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1959: Andijon instituti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1972: Toshkent pediatriya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1993: vrachlar malakasi kursi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Kafedralar vaqt chizig‘i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Bob 1. Fan, tarix</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tarixiy ma’lumotlarni baholash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Ibn Sinoning “Tib qonunlari”da murda o‘zgarishlari, zo‘raki o‘lim turlari, zaharlar va jarohatlar haqida ma’lumot bor.</a:t>
            </a:r>
          </a:p>
          <a:p>
            <a:pPr>
              <a:spcAft>
                <a:spcPts val="1200"/>
              </a:spcAft>
            </a:pPr>
            <a:r>
              <a:rPr sz="2200">
                <a:solidFill>
                  <a:srgbClr val="1F2937"/>
                </a:solidFill>
                <a:latin typeface="Calibri"/>
              </a:rPr>
              <a:t>▸  Bu ma’lumotlar odil sudlov uchun emas, asosan shunday holatlarda to‘g‘ri tibbiy yordam ko‘rsatish maqsadida yozilgan.</a:t>
            </a:r>
          </a:p>
          <a:p>
            <a:pPr>
              <a:spcAft>
                <a:spcPts val="1200"/>
              </a:spcAft>
            </a:pPr>
            <a:r>
              <a:rPr sz="2200">
                <a:solidFill>
                  <a:srgbClr val="1F2937"/>
                </a:solidFill>
                <a:latin typeface="Calibri"/>
              </a:rPr>
              <a:t>▸  Diqqat: xato qilish xavfi — sud tibbiyotiga oid ma’lumot bo‘lishi ≠ sud-tibbiy ekspertiza bo‘lishi. XX asr boshigacha sudda tibbiyot vakillari chaqirilmagan.</a:t>
            </a:r>
          </a:p>
          <a:p>
            <a:pPr>
              <a:spcAft>
                <a:spcPts val="1200"/>
              </a:spcAft>
            </a:pPr>
            <a:r>
              <a:rPr sz="2200">
                <a:solidFill>
                  <a:srgbClr val="1F2937"/>
                </a:solidFill>
                <a:latin typeface="Calibri"/>
              </a:rPr>
              <a:t>▸  Savol: Ibn Sino asarini sud tibbiyoti fanining boshlanishi desak bo‘ladimi? Javobingizni kitobdagi maqsad bilan asoslang.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Bob 1. Fan, tarix</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tarix</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Yuliy Sezar murdasini kim ko‘zdan kechirgan va 23 jarohatdan nechtasi o‘limga olib kelgan deb baholangan?</a:t>
            </a:r>
          </a:p>
          <a:p>
            <a:pPr>
              <a:spcAft>
                <a:spcPts val="1200"/>
              </a:spcAft>
            </a:pPr>
            <a:r>
              <a:rPr sz="2200">
                <a:solidFill>
                  <a:srgbClr val="1F2937"/>
                </a:solidFill>
                <a:latin typeface="Calibri"/>
              </a:rPr>
              <a:t>▸  2-savol: “Si Yuan Lu”, “Karolina” va “Yustinian kodeksi” qaysi davlat yoki hukmdor bilan bog‘liq? Moslashtiring.</a:t>
            </a:r>
          </a:p>
          <a:p>
            <a:pPr>
              <a:spcAft>
                <a:spcPts val="1200"/>
              </a:spcAft>
            </a:pPr>
            <a:r>
              <a:rPr sz="2200">
                <a:solidFill>
                  <a:srgbClr val="1F2937"/>
                </a:solidFill>
                <a:latin typeface="Calibri"/>
              </a:rPr>
              <a:t>▸  3-savol: I. Shreer 1681-yilda yangi tug‘ilgan chaqaloq murdasi tekshiruvida qaysi sinamani birinchi marta qo‘llagan?</a:t>
            </a:r>
          </a:p>
          <a:p>
            <a:pPr>
              <a:spcAft>
                <a:spcPts val="1200"/>
              </a:spcAft>
            </a:pPr>
            <a:r>
              <a:rPr sz="2200">
                <a:solidFill>
                  <a:srgbClr val="1F2937"/>
                </a:solidFill>
                <a:latin typeface="Calibri"/>
              </a:rPr>
              <a:t>▸  4-savol: Toshkent pediatriya tibbiyot institutida sud tibbiyoti kafedrasi qaysi yilda tashkil qilingan?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Bob 1. Fan, tarix</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O‘zbekistonda xizmatning to‘rt davri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O‘zbekistonda sud-tibbiy ekspertiza xizmatining shakllanishida shartli ravishda to‘rt davr farqlanadi.</a:t>
            </a:r>
          </a:p>
          <a:p>
            <a:pPr>
              <a:spcAft>
                <a:spcPts val="800"/>
              </a:spcAft>
            </a:pPr>
            <a:r>
              <a:rPr sz="1800">
                <a:solidFill>
                  <a:srgbClr val="1F2937"/>
                </a:solidFill>
                <a:latin typeface="Calibri"/>
              </a:rPr>
              <a:t>▸  I davrda Turkistonda ekspert muassasasi bo‘lmagan, rasmiy ekspertizalar faqat epizodik o‘tkazilgan.</a:t>
            </a:r>
          </a:p>
          <a:p>
            <a:pPr>
              <a:spcAft>
                <a:spcPts val="800"/>
              </a:spcAft>
            </a:pPr>
            <a:r>
              <a:rPr sz="1800">
                <a:solidFill>
                  <a:srgbClr val="1F2937"/>
                </a:solidFill>
                <a:latin typeface="Calibri"/>
              </a:rPr>
              <a:t>▸  Diqqat: 1945-yildagi kabinet II davrga, 1950-yildagi Bosh byuro III davrga tegishli.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882099"/>
                <a:gridCol w="2164080"/>
                <a:gridCol w="2241795"/>
              </a:tblGrid>
              <a:tr h="614476">
                <a:tc>
                  <a:txBody>
                    <a:bodyPr/>
                    <a:lstStyle/>
                    <a:p>
                      <a:r>
                        <a:rPr sz="1600" b="1">
                          <a:solidFill>
                            <a:srgbClr val="FFFFFF"/>
                          </a:solidFill>
                        </a:rPr>
                        <a:t>Davr</a:t>
                      </a:r>
                    </a:p>
                  </a:txBody>
                  <a:tcPr marL="73152" marR="73152" marT="36576" marB="36576">
                    <a:solidFill>
                      <a:srgbClr val="0B1F3A"/>
                    </a:solidFill>
                  </a:tcPr>
                </a:tc>
                <a:tc>
                  <a:txBody>
                    <a:bodyPr/>
                    <a:lstStyle/>
                    <a:p>
                      <a:r>
                        <a:rPr sz="1600" b="1">
                          <a:solidFill>
                            <a:srgbClr val="FFFFFF"/>
                          </a:solidFill>
                        </a:rPr>
                        <a:t>Muddat</a:t>
                      </a:r>
                    </a:p>
                  </a:txBody>
                  <a:tcPr marL="73152" marR="73152" marT="36576" marB="36576">
                    <a:solidFill>
                      <a:srgbClr val="0B1F3A"/>
                    </a:solidFill>
                  </a:tcPr>
                </a:tc>
                <a:tc>
                  <a:txBody>
                    <a:bodyPr/>
                    <a:lstStyle/>
                    <a:p>
                      <a:r>
                        <a:rPr sz="1600" b="1">
                          <a:solidFill>
                            <a:srgbClr val="FFFFFF"/>
                          </a:solidFill>
                        </a:rPr>
                        <a:t>Mazmuni</a:t>
                      </a:r>
                    </a:p>
                  </a:txBody>
                  <a:tcPr marL="73152" marR="73152" marT="36576" marB="36576">
                    <a:solidFill>
                      <a:srgbClr val="0B1F3A"/>
                    </a:solidFill>
                  </a:tcPr>
                </a:tc>
              </a:tr>
              <a:tr h="614476">
                <a:tc>
                  <a:txBody>
                    <a:bodyPr/>
                    <a:lstStyle/>
                    <a:p>
                      <a:r>
                        <a:rPr sz="1500" b="0">
                          <a:solidFill>
                            <a:srgbClr val="1F2937"/>
                          </a:solidFill>
                        </a:rPr>
                        <a:t>I davr</a:t>
                      </a:r>
                    </a:p>
                  </a:txBody>
                  <a:tcPr marL="73152" marR="73152" marT="36576" marB="36576">
                    <a:solidFill>
                      <a:srgbClr val="E8EEF6"/>
                    </a:solidFill>
                  </a:tcPr>
                </a:tc>
                <a:tc>
                  <a:txBody>
                    <a:bodyPr/>
                    <a:lstStyle/>
                    <a:p>
                      <a:r>
                        <a:rPr sz="1500" b="0">
                          <a:solidFill>
                            <a:srgbClr val="1F2937"/>
                          </a:solidFill>
                        </a:rPr>
                        <a:t>XX asr 20-yillarigacha</a:t>
                      </a:r>
                    </a:p>
                  </a:txBody>
                  <a:tcPr marL="73152" marR="73152" marT="36576" marB="36576">
                    <a:solidFill>
                      <a:srgbClr val="E8EEF6"/>
                    </a:solidFill>
                  </a:tcPr>
                </a:tc>
                <a:tc>
                  <a:txBody>
                    <a:bodyPr/>
                    <a:lstStyle/>
                    <a:p>
                      <a:r>
                        <a:rPr sz="1500" b="0">
                          <a:solidFill>
                            <a:srgbClr val="1F2937"/>
                          </a:solidFill>
                        </a:rPr>
                        <a:t>Epizodik ekspertizalar, Rossiya tartibi</a:t>
                      </a:r>
                    </a:p>
                  </a:txBody>
                  <a:tcPr marL="73152" marR="73152" marT="36576" marB="36576">
                    <a:solidFill>
                      <a:srgbClr val="E8EEF6"/>
                    </a:solidFill>
                  </a:tcPr>
                </a:tc>
              </a:tr>
              <a:tr h="614476">
                <a:tc>
                  <a:txBody>
                    <a:bodyPr/>
                    <a:lstStyle/>
                    <a:p>
                      <a:r>
                        <a:rPr sz="1500" b="0">
                          <a:solidFill>
                            <a:srgbClr val="1F2937"/>
                          </a:solidFill>
                        </a:rPr>
                        <a:t>II davr</a:t>
                      </a:r>
                    </a:p>
                  </a:txBody>
                  <a:tcPr marL="73152" marR="73152" marT="36576" marB="36576">
                    <a:solidFill>
                      <a:srgbClr val="FFFFFF"/>
                    </a:solidFill>
                  </a:tcPr>
                </a:tc>
                <a:tc>
                  <a:txBody>
                    <a:bodyPr/>
                    <a:lstStyle/>
                    <a:p>
                      <a:r>
                        <a:rPr sz="1500" b="0">
                          <a:solidFill>
                            <a:srgbClr val="1F2937"/>
                          </a:solidFill>
                        </a:rPr>
                        <a:t>XX asr 50-yillarigacha</a:t>
                      </a:r>
                    </a:p>
                  </a:txBody>
                  <a:tcPr marL="73152" marR="73152" marT="36576" marB="36576">
                    <a:solidFill>
                      <a:srgbClr val="FFFFFF"/>
                    </a:solidFill>
                  </a:tcPr>
                </a:tc>
                <a:tc>
                  <a:txBody>
                    <a:bodyPr/>
                    <a:lstStyle/>
                    <a:p>
                      <a:r>
                        <a:rPr sz="1500" b="0">
                          <a:solidFill>
                            <a:srgbClr val="1F2937"/>
                          </a:solidFill>
                        </a:rPr>
                        <a:t>Kafedralar bazasida, 1945-yilda kabinet</a:t>
                      </a:r>
                    </a:p>
                  </a:txBody>
                  <a:tcPr marL="73152" marR="73152" marT="36576" marB="36576">
                    <a:solidFill>
                      <a:srgbClr val="FFFFFF"/>
                    </a:solidFill>
                  </a:tcPr>
                </a:tc>
              </a:tr>
              <a:tr h="614476">
                <a:tc>
                  <a:txBody>
                    <a:bodyPr/>
                    <a:lstStyle/>
                    <a:p>
                      <a:r>
                        <a:rPr sz="1500" b="0">
                          <a:solidFill>
                            <a:srgbClr val="1F2937"/>
                          </a:solidFill>
                        </a:rPr>
                        <a:t>III davr</a:t>
                      </a:r>
                    </a:p>
                  </a:txBody>
                  <a:tcPr marL="73152" marR="73152" marT="36576" marB="36576">
                    <a:solidFill>
                      <a:srgbClr val="E8EEF6"/>
                    </a:solidFill>
                  </a:tcPr>
                </a:tc>
                <a:tc>
                  <a:txBody>
                    <a:bodyPr/>
                    <a:lstStyle/>
                    <a:p>
                      <a:r>
                        <a:rPr sz="1500" b="0">
                          <a:solidFill>
                            <a:srgbClr val="1F2937"/>
                          </a:solidFill>
                        </a:rPr>
                        <a:t>1950–1991-yillar</a:t>
                      </a:r>
                    </a:p>
                  </a:txBody>
                  <a:tcPr marL="73152" marR="73152" marT="36576" marB="36576">
                    <a:solidFill>
                      <a:srgbClr val="E8EEF6"/>
                    </a:solidFill>
                  </a:tcPr>
                </a:tc>
                <a:tc>
                  <a:txBody>
                    <a:bodyPr/>
                    <a:lstStyle/>
                    <a:p>
                      <a:r>
                        <a:rPr sz="1500" b="0">
                          <a:solidFill>
                            <a:srgbClr val="1F2937"/>
                          </a:solidFill>
                        </a:rPr>
                        <a:t>Bosh byuro, hududiy byurolar</a:t>
                      </a:r>
                    </a:p>
                  </a:txBody>
                  <a:tcPr marL="73152" marR="73152" marT="36576" marB="36576">
                    <a:solidFill>
                      <a:srgbClr val="E8EEF6"/>
                    </a:solidFill>
                  </a:tcPr>
                </a:tc>
              </a:tr>
              <a:tr h="614476">
                <a:tc>
                  <a:txBody>
                    <a:bodyPr/>
                    <a:lstStyle/>
                    <a:p>
                      <a:r>
                        <a:rPr sz="1500" b="0">
                          <a:solidFill>
                            <a:srgbClr val="1F2937"/>
                          </a:solidFill>
                        </a:rPr>
                        <a:t>IV davr</a:t>
                      </a:r>
                    </a:p>
                  </a:txBody>
                  <a:tcPr marL="73152" marR="73152" marT="36576" marB="36576">
                    <a:solidFill>
                      <a:srgbClr val="FFFFFF"/>
                    </a:solidFill>
                  </a:tcPr>
                </a:tc>
                <a:tc>
                  <a:txBody>
                    <a:bodyPr/>
                    <a:lstStyle/>
                    <a:p>
                      <a:r>
                        <a:rPr sz="1500" b="0">
                          <a:solidFill>
                            <a:srgbClr val="1F2937"/>
                          </a:solidFill>
                        </a:rPr>
                        <a:t>1991-yildan hozirgacha</a:t>
                      </a:r>
                    </a:p>
                  </a:txBody>
                  <a:tcPr marL="73152" marR="73152" marT="36576" marB="36576">
                    <a:solidFill>
                      <a:srgbClr val="FFFFFF"/>
                    </a:solidFill>
                  </a:tcPr>
                </a:tc>
                <a:tc>
                  <a:txBody>
                    <a:bodyPr/>
                    <a:lstStyle/>
                    <a:p>
                      <a:r>
                        <a:rPr sz="1500" b="0">
                          <a:solidFill>
                            <a:srgbClr val="1F2937"/>
                          </a:solidFill>
                        </a:rPr>
                        <a:t>Mustaqil xizmat, yangi qonun va hujjatlar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Xizmatning to‘rt davri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 13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Dastlabki davrlar va mustaqillik davri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1842-yilgi sud tibbiyoti ustaviga ko‘ra birinchi instansiyada gospital vrachlari ma’muriy idoralar talabi bilan ekspertiza o‘tkazgan.</a:t>
            </a:r>
          </a:p>
          <a:p>
            <a:pPr>
              <a:spcAft>
                <a:spcPts val="1200"/>
              </a:spcAft>
            </a:pPr>
            <a:r>
              <a:rPr sz="2200">
                <a:solidFill>
                  <a:srgbClr val="1F2937"/>
                </a:solidFill>
                <a:latin typeface="Calibri"/>
              </a:rPr>
              <a:t>▸  Murakkab hollarda ikkinchi instansiya (gospital boshliqlari, uezd vrachlari) qatnashgan. Uchinchi, oliy instansiya – tibbiyot kengashi – yakuniy xulosa bergan.</a:t>
            </a:r>
          </a:p>
          <a:p>
            <a:pPr>
              <a:spcAft>
                <a:spcPts val="1200"/>
              </a:spcAft>
            </a:pPr>
            <a:r>
              <a:rPr sz="2200">
                <a:solidFill>
                  <a:srgbClr val="1F2937"/>
                </a:solidFill>
                <a:latin typeface="Calibri"/>
              </a:rPr>
              <a:t>▸  II davrda ekspertizani tibbiyot oliy o‘quv yurtlari kafedralarida professor-o‘qituvchilar o‘tkazgan; kafedralar qoshida sud-tibbiy laboratoriyalar ochilgan.</a:t>
            </a:r>
          </a:p>
          <a:p>
            <a:pPr>
              <a:spcAft>
                <a:spcPts val="1200"/>
              </a:spcAft>
            </a:pPr>
            <a:r>
              <a:rPr sz="2200">
                <a:solidFill>
                  <a:srgbClr val="1F2937"/>
                </a:solidFill>
                <a:latin typeface="Calibri"/>
              </a:rPr>
              <a:t>▸  Mustaqillik davrida ilk bor “Sud ekspertizasi to‘g‘risida”gi O‘zbekiston Respublikasi Qonuni qabul qilindi va yangi me’yoriy hujjatlar ishlab chiqildi.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 13, 14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Huquqiy atamalar: huquq, qonun, kodeks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Sud-tibbiy ekspertizalar ko‘pincha jinoyat tergovida tayinlanadi, shuning uchun Jinoyat kodeksi va Jinoyat-protsessual kodeksi (JPK) bilan bog‘liq.</a:t>
            </a:r>
          </a:p>
          <a:p>
            <a:pPr>
              <a:spcAft>
                <a:spcPts val="800"/>
              </a:spcAft>
            </a:pPr>
            <a:r>
              <a:rPr sz="1800">
                <a:solidFill>
                  <a:srgbClr val="1F2937"/>
                </a:solidFill>
                <a:latin typeface="Calibri"/>
              </a:rPr>
              <a:t>▸  JPK jinoiy ishni tergov qilish, sudda ko‘rish tartibini va ishtirokchilar munosabatini belgilaydi.</a:t>
            </a:r>
          </a:p>
          <a:p>
            <a:pPr>
              <a:spcAft>
                <a:spcPts val="800"/>
              </a:spcAft>
            </a:pPr>
            <a:r>
              <a:rPr sz="1800">
                <a:solidFill>
                  <a:srgbClr val="1F2937"/>
                </a:solidFill>
                <a:latin typeface="Calibri"/>
              </a:rPr>
              <a:t>▸  Diqqat: Jinoyat kodeksi nima jinoyat ekanini, JPK esa ishni qanday ko‘rishni belgilaydi.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Atama</a:t>
                      </a:r>
                    </a:p>
                  </a:txBody>
                  <a:tcPr marL="73152" marR="73152" marT="36576" marB="36576">
                    <a:solidFill>
                      <a:srgbClr val="0B1F3A"/>
                    </a:solidFill>
                  </a:tcPr>
                </a:tc>
                <a:tc>
                  <a:txBody>
                    <a:bodyPr/>
                    <a:lstStyle/>
                    <a:p>
                      <a:r>
                        <a:rPr sz="1800" b="1">
                          <a:solidFill>
                            <a:srgbClr val="FFFFFF"/>
                          </a:solidFill>
                        </a:rPr>
                        <a:t>Mohiyati</a:t>
                      </a:r>
                    </a:p>
                  </a:txBody>
                  <a:tcPr marL="73152" marR="73152" marT="36576" marB="36576">
                    <a:solidFill>
                      <a:srgbClr val="0B1F3A"/>
                    </a:solidFill>
                  </a:tcPr>
                </a:tc>
              </a:tr>
              <a:tr h="614476">
                <a:tc>
                  <a:txBody>
                    <a:bodyPr/>
                    <a:lstStyle/>
                    <a:p>
                      <a:r>
                        <a:rPr sz="1700" b="0">
                          <a:solidFill>
                            <a:srgbClr val="1F2937"/>
                          </a:solidFill>
                        </a:rPr>
                        <a:t>Huquq</a:t>
                      </a:r>
                    </a:p>
                  </a:txBody>
                  <a:tcPr marL="73152" marR="73152" marT="36576" marB="36576">
                    <a:solidFill>
                      <a:srgbClr val="E8EEF6"/>
                    </a:solidFill>
                  </a:tcPr>
                </a:tc>
                <a:tc>
                  <a:txBody>
                    <a:bodyPr/>
                    <a:lstStyle/>
                    <a:p>
                      <a:r>
                        <a:rPr sz="1700" b="0">
                          <a:solidFill>
                            <a:srgbClr val="1F2937"/>
                          </a:solidFill>
                        </a:rPr>
                        <a:t>Davlat kafolatlagan majburiy qoidalar tizimi</a:t>
                      </a:r>
                    </a:p>
                  </a:txBody>
                  <a:tcPr marL="73152" marR="73152" marT="36576" marB="36576">
                    <a:solidFill>
                      <a:srgbClr val="E8EEF6"/>
                    </a:solidFill>
                  </a:tcPr>
                </a:tc>
              </a:tr>
              <a:tr h="614476">
                <a:tc>
                  <a:txBody>
                    <a:bodyPr/>
                    <a:lstStyle/>
                    <a:p>
                      <a:r>
                        <a:rPr sz="1700" b="0">
                          <a:solidFill>
                            <a:srgbClr val="1F2937"/>
                          </a:solidFill>
                        </a:rPr>
                        <a:t>Qonun</a:t>
                      </a:r>
                    </a:p>
                  </a:txBody>
                  <a:tcPr marL="73152" marR="73152" marT="36576" marB="36576">
                    <a:solidFill>
                      <a:srgbClr val="FFFFFF"/>
                    </a:solidFill>
                  </a:tcPr>
                </a:tc>
                <a:tc>
                  <a:txBody>
                    <a:bodyPr/>
                    <a:lstStyle/>
                    <a:p>
                      <a:r>
                        <a:rPr sz="1700" b="0">
                          <a:solidFill>
                            <a:srgbClr val="1F2937"/>
                          </a:solidFill>
                        </a:rPr>
                        <a:t>Umummajburiy me’yoriy hujjatlar, tartib</a:t>
                      </a:r>
                    </a:p>
                  </a:txBody>
                  <a:tcPr marL="73152" marR="73152" marT="36576" marB="36576">
                    <a:solidFill>
                      <a:srgbClr val="FFFFFF"/>
                    </a:solidFill>
                  </a:tcPr>
                </a:tc>
              </a:tr>
              <a:tr h="614476">
                <a:tc>
                  <a:txBody>
                    <a:bodyPr/>
                    <a:lstStyle/>
                    <a:p>
                      <a:r>
                        <a:rPr sz="1700" b="0">
                          <a:solidFill>
                            <a:srgbClr val="1F2937"/>
                          </a:solidFill>
                        </a:rPr>
                        <a:t>Kodeks</a:t>
                      </a:r>
                    </a:p>
                  </a:txBody>
                  <a:tcPr marL="73152" marR="73152" marT="36576" marB="36576">
                    <a:solidFill>
                      <a:srgbClr val="E8EEF6"/>
                    </a:solidFill>
                  </a:tcPr>
                </a:tc>
                <a:tc>
                  <a:txBody>
                    <a:bodyPr/>
                    <a:lstStyle/>
                    <a:p>
                      <a:r>
                        <a:rPr sz="1700" b="0">
                          <a:solidFill>
                            <a:srgbClr val="1F2937"/>
                          </a:solidFill>
                        </a:rPr>
                        <a:t>Bir sohadagi qonunlar tizimlashgan to‘plami</a:t>
                      </a:r>
                    </a:p>
                  </a:txBody>
                  <a:tcPr marL="73152" marR="73152" marT="36576" marB="36576">
                    <a:solidFill>
                      <a:srgbClr val="E8EEF6"/>
                    </a:solidFill>
                  </a:tcPr>
                </a:tc>
              </a:tr>
              <a:tr h="614476">
                <a:tc>
                  <a:txBody>
                    <a:bodyPr/>
                    <a:lstStyle/>
                    <a:p>
                      <a:r>
                        <a:rPr sz="1700" b="0">
                          <a:solidFill>
                            <a:srgbClr val="1F2937"/>
                          </a:solidFill>
                        </a:rPr>
                        <a:t>Jinoyat kodeksi</a:t>
                      </a:r>
                    </a:p>
                  </a:txBody>
                  <a:tcPr marL="73152" marR="73152" marT="36576" marB="36576">
                    <a:solidFill>
                      <a:srgbClr val="FFFFFF"/>
                    </a:solidFill>
                  </a:tcPr>
                </a:tc>
                <a:tc>
                  <a:txBody>
                    <a:bodyPr/>
                    <a:lstStyle/>
                    <a:p>
                      <a:r>
                        <a:rPr sz="1700" b="0">
                          <a:solidFill>
                            <a:srgbClr val="1F2937"/>
                          </a:solidFill>
                        </a:rPr>
                        <a:t>Jinoyat va jazo choralarini belgilaydi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Huquqiy atamalar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JPK 173-modda: ekspertiza majburiy holatlar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Jinoyat-protsessual kodeksi (JPK) 173-moddasi ekspertiza tayinlash va o‘tkazish shart bo‘lgan holatlarni sanab beradi.</a:t>
            </a:r>
          </a:p>
          <a:p>
            <a:pPr>
              <a:spcAft>
                <a:spcPts val="1200"/>
              </a:spcAft>
            </a:pPr>
            <a:r>
              <a:rPr sz="2200">
                <a:solidFill>
                  <a:srgbClr val="1F2937"/>
                </a:solidFill>
                <a:latin typeface="Calibri"/>
              </a:rPr>
              <a:t>▸  Birinchi navbatda o‘lim sababi, tan jarohatlarining xususiyati va og‘irlik darajasi aniqlanadi.</a:t>
            </a:r>
          </a:p>
          <a:p>
            <a:pPr>
              <a:spcAft>
                <a:spcPts val="1200"/>
              </a:spcAft>
            </a:pPr>
            <a:r>
              <a:rPr sz="2200">
                <a:solidFill>
                  <a:srgbClr val="1F2937"/>
                </a:solidFill>
                <a:latin typeface="Calibri"/>
              </a:rPr>
              <a:t>▸  Jinsiy aloqada bo‘lganlik, homiladorlik va homilani sun’iy yo‘l bilan tushirish belgilari ham ekspertiza orqali aniqlanadi.</a:t>
            </a:r>
          </a:p>
          <a:p>
            <a:pPr>
              <a:spcAft>
                <a:spcPts val="1200"/>
              </a:spcAft>
            </a:pPr>
            <a:r>
              <a:rPr sz="2200">
                <a:solidFill>
                  <a:srgbClr val="1F2937"/>
                </a:solidFill>
                <a:latin typeface="Calibri"/>
              </a:rPr>
              <a:t>▸  Hujjat bo‘lmasa yoki shubhali bo‘lsa, shaxsning yoshi aniqlanadi. Shuningdek jismoniy ahvol va yuqumli kasallikni davolash zarurati ham tekshiriladi.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 15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Ekspertizani tayinlash va o‘tkazish joyi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Sud-tibbiy ekspertiza surishtiruv yoki tergov idoralarining qaroriga, yoxud sud ajrimiga asosan o‘tkaziladi.</a:t>
            </a:r>
          </a:p>
          <a:p>
            <a:pPr>
              <a:spcAft>
                <a:spcPts val="800"/>
              </a:spcAft>
            </a:pPr>
            <a:r>
              <a:rPr sz="1800">
                <a:solidFill>
                  <a:srgbClr val="1F2937"/>
                </a:solidFill>
                <a:latin typeface="Calibri"/>
              </a:rPr>
              <a:t>▸  Joyga qarab ekspertiza byuroda, undan tashqarida yoki aralash tarzda o‘tkazilishi mumkin.</a:t>
            </a:r>
          </a:p>
          <a:p>
            <a:pPr>
              <a:spcAft>
                <a:spcPts val="800"/>
              </a:spcAft>
            </a:pPr>
            <a:r>
              <a:rPr sz="1800">
                <a:solidFill>
                  <a:srgbClr val="1F2937"/>
                </a:solidFill>
                <a:latin typeface="Calibri"/>
              </a:rPr>
              <a:t>▸  Sharoit ta’minlash vazifasi joyga qarab muassasa rahbariga yoki ekspertizani tayinlagan shaxsga yuklanadi.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455420"/>
                <a:gridCol w="2073849"/>
                <a:gridCol w="1758705"/>
              </a:tblGrid>
              <a:tr h="614476">
                <a:tc>
                  <a:txBody>
                    <a:bodyPr/>
                    <a:lstStyle/>
                    <a:p>
                      <a:r>
                        <a:rPr sz="1600" b="1">
                          <a:solidFill>
                            <a:srgbClr val="FFFFFF"/>
                          </a:solidFill>
                        </a:rPr>
                        <a:t>Variant</a:t>
                      </a:r>
                    </a:p>
                  </a:txBody>
                  <a:tcPr marL="73152" marR="73152" marT="36576" marB="36576">
                    <a:solidFill>
                      <a:srgbClr val="0B1F3A"/>
                    </a:solidFill>
                  </a:tcPr>
                </a:tc>
                <a:tc>
                  <a:txBody>
                    <a:bodyPr/>
                    <a:lstStyle/>
                    <a:p>
                      <a:r>
                        <a:rPr sz="1600" b="1">
                          <a:solidFill>
                            <a:srgbClr val="FFFFFF"/>
                          </a:solidFill>
                        </a:rPr>
                        <a:t>Qayerda</a:t>
                      </a:r>
                    </a:p>
                  </a:txBody>
                  <a:tcPr marL="73152" marR="73152" marT="36576" marB="36576">
                    <a:solidFill>
                      <a:srgbClr val="0B1F3A"/>
                    </a:solidFill>
                  </a:tcPr>
                </a:tc>
                <a:tc>
                  <a:txBody>
                    <a:bodyPr/>
                    <a:lstStyle/>
                    <a:p>
                      <a:r>
                        <a:rPr sz="1600" b="1">
                          <a:solidFill>
                            <a:srgbClr val="FFFFFF"/>
                          </a:solidFill>
                        </a:rPr>
                        <a:t>Sharoitni kim beradi</a:t>
                      </a:r>
                    </a:p>
                  </a:txBody>
                  <a:tcPr marL="73152" marR="73152" marT="36576" marB="36576">
                    <a:solidFill>
                      <a:srgbClr val="0B1F3A"/>
                    </a:solidFill>
                  </a:tcPr>
                </a:tc>
              </a:tr>
              <a:tr h="614476">
                <a:tc>
                  <a:txBody>
                    <a:bodyPr/>
                    <a:lstStyle/>
                    <a:p>
                      <a:r>
                        <a:rPr sz="1500" b="0">
                          <a:solidFill>
                            <a:srgbClr val="1F2937"/>
                          </a:solidFill>
                        </a:rPr>
                        <a:t>Byuroda</a:t>
                      </a:r>
                    </a:p>
                  </a:txBody>
                  <a:tcPr marL="73152" marR="73152" marT="36576" marB="36576">
                    <a:solidFill>
                      <a:srgbClr val="E8EEF6"/>
                    </a:solidFill>
                  </a:tcPr>
                </a:tc>
                <a:tc>
                  <a:txBody>
                    <a:bodyPr/>
                    <a:lstStyle/>
                    <a:p>
                      <a:r>
                        <a:rPr sz="1500" b="0">
                          <a:solidFill>
                            <a:srgbClr val="1F2937"/>
                          </a:solidFill>
                        </a:rPr>
                        <a:t>Sud-tibbiy ekspertiza byurosida</a:t>
                      </a:r>
                    </a:p>
                  </a:txBody>
                  <a:tcPr marL="73152" marR="73152" marT="36576" marB="36576">
                    <a:solidFill>
                      <a:srgbClr val="E8EEF6"/>
                    </a:solidFill>
                  </a:tcPr>
                </a:tc>
                <a:tc>
                  <a:txBody>
                    <a:bodyPr/>
                    <a:lstStyle/>
                    <a:p>
                      <a:r>
                        <a:rPr sz="1500" b="0">
                          <a:solidFill>
                            <a:srgbClr val="1F2937"/>
                          </a:solidFill>
                        </a:rPr>
                        <a:t>Muassasa rahbari</a:t>
                      </a:r>
                    </a:p>
                  </a:txBody>
                  <a:tcPr marL="73152" marR="73152" marT="36576" marB="36576">
                    <a:solidFill>
                      <a:srgbClr val="E8EEF6"/>
                    </a:solidFill>
                  </a:tcPr>
                </a:tc>
              </a:tr>
              <a:tr h="614476">
                <a:tc>
                  <a:txBody>
                    <a:bodyPr/>
                    <a:lstStyle/>
                    <a:p>
                      <a:r>
                        <a:rPr sz="1500" b="0">
                          <a:solidFill>
                            <a:srgbClr val="1F2937"/>
                          </a:solidFill>
                        </a:rPr>
                        <a:t>Tashqarida</a:t>
                      </a:r>
                    </a:p>
                  </a:txBody>
                  <a:tcPr marL="73152" marR="73152" marT="36576" marB="36576">
                    <a:solidFill>
                      <a:srgbClr val="FFFFFF"/>
                    </a:solidFill>
                  </a:tcPr>
                </a:tc>
                <a:tc>
                  <a:txBody>
                    <a:bodyPr/>
                    <a:lstStyle/>
                    <a:p>
                      <a:r>
                        <a:rPr sz="1500" b="0">
                          <a:solidFill>
                            <a:srgbClr val="1F2937"/>
                          </a:solidFill>
                        </a:rPr>
                        <a:t>Byurodan tashqari joyda</a:t>
                      </a:r>
                    </a:p>
                  </a:txBody>
                  <a:tcPr marL="73152" marR="73152" marT="36576" marB="36576">
                    <a:solidFill>
                      <a:srgbClr val="FFFFFF"/>
                    </a:solidFill>
                  </a:tcPr>
                </a:tc>
                <a:tc>
                  <a:txBody>
                    <a:bodyPr/>
                    <a:lstStyle/>
                    <a:p>
                      <a:r>
                        <a:rPr sz="1500" b="0">
                          <a:solidFill>
                            <a:srgbClr val="1F2937"/>
                          </a:solidFill>
                        </a:rPr>
                        <a:t>Ekspertizani tayinlagan shaxs</a:t>
                      </a:r>
                    </a:p>
                  </a:txBody>
                  <a:tcPr marL="73152" marR="73152" marT="36576" marB="36576">
                    <a:solidFill>
                      <a:srgbClr val="FFFFFF"/>
                    </a:solidFill>
                  </a:tcPr>
                </a:tc>
              </a:tr>
              <a:tr h="614476">
                <a:tc>
                  <a:txBody>
                    <a:bodyPr/>
                    <a:lstStyle/>
                    <a:p>
                      <a:r>
                        <a:rPr sz="1500" b="0">
                          <a:solidFill>
                            <a:srgbClr val="1F2937"/>
                          </a:solidFill>
                        </a:rPr>
                        <a:t>Aralash</a:t>
                      </a:r>
                    </a:p>
                  </a:txBody>
                  <a:tcPr marL="73152" marR="73152" marT="36576" marB="36576">
                    <a:solidFill>
                      <a:srgbClr val="E8EEF6"/>
                    </a:solidFill>
                  </a:tcPr>
                </a:tc>
                <a:tc>
                  <a:txBody>
                    <a:bodyPr/>
                    <a:lstStyle/>
                    <a:p>
                      <a:r>
                        <a:rPr sz="1500" b="0">
                          <a:solidFill>
                            <a:srgbClr val="1F2937"/>
                          </a:solidFill>
                        </a:rPr>
                        <a:t>Bir qismi byuroda, bir qismi tashqarida</a:t>
                      </a:r>
                    </a:p>
                  </a:txBody>
                  <a:tcPr marL="73152" marR="73152" marT="36576" marB="36576">
                    <a:solidFill>
                      <a:srgbClr val="E8EEF6"/>
                    </a:solidFill>
                  </a:tcPr>
                </a:tc>
                <a:tc>
                  <a:txBody>
                    <a:bodyPr/>
                    <a:lstStyle/>
                    <a:p>
                      <a:r>
                        <a:rPr sz="1500" b="0">
                          <a:solidFill>
                            <a:srgbClr val="1F2937"/>
                          </a:solidFill>
                        </a:rPr>
                        <a:t>Aralash variant</a:t>
                      </a:r>
                    </a:p>
                  </a:txBody>
                  <a:tcPr marL="73152" marR="73152" marT="36576" marB="36576">
                    <a:solidFill>
                      <a:srgbClr val="E8EEF6"/>
                    </a:solidFill>
                  </a:tcPr>
                </a:tc>
              </a:tr>
              <a:tr h="614476">
                <a:tc>
                  <a:txBody>
                    <a:bodyPr/>
                    <a:lstStyle/>
                    <a:p>
                      <a:r>
                        <a:rPr sz="1500" b="0">
                          <a:solidFill>
                            <a:srgbClr val="1F2937"/>
                          </a:solidFill>
                        </a:rPr>
                        <a:t>Aralash misol</a:t>
                      </a:r>
                    </a:p>
                  </a:txBody>
                  <a:tcPr marL="73152" marR="73152" marT="36576" marB="36576">
                    <a:solidFill>
                      <a:srgbClr val="FFFFFF"/>
                    </a:solidFill>
                  </a:tcPr>
                </a:tc>
                <a:tc>
                  <a:txBody>
                    <a:bodyPr/>
                    <a:lstStyle/>
                    <a:p>
                      <a:r>
                        <a:rPr sz="1500" b="0">
                          <a:solidFill>
                            <a:srgbClr val="1F2937"/>
                          </a:solidFill>
                        </a:rPr>
                        <a:t>Qabristonda ochish + laboratoriya</a:t>
                      </a:r>
                    </a:p>
                  </a:txBody>
                  <a:tcPr marL="73152" marR="73152" marT="36576" marB="36576">
                    <a:solidFill>
                      <a:srgbClr val="FFFFFF"/>
                    </a:solidFill>
                  </a:tcPr>
                </a:tc>
                <a:tc>
                  <a:txBody>
                    <a:bodyPr/>
                    <a:lstStyle/>
                    <a:p>
                      <a:r>
                        <a:rPr sz="1500" b="0">
                          <a:solidFill>
                            <a:srgbClr val="1F2937"/>
                          </a:solidFill>
                        </a:rPr>
                        <a:t>Eksgumatsiya holati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o‘tkazish variantlari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 15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tergovida ekspertiza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 majlisidagi ekspertiza dastlabki tergovda xulosa bergan yoki sud tayinlagan boshqa ekspertlarga, yoxud ularning birgaligiga topshiriladi.</a:t>
            </a:r>
          </a:p>
          <a:p>
            <a:pPr>
              <a:spcAft>
                <a:spcPts val="1200"/>
              </a:spcAft>
            </a:pPr>
            <a:r>
              <a:rPr sz="2200">
                <a:solidFill>
                  <a:srgbClr val="1F2937"/>
                </a:solidFill>
                <a:latin typeface="Calibri"/>
              </a:rPr>
              <a:t>▸  Taraflar iltimosi yoki sudning o‘z tashabbusi bilan sud ajrim chiqaradi va uni majlisda o‘qib eshittiradi.</a:t>
            </a:r>
          </a:p>
          <a:p>
            <a:pPr>
              <a:spcAft>
                <a:spcPts val="1200"/>
              </a:spcAft>
            </a:pPr>
            <a:r>
              <a:rPr sz="2200">
                <a:solidFill>
                  <a:srgbClr val="1F2937"/>
                </a:solidFill>
                <a:latin typeface="Calibri"/>
              </a:rPr>
              <a:t>▸  Diqqat: dastlabki tergovdan farqli, sud tergovida ekspert majlislarda to‘liq qatnashib, ish tafsilotlarini tekshirishda ishtirok etadi.</a:t>
            </a:r>
          </a:p>
          <a:p>
            <a:pPr>
              <a:spcAft>
                <a:spcPts val="1200"/>
              </a:spcAft>
            </a:pPr>
            <a:r>
              <a:rPr sz="2200">
                <a:solidFill>
                  <a:srgbClr val="1F2937"/>
                </a:solidFill>
                <a:latin typeface="Calibri"/>
              </a:rPr>
              <a:t>▸  Ekspert so‘roq qilinayotganlarga savol beradi, yozma dalillar bilan tanishadi. Yozma xulosasi majlisda o‘qib eshittiriladi va bayonnomaga ilova qilinadi.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15, 15-16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eksperti: huquq va majburiyatlar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Ekspert ish materiallari bilan tanishadi, qo‘shimcha material yoki ob’ekt so‘rab iltimosnoma beradi.</a:t>
            </a:r>
          </a:p>
          <a:p>
            <a:pPr>
              <a:spcAft>
                <a:spcPts val="800"/>
              </a:spcAft>
            </a:pPr>
            <a:r>
              <a:rPr sz="1800">
                <a:solidFill>
                  <a:srgbClr val="1F2937"/>
                </a:solidFill>
                <a:latin typeface="Calibri"/>
              </a:rPr>
              <a:t>▸  Tashabbus huquqi: xulosada so‘ralmagan, lekin ish uchun muhim masalalar bo‘yicha ham fikr bildiradi.</a:t>
            </a:r>
          </a:p>
          <a:p>
            <a:pPr>
              <a:spcAft>
                <a:spcPts val="800"/>
              </a:spcAft>
            </a:pPr>
            <a:r>
              <a:rPr sz="1800">
                <a:solidFill>
                  <a:srgbClr val="1F2937"/>
                </a:solidFill>
                <a:latin typeface="Calibri"/>
              </a:rPr>
              <a:t>▸  Majburiyat: xolis xulosa berish, ma’lumotni oshkor qilmaslik, mustaqil material to‘plamaslik.</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73530"/>
                <a:gridCol w="1934128"/>
                <a:gridCol w="1780316"/>
              </a:tblGrid>
              <a:tr h="614476">
                <a:tc>
                  <a:txBody>
                    <a:bodyPr/>
                    <a:lstStyle/>
                    <a:p>
                      <a:r>
                        <a:rPr sz="1600" b="1">
                          <a:solidFill>
                            <a:srgbClr val="FFFFFF"/>
                          </a:solidFill>
                        </a:rPr>
                        <a:t>Jihat</a:t>
                      </a:r>
                    </a:p>
                  </a:txBody>
                  <a:tcPr marL="73152" marR="73152" marT="36576" marB="36576">
                    <a:solidFill>
                      <a:srgbClr val="0B1F3A"/>
                    </a:solidFill>
                  </a:tcPr>
                </a:tc>
                <a:tc>
                  <a:txBody>
                    <a:bodyPr/>
                    <a:lstStyle/>
                    <a:p>
                      <a:r>
                        <a:rPr sz="1600" b="1">
                          <a:solidFill>
                            <a:srgbClr val="FFFFFF"/>
                          </a:solidFill>
                        </a:rPr>
                        <a:t>Huquq</a:t>
                      </a:r>
                    </a:p>
                  </a:txBody>
                  <a:tcPr marL="73152" marR="73152" marT="36576" marB="36576">
                    <a:solidFill>
                      <a:srgbClr val="0B1F3A"/>
                    </a:solidFill>
                  </a:tcPr>
                </a:tc>
                <a:tc>
                  <a:txBody>
                    <a:bodyPr/>
                    <a:lstStyle/>
                    <a:p>
                      <a:r>
                        <a:rPr sz="1600" b="1">
                          <a:solidFill>
                            <a:srgbClr val="FFFFFF"/>
                          </a:solidFill>
                        </a:rPr>
                        <a:t>Majburiyat</a:t>
                      </a:r>
                    </a:p>
                  </a:txBody>
                  <a:tcPr marL="73152" marR="73152" marT="36576" marB="36576">
                    <a:solidFill>
                      <a:srgbClr val="0B1F3A"/>
                    </a:solidFill>
                  </a:tcPr>
                </a:tc>
              </a:tr>
              <a:tr h="614476">
                <a:tc>
                  <a:txBody>
                    <a:bodyPr/>
                    <a:lstStyle/>
                    <a:p>
                      <a:r>
                        <a:rPr sz="1500" b="0">
                          <a:solidFill>
                            <a:srgbClr val="1F2937"/>
                          </a:solidFill>
                        </a:rPr>
                        <a:t>Materiallar</a:t>
                      </a:r>
                    </a:p>
                  </a:txBody>
                  <a:tcPr marL="73152" marR="73152" marT="36576" marB="36576">
                    <a:solidFill>
                      <a:srgbClr val="E8EEF6"/>
                    </a:solidFill>
                  </a:tcPr>
                </a:tc>
                <a:tc>
                  <a:txBody>
                    <a:bodyPr/>
                    <a:lstStyle/>
                    <a:p>
                      <a:r>
                        <a:rPr sz="1500" b="0">
                          <a:solidFill>
                            <a:srgbClr val="1F2937"/>
                          </a:solidFill>
                        </a:rPr>
                        <a:t>Ish materiallari bilan tanishadi</a:t>
                      </a:r>
                    </a:p>
                  </a:txBody>
                  <a:tcPr marL="73152" marR="73152" marT="36576" marB="36576">
                    <a:solidFill>
                      <a:srgbClr val="E8EEF6"/>
                    </a:solidFill>
                  </a:tcPr>
                </a:tc>
                <a:tc>
                  <a:txBody>
                    <a:bodyPr/>
                    <a:lstStyle/>
                    <a:p>
                      <a:r>
                        <a:rPr sz="1500" b="0">
                          <a:solidFill>
                            <a:srgbClr val="1F2937"/>
                          </a:solidFill>
                        </a:rPr>
                        <a:t>Ob’ektlarni to‘liq tekshiradi</a:t>
                      </a:r>
                    </a:p>
                  </a:txBody>
                  <a:tcPr marL="73152" marR="73152" marT="36576" marB="36576">
                    <a:solidFill>
                      <a:srgbClr val="E8EEF6"/>
                    </a:solidFill>
                  </a:tcPr>
                </a:tc>
              </a:tr>
              <a:tr h="614476">
                <a:tc>
                  <a:txBody>
                    <a:bodyPr/>
                    <a:lstStyle/>
                    <a:p>
                      <a:r>
                        <a:rPr sz="1500" b="0">
                          <a:solidFill>
                            <a:srgbClr val="1F2937"/>
                          </a:solidFill>
                        </a:rPr>
                        <a:t>Iltimos</a:t>
                      </a:r>
                    </a:p>
                  </a:txBody>
                  <a:tcPr marL="73152" marR="73152" marT="36576" marB="36576">
                    <a:solidFill>
                      <a:srgbClr val="FFFFFF"/>
                    </a:solidFill>
                  </a:tcPr>
                </a:tc>
                <a:tc>
                  <a:txBody>
                    <a:bodyPr/>
                    <a:lstStyle/>
                    <a:p>
                      <a:r>
                        <a:rPr sz="1500" b="0">
                          <a:solidFill>
                            <a:srgbClr val="1F2937"/>
                          </a:solidFill>
                        </a:rPr>
                        <a:t>Qo‘shimcha material so‘raydi</a:t>
                      </a:r>
                    </a:p>
                  </a:txBody>
                  <a:tcPr marL="73152" marR="73152" marT="36576" marB="36576">
                    <a:solidFill>
                      <a:srgbClr val="FFFFFF"/>
                    </a:solidFill>
                  </a:tcPr>
                </a:tc>
                <a:tc>
                  <a:txBody>
                    <a:bodyPr/>
                    <a:lstStyle/>
                    <a:p>
                      <a:r>
                        <a:rPr sz="1500" b="0">
                          <a:solidFill>
                            <a:srgbClr val="1F2937"/>
                          </a:solidFill>
                        </a:rPr>
                        <a:t>Mustaqil material to‘plamaydi</a:t>
                      </a:r>
                    </a:p>
                  </a:txBody>
                  <a:tcPr marL="73152" marR="73152" marT="36576" marB="36576">
                    <a:solidFill>
                      <a:srgbClr val="FFFFFF"/>
                    </a:solidFill>
                  </a:tcPr>
                </a:tc>
              </a:tr>
              <a:tr h="614476">
                <a:tc>
                  <a:txBody>
                    <a:bodyPr/>
                    <a:lstStyle/>
                    <a:p>
                      <a:r>
                        <a:rPr sz="1500" b="0">
                          <a:solidFill>
                            <a:srgbClr val="1F2937"/>
                          </a:solidFill>
                        </a:rPr>
                        <a:t>Fikr</a:t>
                      </a:r>
                    </a:p>
                  </a:txBody>
                  <a:tcPr marL="73152" marR="73152" marT="36576" marB="36576">
                    <a:solidFill>
                      <a:srgbClr val="E8EEF6"/>
                    </a:solidFill>
                  </a:tcPr>
                </a:tc>
                <a:tc>
                  <a:txBody>
                    <a:bodyPr/>
                    <a:lstStyle/>
                    <a:p>
                      <a:r>
                        <a:rPr sz="1500" b="0">
                          <a:solidFill>
                            <a:srgbClr val="1F2937"/>
                          </a:solidFill>
                        </a:rPr>
                        <a:t>Boshqa masalada ham fikr bildiradi</a:t>
                      </a:r>
                    </a:p>
                  </a:txBody>
                  <a:tcPr marL="73152" marR="73152" marT="36576" marB="36576">
                    <a:solidFill>
                      <a:srgbClr val="E8EEF6"/>
                    </a:solidFill>
                  </a:tcPr>
                </a:tc>
                <a:tc>
                  <a:txBody>
                    <a:bodyPr/>
                    <a:lstStyle/>
                    <a:p>
                      <a:r>
                        <a:rPr sz="1500" b="0">
                          <a:solidFill>
                            <a:srgbClr val="1F2937"/>
                          </a:solidFill>
                        </a:rPr>
                        <a:t>Xulosani xolis va asosli beradi</a:t>
                      </a:r>
                    </a:p>
                  </a:txBody>
                  <a:tcPr marL="73152" marR="73152" marT="36576" marB="36576">
                    <a:solidFill>
                      <a:srgbClr val="E8EEF6"/>
                    </a:solidFill>
                  </a:tcPr>
                </a:tc>
              </a:tr>
              <a:tr h="614476">
                <a:tc>
                  <a:txBody>
                    <a:bodyPr/>
                    <a:lstStyle/>
                    <a:p>
                      <a:r>
                        <a:rPr sz="1500" b="0">
                          <a:solidFill>
                            <a:srgbClr val="1F2937"/>
                          </a:solidFill>
                        </a:rPr>
                        <a:t>Sir</a:t>
                      </a:r>
                    </a:p>
                  </a:txBody>
                  <a:tcPr marL="73152" marR="73152" marT="36576" marB="36576">
                    <a:solidFill>
                      <a:srgbClr val="FFFFFF"/>
                    </a:solidFill>
                  </a:tcPr>
                </a:tc>
                <a:tc>
                  <a:txBody>
                    <a:bodyPr/>
                    <a:lstStyle/>
                    <a:p>
                      <a:r>
                        <a:rPr sz="1500" b="0">
                          <a:solidFill>
                            <a:srgbClr val="1F2937"/>
                          </a:solidFill>
                        </a:rPr>
                        <a:t>Noto‘g‘ri talqinga bayonot beradi</a:t>
                      </a:r>
                    </a:p>
                  </a:txBody>
                  <a:tcPr marL="73152" marR="73152" marT="36576" marB="36576">
                    <a:solidFill>
                      <a:srgbClr val="FFFFFF"/>
                    </a:solidFill>
                  </a:tcPr>
                </a:tc>
                <a:tc>
                  <a:txBody>
                    <a:bodyPr/>
                    <a:lstStyle/>
                    <a:p>
                      <a:r>
                        <a:rPr sz="1500" b="0">
                          <a:solidFill>
                            <a:srgbClr val="1F2937"/>
                          </a:solidFill>
                        </a:rPr>
                        <a:t>Ma’lumotni oshkor qilmaydi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 huquq va majburiyat</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 17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Mutaxassis va ekspert: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Mutaxassis dalil bo‘lgan tibbiy faktni topish va hujjatlashtirishda tergov va sudga yordam beradi.</a:t>
            </a:r>
          </a:p>
          <a:p>
            <a:pPr>
              <a:spcAft>
                <a:spcPts val="800"/>
              </a:spcAft>
            </a:pPr>
            <a:r>
              <a:rPr sz="1800">
                <a:solidFill>
                  <a:srgbClr val="1F2937"/>
                </a:solidFill>
                <a:latin typeface="Calibri"/>
              </a:rPr>
              <a:t>▸  Diqqat: mutaxassis ≠ ekspert. Mutaxassis mustaqil hujjat tuzmaydi, ekspert esa xulosa beradi.</a:t>
            </a:r>
          </a:p>
          <a:p>
            <a:pPr>
              <a:spcAft>
                <a:spcPts val="800"/>
              </a:spcAft>
            </a:pPr>
            <a:r>
              <a:rPr sz="1800">
                <a:solidFill>
                  <a:srgbClr val="1F2937"/>
                </a:solidFill>
                <a:latin typeface="Calibri"/>
              </a:rPr>
              <a:t>▸  Ayni ishda avval mutaxassis bo‘lgan shaxs keyin ekspert etib tayinlanishi mumkin.</a:t>
            </a:r>
          </a:p>
        </p:txBody>
      </p:sp>
      <p:graphicFrame>
        <p:nvGraphicFramePr>
          <p:cNvPr id="9" name="Table 8"/>
          <p:cNvGraphicFramePr>
            <a:graphicFrameLocks noGrp="1"/>
          </p:cNvGraphicFramePr>
          <p:nvPr/>
        </p:nvGraphicFramePr>
        <p:xfrm>
          <a:off x="6263640" y="1463040"/>
          <a:ext cx="5901690" cy="3072380"/>
        </p:xfrm>
        <a:graphic>
          <a:graphicData uri="http://schemas.openxmlformats.org/drawingml/2006/table">
            <a:tbl>
              <a:tblPr firstRow="1" bandRow="1">
                <a:tableStyleId>{5C22544A-7EE6-4342-B048-85BDC9FD1C3A}</a:tableStyleId>
              </a:tblPr>
              <a:tblGrid>
                <a:gridCol w="1219200"/>
                <a:gridCol w="2518410"/>
                <a:gridCol w="2164080"/>
              </a:tblGrid>
              <a:tr h="614476">
                <a:tc>
                  <a:txBody>
                    <a:bodyPr/>
                    <a:lstStyle/>
                    <a:p>
                      <a:r>
                        <a:rPr sz="1600" b="1">
                          <a:solidFill>
                            <a:srgbClr val="FFFFFF"/>
                          </a:solidFill>
                        </a:rPr>
                        <a:t>Jihat</a:t>
                      </a:r>
                    </a:p>
                  </a:txBody>
                  <a:tcPr marL="73152" marR="73152" marT="36576" marB="36576">
                    <a:solidFill>
                      <a:srgbClr val="0B1F3A"/>
                    </a:solidFill>
                  </a:tcPr>
                </a:tc>
                <a:tc>
                  <a:txBody>
                    <a:bodyPr/>
                    <a:lstStyle/>
                    <a:p>
                      <a:r>
                        <a:rPr sz="1600" b="1">
                          <a:solidFill>
                            <a:srgbClr val="FFFFFF"/>
                          </a:solidFill>
                        </a:rPr>
                        <a:t>Mutaxassis</a:t>
                      </a:r>
                    </a:p>
                  </a:txBody>
                  <a:tcPr marL="73152" marR="73152" marT="36576" marB="36576">
                    <a:solidFill>
                      <a:srgbClr val="0B1F3A"/>
                    </a:solidFill>
                  </a:tcPr>
                </a:tc>
                <a:tc>
                  <a:txBody>
                    <a:bodyPr/>
                    <a:lstStyle/>
                    <a:p>
                      <a:r>
                        <a:rPr sz="1600" b="1">
                          <a:solidFill>
                            <a:srgbClr val="FFFFFF"/>
                          </a:solidFill>
                        </a:rPr>
                        <a:t>Ekspert</a:t>
                      </a:r>
                    </a:p>
                  </a:txBody>
                  <a:tcPr marL="73152" marR="73152" marT="36576" marB="36576">
                    <a:solidFill>
                      <a:srgbClr val="0B1F3A"/>
                    </a:solidFill>
                  </a:tcPr>
                </a:tc>
              </a:tr>
              <a:tr h="614476">
                <a:tc>
                  <a:txBody>
                    <a:bodyPr/>
                    <a:lstStyle/>
                    <a:p>
                      <a:r>
                        <a:rPr sz="1500" b="0">
                          <a:solidFill>
                            <a:srgbClr val="1F2937"/>
                          </a:solidFill>
                        </a:rPr>
                        <a:t>Vazifasi</a:t>
                      </a:r>
                    </a:p>
                  </a:txBody>
                  <a:tcPr marL="73152" marR="73152" marT="36576" marB="36576">
                    <a:solidFill>
                      <a:srgbClr val="E8EEF6"/>
                    </a:solidFill>
                  </a:tcPr>
                </a:tc>
                <a:tc>
                  <a:txBody>
                    <a:bodyPr/>
                    <a:lstStyle/>
                    <a:p>
                      <a:r>
                        <a:rPr sz="1500" b="0">
                          <a:solidFill>
                            <a:srgbClr val="1F2937"/>
                          </a:solidFill>
                        </a:rPr>
                        <a:t>Dalil topish, hujjatlashtirishda yordam</a:t>
                      </a:r>
                    </a:p>
                  </a:txBody>
                  <a:tcPr marL="73152" marR="73152" marT="36576" marB="36576">
                    <a:solidFill>
                      <a:srgbClr val="E8EEF6"/>
                    </a:solidFill>
                  </a:tcPr>
                </a:tc>
                <a:tc>
                  <a:txBody>
                    <a:bodyPr/>
                    <a:lstStyle/>
                    <a:p>
                      <a:r>
                        <a:rPr sz="1500" b="0">
                          <a:solidFill>
                            <a:srgbClr val="1F2937"/>
                          </a:solidFill>
                        </a:rPr>
                        <a:t>Tibbiy faktni aniqlab baholaydi</a:t>
                      </a:r>
                    </a:p>
                  </a:txBody>
                  <a:tcPr marL="73152" marR="73152" marT="36576" marB="36576">
                    <a:solidFill>
                      <a:srgbClr val="E8EEF6"/>
                    </a:solidFill>
                  </a:tcPr>
                </a:tc>
              </a:tr>
              <a:tr h="614476">
                <a:tc>
                  <a:txBody>
                    <a:bodyPr/>
                    <a:lstStyle/>
                    <a:p>
                      <a:r>
                        <a:rPr sz="1500" b="0">
                          <a:solidFill>
                            <a:srgbClr val="1F2937"/>
                          </a:solidFill>
                        </a:rPr>
                        <a:t>Hujjat</a:t>
                      </a:r>
                    </a:p>
                  </a:txBody>
                  <a:tcPr marL="73152" marR="73152" marT="36576" marB="36576">
                    <a:solidFill>
                      <a:srgbClr val="FFFFFF"/>
                    </a:solidFill>
                  </a:tcPr>
                </a:tc>
                <a:tc>
                  <a:txBody>
                    <a:bodyPr/>
                    <a:lstStyle/>
                    <a:p>
                      <a:r>
                        <a:rPr sz="1500" b="0">
                          <a:solidFill>
                            <a:srgbClr val="1F2937"/>
                          </a:solidFill>
                        </a:rPr>
                        <a:t>Mustaqil hujjat tuzmaydi</a:t>
                      </a:r>
                    </a:p>
                  </a:txBody>
                  <a:tcPr marL="73152" marR="73152" marT="36576" marB="36576">
                    <a:solidFill>
                      <a:srgbClr val="FFFFFF"/>
                    </a:solidFill>
                  </a:tcPr>
                </a:tc>
                <a:tc>
                  <a:txBody>
                    <a:bodyPr/>
                    <a:lstStyle/>
                    <a:p>
                      <a:r>
                        <a:rPr sz="1500" b="0">
                          <a:solidFill>
                            <a:srgbClr val="1F2937"/>
                          </a:solidFill>
                        </a:rPr>
                        <a:t>Xulosa shaklida hujjatlashtiradi</a:t>
                      </a:r>
                    </a:p>
                  </a:txBody>
                  <a:tcPr marL="73152" marR="73152" marT="36576" marB="36576">
                    <a:solidFill>
                      <a:srgbClr val="FFFFFF"/>
                    </a:solidFill>
                  </a:tcPr>
                </a:tc>
              </a:tr>
              <a:tr h="614476">
                <a:tc>
                  <a:txBody>
                    <a:bodyPr/>
                    <a:lstStyle/>
                    <a:p>
                      <a:r>
                        <a:rPr sz="1500" b="0">
                          <a:solidFill>
                            <a:srgbClr val="1F2937"/>
                          </a:solidFill>
                        </a:rPr>
                        <a:t>Ishtirok</a:t>
                      </a:r>
                    </a:p>
                  </a:txBody>
                  <a:tcPr marL="73152" marR="73152" marT="36576" marB="36576">
                    <a:solidFill>
                      <a:srgbClr val="E8EEF6"/>
                    </a:solidFill>
                  </a:tcPr>
                </a:tc>
                <a:tc>
                  <a:txBody>
                    <a:bodyPr/>
                    <a:lstStyle/>
                    <a:p>
                      <a:r>
                        <a:rPr sz="1500" b="0">
                          <a:solidFill>
                            <a:srgbClr val="1F2937"/>
                          </a:solidFill>
                        </a:rPr>
                        <a:t>Ko‘zdan kechirish, guvohlantirish</a:t>
                      </a:r>
                    </a:p>
                  </a:txBody>
                  <a:tcPr marL="73152" marR="73152" marT="36576" marB="36576">
                    <a:solidFill>
                      <a:srgbClr val="E8EEF6"/>
                    </a:solidFill>
                  </a:tcPr>
                </a:tc>
                <a:tc>
                  <a:txBody>
                    <a:bodyPr/>
                    <a:lstStyle/>
                    <a:p>
                      <a:r>
                        <a:rPr sz="1500" b="0">
                          <a:solidFill>
                            <a:srgbClr val="1F2937"/>
                          </a:solidFill>
                        </a:rPr>
                        <a:t>Tekshiruv va xulosa berish</a:t>
                      </a:r>
                    </a:p>
                  </a:txBody>
                  <a:tcPr marL="73152" marR="73152" marT="36576" marB="36576">
                    <a:solidFill>
                      <a:srgbClr val="E8EEF6"/>
                    </a:solidFill>
                  </a:tcPr>
                </a:tc>
              </a:tr>
              <a:tr h="614476">
                <a:tc>
                  <a:txBody>
                    <a:bodyPr/>
                    <a:lstStyle/>
                    <a:p>
                      <a:r>
                        <a:rPr sz="1500" b="0">
                          <a:solidFill>
                            <a:srgbClr val="1F2937"/>
                          </a:solidFill>
                        </a:rPr>
                        <a:t>Asos</a:t>
                      </a:r>
                    </a:p>
                  </a:txBody>
                  <a:tcPr marL="73152" marR="73152" marT="36576" marB="36576">
                    <a:solidFill>
                      <a:srgbClr val="FFFFFF"/>
                    </a:solidFill>
                  </a:tcPr>
                </a:tc>
                <a:tc>
                  <a:txBody>
                    <a:bodyPr/>
                    <a:lstStyle/>
                    <a:p>
                      <a:r>
                        <a:rPr sz="1500" b="0">
                          <a:solidFill>
                            <a:srgbClr val="1F2937"/>
                          </a:solidFill>
                        </a:rPr>
                        <a:t>Jinoyat-protsessual kodeksi, 69-modda</a:t>
                      </a:r>
                    </a:p>
                  </a:txBody>
                  <a:tcPr marL="73152" marR="73152" marT="36576" marB="36576">
                    <a:solidFill>
                      <a:srgbClr val="FFFFFF"/>
                    </a:solidFill>
                  </a:tcPr>
                </a:tc>
                <a:tc>
                  <a:txBody>
                    <a:bodyPr/>
                    <a:lstStyle/>
                    <a:p>
                      <a:r>
                        <a:rPr sz="1500" b="0">
                          <a:solidFill>
                            <a:srgbClr val="1F2937"/>
                          </a:solidFill>
                        </a:rPr>
                        <a:t>Sud ekspertizasi to‘g‘risida Qonun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Mutaxassis va ekspert</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 16, 18, 19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Raddiya va jinoiy javobgarlik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Raddiya asosi: manfaatdor tomonlarga qarindoshlik, moddiy, xizmat yoki boshqa bog‘liqlik, shuningdek ixtisos bo‘yicha yetarli malakaning yo‘qligi.</a:t>
            </a:r>
          </a:p>
          <a:p>
            <a:pPr>
              <a:spcAft>
                <a:spcPts val="1200"/>
              </a:spcAft>
            </a:pPr>
            <a:r>
              <a:rPr sz="2200">
                <a:solidFill>
                  <a:srgbClr val="1F2937"/>
                </a:solidFill>
                <a:latin typeface="Calibri"/>
              </a:rPr>
              <a:t>▸  Ekspert o‘z-o‘ziga raddiya berishi yoki manfaatdor tomonlar raddiya e’lon qilishi mumkin. Uni faqat ekspertizani tayinlagan shaxs hal etadi.</a:t>
            </a:r>
          </a:p>
          <a:p>
            <a:pPr>
              <a:spcAft>
                <a:spcPts val="1200"/>
              </a:spcAft>
            </a:pPr>
            <a:r>
              <a:rPr sz="2200">
                <a:solidFill>
                  <a:srgbClr val="1F2937"/>
                </a:solidFill>
                <a:latin typeface="Calibri"/>
              </a:rPr>
              <a:t>▸  Muddat: surishtiruv va dastlabki tergovda raddiya 24 soat ichida hal etiladi; sud majlisida shu majlisning o‘zida, darhol.</a:t>
            </a:r>
          </a:p>
          <a:p>
            <a:pPr>
              <a:spcAft>
                <a:spcPts val="1200"/>
              </a:spcAft>
            </a:pPr>
            <a:r>
              <a:rPr sz="2200">
                <a:solidFill>
                  <a:srgbClr val="1F2937"/>
                </a:solidFill>
                <a:latin typeface="Calibri"/>
              </a:rPr>
              <a:t>▸  Jinoyat kodeksi bo‘yicha javobgarlik: bila turib noto‘g‘ri xulosa (238-modda), ruxsatsiz ma’lumot oshkor qilish (239-modda), xulosa berishni rad etish (240-modda).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 17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ekspert va mutaxassis maqomi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tergovchi tirik shaxsni guvohlantirish uchun davolash muassasasining vrachini mutaxassis sifatida chaqirdi.</a:t>
            </a:r>
          </a:p>
          <a:p>
            <a:pPr>
              <a:spcAft>
                <a:spcPts val="1200"/>
              </a:spcAft>
            </a:pPr>
            <a:r>
              <a:rPr sz="2200">
                <a:solidFill>
                  <a:srgbClr val="1F2937"/>
                </a:solidFill>
                <a:latin typeface="Calibri"/>
              </a:rPr>
              <a:t>▸  Mutaxassis tibbiy faktni topish va hujjatlashtirishda yordam beradi, lekin protsessual harakatda mustaqil hujjat tuzmaydi.</a:t>
            </a:r>
          </a:p>
          <a:p>
            <a:pPr>
              <a:spcAft>
                <a:spcPts val="1200"/>
              </a:spcAft>
            </a:pPr>
            <a:r>
              <a:rPr sz="2200">
                <a:solidFill>
                  <a:srgbClr val="1F2937"/>
                </a:solidFill>
                <a:latin typeface="Calibri"/>
              </a:rPr>
              <a:t>▸  Diqqat: xatoga yo‘l qo‘ymang. Shu ishda ilgari mutaxassis bo‘lgan shaxs keyin ekspert etib tayinlanishi mumkin, bu monelik qilmaydi.</a:t>
            </a:r>
          </a:p>
          <a:p>
            <a:pPr>
              <a:spcAft>
                <a:spcPts val="1200"/>
              </a:spcAft>
            </a:pPr>
            <a:r>
              <a:rPr sz="2200">
                <a:solidFill>
                  <a:srgbClr val="1F2937"/>
                </a:solidFill>
                <a:latin typeface="Calibri"/>
              </a:rPr>
              <a:t>▸  Savol: vrach bemorning qarindoshi bo‘lsa, nima qilinadi? Raddiyani kim hal qiladi va dastlabki tergovda qancha muddatda?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 19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protsessual asoslar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hujjat bo‘lmasa yoki shubha tug‘dirsa, Jinoyat-protsessual kodeksining 173-moddasiga ko‘ra kimning nimasi aniqlanadi?</a:t>
            </a:r>
          </a:p>
          <a:p>
            <a:pPr>
              <a:spcAft>
                <a:spcPts val="1200"/>
              </a:spcAft>
            </a:pPr>
            <a:r>
              <a:rPr sz="2200">
                <a:solidFill>
                  <a:srgbClr val="1F2937"/>
                </a:solidFill>
                <a:latin typeface="Calibri"/>
              </a:rPr>
              <a:t>▸  2-savol: ekspert xulosada faqat o‘ziga berilgan savollarga javob beradimi yoki boshqa muhim masalalarga ham fikr bildira oladimi?</a:t>
            </a:r>
          </a:p>
          <a:p>
            <a:pPr>
              <a:spcAft>
                <a:spcPts val="1200"/>
              </a:spcAft>
            </a:pPr>
            <a:r>
              <a:rPr sz="2200">
                <a:solidFill>
                  <a:srgbClr val="1F2937"/>
                </a:solidFill>
                <a:latin typeface="Calibri"/>
              </a:rPr>
              <a:t>▸  3-savol: dastlabki tergov yoki surishtiruvda berilgan raddiya necha soat ichida hal etiladi va uni kim hal qiladi?</a:t>
            </a:r>
          </a:p>
          <a:p>
            <a:pPr>
              <a:spcAft>
                <a:spcPts val="1200"/>
              </a:spcAft>
            </a:pPr>
            <a:r>
              <a:rPr sz="2200">
                <a:solidFill>
                  <a:srgbClr val="1F2937"/>
                </a:solidFill>
                <a:latin typeface="Calibri"/>
              </a:rPr>
              <a:t>▸  4-savol: sud-tibbiy ekspertiza qaysi hujjatlar asosida o‘tkaziladi?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15, 16, 19, 14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protsessual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Qayta ekspertiza xulosa asoslanmagan yoki shubhali bo‘lsa tayinlanadi; tomonlarning noroziligi o‘zi asos emas.</a:t>
            </a:r>
          </a:p>
          <a:p>
            <a:pPr>
              <a:spcAft>
                <a:spcPts val="800"/>
              </a:spcAft>
            </a:pPr>
            <a:r>
              <a:rPr sz="1800">
                <a:solidFill>
                  <a:srgbClr val="1F2937"/>
                </a:solidFill>
                <a:latin typeface="Calibri"/>
              </a:rPr>
              <a:t>▸  Dastlabki ekspertizani o‘tkazgan ekspertga qayta ekspertizani bajarishni topshirish man etiladi.</a:t>
            </a:r>
          </a:p>
          <a:p>
            <a:pPr>
              <a:spcAft>
                <a:spcPts val="800"/>
              </a:spcAft>
            </a:pPr>
            <a:r>
              <a:rPr sz="1800">
                <a:solidFill>
                  <a:srgbClr val="1F2937"/>
                </a:solidFill>
                <a:latin typeface="Calibri"/>
              </a:rPr>
              <a:t>▸  Diqqat: qayta, komissiyaviy, kompleks ekspertiza faqat byuroning qayta, komission bo‘limida o‘tkaziladi.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691639"/>
                <a:gridCol w="2002115"/>
                <a:gridCol w="1594220"/>
              </a:tblGrid>
              <a:tr h="614476">
                <a:tc>
                  <a:txBody>
                    <a:bodyPr/>
                    <a:lstStyle/>
                    <a:p>
                      <a:r>
                        <a:rPr sz="1600" b="1">
                          <a:solidFill>
                            <a:srgbClr val="FFFFFF"/>
                          </a:solidFill>
                        </a:rPr>
                        <a:t>Tur</a:t>
                      </a:r>
                    </a:p>
                  </a:txBody>
                  <a:tcPr marL="73152" marR="73152" marT="36576" marB="36576">
                    <a:solidFill>
                      <a:srgbClr val="0B1F3A"/>
                    </a:solidFill>
                  </a:tcPr>
                </a:tc>
                <a:tc>
                  <a:txBody>
                    <a:bodyPr/>
                    <a:lstStyle/>
                    <a:p>
                      <a:r>
                        <a:rPr sz="1600" b="1">
                          <a:solidFill>
                            <a:srgbClr val="FFFFFF"/>
                          </a:solidFill>
                        </a:rPr>
                        <a:t>Mohiyati</a:t>
                      </a:r>
                    </a:p>
                  </a:txBody>
                  <a:tcPr marL="73152" marR="73152" marT="36576" marB="36576">
                    <a:solidFill>
                      <a:srgbClr val="0B1F3A"/>
                    </a:solidFill>
                  </a:tcPr>
                </a:tc>
                <a:tc>
                  <a:txBody>
                    <a:bodyPr/>
                    <a:lstStyle/>
                    <a:p>
                      <a:r>
                        <a:rPr sz="1600" b="1">
                          <a:solidFill>
                            <a:srgbClr val="FFFFFF"/>
                          </a:solidFill>
                        </a:rPr>
                        <a:t>Kim o‘tkazadi</a:t>
                      </a:r>
                    </a:p>
                  </a:txBody>
                  <a:tcPr marL="73152" marR="73152" marT="36576" marB="36576">
                    <a:solidFill>
                      <a:srgbClr val="0B1F3A"/>
                    </a:solidFill>
                  </a:tcPr>
                </a:tc>
              </a:tr>
              <a:tr h="614476">
                <a:tc>
                  <a:txBody>
                    <a:bodyPr/>
                    <a:lstStyle/>
                    <a:p>
                      <a:r>
                        <a:rPr sz="1500" b="0">
                          <a:solidFill>
                            <a:srgbClr val="1F2937"/>
                          </a:solidFill>
                        </a:rPr>
                        <a:t>Birlamchi</a:t>
                      </a:r>
                    </a:p>
                  </a:txBody>
                  <a:tcPr marL="73152" marR="73152" marT="36576" marB="36576">
                    <a:solidFill>
                      <a:srgbClr val="E8EEF6"/>
                    </a:solidFill>
                  </a:tcPr>
                </a:tc>
                <a:tc>
                  <a:txBody>
                    <a:bodyPr/>
                    <a:lstStyle/>
                    <a:p>
                      <a:r>
                        <a:rPr sz="1500" b="0">
                          <a:solidFill>
                            <a:srgbClr val="1F2937"/>
                          </a:solidFill>
                        </a:rPr>
                        <a:t>Murda, tirik shaxs, ashyoviy dalil bo‘yicha</a:t>
                      </a:r>
                    </a:p>
                  </a:txBody>
                  <a:tcPr marL="73152" marR="73152" marT="36576" marB="36576">
                    <a:solidFill>
                      <a:srgbClr val="E8EEF6"/>
                    </a:solidFill>
                  </a:tcPr>
                </a:tc>
                <a:tc>
                  <a:txBody>
                    <a:bodyPr/>
                    <a:lstStyle/>
                    <a:p>
                      <a:r>
                        <a:rPr sz="1500" b="0">
                          <a:solidFill>
                            <a:srgbClr val="1F2937"/>
                          </a:solidFill>
                        </a:rPr>
                        <a:t>Odatda bir ekspert</a:t>
                      </a:r>
                    </a:p>
                  </a:txBody>
                  <a:tcPr marL="73152" marR="73152" marT="36576" marB="36576">
                    <a:solidFill>
                      <a:srgbClr val="E8EEF6"/>
                    </a:solidFill>
                  </a:tcPr>
                </a:tc>
              </a:tr>
              <a:tr h="614476">
                <a:tc>
                  <a:txBody>
                    <a:bodyPr/>
                    <a:lstStyle/>
                    <a:p>
                      <a:r>
                        <a:rPr sz="1500" b="0">
                          <a:solidFill>
                            <a:srgbClr val="1F2937"/>
                          </a:solidFill>
                        </a:rPr>
                        <a:t>Komissiyaviy</a:t>
                      </a:r>
                    </a:p>
                  </a:txBody>
                  <a:tcPr marL="73152" marR="73152" marT="36576" marB="36576">
                    <a:solidFill>
                      <a:srgbClr val="FFFFFF"/>
                    </a:solidFill>
                  </a:tcPr>
                </a:tc>
                <a:tc>
                  <a:txBody>
                    <a:bodyPr/>
                    <a:lstStyle/>
                    <a:p>
                      <a:r>
                        <a:rPr sz="1500" b="0">
                          <a:solidFill>
                            <a:srgbClr val="1F2937"/>
                          </a:solidFill>
                        </a:rPr>
                        <a:t>Murakkab holatlar, kasb huquqbuzarligi ishlari</a:t>
                      </a:r>
                    </a:p>
                  </a:txBody>
                  <a:tcPr marL="73152" marR="73152" marT="36576" marB="36576">
                    <a:solidFill>
                      <a:srgbClr val="FFFFFF"/>
                    </a:solidFill>
                  </a:tcPr>
                </a:tc>
                <a:tc>
                  <a:txBody>
                    <a:bodyPr/>
                    <a:lstStyle/>
                    <a:p>
                      <a:r>
                        <a:rPr sz="1500" b="0">
                          <a:solidFill>
                            <a:srgbClr val="1F2937"/>
                          </a:solidFill>
                        </a:rPr>
                        <a:t>Ekspertlar komissiyasi</a:t>
                      </a:r>
                    </a:p>
                  </a:txBody>
                  <a:tcPr marL="73152" marR="73152" marT="36576" marB="36576">
                    <a:solidFill>
                      <a:srgbClr val="FFFFFF"/>
                    </a:solidFill>
                  </a:tcPr>
                </a:tc>
              </a:tr>
              <a:tr h="614476">
                <a:tc>
                  <a:txBody>
                    <a:bodyPr/>
                    <a:lstStyle/>
                    <a:p>
                      <a:r>
                        <a:rPr sz="1500" b="0">
                          <a:solidFill>
                            <a:srgbClr val="1F2937"/>
                          </a:solidFill>
                        </a:rPr>
                        <a:t>Kompleks</a:t>
                      </a:r>
                    </a:p>
                  </a:txBody>
                  <a:tcPr marL="73152" marR="73152" marT="36576" marB="36576">
                    <a:solidFill>
                      <a:srgbClr val="E8EEF6"/>
                    </a:solidFill>
                  </a:tcPr>
                </a:tc>
                <a:tc>
                  <a:txBody>
                    <a:bodyPr/>
                    <a:lstStyle/>
                    <a:p>
                      <a:r>
                        <a:rPr sz="1500" b="0">
                          <a:solidFill>
                            <a:srgbClr val="1F2937"/>
                          </a:solidFill>
                        </a:rPr>
                        <a:t>Tibbiyotdan tashqari fanlar ham kerak</a:t>
                      </a:r>
                    </a:p>
                  </a:txBody>
                  <a:tcPr marL="73152" marR="73152" marT="36576" marB="36576">
                    <a:solidFill>
                      <a:srgbClr val="E8EEF6"/>
                    </a:solidFill>
                  </a:tcPr>
                </a:tc>
                <a:tc>
                  <a:txBody>
                    <a:bodyPr/>
                    <a:lstStyle/>
                    <a:p>
                      <a:r>
                        <a:rPr sz="1500" b="0">
                          <a:solidFill>
                            <a:srgbClr val="1F2937"/>
                          </a:solidFill>
                        </a:rPr>
                        <a:t>Har ekspert o‘z vakolatida</a:t>
                      </a:r>
                    </a:p>
                  </a:txBody>
                  <a:tcPr marL="73152" marR="73152" marT="36576" marB="36576">
                    <a:solidFill>
                      <a:srgbClr val="E8EEF6"/>
                    </a:solidFill>
                  </a:tcPr>
                </a:tc>
              </a:tr>
              <a:tr h="614476">
                <a:tc>
                  <a:txBody>
                    <a:bodyPr/>
                    <a:lstStyle/>
                    <a:p>
                      <a:r>
                        <a:rPr sz="1500" b="0">
                          <a:solidFill>
                            <a:srgbClr val="1F2937"/>
                          </a:solidFill>
                        </a:rPr>
                        <a:t>Qo‘shimcha / Qayta</a:t>
                      </a:r>
                    </a:p>
                  </a:txBody>
                  <a:tcPr marL="73152" marR="73152" marT="36576" marB="36576">
                    <a:solidFill>
                      <a:srgbClr val="FFFFFF"/>
                    </a:solidFill>
                  </a:tcPr>
                </a:tc>
                <a:tc>
                  <a:txBody>
                    <a:bodyPr/>
                    <a:lstStyle/>
                    <a:p>
                      <a:r>
                        <a:rPr sz="1500" b="0">
                          <a:solidFill>
                            <a:srgbClr val="1F2937"/>
                          </a:solidFill>
                        </a:rPr>
                        <a:t>Kamchilikni to‘ldirish / takroran tekshirish</a:t>
                      </a:r>
                    </a:p>
                  </a:txBody>
                  <a:tcPr marL="73152" marR="73152" marT="36576" marB="36576">
                    <a:solidFill>
                      <a:srgbClr val="FFFFFF"/>
                    </a:solidFill>
                  </a:tcPr>
                </a:tc>
                <a:tc>
                  <a:txBody>
                    <a:bodyPr/>
                    <a:lstStyle/>
                    <a:p>
                      <a:r>
                        <a:rPr sz="1500" b="0">
                          <a:solidFill>
                            <a:srgbClr val="1F2937"/>
                          </a:solidFill>
                        </a:rPr>
                        <a:t>Avvalgi ekspert / 2+ ekspert</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20, 21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Diqqat: qo‘shimcha ≠ qayta ekspertiza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Diqqat: qo‘shimcha ekspertiza qayta ekspertiza emas. Ularning maqsadi, tayinlanish sababi va ijrochisi farq qiladi.</a:t>
            </a:r>
          </a:p>
          <a:p>
            <a:pPr>
              <a:spcAft>
                <a:spcPts val="800"/>
              </a:spcAft>
            </a:pPr>
            <a:r>
              <a:rPr sz="1800">
                <a:solidFill>
                  <a:srgbClr val="1F2937"/>
                </a:solidFill>
                <a:latin typeface="Calibri"/>
              </a:rPr>
              <a:t>▸  Tomonlarning oldingi xulosadan noroziligi o‘z-o‘zidan qayta ekspertiza tayinlashga asos bo‘la olmaydi.</a:t>
            </a:r>
          </a:p>
          <a:p>
            <a:pPr>
              <a:spcAft>
                <a:spcPts val="800"/>
              </a:spcAft>
            </a:pPr>
            <a:r>
              <a:rPr sz="1800">
                <a:solidFill>
                  <a:srgbClr val="1F2937"/>
                </a:solidFill>
                <a:latin typeface="Calibri"/>
              </a:rPr>
              <a:t>▸  Qayta ekspertiza qarorida oldingi xulosaga qo‘shilmaslik sabablari ko‘rsatilishi kerak.</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219200"/>
                <a:gridCol w="1872362"/>
                <a:gridCol w="2196412"/>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Qo‘shimcha</a:t>
                      </a:r>
                    </a:p>
                  </a:txBody>
                  <a:tcPr marL="73152" marR="73152" marT="36576" marB="36576">
                    <a:solidFill>
                      <a:srgbClr val="0B1F3A"/>
                    </a:solidFill>
                  </a:tcPr>
                </a:tc>
                <a:tc>
                  <a:txBody>
                    <a:bodyPr/>
                    <a:lstStyle/>
                    <a:p>
                      <a:r>
                        <a:rPr sz="1600" b="1">
                          <a:solidFill>
                            <a:srgbClr val="FFFFFF"/>
                          </a:solidFill>
                        </a:rPr>
                        <a:t>Qayta</a:t>
                      </a:r>
                    </a:p>
                  </a:txBody>
                  <a:tcPr marL="73152" marR="73152" marT="36576" marB="36576">
                    <a:solidFill>
                      <a:srgbClr val="0B1F3A"/>
                    </a:solidFill>
                  </a:tcPr>
                </a:tc>
              </a:tr>
              <a:tr h="614476">
                <a:tc>
                  <a:txBody>
                    <a:bodyPr/>
                    <a:lstStyle/>
                    <a:p>
                      <a:r>
                        <a:rPr sz="1500" b="0">
                          <a:solidFill>
                            <a:srgbClr val="1F2937"/>
                          </a:solidFill>
                        </a:rPr>
                        <a:t>Maqsad</a:t>
                      </a:r>
                    </a:p>
                  </a:txBody>
                  <a:tcPr marL="73152" marR="73152" marT="36576" marB="36576">
                    <a:solidFill>
                      <a:srgbClr val="E8EEF6"/>
                    </a:solidFill>
                  </a:tcPr>
                </a:tc>
                <a:tc>
                  <a:txBody>
                    <a:bodyPr/>
                    <a:lstStyle/>
                    <a:p>
                      <a:r>
                        <a:rPr sz="1500" b="0">
                          <a:solidFill>
                            <a:srgbClr val="1F2937"/>
                          </a:solidFill>
                        </a:rPr>
                        <a:t>Kamchilik, bo‘shliqni to‘ldirish</a:t>
                      </a:r>
                    </a:p>
                  </a:txBody>
                  <a:tcPr marL="73152" marR="73152" marT="36576" marB="36576">
                    <a:solidFill>
                      <a:srgbClr val="E8EEF6"/>
                    </a:solidFill>
                  </a:tcPr>
                </a:tc>
                <a:tc>
                  <a:txBody>
                    <a:bodyPr/>
                    <a:lstStyle/>
                    <a:p>
                      <a:r>
                        <a:rPr sz="1500" b="0">
                          <a:solidFill>
                            <a:srgbClr val="1F2937"/>
                          </a:solidFill>
                        </a:rPr>
                        <a:t>Shubhali xulosani takroran tekshirish</a:t>
                      </a:r>
                    </a:p>
                  </a:txBody>
                  <a:tcPr marL="73152" marR="73152" marT="36576" marB="36576">
                    <a:solidFill>
                      <a:srgbClr val="E8EEF6"/>
                    </a:solidFill>
                  </a:tcPr>
                </a:tc>
              </a:tr>
              <a:tr h="614476">
                <a:tc>
                  <a:txBody>
                    <a:bodyPr/>
                    <a:lstStyle/>
                    <a:p>
                      <a:r>
                        <a:rPr sz="1500" b="0">
                          <a:solidFill>
                            <a:srgbClr val="1F2937"/>
                          </a:solidFill>
                        </a:rPr>
                        <a:t>Sababi</a:t>
                      </a:r>
                    </a:p>
                  </a:txBody>
                  <a:tcPr marL="73152" marR="73152" marT="36576" marB="36576">
                    <a:solidFill>
                      <a:srgbClr val="FFFFFF"/>
                    </a:solidFill>
                  </a:tcPr>
                </a:tc>
                <a:tc>
                  <a:txBody>
                    <a:bodyPr/>
                    <a:lstStyle/>
                    <a:p>
                      <a:r>
                        <a:rPr sz="1500" b="0">
                          <a:solidFill>
                            <a:srgbClr val="1F2937"/>
                          </a:solidFill>
                        </a:rPr>
                        <a:t>Keyin aniqlangan yangi tafsilot</a:t>
                      </a:r>
                    </a:p>
                  </a:txBody>
                  <a:tcPr marL="73152" marR="73152" marT="36576" marB="36576">
                    <a:solidFill>
                      <a:srgbClr val="FFFFFF"/>
                    </a:solidFill>
                  </a:tcPr>
                </a:tc>
                <a:tc>
                  <a:txBody>
                    <a:bodyPr/>
                    <a:lstStyle/>
                    <a:p>
                      <a:r>
                        <a:rPr sz="1500" b="0">
                          <a:solidFill>
                            <a:srgbClr val="1F2937"/>
                          </a:solidFill>
                        </a:rPr>
                        <a:t>Asossiz xulosa, ishonchsiz dalil, buzilish</a:t>
                      </a:r>
                    </a:p>
                  </a:txBody>
                  <a:tcPr marL="73152" marR="73152" marT="36576" marB="36576">
                    <a:solidFill>
                      <a:srgbClr val="FFFFFF"/>
                    </a:solidFill>
                  </a:tcPr>
                </a:tc>
              </a:tr>
              <a:tr h="614476">
                <a:tc>
                  <a:txBody>
                    <a:bodyPr/>
                    <a:lstStyle/>
                    <a:p>
                      <a:r>
                        <a:rPr sz="1500" b="0">
                          <a:solidFill>
                            <a:srgbClr val="1F2937"/>
                          </a:solidFill>
                        </a:rPr>
                        <a:t>Ijrochi</a:t>
                      </a:r>
                    </a:p>
                  </a:txBody>
                  <a:tcPr marL="73152" marR="73152" marT="36576" marB="36576">
                    <a:solidFill>
                      <a:srgbClr val="E8EEF6"/>
                    </a:solidFill>
                  </a:tcPr>
                </a:tc>
                <a:tc>
                  <a:txBody>
                    <a:bodyPr/>
                    <a:lstStyle/>
                    <a:p>
                      <a:r>
                        <a:rPr sz="1500" b="0">
                          <a:solidFill>
                            <a:srgbClr val="1F2937"/>
                          </a:solidFill>
                        </a:rPr>
                        <a:t>Odatda oldingi ekspert(lar)</a:t>
                      </a:r>
                    </a:p>
                  </a:txBody>
                  <a:tcPr marL="73152" marR="73152" marT="36576" marB="36576">
                    <a:solidFill>
                      <a:srgbClr val="E8EEF6"/>
                    </a:solidFill>
                  </a:tcPr>
                </a:tc>
                <a:tc>
                  <a:txBody>
                    <a:bodyPr/>
                    <a:lstStyle/>
                    <a:p>
                      <a:r>
                        <a:rPr sz="1500" b="0">
                          <a:solidFill>
                            <a:srgbClr val="1F2937"/>
                          </a:solidFill>
                        </a:rPr>
                        <a:t>Oldingi ekspert emas; ikki va undan ko‘p</a:t>
                      </a:r>
                    </a:p>
                  </a:txBody>
                  <a:tcPr marL="73152" marR="73152" marT="36576" marB="36576">
                    <a:solidFill>
                      <a:srgbClr val="E8EEF6"/>
                    </a:solidFill>
                  </a:tcPr>
                </a:tc>
              </a:tr>
              <a:tr h="614476">
                <a:tc>
                  <a:txBody>
                    <a:bodyPr/>
                    <a:lstStyle/>
                    <a:p>
                      <a:r>
                        <a:rPr sz="1500" b="0">
                          <a:solidFill>
                            <a:srgbClr val="1F2937"/>
                          </a:solidFill>
                        </a:rPr>
                        <a:t>Savollar</a:t>
                      </a:r>
                    </a:p>
                  </a:txBody>
                  <a:tcPr marL="73152" marR="73152" marT="36576" marB="36576">
                    <a:solidFill>
                      <a:srgbClr val="FFFFFF"/>
                    </a:solidFill>
                  </a:tcPr>
                </a:tc>
                <a:tc>
                  <a:txBody>
                    <a:bodyPr/>
                    <a:lstStyle/>
                    <a:p>
                      <a:r>
                        <a:rPr sz="1500" b="0">
                          <a:solidFill>
                            <a:srgbClr val="1F2937"/>
                          </a:solidFill>
                        </a:rPr>
                        <a:t>Yangi aniqlangan masala</a:t>
                      </a:r>
                    </a:p>
                  </a:txBody>
                  <a:tcPr marL="73152" marR="73152" marT="36576" marB="36576">
                    <a:solidFill>
                      <a:srgbClr val="FFFFFF"/>
                    </a:solidFill>
                  </a:tcPr>
                </a:tc>
                <a:tc>
                  <a:txBody>
                    <a:bodyPr/>
                    <a:lstStyle/>
                    <a:p>
                      <a:r>
                        <a:rPr sz="1500" b="0">
                          <a:solidFill>
                            <a:srgbClr val="1F2937"/>
                          </a:solidFill>
                        </a:rPr>
                        <a:t>Oldingi savollar takroran qo‘yiladi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Qo‘shimcha va qayta ekspertiza</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 xulosasi va boshqa hujjatlar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Dalolatnomada javobgarlik haqida tilxat olinmaydi, uning yakuniy qismi “xotima” deb ataladi.</a:t>
            </a:r>
          </a:p>
          <a:p>
            <a:pPr>
              <a:spcAft>
                <a:spcPts val="800"/>
              </a:spcAft>
            </a:pPr>
            <a:r>
              <a:rPr sz="1800">
                <a:solidFill>
                  <a:srgbClr val="1F2937"/>
                </a:solidFill>
                <a:latin typeface="Calibri"/>
              </a:rPr>
              <a:t>▸  Ekspert xulosasi oldindan muqarrar daliliy kuchga ega emas, u boshqa dalillar qatorida baholanadi.</a:t>
            </a:r>
          </a:p>
          <a:p>
            <a:pPr>
              <a:spcAft>
                <a:spcPts val="800"/>
              </a:spcAft>
            </a:pPr>
            <a:r>
              <a:rPr sz="1800">
                <a:solidFill>
                  <a:srgbClr val="1F2937"/>
                </a:solidFill>
                <a:latin typeface="Calibri"/>
              </a:rPr>
              <a:t>▸  Tergovchi yoki sud xulosaga qo‘shilmasa, buni qaror yoki ajrimda asoslab berishi lozim.</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Kirish: sana, asos, savollar</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Tadqiqot: usul va natijalar</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To‘xtam: savollarga javob</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Tergov va sud baholaydi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 xulosasi tuzilishi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O‘zbekistonda xizmat tuzilmasi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Tizim: Bosh byuro, 13 hududiy byuro va ularning tuman, tumanlararo hamda shahar bo‘linmalari.</a:t>
            </a:r>
          </a:p>
          <a:p>
            <a:pPr>
              <a:spcAft>
                <a:spcPts val="800"/>
              </a:spcAft>
            </a:pPr>
            <a:r>
              <a:rPr sz="1800">
                <a:solidFill>
                  <a:srgbClr val="1F2937"/>
                </a:solidFill>
                <a:latin typeface="Calibri"/>
              </a:rPr>
              <a:t>▸  Hududiy byuro ma’muriy-moliyaviy masalada sog‘liqni saqlash idorasiga, ekspertizada Bosh byuroga bo‘ysunadi.</a:t>
            </a:r>
          </a:p>
          <a:p>
            <a:pPr>
              <a:spcAft>
                <a:spcPts val="800"/>
              </a:spcAft>
            </a:pPr>
            <a:r>
              <a:rPr sz="1800">
                <a:solidFill>
                  <a:srgbClr val="1F2937"/>
                </a:solidFill>
                <a:latin typeface="Calibri"/>
              </a:rPr>
              <a:t>▸  Tibbiy kriminalistika bo‘limi jarohat mexanizmi, qurol va shaxs identifikatsiyasini tekshiradi.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2282190"/>
                <a:gridCol w="3005785"/>
              </a:tblGrid>
              <a:tr h="614476">
                <a:tc>
                  <a:txBody>
                    <a:bodyPr/>
                    <a:lstStyle/>
                    <a:p>
                      <a:r>
                        <a:rPr sz="1800" b="1">
                          <a:solidFill>
                            <a:srgbClr val="FFFFFF"/>
                          </a:solidFill>
                        </a:rPr>
                        <a:t>Bo‘lim</a:t>
                      </a:r>
                    </a:p>
                  </a:txBody>
                  <a:tcPr marL="73152" marR="73152" marT="36576" marB="36576">
                    <a:solidFill>
                      <a:srgbClr val="0B1F3A"/>
                    </a:solidFill>
                  </a:tcPr>
                </a:tc>
                <a:tc>
                  <a:txBody>
                    <a:bodyPr/>
                    <a:lstStyle/>
                    <a:p>
                      <a:r>
                        <a:rPr sz="1800" b="1">
                          <a:solidFill>
                            <a:srgbClr val="FFFFFF"/>
                          </a:solidFill>
                        </a:rPr>
                        <a:t>Vazifasi</a:t>
                      </a:r>
                    </a:p>
                  </a:txBody>
                  <a:tcPr marL="73152" marR="73152" marT="36576" marB="36576">
                    <a:solidFill>
                      <a:srgbClr val="0B1F3A"/>
                    </a:solidFill>
                  </a:tcPr>
                </a:tc>
              </a:tr>
              <a:tr h="614476">
                <a:tc>
                  <a:txBody>
                    <a:bodyPr/>
                    <a:lstStyle/>
                    <a:p>
                      <a:r>
                        <a:rPr sz="1700" b="0">
                          <a:solidFill>
                            <a:srgbClr val="1F2937"/>
                          </a:solidFill>
                        </a:rPr>
                        <a:t>Morfologik (+ sud-gistologik)</a:t>
                      </a:r>
                    </a:p>
                  </a:txBody>
                  <a:tcPr marL="73152" marR="73152" marT="36576" marB="36576">
                    <a:solidFill>
                      <a:srgbClr val="E8EEF6"/>
                    </a:solidFill>
                  </a:tcPr>
                </a:tc>
                <a:tc>
                  <a:txBody>
                    <a:bodyPr/>
                    <a:lstStyle/>
                    <a:p>
                      <a:r>
                        <a:rPr sz="1700" b="0">
                          <a:solidFill>
                            <a:srgbClr val="1F2937"/>
                          </a:solidFill>
                        </a:rPr>
                        <a:t>Murda ekspertizasi, mikroskopik tekshiruv</a:t>
                      </a:r>
                    </a:p>
                  </a:txBody>
                  <a:tcPr marL="73152" marR="73152" marT="36576" marB="36576">
                    <a:solidFill>
                      <a:srgbClr val="E8EEF6"/>
                    </a:solidFill>
                  </a:tcPr>
                </a:tc>
              </a:tr>
              <a:tr h="614476">
                <a:tc>
                  <a:txBody>
                    <a:bodyPr/>
                    <a:lstStyle/>
                    <a:p>
                      <a:r>
                        <a:rPr sz="1700" b="0">
                          <a:solidFill>
                            <a:srgbClr val="1F2937"/>
                          </a:solidFill>
                        </a:rPr>
                        <a:t>Sud-tibbiy ambulatoriya</a:t>
                      </a:r>
                    </a:p>
                  </a:txBody>
                  <a:tcPr marL="73152" marR="73152" marT="36576" marB="36576">
                    <a:solidFill>
                      <a:srgbClr val="FFFFFF"/>
                    </a:solidFill>
                  </a:tcPr>
                </a:tc>
                <a:tc>
                  <a:txBody>
                    <a:bodyPr/>
                    <a:lstStyle/>
                    <a:p>
                      <a:r>
                        <a:rPr sz="1700" b="0">
                          <a:solidFill>
                            <a:srgbClr val="1F2937"/>
                          </a:solidFill>
                        </a:rPr>
                        <a:t>Tirik shaxslar ekspertizasi</a:t>
                      </a:r>
                    </a:p>
                  </a:txBody>
                  <a:tcPr marL="73152" marR="73152" marT="36576" marB="36576">
                    <a:solidFill>
                      <a:srgbClr val="FFFFFF"/>
                    </a:solidFill>
                  </a:tcPr>
                </a:tc>
              </a:tr>
              <a:tr h="614476">
                <a:tc>
                  <a:txBody>
                    <a:bodyPr/>
                    <a:lstStyle/>
                    <a:p>
                      <a:r>
                        <a:rPr sz="1700" b="0">
                          <a:solidFill>
                            <a:srgbClr val="1F2937"/>
                          </a:solidFill>
                        </a:rPr>
                        <a:t>Sud-kimyo / sud-biologik</a:t>
                      </a:r>
                    </a:p>
                  </a:txBody>
                  <a:tcPr marL="73152" marR="73152" marT="36576" marB="36576">
                    <a:solidFill>
                      <a:srgbClr val="E8EEF6"/>
                    </a:solidFill>
                  </a:tcPr>
                </a:tc>
                <a:tc>
                  <a:txBody>
                    <a:bodyPr/>
                    <a:lstStyle/>
                    <a:p>
                      <a:r>
                        <a:rPr sz="1700" b="0">
                          <a:solidFill>
                            <a:srgbClr val="1F2937"/>
                          </a:solidFill>
                        </a:rPr>
                        <a:t>Toksikologiya; qon, soch, dog‘lar</a:t>
                      </a:r>
                    </a:p>
                  </a:txBody>
                  <a:tcPr marL="73152" marR="73152" marT="36576" marB="36576">
                    <a:solidFill>
                      <a:srgbClr val="E8EEF6"/>
                    </a:solidFill>
                  </a:tcPr>
                </a:tc>
              </a:tr>
              <a:tr h="614476">
                <a:tc>
                  <a:txBody>
                    <a:bodyPr/>
                    <a:lstStyle/>
                    <a:p>
                      <a:r>
                        <a:rPr sz="1700" b="0">
                          <a:solidFill>
                            <a:srgbClr val="1F2937"/>
                          </a:solidFill>
                        </a:rPr>
                        <a:t>Qayta va komission</a:t>
                      </a:r>
                    </a:p>
                  </a:txBody>
                  <a:tcPr marL="73152" marR="73152" marT="36576" marB="36576">
                    <a:solidFill>
                      <a:srgbClr val="FFFFFF"/>
                    </a:solidFill>
                  </a:tcPr>
                </a:tc>
                <a:tc>
                  <a:txBody>
                    <a:bodyPr/>
                    <a:lstStyle/>
                    <a:p>
                      <a:r>
                        <a:rPr sz="1700" b="0">
                          <a:solidFill>
                            <a:srgbClr val="1F2937"/>
                          </a:solidFill>
                        </a:rPr>
                        <a:t>Takroriy, komission, kompleks ekspertiza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Byuro bo‘limlari va vazifalari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22, 23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ekspertiza turini tanlash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1: murakkab yo‘l-transport hodisasida bola shikastlangan. Jarohatni tibbiy bilim, hodisa holatini esa avtotexnik bilim aniqlaydi.</a:t>
            </a:r>
          </a:p>
          <a:p>
            <a:pPr>
              <a:spcAft>
                <a:spcPts val="1200"/>
              </a:spcAft>
            </a:pPr>
            <a:r>
              <a:rPr sz="2200">
                <a:solidFill>
                  <a:srgbClr val="1F2937"/>
                </a:solidFill>
                <a:latin typeface="Calibri"/>
              </a:rPr>
              <a:t>▸  Savol 1: qaysi ekspertiza tayinlanadi? Tibbiyotdan tashqari fan ham kerak bo‘lsa, kompleks ekspertiza o‘tadi va har ekspert o‘z qismiga javob beradi.</a:t>
            </a:r>
          </a:p>
          <a:p>
            <a:pPr>
              <a:spcAft>
                <a:spcPts val="1200"/>
              </a:spcAft>
            </a:pPr>
            <a:r>
              <a:rPr sz="2200">
                <a:solidFill>
                  <a:srgbClr val="1F2937"/>
                </a:solidFill>
                <a:latin typeface="Calibri"/>
              </a:rPr>
              <a:t>▸  Vaziyat 2: oldingi ekspert xulosasi asoslanmagan yoki to‘g‘riligiga shubha bor. Savol 2: qaysi ekspertiza tayinlanadi va uni kim o‘tkazmaydi?</a:t>
            </a:r>
          </a:p>
          <a:p>
            <a:pPr>
              <a:spcAft>
                <a:spcPts val="1200"/>
              </a:spcAft>
            </a:pPr>
            <a:r>
              <a:rPr sz="2200">
                <a:solidFill>
                  <a:srgbClr val="1F2937"/>
                </a:solidFill>
                <a:latin typeface="Calibri"/>
              </a:rPr>
              <a:t>▸  Diqqat: tomonlarning xulosadan noroziligi qayta ekspertiza uchun asos emas. Qarorda dastlabki xulosaga qo‘shilmaslik sabablari ko‘rsatiladi.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19-20, 20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xulosalar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Sud tibbiyoti sud, tergov va surishtiruv uchun tibbiy-biologik masalalarni o‘rganadi. Uning bilimi amalda sud-tibbiy ekspertiza ko‘rinishida qo‘llanadi.</a:t>
            </a:r>
          </a:p>
          <a:p>
            <a:pPr>
              <a:spcAft>
                <a:spcPts val="1200"/>
              </a:spcAft>
            </a:pPr>
            <a:r>
              <a:rPr sz="2000">
                <a:solidFill>
                  <a:srgbClr val="1F2937"/>
                </a:solidFill>
                <a:latin typeface="Calibri"/>
              </a:rPr>
              <a:t>▸  Ekspertiza turlari: birlamchi, komissiyaviy, kompleks, qo‘shimcha va qayta. Ekspert xulosasi dalillardan biri bo‘lib, oldindan daliliy kuchga ega emas.</a:t>
            </a:r>
          </a:p>
          <a:p>
            <a:pPr>
              <a:spcAft>
                <a:spcPts val="1200"/>
              </a:spcAft>
            </a:pPr>
            <a:r>
              <a:rPr sz="2000">
                <a:solidFill>
                  <a:srgbClr val="1F2937"/>
                </a:solidFill>
                <a:latin typeface="Calibri"/>
              </a:rPr>
              <a:t>▸  Pediatr uchun: davolash muassasasi vrachi mutaxassis sifatida jalb qilinishi mumkin, ko‘pincha tirik shaxsni guvohlantirishda. Mutaxassis mustaqil hujjat tuzmaydi.</a:t>
            </a:r>
          </a:p>
          <a:p>
            <a:pPr>
              <a:spcAft>
                <a:spcPts val="1200"/>
              </a:spcAft>
            </a:pPr>
            <a:r>
              <a:rPr sz="2000">
                <a:solidFill>
                  <a:srgbClr val="1F2937"/>
                </a:solidFill>
                <a:latin typeface="Calibri"/>
              </a:rPr>
              <a:t>▸  Mustaqil ishlash savollari: ekspert va mutaxassis qanday farqlanadi? Komissiyaviy va kompleks ekspertiza nimasi bilan farq qiladi? Raddiya qachon hal etiladi?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 19-22, 18, 17-20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Voqea tahlili: Yuliy Sezar o‘ldirilgach (e.a. 44-y.), vrach Antistius murdani ko‘zdan kechirgan. Tanadagi 23 jarohatdan faqat bittasi o‘limga olib kelgan, deb baholangan. Xulosa: ekspert har bir jarohatni alohida baholaydi.</a:t>
            </a:r>
          </a:p>
          <a:p>
            <a:pPr>
              <a:spcAft>
                <a:spcPts val="1200"/>
              </a:spcAft>
            </a:pPr>
            <a:r>
              <a:rPr sz="1800">
                <a:solidFill>
                  <a:srgbClr val="1F2937"/>
                </a:solidFill>
                <a:latin typeface="Calibri"/>
              </a:rPr>
              <a:t>▸  Pediatr uchun qiziq fakt: 1681-yilda Germaniyaning Seyts shahrida I. Shreer yangi tug‘ilgan chaqaloq murdasini tekshirishda o‘pka sinamasini birinchi marta qo‘llagan.</a:t>
            </a:r>
          </a:p>
          <a:p>
            <a:pPr>
              <a:spcAft>
                <a:spcPts val="1200"/>
              </a:spcAft>
            </a:pPr>
            <a:r>
              <a:rPr sz="1800">
                <a:solidFill>
                  <a:srgbClr val="1F2937"/>
                </a:solidFill>
                <a:latin typeface="Calibri"/>
              </a:rPr>
              <a:t>▸  Eslab qolish usuli: ekspertiza turlari beshta (birlamchi, komissiyaviy, kompleks, qo‘shimcha, qayta). Diqqat: qo‘shimcha ekspertiza kamchilikni to‘ldiradi, odatda oldingi ekspert bajaradi. Qayta ekspertiza shubhali xulosa uchun, oldingi ekspert unda ishtirok etmaydi.</a:t>
            </a:r>
          </a:p>
          <a:p>
            <a:pPr>
              <a:spcAft>
                <a:spcPts val="1200"/>
              </a:spcAft>
            </a:pPr>
            <a:r>
              <a:rPr sz="1800">
                <a:solidFill>
                  <a:srgbClr val="1F2937"/>
                </a:solidFill>
                <a:latin typeface="Calibri"/>
              </a:rPr>
              <a:t>▸  Hodisa tahlili: Ibn Sino “Tib qonunlari”da o‘limdan keyingi murda o‘zgarishlari, zaharlar va jarohatlar haqida yozgan. Ammo bu bilimlar odil sudlov uchun emas, to‘g‘ri tibbiy yordam ko‘rsatish maqsadida to‘plangan.</a:t>
            </a:r>
          </a:p>
          <a:p>
            <a:pPr>
              <a:spcAft>
                <a:spcPts val="1200"/>
              </a:spcAft>
            </a:pPr>
            <a:r>
              <a:rPr sz="1800">
                <a:solidFill>
                  <a:srgbClr val="1F2937"/>
                </a:solidFill>
                <a:latin typeface="Calibri"/>
              </a:rPr>
              <a:t>▸  Muhim qoida: ekspert xulosasi sud va tergovchi uchun oldindan muqarrar daliliy kuchga ega emas. Agar ular xulosaga qo‘shilmasa, buni qaror yoki ajrimda asoslab berishlari shart.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№1. Maʻruza: Sud tibbiyoti fani, vazifalari va ahamiyati.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1. Fan, tarix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