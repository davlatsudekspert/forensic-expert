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bugungi vrachga faqat tibbiy bilim yetarli emas? 2) Bemorning iste’molchi sifatida talqin etilishi vrach ishiga qanday ta’sir qiladi? Doskaga chizing: uch boblik reja (1-bob → 2-bob → 3-bob) ko‘rinishidagi oddiy zanjir. Tipik xato: huquqiy bilimni axloq o‘rnini bosuvchi deb tushunish. Aslida ikkalasi bir-birini to‘ldiradi.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Tibbiyot huquqi ta’rifidagi tomonlarni kim deb ayta olasiz? 2) Huquq va axloq farqi nimada? Doskaga chizing: «bemor – xodim – muassasa» uchburchagi va o‘rtasiga «huquq, majburiyat, mas’uliyat» deb yozing. Tipik xato: tibbiyot huquqini faqat jinoiy javobgarlik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«qilmish» va «jinoyat»ni farqlash muhim? 2) Talaba ekspertizada qanday rolda qatnashishi mumkin? Doskaga chizing: A–B–V–G vazifalarini ketma-ket to‘rt katak qilib, ostiga mos ko‘nikmani yozing. Tipik xato: fan vazifalarini faqat nazariy bilim deb qabul qilish. Amaliy ko‘nikmalar ham belgilangan.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Bemorning «iste’molchi» deb talqin etilishi vrach–bemor munosabatiga qanday ta’sir qiladi? 2) Nega faqat tibbiy bilim endi yetarli emas? Doskada: «Ilgari» va «Hozir» ustunli jadval chizdiring, talab qo‘shilishini ko‘rsating. Tipik xato: xizmat ko‘rsatishga tenglashtirish axloqiy mas’uliyatni bekor qiladi deb o‘ylash; manbada huquqiy bilim qo‘shimcha talab sifatida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Vijdon va qonun nega bir-birining o‘rnini bosa olmaydi? 2) Etik talab buzilsa va huquqiy me’yor buzilsa, oqibat qanday farq qiladi? Doskada: pog‘onali sxema — pastda huquq (minimum), yuqorida etika. Tipik xato: huquq va axloqni bir-biriga qarama-qarshi qo‘yish; Popov aynan buni zinhor qilmaslikni ta’kidlaydi.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Tibbiyot xodimi kundalik ishida qaysi huquq sohalariga duch keladi? 2) Nima uchun maxsus qonunlar ro‘yxati doimo yangilanib turadi? Doskada: markazda «Tibbiyot huquqi», atrofida Konstitutsiya, maxsus qonunlar va to‘rt huquq sohasini yozing. Tipik xato: tibbiyot huquqini faqat «Fuqarolar sog‘lig‘ini saqlash to‘g‘risida»gi qonun bilan cheklash; manbada fuqarolik, mehnat, ma’muriy va jinoyat huquqi me’yorlari ham kiritilgan.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 I. Amosov «vrachning vijdoniga ishonish lozim, hech qanday qonun uning o‘rnini bosa olmaydi» degan; bu fikr huquqni inkor etadimi? 2) Bemor «iste’molchi» deb talqin etilsa, xodimning mas’uliyati qanday o‘zgaradi? Doskada chizish: ikki pog‘onali zina, pastda huquq (minimum, majburlash bilan), yuqorida axloq (ixtiyoriy). Tipik xato: huquq va axloqni bir-biriga qarama-qarshi qo‘yish; manbada (V. L. Popov) buni zinhor qilmaslik ta’kidlangan.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40-modda bo‘yicha malakali tibbiy xizmatga qaysi yordam turlari kiradi (birlamchi tibbiy-sanitariya, tez, shoshilinch, ixtisoslashtirilgan)? 2) Bemor huquqi buzilsa, 44-modda unga qanday yo‘l beradi? Doskada chizish: moddalar raqamli ustun va har birining bir so‘zli mazmuni. Tipik xato: 40-modda (xizmatdan foydalanish huquqi) bilan 43-modda (davlat kafolati)ni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Tibbiyot xodimi o‘z burchini bajarmasa, qanday javobgarlik kelib chiqishi mumkin? 2) Bemorning huquqi shifokorning qaysi burchiga mos keladi? Doskada chizish: bu zanjirni strelkalar bilan chizib, har bir bo‘g‘inga tibbiy faoliyatdan misol yozing. Tipik xato: huquqni burchsiz va javobgarliksiz alohida tushuncha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Qonun umumiy xarakterda, xususiy jihatlar esa tarmoq hujjatlarida berilgan? Tezkor savol: Qonun nechta qism va modda? Doskada: 6 qismni ketma-ket yozib, har biriga bir so‘zli mazmun yozing. Tipik xato: IV qism (ekspertiza) bilan V qism (xodimlar) ni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shifokor faoliyati salomatlikning faqat kichik qismini ta’minlaydi? Profilaktika qanday ulush qo‘shadi? Doskada: 4 omilni ulush bo‘yicha ustunli diagramma qilib chizing. Tipik xato: tibbiy yordamni salomatlikning asosiy omili deb hisoblash. Tezkor savol: eng katta ulush qaysi omilda?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profilaktika ustuvorligi amaliyotda nimani anglatadi? Davlat va xususiy tizim qanday farqlanadi? Doskada: H-B-P-I-F ni yozib, har harfga tamoyil moslang. Tipik xato: 4-modda (Vazirlar Mahkamasi) va 5-modda (Sog‘liqni saqlash vazirligi) vakolatlarini aralashtirish. Tezkor savol: 3-modda nechta tamoyilni beradi?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davlat kafolati faqat belgilangan hajmdagi yordamga tegishli? 2) Xususiy klinikada qaysi guruhlarga yordam bepul bo‘lishi mumkin? Doskada chizish: davlat va xususiy tizimni ikki ustunli jadval ko‘rinishida chizdiring. Tipik xato: talabalar «davlat tizimidagi barcha xizmat bepul» deb o‘ylaydi, aslida faqat kafolatlangan hajm bepul.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Javoblar: 1) 40-modda. 2) 1996 yil 29 avgustda qabul qilingan, 14 sentyabrdan kuchga kirgan; 6 qism, 47 modda. 3) Inson huquqlariga rioya; aholining barcha qatlamlariga yordam ko‘rsatish; profilaktikaning ustuvorligi; sog‘liq yo‘qotilganda ijtimoiy himoya; tibbiyot fanining amaliyot bilan birligi (3-modda). Davlat tizimida kafolatlangan hajmdagi yordam bepul. Doskada chizish: ikki ustunli «Konstitutsiya | Qonun» va moddalar raqamini yozing. Muhokama: nega ikkala hujjatda ham 18-modda bor, lekin mazmuni boshqa? Tipik xato: 18-moddalarni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Nikoh oldi ko‘rigi qaysi ikki hujjatda tartibga solingan? 2) Nega oilaviy shifokorni tanlash huquqi bemor huquqlari bilan bog‘liq? Doskada chizish: 17 va 19–23-moddalar bo‘yicha toifalar ro‘yxatini yozing (modda raqami va toifa nomi). Tipik xato: 17-modda (kasb egalari) bilan Oila kodeksining 17-moddasini (nikoh oldi ko‘rigi)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Bemor shifokorni tanlash huquqi amalda qanday cheklanishi mumkin? 2) Huquq buzilganda shikoyat yo‘llari qaysilar? Doskaga chizing: «Bemor huquqlari» bo‘yicha 4 guruhli aqliy xarita (munosabat va tanlov; sharoit va maslahat; sir va rozilik; himoya va shikoyat). Tipik xato: talabalar sirni saqlash va rozilik huquqlarini bir-biriga aralashtiradi; ular 24-moddada alohida bandlar.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Nomaqbul prognozni bemorga qanday va kimga aytish to‘g‘ri? 2) 13 yoshli bemorning tashxisi kimga tushuntiriladi? Doskaga chizing: axborot mazmuni (tashxis, prognoz, usul, xavf, oqibat) va oluvchi (fuqaro / qonuniy vakil / tayinlangan shaxs) bo‘yicha sxema. Tipik xato: «to‘liq ma’lumot» degani prognozni etikasiz aytish deb tushuniladi.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Bemor hushsiz bo‘lsa, qaror kimga o‘tadi? 2) Navbatchi vrach qaror qabul qilganda qanday majburiyati bor? Doskaga chizing: qaror qabul qilish zanjirini (bemor → qonuniy vakil → konsilium → davolovchi/navbatchi vrach) o‘qlar bilan. Tipik xato: konsilium bo‘lmaganda ham muassasa rahbariyatiga xabar berish shartini unutish; manbada bu qaror keyin xabardor qilish sharti bilan qabul qilinadi.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Rad etishda vrachning vazifasi nima? 2) Nega yuqumli kasallikda rozilik talab qilinmaydi? Doskada: rad etish tartibi zanjirini chizdiring. Diqqat: kitobga ko‘ra, barcha rad etish hollarida yozma tasdiqnoma majburiy deb ko‘zda tutilmagan, shuning uchun uni mutlaq talab deb aytmang. Tipik xato: vakil rad etgan holda vasiylik organiga xabar berishni unutish. Tezkor savol: roziliksiz yordam qaysi kasalliklarga taalluqli?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Birlamchi yordamga nimalar kiradi (keng tarqalgan kasalliklar, profilaktika, oila-ona-bola muhofazasi)? 2) Xususiy muassasada qaysi guruhlarga bepul yordam beriladi va buni kim belgilaydi? Doskada: jadvalni 3 ustun bilan chizdiring. Tipik xato: Vazirlar Mahkamasi va Sog‘liqni saqlash vazirligining vakolatlarini aralashtirish. Tezkor savol: ixtisoslashtirilgan yordam standartini kim belgilaydi?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militsiya va yong‘indan saqlash xodimlari birlamchi yordamni bilishi kerak? 2) 32-moddaga ko‘ra bunday kasalliklarda qanday yordam ko‘rsatiladi (davlat muassasalarida tibbiy-ijtimoiy yordam va doimiy kuzatuv)? Doskada: ijtimoiy ahamiyatli kasalliklar ro‘yxatini yozdiring. Tipik xato: ro‘yxat va imtiyozlarni Vazirlar Mahkamasi belgilashini unutish. Voqea tahlili: yo‘lda baxtsiz hodisa bo‘ldi, tez yordam hali kelmadi. Birinchi yordamni kim ko‘rsatishi shart?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Talabalarga savolni 1 daqiqa o‘ylashga bering, so‘ng javobni muhokama qiling. Muhokama savollari: 1) Konsilium yig‘ishning imkoni bo‘lmasa, qaror kimda qoladi? 2) Qonuniy vakil aralashuvni rad etib, bu bemorga og‘ir oqibat keltirsa, vrach nima qiladi (vasiylik va homiylik organlariga xabar beradi)? Doskada chizish: «rozilikni kim beradi» sxemasi, ya’ni kattalar, 14 yoshgacha va layoqatsizlar, hushsiz bemor. Qo‘shimcha savol: yordam turlarini sanang (birlamchi tibbiy-sanitariya, shoshilinch va tez, ixtisoslashtirilgan; 15-16-betlar). Tipik xato: 14 yoshdan katta bola uchun ham ota-ona roziligi kerak deb o‘ylash; hushsiz bemorda hech qanday qaror olinmaydi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Sud-tibbiy ekspertiza boshqa turlardan nimasi bilan farq qiladi? 2) Nega patologo-anatomik tekshiruvning ekspertiza turi sifatida tan olinishi muhim? Doskada chizish: modda raqami va ekspertiza turi jadvalini talabalar o‘zi to‘ldirsin. Tipik xato: 36-37-moddalarni (vaqtincha layoqatsizlik va tibbiy-mehnat) aralashtirish yoki 40-moddani sud-tibbiy ekspertiza bilan bir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daqiqa. Muhokama savollari: 1) Qaysi hollarda diplomning o‘zi yetarli emas? 2) Xususiy amaliyot sifatini kimlar nazorat qiladi? Doskada chizish: diplom, litsenziya va xususiy amaliyot o‘rtasidagi bog‘liqlik zanjiri. Tipik xato: barcha tibbiy faoliyat uchun litsenziya shart deb o‘ylash; aslida litsenziya faqat Vazirlik belgilagan ayrim turlar va xususiy amaliyot uchun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Qasamyod axloqiy va huquqiy jihatdan nimasi bilan muhim? 2) Registratura xodimi yoki sug‘urta xodimi sirni olsa, uning majburiyati qanday? Doskada: «Sir tarkibi» ro‘yxatini 5 elementdan chizdiring (murojaat, holat, tashxis, tekshiruv, davolash). Tipik xato: talabalar sirni faqat tashxis deb o‘ylaydi, aslida murojaat qilganlik faktining o‘zi ham sir. Diqqat: sirni boshqaga bergan shaxs va sirni qabul qilgan shaxsning majburiyatini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Nima uchun bu 6 holat istisno hisoblanadi? 2) G‘ayriqonuniy zarar gumon qilinganda vrach nima qilishi kerak? Doskada: jadvaldagi 4 guruhni 6 holatga ajrating (bola va layoqatsiz alohida, so‘rov va zarar alohida). Tipik xato: istisnolarni «sir umuman yo‘q» deb tushunish; aslida bu faqat sanalgan holatlar va ruxsat etilgan tartib. Qo‘shimcha: 241-moddaga ko‘ra jinoyatni yashirish ham javobgarlik keltiradi, vrach organlarga o‘z vaqtida rasmiy xabar berishi lozim.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Zararni qoplagan vrach nega baribir javobgarlikka tortilishi mumkin? 2) Nima uchun Qonunni tarmoq hujjatlari bilan birga o‘rganish kerak? Doskada: «Zarar qoplanishi ≠ javobgarlikdan ozod bo‘lish» sxemasini chizing va uch javobgarlik turini yozing (intizomiy, ma’muriy, jinoiy). Tipik xato: talabalar zararni qoplash bilan masala yopiladi deb o‘ylaydi. Diqqat: fuqarolik tartibidagi qoplash va boshqa javobgarlik turlari bir-birini bekor qilmaydi.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Rozilik beruvchi shaxslar ketma-ketligi qanday? 2) Sirni oshkor etish mumkin bo‘lgan hollar qaysilar? Doskada: «qonuniy vakil – konsilium – davolovchi/navbatchi vrach» zanjirini chizdiring. Tipik xato: talabalar bola uchun doim konsilium kerak deb o‘ylaydi, aslida birinchi navbatda qonuniy vakil rozilik beradi.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ish o‘rinlari ko‘payishi sifatni oshirmadi? 2) Asossiz yotqizish aholi va davlat uchun qanday oqibat keltirgan? Doskada: «kamchilik – oqibat» ikki ustunli ro‘yxat tuzdiring. Tipik xato: talabalar muammoni faqat mutaxassis yetishmasligi deb biladi, moliyalashtirish mexanizmi ham sababligini unutadi.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182-son Qaror va Davlat dasturining farqi nimada? 2) Qaysi tamoyil profilaktikaga tegishli? Doskada: hujjatlar vaqt chizig‘ini (1996 – 1998 – 2005) chizdiring. Tipik xato: 182-son Qarorni (1996, qishloq infratuzilmasi) Davlat dasturi (1998, Prezident Farmoni)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pullik ko‘rikda ham shoshilinch yordam bepul qoladi? 2) Nodavlat klinikadagi 20% sharti kimga tegishli? Doskada 2 ustunli jadval chizdiring: «bepul» va «pullik» yo‘nalishlar. Diqqat, tipik xato: pullik xizmat bo‘lgan joyda shoshilinch yordam ham pullik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Eski moliyalash vrachlarni nega bemorni shifoxonaga yuborishga undagan? 2) Jon boshiga moliyalash profilaktikaga qanday ta’sir qiladi? Doskada besh pog‘onali zanjirni ikki pog‘onali sxemaga almashtirib chizdiring. Tipik xato: jon boshiga moliyalashni «har muassasaga teng summa» deb tushunish; aslida har biriktirilgan kishi uchun me’yor beriladi.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xususiylashtirish bepul yordam kafolatini buzmasligi kerak? 2) Litsenziyalash va attestatsiya vrach malakasiga qanday ta’sir qiladi? Doskada «bakalavriat → magistratura» zanjirini chizing. Tipik xato: bakalavriatda tor soha mutaxassislari tayyorlanadi deb o‘ylash; ular magistraturada tayyorlanadi.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Nima uchun ikkinchi bosqichda ixtisoslashgan markazlar kerak bo‘ldi? 2) Tuman birlashmalari qishloq vrachlik punktlariga qanday yordam beradi? Doskada chizish: uch hujjatni vaqt chizig‘ida (2003, 2007 sentyabr, 2007 oktyabr) joylashtiring. Tipik xato: Farmon (19 sentyabr) bilan Qarorni (2 oktyabr) aralashtirish; 2003 yilgi to‘rt tajriba markazini 2007 yilgi oltita markaz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Eski moliyalashtirish tizimi vrachni profilaktikadan nega uzoqlashtirgan? 2) Nega aynan ayollar va bolalar uchun ko‘proq mablag‘ ajratiladi? Doskada chizish: ikki ustun — eski (xodim soniga) va yangi (aholi soniga) moliyalashtirish. Tipik xato: moliyalashtirish mezonini muassasadagi xodimlar soni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Konstitutsiya, Qonun va islohot dasturi o‘zaro qanday bog‘langan? 2) Huquqiy savodxonlik vrach amaliyotida nimaga kerak? Doskada chizish: Konstitutsiya → Qonun → tarmoq hujjatlari → dastur zanjiri. Tipik xato: Qonunni batafsil yo‘riqnoma deb o‘ylash; u umumiy xarakterga ega, tafsilotlar tarmoq hujjatlarida.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Fuqarolar sog‘lig‘ini saqlash to‘g‘risidagi qonunchilik asoslari.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mashg‘ulot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Ilgari tibbiy faoliyat uchun bilim, ko‘nikma va axloqiy qoidalarga rioya qilish yetarli deb qaralgan. Hozir huquqiy me’yorlarni bilish va ularga izchil amal qilish ham zarur.</a:t>
            </a:r>
          </a:p>
          <a:p>
            <a:pPr>
              <a:spcAft>
                <a:spcPts val="1200"/>
              </a:spcAft>
            </a:pPr>
            <a:r>
              <a:rPr sz="2000">
                <a:solidFill>
                  <a:srgbClr val="1F2937"/>
                </a:solidFill>
                <a:latin typeface="Calibri"/>
              </a:rPr>
              <a:t>▸  Amaldagi qonunchilikda tibbiy faoliyat keng ma’noda fuqarolarga xizmat ko‘rsatishga tenglashtirilgan: xodim xizmat ko‘rsatuvchi, bemor iste’molchi sanaladi.</a:t>
            </a:r>
          </a:p>
          <a:p>
            <a:pPr>
              <a:spcAft>
                <a:spcPts val="1200"/>
              </a:spcAft>
            </a:pPr>
            <a:r>
              <a:rPr sz="2000">
                <a:solidFill>
                  <a:srgbClr val="1F2937"/>
                </a:solidFill>
                <a:latin typeface="Calibri"/>
              </a:rPr>
              <a:t>▸  N. I. Amosov fikricha, vrachning vijdoniga ishonish kerak va uning o‘rnini hech qanday qonun bosa olmaydi. Ammo huquq va axloqni qarama-qarshi qo‘yib bo‘lmaydi.</a:t>
            </a:r>
          </a:p>
          <a:p>
            <a:pPr>
              <a:spcAft>
                <a:spcPts val="1200"/>
              </a:spcAft>
            </a:pPr>
            <a:r>
              <a:rPr sz="2000">
                <a:solidFill>
                  <a:srgbClr val="1F2937"/>
                </a:solidFill>
                <a:latin typeface="Calibri"/>
              </a:rPr>
              <a:t>▸  Mashg‘ulot rejasi: 1-bob — tibbiyot huquqi fani; 2-bob — sog‘liqni saqlash qonunchiligi asoslari; 3-bob — sog‘liqni saqlash tizimini isloh qilish.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6, 6-7, 5, 9,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huquqi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Tibbiyot huquqi — diagnostika, davolash va profilaktika jarayonida bemorlar, tibbiyot xodimlari, fuqarolar va muassasalar munosabatlarini tartibga soluvchi qoida va me’yorlar majmuasi.</a:t>
            </a:r>
          </a:p>
          <a:p>
            <a:pPr>
              <a:spcAft>
                <a:spcPts val="1200"/>
              </a:spcAft>
            </a:pPr>
            <a:r>
              <a:rPr sz="2000">
                <a:solidFill>
                  <a:srgbClr val="1F2937"/>
                </a:solidFill>
                <a:latin typeface="Calibri"/>
              </a:rPr>
              <a:t>▸  U tomonlarning huquq, majburiyat va mas’uliyat doirasini belgilaydi. Bunda umumhuquqiy va tashkiliy munosabatlarni tartibga soluvchi me’yoriy hujjatlar nazarda tutiladi.</a:t>
            </a:r>
          </a:p>
          <a:p>
            <a:pPr>
              <a:spcAft>
                <a:spcPts val="1200"/>
              </a:spcAft>
            </a:pPr>
            <a:r>
              <a:rPr sz="2000">
                <a:solidFill>
                  <a:srgbClr val="1F2937"/>
                </a:solidFill>
                <a:latin typeface="Calibri"/>
              </a:rPr>
              <a:t>▸  Qamrovi: davolash-profilaktika yordami, sanitariya va epidemiyaga qarshi tadbirlar hamda shu yo‘nalishdagi boshqa faoliyat.</a:t>
            </a:r>
          </a:p>
          <a:p>
            <a:pPr>
              <a:spcAft>
                <a:spcPts val="1200"/>
              </a:spcAft>
            </a:pPr>
            <a:r>
              <a:rPr sz="2000">
                <a:solidFill>
                  <a:srgbClr val="1F2937"/>
                </a:solidFill>
                <a:latin typeface="Calibri"/>
              </a:rPr>
              <a:t>▸  Diqqat: xato qilish xavfi! Axloqiy-etik talablar ixtiyoriy bajariladi, huquqiy me’yorlar esa bevosita yoki bilvosita majburlash orqali ta’minlanadi.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5,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Fanning maqsadi, vazifalari va ko‘nikmalari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Talaba qonunchilik asoslari, xodim va bemor huquq-majburiyatlaridan xabardor bo‘lishi kerak.</a:t>
            </a:r>
          </a:p>
          <a:p>
            <a:pPr>
              <a:spcAft>
                <a:spcPts val="800"/>
              </a:spcAft>
            </a:pPr>
            <a:r>
              <a:rPr sz="1800">
                <a:solidFill>
                  <a:srgbClr val="1F2937"/>
                </a:solidFill>
                <a:latin typeface="Calibri"/>
              </a:rPr>
              <a:t>▸  Tibbiy hujjatlarni tahlil etish va tibbiy yordam nuqsonlarini farqlashni bilishi lozim.</a:t>
            </a:r>
          </a:p>
          <a:p>
            <a:pPr>
              <a:spcAft>
                <a:spcPts val="800"/>
              </a:spcAft>
            </a:pPr>
            <a:r>
              <a:rPr sz="1800">
                <a:solidFill>
                  <a:srgbClr val="1F2937"/>
                </a:solidFill>
                <a:latin typeface="Calibri"/>
              </a:rPr>
              <a:t>▸  Amaliy: xizmat tekshiruvi va sud-tibbiy ekspertizada mutaxassis yoki ekspert bo‘lib qatnashish.</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Vazifa</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A</a:t>
                      </a:r>
                    </a:p>
                  </a:txBody>
                  <a:tcPr marL="73152" marR="73152" marT="36576" marB="36576">
                    <a:solidFill>
                      <a:srgbClr val="E8EEF6"/>
                    </a:solidFill>
                  </a:tcPr>
                </a:tc>
                <a:tc>
                  <a:txBody>
                    <a:bodyPr/>
                    <a:lstStyle/>
                    <a:p>
                      <a:r>
                        <a:rPr sz="1300" b="0">
                          <a:solidFill>
                            <a:srgbClr val="1F2937"/>
                          </a:solidFill>
                        </a:rPr>
                        <a:t>Qonunchilik asoslarini o‘rganish</a:t>
                      </a:r>
                    </a:p>
                  </a:txBody>
                  <a:tcPr marL="73152" marR="73152" marT="36576" marB="36576">
                    <a:solidFill>
                      <a:srgbClr val="E8EEF6"/>
                    </a:solidFill>
                  </a:tcPr>
                </a:tc>
              </a:tr>
              <a:tr h="411480">
                <a:tc>
                  <a:txBody>
                    <a:bodyPr/>
                    <a:lstStyle/>
                    <a:p>
                      <a:r>
                        <a:rPr sz="1300" b="0">
                          <a:solidFill>
                            <a:srgbClr val="1F2937"/>
                          </a:solidFill>
                        </a:rPr>
                        <a:t>B</a:t>
                      </a:r>
                    </a:p>
                  </a:txBody>
                  <a:tcPr marL="73152" marR="73152" marT="36576" marB="36576">
                    <a:solidFill>
                      <a:srgbClr val="FFFFFF"/>
                    </a:solidFill>
                  </a:tcPr>
                </a:tc>
                <a:tc>
                  <a:txBody>
                    <a:bodyPr/>
                    <a:lstStyle/>
                    <a:p>
                      <a:r>
                        <a:rPr sz="1300" b="0">
                          <a:solidFill>
                            <a:srgbClr val="1F2937"/>
                          </a:solidFill>
                        </a:rPr>
                        <a:t>Huquqiy munosabatlar xususiyatlarini bilish</a:t>
                      </a:r>
                    </a:p>
                  </a:txBody>
                  <a:tcPr marL="73152" marR="73152" marT="36576" marB="36576">
                    <a:solidFill>
                      <a:srgbClr val="FFFFFF"/>
                    </a:solidFill>
                  </a:tcPr>
                </a:tc>
              </a:tr>
              <a:tr h="411480">
                <a:tc>
                  <a:txBody>
                    <a:bodyPr/>
                    <a:lstStyle/>
                    <a:p>
                      <a:r>
                        <a:rPr sz="1300" b="0">
                          <a:solidFill>
                            <a:srgbClr val="1F2937"/>
                          </a:solidFill>
                        </a:rPr>
                        <a:t>V</a:t>
                      </a:r>
                    </a:p>
                  </a:txBody>
                  <a:tcPr marL="73152" marR="73152" marT="36576" marB="36576">
                    <a:solidFill>
                      <a:srgbClr val="E8EEF6"/>
                    </a:solidFill>
                  </a:tcPr>
                </a:tc>
                <a:tc>
                  <a:txBody>
                    <a:bodyPr/>
                    <a:lstStyle/>
                    <a:p>
                      <a:r>
                        <a:rPr sz="1300" b="0">
                          <a:solidFill>
                            <a:srgbClr val="1F2937"/>
                          </a:solidFill>
                        </a:rPr>
                        <a:t>Kasb huquqbuzarliklari bilan tanishish</a:t>
                      </a:r>
                    </a:p>
                  </a:txBody>
                  <a:tcPr marL="73152" marR="73152" marT="36576" marB="36576">
                    <a:solidFill>
                      <a:srgbClr val="E8EEF6"/>
                    </a:solidFill>
                  </a:tcPr>
                </a:tc>
              </a:tr>
              <a:tr h="411480">
                <a:tc>
                  <a:txBody>
                    <a:bodyPr/>
                    <a:lstStyle/>
                    <a:p>
                      <a:r>
                        <a:rPr sz="1300" b="0">
                          <a:solidFill>
                            <a:srgbClr val="1F2937"/>
                          </a:solidFill>
                        </a:rPr>
                        <a:t>G</a:t>
                      </a:r>
                    </a:p>
                  </a:txBody>
                  <a:tcPr marL="73152" marR="73152" marT="36576" marB="36576">
                    <a:solidFill>
                      <a:srgbClr val="FFFFFF"/>
                    </a:solidFill>
                  </a:tcPr>
                </a:tc>
                <a:tc>
                  <a:txBody>
                    <a:bodyPr/>
                    <a:lstStyle/>
                    <a:p>
                      <a:r>
                        <a:rPr sz="1300" b="0">
                          <a:solidFill>
                            <a:srgbClr val="1F2937"/>
                          </a:solidFill>
                        </a:rPr>
                        <a:t>Qilmish va jinoyatni farqlash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Fanning to‘rt vazifasi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5,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faoliyat: xizmat ko‘rsatish munosabati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Amaldagi qonunchilikda tibbiy faoliyat keng ma’noda fuqarolarga xizmat ko‘rsatishga tenglashtirilgan.</a:t>
            </a:r>
          </a:p>
          <a:p>
            <a:pPr>
              <a:spcAft>
                <a:spcPts val="800"/>
              </a:spcAft>
            </a:pPr>
            <a:r>
              <a:rPr sz="1800">
                <a:solidFill>
                  <a:srgbClr val="1F2937"/>
                </a:solidFill>
                <a:latin typeface="Calibri"/>
              </a:rPr>
              <a:t>▸  Bunda tibbiyot xodimlari xizmat ko‘rsatuvchi, bemorlar esa iste’molchi sifatida talqin etiladi.</a:t>
            </a:r>
          </a:p>
          <a:p>
            <a:pPr>
              <a:spcAft>
                <a:spcPts val="800"/>
              </a:spcAft>
            </a:pPr>
            <a:r>
              <a:rPr sz="1800">
                <a:solidFill>
                  <a:srgbClr val="1F2937"/>
                </a:solidFill>
                <a:latin typeface="Calibri"/>
              </a:rPr>
              <a:t>▸  Ilgari tibbiy bilim va axloqiy qoidalarga rioya etarli sanalgan; endi huquqiy me’yorlarni bilish ham zarur.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365673"/>
                <a:gridCol w="2922301"/>
              </a:tblGrid>
              <a:tr h="411480">
                <a:tc>
                  <a:txBody>
                    <a:bodyPr/>
                    <a:lstStyle/>
                    <a:p>
                      <a:r>
                        <a:rPr sz="1400" b="1">
                          <a:solidFill>
                            <a:srgbClr val="FFFFFF"/>
                          </a:solidFill>
                        </a:rPr>
                        <a:t>Ishtirokchi</a:t>
                      </a:r>
                    </a:p>
                  </a:txBody>
                  <a:tcPr marL="73152" marR="73152" marT="36576" marB="36576">
                    <a:solidFill>
                      <a:srgbClr val="0B1F3A"/>
                    </a:solidFill>
                  </a:tcPr>
                </a:tc>
                <a:tc>
                  <a:txBody>
                    <a:bodyPr/>
                    <a:lstStyle/>
                    <a:p>
                      <a:r>
                        <a:rPr sz="1400" b="1">
                          <a:solidFill>
                            <a:srgbClr val="FFFFFF"/>
                          </a:solidFill>
                        </a:rPr>
                        <a:t>Talqini</a:t>
                      </a:r>
                    </a:p>
                  </a:txBody>
                  <a:tcPr marL="73152" marR="73152" marT="36576" marB="36576">
                    <a:solidFill>
                      <a:srgbClr val="0B1F3A"/>
                    </a:solidFill>
                  </a:tcPr>
                </a:tc>
              </a:tr>
              <a:tr h="411480">
                <a:tc>
                  <a:txBody>
                    <a:bodyPr/>
                    <a:lstStyle/>
                    <a:p>
                      <a:r>
                        <a:rPr sz="1300" b="0">
                          <a:solidFill>
                            <a:srgbClr val="1F2937"/>
                          </a:solidFill>
                        </a:rPr>
                        <a:t>Tibbiyot xodimi</a:t>
                      </a:r>
                    </a:p>
                  </a:txBody>
                  <a:tcPr marL="73152" marR="73152" marT="36576" marB="36576">
                    <a:solidFill>
                      <a:srgbClr val="E8EEF6"/>
                    </a:solidFill>
                  </a:tcPr>
                </a:tc>
                <a:tc>
                  <a:txBody>
                    <a:bodyPr/>
                    <a:lstStyle/>
                    <a:p>
                      <a:r>
                        <a:rPr sz="1300" b="0">
                          <a:solidFill>
                            <a:srgbClr val="1F2937"/>
                          </a:solidFill>
                        </a:rPr>
                        <a:t>Xizmat ko‘rsatuvchi</a:t>
                      </a:r>
                    </a:p>
                  </a:txBody>
                  <a:tcPr marL="73152" marR="73152" marT="36576" marB="36576">
                    <a:solidFill>
                      <a:srgbClr val="E8EEF6"/>
                    </a:solidFill>
                  </a:tcPr>
                </a:tc>
              </a:tr>
              <a:tr h="411480">
                <a:tc>
                  <a:txBody>
                    <a:bodyPr/>
                    <a:lstStyle/>
                    <a:p>
                      <a:r>
                        <a:rPr sz="1300" b="0">
                          <a:solidFill>
                            <a:srgbClr val="1F2937"/>
                          </a:solidFill>
                        </a:rPr>
                        <a:t>Bemor</a:t>
                      </a:r>
                    </a:p>
                  </a:txBody>
                  <a:tcPr marL="73152" marR="73152" marT="36576" marB="36576">
                    <a:solidFill>
                      <a:srgbClr val="FFFFFF"/>
                    </a:solidFill>
                  </a:tcPr>
                </a:tc>
                <a:tc>
                  <a:txBody>
                    <a:bodyPr/>
                    <a:lstStyle/>
                    <a:p>
                      <a:r>
                        <a:rPr sz="1300" b="0">
                          <a:solidFill>
                            <a:srgbClr val="1F2937"/>
                          </a:solidFill>
                        </a:rPr>
                        <a:t>Iste’molchi</a:t>
                      </a:r>
                    </a:p>
                  </a:txBody>
                  <a:tcPr marL="73152" marR="73152" marT="36576" marB="36576">
                    <a:solidFill>
                      <a:srgbClr val="FFFFFF"/>
                    </a:solidFill>
                  </a:tcPr>
                </a:tc>
              </a:tr>
              <a:tr h="411480">
                <a:tc>
                  <a:txBody>
                    <a:bodyPr/>
                    <a:lstStyle/>
                    <a:p>
                      <a:r>
                        <a:rPr sz="1300" b="0">
                          <a:solidFill>
                            <a:srgbClr val="1F2937"/>
                          </a:solidFill>
                        </a:rPr>
                        <a:t>Ilgarigi talab</a:t>
                      </a:r>
                    </a:p>
                  </a:txBody>
                  <a:tcPr marL="73152" marR="73152" marT="36576" marB="36576">
                    <a:solidFill>
                      <a:srgbClr val="E8EEF6"/>
                    </a:solidFill>
                  </a:tcPr>
                </a:tc>
                <a:tc>
                  <a:txBody>
                    <a:bodyPr/>
                    <a:lstStyle/>
                    <a:p>
                      <a:r>
                        <a:rPr sz="1300" b="0">
                          <a:solidFill>
                            <a:srgbClr val="1F2937"/>
                          </a:solidFill>
                        </a:rPr>
                        <a:t>Tibbiy bilim + axloq</a:t>
                      </a:r>
                    </a:p>
                  </a:txBody>
                  <a:tcPr marL="73152" marR="73152" marT="36576" marB="36576">
                    <a:solidFill>
                      <a:srgbClr val="E8EEF6"/>
                    </a:solidFill>
                  </a:tcPr>
                </a:tc>
              </a:tr>
              <a:tr h="411480">
                <a:tc>
                  <a:txBody>
                    <a:bodyPr/>
                    <a:lstStyle/>
                    <a:p>
                      <a:r>
                        <a:rPr sz="1300" b="0">
                          <a:solidFill>
                            <a:srgbClr val="1F2937"/>
                          </a:solidFill>
                        </a:rPr>
                        <a:t>Hozirgi talab</a:t>
                      </a:r>
                    </a:p>
                  </a:txBody>
                  <a:tcPr marL="73152" marR="73152" marT="36576" marB="36576">
                    <a:solidFill>
                      <a:srgbClr val="FFFFFF"/>
                    </a:solidFill>
                  </a:tcPr>
                </a:tc>
                <a:tc>
                  <a:txBody>
                    <a:bodyPr/>
                    <a:lstStyle/>
                    <a:p>
                      <a:r>
                        <a:rPr sz="1300" b="0">
                          <a:solidFill>
                            <a:srgbClr val="1F2937"/>
                          </a:solidFill>
                        </a:rPr>
                        <a:t>Bilim + axloq + huquq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Xizmat munosabatida tomonlar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 va axloq-etika: o‘zaro nisbat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Amosov: vrachning vijdoniga ishonish lozim, hech qanday qonun uning o‘rnini bosa olmaydi.</a:t>
            </a:r>
          </a:p>
          <a:p>
            <a:pPr>
              <a:spcAft>
                <a:spcPts val="800"/>
              </a:spcAft>
            </a:pPr>
            <a:r>
              <a:rPr sz="1800">
                <a:solidFill>
                  <a:srgbClr val="1F2937"/>
                </a:solidFill>
                <a:latin typeface="Calibri"/>
              </a:rPr>
              <a:t>▸  Popov: axloqiy-etik va huquqiy jihatlar o‘zaro bog‘liq, ularni bir-biriga qarama-qarshi qo‘yib bo‘lmaydi.</a:t>
            </a:r>
          </a:p>
          <a:p>
            <a:pPr>
              <a:spcAft>
                <a:spcPts val="800"/>
              </a:spcAft>
            </a:pPr>
            <a:r>
              <a:rPr sz="1800">
                <a:solidFill>
                  <a:srgbClr val="1F2937"/>
                </a:solidFill>
                <a:latin typeface="Calibri"/>
              </a:rPr>
              <a:t>▸  Daraja jihatidan huquq — ma’naviyatning minimumi, etika esa uning yuqori darajasi.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13257"/>
                <a:gridCol w="2087358"/>
                <a:gridCol w="2087358"/>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Huquq</a:t>
                      </a:r>
                    </a:p>
                  </a:txBody>
                  <a:tcPr marL="73152" marR="73152" marT="36576" marB="36576">
                    <a:solidFill>
                      <a:srgbClr val="0B1F3A"/>
                    </a:solidFill>
                  </a:tcPr>
                </a:tc>
                <a:tc>
                  <a:txBody>
                    <a:bodyPr/>
                    <a:lstStyle/>
                    <a:p>
                      <a:r>
                        <a:rPr sz="1300" b="1">
                          <a:solidFill>
                            <a:srgbClr val="FFFFFF"/>
                          </a:solidFill>
                        </a:rPr>
                        <a:t>Etika</a:t>
                      </a:r>
                    </a:p>
                  </a:txBody>
                  <a:tcPr marL="73152" marR="73152" marT="36576" marB="36576">
                    <a:solidFill>
                      <a:srgbClr val="0B1F3A"/>
                    </a:solidFill>
                  </a:tcPr>
                </a:tc>
              </a:tr>
              <a:tr h="411480">
                <a:tc>
                  <a:txBody>
                    <a:bodyPr/>
                    <a:lstStyle/>
                    <a:p>
                      <a:r>
                        <a:rPr sz="1200" b="0">
                          <a:solidFill>
                            <a:srgbClr val="1F2937"/>
                          </a:solidFill>
                        </a:rPr>
                        <a:t>Daraja</a:t>
                      </a:r>
                    </a:p>
                  </a:txBody>
                  <a:tcPr marL="73152" marR="73152" marT="36576" marB="36576">
                    <a:solidFill>
                      <a:srgbClr val="E8EEF6"/>
                    </a:solidFill>
                  </a:tcPr>
                </a:tc>
                <a:tc>
                  <a:txBody>
                    <a:bodyPr/>
                    <a:lstStyle/>
                    <a:p>
                      <a:r>
                        <a:rPr sz="1200" b="0">
                          <a:solidFill>
                            <a:srgbClr val="1F2937"/>
                          </a:solidFill>
                        </a:rPr>
                        <a:t>Ma’naviyatning minimumi</a:t>
                      </a:r>
                    </a:p>
                  </a:txBody>
                  <a:tcPr marL="73152" marR="73152" marT="36576" marB="36576">
                    <a:solidFill>
                      <a:srgbClr val="E8EEF6"/>
                    </a:solidFill>
                  </a:tcPr>
                </a:tc>
                <a:tc>
                  <a:txBody>
                    <a:bodyPr/>
                    <a:lstStyle/>
                    <a:p>
                      <a:r>
                        <a:rPr sz="1200" b="0">
                          <a:solidFill>
                            <a:srgbClr val="1F2937"/>
                          </a:solidFill>
                        </a:rPr>
                        <a:t>Ma’naviyatning yuqori darajasi</a:t>
                      </a:r>
                    </a:p>
                  </a:txBody>
                  <a:tcPr marL="73152" marR="73152" marT="36576" marB="36576">
                    <a:solidFill>
                      <a:srgbClr val="E8EEF6"/>
                    </a:solidFill>
                  </a:tcPr>
                </a:tc>
              </a:tr>
              <a:tr h="411480">
                <a:tc>
                  <a:txBody>
                    <a:bodyPr/>
                    <a:lstStyle/>
                    <a:p>
                      <a:r>
                        <a:rPr sz="1200" b="0">
                          <a:solidFill>
                            <a:srgbClr val="1F2937"/>
                          </a:solidFill>
                        </a:rPr>
                        <a:t>Bajarilishi</a:t>
                      </a:r>
                    </a:p>
                  </a:txBody>
                  <a:tcPr marL="73152" marR="73152" marT="36576" marB="36576">
                    <a:solidFill>
                      <a:srgbClr val="FFFFFF"/>
                    </a:solidFill>
                  </a:tcPr>
                </a:tc>
                <a:tc>
                  <a:txBody>
                    <a:bodyPr/>
                    <a:lstStyle/>
                    <a:p>
                      <a:r>
                        <a:rPr sz="1200" b="0">
                          <a:solidFill>
                            <a:srgbClr val="1F2937"/>
                          </a:solidFill>
                        </a:rPr>
                        <a:t>Majburlash orqali ta’minlanadi</a:t>
                      </a:r>
                    </a:p>
                  </a:txBody>
                  <a:tcPr marL="73152" marR="73152" marT="36576" marB="36576">
                    <a:solidFill>
                      <a:srgbClr val="FFFFFF"/>
                    </a:solidFill>
                  </a:tcPr>
                </a:tc>
                <a:tc>
                  <a:txBody>
                    <a:bodyPr/>
                    <a:lstStyle/>
                    <a:p>
                      <a:r>
                        <a:rPr sz="1200" b="0">
                          <a:solidFill>
                            <a:srgbClr val="1F2937"/>
                          </a:solidFill>
                        </a:rPr>
                        <a:t>Erkin, ixtiyoriy bajariladi</a:t>
                      </a:r>
                    </a:p>
                  </a:txBody>
                  <a:tcPr marL="73152" marR="73152" marT="36576" marB="36576">
                    <a:solidFill>
                      <a:srgbClr val="FFFFFF"/>
                    </a:solidFill>
                  </a:tcPr>
                </a:tc>
              </a:tr>
              <a:tr h="411480">
                <a:tc>
                  <a:txBody>
                    <a:bodyPr/>
                    <a:lstStyle/>
                    <a:p>
                      <a:r>
                        <a:rPr sz="1200" b="0">
                          <a:solidFill>
                            <a:srgbClr val="1F2937"/>
                          </a:solidFill>
                        </a:rPr>
                        <a:t>Munosabati</a:t>
                      </a:r>
                    </a:p>
                  </a:txBody>
                  <a:tcPr marL="73152" marR="73152" marT="36576" marB="36576">
                    <a:solidFill>
                      <a:srgbClr val="E8EEF6"/>
                    </a:solidFill>
                  </a:tcPr>
                </a:tc>
                <a:tc>
                  <a:txBody>
                    <a:bodyPr/>
                    <a:lstStyle/>
                    <a:p>
                      <a:r>
                        <a:rPr sz="1200" b="0">
                          <a:solidFill>
                            <a:srgbClr val="1F2937"/>
                          </a:solidFill>
                        </a:rPr>
                        <a:t>Etikaga zid emas, bog‘liq</a:t>
                      </a:r>
                    </a:p>
                  </a:txBody>
                  <a:tcPr marL="73152" marR="73152" marT="36576" marB="36576">
                    <a:solidFill>
                      <a:srgbClr val="E8EEF6"/>
                    </a:solidFill>
                  </a:tcPr>
                </a:tc>
                <a:tc>
                  <a:txBody>
                    <a:bodyPr/>
                    <a:lstStyle/>
                    <a:p>
                      <a:r>
                        <a:rPr sz="1200" b="0">
                          <a:solidFill>
                            <a:srgbClr val="1F2937"/>
                          </a:solidFill>
                        </a:rPr>
                        <a:t>Huquqqa zid emas, bog‘liq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 va etikani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6-7,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Fan predmeti va maxsus qonunlar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Fan predmeti — tibbiy faoliyatdagi huquqiy munosabatlar va ularning ishtirokchilari huquqiy maqomini belgilovchi me’yorlar.</a:t>
            </a:r>
          </a:p>
          <a:p>
            <a:pPr>
              <a:spcAft>
                <a:spcPts val="1200"/>
              </a:spcAft>
            </a:pPr>
            <a:r>
              <a:rPr sz="2000">
                <a:solidFill>
                  <a:srgbClr val="1F2937"/>
                </a:solidFill>
                <a:latin typeface="Calibri"/>
              </a:rPr>
              <a:t>▸  Birinchi o‘rinda O‘zbekiston Respublikasi Konstitutsiyasi turadi, so‘ng maxsus qonunlar: «Fuqarolar sog‘lig‘ini saqlash to‘g‘risida», «Davlat sanitariya nazorati to‘g‘risida».</a:t>
            </a:r>
          </a:p>
          <a:p>
            <a:pPr>
              <a:spcAft>
                <a:spcPts val="1200"/>
              </a:spcAft>
            </a:pPr>
            <a:r>
              <a:rPr sz="2000">
                <a:solidFill>
                  <a:srgbClr val="1F2937"/>
                </a:solidFill>
                <a:latin typeface="Calibri"/>
              </a:rPr>
              <a:t>▸  Yana: dori vositalari, giyohvand vositalar, odam immunotanqisligi virusi (OITV) profilaktikasi, psixiatrik yordam, radiatsion xavfsizlik, sil va qon donorligi qonunlari.</a:t>
            </a:r>
          </a:p>
          <a:p>
            <a:pPr>
              <a:spcAft>
                <a:spcPts val="1200"/>
              </a:spcAft>
            </a:pPr>
            <a:r>
              <a:rPr sz="2000">
                <a:solidFill>
                  <a:srgbClr val="1F2937"/>
                </a:solidFill>
                <a:latin typeface="Calibri"/>
              </a:rPr>
              <a:t>▸  Xodimlarning kundalik faoliyati fuqarolik, mehnat, ma’muriy va jinoyat huquqi talablariga ham taalluqli; bu me’yorlar ham tibbiyot huquqi tizimiga kiradi.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7,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huquq va axloq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tibbiy yordamga murojaat qiladi. Qonunchilikda u iste’molchi, shifokor esa xizmat ko‘rsatuvchi sifatida talqin etiladi.</a:t>
            </a:r>
          </a:p>
          <a:p>
            <a:pPr>
              <a:spcAft>
                <a:spcPts val="1200"/>
              </a:spcAft>
            </a:pPr>
            <a:r>
              <a:rPr sz="2200">
                <a:solidFill>
                  <a:srgbClr val="1F2937"/>
                </a:solidFill>
                <a:latin typeface="Calibri"/>
              </a:rPr>
              <a:t>▸  Ilgari tibbiy bilim va axloqiy-etik qoidalarga rioya etarli deb qaralgan. Hozir huquqiy me’yorlarni bilish va ularga izchil amal qilish ham zarur.</a:t>
            </a:r>
          </a:p>
          <a:p>
            <a:pPr>
              <a:spcAft>
                <a:spcPts val="1200"/>
              </a:spcAft>
            </a:pPr>
            <a:r>
              <a:rPr sz="2200">
                <a:solidFill>
                  <a:srgbClr val="1F2937"/>
                </a:solidFill>
                <a:latin typeface="Calibri"/>
              </a:rPr>
              <a:t>▸  Axloqiy-etik talablar ixtiyoriy bajariladi. Huquqiy me’yorlar esa bevosita yoki bilvosita majburlash orqali ta’minlanadi.</a:t>
            </a:r>
          </a:p>
          <a:p>
            <a:pPr>
              <a:spcAft>
                <a:spcPts val="1200"/>
              </a:spcAft>
            </a:pPr>
            <a:r>
              <a:rPr sz="2200">
                <a:solidFill>
                  <a:srgbClr val="1F2937"/>
                </a:solidFill>
                <a:latin typeface="Calibri"/>
              </a:rPr>
              <a:t>▸  Savol: nima uchun faqat vijdonga tayanib bo‘lmaydi? Huquq ma’naviyatning minimumi, axloq esa uning yuqori darajasi ekanini eslang.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6,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Konstitutsiya: sog‘liq huquqining asosi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18–20-moddalar: fuqarolar teng; huquqlardan foydalanish boshqalarning manfaatiga putur etkazmasligi shart.</a:t>
            </a:r>
          </a:p>
          <a:p>
            <a:pPr>
              <a:spcAft>
                <a:spcPts val="800"/>
              </a:spcAft>
            </a:pPr>
            <a:r>
              <a:rPr sz="1800">
                <a:solidFill>
                  <a:srgbClr val="1F2937"/>
                </a:solidFill>
                <a:latin typeface="Calibri"/>
              </a:rPr>
              <a:t>▸  40-modda: malakali tibbiy xizmat huquqi; 43-modda: davlat buning uchun shart-sharoit yaratadi.</a:t>
            </a:r>
          </a:p>
          <a:p>
            <a:pPr>
              <a:spcAft>
                <a:spcPts val="800"/>
              </a:spcAft>
            </a:pPr>
            <a:r>
              <a:rPr sz="1800">
                <a:solidFill>
                  <a:srgbClr val="1F2937"/>
                </a:solidFill>
                <a:latin typeface="Calibri"/>
              </a:rPr>
              <a:t>▸  44: sud himoyasi. 45: voyaga etmaganlar, mehnatga layoqatsizlar va yolg‘iz keksalar davlat himoyasida.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3721167"/>
              </a:tblGrid>
              <a:tr h="411480">
                <a:tc>
                  <a:txBody>
                    <a:bodyPr/>
                    <a:lstStyle/>
                    <a:p>
                      <a:r>
                        <a:rPr sz="1400" b="1">
                          <a:solidFill>
                            <a:srgbClr val="FFFFFF"/>
                          </a:solidFill>
                        </a:rPr>
                        <a:t>Modda</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18–20-modda</a:t>
                      </a:r>
                    </a:p>
                  </a:txBody>
                  <a:tcPr marL="73152" marR="73152" marT="36576" marB="36576">
                    <a:solidFill>
                      <a:srgbClr val="E8EEF6"/>
                    </a:solidFill>
                  </a:tcPr>
                </a:tc>
                <a:tc>
                  <a:txBody>
                    <a:bodyPr/>
                    <a:lstStyle/>
                    <a:p>
                      <a:r>
                        <a:rPr sz="1300" b="0">
                          <a:solidFill>
                            <a:srgbClr val="1F2937"/>
                          </a:solidFill>
                        </a:rPr>
                        <a:t>Tenglik; huquq va burch o‘zaro bog‘liq</a:t>
                      </a:r>
                    </a:p>
                  </a:txBody>
                  <a:tcPr marL="73152" marR="73152" marT="36576" marB="36576">
                    <a:solidFill>
                      <a:srgbClr val="E8EEF6"/>
                    </a:solidFill>
                  </a:tcPr>
                </a:tc>
              </a:tr>
              <a:tr h="411480">
                <a:tc>
                  <a:txBody>
                    <a:bodyPr/>
                    <a:lstStyle/>
                    <a:p>
                      <a:r>
                        <a:rPr sz="1300" b="0">
                          <a:solidFill>
                            <a:srgbClr val="1F2937"/>
                          </a:solidFill>
                        </a:rPr>
                        <a:t>40-modda</a:t>
                      </a:r>
                    </a:p>
                  </a:txBody>
                  <a:tcPr marL="73152" marR="73152" marT="36576" marB="36576">
                    <a:solidFill>
                      <a:srgbClr val="FFFFFF"/>
                    </a:solidFill>
                  </a:tcPr>
                </a:tc>
                <a:tc>
                  <a:txBody>
                    <a:bodyPr/>
                    <a:lstStyle/>
                    <a:p>
                      <a:r>
                        <a:rPr sz="1300" b="0">
                          <a:solidFill>
                            <a:srgbClr val="1F2937"/>
                          </a:solidFill>
                        </a:rPr>
                        <a:t>Malakali tibbiy xizmat huquqi</a:t>
                      </a:r>
                    </a:p>
                  </a:txBody>
                  <a:tcPr marL="73152" marR="73152" marT="36576" marB="36576">
                    <a:solidFill>
                      <a:srgbClr val="FFFFFF"/>
                    </a:solidFill>
                  </a:tcPr>
                </a:tc>
              </a:tr>
              <a:tr h="411480">
                <a:tc>
                  <a:txBody>
                    <a:bodyPr/>
                    <a:lstStyle/>
                    <a:p>
                      <a:r>
                        <a:rPr sz="1300" b="0">
                          <a:solidFill>
                            <a:srgbClr val="1F2937"/>
                          </a:solidFill>
                        </a:rPr>
                        <a:t>43-modda</a:t>
                      </a:r>
                    </a:p>
                  </a:txBody>
                  <a:tcPr marL="73152" marR="73152" marT="36576" marB="36576">
                    <a:solidFill>
                      <a:srgbClr val="E8EEF6"/>
                    </a:solidFill>
                  </a:tcPr>
                </a:tc>
                <a:tc>
                  <a:txBody>
                    <a:bodyPr/>
                    <a:lstStyle/>
                    <a:p>
                      <a:r>
                        <a:rPr sz="1300" b="0">
                          <a:solidFill>
                            <a:srgbClr val="1F2937"/>
                          </a:solidFill>
                        </a:rPr>
                        <a:t>Davlat huquqlarni kafolatlaydi</a:t>
                      </a:r>
                    </a:p>
                  </a:txBody>
                  <a:tcPr marL="73152" marR="73152" marT="36576" marB="36576">
                    <a:solidFill>
                      <a:srgbClr val="E8EEF6"/>
                    </a:solidFill>
                  </a:tcPr>
                </a:tc>
              </a:tr>
              <a:tr h="411480">
                <a:tc>
                  <a:txBody>
                    <a:bodyPr/>
                    <a:lstStyle/>
                    <a:p>
                      <a:r>
                        <a:rPr sz="1300" b="0">
                          <a:solidFill>
                            <a:srgbClr val="1F2937"/>
                          </a:solidFill>
                        </a:rPr>
                        <a:t>44–45-modda</a:t>
                      </a:r>
                    </a:p>
                  </a:txBody>
                  <a:tcPr marL="73152" marR="73152" marT="36576" marB="36576">
                    <a:solidFill>
                      <a:srgbClr val="FFFFFF"/>
                    </a:solidFill>
                  </a:tcPr>
                </a:tc>
                <a:tc>
                  <a:txBody>
                    <a:bodyPr/>
                    <a:lstStyle/>
                    <a:p>
                      <a:r>
                        <a:rPr sz="1300" b="0">
                          <a:solidFill>
                            <a:srgbClr val="1F2937"/>
                          </a:solidFill>
                        </a:rPr>
                        <a:t>Sud himoyasi; zaif guruhlar himoyasi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moddalar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 majburiyat va javobgarlik bog‘liqligi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 va erkinliklarga egalik ma’lum burch va majburiyatlarning bo‘lishini nazarda tutadi.</a:t>
            </a:r>
          </a:p>
          <a:p>
            <a:pPr>
              <a:spcAft>
                <a:spcPts val="800"/>
              </a:spcAft>
            </a:pPr>
            <a:r>
              <a:rPr sz="1800">
                <a:solidFill>
                  <a:srgbClr val="1F2937"/>
                </a:solidFill>
                <a:latin typeface="Calibri"/>
              </a:rPr>
              <a:t>▸  XI bob burchlarga bag‘ishlangan; ularga rioya qilmaslik javobgarlikka sabab bo‘ladi.</a:t>
            </a:r>
          </a:p>
          <a:p>
            <a:pPr>
              <a:spcAft>
                <a:spcPts val="800"/>
              </a:spcAft>
            </a:pPr>
            <a:r>
              <a:rPr sz="1800">
                <a:solidFill>
                  <a:srgbClr val="1F2937"/>
                </a:solidFill>
                <a:latin typeface="Calibri"/>
              </a:rPr>
              <a:t>▸  Diqqat: huquq, majburiyat va javobgarlikni alohida emas, o‘zaro uzviy bog‘liq deb qabul qiling.</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Qonunda belgilangan huquqlar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Burch va majburiyatlar (XI bob)</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Burchni bajarmaslik</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Qonunda belgilangan javobgarlik</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tushuncha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“Fuqarolar sog‘lig‘ini saqlash to‘g‘risida”gi Qonun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Qonunni Oliy Majlis 1996-yil 29-avgustda qabul qilgan. U shu yilning 14-sentyabridan kuchga kirgan.</a:t>
            </a:r>
          </a:p>
          <a:p>
            <a:pPr>
              <a:spcAft>
                <a:spcPts val="800"/>
              </a:spcAft>
            </a:pPr>
            <a:r>
              <a:rPr sz="1800">
                <a:solidFill>
                  <a:srgbClr val="1F2937"/>
                </a:solidFill>
                <a:latin typeface="Calibri"/>
              </a:rPr>
              <a:t>▸  Qonun 6 qism va 47 moddadan iborat. Keyinchalik unga o‘zgartish va qo‘shimchalar kiritilgan.</a:t>
            </a:r>
          </a:p>
          <a:p>
            <a:pPr>
              <a:spcAft>
                <a:spcPts val="800"/>
              </a:spcAft>
            </a:pPr>
            <a:r>
              <a:rPr sz="1800">
                <a:solidFill>
                  <a:srgbClr val="1F2937"/>
                </a:solidFill>
                <a:latin typeface="Calibri"/>
              </a:rPr>
              <a:t>▸  Qonun normalari umumiy xarakterda. Xususiy jihatlar tarmoq me’yoriy hujjatlarida kengroq yoritilgan.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Qism</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I qism</a:t>
                      </a:r>
                    </a:p>
                  </a:txBody>
                  <a:tcPr marL="73152" marR="73152" marT="36576" marB="36576">
                    <a:solidFill>
                      <a:srgbClr val="E8EEF6"/>
                    </a:solidFill>
                  </a:tcPr>
                </a:tc>
                <a:tc>
                  <a:txBody>
                    <a:bodyPr/>
                    <a:lstStyle/>
                    <a:p>
                      <a:r>
                        <a:rPr sz="1300" b="0">
                          <a:solidFill>
                            <a:srgbClr val="1F2937"/>
                          </a:solidFill>
                        </a:rPr>
                        <a:t>Umumiy qoidalar</a:t>
                      </a:r>
                    </a:p>
                  </a:txBody>
                  <a:tcPr marL="73152" marR="73152" marT="36576" marB="36576">
                    <a:solidFill>
                      <a:srgbClr val="E8EEF6"/>
                    </a:solidFill>
                  </a:tcPr>
                </a:tc>
              </a:tr>
              <a:tr h="411480">
                <a:tc>
                  <a:txBody>
                    <a:bodyPr/>
                    <a:lstStyle/>
                    <a:p>
                      <a:r>
                        <a:rPr sz="1300" b="0">
                          <a:solidFill>
                            <a:srgbClr val="1F2937"/>
                          </a:solidFill>
                        </a:rPr>
                        <a:t>II qism</a:t>
                      </a:r>
                    </a:p>
                  </a:txBody>
                  <a:tcPr marL="73152" marR="73152" marT="36576" marB="36576">
                    <a:solidFill>
                      <a:srgbClr val="FFFFFF"/>
                    </a:solidFill>
                  </a:tcPr>
                </a:tc>
                <a:tc>
                  <a:txBody>
                    <a:bodyPr/>
                    <a:lstStyle/>
                    <a:p>
                      <a:r>
                        <a:rPr sz="1300" b="0">
                          <a:solidFill>
                            <a:srgbClr val="1F2937"/>
                          </a:solidFill>
                        </a:rPr>
                        <a:t>Sog‘liqni huquqiy jihatdan muhofaza qilish</a:t>
                      </a:r>
                    </a:p>
                  </a:txBody>
                  <a:tcPr marL="73152" marR="73152" marT="36576" marB="36576">
                    <a:solidFill>
                      <a:srgbClr val="FFFFFF"/>
                    </a:solidFill>
                  </a:tcPr>
                </a:tc>
              </a:tr>
              <a:tr h="411480">
                <a:tc>
                  <a:txBody>
                    <a:bodyPr/>
                    <a:lstStyle/>
                    <a:p>
                      <a:r>
                        <a:rPr sz="1300" b="0">
                          <a:solidFill>
                            <a:srgbClr val="1F2937"/>
                          </a:solidFill>
                        </a:rPr>
                        <a:t>III qism</a:t>
                      </a:r>
                    </a:p>
                  </a:txBody>
                  <a:tcPr marL="73152" marR="73152" marT="36576" marB="36576">
                    <a:solidFill>
                      <a:srgbClr val="E8EEF6"/>
                    </a:solidFill>
                  </a:tcPr>
                </a:tc>
                <a:tc>
                  <a:txBody>
                    <a:bodyPr/>
                    <a:lstStyle/>
                    <a:p>
                      <a:r>
                        <a:rPr sz="1300" b="0">
                          <a:solidFill>
                            <a:srgbClr val="1F2937"/>
                          </a:solidFill>
                        </a:rPr>
                        <a:t>Fuqarolarga tibbiy-ijtimoiy yordam</a:t>
                      </a:r>
                    </a:p>
                  </a:txBody>
                  <a:tcPr marL="73152" marR="73152" marT="36576" marB="36576">
                    <a:solidFill>
                      <a:srgbClr val="E8EEF6"/>
                    </a:solidFill>
                  </a:tcPr>
                </a:tc>
              </a:tr>
              <a:tr h="411480">
                <a:tc>
                  <a:txBody>
                    <a:bodyPr/>
                    <a:lstStyle/>
                    <a:p>
                      <a:r>
                        <a:rPr sz="1300" b="0">
                          <a:solidFill>
                            <a:srgbClr val="1F2937"/>
                          </a:solidFill>
                        </a:rPr>
                        <a:t>IV–VI qism</a:t>
                      </a:r>
                    </a:p>
                  </a:txBody>
                  <a:tcPr marL="73152" marR="73152" marT="36576" marB="36576">
                    <a:solidFill>
                      <a:srgbClr val="FFFFFF"/>
                    </a:solidFill>
                  </a:tcPr>
                </a:tc>
                <a:tc>
                  <a:txBody>
                    <a:bodyPr/>
                    <a:lstStyle/>
                    <a:p>
                      <a:r>
                        <a:rPr sz="1300" b="0">
                          <a:solidFill>
                            <a:srgbClr val="1F2937"/>
                          </a:solidFill>
                        </a:rPr>
                        <a:t>Ekspertiza; xodimlar; yakunlovchi qoidalar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Qonun qismlari (guruhlab)</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Qonunning vazifalari va salomatlik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2-modda: huquqlarning davlat kafolati, sog‘lom turmush tarzi, idoralar faoliyatini huquqiy tartibga solish.</a:t>
            </a:r>
          </a:p>
          <a:p>
            <a:pPr>
              <a:spcAft>
                <a:spcPts val="800"/>
              </a:spcAft>
            </a:pPr>
            <a:r>
              <a:rPr sz="1800">
                <a:solidFill>
                  <a:srgbClr val="1F2937"/>
                </a:solidFill>
                <a:latin typeface="Calibri"/>
              </a:rPr>
              <a:t>▸  Tibbiy yordam salomatlikning taxminan faqat o‘ndan bir qismini ta’minlashi mumkin.</a:t>
            </a:r>
          </a:p>
          <a:p>
            <a:pPr>
              <a:spcAft>
                <a:spcPts val="800"/>
              </a:spcAft>
            </a:pPr>
            <a:r>
              <a:rPr sz="1800">
                <a:solidFill>
                  <a:srgbClr val="1F2937"/>
                </a:solidFill>
                <a:latin typeface="Calibri"/>
              </a:rPr>
              <a:t>▸  Diqqat: tibbiy yordam ≠ salomatlikning asosiy omili; birinchi o‘rinda shaxsning o‘zi mas’ul.</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407806"/>
                <a:gridCol w="1880168"/>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Ulushi</a:t>
                      </a:r>
                    </a:p>
                  </a:txBody>
                  <a:tcPr marL="73152" marR="73152" marT="36576" marB="36576">
                    <a:solidFill>
                      <a:srgbClr val="0B1F3A"/>
                    </a:solidFill>
                  </a:tcPr>
                </a:tc>
              </a:tr>
              <a:tr h="411480">
                <a:tc>
                  <a:txBody>
                    <a:bodyPr/>
                    <a:lstStyle/>
                    <a:p>
                      <a:r>
                        <a:rPr sz="1300" b="0">
                          <a:solidFill>
                            <a:srgbClr val="1F2937"/>
                          </a:solidFill>
                        </a:rPr>
                        <a:t>Turmush tarzi</a:t>
                      </a:r>
                    </a:p>
                  </a:txBody>
                  <a:tcPr marL="73152" marR="73152" marT="36576" marB="36576">
                    <a:solidFill>
                      <a:srgbClr val="E8EEF6"/>
                    </a:solidFill>
                  </a:tcPr>
                </a:tc>
                <a:tc>
                  <a:txBody>
                    <a:bodyPr/>
                    <a:lstStyle/>
                    <a:p>
                      <a:r>
                        <a:rPr sz="1300" b="0">
                          <a:solidFill>
                            <a:srgbClr val="1F2937"/>
                          </a:solidFill>
                        </a:rPr>
                        <a:t>taxminan 48–52%</a:t>
                      </a:r>
                    </a:p>
                  </a:txBody>
                  <a:tcPr marL="73152" marR="73152" marT="36576" marB="36576">
                    <a:solidFill>
                      <a:srgbClr val="E8EEF6"/>
                    </a:solidFill>
                  </a:tcPr>
                </a:tc>
              </a:tr>
              <a:tr h="411480">
                <a:tc>
                  <a:txBody>
                    <a:bodyPr/>
                    <a:lstStyle/>
                    <a:p>
                      <a:r>
                        <a:rPr sz="1300" b="0">
                          <a:solidFill>
                            <a:srgbClr val="1F2937"/>
                          </a:solidFill>
                        </a:rPr>
                        <a:t>Nasl va irsiy xususiyatlar</a:t>
                      </a:r>
                    </a:p>
                  </a:txBody>
                  <a:tcPr marL="73152" marR="73152" marT="36576" marB="36576">
                    <a:solidFill>
                      <a:srgbClr val="FFFFFF"/>
                    </a:solidFill>
                  </a:tcPr>
                </a:tc>
                <a:tc>
                  <a:txBody>
                    <a:bodyPr/>
                    <a:lstStyle/>
                    <a:p>
                      <a:r>
                        <a:rPr sz="1300" b="0">
                          <a:solidFill>
                            <a:srgbClr val="1F2937"/>
                          </a:solidFill>
                        </a:rPr>
                        <a:t>taxminan 18–20%</a:t>
                      </a:r>
                    </a:p>
                  </a:txBody>
                  <a:tcPr marL="73152" marR="73152" marT="36576" marB="36576">
                    <a:solidFill>
                      <a:srgbClr val="FFFFFF"/>
                    </a:solidFill>
                  </a:tcPr>
                </a:tc>
              </a:tr>
              <a:tr h="411480">
                <a:tc>
                  <a:txBody>
                    <a:bodyPr/>
                    <a:lstStyle/>
                    <a:p>
                      <a:r>
                        <a:rPr sz="1300" b="0">
                          <a:solidFill>
                            <a:srgbClr val="1F2937"/>
                          </a:solidFill>
                        </a:rPr>
                        <a:t>Ekologik omillar</a:t>
                      </a:r>
                    </a:p>
                  </a:txBody>
                  <a:tcPr marL="73152" marR="73152" marT="36576" marB="36576">
                    <a:solidFill>
                      <a:srgbClr val="E8EEF6"/>
                    </a:solidFill>
                  </a:tcPr>
                </a:tc>
                <a:tc>
                  <a:txBody>
                    <a:bodyPr/>
                    <a:lstStyle/>
                    <a:p>
                      <a:r>
                        <a:rPr sz="1300" b="0">
                          <a:solidFill>
                            <a:srgbClr val="1F2937"/>
                          </a:solidFill>
                        </a:rPr>
                        <a:t>taxminan 18–20%</a:t>
                      </a:r>
                    </a:p>
                  </a:txBody>
                  <a:tcPr marL="73152" marR="73152" marT="36576" marB="36576">
                    <a:solidFill>
                      <a:srgbClr val="E8EEF6"/>
                    </a:solidFill>
                  </a:tcPr>
                </a:tc>
              </a:tr>
              <a:tr h="411480">
                <a:tc>
                  <a:txBody>
                    <a:bodyPr/>
                    <a:lstStyle/>
                    <a:p>
                      <a:r>
                        <a:rPr sz="1300" b="0">
                          <a:solidFill>
                            <a:srgbClr val="1F2937"/>
                          </a:solidFill>
                        </a:rPr>
                        <a:t>Ko‘rsatiladigan tibbiy yordam</a:t>
                      </a:r>
                    </a:p>
                  </a:txBody>
                  <a:tcPr marL="73152" marR="73152" marT="36576" marB="36576">
                    <a:solidFill>
                      <a:srgbClr val="FFFFFF"/>
                    </a:solidFill>
                  </a:tcPr>
                </a:tc>
                <a:tc>
                  <a:txBody>
                    <a:bodyPr/>
                    <a:lstStyle/>
                    <a:p>
                      <a:r>
                        <a:rPr sz="1300" b="0">
                          <a:solidFill>
                            <a:srgbClr val="1F2937"/>
                          </a:solidFill>
                        </a:rPr>
                        <a:t>taxminan 8–10%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Salomatlikka ta’sir omillari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10-11,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Sog‘liqni saqlashning asosiy tamoyillari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3-modda beshta tamoyilni beradi: inson huquqlariga rioya, aholining barcha qatlamlari yordamdan bahramandligi va profilaktikaning ustuvorligi.</a:t>
            </a:r>
          </a:p>
          <a:p>
            <a:pPr>
              <a:spcAft>
                <a:spcPts val="1200"/>
              </a:spcAft>
            </a:pPr>
            <a:r>
              <a:rPr sz="2200">
                <a:solidFill>
                  <a:srgbClr val="1F2937"/>
                </a:solidFill>
                <a:latin typeface="Calibri"/>
              </a:rPr>
              <a:t>▸  Qolgan ikki tamoyil: sog‘lig‘ini yo‘qotganda fuqaroning ijtimoiy himoyasi va tibbiyot fanining amaliyot bilan birligi.</a:t>
            </a:r>
          </a:p>
          <a:p>
            <a:pPr>
              <a:spcAft>
                <a:spcPts val="1200"/>
              </a:spcAft>
            </a:pPr>
            <a:r>
              <a:rPr sz="2200">
                <a:solidFill>
                  <a:srgbClr val="1F2937"/>
                </a:solidFill>
                <a:latin typeface="Calibri"/>
              </a:rPr>
              <a:t>▸  Vakolatlar: Vazirlar Mahkamasi (4-modda), Sog‘liqni saqlash vazirligi (5-modda), mahalliy davlat hokimiyati organlari (6-modda). 7-moddada tizimlar: davlat, xususiy va boshqa.</a:t>
            </a:r>
          </a:p>
          <a:p>
            <a:pPr>
              <a:spcAft>
                <a:spcPts val="1200"/>
              </a:spcAft>
            </a:pPr>
            <a:r>
              <a:rPr sz="2200">
                <a:solidFill>
                  <a:srgbClr val="1F2937"/>
                </a:solidFill>
                <a:latin typeface="Calibri"/>
              </a:rPr>
              <a:t>▸  Eslab qoling: H-B-P-I-F — Huquq, Bahramandlik, Profilaktika, Ijtimoiy himoya, Fan+amaliyot (o‘quv yordami belgisi).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Sog‘liqni saqlash tizimlari va bepul yordam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 sog‘liqni saqlashning davlat, xususiy va boshqa tizimlarini farqlaydi (7-modda).</a:t>
            </a:r>
          </a:p>
          <a:p>
            <a:pPr>
              <a:spcAft>
                <a:spcPts val="800"/>
              </a:spcAft>
            </a:pPr>
            <a:r>
              <a:rPr sz="1800">
                <a:solidFill>
                  <a:srgbClr val="1F2937"/>
                </a:solidFill>
                <a:latin typeface="Calibri"/>
              </a:rPr>
              <a:t>▸  Davlat muassasalari kafolatlangan tibbiy yordamni bepul ko‘rsatadi; uning hajmi va tartibi qonunchilikda belgilanadi.</a:t>
            </a:r>
          </a:p>
          <a:p>
            <a:pPr>
              <a:spcAft>
                <a:spcPts val="800"/>
              </a:spcAft>
            </a:pPr>
            <a:r>
              <a:rPr sz="1800">
                <a:solidFill>
                  <a:srgbClr val="1F2937"/>
                </a:solidFill>
                <a:latin typeface="Calibri"/>
              </a:rPr>
              <a:t>▸  Kafolatdan tashqari tibbiy va boshqa xizmatlar qo‘shimcha hisoblanadi, fuqaro ular uchun haq to‘laydi (8-modda).</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052978"/>
                <a:gridCol w="1741921"/>
                <a:gridCol w="1493075"/>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Davlat tizimi</a:t>
                      </a:r>
                    </a:p>
                  </a:txBody>
                  <a:tcPr marL="73152" marR="73152" marT="36576" marB="36576">
                    <a:solidFill>
                      <a:srgbClr val="0B1F3A"/>
                    </a:solidFill>
                  </a:tcPr>
                </a:tc>
                <a:tc>
                  <a:txBody>
                    <a:bodyPr/>
                    <a:lstStyle/>
                    <a:p>
                      <a:r>
                        <a:rPr sz="1300" b="1">
                          <a:solidFill>
                            <a:srgbClr val="FFFFFF"/>
                          </a:solidFill>
                        </a:rPr>
                        <a:t>Xususiy tizim</a:t>
                      </a:r>
                    </a:p>
                  </a:txBody>
                  <a:tcPr marL="73152" marR="73152" marT="36576" marB="36576">
                    <a:solidFill>
                      <a:srgbClr val="0B1F3A"/>
                    </a:solidFill>
                  </a:tcPr>
                </a:tc>
              </a:tr>
              <a:tr h="411480">
                <a:tc>
                  <a:txBody>
                    <a:bodyPr/>
                    <a:lstStyle/>
                    <a:p>
                      <a:r>
                        <a:rPr sz="1200" b="0">
                          <a:solidFill>
                            <a:srgbClr val="1F2937"/>
                          </a:solidFill>
                        </a:rPr>
                        <a:t>Birlamchi yordam</a:t>
                      </a:r>
                    </a:p>
                  </a:txBody>
                  <a:tcPr marL="73152" marR="73152" marT="36576" marB="36576">
                    <a:solidFill>
                      <a:srgbClr val="E8EEF6"/>
                    </a:solidFill>
                  </a:tcPr>
                </a:tc>
                <a:tc>
                  <a:txBody>
                    <a:bodyPr/>
                    <a:lstStyle/>
                    <a:p>
                      <a:r>
                        <a:rPr sz="1200" b="0">
                          <a:solidFill>
                            <a:srgbClr val="1F2937"/>
                          </a:solidFill>
                        </a:rPr>
                        <a:t>Bepul, davlat kafolati bilan</a:t>
                      </a:r>
                    </a:p>
                  </a:txBody>
                  <a:tcPr marL="73152" marR="73152" marT="36576" marB="36576">
                    <a:solidFill>
                      <a:srgbClr val="E8EEF6"/>
                    </a:solidFill>
                  </a:tcPr>
                </a:tc>
                <a:tc>
                  <a:txBody>
                    <a:bodyPr/>
                    <a:lstStyle/>
                    <a:p>
                      <a:r>
                        <a:rPr sz="1200" b="0">
                          <a:solidFill>
                            <a:srgbClr val="1F2937"/>
                          </a:solidFill>
                        </a:rPr>
                        <a:t>Asosan shartnoma asosida</a:t>
                      </a:r>
                    </a:p>
                  </a:txBody>
                  <a:tcPr marL="73152" marR="73152" marT="36576" marB="36576">
                    <a:solidFill>
                      <a:srgbClr val="E8EEF6"/>
                    </a:solidFill>
                  </a:tcPr>
                </a:tc>
              </a:tr>
              <a:tr h="411480">
                <a:tc>
                  <a:txBody>
                    <a:bodyPr/>
                    <a:lstStyle/>
                    <a:p>
                      <a:r>
                        <a:rPr sz="1200" b="0">
                          <a:solidFill>
                            <a:srgbClr val="1F2937"/>
                          </a:solidFill>
                        </a:rPr>
                        <a:t>Ayrim guruhlar</a:t>
                      </a:r>
                    </a:p>
                  </a:txBody>
                  <a:tcPr marL="73152" marR="73152" marT="36576" marB="36576">
                    <a:solidFill>
                      <a:srgbClr val="FFFFFF"/>
                    </a:solidFill>
                  </a:tcPr>
                </a:tc>
                <a:tc>
                  <a:txBody>
                    <a:bodyPr/>
                    <a:lstStyle/>
                    <a:p>
                      <a:r>
                        <a:rPr sz="1200" b="0">
                          <a:solidFill>
                            <a:srgbClr val="1F2937"/>
                          </a:solidFill>
                        </a:rPr>
                        <a:t>Bepul</a:t>
                      </a:r>
                    </a:p>
                  </a:txBody>
                  <a:tcPr marL="73152" marR="73152" marT="36576" marB="36576">
                    <a:solidFill>
                      <a:srgbClr val="FFFFFF"/>
                    </a:solidFill>
                  </a:tcPr>
                </a:tc>
                <a:tc>
                  <a:txBody>
                    <a:bodyPr/>
                    <a:lstStyle/>
                    <a:p>
                      <a:r>
                        <a:rPr sz="1200" b="0">
                          <a:solidFill>
                            <a:srgbClr val="1F2937"/>
                          </a:solidFill>
                        </a:rPr>
                        <a:t>Bu yerda ham bepul</a:t>
                      </a:r>
                    </a:p>
                  </a:txBody>
                  <a:tcPr marL="73152" marR="73152" marT="36576" marB="36576">
                    <a:solidFill>
                      <a:srgbClr val="FFFFFF"/>
                    </a:solidFill>
                  </a:tcPr>
                </a:tc>
              </a:tr>
              <a:tr h="411480">
                <a:tc>
                  <a:txBody>
                    <a:bodyPr/>
                    <a:lstStyle/>
                    <a:p>
                      <a:r>
                        <a:rPr sz="1200" b="0">
                          <a:solidFill>
                            <a:srgbClr val="1F2937"/>
                          </a:solidFill>
                        </a:rPr>
                        <a:t>Guruhlar tartibini kim belgilaydi</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c>
                  <a:txBody>
                    <a:bodyPr/>
                    <a:lstStyle/>
                    <a:p>
                      <a:r>
                        <a:rPr sz="1200" b="0">
                          <a:solidFill>
                            <a:srgbClr val="1F2937"/>
                          </a:solidFill>
                        </a:rPr>
                        <a:t>Vazirlar Mahkamasi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Davlat va xususiy tizim: birlamchi yordam</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11, 11-12,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Konstitutsiya va Qonun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Konstitutsiyaning qaysi moddasi har bir fuqaroga malakali tibbiy xizmatdan foydalanish huquqini kafolatlaydi?</a:t>
            </a:r>
          </a:p>
          <a:p>
            <a:pPr>
              <a:spcAft>
                <a:spcPts val="1200"/>
              </a:spcAft>
            </a:pPr>
            <a:r>
              <a:rPr sz="2200">
                <a:solidFill>
                  <a:srgbClr val="1F2937"/>
                </a:solidFill>
                <a:latin typeface="Calibri"/>
              </a:rPr>
              <a:t>▸  2-savol: «Fuqarolar sog‘lig‘ini saqlash to‘g‘risida»gi Qonun qachon qabul qilingan va u nechta qism va moddadan iborat?</a:t>
            </a:r>
          </a:p>
          <a:p>
            <a:pPr>
              <a:spcAft>
                <a:spcPts val="1200"/>
              </a:spcAft>
            </a:pPr>
            <a:r>
              <a:rPr sz="2200">
                <a:solidFill>
                  <a:srgbClr val="1F2937"/>
                </a:solidFill>
                <a:latin typeface="Calibri"/>
              </a:rPr>
              <a:t>▸  3-savol: Qonundagi sog‘liqni saqlashning 5 ta asosiy tamoyilini sanang. Davlat tizimida qanday yordam bepul?</a:t>
            </a:r>
          </a:p>
          <a:p>
            <a:pPr>
              <a:spcAft>
                <a:spcPts val="1200"/>
              </a:spcAft>
            </a:pPr>
            <a:r>
              <a:rPr sz="2200">
                <a:solidFill>
                  <a:srgbClr val="1F2937"/>
                </a:solidFill>
                <a:latin typeface="Calibri"/>
              </a:rPr>
              <a:t>▸  Diqqat: Konstitutsiyaning 18-moddasi tenglik haqida, Qonunning 18-moddasi esa oila uchun bepul maslahat haqida. Farqlang!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 10, 11-12, 9,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Oila va alohida toifalar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Qonunning 18-moddasiga ko‘ra fuqaro davlat muassasalarida oila, xavfli kasallik bor-yo‘qligi, nikoh va oilaning tibbiy-ruhiy, tibbiy-irsiy jihatlari bo‘yicha bepul maslahat va tekshiruv oladi.</a:t>
            </a:r>
          </a:p>
          <a:p>
            <a:pPr>
              <a:spcAft>
                <a:spcPts val="1200"/>
              </a:spcAft>
            </a:pPr>
            <a:r>
              <a:rPr sz="2000">
                <a:solidFill>
                  <a:srgbClr val="1F2937"/>
                </a:solidFill>
                <a:latin typeface="Calibri"/>
              </a:rPr>
              <a:t>▸  Har bir oila oilaviy shifokorni o‘zi tanlaydi; bolali oilalar qonunchilikda belgilangan imtiyozlardan foydalanadi.</a:t>
            </a:r>
          </a:p>
          <a:p>
            <a:pPr>
              <a:spcAft>
                <a:spcPts val="1200"/>
              </a:spcAft>
            </a:pPr>
            <a:r>
              <a:rPr sz="2000">
                <a:solidFill>
                  <a:srgbClr val="1F2937"/>
                </a:solidFill>
                <a:latin typeface="Calibri"/>
              </a:rPr>
              <a:t>▸  Nikohdan o‘tuvchilarning tibbiy ko‘rigi Oila kodeksining 17-moddasi va Vazirlar Mahkamasining 365-son (2003 yil 25 avgust) Qarori bilan belgilangan; ular Qonunning 18-moddasiga mos.</a:t>
            </a:r>
          </a:p>
          <a:p>
            <a:pPr>
              <a:spcAft>
                <a:spcPts val="1200"/>
              </a:spcAft>
            </a:pPr>
            <a:r>
              <a:rPr sz="2000">
                <a:solidFill>
                  <a:srgbClr val="1F2937"/>
                </a:solidFill>
                <a:latin typeface="Calibri"/>
              </a:rPr>
              <a:t>▸  Qonun alohida toifalarning huquqlarini ham beradi: kasb egalari (17), voyaga etmaganlar (19), harbiylar (20), pensionerlar (21), nogironlar (22), favqulodda vaziyatda jabrlanganlar (23-modda).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12, 12-13,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Bemor huquqlari (24-modda)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Bemor tibbiyot xodimlaridan hurmat va insoniy munosabat talab qila oladi. Shifokorni va davolash-profilaktika muassasasini o‘zi tanlaydi.</a:t>
            </a:r>
          </a:p>
          <a:p>
            <a:pPr>
              <a:spcAft>
                <a:spcPts val="1200"/>
              </a:spcAft>
            </a:pPr>
            <a:r>
              <a:rPr sz="2000">
                <a:solidFill>
                  <a:srgbClr val="1F2937"/>
                </a:solidFill>
                <a:latin typeface="Calibri"/>
              </a:rPr>
              <a:t>▸  Tekshiruv, davolanish va parvarish sanitariya-gigiena talablariga mos sharoitda o‘tadi. Iltimosiga ko‘ra konsilium o‘tkaziladi va boshqa mutaxassis maslahat beradi.</a:t>
            </a:r>
          </a:p>
          <a:p>
            <a:pPr>
              <a:spcAft>
                <a:spcPts val="1200"/>
              </a:spcAft>
            </a:pPr>
            <a:r>
              <a:rPr sz="2000">
                <a:solidFill>
                  <a:srgbClr val="1F2937"/>
                </a:solidFill>
                <a:latin typeface="Calibri"/>
              </a:rPr>
              <a:t>▸  Murojaat qilgani, sog‘lig‘i holati va tashxis sir saqlanadi. Bemor tibbiy muolajaga o‘z ixtiyori bilan rozilik beradi yoki uni rad etadi.</a:t>
            </a:r>
          </a:p>
          <a:p>
            <a:pPr>
              <a:spcAft>
                <a:spcPts val="1200"/>
              </a:spcAft>
            </a:pPr>
            <a:r>
              <a:rPr sz="2000">
                <a:solidFill>
                  <a:srgbClr val="1F2937"/>
                </a:solidFill>
                <a:latin typeface="Calibri"/>
              </a:rPr>
              <a:t>▸  Sog‘lig‘iga yetkazilgan zarar qonunda belgilangan tartibda qoplanadi. Himoya uchun advokat yoki qonuniy vakil qo‘yiladi. Huquq buzilsa, rahbariyatga, yuqori organga yoki sudga shikoyat qilinadi.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13, 13-14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Axborot olish huquqi (25-modda)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Fuqaro tekshiruv va davolash natijalari, tashxis hamda kasallik prognozi haqida to‘liq ma’lumot olish huquqiga ega.</a:t>
            </a:r>
          </a:p>
          <a:p>
            <a:pPr>
              <a:spcAft>
                <a:spcPts val="1200"/>
              </a:spcAft>
            </a:pPr>
            <a:r>
              <a:rPr sz="2200">
                <a:solidFill>
                  <a:srgbClr val="1F2937"/>
                </a:solidFill>
                <a:latin typeface="Calibri"/>
              </a:rPr>
              <a:t>▸  Unga davolash usullari, ularning xavf-xatari, muolajalarning ehtimol tutilgan turlari va oqibatlari ham tushuntiriladi.</a:t>
            </a:r>
          </a:p>
          <a:p>
            <a:pPr>
              <a:spcAft>
                <a:spcPts val="1200"/>
              </a:spcAft>
            </a:pPr>
            <a:r>
              <a:rPr sz="2200">
                <a:solidFill>
                  <a:srgbClr val="1F2937"/>
                </a:solidFill>
                <a:latin typeface="Calibri"/>
              </a:rPr>
              <a:t>▸  Diqqat: 14 yoshga to‘lmagan va muomalaga layoqatsiz deb topilganlar haqidagi ma’lumot bemorning o‘ziga emas, qonuniy vakiliga beriladi.</a:t>
            </a:r>
          </a:p>
          <a:p>
            <a:pPr>
              <a:spcAft>
                <a:spcPts val="1200"/>
              </a:spcAft>
            </a:pPr>
            <a:r>
              <a:rPr sz="2200">
                <a:solidFill>
                  <a:srgbClr val="1F2937"/>
                </a:solidFill>
                <a:latin typeface="Calibri"/>
              </a:rPr>
              <a:t>▸  Kasallik kechishi nomaqbul deb taxmin qilinsa, ma’lumot fuqaroga yoki u tayinlagan shaxsga tibbiy etika me’yorlariga rioya qilib aytiladi.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aralashuvga rozilik (26-modda)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aralashuv faqat ma’lumotli fuqaroning ixtiyoriy roziligi bilan o‘tkaziladi.</a:t>
            </a:r>
          </a:p>
          <a:p>
            <a:pPr>
              <a:spcAft>
                <a:spcPts val="800"/>
              </a:spcAft>
            </a:pPr>
            <a:r>
              <a:rPr sz="1800">
                <a:solidFill>
                  <a:srgbClr val="1F2937"/>
                </a:solidFill>
                <a:latin typeface="Calibri"/>
              </a:rPr>
              <a:t>▸  14 yoshgacha va layoqatsiz deb topilganlar uchun rozilikni qonuniy vakil beradi.</a:t>
            </a:r>
          </a:p>
          <a:p>
            <a:pPr>
              <a:spcAft>
                <a:spcPts val="800"/>
              </a:spcAft>
            </a:pPr>
            <a:r>
              <a:rPr sz="1800">
                <a:solidFill>
                  <a:srgbClr val="1F2937"/>
                </a:solidFill>
                <a:latin typeface="Calibri"/>
              </a:rPr>
              <a:t>▸  Vakil bo‘lmasa masalani konsilium, u yig‘ilmasa davolovchi yoki navbatchi vrach hal qiladi.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irodasini bildira olmaydi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Kechiktirib bo‘lmaydigan holat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Konsilium qaror qiladi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Davolovchi yoki navbatchi vrach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Rahbariyatga keyin xabar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Bemor rozilik bera olmasa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Rad etish va roziliksiz yordam (27-28-moddalar)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Bemor yoki qonuniy vakili tibbiy aralashuvni rad etishi yoki uni to‘xtatishni talab qilishi mumkin.</a:t>
            </a:r>
          </a:p>
          <a:p>
            <a:pPr>
              <a:spcAft>
                <a:spcPts val="800"/>
              </a:spcAft>
            </a:pPr>
            <a:r>
              <a:rPr sz="1800">
                <a:solidFill>
                  <a:srgbClr val="1F2937"/>
                </a:solidFill>
                <a:latin typeface="Calibri"/>
              </a:rPr>
              <a:t>▸  Rad etish yozma tasdiqnoma bilan rasmiylashtiriladi, iloji bo‘lmasa guvohlar ishtirokida dalolatnoma tuziladi.</a:t>
            </a:r>
          </a:p>
          <a:p>
            <a:pPr>
              <a:spcAft>
                <a:spcPts val="800"/>
              </a:spcAft>
            </a:pPr>
            <a:r>
              <a:rPr sz="1800">
                <a:solidFill>
                  <a:srgbClr val="1F2937"/>
                </a:solidFill>
                <a:latin typeface="Calibri"/>
              </a:rPr>
              <a:t>▸  Kasallik atrofdagilarga xavfli bo‘lsa, rozilik shart emas: tekshiruv, yotqizish, kuzatish va yakkalab qo‘yish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 etish (bemor/vakil)</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Yozma rad tasdiqnomasi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Yoki guvohli dalolatnoma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Vakil rad etdi, oqibat og‘ir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Vasiylik organiga xabar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Rad etish tartibi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Tibbiy-ijtimoiy yordam turlari (29-31-moddalar)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Qonunning 3-qismida yordam turlari berilgan: birlamchi, shoshilinch va tez, ixtisoslashtirilgan.</a:t>
            </a:r>
          </a:p>
          <a:p>
            <a:pPr>
              <a:spcAft>
                <a:spcPts val="800"/>
              </a:spcAft>
            </a:pPr>
            <a:r>
              <a:rPr sz="1800">
                <a:solidFill>
                  <a:srgbClr val="1F2937"/>
                </a:solidFill>
                <a:latin typeface="Calibri"/>
              </a:rPr>
              <a:t>▸  Birlamchi yordam davlat muassasalarida xizmatning asosiy, qulay va bepul turi hisoblanadi.</a:t>
            </a:r>
          </a:p>
          <a:p>
            <a:pPr>
              <a:spcAft>
                <a:spcPts val="800"/>
              </a:spcAft>
            </a:pPr>
            <a:r>
              <a:rPr sz="1800">
                <a:solidFill>
                  <a:srgbClr val="1F2937"/>
                </a:solidFill>
                <a:latin typeface="Calibri"/>
              </a:rPr>
              <a:t>▸  Diqqat: xususiy muassasalarda birlamchi yordam asosan shartnoma asosida, ayrim guruhlarga esa bepul.</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34348"/>
                <a:gridCol w="1976813"/>
                <a:gridCol w="1976813"/>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Belgilaydi</a:t>
                      </a:r>
                    </a:p>
                  </a:txBody>
                  <a:tcPr marL="73152" marR="73152" marT="36576" marB="36576">
                    <a:solidFill>
                      <a:srgbClr val="0B1F3A"/>
                    </a:solidFill>
                  </a:tcPr>
                </a:tc>
              </a:tr>
              <a:tr h="411480">
                <a:tc>
                  <a:txBody>
                    <a:bodyPr/>
                    <a:lstStyle/>
                    <a:p>
                      <a:r>
                        <a:rPr sz="1200" b="0">
                          <a:solidFill>
                            <a:srgbClr val="1F2937"/>
                          </a:solidFill>
                        </a:rPr>
                        <a:t>Birlamchi tibbiy-sanitariya</a:t>
                      </a:r>
                    </a:p>
                  </a:txBody>
                  <a:tcPr marL="73152" marR="73152" marT="36576" marB="36576">
                    <a:solidFill>
                      <a:srgbClr val="E8EEF6"/>
                    </a:solidFill>
                  </a:tcPr>
                </a:tc>
                <a:tc>
                  <a:txBody>
                    <a:bodyPr/>
                    <a:lstStyle/>
                    <a:p>
                      <a:r>
                        <a:rPr sz="1200" b="0">
                          <a:solidFill>
                            <a:srgbClr val="1F2937"/>
                          </a:solidFill>
                        </a:rPr>
                        <a:t>Asosiy, qulay, bepul; profilaktika, davolash</a:t>
                      </a:r>
                    </a:p>
                  </a:txBody>
                  <a:tcPr marL="73152" marR="73152" marT="36576" marB="36576">
                    <a:solidFill>
                      <a:srgbClr val="E8EEF6"/>
                    </a:solidFill>
                  </a:tcPr>
                </a:tc>
                <a:tc>
                  <a:txBody>
                    <a:bodyPr/>
                    <a:lstStyle/>
                    <a:p>
                      <a:r>
                        <a:rPr sz="1200" b="0">
                          <a:solidFill>
                            <a:srgbClr val="1F2937"/>
                          </a:solidFill>
                        </a:rPr>
                        <a:t>Hajm va tartibni Sog‘liqni saqlash vazirligi</a:t>
                      </a:r>
                    </a:p>
                  </a:txBody>
                  <a:tcPr marL="73152" marR="73152" marT="36576" marB="36576">
                    <a:solidFill>
                      <a:srgbClr val="E8EEF6"/>
                    </a:solidFill>
                  </a:tcPr>
                </a:tc>
              </a:tr>
              <a:tr h="411480">
                <a:tc>
                  <a:txBody>
                    <a:bodyPr/>
                    <a:lstStyle/>
                    <a:p>
                      <a:r>
                        <a:rPr sz="1200" b="0">
                          <a:solidFill>
                            <a:srgbClr val="1F2937"/>
                          </a:solidFill>
                        </a:rPr>
                        <a:t>Shoshilinch va tez</a:t>
                      </a:r>
                    </a:p>
                  </a:txBody>
                  <a:tcPr marL="73152" marR="73152" marT="36576" marB="36576">
                    <a:solidFill>
                      <a:srgbClr val="FFFFFF"/>
                    </a:solidFill>
                  </a:tcPr>
                </a:tc>
                <a:tc>
                  <a:txBody>
                    <a:bodyPr/>
                    <a:lstStyle/>
                    <a:p>
                      <a:r>
                        <a:rPr sz="1200" b="0">
                          <a:solidFill>
                            <a:srgbClr val="1F2937"/>
                          </a:solidFill>
                        </a:rPr>
                        <a:t>Barcha davolash muassasalarida olish huquqi</a:t>
                      </a:r>
                    </a:p>
                  </a:txBody>
                  <a:tcPr marL="73152" marR="73152" marT="36576" marB="36576">
                    <a:solidFill>
                      <a:srgbClr val="FFFFFF"/>
                    </a:solidFill>
                  </a:tcPr>
                </a:tc>
                <a:tc>
                  <a:txBody>
                    <a:bodyPr/>
                    <a:lstStyle/>
                    <a:p>
                      <a:r>
                        <a:rPr sz="1200" b="0">
                          <a:solidFill>
                            <a:srgbClr val="1F2937"/>
                          </a:solidFill>
                        </a:rPr>
                        <a:t>Qonun (30-modda)</a:t>
                      </a:r>
                    </a:p>
                  </a:txBody>
                  <a:tcPr marL="73152" marR="73152" marT="36576" marB="36576">
                    <a:solidFill>
                      <a:srgbClr val="FFFFFF"/>
                    </a:solidFill>
                  </a:tcPr>
                </a:tc>
              </a:tr>
              <a:tr h="411480">
                <a:tc>
                  <a:txBody>
                    <a:bodyPr/>
                    <a:lstStyle/>
                    <a:p>
                      <a:r>
                        <a:rPr sz="1200" b="0">
                          <a:solidFill>
                            <a:srgbClr val="1F2937"/>
                          </a:solidFill>
                        </a:rPr>
                        <a:t>Ixtisoslashtirilgan</a:t>
                      </a:r>
                    </a:p>
                  </a:txBody>
                  <a:tcPr marL="73152" marR="73152" marT="36576" marB="36576">
                    <a:solidFill>
                      <a:srgbClr val="E8EEF6"/>
                    </a:solidFill>
                  </a:tcPr>
                </a:tc>
                <a:tc>
                  <a:txBody>
                    <a:bodyPr/>
                    <a:lstStyle/>
                    <a:p>
                      <a:r>
                        <a:rPr sz="1200" b="0">
                          <a:solidFill>
                            <a:srgbClr val="1F2937"/>
                          </a:solidFill>
                        </a:rPr>
                        <a:t>Maxsus usul, murakkab texnologiya talab</a:t>
                      </a:r>
                    </a:p>
                  </a:txBody>
                  <a:tcPr marL="73152" marR="73152" marT="36576" marB="36576">
                    <a:solidFill>
                      <a:srgbClr val="E8EEF6"/>
                    </a:solidFill>
                  </a:tcPr>
                </a:tc>
                <a:tc>
                  <a:txBody>
                    <a:bodyPr/>
                    <a:lstStyle/>
                    <a:p>
                      <a:r>
                        <a:rPr sz="1200" b="0">
                          <a:solidFill>
                            <a:srgbClr val="1F2937"/>
                          </a:solidFill>
                        </a:rPr>
                        <a:t>Tur, hajm, standart — Vazirlik</a:t>
                      </a:r>
                    </a:p>
                  </a:txBody>
                  <a:tcPr marL="73152" marR="73152" marT="36576" marB="36576">
                    <a:solidFill>
                      <a:srgbClr val="E8EEF6"/>
                    </a:solidFill>
                  </a:tcPr>
                </a:tc>
              </a:tr>
              <a:tr h="411480">
                <a:tc>
                  <a:txBody>
                    <a:bodyPr/>
                    <a:lstStyle/>
                    <a:p>
                      <a:r>
                        <a:rPr sz="1200" b="0">
                          <a:solidFill>
                            <a:srgbClr val="1F2937"/>
                          </a:solidFill>
                        </a:rPr>
                        <a:t>Xususiy tizimda birlamchi</a:t>
                      </a:r>
                    </a:p>
                  </a:txBody>
                  <a:tcPr marL="73152" marR="73152" marT="36576" marB="36576">
                    <a:solidFill>
                      <a:srgbClr val="FFFFFF"/>
                    </a:solidFill>
                  </a:tcPr>
                </a:tc>
                <a:tc>
                  <a:txBody>
                    <a:bodyPr/>
                    <a:lstStyle/>
                    <a:p>
                      <a:r>
                        <a:rPr sz="1200" b="0">
                          <a:solidFill>
                            <a:srgbClr val="1F2937"/>
                          </a:solidFill>
                        </a:rPr>
                        <a:t>Asosan shartnoma asosida, ayrimlarga bepul</a:t>
                      </a:r>
                    </a:p>
                  </a:txBody>
                  <a:tcPr marL="73152" marR="73152" marT="36576" marB="36576">
                    <a:solidFill>
                      <a:srgbClr val="FFFFFF"/>
                    </a:solidFill>
                  </a:tcPr>
                </a:tc>
                <a:tc>
                  <a:txBody>
                    <a:bodyPr/>
                    <a:lstStyle/>
                    <a:p>
                      <a:r>
                        <a:rPr sz="1200" b="0">
                          <a:solidFill>
                            <a:srgbClr val="1F2937"/>
                          </a:solidFill>
                        </a:rPr>
                        <a:t>Guruhlar va hajm — Vazirlar Mahkamasi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Yordam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15, 15-16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Shoshilinch yordam va ijtimoiy ahamiyatli kasalliklar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30-modda: fuqarolar barcha davolash-profilaktika muassasalarida shoshilinch tibbiy yordam olish huquqiga ega.</a:t>
            </a:r>
          </a:p>
          <a:p>
            <a:pPr>
              <a:spcAft>
                <a:spcPts val="1200"/>
              </a:spcAft>
            </a:pPr>
            <a:r>
              <a:rPr sz="2200">
                <a:solidFill>
                  <a:srgbClr val="1F2937"/>
                </a:solidFill>
                <a:latin typeface="Calibri"/>
              </a:rPr>
              <a:t>▸  Hayot xavf ostida bo‘lsa, tibbiyot xodimlari bemorni muassasaga olib borish uchun har qanday transportdan foydalanishi mumkin.</a:t>
            </a:r>
          </a:p>
          <a:p>
            <a:pPr>
              <a:spcAft>
                <a:spcPts val="1200"/>
              </a:spcAft>
            </a:pPr>
            <a:r>
              <a:rPr sz="2200">
                <a:solidFill>
                  <a:srgbClr val="1F2937"/>
                </a:solidFill>
                <a:latin typeface="Calibri"/>
              </a:rPr>
              <a:t>▸  Tibbiyot xodimlari yetib kelguncha birlamchi yordamni militsiya, yong‘indan saqlash, avariya xizmati va transport xodimlari ko‘rsatishi shart.</a:t>
            </a:r>
          </a:p>
          <a:p>
            <a:pPr>
              <a:spcAft>
                <a:spcPts val="1200"/>
              </a:spcAft>
            </a:pPr>
            <a:r>
              <a:rPr sz="2200">
                <a:solidFill>
                  <a:srgbClr val="1F2937"/>
                </a:solidFill>
                <a:latin typeface="Calibri"/>
              </a:rPr>
              <a:t>▸  153-son qaror (1997-yil 20-mart): sil, onkologik, jinsiy yo‘l bilan o‘tuvchi, ruhiy kasalliklar, moxov va OITS (orttirilgan immunitet tanqisligi sindromi) ijtimoiy ahamiyatli.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16, 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bemor huquqlari va yordam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12 yoshli bolaga tibbiy aralashuv kerak. Rozilikni kim beradi? Bemorning o‘zi bera oladimi?</a:t>
            </a:r>
          </a:p>
          <a:p>
            <a:pPr>
              <a:spcAft>
                <a:spcPts val="1200"/>
              </a:spcAft>
            </a:pPr>
            <a:r>
              <a:rPr sz="2200">
                <a:solidFill>
                  <a:srgbClr val="1F2937"/>
                </a:solidFill>
                <a:latin typeface="Calibri"/>
              </a:rPr>
              <a:t>▸  Javob: 14 yoshgacha bo‘lgan va muomalaga layoqatsiz deb topilgan shaxslar uchun rozilikni ularning qonuniy vakillari beradi.</a:t>
            </a:r>
          </a:p>
          <a:p>
            <a:pPr>
              <a:spcAft>
                <a:spcPts val="1200"/>
              </a:spcAft>
            </a:pPr>
            <a:r>
              <a:rPr sz="2200">
                <a:solidFill>
                  <a:srgbClr val="1F2937"/>
                </a:solidFill>
                <a:latin typeface="Calibri"/>
              </a:rPr>
              <a:t>▸  Diqqat: xato qilish xavfi. Bemor irodasini bildira olmasa va aralashuvni kechiktirib bo‘lmasa, masalani konsilium hal qiladi. U yig‘ilmasa, davolovchi yoki navbatchi vrach qaror qiladi va rahbariyatni xabardor qiladi.</a:t>
            </a:r>
          </a:p>
          <a:p>
            <a:pPr>
              <a:spcAft>
                <a:spcPts val="1200"/>
              </a:spcAft>
            </a:pPr>
            <a:r>
              <a:rPr sz="2200">
                <a:solidFill>
                  <a:srgbClr val="1F2937"/>
                </a:solidFill>
                <a:latin typeface="Calibri"/>
              </a:rPr>
              <a:t>▸  Bemor aralashuvni rad etsa, vrach yozma rad tasdiqnomasini oladi. Iloji bo‘lmasa, guvohlar ishtirokida dalolatnoma tuziladi.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14, 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ekspertiza turlari (36-40-moddalar)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Qonunning to‘rtinchi qismi tibbiy ekspertizaning turli ko‘rinishlarini beradi.</a:t>
            </a:r>
          </a:p>
          <a:p>
            <a:pPr>
              <a:spcAft>
                <a:spcPts val="800"/>
              </a:spcAft>
            </a:pPr>
            <a:r>
              <a:rPr sz="1800">
                <a:solidFill>
                  <a:srgbClr val="1F2937"/>
                </a:solidFill>
                <a:latin typeface="Calibri"/>
              </a:rPr>
              <a:t>▸  Patologo-anatomik tekshiruv ilk bor qonunchilikda tibbiy ekspertiza turi maqomini oldi.</a:t>
            </a:r>
          </a:p>
          <a:p>
            <a:pPr>
              <a:spcAft>
                <a:spcPts val="800"/>
              </a:spcAft>
            </a:pPr>
            <a:r>
              <a:rPr sz="1800">
                <a:solidFill>
                  <a:srgbClr val="1F2937"/>
                </a:solidFill>
                <a:latin typeface="Calibri"/>
              </a:rPr>
              <a:t>▸  Bu tekshiruv va o‘lim vaqtini aniqlash tartibini Sog‘liqni saqlash vazirligi belgilaydi.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3721167"/>
              </a:tblGrid>
              <a:tr h="411480">
                <a:tc>
                  <a:txBody>
                    <a:bodyPr/>
                    <a:lstStyle/>
                    <a:p>
                      <a:r>
                        <a:rPr sz="1400" b="1">
                          <a:solidFill>
                            <a:srgbClr val="FFFFFF"/>
                          </a:solidFill>
                        </a:rPr>
                        <a:t>Modda</a:t>
                      </a:r>
                    </a:p>
                  </a:txBody>
                  <a:tcPr marL="73152" marR="73152" marT="36576" marB="36576">
                    <a:solidFill>
                      <a:srgbClr val="0B1F3A"/>
                    </a:solidFill>
                  </a:tcPr>
                </a:tc>
                <a:tc>
                  <a:txBody>
                    <a:bodyPr/>
                    <a:lstStyle/>
                    <a:p>
                      <a:r>
                        <a:rPr sz="1400" b="1">
                          <a:solidFill>
                            <a:srgbClr val="FFFFFF"/>
                          </a:solidFill>
                        </a:rPr>
                        <a:t>Ekspertiza</a:t>
                      </a:r>
                    </a:p>
                  </a:txBody>
                  <a:tcPr marL="73152" marR="73152" marT="36576" marB="36576">
                    <a:solidFill>
                      <a:srgbClr val="0B1F3A"/>
                    </a:solidFill>
                  </a:tcPr>
                </a:tc>
              </a:tr>
              <a:tr h="411480">
                <a:tc>
                  <a:txBody>
                    <a:bodyPr/>
                    <a:lstStyle/>
                    <a:p>
                      <a:r>
                        <a:rPr sz="1300" b="0">
                          <a:solidFill>
                            <a:srgbClr val="1F2937"/>
                          </a:solidFill>
                        </a:rPr>
                        <a:t>36–37</a:t>
                      </a:r>
                    </a:p>
                  </a:txBody>
                  <a:tcPr marL="73152" marR="73152" marT="36576" marB="36576">
                    <a:solidFill>
                      <a:srgbClr val="E8EEF6"/>
                    </a:solidFill>
                  </a:tcPr>
                </a:tc>
                <a:tc>
                  <a:txBody>
                    <a:bodyPr/>
                    <a:lstStyle/>
                    <a:p>
                      <a:r>
                        <a:rPr sz="1300" b="0">
                          <a:solidFill>
                            <a:srgbClr val="1F2937"/>
                          </a:solidFill>
                        </a:rPr>
                        <a:t>Vaqtincha layoqatsizlik; tibbiy-mehnat</a:t>
                      </a:r>
                    </a:p>
                  </a:txBody>
                  <a:tcPr marL="73152" marR="73152" marT="36576" marB="36576">
                    <a:solidFill>
                      <a:srgbClr val="E8EEF6"/>
                    </a:solidFill>
                  </a:tcPr>
                </a:tc>
              </a:tr>
              <a:tr h="411480">
                <a:tc>
                  <a:txBody>
                    <a:bodyPr/>
                    <a:lstStyle/>
                    <a:p>
                      <a:r>
                        <a:rPr sz="1300" b="0">
                          <a:solidFill>
                            <a:srgbClr val="1F2937"/>
                          </a:solidFill>
                        </a:rPr>
                        <a:t>38</a:t>
                      </a:r>
                    </a:p>
                  </a:txBody>
                  <a:tcPr marL="73152" marR="73152" marT="36576" marB="36576">
                    <a:solidFill>
                      <a:srgbClr val="FFFFFF"/>
                    </a:solidFill>
                  </a:tcPr>
                </a:tc>
                <a:tc>
                  <a:txBody>
                    <a:bodyPr/>
                    <a:lstStyle/>
                    <a:p>
                      <a:r>
                        <a:rPr sz="1300" b="0">
                          <a:solidFill>
                            <a:srgbClr val="1F2937"/>
                          </a:solidFill>
                        </a:rPr>
                        <a:t>Harbiy-tibbiy</a:t>
                      </a:r>
                    </a:p>
                  </a:txBody>
                  <a:tcPr marL="73152" marR="73152" marT="36576" marB="36576">
                    <a:solidFill>
                      <a:srgbClr val="FFFFFF"/>
                    </a:solidFill>
                  </a:tcPr>
                </a:tc>
              </a:tr>
              <a:tr h="411480">
                <a:tc>
                  <a:txBody>
                    <a:bodyPr/>
                    <a:lstStyle/>
                    <a:p>
                      <a:r>
                        <a:rPr sz="1300" b="0">
                          <a:solidFill>
                            <a:srgbClr val="1F2937"/>
                          </a:solidFill>
                        </a:rPr>
                        <a:t>39</a:t>
                      </a:r>
                    </a:p>
                  </a:txBody>
                  <a:tcPr marL="73152" marR="73152" marT="36576" marB="36576">
                    <a:solidFill>
                      <a:srgbClr val="E8EEF6"/>
                    </a:solidFill>
                  </a:tcPr>
                </a:tc>
                <a:tc>
                  <a:txBody>
                    <a:bodyPr/>
                    <a:lstStyle/>
                    <a:p>
                      <a:r>
                        <a:rPr sz="1300" b="0">
                          <a:solidFill>
                            <a:srgbClr val="1F2937"/>
                          </a:solidFill>
                        </a:rPr>
                        <a:t>Sud-tibbiy va sud-psixiatrik</a:t>
                      </a:r>
                    </a:p>
                  </a:txBody>
                  <a:tcPr marL="73152" marR="73152" marT="36576" marB="36576">
                    <a:solidFill>
                      <a:srgbClr val="E8EEF6"/>
                    </a:solidFill>
                  </a:tcPr>
                </a:tc>
              </a:tr>
              <a:tr h="411480">
                <a:tc>
                  <a:txBody>
                    <a:bodyPr/>
                    <a:lstStyle/>
                    <a:p>
                      <a:r>
                        <a:rPr sz="1300" b="0">
                          <a:solidFill>
                            <a:srgbClr val="1F2937"/>
                          </a:solidFill>
                        </a:rPr>
                        <a:t>40</a:t>
                      </a:r>
                    </a:p>
                  </a:txBody>
                  <a:tcPr marL="73152" marR="73152" marT="36576" marB="36576">
                    <a:solidFill>
                      <a:srgbClr val="FFFFFF"/>
                    </a:solidFill>
                  </a:tcPr>
                </a:tc>
                <a:tc>
                  <a:txBody>
                    <a:bodyPr/>
                    <a:lstStyle/>
                    <a:p>
                      <a:r>
                        <a:rPr sz="1300" b="0">
                          <a:solidFill>
                            <a:srgbClr val="1F2937"/>
                          </a:solidFill>
                        </a:rPr>
                        <a:t>Patologo-anatomik tekshiruv</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turlari va moddalar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xodimlari: diplom va litsenziya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faoliyat bilan tegishli oliy yoki o‘rta maxsus o‘quv yurti diplomiga ega shaxslargina shug‘ullanadi (41-modda).</a:t>
            </a:r>
          </a:p>
          <a:p>
            <a:pPr>
              <a:spcAft>
                <a:spcPts val="800"/>
              </a:spcAft>
            </a:pPr>
            <a:r>
              <a:rPr sz="1800">
                <a:solidFill>
                  <a:srgbClr val="1F2937"/>
                </a:solidFill>
                <a:latin typeface="Calibri"/>
              </a:rPr>
              <a:t>▸  Xususiy amaliyot litsenziya bergan idora yoki sud qarori bilan to‘xtatilishi mumkin.</a:t>
            </a:r>
          </a:p>
          <a:p>
            <a:pPr>
              <a:spcAft>
                <a:spcPts val="800"/>
              </a:spcAft>
            </a:pPr>
            <a:r>
              <a:rPr sz="1800">
                <a:solidFill>
                  <a:srgbClr val="1F2937"/>
                </a:solidFill>
                <a:latin typeface="Calibri"/>
              </a:rPr>
              <a:t>▸  Xodimlar ixtiyoriy professional uyushmalar tuzishi va ular orqali huquqlarini himoya qilishi mumkin (43-modda).</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643987"/>
                <a:gridCol w="2643987"/>
              </a:tblGrid>
              <a:tr h="411480">
                <a:tc>
                  <a:txBody>
                    <a:bodyPr/>
                    <a:lstStyle/>
                    <a:p>
                      <a:r>
                        <a:rPr sz="1400" b="1">
                          <a:solidFill>
                            <a:srgbClr val="FFFFFF"/>
                          </a:solidFill>
                        </a:rPr>
                        <a:t>Faoliyat</a:t>
                      </a:r>
                    </a:p>
                  </a:txBody>
                  <a:tcPr marL="73152" marR="73152" marT="36576" marB="36576">
                    <a:solidFill>
                      <a:srgbClr val="0B1F3A"/>
                    </a:solidFill>
                  </a:tcPr>
                </a:tc>
                <a:tc>
                  <a:txBody>
                    <a:bodyPr/>
                    <a:lstStyle/>
                    <a:p>
                      <a:r>
                        <a:rPr sz="1400" b="1">
                          <a:solidFill>
                            <a:srgbClr val="FFFFFF"/>
                          </a:solidFill>
                        </a:rPr>
                        <a:t>Talab</a:t>
                      </a:r>
                    </a:p>
                  </a:txBody>
                  <a:tcPr marL="73152" marR="73152" marT="36576" marB="36576">
                    <a:solidFill>
                      <a:srgbClr val="0B1F3A"/>
                    </a:solidFill>
                  </a:tcPr>
                </a:tc>
              </a:tr>
              <a:tr h="411480">
                <a:tc>
                  <a:txBody>
                    <a:bodyPr/>
                    <a:lstStyle/>
                    <a:p>
                      <a:r>
                        <a:rPr sz="1300" b="0">
                          <a:solidFill>
                            <a:srgbClr val="1F2937"/>
                          </a:solidFill>
                        </a:rPr>
                        <a:t>Tibbiy va farmatsevtika faoliyati</a:t>
                      </a:r>
                    </a:p>
                  </a:txBody>
                  <a:tcPr marL="73152" marR="73152" marT="36576" marB="36576">
                    <a:solidFill>
                      <a:srgbClr val="E8EEF6"/>
                    </a:solidFill>
                  </a:tcPr>
                </a:tc>
                <a:tc>
                  <a:txBody>
                    <a:bodyPr/>
                    <a:lstStyle/>
                    <a:p>
                      <a:r>
                        <a:rPr sz="1300" b="0">
                          <a:solidFill>
                            <a:srgbClr val="1F2937"/>
                          </a:solidFill>
                        </a:rPr>
                        <a:t>Diplom (oliy yoki o‘rta maxsus)</a:t>
                      </a:r>
                    </a:p>
                  </a:txBody>
                  <a:tcPr marL="73152" marR="73152" marT="36576" marB="36576">
                    <a:solidFill>
                      <a:srgbClr val="E8EEF6"/>
                    </a:solidFill>
                  </a:tcPr>
                </a:tc>
              </a:tr>
              <a:tr h="411480">
                <a:tc>
                  <a:txBody>
                    <a:bodyPr/>
                    <a:lstStyle/>
                    <a:p>
                      <a:r>
                        <a:rPr sz="1300" b="0">
                          <a:solidFill>
                            <a:srgbClr val="1F2937"/>
                          </a:solidFill>
                        </a:rPr>
                        <a:t>Ayrim turlari (Vazirlik belgilaydi)</a:t>
                      </a:r>
                    </a:p>
                  </a:txBody>
                  <a:tcPr marL="73152" marR="73152" marT="36576" marB="36576">
                    <a:solidFill>
                      <a:srgbClr val="FFFFFF"/>
                    </a:solidFill>
                  </a:tcPr>
                </a:tc>
                <a:tc>
                  <a:txBody>
                    <a:bodyPr/>
                    <a:lstStyle/>
                    <a:p>
                      <a:r>
                        <a:rPr sz="1300" b="0">
                          <a:solidFill>
                            <a:srgbClr val="1F2937"/>
                          </a:solidFill>
                        </a:rPr>
                        <a:t>Diplom + litsenziya</a:t>
                      </a:r>
                    </a:p>
                  </a:txBody>
                  <a:tcPr marL="73152" marR="73152" marT="36576" marB="36576">
                    <a:solidFill>
                      <a:srgbClr val="FFFFFF"/>
                    </a:solidFill>
                  </a:tcPr>
                </a:tc>
              </a:tr>
              <a:tr h="411480">
                <a:tc>
                  <a:txBody>
                    <a:bodyPr/>
                    <a:lstStyle/>
                    <a:p>
                      <a:r>
                        <a:rPr sz="1300" b="0">
                          <a:solidFill>
                            <a:srgbClr val="1F2937"/>
                          </a:solidFill>
                        </a:rPr>
                        <a:t>Xususiy amaliyot</a:t>
                      </a:r>
                    </a:p>
                  </a:txBody>
                  <a:tcPr marL="73152" marR="73152" marT="36576" marB="36576">
                    <a:solidFill>
                      <a:srgbClr val="E8EEF6"/>
                    </a:solidFill>
                  </a:tcPr>
                </a:tc>
                <a:tc>
                  <a:txBody>
                    <a:bodyPr/>
                    <a:lstStyle/>
                    <a:p>
                      <a:r>
                        <a:rPr sz="1300" b="0">
                          <a:solidFill>
                            <a:srgbClr val="1F2937"/>
                          </a:solidFill>
                        </a:rPr>
                        <a:t>Diplom + tanlangan tur litsenziyasi</a:t>
                      </a:r>
                    </a:p>
                  </a:txBody>
                  <a:tcPr marL="73152" marR="73152" marT="36576" marB="36576">
                    <a:solidFill>
                      <a:srgbClr val="E8EEF6"/>
                    </a:solidFill>
                  </a:tcPr>
                </a:tc>
              </a:tr>
              <a:tr h="411480">
                <a:tc>
                  <a:txBody>
                    <a:bodyPr/>
                    <a:lstStyle/>
                    <a:p>
                      <a:r>
                        <a:rPr sz="1300" b="0">
                          <a:solidFill>
                            <a:srgbClr val="1F2937"/>
                          </a:solidFill>
                        </a:rPr>
                        <a:t>Sifat nazorati (42-modda)</a:t>
                      </a:r>
                    </a:p>
                  </a:txBody>
                  <a:tcPr marL="73152" marR="73152" marT="36576" marB="36576">
                    <a:solidFill>
                      <a:srgbClr val="FFFFFF"/>
                    </a:solidFill>
                  </a:tcPr>
                </a:tc>
                <a:tc>
                  <a:txBody>
                    <a:bodyPr/>
                    <a:lstStyle/>
                    <a:p>
                      <a:r>
                        <a:rPr sz="1300" b="0">
                          <a:solidFill>
                            <a:srgbClr val="1F2937"/>
                          </a:solidFill>
                        </a:rPr>
                        <a:t>Uyushmalar, hokimiyat, Vazirlik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Ruxsat va sifat nazorati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17, 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qasamyodi va shifokor 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44-modda: O‘zbekiston Respublikasi shifokori qasamyodining matni berilgan. Tibbiyot oliy o‘quv yurtini bitirib vrach diplomini olayotganlar uni qabul qiladi.</a:t>
            </a:r>
          </a:p>
          <a:p>
            <a:pPr>
              <a:spcAft>
                <a:spcPts val="1200"/>
              </a:spcAft>
            </a:pPr>
            <a:r>
              <a:rPr sz="2200">
                <a:solidFill>
                  <a:srgbClr val="1F2937"/>
                </a:solidFill>
                <a:latin typeface="Calibri"/>
              </a:rPr>
              <a:t>▸  Qonunchilikda shifokorlar qasamyodni buzgan hollar uchun tegishli javobgarlik belgilangan.</a:t>
            </a:r>
          </a:p>
          <a:p>
            <a:pPr>
              <a:spcAft>
                <a:spcPts val="1200"/>
              </a:spcAft>
            </a:pPr>
            <a:r>
              <a:rPr sz="2200">
                <a:solidFill>
                  <a:srgbClr val="1F2937"/>
                </a:solidFill>
                <a:latin typeface="Calibri"/>
              </a:rPr>
              <a:t>▸  45-modda: tibbiy yordamga murojaat qilganlik, sog‘liq holati, tashxis, tekshiruv va davolash ma’lumotlari shifokor siri hisoblanadi. Fuqaro yoki qonuniy vakilning roziligisiz oshkor qilinmaydi.</a:t>
            </a:r>
          </a:p>
          <a:p>
            <a:pPr>
              <a:spcAft>
                <a:spcPts val="1200"/>
              </a:spcAft>
            </a:pPr>
            <a:r>
              <a:rPr sz="2200">
                <a:solidFill>
                  <a:srgbClr val="1F2937"/>
                </a:solidFill>
                <a:latin typeface="Calibri"/>
              </a:rPr>
              <a:t>▸  Sir ruxsat etilgan tartibda boshqa shaxslarga yetkazilsa, ular ham tibbiyot xodimlari kabi uni saqlashi shart. Buzilsa, javobgarlik ko‘zda tutilgan.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siri istisnolari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Istisno tariqasida fuqaro yoki qonuniy vakil roziligisiz sirni berish 6 holatda mumkin.</a:t>
            </a:r>
          </a:p>
          <a:p>
            <a:pPr>
              <a:spcAft>
                <a:spcPts val="800"/>
              </a:spcAft>
            </a:pPr>
            <a:r>
              <a:rPr sz="1800">
                <a:solidFill>
                  <a:srgbClr val="1F2937"/>
                </a:solidFill>
                <a:latin typeface="Calibri"/>
              </a:rPr>
              <a:t>▸  Rasmiy so‘rov: surishtiruv, tergov, prokuratura va sud idoralaridan keladi.</a:t>
            </a:r>
          </a:p>
          <a:p>
            <a:pPr>
              <a:spcAft>
                <a:spcPts val="800"/>
              </a:spcAft>
            </a:pPr>
            <a:r>
              <a:rPr sz="1800">
                <a:solidFill>
                  <a:srgbClr val="1F2937"/>
                </a:solidFill>
                <a:latin typeface="Calibri"/>
              </a:rPr>
              <a:t>▸  Jinoyat kodeksi 241-modda: xabar bermaslik, yashirish - jinoiy javobgarlik; rasmiy xabar bering.</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82990"/>
                <a:gridCol w="3304984"/>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14 yoshgacha, layoqatsiz</a:t>
                      </a:r>
                    </a:p>
                  </a:txBody>
                  <a:tcPr marL="73152" marR="73152" marT="36576" marB="36576">
                    <a:solidFill>
                      <a:srgbClr val="E8EEF6"/>
                    </a:solidFill>
                  </a:tcPr>
                </a:tc>
                <a:tc>
                  <a:txBody>
                    <a:bodyPr/>
                    <a:lstStyle/>
                    <a:p>
                      <a:r>
                        <a:rPr sz="1300" b="0">
                          <a:solidFill>
                            <a:srgbClr val="1F2937"/>
                          </a:solidFill>
                        </a:rPr>
                        <a:t>Ota-ona yoki qonuniy vakil xabardor qilinadi</a:t>
                      </a:r>
                    </a:p>
                  </a:txBody>
                  <a:tcPr marL="73152" marR="73152" marT="36576" marB="36576">
                    <a:solidFill>
                      <a:srgbClr val="E8EEF6"/>
                    </a:solidFill>
                  </a:tcPr>
                </a:tc>
              </a:tr>
              <a:tr h="411480">
                <a:tc>
                  <a:txBody>
                    <a:bodyPr/>
                    <a:lstStyle/>
                    <a:p>
                      <a:r>
                        <a:rPr sz="1300" b="0">
                          <a:solidFill>
                            <a:srgbClr val="1F2937"/>
                          </a:solidFill>
                        </a:rPr>
                        <a:t>Ahvoli og‘ir bemor</a:t>
                      </a:r>
                    </a:p>
                  </a:txBody>
                  <a:tcPr marL="73152" marR="73152" marT="36576" marB="36576">
                    <a:solidFill>
                      <a:srgbClr val="FFFFFF"/>
                    </a:solidFill>
                  </a:tcPr>
                </a:tc>
                <a:tc>
                  <a:txBody>
                    <a:bodyPr/>
                    <a:lstStyle/>
                    <a:p>
                      <a:r>
                        <a:rPr sz="1300" b="0">
                          <a:solidFill>
                            <a:srgbClr val="1F2937"/>
                          </a:solidFill>
                        </a:rPr>
                        <a:t>Iroda bildira olmaydi; tekshirish, davolash</a:t>
                      </a:r>
                    </a:p>
                  </a:txBody>
                  <a:tcPr marL="73152" marR="73152" marT="36576" marB="36576">
                    <a:solidFill>
                      <a:srgbClr val="FFFFFF"/>
                    </a:solidFill>
                  </a:tcPr>
                </a:tc>
              </a:tr>
              <a:tr h="411480">
                <a:tc>
                  <a:txBody>
                    <a:bodyPr/>
                    <a:lstStyle/>
                    <a:p>
                      <a:r>
                        <a:rPr sz="1300" b="0">
                          <a:solidFill>
                            <a:srgbClr val="1F2937"/>
                          </a:solidFill>
                        </a:rPr>
                        <a:t>Atrofdagilarga xavf</a:t>
                      </a:r>
                    </a:p>
                  </a:txBody>
                  <a:tcPr marL="73152" marR="73152" marT="36576" marB="36576">
                    <a:solidFill>
                      <a:srgbClr val="E8EEF6"/>
                    </a:solidFill>
                  </a:tcPr>
                </a:tc>
                <a:tc>
                  <a:txBody>
                    <a:bodyPr/>
                    <a:lstStyle/>
                    <a:p>
                      <a:r>
                        <a:rPr sz="1300" b="0">
                          <a:solidFill>
                            <a:srgbClr val="1F2937"/>
                          </a:solidFill>
                        </a:rPr>
                        <a:t>Yuqumli kasallik, yalpi zaharlanish xavfi</a:t>
                      </a:r>
                    </a:p>
                  </a:txBody>
                  <a:tcPr marL="73152" marR="73152" marT="36576" marB="36576">
                    <a:solidFill>
                      <a:srgbClr val="E8EEF6"/>
                    </a:solidFill>
                  </a:tcPr>
                </a:tc>
              </a:tr>
              <a:tr h="411480">
                <a:tc>
                  <a:txBody>
                    <a:bodyPr/>
                    <a:lstStyle/>
                    <a:p>
                      <a:r>
                        <a:rPr sz="1300" b="0">
                          <a:solidFill>
                            <a:srgbClr val="1F2937"/>
                          </a:solidFill>
                        </a:rPr>
                        <a:t>Huquqni muhofaza</a:t>
                      </a:r>
                    </a:p>
                  </a:txBody>
                  <a:tcPr marL="73152" marR="73152" marT="36576" marB="36576">
                    <a:solidFill>
                      <a:srgbClr val="FFFFFF"/>
                    </a:solidFill>
                  </a:tcPr>
                </a:tc>
                <a:tc>
                  <a:txBody>
                    <a:bodyPr/>
                    <a:lstStyle/>
                    <a:p>
                      <a:r>
                        <a:rPr sz="1300" b="0">
                          <a:solidFill>
                            <a:srgbClr val="1F2937"/>
                          </a:solidFill>
                        </a:rPr>
                        <a:t>Rasmiy so‘rov; g‘ayriqonuniy zarar gumoni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Roziliksiz berish holatlari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Zararni qoplash va javobgarlik (46-modda)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46-modda: tibbiyot yoki farmatsevtika xodimi xizmat vazifasini lozim darajada bajarmagani sababli fuqaro hayoti va sog‘lig‘iga zarar yetkazilgan bo‘lsa, u qoplanadi.</a:t>
            </a:r>
          </a:p>
          <a:p>
            <a:pPr>
              <a:spcAft>
                <a:spcPts val="1200"/>
              </a:spcAft>
            </a:pPr>
            <a:r>
              <a:rPr sz="2200">
                <a:solidFill>
                  <a:srgbClr val="1F2937"/>
                </a:solidFill>
                <a:latin typeface="Calibri"/>
              </a:rPr>
              <a:t>▸  Zarar o‘rni qonun hujjatlarida belgilangan tartibda qoplanadi.</a:t>
            </a:r>
          </a:p>
          <a:p>
            <a:pPr>
              <a:spcAft>
                <a:spcPts val="1200"/>
              </a:spcAft>
            </a:pPr>
            <a:r>
              <a:rPr sz="2200">
                <a:solidFill>
                  <a:srgbClr val="1F2937"/>
                </a:solidFill>
                <a:latin typeface="Calibri"/>
              </a:rPr>
              <a:t>▸  Zararni qoplash xodimni intizomiy, ma’muriy va jinoiy javobgarlikdan ozod etmaydi.</a:t>
            </a:r>
          </a:p>
          <a:p>
            <a:pPr>
              <a:spcAft>
                <a:spcPts val="1200"/>
              </a:spcAft>
            </a:pPr>
            <a:r>
              <a:rPr sz="2200">
                <a:solidFill>
                  <a:srgbClr val="1F2937"/>
                </a:solidFill>
                <a:latin typeface="Calibri"/>
              </a:rPr>
              <a:t>▸  Qonundagi talablar umumiy xarakterga ega; xususiy jihatlar tarmoq me’yoriy hujjatlarida aniqroq va kengroq yoritilgan.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19, 19-20, 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rozilik va shifokor 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shoshilinch muolaja kerak bo‘lgan 10 yoshli bola og‘ir ahvolda keltirildi, ota-onasi yo‘q. Kim qaror qiladi?</a:t>
            </a:r>
          </a:p>
          <a:p>
            <a:pPr>
              <a:spcAft>
                <a:spcPts val="1200"/>
              </a:spcAft>
            </a:pPr>
            <a:r>
              <a:rPr sz="2200">
                <a:solidFill>
                  <a:srgbClr val="1F2937"/>
                </a:solidFill>
                <a:latin typeface="Calibri"/>
              </a:rPr>
              <a:t>▸  14 yoshgacha bo‘lgan bolaga aralashuvga rozilikni qonuniy vakili beradi. Vakil bo‘lmasa konsilium, u yig‘ilmasa davolovchi yoki navbatchi vrach hal qiladi.</a:t>
            </a:r>
          </a:p>
          <a:p>
            <a:pPr>
              <a:spcAft>
                <a:spcPts val="1200"/>
              </a:spcAft>
            </a:pPr>
            <a:r>
              <a:rPr sz="2200">
                <a:solidFill>
                  <a:srgbClr val="1F2937"/>
                </a:solidFill>
                <a:latin typeface="Calibri"/>
              </a:rPr>
              <a:t>▸  Shifokor siri istisnoli hollarda roziliksiz beriladi: 14 yoshgacha bolaning ota-onasiga, atrofdagilarga xavf bo‘lsa, tergov yoki sud rasmiy so‘roviga binoan.</a:t>
            </a:r>
          </a:p>
          <a:p>
            <a:pPr>
              <a:spcAft>
                <a:spcPts val="1200"/>
              </a:spcAft>
            </a:pPr>
            <a:r>
              <a:rPr sz="2200">
                <a:solidFill>
                  <a:srgbClr val="1F2937"/>
                </a:solidFill>
                <a:latin typeface="Calibri"/>
              </a:rPr>
              <a:t>▸  Diqqat: xato qilish xavfi: g‘ayriqonuniy harakat natijasida zarar yetganda xabar bermaslik yoki yashirish uchun Jinoyat kodeksining 241-moddasi bo‘yicha javobgarlik bor.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14-15, 14, 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Islohot zarurati: eski tizimning kamchiliklari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Birlamchi bo‘g‘in uchastka-hududiylik tamoyilida qurilgan: avval bitta vrach-terapevt ishlagan, keyin tor mutaxassislar kiritildi.</a:t>
            </a:r>
          </a:p>
          <a:p>
            <a:pPr>
              <a:spcAft>
                <a:spcPts val="1200"/>
              </a:spcAft>
            </a:pPr>
            <a:r>
              <a:rPr sz="2200">
                <a:solidFill>
                  <a:srgbClr val="1F2937"/>
                </a:solidFill>
                <a:latin typeface="Calibri"/>
              </a:rPr>
              <a:t>▸  Qishloqda malakali mutaxassissiz kamquvvat muassasalar ko‘paydi: feldsher-akusherlik punktlari, qishloq vrachlik ambulatoriyalari, uchastka kasalxonalari.</a:t>
            </a:r>
          </a:p>
          <a:p>
            <a:pPr>
              <a:spcAft>
                <a:spcPts val="1200"/>
              </a:spcAft>
            </a:pPr>
            <a:r>
              <a:rPr sz="2200">
                <a:solidFill>
                  <a:srgbClr val="1F2937"/>
                </a:solidFill>
                <a:latin typeface="Calibri"/>
              </a:rPr>
              <a:t>▸  Moliyalashtirish mexanizmi to‘liq shakllanmagan, ish o‘rinlari esa ko‘paygan. Natijada sarf-xarajat oshib, yordam sifati pasaygan.</a:t>
            </a:r>
          </a:p>
          <a:p>
            <a:pPr>
              <a:spcAft>
                <a:spcPts val="1200"/>
              </a:spcAft>
            </a:pPr>
            <a:r>
              <a:rPr sz="2200">
                <a:solidFill>
                  <a:srgbClr val="1F2937"/>
                </a:solidFill>
                <a:latin typeface="Calibri"/>
              </a:rPr>
              <a:t>▸  Poliklinikada davolanishi mumkin bo‘lgan bemorlar ko‘pincha kasalxonaga yotqizilgan. Bu zamonaviy jihozlanmagan kasalxona o‘rinlarini ko‘paytirgan.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22, 22-23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Davlat dasturi: maqsad, tamoyil va vazifalar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Maqsad: aholi salomatligini saqlash va sog‘lom avlod tarbiyasi uchun sharoit yaratadigan tizim qurish.</a:t>
            </a:r>
          </a:p>
          <a:p>
            <a:pPr>
              <a:spcAft>
                <a:spcPts val="800"/>
              </a:spcAft>
            </a:pPr>
            <a:r>
              <a:rPr sz="1800">
                <a:solidFill>
                  <a:srgbClr val="1F2937"/>
                </a:solidFill>
                <a:latin typeface="Calibri"/>
              </a:rPr>
              <a:t>▸  Tamoyillar: xizmatlardan teng bahramandlik, profilaktika ustuvorligi, bozor mexanizmlari, xususiy amaliyot.</a:t>
            </a:r>
          </a:p>
          <a:p>
            <a:pPr>
              <a:spcAft>
                <a:spcPts val="800"/>
              </a:spcAft>
            </a:pPr>
            <a:r>
              <a:rPr sz="1800">
                <a:solidFill>
                  <a:srgbClr val="1F2937"/>
                </a:solidFill>
                <a:latin typeface="Calibri"/>
              </a:rPr>
              <a:t>▸  Vazifa: birlamchi va shoshilinch yordam tizimini mustahkamlash, umumiy amaliyot vrachiga bosqichma-bosqich o‘tish.</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1996: 182-son Qaror (qishloq)</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10.11.1998: Prezident Farmoni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Davlat dasturi: 1998-2005</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 tamoyil, vazifalar</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Islohotning hujjat bosqichlari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24, 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Moliyalashtirish: bepul va pullik xizmatlar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Davlat shoshilinch yordam, emlash, tug‘ruq va bolalar tekshiruvini bepul ko‘rsatishni kafolatlaydi.</a:t>
            </a:r>
          </a:p>
          <a:p>
            <a:pPr>
              <a:spcAft>
                <a:spcPts val="800"/>
              </a:spcAft>
            </a:pPr>
            <a:r>
              <a:rPr sz="1800">
                <a:solidFill>
                  <a:srgbClr val="1F2937"/>
                </a:solidFill>
                <a:latin typeface="Calibri"/>
              </a:rPr>
              <a:t>▸  Norezidentlar va dekretiv kontingent ko‘rigi shartnoma asosida pullik; shoshilinch yordam esa bepul.</a:t>
            </a:r>
          </a:p>
          <a:p>
            <a:pPr>
              <a:spcAft>
                <a:spcPts val="800"/>
              </a:spcAft>
            </a:pPr>
            <a:r>
              <a:rPr sz="1800">
                <a:solidFill>
                  <a:srgbClr val="1F2937"/>
                </a:solidFill>
                <a:latin typeface="Calibri"/>
              </a:rPr>
              <a:t>▸  Nodavlat muassasalar faoliyatining 20% gacha hajmida imtiyozli bemorlarga bepul xizmat ko‘rsatadi.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904662"/>
                <a:gridCol w="2383312"/>
              </a:tblGrid>
              <a:tr h="411480">
                <a:tc>
                  <a:txBody>
                    <a:bodyPr/>
                    <a:lstStyle/>
                    <a:p>
                      <a:r>
                        <a:rPr sz="1400" b="1">
                          <a:solidFill>
                            <a:srgbClr val="FFFFFF"/>
                          </a:solidFill>
                        </a:rPr>
                        <a:t>Yo‘nalish</a:t>
                      </a:r>
                    </a:p>
                  </a:txBody>
                  <a:tcPr marL="73152" marR="73152" marT="36576" marB="36576">
                    <a:solidFill>
                      <a:srgbClr val="0B1F3A"/>
                    </a:solidFill>
                  </a:tcPr>
                </a:tc>
                <a:tc>
                  <a:txBody>
                    <a:bodyPr/>
                    <a:lstStyle/>
                    <a:p>
                      <a:r>
                        <a:rPr sz="1400" b="1">
                          <a:solidFill>
                            <a:srgbClr val="FFFFFF"/>
                          </a:solidFill>
                        </a:rPr>
                        <a:t>Moliya manbai</a:t>
                      </a:r>
                    </a:p>
                  </a:txBody>
                  <a:tcPr marL="73152" marR="73152" marT="36576" marB="36576">
                    <a:solidFill>
                      <a:srgbClr val="0B1F3A"/>
                    </a:solidFill>
                  </a:tcPr>
                </a:tc>
              </a:tr>
              <a:tr h="411480">
                <a:tc>
                  <a:txBody>
                    <a:bodyPr/>
                    <a:lstStyle/>
                    <a:p>
                      <a:r>
                        <a:rPr sz="1300" b="0">
                          <a:solidFill>
                            <a:srgbClr val="1F2937"/>
                          </a:solidFill>
                        </a:rPr>
                        <a:t>Shoshilinch, tez yordam, emlash</a:t>
                      </a:r>
                    </a:p>
                  </a:txBody>
                  <a:tcPr marL="73152" marR="73152" marT="36576" marB="36576">
                    <a:solidFill>
                      <a:srgbClr val="E8EEF6"/>
                    </a:solidFill>
                  </a:tcPr>
                </a:tc>
                <a:tc>
                  <a:txBody>
                    <a:bodyPr/>
                    <a:lstStyle/>
                    <a:p>
                      <a:r>
                        <a:rPr sz="1300" b="0">
                          <a:solidFill>
                            <a:srgbClr val="1F2937"/>
                          </a:solidFill>
                        </a:rPr>
                        <a:t>Davlat byudjeti, bepul</a:t>
                      </a:r>
                    </a:p>
                  </a:txBody>
                  <a:tcPr marL="73152" marR="73152" marT="36576" marB="36576">
                    <a:solidFill>
                      <a:srgbClr val="E8EEF6"/>
                    </a:solidFill>
                  </a:tcPr>
                </a:tc>
              </a:tr>
              <a:tr h="411480">
                <a:tc>
                  <a:txBody>
                    <a:bodyPr/>
                    <a:lstStyle/>
                    <a:p>
                      <a:r>
                        <a:rPr sz="1300" b="0">
                          <a:solidFill>
                            <a:srgbClr val="1F2937"/>
                          </a:solidFill>
                        </a:rPr>
                        <a:t>Sil, onkologik, psixiatrik kasalliklar</a:t>
                      </a:r>
                    </a:p>
                  </a:txBody>
                  <a:tcPr marL="73152" marR="73152" marT="36576" marB="36576">
                    <a:solidFill>
                      <a:srgbClr val="FFFFFF"/>
                    </a:solidFill>
                  </a:tcPr>
                </a:tc>
                <a:tc>
                  <a:txBody>
                    <a:bodyPr/>
                    <a:lstStyle/>
                    <a:p>
                      <a:r>
                        <a:rPr sz="1300" b="0">
                          <a:solidFill>
                            <a:srgbClr val="1F2937"/>
                          </a:solidFill>
                        </a:rPr>
                        <a:t>Bepul ixtisoslashtirilgan yordam</a:t>
                      </a:r>
                    </a:p>
                  </a:txBody>
                  <a:tcPr marL="73152" marR="73152" marT="36576" marB="36576">
                    <a:solidFill>
                      <a:srgbClr val="FFFFFF"/>
                    </a:solidFill>
                  </a:tcPr>
                </a:tc>
              </a:tr>
              <a:tr h="411480">
                <a:tc>
                  <a:txBody>
                    <a:bodyPr/>
                    <a:lstStyle/>
                    <a:p>
                      <a:r>
                        <a:rPr sz="1300" b="0">
                          <a:solidFill>
                            <a:srgbClr val="1F2937"/>
                          </a:solidFill>
                        </a:rPr>
                        <a:t>Norezident, dekretiv kontingent ko‘rigi</a:t>
                      </a:r>
                    </a:p>
                  </a:txBody>
                  <a:tcPr marL="73152" marR="73152" marT="36576" marB="36576">
                    <a:solidFill>
                      <a:srgbClr val="E8EEF6"/>
                    </a:solidFill>
                  </a:tcPr>
                </a:tc>
                <a:tc>
                  <a:txBody>
                    <a:bodyPr/>
                    <a:lstStyle/>
                    <a:p>
                      <a:r>
                        <a:rPr sz="1300" b="0">
                          <a:solidFill>
                            <a:srgbClr val="1F2937"/>
                          </a:solidFill>
                        </a:rPr>
                        <a:t>Shartnoma asosida pullik</a:t>
                      </a:r>
                    </a:p>
                  </a:txBody>
                  <a:tcPr marL="73152" marR="73152" marT="36576" marB="36576">
                    <a:solidFill>
                      <a:srgbClr val="E8EEF6"/>
                    </a:solidFill>
                  </a:tcPr>
                </a:tc>
              </a:tr>
              <a:tr h="411480">
                <a:tc>
                  <a:txBody>
                    <a:bodyPr/>
                    <a:lstStyle/>
                    <a:p>
                      <a:r>
                        <a:rPr sz="1300" b="0">
                          <a:solidFill>
                            <a:srgbClr val="1F2937"/>
                          </a:solidFill>
                        </a:rPr>
                        <a:t>Profilaktika, kadrlar, ilmiy tadqiqot</a:t>
                      </a:r>
                    </a:p>
                  </a:txBody>
                  <a:tcPr marL="73152" marR="73152" marT="36576" marB="36576">
                    <a:solidFill>
                      <a:srgbClr val="FFFFFF"/>
                    </a:solidFill>
                  </a:tcPr>
                </a:tc>
                <a:tc>
                  <a:txBody>
                    <a:bodyPr/>
                    <a:lstStyle/>
                    <a:p>
                      <a:r>
                        <a:rPr sz="1300" b="0">
                          <a:solidFill>
                            <a:srgbClr val="1F2937"/>
                          </a:solidFill>
                        </a:rPr>
                        <a:t>Davlat mablag‘i ajratiladi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Xizmat va moliya manbai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25-26, 26, 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Birlamchi bo‘g‘inni qayta qurish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yordam tizim negizi; murojaatlarning qariyb 90% i shu bo‘g‘inda hal bo‘lishi mumkin.</a:t>
            </a:r>
          </a:p>
          <a:p>
            <a:pPr>
              <a:spcAft>
                <a:spcPts val="800"/>
              </a:spcAft>
            </a:pPr>
            <a:r>
              <a:rPr sz="1800">
                <a:solidFill>
                  <a:srgbClr val="1F2937"/>
                </a:solidFill>
                <a:latin typeface="Calibri"/>
              </a:rPr>
              <a:t>▸  Jon boshiga moliyalashda har kishiga yagona me’yor; tug‘ish yoshidagi ayollar va bolalarga ko‘proq.</a:t>
            </a:r>
          </a:p>
          <a:p>
            <a:pPr>
              <a:spcAft>
                <a:spcPts val="800"/>
              </a:spcAft>
            </a:pPr>
            <a:r>
              <a:rPr sz="1800">
                <a:solidFill>
                  <a:srgbClr val="1F2937"/>
                </a:solidFill>
                <a:latin typeface="Calibri"/>
              </a:rPr>
              <a:t>▸  Punkt shtatiga moliyaviy menejer kiritildi: zaxira, hisob-kitob va hisobotni yuritadi.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3345"/>
                <a:gridCol w="2501069"/>
                <a:gridCol w="1643559"/>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Avval</a:t>
                      </a:r>
                    </a:p>
                  </a:txBody>
                  <a:tcPr marL="73152" marR="73152" marT="36576" marB="36576">
                    <a:solidFill>
                      <a:srgbClr val="0B1F3A"/>
                    </a:solidFill>
                  </a:tcPr>
                </a:tc>
                <a:tc>
                  <a:txBody>
                    <a:bodyPr/>
                    <a:lstStyle/>
                    <a:p>
                      <a:r>
                        <a:rPr sz="1300" b="1">
                          <a:solidFill>
                            <a:srgbClr val="FFFFFF"/>
                          </a:solidFill>
                        </a:rPr>
                        <a:t>Yangi tizim</a:t>
                      </a:r>
                    </a:p>
                  </a:txBody>
                  <a:tcPr marL="73152" marR="73152" marT="36576" marB="36576">
                    <a:solidFill>
                      <a:srgbClr val="0B1F3A"/>
                    </a:solidFill>
                  </a:tcPr>
                </a:tc>
              </a:tr>
              <a:tr h="411480">
                <a:tc>
                  <a:txBody>
                    <a:bodyPr/>
                    <a:lstStyle/>
                    <a:p>
                      <a:r>
                        <a:rPr sz="1200" b="0">
                          <a:solidFill>
                            <a:srgbClr val="1F2937"/>
                          </a:solidFill>
                        </a:rPr>
                        <a:t>Pog‘onalar soni</a:t>
                      </a:r>
                    </a:p>
                  </a:txBody>
                  <a:tcPr marL="73152" marR="73152" marT="36576" marB="36576">
                    <a:solidFill>
                      <a:srgbClr val="E8EEF6"/>
                    </a:solidFill>
                  </a:tcPr>
                </a:tc>
                <a:tc>
                  <a:txBody>
                    <a:bodyPr/>
                    <a:lstStyle/>
                    <a:p>
                      <a:r>
                        <a:rPr sz="1200" b="0">
                          <a:solidFill>
                            <a:srgbClr val="1F2937"/>
                          </a:solidFill>
                        </a:rPr>
                        <a:t>Besh</a:t>
                      </a:r>
                    </a:p>
                  </a:txBody>
                  <a:tcPr marL="73152" marR="73152" marT="36576" marB="36576">
                    <a:solidFill>
                      <a:srgbClr val="E8EEF6"/>
                    </a:solidFill>
                  </a:tcPr>
                </a:tc>
                <a:tc>
                  <a:txBody>
                    <a:bodyPr/>
                    <a:lstStyle/>
                    <a:p>
                      <a:r>
                        <a:rPr sz="1200" b="0">
                          <a:solidFill>
                            <a:srgbClr val="1F2937"/>
                          </a:solidFill>
                        </a:rPr>
                        <a:t>Ikki</a:t>
                      </a:r>
                    </a:p>
                  </a:txBody>
                  <a:tcPr marL="73152" marR="73152" marT="36576" marB="36576">
                    <a:solidFill>
                      <a:srgbClr val="E8EEF6"/>
                    </a:solidFill>
                  </a:tcPr>
                </a:tc>
              </a:tr>
              <a:tr h="411480">
                <a:tc>
                  <a:txBody>
                    <a:bodyPr/>
                    <a:lstStyle/>
                    <a:p>
                      <a:r>
                        <a:rPr sz="1200" b="0">
                          <a:solidFill>
                            <a:srgbClr val="1F2937"/>
                          </a:solidFill>
                        </a:rPr>
                        <a:t>Qishloqda</a:t>
                      </a:r>
                    </a:p>
                  </a:txBody>
                  <a:tcPr marL="73152" marR="73152" marT="36576" marB="36576">
                    <a:solidFill>
                      <a:srgbClr val="FFFFFF"/>
                    </a:solidFill>
                  </a:tcPr>
                </a:tc>
                <a:tc>
                  <a:txBody>
                    <a:bodyPr/>
                    <a:lstStyle/>
                    <a:p>
                      <a:r>
                        <a:rPr sz="1200" b="0">
                          <a:solidFill>
                            <a:srgbClr val="1F2937"/>
                          </a:solidFill>
                        </a:rPr>
                        <a:t>Feldsher-akusherlik punkti va b.</a:t>
                      </a:r>
                    </a:p>
                  </a:txBody>
                  <a:tcPr marL="73152" marR="73152" marT="36576" marB="36576">
                    <a:solidFill>
                      <a:srgbClr val="FFFFFF"/>
                    </a:solidFill>
                  </a:tcPr>
                </a:tc>
                <a:tc>
                  <a:txBody>
                    <a:bodyPr/>
                    <a:lstStyle/>
                    <a:p>
                      <a:r>
                        <a:rPr sz="1200" b="0">
                          <a:solidFill>
                            <a:srgbClr val="1F2937"/>
                          </a:solidFill>
                        </a:rPr>
                        <a:t>Qishloq vrachlik punkti</a:t>
                      </a:r>
                    </a:p>
                  </a:txBody>
                  <a:tcPr marL="73152" marR="73152" marT="36576" marB="36576">
                    <a:solidFill>
                      <a:srgbClr val="FFFFFF"/>
                    </a:solidFill>
                  </a:tcPr>
                </a:tc>
              </a:tr>
              <a:tr h="411480">
                <a:tc>
                  <a:txBody>
                    <a:bodyPr/>
                    <a:lstStyle/>
                    <a:p>
                      <a:r>
                        <a:rPr sz="1200" b="0">
                          <a:solidFill>
                            <a:srgbClr val="1F2937"/>
                          </a:solidFill>
                        </a:rPr>
                        <a:t>Moliyalash</a:t>
                      </a:r>
                    </a:p>
                  </a:txBody>
                  <a:tcPr marL="73152" marR="73152" marT="36576" marB="36576">
                    <a:solidFill>
                      <a:srgbClr val="E8EEF6"/>
                    </a:solidFill>
                  </a:tcPr>
                </a:tc>
                <a:tc>
                  <a:txBody>
                    <a:bodyPr/>
                    <a:lstStyle/>
                    <a:p>
                      <a:r>
                        <a:rPr sz="1200" b="0">
                          <a:solidFill>
                            <a:srgbClr val="1F2937"/>
                          </a:solidFill>
                        </a:rPr>
                        <a:t>Xodim, maydon, tashrif soniga qarab</a:t>
                      </a:r>
                    </a:p>
                  </a:txBody>
                  <a:tcPr marL="73152" marR="73152" marT="36576" marB="36576">
                    <a:solidFill>
                      <a:srgbClr val="E8EEF6"/>
                    </a:solidFill>
                  </a:tcPr>
                </a:tc>
                <a:tc>
                  <a:txBody>
                    <a:bodyPr/>
                    <a:lstStyle/>
                    <a:p>
                      <a:r>
                        <a:rPr sz="1200" b="0">
                          <a:solidFill>
                            <a:srgbClr val="1F2937"/>
                          </a:solidFill>
                        </a:rPr>
                        <a:t>Jon boshiga me’yor</a:t>
                      </a:r>
                    </a:p>
                  </a:txBody>
                  <a:tcPr marL="73152" marR="73152" marT="36576" marB="36576">
                    <a:solidFill>
                      <a:srgbClr val="E8EEF6"/>
                    </a:solidFill>
                  </a:tcPr>
                </a:tc>
              </a:tr>
              <a:tr h="411480">
                <a:tc>
                  <a:txBody>
                    <a:bodyPr/>
                    <a:lstStyle/>
                    <a:p>
                      <a:r>
                        <a:rPr sz="1200" b="0">
                          <a:solidFill>
                            <a:srgbClr val="1F2937"/>
                          </a:solidFill>
                        </a:rPr>
                        <a:t>Vrach turi</a:t>
                      </a:r>
                    </a:p>
                  </a:txBody>
                  <a:tcPr marL="73152" marR="73152" marT="36576" marB="36576">
                    <a:solidFill>
                      <a:srgbClr val="FFFFFF"/>
                    </a:solidFill>
                  </a:tcPr>
                </a:tc>
                <a:tc>
                  <a:txBody>
                    <a:bodyPr/>
                    <a:lstStyle/>
                    <a:p>
                      <a:r>
                        <a:rPr sz="1200" b="0">
                          <a:solidFill>
                            <a:srgbClr val="1F2937"/>
                          </a:solidFill>
                        </a:rPr>
                        <a:t>Tor mutaxassislar ko‘pligi</a:t>
                      </a:r>
                    </a:p>
                  </a:txBody>
                  <a:tcPr marL="73152" marR="73152" marT="36576" marB="36576">
                    <a:solidFill>
                      <a:srgbClr val="FFFFFF"/>
                    </a:solidFill>
                  </a:tcPr>
                </a:tc>
                <a:tc>
                  <a:txBody>
                    <a:bodyPr/>
                    <a:lstStyle/>
                    <a:p>
                      <a:r>
                        <a:rPr sz="1200" b="0">
                          <a:solidFill>
                            <a:srgbClr val="1F2937"/>
                          </a:solidFill>
                        </a:rPr>
                        <a:t>Umumiy amaliyot vrachi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Eski va yangi birlamchi bo‘g‘in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27-28, 29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Shoshilinch yordam, tibbiy ta’lim va xususiy sektor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Respublika shoshilinch tibbiy yordam ilmiy markazi, viloyatlarda filiallari, tuman va shaharlarda bo‘limlari ishlaydi. Tizimga tez yordam va sanitariya aviatsiyasi ham kiradi.</a:t>
            </a:r>
          </a:p>
          <a:p>
            <a:pPr>
              <a:spcAft>
                <a:spcPts val="1200"/>
              </a:spcAft>
            </a:pPr>
            <a:r>
              <a:rPr sz="2200">
                <a:solidFill>
                  <a:srgbClr val="1F2937"/>
                </a:solidFill>
                <a:latin typeface="Calibri"/>
              </a:rPr>
              <a:t>▸  Oliy tibbiy ta’lim ikki bosqichli: bakalavriatda umumiy amaliyot shifokorlari, magistraturada tegishli soha mutaxassislari tayyorlanadi.</a:t>
            </a:r>
          </a:p>
          <a:p>
            <a:pPr>
              <a:spcAft>
                <a:spcPts val="1200"/>
              </a:spcAft>
            </a:pPr>
            <a:r>
              <a:rPr sz="2200">
                <a:solidFill>
                  <a:srgbClr val="1F2937"/>
                </a:solidFill>
                <a:latin typeface="Calibri"/>
              </a:rPr>
              <a:t>▸  Sog‘liqni saqlash vazirligi qoshida vrach va farmatsevtlarni litsenziyalash va attestatsiya Markazi tashkil etildi.</a:t>
            </a:r>
          </a:p>
          <a:p>
            <a:pPr>
              <a:spcAft>
                <a:spcPts val="1200"/>
              </a:spcAft>
            </a:pPr>
            <a:r>
              <a:rPr sz="2200">
                <a:solidFill>
                  <a:srgbClr val="1F2937"/>
                </a:solidFill>
                <a:latin typeface="Calibri"/>
              </a:rPr>
              <a:t>▸  Xususiy amaliyot kengaytiriladi, ammo davlat kafolatlagan hammabop bepul yordam printsipi buzilmasligi shart.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30, 30-31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2003 va 2007 yillardagi Farmonlar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Farmon chet el tajribasini hisobga olib, ixtisoslashgan klinika va tibbiy markazlar yaratishni ko‘zda tutdi.</a:t>
            </a:r>
          </a:p>
          <a:p>
            <a:pPr>
              <a:spcAft>
                <a:spcPts val="800"/>
              </a:spcAft>
            </a:pPr>
            <a:r>
              <a:rPr sz="1800">
                <a:solidFill>
                  <a:srgbClr val="1F2937"/>
                </a:solidFill>
                <a:latin typeface="Calibri"/>
              </a:rPr>
              <a:t>▸  2007 yilgi Farmon oltita yangi markaz ochdi, jumladan pediatriya, endokrinologiya va ftiziatriya markazlari.</a:t>
            </a:r>
          </a:p>
          <a:p>
            <a:pPr>
              <a:spcAft>
                <a:spcPts val="800"/>
              </a:spcAft>
            </a:pPr>
            <a:r>
              <a:rPr sz="1800">
                <a:solidFill>
                  <a:srgbClr val="1F2937"/>
                </a:solidFill>
                <a:latin typeface="Calibri"/>
              </a:rPr>
              <a:t>▸  Viloyat ko‘p tarmoqli markazlari va tuman tibbiyot birlashmalari tashkil etilishi ko‘zda tutilgan.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177401"/>
                <a:gridCol w="3110573"/>
              </a:tblGrid>
              <a:tr h="411480">
                <a:tc>
                  <a:txBody>
                    <a:bodyPr/>
                    <a:lstStyle/>
                    <a:p>
                      <a:r>
                        <a:rPr sz="1400" b="1">
                          <a:solidFill>
                            <a:srgbClr val="FFFFFF"/>
                          </a:solidFill>
                        </a:rPr>
                        <a:t>Hujjat</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2003 yil 26 fevral Farmoni</a:t>
                      </a:r>
                    </a:p>
                  </a:txBody>
                  <a:tcPr marL="73152" marR="73152" marT="36576" marB="36576">
                    <a:solidFill>
                      <a:srgbClr val="E8EEF6"/>
                    </a:solidFill>
                  </a:tcPr>
                </a:tc>
                <a:tc>
                  <a:txBody>
                    <a:bodyPr/>
                    <a:lstStyle/>
                    <a:p>
                      <a:r>
                        <a:rPr sz="1300" b="0">
                          <a:solidFill>
                            <a:srgbClr val="1F2937"/>
                          </a:solidFill>
                        </a:rPr>
                        <a:t>Ikkinchi bosqich; to‘rt tajriba markazi</a:t>
                      </a:r>
                    </a:p>
                  </a:txBody>
                  <a:tcPr marL="73152" marR="73152" marT="36576" marB="36576">
                    <a:solidFill>
                      <a:srgbClr val="E8EEF6"/>
                    </a:solidFill>
                  </a:tcPr>
                </a:tc>
              </a:tr>
              <a:tr h="411480">
                <a:tc>
                  <a:txBody>
                    <a:bodyPr/>
                    <a:lstStyle/>
                    <a:p>
                      <a:r>
                        <a:rPr sz="1300" b="0">
                          <a:solidFill>
                            <a:srgbClr val="1F2937"/>
                          </a:solidFill>
                        </a:rPr>
                        <a:t>2007 yil 19 sentyabr Farmoni</a:t>
                      </a:r>
                    </a:p>
                  </a:txBody>
                  <a:tcPr marL="73152" marR="73152" marT="36576" marB="36576">
                    <a:solidFill>
                      <a:srgbClr val="FFFFFF"/>
                    </a:solidFill>
                  </a:tcPr>
                </a:tc>
                <a:tc>
                  <a:txBody>
                    <a:bodyPr/>
                    <a:lstStyle/>
                    <a:p>
                      <a:r>
                        <a:rPr sz="1300" b="0">
                          <a:solidFill>
                            <a:srgbClr val="1F2937"/>
                          </a:solidFill>
                        </a:rPr>
                        <a:t>Olti yangi markaz; ko‘p tarmoqli markazlar</a:t>
                      </a:r>
                    </a:p>
                  </a:txBody>
                  <a:tcPr marL="73152" marR="73152" marT="36576" marB="36576">
                    <a:solidFill>
                      <a:srgbClr val="FFFFFF"/>
                    </a:solidFill>
                  </a:tcPr>
                </a:tc>
              </a:tr>
              <a:tr h="411480">
                <a:tc>
                  <a:txBody>
                    <a:bodyPr/>
                    <a:lstStyle/>
                    <a:p>
                      <a:r>
                        <a:rPr sz="1300" b="0">
                          <a:solidFill>
                            <a:srgbClr val="1F2937"/>
                          </a:solidFill>
                        </a:rPr>
                        <a:t>Tuman birlashmalari</a:t>
                      </a:r>
                    </a:p>
                  </a:txBody>
                  <a:tcPr marL="73152" marR="73152" marT="36576" marB="36576">
                    <a:solidFill>
                      <a:srgbClr val="E8EEF6"/>
                    </a:solidFill>
                  </a:tcPr>
                </a:tc>
                <a:tc>
                  <a:txBody>
                    <a:bodyPr/>
                    <a:lstStyle/>
                    <a:p>
                      <a:r>
                        <a:rPr sz="1300" b="0">
                          <a:solidFill>
                            <a:srgbClr val="1F2937"/>
                          </a:solidFill>
                        </a:rPr>
                        <a:t>Faoliyatni muvofiqlashtirish, uslubiy yordam</a:t>
                      </a:r>
                    </a:p>
                  </a:txBody>
                  <a:tcPr marL="73152" marR="73152" marT="36576" marB="36576">
                    <a:solidFill>
                      <a:srgbClr val="E8EEF6"/>
                    </a:solidFill>
                  </a:tcPr>
                </a:tc>
              </a:tr>
              <a:tr h="411480">
                <a:tc>
                  <a:txBody>
                    <a:bodyPr/>
                    <a:lstStyle/>
                    <a:p>
                      <a:r>
                        <a:rPr sz="1300" b="0">
                          <a:solidFill>
                            <a:srgbClr val="1F2937"/>
                          </a:solidFill>
                        </a:rPr>
                        <a:t>2007 yil 2 oktyabr Qarori</a:t>
                      </a:r>
                    </a:p>
                  </a:txBody>
                  <a:tcPr marL="73152" marR="73152" marT="36576" marB="36576">
                    <a:solidFill>
                      <a:srgbClr val="FFFFFF"/>
                    </a:solidFill>
                  </a:tcPr>
                </a:tc>
                <a:tc>
                  <a:txBody>
                    <a:bodyPr/>
                    <a:lstStyle/>
                    <a:p>
                      <a:r>
                        <a:rPr sz="1300" b="0">
                          <a:solidFill>
                            <a:srgbClr val="1F2937"/>
                          </a:solidFill>
                        </a:rPr>
                        <a:t>Muassasalar boshqaruvini takomillashtirish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Islohot hujjatlari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bet 31, bet 32, bet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islohot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birlamchi muassasa biriktirilgan aholi soniga qarab moliyalashtiriladi. Tug‘ish yoshidagi ayollar va bolalarga ko‘proq mablag‘ ajratiladi.</a:t>
            </a:r>
          </a:p>
          <a:p>
            <a:pPr>
              <a:spcAft>
                <a:spcPts val="1200"/>
              </a:spcAft>
            </a:pPr>
            <a:r>
              <a:rPr sz="2200">
                <a:solidFill>
                  <a:srgbClr val="1F2937"/>
                </a:solidFill>
                <a:latin typeface="Calibri"/>
              </a:rPr>
              <a:t>▸  Ilgari mablag‘ xodimlar soni, maydon va tashriflarga qarab berilgan edi. Vrachlar bemorni shifoxonaga jo‘natishni ma’qul ko‘rar edi.</a:t>
            </a:r>
          </a:p>
          <a:p>
            <a:pPr>
              <a:spcAft>
                <a:spcPts val="1200"/>
              </a:spcAft>
            </a:pPr>
            <a:r>
              <a:rPr sz="2200">
                <a:solidFill>
                  <a:srgbClr val="1F2937"/>
                </a:solidFill>
                <a:latin typeface="Calibri"/>
              </a:rPr>
              <a:t>▸  Tezkor savol: nima uchun birlamchi bo‘g‘in kuchaytirildi? Samarali birlamchi yordam murojaatlarning qariyib 90% ini qondira oladi, yotqizish kamayadi.</a:t>
            </a:r>
          </a:p>
          <a:p>
            <a:pPr>
              <a:spcAft>
                <a:spcPts val="1200"/>
              </a:spcAft>
            </a:pPr>
            <a:r>
              <a:rPr sz="2200">
                <a:solidFill>
                  <a:srgbClr val="1F2937"/>
                </a:solidFill>
                <a:latin typeface="Calibri"/>
              </a:rPr>
              <a:t>▸  Diqqat: xato qilish xavfi. Jon boshiga moliyalashtirish ≠ xodimlar soniga qarab moliyalashtirish.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bet 29, bet 27-28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xulosalar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Konstitutsiyaning 40-moddasi malakali tibbiy xizmat huquqini beradi. Qonun umumiy qoidalarni, tarmoq hujjatlari esa tafsilotlarni belgilaydi.</a:t>
            </a:r>
          </a:p>
          <a:p>
            <a:pPr>
              <a:spcAft>
                <a:spcPts val="1200"/>
              </a:spcAft>
            </a:pPr>
            <a:r>
              <a:rPr sz="2200">
                <a:solidFill>
                  <a:srgbClr val="1F2937"/>
                </a:solidFill>
                <a:latin typeface="Calibri"/>
              </a:rPr>
              <a:t>▸  Pirovard maqsad — barcha qatlamlar malakali xizmatdan foydalanishi. Buning uchun resurslar samarali ishlatilib, xodimlar malakali bo‘lishi kerak.</a:t>
            </a:r>
          </a:p>
          <a:p>
            <a:pPr>
              <a:spcAft>
                <a:spcPts val="1200"/>
              </a:spcAft>
            </a:pPr>
            <a:r>
              <a:rPr sz="2200">
                <a:solidFill>
                  <a:srgbClr val="1F2937"/>
                </a:solidFill>
                <a:latin typeface="Calibri"/>
              </a:rPr>
              <a:t>▸  Qonun va tarmoq hujjatlarini bilish tibbiyot xodimlarining huquqiy savodxonligi va madaniyatini oshiradi.</a:t>
            </a:r>
          </a:p>
          <a:p>
            <a:pPr>
              <a:spcAft>
                <a:spcPts val="1200"/>
              </a:spcAft>
            </a:pPr>
            <a:r>
              <a:rPr sz="2200">
                <a:solidFill>
                  <a:srgbClr val="1F2937"/>
                </a:solidFill>
                <a:latin typeface="Calibri"/>
              </a:rPr>
              <a:t>▸  Nazorat savollari: tibbiy xizmat huquqini qaysi modda beradi? Sog‘liqni saqlash qonunchiligining asosiy printsiplari va islohot tamoyillari qanday?</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bet 9, 20, bet 33-34, bet 20, bet 21, 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Salomatlik omillari: turmush tarzi taxminan 48-52%, nasl va irsiyat 18-20%, ekologiya 18-20%, tibbiy yordam esa atigi 8-10%. Eslab qolish usuli: «50-20-20-10». Demak, shifokor salomatlikning taxminan o‘ndan bir qismiga ta’sir qiladi, qolganiga har bir inson o‘zi javobgar.</a:t>
            </a:r>
          </a:p>
          <a:p>
            <a:pPr>
              <a:spcAft>
                <a:spcPts val="1200"/>
              </a:spcAft>
            </a:pPr>
            <a:r>
              <a:rPr sz="1800">
                <a:solidFill>
                  <a:srgbClr val="1F2937"/>
                </a:solidFill>
                <a:latin typeface="Calibri"/>
              </a:rPr>
              <a:t>▸  Hodisa tahlili (birlamchi bo‘g‘in): JSST va Jahon oila vrachlari tashkilotiga ko‘ra, samarali birlamchi yordam aholi murojaatlarining qariyb 90% ini hal qiladi. Shu sababli statsionarga yotqizish va qimmat tekshiruvlar kamayadi. Islohotda besh pog‘onali tizim o‘rniga ikki pog‘onali tizim (qishloq vrachlik punkti va tuman markaziy kasalxonasi; shaharda oilaviy poliklinika va kasalxona) belgilangan.</a:t>
            </a:r>
          </a:p>
          <a:p>
            <a:pPr>
              <a:spcAft>
                <a:spcPts val="1200"/>
              </a:spcAft>
            </a:pPr>
            <a:r>
              <a:rPr sz="1800">
                <a:solidFill>
                  <a:srgbClr val="1F2937"/>
                </a:solidFill>
                <a:latin typeface="Calibri"/>
              </a:rPr>
              <a:t>▸  Shifokor siri istisnolari: bemor roziligisiz ma’lumot berish mumkin bo‘lgan oltita holat bor. Misollar: atrofdagilarga xavf (yuqumli kasallik), tergov va sud so‘rovi, g‘ayriqonuniy harakat natijasidagi shikast. Oxirgi holatda Jinoyat kodeksining 241-moddasi bo‘yicha jinoyatni xabar qilmaslik uchun javobgarlik bor. Shuning uchun huquqni muhofaza qiluvchi idoraga o‘z vaqtida rasmiy xabar berish kerak.</a:t>
            </a:r>
          </a:p>
          <a:p>
            <a:pPr>
              <a:spcAft>
                <a:spcPts val="1200"/>
              </a:spcAft>
            </a:pPr>
            <a:r>
              <a:rPr sz="1800">
                <a:solidFill>
                  <a:srgbClr val="1F2937"/>
                </a:solidFill>
                <a:latin typeface="Calibri"/>
              </a:rPr>
              <a:t>▸  Axloq va huquq munosabati: huquq ma’naviyatning eng quyi darajasi (minimumi), axloq va etika esa yuqori darajasi. Axloqiy talab ixtiyoriy bajariladi, huquqiy me’yor esa majburlash orqali ta’minlanadi. Amosov: «vrachning vijdoniga ishonish lozim, hech qanday qonun uning o‘rnini bosa olmaydi». Biroq ikkalasini bir-biriga qarama-qarshi qo‘yib bo‘lmaydi.</a:t>
            </a:r>
          </a:p>
          <a:p>
            <a:pPr>
              <a:spcAft>
                <a:spcPts val="1200"/>
              </a:spcAft>
            </a:pPr>
            <a:r>
              <a:rPr sz="1800">
                <a:solidFill>
                  <a:srgbClr val="1F2937"/>
                </a:solidFill>
                <a:latin typeface="Calibri"/>
              </a:rPr>
              <a:t>▸  Eslab qolish usuli («Rozilik zanjiri»): 1) bemorning o‘zi; 2) 14 yoshgacha yoki layoqatsiz bo‘lsa, qonuniy vakil; 3) vakil bo‘lmasa, konsilium; 4) konsilium yig‘ish imkoni bo‘lmasa, davolovchi yoki navbatchi vrach (muassasa rahbariyatini keyin xabardor qilish sharti bilan). Bemor ahvoli irodasini bildirishga imkon bermasa va aralashuvni kechiktirib bo‘lmasa, 3-4 bosqich qo‘llanadi.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Darslikka ko‘ra, tibbiyot huquqi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tibbiyot xodimlarining mehnat haqi va ish tartibini belgilovchi qoidalar yig‘indisi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Bemorlar va tibbiyot xodimlari munosabatlari hamda ularning huquq va mas’uliyat doirasi me’yorlari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tibbiy etika va deontologiya qoidalarini o‘z ichiga olgan ixtiyoriy talablar to‘plami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Dori vositalarini ishlab chiqarish va sotish tartibini belgilovchi hujjatlar majmuasi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Poliklinikada bemor o‘zini “xizmat iste’molchisiman” deb atadi. Amaldagi qonunchilikka ko‘ra, tibbiy faoliyatda bemor qanday talqin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ijtimoiy ta’minot oluvchi shaxs sifatida talqin etiladi, xizmat munosabati yo‘q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Tibbiyot xodimining ish beruvchisi, xodim esa uning topshirig‘ini bajaruvchi sifatida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Davlat nazorati organining vakili, xodim esa nazorat ob’ekti sifatida talqin etiladi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Iste’molchi, tibbiyot xodimi esa xizmat ko‘rsatuvchi sifatida talqin etiladi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Yosh shifokor: “Vijdonim bor, qonunni bilishim shart emas”, dedi. Huquq va axloq-etikaning nisbati haqida darslikdagi yondashuvga qaysi fikr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Huquq ma’naviyatning minimumi, axloq yuqori darajasi; ular bir-biriga qarama-qarshi qo‘yilmaydi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Qonun vrach vijdonini to‘liq almashtiradi, shuning uchun axloqiy talablar ahamiyatsiz bo‘lib qoladi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Axloq majburlash orqali ta’minlanadi, huquq esa faqat ixtiyoriy bajariladigan talablardir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Huquq va axloq o‘zaro qarama-qarshi, shifokor ulardan birini tanlashi lozim bo‘ladi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Fuqaro malakali tibbiy xizmatdan foydalana olmayotganini aytib, shikoyat qilmoqchi. Bu huquq Konstitutsiyaning qaysi moddasida bevosita kafolatlangan?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18-modda: barcha fuqarolarning qonun oldida tengligi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43-modda: davlatning huquqlarni ta’minlash kafolati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40-modda: malakali tibbiy xizmatdan foydalanish huquqi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45-modda: voyaga yetmaganlar huquqlarining himoyasi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Xodim yoki fuqaro o‘z burch va majburiyatlarini bajarmadi. Darslikka ko‘ra, bu amaldagi qonunchilikda nimaga sabab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axloqiy tanbeh berilishiga, boshqa oqibat bo‘lmasligiga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Qonunchilikda belgilangan tartibda turli javobgarlikka tortilishga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Huquqlarning o‘z-o‘zidan kengayishi va burchlardan ozod bo‘lishga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Davlat tomonidan barcha majburiyatlarning avtomatik bekor qilinishiga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“Fuqarolar sog‘lig‘ini saqlash to‘g‘risida”gi O‘zbekiston Respublikasi Qonuni necha qism va moddadan iborat?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 qism va 47 modda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qism va 47 modda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 qism va 44 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qism va 46 modda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tibbiyot xodimlarining o‘z vaqtida va sifatli yordami inson salomatligining qancha qismini ta’minlashini so‘radi. Umum qabul qilingan fikrga ko‘ra qaysi javob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48-52 foizini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18-20 foizini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28-32 foizini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8-10 foizini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Poliklinikaga 12 yoshli bola jarrohlik muolajasi uchun keltirildi. Qonunga ko‘ra tibbiy aralashuvga rozilikni kim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Bolaning qonuniy vakillari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Bolaning o‘zi yozma shaklda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Davolovchi vrach yakka o‘zi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Muassasa hamshirasi o‘z qaroriga ko‘ra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Davolanayotgan bemor o‘z iltimosiga ko‘ra boshqa mutaxassislar konsiliumini o‘tkazishni so‘radi. Bu huquq Qonunning qaysi moddasida bemor huquqlari qatorida berilgan?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Qonunning 18-moddasi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Qonunning 25-moddasi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Qonunning 24-moddasi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Qonunning 26-moddasi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Qonunda keltirilgan fuqarolar sog‘lig‘ini saqlashning asosiy tamoyillaridan biri?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davlat tizimining mavjudligi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Profilaktika chora-tadbirlarining ustuvorligi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 xizmatlarining to‘liq pullik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Tibbiyot fanining amaliyotdan alohidaligi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Voyaga yetgan bemor operatsiyaga rozilik bermay, uni rad etdi. Vrach qonunga ko‘ra qanday yo‘l tutishi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Rad etishni inobatga olmay, operatsiyani o‘z qaroriga ko‘ra bajaradi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Yozma rad tasdiqnomasi oladi yoki guvohlar ishtirokida dalolatnoma tuzadi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Rad etishni faqat sud qarori bilan rasmiylashtirilgan deb hisoblaydi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Bemorni darhol yakkalab qo‘yib, majburiy davolashni boshlaydi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14 yoshga to‘lmagan bolaga tibbiy yordam ko‘rsatilmoqda. Shifokor siri doirasidagi ma’lumot rozilik so‘ralmasdan kimga berilishi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bolaning o‘ziga, chunki bu uning shaxsiy sirlaridan biri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Bola o‘qiydigan maktab direktoriga, uning rasmiy so‘roviga binoan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Mahalla qo‘mitasi raisiga, hududdagi holatni nazorat qilish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Bolaning ota-onasi yoki qonuniy vakiliga, ularni xabardor qilish uchun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tibbiyot oliy o‘quv yurti diplomiga ega va xususiy amaliyot ochmoqchi. Qonunga ko‘ra unga yana nima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Tanlagan faoliyat turi bo‘yicha litsenziyaga ega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Professional tibbiyot uyushmasiga a’zo bo‘lib kirgan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Mahalla qo‘mitasidan faoliyatga yozma ruxsat olgan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Diplomdan tashqari ikkinchi oliy ma’lumotga ega bo‘lishi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Voqea sodir bo‘lgan joyda tibbiyot xodimlari yetib kelgunga qadar birlamchi shoshilinch yordamni kim ko‘rsatishi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hududdagi oilaviy shifokor va uning hamshirasi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sanitariya-epidemiologiya nazorati xodimlari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Militsiya, yong‘indan saqlash, avariya va transport xodimlari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voqea joyidagi mahalla qo‘mitasi vakillari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xizmat vazifasini lozim bajarmagani sabab bemor sog‘lig‘iga zarar yetdi va zarar qoplandi. Shifokor javobgarligi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Zarar qoplangani uchun u har qanday javobgarlikdan ozod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Zararning qoplanishi uni intizomiy, ma’muriy, jinoiy javobgarlikdan ozod etmaydi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Zarar qoplangach, faqat intizomiy javobgarlik saqlanib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Zarar qoplangach, faqat jinoiy javobgarlik saqlanib qoladi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Voyaga yetgan bemor tibbiy aralashuvni rad etdi, ammo yozma tasdiqnoma yozishga ko‘nmadi. Vrach qanday yo‘l tutishi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Bemorning rad etishini e’tiborsiz qoldirib, davolashni boshlaydi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Guvohlar ishtirokida rad etilganligi haqida dalolatnoma tuzadi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bemorning qarindoshlaridan yozma rozilik talab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Bemorni darhol vasiylik va homiylik organiga topshiradi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Tergov organi rasmiy so‘rov yuborib, bemorning tashxisini so‘radi. Bemor ma’lumotni berishga rozi emas. Vrach qanday qaror qabul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Ma’lumotni faqat bemorning yozma roziligi bilan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Ma’lumotni faqat bemorning qarindoshlari roziligi bilan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Rasmiy so‘rov istisno holat bo‘lgani uchun roziliksiz bera 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Shifokor siri hisoblangani uchun hech qachon bermaydi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Sobiq tizimda ambulatoriya sharoitida davolanishi mumkin bo‘lgan ko‘p bemor kasalxonaga yotqizilgan. Asosiy sabab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Aholi yashash joylarida kasalxonalar umuman bo‘lmagan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Dori-darmon bepul berilishi qonun bilan taqiqlangan edi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Poliklinikalarda tashxis qo‘yish texnik jihatdan imkonsiz edi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Aholi ehtiyojiga mos yordamning aniq mezoni va xodimlarning manfaatdorligi yo‘q edi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Qishloq vrachlik punktiga biriktirilgan aholi soni oshdi. Jon boshiga moliyalashtirish tizimida mablag‘ qaysi asosda taqsimlanadi?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Biriktirilgan har bir kishi uchun belgilangan yagona me’yor bo‘yicha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Muassasadagi xodimlar soniga qarab ajratiladi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Muassasa xizmat ko‘rsatadigan maydonning kattaligiga qarab ajratiladi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Aholining muassasaga tashriflari soniga qarab ajratiladi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2007 yil 19 sentyabrdagi Prezident Farmonida qaysi respublika ixtisoslashtirilgan ilmiy-amaliy tibbiyot markazi tashkil etilishi ko‘zda tutilgan edi?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Jarrohlik bo‘yicha respublika ixtisoslashtirilgan markazi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Dermatologiya va venerologiya bo‘yicha respublika markazi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Urologiya bo‘yicha respublika ixtisoslashtirilgan markazi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Kardiologiya bo‘yicha respublika ixtisoslashtirilgan markazi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Bemorlar va tibbiyot xodimlari munosabatlari hamda ularning huquq va mas’uliyat doirasi me’yorlari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tibbiyot huquqi diagnostika, davolash va profilaktika jarayonida bemorlar va tibbiyot xodimlari, fuqarolar va tibbiyot muassasalari munosabatlarini, ularning huquq, majburiyat va mas’uliyat doirasini belgilovchi qoida va me’yorlar majmuasi deb ta’riflanadi. Boshqa variantlar bu ta’rifni toraytiradi yoki boshqa sohaga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5-bet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Iste’molchi, tibbiyot xodimi esa xizmat ko‘rsatuvchi sifatida talqin etiladi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tibbiy faoliyat keng ma’noda fuqarolarga xizmat ko‘rsatishga tenglashtirilgani, tibbiyot xodimlari xizmat ko‘rsatuvchi, bemorlar esa iste’molchi sifatida talqin etilishi aytilgan. Shu sabab huquqiy bilim zaruriyati ortadi.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6-bet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Huquq ma’naviyatning minimumi, axloq yuqori darajasi; ular bir-biriga qarama-qarshi qo‘yilmaydi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axloqiy-etik va huquqiy jihatlarni bir-biriga qarama-qarshi qo‘yib bo‘lmasligi, huquq ma’naviyatning eng quyi darajasi (minimumi), axloq esa yuqori darajasi ekani aytilgan. Axloqiy talablar ixtiyoriy, huquqiy me’yorlar esa majburlash orqali ta’minlanadi.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6-7-bet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40-modda: malakali tibbiy xizmatdan foydalanish huquqi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Darslikka ko‘ra, 40-moddada har bir fuqaroning malakali tibbiy xizmatdan foydalanish huquqi kafolatlangan. 43-modda esa davlat tomonidan huquq va erkinliklar ta’minlanishini umumiy kafolatlaydi, 18-modda tenglikka, 45-modda alohida toifalar himoyasiga oid.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Qonunchilikda belgilangan tartibda turli javobgarlikka tortilishga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burch, majburiyatlarga rioya qilmaslik yoki to‘liq bajarmaslik qonunchilikda belgilangan tartibda turli javobgarlikka tortishga sabab bo‘lishi, shu sababli huquq, majburiyat va javobgarlik o‘zaro uzviy bog‘liq ekani ta’kidlangan.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6 qism va 47 modda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Qonun 1996 yil 29 avgustda qabul qilingan. U 6 qism va 47 moddadan iborat. Birinchi qism “Umumiy qoidalar”, oltinchi qism “Yakunlovchi qoidalar” deb nomlanadi.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Taxminan 8-10 foizini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Salomatlikning taxminan 48-52% i turmush tarziga, 18-20% i nasl va irsiyatga, yana 18-20% i ekologik omillarga bog‘liq. Tibbiy yordamga esa atigi 8-10% to‘g‘ri keladi, ya’ni taxminan o‘ndan bir qismi.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11-bet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Bolaning qonuniy vakillari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14 yoshgacha bo‘lgan va muomalaga layoqatsiz deb topilgan shaxslar uchun rozilikni qonuniy vakillari beradi (26-modda). Vakillar bo‘lmasa, masalani konsilium yoki davolovchi (navbatchi) vrach hal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14-bet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Qonunning 24-moddasi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Bemor huquqlari 24-moddada keltirilgan. Unda shifokorni tanlash, konsilium so‘rash, sirni saqlash va rozilik berish yoki rad etish huquqlari bor. 25-modda ma’lumot olish huquqiga, 26-modda rozilikka oid.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13-bet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Profilaktika chora-tadbirlarining ustuvorligi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Qonundagi 5 tamoyil: inson huquqlariga rioya, tibbiy yordamdan barcha qatlamlarning bahramandligi, profilaktikaning ustuvorligi, sog‘liq yo‘qotilganda ijtimoiy himoya va tibbiyot fani bilan amaliyotning birligi (3-modda).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11-bet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Yozma rad tasdiqnomasi oladi yoki guvohlar ishtirokida dalolatnoma tuzadi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27-moddaga ko‘ra bemor tibbiy aralashuvni rad etishga haqli. Vrach yozma rad tasdiqnomasi oladi, imkoni bo‘lmasa guvohlar ishtirokida dalolatnoma tuzadi. Majburiy yordam faqat atrofdagilarga xavf tug‘dirgan kasallikda mumkin (28-modda).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15-bet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Bolaning ota-onasi yoki qonuniy vakiliga, ularni xabardor qilish uchun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45-moddaga ko‘ra 14 yoshga to‘lmagan shaxsga yordam ko‘rsatilganda uning ota-onasi yoki qonuniy vakilini xabardor qilish shifokor siri istisnolaridan biridir.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Tanlagan faoliyat turi bo‘yicha litsenziyaga ega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Xususiy tibbiyot amaliyoti bilan diplom va tanlangan faoliyat turi bo‘yicha litsenziyaga ega shaxslar shug‘ullanishi mumkin (41-42-moddalar). Uyushmaga a’zolik ixtiyoriy.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17-18-bet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Militsiya, yong‘indan saqlash, avariya va transport xodimlari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30-moddaga ko‘ra tibbiyot xodimlari yetib kelgunga qadar birlamchi shoshilinch yordamni militsiya, yong‘indan saqlash, avariya xizmati va transport tashkilotlari xodimlari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16-bet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Zararning qoplanishi uni intizomiy, ma’muriy, jinoiy javobgarlikdan ozod etmaydi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46-moddaga ko‘ra zararning o‘rnini qoplash tibbiyot va farmatsevtika xodimlarini intizomiy, ma’muriy, jinoiy javobgarlikdan ozod etmaydi.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19-20-bet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Guvohlar ishtirokida rad etilganligi haqida dalolatnoma tuzadi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Bemor tibbiy aralashuvni rad etishga haqli. Vrach yozma rad tasdiqnomasini oladi. Buning iloji bo‘lmasa, guvohlar ishtirokida dalolatnoma tuzadi. Vasiylik va homiylik organiga xabar berish esa rad etishni bemorning qonuniy vakili qilgan va bu og‘ir oqibatlarga olib kelishi mumkin bo‘lgan holatda shart.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15-bet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Rasmiy so‘rov istisno holat bo‘lgani uchun roziliksiz bera 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Shifokor siri fuqaroning roziligisiz oshkor qilinmaydi. Qonunda istisnolar bor, ulardan biri surishtiruv, tergov, prokuratura va sud idoralarining rasmiy so‘rovidir.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18-19-bet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Aholi ehtiyojiga mos yordamning aniq mezoni va xodimlarning manfaatdorligi yo‘q edi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Darslikka ko‘ra yordam hajmini aholi ehtiyojiga moslashning aniq mezoni bo‘lmagan. Xodimlar buning uchun kerakli malaka va manfaatdorlikka ega emas edi. Natijada ambulator davolanishi mumkin bo‘lgan bemorlar kasalxonaga yotqizilgan.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22-bet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Biriktirilgan har bir kishi uchun belgilangan yagona me’yor bo‘yicha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Jon boshiga moliyalashtirishda mablag‘ biriktirilgan har bir kishi uchun yagona me’yor bilan taqsimlanadi. Aholi zichligi, jinsi va yoshi bo‘yicha qo‘shimcha koeffitsientlar qo‘llanadi. Xodimlar soni, maydon va tashriflar soni esa eski tizimning asosi edi.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29-bet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Dermatologiya va venerologiya bo‘yicha respublika markazi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2007 yilgi Farmon oltita markaz tashkil etishni ko‘zda tutgan. Ular akusherlik va ginekologiya, pediatriya, terapiya va tibbiy reabilitatsiya, dermatologiya va venerologiya, ftiziatriya va pulmonologiya hamda endokrinologiya markazlaridir. Jarrohlik, urologiya va kardiologiya markazlari esa 2003 yilgi Farmon bilan tajriba tariqasida tashkil etilgan.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31-32-bet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Fuqarolar sog‘lig‘ini saqlash to‘g‘risidagi qonunchilik asoslari.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Vrach faoliyatining huquqiy asoslari: darslik, Toshkent: Tafakkur-Bo‘stoni (egasi taqdim etgan; yopiq foydalanish). 2012. 1-2-boblar. Tibbiyot huquqi fani; fuqarolar sog‘lig‘ini saqlash qonunchiligi asoslari; bet 5-21</a:t>
            </a:r>
          </a:p>
          <a:p>
            <a:pPr>
              <a:spcAft>
                <a:spcPts val="1200"/>
              </a:spcAft>
            </a:pPr>
            <a:r>
              <a:rPr sz="2000">
                <a:solidFill>
                  <a:srgbClr val="1F2937"/>
                </a:solidFill>
                <a:latin typeface="Calibri"/>
              </a:rPr>
              <a:t>▸  G‘iyosov Z.A. Vrach faoliyatining huquqiy asoslari: darslik, Toshkent: Tafakkur-Bo‘stoni (egasi taqdim etgan; yopiq foydalanish). 2012. 3-bob. O‘zbekiston Respublikasida sog‘liqni saqlash qonunchiligi; bet 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