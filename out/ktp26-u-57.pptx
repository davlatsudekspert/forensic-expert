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oddiy H&amp;E bo‘yash yetarli bo‘lmasligi mumkin? 2) Gistologiya natijasi manfiy bo‘lsa, jarohat yo‘q degan xulosa to‘g‘rimi? Doskada: ’oddiy gistologiya → immunogistokimyo‘ ketma-ketligini ikki ustunli sxemada chizdiring. Tipik xato: H&amp;E manfiy bo‘lsa, o‘zgarish yo‘q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Nega ikki xil mavzu (yurak o‘limi va jarohat hayotiyligi) bitta ma’ruzada birlashtirilgan? 2) Ikkala holatda ham gistologiya qaysi muammoni hal qilolmaydi? Doskada: besh bosqichli zanjirni chizib, har bosqich ostiga manbani yozing. Tipik xato: ikki manbani bir-biriga bog‘liq bo‘lmagan mavzu deb qabul qilish.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Nega ta’rifda ’guvohsiz’ holat uchun 24 soat alohida ko‘rsatilgan? 2) Yosh bemorda gistologiya normal bo‘lsa, qaysi sabablar o‘ylanadi? Doskada: yosh o‘qi bo‘ylab ikki guruhni va ularning sabablarini chizdiring. Tipik xato: barcha TYO‘ ni koronar kasallikka bog‘lash.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1) Nega gistologiya manfiy bo‘lsa ham o‘lim sababi bo‘lishi mumkin? 2) “Autopsiya-manfiy” atamasi nimani anglatadi? Doskada: markazda “TYO‘”, undan ikki shoxli chizma — “sabab topildi” va “10–15% tushuntirilmadi”. Tipik xato: “autopsiya-manfiy” ni “o‘lim sababi yo‘q” deb tushunish; aslida sabab asosiy usullar bilan ko‘rinmagan.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Bu o‘quv vaziyati bo‘lib, manbadagi umumiy ma’lumotlardan tuzilgan. Muhokama: 1) Birinchi navbatda qaysi usul qo‘llanadi va nega? 2) Genetik topilma oilaga nima beradi? Doskada: bosqichlar zanjirini chizing — autopsiya → gistologiya → immunogistokimyo → biokimyo → molekulyar tahlil. Tipik xato: bosqichlarni o‘tkazib, darhol genetik testga o‘tish.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 Talabalarga javobni qo‘l ko‘tarib yoki varaqchada berishni taklif qiling. Muhokama: 1) Guvohsiz holatda nega 24 soatlik mezon kerak? 2) Ta’rifga yosh kiradimi? (yo‘q, yosh faqat sabablarga ta’sir qiladi). Doskada: ikki ustunli jadval chizing — “guvohli: 1 soat” va “guvohsiz: 24 soat”. Tipik xato: ikkala vaqtni aralashtirib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CK-MB faqat o‘zi yetarli emas? 2) hs-troponin (yuqori sezgir test) gistologiyadan nimasi bilan ustun? Doskada: troponin va CK-MB ustunli jadvalni chizdiring. Tipik xato: CK-MB oshishini avtomatik yurak o‘limi deb baholash.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erta ishemiya markerlari uzoq PMI da ishonchsiz? 2) Panel bitta markerdan nimasi bilan yaxshi? Doskada: zanjirni chizib, har bosqichga misol yozdiring. Tipik xato: H-FABP yoki GPBB ni uzoq PMI da yagona dalil sifatida ishlatish.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Javob: perikard suyuqligi va son venasi qonida troponin o‘lchanib, ularning nisbati baholanadi. Markaziy yurak qoni miokarddan sizib chiqish tufayli sun’iy yuqori qiymat berishi mumkin. Muhokama: 1) H-FABP bu holatda nega kam ishonchli? 2) Nisbiy talqin sudda nima uchun himoyaviy? Doskada: perikard va son venasi namunalarini sxema qilib chizdiring. Tipik xato: klinik chegara qiymatini o‘limdan keyingi namunaga to‘g‘ridan-to‘g‘ri qo‘llash.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perikard suyuqligi qondan ishonchliroq bo‘lishi mumkin? 2) Buyrak yetishmovchiligi NT-proBNP talqiniga qanday ta’sir qiladi? Doskada chizish: jadvalni 3 ustunda (peptid, nimani ko‘rsatadi, cheklov) o‘zlari to‘ldirsin. Tipik xato: peptidlarni nekroz markeri deb o‘ylash; nekrozni asosan troponinlar ko‘rsatadi.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Biomarkerlar da’vogar va himoya tomoniga qanday ikki yoqlama xizmat qiladi? 2) Kopeptin nimani, troponin nimani isbotlaydi? Kutilgan javob: troponin nekrozni, kopeptin tizimli stress javobini ko‘rsatadi, ular bir-birini to‘ldiradi. Doskada chizish: voqea zanjirini (shifoxonaga tushish, yiqilish, otopsiya, biomarker, xulosa) chizdiring. Tipik xato: biomarkerni yagona dalil deb qabul qilish; kontekst va PMI hisobga olinishi shart.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Talabalarga markerlarni ro‘yxat qilib berib, har birini «nekroz» yoki «stress» guruhiga ajratishni so‘rang. Muhokama: nega kopeptin yurakka xos emas? Doskada chizish: ikki ustunli ro‘yxat (nekroz markerlari va stress markerlari). Tipik xato: kopeptinni yurak kasalligining aniq belgisi deb hisoblash; SCD qisqartmasi — to‘satdan yurak o‘limi.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Nega CRP oshishi yallig‘lanishni to‘liq isbotlamaydi? 2) IGK eruvchan markerlardan qaysi jihatlari bilan ustun? Doskada chizish: ikki ustunli solishtirish (eruvchan mediatorlar va to‘qima IGK) – afzallik va kamchilik. Tipik xato: talabalar CRP va IL-6 ni o‘ziga xos marker deb hisoblaydi.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C5b-9 nega hujayraning ishemiya paytida tirik bo‘lganini ko‘rsatadi? 2) Qaysi markerda signal yo‘qoladi, qaysilarida paydo bo‘ladi? Doskada chizish: to‘rt markerli jadvalni daftarga ko‘chirish va ustiga ‘+’ yoki ‘–’ signal belgisini qo‘yish. Tipik xato: S100A1 ni ‘musbat’ bo‘yalish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Gistolog H&amp;E da hech narsa ko‘rmasa, o‘lim sababini ‘ishemiyasiz’ deb yozish to‘g‘rimi? 2) Qaysi qo‘shimcha IGK markerlarini buyurasiz? Doskada chizish: vaqt o‘qi – 0 soat okklyuziya, 1 soat; yuqorida H&amp;E (manfiy), pastda IGK (musbat). Tipik xato: manfiy H&amp;E ni ‘o‘zgarish yo‘q’ deb talqin qilish.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sarkoidoz ba‘zan dastlab "autopsiya manfiy" deb baholanadi? (2) Miokardit bo‘lmasa ham COVID-19 o‘limga qanday olib kelishi mumkin? Doskada: to‘rt kasallik (sklerodermiya, sarkoidoz, COVID-19, Kavasaki/MIS-C) va ularning o‘lim mexanizmini strelkalar bilan chizdiring. Tipik xato: yallig‘lanishli o‘limni faqat miokardit deb o‘ylash; manbada miokardit bo‘lmasa ham endoteliy infeksiyasi tilga olingan.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Qaysi holatda eruvchan marker yetarli bo‘lmaydi? (2) Nega IGK "vital reaksiya" dalili hisoblanadi? Doskada: jadvalni talabalar bilan birga to‘ldiring. Tipik xato: CRP oshgan bo‘lsa, miokardit deb qat‘iy xulosa qilish. Diqqat: CRP ≠ ishemiya dalili; gipoksiya va terminal stressda ham oshadi.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H&amp;E manfiy bo‘lsa, ishemiyani istisno qilish mumkinmi? (2) IGK natijasini gistologiya va kontekst bilan qanday birlashtirasiz? Doskada: vaqt chizig‘i chizing: ishemiya boshlanishi → 1 soat (fibronektin, S100A1) → H&amp;E ko‘rinishi. Tipik xato: H&amp;E manfiy = ishemiya yo‘q deb o‘ylash. Manbaga ko‘ra IGK erta ishemiyani H&amp;E manfiy bo‘lganda ham ko‘rsatadi. Vaziyat manbadagi ma‘lumotlardan tuzilgan o‘quv misoli.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miRNK klassik oqsil markerlardan barqarorroq hisoblanadi? 2) Ekzosoma miRNKni qanday himoya qiladi? Doskada chizish: ekzosoma ichida miRNK sxemasi va yonida 4 ta yurak miRNK nomi. Tipik xato: miRNK profilini PMIga bog‘liq emas deb o‘ylash. Metabolomik izlar PMIga qarab o‘zgaradi, miRNKlar uchun ham har bir nomzodni alohida tekshirish kerak. Diqqat: bu usullar hali tajriba bosqichida, rutin amaliyotga ko‘p markazli tekshiruvdan keyin kiradi.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VUS nima uchun sud-tibbiy xulosani qiyinlashtiradi? 2) Nima uchun keng panel tor panelga nisbatan afzal? Doskada chizish: zanjirni chizib, har bosqichga mas’ul mutaxassisni yozing. Tipik xato: patogen variant va VUS ni bir xil deb olish. Diqqat: VUS ≠ patogen variant; uni baholash uchun funksional tahlil, populyatsiya chastotasi va oilaviy segregatsiya kerak. Molekulyar autopsiya kengashi (sud-tibbiyot eksperti, kardiolog, genetik, bioetik) ishonchlilikni oshiradi.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Talabalar juftlikda ishlaydi. Muhokama: 1) Gistologiya manfiy bo‘lsa keyingi qadamlar qanday? 2) Kim qarindoshlarni xabardor qilish uchun mas’ul? Kutilgan javob: kaskad skrining, genetik maslahat, klinik kuzatuv va profilaktika; axloqiy jihatlar — rozilik, tasodifiy topilmalar, genetik ma’lumot maxfiyligi, yurisdiksiyaga qarab turlicha tartib. Doskada chizish: qaror daraxti (manfiy gistologiya → genetik tekshiruv → variant → oila). Tipik xato: gistologiya manfiy bo‘lsa, yurakda o‘zgarish yo‘q va o‘lim tabiiy deb xulosa qilish.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H&amp;E manfiy bo‘lsa, keyingi qadam qanday? (2) Biomarker bilan genetik variant nimasi bilan farq qiladi? Doskada: 3 ustunli sxema chizdiring: «Savol – Usul – Natija». Tipik xato: talabalar molekulyar autopsiyani biokimyoviy biomarker deb o‘ylaydi, holbuki u DNK darajasini tekshiradi.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son venasi qoni markaziy yurak qonidan afzal? (2) PMI oshganda qaysi marker birinchi yo‘qoladi? Doskada: namuna olish zanjirini chizdiring: namuna – sentrifuga – −80 °C. Tipik xato: gemoliz bo‘lgan namunada CK-MB yuqori chiqsa, uni yurak kasalligi belgisi deb baholash.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klinik cut-offlarni o‘limdan keyin to‘g‘ridan-to‘g‘ri qo‘llab bo‘lmaydi? (2) Marhumning genetik natijasini qarindoshlarga kim xabar qilishi kerak? Doskada: to‘rt qatorli jadvalni «masala – muammo – yechim» ko‘rinishida to‘ldiring. Tipik xato: biomarkerni faqat ayblovchi dalil deb hisoblash; u himoyani ham qo‘llab-quvvatlashi mumkin.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Kopeptin va troponin yuqori bo‘lsa, shifokor aybdormi? 2) Me’yoriy biomarkerlar nimani isbotlaydi va nimani isbotlamaydi? Doskada: ayblov va himoya ustunlari, har biriga biomarker natijasini yozdiring. Tipik xato: bitta marker natijasini yakuniy dalil deb hisoblash; kopeptinning nospetsifikligini unutish.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Nima uchun molekulyar tahlil oxirgi bosqichga qo‘yilgan? 2) Holat ma’lumotlari qanday ma’lumotlarni o‘z ichiga oladi? Doskada: 5 bosqichli zanjirni chizib, har bosqichga bitta namunaviy usul yozdiring. Tipik xato: molekulyar tahlilni birinchi qadam deb o‘ylash; yakuniy xulosada faqat bitta bosqich natijasiga tayanish.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standartlashtirish sudda dalil qabul qilinishiga ta’sir qiladi? 2) Sun’iy intellekt xulosasini sud qanday shartlarda qabul qilishi mumkin? Doskada: hozirgi va kelajak ustunli jadvalni talabalar bilan to‘ldiring. Tipik xato: tajribadagi 90% dan yuqori aniqlikni amaliyotda isbotlangan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aynan eritrotsit membranasidagi oqsil marker bo‘la oladi? 2) Jarohat hayotiyligini aniqlash nega sud amaliyotida qiyin? Doskada: glikoforin oilasini (GPA, GPB, GPC, GPD) chizib, GPA ni belgilang. Tipik xato: talabalar GPA ni faqat qon dog‘ini aniqlash usuli deb o‘ylaydi, aslida u to‘qimadagi eritrotsitni ko‘rsatadi.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Tomir ichidagi musbat GPA nimani bildiradi? 2) Manfiy natija jarohat hayotiyligini to‘liq inkor etadimi? Doskada: musbat va manfiy natija uchun ikki shoxli sxema chizing. Tipik xato: tomir ichidagi eritrotsitdagi musbat reaksiyani qon quyilishi deb talqin qilish.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ma’lumotlar ikki mustaqil baholovchi tomonidan olinadi? 2) 799 tadan 16 taga qisqarish nimani bildiradi? Doskada: tanlov voronkasini raqamlar bilan chizing. Tipik xato: 50 ta maqolani yakuniy kiritilganlar deb o‘ylash; 50 ta — to‘liq matn uchun saralanganlar, 16 ta kiritildi.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faqat gistologiyada qon ba’zan ko‘rinmay qoladi? 2) Nazorat namunalari nima uchun kerak? Doskada chizing: 50 namunani 42 holat va 8 nazoratga, so‘ng 48 GPA va 2 GPC ga bo‘luvchi daraxt. Tipik xato: GPA va GPC ni bir xil deb o‘ylash; GPC ga oid ma’lumot juda kam (2 ta tadqiqot). Diqqat: gistologiya aniqligi holat va nazorat o‘rtasida sezilarli farq bermagan (p = 0,840), bu GPA ustunligini isbotlamaydi, faqat taqqoslash uchun ma’lumot.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Skeletlangan jasadda bitta jarohat musbat, qolganlari manfiy bo‘lsa, bu nimani bildiradi? 2) Suyakda GPA qanday afzallik beradi? Doskada chizing: jarohat → GPA bo‘yash → eritrositlar tomirdan tashqarida (hayotiy) yoki yo‘q (o‘limdan keyingi). Tipik xato: PMI va chirish darajasini bir narsa deb hisoblash; ular har doim ham mos kelmaydi. Diqqat: Amussat belgisi namunasi chirimagan jasaddan.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Javob: o‘limga bog‘langan jarohatlar GPA manfiy (perimortem yoki postmortem), bo‘yin to‘qimasi musbat (hayotiy qon quyilishi), shu sababli tashxis suitsiddan qotillikka o‘zgardi. Muhokama: 1) Nega faqat GPA natijasi sud uchun yetarli bo‘lmasligi mumkin? 2) Daubert mezonlari (usulning asosliligi, to‘g‘ri qo‘llanishi, mosligi, mutaxassislar tomonidan tan olinishi) bu yerda qanday qo‘llanadi? Doskada chizing: birinchi va ikkinchi autopsiya natijalarini yonma-yon solishtiruvchi ikki ustunli sxema. Tipik xato: manfiy GPA natijasini ‘jarohat yo‘q’ deb o‘ylash; u faqat vitallik belgisi topilmaganini bildiradi. Hukm hali yakuniy emasligini ta’kidlang.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Musbat GPA tomir ichida ham uchrasa, nimaga qarab jonli jarohat deymiz? 2) Qizil dog‘lar gipostatik ekanini qanday isbotlash mumkin (11 yoshli qiz holati: H&amp;E ham, GPA ham eritrotsit ko‘rsatmagan)? Doskada chizish: ikki ustunli sxema — «tomir ichida GPA» va «tomir tashqarisida GPA» — va har biriga xulosa yozing. Tipik xato: tomir ichidagi musbat bo‘yalishni jonli qon quyilishi deb talqin qilish.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Oldindan ishlov nima uchun kerak (antigenni ochish va membrana o‘tkazuvchanligi)? 2) H&amp;E bahosi «ishonchli», «ishonchsiz», «noaniq» toifalarida qanday qo‘yiladi? Doskada chizish: besh bosqichli zanjirni talabalar o‘zlari ketma-ketlikda chizsin. Tipik xato: antitana suyultmasi va inkubatsiya vaqtini aralashtirish; manbada harorat ko‘rsatkichi noaniq, shuning uchun uni yodlatmang.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kam tadqiqot soni usulning sudda qabul qilinishiga to‘sqinlik qiladi? 2) Italiyadagi qayta ochilgan ish (20 yildan ortiq o‘tgach) GPA ning sud qiymatini qanday ko‘rsatdi? Doskada chizish: Daubert jadvalini ko‘chirib, har mezonga GPA dan bitta misol yozing. Tipik xato: GPA ni mutlaq isbot deb bilish; muallif ham metodika va malakali laboratoriya shartini ta’kidlaydi.</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Nega oddiy bo‘yash (H&amp;E) ba‘zan yetarli emas? 2) Standart protokolsiz IGK natijasi sudda nega bahsli bo‘ladi? Doskada: ikki ustun chizing — «IGK: erta ishemiya, jarohat hayotiyligi» va «Molekulyar usul: mikroRNK, NGS» — va har biriga cheklovini yozing. Tipik xato: IGK ijobiy natijasini mutlaq isbot deb olish. Cross-reaktivlik (masalan, suyak ko‘migi) va xato manfiy natijalar ham bo‘lishi mumkin.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Gistologik usul tadqiqotining potentsiallari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gistologik usulning imkoniyatlari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Autopsiya va gistologiya tekshiruvning tayanchi bo‘lib qoladi. Shunga qaramay, 10–15% hollarda to‘liq tekshiruvdan keyin ham o‘lim sababi aniqlanmaydi.</a:t>
            </a:r>
          </a:p>
          <a:p>
            <a:pPr>
              <a:spcAft>
                <a:spcPts val="1200"/>
              </a:spcAft>
            </a:pPr>
            <a:r>
              <a:rPr sz="2000">
                <a:solidFill>
                  <a:srgbClr val="1F2937"/>
                </a:solidFill>
                <a:latin typeface="Calibri"/>
              </a:rPr>
              <a:t>▸  Immunogistokimyo oddiy bo‘yashda ko‘rinmaydigan o‘zgarishni topadi. Fibronektin ishemiyani 1 soat ichida ko‘rsatadi, gematoksilin–eozin (H&amp;E) esa hali manfiy bo‘ladi.</a:t>
            </a:r>
          </a:p>
          <a:p>
            <a:pPr>
              <a:spcAft>
                <a:spcPts val="1200"/>
              </a:spcAft>
            </a:pPr>
            <a:r>
              <a:rPr sz="2000">
                <a:solidFill>
                  <a:srgbClr val="1F2937"/>
                </a:solidFill>
                <a:latin typeface="Calibri"/>
              </a:rPr>
              <a:t>▸  Jarohat hayotiyligini aniqlashda oddiy gistologiyaning aniqligi atigi 66%. Glikoforin A (GPA) bilan bo‘yash qon to‘kilishini ancha ishonchli topadi.</a:t>
            </a:r>
          </a:p>
          <a:p>
            <a:pPr>
              <a:spcAft>
                <a:spcPts val="1200"/>
              </a:spcAft>
            </a:pPr>
            <a:r>
              <a:rPr sz="2000">
                <a:solidFill>
                  <a:srgbClr val="1F2937"/>
                </a:solidFill>
                <a:latin typeface="Calibri"/>
              </a:rPr>
              <a:t>▸  Immunogistokimyo mutaxassis tajribasi va uzoqroq ishlov vaqtini talab qiladi. Ammo u hayotiylik reaksiyasi va jarohat vaqtini aniqroq ko‘rsatadi.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Sacco MA va boshq., Post-Mortem Biomarkers in Sudden Cardiac Death: From Classical Biochemistry to Molecular Autopsy and Multi-Omics Forensic Approaches, betlar: PMID 41596321; Donato Morena va boshq., Bloody Evidence: The Validity of Glycophorin A in the Determination of Wound Vitality—A Systematic Review of the Literature, betlar: PMID 40508117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Ikki manba va ma’ruza rejasi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81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1-manba: yurak o‘limida biomarkerlar — oqsil, peptid, yallig‘lanish va molekulyar belgilar.</a:t>
            </a:r>
          </a:p>
          <a:p>
            <a:pPr>
              <a:spcAft>
                <a:spcPts val="800"/>
              </a:spcAft>
            </a:pPr>
            <a:r>
              <a:rPr sz="1800">
                <a:solidFill>
                  <a:srgbClr val="1F2937"/>
                </a:solidFill>
                <a:latin typeface="Calibri"/>
              </a:rPr>
              <a:t>▸  2-manba: GPA yordamida chirigan tanada jarohat hayotiyligini aniqlash; 16 ta tadqiqot tahlil qilingan.</a:t>
            </a:r>
          </a:p>
          <a:p>
            <a:pPr>
              <a:spcAft>
                <a:spcPts val="800"/>
              </a:spcAft>
            </a:pPr>
            <a:r>
              <a:rPr sz="1800">
                <a:solidFill>
                  <a:srgbClr val="1F2937"/>
                </a:solidFill>
                <a:latin typeface="Calibri"/>
              </a:rPr>
              <a:t>▸  Ikkalasini bog‘laydi: gistologiyaga immunogistokimyo qo‘shilsa, diagnostik qiymat eng yuqori bo‘ladi.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 TYO‘: ta’rif va sabablar</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 Autopsiya va gistologiya</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 Immunogistokimyo belgilari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4. GPA: jarohat hayotiyligi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5. Cheklovlar va xulosa</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Ma’ruza rejasi zanjiri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Sacco MA va boshq., Post-Mortem Biomarkers in Sudden Cardiac Death: From Classical Biochemistry to Molecular Autopsy and Multi-Omics Forensic Approaches, betlar: PMID 41596321; Donato Morena va boshq., Bloody Evidence: The Validity of Glycophorin A in the Determination of Wound Vitality—A Systematic Review of the Literature, betlar: PMID 40508117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To‘satdan yurak o‘limi: ta’rif va sabablar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81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To‘satdan yurak o‘limi (TYO‘): belgidan 1 soat ichida, guvohsiz bo‘lsa 24 soat ichida kutilmagan o‘lim.</a:t>
            </a:r>
          </a:p>
          <a:p>
            <a:pPr>
              <a:spcAft>
                <a:spcPts val="800"/>
              </a:spcAft>
            </a:pPr>
            <a:r>
              <a:rPr sz="1800">
                <a:solidFill>
                  <a:srgbClr val="1F2937"/>
                </a:solidFill>
                <a:latin typeface="Calibri"/>
              </a:rPr>
              <a:t>▸  TYO‘ tabiiy o‘limlarning taxminan 15–20% ini, yiliga 4–5 million o‘limni tashkil etadi.</a:t>
            </a:r>
          </a:p>
          <a:p>
            <a:pPr>
              <a:spcAft>
                <a:spcPts val="800"/>
              </a:spcAft>
            </a:pPr>
            <a:r>
              <a:rPr sz="1800">
                <a:solidFill>
                  <a:srgbClr val="1F2937"/>
                </a:solidFill>
                <a:latin typeface="Calibri"/>
              </a:rPr>
              <a:t>▸  Diqqat: to‘liq tekshiruvdan keyin 10–15% hol sababsiz (autopsiya-manfiy) qoladi.</a:t>
            </a:r>
          </a:p>
        </p:txBody>
      </p:sp>
      <p:graphicFrame>
        <p:nvGraphicFramePr>
          <p:cNvPr id="9" name="Table 8"/>
          <p:cNvGraphicFramePr>
            <a:graphicFrameLocks noGrp="1"/>
          </p:cNvGraphicFramePr>
          <p:nvPr/>
        </p:nvGraphicFramePr>
        <p:xfrm>
          <a:off x="6263640" y="1463040"/>
          <a:ext cx="5287974" cy="1234440"/>
        </p:xfrm>
        <a:graphic>
          <a:graphicData uri="http://schemas.openxmlformats.org/drawingml/2006/table">
            <a:tbl>
              <a:tblPr firstRow="1" bandRow="1">
                <a:tableStyleId>{5C22544A-7EE6-4342-B048-85BDC9FD1C3A}</a:tableStyleId>
              </a:tblPr>
              <a:tblGrid>
                <a:gridCol w="1577115"/>
                <a:gridCol w="3710859"/>
              </a:tblGrid>
              <a:tr h="411480">
                <a:tc>
                  <a:txBody>
                    <a:bodyPr/>
                    <a:lstStyle/>
                    <a:p>
                      <a:r>
                        <a:rPr sz="1400" b="1">
                          <a:solidFill>
                            <a:srgbClr val="FFFFFF"/>
                          </a:solidFill>
                        </a:rPr>
                        <a:t>Yosh guruhi</a:t>
                      </a:r>
                    </a:p>
                  </a:txBody>
                  <a:tcPr marL="73152" marR="73152" marT="36576" marB="36576">
                    <a:solidFill>
                      <a:srgbClr val="0B1F3A"/>
                    </a:solidFill>
                  </a:tcPr>
                </a:tc>
                <a:tc>
                  <a:txBody>
                    <a:bodyPr/>
                    <a:lstStyle/>
                    <a:p>
                      <a:r>
                        <a:rPr sz="1400" b="1">
                          <a:solidFill>
                            <a:srgbClr val="FFFFFF"/>
                          </a:solidFill>
                        </a:rPr>
                        <a:t>Asosiy sabab</a:t>
                      </a:r>
                    </a:p>
                  </a:txBody>
                  <a:tcPr marL="73152" marR="73152" marT="36576" marB="36576">
                    <a:solidFill>
                      <a:srgbClr val="0B1F3A"/>
                    </a:solidFill>
                  </a:tcPr>
                </a:tc>
              </a:tr>
              <a:tr h="411480">
                <a:tc>
                  <a:txBody>
                    <a:bodyPr/>
                    <a:lstStyle/>
                    <a:p>
                      <a:r>
                        <a:rPr sz="1300" b="0">
                          <a:solidFill>
                            <a:srgbClr val="1F2937"/>
                          </a:solidFill>
                        </a:rPr>
                        <a:t>35 yoshdan katta</a:t>
                      </a:r>
                    </a:p>
                  </a:txBody>
                  <a:tcPr marL="73152" marR="73152" marT="36576" marB="36576">
                    <a:solidFill>
                      <a:srgbClr val="E8EEF6"/>
                    </a:solidFill>
                  </a:tcPr>
                </a:tc>
                <a:tc>
                  <a:txBody>
                    <a:bodyPr/>
                    <a:lstStyle/>
                    <a:p>
                      <a:r>
                        <a:rPr sz="1300" b="0">
                          <a:solidFill>
                            <a:srgbClr val="1F2937"/>
                          </a:solidFill>
                        </a:rPr>
                        <a:t>Koronar arteriya kasalligi</a:t>
                      </a:r>
                    </a:p>
                  </a:txBody>
                  <a:tcPr marL="73152" marR="73152" marT="36576" marB="36576">
                    <a:solidFill>
                      <a:srgbClr val="E8EEF6"/>
                    </a:solidFill>
                  </a:tcPr>
                </a:tc>
              </a:tr>
              <a:tr h="411480">
                <a:tc>
                  <a:txBody>
                    <a:bodyPr/>
                    <a:lstStyle/>
                    <a:p>
                      <a:r>
                        <a:rPr sz="1300" b="0">
                          <a:solidFill>
                            <a:srgbClr val="1F2937"/>
                          </a:solidFill>
                        </a:rPr>
                        <a:t>Yosh bemorlar</a:t>
                      </a:r>
                    </a:p>
                  </a:txBody>
                  <a:tcPr marL="73152" marR="73152" marT="36576" marB="36576">
                    <a:solidFill>
                      <a:srgbClr val="FFFFFF"/>
                    </a:solidFill>
                  </a:tcPr>
                </a:tc>
                <a:tc>
                  <a:txBody>
                    <a:bodyPr/>
                    <a:lstStyle/>
                    <a:p>
                      <a:r>
                        <a:rPr sz="1300" b="0">
                          <a:solidFill>
                            <a:srgbClr val="1F2937"/>
                          </a:solidFill>
                        </a:rPr>
                        <a:t>Kardiomiopatiya, miokardit, irsiy aritmiya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Yoshga qarab sabablar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Sacco MA va boshq., Post-Mortem Biomarkers in Sudden Cardiac Death: From Classical Biochemistry to Molecular Autopsy and Multi-Omics Forensic Approaches, betlar: PMID 41596321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Autopsiya-manfiy o‘lim muammosi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To‘satdan yurak o‘limi (TYO‘) tabiiy o‘limlarning taxminan 15–20 foizini beradi. Dunyoda yiliga taxminan 4–5 million o‘lim bilan bog‘liq.</a:t>
            </a:r>
          </a:p>
          <a:p>
            <a:pPr>
              <a:spcAft>
                <a:spcPts val="1200"/>
              </a:spcAft>
            </a:pPr>
            <a:r>
              <a:rPr sz="2200">
                <a:solidFill>
                  <a:srgbClr val="1F2937"/>
                </a:solidFill>
                <a:latin typeface="Calibri"/>
              </a:rPr>
              <a:t>▸  To‘liq autopsiya va gistologiyadan keyin ham 10–15% holat tushuntirilmay qoladi. Ular “autopsiya-manfiy to‘satdan tushuntirilmagan o‘lim” deb ataladi.</a:t>
            </a:r>
          </a:p>
          <a:p>
            <a:pPr>
              <a:spcAft>
                <a:spcPts val="1200"/>
              </a:spcAft>
            </a:pPr>
            <a:r>
              <a:rPr sz="2200">
                <a:solidFill>
                  <a:srgbClr val="1F2937"/>
                </a:solidFill>
                <a:latin typeface="Calibri"/>
              </a:rPr>
              <a:t>▸  Bunday holatda oila aniq izohsiz, sud yetarli isbotsiz, shifokor esa profilaktika uchun zarur ma’lumotsiz qoladi.</a:t>
            </a:r>
          </a:p>
          <a:p>
            <a:pPr>
              <a:spcAft>
                <a:spcPts val="1200"/>
              </a:spcAft>
            </a:pPr>
            <a:r>
              <a:rPr sz="2200">
                <a:solidFill>
                  <a:srgbClr val="1F2937"/>
                </a:solidFill>
                <a:latin typeface="Calibri"/>
              </a:rPr>
              <a:t>▸  Autopsiya va gistologiya asosiy usul bo‘lib qoladi. Bo‘shliqni to‘ldirish uchun post-mortem biokimyo va molekulyar usullar qo‘shiladi.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Sacco MA va boshq., Post-Mortem Biomarkers in Sudden Cardiac Death: From Classical Biochemistry to Molecular Autopsy and Multi-Omics Forensic Approaches, betlar: PMID 41596321, 1-bo‘lim (Introduction), PMID 41596321, Abstract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gistologiya sababni ko‘rsatmadi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(o‘quv misol): yosh shaxs to‘satdan vafot etgan. Autopsiya va oddiy gistologiyada aniq o‘lim sababi topilmadi.</a:t>
            </a:r>
          </a:p>
          <a:p>
            <a:pPr>
              <a:spcAft>
                <a:spcPts val="1200"/>
              </a:spcAft>
            </a:pPr>
            <a:r>
              <a:rPr sz="2200">
                <a:solidFill>
                  <a:srgbClr val="1F2937"/>
                </a:solidFill>
                <a:latin typeface="Calibri"/>
              </a:rPr>
              <a:t>▸  Yoshlarda ko‘pincha kardiomiopatiya, miokardit yoki irsiy aritmik sindromlar uchraydi. Ularning ba’zi asoslari oddiy gistologiyada ko‘rinmaydi.</a:t>
            </a:r>
          </a:p>
          <a:p>
            <a:pPr>
              <a:spcAft>
                <a:spcPts val="1200"/>
              </a:spcAft>
            </a:pPr>
            <a:r>
              <a:rPr sz="2200">
                <a:solidFill>
                  <a:srgbClr val="1F2937"/>
                </a:solidFill>
                <a:latin typeface="Calibri"/>
              </a:rPr>
              <a:t>▸  Keyingi qadamlar: immunogistokimyo (fibronektin, C5b-9, desmin, S100A1), biokimyo, so‘ng gen tahlili (molekulyar autopsiya).</a:t>
            </a:r>
          </a:p>
          <a:p>
            <a:pPr>
              <a:spcAft>
                <a:spcPts val="1200"/>
              </a:spcAft>
            </a:pPr>
            <a:r>
              <a:rPr sz="2200">
                <a:solidFill>
                  <a:srgbClr val="1F2937"/>
                </a:solidFill>
                <a:latin typeface="Calibri"/>
              </a:rPr>
              <a:t>▸  Savol: oila a’zolari uchun nima qilish mumkin? Gen varianti topilsa, kaskadli skrining xavf ostidagi qarindoshlarni aniqlaydi.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Sacco MA va boshq., Post-Mortem Biomarkers in Sudden Cardiac Death: From Classical Biochemistry to Molecular Autopsy and Multi-Omics Forensic Approaches, betlar: PMID 41596321, 1-bo‘lim (Introduction), PMID 41596321, 10-bo‘lim (Proposed Practical Framework)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TYO‘ ta’rifi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TYO‘ ta’rifida simptom boshlanganidan qancha vaqt ichida o‘lim yuz beradi? To‘g‘ri javob: 1 soat ichida (guvohli holat).</a:t>
            </a:r>
          </a:p>
          <a:p>
            <a:pPr>
              <a:spcAft>
                <a:spcPts val="1200"/>
              </a:spcAft>
            </a:pPr>
            <a:r>
              <a:rPr sz="2200">
                <a:solidFill>
                  <a:srgbClr val="1F2937"/>
                </a:solidFill>
                <a:latin typeface="Calibri"/>
              </a:rPr>
              <a:t>▸  Guvohsiz holatda o‘lim shaxs oxirgi marta sog‘lom holda tirik ko‘rilganidan keyin 24 soat ichida yuz bergan bo‘lishi kerak.</a:t>
            </a:r>
          </a:p>
          <a:p>
            <a:pPr>
              <a:spcAft>
                <a:spcPts val="1200"/>
              </a:spcAft>
            </a:pPr>
            <a:r>
              <a:rPr sz="2200">
                <a:solidFill>
                  <a:srgbClr val="1F2937"/>
                </a:solidFill>
                <a:latin typeface="Calibri"/>
              </a:rPr>
              <a:t>▸  Diqqat: xato qilish xavfi — 1 soat ≠ 24 soat. Birinchisi guvohli holatga, ikkinchisi guvohsiz holatga tegishli.</a:t>
            </a:r>
          </a:p>
          <a:p>
            <a:pPr>
              <a:spcAft>
                <a:spcPts val="1200"/>
              </a:spcAft>
            </a:pPr>
            <a:r>
              <a:rPr sz="2200">
                <a:solidFill>
                  <a:srgbClr val="1F2937"/>
                </a:solidFill>
                <a:latin typeface="Calibri"/>
              </a:rPr>
              <a:t>▸  Ta’rif kutilmagan tabiiy o‘limni, taxminiy yurak kelib chiqishini nazarda tutadi. 35 yoshdan oshganlarda ko‘proq koronar arteriya kasalligi uchraydi.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Sacco MA va boshq., Post-Mortem Biomarkers in Sudden Cardiac Death: From Classical Biochemistry to Molecular Autopsy and Multi-Omics Forensic Approaches, betlar: PMID 41596321, 1-bo‘lim (Introduction)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Miokard nekrozining oqsil markerlari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81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Yurak troponinlari (cTnI, cTnT) kardiomiotsit nekrozining eng maxsus va sezgir markeri hisoblanadi.</a:t>
            </a:r>
          </a:p>
          <a:p>
            <a:pPr>
              <a:spcAft>
                <a:spcPts val="800"/>
              </a:spcAft>
            </a:pPr>
            <a:r>
              <a:rPr sz="1800">
                <a:solidFill>
                  <a:srgbClr val="1F2937"/>
                </a:solidFill>
                <a:latin typeface="Calibri"/>
              </a:rPr>
              <a:t>▸  Diqqat: CK-MB ≠ troponin. CK-MB (kreatinkinaza-MB) travma, tutqanoq va mushak jarohatida ham oshadi.</a:t>
            </a:r>
          </a:p>
          <a:p>
            <a:pPr>
              <a:spcAft>
                <a:spcPts val="800"/>
              </a:spcAft>
            </a:pPr>
            <a:r>
              <a:rPr sz="1800">
                <a:solidFill>
                  <a:srgbClr val="1F2937"/>
                </a:solidFill>
                <a:latin typeface="Calibri"/>
              </a:rPr>
              <a:t>▸  Ikkalasining mos oshishi qisqa PMI (o‘limdan keyingi vaqt)da o‘tkir ishemik o‘limni tasdiqlaydi.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881329"/>
                <a:gridCol w="2203322"/>
                <a:gridCol w="2203322"/>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Troponin</a:t>
                      </a:r>
                    </a:p>
                  </a:txBody>
                  <a:tcPr marL="73152" marR="73152" marT="36576" marB="36576">
                    <a:solidFill>
                      <a:srgbClr val="0B1F3A"/>
                    </a:solidFill>
                  </a:tcPr>
                </a:tc>
                <a:tc>
                  <a:txBody>
                    <a:bodyPr/>
                    <a:lstStyle/>
                    <a:p>
                      <a:r>
                        <a:rPr sz="1300" b="1">
                          <a:solidFill>
                            <a:srgbClr val="FFFFFF"/>
                          </a:solidFill>
                        </a:rPr>
                        <a:t>CK-MB</a:t>
                      </a:r>
                    </a:p>
                  </a:txBody>
                  <a:tcPr marL="73152" marR="73152" marT="36576" marB="36576">
                    <a:solidFill>
                      <a:srgbClr val="0B1F3A"/>
                    </a:solidFill>
                  </a:tcPr>
                </a:tc>
              </a:tr>
              <a:tr h="411480">
                <a:tc>
                  <a:txBody>
                    <a:bodyPr/>
                    <a:lstStyle/>
                    <a:p>
                      <a:r>
                        <a:rPr sz="1200" b="0">
                          <a:solidFill>
                            <a:srgbClr val="1F2937"/>
                          </a:solidFill>
                        </a:rPr>
                        <a:t>Maxsuslik</a:t>
                      </a:r>
                    </a:p>
                  </a:txBody>
                  <a:tcPr marL="73152" marR="73152" marT="36576" marB="36576">
                    <a:solidFill>
                      <a:srgbClr val="E8EEF6"/>
                    </a:solidFill>
                  </a:tcPr>
                </a:tc>
                <a:tc>
                  <a:txBody>
                    <a:bodyPr/>
                    <a:lstStyle/>
                    <a:p>
                      <a:r>
                        <a:rPr sz="1200" b="0">
                          <a:solidFill>
                            <a:srgbClr val="1F2937"/>
                          </a:solidFill>
                        </a:rPr>
                        <a:t>Eng maxsus va sezgir</a:t>
                      </a:r>
                    </a:p>
                  </a:txBody>
                  <a:tcPr marL="73152" marR="73152" marT="36576" marB="36576">
                    <a:solidFill>
                      <a:srgbClr val="E8EEF6"/>
                    </a:solidFill>
                  </a:tcPr>
                </a:tc>
                <a:tc>
                  <a:txBody>
                    <a:bodyPr/>
                    <a:lstStyle/>
                    <a:p>
                      <a:r>
                        <a:rPr sz="1200" b="0">
                          <a:solidFill>
                            <a:srgbClr val="1F2937"/>
                          </a:solidFill>
                        </a:rPr>
                        <a:t>Past: skelet mushagi bilan kesishadi</a:t>
                      </a:r>
                    </a:p>
                  </a:txBody>
                  <a:tcPr marL="73152" marR="73152" marT="36576" marB="36576">
                    <a:solidFill>
                      <a:srgbClr val="E8EEF6"/>
                    </a:solidFill>
                  </a:tcPr>
                </a:tc>
              </a:tr>
              <a:tr h="411480">
                <a:tc>
                  <a:txBody>
                    <a:bodyPr/>
                    <a:lstStyle/>
                    <a:p>
                      <a:r>
                        <a:rPr sz="1200" b="0">
                          <a:solidFill>
                            <a:srgbClr val="1F2937"/>
                          </a:solidFill>
                        </a:rPr>
                        <a:t>Cheklov</a:t>
                      </a:r>
                    </a:p>
                  </a:txBody>
                  <a:tcPr marL="73152" marR="73152" marT="36576" marB="36576">
                    <a:solidFill>
                      <a:srgbClr val="FFFFFF"/>
                    </a:solidFill>
                  </a:tcPr>
                </a:tc>
                <a:tc>
                  <a:txBody>
                    <a:bodyPr/>
                    <a:lstStyle/>
                    <a:p>
                      <a:r>
                        <a:rPr sz="1200" b="0">
                          <a:solidFill>
                            <a:srgbClr val="1F2937"/>
                          </a:solidFill>
                        </a:rPr>
                        <a:t>Gemoliz va PMI ta’sir qiladi</a:t>
                      </a:r>
                    </a:p>
                  </a:txBody>
                  <a:tcPr marL="73152" marR="73152" marT="36576" marB="36576">
                    <a:solidFill>
                      <a:srgbClr val="FFFFFF"/>
                    </a:solidFill>
                  </a:tcPr>
                </a:tc>
                <a:tc>
                  <a:txBody>
                    <a:bodyPr/>
                    <a:lstStyle/>
                    <a:p>
                      <a:r>
                        <a:rPr sz="1200" b="0">
                          <a:solidFill>
                            <a:srgbClr val="1F2937"/>
                          </a:solidFill>
                        </a:rPr>
                        <a:t>Travma, tutqanoq, mushak jarohatida oshadi</a:t>
                      </a:r>
                    </a:p>
                  </a:txBody>
                  <a:tcPr marL="73152" marR="73152" marT="36576" marB="36576">
                    <a:solidFill>
                      <a:srgbClr val="FFFFFF"/>
                    </a:solidFill>
                  </a:tcPr>
                </a:tc>
              </a:tr>
              <a:tr h="411480">
                <a:tc>
                  <a:txBody>
                    <a:bodyPr/>
                    <a:lstStyle/>
                    <a:p>
                      <a:r>
                        <a:rPr sz="1200" b="0">
                          <a:solidFill>
                            <a:srgbClr val="1F2937"/>
                          </a:solidFill>
                        </a:rPr>
                        <a:t>Amaliyot</a:t>
                      </a:r>
                    </a:p>
                  </a:txBody>
                  <a:tcPr marL="73152" marR="73152" marT="36576" marB="36576">
                    <a:solidFill>
                      <a:srgbClr val="E8EEF6"/>
                    </a:solidFill>
                  </a:tcPr>
                </a:tc>
                <a:tc>
                  <a:txBody>
                    <a:bodyPr/>
                    <a:lstStyle/>
                    <a:p>
                      <a:r>
                        <a:rPr sz="1200" b="0">
                          <a:solidFill>
                            <a:srgbClr val="1F2937"/>
                          </a:solidFill>
                        </a:rPr>
                        <a:t>hs-testlar kuzatish oynasini kengaytirdi</a:t>
                      </a:r>
                    </a:p>
                  </a:txBody>
                  <a:tcPr marL="73152" marR="73152" marT="36576" marB="36576">
                    <a:solidFill>
                      <a:srgbClr val="E8EEF6"/>
                    </a:solidFill>
                  </a:tcPr>
                </a:tc>
                <a:tc>
                  <a:txBody>
                    <a:bodyPr/>
                    <a:lstStyle/>
                    <a:p>
                      <a:r>
                        <a:rPr sz="1200" b="0">
                          <a:solidFill>
                            <a:srgbClr val="1F2937"/>
                          </a:solidFill>
                        </a:rPr>
                        <a:t>Arzon va keng tarqalgan</a:t>
                      </a:r>
                    </a:p>
                  </a:txBody>
                  <a:tcPr marL="73152" marR="73152" marT="36576" marB="36576">
                    <a:solidFill>
                      <a:srgbClr val="E8EEF6"/>
                    </a:solidFill>
                  </a:tcPr>
                </a:tc>
              </a:tr>
              <a:tr h="411480">
                <a:tc>
                  <a:txBody>
                    <a:bodyPr/>
                    <a:lstStyle/>
                    <a:p>
                      <a:r>
                        <a:rPr sz="1200" b="0">
                          <a:solidFill>
                            <a:srgbClr val="1F2937"/>
                          </a:solidFill>
                        </a:rPr>
                        <a:t>Namuna</a:t>
                      </a:r>
                    </a:p>
                  </a:txBody>
                  <a:tcPr marL="73152" marR="73152" marT="36576" marB="36576">
                    <a:solidFill>
                      <a:srgbClr val="FFFFFF"/>
                    </a:solidFill>
                  </a:tcPr>
                </a:tc>
                <a:tc>
                  <a:txBody>
                    <a:bodyPr/>
                    <a:lstStyle/>
                    <a:p>
                      <a:r>
                        <a:rPr sz="1200" b="0">
                          <a:solidFill>
                            <a:srgbClr val="1F2937"/>
                          </a:solidFill>
                        </a:rPr>
                        <a:t>Perikard suyuqligi, son venasi qoni</a:t>
                      </a:r>
                    </a:p>
                  </a:txBody>
                  <a:tcPr marL="73152" marR="73152" marT="36576" marB="36576">
                    <a:solidFill>
                      <a:srgbClr val="FFFFFF"/>
                    </a:solidFill>
                  </a:tcPr>
                </a:tc>
                <a:tc>
                  <a:txBody>
                    <a:bodyPr/>
                    <a:lstStyle/>
                    <a:p>
                      <a:r>
                        <a:rPr sz="1200" b="0">
                          <a:solidFill>
                            <a:srgbClr val="1F2937"/>
                          </a:solidFill>
                        </a:rPr>
                        <a:t>Troponin bilan birga baholanadi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Troponin va CK-MB solishtiruvi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Sacco MA va boshq., Post-Mortem Biomarkers in Sudden Cardiac Death: From Classical Biochemistry to Molecular Autopsy and Multi-Omics Forensic Approaches, betlar: PMID 41596321, 2-bo‘lim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H-FABP, GPBB va multimarker yondashuv</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81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H-FABP (yurak yog‘ kislotasi bog‘lovchi oqsili) tez ajraladi, ammo PMI uzayganda tez parchalanadi.</a:t>
            </a:r>
          </a:p>
          <a:p>
            <a:pPr>
              <a:spcAft>
                <a:spcPts val="800"/>
              </a:spcAft>
            </a:pPr>
            <a:r>
              <a:rPr sz="1800">
                <a:solidFill>
                  <a:srgbClr val="1F2937"/>
                </a:solidFill>
                <a:latin typeface="Calibri"/>
              </a:rPr>
              <a:t>▸  GPBB (glikogen fosforilaza BB) erta ishemiyani bildiradi; panelda troponin bilan sezgirlikni oshiradi.</a:t>
            </a:r>
          </a:p>
          <a:p>
            <a:pPr>
              <a:spcAft>
                <a:spcPts val="800"/>
              </a:spcAft>
            </a:pPr>
            <a:r>
              <a:rPr sz="1800">
                <a:solidFill>
                  <a:srgbClr val="1F2937"/>
                </a:solidFill>
                <a:latin typeface="Calibri"/>
              </a:rPr>
              <a:t>▸  Mutlaq qiymat o‘rniga nisbat (perikard/qon) va panel ishonchliroq; chegara qat’iy emas.</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Erta ishemiya: H-FABP, GPBB</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Tez parchalanish (PMI uzayadi)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Multimarker panel tuziladi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PMI va namuna joyiga moslash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Ehtimoliy (nisbiy) xulosa</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Yagona markerdan panelga</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Sacco MA va boshq., Post-Mortem Biomarkers in Sudden Cardiac Death: From Classical Biochemistry to Molecular Autopsy and Multi-Omics Forensic Approaches, betlar: PMID 41596321, 2-bo‘lim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perikard suyuqligi va qon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kutilmagan o‘lim, PMI 24–48 soatdan oshgan, gistologiyada ishemiya belgisi aniq emas.</a:t>
            </a:r>
          </a:p>
          <a:p>
            <a:pPr>
              <a:spcAft>
                <a:spcPts val="1200"/>
              </a:spcAft>
            </a:pPr>
            <a:r>
              <a:rPr sz="2200">
                <a:solidFill>
                  <a:srgbClr val="1F2937"/>
                </a:solidFill>
                <a:latin typeface="Calibri"/>
              </a:rPr>
              <a:t>▸  Perikard suyuqligidagi troponin qondagiga qaraganda uzoqroq barqaror, shuning uchun uni son venasi qoni bilan solishtiring.</a:t>
            </a:r>
          </a:p>
          <a:p>
            <a:pPr>
              <a:spcAft>
                <a:spcPts val="1200"/>
              </a:spcAft>
            </a:pPr>
            <a:r>
              <a:rPr sz="2200">
                <a:solidFill>
                  <a:srgbClr val="1F2937"/>
                </a:solidFill>
                <a:latin typeface="Calibri"/>
              </a:rPr>
              <a:t>▸  Perikard/son venasi qoni troponin nisbati PMI va gemoliz ta’sirini kamaytiradi; mutlaq chegaradan afzal.</a:t>
            </a:r>
          </a:p>
          <a:p>
            <a:pPr>
              <a:spcAft>
                <a:spcPts val="1200"/>
              </a:spcAft>
            </a:pPr>
            <a:r>
              <a:rPr sz="2200">
                <a:solidFill>
                  <a:srgbClr val="1F2937"/>
                </a:solidFill>
                <a:latin typeface="Calibri"/>
              </a:rPr>
              <a:t>▸  Savol: qaysi muhit va nisbat tanlanadi? Markaziy yurak qoni nega sun’iy yuqori qiymat berishi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Sacco MA va boshq., Post-Mortem Biomarkers in Sudden Cardiac Death: From Classical Biochemistry to Molecular Autopsy and Multi-Omics Forensic Approaches, betlar: PMID 41596321, 2-bo‘lim, PMID 41596321, 7-bo‘lim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Peptid markerlar: gemodinamik stress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81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B-tipli natriuretik peptid (BNP), NT-proBNP, kopeptin va sST2 nekrozni emas, gemodinamik stressni aks ettiradi.</a:t>
            </a:r>
          </a:p>
          <a:p>
            <a:pPr>
              <a:spcAft>
                <a:spcPts val="800"/>
              </a:spcAft>
            </a:pPr>
            <a:r>
              <a:rPr sz="1800">
                <a:solidFill>
                  <a:srgbClr val="1F2937"/>
                </a:solidFill>
                <a:latin typeface="Calibri"/>
              </a:rPr>
              <a:t>▸  Perikard suyuqligidagi NT-proBNP qon redistributsiyasidan himoyalangan va 24–48 soat nisbatan barqaror.</a:t>
            </a:r>
          </a:p>
          <a:p>
            <a:pPr>
              <a:spcAft>
                <a:spcPts val="800"/>
              </a:spcAft>
            </a:pPr>
            <a:r>
              <a:rPr sz="1800">
                <a:solidFill>
                  <a:srgbClr val="1F2937"/>
                </a:solidFill>
                <a:latin typeface="Calibri"/>
              </a:rPr>
              <a:t>▸  Eng kuchli natijani yakka peptid emas, ko‘p markerli panel beradi.</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1293866"/>
                <a:gridCol w="1968926"/>
                <a:gridCol w="2025181"/>
              </a:tblGrid>
              <a:tr h="411480">
                <a:tc>
                  <a:txBody>
                    <a:bodyPr/>
                    <a:lstStyle/>
                    <a:p>
                      <a:r>
                        <a:rPr sz="1300" b="1">
                          <a:solidFill>
                            <a:srgbClr val="FFFFFF"/>
                          </a:solidFill>
                        </a:rPr>
                        <a:t>Peptid</a:t>
                      </a:r>
                    </a:p>
                  </a:txBody>
                  <a:tcPr marL="73152" marR="73152" marT="36576" marB="36576">
                    <a:solidFill>
                      <a:srgbClr val="0B1F3A"/>
                    </a:solidFill>
                  </a:tcPr>
                </a:tc>
                <a:tc>
                  <a:txBody>
                    <a:bodyPr/>
                    <a:lstStyle/>
                    <a:p>
                      <a:r>
                        <a:rPr sz="1300" b="1">
                          <a:solidFill>
                            <a:srgbClr val="FFFFFF"/>
                          </a:solidFill>
                        </a:rPr>
                        <a:t>Ko‘rsatadi</a:t>
                      </a:r>
                    </a:p>
                  </a:txBody>
                  <a:tcPr marL="73152" marR="73152" marT="36576" marB="36576">
                    <a:solidFill>
                      <a:srgbClr val="0B1F3A"/>
                    </a:solidFill>
                  </a:tcPr>
                </a:tc>
                <a:tc>
                  <a:txBody>
                    <a:bodyPr/>
                    <a:lstStyle/>
                    <a:p>
                      <a:r>
                        <a:rPr sz="1300" b="1">
                          <a:solidFill>
                            <a:srgbClr val="FFFFFF"/>
                          </a:solidFill>
                        </a:rPr>
                        <a:t>Cheklov</a:t>
                      </a:r>
                    </a:p>
                  </a:txBody>
                  <a:tcPr marL="73152" marR="73152" marT="36576" marB="36576">
                    <a:solidFill>
                      <a:srgbClr val="0B1F3A"/>
                    </a:solidFill>
                  </a:tcPr>
                </a:tc>
              </a:tr>
              <a:tr h="411480">
                <a:tc>
                  <a:txBody>
                    <a:bodyPr/>
                    <a:lstStyle/>
                    <a:p>
                      <a:r>
                        <a:rPr sz="1200" b="0">
                          <a:solidFill>
                            <a:srgbClr val="1F2937"/>
                          </a:solidFill>
                        </a:rPr>
                        <a:t>NT-proBNP (BNP bo‘lagi)</a:t>
                      </a:r>
                    </a:p>
                  </a:txBody>
                  <a:tcPr marL="73152" marR="73152" marT="36576" marB="36576">
                    <a:solidFill>
                      <a:srgbClr val="E8EEF6"/>
                    </a:solidFill>
                  </a:tcPr>
                </a:tc>
                <a:tc>
                  <a:txBody>
                    <a:bodyPr/>
                    <a:lstStyle/>
                    <a:p>
                      <a:r>
                        <a:rPr sz="1200" b="0">
                          <a:solidFill>
                            <a:srgbClr val="1F2937"/>
                          </a:solidFill>
                        </a:rPr>
                        <a:t>Qorincha cho‘zilishi, remodellanish</a:t>
                      </a:r>
                    </a:p>
                  </a:txBody>
                  <a:tcPr marL="73152" marR="73152" marT="36576" marB="36576">
                    <a:solidFill>
                      <a:srgbClr val="E8EEF6"/>
                    </a:solidFill>
                  </a:tcPr>
                </a:tc>
                <a:tc>
                  <a:txBody>
                    <a:bodyPr/>
                    <a:lstStyle/>
                    <a:p>
                      <a:r>
                        <a:rPr sz="1200" b="0">
                          <a:solidFill>
                            <a:srgbClr val="1F2937"/>
                          </a:solidFill>
                        </a:rPr>
                        <a:t>Buyrak, o‘pka kasalligida ham oshadi</a:t>
                      </a:r>
                    </a:p>
                  </a:txBody>
                  <a:tcPr marL="73152" marR="73152" marT="36576" marB="36576">
                    <a:solidFill>
                      <a:srgbClr val="E8EEF6"/>
                    </a:solidFill>
                  </a:tcPr>
                </a:tc>
              </a:tr>
              <a:tr h="411480">
                <a:tc>
                  <a:txBody>
                    <a:bodyPr/>
                    <a:lstStyle/>
                    <a:p>
                      <a:r>
                        <a:rPr sz="1200" b="0">
                          <a:solidFill>
                            <a:srgbClr val="1F2937"/>
                          </a:solidFill>
                        </a:rPr>
                        <a:t>Kopeptin</a:t>
                      </a:r>
                    </a:p>
                  </a:txBody>
                  <a:tcPr marL="73152" marR="73152" marT="36576" marB="36576">
                    <a:solidFill>
                      <a:srgbClr val="FFFFFF"/>
                    </a:solidFill>
                  </a:tcPr>
                </a:tc>
                <a:tc>
                  <a:txBody>
                    <a:bodyPr/>
                    <a:lstStyle/>
                    <a:p>
                      <a:r>
                        <a:rPr sz="1200" b="0">
                          <a:solidFill>
                            <a:srgbClr val="1F2937"/>
                          </a:solidFill>
                        </a:rPr>
                        <a:t>O‘tkir stress, gemodinamik kollaps</a:t>
                      </a:r>
                    </a:p>
                  </a:txBody>
                  <a:tcPr marL="73152" marR="73152" marT="36576" marB="36576">
                    <a:solidFill>
                      <a:srgbClr val="FFFFFF"/>
                    </a:solidFill>
                  </a:tcPr>
                </a:tc>
                <a:tc>
                  <a:txBody>
                    <a:bodyPr/>
                    <a:lstStyle/>
                    <a:p>
                      <a:r>
                        <a:rPr sz="1200" b="0">
                          <a:solidFill>
                            <a:srgbClr val="1F2937"/>
                          </a:solidFill>
                        </a:rPr>
                        <a:t>Sepsis, travma, insultda ham oshadi</a:t>
                      </a:r>
                    </a:p>
                  </a:txBody>
                  <a:tcPr marL="73152" marR="73152" marT="36576" marB="36576">
                    <a:solidFill>
                      <a:srgbClr val="FFFFFF"/>
                    </a:solidFill>
                  </a:tcPr>
                </a:tc>
              </a:tr>
              <a:tr h="411480">
                <a:tc>
                  <a:txBody>
                    <a:bodyPr/>
                    <a:lstStyle/>
                    <a:p>
                      <a:r>
                        <a:rPr sz="1200" b="0">
                          <a:solidFill>
                            <a:srgbClr val="1F2937"/>
                          </a:solidFill>
                        </a:rPr>
                        <a:t>sST2 (eruvchan ST2)</a:t>
                      </a:r>
                    </a:p>
                  </a:txBody>
                  <a:tcPr marL="73152" marR="73152" marT="36576" marB="36576">
                    <a:solidFill>
                      <a:srgbClr val="E8EEF6"/>
                    </a:solidFill>
                  </a:tcPr>
                </a:tc>
                <a:tc>
                  <a:txBody>
                    <a:bodyPr/>
                    <a:lstStyle/>
                    <a:p>
                      <a:r>
                        <a:rPr sz="1200" b="0">
                          <a:solidFill>
                            <a:srgbClr val="1F2937"/>
                          </a:solidFill>
                        </a:rPr>
                        <a:t>Miokard zo‘riqishi, fibroz</a:t>
                      </a:r>
                    </a:p>
                  </a:txBody>
                  <a:tcPr marL="73152" marR="73152" marT="36576" marB="36576">
                    <a:solidFill>
                      <a:srgbClr val="E8EEF6"/>
                    </a:solidFill>
                  </a:tcPr>
                </a:tc>
                <a:tc>
                  <a:txBody>
                    <a:bodyPr/>
                    <a:lstStyle/>
                    <a:p>
                      <a:r>
                        <a:rPr sz="1200" b="0">
                          <a:solidFill>
                            <a:srgbClr val="1F2937"/>
                          </a:solidFill>
                        </a:rPr>
                        <a:t>Maxsus usul kerak, kam tasdiqlangan</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Peptidlarni solishtirish</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Sacco MA va boshq., Post-Mortem Biomarkers in Sudden Cardiac Death: From Classical Biochemistry to Molecular Autopsy and Multi-Omics Forensic Approaches, betlar: PMID 41596321, 3-bo‘lim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kopeptin va troponin birgalikda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Bemor shifoxonaga tushgach ko‘p o‘tmay yiqilib vafot etdi. Otopsiyada aniq lezion topilmadi, infarktni o‘tkazib yuborish ehtimoli ko‘tarildi.</a:t>
            </a:r>
          </a:p>
          <a:p>
            <a:pPr>
              <a:spcAft>
                <a:spcPts val="1200"/>
              </a:spcAft>
            </a:pPr>
            <a:r>
              <a:rPr sz="2200">
                <a:solidFill>
                  <a:srgbClr val="1F2937"/>
                </a:solidFill>
                <a:latin typeface="Calibri"/>
              </a:rPr>
              <a:t>▸  Post-mortem qonda kopeptin troponinlar bilan birga yuqori bo‘lgan. Bu yiqilish paytida o‘tkir ishemiya bo‘lganini ko‘rsatgan (Kutlu va boshq.).</a:t>
            </a:r>
          </a:p>
          <a:p>
            <a:pPr>
              <a:spcAft>
                <a:spcPts val="1200"/>
              </a:spcAft>
            </a:pPr>
            <a:r>
              <a:rPr sz="2200">
                <a:solidFill>
                  <a:srgbClr val="1F2937"/>
                </a:solidFill>
                <a:latin typeface="Calibri"/>
              </a:rPr>
              <a:t>▸  Shu tariqa o‘tkazib yuborilgan klinik tashxisni keyinchalik qayta tiklash mumkin. Me’yoriy darajalar esa shifokorni asossiz ayblovdan himoya qilishi mumkin.</a:t>
            </a:r>
          </a:p>
          <a:p>
            <a:pPr>
              <a:spcAft>
                <a:spcPts val="1200"/>
              </a:spcAft>
            </a:pPr>
            <a:r>
              <a:rPr sz="2200">
                <a:solidFill>
                  <a:srgbClr val="1F2937"/>
                </a:solidFill>
                <a:latin typeface="Calibri"/>
              </a:rPr>
              <a:t>▸  Savol: nega kopeptin yolg‘iz o‘zi emas, aynan troponin bilan birga talqin qilinishi kerak?</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Sacco MA va boshq., Post-Mortem Biomarkers in Sudden Cardiac Death: From Classical Biochemistry to Molecular Autopsy and Multi-Omics Forensic Approaches, betlar: PMID 41596321, 8-bo‘lim, PMID 41596321, 3-bo‘lim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peptidlar va nekroz markerlari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1: qaysi marker miokard nekrozini ko‘rsatadi? Javob: yurak troponinlari, ular eng o‘ziga xos va sezgir marker hisoblanadi.</a:t>
            </a:r>
          </a:p>
          <a:p>
            <a:pPr>
              <a:spcAft>
                <a:spcPts val="1200"/>
              </a:spcAft>
            </a:pPr>
            <a:r>
              <a:rPr sz="2200">
                <a:solidFill>
                  <a:srgbClr val="1F2937"/>
                </a:solidFill>
                <a:latin typeface="Calibri"/>
              </a:rPr>
              <a:t>▸  Savol 2: gemodinamik stressni qaysi markerlar ko‘rsatadi? Javob: BNP va NT-proBNP, kopeptin hamda sST2.</a:t>
            </a:r>
          </a:p>
          <a:p>
            <a:pPr>
              <a:spcAft>
                <a:spcPts val="1200"/>
              </a:spcAft>
            </a:pPr>
            <a:r>
              <a:rPr sz="2200">
                <a:solidFill>
                  <a:srgbClr val="1F2937"/>
                </a:solidFill>
                <a:latin typeface="Calibri"/>
              </a:rPr>
              <a:t>▸  Diqqat: xato qilish xavfi — kopeptin ≠ yurakka xos marker. U sepsis, travma va insultda ham oshishi mumkin, shuning uchun kontekst zarur.</a:t>
            </a:r>
          </a:p>
          <a:p>
            <a:pPr>
              <a:spcAft>
                <a:spcPts val="1200"/>
              </a:spcAft>
            </a:pPr>
            <a:r>
              <a:rPr sz="2200">
                <a:solidFill>
                  <a:srgbClr val="1F2937"/>
                </a:solidFill>
                <a:latin typeface="Calibri"/>
              </a:rPr>
              <a:t>▸  Kopeptin troponinni almashtirmaydi, balki to‘ldiradi. Troponin, H-FABP va kopeptin birgalikda ishemik SCD uchun 90% dan yuqori aniqlik bergan.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Sacco MA va boshq., Post-Mortem Biomarkers in Sudden Cardiac Death: From Classical Biochemistry to Molecular Autopsy and Multi-Omics Forensic Approaches, betlar: PMID 41596321, 2-bo‘lim, PMID 41596321, 3-bo‘lim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Yallig‘lanish va immunogistokimyo (IGK)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CRP (C-reaktiv oqsil) va IL-6 (interleykin-6) eruvchan mediatorlardir. Ular yallig‘lanish haqidagi farazni qo‘llab-quvvatlashi mumkin.</a:t>
            </a:r>
          </a:p>
          <a:p>
            <a:pPr>
              <a:spcAft>
                <a:spcPts val="1200"/>
              </a:spcAft>
            </a:pPr>
            <a:r>
              <a:rPr sz="2200">
                <a:solidFill>
                  <a:srgbClr val="1F2937"/>
                </a:solidFill>
                <a:latin typeface="Calibri"/>
              </a:rPr>
              <a:t>▸  Diqqat: CRP va IL-6 gipoksiya, uzoq agoniya va terminal stressda ham oshadi. Oshishi yallig‘lanishni isbotlamaydi.</a:t>
            </a:r>
          </a:p>
          <a:p>
            <a:pPr>
              <a:spcAft>
                <a:spcPts val="1200"/>
              </a:spcAft>
            </a:pPr>
            <a:r>
              <a:rPr sz="2200">
                <a:solidFill>
                  <a:srgbClr val="1F2937"/>
                </a:solidFill>
                <a:latin typeface="Calibri"/>
              </a:rPr>
              <a:t>▸  IGK markerlari to‘qimada hayotiy reaksiyani ko‘rsatadi va jarohatni vaqt bo‘yicha aniqroq bosqichlashga yordam beradi.</a:t>
            </a:r>
          </a:p>
          <a:p>
            <a:pPr>
              <a:spcAft>
                <a:spcPts val="1200"/>
              </a:spcAft>
            </a:pPr>
            <a:r>
              <a:rPr sz="2200">
                <a:solidFill>
                  <a:srgbClr val="1F2937"/>
                </a:solidFill>
                <a:latin typeface="Calibri"/>
              </a:rPr>
              <a:t>▸  Eruvchan sitokinlar arzon, lekin parchalanadi va bakteriya o‘tishidan buziladi. IGK mahoratni va ko‘proq vaqtni talab qiladi, ammo gistologiya bilan eng kuchli natija beradi.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Sacco MA va boshq., Post-Mortem Biomarkers in Sudden Cardiac Death: From Classical Biochemistry to Molecular Autopsy and Multi-Omics Forensic Approaches, betlar: PMID 41596321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Erta ishemiyaning IGK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81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Bu markerlar H&amp;E (gematoksilin-eozin) bo‘yog‘ida ko‘rinmaydigan erta ishemiyani aniqlashga yordam beradi.</a:t>
            </a:r>
          </a:p>
          <a:p>
            <a:pPr>
              <a:spcAft>
                <a:spcPts val="800"/>
              </a:spcAft>
            </a:pPr>
            <a:r>
              <a:rPr sz="1800">
                <a:solidFill>
                  <a:srgbClr val="1F2937"/>
                </a:solidFill>
                <a:latin typeface="Calibri"/>
              </a:rPr>
              <a:t>▸  C5b-9 o‘tkir ishemik o‘limda aniqlanadi; noishemik yoki surunkali holatlarda bo‘lmaydi.</a:t>
            </a:r>
          </a:p>
          <a:p>
            <a:pPr>
              <a:spcAft>
                <a:spcPts val="800"/>
              </a:spcAft>
            </a:pPr>
            <a:r>
              <a:rPr sz="1800">
                <a:solidFill>
                  <a:srgbClr val="1F2937"/>
                </a:solidFill>
                <a:latin typeface="Calibri"/>
              </a:rPr>
              <a:t>▸  Diqqat: C5b-9 – to‘planish belgisi; S100A1 – yo‘qolish belgisi. Ikkalasi ham ishemiyani bildiradi.</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510850"/>
                <a:gridCol w="3777125"/>
              </a:tblGrid>
              <a:tr h="411480">
                <a:tc>
                  <a:txBody>
                    <a:bodyPr/>
                    <a:lstStyle/>
                    <a:p>
                      <a:r>
                        <a:rPr sz="1400" b="1">
                          <a:solidFill>
                            <a:srgbClr val="FFFFFF"/>
                          </a:solidFill>
                        </a:rPr>
                        <a:t>Marker</a:t>
                      </a:r>
                    </a:p>
                  </a:txBody>
                  <a:tcPr marL="73152" marR="73152" marT="36576" marB="36576">
                    <a:solidFill>
                      <a:srgbClr val="0B1F3A"/>
                    </a:solidFill>
                  </a:tcPr>
                </a:tc>
                <a:tc>
                  <a:txBody>
                    <a:bodyPr/>
                    <a:lstStyle/>
                    <a:p>
                      <a:r>
                        <a:rPr sz="1400" b="1">
                          <a:solidFill>
                            <a:srgbClr val="FFFFFF"/>
                          </a:solidFill>
                        </a:rPr>
                        <a:t>Nimani ko‘rsatadi</a:t>
                      </a:r>
                    </a:p>
                  </a:txBody>
                  <a:tcPr marL="73152" marR="73152" marT="36576" marB="36576">
                    <a:solidFill>
                      <a:srgbClr val="0B1F3A"/>
                    </a:solidFill>
                  </a:tcPr>
                </a:tc>
              </a:tr>
              <a:tr h="411480">
                <a:tc>
                  <a:txBody>
                    <a:bodyPr/>
                    <a:lstStyle/>
                    <a:p>
                      <a:r>
                        <a:rPr sz="1300" b="0">
                          <a:solidFill>
                            <a:srgbClr val="1F2937"/>
                          </a:solidFill>
                        </a:rPr>
                        <a:t>Fibronektin</a:t>
                      </a:r>
                    </a:p>
                  </a:txBody>
                  <a:tcPr marL="73152" marR="73152" marT="36576" marB="36576">
                    <a:solidFill>
                      <a:srgbClr val="E8EEF6"/>
                    </a:solidFill>
                  </a:tcPr>
                </a:tc>
                <a:tc>
                  <a:txBody>
                    <a:bodyPr/>
                    <a:lstStyle/>
                    <a:p>
                      <a:r>
                        <a:rPr sz="1300" b="0">
                          <a:solidFill>
                            <a:srgbClr val="1F2937"/>
                          </a:solidFill>
                        </a:rPr>
                        <a:t>Sarkolemmada to‘planadi; erta belgi</a:t>
                      </a:r>
                    </a:p>
                  </a:txBody>
                  <a:tcPr marL="73152" marR="73152" marT="36576" marB="36576">
                    <a:solidFill>
                      <a:srgbClr val="E8EEF6"/>
                    </a:solidFill>
                  </a:tcPr>
                </a:tc>
              </a:tr>
              <a:tr h="411480">
                <a:tc>
                  <a:txBody>
                    <a:bodyPr/>
                    <a:lstStyle/>
                    <a:p>
                      <a:r>
                        <a:rPr sz="1300" b="0">
                          <a:solidFill>
                            <a:srgbClr val="1F2937"/>
                          </a:solidFill>
                        </a:rPr>
                        <a:t>C5b-9</a:t>
                      </a:r>
                    </a:p>
                  </a:txBody>
                  <a:tcPr marL="73152" marR="73152" marT="36576" marB="36576">
                    <a:solidFill>
                      <a:srgbClr val="FFFFFF"/>
                    </a:solidFill>
                  </a:tcPr>
                </a:tc>
                <a:tc>
                  <a:txBody>
                    <a:bodyPr/>
                    <a:lstStyle/>
                    <a:p>
                      <a:r>
                        <a:rPr sz="1300" b="0">
                          <a:solidFill>
                            <a:srgbClr val="1F2937"/>
                          </a:solidFill>
                        </a:rPr>
                        <a:t>Hujayra ishemiya paytida tirik bo‘lgan</a:t>
                      </a:r>
                    </a:p>
                  </a:txBody>
                  <a:tcPr marL="73152" marR="73152" marT="36576" marB="36576">
                    <a:solidFill>
                      <a:srgbClr val="FFFFFF"/>
                    </a:solidFill>
                  </a:tcPr>
                </a:tc>
              </a:tr>
              <a:tr h="411480">
                <a:tc>
                  <a:txBody>
                    <a:bodyPr/>
                    <a:lstStyle/>
                    <a:p>
                      <a:r>
                        <a:rPr sz="1300" b="0">
                          <a:solidFill>
                            <a:srgbClr val="1F2937"/>
                          </a:solidFill>
                        </a:rPr>
                        <a:t>Desmin</a:t>
                      </a:r>
                    </a:p>
                  </a:txBody>
                  <a:tcPr marL="73152" marR="73152" marT="36576" marB="36576">
                    <a:solidFill>
                      <a:srgbClr val="E8EEF6"/>
                    </a:solidFill>
                  </a:tcPr>
                </a:tc>
                <a:tc>
                  <a:txBody>
                    <a:bodyPr/>
                    <a:lstStyle/>
                    <a:p>
                      <a:r>
                        <a:rPr sz="1300" b="0">
                          <a:solidFill>
                            <a:srgbClr val="1F2937"/>
                          </a:solidFill>
                        </a:rPr>
                        <a:t>Desmin tolalarining buzilishi</a:t>
                      </a:r>
                    </a:p>
                  </a:txBody>
                  <a:tcPr marL="73152" marR="73152" marT="36576" marB="36576">
                    <a:solidFill>
                      <a:srgbClr val="E8EEF6"/>
                    </a:solidFill>
                  </a:tcPr>
                </a:tc>
              </a:tr>
              <a:tr h="411480">
                <a:tc>
                  <a:txBody>
                    <a:bodyPr/>
                    <a:lstStyle/>
                    <a:p>
                      <a:r>
                        <a:rPr sz="1300" b="0">
                          <a:solidFill>
                            <a:srgbClr val="1F2937"/>
                          </a:solidFill>
                        </a:rPr>
                        <a:t>S100A1</a:t>
                      </a:r>
                    </a:p>
                  </a:txBody>
                  <a:tcPr marL="73152" marR="73152" marT="36576" marB="36576">
                    <a:solidFill>
                      <a:srgbClr val="FFFFFF"/>
                    </a:solidFill>
                  </a:tcPr>
                </a:tc>
                <a:tc>
                  <a:txBody>
                    <a:bodyPr/>
                    <a:lstStyle/>
                    <a:p>
                      <a:r>
                        <a:rPr sz="1300" b="0">
                          <a:solidFill>
                            <a:srgbClr val="1F2937"/>
                          </a:solidFill>
                        </a:rPr>
                        <a:t>Immunoreaktivlik yo‘qoladi (1 soat ichida)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Erta ishemiya IGK markerlari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Sacco MA va boshq., Post-Mortem Biomarkers in Sudden Cardiac Death: From Classical Biochemistry to Molecular Autopsy and Multi-Omics Forensic Approaches, betlar: PMID 41596321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Vaqt o‘qi: H&amp;E manfiy, IGK musbat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81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Fibronektin bo‘yog‘i okklyuziyadan 1 soat ichida zararni ko‘rsatadi, H&amp;E esa hali manfiy.</a:t>
            </a:r>
          </a:p>
          <a:p>
            <a:pPr>
              <a:spcAft>
                <a:spcPts val="800"/>
              </a:spcAft>
            </a:pPr>
            <a:r>
              <a:rPr sz="1800">
                <a:solidFill>
                  <a:srgbClr val="1F2937"/>
                </a:solidFill>
                <a:latin typeface="Calibri"/>
              </a:rPr>
              <a:t>▸  S100A1 reaktivligi ham taxminan bir soat ichida yo‘qolishi mumkin.</a:t>
            </a:r>
          </a:p>
          <a:p>
            <a:pPr>
              <a:spcAft>
                <a:spcPts val="800"/>
              </a:spcAft>
            </a:pPr>
            <a:r>
              <a:rPr sz="1800">
                <a:solidFill>
                  <a:srgbClr val="1F2937"/>
                </a:solidFill>
                <a:latin typeface="Calibri"/>
              </a:rPr>
              <a:t>▸  Demak, manfiy H&amp;E ishemiyani inkor etmaydi; IGK qo‘shimcha dalil beradi.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Koronar okklyuziya boshlanadi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Dastlabki 1 soat ichida</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H&amp;E: o‘zgarish ko‘rinmaydi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IGK: fibronektin aniqlanadi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S100A1 yo‘qolishi aniqlanadi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Okklyuziyadan keyingi 1-soat</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Sacco MA va boshq., Post-Mortem Biomarkers in Sudden Cardiac Death: From Classical Biochemistry to Molecular Autopsy and Multi-Omics Forensic Approaches, betlar: PMID 41596321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Miokardit va tizimli kasalliklar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Tizimli skleroz miokardda diffuz fibroz va mikrotomir buzilishini keltirib chiqaradi. Bu o‘limga olib keluvchi aritmiya bilan tugashi mumkin.</a:t>
            </a:r>
          </a:p>
          <a:p>
            <a:pPr>
              <a:spcAft>
                <a:spcPts val="1200"/>
              </a:spcAft>
            </a:pPr>
            <a:r>
              <a:rPr sz="2000">
                <a:solidFill>
                  <a:srgbClr val="1F2937"/>
                </a:solidFill>
                <a:latin typeface="Calibri"/>
              </a:rPr>
              <a:t>▸  Yurak sarkoidozi izohsiz to‘satdan o‘limning muhim sababi. Dastlab "autopsiya manfiy" deb baholangan holatlarda o‘tkazuvchi tizimda granulomatoz infiltratsiya topilgan.</a:t>
            </a:r>
          </a:p>
          <a:p>
            <a:pPr>
              <a:spcAft>
                <a:spcPts val="1200"/>
              </a:spcAft>
            </a:pPr>
            <a:r>
              <a:rPr sz="2000">
                <a:solidFill>
                  <a:srgbClr val="1F2937"/>
                </a:solidFill>
                <a:latin typeface="Calibri"/>
              </a:rPr>
              <a:t>▸  COVID-19 davrida o‘lgan bemorlarda SARS-CoV-2 koronar mikrotomirlar endoteliysini zararlagani hujjatlangan. Aniq miokardit bo‘lmasa ham o‘lim yuz bergan.</a:t>
            </a:r>
          </a:p>
          <a:p>
            <a:pPr>
              <a:spcAft>
                <a:spcPts val="1200"/>
              </a:spcAft>
            </a:pPr>
            <a:r>
              <a:rPr sz="2000">
                <a:solidFill>
                  <a:srgbClr val="1F2937"/>
                </a:solidFill>
                <a:latin typeface="Calibri"/>
              </a:rPr>
              <a:t>▸  Bolalarda Kavasaki kasalligi va MIS-C (bolalarda multisistem yallig‘lanish sindromi) o‘limga olib keluvchi aritmiyalar va koronar vaskulit bilan bog‘liq.</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Sacco MA va boshq., Post-Mortem Biomarkers in Sudden Cardiac Death: From Classical Biochemistry to Molecular Autopsy and Multi-Omics Forensic Approaches, betlar: PMID 41596321, 4-bo‘lim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Eruvchan markerlar va IGK: solishtirish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81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CRP va IL-6 miokardit va sepsisda oshadi, lekin gipoksiya va uzoq agoniyada ham ko‘tariladi.</a:t>
            </a:r>
          </a:p>
          <a:p>
            <a:pPr>
              <a:spcAft>
                <a:spcPts val="800"/>
              </a:spcAft>
            </a:pPr>
            <a:r>
              <a:rPr sz="1800">
                <a:solidFill>
                  <a:srgbClr val="1F2937"/>
                </a:solidFill>
                <a:latin typeface="Calibri"/>
              </a:rPr>
              <a:t>▸  Fibronektin, C5b-9, desmin, S100A1 – immunogistokimyo (IGK) markerlari – ishemiyani erta ko‘rsatadi.</a:t>
            </a:r>
          </a:p>
          <a:p>
            <a:pPr>
              <a:spcAft>
                <a:spcPts val="800"/>
              </a:spcAft>
            </a:pPr>
            <a:r>
              <a:rPr sz="1800">
                <a:solidFill>
                  <a:srgbClr val="1F2937"/>
                </a:solidFill>
                <a:latin typeface="Calibri"/>
              </a:rPr>
              <a:t>▸  Eng kuchli natija: IGK gistologiya bilan birga; eruvchan markerlar esa qo‘shimcha dalil.</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1128101"/>
                <a:gridCol w="1974177"/>
                <a:gridCol w="2185696"/>
              </a:tblGrid>
              <a:tr h="411480">
                <a:tc>
                  <a:txBody>
                    <a:bodyPr/>
                    <a:lstStyle/>
                    <a:p>
                      <a:r>
                        <a:rPr sz="1300" b="1">
                          <a:solidFill>
                            <a:srgbClr val="FFFFFF"/>
                          </a:solidFill>
                        </a:rPr>
                        <a:t>Jihat</a:t>
                      </a:r>
                    </a:p>
                  </a:txBody>
                  <a:tcPr marL="73152" marR="73152" marT="36576" marB="36576">
                    <a:solidFill>
                      <a:srgbClr val="0B1F3A"/>
                    </a:solidFill>
                  </a:tcPr>
                </a:tc>
                <a:tc>
                  <a:txBody>
                    <a:bodyPr/>
                    <a:lstStyle/>
                    <a:p>
                      <a:r>
                        <a:rPr sz="1300" b="1">
                          <a:solidFill>
                            <a:srgbClr val="FFFFFF"/>
                          </a:solidFill>
                        </a:rPr>
                        <a:t>CRP, IL-6</a:t>
                      </a:r>
                    </a:p>
                  </a:txBody>
                  <a:tcPr marL="73152" marR="73152" marT="36576" marB="36576">
                    <a:solidFill>
                      <a:srgbClr val="0B1F3A"/>
                    </a:solidFill>
                  </a:tcPr>
                </a:tc>
                <a:tc>
                  <a:txBody>
                    <a:bodyPr/>
                    <a:lstStyle/>
                    <a:p>
                      <a:r>
                        <a:rPr sz="1300" b="1">
                          <a:solidFill>
                            <a:srgbClr val="FFFFFF"/>
                          </a:solidFill>
                        </a:rPr>
                        <a:t>IGK markerlari</a:t>
                      </a:r>
                    </a:p>
                  </a:txBody>
                  <a:tcPr marL="73152" marR="73152" marT="36576" marB="36576">
                    <a:solidFill>
                      <a:srgbClr val="0B1F3A"/>
                    </a:solidFill>
                  </a:tcPr>
                </a:tc>
              </a:tr>
              <a:tr h="411480">
                <a:tc>
                  <a:txBody>
                    <a:bodyPr/>
                    <a:lstStyle/>
                    <a:p>
                      <a:r>
                        <a:rPr sz="1200" b="0">
                          <a:solidFill>
                            <a:srgbClr val="1F2937"/>
                          </a:solidFill>
                        </a:rPr>
                        <a:t>Qulaylik</a:t>
                      </a:r>
                    </a:p>
                  </a:txBody>
                  <a:tcPr marL="73152" marR="73152" marT="36576" marB="36576">
                    <a:solidFill>
                      <a:srgbClr val="E8EEF6"/>
                    </a:solidFill>
                  </a:tcPr>
                </a:tc>
                <a:tc>
                  <a:txBody>
                    <a:bodyPr/>
                    <a:lstStyle/>
                    <a:p>
                      <a:r>
                        <a:rPr sz="1200" b="0">
                          <a:solidFill>
                            <a:srgbClr val="1F2937"/>
                          </a:solidFill>
                        </a:rPr>
                        <a:t>Oson topiladi, arzon</a:t>
                      </a:r>
                    </a:p>
                  </a:txBody>
                  <a:tcPr marL="73152" marR="73152" marT="36576" marB="36576">
                    <a:solidFill>
                      <a:srgbClr val="E8EEF6"/>
                    </a:solidFill>
                  </a:tcPr>
                </a:tc>
                <a:tc>
                  <a:txBody>
                    <a:bodyPr/>
                    <a:lstStyle/>
                    <a:p>
                      <a:r>
                        <a:rPr sz="1200" b="0">
                          <a:solidFill>
                            <a:srgbClr val="1F2937"/>
                          </a:solidFill>
                        </a:rPr>
                        <a:t>Ishlov uzoqroq davom etadi</a:t>
                      </a:r>
                    </a:p>
                  </a:txBody>
                  <a:tcPr marL="73152" marR="73152" marT="36576" marB="36576">
                    <a:solidFill>
                      <a:srgbClr val="E8EEF6"/>
                    </a:solidFill>
                  </a:tcPr>
                </a:tc>
              </a:tr>
              <a:tr h="411480">
                <a:tc>
                  <a:txBody>
                    <a:bodyPr/>
                    <a:lstStyle/>
                    <a:p>
                      <a:r>
                        <a:rPr sz="1200" b="0">
                          <a:solidFill>
                            <a:srgbClr val="1F2937"/>
                          </a:solidFill>
                        </a:rPr>
                        <a:t>Maxsusligi</a:t>
                      </a:r>
                    </a:p>
                  </a:txBody>
                  <a:tcPr marL="73152" marR="73152" marT="36576" marB="36576">
                    <a:solidFill>
                      <a:srgbClr val="FFFFFF"/>
                    </a:solidFill>
                  </a:tcPr>
                </a:tc>
                <a:tc>
                  <a:txBody>
                    <a:bodyPr/>
                    <a:lstStyle/>
                    <a:p>
                      <a:r>
                        <a:rPr sz="1200" b="0">
                          <a:solidFill>
                            <a:srgbClr val="1F2937"/>
                          </a:solidFill>
                        </a:rPr>
                        <a:t>Past; gipoksiyada ham oshadi</a:t>
                      </a:r>
                    </a:p>
                  </a:txBody>
                  <a:tcPr marL="73152" marR="73152" marT="36576" marB="36576">
                    <a:solidFill>
                      <a:srgbClr val="FFFFFF"/>
                    </a:solidFill>
                  </a:tcPr>
                </a:tc>
                <a:tc>
                  <a:txBody>
                    <a:bodyPr/>
                    <a:lstStyle/>
                    <a:p>
                      <a:r>
                        <a:rPr sz="1200" b="0">
                          <a:solidFill>
                            <a:srgbClr val="1F2937"/>
                          </a:solidFill>
                        </a:rPr>
                        <a:t>Yuqori; hayotiy reaksiya dalili</a:t>
                      </a:r>
                    </a:p>
                  </a:txBody>
                  <a:tcPr marL="73152" marR="73152" marT="36576" marB="36576">
                    <a:solidFill>
                      <a:srgbClr val="FFFFFF"/>
                    </a:solidFill>
                  </a:tcPr>
                </a:tc>
              </a:tr>
              <a:tr h="411480">
                <a:tc>
                  <a:txBody>
                    <a:bodyPr/>
                    <a:lstStyle/>
                    <a:p>
                      <a:r>
                        <a:rPr sz="1200" b="0">
                          <a:solidFill>
                            <a:srgbClr val="1F2937"/>
                          </a:solidFill>
                        </a:rPr>
                        <a:t>Texnik talab</a:t>
                      </a:r>
                    </a:p>
                  </a:txBody>
                  <a:tcPr marL="73152" marR="73152" marT="36576" marB="36576">
                    <a:solidFill>
                      <a:srgbClr val="E8EEF6"/>
                    </a:solidFill>
                  </a:tcPr>
                </a:tc>
                <a:tc>
                  <a:txBody>
                    <a:bodyPr/>
                    <a:lstStyle/>
                    <a:p>
                      <a:r>
                        <a:rPr sz="1200" b="0">
                          <a:solidFill>
                            <a:srgbClr val="1F2937"/>
                          </a:solidFill>
                        </a:rPr>
                        <a:t>Parchalanishga moyil</a:t>
                      </a:r>
                    </a:p>
                  </a:txBody>
                  <a:tcPr marL="73152" marR="73152" marT="36576" marB="36576">
                    <a:solidFill>
                      <a:srgbClr val="E8EEF6"/>
                    </a:solidFill>
                  </a:tcPr>
                </a:tc>
                <a:tc>
                  <a:txBody>
                    <a:bodyPr/>
                    <a:lstStyle/>
                    <a:p>
                      <a:r>
                        <a:rPr sz="1200" b="0">
                          <a:solidFill>
                            <a:srgbClr val="1F2937"/>
                          </a:solidFill>
                        </a:rPr>
                        <a:t>Maxsus texnik mahorat kerak</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Eruvchan markerlar va IGK</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Sacco MA va boshq., Post-Mortem Biomarkers in Sudden Cardiac Death: From Classical Biochemistry to Molecular Autopsy and Multi-Omics Forensic Approaches, betlar: PMID 41596321, 4-bo‘lim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oddiy bo‘yash manfiy, IGK musbat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odam to‘satdan vafot etgan, autopsiyada aniq sabab yo‘q. H&amp;E (gematoksilin-eozin) bo‘yashda miokardit yoki ishemiya belgisi aniq emas.</a:t>
            </a:r>
          </a:p>
          <a:p>
            <a:pPr>
              <a:spcAft>
                <a:spcPts val="1200"/>
              </a:spcAft>
            </a:pPr>
            <a:r>
              <a:rPr sz="2200">
                <a:solidFill>
                  <a:srgbClr val="1F2937"/>
                </a:solidFill>
                <a:latin typeface="Calibri"/>
              </a:rPr>
              <a:t>▸  Fibronektin koronar tutilishdan 1 soat ichida, H&amp;E hali manfiy bo‘lganda ishemiyani ko‘rsatishi mumkin. S100A1 yo‘qolishi ham erta belgi.</a:t>
            </a:r>
          </a:p>
          <a:p>
            <a:pPr>
              <a:spcAft>
                <a:spcPts val="1200"/>
              </a:spcAft>
            </a:pPr>
            <a:r>
              <a:rPr sz="2200">
                <a:solidFill>
                  <a:srgbClr val="1F2937"/>
                </a:solidFill>
                <a:latin typeface="Calibri"/>
              </a:rPr>
              <a:t>▸  C5b-9 cho‘kishi o‘tkir ishemik o‘limda topilgan, noishemik yoki surunkali holatda yo‘q. U kardiomiotsit hayotiyligini ko‘rsatadi.</a:t>
            </a:r>
          </a:p>
          <a:p>
            <a:pPr>
              <a:spcAft>
                <a:spcPts val="1200"/>
              </a:spcAft>
            </a:pPr>
            <a:r>
              <a:rPr sz="2200">
                <a:solidFill>
                  <a:srgbClr val="1F2937"/>
                </a:solidFill>
                <a:latin typeface="Calibri"/>
              </a:rPr>
              <a:t>▸  Savol: IGK panelida qaysi markerlarni tanlaysiz va nega CRP yoki IL-6 yolg‘iz yetarli emas?</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Sacco MA va boshq., Post-Mortem Biomarkers in Sudden Cardiac Death: From Classical Biochemistry to Molecular Autopsy and Multi-Omics Forensic Approaches, betlar: PMID 41596321, 4-bo‘lim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MikroRNK va molekulyar izlar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MikroRNK (miRNK) — gen ifodasini boshqaruvchi qisqa RNK. U to‘qimaga xos va o‘limdan keyin 72 soatgacha barqaror profil beradi.</a:t>
            </a:r>
          </a:p>
          <a:p>
            <a:pPr>
              <a:spcAft>
                <a:spcPts val="1200"/>
              </a:spcAft>
            </a:pPr>
            <a:r>
              <a:rPr sz="2200">
                <a:solidFill>
                  <a:srgbClr val="1F2937"/>
                </a:solidFill>
                <a:latin typeface="Calibri"/>
              </a:rPr>
              <a:t>▸  Yurakka xos miR-1, miR-133, miR-208 va miR-499 ishemik to‘satdan o‘limda ko‘tariladi va troponin hamda nekroz bilan mos keladi.</a:t>
            </a:r>
          </a:p>
          <a:p>
            <a:pPr>
              <a:spcAft>
                <a:spcPts val="1200"/>
              </a:spcAft>
            </a:pPr>
            <a:r>
              <a:rPr sz="2200">
                <a:solidFill>
                  <a:srgbClr val="1F2937"/>
                </a:solidFill>
                <a:latin typeface="Calibri"/>
              </a:rPr>
              <a:t>▸  Ekzosomal miRNK pufakchalar ichida himoyalangan. U ishemik o‘limni nokardial o‘limdan yaxshiroq farqlaydi, saqlangan namunani qayta tahlil qilish mumkin.</a:t>
            </a:r>
          </a:p>
          <a:p>
            <a:pPr>
              <a:spcAft>
                <a:spcPts val="1200"/>
              </a:spcAft>
            </a:pPr>
            <a:r>
              <a:rPr sz="2200">
                <a:solidFill>
                  <a:srgbClr val="1F2937"/>
                </a:solidFill>
                <a:latin typeface="Calibri"/>
              </a:rPr>
              <a:t>▸  Proteomika va metabolomika mitoxondriya buzilishini ko‘rsatadi, lekin PMI (o‘limdan keyingi interval)ga bog‘liq. Ko‘p markazli tekshiruv va standartlash kerak.</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Sacco MA va boshq., Post-Mortem Biomarkers in Sudden Cardiac Death: From Classical Biochemistry to Molecular Autopsy and Multi-Omics Forensic Approaches, betlar: PMID 41596321; DOI 10.3390/ijms27020670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Molekulyar autopsiya: NGS va genlar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81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NGS (keyingi avlod sekvenslash) gen panelidan butun ekzom (WES) va butun genom (WGS) tekshiruvigacha kengaydi.</a:t>
            </a:r>
          </a:p>
          <a:p>
            <a:pPr>
              <a:spcAft>
                <a:spcPts val="800"/>
              </a:spcAft>
            </a:pPr>
            <a:r>
              <a:rPr sz="1800">
                <a:solidFill>
                  <a:srgbClr val="1F2937"/>
                </a:solidFill>
                <a:latin typeface="Calibri"/>
              </a:rPr>
              <a:t>▸  Kanalopatiya: SCN5A, KCNQ1, KCNH2, RYR2. Kardiomiopatiya: PKP2, DSP, MYH7, LMNA, DES.</a:t>
            </a:r>
          </a:p>
          <a:p>
            <a:pPr>
              <a:spcAft>
                <a:spcPts val="800"/>
              </a:spcAft>
            </a:pPr>
            <a:r>
              <a:rPr sz="1800">
                <a:solidFill>
                  <a:srgbClr val="1F2937"/>
                </a:solidFill>
                <a:latin typeface="Calibri"/>
              </a:rPr>
              <a:t>▸  Patogen variantlar 20–30% autopsiya-manfiy holatda topilgan. Noaniq ahamiyatli variantlar (VUS) yarmigacha bo‘lishi mumkin.</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Autopsiya va gistologiya manfiy</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NGS: gen paneli, WES, WGS</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Variant: patogen yoki VUS</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Kaskad skrining: qarindoshlar</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Genetik maslahat va profilaktika</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Molekulyar autopsiya zanjiri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Sacco MA va boshq., Post-Mortem Biomarkers in Sudden Cardiac Death: From Classical Biochemistry to Molecular Autopsy and Multi-Omics Forensic Approaches, betlar: PMID 41596321; DOI 10.3390/ijms27020670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struktur me’yordagi yurak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yosh shaxs to‘satdan vafot etgan. Yurak ko‘zdan me’yorda, gistologiyada ham aniq o‘zgarish topilmagan.</a:t>
            </a:r>
          </a:p>
          <a:p>
            <a:pPr>
              <a:spcAft>
                <a:spcPts val="1200"/>
              </a:spcAft>
            </a:pPr>
            <a:r>
              <a:rPr sz="2200">
                <a:solidFill>
                  <a:srgbClr val="1F2937"/>
                </a:solidFill>
                <a:latin typeface="Calibri"/>
              </a:rPr>
              <a:t>▸  Bunday holat «autopsiya-manfiy to‘satdan tushunarsiz o‘lim» deyiladi. Manbada u holatlarning 10–15% ini tashkil etadi.</a:t>
            </a:r>
          </a:p>
          <a:p>
            <a:pPr>
              <a:spcAft>
                <a:spcPts val="1200"/>
              </a:spcAft>
            </a:pPr>
            <a:r>
              <a:rPr sz="2200">
                <a:solidFill>
                  <a:srgbClr val="1F2937"/>
                </a:solidFill>
                <a:latin typeface="Calibri"/>
              </a:rPr>
              <a:t>▸  Genetik moyillik struktur o‘zgarishdan oldin paydo bo‘lib, o‘limga olib keluvchi aritmiyani qo‘zg‘atishi mumkin. Shu sababli kanalopatiya va kardiomiopatiya genlari tekshiriladi.</a:t>
            </a:r>
          </a:p>
          <a:p>
            <a:pPr>
              <a:spcAft>
                <a:spcPts val="1200"/>
              </a:spcAft>
            </a:pPr>
            <a:r>
              <a:rPr sz="2200">
                <a:solidFill>
                  <a:srgbClr val="1F2937"/>
                </a:solidFill>
                <a:latin typeface="Calibri"/>
              </a:rPr>
              <a:t>▸  Savol: patogen variant topilsa, bu qarindoshlarga qanday foyda beradi va rozilik hamda maxfiylik bo‘yicha qanday muammolar tug‘iladi?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Sacco MA va boshq., Post-Mortem Biomarkers in Sudden Cardiac Death: From Classical Biochemistry to Molecular Autopsy and Multi-Omics Forensic Approaches, betlar: PMID 41596321; DOI 10.3390/ijms27020670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gistologiya va molekulyar usullar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Savol: gematoksilin-eozin (H&amp;E) bo‘yashda o‘zgarish ko‘rinmasa, erta ishemiyani nima ko‘rsatadi? Javob: immunogistokimyo (fibronektin, C5b-9, desmin, S100A1).</a:t>
            </a:r>
          </a:p>
          <a:p>
            <a:pPr>
              <a:spcAft>
                <a:spcPts val="1200"/>
              </a:spcAft>
            </a:pPr>
            <a:r>
              <a:rPr sz="2000">
                <a:solidFill>
                  <a:srgbClr val="1F2937"/>
                </a:solidFill>
                <a:latin typeface="Calibri"/>
              </a:rPr>
              <a:t>▸  Savol: jarohat tirik paytda yetkazilganmi? Javob: anti-glikoforin A (GPA) immunogistokimyosi; oddiy gistologiyaning aniqligi atigi 66% bo‘lgan.</a:t>
            </a:r>
          </a:p>
          <a:p>
            <a:pPr>
              <a:spcAft>
                <a:spcPts val="1200"/>
              </a:spcAft>
            </a:pPr>
            <a:r>
              <a:rPr sz="2000">
                <a:solidFill>
                  <a:srgbClr val="1F2937"/>
                </a:solidFill>
                <a:latin typeface="Calibri"/>
              </a:rPr>
              <a:t>▸  Savol: autopsiya va gistologiya sababni ko‘rsatmasa-chi? Javob: keyingi avlod sekvenirlash (NGS) bilan molekulyar autopsiya — kanal va kardiomiopatiya genlari tahlili.</a:t>
            </a:r>
          </a:p>
          <a:p>
            <a:pPr>
              <a:spcAft>
                <a:spcPts val="1200"/>
              </a:spcAft>
            </a:pPr>
            <a:r>
              <a:rPr sz="2000">
                <a:solidFill>
                  <a:srgbClr val="1F2937"/>
                </a:solidFill>
                <a:latin typeface="Calibri"/>
              </a:rPr>
              <a:t>▸  Diqqat: biomarker (dinamik, o‘lim oldi hujayra javobi) ≠ genetik variant (barqaror DNK o‘zgarishi). Bu ikki qatlamni aralashtirmang.</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Sacco MA va boshq., Post-Mortem Biomarkers in Sudden Cardiac Death: From Classical Biochemistry to Molecular Autopsy and Multi-Omics Forensic Approaches, betlar: PMID 41596321; Donato Morena va boshq., Bloody Evidence: The Validity of Glycophorin A in the Determination of Wound Vitality—A Systematic Review of the Literature, betlar: PMID 40508117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Preanalitik omillar: namuna va PMI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81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Son venasi qoni afzal; markaziy yurak qoni miokarddan oqib o‘tish tufayli sun’iy yuqori ko‘rsatishi mumkin.</a:t>
            </a:r>
          </a:p>
          <a:p>
            <a:pPr>
              <a:spcAft>
                <a:spcPts val="800"/>
              </a:spcAft>
            </a:pPr>
            <a:r>
              <a:rPr sz="1800">
                <a:solidFill>
                  <a:srgbClr val="1F2937"/>
                </a:solidFill>
                <a:latin typeface="Calibri"/>
              </a:rPr>
              <a:t>▸  Diqqat: gemoliz CK-MB va LDHni, bakteriyalar IL-6 va CRPni soxta oshirib, yallig‘lanishga o‘xshatishi mumkin.</a:t>
            </a:r>
          </a:p>
          <a:p>
            <a:pPr>
              <a:spcAft>
                <a:spcPts val="800"/>
              </a:spcAft>
            </a:pPr>
            <a:r>
              <a:rPr sz="1800">
                <a:solidFill>
                  <a:srgbClr val="1F2937"/>
                </a:solidFill>
                <a:latin typeface="Calibri"/>
              </a:rPr>
              <a:t>▸  Saqlash: aseptik namuna, sentrifuga, molekulyar tahlil uchun −80 °C; buzilgan namunani chiqarib tashlang.</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399758"/>
                <a:gridCol w="1866344"/>
                <a:gridCol w="2021872"/>
              </a:tblGrid>
              <a:tr h="411480">
                <a:tc>
                  <a:txBody>
                    <a:bodyPr/>
                    <a:lstStyle/>
                    <a:p>
                      <a:r>
                        <a:rPr sz="1300" b="1">
                          <a:solidFill>
                            <a:srgbClr val="FFFFFF"/>
                          </a:solidFill>
                        </a:rPr>
                        <a:t>Namuna/omil</a:t>
                      </a:r>
                    </a:p>
                  </a:txBody>
                  <a:tcPr marL="73152" marR="73152" marT="36576" marB="36576">
                    <a:solidFill>
                      <a:srgbClr val="0B1F3A"/>
                    </a:solidFill>
                  </a:tcPr>
                </a:tc>
                <a:tc>
                  <a:txBody>
                    <a:bodyPr/>
                    <a:lstStyle/>
                    <a:p>
                      <a:r>
                        <a:rPr sz="1300" b="1">
                          <a:solidFill>
                            <a:srgbClr val="FFFFFF"/>
                          </a:solidFill>
                        </a:rPr>
                        <a:t>Afzalligi</a:t>
                      </a:r>
                    </a:p>
                  </a:txBody>
                  <a:tcPr marL="73152" marR="73152" marT="36576" marB="36576">
                    <a:solidFill>
                      <a:srgbClr val="0B1F3A"/>
                    </a:solidFill>
                  </a:tcPr>
                </a:tc>
                <a:tc>
                  <a:txBody>
                    <a:bodyPr/>
                    <a:lstStyle/>
                    <a:p>
                      <a:r>
                        <a:rPr sz="1300" b="1">
                          <a:solidFill>
                            <a:srgbClr val="FFFFFF"/>
                          </a:solidFill>
                        </a:rPr>
                        <a:t>Cheklov</a:t>
                      </a:r>
                    </a:p>
                  </a:txBody>
                  <a:tcPr marL="73152" marR="73152" marT="36576" marB="36576">
                    <a:solidFill>
                      <a:srgbClr val="0B1F3A"/>
                    </a:solidFill>
                  </a:tcPr>
                </a:tc>
              </a:tr>
              <a:tr h="411480">
                <a:tc>
                  <a:txBody>
                    <a:bodyPr/>
                    <a:lstStyle/>
                    <a:p>
                      <a:r>
                        <a:rPr sz="1200" b="0">
                          <a:solidFill>
                            <a:srgbClr val="1F2937"/>
                          </a:solidFill>
                        </a:rPr>
                        <a:t>Son venasi qoni</a:t>
                      </a:r>
                    </a:p>
                  </a:txBody>
                  <a:tcPr marL="73152" marR="73152" marT="36576" marB="36576">
                    <a:solidFill>
                      <a:srgbClr val="E8EEF6"/>
                    </a:solidFill>
                  </a:tcPr>
                </a:tc>
                <a:tc>
                  <a:txBody>
                    <a:bodyPr/>
                    <a:lstStyle/>
                    <a:p>
                      <a:r>
                        <a:rPr sz="1200" b="0">
                          <a:solidFill>
                            <a:srgbClr val="1F2937"/>
                          </a:solidFill>
                        </a:rPr>
                        <a:t>Qayta taqsimlanish kam ta’sir qiladi</a:t>
                      </a:r>
                    </a:p>
                  </a:txBody>
                  <a:tcPr marL="73152" marR="73152" marT="36576" marB="36576">
                    <a:solidFill>
                      <a:srgbClr val="E8EEF6"/>
                    </a:solidFill>
                  </a:tcPr>
                </a:tc>
                <a:tc>
                  <a:txBody>
                    <a:bodyPr/>
                    <a:lstStyle/>
                    <a:p>
                      <a:r>
                        <a:rPr sz="1200" b="0">
                          <a:solidFill>
                            <a:srgbClr val="1F2937"/>
                          </a:solidFill>
                        </a:rPr>
                        <a:t>Gemoliz CK-MB va LDHni oshirishi mumkin</a:t>
                      </a:r>
                    </a:p>
                  </a:txBody>
                  <a:tcPr marL="73152" marR="73152" marT="36576" marB="36576">
                    <a:solidFill>
                      <a:srgbClr val="E8EEF6"/>
                    </a:solidFill>
                  </a:tcPr>
                </a:tc>
              </a:tr>
              <a:tr h="411480">
                <a:tc>
                  <a:txBody>
                    <a:bodyPr/>
                    <a:lstStyle/>
                    <a:p>
                      <a:r>
                        <a:rPr sz="1200" b="0">
                          <a:solidFill>
                            <a:srgbClr val="1F2937"/>
                          </a:solidFill>
                        </a:rPr>
                        <a:t>Perikard suyuqligi</a:t>
                      </a:r>
                    </a:p>
                  </a:txBody>
                  <a:tcPr marL="73152" marR="73152" marT="36576" marB="36576">
                    <a:solidFill>
                      <a:srgbClr val="FFFFFF"/>
                    </a:solidFill>
                  </a:tcPr>
                </a:tc>
                <a:tc>
                  <a:txBody>
                    <a:bodyPr/>
                    <a:lstStyle/>
                    <a:p>
                      <a:r>
                        <a:rPr sz="1200" b="0">
                          <a:solidFill>
                            <a:srgbClr val="1F2937"/>
                          </a:solidFill>
                        </a:rPr>
                        <a:t>Izolyatsiyalangan, barqaror</a:t>
                      </a:r>
                    </a:p>
                  </a:txBody>
                  <a:tcPr marL="73152" marR="73152" marT="36576" marB="36576">
                    <a:solidFill>
                      <a:srgbClr val="FFFFFF"/>
                    </a:solidFill>
                  </a:tcPr>
                </a:tc>
                <a:tc>
                  <a:txBody>
                    <a:bodyPr/>
                    <a:lstStyle/>
                    <a:p>
                      <a:r>
                        <a:rPr sz="1200" b="0">
                          <a:solidFill>
                            <a:srgbClr val="1F2937"/>
                          </a:solidFill>
                        </a:rPr>
                        <a:t>Erta aspiratsiya kerak</a:t>
                      </a:r>
                    </a:p>
                  </a:txBody>
                  <a:tcPr marL="73152" marR="73152" marT="36576" marB="36576">
                    <a:solidFill>
                      <a:srgbClr val="FFFFFF"/>
                    </a:solidFill>
                  </a:tcPr>
                </a:tc>
              </a:tr>
              <a:tr h="411480">
                <a:tc>
                  <a:txBody>
                    <a:bodyPr/>
                    <a:lstStyle/>
                    <a:p>
                      <a:r>
                        <a:rPr sz="1200" b="0">
                          <a:solidFill>
                            <a:srgbClr val="1F2937"/>
                          </a:solidFill>
                        </a:rPr>
                        <a:t>Shishasimon tana</a:t>
                      </a:r>
                    </a:p>
                  </a:txBody>
                  <a:tcPr marL="73152" marR="73152" marT="36576" marB="36576">
                    <a:solidFill>
                      <a:srgbClr val="E8EEF6"/>
                    </a:solidFill>
                  </a:tcPr>
                </a:tc>
                <a:tc>
                  <a:txBody>
                    <a:bodyPr/>
                    <a:lstStyle/>
                    <a:p>
                      <a:r>
                        <a:rPr sz="1200" b="0">
                          <a:solidFill>
                            <a:srgbClr val="1F2937"/>
                          </a:solidFill>
                        </a:rPr>
                        <a:t>Gemoliz va chirishga chidamli</a:t>
                      </a:r>
                    </a:p>
                  </a:txBody>
                  <a:tcPr marL="73152" marR="73152" marT="36576" marB="36576">
                    <a:solidFill>
                      <a:srgbClr val="E8EEF6"/>
                    </a:solidFill>
                  </a:tcPr>
                </a:tc>
                <a:tc>
                  <a:txBody>
                    <a:bodyPr/>
                    <a:lstStyle/>
                    <a:p>
                      <a:r>
                        <a:rPr sz="1200" b="0">
                          <a:solidFill>
                            <a:srgbClr val="1F2937"/>
                          </a:solidFill>
                        </a:rPr>
                        <a:t>Kopeptin uchun foydali</a:t>
                      </a:r>
                    </a:p>
                  </a:txBody>
                  <a:tcPr marL="73152" marR="73152" marT="36576" marB="36576">
                    <a:solidFill>
                      <a:srgbClr val="E8EEF6"/>
                    </a:solidFill>
                  </a:tcPr>
                </a:tc>
              </a:tr>
              <a:tr h="411480">
                <a:tc>
                  <a:txBody>
                    <a:bodyPr/>
                    <a:lstStyle/>
                    <a:p>
                      <a:r>
                        <a:rPr sz="1200" b="0">
                          <a:solidFill>
                            <a:srgbClr val="1F2937"/>
                          </a:solidFill>
                        </a:rPr>
                        <a:t>PMI (o‘limdan keyingi vaqt)</a:t>
                      </a:r>
                    </a:p>
                  </a:txBody>
                  <a:tcPr marL="73152" marR="73152" marT="36576" marB="36576">
                    <a:solidFill>
                      <a:srgbClr val="FFFFFF"/>
                    </a:solidFill>
                  </a:tcPr>
                </a:tc>
                <a:tc>
                  <a:txBody>
                    <a:bodyPr/>
                    <a:lstStyle/>
                    <a:p>
                      <a:r>
                        <a:rPr sz="1200" b="0">
                          <a:solidFill>
                            <a:srgbClr val="1F2937"/>
                          </a:solidFill>
                        </a:rPr>
                        <a:t>Troponin 48 soatdan ortiq o‘lchanadi</a:t>
                      </a:r>
                    </a:p>
                  </a:txBody>
                  <a:tcPr marL="73152" marR="73152" marT="36576" marB="36576">
                    <a:solidFill>
                      <a:srgbClr val="FFFFFF"/>
                    </a:solidFill>
                  </a:tcPr>
                </a:tc>
                <a:tc>
                  <a:txBody>
                    <a:bodyPr/>
                    <a:lstStyle/>
                    <a:p>
                      <a:r>
                        <a:rPr sz="1200" b="0">
                          <a:solidFill>
                            <a:srgbClr val="1F2937"/>
                          </a:solidFill>
                        </a:rPr>
                        <a:t>H-FABP tezroq parchalanadi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Namuna va PMI jadvali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Sacco MA va boshq., Post-Mortem Biomarkers in Sudden Cardiac Death: From Classical Biochemistry to Molecular Autopsy and Multi-Omics Forensic Approaches, betlar: PMID 41596321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Sud-huquqiy jihatlar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81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Sug‘urta nizolarida biomarker ma’lumotlari tushuntirilmagan o‘limlar ulushini kamaytirdi.</a:t>
            </a:r>
          </a:p>
          <a:p>
            <a:pPr>
              <a:spcAft>
                <a:spcPts val="800"/>
              </a:spcAft>
            </a:pPr>
            <a:r>
              <a:rPr sz="1800">
                <a:solidFill>
                  <a:srgbClr val="1F2937"/>
                </a:solidFill>
                <a:latin typeface="Calibri"/>
              </a:rPr>
              <a:t>▸  Daubert mezonlari takrorlanuvchanlik, ekspert tekshiruvi va aniq xato darajasini talab qiladi.</a:t>
            </a:r>
          </a:p>
          <a:p>
            <a:pPr>
              <a:spcAft>
                <a:spcPts val="800"/>
              </a:spcAft>
            </a:pPr>
            <a:r>
              <a:rPr sz="1800">
                <a:solidFill>
                  <a:srgbClr val="1F2937"/>
                </a:solidFill>
                <a:latin typeface="Calibri"/>
              </a:rPr>
              <a:t>▸  Italiyada anti-GPA natijasi tufayli 20 yildan ortiq oldin yopilgan ish qayta ochildi.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926758"/>
                <a:gridCol w="2180608"/>
                <a:gridCol w="2180608"/>
              </a:tblGrid>
              <a:tr h="411480">
                <a:tc>
                  <a:txBody>
                    <a:bodyPr/>
                    <a:lstStyle/>
                    <a:p>
                      <a:r>
                        <a:rPr sz="1300" b="1">
                          <a:solidFill>
                            <a:srgbClr val="FFFFFF"/>
                          </a:solidFill>
                        </a:rPr>
                        <a:t>Masala</a:t>
                      </a:r>
                    </a:p>
                  </a:txBody>
                  <a:tcPr marL="73152" marR="73152" marT="36576" marB="36576">
                    <a:solidFill>
                      <a:srgbClr val="0B1F3A"/>
                    </a:solidFill>
                  </a:tcPr>
                </a:tc>
                <a:tc>
                  <a:txBody>
                    <a:bodyPr/>
                    <a:lstStyle/>
                    <a:p>
                      <a:r>
                        <a:rPr sz="1300" b="1">
                          <a:solidFill>
                            <a:srgbClr val="FFFFFF"/>
                          </a:solidFill>
                        </a:rPr>
                        <a:t>Muammo</a:t>
                      </a:r>
                    </a:p>
                  </a:txBody>
                  <a:tcPr marL="73152" marR="73152" marT="36576" marB="36576">
                    <a:solidFill>
                      <a:srgbClr val="0B1F3A"/>
                    </a:solidFill>
                  </a:tcPr>
                </a:tc>
                <a:tc>
                  <a:txBody>
                    <a:bodyPr/>
                    <a:lstStyle/>
                    <a:p>
                      <a:r>
                        <a:rPr sz="1300" b="1">
                          <a:solidFill>
                            <a:srgbClr val="FFFFFF"/>
                          </a:solidFill>
                        </a:rPr>
                        <a:t>Yechim</a:t>
                      </a:r>
                    </a:p>
                  </a:txBody>
                  <a:tcPr marL="73152" marR="73152" marT="36576" marB="36576">
                    <a:solidFill>
                      <a:srgbClr val="0B1F3A"/>
                    </a:solidFill>
                  </a:tcPr>
                </a:tc>
              </a:tr>
              <a:tr h="411480">
                <a:tc>
                  <a:txBody>
                    <a:bodyPr/>
                    <a:lstStyle/>
                    <a:p>
                      <a:r>
                        <a:rPr sz="1200" b="0">
                          <a:solidFill>
                            <a:srgbClr val="1F2937"/>
                          </a:solidFill>
                        </a:rPr>
                        <a:t>Cut-off</a:t>
                      </a:r>
                    </a:p>
                  </a:txBody>
                  <a:tcPr marL="73152" marR="73152" marT="36576" marB="36576">
                    <a:solidFill>
                      <a:srgbClr val="E8EEF6"/>
                    </a:solidFill>
                  </a:tcPr>
                </a:tc>
                <a:tc>
                  <a:txBody>
                    <a:bodyPr/>
                    <a:lstStyle/>
                    <a:p>
                      <a:r>
                        <a:rPr sz="1200" b="0">
                          <a:solidFill>
                            <a:srgbClr val="1F2937"/>
                          </a:solidFill>
                        </a:rPr>
                        <a:t>O‘limdan keyin umumiy chegara yo‘q</a:t>
                      </a:r>
                    </a:p>
                  </a:txBody>
                  <a:tcPr marL="73152" marR="73152" marT="36576" marB="36576">
                    <a:solidFill>
                      <a:srgbClr val="E8EEF6"/>
                    </a:solidFill>
                  </a:tcPr>
                </a:tc>
                <a:tc>
                  <a:txBody>
                    <a:bodyPr/>
                    <a:lstStyle/>
                    <a:p>
                      <a:r>
                        <a:rPr sz="1200" b="0">
                          <a:solidFill>
                            <a:srgbClr val="1F2937"/>
                          </a:solidFill>
                        </a:rPr>
                        <a:t>PMIga moslangan ehtimoliy model</a:t>
                      </a:r>
                    </a:p>
                  </a:txBody>
                  <a:tcPr marL="73152" marR="73152" marT="36576" marB="36576">
                    <a:solidFill>
                      <a:srgbClr val="E8EEF6"/>
                    </a:solidFill>
                  </a:tcPr>
                </a:tc>
              </a:tr>
              <a:tr h="411480">
                <a:tc>
                  <a:txBody>
                    <a:bodyPr/>
                    <a:lstStyle/>
                    <a:p>
                      <a:r>
                        <a:rPr sz="1200" b="0">
                          <a:solidFill>
                            <a:srgbClr val="1F2937"/>
                          </a:solidFill>
                        </a:rPr>
                        <a:t>Daubert mezonlari</a:t>
                      </a:r>
                    </a:p>
                  </a:txBody>
                  <a:tcPr marL="73152" marR="73152" marT="36576" marB="36576">
                    <a:solidFill>
                      <a:srgbClr val="FFFFFF"/>
                    </a:solidFill>
                  </a:tcPr>
                </a:tc>
                <a:tc>
                  <a:txBody>
                    <a:bodyPr/>
                    <a:lstStyle/>
                    <a:p>
                      <a:r>
                        <a:rPr sz="1200" b="0">
                          <a:solidFill>
                            <a:srgbClr val="1F2937"/>
                          </a:solidFill>
                        </a:rPr>
                        <a:t>Takrorlanish, ekspert baholash, xato</a:t>
                      </a:r>
                    </a:p>
                  </a:txBody>
                  <a:tcPr marL="73152" marR="73152" marT="36576" marB="36576">
                    <a:solidFill>
                      <a:srgbClr val="FFFFFF"/>
                    </a:solidFill>
                  </a:tcPr>
                </a:tc>
                <a:tc>
                  <a:txBody>
                    <a:bodyPr/>
                    <a:lstStyle/>
                    <a:p>
                      <a:r>
                        <a:rPr sz="1200" b="0">
                          <a:solidFill>
                            <a:srgbClr val="1F2937"/>
                          </a:solidFill>
                        </a:rPr>
                        <a:t>Standartlash va validatsiya</a:t>
                      </a:r>
                    </a:p>
                  </a:txBody>
                  <a:tcPr marL="73152" marR="73152" marT="36576" marB="36576">
                    <a:solidFill>
                      <a:srgbClr val="FFFFFF"/>
                    </a:solidFill>
                  </a:tcPr>
                </a:tc>
              </a:tr>
              <a:tr h="411480">
                <a:tc>
                  <a:txBody>
                    <a:bodyPr/>
                    <a:lstStyle/>
                    <a:p>
                      <a:r>
                        <a:rPr sz="1200" b="0">
                          <a:solidFill>
                            <a:srgbClr val="1F2937"/>
                          </a:solidFill>
                        </a:rPr>
                        <a:t>Malpraktika</a:t>
                      </a:r>
                    </a:p>
                  </a:txBody>
                  <a:tcPr marL="73152" marR="73152" marT="36576" marB="36576">
                    <a:solidFill>
                      <a:srgbClr val="E8EEF6"/>
                    </a:solidFill>
                  </a:tcPr>
                </a:tc>
                <a:tc>
                  <a:txBody>
                    <a:bodyPr/>
                    <a:lstStyle/>
                    <a:p>
                      <a:r>
                        <a:rPr sz="1200" b="0">
                          <a:solidFill>
                            <a:srgbClr val="1F2937"/>
                          </a:solidFill>
                        </a:rPr>
                        <a:t>Kechikkan infarkt tashxisi da’vosi</a:t>
                      </a:r>
                    </a:p>
                  </a:txBody>
                  <a:tcPr marL="73152" marR="73152" marT="36576" marB="36576">
                    <a:solidFill>
                      <a:srgbClr val="E8EEF6"/>
                    </a:solidFill>
                  </a:tcPr>
                </a:tc>
                <a:tc>
                  <a:txBody>
                    <a:bodyPr/>
                    <a:lstStyle/>
                    <a:p>
                      <a:r>
                        <a:rPr sz="1200" b="0">
                          <a:solidFill>
                            <a:srgbClr val="1F2937"/>
                          </a:solidFill>
                        </a:rPr>
                        <a:t>Biomarker ayblov va himoyaga xizmat qiladi</a:t>
                      </a:r>
                    </a:p>
                  </a:txBody>
                  <a:tcPr marL="73152" marR="73152" marT="36576" marB="36576">
                    <a:solidFill>
                      <a:srgbClr val="E8EEF6"/>
                    </a:solidFill>
                  </a:tcPr>
                </a:tc>
              </a:tr>
              <a:tr h="411480">
                <a:tc>
                  <a:txBody>
                    <a:bodyPr/>
                    <a:lstStyle/>
                    <a:p>
                      <a:r>
                        <a:rPr sz="1200" b="0">
                          <a:solidFill>
                            <a:srgbClr val="1F2937"/>
                          </a:solidFill>
                        </a:rPr>
                        <a:t>Genetik ma’lumot</a:t>
                      </a:r>
                    </a:p>
                  </a:txBody>
                  <a:tcPr marL="73152" marR="73152" marT="36576" marB="36576">
                    <a:solidFill>
                      <a:srgbClr val="FFFFFF"/>
                    </a:solidFill>
                  </a:tcPr>
                </a:tc>
                <a:tc>
                  <a:txBody>
                    <a:bodyPr/>
                    <a:lstStyle/>
                    <a:p>
                      <a:r>
                        <a:rPr sz="1200" b="0">
                          <a:solidFill>
                            <a:srgbClr val="1F2937"/>
                          </a:solidFill>
                        </a:rPr>
                        <a:t>Rozilik, maxfiylik, qarindoshlarga xabar</a:t>
                      </a:r>
                    </a:p>
                  </a:txBody>
                  <a:tcPr marL="73152" marR="73152" marT="36576" marB="36576">
                    <a:solidFill>
                      <a:srgbClr val="FFFFFF"/>
                    </a:solidFill>
                  </a:tcPr>
                </a:tc>
                <a:tc>
                  <a:txBody>
                    <a:bodyPr/>
                    <a:lstStyle/>
                    <a:p>
                      <a:r>
                        <a:rPr sz="1200" b="0">
                          <a:solidFill>
                            <a:srgbClr val="1F2937"/>
                          </a:solidFill>
                        </a:rPr>
                        <a:t>Boshqaruv uchun rozilik modeli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Sud-huquqiy masalalar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Sacco MA va boshq., Post-Mortem Biomarkers in Sudden Cardiac Death: From Classical Biochemistry to Molecular Autopsy and Multi-Omics Forensic Approaches, betlar: PMID 41596321; Donato Morena va boshq., Bloody Evidence: The Validity of Glycophorin A in the Determination of Wound Vitality—A Systematic Review of the Literature, betlar: PMID 40508117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shifoxonadagi to‘satdan o‘lim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Bemor shifoxonaga kelgach tez orada yiqilib o‘ladi, autopsiyada aniq o‘zgarish topilmaydi. Infarktni kech aniqlash ayblovi paydo bo‘ladi.</a:t>
            </a:r>
          </a:p>
          <a:p>
            <a:pPr>
              <a:spcAft>
                <a:spcPts val="1200"/>
              </a:spcAft>
            </a:pPr>
            <a:r>
              <a:rPr sz="2000">
                <a:solidFill>
                  <a:srgbClr val="1F2937"/>
                </a:solidFill>
                <a:latin typeface="Calibri"/>
              </a:rPr>
              <a:t>▸  Kutlu va hammualliflar: o‘limdan keyingi qonda kopeptin troponin bilan birga oshgan. Bu yiqilish paytida o‘tkir ishemiya bo‘lganini ko‘rsatib, o‘tkazib yuborilgan tashxisni tiklashga imkon bergan.</a:t>
            </a:r>
          </a:p>
          <a:p>
            <a:pPr>
              <a:spcAft>
                <a:spcPts val="1200"/>
              </a:spcAft>
            </a:pPr>
            <a:r>
              <a:rPr sz="2000">
                <a:solidFill>
                  <a:srgbClr val="1F2937"/>
                </a:solidFill>
                <a:latin typeface="Calibri"/>
              </a:rPr>
              <a:t>▸  Aksincha, me’yoriy darajalar shifokorni himoya qiladi: o‘lim tibbiy nazoratdan tashqari to‘satdan aritmiyadan bo‘lgan bo‘lishi mumkin. Shu sababli biomarkerlar ayblov va himoyada ikki qirrali qurol.</a:t>
            </a:r>
          </a:p>
          <a:p>
            <a:pPr>
              <a:spcAft>
                <a:spcPts val="1200"/>
              </a:spcAft>
            </a:pPr>
            <a:r>
              <a:rPr sz="2000">
                <a:solidFill>
                  <a:srgbClr val="1F2937"/>
                </a:solidFill>
                <a:latin typeface="Calibri"/>
              </a:rPr>
              <a:t>▸  Savol: kopeptin oshishi yagona dalil bo‘la oladimi? Diqqat: kopeptin yurakka xos emas, sepsis, travma va insultda ham oshadi. Sudda universal o‘limdan keyingi chegara qiymat ham yo‘q.</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Sacco MA va boshq., Post-Mortem Biomarkers in Sudden Cardiac Death: From Classical Biochemistry to Molecular Autopsy and Multi-Omics Forensic Approaches, betlar: PMID 41596321; DOI 10.3390/ijms27020670 (8-bo‘lim), PMID 41596321; DOI 10.3390/ijms27020670 (3 va 8-bo‘limlar)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Amaliy ketma-ketlik: holatdan molekulyar tahlilgacha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81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Holat ma’lumotlari anamnez o‘rnini bosadi; autopsiya esa birinchi qator tasvirga o‘xshash bosqich.</a:t>
            </a:r>
          </a:p>
          <a:p>
            <a:pPr>
              <a:spcAft>
                <a:spcPts val="800"/>
              </a:spcAft>
            </a:pPr>
            <a:r>
              <a:rPr sz="1800">
                <a:solidFill>
                  <a:srgbClr val="1F2937"/>
                </a:solidFill>
                <a:latin typeface="Calibri"/>
              </a:rPr>
              <a:t>▸  Gistologiya va IGK (immunogistokimyo): fibronektin, C5b-9, desmin, S100A1 erta ishemiyani ko‘rsatadi.</a:t>
            </a:r>
          </a:p>
          <a:p>
            <a:pPr>
              <a:spcAft>
                <a:spcPts val="800"/>
              </a:spcAft>
            </a:pPr>
            <a:r>
              <a:rPr sz="1800">
                <a:solidFill>
                  <a:srgbClr val="1F2937"/>
                </a:solidFill>
                <a:latin typeface="Calibri"/>
              </a:rPr>
              <a:t>▸  Izoh topilmasa — miRNK va NGS (keyingi avlod sekvenslash); xulosa barcha ma’lumotni birlashtiradi.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Holat ma’lumotlari va autopsiya</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Gistologiya va immunogistokimyo</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Biokimyo: troponin, NT-proBNP</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Molekulyar: miRNK, NGS</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Yakuniy xulosa</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Taklif etilgan tashxis zanjiri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Sacco MA va boshq., Post-Mortem Biomarkers in Sudden Cardiac Death: From Classical Biochemistry to Molecular Autopsy and Multi-Omics Forensic Approaches, betlar: PMID 41596321; DOI 10.3390/ijms27020670 (10-bo‘lim)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Kelajak: multi-omics va sun’iy intellekt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81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Yakka marker yakuniy dalil bermaydi; nekroz, stress, yallig‘lanish va molekulyar belgilar birlashadi.</a:t>
            </a:r>
          </a:p>
          <a:p>
            <a:pPr>
              <a:spcAft>
                <a:spcPts val="800"/>
              </a:spcAft>
            </a:pPr>
            <a:r>
              <a:rPr sz="1800">
                <a:solidFill>
                  <a:srgbClr val="1F2937"/>
                </a:solidFill>
                <a:latin typeface="Calibri"/>
              </a:rPr>
              <a:t>▸  Tasvir, gistologiya, biokimyo, genomika va modellashni birlashtirgan raqamli-molekulyar autopsiya.</a:t>
            </a:r>
          </a:p>
          <a:p>
            <a:pPr>
              <a:spcAft>
                <a:spcPts val="800"/>
              </a:spcAft>
            </a:pPr>
            <a:r>
              <a:rPr sz="1800">
                <a:solidFill>
                  <a:srgbClr val="1F2937"/>
                </a:solidFill>
                <a:latin typeface="Calibri"/>
              </a:rPr>
              <a:t>▸  Sun’iy intellekt shaffof, izohlanadigan bo‘lishi kerak; qora quti modellar sudda o‘tmasligi mumkin.</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995383"/>
                <a:gridCol w="2364035"/>
                <a:gridCol w="1928555"/>
              </a:tblGrid>
              <a:tr h="411480">
                <a:tc>
                  <a:txBody>
                    <a:bodyPr/>
                    <a:lstStyle/>
                    <a:p>
                      <a:r>
                        <a:rPr sz="1300" b="1">
                          <a:solidFill>
                            <a:srgbClr val="FFFFFF"/>
                          </a:solidFill>
                        </a:rPr>
                        <a:t>Yo‘nalish</a:t>
                      </a:r>
                    </a:p>
                  </a:txBody>
                  <a:tcPr marL="73152" marR="73152" marT="36576" marB="36576">
                    <a:solidFill>
                      <a:srgbClr val="0B1F3A"/>
                    </a:solidFill>
                  </a:tcPr>
                </a:tc>
                <a:tc>
                  <a:txBody>
                    <a:bodyPr/>
                    <a:lstStyle/>
                    <a:p>
                      <a:r>
                        <a:rPr sz="1300" b="1">
                          <a:solidFill>
                            <a:srgbClr val="FFFFFF"/>
                          </a:solidFill>
                        </a:rPr>
                        <a:t>Hozir</a:t>
                      </a:r>
                    </a:p>
                  </a:txBody>
                  <a:tcPr marL="73152" marR="73152" marT="36576" marB="36576">
                    <a:solidFill>
                      <a:srgbClr val="0B1F3A"/>
                    </a:solidFill>
                  </a:tcPr>
                </a:tc>
                <a:tc>
                  <a:txBody>
                    <a:bodyPr/>
                    <a:lstStyle/>
                    <a:p>
                      <a:r>
                        <a:rPr sz="1300" b="1">
                          <a:solidFill>
                            <a:srgbClr val="FFFFFF"/>
                          </a:solidFill>
                        </a:rPr>
                        <a:t>Kelajak</a:t>
                      </a:r>
                    </a:p>
                  </a:txBody>
                  <a:tcPr marL="73152" marR="73152" marT="36576" marB="36576">
                    <a:solidFill>
                      <a:srgbClr val="0B1F3A"/>
                    </a:solidFill>
                  </a:tcPr>
                </a:tc>
              </a:tr>
              <a:tr h="411480">
                <a:tc>
                  <a:txBody>
                    <a:bodyPr/>
                    <a:lstStyle/>
                    <a:p>
                      <a:r>
                        <a:rPr sz="1200" b="0">
                          <a:solidFill>
                            <a:srgbClr val="1F2937"/>
                          </a:solidFill>
                        </a:rPr>
                        <a:t>Markerlar</a:t>
                      </a:r>
                    </a:p>
                  </a:txBody>
                  <a:tcPr marL="73152" marR="73152" marT="36576" marB="36576">
                    <a:solidFill>
                      <a:srgbClr val="E8EEF6"/>
                    </a:solidFill>
                  </a:tcPr>
                </a:tc>
                <a:tc>
                  <a:txBody>
                    <a:bodyPr/>
                    <a:lstStyle/>
                    <a:p>
                      <a:r>
                        <a:rPr sz="1200" b="0">
                          <a:solidFill>
                            <a:srgbClr val="1F2937"/>
                          </a:solidFill>
                        </a:rPr>
                        <a:t>Asosan yakka markerlar</a:t>
                      </a:r>
                    </a:p>
                  </a:txBody>
                  <a:tcPr marL="73152" marR="73152" marT="36576" marB="36576">
                    <a:solidFill>
                      <a:srgbClr val="E8EEF6"/>
                    </a:solidFill>
                  </a:tcPr>
                </a:tc>
                <a:tc>
                  <a:txBody>
                    <a:bodyPr/>
                    <a:lstStyle/>
                    <a:p>
                      <a:r>
                        <a:rPr sz="1200" b="0">
                          <a:solidFill>
                            <a:srgbClr val="1F2937"/>
                          </a:solidFill>
                        </a:rPr>
                        <a:t>Multimarker panellar</a:t>
                      </a:r>
                    </a:p>
                  </a:txBody>
                  <a:tcPr marL="73152" marR="73152" marT="36576" marB="36576">
                    <a:solidFill>
                      <a:srgbClr val="E8EEF6"/>
                    </a:solidFill>
                  </a:tcPr>
                </a:tc>
              </a:tr>
              <a:tr h="411480">
                <a:tc>
                  <a:txBody>
                    <a:bodyPr/>
                    <a:lstStyle/>
                    <a:p>
                      <a:r>
                        <a:rPr sz="1200" b="0">
                          <a:solidFill>
                            <a:srgbClr val="1F2937"/>
                          </a:solidFill>
                        </a:rPr>
                        <a:t>Protokollar</a:t>
                      </a:r>
                    </a:p>
                  </a:txBody>
                  <a:tcPr marL="73152" marR="73152" marT="36576" marB="36576">
                    <a:solidFill>
                      <a:srgbClr val="FFFFFF"/>
                    </a:solidFill>
                  </a:tcPr>
                </a:tc>
                <a:tc>
                  <a:txBody>
                    <a:bodyPr/>
                    <a:lstStyle/>
                    <a:p>
                      <a:r>
                        <a:rPr sz="1200" b="0">
                          <a:solidFill>
                            <a:srgbClr val="1F2937"/>
                          </a:solidFill>
                        </a:rPr>
                        <a:t>Laboratoriyalar farq qiladi</a:t>
                      </a:r>
                    </a:p>
                  </a:txBody>
                  <a:tcPr marL="73152" marR="73152" marT="36576" marB="36576">
                    <a:solidFill>
                      <a:srgbClr val="FFFFFF"/>
                    </a:solidFill>
                  </a:tcPr>
                </a:tc>
                <a:tc>
                  <a:txBody>
                    <a:bodyPr/>
                    <a:lstStyle/>
                    <a:p>
                      <a:r>
                        <a:rPr sz="1200" b="0">
                          <a:solidFill>
                            <a:srgbClr val="1F2937"/>
                          </a:solidFill>
                        </a:rPr>
                        <a:t>Xalqaro uyg‘un yo‘riqnomalar</a:t>
                      </a:r>
                    </a:p>
                  </a:txBody>
                  <a:tcPr marL="73152" marR="73152" marT="36576" marB="36576">
                    <a:solidFill>
                      <a:srgbClr val="FFFFFF"/>
                    </a:solidFill>
                  </a:tcPr>
                </a:tc>
              </a:tr>
              <a:tr h="411480">
                <a:tc>
                  <a:txBody>
                    <a:bodyPr/>
                    <a:lstStyle/>
                    <a:p>
                      <a:r>
                        <a:rPr sz="1200" b="0">
                          <a:solidFill>
                            <a:srgbClr val="1F2937"/>
                          </a:solidFill>
                        </a:rPr>
                        <a:t>Tashxis</a:t>
                      </a:r>
                    </a:p>
                  </a:txBody>
                  <a:tcPr marL="73152" marR="73152" marT="36576" marB="36576">
                    <a:solidFill>
                      <a:srgbClr val="E8EEF6"/>
                    </a:solidFill>
                  </a:tcPr>
                </a:tc>
                <a:tc>
                  <a:txBody>
                    <a:bodyPr/>
                    <a:lstStyle/>
                    <a:p>
                      <a:r>
                        <a:rPr sz="1200" b="0">
                          <a:solidFill>
                            <a:srgbClr val="1F2937"/>
                          </a:solidFill>
                        </a:rPr>
                        <a:t>Alohida: gistologiya, biokimyo, tasvir</a:t>
                      </a:r>
                    </a:p>
                  </a:txBody>
                  <a:tcPr marL="73152" marR="73152" marT="36576" marB="36576">
                    <a:solidFill>
                      <a:srgbClr val="E8EEF6"/>
                    </a:solidFill>
                  </a:tcPr>
                </a:tc>
                <a:tc>
                  <a:txBody>
                    <a:bodyPr/>
                    <a:lstStyle/>
                    <a:p>
                      <a:r>
                        <a:rPr sz="1200" b="0">
                          <a:solidFill>
                            <a:srgbClr val="1F2937"/>
                          </a:solidFill>
                        </a:rPr>
                        <a:t>Raqamli-molekulyar autopsiya</a:t>
                      </a:r>
                    </a:p>
                  </a:txBody>
                  <a:tcPr marL="73152" marR="73152" marT="36576" marB="36576">
                    <a:solidFill>
                      <a:srgbClr val="E8EEF6"/>
                    </a:solidFill>
                  </a:tcPr>
                </a:tc>
              </a:tr>
              <a:tr h="411480">
                <a:tc>
                  <a:txBody>
                    <a:bodyPr/>
                    <a:lstStyle/>
                    <a:p>
                      <a:r>
                        <a:rPr sz="1200" b="0">
                          <a:solidFill>
                            <a:srgbClr val="1F2937"/>
                          </a:solidFill>
                        </a:rPr>
                        <a:t>Sun’iy intellekt</a:t>
                      </a:r>
                    </a:p>
                  </a:txBody>
                  <a:tcPr marL="73152" marR="73152" marT="36576" marB="36576">
                    <a:solidFill>
                      <a:srgbClr val="FFFFFF"/>
                    </a:solidFill>
                  </a:tcPr>
                </a:tc>
                <a:tc>
                  <a:txBody>
                    <a:bodyPr/>
                    <a:lstStyle/>
                    <a:p>
                      <a:r>
                        <a:rPr sz="1200" b="0">
                          <a:solidFill>
                            <a:srgbClr val="1F2937"/>
                          </a:solidFill>
                        </a:rPr>
                        <a:t>Tajribada &gt;90%; shaffoflik yetishmaydi</a:t>
                      </a:r>
                    </a:p>
                  </a:txBody>
                  <a:tcPr marL="73152" marR="73152" marT="36576" marB="36576">
                    <a:solidFill>
                      <a:srgbClr val="FFFFFF"/>
                    </a:solidFill>
                  </a:tcPr>
                </a:tc>
                <a:tc>
                  <a:txBody>
                    <a:bodyPr/>
                    <a:lstStyle/>
                    <a:p>
                      <a:r>
                        <a:rPr sz="1200" b="0">
                          <a:solidFill>
                            <a:srgbClr val="1F2937"/>
                          </a:solidFill>
                        </a:rPr>
                        <a:t>Shaffof, izohlanadigan modellar</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Hozirgi holat va kelajak</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Sacco MA va boshq., Post-Mortem Biomarkers in Sudden Cardiac Death: From Classical Biochemistry to Molecular Autopsy and Multi-Omics Forensic Approaches, betlar: PMID 41596321; DOI 10.3390/ijms27020670 (9-bo‘lim)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Glikoforin A (GPA): nima va nega kerak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Glikoforinlar — eritrotsit (qizil qon tanachasi) membranasidagi glikoproteinlar oilasi. Unga GPA, GPB, GPC va GPD kiradi.</a:t>
            </a:r>
          </a:p>
          <a:p>
            <a:pPr>
              <a:spcAft>
                <a:spcPts val="1200"/>
              </a:spcAft>
            </a:pPr>
            <a:r>
              <a:rPr sz="2200">
                <a:solidFill>
                  <a:srgbClr val="1F2937"/>
                </a:solidFill>
                <a:latin typeface="Calibri"/>
              </a:rPr>
              <a:t>▸  GPA — eng ko‘p uchraydigan glikoforin. U eritrotsit shakli va egiluvchanligini saqlaydi, CD235a nomi bilan ham ataladi.</a:t>
            </a:r>
          </a:p>
          <a:p>
            <a:pPr>
              <a:spcAft>
                <a:spcPts val="1200"/>
              </a:spcAft>
            </a:pPr>
            <a:r>
              <a:rPr sz="2200">
                <a:solidFill>
                  <a:srgbClr val="1F2937"/>
                </a:solidFill>
                <a:latin typeface="Calibri"/>
              </a:rPr>
              <a:t>▸  Anti-GPA antitanasi immunogistokimyoda to‘qimadagi eritrotsitni ko‘rsatadi va chirishga chidamli. Shu sabab jonli jarohatni o‘limdan keyingisidan ajratishga yordam beradi.</a:t>
            </a:r>
          </a:p>
          <a:p>
            <a:pPr>
              <a:spcAft>
                <a:spcPts val="1200"/>
              </a:spcAft>
            </a:pPr>
            <a:r>
              <a:rPr sz="2200">
                <a:solidFill>
                  <a:srgbClr val="1F2937"/>
                </a:solidFill>
                <a:latin typeface="Calibri"/>
              </a:rPr>
              <a:t>▸  Diqqat: xato qilish xavfi — suyak iligi va ekstramedullyar qon yaratilish o‘choqlarida ham glikoforin topiladi. Bu soxta musbat natija berishi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Donato Morena va boshq., Bloody Evidence: The Validity of Glycophorin A in the Determination of Wound Vitality—A Systematic Review of the Literature, betlar: PMID 40508117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GPA mantig‘i: jarohat hayotiyligi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81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Manfiy GPA — to‘qimada eritrotsit yo‘q; bu jarohatning postmortem kelib chiqishini qo‘llab-quvvatlaydi.</a:t>
            </a:r>
          </a:p>
          <a:p>
            <a:pPr>
              <a:spcAft>
                <a:spcPts val="800"/>
              </a:spcAft>
            </a:pPr>
            <a:r>
              <a:rPr sz="1800">
                <a:solidFill>
                  <a:srgbClr val="1F2937"/>
                </a:solidFill>
                <a:latin typeface="Calibri"/>
              </a:rPr>
              <a:t>▸  Musbat GPA — eritrotsit tomirdan tashqarida; jarohat qon aylanishi hali faol paytda yetkazilgan.</a:t>
            </a:r>
          </a:p>
          <a:p>
            <a:pPr>
              <a:spcAft>
                <a:spcPts val="800"/>
              </a:spcAft>
            </a:pPr>
            <a:r>
              <a:rPr sz="1800">
                <a:solidFill>
                  <a:srgbClr val="1F2937"/>
                </a:solidFill>
                <a:latin typeface="Calibri"/>
              </a:rPr>
              <a:t>▸  Diqqat: gipostaz soxta ko‘karishni beradi; o‘lik dog‘larida GPA reaksiyasi musbat bo‘lmagan.</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Anti-GPA bilan bo‘yash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Eritrotsit tomirdan tashqarida</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GPA musbat</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Qon aylanishi faol bo‘lgan</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Antemortem jarohat</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Musbat natija talqini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Donato Morena va boshq., Bloody Evidence: The Validity of Glycophorin A in the Determination of Wound Vitality—A Systematic Review of the Literature, betlar: PMID 40508117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Sistematik sharh metodologiyasi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81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Qidiruv PubMed, Scopus, Web of Science va Google Scholar bazalarida o‘tkazildi.</a:t>
            </a:r>
          </a:p>
          <a:p>
            <a:pPr>
              <a:spcAft>
                <a:spcPts val="800"/>
              </a:spcAft>
            </a:pPr>
            <a:r>
              <a:rPr sz="1800">
                <a:solidFill>
                  <a:srgbClr val="1F2937"/>
                </a:solidFill>
                <a:latin typeface="Calibri"/>
              </a:rPr>
              <a:t>▸  Sharh PRISMA — tizimli sharhlar hisoboti bo‘yicha xalqaro ko‘rsatma asosida bajarilgan.</a:t>
            </a:r>
          </a:p>
          <a:p>
            <a:pPr>
              <a:spcAft>
                <a:spcPts val="800"/>
              </a:spcAft>
            </a:pPr>
            <a:r>
              <a:rPr sz="1800">
                <a:solidFill>
                  <a:srgbClr val="1F2937"/>
                </a:solidFill>
                <a:latin typeface="Calibri"/>
              </a:rPr>
              <a:t>▸  16 ta ish: 10 ta hol/seriya/nazorat, 2 ta eksperimental va 4 ta narrativ sharh uchun.</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799 ta topilma</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Dublikatsiz: 459 ta</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Annotatsiya bo‘yicha: 50 ta</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To‘liq matn baholandi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16 ta ish kiritildi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Tanlov bosqichlari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Donato Morena va boshq., Bloody Evidence: The Validity of Glycophorin A in the Determination of Wound Vitality—A Systematic Review of the Literature, betlar: PMID 40508117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Natijalar: GPA va oddiy gistologiya aniqligi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81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Sharhda 50 namuna tahlil qilindi: 42 tasi holat, 8 tasi nazorat namunasi.</a:t>
            </a:r>
          </a:p>
          <a:p>
            <a:pPr>
              <a:spcAft>
                <a:spcPts val="800"/>
              </a:spcAft>
            </a:pPr>
            <a:r>
              <a:rPr sz="1800">
                <a:solidFill>
                  <a:srgbClr val="1F2937"/>
                </a:solidFill>
                <a:latin typeface="Calibri"/>
              </a:rPr>
              <a:t>▸  48 namuna anti-GPA bilan, 2 tasi anti-GPC bilan bo‘yaldi.</a:t>
            </a:r>
          </a:p>
          <a:p>
            <a:pPr>
              <a:spcAft>
                <a:spcPts val="800"/>
              </a:spcAft>
            </a:pPr>
            <a:r>
              <a:rPr sz="1800">
                <a:solidFill>
                  <a:srgbClr val="1F2937"/>
                </a:solidFill>
                <a:latin typeface="Calibri"/>
              </a:rPr>
              <a:t>▸  GPA natijasi qon borligi bilan to‘liq mos keldi (bitta holatda baholab bo‘lmadi). Gistologiya aniqligi 66%.</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2171846"/>
                <a:gridCol w="1605278"/>
                <a:gridCol w="1510850"/>
              </a:tblGrid>
              <a:tr h="411480">
                <a:tc>
                  <a:txBody>
                    <a:bodyPr/>
                    <a:lstStyle/>
                    <a:p>
                      <a:r>
                        <a:rPr sz="1300" b="1">
                          <a:solidFill>
                            <a:srgbClr val="FFFFFF"/>
                          </a:solidFill>
                        </a:rPr>
                        <a:t>Ko‘rsatkich</a:t>
                      </a:r>
                    </a:p>
                  </a:txBody>
                  <a:tcPr marL="73152" marR="73152" marT="36576" marB="36576">
                    <a:solidFill>
                      <a:srgbClr val="0B1F3A"/>
                    </a:solidFill>
                  </a:tcPr>
                </a:tc>
                <a:tc>
                  <a:txBody>
                    <a:bodyPr/>
                    <a:lstStyle/>
                    <a:p>
                      <a:r>
                        <a:rPr sz="1300" b="1">
                          <a:solidFill>
                            <a:srgbClr val="FFFFFF"/>
                          </a:solidFill>
                        </a:rPr>
                        <a:t>Gistologiya</a:t>
                      </a:r>
                    </a:p>
                  </a:txBody>
                  <a:tcPr marL="73152" marR="73152" marT="36576" marB="36576">
                    <a:solidFill>
                      <a:srgbClr val="0B1F3A"/>
                    </a:solidFill>
                  </a:tcPr>
                </a:tc>
                <a:tc>
                  <a:txBody>
                    <a:bodyPr/>
                    <a:lstStyle/>
                    <a:p>
                      <a:r>
                        <a:rPr sz="1300" b="1">
                          <a:solidFill>
                            <a:srgbClr val="FFFFFF"/>
                          </a:solidFill>
                        </a:rPr>
                        <a:t>GPA</a:t>
                      </a:r>
                    </a:p>
                  </a:txBody>
                  <a:tcPr marL="73152" marR="73152" marT="36576" marB="36576">
                    <a:solidFill>
                      <a:srgbClr val="0B1F3A"/>
                    </a:solidFill>
                  </a:tcPr>
                </a:tc>
              </a:tr>
              <a:tr h="411480">
                <a:tc>
                  <a:txBody>
                    <a:bodyPr/>
                    <a:lstStyle/>
                    <a:p>
                      <a:r>
                        <a:rPr sz="1200" b="0">
                          <a:solidFill>
                            <a:srgbClr val="1F2937"/>
                          </a:solidFill>
                        </a:rPr>
                        <a:t>Umumiy aniqlik</a:t>
                      </a:r>
                    </a:p>
                  </a:txBody>
                  <a:tcPr marL="73152" marR="73152" marT="36576" marB="36576">
                    <a:solidFill>
                      <a:srgbClr val="E8EEF6"/>
                    </a:solidFill>
                  </a:tcPr>
                </a:tc>
                <a:tc>
                  <a:txBody>
                    <a:bodyPr/>
                    <a:lstStyle/>
                    <a:p>
                      <a:r>
                        <a:rPr sz="1200" b="0">
                          <a:solidFill>
                            <a:srgbClr val="1F2937"/>
                          </a:solidFill>
                        </a:rPr>
                        <a:t>66%</a:t>
                      </a:r>
                    </a:p>
                  </a:txBody>
                  <a:tcPr marL="73152" marR="73152" marT="36576" marB="36576">
                    <a:solidFill>
                      <a:srgbClr val="E8EEF6"/>
                    </a:solidFill>
                  </a:tcPr>
                </a:tc>
                <a:tc>
                  <a:txBody>
                    <a:bodyPr/>
                    <a:lstStyle/>
                    <a:p>
                      <a:r>
                        <a:rPr sz="1200" b="0">
                          <a:solidFill>
                            <a:srgbClr val="1F2937"/>
                          </a:solidFill>
                        </a:rPr>
                        <a:t>To‘liq moslik</a:t>
                      </a:r>
                    </a:p>
                  </a:txBody>
                  <a:tcPr marL="73152" marR="73152" marT="36576" marB="36576">
                    <a:solidFill>
                      <a:srgbClr val="E8EEF6"/>
                    </a:solidFill>
                  </a:tcPr>
                </a:tc>
              </a:tr>
              <a:tr h="411480">
                <a:tc>
                  <a:txBody>
                    <a:bodyPr/>
                    <a:lstStyle/>
                    <a:p>
                      <a:r>
                        <a:rPr sz="1200" b="0">
                          <a:solidFill>
                            <a:srgbClr val="1F2937"/>
                          </a:solidFill>
                        </a:rPr>
                        <a:t>Qon bor, ammo topilmadi</a:t>
                      </a:r>
                    </a:p>
                  </a:txBody>
                  <a:tcPr marL="73152" marR="73152" marT="36576" marB="36576">
                    <a:solidFill>
                      <a:srgbClr val="FFFFFF"/>
                    </a:solidFill>
                  </a:tcPr>
                </a:tc>
                <a:tc>
                  <a:txBody>
                    <a:bodyPr/>
                    <a:lstStyle/>
                    <a:p>
                      <a:r>
                        <a:rPr sz="1200" b="0">
                          <a:solidFill>
                            <a:srgbClr val="1F2937"/>
                          </a:solidFill>
                        </a:rPr>
                        <a:t>18%</a:t>
                      </a:r>
                    </a:p>
                  </a:txBody>
                  <a:tcPr marL="73152" marR="73152" marT="36576" marB="36576">
                    <a:solidFill>
                      <a:srgbClr val="FFFFFF"/>
                    </a:solidFill>
                  </a:tcPr>
                </a:tc>
                <a:tc>
                  <a:txBody>
                    <a:bodyPr/>
                    <a:lstStyle/>
                    <a:p>
                      <a:r>
                        <a:rPr sz="1200" b="0">
                          <a:solidFill>
                            <a:srgbClr val="1F2937"/>
                          </a:solidFill>
                        </a:rPr>
                        <a:t>—</a:t>
                      </a:r>
                    </a:p>
                  </a:txBody>
                  <a:tcPr marL="73152" marR="73152" marT="36576" marB="36576">
                    <a:solidFill>
                      <a:srgbClr val="FFFFFF"/>
                    </a:solidFill>
                  </a:tcPr>
                </a:tc>
              </a:tr>
              <a:tr h="411480">
                <a:tc>
                  <a:txBody>
                    <a:bodyPr/>
                    <a:lstStyle/>
                    <a:p>
                      <a:r>
                        <a:rPr sz="1200" b="0">
                          <a:solidFill>
                            <a:srgbClr val="1F2937"/>
                          </a:solidFill>
                        </a:rPr>
                        <a:t>Natija aniq emas</a:t>
                      </a:r>
                    </a:p>
                  </a:txBody>
                  <a:tcPr marL="73152" marR="73152" marT="36576" marB="36576">
                    <a:solidFill>
                      <a:srgbClr val="E8EEF6"/>
                    </a:solidFill>
                  </a:tcPr>
                </a:tc>
                <a:tc>
                  <a:txBody>
                    <a:bodyPr/>
                    <a:lstStyle/>
                    <a:p>
                      <a:r>
                        <a:rPr sz="1200" b="0">
                          <a:solidFill>
                            <a:srgbClr val="1F2937"/>
                          </a:solidFill>
                        </a:rPr>
                        <a:t>16%</a:t>
                      </a:r>
                    </a:p>
                  </a:txBody>
                  <a:tcPr marL="73152" marR="73152" marT="36576" marB="36576">
                    <a:solidFill>
                      <a:srgbClr val="E8EEF6"/>
                    </a:solidFill>
                  </a:tcPr>
                </a:tc>
                <a:tc>
                  <a:txBody>
                    <a:bodyPr/>
                    <a:lstStyle/>
                    <a:p>
                      <a:r>
                        <a:rPr sz="1200" b="0">
                          <a:solidFill>
                            <a:srgbClr val="1F2937"/>
                          </a:solidFill>
                        </a:rPr>
                        <a:t>—</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Gistologiya va GPA solishtiruvi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Donato Morena va boshq., Bloody Evidence: The Validity of Glycophorin A in the Determination of Wound Vitality—A Systematic Review of the Literature, betlar: PMID 40508117, 4-bo‘lim (Results), PMID 40508117, 5-bo‘lim (Statistical Analysis)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Chirigan to‘qima, suyak va boshqa namunalar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81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GPA chirigan va maserirlangan (suvda yumshatilgan) to‘qimada ham musbat qolishi mumkin.</a:t>
            </a:r>
          </a:p>
          <a:p>
            <a:pPr>
              <a:spcAft>
                <a:spcPts val="800"/>
              </a:spcAft>
            </a:pPr>
            <a:r>
              <a:rPr sz="1800">
                <a:solidFill>
                  <a:srgbClr val="1F2937"/>
                </a:solidFill>
                <a:latin typeface="Calibri"/>
              </a:rPr>
              <a:t>▸  Bertozzi tadqiqotida chirigan jasadlarning barcha jarohat namunalari GPA bilan musbat bo‘ldi.</a:t>
            </a:r>
          </a:p>
          <a:p>
            <a:pPr>
              <a:spcAft>
                <a:spcPts val="800"/>
              </a:spcAft>
            </a:pPr>
            <a:r>
              <a:rPr sz="1800">
                <a:solidFill>
                  <a:srgbClr val="1F2937"/>
                </a:solidFill>
                <a:latin typeface="Calibri"/>
              </a:rPr>
              <a:t>▸  Amussat belgisi namunasi chirimagan, osilgan jasaddan olingan; chirigan holatga misol emas.</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252415"/>
                <a:gridCol w="2087358"/>
                <a:gridCol w="1948201"/>
              </a:tblGrid>
              <a:tr h="411480">
                <a:tc>
                  <a:txBody>
                    <a:bodyPr/>
                    <a:lstStyle/>
                    <a:p>
                      <a:r>
                        <a:rPr sz="1300" b="1">
                          <a:solidFill>
                            <a:srgbClr val="FFFFFF"/>
                          </a:solidFill>
                        </a:rPr>
                        <a:t>Holat</a:t>
                      </a:r>
                    </a:p>
                  </a:txBody>
                  <a:tcPr marL="73152" marR="73152" marT="36576" marB="36576">
                    <a:solidFill>
                      <a:srgbClr val="0B1F3A"/>
                    </a:solidFill>
                  </a:tcPr>
                </a:tc>
                <a:tc>
                  <a:txBody>
                    <a:bodyPr/>
                    <a:lstStyle/>
                    <a:p>
                      <a:r>
                        <a:rPr sz="1300" b="1">
                          <a:solidFill>
                            <a:srgbClr val="FFFFFF"/>
                          </a:solidFill>
                        </a:rPr>
                        <a:t>Namuna</a:t>
                      </a:r>
                    </a:p>
                  </a:txBody>
                  <a:tcPr marL="73152" marR="73152" marT="36576" marB="36576">
                    <a:solidFill>
                      <a:srgbClr val="0B1F3A"/>
                    </a:solidFill>
                  </a:tcPr>
                </a:tc>
                <a:tc>
                  <a:txBody>
                    <a:bodyPr/>
                    <a:lstStyle/>
                    <a:p>
                      <a:r>
                        <a:rPr sz="1300" b="1">
                          <a:solidFill>
                            <a:srgbClr val="FFFFFF"/>
                          </a:solidFill>
                        </a:rPr>
                        <a:t>Natija</a:t>
                      </a:r>
                    </a:p>
                  </a:txBody>
                  <a:tcPr marL="73152" marR="73152" marT="36576" marB="36576">
                    <a:solidFill>
                      <a:srgbClr val="0B1F3A"/>
                    </a:solidFill>
                  </a:tcPr>
                </a:tc>
              </a:tr>
              <a:tr h="411480">
                <a:tc>
                  <a:txBody>
                    <a:bodyPr/>
                    <a:lstStyle/>
                    <a:p>
                      <a:r>
                        <a:rPr sz="1200" b="0">
                          <a:solidFill>
                            <a:srgbClr val="1F2937"/>
                          </a:solidFill>
                        </a:rPr>
                        <a:t>Ekshumatsiya</a:t>
                      </a:r>
                    </a:p>
                  </a:txBody>
                  <a:tcPr marL="73152" marR="73152" marT="36576" marB="36576">
                    <a:solidFill>
                      <a:srgbClr val="E8EEF6"/>
                    </a:solidFill>
                  </a:tcPr>
                </a:tc>
                <a:tc>
                  <a:txBody>
                    <a:bodyPr/>
                    <a:lstStyle/>
                    <a:p>
                      <a:r>
                        <a:rPr sz="1200" b="0">
                          <a:solidFill>
                            <a:srgbClr val="1F2937"/>
                          </a:solidFill>
                        </a:rPr>
                        <a:t>8 jasad; PMI 621–878 kun</a:t>
                      </a:r>
                    </a:p>
                  </a:txBody>
                  <a:tcPr marL="73152" marR="73152" marT="36576" marB="36576">
                    <a:solidFill>
                      <a:srgbClr val="E8EEF6"/>
                    </a:solidFill>
                  </a:tcPr>
                </a:tc>
                <a:tc>
                  <a:txBody>
                    <a:bodyPr/>
                    <a:lstStyle/>
                    <a:p>
                      <a:r>
                        <a:rPr sz="1200" b="0">
                          <a:solidFill>
                            <a:srgbClr val="1F2937"/>
                          </a:solidFill>
                        </a:rPr>
                        <a:t>11 namunada GPA musbat</a:t>
                      </a:r>
                    </a:p>
                  </a:txBody>
                  <a:tcPr marL="73152" marR="73152" marT="36576" marB="36576">
                    <a:solidFill>
                      <a:srgbClr val="E8EEF6"/>
                    </a:solidFill>
                  </a:tcPr>
                </a:tc>
              </a:tr>
              <a:tr h="411480">
                <a:tc>
                  <a:txBody>
                    <a:bodyPr/>
                    <a:lstStyle/>
                    <a:p>
                      <a:r>
                        <a:rPr sz="1200" b="0">
                          <a:solidFill>
                            <a:srgbClr val="1F2937"/>
                          </a:solidFill>
                        </a:rPr>
                        <a:t>Suyak sinishi</a:t>
                      </a:r>
                    </a:p>
                  </a:txBody>
                  <a:tcPr marL="73152" marR="73152" marT="36576" marB="36576">
                    <a:solidFill>
                      <a:srgbClr val="FFFFFF"/>
                    </a:solidFill>
                  </a:tcPr>
                </a:tc>
                <a:tc>
                  <a:txBody>
                    <a:bodyPr/>
                    <a:lstStyle/>
                    <a:p>
                      <a:r>
                        <a:rPr sz="1200" b="0">
                          <a:solidFill>
                            <a:srgbClr val="1F2937"/>
                          </a:solidFill>
                        </a:rPr>
                        <a:t>Maserirlangan suyak, 3 holat</a:t>
                      </a:r>
                    </a:p>
                  </a:txBody>
                  <a:tcPr marL="73152" marR="73152" marT="36576" marB="36576">
                    <a:solidFill>
                      <a:srgbClr val="FFFFFF"/>
                    </a:solidFill>
                  </a:tcPr>
                </a:tc>
                <a:tc>
                  <a:txBody>
                    <a:bodyPr/>
                    <a:lstStyle/>
                    <a:p>
                      <a:r>
                        <a:rPr sz="1200" b="0">
                          <a:solidFill>
                            <a:srgbClr val="1F2937"/>
                          </a:solidFill>
                        </a:rPr>
                        <a:t>Uchalasida GPA musbat</a:t>
                      </a:r>
                    </a:p>
                  </a:txBody>
                  <a:tcPr marL="73152" marR="73152" marT="36576" marB="36576">
                    <a:solidFill>
                      <a:srgbClr val="FFFFFF"/>
                    </a:solidFill>
                  </a:tcPr>
                </a:tc>
              </a:tr>
              <a:tr h="411480">
                <a:tc>
                  <a:txBody>
                    <a:bodyPr/>
                    <a:lstStyle/>
                    <a:p>
                      <a:r>
                        <a:rPr sz="1200" b="0">
                          <a:solidFill>
                            <a:srgbClr val="1F2937"/>
                          </a:solidFill>
                        </a:rPr>
                        <a:t>Skeletlangan jasad</a:t>
                      </a:r>
                    </a:p>
                  </a:txBody>
                  <a:tcPr marL="73152" marR="73152" marT="36576" marB="36576">
                    <a:solidFill>
                      <a:srgbClr val="E8EEF6"/>
                    </a:solidFill>
                  </a:tcPr>
                </a:tc>
                <a:tc>
                  <a:txBody>
                    <a:bodyPr/>
                    <a:lstStyle/>
                    <a:p>
                      <a:r>
                        <a:rPr sz="1200" b="0">
                          <a:solidFill>
                            <a:srgbClr val="1F2937"/>
                          </a:solidFill>
                        </a:rPr>
                        <a:t>Qisman skeletlangan jasad</a:t>
                      </a:r>
                    </a:p>
                  </a:txBody>
                  <a:tcPr marL="73152" marR="73152" marT="36576" marB="36576">
                    <a:solidFill>
                      <a:srgbClr val="E8EEF6"/>
                    </a:solidFill>
                  </a:tcPr>
                </a:tc>
                <a:tc>
                  <a:txBody>
                    <a:bodyPr/>
                    <a:lstStyle/>
                    <a:p>
                      <a:r>
                        <a:rPr sz="1200" b="0">
                          <a:solidFill>
                            <a:srgbClr val="1F2937"/>
                          </a:solidFill>
                        </a:rPr>
                        <a:t>Faqat 1 jarohat GPA musbat</a:t>
                      </a:r>
                    </a:p>
                  </a:txBody>
                  <a:tcPr marL="73152" marR="73152" marT="36576" marB="36576">
                    <a:solidFill>
                      <a:srgbClr val="E8EEF6"/>
                    </a:solidFill>
                  </a:tcPr>
                </a:tc>
              </a:tr>
              <a:tr h="411480">
                <a:tc>
                  <a:txBody>
                    <a:bodyPr/>
                    <a:lstStyle/>
                    <a:p>
                      <a:r>
                        <a:rPr sz="1200" b="0">
                          <a:solidFill>
                            <a:srgbClr val="1F2937"/>
                          </a:solidFill>
                        </a:rPr>
                        <a:t>Amussat belgisi</a:t>
                      </a:r>
                    </a:p>
                  </a:txBody>
                  <a:tcPr marL="73152" marR="73152" marT="36576" marB="36576">
                    <a:solidFill>
                      <a:srgbClr val="FFFFFF"/>
                    </a:solidFill>
                  </a:tcPr>
                </a:tc>
                <a:tc>
                  <a:txBody>
                    <a:bodyPr/>
                    <a:lstStyle/>
                    <a:p>
                      <a:r>
                        <a:rPr sz="1200" b="0">
                          <a:solidFill>
                            <a:srgbClr val="1F2937"/>
                          </a:solidFill>
                        </a:rPr>
                        <a:t>Osilgan jasad, uyqu arteriyasi</a:t>
                      </a:r>
                    </a:p>
                  </a:txBody>
                  <a:tcPr marL="73152" marR="73152" marT="36576" marB="36576">
                    <a:solidFill>
                      <a:srgbClr val="FFFFFF"/>
                    </a:solidFill>
                  </a:tcPr>
                </a:tc>
                <a:tc>
                  <a:txBody>
                    <a:bodyPr/>
                    <a:lstStyle/>
                    <a:p>
                      <a:r>
                        <a:rPr sz="1200" b="0">
                          <a:solidFill>
                            <a:srgbClr val="1F2937"/>
                          </a:solidFill>
                        </a:rPr>
                        <a:t>H&amp;E da topilmadi, GPA da bor</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Misollar: namuna va natija</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Donato Morena va boshq., Bloody Evidence: The Validity of Glycophorin A in the Determination of Wound Vitality—A Systematic Review of the Literature, betlar: PMID 40508117, 6-bo‘lim (Discussion)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Italiyadagi qayta ochilgan 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Italiyada 20 yildan ko‘proq vaqt o‘tgach eski ish qayta ochildi. Jasad ikki marta alohida tekshirilgan, birinchi tashxis o‘z joniga qasd qilish edi.</a:t>
            </a:r>
          </a:p>
          <a:p>
            <a:pPr>
              <a:spcAft>
                <a:spcPts val="1200"/>
              </a:spcAft>
            </a:pPr>
            <a:r>
              <a:rPr sz="2200">
                <a:solidFill>
                  <a:srgbClr val="1F2937"/>
                </a:solidFill>
                <a:latin typeface="Calibri"/>
              </a:rPr>
              <a:t>▸  Ikkinchi tekshiruvda GPA qo‘llandi: o‘limga bog‘langan jarohatlar manfiy, bo‘yin yumshoq to‘qimalari (laringotraxeal soha) musbat chiqdi.</a:t>
            </a:r>
          </a:p>
          <a:p>
            <a:pPr>
              <a:spcAft>
                <a:spcPts val="1200"/>
              </a:spcAft>
            </a:pPr>
            <a:r>
              <a:rPr sz="2200">
                <a:solidFill>
                  <a:srgbClr val="1F2937"/>
                </a:solidFill>
                <a:latin typeface="Calibri"/>
              </a:rPr>
              <a:t>▸  Bo‘yindagi natija zo‘ravon mexanik asfiksiyaga mos keldi, birinchi tashxis o‘z kuchini yo‘qotdi. Sud ayblov hukmini chiqardi (hali yakuniy emas).</a:t>
            </a:r>
          </a:p>
          <a:p>
            <a:pPr>
              <a:spcAft>
                <a:spcPts val="1200"/>
              </a:spcAft>
            </a:pPr>
            <a:r>
              <a:rPr sz="2200">
                <a:solidFill>
                  <a:srgbClr val="1F2937"/>
                </a:solidFill>
                <a:latin typeface="Calibri"/>
              </a:rPr>
              <a:t>▸  Savol: ikkinchi autopsiyada nima o‘zgardi va GPA bu o‘zgarishga qanday ta’sir qildi?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Donato Morena va boshq., Bloody Evidence: The Validity of Glycophorin A in the Determination of Wound Vitality—A Systematic Review of the Literature, betlar: PMID 40508117, 1-bo‘lim (Introduction); 6-bo‘lim (Discussion), PMID 40508117, 6-bo‘lim (Discussion)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GPA talqini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Savol: glikoforin A (GPA) bo‘yicha immunogistokimyoviy reaksiya manfiy chiqsa, bu nimani bildiradi? Manfiy natija to‘qimada eritrotsitlar yo‘qligini ko‘rsatadi va jarohat o‘limdan keyin paydo bo‘lganini qo‘llab-quvvatlaydi.</a:t>
            </a:r>
          </a:p>
          <a:p>
            <a:pPr>
              <a:spcAft>
                <a:spcPts val="1200"/>
              </a:spcAft>
            </a:pPr>
            <a:r>
              <a:rPr sz="2000">
                <a:solidFill>
                  <a:srgbClr val="1F2937"/>
                </a:solidFill>
                <a:latin typeface="Calibri"/>
              </a:rPr>
              <a:t>▸  Musbat GPA tomir tashqarisidagi eritrotsitlarni ko‘rsatadi. Bu jarohat qon aylanishi hali faol bo‘lgan paytda hosil bo‘lganini, ya’ni jonli (antemortem) jarohatni bildiradi.</a:t>
            </a:r>
          </a:p>
          <a:p>
            <a:pPr>
              <a:spcAft>
                <a:spcPts val="1200"/>
              </a:spcAft>
            </a:pPr>
            <a:r>
              <a:rPr sz="2000">
                <a:solidFill>
                  <a:srgbClr val="1F2937"/>
                </a:solidFill>
                <a:latin typeface="Calibri"/>
              </a:rPr>
              <a:t>▸  Sog‘lom terida GPA faqat tomir ichida musbat bo‘ladi. Ko‘kargan teri va shikastlangan mushakda esa eritrotsitlar tomirdan chiqqani (ekstravazatsiya) ko‘rinadi.</a:t>
            </a:r>
          </a:p>
          <a:p>
            <a:pPr>
              <a:spcAft>
                <a:spcPts val="1200"/>
              </a:spcAft>
            </a:pPr>
            <a:r>
              <a:rPr sz="2000">
                <a:solidFill>
                  <a:srgbClr val="1F2937"/>
                </a:solidFill>
                <a:latin typeface="Calibri"/>
              </a:rPr>
              <a:t>▸  Diqqat: xato qilish xavfi. Gipostaz yoki pseudo-ko‘karish ≠ jonli jarohat. Qonning og‘irlik kuchi ta’sirida to‘planishi jarohatga o‘xshab ketishi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Donato Morena va boshq., Bloody Evidence: The Validity of Glycophorin A in the Determination of Wound Vitality—A Systematic Review of the Literature, betlar: PMID 40508117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GPA IGK protokoli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81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Kesma parafin blokdan 4 μm qalinlikda olinadi; shisha 3-aminopropiltrietoksisilan bilan qoplanadi.</a:t>
            </a:r>
          </a:p>
          <a:p>
            <a:pPr>
              <a:spcAft>
                <a:spcPts val="800"/>
              </a:spcAft>
            </a:pPr>
            <a:r>
              <a:rPr sz="1800">
                <a:solidFill>
                  <a:srgbClr val="1F2937"/>
                </a:solidFill>
                <a:latin typeface="Calibri"/>
              </a:rPr>
              <a:t>▸  Antigenni ochish uchun EDTA buferida qaynatiladi; birlamchi antitana 1:500 suyultmada ishlatiladi.</a:t>
            </a:r>
          </a:p>
          <a:p>
            <a:pPr>
              <a:spcAft>
                <a:spcPts val="800"/>
              </a:spcAft>
            </a:pPr>
            <a:r>
              <a:rPr sz="1800">
                <a:solidFill>
                  <a:srgbClr val="1F2937"/>
                </a:solidFill>
                <a:latin typeface="Calibri"/>
              </a:rPr>
              <a:t>▸  Aniqlash uchun LSAB+ to‘plami: biotinlangan ikkilamchi antitana peroksidazali streptavidin bilan bog‘lanadi.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Parafin kesma 4 μm, H&amp;E</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Oldindan ishlov: EDTA qaynatish</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Anti-GPA 1:500, 120 daqiqa</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LSAB+ aniqlash tizimi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Mayer gematoksilini, mikroskop</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GPA IGK ketma-ketligi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Donato Morena va boshq., Bloody Evidence: The Validity of Glycophorin A in the Determination of Wound Vitality—A Systematic Review of the Literature, betlar: PMID 40508117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Cheklovlar va sud mezonlari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81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Soxta manfiy: noto‘g‘ri namuna olish; soxta musbat: suyak iligi kabi eritroid hujayrali to‘qimalar.</a:t>
            </a:r>
          </a:p>
          <a:p>
            <a:pPr>
              <a:spcAft>
                <a:spcPts val="800"/>
              </a:spcAft>
            </a:pPr>
            <a:r>
              <a:rPr sz="1800">
                <a:solidFill>
                  <a:srgbClr val="1F2937"/>
                </a:solidFill>
                <a:latin typeface="Calibri"/>
              </a:rPr>
              <a:t>▸  Tadqiqotlar kam (16 ta kiritilgan); yaqinda double-blind tadqiqot yo‘q; GPC bo‘yicha faqat 2 ta ish bor.</a:t>
            </a:r>
          </a:p>
          <a:p>
            <a:pPr>
              <a:spcAft>
                <a:spcPts val="800"/>
              </a:spcAft>
            </a:pPr>
            <a:r>
              <a:rPr sz="1800">
                <a:solidFill>
                  <a:srgbClr val="1F2937"/>
                </a:solidFill>
                <a:latin typeface="Calibri"/>
              </a:rPr>
              <a:t>▸  Ishonchlilik to‘g‘ri metodika va malakali laboratoriyaga bog‘liq; Daubert mezonlari AQShda qo‘llanadi.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658972"/>
                <a:gridCol w="3629002"/>
              </a:tblGrid>
              <a:tr h="411480">
                <a:tc>
                  <a:txBody>
                    <a:bodyPr/>
                    <a:lstStyle/>
                    <a:p>
                      <a:r>
                        <a:rPr sz="1400" b="1">
                          <a:solidFill>
                            <a:srgbClr val="FFFFFF"/>
                          </a:solidFill>
                        </a:rPr>
                        <a:t>Daubert</a:t>
                      </a:r>
                    </a:p>
                  </a:txBody>
                  <a:tcPr marL="73152" marR="73152" marT="36576" marB="36576">
                    <a:solidFill>
                      <a:srgbClr val="0B1F3A"/>
                    </a:solidFill>
                  </a:tcPr>
                </a:tc>
                <a:tc>
                  <a:txBody>
                    <a:bodyPr/>
                    <a:lstStyle/>
                    <a:p>
                      <a:r>
                        <a:rPr sz="1400" b="1">
                          <a:solidFill>
                            <a:srgbClr val="FFFFFF"/>
                          </a:solidFill>
                        </a:rPr>
                        <a:t>Mazmuni</a:t>
                      </a:r>
                    </a:p>
                  </a:txBody>
                  <a:tcPr marL="73152" marR="73152" marT="36576" marB="36576">
                    <a:solidFill>
                      <a:srgbClr val="0B1F3A"/>
                    </a:solidFill>
                  </a:tcPr>
                </a:tc>
              </a:tr>
              <a:tr h="411480">
                <a:tc>
                  <a:txBody>
                    <a:bodyPr/>
                    <a:lstStyle/>
                    <a:p>
                      <a:r>
                        <a:rPr sz="1300" b="0">
                          <a:solidFill>
                            <a:srgbClr val="1F2937"/>
                          </a:solidFill>
                        </a:rPr>
                        <a:t>a) Asos</a:t>
                      </a:r>
                    </a:p>
                  </a:txBody>
                  <a:tcPr marL="73152" marR="73152" marT="36576" marB="36576">
                    <a:solidFill>
                      <a:srgbClr val="E8EEF6"/>
                    </a:solidFill>
                  </a:tcPr>
                </a:tc>
                <a:tc>
                  <a:txBody>
                    <a:bodyPr/>
                    <a:lstStyle/>
                    <a:p>
                      <a:r>
                        <a:rPr sz="1300" b="0">
                          <a:solidFill>
                            <a:srgbClr val="1F2937"/>
                          </a:solidFill>
                        </a:rPr>
                        <a:t>Ilmiy tamoyil/usul haqiqiyligi</a:t>
                      </a:r>
                    </a:p>
                  </a:txBody>
                  <a:tcPr marL="73152" marR="73152" marT="36576" marB="36576">
                    <a:solidFill>
                      <a:srgbClr val="E8EEF6"/>
                    </a:solidFill>
                  </a:tcPr>
                </a:tc>
              </a:tr>
              <a:tr h="411480">
                <a:tc>
                  <a:txBody>
                    <a:bodyPr/>
                    <a:lstStyle/>
                    <a:p>
                      <a:r>
                        <a:rPr sz="1300" b="0">
                          <a:solidFill>
                            <a:srgbClr val="1F2937"/>
                          </a:solidFill>
                        </a:rPr>
                        <a:t>b) Qo‘llash</a:t>
                      </a:r>
                    </a:p>
                  </a:txBody>
                  <a:tcPr marL="73152" marR="73152" marT="36576" marB="36576">
                    <a:solidFill>
                      <a:srgbClr val="FFFFFF"/>
                    </a:solidFill>
                  </a:tcPr>
                </a:tc>
                <a:tc>
                  <a:txBody>
                    <a:bodyPr/>
                    <a:lstStyle/>
                    <a:p>
                      <a:r>
                        <a:rPr sz="1300" b="0">
                          <a:solidFill>
                            <a:srgbClr val="1F2937"/>
                          </a:solidFill>
                        </a:rPr>
                        <a:t>Usulni to‘g‘ri qo‘llash</a:t>
                      </a:r>
                    </a:p>
                  </a:txBody>
                  <a:tcPr marL="73152" marR="73152" marT="36576" marB="36576">
                    <a:solidFill>
                      <a:srgbClr val="FFFFFF"/>
                    </a:solidFill>
                  </a:tcPr>
                </a:tc>
              </a:tr>
              <a:tr h="411480">
                <a:tc>
                  <a:txBody>
                    <a:bodyPr/>
                    <a:lstStyle/>
                    <a:p>
                      <a:r>
                        <a:rPr sz="1300" b="0">
                          <a:solidFill>
                            <a:srgbClr val="1F2937"/>
                          </a:solidFill>
                        </a:rPr>
                        <a:t>c) Mosligi</a:t>
                      </a:r>
                    </a:p>
                  </a:txBody>
                  <a:tcPr marL="73152" marR="73152" marT="36576" marB="36576">
                    <a:solidFill>
                      <a:srgbClr val="E8EEF6"/>
                    </a:solidFill>
                  </a:tcPr>
                </a:tc>
                <a:tc>
                  <a:txBody>
                    <a:bodyPr/>
                    <a:lstStyle/>
                    <a:p>
                      <a:r>
                        <a:rPr sz="1300" b="0">
                          <a:solidFill>
                            <a:srgbClr val="1F2937"/>
                          </a:solidFill>
                        </a:rPr>
                        <a:t>Voqeani tiklashga foydali ma’lumot</a:t>
                      </a:r>
                    </a:p>
                  </a:txBody>
                  <a:tcPr marL="73152" marR="73152" marT="36576" marB="36576">
                    <a:solidFill>
                      <a:srgbClr val="E8EEF6"/>
                    </a:solidFill>
                  </a:tcPr>
                </a:tc>
              </a:tr>
              <a:tr h="411480">
                <a:tc>
                  <a:txBody>
                    <a:bodyPr/>
                    <a:lstStyle/>
                    <a:p>
                      <a:r>
                        <a:rPr sz="1300" b="0">
                          <a:solidFill>
                            <a:srgbClr val="1F2937"/>
                          </a:solidFill>
                        </a:rPr>
                        <a:t>d) Tan olinishi</a:t>
                      </a:r>
                    </a:p>
                  </a:txBody>
                  <a:tcPr marL="73152" marR="73152" marT="36576" marB="36576">
                    <a:solidFill>
                      <a:srgbClr val="FFFFFF"/>
                    </a:solidFill>
                  </a:tcPr>
                </a:tc>
                <a:tc>
                  <a:txBody>
                    <a:bodyPr/>
                    <a:lstStyle/>
                    <a:p>
                      <a:r>
                        <a:rPr sz="1300" b="0">
                          <a:solidFill>
                            <a:srgbClr val="1F2937"/>
                          </a:solidFill>
                        </a:rPr>
                        <a:t>Ma’lumotni mutaxassislar tan olishi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Daubert mezonlari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Donato Morena va boshq., Bloody Evidence: The Validity of Glycophorin A in the Determination of Wound Vitality—A Systematic Review of the Literature, betlar: PMID 40508117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gistologik usulning potentsiali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81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Immunogistokimyo (IGK) fibronektin, C5b-9, desmin va S100A1 orqali oddiy bo‘yashda ko‘rinmaydigan erta ishemiya va miokarditni aniqlashga yordam beradi.</a:t>
            </a:r>
          </a:p>
          <a:p>
            <a:pPr>
              <a:spcAft>
                <a:spcPts val="1200"/>
              </a:spcAft>
            </a:pPr>
            <a:r>
              <a:rPr sz="2200">
                <a:solidFill>
                  <a:srgbClr val="1F2937"/>
                </a:solidFill>
                <a:latin typeface="Calibri"/>
              </a:rPr>
              <a:t>▸  Glikoforin A (GPA) IGK usulida chirigan jasadda ham qon quyilishini topadi. Oddiy gistologiya aniqligi 66% bo‘ldi, GPA bilan moslik to‘liq bo‘ldi.</a:t>
            </a:r>
          </a:p>
          <a:p>
            <a:pPr>
              <a:spcAft>
                <a:spcPts val="1200"/>
              </a:spcAft>
            </a:pPr>
            <a:r>
              <a:rPr sz="2200">
                <a:solidFill>
                  <a:srgbClr val="1F2937"/>
                </a:solidFill>
                <a:latin typeface="Calibri"/>
              </a:rPr>
              <a:t>▸  Gistologiya yetarli bo‘lmasa mikroRNK va keyingi avlod sekvenslash (NGS) qo‘shiladi. Biroq standart chegara qiymatlari va ko‘p markazli tasdiq hali yetishmaydi.</a:t>
            </a:r>
          </a:p>
          <a:p>
            <a:pPr>
              <a:spcAft>
                <a:spcPts val="1200"/>
              </a:spcAft>
            </a:pPr>
            <a:r>
              <a:rPr sz="2200">
                <a:solidFill>
                  <a:srgbClr val="1F2937"/>
                </a:solidFill>
                <a:latin typeface="Calibri"/>
              </a:rPr>
              <a:t>▸  GPA natijasining ishonchliligi to‘g‘ri uslub va malakali laboratoriyaga bog‘liq. Tadqiqotlar soni kam, shuning uchun yagona protokol kerak.</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Sacco MA va boshq., Post-Mortem Biomarkers in Sudden Cardiac Death: From Classical Biochemistry to Molecular Autopsy and Multi-Omics Forensic Approaches, betlar: PMID 41596321; Donato Morena va boshq., Bloody Evidence: The Validity of Glycophorin A in the Determination of Wound Vitality—A Systematic Review of the Literature, betlar: PMID 40508117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81</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Hodisa tahlili: Italiyada 20 yildan ko‘proq vaqtdan keyin ishni qayta ochib, GPA (glikoforin A) bo‘yog‘i qo‘llangan. O‘limga sabab deb hisoblangan jarohatlar manfiy chiqqan. Bo‘yin yumshoq to‘qimalarida (laringotraxeal sathda) musbat natija topilgan. Ish o‘z joniga qasd qilishdan qasddan odam o‘ldirishga qayta tasniflangan. Hukm hali yakuniy emas.</a:t>
            </a:r>
          </a:p>
          <a:p>
            <a:pPr>
              <a:spcAft>
                <a:spcPts val="1200"/>
              </a:spcAft>
            </a:pPr>
            <a:r>
              <a:rPr sz="1800">
                <a:solidFill>
                  <a:srgbClr val="1F2937"/>
                </a:solidFill>
                <a:latin typeface="Calibri"/>
              </a:rPr>
              <a:t>▸  Eslab qolish usuli: «GPA — qon hujayrasining pasporti». Eritrotsit qon tomiridan tashqarida topilsa (GPA musbat), jarohat tirik paytda bo‘lgan. Eritrotsit topilmasa (GPA manfiy), jarohat o‘limdan keyin hosil bo‘lgan deb baholanadi. Tomir ichidagi eritrotsit esa qon ketishini bildirmaydi.</a:t>
            </a:r>
          </a:p>
          <a:p>
            <a:pPr>
              <a:spcAft>
                <a:spcPts val="1200"/>
              </a:spcAft>
            </a:pPr>
            <a:r>
              <a:rPr sz="1800">
                <a:solidFill>
                  <a:srgbClr val="1F2937"/>
                </a:solidFill>
                <a:latin typeface="Calibri"/>
              </a:rPr>
              <a:t>▸  Qiziqarli fakt: oddiy bo‘yash (gematoksilin–eozin) hali manfiy bo‘lsa ham, immunogistokimyo erta ishemiyani ko‘rsatadi. Fibronektin koronar tutilishdan 1 soat ichida, S100A1 yo‘qolishi ham taxminan 1 soat ichida aniqlanishi mumkin. Bu ko‘rsatkichlar «gistologik jim» holatlarda foydali.</a:t>
            </a:r>
          </a:p>
          <a:p>
            <a:pPr>
              <a:spcAft>
                <a:spcPts val="1200"/>
              </a:spcAft>
            </a:pPr>
            <a:r>
              <a:rPr sz="1800">
                <a:solidFill>
                  <a:srgbClr val="1F2937"/>
                </a:solidFill>
                <a:latin typeface="Calibri"/>
              </a:rPr>
              <a:t>▸  Raqamlar tahlili: sharhda faqat gistologiyaning aniqligi 66% bo‘lgan. 18% hollarda qon ketishi bor edi-yu, ko‘rinmagan; 16% da natija noaniq edi. GPA natijasi esa ma’lum qon ketishi bilan to‘liq mos kelgan, faqat bitta holatda baholab bo‘lmagan. Ekshumatsiyada PMI (o‘limdan keyingi davr) 621–878 kun bo‘lsa ham GPA musbat chiqqan.</a:t>
            </a:r>
          </a:p>
          <a:p>
            <a:pPr>
              <a:spcAft>
                <a:spcPts val="1200"/>
              </a:spcAft>
            </a:pPr>
            <a:r>
              <a:rPr sz="1800">
                <a:solidFill>
                  <a:srgbClr val="1F2937"/>
                </a:solidFill>
                <a:latin typeface="Calibri"/>
              </a:rPr>
              <a:t>▸  Diqqat, tuzoq: 11 yoshli qizda jinsiy a’zo sohasidagi qizil joylarda na gematoksilin–eozinda, na GPAda eritrotsit topilgan. Mualliflar buni gipostaz (o‘limdan keyingi qon to‘planishi) deb baholab, noto‘g‘ri talqin xavfidan ogohlantirgan. Suyak ko‘migi kabi eritroid hujayrali to‘qimalarda esa soxta musbat natija bo‘lishi mumkin.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377440"/>
            <a:ext cx="10911535" cy="1280160"/>
          </a:xfrm>
          <a:prstGeom prst="rect">
            <a:avLst/>
          </a:prstGeom>
          <a:noFill/>
        </p:spPr>
        <p:txBody>
          <a:bodyPr wrap="square" anchor="ctr">
            <a:spAutoFit/>
          </a:bodyPr>
          <a:lstStyle/>
          <a:p>
            <a:r>
              <a:rPr sz="4400" b="1">
                <a:solidFill>
                  <a:srgbClr val="FFFFFF"/>
                </a:solidFill>
                <a:latin typeface="Georgia"/>
              </a:rPr>
              <a:t>Bilimingizni sinang</a:t>
            </a:r>
          </a:p>
        </p:txBody>
      </p:sp>
      <p:sp>
        <p:nvSpPr>
          <p:cNvPr id="4" name="TextBox 3"/>
          <p:cNvSpPr txBox="1"/>
          <p:nvPr/>
        </p:nvSpPr>
        <p:spPr>
          <a:xfrm>
            <a:off x="640080" y="3749039"/>
            <a:ext cx="10911535" cy="548640"/>
          </a:xfrm>
          <a:prstGeom prst="rect">
            <a:avLst/>
          </a:prstGeom>
          <a:noFill/>
        </p:spPr>
        <p:txBody>
          <a:bodyPr wrap="square">
            <a:spAutoFit/>
          </a:bodyPr>
          <a:lstStyle/>
          <a:p>
            <a:r>
              <a:rPr sz="2200" b="0">
                <a:solidFill>
                  <a:srgbClr val="C9A227"/>
                </a:solidFill>
                <a:latin typeface="Calibri"/>
              </a:rPr>
              <a:t>20 ta test savoli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Yurak o‘limi gumon qilingan 34 yoshli erkak guvohlarsiz topildi. U 20 soat oldin sog‘lom holda ko‘rilgan edi. To‘satdan yurak o‘limi (TYO‘) ta’rifidagi qaysi vaqt mezoni qo‘llanadi?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Simptom boshlanishidan so‘ng 1 soat ichida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Simptom boshlanishidan so‘ng 6 soat ichida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Oxirgi marta sog‘lom ko‘rilgandan 24 soat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Oxirgi marta sog‘lom ko‘rilgandan 48 soat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To‘liq o‘limdan keyingi tekshiruvdan so‘ng ham sababi tushuntirilmay qoladigan TYO‘ holatlarining taxminiy ulushi qancha?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10–15% atrofida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1–2% atrofida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30–40% atrofida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50–60% atrofida</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Yosh shaxs to‘satdan vafot etdi. Yurak tuzilishi normal, oddiy gistologiya sababni ko‘rsatmadi. Qaysi qo‘shimcha yondashuv eng mantiqiy keyingi qadam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Preparatlarni oddiy bo‘yash bilan qayta ko‘rish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Toksikologik tahlilni o‘zgartirmay takrorlash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o‘pka to‘qimasini gistologik ko‘rish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Ion kanal genlarini NGS usulida tekshirish</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Quyidagi oqsil markerlaridan qaysi biri kardiomiotsit nekrozining eng spetsifik va sezgir ko‘rsatkichi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CK-MB fermenti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Yurak troponinlari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H-FABP oqsili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GPBB izofermenti</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O‘lim vaqtidan 36 soat o‘tdi, femoral qon namunasi esa gemolizga uchragan. Troponinni o‘lchash uchun qaysi muhit ko‘proq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Perikard suyuqligi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Markaziy yurak qoni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Miya-orqa miya suyuqligi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Shishasimon suyuqlik</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NT-proBNP ni o‘lgandan keyin aniqlashda perikard suyuqligi qonga nisbatan nima uchun ishonchliroq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U gemolizga eng sezgir, shuning uchun signal kuchayadi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 anatomik ajralgan va post-mortem qayta taqsimlanishdan himoyalangan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U klinik chegara qiymatlarga har doim to‘liq mos keladi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U vazopressinning o‘zini barqaror holda saqlab turadi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Bemor shifoxonaga kelgandan so‘ng qisqa vaqtda yiqilib o‘ldi. Autopsiyada aniq lezyon yo‘q, o‘lgandan keyingi qonda kopeptin troponin bilan birga yuqori. Bu nimani anglatadi?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O‘lim sababi faqat sepsis ekani isbotlanadi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O‘lim travmatik bo‘lgani aniq tasdiqlanadi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Natijalar tasodifiy artefakt ekanini bildiradi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Kollaps paytida o‘tkir ishemiya bo‘lganini qo‘llab-quvvatlaydi</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Koronar arteriya tiqilishidan taxminan 1 soat o‘tib o‘lim yuz berdi. Gematoksilin–eozin bo‘yashda o‘zgarish yo‘q. Ishemik shikastni ko‘rsatishi mumkin bo‘lgan eng mos keyingi qadam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Fibronektinni sarkolemma bo‘ylab IGK bilan aniqlash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Faqat femoral qonda IL-6 darajasini o‘lchash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femoral qonda CRP darajasini o‘lchash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Preparatni yana o‘sha H&amp;E bilan qayta ko‘rish</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Eruvchan sitokinlarga (CRP, IL-6) nisbatan to‘qimadagi IGK markerlarining asosiy afzalligi nima?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Ular arzonroq va maxsus mutaxassissiz bajariladi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Ular tezroq bajariladi va post-mortem o‘zgarmaydi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Ular hayotiy reaksiyani va shikast vaqtini aniqroq ko‘rsatadi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Ular bakterial translokatsiyadan ko‘proq ta’sirlanadi</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Autopsiyada femoral qonda CRP yuqori topildi. Bu ishemik o‘limga nisbatan qaysi mexanizmni ko‘proq qo‘llab-quvvatlaydi?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O‘tkir ishemik miokard nekrozini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Miokardit yoki sepsis bilan bog‘liq yallig‘lanishni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Strukturasiz birlamchi aritmik o‘limni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travmatik o‘limni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Yosh odamning yuragi tuzilishi jihatidan me‘yorda, gistologiya ham manfiy. Qaysi molekulyar belgi ishemik o‘limni aritmik o‘limdan farqlashga yordam beradi?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Faqat umumiy qondagi CRP darajasi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Yurakka xos mikroRNK imzolari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jasadning tashqi ko‘rinishi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to‘qimadagi bakteriya miqdori</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Molekulyar autopsiyada kanalopatiyalar (LQTS, Brugada, CPVT) bilan eng ko‘p bog‘lanadigan genlar to‘plami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PKP2, DSP, DSG2, DSC2</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MYH7, LMNA, DES, MYH6</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COX5B, CACNA1A, MYH6, LMNA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SCN5A, KCNQ1, KCNH2, RYR2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 troponinni markaziy yurak qonidan o‘lchab, yuqori natija oldi. Bu natijada qanday xato xavfi bor?</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Mahalliy miokard oqishi tufayli sun‘iy oshgan qiymat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Qon tarkibidagi troponinning to‘liq parchalanib ketishi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Troponinning faqat skelet mushaklaridan ajralishi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Natijaning hamma holatda g‘ayritabiiy past chiqishi</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Bemor shifoxonaga kelgach qulab o‘ldi, autopsiyada aniq lezyon yo‘q. Qonda troponin bilan birga kopeptin ham yuqori. Bu nimani ko‘rsatadi?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O‘lim tashqi jarohat tufayli yuz berganini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Faqat o‘limdan keyingi bakterial ko‘payishni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Qulash paytida o‘tkir ishemiya bo‘lganini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Klinik tashxis hamma holda to‘g‘ri bo‘lganini</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Koronar okklyuziyadan taxminan 1 soat o‘tgan, gematoksilin–eozin (H&amp;E) bo‘yalishi manfiy. Qaysi usul ishemik shikastni ko‘rsata 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Faqat zardobdagi IL-6 miqdorini o‘lchash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Fibronektinga immunogistokimyoviy bo‘yash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to‘qimani makroskopik ko‘zdan kechirish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o‘limdan keyingi KT tekshiruvi</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Chirigan jasadda teri jarohati H&amp;E bo‘yog‘ida eritrotsitlarni ko‘rsatmadi, GPA esa tomirdan tashqarida musbat chiqdi. Bu nimani bildiradi?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Jarohat o‘limdan keyin, qon aylanishi to‘xtagach hosil bo‘lgan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Jarohat tirikligida, qon aylanishi faol paytda hosil bo‘lgan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Musbat natija faqat o‘limdan keyingi gipostaz tufayli chiqqan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Musbat natija faqat chirishdagi teri rangi o‘zgarishiga bog‘liq</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Ushbu sistematik sharh qaysi hisobot yo‘riqnomasiga muvofiq bajarilgan?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PRISMA hisobot yo‘riqnomasi (sistematik sharhlar uchun)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JBI tanqidiy baholash ro‘yxatlari (xatolik xavfi uchun)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Daubert mezonlari (sudda dalil maqbulligi uchun)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LSAB+ to‘plami (immunogistokimyoviy aniqlash uchun)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Maqolaga ko‘ra, faqat oddiy gistologiya (H&amp;E) ning diagnostik aniqligi qancha bo‘lgan?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18 foiz</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48 foiz</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66 foiz</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72,2 foiz</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Italiyadagi qayta ochilgan ishda o‘lim sababi deb hisoblangan jarohatlar GPA bo‘yicha manfiy, bo‘yinning laringotraxeal yumshoq to‘qimalari esa musbat chiqdi. Bu nimani ko‘rsatadi?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Jarohatlar tirikligida hosil bo‘lgan, o‘lim sababi o‘zgarmaydi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Natija suyak iligidagi hujayralar bilan kross-reaksiyadan chiqqan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Bo‘yindagi musbatlik gipostaz, ish avvalgidek yopiq qoladi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Bo‘yinda hayotiy qon quyilish, kuchli mexanik asfiksiya belgisi</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81</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Suyak iligi mavjud to‘qimada GPA musbat chiqdi, lekin tomirdan tashqarida qon quyilish belgisi yo‘q. Eng ehtimoliy sabab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Eritroid prekursorlar bilan kross-reaksiya tufayli soxta musbat natija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Jarohat tirikligida hosil bo‘lganining mutlaq va aniq isboti bo‘ladi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Chirish tufayli antigen butunlay yo‘qolgan, natija soxta manfiy bo‘ladi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Antitana suyultirmasi noto‘g‘ri tanlangan, shuning uchun natija chiqmaydi</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Oxirgi marta sog‘lom ko‘rilgandan 24 soat</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TYO‘ kutilmagan, yurakdan deb taxmin qilingan tabiiy o‘lim hisoblanadi. Simptom boshlanganidan 1 soat ichida yoki guvohsiz bo‘lsa, oxirgi marta sog‘lom ko‘rilgandan 24 soat ichida sodir bo‘lishi kerak. Bu holda simptomlar ma’lum emas, shuning uchun ikkinchi mezon qo‘llanadi.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Sacco MA va boshq., Post-Mortem Biomarkers in Sudden Cardiac Death: From Classical Biochemistry to Molecular Autopsy and Multi-Omics Forensic Approaches, 1-bo‘lim (Kirish), PMID 41596321-bet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10–15% atrofida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Mualliflarga ko‘ra, autopsiya va gistologiyadan keyin ham TYO‘ holatlarining 10–15% i tushuntirilmaydi. Bunday holatlar «autopsiya-manfiy to‘satdan tushuntirilmagan o‘lim» deb tasniflanadi.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Sacco MA va boshq., Post-Mortem Biomarkers in Sudden Cardiac Death: From Classical Biochemistry to Molecular Autopsy and Multi-Omics Forensic Approaches, 1-bo‘lim (Kirish), PMID 41596321-bet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63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Ion kanal genlarini NGS usulida tekshirish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Yoshlardagi tushuntirilmagan o‘limda oddiy gistologiyada ko‘rinmaydigan molekulyar yoki elektr asoslar bo‘lishi mumkin. Keyingi avlod sekvenirlashi (NGS) ion kanal va kardiomiopatiya genlarini tekshiradi. Autopsiya-manfiy holatlarning 25–30% igacha qismida patogen variantlar topilgan.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Sacco MA va boshq., Post-Mortem Biomarkers in Sudden Cardiac Death: From Classical Biochemistry to Molecular Autopsy and Multi-Omics Forensic Approaches, 1-bo‘lim (Kirish), PMID 41596321-bet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64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Yurak troponinlari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Troponinlar (cTnI va cTnT) kardiomiotsit nekrozining eng spetsifik va sezgir markeri sifatida qabul qilingan. CK-MB travma va tutqanoqda ham oshib, spetsifikligi past. H-FABP (yurak tipidagi yog‘ kislotasini bog‘lovchi oqsil) va GPBB (glikogen fosforilaza BB izofermenti) erta ishemiyani ko‘rsatadi, lekin tez parchalanadi.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Sacco MA va boshq., Post-Mortem Biomarkers in Sudden Cardiac Death: From Classical Biochemistry to Molecular Autopsy and Multi-Omics Forensic Approaches, 2-bo‘lim (Protein Biomarkers of Myocardial Injury), PMID 41596321-bet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65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Perikard suyuqligi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O‘limdan keyingi interval (PMI) 24–48 soatdan oshganda perikard suyuqligidagi troponin qonga qaraganda uzoqroq barqaror qoladi. Perikard suyuqligi anatomik ajralganligi uchun qayta taqsimlanishdan himoyalangan. Markaziy yurak qoni esa miokarddan oqib chiqish tufayli sun’iy yuqori qiymat berishi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Sacco MA va boshq., Post-Mortem Biomarkers in Sudden Cardiac Death: From Classical Biochemistry to Molecular Autopsy and Multi-Omics Forensic Approaches, 2-bo‘lim va 7-bo‘lim, PMID 41596321-bet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66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U anatomik ajralgan va post-mortem qayta taqsimlanishdan himoyalangan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Manbaga ko‘ra, BNP va NT-proBNP qon hamda perikard suyuqligida aniqlanadi. Perikard suyuqligi post-mortem qayta taqsimlanishdan himoyalangani uchun ishonchliroq. Qolgan variantlar manbaga zid: gemoliz ishonchlilikni oshirmaydi, universal klinik chegaralar o‘limdan keyin to‘g‘ridan-to‘g‘ri qo‘llanmaydi, vazopressin emas, kopeptin barqaror.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Sacco MA va boshq., Post-Mortem Biomarkers in Sudden Cardiac Death: From Classical Biochemistry to Molecular Autopsy and Multi-Omics Forensic Approaches, PMID 41596321, 3-bo‘lim-bet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67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Kollaps paytida o‘tkir ishemiya bo‘lganini qo‘llab-quvvatlaydi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Manbada Kutlu va hamkasblari tadqiqoti keltirilgan: troponin bilan birga yuqori kopeptin kollaps paytidagi o‘tkir ishemiyani ko‘rsatgan. Bu o‘tkazib yuborilgan klinik tashxisni retrospektiv tiklashga yordam bergan. Kopeptin faqat yurakka xos emas (sepsis, travma, insultda ham ko‘tariladi), shuning uchun kontekst muhim.</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Sacco MA va boshq., Post-Mortem Biomarkers in Sudden Cardiac Death: From Classical Biochemistry to Molecular Autopsy and Multi-Omics Forensic Approaches, PMID 41596321, 8-bo‘lim-bet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68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Fibronektinni sarkolemma bo‘ylab IGK bilan aniqlash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Manbaga ko‘ra, sarkolemma bo‘ylab fibronektin ajralishi ishemik shikastning eng erta belgilaridan biri. IGK uni koronar tiqilishdan 1 soat ichida, H&amp;E hali manfiy bo‘lganda ham ko‘rsatishi mumkin. CRP va IL-6 nospesifik, gipoksiya va uzoq agoniyada ham ko‘tarilishi mumkin. IGK – immunogistokimyo.</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Sacco MA va boshq., Post-Mortem Biomarkers in Sudden Cardiac Death: From Classical Biochemistry to Molecular Autopsy and Multi-Omics Forensic Approaches, PMID 41596321, 4-bo‘lim-bet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69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Ular hayotiy reaksiyani va shikast vaqtini aniqroq ko‘rsatadi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Manbada eruvchan sitokinlar oson va arzon, lekin post-mortem parchalanishga va bakterial translokatsiyaga moyil, shuning uchun spetsifikligi past deyilgan. IGK markerlari hayotiy reaksiyaning kuchliroq isbotini va ishemiya vaqtini beradi, lekin maxsus malaka va uzoqroq ishlov talab qiladi.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Sacco MA va boshq., Post-Mortem Biomarkers in Sudden Cardiac Death: From Classical Biochemistry to Molecular Autopsy and Multi-Omics Forensic Approaches, PMID 41596321, 4-bo‘lim-bet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70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Miokardit yoki sepsis bilan bog‘liq yallig‘lanishni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Manbaga ko‘ra, femoral qonda CRP miokardit va sepsisdagi o‘limlarda ishemik to‘satdan o‘limdagiga qaraganda yuqoriroq bo‘lgan. Biroq CRP sistemali gipoksiya, uzoq agoniya va terminal stressda ham ko‘tarilishi mumkin, shuning uchun natija yordamchi dalil sifatida talqin qilinadi.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Sacco MA va boshq., Post-Mortem Biomarkers in Sudden Cardiac Death: From Classical Biochemistry to Molecular Autopsy and Multi-Omics Forensic Approaches, PMID 41596321, 4-bo‘lim-bet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71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Yurakka xos mikroRNK imzolari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Yurakka xos mikroRNKlar (miR-1, miR-133, miR-208, miR-499) o‘limdan keyin barqaror. Ularning alohida imzolari tuzilish o‘zgarishisiz ishemik va aritmik o‘limni ajratishga yordam beradi. CRP esa nospetsifik, jasad tashqi ko‘rinishi va bakteriya miqdori bunday farqlashni bermaydi.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Sacco MA va boshq., Post-Mortem Biomarkers in Sudden Cardiac Death: From Classical Biochemistry to Molecular Autopsy and Multi-Omics Forensic Approaches, PMID 41596321; DOI 10.3390/ijms27020670-bet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72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SCN5A, KCNQ1, KCNH2, RYR2</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SCN5A, KCNQ1, KCNH2 va RYR2 natriy, kaliy va kalsiy kanallari subbirliklarini kodlaydi. PKP2, DSP, DSG2, DSC2 desmosomal genlar bo‘lib, ARVCga (aritmogen o‘ng qorincha kardiomiopatiyasi) xos. MYH7, LMNA, DES kardiomiopatiya genlari, MYH6, COX5B va CACNA1A esa yangi paydo bo‘layotgan lokuslar.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Sacco MA va boshq., Post-Mortem Biomarkers in Sudden Cardiac Death: From Classical Biochemistry to Molecular Autopsy and Multi-Omics Forensic Approaches, PMID 41596321; DOI 10.3390/ijms27020670-bet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73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Mahalliy miokard oqishi tufayli sun‘iy oshgan qiymat</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Markaziy yurak qonida mahalliy miokard oqishi sababli qiymatlar sun‘iy oshgan bo‘lishi mumkin. Shu sababli son qon ko‘proq afzal ko‘riladi, perikard suyuqligi esa ishonchli muqobil hisoblanadi.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Sacco MA va boshq., Post-Mortem Biomarkers in Sudden Cardiac Death: From Classical Biochemistry to Molecular Autopsy and Multi-Omics Forensic Approaches, PMID 41596321; DOI 10.3390/ijms27020670-bet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74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Qulash paytida o‘tkir ishemiya bo‘lganini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Troponin bilan birga kopeptinning yuqori bo‘lishi qulash paytida o‘tkir ishemiya bo‘lganini bildirgan. Bu o‘tkazib yuborilgan miokard infarkti tashxisini retrospektiv qayta tiklashga imkon beradi. Me‘yoriy qiymatlar esa shifokorni nohaq ayblovdan himoya qilishi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Sacco MA va boshq., Post-Mortem Biomarkers in Sudden Cardiac Death: From Classical Biochemistry to Molecular Autopsy and Multi-Omics Forensic Approaches, PMID 41596321; DOI 10.3390/ijms27020670-bet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75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Fibronektinga immunogistokimyoviy bo‘yash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Sarkolemma bo‘ylab fibronektin yig‘ilishi ishemik shikastning eng erta belgilaridan biri. U okklyuziyadan taxminan bir soat o‘tgach, H&amp;E hali manfiy bo‘lganda ham aniqlanadi. IL-6 esa nospetsifik bo‘lib, tashxis uchun yetarli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Sacco MA va boshq., Post-Mortem Biomarkers in Sudden Cardiac Death: From Classical Biochemistry to Molecular Autopsy and Multi-Omics Forensic Approaches, PMID 41596321; DOI 10.3390/ijms27020670-bet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76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Jarohat tirikligida, qon aylanishi faol paytda hosil bo‘lgan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Tomirdan tashqarida joylashgan eritrotsitlar (GPA musbat) jarohat qon aylanishi faol paytda hosil bo‘lganini, ya’ni hayotiyligini ko‘rsatadi. Manfiy natija esa o‘limdan keyingi jarohatni qo‘llab-quvvatlaydi. Maqolada GPA H&amp;E da ko‘rinmagan eritrotsitlarni ham aniqlagani qayd etilgan.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Donato Morena va boshq., Bloody Evidence: The Validity of Glycophorin A in the Determination of Wound Vitality—A Systematic Review of the Literature, PMID 40508117; DOI 10.3390/ijms26115308-bet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77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PRISMA hisobot yo‘riqnomasi (sistematik sharhlar uchun)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Sharh PRISMA yo‘riqnomasi bo‘yicha o‘tkazilgan. JBI vositalari faqat xatolik xavfini baholash uchun, Daubert mezonlari sudda dalilni baholash uchun, LSAB+ esa laboratoriya aniqlash tizimi sifatida tilga olingan.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Donato Morena va boshq., Bloody Evidence: The Validity of Glycophorin A in the Determination of Wound Vitality—A Systematic Review of the Literature, PMID 40508117; DOI 10.3390/ijms26115308-bet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78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66 foiz</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Faqat gistologiyaning aniqligi 66% bo‘lgan: 18% holatda qon quyilish bor edi-yu aniqlanmagan, 16% da natija noaniq. 18% – o‘tkazib yuborilgan holatlar ulushi, 48 – GPA bilan bo‘yalgan namunalar soni, 72,2% – tajribadagi ko‘karishlarda GPA musbatligi.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Donato Morena va boshq., Bloody Evidence: The Validity of Glycophorin A in the Determination of Wound Vitality—A Systematic Review of the Literature, PMID 40508117; DOI 10.3390/ijms26115308-bet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79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Bo‘yinda hayotiy qon quyilish, kuchli mexanik asfiksiya belgisi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Dastlabki jarohatlar GPA manfiy bo‘lgani uchun perimortem yoki postmortem hosil bo‘lgan deb baholandi. Bo‘yindagi musbatlik violent mexanik asfiksiyani ko‘rsatdi, shu sababli birinchi otopsiyadagi o‘z joniga qasd xulosasi o‘z kuchini yo‘qotdi.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Donato Morena va boshq., Bloody Evidence: The Validity of Glycophorin A in the Determination of Wound Vitality—A Systematic Review of the Literature, PMID 40508117; DOI 10.3390/ijms26115308-bet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80 / 81</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Eritroid prekursorlar bilan kross-reaksiya tufayli soxta musbat natija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Maqolaning cheklovlar bo‘limida soxta musbat natija GPA ning eritroid prekursorlarga boy to‘qimalarda (suyak iligi, ekstramedullyar qon yaratilish o‘choqlari) aniqlanishi bilan bog‘langan. Shuning uchun natijani to‘qima turi va qon quyilish bilan birga baholash kerak.</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Donato Morena va boshq., Bloody Evidence: The Validity of Glycophorin A in the Determination of Wound Vitality—A Systematic Review of the Literature, PMID 40508117; DOI 10.3390/ijms26115308-bet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Foydalanilgan manbalar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Gistologik usul tadqiqotining potentsiallari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81 / 81</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2000">
                <a:solidFill>
                  <a:srgbClr val="1F2937"/>
                </a:solidFill>
                <a:latin typeface="Calibri"/>
              </a:rPr>
              <a:t>▸  Sacco MA va boshq. Post-Mortem Biomarkers in Sudden Cardiac Death: From Classical Biochemistry to Molecular Autopsy and Multi-Omics Forensic Approaches, International Journal of Molecular Sciences. 2026. PMID 41596321; DOI 10.3390/ijms27020670</a:t>
            </a:r>
          </a:p>
          <a:p>
            <a:pPr>
              <a:spcAft>
                <a:spcPts val="1200"/>
              </a:spcAft>
            </a:pPr>
            <a:r>
              <a:rPr sz="2000">
                <a:solidFill>
                  <a:srgbClr val="1F2937"/>
                </a:solidFill>
                <a:latin typeface="Calibri"/>
              </a:rPr>
              <a:t>▸  Donato Morena va boshq. Bloody Evidence: The Validity of Glycophorin A in the Determination of Wound Vitality—A Systematic Review of the Literature, International Journal of Molecular Sciences. 2025. PMID 40508117; DOI 10.3390/ijms26115308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