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Nima uchun past haroratdan o‘lim deyarli doim baxtsiz hodisa deb baholanadi? 2) Umumiy va mahalliy ta’sirning farqi nimada? Doskada: ikki ustunli sxema chizing: umumiy (issiq urish, sovuq qotish) va mahalliy (kuyish, sovuq urish). Tipik xato: sovuq qotish va sovuq urishni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Issiqlikning eng ko‘p qismi qaysi yo‘l bilan chiqadi? 2) Nega harorat chegarasidan chiqish hayotga mos kelmaydi? Doskada: 36-37°S me’yor, 22-25°S va 43-44°S chegara qiymatlari bilan harorat shkalasini chizing. Tipik xato: pastki va yuqori kritik chegaralarni (22-25°S va 43-44°S) almashtirib yuborish.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Qaysi omillar tashqi, qaysilari ichki? 2) Ekspertizada bu omillarni nega aniqlash kerak? Doskada: tashqi va ichki omillar jadvalini talabalar bilan to‘ldiring. Eslatma: darslikka ko‘ra sovuq qotish ba’zan havo harorati +10°S gacha bo‘lganda ham uzoq vaqt qolib ketganda rivojlanishi mumkin. Tipik xato: sovuq qotishni faqat manfiy haroratda bo‘ladi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sovuq urishda umumiy harorat normal qoladi? 2) Qaysi holatda murdada urish belgilari topilishi mumkin? Doskada 3 ustunli jadvalni talabalar bilan birga chizing. Tipik xato: ikki holatni bir tushuncha deb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musbat haroratda ham sovuq qotish mumkin? 2) Sovuq suvda o‘lim nega tezroq? Doskada moyillik omillarini ikki ustunga (tashqi/ichki) ajratib yozdiring. Tipik xato: sovuq qotish faqat manfiy haroratda bo‘ladi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Nisbiy yuza kattaligi issiqlik yo‘qotishiga qanday ta’sir qiladi? 2) Bolalarda Vishnevskiy dog‘lari nega kam topiladi? Doskada ikki sababni strelkalar bilan chizdiring. Tipik xato: dog‘lar yo‘qligidan sovuq qotishni inkor etish.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Muhokama: 1) Nega alkogol bir vaqtning o‘zida issiqlik yo‘qotishini kuchaytiradi va himoya choralarini susaytiradi? 2) Mast odam murdasida poza belgisi bo‘lmasa, ekspert qanday xulosa qilishi kerak? Doskada chizish: alkogol → tomirlar kengayishi → issiqlik ajralishi ↑ va markaz buzilishi → sovuq qotish sxemasini chizdiring. Tipik xato: alkogol “isitadi” deb o‘ylash; aslida teri tomirlari kengayib, issiqlik yo‘qolishi ortadi.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Nima uchun suvda o‘lim muddati havodagiga qaraganda qisqa? 2) Suvga to‘satdan tushganda o‘lim sababi nega “sovuq qotish” emas? Doskada chizish: uch qatorli solishtirma jadvalni (havo / suv / to‘satdan tushish) chizdiring. Tipik xato: sovuq suvdagi barcha o‘limni chuqur gipotermiyadan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Nima uchun kompensatsiya davrida glikogen kamayadi? 2) Teri tomirlarining torayishi issiqlik balansiga qanday ta’sir qiladi? Doskada chizish: besh bosqichli zanjirni strelkalar bilan chizdiring va oxirida dekompensatsiyaga o‘tishni qo‘shing. Tipik xato: kompensatsiya bosqichini tana harorati pasaygan davr deb adashtirish; bu bosqichda harorat hali normada ushlanadi.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nega kompensator mexanizmlar tugagach harorat tushadi? Dekompensatsiyada qaysi alomatlar MNT buzilishini ko‘rsatadi (holsizlik, apatiya, uyquchanlik, alahsirash)? Doskada chizing: zanjirni strelkalar bilan, yoniga ‘1°S ↓ = jarayonlar ~2 marta sekin’ deb yozing. Tipik xato: qonda kislorod yetarli bo‘lsa gipoksiya bo‘lmaydi deb o‘ylash; aslida to‘qimalarda gipoksiya rivojlanadi.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nega o‘lim sababi bir xil emas (nafas to‘xtashi, kollaps, fibrillyasiya)? Jadvaldagi harorat oraliqlarini talabalar xotiradan tiklasin. Doskada chizing: uch ustunli jadvalni bo‘sh holda, talabalar to‘ldirsin. Tipik xato: +30...+28°S va +25...+22°S oraliqlarini almashtirib yuborish.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daqiqa. Muhokama: 1) Nega 32 °S dan pastda holat tez yomonlashadi? 2) G‘iyosov bosqichlari (+30…+22 °S) Simpson tasnifidan nimasi bilan farq qiladi? Doskaga chizing: harorat shkalasi. Tipik xato: gipotermiyani faqat manfiy haroratda deb o‘ylash.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daqiqa. Muhokama: 1) Nega titrashning to‘satdan to‘xtashi xavfli belgi? 2) Qaysi guruhlar ko‘proq xavf ostida? Doskaga chizing: uch ustunli darajalar jadvali. Tipik xato: tinch yotgan, titramayotgan odamni «sog‘lom» deb baholash.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Savollarni og‘zaki, juftlikda o‘tkazing. Muhokama: qaysi harorat oralig‘i qaysi bosqichga mos? Doskada chizing: harorat shkalasi (+30...+28 va +25...+22) va yoniga bosqich nomlarini. Tipik xato: gipoksiyani qonda kislorod yetishmasligi bilan tenglashtirish.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Talabalar omillarni tashqi va ichki guruhlarga ajratsin. 2) Nega mastlik xavfni oshiradi? Doskada ikki ustunli jadval (tashqi / ichki omillar) chizdiring. Tipik xato: sovuq qotishni faqat minus haroratga bog‘lash va alkogolning issiqlik yo‘qotishini kuchaytirishini unutish.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Poza nima uchun issiqlik yo‘qotishni kamaytiradi? 2) Poza yo‘q bo‘lsa, qanday boshqa belgilarga tayanamiz? Doskada bukilgan tana sxemasini chizdiring. Tipik xato: poza yo‘qligini sovuq qotish bo‘lmaganligi dalili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Rayskiy va Puparev belgilarini bir-biridan qanday farqlaysiz? 2) “G‘oz terisi” nima hisobiga paydo bo‘ladi? Doskada yuz sxemasi chizib, muz sumalaklari va qirov joylarini belgilatiring. Tipik xato: Rayskiy belgisini Puparev yoki Vishnevskiy belgilari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qor tagidagi muz qatlamini yagona dalil deb bo‘lmaydi? 2) Puparev belgisi qaysi hodisa bilan bog‘liq ko‘rinadi? Doskada: qorda yotgan tana va uning ostidagi erigan hamda qotgan qatlam sxemasini chizdiring. Tipik xato: muz qatlamini sovuq qotishning ishonchli isboti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Dog‘ rangi harorat sharoitiga qanday bog‘liq? 2) Nega rang qondagi kislorod bilan tushuntiriladi? Doskada: ikki ustunli jadvalni (musbat va manfiy harorat) talabalar bilan to‘ldiring. Tipik xato: sovuq qotishda dog‘lar har doim pushti-qizg‘ish bo‘ladi deb o‘ylash. Musbat haroratda ular ko‘kimtir-binafsha bo‘lishi mumkin.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Past haroratda murda sovishi va qotishi jadalligi qanday farqlanadi? 2) Qaysi holatda sovuq qotgan murdada I-II darajali sovuq urish topiladi? Doskada: sovish va qotish tezligini ikki strelka bilan (tez / kech va sust) belgilang. Tipik xato: sovuq qotishdan o‘limda har doim sovuq urish bo‘ladi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6-7 daqiqa. Muhokama: 1) Qaysi belgilar hayotiy ta’sirga dalolat beradi? 2) Nega qor ostidagi muz qatlamiga ishonib bo‘lmaydi? Doskada: tashqi belgilar ro‘yxatini ’spetsifik’ va ’spetsifik emas’ ustunlariga ajrating. Tipik xato: muz qatlamini sovuq qotishning aniq isboti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Nega qon qip-qizil rangda? 2) Puxnarevich belgisi nimani bildiradi? Doskada: jadvalni daftarga ko‘chirtiring va har belgiga bitta so‘z izoh yozdiring. Tipik xato: Puxnarevich belgisini Vishnevskiy dog‘lari bilan adashtirish.</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Muhokama: 1) Diapedez nima va nega paydo bo‘ladi? 2) Siydik qopi nega to‘ladi? Doskada: buyrak jomi va oshqozon sxemasini chizib, har biriga o‘z olimining nomini yozdiring. Tipik xato: Fabrikantov va Vishnevskiy belgilarini joylashuvi bo‘yicha adashtirish.</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nega bu belgi sovuq qotish diagnostikasida muhim hisoblanadi? O‘limdan 6-9 oy o‘tgach ham topilishi ekspert uchun nimani anglatadi? Doskada: oshqozon shilliq qavati burmalari va dog‘larning joylashuvini chizing. Qo‘shimcha: dog‘lar pichoqning orqa tomoni yoki suv oqimi bilan oson olinadi. Tipik xato: dog‘larni hayotiy bo‘lmagan oddiy murda o‘zgarishi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tomir spazmi nega nekrozga olib keladi? Dog‘lar rangi nega qizildan qo‘ng‘ir-jigar ranggacha o‘zgaradi? Doskada: 5 bosqichli zanjirni strelkalar bilan chizing. Qo‘shimcha: qon quyilish qizil, qo‘ng‘ir-qizg‘ish yoki jigar rangli bo‘lishi mumkin; xlorid kislota gemoglobindan nordon gematin hosil qiladi, ayniqsa oshqozonning kirish qismida. Tipik xato: diapedez bilan tomir yorilishini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dog‘larning yo‘qligi sovuq qotishni inkor etadimi? Chaqaloq murdasida bu belgiga tayanish nega xavfli? Doskada: o‘lim tezligi (tez – sekin) va dog‘lar miqdori o‘rtasidagi bog‘liqlikni ikki ustunli sxema qilib chizing. Tipik xato: dog‘lar yo‘qligini sovuq qotishdan o‘lim bo‘lmagan degan xulosa deb qabul qilish. Diqqat: tez o‘lim ≠ ko‘p dog‘.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daqiqa. Muhokama: 1) Nega Vishnevskiy dog‘lari yagona isbot emas? 2) Yalang‘och topilgan murda nimani anglatishi mumkin? Doskaga chizing: topilmalar daraxti. Tipik xato: yechingan murdani avtomatik jinoiy deb baholash.</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bu belgilarni bir-biridan farqlash muhim? 2) Qaysi belgi bo‘sh oshqozon bilan bog‘liq? Doskada 3 ustunli (olim – a’zo – topilma) jadval chizdiring. Tipik xato: Fabrikantov va Vishnevskiy belgilarini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tez o‘limda glikogen saqlanib qolishi mumkin? 2) Qaysi a’zolarda glikogen yo‘qolishi aytilgan? Doskada jadvalni ko‘chirtiring. Tipik xato: glikogen yo‘qolishini barcha holatda deb o‘ylash; qisqa o‘limda saqlanishi mumkin.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qon va siydikdagi alkogol miqdori farq qilishi mumkin? 2) Alkogol sovuq qotishga qanday moyillik yaratadi? Doskada ikki ustun chizing: qonda – past, siydikda – baland. Tipik xato: qondagi past alkogolni mastlik bo‘lmagan deb xulosa qilish.</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Nima uchun muzlash jarohatlari hayotiy shikastga o‘xshab ko‘rinishi mumkin? 2) Nega kallada o‘zgarish ko‘krak-qoringa qaraganda yaqqolroq? Doskada jadvalni chizdirib, har bir qatorni to‘ldirtiring. Tipik xato: muzlash jarohatini avtomatik hayotiy travma deb baholash.</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Nima uchun tez eritish ekspert uchun noqulay? 2) Gemoliz va imbibitsiya tashqi ko‘rinishni qanday o‘zgartirishi mumkin? Doskada zanjirni chizib, yo‘nalish o‘qlarini qo‘ying. Tipik xato: eritishni imkon qadar tez o‘tkazish maqbul deb o‘ylash.</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Kalla suyagi sinishi muzlash bilan tushuntirilishi mumkinmi? 2) Qanday qo‘shimcha ma’lumotlar (voqea tafsiloti, mikroskopiya) kerak? Doskada ‘muzlash’ va ‘hayotiy travma’ ustunlarini chizib, taxminiy belgilarni yozdiring. Tipik xato: faqat suyak sinishiga qarab zo‘ravonlik haqida xulosa chiqarish. Eslatma: darslikda farqlash zarurligi aytilgan, aniq mezonlar keltirilmagan.</a:t>
            </a:r>
          </a:p>
          <a:p/>
          <a:p>
            <a:r>
              <a:t>Tekshirish kerak (manbada noaniq):</a:t>
            </a:r>
          </a:p>
          <a:p>
            <a:r>
              <a:t>- Yo‘l: bo‘yin boshdan avval muzlaganmi, mikroskopda mayda yoriqlar va epidermis ajralishi bormi — tekshiring.</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nega sovuq urishda mahalliy qon aylanishining buzilishi past haroratning o‘zidan kam emas? Qaysi omillar (tor poyafzal, trofik o‘zgarishlar) moyillik yaratadi? Doskada: yashirin va reaktiv davr zanjirini chizing. Tipik xato: sovuq urish (mahalliy) bilan sovuq qotish (umumiy)ni aralashtirish; sovuq urishda tana harorati normal bo‘ladi.</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qaysi darajada terining o‘zi tiklanadi, qaysi darajada chandiq qoladi? Nega IV darajada infeksion asoratlar ko‘p? Doskada: jadvalni talabalar bilan birga to‘ldiring. Tipik xato: I va II darajani nekroz bilan bog‘lash; nekroz III darajadan boshlanadi.</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nega shifokor hujjatida maydon va harorat pasayishi qayd etilishi ekspert uchun muhim? Reperkussiya qanday ko‘rinadi? Doskada: uch mezonni (II-20%, III-15%, III-IV-10%) yozib, ketma-ketlikni ko‘rsating. Tipik xato: foizlarni daraja bilan almashtirib yuborish; chuqurroq daraja uchun maydon kichikroq.</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I, II va III darajali sovuq urishni nima bilan farqlaymiz? 2) Nega hujjatda voqea tafsiloti va mahalliy harorat pasayishi qayd etilishi kerak? Doskada: sovuq urishning to‘rt darajasini pog‘onali sxema qilib chizdiring, har biriga muddat va asosiy belgini yozing. Tipik xato: daraja yozilib, shikastlangan soha maydoni tushirib qoldiriladi.</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mast odamda xarakterli poza bo‘lmasligi mumkin? 2) Nega bolalarda Vishnevskiy dog‘lari ko‘pincha topilmaydi? Doskada: belgilarni ‘spetsifik’ va ‘nospetsifik’ deb ikki ustunga ajratib chizing. Tipik xato: qor tagidagi muz qatlamini sovuq qotishning ishonchli belgisi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Sovuq qotish va sovuq urish o‘rtasidagi asosiy farq nima? 2) Ekspert murdani ko‘zdan kechirganda qaysi belgilarni birinchi navbatda qayd etadi? Doskada: umumiy ta’sir (sovuq qotish) va mahalliy ta’sir (sovuq urish) uchun ikki shoxli sxema chizdiring. Tipik xato: o‘limdan keyingi muzlash o‘zgarishlarini hayotiy jarohat deb baholash.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Past harorat tufayli o'lim holatlarini sud-tibbiy ekspertizasi:</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Kirish: past harorat va sud-tibbiy ekspertiza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Past harorat tufayli o'lim holatlarini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42</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Yuqori va past haroratning umumiy ta’siri issiq urish yoki sovuq qotishga, mahalliy ta’siri esa kuyish yoki sovuq urishga olib keladi.</a:t>
            </a:r>
          </a:p>
          <a:p>
            <a:pPr>
              <a:spcAft>
                <a:spcPts val="1200"/>
              </a:spcAft>
            </a:pPr>
            <a:r>
              <a:rPr sz="2200">
                <a:solidFill>
                  <a:srgbClr val="1F2937"/>
                </a:solidFill>
                <a:latin typeface="Calibri"/>
              </a:rPr>
              <a:t>▸  Organizm yuqori haroratga nisbatan past haroratga chidamliroq hisoblanadi.</a:t>
            </a:r>
          </a:p>
          <a:p>
            <a:pPr>
              <a:spcAft>
                <a:spcPts val="1200"/>
              </a:spcAft>
            </a:pPr>
            <a:r>
              <a:rPr sz="2200">
                <a:solidFill>
                  <a:srgbClr val="1F2937"/>
                </a:solidFill>
                <a:latin typeface="Calibri"/>
              </a:rPr>
              <a:t>▸  Deyarli barcha holatlarda past haroratning organizmga ta’siri baxtsiz hodisa oqibatida ro‘y beradi.</a:t>
            </a:r>
          </a:p>
          <a:p>
            <a:pPr>
              <a:spcAft>
                <a:spcPts val="1200"/>
              </a:spcAft>
            </a:pPr>
            <a:r>
              <a:rPr sz="2200">
                <a:solidFill>
                  <a:srgbClr val="1F2937"/>
                </a:solidFill>
                <a:latin typeface="Calibri"/>
              </a:rPr>
              <a:t>▸  Diqqat: xato qilish xavfi! Sovuq qotish (butun tana) ≠ sovuq urish (tananing ayrim qismi). Sovuq urishda umumiy tana harorati me’yorida bo‘ladi.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183, 191, 195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Tana harorati va issiqlik ajralishi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Past harorat tufayli o'lim holatlarini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Normal sharoitda tana harorati 36-37°S oralig‘ida bo‘ladi.</a:t>
            </a:r>
          </a:p>
          <a:p>
            <a:pPr>
              <a:spcAft>
                <a:spcPts val="800"/>
              </a:spcAft>
            </a:pPr>
            <a:r>
              <a:rPr sz="1800">
                <a:solidFill>
                  <a:srgbClr val="1F2937"/>
                </a:solidFill>
                <a:latin typeface="Calibri"/>
              </a:rPr>
              <a:t>▸  22-25°S dan past yoki 43-44°S dan yuqori haroratda hayot bilan nomutanosib o‘zgarishlar sodir bo‘ladi.</a:t>
            </a:r>
          </a:p>
          <a:p>
            <a:pPr>
              <a:spcAft>
                <a:spcPts val="800"/>
              </a:spcAft>
            </a:pPr>
            <a:r>
              <a:rPr sz="1800">
                <a:solidFill>
                  <a:srgbClr val="1F2937"/>
                </a:solidFill>
                <a:latin typeface="Calibri"/>
              </a:rPr>
              <a:t>▸  Tana haroratining me’yordan ko‘tarilishi yoki pasayishi organizm faoliyatini buzadi.</a:t>
            </a:r>
          </a:p>
        </p:txBody>
      </p:sp>
      <p:sp>
        <p:nvSpPr>
          <p:cNvPr id="9" name="Rounded Rectangle 8"/>
          <p:cNvSpPr/>
          <p:nvPr/>
        </p:nvSpPr>
        <p:spPr>
          <a:xfrm>
            <a:off x="5440680" y="1417320"/>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Nurlanish</a:t>
            </a:r>
          </a:p>
          <a:p>
            <a:pPr algn="l">
              <a:spcAft>
                <a:spcPts val="100"/>
              </a:spcAft>
            </a:pPr>
            <a:r>
              <a:rPr sz="3000" b="1">
                <a:solidFill>
                  <a:srgbClr val="0B1F3A"/>
                </a:solidFill>
                <a:latin typeface="Calibri"/>
              </a:rPr>
              <a:t>55 %</a:t>
            </a:r>
          </a:p>
        </p:txBody>
      </p:sp>
      <p:sp>
        <p:nvSpPr>
          <p:cNvPr id="12" name="Rounded Rectangle 11"/>
          <p:cNvSpPr/>
          <p:nvPr/>
        </p:nvSpPr>
        <p:spPr>
          <a:xfrm>
            <a:off x="8578443" y="1417320"/>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78443" y="1508760"/>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8171" y="1417320"/>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Ter bilan</a:t>
            </a:r>
          </a:p>
          <a:p>
            <a:pPr algn="l">
              <a:spcAft>
                <a:spcPts val="100"/>
              </a:spcAft>
            </a:pPr>
            <a:r>
              <a:rPr sz="3000" b="1">
                <a:solidFill>
                  <a:srgbClr val="0B1F3A"/>
                </a:solidFill>
                <a:latin typeface="Calibri"/>
              </a:rPr>
              <a:t>27 %</a:t>
            </a:r>
          </a:p>
        </p:txBody>
      </p:sp>
      <p:sp>
        <p:nvSpPr>
          <p:cNvPr id="15" name="Rounded Rectangle 14"/>
          <p:cNvSpPr/>
          <p:nvPr/>
        </p:nvSpPr>
        <p:spPr>
          <a:xfrm>
            <a:off x="5440680" y="2807208"/>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40680" y="2898648"/>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50408" y="2807208"/>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O‘tkazish</a:t>
            </a:r>
          </a:p>
          <a:p>
            <a:pPr algn="l">
              <a:spcAft>
                <a:spcPts val="100"/>
              </a:spcAft>
            </a:pPr>
            <a:r>
              <a:rPr sz="3000" b="1">
                <a:solidFill>
                  <a:srgbClr val="0B1F3A"/>
                </a:solidFill>
                <a:latin typeface="Calibri"/>
              </a:rPr>
              <a:t>15 %</a:t>
            </a:r>
          </a:p>
        </p:txBody>
      </p:sp>
      <p:sp>
        <p:nvSpPr>
          <p:cNvPr id="18" name="Rounded Rectangle 17"/>
          <p:cNvSpPr/>
          <p:nvPr/>
        </p:nvSpPr>
        <p:spPr>
          <a:xfrm>
            <a:off x="8578443" y="2807208"/>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78443" y="2898648"/>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8171" y="2807208"/>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Turli ajratmalar</a:t>
            </a:r>
          </a:p>
          <a:p>
            <a:pPr algn="l">
              <a:spcAft>
                <a:spcPts val="100"/>
              </a:spcAft>
            </a:pPr>
            <a:r>
              <a:rPr sz="3000" b="1">
                <a:solidFill>
                  <a:srgbClr val="0B1F3A"/>
                </a:solidFill>
                <a:latin typeface="Calibri"/>
              </a:rPr>
              <a:t>3 %</a:t>
            </a:r>
          </a:p>
        </p:txBody>
      </p:sp>
      <p:sp>
        <p:nvSpPr>
          <p:cNvPr id="21" name="Rounded Rectangle 20"/>
          <p:cNvSpPr/>
          <p:nvPr/>
        </p:nvSpPr>
        <p:spPr>
          <a:xfrm>
            <a:off x="5440680" y="4197096"/>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40680" y="4288536"/>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550408" y="4197096"/>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Normal tana harorati</a:t>
            </a:r>
          </a:p>
          <a:p>
            <a:pPr algn="l">
              <a:spcAft>
                <a:spcPts val="100"/>
              </a:spcAft>
            </a:pPr>
            <a:r>
              <a:rPr sz="3000" b="1">
                <a:solidFill>
                  <a:srgbClr val="0B1F3A"/>
                </a:solidFill>
                <a:latin typeface="Calibri"/>
              </a:rPr>
              <a:t>36–37 °S</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Issiqlik ajralish yo‘llari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183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Past haroratga moyillik omillari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Past harorat tufayli o'lim holatlarini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Past harorat, yuqori namlik va shamol past haroratning ta’sirini kuchaytiradi.</a:t>
            </a:r>
          </a:p>
          <a:p>
            <a:pPr>
              <a:spcAft>
                <a:spcPts val="800"/>
              </a:spcAft>
            </a:pPr>
            <a:r>
              <a:rPr sz="1800">
                <a:solidFill>
                  <a:srgbClr val="1F2937"/>
                </a:solidFill>
                <a:latin typeface="Calibri"/>
              </a:rPr>
              <a:t>▸  Bolalar va keksalar past haroratning ta’siriga ancha sezgir bo‘ladi.</a:t>
            </a:r>
          </a:p>
          <a:p>
            <a:pPr>
              <a:spcAft>
                <a:spcPts val="800"/>
              </a:spcAft>
            </a:pPr>
            <a:r>
              <a:rPr sz="1800">
                <a:solidFill>
                  <a:srgbClr val="1F2937"/>
                </a:solidFill>
                <a:latin typeface="Calibri"/>
              </a:rPr>
              <a:t>▸  Deyarli barcha holatlarda sovuq ta’siri baxtsiz hodisa oqibatida ro‘y beradi.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Moyillik omillari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Tashqi omillar</a:t>
            </a:r>
          </a:p>
          <a:p>
            <a:pPr algn="l">
              <a:spcAft>
                <a:spcPts val="0"/>
              </a:spcAft>
            </a:pPr>
            <a:r>
              <a:rPr sz="1200" b="0">
                <a:solidFill>
                  <a:srgbClr val="1F2937"/>
                </a:solidFill>
                <a:latin typeface="Calibri"/>
              </a:rPr>
              <a:t>Past harorat  ·  Yuqori namlik, shamol</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Ichki: holat</a:t>
            </a:r>
          </a:p>
          <a:p>
            <a:pPr algn="l">
              <a:spcAft>
                <a:spcPts val="0"/>
              </a:spcAft>
            </a:pPr>
            <a:r>
              <a:rPr sz="1200" b="0">
                <a:solidFill>
                  <a:srgbClr val="1F2937"/>
                </a:solidFill>
                <a:latin typeface="Calibri"/>
              </a:rPr>
              <a:t>Charchoq, ochlik  ·  Kasallik, gipodinamiya</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Ichki: kiyim, modda</a:t>
            </a:r>
          </a:p>
          <a:p>
            <a:pPr algn="l">
              <a:spcAft>
                <a:spcPts val="0"/>
              </a:spcAft>
            </a:pPr>
            <a:r>
              <a:rPr sz="1200" b="0">
                <a:solidFill>
                  <a:srgbClr val="1F2937"/>
                </a:solidFill>
                <a:latin typeface="Calibri"/>
              </a:rPr>
              <a:t>Mavsumga mos emas kiyim  ·  Alkogol mastligi</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Sezgir yosh</a:t>
            </a:r>
          </a:p>
          <a:p>
            <a:pPr algn="l">
              <a:spcAft>
                <a:spcPts val="0"/>
              </a:spcAft>
            </a:pPr>
            <a:r>
              <a:rPr sz="1200" b="0">
                <a:solidFill>
                  <a:srgbClr val="1F2937"/>
                </a:solidFill>
                <a:latin typeface="Calibri"/>
              </a:rPr>
              <a:t>Bolalar va keksalar</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Sovuq qotishga moyillik</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191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Sovuq qotish va sovuq urish: farqi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Past harorat tufayli o'lim holatlarini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Past haroratning umumiy ta’siri sovuq qotishga, mahalliy ta’siri esa sovuq urishga olib keladi.</a:t>
            </a:r>
          </a:p>
          <a:p>
            <a:pPr>
              <a:spcAft>
                <a:spcPts val="800"/>
              </a:spcAft>
            </a:pPr>
            <a:r>
              <a:rPr sz="1800">
                <a:solidFill>
                  <a:srgbClr val="1F2937"/>
                </a:solidFill>
                <a:latin typeface="Calibri"/>
              </a:rPr>
              <a:t>▸  Diqqat: sovuq qotish ≠ sovuq urish. Urishda umumiy harorat normal bo‘lib, faqat bir soha sovuydi.</a:t>
            </a:r>
          </a:p>
          <a:p>
            <a:pPr>
              <a:spcAft>
                <a:spcPts val="800"/>
              </a:spcAft>
            </a:pPr>
            <a:r>
              <a:rPr sz="1800">
                <a:solidFill>
                  <a:srgbClr val="1F2937"/>
                </a:solidFill>
                <a:latin typeface="Calibri"/>
              </a:rPr>
              <a:t>▸  Sovuq qotishdan o‘lgan murdada mahalliy sovuq urish belgilari odatda bo‘lmaydi.</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Sovuq qotish</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Umumiy ta’sir (butun organizm)</a:t>
            </a:r>
          </a:p>
          <a:p>
            <a:pPr algn="l">
              <a:spcAft>
                <a:spcPts val="700"/>
              </a:spcAft>
            </a:pPr>
            <a:r>
              <a:rPr sz="1500" b="1">
                <a:solidFill>
                  <a:srgbClr val="C9A227"/>
                </a:solidFill>
                <a:latin typeface="Calibri"/>
              </a:rPr>
              <a:t>●  </a:t>
            </a:r>
            <a:r>
              <a:rPr sz="1500" b="0">
                <a:solidFill>
                  <a:srgbClr val="1F2937"/>
                </a:solidFill>
                <a:latin typeface="Calibri"/>
              </a:rPr>
              <a:t>Butun tana harorati pasayadi</a:t>
            </a:r>
          </a:p>
          <a:p>
            <a:pPr algn="l">
              <a:spcAft>
                <a:spcPts val="700"/>
              </a:spcAft>
            </a:pPr>
            <a:r>
              <a:rPr sz="1500" b="1">
                <a:solidFill>
                  <a:srgbClr val="C9A227"/>
                </a:solidFill>
                <a:latin typeface="Calibri"/>
              </a:rPr>
              <a:t>●  </a:t>
            </a:r>
            <a:r>
              <a:rPr sz="1500" b="0">
                <a:solidFill>
                  <a:srgbClr val="1F2937"/>
                </a:solidFill>
                <a:latin typeface="Calibri"/>
              </a:rPr>
              <a:t>Kompensatsiya, dekompensatsiya</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Sovuq urish</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Mahalliy ta’sir (tananing bir qismi)</a:t>
            </a:r>
          </a:p>
          <a:p>
            <a:pPr algn="l">
              <a:spcAft>
                <a:spcPts val="700"/>
              </a:spcAft>
            </a:pPr>
            <a:r>
              <a:rPr sz="1500" b="1">
                <a:solidFill>
                  <a:srgbClr val="C9A227"/>
                </a:solidFill>
                <a:latin typeface="Calibri"/>
              </a:rPr>
              <a:t>●  </a:t>
            </a:r>
            <a:r>
              <a:rPr sz="1500" b="0">
                <a:solidFill>
                  <a:srgbClr val="1F2937"/>
                </a:solidFill>
                <a:latin typeface="Calibri"/>
              </a:rPr>
              <a:t>Umumiy harorat normal, soha sovuydi</a:t>
            </a:r>
          </a:p>
          <a:p>
            <a:pPr algn="l">
              <a:spcAft>
                <a:spcPts val="700"/>
              </a:spcAft>
            </a:pPr>
            <a:r>
              <a:rPr sz="1500" b="1">
                <a:solidFill>
                  <a:srgbClr val="C9A227"/>
                </a:solidFill>
                <a:latin typeface="Calibri"/>
              </a:rPr>
              <a:t>●  </a:t>
            </a:r>
            <a:r>
              <a:rPr sz="1500" b="0">
                <a:solidFill>
                  <a:srgbClr val="1F2937"/>
                </a:solidFill>
                <a:latin typeface="Calibri"/>
              </a:rPr>
              <a:t>Qo‘l-oyoq uchlari, quloq, burun, yonoq</a:t>
            </a:r>
          </a:p>
          <a:p>
            <a:pPr algn="l">
              <a:spcAft>
                <a:spcPts val="700"/>
              </a:spcAft>
            </a:pPr>
            <a:r>
              <a:rPr sz="1500" b="1">
                <a:solidFill>
                  <a:srgbClr val="C9A227"/>
                </a:solidFill>
                <a:latin typeface="Calibri"/>
              </a:rPr>
              <a:t>●  </a:t>
            </a:r>
            <a:r>
              <a:rPr sz="1500" b="0">
                <a:solidFill>
                  <a:srgbClr val="1F2937"/>
                </a:solidFill>
                <a:latin typeface="Calibri"/>
              </a:rPr>
              <a:t>Yashirin va reaktiv davr; 4 daraja</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Umumiy va mahalliy ta’sir</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183, 191, 195, 193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Sovuq qotish: tushuncha va sharoitlar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Past harorat tufayli o'lim holatlarini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Past haroratning ma’lum vaqt ta’siri termoregulyatsiya mexanizmlarini buzadi va tana haroratini pasaytiradi.</a:t>
            </a:r>
          </a:p>
          <a:p>
            <a:pPr>
              <a:spcAft>
                <a:spcPts val="800"/>
              </a:spcAft>
            </a:pPr>
            <a:r>
              <a:rPr sz="1800">
                <a:solidFill>
                  <a:srgbClr val="1F2937"/>
                </a:solidFill>
                <a:latin typeface="Calibri"/>
              </a:rPr>
              <a:t>▸  Yuqori namlik, kuchli shamol, mavsumga mos bo‘lmagan kiyim, harakatsizlik, charchoq va mastlik moyillik yaratadi.</a:t>
            </a:r>
          </a:p>
          <a:p>
            <a:pPr>
              <a:spcAft>
                <a:spcPts val="800"/>
              </a:spcAft>
            </a:pPr>
            <a:r>
              <a:rPr sz="1800">
                <a:solidFill>
                  <a:srgbClr val="1F2937"/>
                </a:solidFill>
                <a:latin typeface="Calibri"/>
              </a:rPr>
              <a:t>▸  Sovuq qotish uchun manfiy harorat xos, lekin +10°S gacha bo‘lgan havoda uzoq qolganda ham rivojlanishi mumkin.</a:t>
            </a:r>
          </a:p>
          <a:p>
            <a:pPr>
              <a:spcAft>
                <a:spcPts val="800"/>
              </a:spcAft>
            </a:pPr>
            <a:r>
              <a:rPr sz="1800">
                <a:solidFill>
                  <a:srgbClr val="1F2937"/>
                </a:solidFill>
                <a:latin typeface="Calibri"/>
              </a:rPr>
              <a:t>▸  O‘lim odatda bir necha soat ta’siridan keyin, sovuq suvda esa taxminan 1–1,5 soatda sodir bo‘ladi.</a:t>
            </a:r>
          </a:p>
        </p:txBody>
      </p:sp>
      <p:sp>
        <p:nvSpPr>
          <p:cNvPr id="9" name="Rounded Rectangle 8"/>
          <p:cNvSpPr/>
          <p:nvPr/>
        </p:nvSpPr>
        <p:spPr>
          <a:xfrm>
            <a:off x="5440680" y="1417320"/>
            <a:ext cx="1927250"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1817522"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Rivojlanishi mumkin</a:t>
            </a:r>
          </a:p>
          <a:p>
            <a:pPr algn="l">
              <a:spcAft>
                <a:spcPts val="100"/>
              </a:spcAft>
            </a:pPr>
            <a:r>
              <a:rPr sz="2300" b="1">
                <a:solidFill>
                  <a:srgbClr val="0B1F3A"/>
                </a:solidFill>
                <a:latin typeface="Calibri"/>
              </a:rPr>
              <a:t>+10 °S gacha</a:t>
            </a:r>
          </a:p>
        </p:txBody>
      </p:sp>
      <p:sp>
        <p:nvSpPr>
          <p:cNvPr id="12" name="Rounded Rectangle 11"/>
          <p:cNvSpPr/>
          <p:nvPr/>
        </p:nvSpPr>
        <p:spPr>
          <a:xfrm>
            <a:off x="7532522" y="1417320"/>
            <a:ext cx="1927250"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32522"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42250" y="1417320"/>
            <a:ext cx="1817522"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Sovuq suvda o‘lim</a:t>
            </a:r>
          </a:p>
          <a:p>
            <a:pPr algn="l">
              <a:spcAft>
                <a:spcPts val="100"/>
              </a:spcAft>
            </a:pPr>
            <a:r>
              <a:rPr sz="2300" b="1">
                <a:solidFill>
                  <a:srgbClr val="0B1F3A"/>
                </a:solidFill>
                <a:latin typeface="Calibri"/>
              </a:rPr>
              <a:t>1–1,5 soat</a:t>
            </a:r>
          </a:p>
        </p:txBody>
      </p:sp>
      <p:sp>
        <p:nvSpPr>
          <p:cNvPr id="15" name="Rounded Rectangle 14"/>
          <p:cNvSpPr/>
          <p:nvPr/>
        </p:nvSpPr>
        <p:spPr>
          <a:xfrm>
            <a:off x="9624364" y="1417320"/>
            <a:ext cx="1927250"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624364"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34092" y="1417320"/>
            <a:ext cx="1817522"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Havoda o‘lim</a:t>
            </a:r>
          </a:p>
          <a:p>
            <a:pPr algn="l">
              <a:spcAft>
                <a:spcPts val="100"/>
              </a:spcAft>
            </a:pPr>
            <a:r>
              <a:rPr sz="2300" b="1">
                <a:solidFill>
                  <a:srgbClr val="0B1F3A"/>
                </a:solidFill>
                <a:latin typeface="Calibri"/>
              </a:rPr>
              <a:t>bir necha soat</a:t>
            </a:r>
          </a:p>
        </p:txBody>
      </p:sp>
      <p:sp>
        <p:nvSpPr>
          <p:cNvPr id="18" name="TextBox 17"/>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Sovuq qotish sharoitlari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191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Bolalar va yangi tug‘ilgan go‘daklar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Past harorat tufayli o'lim holatlarini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42</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Kichik yoshdagi bolalar, ayniqsa yangi tug‘ilgan go‘daklar past haroratga o‘ta sezgir bo‘ladi. Keksalar ham ancha sezgir.</a:t>
            </a:r>
          </a:p>
          <a:p>
            <a:pPr>
              <a:spcAft>
                <a:spcPts val="1200"/>
              </a:spcAft>
            </a:pPr>
            <a:r>
              <a:rPr sz="2200">
                <a:solidFill>
                  <a:srgbClr val="1F2937"/>
                </a:solidFill>
                <a:latin typeface="Calibri"/>
              </a:rPr>
              <a:t>▸  Birinchi sabab: termoregulyatsiya mexanizmlari to‘liq shakllanmagan.</a:t>
            </a:r>
          </a:p>
          <a:p>
            <a:pPr>
              <a:spcAft>
                <a:spcPts val="1200"/>
              </a:spcAft>
            </a:pPr>
            <a:r>
              <a:rPr sz="2200">
                <a:solidFill>
                  <a:srgbClr val="1F2937"/>
                </a:solidFill>
                <a:latin typeface="Calibri"/>
              </a:rPr>
              <a:t>▸  Ikkinchi sabab: tananing nisbiy yuzasi (massaga nisbatan) katta, shuning uchun issiqlik tez yo‘qoladi.</a:t>
            </a:r>
          </a:p>
          <a:p>
            <a:pPr>
              <a:spcAft>
                <a:spcPts val="1200"/>
              </a:spcAft>
            </a:pPr>
            <a:r>
              <a:rPr sz="2200">
                <a:solidFill>
                  <a:srgbClr val="1F2937"/>
                </a:solidFill>
                <a:latin typeface="Calibri"/>
              </a:rPr>
              <a:t>▸  Tez o‘limda S.M.Vishnevskiy dog‘lari (oshqozondagi mayda qon quyilishlar) kam bo‘ladi, shuning uchun bolalarda ko‘pincha topilmaydi.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191, 193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Alkogol mastligining roli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Past harorat tufayli o'lim holatlarini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42</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Spirtli ichimlik teri qon tomirlarini kengaytiradi. Shu sababli tanadan issiqlik ajralishi yanada kuchayadi.</a:t>
            </a:r>
          </a:p>
          <a:p>
            <a:pPr>
              <a:spcAft>
                <a:spcPts val="1200"/>
              </a:spcAft>
            </a:pPr>
            <a:r>
              <a:rPr sz="2200">
                <a:solidFill>
                  <a:srgbClr val="1F2937"/>
                </a:solidFill>
                <a:latin typeface="Calibri"/>
              </a:rPr>
              <a:t>▸  Mast odam vaziyatni to‘g‘ri baholay olmaydi va sovuq qotishdan himoyalanish choralarini ko‘rmaydi.</a:t>
            </a:r>
          </a:p>
          <a:p>
            <a:pPr>
              <a:spcAft>
                <a:spcPts val="1200"/>
              </a:spcAft>
            </a:pPr>
            <a:r>
              <a:rPr sz="2200">
                <a:solidFill>
                  <a:srgbClr val="1F2937"/>
                </a:solidFill>
                <a:latin typeface="Calibri"/>
              </a:rPr>
              <a:t>▸  Ko‘p miqdorda qabul qilingan alkogol termoregulyatsiya (issiqlikni boshqarish) markazlari faoliyatini buzadi.</a:t>
            </a:r>
          </a:p>
          <a:p>
            <a:pPr>
              <a:spcAft>
                <a:spcPts val="1200"/>
              </a:spcAft>
            </a:pPr>
            <a:r>
              <a:rPr sz="2200">
                <a:solidFill>
                  <a:srgbClr val="1F2937"/>
                </a:solidFill>
                <a:latin typeface="Calibri"/>
              </a:rPr>
              <a:t>▸  Diqqat: kuchli mastlikda tana “sovuq qotgan odam pozasi”da bo‘lmasligi mumkin. Poza yo‘qligi sovuq ta’sirini inkor etmaydi.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191, 192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Sovuq suvda va havoda o‘lim muddati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Past harorat tufayli o'lim holatlarini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42</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Havoda sovuq qotishdan o‘lim odatda bir necha soat, ba’zan undan ko‘proq vaqtdan keyin sodir bo‘ladi.</a:t>
            </a:r>
          </a:p>
          <a:p>
            <a:pPr>
              <a:spcAft>
                <a:spcPts val="800"/>
              </a:spcAft>
            </a:pPr>
            <a:r>
              <a:rPr sz="1800">
                <a:solidFill>
                  <a:srgbClr val="1F2937"/>
                </a:solidFill>
                <a:latin typeface="Calibri"/>
              </a:rPr>
              <a:t>▸  Sovuq suvda bu muddat ancha qisqa — 1–1,5 soat.</a:t>
            </a:r>
          </a:p>
          <a:p>
            <a:pPr>
              <a:spcAft>
                <a:spcPts val="800"/>
              </a:spcAft>
            </a:pPr>
            <a:r>
              <a:rPr sz="1800">
                <a:solidFill>
                  <a:srgbClr val="1F2937"/>
                </a:solidFill>
                <a:latin typeface="Calibri"/>
              </a:rPr>
              <a:t>▸  To‘satdan sovuq suvga tushganda o‘lim chuqur gipotermiyadan oldin, kollaps yoki shokdan bo‘lishi mumkin.</a:t>
            </a:r>
          </a:p>
        </p:txBody>
      </p:sp>
      <p:graphicFrame>
        <p:nvGraphicFramePr>
          <p:cNvPr id="9" name="Table 8"/>
          <p:cNvGraphicFramePr>
            <a:graphicFrameLocks noGrp="1"/>
          </p:cNvGraphicFramePr>
          <p:nvPr/>
        </p:nvGraphicFramePr>
        <p:xfrm>
          <a:off x="6263640" y="1463040"/>
          <a:ext cx="5287974" cy="3072384"/>
        </p:xfrm>
        <a:graphic>
          <a:graphicData uri="http://schemas.openxmlformats.org/drawingml/2006/table">
            <a:tbl>
              <a:tblPr firstRow="1" bandRow="1">
                <a:tableStyleId>{5C22544A-7EE6-4342-B048-85BDC9FD1C3A}</a:tableStyleId>
              </a:tblPr>
              <a:tblGrid>
                <a:gridCol w="1413284"/>
                <a:gridCol w="1927859"/>
                <a:gridCol w="1946831"/>
              </a:tblGrid>
              <a:tr h="768096">
                <a:tc>
                  <a:txBody>
                    <a:bodyPr/>
                    <a:lstStyle/>
                    <a:p>
                      <a:r>
                        <a:rPr sz="1600" b="1">
                          <a:solidFill>
                            <a:srgbClr val="FFFFFF"/>
                          </a:solidFill>
                        </a:rPr>
                        <a:t>Muhit</a:t>
                      </a:r>
                    </a:p>
                  </a:txBody>
                  <a:tcPr marL="73152" marR="73152" marT="36576" marB="36576">
                    <a:solidFill>
                      <a:srgbClr val="0B1F3A"/>
                    </a:solidFill>
                  </a:tcPr>
                </a:tc>
                <a:tc>
                  <a:txBody>
                    <a:bodyPr/>
                    <a:lstStyle/>
                    <a:p>
                      <a:r>
                        <a:rPr sz="1600" b="1">
                          <a:solidFill>
                            <a:srgbClr val="FFFFFF"/>
                          </a:solidFill>
                        </a:rPr>
                        <a:t>Muddat</a:t>
                      </a:r>
                    </a:p>
                  </a:txBody>
                  <a:tcPr marL="73152" marR="73152" marT="36576" marB="36576">
                    <a:solidFill>
                      <a:srgbClr val="0B1F3A"/>
                    </a:solidFill>
                  </a:tcPr>
                </a:tc>
                <a:tc>
                  <a:txBody>
                    <a:bodyPr/>
                    <a:lstStyle/>
                    <a:p>
                      <a:r>
                        <a:rPr sz="1600" b="1">
                          <a:solidFill>
                            <a:srgbClr val="FFFFFF"/>
                          </a:solidFill>
                        </a:rPr>
                        <a:t>Sabab</a:t>
                      </a:r>
                    </a:p>
                  </a:txBody>
                  <a:tcPr marL="73152" marR="73152" marT="36576" marB="36576">
                    <a:solidFill>
                      <a:srgbClr val="0B1F3A"/>
                    </a:solidFill>
                  </a:tcPr>
                </a:tc>
              </a:tr>
              <a:tr h="768096">
                <a:tc>
                  <a:txBody>
                    <a:bodyPr/>
                    <a:lstStyle/>
                    <a:p>
                      <a:r>
                        <a:rPr sz="1500" b="0">
                          <a:solidFill>
                            <a:srgbClr val="1F2937"/>
                          </a:solidFill>
                        </a:rPr>
                        <a:t>Sovuq havo</a:t>
                      </a:r>
                    </a:p>
                  </a:txBody>
                  <a:tcPr marL="73152" marR="73152" marT="36576" marB="36576">
                    <a:solidFill>
                      <a:srgbClr val="E8EEF6"/>
                    </a:solidFill>
                  </a:tcPr>
                </a:tc>
                <a:tc>
                  <a:txBody>
                    <a:bodyPr/>
                    <a:lstStyle/>
                    <a:p>
                      <a:r>
                        <a:rPr sz="1500" b="0">
                          <a:solidFill>
                            <a:srgbClr val="1F2937"/>
                          </a:solidFill>
                        </a:rPr>
                        <a:t>Bir necha soat va undan ko‘p</a:t>
                      </a:r>
                    </a:p>
                  </a:txBody>
                  <a:tcPr marL="73152" marR="73152" marT="36576" marB="36576">
                    <a:solidFill>
                      <a:srgbClr val="E8EEF6"/>
                    </a:solidFill>
                  </a:tcPr>
                </a:tc>
                <a:tc>
                  <a:txBody>
                    <a:bodyPr/>
                    <a:lstStyle/>
                    <a:p>
                      <a:r>
                        <a:rPr sz="1500" b="0">
                          <a:solidFill>
                            <a:srgbClr val="1F2937"/>
                          </a:solidFill>
                        </a:rPr>
                        <a:t>Sovuq qotish</a:t>
                      </a:r>
                    </a:p>
                  </a:txBody>
                  <a:tcPr marL="73152" marR="73152" marT="36576" marB="36576">
                    <a:solidFill>
                      <a:srgbClr val="E8EEF6"/>
                    </a:solidFill>
                  </a:tcPr>
                </a:tc>
              </a:tr>
              <a:tr h="768096">
                <a:tc>
                  <a:txBody>
                    <a:bodyPr/>
                    <a:lstStyle/>
                    <a:p>
                      <a:r>
                        <a:rPr sz="1500" b="0">
                          <a:solidFill>
                            <a:srgbClr val="1F2937"/>
                          </a:solidFill>
                        </a:rPr>
                        <a:t>Sovuq suv</a:t>
                      </a:r>
                    </a:p>
                  </a:txBody>
                  <a:tcPr marL="73152" marR="73152" marT="36576" marB="36576">
                    <a:solidFill>
                      <a:srgbClr val="FFFFFF"/>
                    </a:solidFill>
                  </a:tcPr>
                </a:tc>
                <a:tc>
                  <a:txBody>
                    <a:bodyPr/>
                    <a:lstStyle/>
                    <a:p>
                      <a:r>
                        <a:rPr sz="1500" b="0">
                          <a:solidFill>
                            <a:srgbClr val="1F2937"/>
                          </a:solidFill>
                        </a:rPr>
                        <a:t>1–1,5 soat</a:t>
                      </a:r>
                    </a:p>
                  </a:txBody>
                  <a:tcPr marL="73152" marR="73152" marT="36576" marB="36576">
                    <a:solidFill>
                      <a:srgbClr val="FFFFFF"/>
                    </a:solidFill>
                  </a:tcPr>
                </a:tc>
                <a:tc>
                  <a:txBody>
                    <a:bodyPr/>
                    <a:lstStyle/>
                    <a:p>
                      <a:r>
                        <a:rPr sz="1500" b="0">
                          <a:solidFill>
                            <a:srgbClr val="1F2937"/>
                          </a:solidFill>
                        </a:rPr>
                        <a:t>Sovuq qotish, qisqa muddatda</a:t>
                      </a:r>
                    </a:p>
                  </a:txBody>
                  <a:tcPr marL="73152" marR="73152" marT="36576" marB="36576">
                    <a:solidFill>
                      <a:srgbClr val="FFFFFF"/>
                    </a:solidFill>
                  </a:tcPr>
                </a:tc>
              </a:tr>
              <a:tr h="768096">
                <a:tc>
                  <a:txBody>
                    <a:bodyPr/>
                    <a:lstStyle/>
                    <a:p>
                      <a:r>
                        <a:rPr sz="1500" b="0">
                          <a:solidFill>
                            <a:srgbClr val="1F2937"/>
                          </a:solidFill>
                        </a:rPr>
                        <a:t>To‘satdan suvga tushish</a:t>
                      </a:r>
                    </a:p>
                  </a:txBody>
                  <a:tcPr marL="73152" marR="73152" marT="36576" marB="36576">
                    <a:solidFill>
                      <a:srgbClr val="E8EEF6"/>
                    </a:solidFill>
                  </a:tcPr>
                </a:tc>
                <a:tc>
                  <a:txBody>
                    <a:bodyPr/>
                    <a:lstStyle/>
                    <a:p>
                      <a:r>
                        <a:rPr sz="1500" b="0">
                          <a:solidFill>
                            <a:srgbClr val="1F2937"/>
                          </a:solidFill>
                        </a:rPr>
                        <a:t>Gipotermiyadan oldin</a:t>
                      </a:r>
                    </a:p>
                  </a:txBody>
                  <a:tcPr marL="73152" marR="73152" marT="36576" marB="36576">
                    <a:solidFill>
                      <a:srgbClr val="E8EEF6"/>
                    </a:solidFill>
                  </a:tcPr>
                </a:tc>
                <a:tc>
                  <a:txBody>
                    <a:bodyPr/>
                    <a:lstStyle/>
                    <a:p>
                      <a:r>
                        <a:rPr sz="1500" b="0">
                          <a:solidFill>
                            <a:srgbClr val="1F2937"/>
                          </a:solidFill>
                        </a:rPr>
                        <a:t>Qon tomir kollapsi yoki sovuq shok</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Muhit va o‘lim muddati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191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Birinchi bosqich: kompensatsiya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Past harorat tufayli o'lim holatlarini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42</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Dastlab organizm kompensator mexanizmlarni ishga solib, tana haroratini normada ushlashga urinadi.</a:t>
            </a:r>
          </a:p>
          <a:p>
            <a:pPr>
              <a:spcAft>
                <a:spcPts val="800"/>
              </a:spcAft>
            </a:pPr>
            <a:r>
              <a:rPr sz="1800">
                <a:solidFill>
                  <a:srgbClr val="1F2937"/>
                </a:solidFill>
                <a:latin typeface="Calibri"/>
              </a:rPr>
              <a:t>▸  Issiqlik ko‘proq ishlab chiqarilishi uchun organizmning barcha tizimlari funksiyasi jadallashadi.</a:t>
            </a:r>
          </a:p>
          <a:p>
            <a:pPr>
              <a:spcAft>
                <a:spcPts val="800"/>
              </a:spcAft>
            </a:pPr>
            <a:r>
              <a:rPr sz="1800">
                <a:solidFill>
                  <a:srgbClr val="1F2937"/>
                </a:solidFill>
                <a:latin typeface="Calibri"/>
              </a:rPr>
              <a:t>▸  Kompensator imkoniyatlar tugagach dekompensatsiya boshlanadi va tana harorati pasaya boshlaydi.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Modda almashinuvi kuchayadi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Jigar-mushak glikogeni kamayadi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To‘qimada kislorod sarfi ortadi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Teri tomirlari torayadi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Issiqlik ajralishi kamayadi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Kompensatsiya zanjiri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191-192, 192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Ikkinchi bosqich: dekompensatsiya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Past harorat tufayli o'lim holatlarini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42</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Kompensatsiya tugagach, tana harorati pasaya boshlaydi; avvalo MNT (markaziy nerv tizimi) faoliyati buziladi.</a:t>
            </a:r>
          </a:p>
          <a:p>
            <a:pPr>
              <a:spcAft>
                <a:spcPts val="800"/>
              </a:spcAft>
            </a:pPr>
            <a:r>
              <a:rPr sz="1800">
                <a:solidFill>
                  <a:srgbClr val="1F2937"/>
                </a:solidFill>
                <a:latin typeface="Calibri"/>
              </a:rPr>
              <a:t>▸  +30...+28°S da bosh miya po‘stlog‘i funksiyasi buziladi, nafas va puls sekinlashadi, bosim pasayadi.</a:t>
            </a:r>
          </a:p>
          <a:p>
            <a:pPr>
              <a:spcAft>
                <a:spcPts val="800"/>
              </a:spcAft>
            </a:pPr>
            <a:r>
              <a:rPr sz="1800">
                <a:solidFill>
                  <a:srgbClr val="1F2937"/>
                </a:solidFill>
                <a:latin typeface="Calibri"/>
              </a:rPr>
              <a:t>▸  Harorat 1°S pasaysa, to‘qimalarda biokimyoviy jarayonlar taxminan ikki barobar sustlashadi.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Kompensatsiya tugaydi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Harorat +30...+28°S</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Po‘stloq funksiyasi buziladi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Nafas, puls sekinlashadi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Gipoksiya, almashinuv pasayadi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Dekompensatsiya zanjiri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192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Yakuniy bosqich va o‘lim sababi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Past harorat tufayli o'lim holatlarini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Yakuniy bosqichda tana harorati +25...+22°S gacha pasayadi.</a:t>
            </a:r>
          </a:p>
          <a:p>
            <a:pPr>
              <a:spcAft>
                <a:spcPts val="800"/>
              </a:spcAft>
            </a:pPr>
            <a:r>
              <a:rPr sz="1800">
                <a:solidFill>
                  <a:srgbClr val="1F2937"/>
                </a:solidFill>
                <a:latin typeface="Calibri"/>
              </a:rPr>
              <a:t>▸  O‘lim ko‘pincha nafas olishning birlamchi to‘xtashidan sodir bo‘ladi.</a:t>
            </a:r>
          </a:p>
          <a:p>
            <a:pPr>
              <a:spcAft>
                <a:spcPts val="800"/>
              </a:spcAft>
            </a:pPr>
            <a:r>
              <a:rPr sz="1800">
                <a:solidFill>
                  <a:srgbClr val="1F2937"/>
                </a:solidFill>
                <a:latin typeface="Calibri"/>
              </a:rPr>
              <a:t>▸  Ayrim holatlarda sabab qon tomirlar kollapsi yoki yurak qorinchalarining fibrillyasiyasi bo‘ladi.</a:t>
            </a:r>
          </a:p>
        </p:txBody>
      </p:sp>
      <p:sp>
        <p:nvSpPr>
          <p:cNvPr id="9" name="Rounded Rectangle 8"/>
          <p:cNvSpPr/>
          <p:nvPr/>
        </p:nvSpPr>
        <p:spPr>
          <a:xfrm>
            <a:off x="5440680" y="1417320"/>
            <a:ext cx="6110935"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5397703"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Kompensatsiya</a:t>
            </a:r>
          </a:p>
          <a:p>
            <a:pPr algn="l">
              <a:spcAft>
                <a:spcPts val="200"/>
              </a:spcAft>
            </a:pPr>
            <a:r>
              <a:rPr sz="1400" b="0">
                <a:solidFill>
                  <a:srgbClr val="1F2937"/>
                </a:solidFill>
                <a:latin typeface="Calibri"/>
              </a:rPr>
              <a:t>Harorat normaga intiladi; almashinuv ↑, teri tomirlari torayadi</a:t>
            </a:r>
          </a:p>
        </p:txBody>
      </p:sp>
      <p:sp>
        <p:nvSpPr>
          <p:cNvPr id="12" name="Rounded Rectangle 11"/>
          <p:cNvSpPr/>
          <p:nvPr/>
        </p:nvSpPr>
        <p:spPr>
          <a:xfrm>
            <a:off x="5440680" y="2801112"/>
            <a:ext cx="6110935"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550408"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6080760" y="2801112"/>
            <a:ext cx="5397703"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Dekompensatsiya</a:t>
            </a:r>
          </a:p>
          <a:p>
            <a:pPr algn="l">
              <a:spcAft>
                <a:spcPts val="200"/>
              </a:spcAft>
            </a:pPr>
            <a:r>
              <a:rPr sz="1400" b="0">
                <a:solidFill>
                  <a:srgbClr val="1F2937"/>
                </a:solidFill>
                <a:latin typeface="Calibri"/>
              </a:rPr>
              <a:t>+30…+28 °S: MNT buziladi, nafas va puls sekinlashadi</a:t>
            </a:r>
          </a:p>
        </p:txBody>
      </p:sp>
      <p:sp>
        <p:nvSpPr>
          <p:cNvPr id="15" name="Rounded Rectangle 14"/>
          <p:cNvSpPr/>
          <p:nvPr/>
        </p:nvSpPr>
        <p:spPr>
          <a:xfrm>
            <a:off x="5440680" y="4184904"/>
            <a:ext cx="6110935"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4584192"/>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4184904"/>
            <a:ext cx="5397703"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Yakuniy</a:t>
            </a:r>
          </a:p>
          <a:p>
            <a:pPr algn="l">
              <a:spcAft>
                <a:spcPts val="200"/>
              </a:spcAft>
            </a:pPr>
            <a:r>
              <a:rPr sz="1400" b="0">
                <a:solidFill>
                  <a:srgbClr val="1F2937"/>
                </a:solidFill>
                <a:latin typeface="Calibri"/>
              </a:rPr>
              <a:t>+25…+22 °S: nafas to‘xtashi, kollaps, fibrillyasiya</a:t>
            </a:r>
          </a:p>
        </p:txBody>
      </p:sp>
      <p:sp>
        <p:nvSpPr>
          <p:cNvPr id="18" name="TextBox 17"/>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Sovuq qotish bosqichlari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192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Simpson: gipotermiya tasnifi va harorat chegaralari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Past harorat tufayli o'lim holatlarini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Gipotermiya — tana harorati 37 °S dan 35 °S dan pastga tushishi; 10 °S dan past muhit zaif odamda zararli gipotermiyaga yetarli.</a:t>
            </a:r>
          </a:p>
          <a:p>
            <a:pPr>
              <a:spcAft>
                <a:spcPts val="800"/>
              </a:spcAft>
            </a:pPr>
            <a:r>
              <a:rPr sz="1800">
                <a:solidFill>
                  <a:srgbClr val="1F2937"/>
                </a:solidFill>
                <a:latin typeface="Calibri"/>
              </a:rPr>
              <a:t>▸  Tasnif: yengil — 32–35 °S, o‘rta — 30–32 °S, og‘ir — 30 °S dan past; 32 °S dan pastda titrash to‘xtaydi.</a:t>
            </a:r>
          </a:p>
          <a:p>
            <a:pPr>
              <a:spcAft>
                <a:spcPts val="800"/>
              </a:spcAft>
            </a:pPr>
            <a:r>
              <a:rPr sz="1800">
                <a:solidFill>
                  <a:srgbClr val="1F2937"/>
                </a:solidFill>
                <a:latin typeface="Calibri"/>
              </a:rPr>
              <a:t>▸  Hushdan ketish 27–30 °S da bo‘lishi mumkin; qorinchalar fibrillyasiyasi va apnoe 27 °S dan pastda.</a:t>
            </a:r>
          </a:p>
          <a:p>
            <a:pPr>
              <a:spcAft>
                <a:spcPts val="800"/>
              </a:spcAft>
            </a:pPr>
            <a:r>
              <a:rPr sz="1800">
                <a:solidFill>
                  <a:srgbClr val="1F2937"/>
                </a:solidFill>
                <a:latin typeface="Calibri"/>
              </a:rPr>
              <a:t>▸  Sovuq suv issiqlikni quruq havodan 20–30 marta tez oladi; alkogol tomirlarni kengaytirib issiqlik yo‘qotishni oshiradi.</a:t>
            </a:r>
          </a:p>
        </p:txBody>
      </p:sp>
      <p:sp>
        <p:nvSpPr>
          <p:cNvPr id="9" name="Rounded Rectangle 8"/>
          <p:cNvSpPr/>
          <p:nvPr/>
        </p:nvSpPr>
        <p:spPr>
          <a:xfrm>
            <a:off x="5440680" y="1417320"/>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Gipotermiya</a:t>
            </a:r>
          </a:p>
          <a:p>
            <a:pPr algn="l">
              <a:spcAft>
                <a:spcPts val="100"/>
              </a:spcAft>
            </a:pPr>
            <a:r>
              <a:rPr sz="3000" b="1">
                <a:solidFill>
                  <a:srgbClr val="0B1F3A"/>
                </a:solidFill>
                <a:latin typeface="Calibri"/>
              </a:rPr>
              <a:t>&lt; 35 °S</a:t>
            </a:r>
          </a:p>
        </p:txBody>
      </p:sp>
      <p:sp>
        <p:nvSpPr>
          <p:cNvPr id="12" name="Rounded Rectangle 11"/>
          <p:cNvSpPr/>
          <p:nvPr/>
        </p:nvSpPr>
        <p:spPr>
          <a:xfrm>
            <a:off x="8578443" y="1417320"/>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78443" y="1508760"/>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8171" y="1417320"/>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Yengil</a:t>
            </a:r>
          </a:p>
          <a:p>
            <a:pPr algn="l">
              <a:spcAft>
                <a:spcPts val="100"/>
              </a:spcAft>
            </a:pPr>
            <a:r>
              <a:rPr sz="3000" b="1">
                <a:solidFill>
                  <a:srgbClr val="0B1F3A"/>
                </a:solidFill>
                <a:latin typeface="Calibri"/>
              </a:rPr>
              <a:t>32–35 °S</a:t>
            </a:r>
          </a:p>
        </p:txBody>
      </p:sp>
      <p:sp>
        <p:nvSpPr>
          <p:cNvPr id="15" name="Rounded Rectangle 14"/>
          <p:cNvSpPr/>
          <p:nvPr/>
        </p:nvSpPr>
        <p:spPr>
          <a:xfrm>
            <a:off x="5440680" y="2807208"/>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40680" y="2898648"/>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50408" y="2807208"/>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O‘rta</a:t>
            </a:r>
          </a:p>
          <a:p>
            <a:pPr algn="l">
              <a:spcAft>
                <a:spcPts val="100"/>
              </a:spcAft>
            </a:pPr>
            <a:r>
              <a:rPr sz="3000" b="1">
                <a:solidFill>
                  <a:srgbClr val="0B1F3A"/>
                </a:solidFill>
                <a:latin typeface="Calibri"/>
              </a:rPr>
              <a:t>30–32 °S</a:t>
            </a:r>
          </a:p>
        </p:txBody>
      </p:sp>
      <p:sp>
        <p:nvSpPr>
          <p:cNvPr id="18" name="Rounded Rectangle 17"/>
          <p:cNvSpPr/>
          <p:nvPr/>
        </p:nvSpPr>
        <p:spPr>
          <a:xfrm>
            <a:off x="8578443" y="2807208"/>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78443" y="2898648"/>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8171" y="2807208"/>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Og‘ir</a:t>
            </a:r>
          </a:p>
          <a:p>
            <a:pPr algn="l">
              <a:spcAft>
                <a:spcPts val="100"/>
              </a:spcAft>
            </a:pPr>
            <a:r>
              <a:rPr sz="3000" b="1">
                <a:solidFill>
                  <a:srgbClr val="0B1F3A"/>
                </a:solidFill>
                <a:latin typeface="Calibri"/>
              </a:rPr>
              <a:t>&lt; 30 °S</a:t>
            </a:r>
          </a:p>
        </p:txBody>
      </p:sp>
      <p:sp>
        <p:nvSpPr>
          <p:cNvPr id="21" name="Rounded Rectangle 20"/>
          <p:cNvSpPr/>
          <p:nvPr/>
        </p:nvSpPr>
        <p:spPr>
          <a:xfrm>
            <a:off x="5440680" y="4197096"/>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40680" y="4288536"/>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550408" y="4197096"/>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Hushdan ketish</a:t>
            </a:r>
          </a:p>
          <a:p>
            <a:pPr algn="l">
              <a:spcAft>
                <a:spcPts val="100"/>
              </a:spcAft>
            </a:pPr>
            <a:r>
              <a:rPr sz="3000" b="1">
                <a:solidFill>
                  <a:srgbClr val="0B1F3A"/>
                </a:solidFill>
                <a:latin typeface="Calibri"/>
              </a:rPr>
              <a:t>27–30 °S</a:t>
            </a:r>
          </a:p>
        </p:txBody>
      </p:sp>
      <p:sp>
        <p:nvSpPr>
          <p:cNvPr id="24" name="Rounded Rectangle 23"/>
          <p:cNvSpPr/>
          <p:nvPr/>
        </p:nvSpPr>
        <p:spPr>
          <a:xfrm>
            <a:off x="8578443" y="4197096"/>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578443" y="4288536"/>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88171" y="4197096"/>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Fibrillyasiya, apnoe</a:t>
            </a:r>
          </a:p>
          <a:p>
            <a:pPr algn="l">
              <a:spcAft>
                <a:spcPts val="100"/>
              </a:spcAft>
            </a:pPr>
            <a:r>
              <a:rPr sz="3000" b="1">
                <a:solidFill>
                  <a:srgbClr val="0B1F3A"/>
                </a:solidFill>
                <a:latin typeface="Calibri"/>
              </a:rPr>
              <a:t>&lt; 27 °S</a:t>
            </a:r>
          </a:p>
        </p:txBody>
      </p:sp>
      <p:sp>
        <p:nvSpPr>
          <p:cNvPr id="27" name="TextBox 26"/>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Simpson: gipotermiya darajalari</a:t>
            </a:r>
          </a:p>
        </p:txBody>
      </p:sp>
      <p:sp>
        <p:nvSpPr>
          <p:cNvPr id="28" name="TextBox 27"/>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Payne-James J., Jones R., Karch S.B., Manlove J., Simpson's Forensic Medicine, betlar: 176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Simpson: gipotermiya darajalari bo‘yicha belgilar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Past harorat tufayli o'lim holatlarini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Yengil: titrash, sovuqni sezish, loqaydlik, sovuq oqargan teri.</a:t>
            </a:r>
          </a:p>
          <a:p>
            <a:pPr>
              <a:spcAft>
                <a:spcPts val="800"/>
              </a:spcAft>
            </a:pPr>
            <a:r>
              <a:rPr sz="1600">
                <a:solidFill>
                  <a:srgbClr val="1F2937"/>
                </a:solidFill>
                <a:latin typeface="Calibri"/>
              </a:rPr>
              <a:t>▸  O‘rta: nazoratsiz kuchli titrash, chalkashlik, muvofiqlik buzilishi, xotira yo‘qolishi, uyquchanlik, nutq buzilishi, sekin sayoz nafas, bo‘sh puls.</a:t>
            </a:r>
          </a:p>
          <a:p>
            <a:pPr>
              <a:spcAft>
                <a:spcPts val="800"/>
              </a:spcAft>
            </a:pPr>
            <a:r>
              <a:rPr sz="1600">
                <a:solidFill>
                  <a:srgbClr val="1F2937"/>
                </a:solidFill>
                <a:latin typeface="Calibri"/>
              </a:rPr>
              <a:t>▸  Og‘ir: qo‘l-oyoq nazoratini yo‘qotish, to‘satdan to‘xtaydigan titrash, hushdan ketish, nafas va puls yo‘qligi, mushaklar qotishi, ko‘z qorachig‘i kengayishi.</a:t>
            </a:r>
          </a:p>
          <a:p>
            <a:pPr>
              <a:spcAft>
                <a:spcPts val="800"/>
              </a:spcAft>
            </a:pPr>
            <a:r>
              <a:rPr sz="1600">
                <a:solidFill>
                  <a:srgbClr val="1F2937"/>
                </a:solidFill>
                <a:latin typeface="Calibri"/>
              </a:rPr>
              <a:t>▸  Gipotermiya uchun ob-havo g‘ayrioddiy sovuq bo‘lishi shart emas: o‘rtacha sovuq qishda ham ko‘p keksalar gipotermiyaga tushadi.</a:t>
            </a:r>
          </a:p>
        </p:txBody>
      </p:sp>
      <p:sp>
        <p:nvSpPr>
          <p:cNvPr id="9" name="Rounded Rectangle 8"/>
          <p:cNvSpPr/>
          <p:nvPr/>
        </p:nvSpPr>
        <p:spPr>
          <a:xfrm>
            <a:off x="5440680" y="1417320"/>
            <a:ext cx="1945538"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Yengil</a:t>
            </a:r>
          </a:p>
        </p:txBody>
      </p:sp>
      <p:sp>
        <p:nvSpPr>
          <p:cNvPr id="10" name="Rectangle 9"/>
          <p:cNvSpPr/>
          <p:nvPr/>
        </p:nvSpPr>
        <p:spPr>
          <a:xfrm>
            <a:off x="5440680" y="2020824"/>
            <a:ext cx="1945538"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Titrash, sovuqni sezish</a:t>
            </a:r>
          </a:p>
          <a:p>
            <a:pPr algn="l">
              <a:spcAft>
                <a:spcPts val="700"/>
              </a:spcAft>
            </a:pPr>
            <a:r>
              <a:rPr sz="1500" b="1">
                <a:solidFill>
                  <a:srgbClr val="C9A227"/>
                </a:solidFill>
                <a:latin typeface="Calibri"/>
              </a:rPr>
              <a:t>●  </a:t>
            </a:r>
            <a:r>
              <a:rPr sz="1500" b="0">
                <a:solidFill>
                  <a:srgbClr val="1F2937"/>
                </a:solidFill>
                <a:latin typeface="Calibri"/>
              </a:rPr>
              <a:t>Loqaydlik</a:t>
            </a:r>
          </a:p>
          <a:p>
            <a:pPr algn="l">
              <a:spcAft>
                <a:spcPts val="700"/>
              </a:spcAft>
            </a:pPr>
            <a:r>
              <a:rPr sz="1500" b="1">
                <a:solidFill>
                  <a:srgbClr val="C9A227"/>
                </a:solidFill>
                <a:latin typeface="Calibri"/>
              </a:rPr>
              <a:t>●  </a:t>
            </a:r>
            <a:r>
              <a:rPr sz="1500" b="0">
                <a:solidFill>
                  <a:srgbClr val="1F2937"/>
                </a:solidFill>
                <a:latin typeface="Calibri"/>
              </a:rPr>
              <a:t>Sovuq, oqargan teri</a:t>
            </a:r>
          </a:p>
        </p:txBody>
      </p:sp>
      <p:sp>
        <p:nvSpPr>
          <p:cNvPr id="11" name="Rounded Rectangle 10"/>
          <p:cNvSpPr/>
          <p:nvPr/>
        </p:nvSpPr>
        <p:spPr>
          <a:xfrm>
            <a:off x="7523378" y="1417320"/>
            <a:ext cx="1945538"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O‘rta</a:t>
            </a:r>
          </a:p>
        </p:txBody>
      </p:sp>
      <p:sp>
        <p:nvSpPr>
          <p:cNvPr id="12" name="Rectangle 11"/>
          <p:cNvSpPr/>
          <p:nvPr/>
        </p:nvSpPr>
        <p:spPr>
          <a:xfrm>
            <a:off x="7523378" y="2020824"/>
            <a:ext cx="1945538"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Kuchli nazoratsiz titrash</a:t>
            </a:r>
          </a:p>
          <a:p>
            <a:pPr algn="l">
              <a:spcAft>
                <a:spcPts val="700"/>
              </a:spcAft>
            </a:pPr>
            <a:r>
              <a:rPr sz="1500" b="1">
                <a:solidFill>
                  <a:srgbClr val="C9A227"/>
                </a:solidFill>
                <a:latin typeface="Calibri"/>
              </a:rPr>
              <a:t>●  </a:t>
            </a:r>
            <a:r>
              <a:rPr sz="1500" b="0">
                <a:solidFill>
                  <a:srgbClr val="1F2937"/>
                </a:solidFill>
                <a:latin typeface="Calibri"/>
              </a:rPr>
              <a:t>Chalkashlik, muvofiqlik buzilishi</a:t>
            </a:r>
          </a:p>
          <a:p>
            <a:pPr algn="l">
              <a:spcAft>
                <a:spcPts val="700"/>
              </a:spcAft>
            </a:pPr>
            <a:r>
              <a:rPr sz="1500" b="1">
                <a:solidFill>
                  <a:srgbClr val="C9A227"/>
                </a:solidFill>
                <a:latin typeface="Calibri"/>
              </a:rPr>
              <a:t>●  </a:t>
            </a:r>
            <a:r>
              <a:rPr sz="1500" b="0">
                <a:solidFill>
                  <a:srgbClr val="1F2937"/>
                </a:solidFill>
                <a:latin typeface="Calibri"/>
              </a:rPr>
              <a:t>Uyquchanlik, nutq buzilishi</a:t>
            </a:r>
          </a:p>
          <a:p>
            <a:pPr algn="l">
              <a:spcAft>
                <a:spcPts val="700"/>
              </a:spcAft>
            </a:pPr>
            <a:r>
              <a:rPr sz="1500" b="1">
                <a:solidFill>
                  <a:srgbClr val="C9A227"/>
                </a:solidFill>
                <a:latin typeface="Calibri"/>
              </a:rPr>
              <a:t>●  </a:t>
            </a:r>
            <a:r>
              <a:rPr sz="1500" b="0">
                <a:solidFill>
                  <a:srgbClr val="1F2937"/>
                </a:solidFill>
                <a:latin typeface="Calibri"/>
              </a:rPr>
              <a:t>Sekin sayoz nafas, bo‘sh puls</a:t>
            </a:r>
          </a:p>
        </p:txBody>
      </p:sp>
      <p:sp>
        <p:nvSpPr>
          <p:cNvPr id="13" name="Rounded Rectangle 12"/>
          <p:cNvSpPr/>
          <p:nvPr/>
        </p:nvSpPr>
        <p:spPr>
          <a:xfrm>
            <a:off x="9606076" y="1417320"/>
            <a:ext cx="1945538"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Og‘ir</a:t>
            </a:r>
          </a:p>
        </p:txBody>
      </p:sp>
      <p:sp>
        <p:nvSpPr>
          <p:cNvPr id="14" name="Rectangle 13"/>
          <p:cNvSpPr/>
          <p:nvPr/>
        </p:nvSpPr>
        <p:spPr>
          <a:xfrm>
            <a:off x="9606076" y="2020824"/>
            <a:ext cx="1945538"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Titrash to‘satdan to‘xtaydi</a:t>
            </a:r>
          </a:p>
          <a:p>
            <a:pPr algn="l">
              <a:spcAft>
                <a:spcPts val="700"/>
              </a:spcAft>
            </a:pPr>
            <a:r>
              <a:rPr sz="1500" b="1">
                <a:solidFill>
                  <a:srgbClr val="C9A227"/>
                </a:solidFill>
                <a:latin typeface="Calibri"/>
              </a:rPr>
              <a:t>●  </a:t>
            </a:r>
            <a:r>
              <a:rPr sz="1500" b="0">
                <a:solidFill>
                  <a:srgbClr val="1F2937"/>
                </a:solidFill>
                <a:latin typeface="Calibri"/>
              </a:rPr>
              <a:t>Hushdan ketish</a:t>
            </a:r>
          </a:p>
          <a:p>
            <a:pPr algn="l">
              <a:spcAft>
                <a:spcPts val="700"/>
              </a:spcAft>
            </a:pPr>
            <a:r>
              <a:rPr sz="1500" b="1">
                <a:solidFill>
                  <a:srgbClr val="C9A227"/>
                </a:solidFill>
                <a:latin typeface="Calibri"/>
              </a:rPr>
              <a:t>●  </a:t>
            </a:r>
            <a:r>
              <a:rPr sz="1500" b="0">
                <a:solidFill>
                  <a:srgbClr val="1F2937"/>
                </a:solidFill>
                <a:latin typeface="Calibri"/>
              </a:rPr>
              <a:t>Nafas, puls yo‘q yoki juda zaif</a:t>
            </a:r>
          </a:p>
          <a:p>
            <a:pPr algn="l">
              <a:spcAft>
                <a:spcPts val="700"/>
              </a:spcAft>
            </a:pPr>
            <a:r>
              <a:rPr sz="1500" b="1">
                <a:solidFill>
                  <a:srgbClr val="C9A227"/>
                </a:solidFill>
                <a:latin typeface="Calibri"/>
              </a:rPr>
              <a:t>●  </a:t>
            </a:r>
            <a:r>
              <a:rPr sz="1500" b="0">
                <a:solidFill>
                  <a:srgbClr val="1F2937"/>
                </a:solidFill>
                <a:latin typeface="Calibri"/>
              </a:rPr>
              <a:t>Mushaklar qotishi, qorachiq kengayishi</a:t>
            </a:r>
          </a:p>
        </p:txBody>
      </p:sp>
      <p:sp>
        <p:nvSpPr>
          <p:cNvPr id="15" name="TextBox 14"/>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Simpson: Box 17.4</a:t>
            </a:r>
          </a:p>
        </p:txBody>
      </p:sp>
      <p:sp>
        <p:nvSpPr>
          <p:cNvPr id="16" name="TextBox 15"/>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Payne-James J., Jones R., Karch S.B., Manlove J., Simpson's Forensic Medicine, betlar: 176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bosqichlar va harorat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Past harorat tufayli o'lim holatlarini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42</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dekompensatsiyada avvalo qaysi tizim buziladi? Javob: MNT (markaziy nerv tizimi), so‘ng bosh miya po‘stlog‘i funksiyasi.</a:t>
            </a:r>
          </a:p>
          <a:p>
            <a:pPr>
              <a:spcAft>
                <a:spcPts val="1200"/>
              </a:spcAft>
            </a:pPr>
            <a:r>
              <a:rPr sz="2200">
                <a:solidFill>
                  <a:srgbClr val="1F2937"/>
                </a:solidFill>
                <a:latin typeface="Calibri"/>
              </a:rPr>
              <a:t>▸  Savol: +30...+28°S da qon tomirlar va puls qanday o‘zgaradi? Javob: periferik tomirlar kengayadi, puls sekinlashadi, bosim pasayadi.</a:t>
            </a:r>
          </a:p>
          <a:p>
            <a:pPr>
              <a:spcAft>
                <a:spcPts val="1200"/>
              </a:spcAft>
            </a:pPr>
            <a:r>
              <a:rPr sz="2200">
                <a:solidFill>
                  <a:srgbClr val="1F2937"/>
                </a:solidFill>
                <a:latin typeface="Calibri"/>
              </a:rPr>
              <a:t>▸  Savol: +25...+22°S da o‘lim sababi nima? Javob: ko‘pincha nafasning birlamchi to‘xtashi; kollaps yoki fibrillyasiya ham mumkin.</a:t>
            </a:r>
          </a:p>
          <a:p>
            <a:pPr>
              <a:spcAft>
                <a:spcPts val="1200"/>
              </a:spcAft>
            </a:pPr>
            <a:r>
              <a:rPr sz="2200">
                <a:solidFill>
                  <a:srgbClr val="1F2937"/>
                </a:solidFill>
                <a:latin typeface="Calibri"/>
              </a:rPr>
              <a:t>▸  Diqqat: xato qilish xavfi — qonda kislorod yetarli bo‘lsa-da, to‘qimalarda gipoksiya rivojlanadi; ikkalasi bir narsa emas.</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192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1: sovuqda topilgan mast shaxs</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Past harorat tufayli o'lim holatlarini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42</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sovuq, nam va shamolli ochiq joyda mast holatdagi shaxs topildi. Kiyimi mavsumga mos emas. Savol: qaysi omillar sovuq qotishga moyillik yaratgan?</a:t>
            </a:r>
          </a:p>
          <a:p>
            <a:pPr>
              <a:spcAft>
                <a:spcPts val="1200"/>
              </a:spcAft>
            </a:pPr>
            <a:r>
              <a:rPr sz="2200">
                <a:solidFill>
                  <a:srgbClr val="1F2937"/>
                </a:solidFill>
                <a:latin typeface="Calibri"/>
              </a:rPr>
              <a:t>▸  Tashqi omillar: past harorat, yuqori namlik, shamol. Ichki: mavsumga mos emas kiyim, charchoq, ochlik, kasallik, harakatsizlik, alkogol mastligi.</a:t>
            </a:r>
          </a:p>
          <a:p>
            <a:pPr>
              <a:spcAft>
                <a:spcPts val="1200"/>
              </a:spcAft>
            </a:pPr>
            <a:r>
              <a:rPr sz="2200">
                <a:solidFill>
                  <a:srgbClr val="1F2937"/>
                </a:solidFill>
                <a:latin typeface="Calibri"/>
              </a:rPr>
              <a:t>▸  Alkogol teri qon tomirlarini kengaytirib, issiqlik ajralishini kuchaytiradi. Mast odam vaziyatni to‘g‘ri baholay olmaydi va himoyalanmaydi.</a:t>
            </a:r>
          </a:p>
          <a:p>
            <a:pPr>
              <a:spcAft>
                <a:spcPts val="1200"/>
              </a:spcAft>
            </a:pPr>
            <a:r>
              <a:rPr sz="2200">
                <a:solidFill>
                  <a:srgbClr val="1F2937"/>
                </a:solidFill>
                <a:latin typeface="Calibri"/>
              </a:rPr>
              <a:t>▸  Diqqat: sovuq qotish faqat manfiy haroratda bo‘ladi deb o‘ylamang. Uzoq qolinsa, havo harorati +10°S gacha bo‘lganda ham rivojlanishi mumkin.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191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Murda ko‘zdan kechirish: “sovuq qotgan odam pozasi”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Past harorat tufayli o'lim holatlarini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42</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O‘lim sodir bo‘lgan joyda murda “sovuq qotgan odam pozasi”da bo‘ladi. Bu poza past haroratning hayotiy ta’siridan dalolat beradi.</a:t>
            </a:r>
          </a:p>
          <a:p>
            <a:pPr>
              <a:spcAft>
                <a:spcPts val="1200"/>
              </a:spcAft>
            </a:pPr>
            <a:r>
              <a:rPr sz="2200">
                <a:solidFill>
                  <a:srgbClr val="1F2937"/>
                </a:solidFill>
                <a:latin typeface="Calibri"/>
              </a:rPr>
              <a:t>▸  Qo‘llar ko‘krakka tortilgan, oyoqlar qoringa bukilgan bo‘ladi. Shu bilan jabrlangan tana issiqligini saqlashga urinadi.</a:t>
            </a:r>
          </a:p>
          <a:p>
            <a:pPr>
              <a:spcAft>
                <a:spcPts val="1200"/>
              </a:spcAft>
            </a:pPr>
            <a:r>
              <a:rPr sz="2200">
                <a:solidFill>
                  <a:srgbClr val="1F2937"/>
                </a:solidFill>
                <a:latin typeface="Calibri"/>
              </a:rPr>
              <a:t>▸  Bu holatda tananing issiqlik ajratuvchi yuzasi ancha kamayadi.</a:t>
            </a:r>
          </a:p>
          <a:p>
            <a:pPr>
              <a:spcAft>
                <a:spcPts val="1200"/>
              </a:spcAft>
            </a:pPr>
            <a:r>
              <a:rPr sz="2200">
                <a:solidFill>
                  <a:srgbClr val="1F2937"/>
                </a:solidFill>
                <a:latin typeface="Calibri"/>
              </a:rPr>
              <a:t>▸  Diqqat: kuchli mastlikda bo‘lganlarda bu poza bo‘lmasligi mumkin. Poza yo‘qligi sovuq qotishni darrov inkor qilmaydi.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192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Teri belgilari: Rayskiy belgisi va “g‘oz terisi”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Past harorat tufayli o'lim holatlarini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Past haroratning uzoq hayotiy ta’sirida tananing ochiq sohalari ko‘kimtir va biroz shishinqiragan bo‘ladi.</a:t>
            </a:r>
          </a:p>
          <a:p>
            <a:pPr>
              <a:spcAft>
                <a:spcPts val="800"/>
              </a:spcAft>
            </a:pPr>
            <a:r>
              <a:rPr sz="1800">
                <a:solidFill>
                  <a:srgbClr val="1F2937"/>
                </a:solidFill>
                <a:latin typeface="Calibri"/>
              </a:rPr>
              <a:t>▸  Og‘iz va burun teshiklari atrofida muz sumalaklari, qosh va kipriklarda qirov topiladi. Bular M.I.Rayskiy belgilari deyiladi.</a:t>
            </a:r>
          </a:p>
          <a:p>
            <a:pPr>
              <a:spcAft>
                <a:spcPts val="800"/>
              </a:spcAft>
            </a:pPr>
            <a:r>
              <a:rPr sz="1800">
                <a:solidFill>
                  <a:srgbClr val="1F2937"/>
                </a:solidFill>
                <a:latin typeface="Calibri"/>
              </a:rPr>
              <a:t>▸  Ayrim holatlarda sochni ko‘taruvchi mushaklar qisqarib, teri “g‘oz terisi” ko‘rinishini oladi.</a:t>
            </a:r>
          </a:p>
          <a:p>
            <a:pPr>
              <a:spcAft>
                <a:spcPts val="800"/>
              </a:spcAft>
            </a:pPr>
            <a:r>
              <a:rPr sz="1800">
                <a:solidFill>
                  <a:srgbClr val="1F2937"/>
                </a:solidFill>
                <a:latin typeface="Calibri"/>
              </a:rPr>
              <a:t>▸  Ba’zan erkaklarda moyak qisqargan, yorg‘oq esa chov kanaliga tortilgan bo‘ladi. Bu K.V.Puparev belgisidir.</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Teri belgilari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Rayskiy belgilari</a:t>
            </a:r>
          </a:p>
          <a:p>
            <a:pPr algn="l">
              <a:spcAft>
                <a:spcPts val="0"/>
              </a:spcAft>
            </a:pPr>
            <a:r>
              <a:rPr sz="1200" b="0">
                <a:solidFill>
                  <a:srgbClr val="1F2937"/>
                </a:solidFill>
                <a:latin typeface="Calibri"/>
              </a:rPr>
              <a:t>Og‘iz-burun atrofida muz sumalaklari  ·  Qosh, kipriklarda qirov</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G‘oz terisi</a:t>
            </a:r>
          </a:p>
          <a:p>
            <a:pPr algn="l">
              <a:spcAft>
                <a:spcPts val="0"/>
              </a:spcAft>
            </a:pPr>
            <a:r>
              <a:rPr sz="1200" b="0">
                <a:solidFill>
                  <a:srgbClr val="1F2937"/>
                </a:solidFill>
                <a:latin typeface="Calibri"/>
              </a:rPr>
              <a:t>Soch ko‘taruvchi mushaklar qisqaradi</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Puparev belgisi</a:t>
            </a:r>
          </a:p>
          <a:p>
            <a:pPr algn="l">
              <a:spcAft>
                <a:spcPts val="0"/>
              </a:spcAft>
            </a:pPr>
            <a:r>
              <a:rPr sz="1200" b="0">
                <a:solidFill>
                  <a:srgbClr val="1F2937"/>
                </a:solidFill>
                <a:latin typeface="Calibri"/>
              </a:rPr>
              <a:t>Moyak qisqargan, yorg‘oq tortilgan</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Ochiq sohalar</a:t>
            </a:r>
          </a:p>
          <a:p>
            <a:pPr algn="l">
              <a:spcAft>
                <a:spcPts val="0"/>
              </a:spcAft>
            </a:pPr>
            <a:r>
              <a:rPr sz="1200" b="0">
                <a:solidFill>
                  <a:srgbClr val="1F2937"/>
                </a:solidFill>
                <a:latin typeface="Calibri"/>
              </a:rPr>
              <a:t>Ko‘kimtir, biroz shishinqiragan</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Past haroratning hayotiy belgilari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192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Puparev belgisi va qor erishi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Past harorat tufayli o'lim holatlarini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42</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Ba’zan erkaklarda moyak qisqargan, yorg‘oq esa tepaga, chov kanaliga tortilgan bo‘ladi. Bu K.V.Puparev belgisi.</a:t>
            </a:r>
          </a:p>
          <a:p>
            <a:pPr>
              <a:spcAft>
                <a:spcPts val="1200"/>
              </a:spcAft>
            </a:pPr>
            <a:r>
              <a:rPr sz="2200">
                <a:solidFill>
                  <a:srgbClr val="1F2937"/>
                </a:solidFill>
                <a:latin typeface="Calibri"/>
              </a:rPr>
              <a:t>▸  Ayrim holatlarda sochlarni ko‘taruvchi mushaklar qisqarib, teri “g‘oz terisi” ko‘rinishini oladi.</a:t>
            </a:r>
          </a:p>
          <a:p>
            <a:pPr>
              <a:spcAft>
                <a:spcPts val="1200"/>
              </a:spcAft>
            </a:pPr>
            <a:r>
              <a:rPr sz="2200">
                <a:solidFill>
                  <a:srgbClr val="1F2937"/>
                </a:solidFill>
                <a:latin typeface="Calibri"/>
              </a:rPr>
              <a:t>▸  Jabrlangan qorda yotsa, tana issiqligidan qor eriydi. Keyin sovuq ta’sirida tana tagida muz qatlami paydo bo‘ladi.</a:t>
            </a:r>
          </a:p>
          <a:p>
            <a:pPr>
              <a:spcAft>
                <a:spcPts val="1200"/>
              </a:spcAft>
            </a:pPr>
            <a:r>
              <a:rPr sz="2200">
                <a:solidFill>
                  <a:srgbClr val="1F2937"/>
                </a:solidFill>
                <a:latin typeface="Calibri"/>
              </a:rPr>
              <a:t>▸  Diqqat: muz qatlami past haroratga xos spetsifik belgi emas. Sovub ulgurmagan murda qorga qo‘yilsa ham hosil bo‘ladi.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192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Murda dog‘lari rangi: musbat va manfiy harorat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Past harorat tufayli o'lim holatlarini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Qonda kislorod ko‘p bo‘lgani uchun teri va murda dog‘lari pushti-qizg‘ish tusda bo‘ladi.</a:t>
            </a:r>
          </a:p>
          <a:p>
            <a:pPr>
              <a:spcAft>
                <a:spcPts val="800"/>
              </a:spcAft>
            </a:pPr>
            <a:r>
              <a:rPr sz="1800">
                <a:solidFill>
                  <a:srgbClr val="1F2937"/>
                </a:solidFill>
                <a:latin typeface="Calibri"/>
              </a:rPr>
              <a:t>▸  Musbat haroratda (+10°S gacha) miya o‘limidan keyin ham to‘qimalar kislorodni sarflab ulguradi.</a:t>
            </a:r>
          </a:p>
          <a:p>
            <a:pPr>
              <a:spcAft>
                <a:spcPts val="800"/>
              </a:spcAft>
            </a:pPr>
            <a:r>
              <a:rPr sz="1800">
                <a:solidFill>
                  <a:srgbClr val="1F2937"/>
                </a:solidFill>
                <a:latin typeface="Calibri"/>
              </a:rPr>
              <a:t>▸  Manfiy haroratda ko‘kimtir-binafsha tus kuzatilmaydi, dog‘lar pushti-qizg‘ish bo‘ladi.</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Musbat (+10 °S gacha)</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Dog‘ rangi: ko‘kimtir-binafsha</a:t>
            </a:r>
          </a:p>
          <a:p>
            <a:pPr algn="l">
              <a:spcAft>
                <a:spcPts val="700"/>
              </a:spcAft>
            </a:pPr>
            <a:r>
              <a:rPr sz="1500" b="1">
                <a:solidFill>
                  <a:srgbClr val="C9A227"/>
                </a:solidFill>
                <a:latin typeface="Calibri"/>
              </a:rPr>
              <a:t>●  </a:t>
            </a:r>
            <a:r>
              <a:rPr sz="1500" b="0">
                <a:solidFill>
                  <a:srgbClr val="1F2937"/>
                </a:solidFill>
                <a:latin typeface="Calibri"/>
              </a:rPr>
              <a:t>To‘qimalar kislorodni sarflab ulguradi</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Manfiy harorat</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Dog‘ rangi: pushti-qizg‘ish</a:t>
            </a:r>
          </a:p>
          <a:p>
            <a:pPr algn="l">
              <a:spcAft>
                <a:spcPts val="700"/>
              </a:spcAft>
            </a:pPr>
            <a:r>
              <a:rPr sz="1500" b="1">
                <a:solidFill>
                  <a:srgbClr val="C9A227"/>
                </a:solidFill>
                <a:latin typeface="Calibri"/>
              </a:rPr>
              <a:t>●  </a:t>
            </a:r>
            <a:r>
              <a:rPr sz="1500" b="0">
                <a:solidFill>
                  <a:srgbClr val="1F2937"/>
                </a:solidFill>
                <a:latin typeface="Calibri"/>
              </a:rPr>
              <a:t>Qonda kislorod ko‘p qoladi</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Harorat va murda dog‘i rangi</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192, 192-193, 193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Murda sovishi, qotishi va sovuq urish belgilari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Past harorat tufayli o'lim holatlarini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42</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Past haroratli muhitda murda tezroq soviydi. Murda qotishi esa kechroq boshlanadi va sust bo‘ladi.</a:t>
            </a:r>
          </a:p>
          <a:p>
            <a:pPr>
              <a:spcAft>
                <a:spcPts val="1200"/>
              </a:spcAft>
            </a:pPr>
            <a:r>
              <a:rPr sz="2200">
                <a:solidFill>
                  <a:srgbClr val="1F2937"/>
                </a:solidFill>
                <a:latin typeface="Calibri"/>
              </a:rPr>
              <a:t>▸  Tananing sovuq qotishidan o‘lgan murdada mahalliy sovuq urish belgilari odatda kuzatilmaydi.</a:t>
            </a:r>
          </a:p>
          <a:p>
            <a:pPr>
              <a:spcAft>
                <a:spcPts val="1200"/>
              </a:spcAft>
            </a:pPr>
            <a:r>
              <a:rPr sz="2200">
                <a:solidFill>
                  <a:srgbClr val="1F2937"/>
                </a:solidFill>
                <a:latin typeface="Calibri"/>
              </a:rPr>
              <a:t>▸  Istisno: hayotlikda isinishga harakat qilingan bo‘lsa, murdada asosan I, ba’zan II darajali sovuq urish aniqlanadi.</a:t>
            </a:r>
          </a:p>
          <a:p>
            <a:pPr>
              <a:spcAft>
                <a:spcPts val="1200"/>
              </a:spcAft>
            </a:pPr>
            <a:r>
              <a:rPr sz="2200">
                <a:solidFill>
                  <a:srgbClr val="1F2937"/>
                </a:solidFill>
                <a:latin typeface="Calibri"/>
              </a:rPr>
              <a:t>▸  Diqqat: umumiy sovuq qotishni mahalliy sovuq urishdan farqlang. Ular alohida shikastlanish turlari.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193, 191, 193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2: tashqi belgilar bo‘yicha xulosa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Past harorat tufayli o'lim holatlarini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42</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qishda ochiq joyda murda topildi. Qo‘llari ko‘kragiga, oyoqlari qorniga bukilgan, qosh va kipriklarida qirov bor.</a:t>
            </a:r>
          </a:p>
          <a:p>
            <a:pPr>
              <a:spcAft>
                <a:spcPts val="1200"/>
              </a:spcAft>
            </a:pPr>
            <a:r>
              <a:rPr sz="2200">
                <a:solidFill>
                  <a:srgbClr val="1F2937"/>
                </a:solidFill>
                <a:latin typeface="Calibri"/>
              </a:rPr>
              <a:t>▸  Ochiq teri ko‘kimtir, biroz shishgan; og‘iz va burun atrofida muz sumalaklari. Murda dog‘lari pushti-qizg‘ish.</a:t>
            </a:r>
          </a:p>
          <a:p>
            <a:pPr>
              <a:spcAft>
                <a:spcPts val="1200"/>
              </a:spcAft>
            </a:pPr>
            <a:r>
              <a:rPr sz="2200">
                <a:solidFill>
                  <a:srgbClr val="1F2937"/>
                </a:solidFill>
                <a:latin typeface="Calibri"/>
              </a:rPr>
              <a:t>▸  Savol: bu belgilar nimani ko‘rsatadi? Poza, qirov va muz sumalaklari past haroratning hayotiy ta’sirini bildiradi.</a:t>
            </a:r>
          </a:p>
          <a:p>
            <a:pPr>
              <a:spcAft>
                <a:spcPts val="1200"/>
              </a:spcAft>
            </a:pPr>
            <a:r>
              <a:rPr sz="2200">
                <a:solidFill>
                  <a:srgbClr val="1F2937"/>
                </a:solidFill>
                <a:latin typeface="Calibri"/>
              </a:rPr>
              <a:t>▸  Diqqat: qor tagidagi muz qatlami spetsifik emas, sovub ulgurmagan murdada ham paydo bo‘ladi. Kuchli mastlikda poza bo‘lmasligi mumkin.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192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Ichki tekshiruv: umumiy belgilar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Past harorat tufayli o'lim holatlarini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42</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Ichki a’zolar to‘laqon, barcha to‘qimalar pushti-qizg‘ish tusda bo‘ladi.</a:t>
            </a:r>
          </a:p>
          <a:p>
            <a:pPr>
              <a:spcAft>
                <a:spcPts val="800"/>
              </a:spcAft>
            </a:pPr>
            <a:r>
              <a:rPr sz="1800">
                <a:solidFill>
                  <a:srgbClr val="1F2937"/>
                </a:solidFill>
                <a:latin typeface="Calibri"/>
              </a:rPr>
              <a:t>▸  Sekin o‘lim tufayli chap yurak kamerasi va aortada laxtali qip-qizil qon topiladi.</a:t>
            </a:r>
          </a:p>
          <a:p>
            <a:pPr>
              <a:spcAft>
                <a:spcPts val="800"/>
              </a:spcAft>
            </a:pPr>
            <a:r>
              <a:rPr sz="1800">
                <a:solidFill>
                  <a:srgbClr val="1F2937"/>
                </a:solidFill>
                <a:latin typeface="Calibri"/>
              </a:rPr>
              <a:t>▸  Oshqozon bo‘sh va o‘lchami ancha kichik bo‘ladi — Puxnarevich belgisi.</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455420"/>
                <a:gridCol w="2045969"/>
                <a:gridCol w="1786586"/>
              </a:tblGrid>
              <a:tr h="614476">
                <a:tc>
                  <a:txBody>
                    <a:bodyPr/>
                    <a:lstStyle/>
                    <a:p>
                      <a:r>
                        <a:rPr sz="1600" b="1">
                          <a:solidFill>
                            <a:srgbClr val="FFFFFF"/>
                          </a:solidFill>
                        </a:rPr>
                        <a:t>Ob’ekt</a:t>
                      </a:r>
                    </a:p>
                  </a:txBody>
                  <a:tcPr marL="73152" marR="73152" marT="36576" marB="36576">
                    <a:solidFill>
                      <a:srgbClr val="0B1F3A"/>
                    </a:solidFill>
                  </a:tcPr>
                </a:tc>
                <a:tc>
                  <a:txBody>
                    <a:bodyPr/>
                    <a:lstStyle/>
                    <a:p>
                      <a:r>
                        <a:rPr sz="1600" b="1">
                          <a:solidFill>
                            <a:srgbClr val="FFFFFF"/>
                          </a:solidFill>
                        </a:rPr>
                        <a:t>Topilma</a:t>
                      </a:r>
                    </a:p>
                  </a:txBody>
                  <a:tcPr marL="73152" marR="73152" marT="36576" marB="36576">
                    <a:solidFill>
                      <a:srgbClr val="0B1F3A"/>
                    </a:solidFill>
                  </a:tcPr>
                </a:tc>
                <a:tc>
                  <a:txBody>
                    <a:bodyPr/>
                    <a:lstStyle/>
                    <a:p>
                      <a:r>
                        <a:rPr sz="1600" b="1">
                          <a:solidFill>
                            <a:srgbClr val="FFFFFF"/>
                          </a:solidFill>
                        </a:rPr>
                        <a:t>Izoh</a:t>
                      </a:r>
                    </a:p>
                  </a:txBody>
                  <a:tcPr marL="73152" marR="73152" marT="36576" marB="36576">
                    <a:solidFill>
                      <a:srgbClr val="0B1F3A"/>
                    </a:solidFill>
                  </a:tcPr>
                </a:tc>
              </a:tr>
              <a:tr h="614476">
                <a:tc>
                  <a:txBody>
                    <a:bodyPr/>
                    <a:lstStyle/>
                    <a:p>
                      <a:r>
                        <a:rPr sz="1500" b="0">
                          <a:solidFill>
                            <a:srgbClr val="1F2937"/>
                          </a:solidFill>
                        </a:rPr>
                        <a:t>A’zolar, to‘qimalar</a:t>
                      </a:r>
                    </a:p>
                  </a:txBody>
                  <a:tcPr marL="73152" marR="73152" marT="36576" marB="36576">
                    <a:solidFill>
                      <a:srgbClr val="E8EEF6"/>
                    </a:solidFill>
                  </a:tcPr>
                </a:tc>
                <a:tc>
                  <a:txBody>
                    <a:bodyPr/>
                    <a:lstStyle/>
                    <a:p>
                      <a:r>
                        <a:rPr sz="1500" b="0">
                          <a:solidFill>
                            <a:srgbClr val="1F2937"/>
                          </a:solidFill>
                        </a:rPr>
                        <a:t>To‘laqon, pushti-qizg‘ish tus</a:t>
                      </a:r>
                    </a:p>
                  </a:txBody>
                  <a:tcPr marL="73152" marR="73152" marT="36576" marB="36576">
                    <a:solidFill>
                      <a:srgbClr val="E8EEF6"/>
                    </a:solidFill>
                  </a:tcPr>
                </a:tc>
                <a:tc>
                  <a:txBody>
                    <a:bodyPr/>
                    <a:lstStyle/>
                    <a:p>
                      <a:r>
                        <a:rPr sz="1500" b="0">
                          <a:solidFill>
                            <a:srgbClr val="1F2937"/>
                          </a:solidFill>
                        </a:rPr>
                        <a:t>Barcha to‘qimalarda</a:t>
                      </a:r>
                    </a:p>
                  </a:txBody>
                  <a:tcPr marL="73152" marR="73152" marT="36576" marB="36576">
                    <a:solidFill>
                      <a:srgbClr val="E8EEF6"/>
                    </a:solidFill>
                  </a:tcPr>
                </a:tc>
              </a:tr>
              <a:tr h="614476">
                <a:tc>
                  <a:txBody>
                    <a:bodyPr/>
                    <a:lstStyle/>
                    <a:p>
                      <a:r>
                        <a:rPr sz="1500" b="0">
                          <a:solidFill>
                            <a:srgbClr val="1F2937"/>
                          </a:solidFill>
                        </a:rPr>
                        <a:t>Yurak chap kamerasi</a:t>
                      </a:r>
                    </a:p>
                  </a:txBody>
                  <a:tcPr marL="73152" marR="73152" marT="36576" marB="36576">
                    <a:solidFill>
                      <a:srgbClr val="FFFFFF"/>
                    </a:solidFill>
                  </a:tcPr>
                </a:tc>
                <a:tc>
                  <a:txBody>
                    <a:bodyPr/>
                    <a:lstStyle/>
                    <a:p>
                      <a:r>
                        <a:rPr sz="1500" b="0">
                          <a:solidFill>
                            <a:srgbClr val="1F2937"/>
                          </a:solidFill>
                        </a:rPr>
                        <a:t>Laxtali qip-qizil qon</a:t>
                      </a:r>
                    </a:p>
                  </a:txBody>
                  <a:tcPr marL="73152" marR="73152" marT="36576" marB="36576">
                    <a:solidFill>
                      <a:srgbClr val="FFFFFF"/>
                    </a:solidFill>
                  </a:tcPr>
                </a:tc>
                <a:tc>
                  <a:txBody>
                    <a:bodyPr/>
                    <a:lstStyle/>
                    <a:p>
                      <a:r>
                        <a:rPr sz="1500" b="0">
                          <a:solidFill>
                            <a:srgbClr val="1F2937"/>
                          </a:solidFill>
                        </a:rPr>
                        <a:t>Aorta, yirik arteriyalarda ham</a:t>
                      </a:r>
                    </a:p>
                  </a:txBody>
                  <a:tcPr marL="73152" marR="73152" marT="36576" marB="36576">
                    <a:solidFill>
                      <a:srgbClr val="FFFFFF"/>
                    </a:solidFill>
                  </a:tcPr>
                </a:tc>
              </a:tr>
              <a:tr h="614476">
                <a:tc>
                  <a:txBody>
                    <a:bodyPr/>
                    <a:lstStyle/>
                    <a:p>
                      <a:r>
                        <a:rPr sz="1500" b="0">
                          <a:solidFill>
                            <a:srgbClr val="1F2937"/>
                          </a:solidFill>
                        </a:rPr>
                        <a:t>Oshqozon</a:t>
                      </a:r>
                    </a:p>
                  </a:txBody>
                  <a:tcPr marL="73152" marR="73152" marT="36576" marB="36576">
                    <a:solidFill>
                      <a:srgbClr val="E8EEF6"/>
                    </a:solidFill>
                  </a:tcPr>
                </a:tc>
                <a:tc>
                  <a:txBody>
                    <a:bodyPr/>
                    <a:lstStyle/>
                    <a:p>
                      <a:r>
                        <a:rPr sz="1500" b="0">
                          <a:solidFill>
                            <a:srgbClr val="1F2937"/>
                          </a:solidFill>
                        </a:rPr>
                        <a:t>Bo‘sh, o‘lchami kichik</a:t>
                      </a:r>
                    </a:p>
                  </a:txBody>
                  <a:tcPr marL="73152" marR="73152" marT="36576" marB="36576">
                    <a:solidFill>
                      <a:srgbClr val="E8EEF6"/>
                    </a:solidFill>
                  </a:tcPr>
                </a:tc>
                <a:tc>
                  <a:txBody>
                    <a:bodyPr/>
                    <a:lstStyle/>
                    <a:p>
                      <a:r>
                        <a:rPr sz="1500" b="0">
                          <a:solidFill>
                            <a:srgbClr val="1F2937"/>
                          </a:solidFill>
                        </a:rPr>
                        <a:t>Puxnarevich belgisi</a:t>
                      </a:r>
                    </a:p>
                  </a:txBody>
                  <a:tcPr marL="73152" marR="73152" marT="36576" marB="36576">
                    <a:solidFill>
                      <a:srgbClr val="E8EEF6"/>
                    </a:solidFill>
                  </a:tcPr>
                </a:tc>
              </a:tr>
              <a:tr h="614476">
                <a:tc>
                  <a:txBody>
                    <a:bodyPr/>
                    <a:lstStyle/>
                    <a:p>
                      <a:r>
                        <a:rPr sz="1500" b="0">
                          <a:solidFill>
                            <a:srgbClr val="1F2937"/>
                          </a:solidFill>
                        </a:rPr>
                        <a:t>O‘lim tempi</a:t>
                      </a:r>
                    </a:p>
                  </a:txBody>
                  <a:tcPr marL="73152" marR="73152" marT="36576" marB="36576">
                    <a:solidFill>
                      <a:srgbClr val="FFFFFF"/>
                    </a:solidFill>
                  </a:tcPr>
                </a:tc>
                <a:tc>
                  <a:txBody>
                    <a:bodyPr/>
                    <a:lstStyle/>
                    <a:p>
                      <a:r>
                        <a:rPr sz="1500" b="0">
                          <a:solidFill>
                            <a:srgbClr val="1F2937"/>
                          </a:solidFill>
                        </a:rPr>
                        <a:t>Sekin o‘lim</a:t>
                      </a:r>
                    </a:p>
                  </a:txBody>
                  <a:tcPr marL="73152" marR="73152" marT="36576" marB="36576">
                    <a:solidFill>
                      <a:srgbClr val="FFFFFF"/>
                    </a:solidFill>
                  </a:tcPr>
                </a:tc>
                <a:tc>
                  <a:txBody>
                    <a:bodyPr/>
                    <a:lstStyle/>
                    <a:p>
                      <a:r>
                        <a:rPr sz="1500" b="0">
                          <a:solidFill>
                            <a:srgbClr val="1F2937"/>
                          </a:solidFill>
                        </a:rPr>
                        <a:t>Laxtali qon sababi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Ichki tekshiruv topilmalari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193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Fabrikantov belgisi va siydik qopi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Past harorat tufayli o'lim holatlarini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42</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Qon tomir devorlarining o‘tkazuvchanligi oshgani sababli ichki a’zolarda diapedez qon quyilishlari topiladi.</a:t>
            </a:r>
          </a:p>
          <a:p>
            <a:pPr>
              <a:spcAft>
                <a:spcPts val="1200"/>
              </a:spcAft>
            </a:pPr>
            <a:r>
              <a:rPr sz="2200">
                <a:solidFill>
                  <a:srgbClr val="1F2937"/>
                </a:solidFill>
                <a:latin typeface="Calibri"/>
              </a:rPr>
              <a:t>▸  Buyrak jomlari shilliq qavatidagi mayda qon quyilishlar Fabrikantov belgisi deb ataladi.</a:t>
            </a:r>
          </a:p>
          <a:p>
            <a:pPr>
              <a:spcAft>
                <a:spcPts val="1200"/>
              </a:spcAft>
            </a:pPr>
            <a:r>
              <a:rPr sz="2200">
                <a:solidFill>
                  <a:srgbClr val="1F2937"/>
                </a:solidFill>
                <a:latin typeface="Calibri"/>
              </a:rPr>
              <a:t>▸  Innervatsiya buzilib, silliq mushaklar falaji tufayli siydik qopi siydikka to‘la bo‘ladi.</a:t>
            </a:r>
          </a:p>
          <a:p>
            <a:pPr>
              <a:spcAft>
                <a:spcPts val="1200"/>
              </a:spcAft>
            </a:pPr>
            <a:r>
              <a:rPr sz="2200">
                <a:solidFill>
                  <a:srgbClr val="1F2937"/>
                </a:solidFill>
                <a:latin typeface="Calibri"/>
              </a:rPr>
              <a:t>▸  Diqqat: Fabrikantov belgisi (buyrak jomi) ≠ Vishnevskiy dog‘lari (oshqozon, ba’zan o‘n ikki barmoqli ichak shilliq qavati).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193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Vishnevskiy dog‘lari: asosiy belgi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Past harorat tufayli o'lim holatlarini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Oshqozon, ba’zan o‘n ikki barmoqli ichak shilliq qavatida mayda qon quyilishlar topiladi.</a:t>
            </a:r>
          </a:p>
          <a:p>
            <a:pPr>
              <a:spcAft>
                <a:spcPts val="800"/>
              </a:spcAft>
            </a:pPr>
            <a:r>
              <a:rPr sz="1800">
                <a:solidFill>
                  <a:srgbClr val="1F2937"/>
                </a:solidFill>
                <a:latin typeface="Calibri"/>
              </a:rPr>
              <a:t>▸  Bu dog‘lar sovuq qotishdan o‘limning 80-90% ida uchraydi va muhim diagnostik ahamiyatga ega.</a:t>
            </a:r>
          </a:p>
          <a:p>
            <a:pPr>
              <a:spcAft>
                <a:spcPts val="800"/>
              </a:spcAft>
            </a:pPr>
            <a:r>
              <a:rPr sz="1800">
                <a:solidFill>
                  <a:srgbClr val="1F2937"/>
                </a:solidFill>
                <a:latin typeface="Calibri"/>
              </a:rPr>
              <a:t>▸  O‘limdan 6-9 oy o‘tgandan keyin ham aniqlanishi mumkin.</a:t>
            </a:r>
          </a:p>
        </p:txBody>
      </p:sp>
      <p:sp>
        <p:nvSpPr>
          <p:cNvPr id="9" name="Rounded Rectangle 8"/>
          <p:cNvSpPr/>
          <p:nvPr/>
        </p:nvSpPr>
        <p:spPr>
          <a:xfrm>
            <a:off x="5440680" y="1417320"/>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Uchrash chastotasi</a:t>
            </a:r>
          </a:p>
          <a:p>
            <a:pPr algn="l">
              <a:spcAft>
                <a:spcPts val="100"/>
              </a:spcAft>
            </a:pPr>
            <a:r>
              <a:rPr sz="3000" b="1">
                <a:solidFill>
                  <a:srgbClr val="0B1F3A"/>
                </a:solidFill>
                <a:latin typeface="Calibri"/>
              </a:rPr>
              <a:t>80–90 %</a:t>
            </a:r>
          </a:p>
        </p:txBody>
      </p:sp>
      <p:sp>
        <p:nvSpPr>
          <p:cNvPr id="12" name="Rounded Rectangle 11"/>
          <p:cNvSpPr/>
          <p:nvPr/>
        </p:nvSpPr>
        <p:spPr>
          <a:xfrm>
            <a:off x="8578443" y="1417320"/>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78443"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8171" y="1417320"/>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Murdada saqlanishi</a:t>
            </a:r>
          </a:p>
          <a:p>
            <a:pPr algn="l">
              <a:spcAft>
                <a:spcPts val="100"/>
              </a:spcAft>
            </a:pPr>
            <a:r>
              <a:rPr sz="2500" b="1">
                <a:solidFill>
                  <a:srgbClr val="0B1F3A"/>
                </a:solidFill>
                <a:latin typeface="Calibri"/>
              </a:rPr>
              <a:t>6–9 oydan keyin</a:t>
            </a:r>
          </a:p>
        </p:txBody>
      </p:sp>
      <p:sp>
        <p:nvSpPr>
          <p:cNvPr id="15" name="Rounded Rectangle 14"/>
          <p:cNvSpPr/>
          <p:nvPr/>
        </p:nvSpPr>
        <p:spPr>
          <a:xfrm>
            <a:off x="5440680" y="3118104"/>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40680" y="3209544"/>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50408" y="3118104"/>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Diametri</a:t>
            </a:r>
          </a:p>
          <a:p>
            <a:pPr algn="l">
              <a:spcAft>
                <a:spcPts val="100"/>
              </a:spcAft>
            </a:pPr>
            <a:r>
              <a:rPr sz="3000" b="1">
                <a:solidFill>
                  <a:srgbClr val="0B1F3A"/>
                </a:solidFill>
                <a:latin typeface="Calibri"/>
              </a:rPr>
              <a:t>≤0,5 sm</a:t>
            </a:r>
          </a:p>
        </p:txBody>
      </p:sp>
      <p:sp>
        <p:nvSpPr>
          <p:cNvPr id="18" name="Rounded Rectangle 17"/>
          <p:cNvSpPr/>
          <p:nvPr/>
        </p:nvSpPr>
        <p:spPr>
          <a:xfrm>
            <a:off x="8578443" y="3118104"/>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78443" y="3209544"/>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8171" y="3118104"/>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Joylashuvi</a:t>
            </a:r>
          </a:p>
          <a:p>
            <a:pPr algn="l">
              <a:spcAft>
                <a:spcPts val="100"/>
              </a:spcAft>
            </a:pPr>
            <a:r>
              <a:rPr sz="3000" b="1">
                <a:solidFill>
                  <a:srgbClr val="0B1F3A"/>
                </a:solidFill>
                <a:latin typeface="Calibri"/>
              </a:rPr>
              <a:t>burma tepasi</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Vishnevskiy dog‘lari</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193</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Vishnevskiy dog‘lari: hosil bo‘lish mexanizmi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Past harorat tufayli o'lim holatlarini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42</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Past harorat vegetativ nerv tizimini, xususan quyosh chigalining trofik funksiyasini buzadi.</a:t>
            </a:r>
          </a:p>
          <a:p>
            <a:pPr>
              <a:spcAft>
                <a:spcPts val="800"/>
              </a:spcAft>
            </a:pPr>
            <a:r>
              <a:rPr sz="1800">
                <a:solidFill>
                  <a:srgbClr val="1F2937"/>
                </a:solidFill>
                <a:latin typeface="Calibri"/>
              </a:rPr>
              <a:t>▸  Vazomotor o‘zgarishlar tomir devori o‘tkazuvchanligini oshiradi, eritrotsitlar diapedezi yuz beradi.</a:t>
            </a:r>
          </a:p>
          <a:p>
            <a:pPr>
              <a:spcAft>
                <a:spcPts val="800"/>
              </a:spcAft>
            </a:pPr>
            <a:r>
              <a:rPr sz="1800">
                <a:solidFill>
                  <a:srgbClr val="1F2937"/>
                </a:solidFill>
                <a:latin typeface="Calibri"/>
              </a:rPr>
              <a:t>▸  Qon quyilish sohasida shilliq qavat nekrozi bo‘ladi; bu spazmdan kelib chiqqan gemorragik infarkt.</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Past harorat ta’siri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Quyosh chigali buzilishi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Tomir o‘tkazuvchanligi oshadi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Spazm → gemorragik infarkt</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Xlorid kislota → nordon gematin</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Dog‘ hosil bo‘lish zanjiri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193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Vishnevskiy dog‘lari: vaqt va yosh omili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Past harorat tufayli o'lim holatlarini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42</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Past haroratdan o‘lim tez sodir bo‘lsa, Vishnevskiy dog‘lari juda kam bo‘ladi yoki umuman bo‘lmasligi mumkin.</a:t>
            </a:r>
          </a:p>
          <a:p>
            <a:pPr>
              <a:spcAft>
                <a:spcPts val="1200"/>
              </a:spcAft>
            </a:pPr>
            <a:r>
              <a:rPr sz="2200">
                <a:solidFill>
                  <a:srgbClr val="1F2937"/>
                </a:solidFill>
                <a:latin typeface="Calibri"/>
              </a:rPr>
              <a:t>▸  Shu sababli kichik yoshdagi bolalarda bu belgi ko‘pincha kuzatilmaydi.</a:t>
            </a:r>
          </a:p>
          <a:p>
            <a:pPr>
              <a:spcAft>
                <a:spcPts val="1200"/>
              </a:spcAft>
            </a:pPr>
            <a:r>
              <a:rPr sz="2200">
                <a:solidFill>
                  <a:srgbClr val="1F2937"/>
                </a:solidFill>
                <a:latin typeface="Calibri"/>
              </a:rPr>
              <a:t>▸  O‘lim bir necha soat yoki undan ko‘p vaqtdan keyin kelsa, shilliq qavatda ko‘plab qon quyilishlar aniqlanadi.</a:t>
            </a:r>
          </a:p>
          <a:p>
            <a:pPr>
              <a:spcAft>
                <a:spcPts val="1200"/>
              </a:spcAft>
            </a:pPr>
            <a:r>
              <a:rPr sz="2200">
                <a:solidFill>
                  <a:srgbClr val="1F2937"/>
                </a:solidFill>
                <a:latin typeface="Calibri"/>
              </a:rPr>
              <a:t>▸  Vaqt o‘tib qon quyilishlar kuchayadi, o‘rnida eroziya, keyin yara paydo bo‘ladi; perforatsiya va qon ketish asorat bo‘lishi mumkin.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193, 193-194, 194</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Simpson: gipotermiyada murda topilmalari va xulq</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Past harorat tufayli o'lim holatlarini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Yirik bo‘g‘imlar (tirsak, son, tizza) ustida pushti-binafsha dog‘ («sovuq eritemasi») gipotermiyadan o‘limlarning taxminan 50 foizida uchraydi.</a:t>
            </a:r>
          </a:p>
          <a:p>
            <a:pPr>
              <a:spcAft>
                <a:spcPts val="800"/>
              </a:spcAft>
            </a:pPr>
            <a:r>
              <a:rPr sz="1600">
                <a:solidFill>
                  <a:srgbClr val="1F2937"/>
                </a:solidFill>
                <a:latin typeface="Calibri"/>
              </a:rPr>
              <a:t>▸  Mikroskopda eritrotsit chiqishi (ekstravazat) yo‘q — bu uni ko‘karishdan farqlaydi.</a:t>
            </a:r>
          </a:p>
          <a:p>
            <a:pPr>
              <a:spcAft>
                <a:spcPts val="800"/>
              </a:spcAft>
            </a:pPr>
            <a:r>
              <a:rPr sz="1600">
                <a:solidFill>
                  <a:srgbClr val="1F2937"/>
                </a:solidFill>
                <a:latin typeface="Calibri"/>
              </a:rPr>
              <a:t>▸  Oshqozondagi gemorragik eroziyalar (Vishnevskiy dog‘lari) spetsifik emas: sepsis, shok va alkogol suiiste’molida ham bo‘ladi.</a:t>
            </a:r>
          </a:p>
          <a:p>
            <a:pPr>
              <a:spcAft>
                <a:spcPts val="800"/>
              </a:spcAft>
            </a:pPr>
            <a:r>
              <a:rPr sz="1600">
                <a:solidFill>
                  <a:srgbClr val="1F2937"/>
                </a:solidFill>
                <a:latin typeface="Calibri"/>
              </a:rPr>
              <a:t>▸  Paradoksal yechinish va «yashirinib o‘lish» sindromi hodisa joyini shubhali ko‘rsatishi mumkin; ikkinchisi sekin sovishda ko‘proq kuzatiladi.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Gipotermiya topilmalari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Teri</a:t>
            </a:r>
          </a:p>
          <a:p>
            <a:pPr algn="l">
              <a:spcAft>
                <a:spcPts val="0"/>
              </a:spcAft>
            </a:pPr>
            <a:r>
              <a:rPr sz="1200" b="0">
                <a:solidFill>
                  <a:srgbClr val="1F2937"/>
                </a:solidFill>
                <a:latin typeface="Calibri"/>
              </a:rPr>
              <a:t>Yirik bo‘g‘imlarda pushti dog‘ (≈50 %)  ·  Mikroskopda eritrotsit chiqishi yo‘q</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Oshqozon</a:t>
            </a:r>
          </a:p>
          <a:p>
            <a:pPr algn="l">
              <a:spcAft>
                <a:spcPts val="0"/>
              </a:spcAft>
            </a:pPr>
            <a:r>
              <a:rPr sz="1200" b="0">
                <a:solidFill>
                  <a:srgbClr val="1F2937"/>
                </a:solidFill>
                <a:latin typeface="Calibri"/>
              </a:rPr>
              <a:t>Vishnevskiy dog‘lari  ·  Sepsis, shok, alkogolda ham</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Ichak, oshqozon osti bezi</a:t>
            </a:r>
          </a:p>
          <a:p>
            <a:pPr algn="l">
              <a:spcAft>
                <a:spcPts val="0"/>
              </a:spcAft>
            </a:pPr>
            <a:r>
              <a:rPr sz="1200" b="0">
                <a:solidFill>
                  <a:srgbClr val="1F2937"/>
                </a:solidFill>
                <a:latin typeface="Calibri"/>
              </a:rPr>
              <a:t>Gemorragik eroziya, ichak infarkti  ·  Gemorragik pankreatit</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Xulq belgilari</a:t>
            </a:r>
          </a:p>
          <a:p>
            <a:pPr algn="l">
              <a:spcAft>
                <a:spcPts val="0"/>
              </a:spcAft>
            </a:pPr>
            <a:r>
              <a:rPr sz="1200" b="0">
                <a:solidFill>
                  <a:srgbClr val="1F2937"/>
                </a:solidFill>
                <a:latin typeface="Calibri"/>
              </a:rPr>
              <a:t>Paradoksal yechinish  ·  «Yashirinib o‘lish» sindromi</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Murda va hodisa joyi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Payne-James J., Jones R., Karch S.B., Manlove J., Simpson's Forensic Medicine, betlar: 177, 177–178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ichki belgilar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Past harorat tufayli o'lim holatlarini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Savol: qaysi a’zodagi o‘zgarish qaysi olim nomi bilan ataladi? Puxnarevich, Fabrikantov va Vishnevskiy belgilarini moslang.</a:t>
            </a:r>
          </a:p>
          <a:p>
            <a:pPr>
              <a:spcAft>
                <a:spcPts val="800"/>
              </a:spcAft>
            </a:pPr>
            <a:r>
              <a:rPr sz="1800">
                <a:solidFill>
                  <a:srgbClr val="1F2937"/>
                </a:solidFill>
                <a:latin typeface="Calibri"/>
              </a:rPr>
              <a:t>▸  Puxnarevich belgisi: oshqozon bo‘sh va o‘lchami ancha kichik bo‘ladi.</a:t>
            </a:r>
          </a:p>
          <a:p>
            <a:pPr>
              <a:spcAft>
                <a:spcPts val="800"/>
              </a:spcAft>
            </a:pPr>
            <a:r>
              <a:rPr sz="1800">
                <a:solidFill>
                  <a:srgbClr val="1F2937"/>
                </a:solidFill>
                <a:latin typeface="Calibri"/>
              </a:rPr>
              <a:t>▸  Fabrikantov belgisi: buyrak jomlari shilliq qavatida mayda qon quyilishlar. Vishnevskiy dog‘lari esa oshqozon shilliq qavatida.</a:t>
            </a:r>
          </a:p>
          <a:p>
            <a:pPr>
              <a:spcAft>
                <a:spcPts val="800"/>
              </a:spcAft>
            </a:pPr>
            <a:r>
              <a:rPr sz="1800">
                <a:solidFill>
                  <a:srgbClr val="1F2937"/>
                </a:solidFill>
                <a:latin typeface="Calibri"/>
              </a:rPr>
              <a:t>▸  Diqqat: xato qilish xavfi – Fabrikantov belgisi ≠ Vishnevskiy dog‘lari. Birinchisi buyrakda, ikkinchisi oshqozonda.</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Nomli ichki belgilar</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Puxnarevich</a:t>
            </a:r>
          </a:p>
          <a:p>
            <a:pPr algn="l">
              <a:spcAft>
                <a:spcPts val="0"/>
              </a:spcAft>
            </a:pPr>
            <a:r>
              <a:rPr sz="1200" b="0">
                <a:solidFill>
                  <a:srgbClr val="1F2937"/>
                </a:solidFill>
                <a:latin typeface="Calibri"/>
              </a:rPr>
              <a:t>Oshqozon bo‘sh, kichik</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Fabrikantov</a:t>
            </a:r>
          </a:p>
          <a:p>
            <a:pPr algn="l">
              <a:spcAft>
                <a:spcPts val="0"/>
              </a:spcAft>
            </a:pPr>
            <a:r>
              <a:rPr sz="1200" b="0">
                <a:solidFill>
                  <a:srgbClr val="1F2937"/>
                </a:solidFill>
                <a:latin typeface="Calibri"/>
              </a:rPr>
              <a:t>Buyrak jomi: mayda qon quyilish</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Vishnevskiy</a:t>
            </a:r>
          </a:p>
          <a:p>
            <a:pPr algn="l">
              <a:spcAft>
                <a:spcPts val="0"/>
              </a:spcAft>
            </a:pPr>
            <a:r>
              <a:rPr sz="1200" b="0">
                <a:solidFill>
                  <a:srgbClr val="1F2937"/>
                </a:solidFill>
                <a:latin typeface="Calibri"/>
              </a:rPr>
              <a:t>Oshqozon shilliq qavati dog‘lari</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Kasyanov</a:t>
            </a:r>
          </a:p>
          <a:p>
            <a:pPr algn="l">
              <a:spcAft>
                <a:spcPts val="0"/>
              </a:spcAft>
            </a:pPr>
            <a:r>
              <a:rPr sz="1200" b="0">
                <a:solidFill>
                  <a:srgbClr val="1F2937"/>
                </a:solidFill>
                <a:latin typeface="Calibri"/>
              </a:rPr>
              <a:t>Buyrak to‘g‘ri naychalari</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Belgi — a’zo moslashi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193</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Mikroskopik va gistokimyoviy tekshiruv</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Past harorat tufayli o'lim holatlarini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42</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Mikroskopda: mikrotsirkulyatsiyada spazm, shishish, mayda qon quyilishlar, bronxospazm aniqlanadi.</a:t>
            </a:r>
          </a:p>
          <a:p>
            <a:pPr>
              <a:spcAft>
                <a:spcPts val="800"/>
              </a:spcAft>
            </a:pPr>
            <a:r>
              <a:rPr sz="1800">
                <a:solidFill>
                  <a:srgbClr val="1F2937"/>
                </a:solidFill>
                <a:latin typeface="Calibri"/>
              </a:rPr>
              <a:t>▸  Buyrak to‘g‘ri naychalari epiteliysining o‘zgarishi M.I.Kasyanov belgisi deyiladi.</a:t>
            </a:r>
          </a:p>
          <a:p>
            <a:pPr>
              <a:spcAft>
                <a:spcPts val="800"/>
              </a:spcAft>
            </a:pPr>
            <a:r>
              <a:rPr sz="1800">
                <a:solidFill>
                  <a:srgbClr val="1F2937"/>
                </a:solidFill>
                <a:latin typeface="Calibri"/>
              </a:rPr>
              <a:t>▸  Qisqa muddatli o‘limda (muzdek suv, shamol) qonda qand kamayib, jigarda glikogen saqlanishi mumkin.</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880616"/>
                <a:gridCol w="3407359"/>
              </a:tblGrid>
              <a:tr h="614476">
                <a:tc>
                  <a:txBody>
                    <a:bodyPr/>
                    <a:lstStyle/>
                    <a:p>
                      <a:r>
                        <a:rPr sz="1800" b="1">
                          <a:solidFill>
                            <a:srgbClr val="FFFFFF"/>
                          </a:solidFill>
                        </a:rPr>
                        <a:t>Usul</a:t>
                      </a:r>
                    </a:p>
                  </a:txBody>
                  <a:tcPr marL="73152" marR="73152" marT="36576" marB="36576">
                    <a:solidFill>
                      <a:srgbClr val="0B1F3A"/>
                    </a:solidFill>
                  </a:tcPr>
                </a:tc>
                <a:tc>
                  <a:txBody>
                    <a:bodyPr/>
                    <a:lstStyle/>
                    <a:p>
                      <a:r>
                        <a:rPr sz="1800" b="1">
                          <a:solidFill>
                            <a:srgbClr val="FFFFFF"/>
                          </a:solidFill>
                        </a:rPr>
                        <a:t>Topilma</a:t>
                      </a:r>
                    </a:p>
                  </a:txBody>
                  <a:tcPr marL="73152" marR="73152" marT="36576" marB="36576">
                    <a:solidFill>
                      <a:srgbClr val="0B1F3A"/>
                    </a:solidFill>
                  </a:tcPr>
                </a:tc>
              </a:tr>
              <a:tr h="614476">
                <a:tc>
                  <a:txBody>
                    <a:bodyPr/>
                    <a:lstStyle/>
                    <a:p>
                      <a:r>
                        <a:rPr sz="1700" b="0">
                          <a:solidFill>
                            <a:srgbClr val="1F2937"/>
                          </a:solidFill>
                        </a:rPr>
                        <a:t>Mikroskopiya</a:t>
                      </a:r>
                    </a:p>
                  </a:txBody>
                  <a:tcPr marL="73152" marR="73152" marT="36576" marB="36576">
                    <a:solidFill>
                      <a:srgbClr val="E8EEF6"/>
                    </a:solidFill>
                  </a:tcPr>
                </a:tc>
                <a:tc>
                  <a:txBody>
                    <a:bodyPr/>
                    <a:lstStyle/>
                    <a:p>
                      <a:r>
                        <a:rPr sz="1700" b="0">
                          <a:solidFill>
                            <a:srgbClr val="1F2937"/>
                          </a:solidFill>
                        </a:rPr>
                        <a:t>Spazm, stroma shishi, qon quyilish</a:t>
                      </a:r>
                    </a:p>
                  </a:txBody>
                  <a:tcPr marL="73152" marR="73152" marT="36576" marB="36576">
                    <a:solidFill>
                      <a:srgbClr val="E8EEF6"/>
                    </a:solidFill>
                  </a:tcPr>
                </a:tc>
              </a:tr>
              <a:tr h="614476">
                <a:tc>
                  <a:txBody>
                    <a:bodyPr/>
                    <a:lstStyle/>
                    <a:p>
                      <a:r>
                        <a:rPr sz="1700" b="0">
                          <a:solidFill>
                            <a:srgbClr val="1F2937"/>
                          </a:solidFill>
                        </a:rPr>
                        <a:t>Kasyanov belgisi</a:t>
                      </a:r>
                    </a:p>
                  </a:txBody>
                  <a:tcPr marL="73152" marR="73152" marT="36576" marB="36576">
                    <a:solidFill>
                      <a:srgbClr val="FFFFFF"/>
                    </a:solidFill>
                  </a:tcPr>
                </a:tc>
                <a:tc>
                  <a:txBody>
                    <a:bodyPr/>
                    <a:lstStyle/>
                    <a:p>
                      <a:r>
                        <a:rPr sz="1700" b="0">
                          <a:solidFill>
                            <a:srgbClr val="1F2937"/>
                          </a:solidFill>
                        </a:rPr>
                        <a:t>Naychalar: proliferatsiya, nekrobioz</a:t>
                      </a:r>
                    </a:p>
                  </a:txBody>
                  <a:tcPr marL="73152" marR="73152" marT="36576" marB="36576">
                    <a:solidFill>
                      <a:srgbClr val="FFFFFF"/>
                    </a:solidFill>
                  </a:tcPr>
                </a:tc>
              </a:tr>
              <a:tr h="614476">
                <a:tc>
                  <a:txBody>
                    <a:bodyPr/>
                    <a:lstStyle/>
                    <a:p>
                      <a:r>
                        <a:rPr sz="1700" b="0">
                          <a:solidFill>
                            <a:srgbClr val="1F2937"/>
                          </a:solidFill>
                        </a:rPr>
                        <a:t>Gistokimyo</a:t>
                      </a:r>
                    </a:p>
                  </a:txBody>
                  <a:tcPr marL="73152" marR="73152" marT="36576" marB="36576">
                    <a:solidFill>
                      <a:srgbClr val="E8EEF6"/>
                    </a:solidFill>
                  </a:tcPr>
                </a:tc>
                <a:tc>
                  <a:txBody>
                    <a:bodyPr/>
                    <a:lstStyle/>
                    <a:p>
                      <a:r>
                        <a:rPr sz="1700" b="0">
                          <a:solidFill>
                            <a:srgbClr val="1F2937"/>
                          </a:solidFill>
                        </a:rPr>
                        <a:t>Glikogen va adrenal lipoidlar yo‘qoladi</a:t>
                      </a:r>
                    </a:p>
                  </a:txBody>
                  <a:tcPr marL="73152" marR="73152" marT="36576" marB="36576">
                    <a:solidFill>
                      <a:srgbClr val="E8EEF6"/>
                    </a:solidFill>
                  </a:tcPr>
                </a:tc>
              </a:tr>
              <a:tr h="614476">
                <a:tc>
                  <a:txBody>
                    <a:bodyPr/>
                    <a:lstStyle/>
                    <a:p>
                      <a:r>
                        <a:rPr sz="1700" b="0">
                          <a:solidFill>
                            <a:srgbClr val="1F2937"/>
                          </a:solidFill>
                        </a:rPr>
                        <a:t>Qisqa muddatli o‘lim</a:t>
                      </a:r>
                    </a:p>
                  </a:txBody>
                  <a:tcPr marL="73152" marR="73152" marT="36576" marB="36576">
                    <a:solidFill>
                      <a:srgbClr val="FFFFFF"/>
                    </a:solidFill>
                  </a:tcPr>
                </a:tc>
                <a:tc>
                  <a:txBody>
                    <a:bodyPr/>
                    <a:lstStyle/>
                    <a:p>
                      <a:r>
                        <a:rPr sz="1700" b="0">
                          <a:solidFill>
                            <a:srgbClr val="1F2937"/>
                          </a:solidFill>
                        </a:rPr>
                        <a:t>Jigarda glikogen saqlanib qolishi mumkin</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Mikroskopiya va gistokimyo</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194</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Alkogolni laboratoriya baholash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Past harorat tufayli o'lim holatlarini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42</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Kuchli mastlikda sovuq ta’sir qilsa, qonda alkogol past, siydikda esa baland bo‘lishi mumkin.</a:t>
            </a:r>
          </a:p>
          <a:p>
            <a:pPr>
              <a:spcAft>
                <a:spcPts val="1200"/>
              </a:spcAft>
            </a:pPr>
            <a:r>
              <a:rPr sz="2200">
                <a:solidFill>
                  <a:srgbClr val="1F2937"/>
                </a:solidFill>
                <a:latin typeface="Calibri"/>
              </a:rPr>
              <a:t>▸  Bu holat sovuq sharoitda alkogolning organizm tomonidan kuchli utilizatsiya qilinishi bilan tushuntiriladi.</a:t>
            </a:r>
          </a:p>
          <a:p>
            <a:pPr>
              <a:spcAft>
                <a:spcPts val="1200"/>
              </a:spcAft>
            </a:pPr>
            <a:r>
              <a:rPr sz="2200">
                <a:solidFill>
                  <a:srgbClr val="1F2937"/>
                </a:solidFill>
                <a:latin typeface="Calibri"/>
              </a:rPr>
              <a:t>▸  Spirtli ichimlik teri qon tomirlarini kengaytiradi, issiqlik ajralishi kuchayadi; mastlikda xavf noto‘g‘ri baholanadi.</a:t>
            </a:r>
          </a:p>
          <a:p>
            <a:pPr>
              <a:spcAft>
                <a:spcPts val="1200"/>
              </a:spcAft>
            </a:pPr>
            <a:r>
              <a:rPr sz="2200">
                <a:solidFill>
                  <a:srgbClr val="1F2937"/>
                </a:solidFill>
                <a:latin typeface="Calibri"/>
              </a:rPr>
              <a:t>▸  Kuchli mast odamlarda “sovuq qotgan odam pozasi” bo‘lmasligi mumkin.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194, 191, 192</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Murda muzlashi: hayotiy shikastlardan farqlash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Past harorat tufayli o'lim holatlarini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42</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Murda o‘lim sababidan qat’i nazar minus haroratda muzlashi mumkin; bunda turli jarohatlar paydo bo‘ladi.</a:t>
            </a:r>
          </a:p>
          <a:p>
            <a:pPr>
              <a:spcAft>
                <a:spcPts val="800"/>
              </a:spcAft>
            </a:pPr>
            <a:r>
              <a:rPr sz="1800">
                <a:solidFill>
                  <a:srgbClr val="1F2937"/>
                </a:solidFill>
                <a:latin typeface="Calibri"/>
              </a:rPr>
              <a:t>▸  Diqqat: muzlash natijasidagi jarohat ≠ hayotiy shikast; ularni farqlash zarur.</a:t>
            </a:r>
          </a:p>
          <a:p>
            <a:pPr>
              <a:spcAft>
                <a:spcPts val="800"/>
              </a:spcAft>
            </a:pPr>
            <a:r>
              <a:rPr sz="1800">
                <a:solidFill>
                  <a:srgbClr val="1F2937"/>
                </a:solidFill>
                <a:latin typeface="Calibri"/>
              </a:rPr>
              <a:t>▸  Muzlaganda bosh miya va parenximatoz a’zolar hajmi kattalashadi; kallada bu suyaklar sinishiga olib kelishi mumkin.</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691639"/>
                <a:gridCol w="1728759"/>
                <a:gridCol w="1867576"/>
              </a:tblGrid>
              <a:tr h="614476">
                <a:tc>
                  <a:txBody>
                    <a:bodyPr/>
                    <a:lstStyle/>
                    <a:p>
                      <a:r>
                        <a:rPr sz="1600" b="1">
                          <a:solidFill>
                            <a:srgbClr val="FFFFFF"/>
                          </a:solidFill>
                        </a:rPr>
                        <a:t>Soha</a:t>
                      </a:r>
                    </a:p>
                  </a:txBody>
                  <a:tcPr marL="73152" marR="73152" marT="36576" marB="36576">
                    <a:solidFill>
                      <a:srgbClr val="0B1F3A"/>
                    </a:solidFill>
                  </a:tcPr>
                </a:tc>
                <a:tc>
                  <a:txBody>
                    <a:bodyPr/>
                    <a:lstStyle/>
                    <a:p>
                      <a:r>
                        <a:rPr sz="1600" b="1">
                          <a:solidFill>
                            <a:srgbClr val="FFFFFF"/>
                          </a:solidFill>
                        </a:rPr>
                        <a:t>O‘zgarish</a:t>
                      </a:r>
                    </a:p>
                  </a:txBody>
                  <a:tcPr marL="73152" marR="73152" marT="36576" marB="36576">
                    <a:solidFill>
                      <a:srgbClr val="0B1F3A"/>
                    </a:solidFill>
                  </a:tcPr>
                </a:tc>
                <a:tc>
                  <a:txBody>
                    <a:bodyPr/>
                    <a:lstStyle/>
                    <a:p>
                      <a:r>
                        <a:rPr sz="1600" b="1">
                          <a:solidFill>
                            <a:srgbClr val="FFFFFF"/>
                          </a:solidFill>
                        </a:rPr>
                        <a:t>Natija</a:t>
                      </a:r>
                    </a:p>
                  </a:txBody>
                  <a:tcPr marL="73152" marR="73152" marT="36576" marB="36576">
                    <a:solidFill>
                      <a:srgbClr val="0B1F3A"/>
                    </a:solidFill>
                  </a:tcPr>
                </a:tc>
              </a:tr>
              <a:tr h="614476">
                <a:tc>
                  <a:txBody>
                    <a:bodyPr/>
                    <a:lstStyle/>
                    <a:p>
                      <a:r>
                        <a:rPr sz="1500" b="0">
                          <a:solidFill>
                            <a:srgbClr val="1F2937"/>
                          </a:solidFill>
                        </a:rPr>
                        <a:t>Mikroskopiya</a:t>
                      </a:r>
                    </a:p>
                  </a:txBody>
                  <a:tcPr marL="73152" marR="73152" marT="36576" marB="36576">
                    <a:solidFill>
                      <a:srgbClr val="E8EEF6"/>
                    </a:solidFill>
                  </a:tcPr>
                </a:tc>
                <a:tc>
                  <a:txBody>
                    <a:bodyPr/>
                    <a:lstStyle/>
                    <a:p>
                      <a:r>
                        <a:rPr sz="1500" b="0">
                          <a:solidFill>
                            <a:srgbClr val="1F2937"/>
                          </a:solidFill>
                        </a:rPr>
                        <a:t>Ko‘plab mayda yoriqlar</a:t>
                      </a:r>
                    </a:p>
                  </a:txBody>
                  <a:tcPr marL="73152" marR="73152" marT="36576" marB="36576">
                    <a:solidFill>
                      <a:srgbClr val="E8EEF6"/>
                    </a:solidFill>
                  </a:tcPr>
                </a:tc>
                <a:tc>
                  <a:txBody>
                    <a:bodyPr/>
                    <a:lstStyle/>
                    <a:p>
                      <a:r>
                        <a:rPr sz="1500" b="0">
                          <a:solidFill>
                            <a:srgbClr val="1F2937"/>
                          </a:solidFill>
                        </a:rPr>
                        <a:t>Epidermis dermadan ajraladi</a:t>
                      </a:r>
                    </a:p>
                  </a:txBody>
                  <a:tcPr marL="73152" marR="73152" marT="36576" marB="36576">
                    <a:solidFill>
                      <a:srgbClr val="E8EEF6"/>
                    </a:solidFill>
                  </a:tcPr>
                </a:tc>
              </a:tr>
              <a:tr h="614476">
                <a:tc>
                  <a:txBody>
                    <a:bodyPr/>
                    <a:lstStyle/>
                    <a:p>
                      <a:r>
                        <a:rPr sz="1500" b="0">
                          <a:solidFill>
                            <a:srgbClr val="1F2937"/>
                          </a:solidFill>
                        </a:rPr>
                        <a:t>Ko‘krak, qorin</a:t>
                      </a:r>
                    </a:p>
                  </a:txBody>
                  <a:tcPr marL="73152" marR="73152" marT="36576" marB="36576">
                    <a:solidFill>
                      <a:srgbClr val="FFFFFF"/>
                    </a:solidFill>
                  </a:tcPr>
                </a:tc>
                <a:tc>
                  <a:txBody>
                    <a:bodyPr/>
                    <a:lstStyle/>
                    <a:p>
                      <a:r>
                        <a:rPr sz="1500" b="0">
                          <a:solidFill>
                            <a:srgbClr val="1F2937"/>
                          </a:solidFill>
                        </a:rPr>
                        <a:t>Hajm kattalashadi</a:t>
                      </a:r>
                    </a:p>
                  </a:txBody>
                  <a:tcPr marL="73152" marR="73152" marT="36576" marB="36576">
                    <a:solidFill>
                      <a:srgbClr val="FFFFFF"/>
                    </a:solidFill>
                  </a:tcPr>
                </a:tc>
                <a:tc>
                  <a:txBody>
                    <a:bodyPr/>
                    <a:lstStyle/>
                    <a:p>
                      <a:r>
                        <a:rPr sz="1500" b="0">
                          <a:solidFill>
                            <a:srgbClr val="1F2937"/>
                          </a:solidFill>
                        </a:rPr>
                        <a:t>Jiddiy o‘zgarish bo‘lmaydi</a:t>
                      </a:r>
                    </a:p>
                  </a:txBody>
                  <a:tcPr marL="73152" marR="73152" marT="36576" marB="36576">
                    <a:solidFill>
                      <a:srgbClr val="FFFFFF"/>
                    </a:solidFill>
                  </a:tcPr>
                </a:tc>
              </a:tr>
              <a:tr h="614476">
                <a:tc>
                  <a:txBody>
                    <a:bodyPr/>
                    <a:lstStyle/>
                    <a:p>
                      <a:r>
                        <a:rPr sz="1500" b="0">
                          <a:solidFill>
                            <a:srgbClr val="1F2937"/>
                          </a:solidFill>
                        </a:rPr>
                        <a:t>Kalla bo‘shlig‘i</a:t>
                      </a:r>
                    </a:p>
                  </a:txBody>
                  <a:tcPr marL="73152" marR="73152" marT="36576" marB="36576">
                    <a:solidFill>
                      <a:srgbClr val="E8EEF6"/>
                    </a:solidFill>
                  </a:tcPr>
                </a:tc>
                <a:tc>
                  <a:txBody>
                    <a:bodyPr/>
                    <a:lstStyle/>
                    <a:p>
                      <a:r>
                        <a:rPr sz="1500" b="0">
                          <a:solidFill>
                            <a:srgbClr val="1F2937"/>
                          </a:solidFill>
                        </a:rPr>
                        <a:t>Miya muzlab kengayadi</a:t>
                      </a:r>
                    </a:p>
                  </a:txBody>
                  <a:tcPr marL="73152" marR="73152" marT="36576" marB="36576">
                    <a:solidFill>
                      <a:srgbClr val="E8EEF6"/>
                    </a:solidFill>
                  </a:tcPr>
                </a:tc>
                <a:tc>
                  <a:txBody>
                    <a:bodyPr/>
                    <a:lstStyle/>
                    <a:p>
                      <a:r>
                        <a:rPr sz="1500" b="0">
                          <a:solidFill>
                            <a:srgbClr val="1F2937"/>
                          </a:solidFill>
                        </a:rPr>
                        <a:t>Suyak sinadi, choklar ajraladi</a:t>
                      </a:r>
                    </a:p>
                  </a:txBody>
                  <a:tcPr marL="73152" marR="73152" marT="36576" marB="36576">
                    <a:solidFill>
                      <a:srgbClr val="E8EEF6"/>
                    </a:solidFill>
                  </a:tcPr>
                </a:tc>
              </a:tr>
              <a:tr h="614476">
                <a:tc>
                  <a:txBody>
                    <a:bodyPr/>
                    <a:lstStyle/>
                    <a:p>
                      <a:r>
                        <a:rPr sz="1500" b="0">
                          <a:solidFill>
                            <a:srgbClr val="1F2937"/>
                          </a:solidFill>
                        </a:rPr>
                        <a:t>Shart</a:t>
                      </a:r>
                    </a:p>
                  </a:txBody>
                  <a:tcPr marL="73152" marR="73152" marT="36576" marB="36576">
                    <a:solidFill>
                      <a:srgbClr val="FFFFFF"/>
                    </a:solidFill>
                  </a:tcPr>
                </a:tc>
                <a:tc>
                  <a:txBody>
                    <a:bodyPr/>
                    <a:lstStyle/>
                    <a:p>
                      <a:r>
                        <a:rPr sz="1500" b="0">
                          <a:solidFill>
                            <a:srgbClr val="1F2937"/>
                          </a:solidFill>
                        </a:rPr>
                        <a:t>Bo‘yin boshdan avval muzlaydi</a:t>
                      </a:r>
                    </a:p>
                  </a:txBody>
                  <a:tcPr marL="73152" marR="73152" marT="36576" marB="36576">
                    <a:solidFill>
                      <a:srgbClr val="FFFFFF"/>
                    </a:solidFill>
                  </a:tcPr>
                </a:tc>
                <a:tc>
                  <a:txBody>
                    <a:bodyPr/>
                    <a:lstStyle/>
                    <a:p>
                      <a:r>
                        <a:rPr sz="1500" b="0">
                          <a:solidFill>
                            <a:srgbClr val="1F2937"/>
                          </a:solidFill>
                        </a:rPr>
                        <a:t>Kalla o‘zgarishlari paydo bo‘ladi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Muzlash belgilari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194</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Muzlagan murdani eritish va uning ta’siri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Past harorat tufayli o'lim holatlarini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42</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Muzlagan murdalar odatda xona haroratida eritilib, so‘ng sud-tibbiy tekshiriladi.</a:t>
            </a:r>
          </a:p>
          <a:p>
            <a:pPr>
              <a:spcAft>
                <a:spcPts val="800"/>
              </a:spcAft>
            </a:pPr>
            <a:r>
              <a:rPr sz="1800">
                <a:solidFill>
                  <a:srgbClr val="1F2937"/>
                </a:solidFill>
                <a:latin typeface="Calibri"/>
              </a:rPr>
              <a:t>▸  Eritish bir necha kunni olishi mumkin; muddatni iliq havo yoki issiq suv (+50°S gacha) qisqartiradi.</a:t>
            </a:r>
          </a:p>
          <a:p>
            <a:pPr>
              <a:spcAft>
                <a:spcPts val="800"/>
              </a:spcAft>
            </a:pPr>
            <a:r>
              <a:rPr sz="1800">
                <a:solidFill>
                  <a:srgbClr val="1F2937"/>
                </a:solidFill>
                <a:latin typeface="Calibri"/>
              </a:rPr>
              <a:t>▸  Tez eritish qon gemolizi va to‘qimalarning o‘limdan keyingi imbibitsiyasini kuchaytiradi.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Muzlagan murda</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Xona haroratida eritish</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Tezlatish: iliq havo, issiq suv</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Eritrotsitlar gemolizi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Qon va to‘qima imbibitsiyasi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Eritish zanjiri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194, 194-195, 195</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3: muzlagan murda topildi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Past harorat tufayli o'lim holatlarini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42</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minus haroratda muzlagan murda keltirildi; kalla suyaklarida yoriqlar va choklarning ajralishi topildi.</a:t>
            </a:r>
          </a:p>
          <a:p>
            <a:pPr>
              <a:spcAft>
                <a:spcPts val="1200"/>
              </a:spcAft>
            </a:pPr>
            <a:r>
              <a:rPr sz="2200">
                <a:solidFill>
                  <a:srgbClr val="1F2937"/>
                </a:solidFill>
                <a:latin typeface="Calibri"/>
              </a:rPr>
              <a:t>▸  Muzlagan bosh miya hajmi kattalashib, kalla suyaklarini sindirishi, choklarni ajratishi va yumshoq to‘qimani ichkaridan yorishi mumkin.</a:t>
            </a:r>
          </a:p>
          <a:p>
            <a:pPr>
              <a:spcAft>
                <a:spcPts val="1200"/>
              </a:spcAft>
            </a:pPr>
            <a:r>
              <a:rPr sz="2200">
                <a:solidFill>
                  <a:srgbClr val="1F2937"/>
                </a:solidFill>
                <a:latin typeface="Calibri"/>
              </a:rPr>
              <a:t>▸  Savol: bu hayotiy jarohatmi yoki muzlash natijasimi? Qaysi belgilar va qanday tekshiruv yordam beradi?</a:t>
            </a:r>
          </a:p>
          <a:p>
            <a:pPr>
              <a:spcAft>
                <a:spcPts val="1200"/>
              </a:spcAft>
            </a:pPr>
            <a:r>
              <a:rPr sz="2200">
                <a:solidFill>
                  <a:srgbClr val="1F2937"/>
                </a:solidFill>
                <a:latin typeface="Calibri"/>
              </a:rPr>
              <a:t>▸  Yo‘l: bo‘yin boshdan avval muzlaganmi, mikroskopda mayda yoriqlar va epidermis ajralishi bormi — tekshiring.</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194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Past haroratning mahalliy ta’siri: sovuq urish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Past harorat tufayli o'lim holatlarini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42</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Tana harorati umuman normal bo‘lib, ayrim sohada harorat pasayganda sovuq urish rivojlanadi.</a:t>
            </a:r>
          </a:p>
          <a:p>
            <a:pPr>
              <a:spcAft>
                <a:spcPts val="800"/>
              </a:spcAft>
            </a:pPr>
            <a:r>
              <a:rPr sz="1800">
                <a:solidFill>
                  <a:srgbClr val="1F2937"/>
                </a:solidFill>
                <a:latin typeface="Calibri"/>
              </a:rPr>
              <a:t>▸  Ko‘pincha baxtsiz hodisa; qo‘l-oyoq uchlari, quloq, burun, yonoq. Tovonda I, kaftda III-IV barmoq ko‘p uriladi.</a:t>
            </a:r>
          </a:p>
          <a:p>
            <a:pPr>
              <a:spcAft>
                <a:spcPts val="800"/>
              </a:spcAft>
            </a:pPr>
            <a:r>
              <a:rPr sz="1800">
                <a:solidFill>
                  <a:srgbClr val="1F2937"/>
                </a:solidFill>
                <a:latin typeface="Calibri"/>
              </a:rPr>
              <a:t>▸  Qon tomir spazmi, keyin falaji qon aylanishini sekinlashtiradi yoki to‘xtatadi, to‘qima oziqlanishi buziladi.</a:t>
            </a:r>
          </a:p>
        </p:txBody>
      </p:sp>
      <p:sp>
        <p:nvSpPr>
          <p:cNvPr id="9" name="Rounded Rectangle 8"/>
          <p:cNvSpPr/>
          <p:nvPr/>
        </p:nvSpPr>
        <p:spPr>
          <a:xfrm>
            <a:off x="6263640" y="1463040"/>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Yashirin davr: soha soviydi</a:t>
            </a:r>
          </a:p>
        </p:txBody>
      </p:sp>
      <p:sp>
        <p:nvSpPr>
          <p:cNvPr id="10" name="Down Arrow 9"/>
          <p:cNvSpPr/>
          <p:nvPr/>
        </p:nvSpPr>
        <p:spPr>
          <a:xfrm>
            <a:off x="8770467" y="222199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496312"/>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Soha isiy boshlaydi</a:t>
            </a:r>
          </a:p>
        </p:txBody>
      </p:sp>
      <p:sp>
        <p:nvSpPr>
          <p:cNvPr id="12" name="Down Arrow 11"/>
          <p:cNvSpPr/>
          <p:nvPr/>
        </p:nvSpPr>
        <p:spPr>
          <a:xfrm>
            <a:off x="8770467" y="3255264"/>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529584"/>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Reaktiv davr</a:t>
            </a:r>
          </a:p>
        </p:txBody>
      </p:sp>
      <p:sp>
        <p:nvSpPr>
          <p:cNvPr id="14" name="Down Arrow 13"/>
          <p:cNvSpPr/>
          <p:nvPr/>
        </p:nvSpPr>
        <p:spPr>
          <a:xfrm>
            <a:off x="8770467" y="428853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4562856"/>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Chuqurlikka qarab I–IV daraja</a:t>
            </a:r>
          </a:p>
        </p:txBody>
      </p:sp>
      <p:sp>
        <p:nvSpPr>
          <p:cNvPr id="16" name="TextBox 15"/>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Sovuq urish davrlari</a:t>
            </a:r>
          </a:p>
        </p:txBody>
      </p:sp>
      <p:sp>
        <p:nvSpPr>
          <p:cNvPr id="17" name="TextBox 16"/>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195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Sovuq urish darajalari (I-IV)</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Past harorat tufayli o'lim holatlarini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Reaktiv davrda shikastlanish chuqurligiga qarab sovuq urishning to‘rt darajasi ajratiladi.</a:t>
            </a:r>
          </a:p>
          <a:p>
            <a:pPr>
              <a:spcAft>
                <a:spcPts val="800"/>
              </a:spcAft>
            </a:pPr>
            <a:r>
              <a:rPr sz="1800">
                <a:solidFill>
                  <a:srgbClr val="1F2937"/>
                </a:solidFill>
                <a:latin typeface="Calibri"/>
              </a:rPr>
              <a:t>▸  I va II darajadan keyin shikastlangan sohada uzoq vaqt sovuqqa o‘ta sezgirlik saqlanadi.</a:t>
            </a:r>
          </a:p>
          <a:p>
            <a:pPr>
              <a:spcAft>
                <a:spcPts val="800"/>
              </a:spcAft>
            </a:pPr>
            <a:r>
              <a:rPr sz="1800">
                <a:solidFill>
                  <a:srgbClr val="1F2937"/>
                </a:solidFill>
                <a:latin typeface="Calibri"/>
              </a:rPr>
              <a:t>▸  IV darajada ko‘pincha yiringli infeksiya (flegmona, limfangit, flebit, osteomielit, sepsis) qo‘shiladi.</a:t>
            </a:r>
          </a:p>
        </p:txBody>
      </p:sp>
      <p:sp>
        <p:nvSpPr>
          <p:cNvPr id="9" name="Rounded Rectangle 8"/>
          <p:cNvSpPr/>
          <p:nvPr/>
        </p:nvSpPr>
        <p:spPr>
          <a:xfrm>
            <a:off x="5440680" y="1417320"/>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2162556"/>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I daraja</a:t>
            </a:r>
          </a:p>
          <a:p>
            <a:pPr algn="l">
              <a:spcAft>
                <a:spcPts val="200"/>
              </a:spcAft>
            </a:pPr>
            <a:r>
              <a:rPr sz="1400" b="0">
                <a:solidFill>
                  <a:srgbClr val="1F2937"/>
                </a:solidFill>
                <a:latin typeface="Calibri"/>
              </a:rPr>
              <a:t>Qizg‘ish-ko‘kimtir, shish, qichish; 3–7 kun</a:t>
            </a:r>
          </a:p>
        </p:txBody>
      </p:sp>
      <p:sp>
        <p:nvSpPr>
          <p:cNvPr id="12" name="Rounded Rectangle 11"/>
          <p:cNvSpPr/>
          <p:nvPr/>
        </p:nvSpPr>
        <p:spPr>
          <a:xfrm>
            <a:off x="8578443" y="1417320"/>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88171" y="2162556"/>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9218523" y="1417320"/>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II daraja</a:t>
            </a:r>
          </a:p>
          <a:p>
            <a:pPr algn="l">
              <a:spcAft>
                <a:spcPts val="200"/>
              </a:spcAft>
            </a:pPr>
            <a:r>
              <a:rPr sz="1400" b="0">
                <a:solidFill>
                  <a:srgbClr val="1F2937"/>
                </a:solidFill>
                <a:latin typeface="Calibri"/>
              </a:rPr>
              <a:t>Tiniq suyuqlikli pufaklar; 10–20 kun, chandiqsiz</a:t>
            </a:r>
          </a:p>
        </p:txBody>
      </p:sp>
      <p:sp>
        <p:nvSpPr>
          <p:cNvPr id="15" name="Rounded Rectangle 14"/>
          <p:cNvSpPr/>
          <p:nvPr/>
        </p:nvSpPr>
        <p:spPr>
          <a:xfrm>
            <a:off x="5440680" y="3493008"/>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4238244"/>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3493008"/>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III daraja</a:t>
            </a:r>
          </a:p>
          <a:p>
            <a:pPr algn="l">
              <a:spcAft>
                <a:spcPts val="200"/>
              </a:spcAft>
            </a:pPr>
            <a:r>
              <a:rPr sz="1400" b="0">
                <a:solidFill>
                  <a:srgbClr val="1F2937"/>
                </a:solidFill>
                <a:latin typeface="Calibri"/>
              </a:rPr>
              <a:t>Teri nekrozi, gemorragik pufak; 1–2 oy, chandiq</a:t>
            </a:r>
          </a:p>
        </p:txBody>
      </p:sp>
      <p:sp>
        <p:nvSpPr>
          <p:cNvPr id="18" name="Rounded Rectangle 17"/>
          <p:cNvSpPr/>
          <p:nvPr/>
        </p:nvSpPr>
        <p:spPr>
          <a:xfrm>
            <a:off x="8578443" y="3493008"/>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88171" y="4238244"/>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4</a:t>
            </a:r>
          </a:p>
        </p:txBody>
      </p:sp>
      <p:sp>
        <p:nvSpPr>
          <p:cNvPr id="20" name="TextBox 19"/>
          <p:cNvSpPr txBox="1"/>
          <p:nvPr/>
        </p:nvSpPr>
        <p:spPr>
          <a:xfrm>
            <a:off x="9218523" y="3493008"/>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IV daraja</a:t>
            </a:r>
          </a:p>
          <a:p>
            <a:pPr algn="l">
              <a:spcAft>
                <a:spcPts val="200"/>
              </a:spcAft>
            </a:pPr>
            <a:r>
              <a:rPr sz="1400" b="0">
                <a:solidFill>
                  <a:srgbClr val="1F2937"/>
                </a:solidFill>
                <a:latin typeface="Calibri"/>
              </a:rPr>
              <a:t>Suyakkacha nekroz; soha ajralib, chandiq qoladi</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Sovuq urish darajalari</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195, 196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Reperkussiya, asoratlar va og‘irlik mezonlari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Past harorat tufayli o'lim holatlarini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Reperkussiya: bir qo‘l yoki oyoq urilganda o‘zgarishlar qarama-qarshi tomondagi a’zoda ham chiqishi mumkin.</a:t>
            </a:r>
          </a:p>
          <a:p>
            <a:pPr>
              <a:spcAft>
                <a:spcPts val="800"/>
              </a:spcAft>
            </a:pPr>
            <a:r>
              <a:rPr sz="1800">
                <a:solidFill>
                  <a:srgbClr val="1F2937"/>
                </a:solidFill>
                <a:latin typeface="Calibri"/>
              </a:rPr>
              <a:t>▸  Tibbiy hujjatda voqea tafsiloti, soha harorati pasayishi, daraja va maydon qayd etilishi muhim.</a:t>
            </a:r>
          </a:p>
          <a:p>
            <a:pPr>
              <a:spcAft>
                <a:spcPts val="800"/>
              </a:spcAft>
            </a:pPr>
            <a:r>
              <a:rPr sz="1800">
                <a:solidFill>
                  <a:srgbClr val="1F2937"/>
                </a:solidFill>
                <a:latin typeface="Calibri"/>
              </a:rPr>
              <a:t>▸  Bizning mintaqada sovuq urish ekspertiza ob’ekti sifatida juda kam uchraydi.</a:t>
            </a:r>
          </a:p>
        </p:txBody>
      </p:sp>
      <p:sp>
        <p:nvSpPr>
          <p:cNvPr id="9" name="Rounded Rectangle 8"/>
          <p:cNvSpPr/>
          <p:nvPr/>
        </p:nvSpPr>
        <p:spPr>
          <a:xfrm>
            <a:off x="5440680" y="1417320"/>
            <a:ext cx="1927250"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1817522"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II daraja</a:t>
            </a:r>
          </a:p>
          <a:p>
            <a:pPr algn="l">
              <a:spcAft>
                <a:spcPts val="100"/>
              </a:spcAft>
            </a:pPr>
            <a:r>
              <a:rPr sz="2300" b="1">
                <a:solidFill>
                  <a:srgbClr val="0B1F3A"/>
                </a:solidFill>
                <a:latin typeface="Calibri"/>
              </a:rPr>
              <a:t>&gt; 20 %</a:t>
            </a:r>
            <a:r>
              <a:rPr sz="1100" b="0">
                <a:solidFill>
                  <a:srgbClr val="6B7280"/>
                </a:solidFill>
                <a:latin typeface="Calibri"/>
              </a:rPr>
              <a:t>  tana yuzasi</a:t>
            </a:r>
          </a:p>
        </p:txBody>
      </p:sp>
      <p:sp>
        <p:nvSpPr>
          <p:cNvPr id="12" name="Rounded Rectangle 11"/>
          <p:cNvSpPr/>
          <p:nvPr/>
        </p:nvSpPr>
        <p:spPr>
          <a:xfrm>
            <a:off x="7532522" y="1417320"/>
            <a:ext cx="1927250"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32522"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42250" y="1417320"/>
            <a:ext cx="1817522"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III daraja</a:t>
            </a:r>
          </a:p>
          <a:p>
            <a:pPr algn="l">
              <a:spcAft>
                <a:spcPts val="100"/>
              </a:spcAft>
            </a:pPr>
            <a:r>
              <a:rPr sz="2300" b="1">
                <a:solidFill>
                  <a:srgbClr val="0B1F3A"/>
                </a:solidFill>
                <a:latin typeface="Calibri"/>
              </a:rPr>
              <a:t>&gt; 15 %</a:t>
            </a:r>
            <a:r>
              <a:rPr sz="1100" b="0">
                <a:solidFill>
                  <a:srgbClr val="6B7280"/>
                </a:solidFill>
                <a:latin typeface="Calibri"/>
              </a:rPr>
              <a:t>  tana yuzasi</a:t>
            </a:r>
          </a:p>
        </p:txBody>
      </p:sp>
      <p:sp>
        <p:nvSpPr>
          <p:cNvPr id="15" name="Rounded Rectangle 14"/>
          <p:cNvSpPr/>
          <p:nvPr/>
        </p:nvSpPr>
        <p:spPr>
          <a:xfrm>
            <a:off x="9624364" y="1417320"/>
            <a:ext cx="1927250"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624364"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34092" y="1417320"/>
            <a:ext cx="1817522"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III–IV daraja</a:t>
            </a:r>
          </a:p>
          <a:p>
            <a:pPr algn="l">
              <a:spcAft>
                <a:spcPts val="100"/>
              </a:spcAft>
            </a:pPr>
            <a:r>
              <a:rPr sz="2300" b="1">
                <a:solidFill>
                  <a:srgbClr val="0B1F3A"/>
                </a:solidFill>
                <a:latin typeface="Calibri"/>
              </a:rPr>
              <a:t>&gt; 10 %</a:t>
            </a:r>
            <a:r>
              <a:rPr sz="1100" b="0">
                <a:solidFill>
                  <a:srgbClr val="6B7280"/>
                </a:solidFill>
                <a:latin typeface="Calibri"/>
              </a:rPr>
              <a:t>  tana yuzasi</a:t>
            </a:r>
          </a:p>
        </p:txBody>
      </p:sp>
      <p:sp>
        <p:nvSpPr>
          <p:cNvPr id="18" name="TextBox 17"/>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Hayot uchun xavfli sovuq urish</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196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4: sovuq urgan jabrlanuvchi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Past harorat tufayli o'lim holatlarini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42</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sovuq va nam havoda uzoq qolgan odamning qo‘l barmoqlarida tiniq suyuqlikli pufaklar bor, atrofdagi teri ko‘kimtir va biroz shishgan.</a:t>
            </a:r>
          </a:p>
          <a:p>
            <a:pPr>
              <a:spcAft>
                <a:spcPts val="1200"/>
              </a:spcAft>
            </a:pPr>
            <a:r>
              <a:rPr sz="2200">
                <a:solidFill>
                  <a:srgbClr val="1F2937"/>
                </a:solidFill>
                <a:latin typeface="Calibri"/>
              </a:rPr>
              <a:t>▸  Bu manzara II darajali sovuq urishga mos: pufaklar 1–2-kunda paydo bo‘ladi, 10–20 kunda chandiqsiz o‘tadi.</a:t>
            </a:r>
          </a:p>
          <a:p>
            <a:pPr>
              <a:spcAft>
                <a:spcPts val="1200"/>
              </a:spcAft>
            </a:pPr>
            <a:r>
              <a:rPr sz="2200">
                <a:solidFill>
                  <a:srgbClr val="1F2937"/>
                </a:solidFill>
                <a:latin typeface="Calibri"/>
              </a:rPr>
              <a:t>▸  Savol: hujjatda nimalar yozilishi kerak? Voqea tafsiloti, mahalliy haroratning pasayishi, sovuq urish darajasi va shikastlangan soha maydoni.</a:t>
            </a:r>
          </a:p>
          <a:p>
            <a:pPr>
              <a:spcAft>
                <a:spcPts val="1200"/>
              </a:spcAft>
            </a:pPr>
            <a:r>
              <a:rPr sz="2200">
                <a:solidFill>
                  <a:srgbClr val="1F2937"/>
                </a:solidFill>
                <a:latin typeface="Calibri"/>
              </a:rPr>
              <a:t>▸  Diqqat: faqat darajani yozish yetarli emas, maydon ham ko‘rsatiladi. 20% dan ortiq yuzaning II darajali sovuq urishi hayot uchun xavfli.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195, 196</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Sovuq qotishni tashxislash: belgilar jamlanmasi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Past harorat tufayli o'lim holatlarini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42</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Sud-tibbiy diagnostika sovuq qotishdan o‘limning o‘ziga xos belgilariga asoslanadi.</a:t>
            </a:r>
          </a:p>
          <a:p>
            <a:pPr>
              <a:spcAft>
                <a:spcPts val="800"/>
              </a:spcAft>
            </a:pPr>
            <a:r>
              <a:rPr sz="1800">
                <a:solidFill>
                  <a:srgbClr val="1F2937"/>
                </a:solidFill>
                <a:latin typeface="Calibri"/>
              </a:rPr>
              <a:t>▸  Vishnevskiy dog‘lari 80–90% holatda uchraydi; tez o‘limda kam bo‘lishi yoki bo‘lmasligi mumkin.</a:t>
            </a:r>
          </a:p>
          <a:p>
            <a:pPr>
              <a:spcAft>
                <a:spcPts val="800"/>
              </a:spcAft>
            </a:pPr>
            <a:r>
              <a:rPr sz="1800">
                <a:solidFill>
                  <a:srgbClr val="1F2937"/>
                </a:solidFill>
                <a:latin typeface="Calibri"/>
              </a:rPr>
              <a:t>▸  Eslab qoling: qor tagidagi muz nospetsifik belgi, Vishnevskiy dog‘lari esa muhim belgi.</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573530"/>
                <a:gridCol w="1886626"/>
                <a:gridCol w="1827818"/>
              </a:tblGrid>
              <a:tr h="614476">
                <a:tc>
                  <a:txBody>
                    <a:bodyPr/>
                    <a:lstStyle/>
                    <a:p>
                      <a:r>
                        <a:rPr sz="1600" b="1">
                          <a:solidFill>
                            <a:srgbClr val="FFFFFF"/>
                          </a:solidFill>
                        </a:rPr>
                        <a:t>Belgi turi</a:t>
                      </a:r>
                    </a:p>
                  </a:txBody>
                  <a:tcPr marL="73152" marR="73152" marT="36576" marB="36576">
                    <a:solidFill>
                      <a:srgbClr val="0B1F3A"/>
                    </a:solidFill>
                  </a:tcPr>
                </a:tc>
                <a:tc>
                  <a:txBody>
                    <a:bodyPr/>
                    <a:lstStyle/>
                    <a:p>
                      <a:r>
                        <a:rPr sz="1600" b="1">
                          <a:solidFill>
                            <a:srgbClr val="FFFFFF"/>
                          </a:solidFill>
                        </a:rPr>
                        <a:t>Belgi</a:t>
                      </a:r>
                    </a:p>
                  </a:txBody>
                  <a:tcPr marL="73152" marR="73152" marT="36576" marB="36576">
                    <a:solidFill>
                      <a:srgbClr val="0B1F3A"/>
                    </a:solidFill>
                  </a:tcPr>
                </a:tc>
                <a:tc>
                  <a:txBody>
                    <a:bodyPr/>
                    <a:lstStyle/>
                    <a:p>
                      <a:r>
                        <a:rPr sz="1600" b="1">
                          <a:solidFill>
                            <a:srgbClr val="FFFFFF"/>
                          </a:solidFill>
                        </a:rPr>
                        <a:t>Ahamiyati</a:t>
                      </a:r>
                    </a:p>
                  </a:txBody>
                  <a:tcPr marL="73152" marR="73152" marT="36576" marB="36576">
                    <a:solidFill>
                      <a:srgbClr val="0B1F3A"/>
                    </a:solidFill>
                  </a:tcPr>
                </a:tc>
              </a:tr>
              <a:tr h="614476">
                <a:tc>
                  <a:txBody>
                    <a:bodyPr/>
                    <a:lstStyle/>
                    <a:p>
                      <a:r>
                        <a:rPr sz="1500" b="0">
                          <a:solidFill>
                            <a:srgbClr val="1F2937"/>
                          </a:solidFill>
                        </a:rPr>
                        <a:t>Tashqi</a:t>
                      </a:r>
                    </a:p>
                  </a:txBody>
                  <a:tcPr marL="73152" marR="73152" marT="36576" marB="36576">
                    <a:solidFill>
                      <a:srgbClr val="E8EEF6"/>
                    </a:solidFill>
                  </a:tcPr>
                </a:tc>
                <a:tc>
                  <a:txBody>
                    <a:bodyPr/>
                    <a:lstStyle/>
                    <a:p>
                      <a:r>
                        <a:rPr sz="1500" b="0">
                          <a:solidFill>
                            <a:srgbClr val="1F2937"/>
                          </a:solidFill>
                        </a:rPr>
                        <a:t>Poza, qosh-kiprikda qirov</a:t>
                      </a:r>
                    </a:p>
                  </a:txBody>
                  <a:tcPr marL="73152" marR="73152" marT="36576" marB="36576">
                    <a:solidFill>
                      <a:srgbClr val="E8EEF6"/>
                    </a:solidFill>
                  </a:tcPr>
                </a:tc>
                <a:tc>
                  <a:txBody>
                    <a:bodyPr/>
                    <a:lstStyle/>
                    <a:p>
                      <a:r>
                        <a:rPr sz="1500" b="0">
                          <a:solidFill>
                            <a:srgbClr val="1F2937"/>
                          </a:solidFill>
                        </a:rPr>
                        <a:t>Hayotiy; mastda bo‘lmasligi mumkin</a:t>
                      </a:r>
                    </a:p>
                  </a:txBody>
                  <a:tcPr marL="73152" marR="73152" marT="36576" marB="36576">
                    <a:solidFill>
                      <a:srgbClr val="E8EEF6"/>
                    </a:solidFill>
                  </a:tcPr>
                </a:tc>
              </a:tr>
              <a:tr h="614476">
                <a:tc>
                  <a:txBody>
                    <a:bodyPr/>
                    <a:lstStyle/>
                    <a:p>
                      <a:r>
                        <a:rPr sz="1500" b="0">
                          <a:solidFill>
                            <a:srgbClr val="1F2937"/>
                          </a:solidFill>
                        </a:rPr>
                        <a:t>Tashqi</a:t>
                      </a:r>
                    </a:p>
                  </a:txBody>
                  <a:tcPr marL="73152" marR="73152" marT="36576" marB="36576">
                    <a:solidFill>
                      <a:srgbClr val="FFFFFF"/>
                    </a:solidFill>
                  </a:tcPr>
                </a:tc>
                <a:tc>
                  <a:txBody>
                    <a:bodyPr/>
                    <a:lstStyle/>
                    <a:p>
                      <a:r>
                        <a:rPr sz="1500" b="0">
                          <a:solidFill>
                            <a:srgbClr val="1F2937"/>
                          </a:solidFill>
                        </a:rPr>
                        <a:t>Qor tagidagi muz qatlami</a:t>
                      </a:r>
                    </a:p>
                  </a:txBody>
                  <a:tcPr marL="73152" marR="73152" marT="36576" marB="36576">
                    <a:solidFill>
                      <a:srgbClr val="FFFFFF"/>
                    </a:solidFill>
                  </a:tcPr>
                </a:tc>
                <a:tc>
                  <a:txBody>
                    <a:bodyPr/>
                    <a:lstStyle/>
                    <a:p>
                      <a:r>
                        <a:rPr sz="1500" b="0">
                          <a:solidFill>
                            <a:srgbClr val="1F2937"/>
                          </a:solidFill>
                        </a:rPr>
                        <a:t>Nospetsifik: sovumagan murdada ham</a:t>
                      </a:r>
                    </a:p>
                  </a:txBody>
                  <a:tcPr marL="73152" marR="73152" marT="36576" marB="36576">
                    <a:solidFill>
                      <a:srgbClr val="FFFFFF"/>
                    </a:solidFill>
                  </a:tcPr>
                </a:tc>
              </a:tr>
              <a:tr h="614476">
                <a:tc>
                  <a:txBody>
                    <a:bodyPr/>
                    <a:lstStyle/>
                    <a:p>
                      <a:r>
                        <a:rPr sz="1500" b="0">
                          <a:solidFill>
                            <a:srgbClr val="1F2937"/>
                          </a:solidFill>
                        </a:rPr>
                        <a:t>Ichki</a:t>
                      </a:r>
                    </a:p>
                  </a:txBody>
                  <a:tcPr marL="73152" marR="73152" marT="36576" marB="36576">
                    <a:solidFill>
                      <a:srgbClr val="E8EEF6"/>
                    </a:solidFill>
                  </a:tcPr>
                </a:tc>
                <a:tc>
                  <a:txBody>
                    <a:bodyPr/>
                    <a:lstStyle/>
                    <a:p>
                      <a:r>
                        <a:rPr sz="1500" b="0">
                          <a:solidFill>
                            <a:srgbClr val="1F2937"/>
                          </a:solidFill>
                        </a:rPr>
                        <a:t>Oshqozonda Vishnevskiy dog‘lari</a:t>
                      </a:r>
                    </a:p>
                  </a:txBody>
                  <a:tcPr marL="73152" marR="73152" marT="36576" marB="36576">
                    <a:solidFill>
                      <a:srgbClr val="E8EEF6"/>
                    </a:solidFill>
                  </a:tcPr>
                </a:tc>
                <a:tc>
                  <a:txBody>
                    <a:bodyPr/>
                    <a:lstStyle/>
                    <a:p>
                      <a:r>
                        <a:rPr sz="1500" b="0">
                          <a:solidFill>
                            <a:srgbClr val="1F2937"/>
                          </a:solidFill>
                        </a:rPr>
                        <a:t>80–90% holatda; muhim diagnostik belgi</a:t>
                      </a:r>
                    </a:p>
                  </a:txBody>
                  <a:tcPr marL="73152" marR="73152" marT="36576" marB="36576">
                    <a:solidFill>
                      <a:srgbClr val="E8EEF6"/>
                    </a:solidFill>
                  </a:tcPr>
                </a:tc>
              </a:tr>
              <a:tr h="614476">
                <a:tc>
                  <a:txBody>
                    <a:bodyPr/>
                    <a:lstStyle/>
                    <a:p>
                      <a:r>
                        <a:rPr sz="1500" b="0">
                          <a:solidFill>
                            <a:srgbClr val="1F2937"/>
                          </a:solidFill>
                        </a:rPr>
                        <a:t>Mikroskopik</a:t>
                      </a:r>
                    </a:p>
                  </a:txBody>
                  <a:tcPr marL="73152" marR="73152" marT="36576" marB="36576">
                    <a:solidFill>
                      <a:srgbClr val="FFFFFF"/>
                    </a:solidFill>
                  </a:tcPr>
                </a:tc>
                <a:tc>
                  <a:txBody>
                    <a:bodyPr/>
                    <a:lstStyle/>
                    <a:p>
                      <a:r>
                        <a:rPr sz="1500" b="0">
                          <a:solidFill>
                            <a:srgbClr val="1F2937"/>
                          </a:solidFill>
                        </a:rPr>
                        <a:t>Buyrak to‘g‘ri naychalari o‘zgarishi</a:t>
                      </a:r>
                    </a:p>
                  </a:txBody>
                  <a:tcPr marL="73152" marR="73152" marT="36576" marB="36576">
                    <a:solidFill>
                      <a:srgbClr val="FFFFFF"/>
                    </a:solidFill>
                  </a:tcPr>
                </a:tc>
                <a:tc>
                  <a:txBody>
                    <a:bodyPr/>
                    <a:lstStyle/>
                    <a:p>
                      <a:r>
                        <a:rPr sz="1500" b="0">
                          <a:solidFill>
                            <a:srgbClr val="1F2937"/>
                          </a:solidFill>
                        </a:rPr>
                        <a:t>Kasyanov belgisi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Sovuq qotish belgilari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192, 193, 192–193</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Xulosa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Past harorat tufayli o'lim holatlarini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42</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Past haroratga sezgirlikni namlik, shamol, mavsumga nomos kiyim, charchoq, ochlik va alkogol oshiradi. Bolalar va keksalar sezgirroq.</a:t>
            </a:r>
          </a:p>
          <a:p>
            <a:pPr>
              <a:spcAft>
                <a:spcPts val="1200"/>
              </a:spcAft>
            </a:pPr>
            <a:r>
              <a:rPr sz="2200">
                <a:solidFill>
                  <a:srgbClr val="1F2937"/>
                </a:solidFill>
                <a:latin typeface="Calibri"/>
              </a:rPr>
              <a:t>▸  Avval kompensatsiya, so‘ng dekompensatsiya bo‘ladi. Harorat +25…+22°C ga tushganda o‘lim ko‘pincha nafas olishning birlamchi to‘xtashidan sodir bo‘ladi.</a:t>
            </a:r>
          </a:p>
          <a:p>
            <a:pPr>
              <a:spcAft>
                <a:spcPts val="1200"/>
              </a:spcAft>
            </a:pPr>
            <a:r>
              <a:rPr sz="2200">
                <a:solidFill>
                  <a:srgbClr val="1F2937"/>
                </a:solidFill>
                <a:latin typeface="Calibri"/>
              </a:rPr>
              <a:t>▸  Muzlagan murdada kalla suyaklari sinishi, choklar ajralishi mumkin. Bunday o‘zgarishlarni hayotiy shikastlardan farqlash zarur.</a:t>
            </a:r>
          </a:p>
          <a:p>
            <a:pPr>
              <a:spcAft>
                <a:spcPts val="1200"/>
              </a:spcAft>
            </a:pPr>
            <a:r>
              <a:rPr sz="2200">
                <a:solidFill>
                  <a:srgbClr val="1F2937"/>
                </a:solidFill>
                <a:latin typeface="Calibri"/>
              </a:rPr>
              <a:t>▸  Sovuq urishda daraja va maydon ko‘rsatiladi: 10% dan ortiq III–IV, 15% dan ortiq III yoki 20% dan ortiq II daraja hayot uchun xavfli.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191, 191–192, 194, 196</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Past harorat tufayli o'lim holatlarini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42</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Oshqozon shilliq qavatidagi mayda qon quyilishlar (Vishnevskiy dog‘lari) sovuq qotishdan o‘lganlarning 80–90%ida topiladi. Ular diametri 0,5 sm gacha bo‘ladi, pichoq orqasi yoki suv oqimi bilan oson olinadi va o‘limdan 6–9 oy o‘tgach ham aniqlanishi mumkin.</a:t>
            </a:r>
          </a:p>
          <a:p>
            <a:pPr>
              <a:spcAft>
                <a:spcPts val="1200"/>
              </a:spcAft>
            </a:pPr>
            <a:r>
              <a:rPr sz="1800">
                <a:solidFill>
                  <a:srgbClr val="1F2937"/>
                </a:solidFill>
                <a:latin typeface="Calibri"/>
              </a:rPr>
              <a:t>▸  Hodisa tahlili: qorda yotgan murda tagida muz qatlami topildi. Bu belgi sovuq ta’siriga xos emas. Tana issiqligidan qor erib, keyin muzlaydi. Sovub ulgurmagan murda qorga qo‘yilganda ham xuddi shu manzara hosil bo‘ladi. Shuning uchun u bilan hayotiylik hal qilinmaydi.</a:t>
            </a:r>
          </a:p>
          <a:p>
            <a:pPr>
              <a:spcAft>
                <a:spcPts val="1200"/>
              </a:spcAft>
            </a:pPr>
            <a:r>
              <a:rPr sz="1800">
                <a:solidFill>
                  <a:srgbClr val="1F2937"/>
                </a:solidFill>
                <a:latin typeface="Calibri"/>
              </a:rPr>
              <a:t>▸  Eslab qolish usuli: 30 va 28 – po‘stloq. Tana harorati +30…+28°S gacha tushsa bosh miya po‘stlog‘i funksiyasi buziladi. +25…+22°S da o‘lim ko‘pincha nafasning birlamchi to‘xtashidan bo‘ladi. Har 1°S pasayish biokimyoviy jarayonlarni taxminan ikki barobar sekinlashtiradi.</a:t>
            </a:r>
          </a:p>
          <a:p>
            <a:pPr>
              <a:spcAft>
                <a:spcPts val="1200"/>
              </a:spcAft>
            </a:pPr>
            <a:r>
              <a:rPr sz="1800">
                <a:solidFill>
                  <a:srgbClr val="1F2937"/>
                </a:solidFill>
                <a:latin typeface="Calibri"/>
              </a:rPr>
              <a:t>▸  Murda dog‘lari rangi sovuq qotishda sharoitga bog‘liq. Manfiy haroratda ular pushti-qizg‘ish bo‘ladi. Havo +10°S gacha musbat bo‘lsa, o‘limdan keyin to‘qimalar kislorodni o‘zlashtirishga ulguradi va dog‘lar ko‘kimtir-binafsha bo‘ladi. Bu farqni esda tuting.</a:t>
            </a:r>
          </a:p>
          <a:p>
            <a:pPr>
              <a:spcAft>
                <a:spcPts val="1200"/>
              </a:spcAft>
            </a:pPr>
            <a:r>
              <a:rPr sz="1800">
                <a:solidFill>
                  <a:srgbClr val="1F2937"/>
                </a:solidFill>
                <a:latin typeface="Calibri"/>
              </a:rPr>
              <a:t>▸  Sovuq suvda o‘lim havodagi sovuq qotishga qaraganda ancha tez, 1–1,5 soatda sodir bo‘ladi. Suvga to‘satdan tushganda esa chuqur gipotermiya rivojlanmasdan oldin ham o‘lim mumkin. Sababi qon tomir kollapsi yoki sovuq harorat shoki.</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Adabiyotlar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Past harorat tufayli o'lim holatlarini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42</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800"/>
              </a:spcAft>
            </a:pPr>
            <a:r>
              <a:rPr sz="2000">
                <a:solidFill>
                  <a:srgbClr val="1F2937"/>
                </a:solidFill>
                <a:latin typeface="Calibri"/>
              </a:rPr>
              <a:t>▸  G‘iyosov Z.A. Sud tibbiyoti: darslik, Toshkent: Global Books nashriyoti. 2018. Bob 7. Fizik omillar ta’siri (qisman mos)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