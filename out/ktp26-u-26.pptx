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ofatlarda siqilish sindromi ko‘p uchraydi? 2) Sud-tibbiyot ekspertiga bu mavzu nima uchun kerak? Doskada chizish: «Ofat → ezilish → CS» qisqa strelkali sxema. Tipik xato: CS ni oddiy mahalliy jarohat deb tushunish. U tizimli holat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1) Nega diagnostikadan keyin mexanizm bo‘yicha tasnif keladi? 2) Davolash qaysi bosqichlarga bog‘liq? Doskada chizish: besh bosqichli zanjirni talabalar bilan birga chizing. Tipik xato: bo‘limlar tartibini aralashtirish, masalan davoni diagnostikadan oldin qo‘yish.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Bemorda faqat mahalliy ezilish bo‘lsa, uni CS deyish mumkinmi? 2) Ekspertiza xulosasida CI va CS atamalari nima uchun aralashmasligi kerak? Doskada chizish: CI doirasi va uni o‘rab turuvchi CS doirasini chizing. Tipik xato: CI va CS ni sinonim deb ishlatish.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otopsiya CS tarixida hal qiluvchi bo‘ldi? 2) Sud-tibbiy ekspert buyrak kanalchalaridan nimani qidiradi? Doskada: 4 bosqichli vaqt chizig‘ini chizdiring. Tipik xato: 1901 (birinchi kuzatuv) va 1941 (birinchi ilmiy tasvir) sanalarini aralashtirish. Manbada pigment ‘qo‘ng‘ir pigment’ deb yozilgan, uni mustaqil ravishda boshqa nom bilan atamang.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2–15% va 48% qaysi ko‘rsatkichlarni anglatadi? 2) Nega o‘lim holatlarida CS tashxisi sud-tibbiy ekspert uchun muhim? Doskada: ikki ustun chizing: ‘Uchrash 2–15%’ va ‘O‘lim ≤48%’. Diqqat: xato qilish xavfi — uchrash ko‘rsatkichi (2–15%) bilan o‘lim ko‘rsatkichini (48% gacha)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yopiq daftarda yozadi, so‘ng tekshiriladi. Muhokama: CI ‘to‘qima’, CS ‘tizim’ darajasi degani nimani bildiradi? Doskada: ikki pog‘onali sxema — CI → (tizimli belgilar) → CS. Tipik xato: CI va CS tushunchalarini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hayotiy a’zolar shikastlanmasa ham oyoq-qo‘l siqilishi o‘limga olib kelishi mumkin? 2) Sud-tibbiy ekspertizada shikast sharoitini (zilzila, avtohalokat) aniqlash nimaga kerak? Doskaga chizing: tana sxemasi va unda siqilish shikastlari eng ko‘p uchraydigan pastki oyoq-qo‘llar. Tipik xato: siqilish shikasti (CI, to‘qima shikasti) va siqilish sindromi (CS, tizimli oqibatlar bilan) 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Qorin siqilishida o‘lim sababini sud-tibbiy jihatdan qanday asoslaysiz? 2) Ko‘krak siqilishida nafas yetishmovchiligi mexanizmi qanday? Doskaga chizing: qorin siqilishi, ichak tutqichi yirtilishi, qon ketishi, gemorragik shok va ko‘p a’zo yetishmovchiligi zanjiri. Tipik xato: faqat tashqi belgilarga qarab ichki a’zo shikastini inkor etish.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Chanoq halqasi uzilishida o‘lim nega aynan qon ketishi va shokdan bo‘ladi? 2) Erta KT natijasi o‘lim sababini aniqlashda qanday ahamiyatga ega? Doskaga chizing: yuqori energiyali travma, chanoq halqasi uzilishi, chanoq qon ketishi, shok, o‘lim. Tipik xato: chanoq shikastini faqat suyak sinishi deb baholab, qon tomir shikastini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CI va CS ni qaysi belgilar farqlaydi? 2) Tashqi shikast kam bo‘lishi nega xavfli? Doskaga chizish: ikki ustunli ro‘yxat — CI (mahalliy to‘qima shikasti) va CS (tizimli belgilar). Tipik xato: talabalar CI va CS ni bir xil tushuncha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dastlabki ko‘rikda shikast og‘irligi kam baholanadi? 2) Bo‘lma ichi bosimi qachon xavfli bo‘ladi? Doskaga chizish: sxemadagi 5 bosqichni strelkalar bilan chizing. Tipik xato: faqat teri ko‘rinishiga qarab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Qon oqimi tiklanishi nega zararni kuchaytirishi mumkin? 2) 1 soat va 2–4 soat chegarasi sud-tibbiy baholashda nimani anglatadi? Doskaga chizish: shish–ishemiya doiraviy halqasini chizing. Tipik xato: reperfuziyani faqat foydali jarayon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Nima uchun mioglobin aynan buyrak kanalchalariga zarar yetkazadi? 2) Ferroptoz haqida nimani aniq aytish mumkin, nimani yo‘q? Doskada chizish: zanjirni chizib, har bosqich yoniga sud-tibbiy topshiriqni yozing (jasad ochishda buyrak kanalchalarini qidirish). Qo‘shimcha: Bywaters 1941 yilda o‘lganlarning buyrak kanalchalarida jigarrang pigmentni topgan; gipotenziya bilan birga o‘tkir kanalchalar nekrozi va uremiyaga olib keladi. Tipik xato: ferroptoz mexanizmi isbotlangan, deb aytish – manbada uning roli noaniq deyilgan.</a:t>
            </a:r>
          </a:p>
          <a:p/>
          <a:p>
            <a:r>
              <a:t>Tekshirish kerak (manbada noaniq):</a:t>
            </a:r>
          </a:p>
          <a:p>
            <a:r>
              <a:t>- Ferroptoz (temir ortiqchaligi, lipid perokidlanishi) tilga olinadi, ammo CS-AKIdagi mexanizmi noaniq.</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ferroptoz davolash nishoni sifatida hali tavsiya etilmaydi? Doskada: mexanizm daraxti. Tipik xato: ferroptozni isbotlangan davo nishoni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CI va CS farqi sud-tibbiy xulosada nega muhim? 2) O‘lim sababini aniqlashda qaysi belgilar kechki davrga xos? Doskada chizish: jadvalni ko‘chirib, har davrga bittadan klinik misol yozing. Tipik xato: CI va CS ni bir xil tushuncha deb olish; DVS ni erta belgi deb hisoblash (manbada u juda kech holatlarda uchraydi).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Talabalarga kartochkalarda to‘rt bosqichni berib, 1 daqiqada tartiblatib, keyin kaliy rolini so‘rang. Muhokama: nima uchun xavf aynan bosim olingan paytda oshadi? Doskada chizish: to‘rt bosqichli o‘q chizig‘i, kaliy uchun alohida shox. Tipik xato: reperfuziyani zararsiz bosqich deb o‘ylash – manbada u yallig‘lanish va mushak shikastini kuchaytiradi.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ahvol aynan ozod qilingandan keyin yomonlashishi mumkin? 2) Nega suyuqlikda kaliy bo‘lmasligi muhim? Doskada: ishemiya → ozod qilish → reperfuziya → kaliy, mioglobin chiqishi zanjirini chizing. Tipik xato: reperfuziyani faqat foydali jarayon deb o‘ylash; u qo‘shimcha shikast ham beradi.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Fastsial bo‘shliq yopiq bo‘lishi bosimga qanday ta’sir qiladi? 2) ACS va crush sindromi farqi nimada? Doskada: yopiq qobiq ichida shish → bosim → perfuziya pasayishi sxemasi. Tipik xato: ACS va crush sindromini bir xil tushuncha deb yozish.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Eslab qoling: 5P — pain, pallor, paresteziya, paralysis, pulselessness. Muhokama: 1) Nega falaj va puls yo‘qligini kutish xavfli? 2) Ongi buzilgan bemorda ACS ni qanday gumon qilamiz? Doskada: 5P ni yozib, kech belgilarni (falaj, puls yo‘qligi) alohida belgilang. Tipik xato: 5P ni erta va ishonchli diagnostik mezon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5P belgilari kech bosqichni ko‘rsatadi? 2) Sezgirligi past, lekin inkor qilish qobiliyati yaxshi test nimani anglatadi? Doskaga 5P ro‘yxatini yozdiring va har birining yonida kech belgi ekanini belgilatting. Tipik xato: 5P bo‘lmasa ACS yo‘q, deb xulosa qilish, yoki 5Pni erta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o‘lchash joyi natijani o‘zgartiradi? 2) Zilzila hududida qaysi usul real? Doskaga sinish joyi va undan 5 sm radiusni chizib, bosim qayerda yuqori ekanini ko‘rsatishni so‘rang. Tipik xato: bitta nuqtadagi bosimni butun kompartmentga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ΔP mutlaq qiymatdan afzal deb qabul qilindi? 2) ΔP asosida keraksiz operatsiyani qanday kamaytirish mumkin? Doskaga ΔP = diastolik bosim − kompartment bosimi formulasini yozdiring va misol uchun qiymat qo‘ydiring. Tipik xato: ΔP ni kompartment bosimining o‘zi bilan adashtirish yoki bosimni klinikadan ajratib baholash.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sinish yaqinida bosim yuqoriroq? 2) Bitta o‘lchov o‘rniga nima qilish mumkin? Doskada: boldir qavati va sinish chizig‘ini chizib, 5 sm zonani belgilang. Tipik xato: yuqori bosimni avtomatik ACS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Faqat bosimga tayanish qanday xatolarga olib keladi? 2) Bosim noaniq bo‘lsa, qaysi klinik va mexanizm belgilariga qaraysiz? Doskada: qaror daraxti — klinika, bosim, vaqt, mexanizm. Tipik xato: bosim raqamini yagona mezon deb olish.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har bir mexanizmda taktika farq qiladi? 2) Siqilish sindromi va Volkmann kontrakturasi qanday farqlanadi? Doskada: uch ustunli jadvalni talabalar bilan to‘ldiring. Tipik xato: siqilish sindromi va Volkmann kontrakturasini bir tushuncha deb olish.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sinishda va siqilishda bosim ortishi mexanizmi farq qiladi? 2) Pufakchani qanday talqin qilish mumkin? Doskada: ikki ustunli sxema chizing, “Sinish: fastsiya butun, hujayra o‘limi kam” va “Siqilish: hujayra o‘limi, osmotik suyuqlik”. Tipik xato: pufakchani isbotlangan xavfsizlik belgisi deb o‘ylash.</a:t>
            </a:r>
          </a:p>
          <a:p/>
          <a:p>
            <a:r>
              <a:t>Tekshirish kerak (manbada noaniq):</a:t>
            </a:r>
          </a:p>
          <a:p>
            <a:r>
              <a:t>- Diqqat: pufakcha bosimni bo‘shatadi degani mualliflar farazi. Laboratoriya dalili yetarli emas, tekshiruv rejalashtirilgan.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Ikkala vaziyatda ehtiyotkorlik sabablari qanday farq qiladi? 2) Qaysi holatda fasciotomiyaga ko‘rsatma qat’iy bo‘ladi? Doskada: A va B uchun “mexanizm – xavf – qaror” uch qatorli jadval chizing. Tipik xato: fasciotomiyani siqilishda ham har doim majburiy deb hisoblash. Aniq javob: mexanizmni aniqlash qarorning asosi.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aniq soat belgilash qiyin? 2) Nega kechikkan fasciotomiya ba’zan zararli bo‘ladi? Doskada: 0–12 soatlik vaqt chizig‘ini chizib, 3, 4, 8 va 12 soatni belgilang. Tipik xato: bu raqamlarni qat’iy chegara deb qabul qilish; manbada tadqiqotlar natijalari bir-biridan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ezilish sindromida fasciotomiya bahsli, sinish bilan bog‘liq ACSda esa boshqacha? 2) Qaysi holatda dekompressiya shubhasiz zarur? Doskaga chizing: ikki ustunli «foyda — xavf» jadvali va pulssiz oyoq uchun alohida strelka. Tipik xato: fasciotomiyani ezilish sindromida har doim foydali deb o‘ylash. Manbada natijani yaxshilashi aniq isbotlanmagan, kechiktirilgani esa yomon oqibat bilan bog‘langan. Ezilish jarohatida ayrim mualliflar fasciotomiya emas, erta debridman tavsiya qiladi.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ozod qilishdan oldin suyuqlik boshlash muhim (ishemiya-reperfuziya)? 2) Nega kaliyli eritmalardan qochiladi? Doskaga chizing: suyuqlik, siydik hajmi va 24 soat zanjiri. Tipik xato: bikarbonat va mannitolni hamma bemorga majburiy berish. Manbada ular faqat asidoz tuzatish yoki siydik hajmini saqlash uchun zarur bo‘lganda tavsiya etilgan.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suyuqlik ozod qilishdan oldin boshlanadi? Doskada: raqamlar ro‘yxati. Tipik xato: 2-4 soatni xavfsiz muddat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dalillar yetarli bo‘lmasa ham koktayl tilga olinadi? Doskada: uch ustun. Tipik xato: koktaylni isbotlangan standart deb hisoblash; randomizatsiyalangan sinov yo‘q.</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minimal teri shikastli ezilish jarohatini davolash qiyin? Doskada: daraxt. Tipik xato: barcha holatda amputatsiya zarur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Nima uchun bitta omil amputatsiyaga yetarli emas? 2) Nega shkalalar yuqori oyoqda ishonchsiz? Doskaga chizing: uch guruh va «≥2» qoidasi. Tipik xato: turniketni ezilish sindromining oldini oluvchi umumiy usul deb o‘ylash. Manbada ozod qilishdan oldin keng tavsiya etilmaydi, lekin og‘ir jarohatda prehospital qo‘llash kuchli tavsiya etiladi va masala bahsli. MESS bilan Mangled Extremity Syndrome Index 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 kamida 300 mL/soat, kamida dastlabki 24 soat. Muhokama: 1) nega suyuqlik ajratib olishdan oldin boshlanadi? 2) turniket va fasciotomiya nega bahsli? Doskada: davolash bosqichlari zanjirini chizdiring (voqea joyi → suyuqlik → asoratlar → jarrohlik). Tipik xato: kaliyli eritma tanlash yoki fasciotomiyani har doim majburiy deb o‘ylash.</a:t>
            </a:r>
          </a:p>
          <a:p/>
          <a:p>
            <a:r>
              <a:t>Tekshirish kerak (manbada noaniq):</a:t>
            </a:r>
          </a:p>
          <a:p>
            <a:r>
              <a:t>- Turniket ezilishda hali bahsli. Fasciotomiya foydasi aniq isbotlanmagan, lekin oyoqda tomir urishi paypaslanmasa, jarrohlik dekompressiya shart.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ARF bashoratchilari orasida qamalish vaqti bor? 2) sud-tibbiy ekspertizada o‘tkazib yuborilgan kompartment sindromi qanday ahamiyatga ega? Doskada: ezilish → ishemiya → reperfuziya → asoratlar sxemasini chizdiring. Tipik xato: AKI (o‘tkir buyrak shikastlanishi) va ARF ni butunlay boshqa holat deb o‘ylash; manbada o‘lim sababi sifatida AKI yetakchi deyilgan.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Kobe triaj modelini cheklangan resurslarda qanday qo‘llash mumkin? 2) Haitida ARF ulushi nega 0,5–25% oralig‘ida o‘zgargan (zilzila kuchi, vayronada qolish vaqti)? Doskada: uch ofat uchun qamalish vaqti → ARF → o‘lim bog‘liqligini chizing. Tipik xato: 25% ni ARF ulushi deb o‘ylash; u CS ko‘rgan qurbonlar ulushi, CS-ARF esa 0,5–25%.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Resurs cheklangan bo‘lsa, ozod qilish va yotqizish tartibini nima belgilaydi? 2) Vayrona ostida qolish vaqti sud-tibbiy ekspertizada o‘lim sababini baholashga qanday ta‘sir qiladi? Doskada chizish: ‘vayrona ostida qolish vaqti → ARF → o‘lim’ zanjirini va uning yoniga xavf omillarini chizing. Tipik xato: talabalar triajni faqat tashqi jarohat og‘irligiga qarab o‘tkazadi, vaholanki ezilish sindromi dastlab yashirin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Hayvon modelida samarali dori nega odamda darhol qo‘llanmaydi? 2) Yangi diagnostik usullar bugungi qaysi kamchilikni to‘ldirishi kerak? Doskada chizish: ‘hayvon modeli → klinik tadqiqot → dala sharoitida qo‘llash’ yo‘lini chizing. Tipik xato: kalamush modelidagi natijani odamda isbotlangan davo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CI va CS farqini o‘z so‘zingiz bilan ayting. 2) ACS tashxisida nima uchun bitta belgi yoki bitta bosim ko‘rsatkichiga tayanib bo‘lmaydi? Doskada chizish: mavzu bo‘yicha ‘CI → ishemiya → reperfuziya → CS → asoratlar’ umumiy zanjirini chizing. Tipik xato: bosim farqi chegarasi manbalarda turlicha berilgan (Usuda: &lt;20 mm Hg, Guo: &lt;30 mm Hg) — bitta raqamni mutlaq deb o‘rgatmang; CI ≠ CS ekanini ta‘kidlang.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Pozitsion siqilish sindromining sud-tibbiy diagnostikasi.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siqilish sindromi va mavzuning dolzarbligi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Yer silkinishi, ko‘chki, portlash, bino qulashi kabi ofatlar va baxtsiz hodisalar so‘nggi yillarda tez-tez sodir bo‘lmoqda.</a:t>
            </a:r>
          </a:p>
          <a:p>
            <a:pPr>
              <a:spcAft>
                <a:spcPts val="1200"/>
              </a:spcAft>
            </a:pPr>
            <a:r>
              <a:rPr sz="2200">
                <a:solidFill>
                  <a:srgbClr val="1F2937"/>
                </a:solidFill>
                <a:latin typeface="Calibri"/>
              </a:rPr>
              <a:t>▸  Ofatlarning og‘ir oqibatlaridan biri siqilish sindromi (crush syndrome, CS). U og‘ir mushak shikastining butun organizmdagi ko‘rinishidir.</a:t>
            </a:r>
          </a:p>
          <a:p>
            <a:pPr>
              <a:spcAft>
                <a:spcPts val="1200"/>
              </a:spcAft>
            </a:pPr>
            <a:r>
              <a:rPr sz="2200">
                <a:solidFill>
                  <a:srgbClr val="1F2937"/>
                </a:solidFill>
                <a:latin typeface="Calibri"/>
              </a:rPr>
              <a:t>▸  2023-yilgi Turkiya va Suriya zilzilasida 47 000 dan ortiq odam halok bo‘lgan. Bunday ofatlarda CS keng uchraydigan jiddiy shikastdir.</a:t>
            </a:r>
          </a:p>
          <a:p>
            <a:pPr>
              <a:spcAft>
                <a:spcPts val="1200"/>
              </a:spcAft>
            </a:pPr>
            <a:r>
              <a:rPr sz="2200">
                <a:solidFill>
                  <a:srgbClr val="1F2937"/>
                </a:solidFill>
                <a:latin typeface="Calibri"/>
              </a:rPr>
              <a:t>▸  Ma’ruza maqsadi: CS sabablari, mexanizmi, belgilari, diagnostikasi, davosi, asoratlari va kelajakdagi yo‘nalishlarini ko‘rib chiqish.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Ma’ruza rejasi: bo‘limlar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Reja Usuda sharhi tuzilishiga tayanadi: sabab, mexanizm, belgilar, diagnostika, davo, asoratlar.</a:t>
            </a:r>
          </a:p>
          <a:p>
            <a:pPr>
              <a:spcAft>
                <a:spcPts val="800"/>
              </a:spcAft>
            </a:pPr>
            <a:r>
              <a:rPr sz="1800">
                <a:solidFill>
                  <a:srgbClr val="1F2937"/>
                </a:solidFill>
                <a:latin typeface="Calibri"/>
              </a:rPr>
              <a:t>▸  Guo maqolasi diagnostikadagi bahslarni va jarohat mexanizmi bo‘yicha tasnifni to‘ldiradi.</a:t>
            </a:r>
          </a:p>
          <a:p>
            <a:pPr>
              <a:spcAft>
                <a:spcPts val="800"/>
              </a:spcAft>
            </a:pPr>
            <a:r>
              <a:rPr sz="1800">
                <a:solidFill>
                  <a:srgbClr val="1F2937"/>
                </a:solidFill>
                <a:latin typeface="Calibri"/>
              </a:rPr>
              <a:t>▸  Ofat sharoitida davoni imkon qadar erta boshlash o‘limni kamaytiruvchi eng muhim omil sanaladi.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Siqilish shikasti va mexanizm</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Diagnostika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Mexanizm bo‘yicha tasnif</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Asoratlar va kelajak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bo‘limlari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 Guo et al., Acute compartment syndrome, betlar: PMID 31277147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Siqilish shikasti (CI) va sindrom (CS):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Siqilish shikasti (crush injury, CI) — tananing bevosita ezilishi; ko‘pincha oyoqlarda uchraydi.</a:t>
            </a:r>
          </a:p>
          <a:p>
            <a:pPr>
              <a:spcAft>
                <a:spcPts val="800"/>
              </a:spcAft>
            </a:pPr>
            <a:r>
              <a:rPr sz="1800">
                <a:solidFill>
                  <a:srgbClr val="1F2937"/>
                </a:solidFill>
                <a:latin typeface="Calibri"/>
              </a:rPr>
              <a:t>▸  CS — ezilgan mushakning tizimli ko‘rinishi; Bywaters va Beall 1941-yilda tasvirlagan.</a:t>
            </a:r>
          </a:p>
          <a:p>
            <a:pPr>
              <a:spcAft>
                <a:spcPts val="800"/>
              </a:spcAft>
            </a:pPr>
            <a:r>
              <a:rPr sz="1800">
                <a:solidFill>
                  <a:srgbClr val="1F2937"/>
                </a:solidFill>
                <a:latin typeface="Calibri"/>
              </a:rPr>
              <a:t>▸  Diqqat: CI ≠ CS — shikast to‘qimada, sindrom esa butun organizmda namoyon bo‘ladi.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Ta’rif: To‘qimaning bevosita shikasti</a:t>
            </a:r>
          </a:p>
          <a:p>
            <a:pPr algn="l">
              <a:spcAft>
                <a:spcPts val="700"/>
              </a:spcAft>
            </a:pPr>
            <a:r>
              <a:rPr sz="1500" b="1">
                <a:solidFill>
                  <a:srgbClr val="C9A227"/>
                </a:solidFill>
                <a:latin typeface="Calibri"/>
              </a:rPr>
              <a:t>●  </a:t>
            </a:r>
            <a:r>
              <a:rPr sz="1500" b="0">
                <a:solidFill>
                  <a:srgbClr val="1F2937"/>
                </a:solidFill>
                <a:latin typeface="Calibri"/>
              </a:rPr>
              <a:t>Daraja: Mahalliy to‘qima zarari</a:t>
            </a:r>
          </a:p>
          <a:p>
            <a:pPr algn="l">
              <a:spcAft>
                <a:spcPts val="700"/>
              </a:spcAft>
            </a:pPr>
            <a:r>
              <a:rPr sz="1500" b="1">
                <a:solidFill>
                  <a:srgbClr val="C9A227"/>
                </a:solidFill>
                <a:latin typeface="Calibri"/>
              </a:rPr>
              <a:t>●  </a:t>
            </a:r>
            <a:r>
              <a:rPr sz="1500" b="0">
                <a:solidFill>
                  <a:srgbClr val="1F2937"/>
                </a:solidFill>
                <a:latin typeface="Calibri"/>
              </a:rPr>
              <a:t>Misol: Oyoq mushak, suyak, teri shikasti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CS</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Ta’rif: Tizimli belgilar bilan kechadi</a:t>
            </a:r>
          </a:p>
          <a:p>
            <a:pPr algn="l">
              <a:spcAft>
                <a:spcPts val="700"/>
              </a:spcAft>
            </a:pPr>
            <a:r>
              <a:rPr sz="1500" b="1">
                <a:solidFill>
                  <a:srgbClr val="C9A227"/>
                </a:solidFill>
                <a:latin typeface="Calibri"/>
              </a:rPr>
              <a:t>●  </a:t>
            </a:r>
            <a:r>
              <a:rPr sz="1500" b="0">
                <a:solidFill>
                  <a:srgbClr val="1F2937"/>
                </a:solidFill>
                <a:latin typeface="Calibri"/>
              </a:rPr>
              <a:t>Daraja: Butun organizmga ta’sir</a:t>
            </a:r>
          </a:p>
          <a:p>
            <a:pPr algn="l">
              <a:spcAft>
                <a:spcPts val="700"/>
              </a:spcAft>
            </a:pPr>
            <a:r>
              <a:rPr sz="1500" b="1">
                <a:solidFill>
                  <a:srgbClr val="C9A227"/>
                </a:solidFill>
                <a:latin typeface="Calibri"/>
              </a:rPr>
              <a:t>●  </a:t>
            </a:r>
            <a:r>
              <a:rPr sz="1500" b="0">
                <a:solidFill>
                  <a:srgbClr val="1F2937"/>
                </a:solidFill>
                <a:latin typeface="Calibri"/>
              </a:rPr>
              <a:t>Misol: Buyrak yetishmovchiligi, giperkaliemiya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CI va CS: solishtirma jadval</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Tarixi: Messina 1901 va Bywaters 1941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Ezilish sindromi (CS) birinchi marta 1901 yilgi Messina zilzilasida (Italiya) kuzatilgan.</a:t>
            </a:r>
          </a:p>
          <a:p>
            <a:pPr>
              <a:spcAft>
                <a:spcPts val="800"/>
              </a:spcAft>
            </a:pPr>
            <a:r>
              <a:rPr sz="1800">
                <a:solidFill>
                  <a:srgbClr val="1F2937"/>
                </a:solidFill>
                <a:latin typeface="Calibri"/>
              </a:rPr>
              <a:t>▸  London bombardimonida soatlab ko‘milganlar otopsiyasida buyrak kanalchalarida qo‘ng‘ir pigment topildi.</a:t>
            </a:r>
          </a:p>
          <a:p>
            <a:pPr>
              <a:spcAft>
                <a:spcPts val="800"/>
              </a:spcAft>
            </a:pPr>
            <a:r>
              <a:rPr sz="1800">
                <a:solidFill>
                  <a:srgbClr val="1F2937"/>
                </a:solidFill>
                <a:latin typeface="Calibri"/>
              </a:rPr>
              <a:t>▸  1941 yilda Bywaters va hamkasblari pigment bilan mushak nekrozi o‘rtasidagi aloqani tasvirladi.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1901: Messina zilzilasi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London bombardimonlari (II jahon urushi)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Otopsiya: buyrakda qo‘ng‘ir pigment</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1941: Bywaters aloqani tasvirladi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Kashfiyot vaqt chizig‘i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Epidemiologiya: uchrash va o‘lim ko‘rsatkichlari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Zilzilada omon qolganlar orasida CS uchrashi tizimli sharhda 2–15% deb xabar qilingan.</a:t>
            </a:r>
          </a:p>
          <a:p>
            <a:pPr>
              <a:spcAft>
                <a:spcPts val="1200"/>
              </a:spcAft>
            </a:pPr>
            <a:r>
              <a:rPr sz="2200">
                <a:solidFill>
                  <a:srgbClr val="1F2937"/>
                </a:solidFill>
                <a:latin typeface="Calibri"/>
              </a:rPr>
              <a:t>▸  O‘lim 48% gacha yetgan. Omon qolish uchun buyrak disfunksiyasini cheklash va a’zolar funksiyasini qo‘llab-quvvatlash zarur bo‘lgan.</a:t>
            </a:r>
          </a:p>
          <a:p>
            <a:pPr>
              <a:spcAft>
                <a:spcPts val="1200"/>
              </a:spcAft>
            </a:pPr>
            <a:r>
              <a:rPr sz="2200">
                <a:solidFill>
                  <a:srgbClr val="1F2937"/>
                </a:solidFill>
                <a:latin typeface="Calibri"/>
              </a:rPr>
              <a:t>▸  To‘g‘ridan-to‘g‘ri jarohatdan keyin CS zilzilada o‘limning ikkinchi eng ko‘p uchraydigan sababidir.</a:t>
            </a:r>
          </a:p>
          <a:p>
            <a:pPr>
              <a:spcAft>
                <a:spcPts val="1200"/>
              </a:spcAft>
            </a:pPr>
            <a:r>
              <a:rPr sz="2200">
                <a:solidFill>
                  <a:srgbClr val="1F2937"/>
                </a:solidFill>
                <a:latin typeface="Calibri"/>
              </a:rPr>
              <a:t>▸  CS jarohatdan keyin atigi 1 soatdayoq boshlanishi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ezilish jarohati (CI) va CS farqi nima? Javob: CI — to‘qima jarohati; CS — tizimli belgilar bilan kechadigan ezilish jarohati.</a:t>
            </a:r>
          </a:p>
          <a:p>
            <a:pPr>
              <a:spcAft>
                <a:spcPts val="1200"/>
              </a:spcAft>
            </a:pPr>
            <a:r>
              <a:rPr sz="2200">
                <a:solidFill>
                  <a:srgbClr val="1F2937"/>
                </a:solidFill>
                <a:latin typeface="Calibri"/>
              </a:rPr>
              <a:t>▸  2-savol: CS ta’rifi qanday? Javob: og‘ir travmatik mushak jarohatining tizimli ko‘rinishi.</a:t>
            </a:r>
          </a:p>
          <a:p>
            <a:pPr>
              <a:spcAft>
                <a:spcPts val="1200"/>
              </a:spcAft>
            </a:pPr>
            <a:r>
              <a:rPr sz="2200">
                <a:solidFill>
                  <a:srgbClr val="1F2937"/>
                </a:solidFill>
                <a:latin typeface="Calibri"/>
              </a:rPr>
              <a:t>▸  3-savol: kim va qachon tasvirlagan? Javob: Bywaters va hamkasblari, 1941 yil; birinchi kuzatuv — Messina, 1901 yil.</a:t>
            </a:r>
          </a:p>
          <a:p>
            <a:pPr>
              <a:spcAft>
                <a:spcPts val="1200"/>
              </a:spcAft>
            </a:pPr>
            <a:r>
              <a:rPr sz="2200">
                <a:solidFill>
                  <a:srgbClr val="1F2937"/>
                </a:solidFill>
                <a:latin typeface="Calibri"/>
              </a:rPr>
              <a:t>▸  4-savol: ko‘rsatkichlar? Javob: uchrashi 2–15%, o‘lim 48% gacha, boshlanishi 1 soatdan.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Siqilish shikasti: sabablari va joylashuvi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Siqilish shikasti (CI) tananing to‘g‘ridan-to‘g‘ri jismoniy zarbasi va bosilishidan kelib chiqadi. Eng ko‘p pastki oyoq-qo‘llar shikastlanadi.</a:t>
            </a:r>
          </a:p>
          <a:p>
            <a:pPr>
              <a:spcAft>
                <a:spcPts val="1200"/>
              </a:spcAft>
            </a:pPr>
            <a:r>
              <a:rPr sz="2200">
                <a:solidFill>
                  <a:srgbClr val="1F2937"/>
                </a:solidFill>
                <a:latin typeface="Calibri"/>
              </a:rPr>
              <a:t>▸  Sabablari: yo‘l-transport hodisalari, zilzila, ko‘chki, shaxta halokati, portlash, bino qulashi, terror hujumi va urush.</a:t>
            </a:r>
          </a:p>
          <a:p>
            <a:pPr>
              <a:spcAft>
                <a:spcPts val="1200"/>
              </a:spcAft>
            </a:pPr>
            <a:r>
              <a:rPr sz="2200">
                <a:solidFill>
                  <a:srgbClr val="1F2937"/>
                </a:solidFill>
                <a:latin typeface="Calibri"/>
              </a:rPr>
              <a:t>▸  Teri, mushak-paylar, suyak va bo‘g‘imlar birga shikastlanadi. Hayotiy a’zolar zararlanmasa ham, ayniqsa oyoq-qo‘lda shikast hayot uchun xavfli bo‘lishi mumkin.</a:t>
            </a:r>
          </a:p>
          <a:p>
            <a:pPr>
              <a:spcAft>
                <a:spcPts val="1200"/>
              </a:spcAft>
            </a:pPr>
            <a:r>
              <a:rPr sz="2200">
                <a:solidFill>
                  <a:srgbClr val="1F2937"/>
                </a:solidFill>
                <a:latin typeface="Calibri"/>
              </a:rPr>
              <a:t>▸  AQSh kohort tadqiqotida CI o‘tkir kompartment sindromi (ACS) ehtimolini oshirgan (OR 1,83). Bolalarda CI kam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Ko‘krak va qorin siqilish shikastlari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Ko‘krak siqilishida tez aralashuv, erta tashxis va jarrohlik tiklash asoratlarni kamaytiradi. Yuqori ko‘krak shikasti traxeya uzilishiga olib kelishi mumkin.</a:t>
            </a:r>
          </a:p>
          <a:p>
            <a:pPr>
              <a:spcAft>
                <a:spcPts val="1200"/>
              </a:spcAft>
            </a:pPr>
            <a:r>
              <a:rPr sz="2200">
                <a:solidFill>
                  <a:srgbClr val="1F2937"/>
                </a:solidFill>
                <a:latin typeface="Calibri"/>
              </a:rPr>
              <a:t>▸  Xitoy tadqiqotida ko‘krak va qo‘l siqilish sindromi og‘ir va tez kechishiga CO zaharlanishi, mastlik va a’zolarning bir-biriga bosilishi sabab bo‘lgan.</a:t>
            </a:r>
          </a:p>
          <a:p>
            <a:pPr>
              <a:spcAft>
                <a:spcPts val="1200"/>
              </a:spcAft>
            </a:pPr>
            <a:r>
              <a:rPr sz="2200">
                <a:solidFill>
                  <a:srgbClr val="1F2937"/>
                </a:solidFill>
                <a:latin typeface="Calibri"/>
              </a:rPr>
              <a:t>▸  Og‘ir qorin siqilishi tayanch-harakat, siydik, yurak-qon tomir, teri va hazm tizimlariga ta’sir qiladi. Ichak tutqichi yirtilsa kuchli qon ketadi.</a:t>
            </a:r>
          </a:p>
          <a:p>
            <a:pPr>
              <a:spcAft>
                <a:spcPts val="1200"/>
              </a:spcAft>
            </a:pPr>
            <a:r>
              <a:rPr sz="2200">
                <a:solidFill>
                  <a:srgbClr val="1F2937"/>
                </a:solidFill>
                <a:latin typeface="Calibri"/>
              </a:rPr>
              <a:t>▸  Qon ketishi gemorragik shok va ko‘p a’zo yetishmovchiligiga olib keladi. Suyak sinishi ham arterial qon ketishi orqali shokni chaqirishi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Chanoq qon tomir shikastlari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Chanoq qon tomir shikastlari odatda yuqori energiyali travma natijasida yuzaga keladi.</a:t>
            </a:r>
          </a:p>
          <a:p>
            <a:pPr>
              <a:spcAft>
                <a:spcPts val="1200"/>
              </a:spcAft>
            </a:pPr>
            <a:r>
              <a:rPr sz="2200">
                <a:solidFill>
                  <a:srgbClr val="1F2937"/>
                </a:solidFill>
                <a:latin typeface="Calibri"/>
              </a:rPr>
              <a:t>▸  Ko‘pchiligi yo‘l-transport to‘qnashuvlaridan, qolgani yiqilish yoki sanoatdagi siqilish shikastlaridan bo‘ladi.</a:t>
            </a:r>
          </a:p>
          <a:p>
            <a:pPr>
              <a:spcAft>
                <a:spcPts val="1200"/>
              </a:spcAft>
            </a:pPr>
            <a:r>
              <a:rPr sz="2200">
                <a:solidFill>
                  <a:srgbClr val="1F2937"/>
                </a:solidFill>
                <a:latin typeface="Calibri"/>
              </a:rPr>
              <a:t>▸  Ular ko‘pincha chanoq halqasi uzilishi bilan birga keladi. Chanoqdagi qon ketishidan shok rivojlanib, o‘lim darajasi yuqori bo‘ladi.</a:t>
            </a:r>
          </a:p>
          <a:p>
            <a:pPr>
              <a:spcAft>
                <a:spcPts val="1200"/>
              </a:spcAft>
            </a:pPr>
            <a:r>
              <a:rPr sz="2200">
                <a:solidFill>
                  <a:srgbClr val="1F2937"/>
                </a:solidFill>
                <a:latin typeface="Calibri"/>
              </a:rPr>
              <a:t>▸  Erta ko‘p qatlamli kompyuter tomografiyasi (KT) bilan aniqlanib, tezda davolansa, qon ketishdan o‘lim oldini olinishi yoki qaytarilishi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qulagan bino ostidagi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bino qulaganda shaxs bir necha soat vayronalar ostida qolgan. Oyoqlari uzoq siqilgan, tashqi shikast esa kam ko‘rinadi.</a:t>
            </a:r>
          </a:p>
          <a:p>
            <a:pPr>
              <a:spcAft>
                <a:spcPts val="1200"/>
              </a:spcAft>
            </a:pPr>
            <a:r>
              <a:rPr sz="2200">
                <a:solidFill>
                  <a:srgbClr val="1F2937"/>
                </a:solidFill>
                <a:latin typeface="Calibri"/>
              </a:rPr>
              <a:t>▸  Diqqat: xato qilish xavfi! Siqilish shikasti (CI) ≠ siqilish sindromi (CS). CI — to‘qima shikasti, CS — tizimli belgilar bilan kechadigan CI.</a:t>
            </a:r>
          </a:p>
          <a:p>
            <a:pPr>
              <a:spcAft>
                <a:spcPts val="1200"/>
              </a:spcAft>
            </a:pPr>
            <a:r>
              <a:rPr sz="2200">
                <a:solidFill>
                  <a:srgbClr val="1F2937"/>
                </a:solidFill>
                <a:latin typeface="Calibri"/>
              </a:rPr>
              <a:t>▸  CS belgilari: hujayralardan kaliy, ferment va mioglobin chiqadi. Kech bosqichda gipovolemik shok, giperkaliemiya va metabolik asidoz paydo bo‘ladi.</a:t>
            </a:r>
          </a:p>
          <a:p>
            <a:pPr>
              <a:spcAft>
                <a:spcPts val="1200"/>
              </a:spcAft>
            </a:pPr>
            <a:r>
              <a:rPr sz="2200">
                <a:solidFill>
                  <a:srgbClr val="1F2937"/>
                </a:solidFill>
                <a:latin typeface="Calibri"/>
              </a:rPr>
              <a:t>▸  Savol: bu CI mi yoki CS mi? Teri shikasti kam bo‘lsa ham, shishgan oyoq, shok, mioglobinuriya va buyrak yetishmovchiligi CS dalolati.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 Guo et al., Acute compartment syndrome, betlar: PMID 31277147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Siqilish mexanizmi: bosim va to‘qima shikasti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Ezuvchi kuch qon tomirlardagi siqilmaydigan qonga ta’sir qiladi va to‘qima bosimini keskin oshiradi.</a:t>
            </a:r>
          </a:p>
          <a:p>
            <a:pPr>
              <a:spcAft>
                <a:spcPts val="800"/>
              </a:spcAft>
            </a:pPr>
            <a:r>
              <a:rPr sz="1800">
                <a:solidFill>
                  <a:srgbClr val="1F2937"/>
                </a:solidFill>
                <a:latin typeface="Calibri"/>
              </a:rPr>
              <a:t>▸  Kechikkan yallig‘lanish shikast zonasini kengaytiradi va dastlab shikast og‘irligini yashirishi mumkin.</a:t>
            </a:r>
          </a:p>
          <a:p>
            <a:pPr>
              <a:spcAft>
                <a:spcPts val="800"/>
              </a:spcAft>
            </a:pPr>
            <a:r>
              <a:rPr sz="1800">
                <a:solidFill>
                  <a:srgbClr val="1F2937"/>
                </a:solidFill>
                <a:latin typeface="Calibri"/>
              </a:rPr>
              <a:t>▸  Bo‘lma ichi bosimi kapillyar perfuziya bosimidan oshsa, mushak va nerv to‘qimasi ishemiyaga uchraydi.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Ezuvchi kuch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 bosimi oshadi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Suyak, tomir, nerv zararlanadi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Kechikkan yallig‘lanish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Shikast og‘irligi yashirinadi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Siqilishdan to‘qima shikastigacha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Ishemiya-reperfuziya (IR) shikasti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IR shikasti: qon oqimi tiklanganda rivojlanadigan o‘tkir yallig‘lanish, mahalliy va tizimli ta’sirli.</a:t>
            </a:r>
          </a:p>
          <a:p>
            <a:pPr>
              <a:spcAft>
                <a:spcPts val="800"/>
              </a:spcAft>
            </a:pPr>
            <a:r>
              <a:rPr sz="1800">
                <a:solidFill>
                  <a:srgbClr val="1F2937"/>
                </a:solidFill>
                <a:latin typeface="Calibri"/>
              </a:rPr>
              <a:t>▸  Patofiziologiya o‘zini kuchaytiruvchi shish–ishemiya halqasiga asoslanadi.</a:t>
            </a:r>
          </a:p>
          <a:p>
            <a:pPr>
              <a:spcAft>
                <a:spcPts val="800"/>
              </a:spcAft>
            </a:pPr>
            <a:r>
              <a:rPr sz="1800">
                <a:solidFill>
                  <a:srgbClr val="1F2937"/>
                </a:solidFill>
                <a:latin typeface="Calibri"/>
              </a:rPr>
              <a:t>▸  Mushak 2–4 soat chidaydi deb hisoblangan, ammo qaytmas o‘zgarishlar 1 soatdayoq boshlanishi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Uzoq ishemiya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oqimi tiklanadi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Neytrofillar kirib keladi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Shish va ishemiya halqasi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Mushak shikasti kuchayadi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IR shikasti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Mioglobin va o‘tkir buyrak shikasti (AKI)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Uzoq ishemiyada hujayra membranasi o‘tkazuvchanligi oshadi; hujayradan kaliy, ferment va mioglobin chiqadi.</a:t>
            </a:r>
          </a:p>
          <a:p>
            <a:pPr>
              <a:spcAft>
                <a:spcPts val="800"/>
              </a:spcAft>
            </a:pPr>
            <a:r>
              <a:rPr sz="1800">
                <a:solidFill>
                  <a:srgbClr val="1F2937"/>
                </a:solidFill>
                <a:latin typeface="Calibri"/>
              </a:rPr>
              <a:t>▸  Mioglobin buyrak kanalchalarida cho‘kib, temir va oksidlovchi stress orqali ularni bevosita shikastlaydi.</a:t>
            </a:r>
          </a:p>
          <a:p>
            <a:pPr>
              <a:spcAft>
                <a:spcPts val="800"/>
              </a:spcAft>
            </a:pPr>
            <a:r>
              <a:rPr sz="1800">
                <a:solidFill>
                  <a:srgbClr val="1F2937"/>
                </a:solidFill>
                <a:latin typeface="Calibri"/>
              </a:rPr>
              <a:t>▸  Ferroptoz (temir ortiqchaligi, lipid perokidlanishi) tilga olinadi, ammo CS-AKIdagi mexanizmi noaniq.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Mushak ishemiyasi va nekrozi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Mioglobin qonga chiqadi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Kanalchalarda cho‘kish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Temir, oksidlovchi stress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Hujayra o‘limi → AKI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Mioglobin → AKI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Ferroptoz va mioglobin: AKI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Mioglobin buyrak kanalchalarida cho‘kib, temir va oksidlovchi stress orqali kanalcha epiteliysini bevosita shikastlaydi.</a:t>
            </a:r>
          </a:p>
          <a:p>
            <a:pPr>
              <a:spcAft>
                <a:spcPts val="800"/>
              </a:spcAft>
            </a:pPr>
            <a:r>
              <a:rPr sz="1600">
                <a:solidFill>
                  <a:srgbClr val="1F2937"/>
                </a:solidFill>
                <a:latin typeface="Calibri"/>
              </a:rPr>
              <a:t>▸  Ferroptozning xos belgilari: temir ortiqchaligi va lipidlar peroksidlanishi shikasti.</a:t>
            </a:r>
          </a:p>
          <a:p>
            <a:pPr>
              <a:spcAft>
                <a:spcPts val="800"/>
              </a:spcAft>
            </a:pPr>
            <a:r>
              <a:rPr sz="1600">
                <a:solidFill>
                  <a:srgbClr val="1F2937"/>
                </a:solidFill>
                <a:latin typeface="Calibri"/>
              </a:rPr>
              <a:t>▸  Ferroptozni yallig‘lanish sitokinlari va shikast bilan bog‘liq molekulalar (HMGB1, ikki zanjirli DNK, makrofag tuzoqlari) kuchaytiradi.</a:t>
            </a:r>
          </a:p>
          <a:p>
            <a:pPr>
              <a:spcAft>
                <a:spcPts val="800"/>
              </a:spcAft>
            </a:pPr>
            <a:r>
              <a:rPr sz="1600">
                <a:solidFill>
                  <a:srgbClr val="1F2937"/>
                </a:solidFill>
                <a:latin typeface="Calibri"/>
              </a:rPr>
              <a:t>▸  CS-AKI da ferroptoz mexanizmi va uning terapevtik nishon bo‘la olishi hali noaniq; gipotenziya bilan birga o‘tkir kanalcha nekrozi va uremiyaga olib keladi.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CS-AKI mexanizmi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Mioglobin cho‘kishi</a:t>
            </a:r>
          </a:p>
          <a:p>
            <a:pPr algn="l">
              <a:spcAft>
                <a:spcPts val="0"/>
              </a:spcAft>
            </a:pPr>
            <a:r>
              <a:rPr sz="1200" b="0">
                <a:solidFill>
                  <a:srgbClr val="1F2937"/>
                </a:solidFill>
                <a:latin typeface="Calibri"/>
              </a:rPr>
              <a:t>Buyrak kanalchalarida to‘planadi  ·  Kanalcha epiteliysi shikastlanadi</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Temir va stress</a:t>
            </a:r>
          </a:p>
          <a:p>
            <a:pPr algn="l">
              <a:spcAft>
                <a:spcPts val="0"/>
              </a:spcAft>
            </a:pPr>
            <a:r>
              <a:rPr sz="1200" b="0">
                <a:solidFill>
                  <a:srgbClr val="1F2937"/>
                </a:solidFill>
                <a:latin typeface="Calibri"/>
              </a:rPr>
              <a:t>Temir ortiqchaligi  ·  Oksidlovchi stress</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Ferroptoz belgilari</a:t>
            </a:r>
          </a:p>
          <a:p>
            <a:pPr algn="l">
              <a:spcAft>
                <a:spcPts val="0"/>
              </a:spcAft>
            </a:pPr>
            <a:r>
              <a:rPr sz="1200" b="0">
                <a:solidFill>
                  <a:srgbClr val="1F2937"/>
                </a:solidFill>
                <a:latin typeface="Calibri"/>
              </a:rPr>
              <a:t>Temir ortiqchaligi  ·  Lipid peroksidlanishi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Kuchaytiruvchilar</a:t>
            </a:r>
          </a:p>
          <a:p>
            <a:pPr algn="l">
              <a:spcAft>
                <a:spcPts val="0"/>
              </a:spcAft>
            </a:pPr>
            <a:r>
              <a:rPr sz="1200" b="0">
                <a:solidFill>
                  <a:srgbClr val="1F2937"/>
                </a:solidFill>
                <a:latin typeface="Calibri"/>
              </a:rPr>
              <a:t>Yallig‘lanish sitokinlari  ·  HMGB1, ikki zanjirli DNK</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Noaniq jihatlar</a:t>
            </a:r>
          </a:p>
          <a:p>
            <a:pPr algn="l">
              <a:spcAft>
                <a:spcPts val="0"/>
              </a:spcAft>
            </a:pPr>
            <a:r>
              <a:rPr sz="1200" b="0">
                <a:solidFill>
                  <a:srgbClr val="1F2937"/>
                </a:solidFill>
                <a:latin typeface="Calibri"/>
              </a:rPr>
              <a:t>Mexanizm to‘liq aniq emas  ·  Terapevtik nishon bo‘lishi noaniq</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Ferroptoz</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Tizimli belgilar: erta va kech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Diqqat: siqilish jarohati (CI) ≠ siqilish sindromi (CS): CI – to‘qima jarohati, CS – tizimli belgilar bilan kechadi.</a:t>
            </a:r>
          </a:p>
          <a:p>
            <a:pPr>
              <a:spcAft>
                <a:spcPts val="800"/>
              </a:spcAft>
            </a:pPr>
            <a:r>
              <a:rPr sz="1800">
                <a:solidFill>
                  <a:srgbClr val="1F2937"/>
                </a:solidFill>
                <a:latin typeface="Calibri"/>
              </a:rPr>
              <a:t>▸  Giperkaliemiya va metabolik atsidoz hayot uchun xavfli; o‘lim ko‘pincha gipovolemiya va giperkaliemiyadan.</a:t>
            </a:r>
          </a:p>
          <a:p>
            <a:pPr>
              <a:spcAft>
                <a:spcPts val="800"/>
              </a:spcAft>
            </a:pPr>
            <a:r>
              <a:rPr sz="1800">
                <a:solidFill>
                  <a:srgbClr val="1F2937"/>
                </a:solidFill>
                <a:latin typeface="Calibri"/>
              </a:rPr>
              <a:t>▸  O‘tkir buyrak shikasti (AKI) CS dan o‘limning yetakchi sababi sifatida ko‘rsatilgan.</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Erta</a:t>
            </a:r>
          </a:p>
          <a:p>
            <a:pPr algn="l">
              <a:spcAft>
                <a:spcPts val="200"/>
              </a:spcAft>
            </a:pPr>
            <a:r>
              <a:rPr sz="1400" b="0">
                <a:solidFill>
                  <a:srgbClr val="1F2937"/>
                </a:solidFill>
                <a:latin typeface="Calibri"/>
              </a:rPr>
              <a:t>Yurak/buyrak yetishmovchiligi, shok, sepsis</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Kech</a:t>
            </a:r>
          </a:p>
          <a:p>
            <a:pPr algn="l">
              <a:spcAft>
                <a:spcPts val="200"/>
              </a:spcAft>
            </a:pPr>
            <a:r>
              <a:rPr sz="1400" b="0">
                <a:solidFill>
                  <a:srgbClr val="1F2937"/>
                </a:solidFill>
                <a:latin typeface="Calibri"/>
              </a:rPr>
              <a:t>Gipovolemik shok, giperkaliemiya, atsidoz</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Juda kech</a:t>
            </a:r>
          </a:p>
          <a:p>
            <a:pPr algn="l">
              <a:spcAft>
                <a:spcPts val="200"/>
              </a:spcAft>
            </a:pPr>
            <a:r>
              <a:rPr sz="1400" b="0">
                <a:solidFill>
                  <a:srgbClr val="1F2937"/>
                </a:solidFill>
                <a:latin typeface="Calibri"/>
              </a:rPr>
              <a:t>DVS (tomir ichi tarqoq ivish) sindromi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CS belgilari dinamikasi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mexanizm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reperfuziya, mushak ishemiyasi, buyrak shikasti va mioglobin chiqishini to‘g‘ri ketma-ketlikka tering.</a:t>
            </a:r>
          </a:p>
          <a:p>
            <a:pPr>
              <a:spcAft>
                <a:spcPts val="1200"/>
              </a:spcAft>
            </a:pPr>
            <a:r>
              <a:rPr sz="2200">
                <a:solidFill>
                  <a:srgbClr val="1F2937"/>
                </a:solidFill>
                <a:latin typeface="Calibri"/>
              </a:rPr>
              <a:t>▸  Javob: uzoq mushak ishemiyasi → reperfuziya (bosim olingach) → mioglobin va kaliy chiqishi → buyrak shikasti.</a:t>
            </a:r>
          </a:p>
          <a:p>
            <a:pPr>
              <a:spcAft>
                <a:spcPts val="1200"/>
              </a:spcAft>
            </a:pPr>
            <a:r>
              <a:rPr sz="2200">
                <a:solidFill>
                  <a:srgbClr val="1F2937"/>
                </a:solidFill>
                <a:latin typeface="Calibri"/>
              </a:rPr>
              <a:t>▸  Savol: kaliy bu zanjirda qanday xavf tug‘diradi? Javob: ekstrikatsiyadan so‘ng giperkaliemiya xavfi bor, aritmiya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ozod qilingandan keyingi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uzoq qamalgan jabrlanuvchi ozod qilingach ahvoli yomonlashdi. Savol: reperfuziya va giperkaliemiya xavfi qanday bog‘liq?</a:t>
            </a:r>
          </a:p>
          <a:p>
            <a:pPr>
              <a:spcAft>
                <a:spcPts val="1200"/>
              </a:spcAft>
            </a:pPr>
            <a:r>
              <a:rPr sz="2200">
                <a:solidFill>
                  <a:srgbClr val="1F2937"/>
                </a:solidFill>
                <a:latin typeface="Calibri"/>
              </a:rPr>
              <a:t>▸  Uzoq ishemiya hujayra membranasini o‘tkazuvchan qiladi: hujayralar kaliy, ferment va mioglobin chiqaradi.</a:t>
            </a:r>
          </a:p>
          <a:p>
            <a:pPr>
              <a:spcAft>
                <a:spcPts val="1200"/>
              </a:spcAft>
            </a:pPr>
            <a:r>
              <a:rPr sz="2200">
                <a:solidFill>
                  <a:srgbClr val="1F2937"/>
                </a:solidFill>
                <a:latin typeface="Calibri"/>
              </a:rPr>
              <a:t>▸  Qon qayta oqqanda (reperfuziya) yallig‘lanish boshlanadi, neytrofillar mushak shikastini kuchaytiradi.</a:t>
            </a:r>
          </a:p>
          <a:p>
            <a:pPr>
              <a:spcAft>
                <a:spcPts val="1200"/>
              </a:spcAft>
            </a:pPr>
            <a:r>
              <a:rPr sz="2200">
                <a:solidFill>
                  <a:srgbClr val="1F2937"/>
                </a:solidFill>
                <a:latin typeface="Calibri"/>
              </a:rPr>
              <a:t>▸  Ozod qilingach giperkaliemiya (qonda kaliy oshishi) xavfi bor; asosiy davo — vena ichiga suyuqlik, kaliysiz eritma, imkon bo‘lsa ozod qilishdan oldin.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kompartment sindromi (ACS): ta’rif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ACS — jarohat yoki boshqa sabab qon ketish, shish yoki perfuziya buzilishini keltirib chiqargan klinik holat.</a:t>
            </a:r>
          </a:p>
          <a:p>
            <a:pPr>
              <a:spcAft>
                <a:spcPts val="1200"/>
              </a:spcAft>
            </a:pPr>
            <a:r>
              <a:rPr sz="2200">
                <a:solidFill>
                  <a:srgbClr val="1F2937"/>
                </a:solidFill>
                <a:latin typeface="Calibri"/>
              </a:rPr>
              <a:t>▸  Yopiq fastsial bo‘shliqda bosim oshadi, qon oqimi va to‘qima perfuziyasi kamayadi; ishemik og‘riq, to‘qima shikasti va oyoq-qo‘l xavfi paydo bo‘ladi.</a:t>
            </a:r>
          </a:p>
          <a:p>
            <a:pPr>
              <a:spcAft>
                <a:spcPts val="1200"/>
              </a:spcAft>
            </a:pPr>
            <a:r>
              <a:rPr sz="2200">
                <a:solidFill>
                  <a:srgbClr val="1F2937"/>
                </a:solidFill>
                <a:latin typeface="Calibri"/>
              </a:rPr>
              <a:t>▸  Bu jarrohlik shoshilinchligi; ko‘pincha boldir, bilak, son, oyoq kafti, dumba, qo‘l va qorinda uchraydi.</a:t>
            </a:r>
          </a:p>
          <a:p>
            <a:pPr>
              <a:spcAft>
                <a:spcPts val="1200"/>
              </a:spcAft>
            </a:pPr>
            <a:r>
              <a:rPr sz="2200">
                <a:solidFill>
                  <a:srgbClr val="1F2937"/>
                </a:solidFill>
                <a:latin typeface="Calibri"/>
              </a:rPr>
              <a:t>▸  Diqqat: ACS ko‘pincha crush sindromi bilan aralashtiriladi. Crush sindromi — tizimli holat, ACS — yopiq bo‘shliqdagi bosim holati.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belgilar: 5P mnemonikasi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5P: nomutanosib og‘riq, oqarish, paresteziya, falaj va puls yo‘qligi.</a:t>
            </a:r>
          </a:p>
          <a:p>
            <a:pPr>
              <a:spcAft>
                <a:spcPts val="800"/>
              </a:spcAft>
            </a:pPr>
            <a:r>
              <a:rPr sz="1800">
                <a:solidFill>
                  <a:srgbClr val="1F2937"/>
                </a:solidFill>
                <a:latin typeface="Calibri"/>
              </a:rPr>
              <a:t>▸  5P ishonchsiz: belgilar ACS bo‘lmaganlarda ham uchraydi, ongi buzilgan bemorda foydasiz.</a:t>
            </a:r>
          </a:p>
          <a:p>
            <a:pPr>
              <a:spcAft>
                <a:spcPts val="800"/>
              </a:spcAft>
            </a:pPr>
            <a:r>
              <a:rPr sz="1800">
                <a:solidFill>
                  <a:srgbClr val="1F2937"/>
                </a:solidFill>
                <a:latin typeface="Calibri"/>
              </a:rPr>
              <a:t>▸  Bu belgilar mushak nekrozini, ya’ni kech va qaytmas bosqichni bildiradi.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Pain: nomutanosib og‘riq</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Pallor: oqarish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Paresthesia: uvishish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Paralysis: falaj</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Pulselessness: puls yo‘q</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5P belgilari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tekshiruvning cheklovlari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Kompartment sindromi 5P belgilari: nomutanosib og‘riq, oqarish, paresteziya, falaj, puls yo‘qligi. Ular ishonchli emas, ACS bo‘lmaganda ham uchraydi.</a:t>
            </a:r>
          </a:p>
          <a:p>
            <a:pPr>
              <a:spcAft>
                <a:spcPts val="1200"/>
              </a:spcAft>
            </a:pPr>
            <a:r>
              <a:rPr sz="2000">
                <a:solidFill>
                  <a:srgbClr val="1F2937"/>
                </a:solidFill>
                <a:latin typeface="Calibri"/>
              </a:rPr>
              <a:t>▸  Ongi pasaygan, hushsiz yoki sezgisiz bemorda 5P foydasiz. Diqqat: belgilar paydo bo‘lgan bo‘lsa, bu ko‘pincha mushak nekrozi, ya’ni kech va qaytmas bosqich.</a:t>
            </a:r>
          </a:p>
          <a:p>
            <a:pPr>
              <a:spcAft>
                <a:spcPts val="1200"/>
              </a:spcAft>
            </a:pPr>
            <a:r>
              <a:rPr sz="2000">
                <a:solidFill>
                  <a:srgbClr val="1F2937"/>
                </a:solidFill>
                <a:latin typeface="Calibri"/>
              </a:rPr>
              <a:t>▸  Ulmer ma’lumotiga ko‘ra klinik tekshiruvning sezgirligi past, manfiy bashoratli qiymati yuqori. Demak, u ACSni tasdiqlashdan ko‘ra inkor etishda yaxshiroq.</a:t>
            </a:r>
          </a:p>
          <a:p>
            <a:pPr>
              <a:spcAft>
                <a:spcPts val="1200"/>
              </a:spcAft>
            </a:pPr>
            <a:r>
              <a:rPr sz="2000">
                <a:solidFill>
                  <a:srgbClr val="1F2937"/>
                </a:solidFill>
                <a:latin typeface="Calibri"/>
              </a:rPr>
              <a:t>▸  Subyektiv baho standartlashtirilmaydi, tajribali shifokorda ham ishonchsiz. Natijada keraksiz keng fasciotomiya va yara infeksiyasi xavfi oshadi.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Kompartment bosimini o‘lchash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Cadaver tizzalarida to‘g‘ri texnikada ham o‘lchovlarning 40% haqiqiy bosimdan 5 mmHg dan ortiq farq qilgan.</a:t>
            </a:r>
          </a:p>
          <a:p>
            <a:pPr>
              <a:spcAft>
                <a:spcPts val="800"/>
              </a:spcAft>
            </a:pPr>
            <a:r>
              <a:rPr sz="1800">
                <a:solidFill>
                  <a:srgbClr val="1F2937"/>
                </a:solidFill>
                <a:latin typeface="Calibri"/>
              </a:rPr>
              <a:t>▸  Bosim kompartmentda bir tekis emas. Eng yuqori bosim sinish joyidan 5 sm ichida bo‘ladi, o‘lchash ham shu yerda tavsiya etilgan.</a:t>
            </a:r>
          </a:p>
          <a:p>
            <a:pPr>
              <a:spcAft>
                <a:spcPts val="800"/>
              </a:spcAft>
            </a:pPr>
            <a:r>
              <a:rPr sz="1800">
                <a:solidFill>
                  <a:srgbClr val="1F2937"/>
                </a:solidFill>
                <a:latin typeface="Calibri"/>
              </a:rPr>
              <a:t>▸  Ofat hududlarida doimiy o‘lchash texnologiyasi chuqur to‘qimada sezgir emas va faqat tayyorlangan xodimga mos. Tashxis kechikadi.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Xususiyati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Whitesides manometri: Invasiv igna bilan o‘lchash</a:t>
            </a:r>
          </a:p>
          <a:p>
            <a:pPr algn="l">
              <a:spcAft>
                <a:spcPts val="700"/>
              </a:spcAft>
            </a:pPr>
            <a:r>
              <a:rPr sz="1500" b="1">
                <a:solidFill>
                  <a:srgbClr val="C9A227"/>
                </a:solidFill>
                <a:latin typeface="Calibri"/>
              </a:rPr>
              <a:t>●  </a:t>
            </a:r>
            <a:r>
              <a:rPr sz="1500" b="0">
                <a:solidFill>
                  <a:srgbClr val="1F2937"/>
                </a:solidFill>
                <a:latin typeface="Calibri"/>
              </a:rPr>
              <a:t>Chok/fitil kateter: Invasiv kateter usuli</a:t>
            </a:r>
          </a:p>
          <a:p>
            <a:pPr algn="l">
              <a:spcAft>
                <a:spcPts val="700"/>
              </a:spcAft>
            </a:pPr>
            <a:r>
              <a:rPr sz="1500" b="1">
                <a:solidFill>
                  <a:srgbClr val="C9A227"/>
                </a:solidFill>
                <a:latin typeface="Calibri"/>
              </a:rPr>
              <a:t>●  </a:t>
            </a:r>
            <a:r>
              <a:rPr sz="1500" b="0">
                <a:solidFill>
                  <a:srgbClr val="1F2937"/>
                </a:solidFill>
                <a:latin typeface="Calibri"/>
              </a:rPr>
              <a:t>STIC monitor: Portativ, yon teshikli igna, raqamli ekran</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Cheklov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Whitesides manometri: Mushak va qon laxtasi to‘sib qo‘yadi</a:t>
            </a:r>
          </a:p>
          <a:p>
            <a:pPr algn="l">
              <a:spcAft>
                <a:spcPts val="700"/>
              </a:spcAft>
            </a:pPr>
            <a:r>
              <a:rPr sz="1500" b="1">
                <a:solidFill>
                  <a:srgbClr val="C9A227"/>
                </a:solidFill>
                <a:latin typeface="Calibri"/>
              </a:rPr>
              <a:t>●  </a:t>
            </a:r>
            <a:r>
              <a:rPr sz="1500" b="0">
                <a:solidFill>
                  <a:srgbClr val="1F2937"/>
                </a:solidFill>
                <a:latin typeface="Calibri"/>
              </a:rPr>
              <a:t>Chok/fitil kateter: Mushak va laxta bilan to‘silib qoladi</a:t>
            </a:r>
          </a:p>
          <a:p>
            <a:pPr algn="l">
              <a:spcAft>
                <a:spcPts val="700"/>
              </a:spcAft>
            </a:pPr>
            <a:r>
              <a:rPr sz="1500" b="1">
                <a:solidFill>
                  <a:srgbClr val="C9A227"/>
                </a:solidFill>
                <a:latin typeface="Calibri"/>
              </a:rPr>
              <a:t>●  </a:t>
            </a:r>
            <a:r>
              <a:rPr sz="1500" b="0">
                <a:solidFill>
                  <a:srgbClr val="1F2937"/>
                </a:solidFill>
                <a:latin typeface="Calibri"/>
              </a:rPr>
              <a:t>STIC monitor: Joy, holat, igna uchi to‘qimasi ta’sir etadi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Invasiv o‘lchash usullari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 Usuda et al., Crush syndrome: a review for prehospital providers and emergency clinicians, betlar: PMID 37653520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Bosim chegaralari: mutlaq qiymat va ΔP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Mutlaq 30 mmHg chegarasi aniq emas: 30 mmHg dan yuqori bosim ham oqibatsiz chidalgan holatlar bor.</a:t>
            </a:r>
          </a:p>
          <a:p>
            <a:pPr>
              <a:spcAft>
                <a:spcPts val="800"/>
              </a:spcAft>
            </a:pPr>
            <a:r>
              <a:rPr sz="1800">
                <a:solidFill>
                  <a:srgbClr val="1F2937"/>
                </a:solidFill>
                <a:latin typeface="Calibri"/>
              </a:rPr>
              <a:t>▸  Mutlaq qiymat o‘rniga ΔP qabul qilindi: diastolik bosimdan kompartment bosimi ayirmasi 30 mmHg dan kam bo‘lsa.</a:t>
            </a:r>
          </a:p>
          <a:p>
            <a:pPr>
              <a:spcAft>
                <a:spcPts val="800"/>
              </a:spcAft>
            </a:pPr>
            <a:r>
              <a:rPr sz="1800">
                <a:solidFill>
                  <a:srgbClr val="1F2937"/>
                </a:solidFill>
                <a:latin typeface="Calibri"/>
              </a:rPr>
              <a:t>▸  Bitta o‘lchov faqat lahzalik perfuziyani aks ettiradi, shuning uchun vaqt omilini ham hisobga olish kerak.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Bosim mezonlarini solishtirish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Mutlaq 30 mmHg</a:t>
            </a:r>
          </a:p>
          <a:p>
            <a:pPr algn="l">
              <a:spcAft>
                <a:spcPts val="0"/>
              </a:spcAft>
            </a:pPr>
            <a:r>
              <a:rPr sz="1200" b="0">
                <a:solidFill>
                  <a:srgbClr val="1F2937"/>
                </a:solidFill>
                <a:latin typeface="Calibri"/>
              </a:rPr>
              <a:t>Fasciotomiya chegarasi (taklif)  ·  Noaniq; 30 dan yuqori ham chidalgan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ΔP &lt; 30 mmHg</a:t>
            </a:r>
          </a:p>
          <a:p>
            <a:pPr algn="l">
              <a:spcAft>
                <a:spcPts val="0"/>
              </a:spcAft>
            </a:pPr>
            <a:r>
              <a:rPr sz="1200" b="0">
                <a:solidFill>
                  <a:srgbClr val="1F2937"/>
                </a:solidFill>
                <a:latin typeface="Calibri"/>
              </a:rPr>
              <a:t>Diastolik minus kompartment bosimi  ·  Yolg‘iz o‘zi ishonchsiz</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ΔP bilan operatsiya</a:t>
            </a:r>
          </a:p>
          <a:p>
            <a:pPr algn="l">
              <a:spcAft>
                <a:spcPts val="0"/>
              </a:spcAft>
            </a:pPr>
            <a:r>
              <a:rPr sz="1200" b="0">
                <a:solidFill>
                  <a:srgbClr val="1F2937"/>
                </a:solidFill>
                <a:latin typeface="Calibri"/>
              </a:rPr>
              <a:t>45,4% bemorga fasciotomiya qilinardi  ·  Keraksiz operatsiya va asoratlar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Doimiy kuzatuv</a:t>
            </a:r>
          </a:p>
          <a:p>
            <a:pPr algn="l">
              <a:spcAft>
                <a:spcPts val="0"/>
              </a:spcAft>
            </a:pPr>
            <a:r>
              <a:rPr sz="1200" b="0">
                <a:solidFill>
                  <a:srgbClr val="1F2937"/>
                </a:solidFill>
                <a:latin typeface="Calibri"/>
              </a:rPr>
              <a:t>2 soatda sezgirlik 94%  ·  Hushyor bemorda tavsiya etilmagan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Bosim mezonlarini solishtirish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Diqqat — bosim va diagnoz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yuqori bosim ≠ albatta ACS. Boldir diafizi sinishida yuqori bosim tez-tez uchraydi, lekin sindrom borligini bildirmaydi.</a:t>
            </a:r>
          </a:p>
          <a:p>
            <a:pPr>
              <a:spcAft>
                <a:spcPts val="1200"/>
              </a:spcAft>
            </a:pPr>
            <a:r>
              <a:rPr sz="2200">
                <a:solidFill>
                  <a:srgbClr val="1F2937"/>
                </a:solidFill>
                <a:latin typeface="Calibri"/>
              </a:rPr>
              <a:t>▸  Bosim sinish joyining 5 sm atrofida eng yuqori, shuning uchun o‘lchash nuqtasi natijaga ta’sir qiladi. Zona tashqarisida o‘lchash bo‘yicha yagona standart yo‘q.</a:t>
            </a:r>
          </a:p>
          <a:p>
            <a:pPr>
              <a:spcAft>
                <a:spcPts val="1200"/>
              </a:spcAft>
            </a:pPr>
            <a:r>
              <a:rPr sz="2200">
                <a:solidFill>
                  <a:srgbClr val="1F2937"/>
                </a:solidFill>
                <a:latin typeface="Calibri"/>
              </a:rPr>
              <a:t>▸  Bitta o‘lchov faqat shu daqiqadagi holatni ko‘rsatadi; vaqt omili ham hisobga olinadi, bir joydagi bosim butun qavatni aks ettirmasligi mumkin.</a:t>
            </a:r>
          </a:p>
          <a:p>
            <a:pPr>
              <a:spcAft>
                <a:spcPts val="1200"/>
              </a:spcAft>
            </a:pPr>
            <a:r>
              <a:rPr sz="2200">
                <a:solidFill>
                  <a:srgbClr val="1F2937"/>
                </a:solidFill>
                <a:latin typeface="Calibri"/>
              </a:rPr>
              <a:t>▸  Tezkor savol: nima uchun yagona va sinishdan uzoqda o‘lchangan bosimga ishonib bo‘lmaydi? Bosim qavat ichida bir tekis taqsimlanmagan.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noaniq klinika, yuqori bosim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boldir sinishi bor bemorda klinik belgilar noaniq, kompartment bosimi esa yuqori. Fasciotomy (fastsiyani kesish) qilinsinmi?</a:t>
            </a:r>
          </a:p>
          <a:p>
            <a:pPr>
              <a:spcAft>
                <a:spcPts val="1200"/>
              </a:spcAft>
            </a:pPr>
            <a:r>
              <a:rPr sz="2200">
                <a:solidFill>
                  <a:srgbClr val="1F2937"/>
                </a:solidFill>
                <a:latin typeface="Calibri"/>
              </a:rPr>
              <a:t>▸  Faqat bosimga tayanish xavfli. Bosim farqi (diastolik minus kompartment bosimi) 30 mm Hg dan past mezonida bemorlarning 45,4% i keraksiz operatsiyaga tushardi.</a:t>
            </a:r>
          </a:p>
          <a:p>
            <a:pPr>
              <a:spcAft>
                <a:spcPts val="1200"/>
              </a:spcAft>
            </a:pPr>
            <a:r>
              <a:rPr sz="2200">
                <a:solidFill>
                  <a:srgbClr val="1F2937"/>
                </a:solidFill>
                <a:latin typeface="Calibri"/>
              </a:rPr>
              <a:t>▸  Sinishda yuqori bosim ko‘pincha sindromga teng emas. Ortiqcha fasciotomy yara infeksiyasi va boshqa asoratlar xavfini oshiradi.</a:t>
            </a:r>
          </a:p>
          <a:p>
            <a:pPr>
              <a:spcAft>
                <a:spcPts val="1200"/>
              </a:spcAft>
            </a:pPr>
            <a:r>
              <a:rPr sz="2200">
                <a:solidFill>
                  <a:srgbClr val="1F2937"/>
                </a:solidFill>
                <a:latin typeface="Calibri"/>
              </a:rPr>
              <a:t>▸  Yana nimani hisobga olish kerak: ortib borayotgan og‘riq, bosimning vaqt bo‘yicha o‘zgarishi, shikast mexanizmi va teridagi pufakchalar.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Shikast mexanizmi bo‘yicha tasnif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Siqilish sindromi uzoq davom etgan bosimdan kelib chiqadi: oyoq-qo‘l shishadi, shok, mioglobinuriya va buyrak yetishmovchiligi rivojlanadi.</a:t>
            </a:r>
          </a:p>
          <a:p>
            <a:pPr>
              <a:spcAft>
                <a:spcPts val="800"/>
              </a:spcAft>
            </a:pPr>
            <a:r>
              <a:rPr sz="1800">
                <a:solidFill>
                  <a:srgbClr val="1F2937"/>
                </a:solidFill>
                <a:latin typeface="Calibri"/>
              </a:rPr>
              <a:t>▸  Diqqat: siqilish sindromi ≠ Volkmann kontrakturasi; ikkinchisi o‘tkazib yuborilgan tomir shikastining kech holati.</a:t>
            </a:r>
          </a:p>
          <a:p>
            <a:pPr>
              <a:spcAft>
                <a:spcPts val="800"/>
              </a:spcAft>
            </a:pPr>
            <a:r>
              <a:rPr sz="1800">
                <a:solidFill>
                  <a:srgbClr val="1F2937"/>
                </a:solidFill>
                <a:latin typeface="Calibri"/>
              </a:rPr>
              <a:t>▸  Sinish ACS ning asosiy omili (taxminan 75%); bunda qavat ichi tuzilishi buzilmagan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Mexanizm va taktika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Yumshoq to‘qima (siqilish)</a:t>
            </a:r>
          </a:p>
          <a:p>
            <a:pPr algn="l">
              <a:spcAft>
                <a:spcPts val="0"/>
              </a:spcAft>
            </a:pPr>
            <a:r>
              <a:rPr sz="1200" b="0">
                <a:solidFill>
                  <a:srgbClr val="1F2937"/>
                </a:solidFill>
                <a:latin typeface="Calibri"/>
              </a:rPr>
              <a:t>Uzoq bosim, mioglobinuriya  ·  Erta debridman; fasciotomy bahsli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Tomir shikasti</a:t>
            </a:r>
          </a:p>
          <a:p>
            <a:pPr algn="l">
              <a:spcAft>
                <a:spcPts val="0"/>
              </a:spcAft>
            </a:pPr>
            <a:r>
              <a:rPr sz="1200" b="0">
                <a:solidFill>
                  <a:srgbClr val="1F2937"/>
                </a:solidFill>
                <a:latin typeface="Calibri"/>
              </a:rPr>
              <a:t>Reperfuziya, Volkmann xavfi  ·  Tomir jarrohi maslahati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Sinish bilan bog‘liq</a:t>
            </a:r>
          </a:p>
          <a:p>
            <a:pPr algn="l">
              <a:spcAft>
                <a:spcPts val="0"/>
              </a:spcAft>
            </a:pPr>
            <a:r>
              <a:rPr sz="1200" b="0">
                <a:solidFill>
                  <a:srgbClr val="1F2937"/>
                </a:solidFill>
                <a:latin typeface="Calibri"/>
              </a:rPr>
              <a:t>Tuzilish saqlangan, pufakcha  ·  Ortiqcha davolashdan qochish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Mexanizm va taktika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Sinish pufakchalari: bosimni bo‘shatish belgisi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Sinishga bog‘liq o‘tkir kompartment sindromida (ACS) kompartment ichidagi tuzilma, siqilish jarohatidan farqli, aslida buzilmagan bo‘ladi.</a:t>
            </a:r>
          </a:p>
          <a:p>
            <a:pPr>
              <a:spcAft>
                <a:spcPts val="1200"/>
              </a:spcAft>
            </a:pPr>
            <a:r>
              <a:rPr sz="2200">
                <a:solidFill>
                  <a:srgbClr val="1F2937"/>
                </a:solidFill>
                <a:latin typeface="Calibri"/>
              </a:rPr>
              <a:t>▸  Siqilishda hujayra nobud bo‘lib, tarkibi to‘qima oralig‘iga chiqadi. Suyuqlik to‘planib, ichki bosim yanada ortadi.</a:t>
            </a:r>
          </a:p>
          <a:p>
            <a:pPr>
              <a:spcAft>
                <a:spcPts val="1200"/>
              </a:spcAft>
            </a:pPr>
            <a:r>
              <a:rPr sz="2200">
                <a:solidFill>
                  <a:srgbClr val="1F2937"/>
                </a:solidFill>
                <a:latin typeface="Calibri"/>
              </a:rPr>
              <a:t>▸  Sinishda bosim butun fastsiya atrofidagi mexanizmlar orqali chiqishi mumkin. Boldirda suyuqlik yoki qon to‘lgan pufakchalar 6 soatdan keyin ko‘rinadi.</a:t>
            </a:r>
          </a:p>
          <a:p>
            <a:pPr>
              <a:spcAft>
                <a:spcPts val="1200"/>
              </a:spcAft>
            </a:pPr>
            <a:r>
              <a:rPr sz="2200">
                <a:solidFill>
                  <a:srgbClr val="1F2937"/>
                </a:solidFill>
                <a:latin typeface="Calibri"/>
              </a:rPr>
              <a:t>▸  Diqqat: pufakcha bosimni bo‘shatadi degani mualliflar farazi. Laboratoriya dalili yetarli emas, tekshiruv rejalashtirilgan.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sinish yoki siqilish?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boldir suyagi sinishi, terida suyuqlik yoki qon to‘lgan pufakchalar bor. Vaziyat B: qulagan konstruksiya ostida uzoq qolgan oyoq.</a:t>
            </a:r>
          </a:p>
          <a:p>
            <a:pPr>
              <a:spcAft>
                <a:spcPts val="1200"/>
              </a:spcAft>
            </a:pPr>
            <a:r>
              <a:rPr sz="2200">
                <a:solidFill>
                  <a:srgbClr val="1F2937"/>
                </a:solidFill>
                <a:latin typeface="Calibri"/>
              </a:rPr>
              <a:t>▸  Savol: qaysi birida fasciotomiya (fastsiyani kesib bosimni tushirish) ehtiyotkorlik bilan tanlanadi va nega?</a:t>
            </a:r>
          </a:p>
          <a:p>
            <a:pPr>
              <a:spcAft>
                <a:spcPts val="1200"/>
              </a:spcAft>
            </a:pPr>
            <a:r>
              <a:rPr sz="2200">
                <a:solidFill>
                  <a:srgbClr val="1F2937"/>
                </a:solidFill>
                <a:latin typeface="Calibri"/>
              </a:rPr>
              <a:t>▸  Sinishda ortiqcha davolashdan qochish uchun qo‘shimcha tekshiruv kerak, ayniqsa pufakcha bo‘lsa. Fasciotomiya ko‘rsatmasi qat’iy nazoratda bo‘lishi lozim.</a:t>
            </a:r>
          </a:p>
          <a:p>
            <a:pPr>
              <a:spcAft>
                <a:spcPts val="1200"/>
              </a:spcAft>
            </a:pPr>
            <a:r>
              <a:rPr sz="2200">
                <a:solidFill>
                  <a:srgbClr val="1F2937"/>
                </a:solidFill>
                <a:latin typeface="Calibri"/>
              </a:rPr>
              <a:t>▸  Fasciotomiya yopiq jarohatni ochiqqa aylantirib, infeksiyani oshiradi. Ochiq jarohat yoki qon aylanishi pasayishi bo‘lmasa, konservativ yo‘l tavsiya etilgan.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Fasciotomiya vaqti va natijalar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Mushak nekrozi 3 soatdan boshlanib, 8 soatda doimiy bo‘lishi mumkin; nerv uchun 4 va 12 soat muhim.</a:t>
            </a:r>
          </a:p>
          <a:p>
            <a:pPr>
              <a:spcAft>
                <a:spcPts val="800"/>
              </a:spcAft>
            </a:pPr>
            <a:r>
              <a:rPr sz="1800">
                <a:solidFill>
                  <a:srgbClr val="1F2937"/>
                </a:solidFill>
                <a:latin typeface="Calibri"/>
              </a:rPr>
              <a:t>▸  12 soat ichida davolangan 22 bemorning 68 foizi, keyin davolanganlarning 8 foizi tiklandi.</a:t>
            </a:r>
          </a:p>
          <a:p>
            <a:pPr>
              <a:spcAft>
                <a:spcPts val="800"/>
              </a:spcAft>
            </a:pPr>
            <a:r>
              <a:rPr sz="1800">
                <a:solidFill>
                  <a:srgbClr val="1F2937"/>
                </a:solidFill>
                <a:latin typeface="Calibri"/>
              </a:rPr>
              <a:t>▸  Bolalar bosimga uzoqroq chidaydi; aniq vaqtni belgilash qiyin, xavf va foyda tortiladi.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 soat</a:t>
            </a:r>
          </a:p>
          <a:p>
            <a:pPr algn="l">
              <a:spcAft>
                <a:spcPts val="200"/>
              </a:spcAft>
            </a:pPr>
            <a:r>
              <a:rPr sz="1400" b="0">
                <a:solidFill>
                  <a:srgbClr val="1F2937"/>
                </a:solidFill>
                <a:latin typeface="Calibri"/>
              </a:rPr>
              <a:t>Mushak nekrozi ko‘rina boshlaydi — 8 soatda doimiy bo‘lishi mumkin</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4 soat</a:t>
            </a:r>
          </a:p>
          <a:p>
            <a:pPr algn="l">
              <a:spcAft>
                <a:spcPts val="200"/>
              </a:spcAft>
            </a:pPr>
            <a:r>
              <a:rPr sz="1400" b="0">
                <a:solidFill>
                  <a:srgbClr val="1F2937"/>
                </a:solidFill>
                <a:latin typeface="Calibri"/>
              </a:rPr>
              <a:t>Nerv o‘tkazuvchanligi tiklanadi — Bosim miqdoridan qat’i nazar</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 soat</a:t>
            </a:r>
          </a:p>
          <a:p>
            <a:pPr algn="l">
              <a:spcAft>
                <a:spcPts val="200"/>
              </a:spcAft>
            </a:pPr>
            <a:r>
              <a:rPr sz="1400" b="0">
                <a:solidFill>
                  <a:srgbClr val="1F2937"/>
                </a:solidFill>
                <a:latin typeface="Calibri"/>
              </a:rPr>
              <a:t>Nerv o‘tkazuvchanligi tiklanmaydi — 12 soat ichida 68%, keyin 8% tiklangan</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Bolalar</a:t>
            </a:r>
          </a:p>
          <a:p>
            <a:pPr algn="l">
              <a:spcAft>
                <a:spcPts val="200"/>
              </a:spcAft>
            </a:pPr>
            <a:r>
              <a:rPr sz="1400" b="0">
                <a:solidFill>
                  <a:srgbClr val="1F2937"/>
                </a:solidFill>
                <a:latin typeface="Calibri"/>
              </a:rPr>
              <a:t>Bosimga chidamlilik yuqoriroq — 24 soatda ham tiklanish mumkin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Vaqt va natija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Fasciotomiya bahsi: foyda va xavf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Erta fasciotomiya mushakning keyingi shikastlanishini oldini olishi mumkin; ba’zi mualliflar uni tavsiya qiladi.</a:t>
            </a:r>
          </a:p>
          <a:p>
            <a:pPr>
              <a:spcAft>
                <a:spcPts val="800"/>
              </a:spcAft>
            </a:pPr>
            <a:r>
              <a:rPr sz="1800">
                <a:solidFill>
                  <a:srgbClr val="1F2937"/>
                </a:solidFill>
                <a:latin typeface="Calibri"/>
              </a:rPr>
              <a:t>▸  Fasciotomiya yopiq jarohatni ochiq qiladi: infeksiya, sepsis va amputatsiya xavfi oshadi.</a:t>
            </a:r>
          </a:p>
          <a:p>
            <a:pPr>
              <a:spcAft>
                <a:spcPts val="800"/>
              </a:spcAft>
            </a:pPr>
            <a:r>
              <a:rPr sz="1800">
                <a:solidFill>
                  <a:srgbClr val="1F2937"/>
                </a:solidFill>
                <a:latin typeface="Calibri"/>
              </a:rPr>
              <a:t>▸  Oyoq periferik pulslari paypaslanmasa, jarrohlik dekompressiyasi zarur; bunda bahs yo‘q.</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Foyda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Vaqt: Erta qilinsa mushak shikasti kamayadi</a:t>
            </a:r>
          </a:p>
          <a:p>
            <a:pPr algn="l">
              <a:spcAft>
                <a:spcPts val="700"/>
              </a:spcAft>
            </a:pPr>
            <a:r>
              <a:rPr sz="1500" b="1">
                <a:solidFill>
                  <a:srgbClr val="C9A227"/>
                </a:solidFill>
                <a:latin typeface="Calibri"/>
              </a:rPr>
              <a:t>●  </a:t>
            </a:r>
            <a:r>
              <a:rPr sz="1500" b="0">
                <a:solidFill>
                  <a:srgbClr val="1F2937"/>
                </a:solidFill>
                <a:latin typeface="Calibri"/>
              </a:rPr>
              <a:t>Jarohat: To‘qima bosimi pasayadi</a:t>
            </a:r>
          </a:p>
          <a:p>
            <a:pPr algn="l">
              <a:spcAft>
                <a:spcPts val="700"/>
              </a:spcAft>
            </a:pPr>
            <a:r>
              <a:rPr sz="1500" b="1">
                <a:solidFill>
                  <a:srgbClr val="C9A227"/>
                </a:solidFill>
                <a:latin typeface="Calibri"/>
              </a:rPr>
              <a:t>●  </a:t>
            </a:r>
            <a:r>
              <a:rPr sz="1500" b="0">
                <a:solidFill>
                  <a:srgbClr val="1F2937"/>
                </a:solidFill>
                <a:latin typeface="Calibri"/>
              </a:rPr>
              <a:t>Asorat: Oyoq va funksiya saqlanishi mumkin</a:t>
            </a:r>
          </a:p>
          <a:p>
            <a:pPr algn="l">
              <a:spcAft>
                <a:spcPts val="700"/>
              </a:spcAft>
            </a:pPr>
            <a:r>
              <a:rPr sz="1500" b="1">
                <a:solidFill>
                  <a:srgbClr val="C9A227"/>
                </a:solidFill>
                <a:latin typeface="Calibri"/>
              </a:rPr>
              <a:t>●  </a:t>
            </a:r>
            <a:r>
              <a:rPr sz="1500" b="0">
                <a:solidFill>
                  <a:srgbClr val="1F2937"/>
                </a:solidFill>
                <a:latin typeface="Calibri"/>
              </a:rPr>
              <a:t>Puls yo‘q: Dekompressiya shart</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Xavf</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Vaqt: Kechiksa natija yomonlashadi</a:t>
            </a:r>
          </a:p>
          <a:p>
            <a:pPr algn="l">
              <a:spcAft>
                <a:spcPts val="700"/>
              </a:spcAft>
            </a:pPr>
            <a:r>
              <a:rPr sz="1500" b="1">
                <a:solidFill>
                  <a:srgbClr val="C9A227"/>
                </a:solidFill>
                <a:latin typeface="Calibri"/>
              </a:rPr>
              <a:t>●  </a:t>
            </a:r>
            <a:r>
              <a:rPr sz="1500" b="0">
                <a:solidFill>
                  <a:srgbClr val="1F2937"/>
                </a:solidFill>
                <a:latin typeface="Calibri"/>
              </a:rPr>
              <a:t>Jarohat: Yopiq jarohat ochiq bo‘lib qoladi</a:t>
            </a:r>
          </a:p>
          <a:p>
            <a:pPr algn="l">
              <a:spcAft>
                <a:spcPts val="700"/>
              </a:spcAft>
            </a:pPr>
            <a:r>
              <a:rPr sz="1500" b="1">
                <a:solidFill>
                  <a:srgbClr val="C9A227"/>
                </a:solidFill>
                <a:latin typeface="Calibri"/>
              </a:rPr>
              <a:t>●  </a:t>
            </a:r>
            <a:r>
              <a:rPr sz="1500" b="0">
                <a:solidFill>
                  <a:srgbClr val="1F2937"/>
                </a:solidFill>
                <a:latin typeface="Calibri"/>
              </a:rPr>
              <a:t>Asorat: Infeksiya, sepsis, amputatsiya</a:t>
            </a:r>
          </a:p>
          <a:p>
            <a:pPr algn="l">
              <a:spcAft>
                <a:spcPts val="700"/>
              </a:spcAft>
            </a:pPr>
            <a:r>
              <a:rPr sz="1500" b="1">
                <a:solidFill>
                  <a:srgbClr val="C9A227"/>
                </a:solidFill>
                <a:latin typeface="Calibri"/>
              </a:rPr>
              <a:t>●  </a:t>
            </a:r>
            <a:r>
              <a:rPr sz="1500" b="0">
                <a:solidFill>
                  <a:srgbClr val="1F2937"/>
                </a:solidFill>
                <a:latin typeface="Calibri"/>
              </a:rPr>
              <a:t>Puls yo‘q: Bahs yo‘q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Fasciotomiya: foyda va xavf</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Guo et al., Acute compartment syndrome, betlar: PMID 31277147; Usuda et al., Crush syndrome: a review for prehospital providers and emergency clinicians, betlar: PMID 37653520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Dastlabki davolash: suyuqlik terapiyasi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Vena ichiga suyuqlik ozod qilishdan oldin boshlanadi; tarkibida kaliy bo‘lgan eritmalardan qochiladi.</a:t>
            </a:r>
          </a:p>
          <a:p>
            <a:pPr>
              <a:spcAft>
                <a:spcPts val="800"/>
              </a:spcAft>
            </a:pPr>
            <a:r>
              <a:rPr sz="1800">
                <a:solidFill>
                  <a:srgbClr val="1F2937"/>
                </a:solidFill>
                <a:latin typeface="Calibri"/>
              </a:rPr>
              <a:t>▸  Maqsad: kattalarda siydik kamida 300 ml/soat, kamida dastlabki 24 soat davomida.</a:t>
            </a:r>
          </a:p>
          <a:p>
            <a:pPr>
              <a:spcAft>
                <a:spcPts val="800"/>
              </a:spcAft>
            </a:pPr>
            <a:r>
              <a:rPr sz="1800">
                <a:solidFill>
                  <a:srgbClr val="1F2937"/>
                </a:solidFill>
                <a:latin typeface="Calibri"/>
              </a:rPr>
              <a:t>▸  Natriy bikarbonat va mannitol faqat ko‘rsatma bo‘lsa beriladi; ular tasodifiy sinovda faqat suyuqlik bilan solishtirilmagan.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Ozod qilishdan oldin vena yo‘li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Kaliysiz eritma boshlanadi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Siydik ≥300 ml/soat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Kamida 24 soat davom etadi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Bikarbonat, mannitol: ko‘rsatma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Suyuqlik terapiyasi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Davolashdagi vaqt va hajm ko‘rsatkichlari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Skelet mushagi 2-4 soat ishemiyaga chidaydi deb hisoblangan, ammo qaytmas o‘zgarishlar 1 soatdayoq boshlanishi mumkin.</a:t>
            </a:r>
          </a:p>
          <a:p>
            <a:pPr>
              <a:spcAft>
                <a:spcPts val="800"/>
              </a:spcAft>
            </a:pPr>
            <a:r>
              <a:rPr sz="1600">
                <a:solidFill>
                  <a:srgbClr val="1F2937"/>
                </a:solidFill>
                <a:latin typeface="Calibri"/>
              </a:rPr>
              <a:t>▸  Suyuqlik iloji boricha 6 soat ichida boshlanadi; kattalarda siydik chiqarishi kamida 300 ml/soat bo‘lishi, kamida dastlabki 24 soat davom etishi kerak.</a:t>
            </a:r>
          </a:p>
          <a:p>
            <a:pPr>
              <a:spcAft>
                <a:spcPts val="800"/>
              </a:spcAft>
            </a:pPr>
            <a:r>
              <a:rPr sz="1600">
                <a:solidFill>
                  <a:srgbClr val="1F2937"/>
                </a:solidFill>
                <a:latin typeface="Calibri"/>
              </a:rPr>
              <a:t>▸  Natriy bikarbonat faqat atsidozni tuzatish uchun, mannitol faqat siydik 300 ml/soat dan kam bo‘lganda qo‘llanadi.</a:t>
            </a:r>
          </a:p>
          <a:p>
            <a:pPr>
              <a:spcAft>
                <a:spcPts val="800"/>
              </a:spcAft>
            </a:pPr>
            <a:r>
              <a:rPr sz="1600">
                <a:solidFill>
                  <a:srgbClr val="1F2937"/>
                </a:solidFill>
                <a:latin typeface="Calibri"/>
              </a:rPr>
              <a:t>▸  Oyoq kafti suyaklari sinishining 0,7% ida fasciotomiya bajariladi; ochiq sinish, ezilish shikasti va ko‘p sinish asosiy bashoratchilar.</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Ishemiyaga chidamlilik</a:t>
            </a:r>
          </a:p>
          <a:p>
            <a:pPr algn="l">
              <a:spcAft>
                <a:spcPts val="100"/>
              </a:spcAft>
            </a:pPr>
            <a:r>
              <a:rPr sz="3000" b="1">
                <a:solidFill>
                  <a:srgbClr val="0B1F3A"/>
                </a:solidFill>
                <a:latin typeface="Calibri"/>
              </a:rPr>
              <a:t>2–4</a:t>
            </a:r>
            <a:r>
              <a:rPr sz="1500" b="0">
                <a:solidFill>
                  <a:srgbClr val="6B7280"/>
                </a:solidFill>
                <a:latin typeface="Calibri"/>
              </a:rPr>
              <a:t>  soat</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Qaytmas o‘zgarish</a:t>
            </a:r>
          </a:p>
          <a:p>
            <a:pPr algn="l">
              <a:spcAft>
                <a:spcPts val="100"/>
              </a:spcAft>
            </a:pPr>
            <a:r>
              <a:rPr sz="3000" b="1">
                <a:solidFill>
                  <a:srgbClr val="0B1F3A"/>
                </a:solidFill>
                <a:latin typeface="Calibri"/>
              </a:rPr>
              <a:t>1 dan</a:t>
            </a:r>
            <a:r>
              <a:rPr sz="1500" b="0">
                <a:solidFill>
                  <a:srgbClr val="6B7280"/>
                </a:solidFill>
                <a:latin typeface="Calibri"/>
              </a:rPr>
              <a:t>  soat</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Suyuqlik boshlanishi</a:t>
            </a:r>
          </a:p>
          <a:p>
            <a:pPr algn="l">
              <a:spcAft>
                <a:spcPts val="100"/>
              </a:spcAft>
            </a:pPr>
            <a:r>
              <a:rPr sz="3000" b="1">
                <a:solidFill>
                  <a:srgbClr val="0B1F3A"/>
                </a:solidFill>
                <a:latin typeface="Calibri"/>
              </a:rPr>
              <a:t>≤6</a:t>
            </a:r>
            <a:r>
              <a:rPr sz="1500" b="0">
                <a:solidFill>
                  <a:srgbClr val="6B7280"/>
                </a:solidFill>
                <a:latin typeface="Calibri"/>
              </a:rPr>
              <a:t>  soat</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Siydik miqdori</a:t>
            </a:r>
          </a:p>
          <a:p>
            <a:pPr algn="l">
              <a:spcAft>
                <a:spcPts val="100"/>
              </a:spcAft>
            </a:pPr>
            <a:r>
              <a:rPr sz="3000" b="1">
                <a:solidFill>
                  <a:srgbClr val="0B1F3A"/>
                </a:solidFill>
                <a:latin typeface="Calibri"/>
              </a:rPr>
              <a:t>≥300</a:t>
            </a:r>
            <a:r>
              <a:rPr sz="1500" b="0">
                <a:solidFill>
                  <a:srgbClr val="6B7280"/>
                </a:solidFill>
                <a:latin typeface="Calibri"/>
              </a:rPr>
              <a:t>  ml/soat</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Infuziya davomi</a:t>
            </a:r>
          </a:p>
          <a:p>
            <a:pPr algn="l">
              <a:spcAft>
                <a:spcPts val="100"/>
              </a:spcAft>
            </a:pPr>
            <a:r>
              <a:rPr sz="3000" b="1">
                <a:solidFill>
                  <a:srgbClr val="0B1F3A"/>
                </a:solidFill>
                <a:latin typeface="Calibri"/>
              </a:rPr>
              <a:t>≥24</a:t>
            </a:r>
            <a:r>
              <a:rPr sz="1500" b="0">
                <a:solidFill>
                  <a:srgbClr val="6B7280"/>
                </a:solidFill>
                <a:latin typeface="Calibri"/>
              </a:rPr>
              <a:t>  soat</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Panja fasciotomiyasi</a:t>
            </a:r>
          </a:p>
          <a:p>
            <a:pPr algn="l">
              <a:spcAft>
                <a:spcPts val="100"/>
              </a:spcAft>
            </a:pPr>
            <a:r>
              <a:rPr sz="3000" b="1">
                <a:solidFill>
                  <a:srgbClr val="0B1F3A"/>
                </a:solidFill>
                <a:latin typeface="Calibri"/>
              </a:rPr>
              <a:t>0,7</a:t>
            </a:r>
            <a:r>
              <a:rPr sz="1500" b="0">
                <a:solidFill>
                  <a:srgbClr val="6B7280"/>
                </a:solidFill>
                <a:latin typeface="Calibri"/>
              </a:rPr>
              <a:t>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Davolash oynasi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Mannitol-bikarbonat kokteyli va qo‘shimcha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Mannitol-bikarbonat kokteyli: 1000 ml 0,45% NaCl va 5% dekstrozaga 40 mEq NaHCO3 va 50 ml 20% mannitol aralashtiriladi.</a:t>
            </a:r>
          </a:p>
          <a:p>
            <a:pPr>
              <a:spcAft>
                <a:spcPts val="800"/>
              </a:spcAft>
            </a:pPr>
            <a:r>
              <a:rPr sz="1600">
                <a:solidFill>
                  <a:srgbClr val="1F2937"/>
                </a:solidFill>
                <a:latin typeface="Calibri"/>
              </a:rPr>
              <a:t>▸  Bunday kokteyl bilan tez suyuqlik terapiyasi ofatlardagi CS da o‘tkir buyrak yetishmovchiligini oldini olishda samarali topilgan.</a:t>
            </a:r>
          </a:p>
          <a:p>
            <a:pPr>
              <a:spcAft>
                <a:spcPts val="800"/>
              </a:spcAft>
            </a:pPr>
            <a:r>
              <a:rPr sz="1600">
                <a:solidFill>
                  <a:srgbClr val="1F2937"/>
                </a:solidFill>
                <a:latin typeface="Calibri"/>
              </a:rPr>
              <a:t>▸  Hozircha bikarbonat yoki mannitol bilan suyuqlik terapiyasini faqat suyuqlik terapiyasi bilan solishtirgan randomizatsiyalangan sinov yo‘q.</a:t>
            </a:r>
          </a:p>
          <a:p>
            <a:pPr>
              <a:spcAft>
                <a:spcPts val="800"/>
              </a:spcAft>
            </a:pPr>
            <a:r>
              <a:rPr sz="1600">
                <a:solidFill>
                  <a:srgbClr val="1F2937"/>
                </a:solidFill>
                <a:latin typeface="Calibri"/>
              </a:rPr>
              <a:t>▸  Muz terapiyasi mitoxondriya disfunksiyasi va yallig‘lanishni kamaytiradi; giperbarik kislorod esa fasciotomiyagacha progressiyani to‘xtatadigan yagona usul.</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Kokteyl tarkibi</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1000 ml 0,45% NaCl + 5% dekstroza</a:t>
            </a:r>
          </a:p>
          <a:p>
            <a:pPr algn="l">
              <a:spcAft>
                <a:spcPts val="700"/>
              </a:spcAft>
            </a:pPr>
            <a:r>
              <a:rPr sz="1500" b="1">
                <a:solidFill>
                  <a:srgbClr val="C9A227"/>
                </a:solidFill>
                <a:latin typeface="Calibri"/>
              </a:rPr>
              <a:t>●  </a:t>
            </a:r>
            <a:r>
              <a:rPr sz="1500" b="0">
                <a:solidFill>
                  <a:srgbClr val="1F2937"/>
                </a:solidFill>
                <a:latin typeface="Calibri"/>
              </a:rPr>
              <a:t>40 mEq NaHCO3</a:t>
            </a:r>
          </a:p>
          <a:p>
            <a:pPr algn="l">
              <a:spcAft>
                <a:spcPts val="700"/>
              </a:spcAft>
            </a:pPr>
            <a:r>
              <a:rPr sz="1500" b="1">
                <a:solidFill>
                  <a:srgbClr val="C9A227"/>
                </a:solidFill>
                <a:latin typeface="Calibri"/>
              </a:rPr>
              <a:t>●  </a:t>
            </a:r>
            <a:r>
              <a:rPr sz="1500" b="0">
                <a:solidFill>
                  <a:srgbClr val="1F2937"/>
                </a:solidFill>
                <a:latin typeface="Calibri"/>
              </a:rPr>
              <a:t>50 ml 20% mannitol</a:t>
            </a:r>
          </a:p>
          <a:p>
            <a:pPr algn="l">
              <a:spcAft>
                <a:spcPts val="700"/>
              </a:spcAft>
            </a:pPr>
            <a:r>
              <a:rPr sz="1500" b="1">
                <a:solidFill>
                  <a:srgbClr val="C9A227"/>
                </a:solidFill>
                <a:latin typeface="Calibri"/>
              </a:rPr>
              <a:t>●  </a:t>
            </a:r>
            <a:r>
              <a:rPr sz="1500" b="0">
                <a:solidFill>
                  <a:srgbClr val="1F2937"/>
                </a:solidFill>
                <a:latin typeface="Calibri"/>
              </a:rPr>
              <a:t>Buyrak yetishmovchiligi oldini oladi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Muz terapiyasi</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Mitoxondriya shikasti kamayadi</a:t>
            </a:r>
          </a:p>
          <a:p>
            <a:pPr algn="l">
              <a:spcAft>
                <a:spcPts val="700"/>
              </a:spcAft>
            </a:pPr>
            <a:r>
              <a:rPr sz="1500" b="1">
                <a:solidFill>
                  <a:srgbClr val="C9A227"/>
                </a:solidFill>
                <a:latin typeface="Calibri"/>
              </a:rPr>
              <a:t>●  </a:t>
            </a:r>
            <a:r>
              <a:rPr sz="1500" b="0">
                <a:solidFill>
                  <a:srgbClr val="1F2937"/>
                </a:solidFill>
                <a:latin typeface="Calibri"/>
              </a:rPr>
              <a:t>Yallig‘lanish kamayadi</a:t>
            </a:r>
          </a:p>
          <a:p>
            <a:pPr algn="l">
              <a:spcAft>
                <a:spcPts val="700"/>
              </a:spcAft>
            </a:pPr>
            <a:r>
              <a:rPr sz="1500" b="1">
                <a:solidFill>
                  <a:srgbClr val="C9A227"/>
                </a:solidFill>
                <a:latin typeface="Calibri"/>
              </a:rPr>
              <a:t>●  </a:t>
            </a:r>
            <a:r>
              <a:rPr sz="1500" b="0">
                <a:solidFill>
                  <a:srgbClr val="1F2937"/>
                </a:solidFill>
                <a:latin typeface="Calibri"/>
              </a:rPr>
              <a:t>Kaliy, mioglobin oqishi kamayadi</a:t>
            </a:r>
          </a:p>
          <a:p>
            <a:pPr algn="l">
              <a:spcAft>
                <a:spcPts val="700"/>
              </a:spcAft>
            </a:pPr>
            <a:r>
              <a:rPr sz="1500" b="1">
                <a:solidFill>
                  <a:srgbClr val="C9A227"/>
                </a:solidFill>
                <a:latin typeface="Calibri"/>
              </a:rPr>
              <a:t>●  </a:t>
            </a:r>
            <a:r>
              <a:rPr sz="1500" b="0">
                <a:solidFill>
                  <a:srgbClr val="1F2937"/>
                </a:solidFill>
                <a:latin typeface="Calibri"/>
              </a:rPr>
              <a:t>Hayotiylikni vaqtincha uzaytiradi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Giperbarik kislorod</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Bosim 1 atm dan yuqori, 100% kislorod</a:t>
            </a:r>
          </a:p>
          <a:p>
            <a:pPr algn="l">
              <a:spcAft>
                <a:spcPts val="700"/>
              </a:spcAft>
            </a:pPr>
            <a:r>
              <a:rPr sz="1500" b="1">
                <a:solidFill>
                  <a:srgbClr val="C9A227"/>
                </a:solidFill>
                <a:latin typeface="Calibri"/>
              </a:rPr>
              <a:t>●  </a:t>
            </a:r>
            <a:r>
              <a:rPr sz="1500" b="0">
                <a:solidFill>
                  <a:srgbClr val="1F2937"/>
                </a:solidFill>
                <a:latin typeface="Calibri"/>
              </a:rPr>
              <a:t>Shish va erkin radikallar kamayadi</a:t>
            </a:r>
          </a:p>
          <a:p>
            <a:pPr algn="l">
              <a:spcAft>
                <a:spcPts val="700"/>
              </a:spcAft>
            </a:pPr>
            <a:r>
              <a:rPr sz="1500" b="1">
                <a:solidFill>
                  <a:srgbClr val="C9A227"/>
                </a:solidFill>
                <a:latin typeface="Calibri"/>
              </a:rPr>
              <a:t>●  </a:t>
            </a:r>
            <a:r>
              <a:rPr sz="1500" b="0">
                <a:solidFill>
                  <a:srgbClr val="1F2937"/>
                </a:solidFill>
                <a:latin typeface="Calibri"/>
              </a:rPr>
              <a:t>Infeksiya nazorati yaxshilanadi</a:t>
            </a:r>
          </a:p>
          <a:p>
            <a:pPr algn="l">
              <a:spcAft>
                <a:spcPts val="700"/>
              </a:spcAft>
            </a:pPr>
            <a:r>
              <a:rPr sz="1500" b="1">
                <a:solidFill>
                  <a:srgbClr val="C9A227"/>
                </a:solidFill>
                <a:latin typeface="Calibri"/>
              </a:rPr>
              <a:t>●  </a:t>
            </a:r>
            <a:r>
              <a:rPr sz="1500" b="0">
                <a:solidFill>
                  <a:srgbClr val="1F2937"/>
                </a:solidFill>
                <a:latin typeface="Calibri"/>
              </a:rPr>
              <a:t>Jarrohlar orasida kam qabul qilingan</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Profilaktika va qo‘shimcha davo</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Og‘ir ezilish jarohatida to‘qimani tiklash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Og‘ir ezilish jarohatini davolashning maqsadi — jonsiz to‘qimani olib tashlash (debridman) va bo‘shliqni qon tomirli to‘qima bilan to‘ldirish.</a:t>
            </a:r>
          </a:p>
          <a:p>
            <a:pPr>
              <a:spcAft>
                <a:spcPts val="800"/>
              </a:spcAft>
            </a:pPr>
            <a:r>
              <a:rPr sz="1600">
                <a:solidFill>
                  <a:srgbClr val="1F2937"/>
                </a:solidFill>
                <a:latin typeface="Calibri"/>
              </a:rPr>
              <a:t>▸  Yumshoq to‘qimani yopishda eng yaxshi usullar sifatida yonbosh, yelkaning yog‘-fassiya lateral va nozik mushak (gracilis) bo‘laklari keltirilgan.</a:t>
            </a:r>
          </a:p>
          <a:p>
            <a:pPr>
              <a:spcAft>
                <a:spcPts val="800"/>
              </a:spcAft>
            </a:pPr>
            <a:r>
              <a:rPr sz="1600">
                <a:solidFill>
                  <a:srgbClr val="1F2937"/>
                </a:solidFill>
                <a:latin typeface="Calibri"/>
              </a:rPr>
              <a:t>▸  Hamroh suyak nuqsonlari erkin kortikoperiostal bo‘lak bilan yaxshi tiklanadi.</a:t>
            </a:r>
          </a:p>
          <a:p>
            <a:pPr>
              <a:spcAft>
                <a:spcPts val="800"/>
              </a:spcAft>
            </a:pPr>
            <a:r>
              <a:rPr sz="1600">
                <a:solidFill>
                  <a:srgbClr val="1F2937"/>
                </a:solidFill>
                <a:latin typeface="Calibri"/>
              </a:rPr>
              <a:t>▸  Barmoq nuqsonlarida amputatsiyadan qochish va qo‘l funksiyasini tiklash uchun to‘liq yoki qisman oyoq barmog‘ini ko‘chirish talab etiladi.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Jarrohlik tiklash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Debridman</a:t>
            </a:r>
          </a:p>
          <a:p>
            <a:pPr algn="l">
              <a:spcAft>
                <a:spcPts val="0"/>
              </a:spcAft>
            </a:pPr>
            <a:r>
              <a:rPr sz="1200" b="0">
                <a:solidFill>
                  <a:srgbClr val="1F2937"/>
                </a:solidFill>
                <a:latin typeface="Calibri"/>
              </a:rPr>
              <a:t>Jonsiz to‘qimani olib tashlash</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Bo‘shliqni to‘ldirish</a:t>
            </a:r>
          </a:p>
          <a:p>
            <a:pPr algn="l">
              <a:spcAft>
                <a:spcPts val="0"/>
              </a:spcAft>
            </a:pPr>
            <a:r>
              <a:rPr sz="1200" b="0">
                <a:solidFill>
                  <a:srgbClr val="1F2937"/>
                </a:solidFill>
                <a:latin typeface="Calibri"/>
              </a:rPr>
              <a:t>Qon tomirli to‘qima bilan</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Yumshoq to‘qima bo‘laklari</a:t>
            </a:r>
          </a:p>
          <a:p>
            <a:pPr algn="l">
              <a:spcAft>
                <a:spcPts val="0"/>
              </a:spcAft>
            </a:pPr>
            <a:r>
              <a:rPr sz="1100" b="0">
                <a:solidFill>
                  <a:srgbClr val="1F2937"/>
                </a:solidFill>
                <a:latin typeface="Calibri"/>
              </a:rPr>
              <a:t>Yonbosh bo‘lagi  ·  Lateral yelka yog‘-fassiya bo‘lagi  ·  Nozik mushak (gracilis) bo‘lagi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Suyak nuqsoni</a:t>
            </a:r>
          </a:p>
          <a:p>
            <a:pPr algn="l">
              <a:spcAft>
                <a:spcPts val="0"/>
              </a:spcAft>
            </a:pPr>
            <a:r>
              <a:rPr sz="1200" b="0">
                <a:solidFill>
                  <a:srgbClr val="1F2937"/>
                </a:solidFill>
                <a:latin typeface="Calibri"/>
              </a:rPr>
              <a:t>Erkin kortikoperiostal bo‘lak</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Barmoq nuqsoni</a:t>
            </a:r>
          </a:p>
          <a:p>
            <a:pPr algn="l">
              <a:spcAft>
                <a:spcPts val="0"/>
              </a:spcAft>
            </a:pPr>
            <a:r>
              <a:rPr sz="1200" b="0">
                <a:solidFill>
                  <a:srgbClr val="1F2937"/>
                </a:solidFill>
                <a:latin typeface="Calibri"/>
              </a:rPr>
              <a:t>Oyoq barmog‘ini ko‘chirish</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Rekonstruktsiya</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Turniket va amputatsiya qarori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Og‘ir ezilish jarohatida prehospital turniket kuchli tavsiya etiladi, ammo bu masala hali bahsli.</a:t>
            </a:r>
          </a:p>
          <a:p>
            <a:pPr>
              <a:spcAft>
                <a:spcPts val="800"/>
              </a:spcAft>
            </a:pPr>
            <a:r>
              <a:rPr sz="1800">
                <a:solidFill>
                  <a:srgbClr val="1F2937"/>
                </a:solidFill>
                <a:latin typeface="Calibri"/>
              </a:rPr>
              <a:t>▸  Amputatsiya odatda quyidagi uch guruhdan kamida ikkitasida omil bo‘lganda qilinadi.</a:t>
            </a:r>
          </a:p>
          <a:p>
            <a:pPr>
              <a:spcAft>
                <a:spcPts val="800"/>
              </a:spcAft>
            </a:pPr>
            <a:r>
              <a:rPr sz="1800">
                <a:solidFill>
                  <a:srgbClr val="1F2937"/>
                </a:solidFill>
                <a:latin typeface="Calibri"/>
              </a:rPr>
              <a:t>▸  MESS (Mangled Extremity Severity Score) yordam beradi; u asosan pastki oyoq jarohatiga tayangan.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Amputatsiya omillari (≥2)</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 bemor</a:t>
            </a:r>
          </a:p>
          <a:p>
            <a:pPr algn="l">
              <a:spcAft>
                <a:spcPts val="0"/>
              </a:spcAft>
            </a:pPr>
            <a:r>
              <a:rPr sz="1200" b="0">
                <a:solidFill>
                  <a:srgbClr val="1F2937"/>
                </a:solidFill>
                <a:latin typeface="Calibri"/>
              </a:rPr>
              <a:t>Nazoratsiz gemodinamik beqarorlik</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Oyoq xususiyati</a:t>
            </a:r>
          </a:p>
          <a:p>
            <a:pPr algn="l">
              <a:spcAft>
                <a:spcPts val="0"/>
              </a:spcAft>
            </a:pPr>
            <a:r>
              <a:rPr sz="1200" b="0">
                <a:solidFill>
                  <a:srgbClr val="1F2937"/>
                </a:solidFill>
                <a:latin typeface="Calibri"/>
              </a:rPr>
              <a:t>Keng birga kelgan shikast; uzoq ishemiya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Shikast mexanizmi</a:t>
            </a:r>
          </a:p>
          <a:p>
            <a:pPr algn="l">
              <a:spcAft>
                <a:spcPts val="0"/>
              </a:spcAft>
            </a:pPr>
            <a:r>
              <a:rPr sz="1200" b="0">
                <a:solidFill>
                  <a:srgbClr val="1F2937"/>
                </a:solidFill>
                <a:latin typeface="Calibri"/>
              </a:rPr>
              <a:t>Arteriya travmasi; ezilish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Amputatsiya omillari (≥2)</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4: davolash taktikasi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Suyuqlik: vena ichiga imkon qadar erta (ideal 6 soat ichida), ajratishdan oldin ham boshlanadi. Kaliyli eritmadan qoching; kattalarda diurez kamida 300 ml/soat.</a:t>
            </a:r>
          </a:p>
          <a:p>
            <a:pPr>
              <a:spcAft>
                <a:spcPts val="1200"/>
              </a:spcAft>
            </a:pPr>
            <a:r>
              <a:rPr sz="2200">
                <a:solidFill>
                  <a:srgbClr val="1F2937"/>
                </a:solidFill>
                <a:latin typeface="Calibri"/>
              </a:rPr>
              <a:t>▸  Turniket ezilishda hali bahsli. Fasciotomiya foydasi aniq isbotlanmagan, lekin oyoqda tomir urishi paypaslanmasa, jarrohlik dekompressiya shart.</a:t>
            </a:r>
          </a:p>
          <a:p>
            <a:pPr>
              <a:spcAft>
                <a:spcPts val="1200"/>
              </a:spcAft>
            </a:pPr>
            <a:r>
              <a:rPr sz="2200">
                <a:solidFill>
                  <a:srgbClr val="1F2937"/>
                </a:solidFill>
                <a:latin typeface="Calibri"/>
              </a:rPr>
              <a:t>▸  Amputatsiya: gemodinamika nazoratsiz, oyoq jarohati keng yoki ishemiya uzoq bo‘lsa o‘ylanadi. Odatda kamida ikki guruh omili birga bo‘ladi.</a:t>
            </a:r>
          </a:p>
          <a:p>
            <a:pPr>
              <a:spcAft>
                <a:spcPts val="1200"/>
              </a:spcAft>
            </a:pPr>
            <a:r>
              <a:rPr sz="2200">
                <a:solidFill>
                  <a:srgbClr val="1F2937"/>
                </a:solidFill>
                <a:latin typeface="Calibri"/>
              </a:rPr>
              <a:t>▸  Savol: kattalarda infuziya paytida minimal diurez qancha bo‘lishi kerak va kamida necha soat davom ettiriladi?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Asoratlar va prognoz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Mushak zarari uch vaqtda bo‘ladi: ezilish paytida, ishemiya davrida va reperfuziya vaqtida.</a:t>
            </a:r>
          </a:p>
          <a:p>
            <a:pPr>
              <a:spcAft>
                <a:spcPts val="800"/>
              </a:spcAft>
            </a:pPr>
            <a:r>
              <a:rPr sz="1800">
                <a:solidFill>
                  <a:srgbClr val="1F2937"/>
                </a:solidFill>
                <a:latin typeface="Calibri"/>
              </a:rPr>
              <a:t>▸  Giperkaliemiya va o‘tkir buyrak yetishmovchiligi (ARF) xavfli; buyrak almashtirish terapiyasi bo‘lsa, ARF natijasi yaxshi.</a:t>
            </a:r>
          </a:p>
          <a:p>
            <a:pPr>
              <a:spcAft>
                <a:spcPts val="800"/>
              </a:spcAft>
            </a:pPr>
            <a:r>
              <a:rPr sz="1800">
                <a:solidFill>
                  <a:srgbClr val="1F2937"/>
                </a:solidFill>
                <a:latin typeface="Calibri"/>
              </a:rPr>
              <a:t>▸  O‘tkazib yuborilgan kompartment sindromi shifokorlarga qarshi da’volarning eng ko‘p sabablaridan biri.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Asoratlar va prognoz</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Asoratlar</a:t>
            </a:r>
          </a:p>
          <a:p>
            <a:pPr algn="l">
              <a:spcAft>
                <a:spcPts val="0"/>
              </a:spcAft>
            </a:pPr>
            <a:r>
              <a:rPr sz="1200" b="0">
                <a:solidFill>
                  <a:srgbClr val="1F2937"/>
                </a:solidFill>
                <a:latin typeface="Calibri"/>
              </a:rPr>
              <a:t>ARF, giperkaliemiya, aritmiya, atsidoz</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ARF bashorati</a:t>
            </a:r>
          </a:p>
          <a:p>
            <a:pPr algn="l">
              <a:spcAft>
                <a:spcPts val="0"/>
              </a:spcAft>
            </a:pPr>
            <a:r>
              <a:rPr sz="1200" b="0">
                <a:solidFill>
                  <a:srgbClr val="1F2937"/>
                </a:solidFill>
                <a:latin typeface="Calibri"/>
              </a:rPr>
              <a:t>Qamalish vaqti, kreatinkinaza (CK)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O‘lim sababi</a:t>
            </a:r>
          </a:p>
          <a:p>
            <a:pPr algn="l">
              <a:spcAft>
                <a:spcPts val="0"/>
              </a:spcAft>
            </a:pPr>
            <a:r>
              <a:rPr sz="1200" b="0">
                <a:solidFill>
                  <a:srgbClr val="1F2937"/>
                </a:solidFill>
                <a:latin typeface="Calibri"/>
              </a:rPr>
              <a:t>Gipovolemiya, giperkaliemiya, AKI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Xavf</a:t>
            </a:r>
          </a:p>
          <a:p>
            <a:pPr algn="l">
              <a:spcAft>
                <a:spcPts val="0"/>
              </a:spcAft>
            </a:pPr>
            <a:r>
              <a:rPr sz="1200" b="0">
                <a:solidFill>
                  <a:srgbClr val="1F2937"/>
                </a:solidFill>
                <a:latin typeface="Calibri"/>
              </a:rPr>
              <a:t>O‘tkazib yuborilgan kompartment sindromi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Asoratlar va prognoz</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Haqiqiy ofatlardan tajriba: Kobe, Bam, Haiti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Kobe modeli dala va kasalxonada baholab, og‘ir CS xavfi yuqori qurbonlarni ajratishga yordam beradi.</a:t>
            </a:r>
          </a:p>
          <a:p>
            <a:pPr>
              <a:spcAft>
                <a:spcPts val="800"/>
              </a:spcAft>
            </a:pPr>
            <a:r>
              <a:rPr sz="1800">
                <a:solidFill>
                  <a:srgbClr val="1F2937"/>
                </a:solidFill>
                <a:latin typeface="Calibri"/>
              </a:rPr>
              <a:t>▸  Bam: ARF bilan bemorlar uzoq qamalgan; erta ajratib olish va tez gospitalizatsiya hal qiluvchi bo‘ldi.</a:t>
            </a:r>
          </a:p>
          <a:p>
            <a:pPr>
              <a:spcAft>
                <a:spcPts val="800"/>
              </a:spcAft>
            </a:pPr>
            <a:r>
              <a:rPr sz="1800">
                <a:solidFill>
                  <a:srgbClr val="1F2937"/>
                </a:solidFill>
                <a:latin typeface="Calibri"/>
              </a:rPr>
              <a:t>▸  Haitida buyrak yetishmovchiligi bor bemorlarning yarmidan ko‘pi buyrak almashtirish terapiyasiga muhtoj bo‘lgan.</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1995, Kobe</a:t>
            </a:r>
          </a:p>
          <a:p>
            <a:pPr algn="l">
              <a:spcAft>
                <a:spcPts val="200"/>
              </a:spcAft>
            </a:pPr>
            <a:r>
              <a:rPr sz="1400" b="0">
                <a:solidFill>
                  <a:srgbClr val="1F2937"/>
                </a:solidFill>
                <a:latin typeface="Calibri"/>
              </a:rPr>
              <a:t>372 ta ezilish bemori — Ikki bosqichli triaj modeli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2003, Bam</a:t>
            </a:r>
          </a:p>
          <a:p>
            <a:pPr algn="l">
              <a:spcAft>
                <a:spcPts val="200"/>
              </a:spcAft>
            </a:pPr>
            <a:r>
              <a:rPr sz="1400" b="0">
                <a:solidFill>
                  <a:srgbClr val="1F2937"/>
                </a:solidFill>
                <a:latin typeface="Calibri"/>
              </a:rPr>
              <a:t>2086 ta bemor (10 kun) — Uzoq qamalish — ARF ko‘proq</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Haiti</a:t>
            </a:r>
          </a:p>
          <a:p>
            <a:pPr algn="l">
              <a:spcAft>
                <a:spcPts val="200"/>
              </a:spcAft>
            </a:pPr>
            <a:r>
              <a:rPr sz="1400" b="0">
                <a:solidFill>
                  <a:srgbClr val="1F2937"/>
                </a:solidFill>
                <a:latin typeface="Calibri"/>
              </a:rPr>
              <a:t>CS — 25% gacha qurbon — CS-ARF: 0,5–25%</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ofat solishtiruvi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ommaviy zilzila jabrlanuvchilari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Bam (Eron, 2003) zilzilasidan keyingi dastlabki 10 kunda jarohat bilan yotqizilgan 2 086 bemorning ma‘lumotlar bazasi tahlil qilingan.</a:t>
            </a:r>
          </a:p>
          <a:p>
            <a:pPr>
              <a:spcAft>
                <a:spcPts val="1200"/>
              </a:spcAft>
            </a:pPr>
            <a:r>
              <a:rPr sz="2200">
                <a:solidFill>
                  <a:srgbClr val="1F2937"/>
                </a:solidFill>
                <a:latin typeface="Calibri"/>
              </a:rPr>
              <a:t>▸  Buyrak o‘tkir yetishmovchiligi (ARF) rivojlangan bemorlar vayrona ostida uzoqroq qolgan, kechroq va uzoqroq yotqizilgan. Ularda asorat va o‘lim ko‘proq bo‘lgan.</a:t>
            </a:r>
          </a:p>
          <a:p>
            <a:pPr>
              <a:spcAft>
                <a:spcPts val="1200"/>
              </a:spcAft>
            </a:pPr>
            <a:r>
              <a:rPr sz="2200">
                <a:solidFill>
                  <a:srgbClr val="1F2937"/>
                </a:solidFill>
                <a:latin typeface="Calibri"/>
              </a:rPr>
              <a:t>▸  ARF xavfini oshiradigan omillar: vayronada qolgan vaqt, bir nechta ezilish shikasti, erkak jinsi, infeksiya va kreatinkinaza darajasi.</a:t>
            </a:r>
          </a:p>
          <a:p>
            <a:pPr>
              <a:spcAft>
                <a:spcPts val="1200"/>
              </a:spcAft>
            </a:pPr>
            <a:r>
              <a:rPr sz="2200">
                <a:solidFill>
                  <a:srgbClr val="1F2937"/>
                </a:solidFill>
                <a:latin typeface="Calibri"/>
              </a:rPr>
              <a:t>▸  Savol: erta ozod qilish va triaj nega muhim? Kobe (1995) tajribasida 372 bemor asosida tuzilgan modellar yuqori xavfli jabrlanuvchini ajratishga yordam bergan.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Kelajak yo‘nalishlari: diagnostika va yangi davolar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Yangi diagnostika g‘oyalari: yallig‘lanish mediatorlari marker sifatida, ultrafiltratsiya kateteri, yaqin infraqizil spektroskopiya, radiochastotali implantlar.</a:t>
            </a:r>
          </a:p>
          <a:p>
            <a:pPr>
              <a:spcAft>
                <a:spcPts val="1200"/>
              </a:spcAft>
            </a:pPr>
            <a:r>
              <a:rPr sz="2000">
                <a:solidFill>
                  <a:srgbClr val="1F2937"/>
                </a:solidFill>
                <a:latin typeface="Calibri"/>
              </a:rPr>
              <a:t>▸  Hayvon modellarida (asosan kalamush) yallig‘lanishga va oksidlanishga qarshi dorilar, ruh xelatorlari, natriy nitrit, deksametazon, anizodamin sinalgan.</a:t>
            </a:r>
          </a:p>
          <a:p>
            <a:pPr>
              <a:spcAft>
                <a:spcPts val="1200"/>
              </a:spcAft>
            </a:pPr>
            <a:r>
              <a:rPr sz="2000">
                <a:solidFill>
                  <a:srgbClr val="1F2937"/>
                </a:solidFill>
                <a:latin typeface="Calibri"/>
              </a:rPr>
              <a:t>▸  Bu davolar klinikada yetarlicha o‘rganilmagan, xavfsizligi tekshirilishi kerak. Maqsad — ularni jabrlanuvchini ozod qilishdan oldin yoki paytida qo‘llash.</a:t>
            </a:r>
          </a:p>
          <a:p>
            <a:pPr>
              <a:spcAft>
                <a:spcPts val="1200"/>
              </a:spcAft>
            </a:pPr>
            <a:r>
              <a:rPr sz="2000">
                <a:solidFill>
                  <a:srgbClr val="1F2937"/>
                </a:solidFill>
                <a:latin typeface="Calibri"/>
              </a:rPr>
              <a:t>▸  Ofat tibbiyoti standartlari: JSST va Xalqaro Qizil Xoch qo‘mitasi shoshilinch tibbiy guruhlar (EMT) tasnifi va jarohat yo‘riqnomasini tuzgan. Yagona triaj yo‘q.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Ezilish shikasti (CI) — to‘qima jarohati; tizimli belgilar qo‘shilsa, ezilish sindromi (CS). Asosiy mexanizm: uzoq ishemiya va reperfuziya jarohati.</a:t>
            </a:r>
          </a:p>
          <a:p>
            <a:pPr>
              <a:spcAft>
                <a:spcPts val="1200"/>
              </a:spcAft>
            </a:pPr>
            <a:r>
              <a:rPr sz="2000">
                <a:solidFill>
                  <a:srgbClr val="1F2937"/>
                </a:solidFill>
                <a:latin typeface="Calibri"/>
              </a:rPr>
              <a:t>▸  Davolashni zudlik bilan boshlash ofatdagi CS o‘limini kamaytiradigan eng muhim omil. Suyuqlik berish imkon bo‘lsa, ozod qilishdan oldin boshlanadi.</a:t>
            </a:r>
          </a:p>
          <a:p>
            <a:pPr>
              <a:spcAft>
                <a:spcPts val="1200"/>
              </a:spcAft>
            </a:pPr>
            <a:r>
              <a:rPr sz="2000">
                <a:solidFill>
                  <a:srgbClr val="1F2937"/>
                </a:solidFill>
                <a:latin typeface="Calibri"/>
              </a:rPr>
              <a:t>▸  O‘tkir kompartment sindromi (ACS) tashxisida 5P belgilari ishonchsiz, bosim chegarasi bahsli. Klinika va bosimni birga olganda ham yagona standart mezon yo‘q.</a:t>
            </a:r>
          </a:p>
          <a:p>
            <a:pPr>
              <a:spcAft>
                <a:spcPts val="1200"/>
              </a:spcAft>
            </a:pPr>
            <a:r>
              <a:rPr sz="2000">
                <a:solidFill>
                  <a:srgbClr val="1F2937"/>
                </a:solidFill>
                <a:latin typeface="Calibri"/>
              </a:rPr>
              <a:t>▸  Shikast mexanizmini tasniflash (yumshoq to‘qima, tomir, suyak sinishi) davoni belgilaydi. Ezilishda fasciotomiya o‘rni bahsli, erta debridman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Usuda et al., Crush syndrome: a review for prehospital providers and emergency clinicians, betlar: PMID 37653520; Guo et al., Acute compartment syndrome, betlar: PMID 31277147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fakt: Bywaters va hamkasblari 1941-yilda London bombardimonida bir necha soat vayrona ostida qolganlar o‘limidan keyin buyrak kanalchalarida qo‘ng‘ir pigment topdi. Ular uni mushak nekrozi bilan bog‘ladi. Bu sud-tibbiy yorishda ham muhim kuzatuv. Sindrom ilk bor 1901-yilgi Messina zilzilasida kuzatilgan.</a:t>
            </a:r>
          </a:p>
          <a:p>
            <a:pPr>
              <a:spcAft>
                <a:spcPts val="1200"/>
              </a:spcAft>
            </a:pPr>
            <a:r>
              <a:rPr sz="1800">
                <a:solidFill>
                  <a:srgbClr val="1F2937"/>
                </a:solidFill>
                <a:latin typeface="Calibri"/>
              </a:rPr>
              <a:t>▸  Eslab qolish usuli: “Jarohat – to‘qima, sindrom – butun tana”. Crush injury (CI) faqat to‘qima shikastini bildiradi. Crush syndrome (CS) esa ezilish jarohatining tizimli belgilari bilan kechishidir. Ikkalasini ekspertiza xulosasida aralashtirmang.</a:t>
            </a:r>
          </a:p>
          <a:p>
            <a:pPr>
              <a:spcAft>
                <a:spcPts val="1200"/>
              </a:spcAft>
            </a:pPr>
            <a:r>
              <a:rPr sz="1800">
                <a:solidFill>
                  <a:srgbClr val="1F2937"/>
                </a:solidFill>
                <a:latin typeface="Calibri"/>
              </a:rPr>
              <a:t>▸  Hodisa tahlili: Bam (Eron, 2003) zilzilasida 2086 bemor tahlil qilingan. O‘tkir buyrak yetishmovchiligi bor bemorlar vayrona ostida uzoqroq qolgan, kechroq yotqizilgan va ko‘proq asorat hamda o‘lim kuzatilgan. Sud-tibbiy xulosa: o‘lim sababini baholashda vayrona ostida qolish davomiyligini hisobga oling.</a:t>
            </a:r>
          </a:p>
          <a:p>
            <a:pPr>
              <a:spcAft>
                <a:spcPts val="1200"/>
              </a:spcAft>
            </a:pPr>
            <a:r>
              <a:rPr sz="1800">
                <a:solidFill>
                  <a:srgbClr val="1F2937"/>
                </a:solidFill>
                <a:latin typeface="Calibri"/>
              </a:rPr>
              <a:t>▸  Eslab qolish usuli: 5P belgilari – og‘riq, oqarish, paresteziya, falaj, pulssizlik (pain, pallor, paresthesias, paralysis, pulselessness). Ammo bu belgilar ishonchsiz. Ko‘pincha ular mushak nekrozi allaqachon boshlangan kech bosqichni ko‘rsatadi. Ongi pasaygan bemorda ularni baholab bo‘lmaydi.</a:t>
            </a:r>
          </a:p>
          <a:p>
            <a:pPr>
              <a:spcAft>
                <a:spcPts val="1200"/>
              </a:spcAft>
            </a:pPr>
            <a:r>
              <a:rPr sz="1800">
                <a:solidFill>
                  <a:srgbClr val="1F2937"/>
                </a:solidFill>
                <a:latin typeface="Calibri"/>
              </a:rPr>
              <a:t>▸  Qiziqarli kuzatuv: yuqori energiyali sinishlarda teri pufakchalari 2,9% hollarda uchraydi. Mualliflar farazicha, pufakcha kompartmentdagi bosimni pasaytiruvchi mexanizm bo‘lishi mumkin. Bu faraz laboratoriyada hali isbotlanmagan. Ekspertizada pufakchani faqat teri shikasti deb talqin qilishga shoshilmang.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Pozitsion siqilish sindromining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Usuda et al. Crush syndrome: a review for prehospital providers and emergency clinicians, Journal of Translational Medicine. 2023. PMID 37653520; DOI 10.1186/s12967-023-04416-9</a:t>
            </a:r>
          </a:p>
          <a:p>
            <a:pPr>
              <a:spcAft>
                <a:spcPts val="800"/>
              </a:spcAft>
            </a:pPr>
            <a:r>
              <a:rPr sz="2000">
                <a:solidFill>
                  <a:srgbClr val="1F2937"/>
                </a:solidFill>
                <a:latin typeface="Calibri"/>
              </a:rPr>
              <a:t>▸  Guo et al. Acute compartment syndrome, Medicine. 2019. PMID 31277147; DOI 10.1097/MD.0000000000016260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