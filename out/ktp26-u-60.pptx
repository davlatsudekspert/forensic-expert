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Nima uchun sinish yuki kelajakda ortishi kutilmoqda? 2) Kechikkan bitish va yolg‘on bo‘g‘imning ijtimoiy oqibatlari qanday? Doskada: ikki ustunli ro‘yxat chizing, chapda «sinishlar soni», o‘ngda «bitmaydigan 5–10%». Tipik xato: talabalar 5–10% ni barcha sinishlarga emas, faqat kechikkan bitish va nonunion ulushiga tegishli deb bilmaydi.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1) Talabalar sinish bitishini qanday bosqichlarda tasavvur qiladi? 2) Qaysi omillar bitishni sekinlashtirishi mumkin? Doskada: dars rejasini 4 ta blokli gorizontal strelka sifatida chizing. Tipik xato: talabalar davolash usullarini bosqichlarni bilmay turib yodlashga urinadi, shuning uchun avval bosqichlar, keyin davo o‘rganilishini ta’kidlang.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Nima uchun bitish faqat suyak hujayralariga bog‘liq emas? 2) Qaysi buzilish omillarini mahalliy va qaysilarini umumiy deb ajratasiz? Doskada: markazda «sinish», atrofida to‘rt strelka (immun, qon tomir, nerv, skelet). Tipik xato: bitishni faqat suyak hosil bo‘lishi deb tushunish. Eslatma: «reaktiv (funksional) o‘zgarish» atamasi manbada aynan uchramaydi, u dars mavzusi sifatida talqin qilingan.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son suyagi sinishi kam uchrasa ham xarajatning katta qismini beradi? Nega sinish yuki keksalar sonining oshishi bilan ortishi kutiladi? Doskaga: sinishning uchta oqibati (xarajat, kasallanish, o‘lim) ustunlarini chizdiring. Tipik xato: son sinishining ulushi (14%) bilan uning xarajat ulushini aralashtirish. Raqamlar AQSh ma‘lumoti ekanini ta‘kidlang.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Avval savolni o‘qing, talabalar javob variantlarini ovoz bilan tanlasin, keyin javobni oching. Muhokama: diabet va chekish bitishga qanday ta‘sir qilishi mumkin? Nega muammo kam resursli sharoitda og‘irlashadi? Doskaga: delayed union va nonunion uchun vaqt o‘qini (3–6 va 6–9 oy) chizdiring. Tipik xato: ikkala atamani sinonim deb o‘ylash.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nega bosqichlar qat‘iy ajratilmagan, qoplanishi nimani anglatadi? Nega remodellanish eng uzun? Doskaga: uch bosqichni qoplanuvchi uchta strelka sifatida chizdiring. Qo‘shimcha: Bikle to‘rt bosqichli tasnifni beradi (kallus ikkiga bo‘linadi), bu klassik uch bosqichga zid emas. Tipik xato: bosqichlarni qat‘iy ketma-ket va bir-biridan ajralgan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yallig‘lanishsiz ildiz hujayralar faollashmaydi? Yallig‘lanish bosqichi bitishda qanday rol o‘ynaydi? Doskada to‘rt fazani o‘qlar bilan chizdiring va har fazaga bitta asosiy hujayra yozing. Tipik xato: fazalarni qat’iy ajratilgan deb o‘ylash, aslida ular bir-biriga o‘tadi.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nima uchun 4-faza eng uzun? Qaysi kasalliklar vaqtni cho‘zadi? Doskada vaqt chizig‘ini chizib, fazalarning ustma-ust tushishini ko‘rsating. Tipik xato: 5 kunlik muddatni barcha fazalarga tatbiq qilish. Tezkor savol: qaysi faza oylar-yillar davom etadi?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sayt 2 o‘sish plastinkasidagi suyak hosil bo‘lishiga o‘xshaydi? Pin qo‘yilsa sayt 3 ga nima bo‘ladi? Doskada uzun suyak sinishini chizib, uch joyni raqamlang. Tipik xato: xaftaga bosqichi barcha joylarda bor deb o‘ylash, aslida u faqat sayt 2 da bor.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Uchala saytning farqi nimada, xaftaga qaysi birida bor? 2) Nega endoxondral jarayon suyakning dastlabki rivojlanishiga o‘xshaydi? Doskada chizing: uzun suyak sinishining sxemasi va unda 1-, 2-, 3-saytlarni belgilang, xaftagali yo‘lni alohida rangda ko‘rsating. Tipik xato: talabalar intramedullyar suyakni ham xaftaga orqali hosil bo‘ladi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Mix 3-saytga qanday ta’sir qiladi? 2) 1- va 2-sayt (periost, ko‘prik) mix qo‘yilganda ham ishlaydimi? Doskada chizing: mix kiritilgan suyak kesimi, ilik bo‘shlig‘i va 3 saytni belgilang. Tipik xato: mix butun suyak tiklanishini to‘xtatadi deb o‘ylash; manbada faqat 3-sayt haqida gap ketadi. Sichqon ma’lumotini odamga to‘g‘ridan-to‘g‘ri ko‘chirmang.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Gematoma nima uchun tiklanishning boshlanishi hisoblanadi? 2) Trombotsitlar qon to‘xtatishdan tashqari qanday vazifa bajaradi? Doskada chizing: gematoma ichidagi hujayralar (trombotsit, eritrotsit, neytrofil, monotsit) va MSC jalb qilinishini ko‘rsatuvchi strelkalar. Tipik xato: gematomani faqat qon laxtasi deb hisoblash; u signal va hujayralarni jalb qilish markazi ham.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neytrofillar birinchi kiradi? 2) Gematoma nima uchun gipoksik va qon tomirsiz? Doskada chizish: gematomadan M2 gacha 5 bosqichli zanjirni chizing. Tipik xato: talabalar M1 ni faqat zararli deb o‘ylaydi, aslida u tozalash va himoya uchun kerak.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Tezkor savol: “Qaysi makrofag angiogenezni qo‘llaydi?” Muhokama: M1/M2 sxemasi nega soddalashtirilgan hisoblanadi? Doskada ikki ustunli ro‘yxat yozdiring: M1 vazifalari va M2 vazifalari. Tipik xato: M1 va M2 ni doimiy, o‘zgarmas hujayra turlari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Treg yetishmasa yallig‘lanish qanday davom etishi mumkin? 2) Semiz hujayralar qon tomir o‘tkazuvchanligiga qanday aloqador? Doskada chizish: gematoma markazida neytrofil, makrofag, Treg va semiz hujayra belgilarini joylashtiring. Tipik xato: immun hujayralarni faqat himoya vazifali deb bilish, ular tiklanishni ham boshqaradi.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1) Yallig‘lanish nega dastlab kerak (chiqindini tozalash, mikroblarga qarshi himoya, progenitorlarni jalb qilish)? 2) Davomli TNF, IL-1β, IL-6 reparativ jarayonga qanday to‘sqinlik qiladi? Doskada chizish: yallig‘lanish → tiklanish o‘tishi va davomli yallig‘lanishda uning to‘xtashi strelkasi. Tipik xato: talabalar yallig‘lanishni faqat zararli deb o‘ylaydi; dastlabki yallig‘lanish bitish uchun zarur, zarar uning cho‘zilishida.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angiogenez bo‘lmasa yumshoq kallus qattiq kallusga aylanmaydi? 2) Periost progenitorlari bilan ilik progenitorlarining roli qanday farqlanadi? Doskada chizish: sinish uchlari, ular orasida xaftagali ko‘prik va periost bo‘ylab suyak qatlami. Tipik xato: yumshoq kallusni suyak deb o‘ylash; u xaftagali, mineralizatsiyadan keyin qattiq kallusga aylanadi.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Fiksatsiya beqaror bo‘lsa, kallusda qaysi yo‘nalish ustun bo‘ladi? 2) Nega xondrotsitlar oxirgi hujayra emas deb hisoblanadi? Doskada chizish: MSC dan ikki shoxli sxema, bir shox Runx2 → osteoblast, ikkinchisi Sox9 → xondrotsit. Tipik xato: Runx2 va Sox9 ni aralashtirish; Runx2 suyak, Sox9 xaftaga dasturi.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Nega xaftaga aynan gipoksik, zo‘riqqan joyda paydo bo‘ladi? 2) Intramembranoz suyak qayerda hosil bo‘ladi? Doskada: sinish chizig‘i va 3 hudud (periost yuzasi, ko‘prik, ilik) sxemasini chizing, har biriga ‘xaftagali / xaftagasiz’ deb yozing. Tipik xato: talabalar barcha suyak xaftaga orqali hosil bo‘ladi deb o‘ylaydi. Avval talabalarga javob berdiring, keyin slaydni oching.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Gipertrofik xondrotsitning ikki taqdiri qanday? 2) MMP13 nima uchun kerak? Qo‘shimcha: Staubli va boshq. ba’zi gipertrofik xondrotsitlar osteoblastlar zahirasiga qo‘shilishini yozadi, ya’ni ular oxirgi differensiallangan hujayra emas. Doskada: xondrotsit → gipertrofiya → mineralizatsiya → osteoklast bilan olib tashlanish yoki osteoblastga o‘tish zanjirini chizing. Tipik xato: 3-faza bilan 4-fazani aralashtirish. To‘qima suyagi 3-fazada hosil bo‘ladi, plastinkali suyakka almashishi 4-fazada bo‘ladi.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faqat tomir sonini oshirish yetarli emas? 2) Kislorod tiklangach HIF va VEGF nima bo‘ladi? Doskada: 5 tugunli zanjirni chizing va VEGFR1 ‘tuzoq’ vazifasini, VEGFR2 esa asosiy signal ekanini yozing. Tipik xato: VEGFR1 va VEGFR2 rolini aralashtirish. VEGFR2 asosiy angiogen effektni beradi, VEGFR1 esa VEGFni tutib turuvchi modulyator. Slaydda H tur tomirlar faqat tajribada o‘rganilganini ham eslating.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savoli: nima uchun remodellanish eng uzoq bosqich hisoblanadi? Rentgenda bitish ko‘ringani suyak to‘liq tiklangan degani emasmi? Doskada chizing: to‘qima (woven) suyak → plastinkali suyak o‘qi va ustiga 3–4 haftadan oylargacha vaqt shkalasini yozing. Tipik xato: talabalar to‘qima suyagini plastinkali suyak bilan adashtiradi va remodellanishni bir necha kunlik jarayon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savoli: osteotsit nega mexanosensor deyiladi? Osteoklast faolligi juda erta so‘nsa nima bo‘lishi mumkin? Doskada chizing: rezorbsiya chuqurchasi → osteoblast → osteoid → plastinkali suyak ketma-ketligini. Tipik xato: osteotsitni faqat passiv hujayra deb hisoblash va qoplovchi hujayralar rolini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savoli: RANKL/OPG nisbati oshsa suyak almashinuvi qaysi tomonga siljiydi? Estrogen tanqisligi bu nisbatga qanday ta’sir qilishi mumkin? Doskada chizing: tarozi — bir pallada RANKL (rezorbsiya), ikkinchisida OPG (tutib qolish). Tipik xato: OPG ni osteoklastni qo‘zg‘atuvchi omil deb o‘ylash yoki faqat RANKL miqdoriga qarab xulosa chiqarish.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Osteoklast faqat yemiruvchi hujayramikan? 2) PTH va alendronatning kallusga ta’siri qanday farq qiladi? Doskada: rezorbsiya → osteoblast chaqirilishi → plastinkasimon suyak zanjirini chizing. Tipik xato: osteoklastni bostirish har doim suyakni mustahkamlaydi, deb o‘ylash. Manbaga ko‘ra rezorbsiyani ham erta bostirish, ham haddan ortiq saqlash remodellanishga halal beradi.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bitta o‘zak hujayra g‘oyasi shubha ostida? 2) Periost hujayralari ilik hujayralaridan nimasi bilan ustun? Doskada: sinish joyi atrofida periost, ilik va mushakni chizib, har biridan strelka qo‘ying. Tipik xato: Pax7 yo‘ldosh hujayralarni mushakdagi FAP hujayralari bilan adashtirish. Diqqat: FAP hujayralari hissa qo‘shadi, Pax7 yo‘ldosh hujayralar esa yo‘q.</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TNFni butunlay bostirish zararli bo‘lishi mumkin? 2) Wnt vaqtida va vaqtidan oldin faollashsa nima farq qiladi? Doskada: vaqt o‘qida yallig‘lanish → xaftaga → qattiq kallus va har bir yo‘l maksimumini belgilang. Tipik xato: signal yo‘lini faqat ‘foydali’ yoki faqat ‘zararli’ deb baholash. Manbaga ko‘ra ta’sir kontekstga bog‘liq.</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mahkamlash qattiqligi va reabilitatsiya bitishga ta’sir qiladi? 2) Osteotsit zo‘riqishni qanday sezadi? Doskada chizing: yuk → integrin/FAK → YAP/TAZ yadroda → osteogen genlar; yuk yo‘q → YAP/TAZ sitoplazmada. Tipik xato: rentgenda bitish bor ekan, mexanik tiklanish ham to‘liq deb o‘ylash; manbada bu har doim shunday emasligi aytilgan.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Gipertrofik va atrofik bitmaslikning sababi qanday farq qiladi? 2) Nega vaqt chegaralari taxminiy? Doskada chizing: 3 oy – 6 oy – 9 oy vaqt chizig‘i va ustiga kechikish/bitmaslik. Tipik xato: kechikkan bitish ≠ bitmaslik; birinchisida jarayon davom etadi, ikkinchisida to‘xtagan.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9 daq. Muhokama: 1) Qaysi omillarni tuzatish mumkin (chekish, mahkamlash), qaysilarini yo‘q? 2) NSAID tayinlashda nimalarni hisobga olish kerak? Doskada chizing: omil → mexanizm → oqibat zanjiri (masalan, diabet). Tipik xato: NSAID har doim bitishni buzadi deb aytish; manbada klinik dalillar aralash deyilgan.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Rentgenda ko‘prik bo‘lsa, nima uchun suyak hali zaif bo‘lishi mumkin? 2) Qaysi ko‘rsatkichlar (mineral zichlik, mikroarxitektura, mustahkamlik) tasvirda bilinmaydi? Doskada chizish: ikki ustun - «rentgenda bitgan» va «mexanik tiklangan», ularning farqini yozing. Tipik xato: talabalar «bitish» va «mustahkamlik»ni bir tushuncha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Qon tomir yetishmovchiligi yumshoq kallusdan qattiq kallusga o‘tishni qanday to‘xtatadi? 2) Diabet va chekish mexanizmlarida qanday umumiy jihat bor? Doskada chizish: 4 faza zanjiri va buzilgan bosqichlarga o‘q. Tipik xato: faqat «suyak hujayralari kam» deb javob berish; qon tomir (osteoangiogenez) rolini unutish.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klinik sinovlar natijasi bir xil emas? 2) PTH retseptori nega deyarli barcha bitishda ishtirok etuvchi hujayralarda muhim? Doskada chizish: PTH → retseptor → to‘rt yo‘l → bitishni rag‘batlantirish sxemasi. Tipik xato: davolash «bitmaslikni kamaytiradi» deb o‘ylash; manbada faqat bitish tezlashishi ko‘rsatilgan, bitmaslik soni kamaymagan.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bosqichlar bir-birini qoplaydi? 2) Qaysi joyda xaltacha (xondrotsit) bosqichi bo‘lmaydi? Doskada chizing: 4 bosqich zanjiri va suyak kesimida 3 joyni belgilang. Tipik xato: intramembranoz va endoxondral suyak hosil bo‘lishini aralashtirish. Qo‘shimcha: teriparatid (PTH 1–34) sinish bitishini tezlashtirishi mumkin, lekin odamlarda tasdiqlanmagan.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Suyak to'qimasida reaktiv (funktsional) o'zgarishlar. Suyak shakllanishi bosqichlari.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mavzuning dolzarbligi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2019-yilda dunyoda 178 mln dan ortiq yangi va 455 mln mavjud suyak sinishi holati qayd etilgan.</a:t>
            </a:r>
          </a:p>
          <a:p>
            <a:pPr>
              <a:spcAft>
                <a:spcPts val="1200"/>
              </a:spcAft>
            </a:pPr>
            <a:r>
              <a:rPr sz="2200">
                <a:solidFill>
                  <a:srgbClr val="1F2937"/>
                </a:solidFill>
                <a:latin typeface="Calibri"/>
              </a:rPr>
              <a:t>▸  Sinishlarning taxminan 5–10 foizida, ayniqsa uzun naysimon suyaklarda, bitish kechikadi yoki yolg‘on bo‘g‘im (nonunion) rivojlanadi.</a:t>
            </a:r>
          </a:p>
          <a:p>
            <a:pPr>
              <a:spcAft>
                <a:spcPts val="1200"/>
              </a:spcAft>
            </a:pPr>
            <a:r>
              <a:rPr sz="2200">
                <a:solidFill>
                  <a:srgbClr val="1F2937"/>
                </a:solidFill>
                <a:latin typeface="Calibri"/>
              </a:rPr>
              <a:t>▸  Bunday holat takroriy operatsiya, uzoq reabilitatsiya va mehnat qobiliyati yo‘qolishi orqali katta iqtisodiy yuk keltiradi.</a:t>
            </a:r>
          </a:p>
          <a:p>
            <a:pPr>
              <a:spcAft>
                <a:spcPts val="1200"/>
              </a:spcAft>
            </a:pPr>
            <a:r>
              <a:rPr sz="2200">
                <a:solidFill>
                  <a:srgbClr val="1F2937"/>
                </a:solidFill>
                <a:latin typeface="Calibri"/>
              </a:rPr>
              <a:t>▸  Ko‘pchilik sinish 6–8 haftada bitadi, lekin sezilarli qismi bitmaydi. Kechikish va yolg‘on bo‘g‘im xarajat va asoratni oshiradi.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DOI 10.1038/s41392-026-02967-z; Bikle D va boshq., Fracture healing: cellular mechanisms and impact of parathyroid hormone and its analogs, betlar: PMID 41334438; DOI 10.3389/fendo.2025.1703129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Darsning maqsadi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Maqsad: sinishga javoban suyak to‘qimasida kechadigan reaktiv o‘zgarishlar va bitish bosqichlarini tushunish.</a:t>
            </a:r>
          </a:p>
          <a:p>
            <a:pPr>
              <a:spcAft>
                <a:spcPts val="1200"/>
              </a:spcAft>
            </a:pPr>
            <a:r>
              <a:rPr sz="2200">
                <a:solidFill>
                  <a:srgbClr val="1F2937"/>
                </a:solidFill>
                <a:latin typeface="Calibri"/>
              </a:rPr>
              <a:t>▸  Reja 1: yallig‘lanish, kallus hosil bo‘lishi va qayta qurilish bosqichlari hamda ularda ishtirok etuvchi hujayralar.</a:t>
            </a:r>
          </a:p>
          <a:p>
            <a:pPr>
              <a:spcAft>
                <a:spcPts val="1200"/>
              </a:spcAft>
            </a:pPr>
            <a:r>
              <a:rPr sz="2200">
                <a:solidFill>
                  <a:srgbClr val="1F2937"/>
                </a:solidFill>
                <a:latin typeface="Calibri"/>
              </a:rPr>
              <a:t>▸  Reja 2: periost, suyak ko‘migi va mushakdan keluvchi ildiz hujayralar hamda asosiy signal yo‘llari.</a:t>
            </a:r>
          </a:p>
          <a:p>
            <a:pPr>
              <a:spcAft>
                <a:spcPts val="1200"/>
              </a:spcAft>
            </a:pPr>
            <a:r>
              <a:rPr sz="2200">
                <a:solidFill>
                  <a:srgbClr val="1F2937"/>
                </a:solidFill>
                <a:latin typeface="Calibri"/>
              </a:rPr>
              <a:t>▸  Reja 3: bitishni buzuvchi omillar (yosh, diabet, chekish, infeksiya) va davolash yondashuvlari, jumladan paratiroid gormoni (PTH).</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DOI 10.1038/s41392-026-02967-z; Bikle D va boshq., Fracture healing: cellular mechanisms and impact of parathyroid hormone and its analogs, betlar: PMID 41334438; DOI 10.3389/fendo.2025.1703129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Reaktiv (funksional) o‘zgarish nima?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Sinish jarohatiga suyak to‘qimasi muvofiqlashgan regenerativ jarayon bilan javob beradi. Bu dars mavzusidagi reaktiv o‘zgarishlarning mohiyatidir. (?)</a:t>
            </a:r>
          </a:p>
          <a:p>
            <a:pPr>
              <a:spcAft>
                <a:spcPts val="1200"/>
              </a:spcAft>
            </a:pPr>
            <a:r>
              <a:rPr sz="2200">
                <a:solidFill>
                  <a:srgbClr val="1F2937"/>
                </a:solidFill>
                <a:latin typeface="Calibri"/>
              </a:rPr>
              <a:t>▸  Jarayon immun, qon tomir, nerv va skelet signal dasturlarining vaqt va joy bo‘yicha aniq muvofiqlashuviga bog‘liq.</a:t>
            </a:r>
          </a:p>
          <a:p>
            <a:pPr>
              <a:spcAft>
                <a:spcPts val="1200"/>
              </a:spcAft>
            </a:pPr>
            <a:r>
              <a:rPr sz="2200">
                <a:solidFill>
                  <a:srgbClr val="1F2937"/>
                </a:solidFill>
                <a:latin typeface="Calibri"/>
              </a:rPr>
              <a:t>▸  Klassik bosqichlar: yallig‘lanish, kallus hosil bo‘lishi va qayta qurilish. Oxirida vaqtinchalik to‘qima plastinkasimon (lamellar) suyakka aylanadi.</a:t>
            </a:r>
          </a:p>
          <a:p>
            <a:pPr>
              <a:spcAft>
                <a:spcPts val="1200"/>
              </a:spcAft>
            </a:pPr>
            <a:r>
              <a:rPr sz="2200">
                <a:solidFill>
                  <a:srgbClr val="1F2937"/>
                </a:solidFill>
                <a:latin typeface="Calibri"/>
              </a:rPr>
              <a:t>▸  Diqqat: doimiy yallig‘lanish, qon ta’minoti yetishmasligi, infeksiya yoki beqarorlik jarayonni kechikkan bitish yoki yolg‘on bo‘g‘imga olib keladi.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DOI 10.1038/s41392-026-02967-z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Sinish epidemiologiyasi va klinik muammo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AQShda yiliga taxminan 2 million sinish qayd etiladi: deyarli yarim million kasalxonaga yotqizish, 2,5 million shifokor qabuli va 180 000 hamshiralik uyiga yotqizish.</a:t>
            </a:r>
          </a:p>
          <a:p>
            <a:pPr>
              <a:spcAft>
                <a:spcPts val="1200"/>
              </a:spcAft>
            </a:pPr>
            <a:r>
              <a:rPr sz="2200">
                <a:solidFill>
                  <a:srgbClr val="1F2937"/>
                </a:solidFill>
                <a:latin typeface="Calibri"/>
              </a:rPr>
              <a:t>▸  Son suyagi sinishi barcha sinishlarning atigi 14% ini tashkil qiladi, biroq xarajat va kasallanishning asosiy qismi shunga to‘g‘ri keladi.</a:t>
            </a:r>
          </a:p>
          <a:p>
            <a:pPr>
              <a:spcAft>
                <a:spcPts val="1200"/>
              </a:spcAft>
            </a:pPr>
            <a:r>
              <a:rPr sz="2200">
                <a:solidFill>
                  <a:srgbClr val="1F2937"/>
                </a:solidFill>
                <a:latin typeface="Calibri"/>
              </a:rPr>
              <a:t>▸  Son sinishi bir holat uchun taxminan 35 000–54 000 dollar turadi, bir yil ichida o‘lim ko‘rsatkichi 20–30% ga yetadi.</a:t>
            </a:r>
          </a:p>
          <a:p>
            <a:pPr>
              <a:spcAft>
                <a:spcPts val="1200"/>
              </a:spcAft>
            </a:pPr>
            <a:r>
              <a:rPr sz="2200">
                <a:solidFill>
                  <a:srgbClr val="1F2937"/>
                </a:solidFill>
                <a:latin typeface="Calibri"/>
              </a:rPr>
              <a:t>▸  Ko‘pchilik sinish 6–8 haftada bitadi, ammo sezilarli ulushi bitmaydi. Kechikish va nonunion (bitmaslik) xarajat va kasallanishni oshiradi.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Bikle D va boshq., Fracture healing: cellular mechanisms and impact of parathyroid hormone and its analogs, betlar: PMID 41334438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sinish yuki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uzun suyak sinishlarining taxminan necha foizi kechikib bitadi yoki nonunionga o‘tadi? Javob: taxminan 5–10%.</a:t>
            </a:r>
          </a:p>
          <a:p>
            <a:pPr>
              <a:spcAft>
                <a:spcPts val="1200"/>
              </a:spcAft>
            </a:pPr>
            <a:r>
              <a:rPr sz="2200">
                <a:solidFill>
                  <a:srgbClr val="1F2937"/>
                </a:solidFill>
                <a:latin typeface="Calibri"/>
              </a:rPr>
              <a:t>▸  Bitishni yomonlashtiradigan tizimli omillar: diabet, surunkali buyrak kasalligi, semizlik, chekish va jinsiy gormonlar tanqisligi.</a:t>
            </a:r>
          </a:p>
          <a:p>
            <a:pPr>
              <a:spcAft>
                <a:spcPts val="1200"/>
              </a:spcAft>
            </a:pPr>
            <a:r>
              <a:rPr sz="2200">
                <a:solidFill>
                  <a:srgbClr val="1F2937"/>
                </a:solidFill>
                <a:latin typeface="Calibri"/>
              </a:rPr>
              <a:t>▸  Kechikkan bitish odatda taxminan 3–6 oydan keyin, nonunion taxminan 6–9 oydan keyin tashxislanadi.</a:t>
            </a:r>
          </a:p>
          <a:p>
            <a:pPr>
              <a:spcAft>
                <a:spcPts val="1200"/>
              </a:spcAft>
            </a:pPr>
            <a:r>
              <a:rPr sz="2200">
                <a:solidFill>
                  <a:srgbClr val="1F2937"/>
                </a:solidFill>
                <a:latin typeface="Calibri"/>
              </a:rPr>
              <a:t>▸  Diqqat: xato qilish xavfi. Kechikkan bitish ≠ nonunion: birinchisida kallusda biologik faollik ko‘pincha davom etadi.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Bitishning klassik uch bosqichi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Klassik sxema: yallig‘lanish, kallus hosil bo‘lishi va remodellanish bosqichlari.</a:t>
            </a:r>
          </a:p>
          <a:p>
            <a:pPr>
              <a:spcAft>
                <a:spcPts val="800"/>
              </a:spcAft>
            </a:pPr>
            <a:r>
              <a:rPr sz="1800">
                <a:solidFill>
                  <a:srgbClr val="1F2937"/>
                </a:solidFill>
                <a:latin typeface="Calibri"/>
              </a:rPr>
              <a:t>▸  Bosqichlar bir-birini qoplaydi: keyingisi oldingisi tugamasdan boshlanadi.</a:t>
            </a:r>
          </a:p>
          <a:p>
            <a:pPr>
              <a:spcAft>
                <a:spcPts val="800"/>
              </a:spcAft>
            </a:pPr>
            <a:r>
              <a:rPr sz="1800">
                <a:solidFill>
                  <a:srgbClr val="1F2937"/>
                </a:solidFill>
                <a:latin typeface="Calibri"/>
              </a:rPr>
              <a:t>▸  Remodellanish – oxirgi va eng uzoq bosqich, vaqtinchalik suyak yetuk lamellar suyakka almashadi.</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Bosqich</a:t>
                      </a:r>
                    </a:p>
                  </a:txBody>
                  <a:tcPr marL="73152" marR="73152" marT="36576" marB="36576">
                    <a:solidFill>
                      <a:srgbClr val="0B1F3A"/>
                    </a:solidFill>
                  </a:tcPr>
                </a:tc>
                <a:tc>
                  <a:txBody>
                    <a:bodyPr/>
                    <a:lstStyle/>
                    <a:p>
                      <a:r>
                        <a:rPr sz="1400" b="1">
                          <a:solidFill>
                            <a:srgbClr val="FFFFFF"/>
                          </a:solidFill>
                        </a:rPr>
                        <a:t>Asosiy hodisa</a:t>
                      </a:r>
                    </a:p>
                  </a:txBody>
                  <a:tcPr marL="73152" marR="73152" marT="36576" marB="36576">
                    <a:solidFill>
                      <a:srgbClr val="0B1F3A"/>
                    </a:solidFill>
                  </a:tcPr>
                </a:tc>
              </a:tr>
              <a:tr h="411480">
                <a:tc>
                  <a:txBody>
                    <a:bodyPr/>
                    <a:lstStyle/>
                    <a:p>
                      <a:r>
                        <a:rPr sz="1300" b="0">
                          <a:solidFill>
                            <a:srgbClr val="1F2937"/>
                          </a:solidFill>
                        </a:rPr>
                        <a:t>Yallig‘lanish</a:t>
                      </a:r>
                    </a:p>
                  </a:txBody>
                  <a:tcPr marL="73152" marR="73152" marT="36576" marB="36576">
                    <a:solidFill>
                      <a:srgbClr val="E8EEF6"/>
                    </a:solidFill>
                  </a:tcPr>
                </a:tc>
                <a:tc>
                  <a:txBody>
                    <a:bodyPr/>
                    <a:lstStyle/>
                    <a:p>
                      <a:r>
                        <a:rPr sz="1300" b="0">
                          <a:solidFill>
                            <a:srgbClr val="1F2937"/>
                          </a:solidFill>
                        </a:rPr>
                        <a:t>Gematoma va immun hujayralar kelishi</a:t>
                      </a:r>
                    </a:p>
                  </a:txBody>
                  <a:tcPr marL="73152" marR="73152" marT="36576" marB="36576">
                    <a:solidFill>
                      <a:srgbClr val="E8EEF6"/>
                    </a:solidFill>
                  </a:tcPr>
                </a:tc>
              </a:tr>
              <a:tr h="411480">
                <a:tc>
                  <a:txBody>
                    <a:bodyPr/>
                    <a:lstStyle/>
                    <a:p>
                      <a:r>
                        <a:rPr sz="1300" b="0">
                          <a:solidFill>
                            <a:srgbClr val="1F2937"/>
                          </a:solidFill>
                        </a:rPr>
                        <a:t>Kallus</a:t>
                      </a:r>
                    </a:p>
                  </a:txBody>
                  <a:tcPr marL="73152" marR="73152" marT="36576" marB="36576">
                    <a:solidFill>
                      <a:srgbClr val="FFFFFF"/>
                    </a:solidFill>
                  </a:tcPr>
                </a:tc>
                <a:tc>
                  <a:txBody>
                    <a:bodyPr/>
                    <a:lstStyle/>
                    <a:p>
                      <a:r>
                        <a:rPr sz="1300" b="0">
                          <a:solidFill>
                            <a:srgbClr val="1F2937"/>
                          </a:solidFill>
                        </a:rPr>
                        <a:t>Yumshoq, so‘ng qattiq kallus hosil bo‘lishi</a:t>
                      </a:r>
                    </a:p>
                  </a:txBody>
                  <a:tcPr marL="73152" marR="73152" marT="36576" marB="36576">
                    <a:solidFill>
                      <a:srgbClr val="FFFFFF"/>
                    </a:solidFill>
                  </a:tcPr>
                </a:tc>
              </a:tr>
              <a:tr h="411480">
                <a:tc>
                  <a:txBody>
                    <a:bodyPr/>
                    <a:lstStyle/>
                    <a:p>
                      <a:r>
                        <a:rPr sz="1300" b="0">
                          <a:solidFill>
                            <a:srgbClr val="1F2937"/>
                          </a:solidFill>
                        </a:rPr>
                        <a:t>Remodellanish</a:t>
                      </a:r>
                    </a:p>
                  </a:txBody>
                  <a:tcPr marL="73152" marR="73152" marT="36576" marB="36576">
                    <a:solidFill>
                      <a:srgbClr val="E8EEF6"/>
                    </a:solidFill>
                  </a:tcPr>
                </a:tc>
                <a:tc>
                  <a:txBody>
                    <a:bodyPr/>
                    <a:lstStyle/>
                    <a:p>
                      <a:r>
                        <a:rPr sz="1300" b="0">
                          <a:solidFill>
                            <a:srgbClr val="1F2937"/>
                          </a:solidFill>
                        </a:rPr>
                        <a:t>To‘qilgan suyak lamellarga almashadi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bosqich qisqacha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Bikle D va boshq., Fracture healing: cellular mechanisms and impact of parathyroid hormone and its analogs, betlar: PMID 41334438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Bikle bo‘yicha to‘rt faza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Gematomada trombotsit, neytrofil va monotsitlar bo‘ladi; M1 makrofaglar yallig‘lanishni boshlaydi.</a:t>
            </a:r>
          </a:p>
          <a:p>
            <a:pPr>
              <a:spcAft>
                <a:spcPts val="800"/>
              </a:spcAft>
            </a:pPr>
            <a:r>
              <a:rPr sz="1800">
                <a:solidFill>
                  <a:srgbClr val="1F2937"/>
                </a:solidFill>
                <a:latin typeface="Calibri"/>
              </a:rPr>
              <a:t>▸  2-fazada angiogenez, xondrogenez va osteogenez boshlanadi, yumshoq kallus hosil bo‘ladi.</a:t>
            </a:r>
          </a:p>
          <a:p>
            <a:pPr>
              <a:spcAft>
                <a:spcPts val="800"/>
              </a:spcAft>
            </a:pPr>
            <a:r>
              <a:rPr sz="1800">
                <a:solidFill>
                  <a:srgbClr val="1F2937"/>
                </a:solidFill>
                <a:latin typeface="Calibri"/>
              </a:rPr>
              <a:t>▸  3-fazada xondrotsitlar mineralizatsiyalanadi; 4-fazada to‘qima lamellyar suyakka aylanadi.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Gematoma va yallig‘lanish</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Xondro-, osteo-, angiogenez</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Kallus mineralizatsiyasi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Remodellanish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Sinish bitishining to‘rt fazasi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Bikle D va boshq., Fracture healing: cellular mechanisms and impact of parathyroid hormone and its analogs, betlar: PMID 41334438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Fazalarning davomiyligi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Fazalar bir-biriga o‘tadi: ularning chegarasi aniq emas, jarayonlar qisman bir vaqtda kechadi.</a:t>
            </a:r>
          </a:p>
          <a:p>
            <a:pPr>
              <a:spcAft>
                <a:spcPts val="800"/>
              </a:spcAft>
            </a:pPr>
            <a:r>
              <a:rPr sz="1800">
                <a:solidFill>
                  <a:srgbClr val="1F2937"/>
                </a:solidFill>
                <a:latin typeface="Calibri"/>
              </a:rPr>
              <a:t>▸  Yosh, qandli diabet, semizlik va autoimmun kasalliklar bitishga ta’sir qilib, nobitish xavfini oshiradi.</a:t>
            </a:r>
          </a:p>
          <a:p>
            <a:pPr>
              <a:spcAft>
                <a:spcPts val="800"/>
              </a:spcAft>
            </a:pPr>
            <a:r>
              <a:rPr sz="1800">
                <a:solidFill>
                  <a:srgbClr val="1F2937"/>
                </a:solidFill>
                <a:latin typeface="Calibri"/>
              </a:rPr>
              <a:t>▸  Remodellanish 3–4 haftadan keyin boshlanib, oylar davomida davom etadi.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2837450"/>
                <a:gridCol w="2450525"/>
              </a:tblGrid>
              <a:tr h="411480">
                <a:tc>
                  <a:txBody>
                    <a:bodyPr/>
                    <a:lstStyle/>
                    <a:p>
                      <a:r>
                        <a:rPr sz="1400" b="1">
                          <a:solidFill>
                            <a:srgbClr val="FFFFFF"/>
                          </a:solidFill>
                        </a:rPr>
                        <a:t>Faza</a:t>
                      </a:r>
                    </a:p>
                  </a:txBody>
                  <a:tcPr marL="73152" marR="73152" marT="36576" marB="36576">
                    <a:solidFill>
                      <a:srgbClr val="0B1F3A"/>
                    </a:solidFill>
                  </a:tcPr>
                </a:tc>
                <a:tc>
                  <a:txBody>
                    <a:bodyPr/>
                    <a:lstStyle/>
                    <a:p>
                      <a:r>
                        <a:rPr sz="1400" b="1">
                          <a:solidFill>
                            <a:srgbClr val="FFFFFF"/>
                          </a:solidFill>
                        </a:rPr>
                        <a:t>Davomiyligi</a:t>
                      </a:r>
                    </a:p>
                  </a:txBody>
                  <a:tcPr marL="73152" marR="73152" marT="36576" marB="36576">
                    <a:solidFill>
                      <a:srgbClr val="0B1F3A"/>
                    </a:solidFill>
                  </a:tcPr>
                </a:tc>
              </a:tr>
              <a:tr h="411480">
                <a:tc>
                  <a:txBody>
                    <a:bodyPr/>
                    <a:lstStyle/>
                    <a:p>
                      <a:r>
                        <a:rPr sz="1300" b="0">
                          <a:solidFill>
                            <a:srgbClr val="1F2937"/>
                          </a:solidFill>
                        </a:rPr>
                        <a:t>1-faza: gematoma</a:t>
                      </a:r>
                    </a:p>
                  </a:txBody>
                  <a:tcPr marL="73152" marR="73152" marT="36576" marB="36576">
                    <a:solidFill>
                      <a:srgbClr val="E8EEF6"/>
                    </a:solidFill>
                  </a:tcPr>
                </a:tc>
                <a:tc>
                  <a:txBody>
                    <a:bodyPr/>
                    <a:lstStyle/>
                    <a:p>
                      <a:r>
                        <a:rPr sz="1300" b="0">
                          <a:solidFill>
                            <a:srgbClr val="1F2937"/>
                          </a:solidFill>
                        </a:rPr>
                        <a:t>taxminan 5 kun</a:t>
                      </a:r>
                    </a:p>
                  </a:txBody>
                  <a:tcPr marL="73152" marR="73152" marT="36576" marB="36576">
                    <a:solidFill>
                      <a:srgbClr val="E8EEF6"/>
                    </a:solidFill>
                  </a:tcPr>
                </a:tc>
              </a:tr>
              <a:tr h="411480">
                <a:tc>
                  <a:txBody>
                    <a:bodyPr/>
                    <a:lstStyle/>
                    <a:p>
                      <a:r>
                        <a:rPr sz="1300" b="0">
                          <a:solidFill>
                            <a:srgbClr val="1F2937"/>
                          </a:solidFill>
                        </a:rPr>
                        <a:t>2-faza: yumshoq kallus</a:t>
                      </a:r>
                    </a:p>
                  </a:txBody>
                  <a:tcPr marL="73152" marR="73152" marT="36576" marB="36576">
                    <a:solidFill>
                      <a:srgbClr val="FFFFFF"/>
                    </a:solidFill>
                  </a:tcPr>
                </a:tc>
                <a:tc>
                  <a:txBody>
                    <a:bodyPr/>
                    <a:lstStyle/>
                    <a:p>
                      <a:r>
                        <a:rPr sz="1300" b="0">
                          <a:solidFill>
                            <a:srgbClr val="1F2937"/>
                          </a:solidFill>
                        </a:rPr>
                        <a:t>taxminan 5 kun</a:t>
                      </a:r>
                    </a:p>
                  </a:txBody>
                  <a:tcPr marL="73152" marR="73152" marT="36576" marB="36576">
                    <a:solidFill>
                      <a:srgbClr val="FFFFFF"/>
                    </a:solidFill>
                  </a:tcPr>
                </a:tc>
              </a:tr>
              <a:tr h="411480">
                <a:tc>
                  <a:txBody>
                    <a:bodyPr/>
                    <a:lstStyle/>
                    <a:p>
                      <a:r>
                        <a:rPr sz="1300" b="0">
                          <a:solidFill>
                            <a:srgbClr val="1F2937"/>
                          </a:solidFill>
                        </a:rPr>
                        <a:t>3-faza: qattiq kallus</a:t>
                      </a:r>
                    </a:p>
                  </a:txBody>
                  <a:tcPr marL="73152" marR="73152" marT="36576" marB="36576">
                    <a:solidFill>
                      <a:srgbClr val="E8EEF6"/>
                    </a:solidFill>
                  </a:tcPr>
                </a:tc>
                <a:tc>
                  <a:txBody>
                    <a:bodyPr/>
                    <a:lstStyle/>
                    <a:p>
                      <a:r>
                        <a:rPr sz="1300" b="0">
                          <a:solidFill>
                            <a:srgbClr val="1F2937"/>
                          </a:solidFill>
                        </a:rPr>
                        <a:t>bir necha hafta</a:t>
                      </a:r>
                    </a:p>
                  </a:txBody>
                  <a:tcPr marL="73152" marR="73152" marT="36576" marB="36576">
                    <a:solidFill>
                      <a:srgbClr val="E8EEF6"/>
                    </a:solidFill>
                  </a:tcPr>
                </a:tc>
              </a:tr>
              <a:tr h="411480">
                <a:tc>
                  <a:txBody>
                    <a:bodyPr/>
                    <a:lstStyle/>
                    <a:p>
                      <a:r>
                        <a:rPr sz="1300" b="0">
                          <a:solidFill>
                            <a:srgbClr val="1F2937"/>
                          </a:solidFill>
                        </a:rPr>
                        <a:t>4-faza: remodellanish</a:t>
                      </a:r>
                    </a:p>
                  </a:txBody>
                  <a:tcPr marL="73152" marR="73152" marT="36576" marB="36576">
                    <a:solidFill>
                      <a:srgbClr val="FFFFFF"/>
                    </a:solidFill>
                  </a:tcPr>
                </a:tc>
                <a:tc>
                  <a:txBody>
                    <a:bodyPr/>
                    <a:lstStyle/>
                    <a:p>
                      <a:r>
                        <a:rPr sz="1300" b="0">
                          <a:solidFill>
                            <a:srgbClr val="1F2937"/>
                          </a:solidFill>
                        </a:rPr>
                        <a:t>oylar, hatto yillar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Fazalar vaqt jadvali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Bikle D va boshq., Fracture healing: cellular mechanisms and impact of parathyroid hormone and its analogs, betlar: PMID 41334438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Uchta suyak hosil bo‘lish joyi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Sayt 1 va 2 hujayralarining asosiy manbai periost ildiz hujayralaridir.</a:t>
            </a:r>
          </a:p>
          <a:p>
            <a:pPr>
              <a:spcAft>
                <a:spcPts val="800"/>
              </a:spcAft>
            </a:pPr>
            <a:r>
              <a:rPr sz="1800">
                <a:solidFill>
                  <a:srgbClr val="1F2937"/>
                </a:solidFill>
                <a:latin typeface="Calibri"/>
              </a:rPr>
              <a:t>▸  Sayt 3 hujayralari ilik ildiz hujayralaridan va kortikal osteotsitlarning transdifferensiyasidan keladi.</a:t>
            </a:r>
          </a:p>
          <a:p>
            <a:pPr>
              <a:spcAft>
                <a:spcPts val="800"/>
              </a:spcAft>
            </a:pPr>
            <a:r>
              <a:rPr sz="1800">
                <a:solidFill>
                  <a:srgbClr val="1F2937"/>
                </a:solidFill>
                <a:latin typeface="Calibri"/>
              </a:rPr>
              <a:t>▸  Diqqat: ilik ichidagi pin sayt 3 ni yo‘q qiladi, shuning uchun u kam o‘rganilgan.</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1922900"/>
                <a:gridCol w="1538320"/>
                <a:gridCol w="1826755"/>
              </a:tblGrid>
              <a:tr h="411480">
                <a:tc>
                  <a:txBody>
                    <a:bodyPr/>
                    <a:lstStyle/>
                    <a:p>
                      <a:r>
                        <a:rPr sz="1300" b="1">
                          <a:solidFill>
                            <a:srgbClr val="FFFFFF"/>
                          </a:solidFill>
                        </a:rPr>
                        <a:t>Joy</a:t>
                      </a:r>
                    </a:p>
                  </a:txBody>
                  <a:tcPr marL="73152" marR="73152" marT="36576" marB="36576">
                    <a:solidFill>
                      <a:srgbClr val="0B1F3A"/>
                    </a:solidFill>
                  </a:tcPr>
                </a:tc>
                <a:tc>
                  <a:txBody>
                    <a:bodyPr/>
                    <a:lstStyle/>
                    <a:p>
                      <a:r>
                        <a:rPr sz="1300" b="1">
                          <a:solidFill>
                            <a:srgbClr val="FFFFFF"/>
                          </a:solidFill>
                        </a:rPr>
                        <a:t>Jarayon</a:t>
                      </a:r>
                    </a:p>
                  </a:txBody>
                  <a:tcPr marL="73152" marR="73152" marT="36576" marB="36576">
                    <a:solidFill>
                      <a:srgbClr val="0B1F3A"/>
                    </a:solidFill>
                  </a:tcPr>
                </a:tc>
                <a:tc>
                  <a:txBody>
                    <a:bodyPr/>
                    <a:lstStyle/>
                    <a:p>
                      <a:r>
                        <a:rPr sz="1300" b="1">
                          <a:solidFill>
                            <a:srgbClr val="FFFFFF"/>
                          </a:solidFill>
                        </a:rPr>
                        <a:t>Xaftaga</a:t>
                      </a:r>
                    </a:p>
                  </a:txBody>
                  <a:tcPr marL="73152" marR="73152" marT="36576" marB="36576">
                    <a:solidFill>
                      <a:srgbClr val="0B1F3A"/>
                    </a:solidFill>
                  </a:tcPr>
                </a:tc>
              </a:tr>
              <a:tr h="411480">
                <a:tc>
                  <a:txBody>
                    <a:bodyPr/>
                    <a:lstStyle/>
                    <a:p>
                      <a:r>
                        <a:rPr sz="1200" b="0">
                          <a:solidFill>
                            <a:srgbClr val="1F2937"/>
                          </a:solidFill>
                        </a:rPr>
                        <a:t>1: periost bo‘ylab</a:t>
                      </a:r>
                    </a:p>
                  </a:txBody>
                  <a:tcPr marL="73152" marR="73152" marT="36576" marB="36576">
                    <a:solidFill>
                      <a:srgbClr val="E8EEF6"/>
                    </a:solidFill>
                  </a:tcPr>
                </a:tc>
                <a:tc>
                  <a:txBody>
                    <a:bodyPr/>
                    <a:lstStyle/>
                    <a:p>
                      <a:r>
                        <a:rPr sz="1200" b="0">
                          <a:solidFill>
                            <a:srgbClr val="1F2937"/>
                          </a:solidFill>
                        </a:rPr>
                        <a:t>Intramembranoz</a:t>
                      </a:r>
                    </a:p>
                  </a:txBody>
                  <a:tcPr marL="73152" marR="73152" marT="36576" marB="36576">
                    <a:solidFill>
                      <a:srgbClr val="E8EEF6"/>
                    </a:solidFill>
                  </a:tcPr>
                </a:tc>
                <a:tc>
                  <a:txBody>
                    <a:bodyPr/>
                    <a:lstStyle/>
                    <a:p>
                      <a:r>
                        <a:rPr sz="1200" b="0">
                          <a:solidFill>
                            <a:srgbClr val="1F2937"/>
                          </a:solidFill>
                        </a:rPr>
                        <a:t>Kerak emas</a:t>
                      </a:r>
                    </a:p>
                  </a:txBody>
                  <a:tcPr marL="73152" marR="73152" marT="36576" marB="36576">
                    <a:solidFill>
                      <a:srgbClr val="E8EEF6"/>
                    </a:solidFill>
                  </a:tcPr>
                </a:tc>
              </a:tr>
              <a:tr h="411480">
                <a:tc>
                  <a:txBody>
                    <a:bodyPr/>
                    <a:lstStyle/>
                    <a:p>
                      <a:r>
                        <a:rPr sz="1200" b="0">
                          <a:solidFill>
                            <a:srgbClr val="1F2937"/>
                          </a:solidFill>
                        </a:rPr>
                        <a:t>2: sinish oralig‘ida</a:t>
                      </a:r>
                    </a:p>
                  </a:txBody>
                  <a:tcPr marL="73152" marR="73152" marT="36576" marB="36576">
                    <a:solidFill>
                      <a:srgbClr val="FFFFFF"/>
                    </a:solidFill>
                  </a:tcPr>
                </a:tc>
                <a:tc>
                  <a:txBody>
                    <a:bodyPr/>
                    <a:lstStyle/>
                    <a:p>
                      <a:r>
                        <a:rPr sz="1200" b="0">
                          <a:solidFill>
                            <a:srgbClr val="1F2937"/>
                          </a:solidFill>
                        </a:rPr>
                        <a:t>Endoxondral</a:t>
                      </a:r>
                    </a:p>
                  </a:txBody>
                  <a:tcPr marL="73152" marR="73152" marT="36576" marB="36576">
                    <a:solidFill>
                      <a:srgbClr val="FFFFFF"/>
                    </a:solidFill>
                  </a:tcPr>
                </a:tc>
                <a:tc>
                  <a:txBody>
                    <a:bodyPr/>
                    <a:lstStyle/>
                    <a:p>
                      <a:r>
                        <a:rPr sz="1200" b="0">
                          <a:solidFill>
                            <a:srgbClr val="1F2937"/>
                          </a:solidFill>
                        </a:rPr>
                        <a:t>Bor, xaftaga orqali</a:t>
                      </a:r>
                    </a:p>
                  </a:txBody>
                  <a:tcPr marL="73152" marR="73152" marT="36576" marB="36576">
                    <a:solidFill>
                      <a:srgbClr val="FFFFFF"/>
                    </a:solidFill>
                  </a:tcPr>
                </a:tc>
              </a:tr>
              <a:tr h="411480">
                <a:tc>
                  <a:txBody>
                    <a:bodyPr/>
                    <a:lstStyle/>
                    <a:p>
                      <a:r>
                        <a:rPr sz="1200" b="0">
                          <a:solidFill>
                            <a:srgbClr val="1F2937"/>
                          </a:solidFill>
                        </a:rPr>
                        <a:t>3: ilik ichida</a:t>
                      </a:r>
                    </a:p>
                  </a:txBody>
                  <a:tcPr marL="73152" marR="73152" marT="36576" marB="36576">
                    <a:solidFill>
                      <a:srgbClr val="E8EEF6"/>
                    </a:solidFill>
                  </a:tcPr>
                </a:tc>
                <a:tc>
                  <a:txBody>
                    <a:bodyPr/>
                    <a:lstStyle/>
                    <a:p>
                      <a:r>
                        <a:rPr sz="1200" b="0">
                          <a:solidFill>
                            <a:srgbClr val="1F2937"/>
                          </a:solidFill>
                        </a:rPr>
                        <a:t>Intramedullyar</a:t>
                      </a:r>
                    </a:p>
                  </a:txBody>
                  <a:tcPr marL="73152" marR="73152" marT="36576" marB="36576">
                    <a:solidFill>
                      <a:srgbClr val="E8EEF6"/>
                    </a:solidFill>
                  </a:tcPr>
                </a:tc>
                <a:tc>
                  <a:txBody>
                    <a:bodyPr/>
                    <a:lstStyle/>
                    <a:p>
                      <a:r>
                        <a:rPr sz="1200" b="0">
                          <a:solidFill>
                            <a:srgbClr val="1F2937"/>
                          </a:solidFill>
                        </a:rPr>
                        <a:t>Kerak emas</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joyni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Bikle D va boshq., Fracture healing: cellular mechanisms and impact of parathyroid hormone and its analogs, betlar: PMID 41334438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intramembranoz ≠ endoxondral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Intramembranoz suyak hosil bo‘lishi periost yuzasi bo‘ylab kechadi va oraliq xaftaga bosqichini talab qilmaydi.</a:t>
            </a:r>
          </a:p>
          <a:p>
            <a:pPr>
              <a:spcAft>
                <a:spcPts val="1200"/>
              </a:spcAft>
            </a:pPr>
            <a:r>
              <a:rPr sz="2200">
                <a:solidFill>
                  <a:srgbClr val="1F2937"/>
                </a:solidFill>
                <a:latin typeface="Calibri"/>
              </a:rPr>
              <a:t>▸  Endoxondral suyak sinish uchlari orasidagi ko‘prik joyda rivojlanadi: avval xaftaga hosil bo‘ladi, keyin u suyak bilan almashadi.</a:t>
            </a:r>
          </a:p>
          <a:p>
            <a:pPr>
              <a:spcAft>
                <a:spcPts val="1200"/>
              </a:spcAft>
            </a:pPr>
            <a:r>
              <a:rPr sz="2200">
                <a:solidFill>
                  <a:srgbClr val="1F2937"/>
                </a:solidFill>
                <a:latin typeface="Calibri"/>
              </a:rPr>
              <a:t>▸  Intramedullyar suyak ilik ichida, sinish uchlarida hosil bo‘ladi. U ham xaftaga oraliq bosqichisiz kechadi.</a:t>
            </a:r>
          </a:p>
          <a:p>
            <a:pPr>
              <a:spcAft>
                <a:spcPts val="1200"/>
              </a:spcAft>
            </a:pPr>
            <a:r>
              <a:rPr sz="2200">
                <a:solidFill>
                  <a:srgbClr val="1F2937"/>
                </a:solidFill>
                <a:latin typeface="Calibri"/>
              </a:rPr>
              <a:t>▸  Diqqat: xato qilish xavfi. Xaftagasiz suyak hosil bo‘lishini faqat intramembranoz deb o‘ylamang; intramedullyar yo‘l ham xaftagasiz.</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Bikle D va boshq., Fracture healing: cellular mechanisms and impact of parathyroid hormone and its analogs, betlar: PMID 41334438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intramedullyar mix</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uzun suyak sinishi intramedullyar mix bilan mahkamlangan. Mix ilik bo‘shlig‘ini egallab, uni amalda yo‘qotadi.</a:t>
            </a:r>
          </a:p>
          <a:p>
            <a:pPr>
              <a:spcAft>
                <a:spcPts val="1200"/>
              </a:spcAft>
            </a:pPr>
            <a:r>
              <a:rPr sz="2200">
                <a:solidFill>
                  <a:srgbClr val="1F2937"/>
                </a:solidFill>
                <a:latin typeface="Calibri"/>
              </a:rPr>
              <a:t>▸  Ilik bo‘shlig‘i yo‘qolsa, 3-sayt (ilik ichidagi) yangi suyak hosil bo‘lishi uchun joy qolmaydi. Shu sababli bu sayt ko‘pincha e’tibordan chetda qolgan.</a:t>
            </a:r>
          </a:p>
          <a:p>
            <a:pPr>
              <a:spcAft>
                <a:spcPts val="1200"/>
              </a:spcAft>
            </a:pPr>
            <a:r>
              <a:rPr sz="2200">
                <a:solidFill>
                  <a:srgbClr val="1F2937"/>
                </a:solidFill>
                <a:latin typeface="Calibri"/>
              </a:rPr>
              <a:t>▸  Sichqonlarda intramedullyar suyak 5–10-kunda boshlanadi, vaqtinchalik bo‘ladi va taxminan 28-kunga kelib deyarli yo‘qoladi.</a:t>
            </a:r>
          </a:p>
          <a:p>
            <a:pPr>
              <a:spcAft>
                <a:spcPts val="1200"/>
              </a:spcAft>
            </a:pPr>
            <a:r>
              <a:rPr sz="2200">
                <a:solidFill>
                  <a:srgbClr val="1F2937"/>
                </a:solidFill>
                <a:latin typeface="Calibri"/>
              </a:rPr>
              <a:t>▸  Savol: mix qo‘yilgan sinishda qaysi saytlarda suyak hosil bo‘lishi saqlanadi, qaysi birida to‘sqinlik qilinadi? Javobni asoslang.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Bikle D va boshq., Fracture healing: cellular mechanisms and impact of parathyroid hormone and its analogs, betlar: PMID 41334438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1-faza: gematoma va trombotsitlar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Sinishda qon tomirlari uziladi va gematoma hosil bo‘ladi. U vaqtinchalik matritsa sifatida tiklanishni boshlab beradi.</a:t>
            </a:r>
          </a:p>
          <a:p>
            <a:pPr>
              <a:spcAft>
                <a:spcPts val="1200"/>
              </a:spcAft>
            </a:pPr>
            <a:r>
              <a:rPr sz="2200">
                <a:solidFill>
                  <a:srgbClr val="1F2937"/>
                </a:solidFill>
                <a:latin typeface="Calibri"/>
              </a:rPr>
              <a:t>▸  Trombotsitlar tez agregatsiyalanib qon ketishini to‘xtatadi va o‘sish omillari hamda sitokinlarni ajratib chiqaradi.</a:t>
            </a:r>
          </a:p>
          <a:p>
            <a:pPr>
              <a:spcAft>
                <a:spcPts val="1200"/>
              </a:spcAft>
            </a:pPr>
            <a:r>
              <a:rPr sz="2200">
                <a:solidFill>
                  <a:srgbClr val="1F2937"/>
                </a:solidFill>
                <a:latin typeface="Calibri"/>
              </a:rPr>
              <a:t>▸  Bu moddalar yallig‘lanish hujayralarini va mezenximal stromal hujayralarni (MSC) sinish joyiga jalb qiladi.</a:t>
            </a:r>
          </a:p>
          <a:p>
            <a:pPr>
              <a:spcAft>
                <a:spcPts val="1200"/>
              </a:spcAft>
            </a:pPr>
            <a:r>
              <a:rPr sz="2200">
                <a:solidFill>
                  <a:srgbClr val="1F2937"/>
                </a:solidFill>
                <a:latin typeface="Calibri"/>
              </a:rPr>
              <a:t>▸  Gematomani eritrotsitlar va trombotsitlar hosil qiladi, unga ilikdan neytrofil va monotsitlar kiradi. Bu faza taxminan 5 kun davom etadi.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Bikle D va boshq., Fracture healing: cellular mechanisms and impact of parathyroid hormone and its analogs, betlar: PMID 41334438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1-faza: neytrofil va makrofaglar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Gematoma hosil bo‘lgach, neytrofillar bir necha soat ichida jarohat joyiga kiradi.</a:t>
            </a:r>
          </a:p>
          <a:p>
            <a:pPr>
              <a:spcAft>
                <a:spcPts val="800"/>
              </a:spcAft>
            </a:pPr>
            <a:r>
              <a:rPr sz="1800">
                <a:solidFill>
                  <a:srgbClr val="1F2937"/>
                </a:solidFill>
                <a:latin typeface="Calibri"/>
              </a:rPr>
              <a:t>▸  Monositlar gematomaga kirib, makrofagga aylanadi va faollik holatini o‘zgartiradi.</a:t>
            </a:r>
          </a:p>
          <a:p>
            <a:pPr>
              <a:spcAft>
                <a:spcPts val="800"/>
              </a:spcAft>
            </a:pPr>
            <a:r>
              <a:rPr sz="1800">
                <a:solidFill>
                  <a:srgbClr val="1F2937"/>
                </a:solidFill>
                <a:latin typeface="Calibri"/>
              </a:rPr>
              <a:t>▸  Erta M1 makrofaglar gipoksik gematomada yallig‘lanish sitokinlarini ajratadi.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Gematoma va trombotsitlar</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Neytrofillar kiradi (soatlar)</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Monositlar → makrofaglar</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M1: yallig‘lanish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M2: tiklanish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Hujayralar ketma-ketligi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Bikle D va boshq., Fracture healing: cellular mechanisms and impact of parathyroid hormone and its analogs, betlar: PMID 41334438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Eslab qoling: M1 → M2 o‘tishi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Eslab qoling: M1 – “tozalovchi va qo‘riqchi”, M2 – “quruvchi va tinchlantiruvchi”. Bu qisqa mnemonika manbadagi funksiyalarga asoslangan.</a:t>
            </a:r>
          </a:p>
          <a:p>
            <a:pPr>
              <a:spcAft>
                <a:spcPts val="1200"/>
              </a:spcAft>
            </a:pPr>
            <a:r>
              <a:rPr sz="2000">
                <a:solidFill>
                  <a:srgbClr val="1F2937"/>
                </a:solidFill>
                <a:latin typeface="Calibri"/>
              </a:rPr>
              <a:t>▸  Erta M1 makrofaglar to‘qimani tozalaydi va mikroblardan himoya qiladi. Keyingi M2 makrofaglar yallig‘lanishni so‘ndiradi, angiogenez va progenitorlar differensiatsiyasini qo‘llaydi.</a:t>
            </a:r>
          </a:p>
          <a:p>
            <a:pPr>
              <a:spcAft>
                <a:spcPts val="1200"/>
              </a:spcAft>
            </a:pPr>
            <a:r>
              <a:rPr sz="2000">
                <a:solidFill>
                  <a:srgbClr val="1F2937"/>
                </a:solidFill>
                <a:latin typeface="Calibri"/>
              </a:rPr>
              <a:t>▸  M2 makrofaglar interleykin-10 (IL-10) ajratib yallig‘lanishni kamaytiradi, VEGF (qon tomir o‘sish omili) orqali tomir hosil bo‘lishini qo‘llaydi.</a:t>
            </a:r>
          </a:p>
          <a:p>
            <a:pPr>
              <a:spcAft>
                <a:spcPts val="1200"/>
              </a:spcAft>
            </a:pPr>
            <a:r>
              <a:rPr sz="2000">
                <a:solidFill>
                  <a:srgbClr val="1F2937"/>
                </a:solidFill>
                <a:latin typeface="Calibri"/>
              </a:rPr>
              <a:t>▸  Diqqat: M1 ≠ M2 qat’iy ikki alohida guruh emas. M1/M2 soddalashtirilgan sxema bo‘lib, funksional o‘tishni ifodalovchi qulay qisqartma sifatida ishlatiladi.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Bikle D va boshq., Fracture healing: cellular mechanisms and impact of parathyroid hormone and its analogs, betlar: PMID 41334438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Boshqa immun hujayralar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Regulyator T hujayralar (Treg) haddan tashqari yallig‘lanishni jilovlaydi va tiklanishni qo‘llovchi immun holatni saqlaydi.</a:t>
            </a:r>
          </a:p>
          <a:p>
            <a:pPr>
              <a:spcAft>
                <a:spcPts val="1200"/>
              </a:spcAft>
            </a:pPr>
            <a:r>
              <a:rPr sz="2200">
                <a:solidFill>
                  <a:srgbClr val="1F2937"/>
                </a:solidFill>
                <a:latin typeface="Calibri"/>
              </a:rPr>
              <a:t>▸  Semiz hujayralar qon tomir o‘tkazuvchanligiga, leykotsitlar jalb etilishiga va mahalliy immun faollikka ta’sir qilishi mumkin.</a:t>
            </a:r>
          </a:p>
          <a:p>
            <a:pPr>
              <a:spcAft>
                <a:spcPts val="1200"/>
              </a:spcAft>
            </a:pPr>
            <a:r>
              <a:rPr sz="2200">
                <a:solidFill>
                  <a:srgbClr val="1F2937"/>
                </a:solidFill>
                <a:latin typeface="Calibri"/>
              </a:rPr>
              <a:t>▸  Mezenximal o‘zak hujayralar (MSC) ham yallig‘lanishni bostiradi: to‘g‘ridan-to‘g‘ri kontakt va TGFβ (transformatsiyalovchi o‘sish omili beta) orqali Treg ni induksiya qiladi.</a:t>
            </a:r>
          </a:p>
          <a:p>
            <a:pPr>
              <a:spcAft>
                <a:spcPts val="1200"/>
              </a:spcAft>
            </a:pPr>
            <a:r>
              <a:rPr sz="2200">
                <a:solidFill>
                  <a:srgbClr val="1F2937"/>
                </a:solidFill>
                <a:latin typeface="Calibri"/>
              </a:rPr>
              <a:t>▸  Dendritik va B hujayralar adaptiv immun javobni hamda osteoklastlar bilan bog‘liq qayta qurilishni modulyatsiya qilishi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Bikle D va boshq., Fracture healing: cellular mechanisms and impact of parathyroid hormone and its analogs, betlar: PMID 41334438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davomli yallig‘lanish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(o‘quv misoli): sinish joyida infeksiya bor, yallig‘lanish so‘nmaydi va bitish tiklanish bosqichiga o‘tolmayapti.</a:t>
            </a:r>
          </a:p>
          <a:p>
            <a:pPr>
              <a:spcAft>
                <a:spcPts val="1200"/>
              </a:spcAft>
            </a:pPr>
            <a:r>
              <a:rPr sz="2200">
                <a:solidFill>
                  <a:srgbClr val="1F2937"/>
                </a:solidFill>
                <a:latin typeface="Calibri"/>
              </a:rPr>
              <a:t>▸  O‘sma nekrozi omili (TNF), interleykin-1β (IL-1β) va IL-6 uzoq saqlansa, yallig‘lanuvchi makrofaglar faol qoladi, osteogenez va angiogenez bosiladi.</a:t>
            </a:r>
          </a:p>
          <a:p>
            <a:pPr>
              <a:spcAft>
                <a:spcPts val="1200"/>
              </a:spcAft>
            </a:pPr>
            <a:r>
              <a:rPr sz="2200">
                <a:solidFill>
                  <a:srgbClr val="1F2937"/>
                </a:solidFill>
                <a:latin typeface="Calibri"/>
              </a:rPr>
              <a:t>▸  Diqqat: rentgendagi kallus ko‘rinishi infeksiya borligini yoki bitish qobiliyatini o‘zi isbotlamaydi.</a:t>
            </a:r>
          </a:p>
          <a:p>
            <a:pPr>
              <a:spcAft>
                <a:spcPts val="1200"/>
              </a:spcAft>
            </a:pPr>
            <a:r>
              <a:rPr sz="2200">
                <a:solidFill>
                  <a:srgbClr val="1F2937"/>
                </a:solidFill>
                <a:latin typeface="Calibri"/>
              </a:rPr>
              <a:t>▸  Savol: nega sitokinlarni butunlay bostirish xavfli va davomli yallig‘lanish qanday oqibatga (bitmaslik) olib kelishi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2-faza: yumshoq kallus va angiogenez</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Periost progenitorlari osteoblast yoki xondrotsitga aylanib, kallus hosil qiladi.</a:t>
            </a:r>
          </a:p>
          <a:p>
            <a:pPr>
              <a:spcAft>
                <a:spcPts val="800"/>
              </a:spcAft>
            </a:pPr>
            <a:r>
              <a:rPr sz="1800">
                <a:solidFill>
                  <a:srgbClr val="1F2937"/>
                </a:solidFill>
                <a:latin typeface="Calibri"/>
              </a:rPr>
              <a:t>▸  Kislorodli, barqaror joyda osteoblast, gipoksiya yoki zo‘riqishda xondrotsit yo‘nalishi tanlanadi.</a:t>
            </a:r>
          </a:p>
          <a:p>
            <a:pPr>
              <a:spcAft>
                <a:spcPts val="800"/>
              </a:spcAft>
            </a:pPr>
            <a:r>
              <a:rPr sz="1800">
                <a:solidFill>
                  <a:srgbClr val="1F2937"/>
                </a:solidFill>
                <a:latin typeface="Calibri"/>
              </a:rPr>
              <a:t>▸  Yangi kapillyarlar kislorod va oziq yetkazib, yumshoq kallusdan qattiq kallusga o‘tishni ta’minlaydi.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Gematoma va yallig‘lanish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Periost progenitorlari ko‘payadi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Angiogenez: kapillyar o‘sishi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Xondrogenez: yumshoq kallus</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Mineralizatsiya: qattiq kallus</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2-faza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Bikle D va boshq., Fracture healing: cellular mechanisms and impact of parathyroid hormone and its analogs, betlar: PMID 41334438; Flurina Staubli va boshq., Fracture healing: from molecular and cellular mechanisms to therapeutic strategies, betlar: PMID 42768017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Kallusda hujayra taqdirini belgilovchi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Kislorod va barqarorlik bo‘lsa hujayralar osteoblastga, gipoksiyada xondrotsitga aylanadi.</a:t>
            </a:r>
          </a:p>
          <a:p>
            <a:pPr>
              <a:spcAft>
                <a:spcPts val="800"/>
              </a:spcAft>
            </a:pPr>
            <a:r>
              <a:rPr sz="1800">
                <a:solidFill>
                  <a:srgbClr val="1F2937"/>
                </a:solidFill>
                <a:latin typeface="Calibri"/>
              </a:rPr>
              <a:t>▸  Runx2 osteogenez dasturini, Sox9 esa xondrogenez dasturini boshqaradi.</a:t>
            </a:r>
          </a:p>
          <a:p>
            <a:pPr>
              <a:spcAft>
                <a:spcPts val="800"/>
              </a:spcAft>
            </a:pPr>
            <a:r>
              <a:rPr sz="1800">
                <a:solidFill>
                  <a:srgbClr val="1F2937"/>
                </a:solidFill>
                <a:latin typeface="Calibri"/>
              </a:rPr>
              <a:t>▸  Gipertrofik xondrotsitlarning ayrimlari osteoblast zaxirasiga qo‘shilishi mumkin.</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669886"/>
                <a:gridCol w="1113257"/>
                <a:gridCol w="2504830"/>
              </a:tblGrid>
              <a:tr h="411480">
                <a:tc>
                  <a:txBody>
                    <a:bodyPr/>
                    <a:lstStyle/>
                    <a:p>
                      <a:r>
                        <a:rPr sz="1300" b="1">
                          <a:solidFill>
                            <a:srgbClr val="FFFFFF"/>
                          </a:solidFill>
                        </a:rPr>
                        <a:t>Omil</a:t>
                      </a:r>
                    </a:p>
                  </a:txBody>
                  <a:tcPr marL="73152" marR="73152" marT="36576" marB="36576">
                    <a:solidFill>
                      <a:srgbClr val="0B1F3A"/>
                    </a:solidFill>
                  </a:tcPr>
                </a:tc>
                <a:tc>
                  <a:txBody>
                    <a:bodyPr/>
                    <a:lstStyle/>
                    <a:p>
                      <a:r>
                        <a:rPr sz="1300" b="1">
                          <a:solidFill>
                            <a:srgbClr val="FFFFFF"/>
                          </a:solidFill>
                        </a:rPr>
                        <a:t>Yo‘nalish</a:t>
                      </a:r>
                    </a:p>
                  </a:txBody>
                  <a:tcPr marL="73152" marR="73152" marT="36576" marB="36576">
                    <a:solidFill>
                      <a:srgbClr val="0B1F3A"/>
                    </a:solidFill>
                  </a:tcPr>
                </a:tc>
                <a:tc>
                  <a:txBody>
                    <a:bodyPr/>
                    <a:lstStyle/>
                    <a:p>
                      <a:r>
                        <a:rPr sz="1300" b="1">
                          <a:solidFill>
                            <a:srgbClr val="FFFFFF"/>
                          </a:solidFill>
                        </a:rPr>
                        <a:t>Natija</a:t>
                      </a:r>
                    </a:p>
                  </a:txBody>
                  <a:tcPr marL="73152" marR="73152" marT="36576" marB="36576">
                    <a:solidFill>
                      <a:srgbClr val="0B1F3A"/>
                    </a:solidFill>
                  </a:tcPr>
                </a:tc>
              </a:tr>
              <a:tr h="411480">
                <a:tc>
                  <a:txBody>
                    <a:bodyPr/>
                    <a:lstStyle/>
                    <a:p>
                      <a:r>
                        <a:rPr sz="1200" b="0">
                          <a:solidFill>
                            <a:srgbClr val="1F2937"/>
                          </a:solidFill>
                        </a:rPr>
                        <a:t>Kislorod + barqarorlik</a:t>
                      </a:r>
                    </a:p>
                  </a:txBody>
                  <a:tcPr marL="73152" marR="73152" marT="36576" marB="36576">
                    <a:solidFill>
                      <a:srgbClr val="E8EEF6"/>
                    </a:solidFill>
                  </a:tcPr>
                </a:tc>
                <a:tc>
                  <a:txBody>
                    <a:bodyPr/>
                    <a:lstStyle/>
                    <a:p>
                      <a:r>
                        <a:rPr sz="1200" b="0">
                          <a:solidFill>
                            <a:srgbClr val="1F2937"/>
                          </a:solidFill>
                        </a:rPr>
                        <a:t>Osteogenez</a:t>
                      </a:r>
                    </a:p>
                  </a:txBody>
                  <a:tcPr marL="73152" marR="73152" marT="36576" marB="36576">
                    <a:solidFill>
                      <a:srgbClr val="E8EEF6"/>
                    </a:solidFill>
                  </a:tcPr>
                </a:tc>
                <a:tc>
                  <a:txBody>
                    <a:bodyPr/>
                    <a:lstStyle/>
                    <a:p>
                      <a:r>
                        <a:rPr sz="1200" b="0">
                          <a:solidFill>
                            <a:srgbClr val="1F2937"/>
                          </a:solidFill>
                        </a:rPr>
                        <a:t>Kortikal yuzada intramembranoz suyak</a:t>
                      </a:r>
                    </a:p>
                  </a:txBody>
                  <a:tcPr marL="73152" marR="73152" marT="36576" marB="36576">
                    <a:solidFill>
                      <a:srgbClr val="E8EEF6"/>
                    </a:solidFill>
                  </a:tcPr>
                </a:tc>
              </a:tr>
              <a:tr h="411480">
                <a:tc>
                  <a:txBody>
                    <a:bodyPr/>
                    <a:lstStyle/>
                    <a:p>
                      <a:r>
                        <a:rPr sz="1200" b="0">
                          <a:solidFill>
                            <a:srgbClr val="1F2937"/>
                          </a:solidFill>
                        </a:rPr>
                        <a:t>Gipoksiya yoki zo‘riqish</a:t>
                      </a:r>
                    </a:p>
                  </a:txBody>
                  <a:tcPr marL="73152" marR="73152" marT="36576" marB="36576">
                    <a:solidFill>
                      <a:srgbClr val="FFFFFF"/>
                    </a:solidFill>
                  </a:tcPr>
                </a:tc>
                <a:tc>
                  <a:txBody>
                    <a:bodyPr/>
                    <a:lstStyle/>
                    <a:p>
                      <a:r>
                        <a:rPr sz="1200" b="0">
                          <a:solidFill>
                            <a:srgbClr val="1F2937"/>
                          </a:solidFill>
                        </a:rPr>
                        <a:t>Xondrogenez</a:t>
                      </a:r>
                    </a:p>
                  </a:txBody>
                  <a:tcPr marL="73152" marR="73152" marT="36576" marB="36576">
                    <a:solidFill>
                      <a:srgbClr val="FFFFFF"/>
                    </a:solidFill>
                  </a:tcPr>
                </a:tc>
                <a:tc>
                  <a:txBody>
                    <a:bodyPr/>
                    <a:lstStyle/>
                    <a:p>
                      <a:r>
                        <a:rPr sz="1200" b="0">
                          <a:solidFill>
                            <a:srgbClr val="1F2937"/>
                          </a:solidFill>
                        </a:rPr>
                        <a:t>Xaftagali yumshoq kallus</a:t>
                      </a:r>
                    </a:p>
                  </a:txBody>
                  <a:tcPr marL="73152" marR="73152" marT="36576" marB="36576">
                    <a:solidFill>
                      <a:srgbClr val="FFFFFF"/>
                    </a:solidFill>
                  </a:tcPr>
                </a:tc>
              </a:tr>
              <a:tr h="411480">
                <a:tc>
                  <a:txBody>
                    <a:bodyPr/>
                    <a:lstStyle/>
                    <a:p>
                      <a:r>
                        <a:rPr sz="1200" b="0">
                          <a:solidFill>
                            <a:srgbClr val="1F2937"/>
                          </a:solidFill>
                        </a:rPr>
                        <a:t>Runx2</a:t>
                      </a:r>
                    </a:p>
                  </a:txBody>
                  <a:tcPr marL="73152" marR="73152" marT="36576" marB="36576">
                    <a:solidFill>
                      <a:srgbClr val="E8EEF6"/>
                    </a:solidFill>
                  </a:tcPr>
                </a:tc>
                <a:tc>
                  <a:txBody>
                    <a:bodyPr/>
                    <a:lstStyle/>
                    <a:p>
                      <a:r>
                        <a:rPr sz="1200" b="0">
                          <a:solidFill>
                            <a:srgbClr val="1F2937"/>
                          </a:solidFill>
                        </a:rPr>
                        <a:t>Osteogenez</a:t>
                      </a:r>
                    </a:p>
                  </a:txBody>
                  <a:tcPr marL="73152" marR="73152" marT="36576" marB="36576">
                    <a:solidFill>
                      <a:srgbClr val="E8EEF6"/>
                    </a:solidFill>
                  </a:tcPr>
                </a:tc>
                <a:tc>
                  <a:txBody>
                    <a:bodyPr/>
                    <a:lstStyle/>
                    <a:p>
                      <a:r>
                        <a:rPr sz="1200" b="0">
                          <a:solidFill>
                            <a:srgbClr val="1F2937"/>
                          </a:solidFill>
                        </a:rPr>
                        <a:t>Osteoblast rivojlanishi</a:t>
                      </a:r>
                    </a:p>
                  </a:txBody>
                  <a:tcPr marL="73152" marR="73152" marT="36576" marB="36576">
                    <a:solidFill>
                      <a:srgbClr val="E8EEF6"/>
                    </a:solidFill>
                  </a:tcPr>
                </a:tc>
              </a:tr>
              <a:tr h="411480">
                <a:tc>
                  <a:txBody>
                    <a:bodyPr/>
                    <a:lstStyle/>
                    <a:p>
                      <a:r>
                        <a:rPr sz="1200" b="0">
                          <a:solidFill>
                            <a:srgbClr val="1F2937"/>
                          </a:solidFill>
                        </a:rPr>
                        <a:t>Sox9</a:t>
                      </a:r>
                    </a:p>
                  </a:txBody>
                  <a:tcPr marL="73152" marR="73152" marT="36576" marB="36576">
                    <a:solidFill>
                      <a:srgbClr val="FFFFFF"/>
                    </a:solidFill>
                  </a:tcPr>
                </a:tc>
                <a:tc>
                  <a:txBody>
                    <a:bodyPr/>
                    <a:lstStyle/>
                    <a:p>
                      <a:r>
                        <a:rPr sz="1200" b="0">
                          <a:solidFill>
                            <a:srgbClr val="1F2937"/>
                          </a:solidFill>
                        </a:rPr>
                        <a:t>Xondrogenez</a:t>
                      </a:r>
                    </a:p>
                  </a:txBody>
                  <a:tcPr marL="73152" marR="73152" marT="36576" marB="36576">
                    <a:solidFill>
                      <a:srgbClr val="FFFFFF"/>
                    </a:solidFill>
                  </a:tcPr>
                </a:tc>
                <a:tc>
                  <a:txBody>
                    <a:bodyPr/>
                    <a:lstStyle/>
                    <a:p>
                      <a:r>
                        <a:rPr sz="1200" b="0">
                          <a:solidFill>
                            <a:srgbClr val="1F2937"/>
                          </a:solidFill>
                        </a:rPr>
                        <a:t>Xondrotsit dasturi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Taqdir omillari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gipoksiya va kallus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sinish joyida mezenximal stromal hujayralar (MSC) qaysi sharoitda xaftaga hosil qiladi, qaysi sharoitda esa to‘g‘ridan-to‘g‘ri suyak?</a:t>
            </a:r>
          </a:p>
          <a:p>
            <a:pPr>
              <a:spcAft>
                <a:spcPts val="1200"/>
              </a:spcAft>
            </a:pPr>
            <a:r>
              <a:rPr sz="2200">
                <a:solidFill>
                  <a:srgbClr val="1F2937"/>
                </a:solidFill>
                <a:latin typeface="Calibri"/>
              </a:rPr>
              <a:t>▸  Kislorodga boy va mexanik barqaror joylarda MSC osteogen yo‘nalishda ketadi. Kortikal yuzada intramembranoz suyak hosil bo‘ladi.</a:t>
            </a:r>
          </a:p>
          <a:p>
            <a:pPr>
              <a:spcAft>
                <a:spcPts val="1200"/>
              </a:spcAft>
            </a:pPr>
            <a:r>
              <a:rPr sz="2200">
                <a:solidFill>
                  <a:srgbClr val="1F2937"/>
                </a:solidFill>
                <a:latin typeface="Calibri"/>
              </a:rPr>
              <a:t>▸  Gipoksik yoki mexanik zo‘riqqan joyda MSC xondrogen dasturni tanlaydi. Natijada sinishni mustahkamlovchi xaftagali (yumshoq) kallus hosil bo‘ladi.</a:t>
            </a:r>
          </a:p>
          <a:p>
            <a:pPr>
              <a:spcAft>
                <a:spcPts val="1200"/>
              </a:spcAft>
            </a:pPr>
            <a:r>
              <a:rPr sz="2200">
                <a:solidFill>
                  <a:srgbClr val="1F2937"/>
                </a:solidFill>
                <a:latin typeface="Calibri"/>
              </a:rPr>
              <a:t>▸  Diqqat: endoxondral ≠ intramembranoz. Intramembranoz va intramedulyar suyak xaftaga bosqichisiz hosil bo‘ladi, xaftaga esa ko‘prik hududida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Bikle D va boshq., Fracture healing: cellular mechanisms and impact of parathyroid hormone and its analogs, betlar: PMID 41334438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3-faza: yumshoq kallusdan qattiq kallusga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3-faza bir necha hafta davom etadi. Xaftaga olib tashlanib kalsiylanadi, qattiq kallus esa to‘liqroq shakllanadi.</a:t>
            </a:r>
          </a:p>
          <a:p>
            <a:pPr>
              <a:spcAft>
                <a:spcPts val="1200"/>
              </a:spcAft>
            </a:pPr>
            <a:r>
              <a:rPr sz="2000">
                <a:solidFill>
                  <a:srgbClr val="1F2937"/>
                </a:solidFill>
                <a:latin typeface="Calibri"/>
              </a:rPr>
              <a:t>▸  Xondrotsitlar mineralizatsiyalanadi. Ularni osteoklastlar olib tashlaydi yoki ular osteoblastlarga aylanadi. Jarayon tomirlanish bilan birga boradi.</a:t>
            </a:r>
          </a:p>
          <a:p>
            <a:pPr>
              <a:spcAft>
                <a:spcPts val="1200"/>
              </a:spcAft>
            </a:pPr>
            <a:r>
              <a:rPr sz="2000">
                <a:solidFill>
                  <a:srgbClr val="1F2937"/>
                </a:solidFill>
                <a:latin typeface="Calibri"/>
              </a:rPr>
              <a:t>▸  Gipertrofik xondrotsitlarda sox9 va X tur kollagen kamayadi, runx2 va β-katenin ortadi. So‘ng ishqoriy fosfataza, osterix, osteopontin va osteokalsin paydo bo‘ladi.</a:t>
            </a:r>
          </a:p>
          <a:p>
            <a:pPr>
              <a:spcAft>
                <a:spcPts val="1200"/>
              </a:spcAft>
            </a:pPr>
            <a:r>
              <a:rPr sz="2000">
                <a:solidFill>
                  <a:srgbClr val="1F2937"/>
                </a:solidFill>
                <a:latin typeface="Calibri"/>
              </a:rPr>
              <a:t>▸  MMP13 (matriks metalloproteinaza-13) matriksni parchalaydi, noggin esa pasayishi kerak. Dastlab to‘qima suyagi (woven bone) hosil bo‘ladi, 4-fazada u plastinkali suyakka almashadi.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Bikle D va boshq., Fracture healing: cellular mechanisms and impact of parathyroid hormone and its analogs, betlar: PMID 41334438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tomirlar: VEGF/HIF va osteoangiogenez</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Gipoksiyada HIF-1α (gipoksiya bilan induksiyalanuvchi omil) barqarorlashadi va VEGFni yoqadi.</a:t>
            </a:r>
          </a:p>
          <a:p>
            <a:pPr>
              <a:spcAft>
                <a:spcPts val="800"/>
              </a:spcAft>
            </a:pPr>
            <a:r>
              <a:rPr sz="1800">
                <a:solidFill>
                  <a:srgbClr val="1F2937"/>
                </a:solidFill>
                <a:latin typeface="Calibri"/>
              </a:rPr>
              <a:t>▸  VEGF (tomir endoteliy o‘sish omili) VEGFR2 orqali endoteliy ko‘payishi va tomir hosil bo‘lishini beradi.</a:t>
            </a:r>
          </a:p>
          <a:p>
            <a:pPr>
              <a:spcAft>
                <a:spcPts val="800"/>
              </a:spcAft>
            </a:pPr>
            <a:r>
              <a:rPr sz="1800">
                <a:solidFill>
                  <a:srgbClr val="1F2937"/>
                </a:solidFill>
                <a:latin typeface="Calibri"/>
              </a:rPr>
              <a:t>▸  H tur tomirlar osteoprogenitorlar bilan bog‘liq; bu asosan tajriba modellarida aniqlangan.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Sinishdan keyingi gipoksiya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HIF-1α barqarorlashadi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VEGF ajraladi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VEGFR2: endoteliy o‘sishi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Tomir kallusga kiradi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Gipoksiyadan tomir kirishigacha</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4-faza: remodellanish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Remodellanish — bitishning oxirgi va eng uzoq bosqichi. Vaqtinchalik to‘qima (woven) suyagi asta-sekin yetuk plastinkali suyakka almashadi.</a:t>
            </a:r>
          </a:p>
          <a:p>
            <a:pPr>
              <a:spcAft>
                <a:spcPts val="1200"/>
              </a:spcAft>
            </a:pPr>
            <a:r>
              <a:rPr sz="2200">
                <a:solidFill>
                  <a:srgbClr val="1F2937"/>
                </a:solidFill>
                <a:latin typeface="Calibri"/>
              </a:rPr>
              <a:t>▸  Bu jarayon sinishdan 3–4 hafta o‘tgach boshlanadi va oylar davomida cho‘ziladi.</a:t>
            </a:r>
          </a:p>
          <a:p>
            <a:pPr>
              <a:spcAft>
                <a:spcPts val="1200"/>
              </a:spcAft>
            </a:pPr>
            <a:r>
              <a:rPr sz="2200">
                <a:solidFill>
                  <a:srgbClr val="1F2937"/>
                </a:solidFill>
                <a:latin typeface="Calibri"/>
              </a:rPr>
              <a:t>▸  Maqsad — suyakni sinishdan oldingi holatiga qaytarish, shu jumladan qon yaratuvchi va trabekulyar tuzilmalarni tiklash.</a:t>
            </a:r>
          </a:p>
          <a:p>
            <a:pPr>
              <a:spcAft>
                <a:spcPts val="1200"/>
              </a:spcAft>
            </a:pPr>
            <a:r>
              <a:rPr sz="2200">
                <a:solidFill>
                  <a:srgbClr val="1F2937"/>
                </a:solidFill>
                <a:latin typeface="Calibri"/>
              </a:rPr>
              <a:t>▸  Odam suyagida vaqt o‘tishi bilan Havers tizimi, ya’ni markaziy qon kanali va kanalchalar tarmog‘i qayta hosil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Bikle D va boshq., Fracture healing: cellular mechanisms and impact of parathyroid hormone and its analogs, betlar: PMID 41334438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Remodellanish hujayralari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Rezorbsiya va hosil bo‘lish sikllari bir-biriga bog‘liq; suyak mexanik yuklamaga moslashadi.</a:t>
            </a:r>
          </a:p>
          <a:p>
            <a:pPr>
              <a:spcAft>
                <a:spcPts val="800"/>
              </a:spcAft>
            </a:pPr>
            <a:r>
              <a:rPr sz="1800">
                <a:solidFill>
                  <a:srgbClr val="1F2937"/>
                </a:solidFill>
                <a:latin typeface="Calibri"/>
              </a:rPr>
              <a:t>▸  Osteoklastlar — gematopoetik kelib chiqishli yirik ko‘p yadroli hujayralar.</a:t>
            </a:r>
          </a:p>
          <a:p>
            <a:pPr>
              <a:spcAft>
                <a:spcPts val="800"/>
              </a:spcAft>
            </a:pPr>
            <a:r>
              <a:rPr sz="1800">
                <a:solidFill>
                  <a:srgbClr val="1F2937"/>
                </a:solidFill>
                <a:latin typeface="Calibri"/>
              </a:rPr>
              <a:t>▸  Osteotsitlar kanalchalar orqali zo‘riqish va mikrozararni sezib, boshqa hujayralar ishini yo‘naltiradi.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77115"/>
                <a:gridCol w="3710859"/>
              </a:tblGrid>
              <a:tr h="411480">
                <a:tc>
                  <a:txBody>
                    <a:bodyPr/>
                    <a:lstStyle/>
                    <a:p>
                      <a:r>
                        <a:rPr sz="1400" b="1">
                          <a:solidFill>
                            <a:srgbClr val="FFFFFF"/>
                          </a:solidFill>
                        </a:rPr>
                        <a:t>Hujayra</a:t>
                      </a:r>
                    </a:p>
                  </a:txBody>
                  <a:tcPr marL="73152" marR="73152" marT="36576" marB="36576">
                    <a:solidFill>
                      <a:srgbClr val="0B1F3A"/>
                    </a:solidFill>
                  </a:tcPr>
                </a:tc>
                <a:tc>
                  <a:txBody>
                    <a:bodyPr/>
                    <a:lstStyle/>
                    <a:p>
                      <a:r>
                        <a:rPr sz="1400" b="1">
                          <a:solidFill>
                            <a:srgbClr val="FFFFFF"/>
                          </a:solidFill>
                        </a:rPr>
                        <a:t>Vazifasi</a:t>
                      </a:r>
                    </a:p>
                  </a:txBody>
                  <a:tcPr marL="73152" marR="73152" marT="36576" marB="36576">
                    <a:solidFill>
                      <a:srgbClr val="0B1F3A"/>
                    </a:solidFill>
                  </a:tcPr>
                </a:tc>
              </a:tr>
              <a:tr h="411480">
                <a:tc>
                  <a:txBody>
                    <a:bodyPr/>
                    <a:lstStyle/>
                    <a:p>
                      <a:r>
                        <a:rPr sz="1300" b="0">
                          <a:solidFill>
                            <a:srgbClr val="1F2937"/>
                          </a:solidFill>
                        </a:rPr>
                        <a:t>Osteoklast</a:t>
                      </a:r>
                    </a:p>
                  </a:txBody>
                  <a:tcPr marL="73152" marR="73152" marT="36576" marB="36576">
                    <a:solidFill>
                      <a:srgbClr val="E8EEF6"/>
                    </a:solidFill>
                  </a:tcPr>
                </a:tc>
                <a:tc>
                  <a:txBody>
                    <a:bodyPr/>
                    <a:lstStyle/>
                    <a:p>
                      <a:r>
                        <a:rPr sz="1300" b="0">
                          <a:solidFill>
                            <a:srgbClr val="1F2937"/>
                          </a:solidFill>
                        </a:rPr>
                        <a:t>Mineral va organik matritsani rezorbsiya qiladi</a:t>
                      </a:r>
                    </a:p>
                  </a:txBody>
                  <a:tcPr marL="73152" marR="73152" marT="36576" marB="36576">
                    <a:solidFill>
                      <a:srgbClr val="E8EEF6"/>
                    </a:solidFill>
                  </a:tcPr>
                </a:tc>
              </a:tr>
              <a:tr h="411480">
                <a:tc>
                  <a:txBody>
                    <a:bodyPr/>
                    <a:lstStyle/>
                    <a:p>
                      <a:r>
                        <a:rPr sz="1300" b="0">
                          <a:solidFill>
                            <a:srgbClr val="1F2937"/>
                          </a:solidFill>
                        </a:rPr>
                        <a:t>Osteoblast</a:t>
                      </a:r>
                    </a:p>
                  </a:txBody>
                  <a:tcPr marL="73152" marR="73152" marT="36576" marB="36576">
                    <a:solidFill>
                      <a:srgbClr val="FFFFFF"/>
                    </a:solidFill>
                  </a:tcPr>
                </a:tc>
                <a:tc>
                  <a:txBody>
                    <a:bodyPr/>
                    <a:lstStyle/>
                    <a:p>
                      <a:r>
                        <a:rPr sz="1300" b="0">
                          <a:solidFill>
                            <a:srgbClr val="1F2937"/>
                          </a:solidFill>
                        </a:rPr>
                        <a:t>Osteoid ajratadi va uni mineralizatsiya qiladi</a:t>
                      </a:r>
                    </a:p>
                  </a:txBody>
                  <a:tcPr marL="73152" marR="73152" marT="36576" marB="36576">
                    <a:solidFill>
                      <a:srgbClr val="FFFFFF"/>
                    </a:solidFill>
                  </a:tcPr>
                </a:tc>
              </a:tr>
              <a:tr h="411480">
                <a:tc>
                  <a:txBody>
                    <a:bodyPr/>
                    <a:lstStyle/>
                    <a:p>
                      <a:r>
                        <a:rPr sz="1300" b="0">
                          <a:solidFill>
                            <a:srgbClr val="1F2937"/>
                          </a:solidFill>
                        </a:rPr>
                        <a:t>Osteotsit</a:t>
                      </a:r>
                    </a:p>
                  </a:txBody>
                  <a:tcPr marL="73152" marR="73152" marT="36576" marB="36576">
                    <a:solidFill>
                      <a:srgbClr val="E8EEF6"/>
                    </a:solidFill>
                  </a:tcPr>
                </a:tc>
                <a:tc>
                  <a:txBody>
                    <a:bodyPr/>
                    <a:lstStyle/>
                    <a:p>
                      <a:r>
                        <a:rPr sz="1300" b="0">
                          <a:solidFill>
                            <a:srgbClr val="1F2937"/>
                          </a:solidFill>
                        </a:rPr>
                        <a:t>Mexanosensor: zo‘riqishni sezadi</a:t>
                      </a:r>
                    </a:p>
                  </a:txBody>
                  <a:tcPr marL="73152" marR="73152" marT="36576" marB="36576">
                    <a:solidFill>
                      <a:srgbClr val="E8EEF6"/>
                    </a:solidFill>
                  </a:tcPr>
                </a:tc>
              </a:tr>
              <a:tr h="411480">
                <a:tc>
                  <a:txBody>
                    <a:bodyPr/>
                    <a:lstStyle/>
                    <a:p>
                      <a:r>
                        <a:rPr sz="1300" b="0">
                          <a:solidFill>
                            <a:srgbClr val="1F2937"/>
                          </a:solidFill>
                        </a:rPr>
                        <a:t>Qoplovchi hujayra</a:t>
                      </a:r>
                    </a:p>
                  </a:txBody>
                  <a:tcPr marL="73152" marR="73152" marT="36576" marB="36576">
                    <a:solidFill>
                      <a:srgbClr val="FFFFFF"/>
                    </a:solidFill>
                  </a:tcPr>
                </a:tc>
                <a:tc>
                  <a:txBody>
                    <a:bodyPr/>
                    <a:lstStyle/>
                    <a:p>
                      <a:r>
                        <a:rPr sz="1300" b="0">
                          <a:solidFill>
                            <a:srgbClr val="1F2937"/>
                          </a:solidFill>
                        </a:rPr>
                        <a:t>Nofaol yuzani qoplaydi, yangi suyak boshlanishiga yordam beradi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Remodellanish hujayralari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RANKL/OPG o‘qi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RANKL ni osteoblastlar, osteotsitlar, stromal va T hujayralar ishlab chiqaradi. U osteoklast prekursorlaridagi RANK ga bog‘lanib osteoklastogenezni qo‘zg‘atadi.</a:t>
            </a:r>
          </a:p>
          <a:p>
            <a:pPr>
              <a:spcAft>
                <a:spcPts val="1200"/>
              </a:spcAft>
            </a:pPr>
            <a:r>
              <a:rPr sz="2200">
                <a:solidFill>
                  <a:srgbClr val="1F2937"/>
                </a:solidFill>
                <a:latin typeface="Calibri"/>
              </a:rPr>
              <a:t>▸  OPG — tuzoq (decoy) retseptor: RANKL ni tutib qoladi va osteoklast hosil bo‘lishini cheklaydi.</a:t>
            </a:r>
          </a:p>
          <a:p>
            <a:pPr>
              <a:spcAft>
                <a:spcPts val="1200"/>
              </a:spcAft>
            </a:pPr>
            <a:r>
              <a:rPr sz="2200">
                <a:solidFill>
                  <a:srgbClr val="1F2937"/>
                </a:solidFill>
                <a:latin typeface="Calibri"/>
              </a:rPr>
              <a:t>▸  RANKL/OPG nisbati almashinuvning sof yo‘nalishini belgilaydi. Unga Wnt/β-katenin, estrogen holati va yallig‘lanish sitokinlari ta’sir qiladi.</a:t>
            </a:r>
          </a:p>
          <a:p>
            <a:pPr>
              <a:spcAft>
                <a:spcPts val="1200"/>
              </a:spcAft>
            </a:pPr>
            <a:r>
              <a:rPr sz="2200">
                <a:solidFill>
                  <a:srgbClr val="1F2937"/>
                </a:solidFill>
                <a:latin typeface="Calibri"/>
              </a:rPr>
              <a:t>▸  Diqqat: RANKL ≠ OPG. RANKL rezorbsiyani kuchaytiradi, OPG esa uni cheklaydi; muhimi ikkalasining nisbati.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remodellanish va dori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sinish kallusi remodellanish bosqichida. Shifokor osteoklastni bostiradigan standart dorini tanlamoqchi.</a:t>
            </a:r>
          </a:p>
          <a:p>
            <a:pPr>
              <a:spcAft>
                <a:spcPts val="1200"/>
              </a:spcAft>
            </a:pPr>
            <a:r>
              <a:rPr sz="2200">
                <a:solidFill>
                  <a:srgbClr val="1F2937"/>
                </a:solidFill>
                <a:latin typeface="Calibri"/>
              </a:rPr>
              <a:t>▸  Remodellanishda osteoklast eski to‘qimani yemiradi, osteoblast esa yangi plastinkasimon suyak hosil qiladi. Bu ikki jarayon bir-biriga bog‘liq.</a:t>
            </a:r>
          </a:p>
          <a:p>
            <a:pPr>
              <a:spcAft>
                <a:spcPts val="1200"/>
              </a:spcAft>
            </a:pPr>
            <a:r>
              <a:rPr sz="2200">
                <a:solidFill>
                  <a:srgbClr val="1F2937"/>
                </a:solidFill>
                <a:latin typeface="Calibri"/>
              </a:rPr>
              <a:t>▸  Hayvon tadqiqotlarida PTH (paratireoid gormon) alendronat kabi antirezorbtivlardan ustun chiqdi. Klinik natijalar esa bir xil emas.</a:t>
            </a:r>
          </a:p>
          <a:p>
            <a:pPr>
              <a:spcAft>
                <a:spcPts val="1200"/>
              </a:spcAft>
            </a:pPr>
            <a:r>
              <a:rPr sz="2200">
                <a:solidFill>
                  <a:srgbClr val="1F2937"/>
                </a:solidFill>
                <a:latin typeface="Calibri"/>
              </a:rPr>
              <a:t>▸  Savol: osteoklastni bostirish nega kallusning pishgan suyakka aylanishiga xalaqit berishi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Bikle D va boshq., Fracture healing: cellular mechanisms and impact of parathyroid hormone and its analogs, betlar: PMID 41334438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Skelet o‘zak/progenitor hujayralari manbalari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Periost o‘zak hujayralari uzun suyak tiklanishida asosiy manba hisoblanadi.</a:t>
            </a:r>
          </a:p>
          <a:p>
            <a:pPr>
              <a:spcAft>
                <a:spcPts val="800"/>
              </a:spcAft>
            </a:pPr>
            <a:r>
              <a:rPr sz="1800">
                <a:solidFill>
                  <a:srgbClr val="1F2937"/>
                </a:solidFill>
                <a:latin typeface="Calibri"/>
              </a:rPr>
              <a:t>▸  Katta yoshlilarda ilikdagi LepR+ hujayralar osteoblastlarning asosiy manbalaridan biri.</a:t>
            </a:r>
          </a:p>
          <a:p>
            <a:pPr>
              <a:spcAft>
                <a:spcPts val="800"/>
              </a:spcAft>
            </a:pPr>
            <a:r>
              <a:rPr sz="1800">
                <a:solidFill>
                  <a:srgbClr val="1F2937"/>
                </a:solidFill>
                <a:latin typeface="Calibri"/>
              </a:rPr>
              <a:t>▸  Mushak ham hissa qo‘shadi, ammo Pax7 yo‘ldosh hujayralar ahamiyatsiz ko‘rinadi.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321993"/>
                <a:gridCol w="1321993"/>
                <a:gridCol w="2643987"/>
              </a:tblGrid>
              <a:tr h="411480">
                <a:tc>
                  <a:txBody>
                    <a:bodyPr/>
                    <a:lstStyle/>
                    <a:p>
                      <a:r>
                        <a:rPr sz="1300" b="1">
                          <a:solidFill>
                            <a:srgbClr val="FFFFFF"/>
                          </a:solidFill>
                        </a:rPr>
                        <a:t>Manba</a:t>
                      </a:r>
                    </a:p>
                  </a:txBody>
                  <a:tcPr marL="73152" marR="73152" marT="36576" marB="36576">
                    <a:solidFill>
                      <a:srgbClr val="0B1F3A"/>
                    </a:solidFill>
                  </a:tcPr>
                </a:tc>
                <a:tc>
                  <a:txBody>
                    <a:bodyPr/>
                    <a:lstStyle/>
                    <a:p>
                      <a:r>
                        <a:rPr sz="1300" b="1">
                          <a:solidFill>
                            <a:srgbClr val="FFFFFF"/>
                          </a:solidFill>
                        </a:rPr>
                        <a:t>Roli</a:t>
                      </a:r>
                    </a:p>
                  </a:txBody>
                  <a:tcPr marL="73152" marR="73152" marT="36576" marB="36576">
                    <a:solidFill>
                      <a:srgbClr val="0B1F3A"/>
                    </a:solidFill>
                  </a:tcPr>
                </a:tc>
                <a:tc>
                  <a:txBody>
                    <a:bodyPr/>
                    <a:lstStyle/>
                    <a:p>
                      <a:r>
                        <a:rPr sz="1300" b="1">
                          <a:solidFill>
                            <a:srgbClr val="FFFFFF"/>
                          </a:solidFill>
                        </a:rPr>
                        <a:t>Muhim jihat</a:t>
                      </a:r>
                    </a:p>
                  </a:txBody>
                  <a:tcPr marL="73152" marR="73152" marT="36576" marB="36576">
                    <a:solidFill>
                      <a:srgbClr val="0B1F3A"/>
                    </a:solidFill>
                  </a:tcPr>
                </a:tc>
              </a:tr>
              <a:tr h="411480">
                <a:tc>
                  <a:txBody>
                    <a:bodyPr/>
                    <a:lstStyle/>
                    <a:p>
                      <a:r>
                        <a:rPr sz="1200" b="0">
                          <a:solidFill>
                            <a:srgbClr val="1F2937"/>
                          </a:solidFill>
                        </a:rPr>
                        <a:t>Periost</a:t>
                      </a:r>
                    </a:p>
                  </a:txBody>
                  <a:tcPr marL="73152" marR="73152" marT="36576" marB="36576">
                    <a:solidFill>
                      <a:srgbClr val="E8EEF6"/>
                    </a:solidFill>
                  </a:tcPr>
                </a:tc>
                <a:tc>
                  <a:txBody>
                    <a:bodyPr/>
                    <a:lstStyle/>
                    <a:p>
                      <a:r>
                        <a:rPr sz="1200" b="0">
                          <a:solidFill>
                            <a:srgbClr val="1F2937"/>
                          </a:solidFill>
                        </a:rPr>
                        <a:t>Asosiy manba</a:t>
                      </a:r>
                    </a:p>
                  </a:txBody>
                  <a:tcPr marL="73152" marR="73152" marT="36576" marB="36576">
                    <a:solidFill>
                      <a:srgbClr val="E8EEF6"/>
                    </a:solidFill>
                  </a:tcPr>
                </a:tc>
                <a:tc>
                  <a:txBody>
                    <a:bodyPr/>
                    <a:lstStyle/>
                    <a:p>
                      <a:r>
                        <a:rPr sz="1200" b="0">
                          <a:solidFill>
                            <a:srgbClr val="1F2937"/>
                          </a:solidFill>
                        </a:rPr>
                        <a:t>Ichki kambiy qavatida joylashgan</a:t>
                      </a:r>
                    </a:p>
                  </a:txBody>
                  <a:tcPr marL="73152" marR="73152" marT="36576" marB="36576">
                    <a:solidFill>
                      <a:srgbClr val="E8EEF6"/>
                    </a:solidFill>
                  </a:tcPr>
                </a:tc>
              </a:tr>
              <a:tr h="411480">
                <a:tc>
                  <a:txBody>
                    <a:bodyPr/>
                    <a:lstStyle/>
                    <a:p>
                      <a:r>
                        <a:rPr sz="1200" b="0">
                          <a:solidFill>
                            <a:srgbClr val="1F2937"/>
                          </a:solidFill>
                        </a:rPr>
                        <a:t>Suyak iligi</a:t>
                      </a:r>
                    </a:p>
                  </a:txBody>
                  <a:tcPr marL="73152" marR="73152" marT="36576" marB="36576">
                    <a:solidFill>
                      <a:srgbClr val="FFFFFF"/>
                    </a:solidFill>
                  </a:tcPr>
                </a:tc>
                <a:tc>
                  <a:txBody>
                    <a:bodyPr/>
                    <a:lstStyle/>
                    <a:p>
                      <a:r>
                        <a:rPr sz="1200" b="0">
                          <a:solidFill>
                            <a:srgbClr val="1F2937"/>
                          </a:solidFill>
                        </a:rPr>
                        <a:t>LepR+ hujayralar</a:t>
                      </a:r>
                    </a:p>
                  </a:txBody>
                  <a:tcPr marL="73152" marR="73152" marT="36576" marB="36576">
                    <a:solidFill>
                      <a:srgbClr val="FFFFFF"/>
                    </a:solidFill>
                  </a:tcPr>
                </a:tc>
                <a:tc>
                  <a:txBody>
                    <a:bodyPr/>
                    <a:lstStyle/>
                    <a:p>
                      <a:r>
                        <a:rPr sz="1200" b="0">
                          <a:solidFill>
                            <a:srgbClr val="1F2937"/>
                          </a:solidFill>
                        </a:rPr>
                        <a:t>Perivaskulyar stromal hujayralar</a:t>
                      </a:r>
                    </a:p>
                  </a:txBody>
                  <a:tcPr marL="73152" marR="73152" marT="36576" marB="36576">
                    <a:solidFill>
                      <a:srgbClr val="FFFFFF"/>
                    </a:solidFill>
                  </a:tcPr>
                </a:tc>
              </a:tr>
              <a:tr h="411480">
                <a:tc>
                  <a:txBody>
                    <a:bodyPr/>
                    <a:lstStyle/>
                    <a:p>
                      <a:r>
                        <a:rPr sz="1200" b="0">
                          <a:solidFill>
                            <a:srgbClr val="1F2937"/>
                          </a:solidFill>
                        </a:rPr>
                        <a:t>Mushak</a:t>
                      </a:r>
                    </a:p>
                  </a:txBody>
                  <a:tcPr marL="73152" marR="73152" marT="36576" marB="36576">
                    <a:solidFill>
                      <a:srgbClr val="E8EEF6"/>
                    </a:solidFill>
                  </a:tcPr>
                </a:tc>
                <a:tc>
                  <a:txBody>
                    <a:bodyPr/>
                    <a:lstStyle/>
                    <a:p>
                      <a:r>
                        <a:rPr sz="1200" b="0">
                          <a:solidFill>
                            <a:srgbClr val="1F2937"/>
                          </a:solidFill>
                        </a:rPr>
                        <a:t>Yordamchi manba</a:t>
                      </a:r>
                    </a:p>
                  </a:txBody>
                  <a:tcPr marL="73152" marR="73152" marT="36576" marB="36576">
                    <a:solidFill>
                      <a:srgbClr val="E8EEF6"/>
                    </a:solidFill>
                  </a:tcPr>
                </a:tc>
                <a:tc>
                  <a:txBody>
                    <a:bodyPr/>
                    <a:lstStyle/>
                    <a:p>
                      <a:r>
                        <a:rPr sz="1200" b="0">
                          <a:solidFill>
                            <a:srgbClr val="1F2937"/>
                          </a:solidFill>
                        </a:rPr>
                        <a:t>FAP hujayralari; Pax7 emas</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Hujayra manbalari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Bikle D va boshq., Fracture healing: cellular mechanisms and impact of parathyroid hormone and its analogs, betlar: PMID 41334438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Asosiy signal yo‘llari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Signallar fazaga xos: bir yo‘l erta va kech bosqichda turlicha ta’sir qiladi.</a:t>
            </a:r>
          </a:p>
          <a:p>
            <a:pPr>
              <a:spcAft>
                <a:spcPts val="800"/>
              </a:spcAft>
            </a:pPr>
            <a:r>
              <a:rPr sz="1800">
                <a:solidFill>
                  <a:srgbClr val="1F2937"/>
                </a:solidFill>
                <a:latin typeface="Calibri"/>
              </a:rPr>
              <a:t>▸  Natija miqdor bilan emas, vaqt, retseptor turi va hujayra bilan belgilanadi.</a:t>
            </a:r>
          </a:p>
          <a:p>
            <a:pPr>
              <a:spcAft>
                <a:spcPts val="800"/>
              </a:spcAft>
            </a:pPr>
            <a:r>
              <a:rPr sz="1800">
                <a:solidFill>
                  <a:srgbClr val="1F2937"/>
                </a:solidFill>
                <a:latin typeface="Calibri"/>
              </a:rPr>
              <a:t>▸  Wnt muddatidan oldin haddan ortiq faollashsa, xaftaga oraliq bosqichini bostirishi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271791"/>
                <a:gridCol w="1405664"/>
                <a:gridCol w="2610519"/>
              </a:tblGrid>
              <a:tr h="411480">
                <a:tc>
                  <a:txBody>
                    <a:bodyPr/>
                    <a:lstStyle/>
                    <a:p>
                      <a:r>
                        <a:rPr sz="1300" b="1">
                          <a:solidFill>
                            <a:srgbClr val="FFFFFF"/>
                          </a:solidFill>
                        </a:rPr>
                        <a:t>Yo‘l</a:t>
                      </a:r>
                    </a:p>
                  </a:txBody>
                  <a:tcPr marL="73152" marR="73152" marT="36576" marB="36576">
                    <a:solidFill>
                      <a:srgbClr val="0B1F3A"/>
                    </a:solidFill>
                  </a:tcPr>
                </a:tc>
                <a:tc>
                  <a:txBody>
                    <a:bodyPr/>
                    <a:lstStyle/>
                    <a:p>
                      <a:r>
                        <a:rPr sz="1300" b="1">
                          <a:solidFill>
                            <a:srgbClr val="FFFFFF"/>
                          </a:solidFill>
                        </a:rPr>
                        <a:t>Faza</a:t>
                      </a:r>
                    </a:p>
                  </a:txBody>
                  <a:tcPr marL="73152" marR="73152" marT="36576" marB="36576">
                    <a:solidFill>
                      <a:srgbClr val="0B1F3A"/>
                    </a:solidFill>
                  </a:tcPr>
                </a:tc>
                <a:tc>
                  <a:txBody>
                    <a:bodyPr/>
                    <a:lstStyle/>
                    <a:p>
                      <a:r>
                        <a:rPr sz="1300" b="1">
                          <a:solidFill>
                            <a:srgbClr val="FFFFFF"/>
                          </a:solidFill>
                        </a:rPr>
                        <a:t>Asosiy ta’sir</a:t>
                      </a:r>
                    </a:p>
                  </a:txBody>
                  <a:tcPr marL="73152" marR="73152" marT="36576" marB="36576">
                    <a:solidFill>
                      <a:srgbClr val="0B1F3A"/>
                    </a:solidFill>
                  </a:tcPr>
                </a:tc>
              </a:tr>
              <a:tr h="411480">
                <a:tc>
                  <a:txBody>
                    <a:bodyPr/>
                    <a:lstStyle/>
                    <a:p>
                      <a:r>
                        <a:rPr sz="1200" b="0">
                          <a:solidFill>
                            <a:srgbClr val="1F2937"/>
                          </a:solidFill>
                        </a:rPr>
                        <a:t>TNF, interleykinlar</a:t>
                      </a:r>
                    </a:p>
                  </a:txBody>
                  <a:tcPr marL="73152" marR="73152" marT="36576" marB="36576">
                    <a:solidFill>
                      <a:srgbClr val="E8EEF6"/>
                    </a:solidFill>
                  </a:tcPr>
                </a:tc>
                <a:tc>
                  <a:txBody>
                    <a:bodyPr/>
                    <a:lstStyle/>
                    <a:p>
                      <a:r>
                        <a:rPr sz="1200" b="0">
                          <a:solidFill>
                            <a:srgbClr val="1F2937"/>
                          </a:solidFill>
                        </a:rPr>
                        <a:t>Erta, keyin tiklanish</a:t>
                      </a:r>
                    </a:p>
                  </a:txBody>
                  <a:tcPr marL="73152" marR="73152" marT="36576" marB="36576">
                    <a:solidFill>
                      <a:srgbClr val="E8EEF6"/>
                    </a:solidFill>
                  </a:tcPr>
                </a:tc>
                <a:tc>
                  <a:txBody>
                    <a:bodyPr/>
                    <a:lstStyle/>
                    <a:p>
                      <a:r>
                        <a:rPr sz="1200" b="0">
                          <a:solidFill>
                            <a:srgbClr val="1F2937"/>
                          </a:solidFill>
                        </a:rPr>
                        <a:t>Yallig‘lanishdan tiklanishga o‘tish</a:t>
                      </a:r>
                    </a:p>
                  </a:txBody>
                  <a:tcPr marL="73152" marR="73152" marT="36576" marB="36576">
                    <a:solidFill>
                      <a:srgbClr val="E8EEF6"/>
                    </a:solidFill>
                  </a:tcPr>
                </a:tc>
              </a:tr>
              <a:tr h="411480">
                <a:tc>
                  <a:txBody>
                    <a:bodyPr/>
                    <a:lstStyle/>
                    <a:p>
                      <a:r>
                        <a:rPr sz="1200" b="0">
                          <a:solidFill>
                            <a:srgbClr val="1F2937"/>
                          </a:solidFill>
                        </a:rPr>
                        <a:t>SDF-1/CXCR4</a:t>
                      </a:r>
                    </a:p>
                  </a:txBody>
                  <a:tcPr marL="73152" marR="73152" marT="36576" marB="36576">
                    <a:solidFill>
                      <a:srgbClr val="FFFFFF"/>
                    </a:solidFill>
                  </a:tcPr>
                </a:tc>
                <a:tc>
                  <a:txBody>
                    <a:bodyPr/>
                    <a:lstStyle/>
                    <a:p>
                      <a:r>
                        <a:rPr sz="1200" b="0">
                          <a:solidFill>
                            <a:srgbClr val="1F2937"/>
                          </a:solidFill>
                        </a:rPr>
                        <a:t>Erta (gipoksiya)</a:t>
                      </a:r>
                    </a:p>
                  </a:txBody>
                  <a:tcPr marL="73152" marR="73152" marT="36576" marB="36576">
                    <a:solidFill>
                      <a:srgbClr val="FFFFFF"/>
                    </a:solidFill>
                  </a:tcPr>
                </a:tc>
                <a:tc>
                  <a:txBody>
                    <a:bodyPr/>
                    <a:lstStyle/>
                    <a:p>
                      <a:r>
                        <a:rPr sz="1200" b="0">
                          <a:solidFill>
                            <a:srgbClr val="1F2937"/>
                          </a:solidFill>
                        </a:rPr>
                        <a:t>Progenitorlarni sinish joyiga chaqirish</a:t>
                      </a:r>
                    </a:p>
                  </a:txBody>
                  <a:tcPr marL="73152" marR="73152" marT="36576" marB="36576">
                    <a:solidFill>
                      <a:srgbClr val="FFFFFF"/>
                    </a:solidFill>
                  </a:tcPr>
                </a:tc>
              </a:tr>
              <a:tr h="411480">
                <a:tc>
                  <a:txBody>
                    <a:bodyPr/>
                    <a:lstStyle/>
                    <a:p>
                      <a:r>
                        <a:rPr sz="1200" b="0">
                          <a:solidFill>
                            <a:srgbClr val="1F2937"/>
                          </a:solidFill>
                        </a:rPr>
                        <a:t>TGF-β/BMP, Wnt</a:t>
                      </a:r>
                    </a:p>
                  </a:txBody>
                  <a:tcPr marL="73152" marR="73152" marT="36576" marB="36576">
                    <a:solidFill>
                      <a:srgbClr val="E8EEF6"/>
                    </a:solidFill>
                  </a:tcPr>
                </a:tc>
                <a:tc>
                  <a:txBody>
                    <a:bodyPr/>
                    <a:lstStyle/>
                    <a:p>
                      <a:r>
                        <a:rPr sz="1200" b="0">
                          <a:solidFill>
                            <a:srgbClr val="1F2937"/>
                          </a:solidFill>
                        </a:rPr>
                        <a:t>O‘rta va kech</a:t>
                      </a:r>
                    </a:p>
                  </a:txBody>
                  <a:tcPr marL="73152" marR="73152" marT="36576" marB="36576">
                    <a:solidFill>
                      <a:srgbClr val="E8EEF6"/>
                    </a:solidFill>
                  </a:tcPr>
                </a:tc>
                <a:tc>
                  <a:txBody>
                    <a:bodyPr/>
                    <a:lstStyle/>
                    <a:p>
                      <a:r>
                        <a:rPr sz="1200" b="0">
                          <a:solidFill>
                            <a:srgbClr val="1F2937"/>
                          </a:solidFill>
                        </a:rPr>
                        <a:t>Hujayra yo‘nalishi, suyak pishishi</a:t>
                      </a:r>
                    </a:p>
                  </a:txBody>
                  <a:tcPr marL="73152" marR="73152" marT="36576" marB="36576">
                    <a:solidFill>
                      <a:srgbClr val="E8EEF6"/>
                    </a:solidFill>
                  </a:tcPr>
                </a:tc>
              </a:tr>
              <a:tr h="411480">
                <a:tc>
                  <a:txBody>
                    <a:bodyPr/>
                    <a:lstStyle/>
                    <a:p>
                      <a:r>
                        <a:rPr sz="1200" b="0">
                          <a:solidFill>
                            <a:srgbClr val="1F2937"/>
                          </a:solidFill>
                        </a:rPr>
                        <a:t>Hedgehog, Notch</a:t>
                      </a:r>
                    </a:p>
                  </a:txBody>
                  <a:tcPr marL="73152" marR="73152" marT="36576" marB="36576">
                    <a:solidFill>
                      <a:srgbClr val="FFFFFF"/>
                    </a:solidFill>
                  </a:tcPr>
                </a:tc>
                <a:tc>
                  <a:txBody>
                    <a:bodyPr/>
                    <a:lstStyle/>
                    <a:p>
                      <a:r>
                        <a:rPr sz="1200" b="0">
                          <a:solidFill>
                            <a:srgbClr val="1F2937"/>
                          </a:solidFill>
                        </a:rPr>
                        <a:t>Xaftaga–suyak o‘tishi</a:t>
                      </a:r>
                    </a:p>
                  </a:txBody>
                  <a:tcPr marL="73152" marR="73152" marT="36576" marB="36576">
                    <a:solidFill>
                      <a:srgbClr val="FFFFFF"/>
                    </a:solidFill>
                  </a:tcPr>
                </a:tc>
                <a:tc>
                  <a:txBody>
                    <a:bodyPr/>
                    <a:lstStyle/>
                    <a:p>
                      <a:r>
                        <a:rPr sz="1200" b="0">
                          <a:solidFill>
                            <a:srgbClr val="1F2937"/>
                          </a:solidFill>
                        </a:rPr>
                        <a:t>O‘tish sur’atini sozlash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Signal yo‘llari va faza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omillar va mexanotransduksiya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Boshqariladigan zo‘riqish kallus hosil bo‘lishi va yetilishini qo‘llab-quvvatlaydi.</a:t>
            </a:r>
          </a:p>
          <a:p>
            <a:pPr>
              <a:spcAft>
                <a:spcPts val="1200"/>
              </a:spcAft>
            </a:pPr>
            <a:r>
              <a:rPr sz="2200">
                <a:solidFill>
                  <a:srgbClr val="1F2937"/>
                </a:solidFill>
                <a:latin typeface="Calibri"/>
              </a:rPr>
              <a:t>▸  Barqarorsizlik, yukdan himoyalanish (stress shielding) yoki uzoq yuk bo‘lmasligi kallus tuzilishi va bitishini buzadi.</a:t>
            </a:r>
          </a:p>
          <a:p>
            <a:pPr>
              <a:spcAft>
                <a:spcPts val="1200"/>
              </a:spcAft>
            </a:pPr>
            <a:r>
              <a:rPr sz="2200">
                <a:solidFill>
                  <a:srgbClr val="1F2937"/>
                </a:solidFill>
                <a:latin typeface="Calibri"/>
              </a:rPr>
              <a:t>▸  Osteotsitlar mexanosensor: lakuno-kanalikulyar tarmoq orqali zo‘riqish va suyuqlik siljishini sezib, osteoblast va osteoklast faolligini yo‘naltiradi.</a:t>
            </a:r>
          </a:p>
          <a:p>
            <a:pPr>
              <a:spcAft>
                <a:spcPts val="1200"/>
              </a:spcAft>
            </a:pPr>
            <a:r>
              <a:rPr sz="2200">
                <a:solidFill>
                  <a:srgbClr val="1F2937"/>
                </a:solidFill>
                <a:latin typeface="Calibri"/>
              </a:rPr>
              <a:t>▸  Yuk bor joyda YAP/TAZ (mexanosezgir transkripsiya omillari) yadroga o‘tib osteogen genlarni yoqadi; yuk bo‘lmasa sitoplazmada qoladi.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DOI 10.1038/s41392-026-02967-z</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Bitishning buzilishi: klinik fenotiplar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Kechikkan bitish: taxminan 3–6 oydan keyin yetarli o‘sish yo‘q, biroq biologik faollik ko‘pincha bor.</a:t>
            </a:r>
          </a:p>
          <a:p>
            <a:pPr>
              <a:spcAft>
                <a:spcPts val="800"/>
              </a:spcAft>
            </a:pPr>
            <a:r>
              <a:rPr sz="1800">
                <a:solidFill>
                  <a:srgbClr val="1F2937"/>
                </a:solidFill>
                <a:latin typeface="Calibri"/>
              </a:rPr>
              <a:t>▸  Bitmaslik ~6–9 oyda tashxislanadi; AQSh dori nazorati (FDA) mezoni: ≥9 oy, 3 oy o‘sishsiz.</a:t>
            </a:r>
          </a:p>
          <a:p>
            <a:pPr>
              <a:spcAft>
                <a:spcPts val="800"/>
              </a:spcAft>
            </a:pPr>
            <a:r>
              <a:rPr sz="1800">
                <a:solidFill>
                  <a:srgbClr val="1F2937"/>
                </a:solidFill>
                <a:latin typeface="Calibri"/>
              </a:rPr>
              <a:t>▸  Uzoq davom etsa yolg‘on bo‘g‘im (pseudarthrosis) hosil bo‘ladi: harakatchan tolali qatlam.</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092081"/>
                <a:gridCol w="1896773"/>
                <a:gridCol w="2299119"/>
              </a:tblGrid>
              <a:tr h="411480">
                <a:tc>
                  <a:txBody>
                    <a:bodyPr/>
                    <a:lstStyle/>
                    <a:p>
                      <a:r>
                        <a:rPr sz="1300" b="1">
                          <a:solidFill>
                            <a:srgbClr val="FFFFFF"/>
                          </a:solidFill>
                        </a:rPr>
                        <a:t>Turi</a:t>
                      </a:r>
                    </a:p>
                  </a:txBody>
                  <a:tcPr marL="73152" marR="73152" marT="36576" marB="36576">
                    <a:solidFill>
                      <a:srgbClr val="0B1F3A"/>
                    </a:solidFill>
                  </a:tcPr>
                </a:tc>
                <a:tc>
                  <a:txBody>
                    <a:bodyPr/>
                    <a:lstStyle/>
                    <a:p>
                      <a:r>
                        <a:rPr sz="1300" b="1">
                          <a:solidFill>
                            <a:srgbClr val="FFFFFF"/>
                          </a:solidFill>
                        </a:rPr>
                        <a:t>Kallus</a:t>
                      </a:r>
                    </a:p>
                  </a:txBody>
                  <a:tcPr marL="73152" marR="73152" marT="36576" marB="36576">
                    <a:solidFill>
                      <a:srgbClr val="0B1F3A"/>
                    </a:solidFill>
                  </a:tcPr>
                </a:tc>
                <a:tc>
                  <a:txBody>
                    <a:bodyPr/>
                    <a:lstStyle/>
                    <a:p>
                      <a:r>
                        <a:rPr sz="1300" b="1">
                          <a:solidFill>
                            <a:srgbClr val="FFFFFF"/>
                          </a:solidFill>
                        </a:rPr>
                        <a:t>Ma’nosi</a:t>
                      </a:r>
                    </a:p>
                  </a:txBody>
                  <a:tcPr marL="73152" marR="73152" marT="36576" marB="36576">
                    <a:solidFill>
                      <a:srgbClr val="0B1F3A"/>
                    </a:solidFill>
                  </a:tcPr>
                </a:tc>
              </a:tr>
              <a:tr h="411480">
                <a:tc>
                  <a:txBody>
                    <a:bodyPr/>
                    <a:lstStyle/>
                    <a:p>
                      <a:r>
                        <a:rPr sz="1200" b="0">
                          <a:solidFill>
                            <a:srgbClr val="1F2937"/>
                          </a:solidFill>
                        </a:rPr>
                        <a:t>Gipertrofik</a:t>
                      </a:r>
                    </a:p>
                  </a:txBody>
                  <a:tcPr marL="73152" marR="73152" marT="36576" marB="36576">
                    <a:solidFill>
                      <a:srgbClr val="E8EEF6"/>
                    </a:solidFill>
                  </a:tcPr>
                </a:tc>
                <a:tc>
                  <a:txBody>
                    <a:bodyPr/>
                    <a:lstStyle/>
                    <a:p>
                      <a:r>
                        <a:rPr sz="1200" b="0">
                          <a:solidFill>
                            <a:srgbClr val="1F2937"/>
                          </a:solidFill>
                        </a:rPr>
                        <a:t>Kallus ko‘p, ko‘prik yo‘q</a:t>
                      </a:r>
                    </a:p>
                  </a:txBody>
                  <a:tcPr marL="73152" marR="73152" marT="36576" marB="36576">
                    <a:solidFill>
                      <a:srgbClr val="E8EEF6"/>
                    </a:solidFill>
                  </a:tcPr>
                </a:tc>
                <a:tc>
                  <a:txBody>
                    <a:bodyPr/>
                    <a:lstStyle/>
                    <a:p>
                      <a:r>
                        <a:rPr sz="1200" b="0">
                          <a:solidFill>
                            <a:srgbClr val="1F2937"/>
                          </a:solidFill>
                        </a:rPr>
                        <a:t>Biologiya bor, barqarorlik yetishmaydi</a:t>
                      </a:r>
                    </a:p>
                  </a:txBody>
                  <a:tcPr marL="73152" marR="73152" marT="36576" marB="36576">
                    <a:solidFill>
                      <a:srgbClr val="E8EEF6"/>
                    </a:solidFill>
                  </a:tcPr>
                </a:tc>
              </a:tr>
              <a:tr h="411480">
                <a:tc>
                  <a:txBody>
                    <a:bodyPr/>
                    <a:lstStyle/>
                    <a:p>
                      <a:r>
                        <a:rPr sz="1200" b="0">
                          <a:solidFill>
                            <a:srgbClr val="1F2937"/>
                          </a:solidFill>
                        </a:rPr>
                        <a:t>Atrofik</a:t>
                      </a:r>
                    </a:p>
                  </a:txBody>
                  <a:tcPr marL="73152" marR="73152" marT="36576" marB="36576">
                    <a:solidFill>
                      <a:srgbClr val="FFFFFF"/>
                    </a:solidFill>
                  </a:tcPr>
                </a:tc>
                <a:tc>
                  <a:txBody>
                    <a:bodyPr/>
                    <a:lstStyle/>
                    <a:p>
                      <a:r>
                        <a:rPr sz="1200" b="0">
                          <a:solidFill>
                            <a:srgbClr val="1F2937"/>
                          </a:solidFill>
                        </a:rPr>
                        <a:t>Kallus juda kam</a:t>
                      </a:r>
                    </a:p>
                  </a:txBody>
                  <a:tcPr marL="73152" marR="73152" marT="36576" marB="36576">
                    <a:solidFill>
                      <a:srgbClr val="FFFFFF"/>
                    </a:solidFill>
                  </a:tcPr>
                </a:tc>
                <a:tc>
                  <a:txBody>
                    <a:bodyPr/>
                    <a:lstStyle/>
                    <a:p>
                      <a:r>
                        <a:rPr sz="1200" b="0">
                          <a:solidFill>
                            <a:srgbClr val="1F2937"/>
                          </a:solidFill>
                        </a:rPr>
                        <a:t>Qon tomir yoki hujayra faolligi buzilgan</a:t>
                      </a:r>
                    </a:p>
                  </a:txBody>
                  <a:tcPr marL="73152" marR="73152" marT="36576" marB="36576">
                    <a:solidFill>
                      <a:srgbClr val="FFFFFF"/>
                    </a:solidFill>
                  </a:tcPr>
                </a:tc>
              </a:tr>
              <a:tr h="411480">
                <a:tc>
                  <a:txBody>
                    <a:bodyPr/>
                    <a:lstStyle/>
                    <a:p>
                      <a:r>
                        <a:rPr sz="1200" b="0">
                          <a:solidFill>
                            <a:srgbClr val="1F2937"/>
                          </a:solidFill>
                        </a:rPr>
                        <a:t>Oligotrofik</a:t>
                      </a:r>
                    </a:p>
                  </a:txBody>
                  <a:tcPr marL="73152" marR="73152" marT="36576" marB="36576">
                    <a:solidFill>
                      <a:srgbClr val="E8EEF6"/>
                    </a:solidFill>
                  </a:tcPr>
                </a:tc>
                <a:tc>
                  <a:txBody>
                    <a:bodyPr/>
                    <a:lstStyle/>
                    <a:p>
                      <a:r>
                        <a:rPr sz="1200" b="0">
                          <a:solidFill>
                            <a:srgbClr val="1F2937"/>
                          </a:solidFill>
                        </a:rPr>
                        <a:t>Oraliq belgilar</a:t>
                      </a:r>
                    </a:p>
                  </a:txBody>
                  <a:tcPr marL="73152" marR="73152" marT="36576" marB="36576">
                    <a:solidFill>
                      <a:srgbClr val="E8EEF6"/>
                    </a:solidFill>
                  </a:tcPr>
                </a:tc>
                <a:tc>
                  <a:txBody>
                    <a:bodyPr/>
                    <a:lstStyle/>
                    <a:p>
                      <a:r>
                        <a:rPr sz="1200" b="0">
                          <a:solidFill>
                            <a:srgbClr val="1F2937"/>
                          </a:solidFill>
                        </a:rPr>
                        <a:t>Gipertrofik va atrofik o‘rtasida</a:t>
                      </a:r>
                    </a:p>
                  </a:txBody>
                  <a:tcPr marL="73152" marR="73152" marT="36576" marB="36576">
                    <a:solidFill>
                      <a:srgbClr val="E8EEF6"/>
                    </a:solidFill>
                  </a:tcPr>
                </a:tc>
              </a:tr>
              <a:tr h="411480">
                <a:tc>
                  <a:txBody>
                    <a:bodyPr/>
                    <a:lstStyle/>
                    <a:p>
                      <a:r>
                        <a:rPr sz="1200" b="0">
                          <a:solidFill>
                            <a:srgbClr val="1F2937"/>
                          </a:solidFill>
                        </a:rPr>
                        <a:t>Past sifatli bitish</a:t>
                      </a:r>
                    </a:p>
                  </a:txBody>
                  <a:tcPr marL="73152" marR="73152" marT="36576" marB="36576">
                    <a:solidFill>
                      <a:srgbClr val="FFFFFF"/>
                    </a:solidFill>
                  </a:tcPr>
                </a:tc>
                <a:tc>
                  <a:txBody>
                    <a:bodyPr/>
                    <a:lstStyle/>
                    <a:p>
                      <a:r>
                        <a:rPr sz="1200" b="0">
                          <a:solidFill>
                            <a:srgbClr val="1F2937"/>
                          </a:solidFill>
                        </a:rPr>
                        <a:t>Uzluksizlik bor, mustahkamlik kam</a:t>
                      </a:r>
                    </a:p>
                  </a:txBody>
                  <a:tcPr marL="73152" marR="73152" marT="36576" marB="36576">
                    <a:solidFill>
                      <a:srgbClr val="FFFFFF"/>
                    </a:solidFill>
                  </a:tcPr>
                </a:tc>
                <a:tc>
                  <a:txBody>
                    <a:bodyPr/>
                    <a:lstStyle/>
                    <a:p>
                      <a:r>
                        <a:rPr sz="1200" b="0">
                          <a:solidFill>
                            <a:srgbClr val="1F2937"/>
                          </a:solidFill>
                        </a:rPr>
                        <a:t>Oddiy rasmda bilinmasligi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Bitmaslik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DOI 10.1038/s41392-026-02967-z</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Bitishni buzuvchi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Omillar yallig‘lanish, qon tomir, hujayra jalb etilishi va qayta shakllanishning izchilligini buzadi.</a:t>
            </a:r>
          </a:p>
          <a:p>
            <a:pPr>
              <a:spcAft>
                <a:spcPts val="800"/>
              </a:spcAft>
            </a:pPr>
            <a:r>
              <a:rPr sz="1800">
                <a:solidFill>
                  <a:srgbClr val="1F2937"/>
                </a:solidFill>
                <a:latin typeface="Calibri"/>
              </a:rPr>
              <a:t>▸  Diqqat: NSAID (nosteroid yallig‘lanishga qarshi dori) ta’siri aralash; doza va muddatga bog‘liq.</a:t>
            </a:r>
          </a:p>
          <a:p>
            <a:pPr>
              <a:spcAft>
                <a:spcPts val="800"/>
              </a:spcAft>
            </a:pPr>
            <a:r>
              <a:rPr sz="1800">
                <a:solidFill>
                  <a:srgbClr val="1F2937"/>
                </a:solidFill>
                <a:latin typeface="Calibri"/>
              </a:rPr>
              <a:t>▸  Chekish va ochiq sinish xavfni oshiradi; kritik nuqsonda bitish mexanik uzluksizlikni tiklashga bog‘liq.</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00080"/>
                <a:gridCol w="2250202"/>
                <a:gridCol w="2137692"/>
              </a:tblGrid>
              <a:tr h="411480">
                <a:tc>
                  <a:txBody>
                    <a:bodyPr/>
                    <a:lstStyle/>
                    <a:p>
                      <a:r>
                        <a:rPr sz="1300" b="1">
                          <a:solidFill>
                            <a:srgbClr val="FFFFFF"/>
                          </a:solidFill>
                        </a:rPr>
                        <a:t>Omil</a:t>
                      </a:r>
                    </a:p>
                  </a:txBody>
                  <a:tcPr marL="73152" marR="73152" marT="36576" marB="36576">
                    <a:solidFill>
                      <a:srgbClr val="0B1F3A"/>
                    </a:solidFill>
                  </a:tcPr>
                </a:tc>
                <a:tc>
                  <a:txBody>
                    <a:bodyPr/>
                    <a:lstStyle/>
                    <a:p>
                      <a:r>
                        <a:rPr sz="1300" b="1">
                          <a:solidFill>
                            <a:srgbClr val="FFFFFF"/>
                          </a:solidFill>
                        </a:rPr>
                        <a:t>Mexanizm</a:t>
                      </a:r>
                    </a:p>
                  </a:txBody>
                  <a:tcPr marL="73152" marR="73152" marT="36576" marB="36576">
                    <a:solidFill>
                      <a:srgbClr val="0B1F3A"/>
                    </a:solidFill>
                  </a:tcPr>
                </a:tc>
                <a:tc>
                  <a:txBody>
                    <a:bodyPr/>
                    <a:lstStyle/>
                    <a:p>
                      <a:r>
                        <a:rPr sz="1300" b="1">
                          <a:solidFill>
                            <a:srgbClr val="FFFFFF"/>
                          </a:solidFill>
                        </a:rPr>
                        <a:t>Oqibat</a:t>
                      </a:r>
                    </a:p>
                  </a:txBody>
                  <a:tcPr marL="73152" marR="73152" marT="36576" marB="36576">
                    <a:solidFill>
                      <a:srgbClr val="0B1F3A"/>
                    </a:solidFill>
                  </a:tcPr>
                </a:tc>
              </a:tr>
              <a:tr h="411480">
                <a:tc>
                  <a:txBody>
                    <a:bodyPr/>
                    <a:lstStyle/>
                    <a:p>
                      <a:r>
                        <a:rPr sz="1200" b="0">
                          <a:solidFill>
                            <a:srgbClr val="1F2937"/>
                          </a:solidFill>
                        </a:rPr>
                        <a:t>Yosh</a:t>
                      </a:r>
                    </a:p>
                  </a:txBody>
                  <a:tcPr marL="73152" marR="73152" marT="36576" marB="36576">
                    <a:solidFill>
                      <a:srgbClr val="E8EEF6"/>
                    </a:solidFill>
                  </a:tcPr>
                </a:tc>
                <a:tc>
                  <a:txBody>
                    <a:bodyPr/>
                    <a:lstStyle/>
                    <a:p>
                      <a:r>
                        <a:rPr sz="1200" b="0">
                          <a:solidFill>
                            <a:srgbClr val="1F2937"/>
                          </a:solidFill>
                        </a:rPr>
                        <a:t>Hujayra va qon tomir javobi susayadi</a:t>
                      </a:r>
                    </a:p>
                  </a:txBody>
                  <a:tcPr marL="73152" marR="73152" marT="36576" marB="36576">
                    <a:solidFill>
                      <a:srgbClr val="E8EEF6"/>
                    </a:solidFill>
                  </a:tcPr>
                </a:tc>
                <a:tc>
                  <a:txBody>
                    <a:bodyPr/>
                    <a:lstStyle/>
                    <a:p>
                      <a:r>
                        <a:rPr sz="1200" b="0">
                          <a:solidFill>
                            <a:srgbClr val="1F2937"/>
                          </a:solidFill>
                        </a:rPr>
                        <a:t>Kechikkan bitish xavfi</a:t>
                      </a:r>
                    </a:p>
                  </a:txBody>
                  <a:tcPr marL="73152" marR="73152" marT="36576" marB="36576">
                    <a:solidFill>
                      <a:srgbClr val="E8EEF6"/>
                    </a:solidFill>
                  </a:tcPr>
                </a:tc>
              </a:tr>
              <a:tr h="411480">
                <a:tc>
                  <a:txBody>
                    <a:bodyPr/>
                    <a:lstStyle/>
                    <a:p>
                      <a:r>
                        <a:rPr sz="1200" b="0">
                          <a:solidFill>
                            <a:srgbClr val="1F2937"/>
                          </a:solidFill>
                        </a:rPr>
                        <a:t>Diabet</a:t>
                      </a:r>
                    </a:p>
                  </a:txBody>
                  <a:tcPr marL="73152" marR="73152" marT="36576" marB="36576">
                    <a:solidFill>
                      <a:srgbClr val="FFFFFF"/>
                    </a:solidFill>
                  </a:tcPr>
                </a:tc>
                <a:tc>
                  <a:txBody>
                    <a:bodyPr/>
                    <a:lstStyle/>
                    <a:p>
                      <a:r>
                        <a:rPr sz="1200" b="0">
                          <a:solidFill>
                            <a:srgbClr val="1F2937"/>
                          </a:solidFill>
                        </a:rPr>
                        <a:t>Mikrotomir buzilishi, qon tomir omili kam</a:t>
                      </a:r>
                    </a:p>
                  </a:txBody>
                  <a:tcPr marL="73152" marR="73152" marT="36576" marB="36576">
                    <a:solidFill>
                      <a:srgbClr val="FFFFFF"/>
                    </a:solidFill>
                  </a:tcPr>
                </a:tc>
                <a:tc>
                  <a:txBody>
                    <a:bodyPr/>
                    <a:lstStyle/>
                    <a:p>
                      <a:r>
                        <a:rPr sz="1200" b="0">
                          <a:solidFill>
                            <a:srgbClr val="1F2937"/>
                          </a:solidFill>
                        </a:rPr>
                        <a:t>Kallus kichik, kam mineralli</a:t>
                      </a:r>
                    </a:p>
                  </a:txBody>
                  <a:tcPr marL="73152" marR="73152" marT="36576" marB="36576">
                    <a:solidFill>
                      <a:srgbClr val="FFFFFF"/>
                    </a:solidFill>
                  </a:tcPr>
                </a:tc>
              </a:tr>
              <a:tr h="411480">
                <a:tc>
                  <a:txBody>
                    <a:bodyPr/>
                    <a:lstStyle/>
                    <a:p>
                      <a:r>
                        <a:rPr sz="1200" b="0">
                          <a:solidFill>
                            <a:srgbClr val="1F2937"/>
                          </a:solidFill>
                        </a:rPr>
                        <a:t>Infeksiya</a:t>
                      </a:r>
                    </a:p>
                  </a:txBody>
                  <a:tcPr marL="73152" marR="73152" marT="36576" marB="36576">
                    <a:solidFill>
                      <a:srgbClr val="E8EEF6"/>
                    </a:solidFill>
                  </a:tcPr>
                </a:tc>
                <a:tc>
                  <a:txBody>
                    <a:bodyPr/>
                    <a:lstStyle/>
                    <a:p>
                      <a:r>
                        <a:rPr sz="1200" b="0">
                          <a:solidFill>
                            <a:srgbClr val="1F2937"/>
                          </a:solidFill>
                        </a:rPr>
                        <a:t>Doimiy yallig‘lanish, tomir kirishi buziladi</a:t>
                      </a:r>
                    </a:p>
                  </a:txBody>
                  <a:tcPr marL="73152" marR="73152" marT="36576" marB="36576">
                    <a:solidFill>
                      <a:srgbClr val="E8EEF6"/>
                    </a:solidFill>
                  </a:tcPr>
                </a:tc>
                <a:tc>
                  <a:txBody>
                    <a:bodyPr/>
                    <a:lstStyle/>
                    <a:p>
                      <a:r>
                        <a:rPr sz="1200" b="0">
                          <a:solidFill>
                            <a:srgbClr val="1F2937"/>
                          </a:solidFill>
                        </a:rPr>
                        <a:t>Bitmaslik, infeksiyali sinish</a:t>
                      </a:r>
                    </a:p>
                  </a:txBody>
                  <a:tcPr marL="73152" marR="73152" marT="36576" marB="36576">
                    <a:solidFill>
                      <a:srgbClr val="E8EEF6"/>
                    </a:solidFill>
                  </a:tcPr>
                </a:tc>
              </a:tr>
              <a:tr h="411480">
                <a:tc>
                  <a:txBody>
                    <a:bodyPr/>
                    <a:lstStyle/>
                    <a:p>
                      <a:r>
                        <a:rPr sz="1200" b="0">
                          <a:solidFill>
                            <a:srgbClr val="1F2937"/>
                          </a:solidFill>
                        </a:rPr>
                        <a:t>Barqarorsizlik</a:t>
                      </a:r>
                    </a:p>
                  </a:txBody>
                  <a:tcPr marL="73152" marR="73152" marT="36576" marB="36576">
                    <a:solidFill>
                      <a:srgbClr val="FFFFFF"/>
                    </a:solidFill>
                  </a:tcPr>
                </a:tc>
                <a:tc>
                  <a:txBody>
                    <a:bodyPr/>
                    <a:lstStyle/>
                    <a:p>
                      <a:r>
                        <a:rPr sz="1200" b="0">
                          <a:solidFill>
                            <a:srgbClr val="1F2937"/>
                          </a:solidFill>
                        </a:rPr>
                        <a:t>Haddan ortiq harakat, siljish zo‘riqishi</a:t>
                      </a:r>
                    </a:p>
                  </a:txBody>
                  <a:tcPr marL="73152" marR="73152" marT="36576" marB="36576">
                    <a:solidFill>
                      <a:srgbClr val="FFFFFF"/>
                    </a:solidFill>
                  </a:tcPr>
                </a:tc>
                <a:tc>
                  <a:txBody>
                    <a:bodyPr/>
                    <a:lstStyle/>
                    <a:p>
                      <a:r>
                        <a:rPr sz="1200" b="0">
                          <a:solidFill>
                            <a:srgbClr val="1F2937"/>
                          </a:solidFill>
                        </a:rPr>
                        <a:t>Gipertrofik bitmaslik, yolg‘on bo‘g‘im</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Asosiy omillar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DOI 10.1038/s41392-026-02967-z</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radiografik bitish ≠ to‘liq mexanik tiklanish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Mexanik jihatdan past bitish mumkin: suyak uzluksizligi tiklangan, lekin yangi qism zaif. Mineral zichligi past, mikroarxitekturasi o‘zgargan yoki mustahkamligi kam bo‘ladi.</a:t>
            </a:r>
          </a:p>
          <a:p>
            <a:pPr>
              <a:spcAft>
                <a:spcPts val="1200"/>
              </a:spcAft>
            </a:pPr>
            <a:r>
              <a:rPr sz="2000">
                <a:solidFill>
                  <a:srgbClr val="1F2937"/>
                </a:solidFill>
                <a:latin typeface="Calibri"/>
              </a:rPr>
              <a:t>▸  Bunday nuqson oddiy rentgen tasvirda deyarli bilinmasligi mumkin. Uzoq muddatda u suyakning mexanik ishlashini yomonlashtirishi ehtimoli bor.</a:t>
            </a:r>
          </a:p>
          <a:p>
            <a:pPr>
              <a:spcAft>
                <a:spcPts val="1200"/>
              </a:spcAft>
            </a:pPr>
            <a:r>
              <a:rPr sz="2000">
                <a:solidFill>
                  <a:srgbClr val="1F2937"/>
                </a:solidFill>
                <a:latin typeface="Calibri"/>
              </a:rPr>
              <a:t>▸  Osteotsitlar zo‘riqish va mikrozararni sezadi. Shu sabab mexanik muhit va biologik bitish sifati bog‘liq; rentgenda bitish to‘liq mexanik tiklanishni anglatmaydi.</a:t>
            </a:r>
          </a:p>
          <a:p>
            <a:pPr>
              <a:spcAft>
                <a:spcPts val="1200"/>
              </a:spcAft>
            </a:pPr>
            <a:r>
              <a:rPr sz="2000">
                <a:solidFill>
                  <a:srgbClr val="1F2937"/>
                </a:solidFill>
                <a:latin typeface="Calibri"/>
              </a:rPr>
              <a:t>▸  Diqqat: xato qilish xavfi. Tez radiografik bitish ≠ yaxshi suyak sifati. Miya jarohatida kallus tez hosil bo‘lishi mumkin, lekin yakuniy suyak sifati optimal bo‘lmasligi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diabet va chekuvchi bemor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diabetli chekuvchi bemorda kallus kichik, kam mineralizatsiyalangan, qon tomirlari kam va remodellanish kechikkan.</a:t>
            </a:r>
          </a:p>
          <a:p>
            <a:pPr>
              <a:spcAft>
                <a:spcPts val="1200"/>
              </a:spcAft>
            </a:pPr>
            <a:r>
              <a:rPr sz="2200">
                <a:solidFill>
                  <a:srgbClr val="1F2937"/>
                </a:solidFill>
                <a:latin typeface="Calibri"/>
              </a:rPr>
              <a:t>▸  Diabetda ilg‘or glikatsiya mahsulotlari (AGE) retseptori faollashadi, oksidativ stress oshadi, qon tomir endotelial o‘sish omili (VEGF) kamayadi, mikrotomirlar zararlanadi.</a:t>
            </a:r>
          </a:p>
          <a:p>
            <a:pPr>
              <a:spcAft>
                <a:spcPts val="1200"/>
              </a:spcAft>
            </a:pPr>
            <a:r>
              <a:rPr sz="2200">
                <a:solidFill>
                  <a:srgbClr val="1F2937"/>
                </a:solidFill>
                <a:latin typeface="Calibri"/>
              </a:rPr>
              <a:t>▸  Chekish kallus perfuziyasini kamaytiradi, osteoangiogenez bog‘lanishini buzadi, kallusni kichraytiradi va mexanik mustahkamligini pasaytiradi.</a:t>
            </a:r>
          </a:p>
          <a:p>
            <a:pPr>
              <a:spcAft>
                <a:spcPts val="1200"/>
              </a:spcAft>
            </a:pPr>
            <a:r>
              <a:rPr sz="2200">
                <a:solidFill>
                  <a:srgbClr val="1F2937"/>
                </a:solidFill>
                <a:latin typeface="Calibri"/>
              </a:rPr>
              <a:t>▸  Savol: qaysi fazalar (2–4) va qaysi mexanizm (qon tomir kirishi, mineralizatsiya, remodellanish) buzilgan? Bitmaslik xavfi qanday?</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Flurina Staubli va boshq., Fracture healing: from molecular and cellular mechanisms to therapeutic strategies, betlar: PMID 42768017; Bikle D va boshq., Fracture healing: cellular mechanisms and impact of parathyroid hormone and its analogs, betlar: PMID 41334438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Davolash: PTH va abaloparatid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Teriparatid (PTH 1–34) va abaloparatid bitishni tezlashtirishi mumkin; retseptori bir xil.</a:t>
            </a:r>
          </a:p>
          <a:p>
            <a:pPr>
              <a:spcAft>
                <a:spcPts val="800"/>
              </a:spcAft>
            </a:pPr>
            <a:r>
              <a:rPr sz="1800">
                <a:solidFill>
                  <a:srgbClr val="1F2937"/>
                </a:solidFill>
                <a:latin typeface="Calibri"/>
              </a:rPr>
              <a:t>▸  Klinik natijalar bir xil emas: ba’zi sinovlarda bitish tezlashdi, ammo bitmaslik soni kamaymadi.</a:t>
            </a:r>
          </a:p>
          <a:p>
            <a:pPr>
              <a:spcAft>
                <a:spcPts val="800"/>
              </a:spcAft>
            </a:pPr>
            <a:r>
              <a:rPr sz="1800">
                <a:solidFill>
                  <a:srgbClr val="1F2937"/>
                </a:solidFill>
                <a:latin typeface="Calibri"/>
              </a:rPr>
              <a:t>▸  Anabolik ta’sir asosan cAMP/PKA yo‘li orqali; Ca²⁺/PKC yo‘li katabolik ta’sir bilan bog‘liq.</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Yo‘l</a:t>
                      </a:r>
                    </a:p>
                  </a:txBody>
                  <a:tcPr marL="73152" marR="73152" marT="36576" marB="36576">
                    <a:solidFill>
                      <a:srgbClr val="0B1F3A"/>
                    </a:solidFill>
                  </a:tcPr>
                </a:tc>
                <a:tc>
                  <a:txBody>
                    <a:bodyPr/>
                    <a:lstStyle/>
                    <a:p>
                      <a:r>
                        <a:rPr sz="1400" b="1">
                          <a:solidFill>
                            <a:srgbClr val="FFFFFF"/>
                          </a:solidFill>
                        </a:rPr>
                        <a:t>Roli</a:t>
                      </a:r>
                    </a:p>
                  </a:txBody>
                  <a:tcPr marL="73152" marR="73152" marT="36576" marB="36576">
                    <a:solidFill>
                      <a:srgbClr val="0B1F3A"/>
                    </a:solidFill>
                  </a:tcPr>
                </a:tc>
              </a:tr>
              <a:tr h="411480">
                <a:tc>
                  <a:txBody>
                    <a:bodyPr/>
                    <a:lstStyle/>
                    <a:p>
                      <a:r>
                        <a:rPr sz="1300" b="0">
                          <a:solidFill>
                            <a:srgbClr val="1F2937"/>
                          </a:solidFill>
                        </a:rPr>
                        <a:t>cAMP/PKA</a:t>
                      </a:r>
                    </a:p>
                  </a:txBody>
                  <a:tcPr marL="73152" marR="73152" marT="36576" marB="36576">
                    <a:solidFill>
                      <a:srgbClr val="E8EEF6"/>
                    </a:solidFill>
                  </a:tcPr>
                </a:tc>
                <a:tc>
                  <a:txBody>
                    <a:bodyPr/>
                    <a:lstStyle/>
                    <a:p>
                      <a:r>
                        <a:rPr sz="1300" b="0">
                          <a:solidFill>
                            <a:srgbClr val="1F2937"/>
                          </a:solidFill>
                        </a:rPr>
                        <a:t>Asosiy anabolik, osteogenez yo‘li</a:t>
                      </a:r>
                    </a:p>
                  </a:txBody>
                  <a:tcPr marL="73152" marR="73152" marT="36576" marB="36576">
                    <a:solidFill>
                      <a:srgbClr val="E8EEF6"/>
                    </a:solidFill>
                  </a:tcPr>
                </a:tc>
              </a:tr>
              <a:tr h="411480">
                <a:tc>
                  <a:txBody>
                    <a:bodyPr/>
                    <a:lstStyle/>
                    <a:p>
                      <a:r>
                        <a:rPr sz="1300" b="0">
                          <a:solidFill>
                            <a:srgbClr val="1F2937"/>
                          </a:solidFill>
                        </a:rPr>
                        <a:t>Wnt</a:t>
                      </a:r>
                    </a:p>
                  </a:txBody>
                  <a:tcPr marL="73152" marR="73152" marT="36576" marB="36576">
                    <a:solidFill>
                      <a:srgbClr val="FFFFFF"/>
                    </a:solidFill>
                  </a:tcPr>
                </a:tc>
                <a:tc>
                  <a:txBody>
                    <a:bodyPr/>
                    <a:lstStyle/>
                    <a:p>
                      <a:r>
                        <a:rPr sz="1300" b="0">
                          <a:solidFill>
                            <a:srgbClr val="1F2937"/>
                          </a:solidFill>
                        </a:rPr>
                        <a:t>Periost kamik hujayralarini ko‘paytiradi</a:t>
                      </a:r>
                    </a:p>
                  </a:txBody>
                  <a:tcPr marL="73152" marR="73152" marT="36576" marB="36576">
                    <a:solidFill>
                      <a:srgbClr val="FFFFFF"/>
                    </a:solidFill>
                  </a:tcPr>
                </a:tc>
              </a:tr>
              <a:tr h="411480">
                <a:tc>
                  <a:txBody>
                    <a:bodyPr/>
                    <a:lstStyle/>
                    <a:p>
                      <a:r>
                        <a:rPr sz="1300" b="0">
                          <a:solidFill>
                            <a:srgbClr val="1F2937"/>
                          </a:solidFill>
                        </a:rPr>
                        <a:t>IGF1</a:t>
                      </a:r>
                    </a:p>
                  </a:txBody>
                  <a:tcPr marL="73152" marR="73152" marT="36576" marB="36576">
                    <a:solidFill>
                      <a:srgbClr val="E8EEF6"/>
                    </a:solidFill>
                  </a:tcPr>
                </a:tc>
                <a:tc>
                  <a:txBody>
                    <a:bodyPr/>
                    <a:lstStyle/>
                    <a:p>
                      <a:r>
                        <a:rPr sz="1300" b="0">
                          <a:solidFill>
                            <a:srgbClr val="1F2937"/>
                          </a:solidFill>
                        </a:rPr>
                        <a:t>PTH anabolik ta’siri uchun zarur</a:t>
                      </a:r>
                    </a:p>
                  </a:txBody>
                  <a:tcPr marL="73152" marR="73152" marT="36576" marB="36576">
                    <a:solidFill>
                      <a:srgbClr val="E8EEF6"/>
                    </a:solidFill>
                  </a:tcPr>
                </a:tc>
              </a:tr>
              <a:tr h="411480">
                <a:tc>
                  <a:txBody>
                    <a:bodyPr/>
                    <a:lstStyle/>
                    <a:p>
                      <a:r>
                        <a:rPr sz="1300" b="0">
                          <a:solidFill>
                            <a:srgbClr val="1F2937"/>
                          </a:solidFill>
                        </a:rPr>
                        <a:t>EfnB2/EphB4</a:t>
                      </a:r>
                    </a:p>
                  </a:txBody>
                  <a:tcPr marL="73152" marR="73152" marT="36576" marB="36576">
                    <a:solidFill>
                      <a:srgbClr val="FFFFFF"/>
                    </a:solidFill>
                  </a:tcPr>
                </a:tc>
                <a:tc>
                  <a:txBody>
                    <a:bodyPr/>
                    <a:lstStyle/>
                    <a:p>
                      <a:r>
                        <a:rPr sz="1300" b="0">
                          <a:solidFill>
                            <a:srgbClr val="1F2937"/>
                          </a:solidFill>
                        </a:rPr>
                        <a:t>Hujayralararo aloqa va angiogenez</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PTH signal yo‘llari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Bikle D va boshq., Fracture healing: cellular mechanisms and impact of parathyroid hormone and its analogs, betlar: PMID 41334438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mustahkamlash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Tuzalish 4 bosqichda o‘tadi: gematoma va yallig‘lanish, yumshoq kallus, qattiq kallus, remodellanish. Dastlabki ikki bosqich taxminan 5 kundan, oxirgisi oylar-yillar davom etadi.</a:t>
            </a:r>
          </a:p>
          <a:p>
            <a:pPr>
              <a:spcAft>
                <a:spcPts val="1200"/>
              </a:spcAft>
            </a:pPr>
            <a:r>
              <a:rPr sz="2000">
                <a:solidFill>
                  <a:srgbClr val="1F2937"/>
                </a:solidFill>
                <a:latin typeface="Calibri"/>
              </a:rPr>
              <a:t>▸  Uzun suyakda yangi suyak 3 joyda hosil bo‘ladi: periost bo‘ylab (intramembranoz), sinish uchlari orasida (endoxondral) va ilik ichida (intramedullyar).</a:t>
            </a:r>
          </a:p>
          <a:p>
            <a:pPr>
              <a:spcAft>
                <a:spcPts val="1200"/>
              </a:spcAft>
            </a:pPr>
            <a:r>
              <a:rPr sz="2000">
                <a:solidFill>
                  <a:srgbClr val="1F2937"/>
                </a:solidFill>
                <a:latin typeface="Calibri"/>
              </a:rPr>
              <a:t>▸  Ildiz hujayralar periost, ilik va mushakdan keladi; periost asosiy manba. Remodellanishda osteoklastlar yigma suyakni so‘radi, osteoblastlar plastinkasimon suyakni tiklaydi.</a:t>
            </a:r>
          </a:p>
          <a:p>
            <a:pPr>
              <a:spcAft>
                <a:spcPts val="1200"/>
              </a:spcAft>
            </a:pPr>
            <a:r>
              <a:rPr sz="2000">
                <a:solidFill>
                  <a:srgbClr val="1F2937"/>
                </a:solidFill>
                <a:latin typeface="Calibri"/>
              </a:rPr>
              <a:t>▸  Doimiy yallig‘lanish, qon tomir yetishmovchiligi, infeksiya, beqarorlik, diabet va chekish bitishni kechiktiradi. Davo: o‘sish omillari, hujayra va gen terapiyasi, biomateriallar.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Bikle D va boshq., Fracture healing: cellular mechanisms and impact of parathyroid hormone and its analogs, betlar: PMID 41334438; Flurina Staubli va boshq., Fracture healing: from molecular and cellular mechanisms to therapeutic strategies, betlar: PMID 42768017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qolish usuli: suyak bitishining 4 bosqichi “Q-Q-Q-Q”: Qon quyilishi (gematoma va yallig‘lanish), Qurilish boshlanishi (qon tomir va xaryashsimon yumshoq kallus), Qotish (qattiq kallus), Qayta qurish (remodellash). Taxminiy davomiyligi: 1-bosqich ~5 kun, 2-bosqich ~5 kun, 3-bosqich bir necha hafta, 4-bosqich oylardan yillargacha. Bosqichlar bir-birini qoplaydi.</a:t>
            </a:r>
          </a:p>
          <a:p>
            <a:pPr>
              <a:spcAft>
                <a:spcPts val="1200"/>
              </a:spcAft>
            </a:pPr>
            <a:r>
              <a:rPr sz="1800">
                <a:solidFill>
                  <a:srgbClr val="1F2937"/>
                </a:solidFill>
                <a:latin typeface="Calibri"/>
              </a:rPr>
              <a:t>▸  Qiziqarli fakt: uzun suyakda yangi suyak 3 joyda hosil bo‘ladi: periost yuzasida (intramembranoz), singan uchlar orasida (endoxondral) va ilik ichida (intramedullyar). Ilik ichidagi joy ko‘pincha e’tibordan chetda qolgan. Sababi: tajribada ilik bo‘shlig‘iga qo‘yilgan mix (pin) shu bo‘shliqni to‘ldirib, u yerda yangi suyak hosil bo‘lishiga yo‘l qo‘ymaydi.</a:t>
            </a:r>
          </a:p>
          <a:p>
            <a:pPr>
              <a:spcAft>
                <a:spcPts val="1200"/>
              </a:spcAft>
            </a:pPr>
            <a:r>
              <a:rPr sz="1800">
                <a:solidFill>
                  <a:srgbClr val="1F2937"/>
                </a:solidFill>
                <a:latin typeface="Calibri"/>
              </a:rPr>
              <a:t>▸  Hodisa tahlili: kallus katta, lekin singan uchlar ko‘prik hosil qilmagan. Bu gipertrofik nobitishga xos holat. Biologik faollik saqlangan, ammo mexanik barqarorlik yetarli emas. Atrofik shaklda esa kallus kam, qon tomirlar va hujayra faolligi susaygan. Muhim farq: gipertrofik nobitish ≠ atrofik nobitish, shuning uchun davo yondashuvi ham farq qiladi.</a:t>
            </a:r>
          </a:p>
          <a:p>
            <a:pPr>
              <a:spcAft>
                <a:spcPts val="1200"/>
              </a:spcAft>
            </a:pPr>
            <a:r>
              <a:rPr sz="1800">
                <a:solidFill>
                  <a:srgbClr val="1F2937"/>
                </a:solidFill>
                <a:latin typeface="Calibri"/>
              </a:rPr>
              <a:t>▸  Eslab qolish qoidasi: hujayra taqdirini kislorod va mexanik barqarorlik hal qiladi. Kislorodga boy va barqaror joyda MSC (mezenximal stromal/ildiz hujayra) bevosita suyak hosil qiladi (intramembranoz). Gipoksik yoki mexanik zo‘riqqan joyda esa xaryashsimon yumshoq kallus hosil qiladi. Xaryashsimon hujayralarning bir qismi keyinchalik osteoblastga aylanishi mumkin.</a:t>
            </a:r>
          </a:p>
          <a:p>
            <a:pPr>
              <a:spcAft>
                <a:spcPts val="1200"/>
              </a:spcAft>
            </a:pPr>
            <a:r>
              <a:rPr sz="1800">
                <a:solidFill>
                  <a:srgbClr val="1F2937"/>
                </a:solidFill>
                <a:latin typeface="Calibri"/>
              </a:rPr>
              <a:t>▸  Klinik ahamiyatli fakt: radiografik bitish har doim to‘liq mexanik tiklanishni bildirmaydi. Suyak birikkan ko‘rinsa ham, uning mineral zichligi past yoki mikroarxitekturasi buzilgan, mustahkamligi kamaygan bo‘lishi mumkin. Shuning uchun faqat rentgen suratiga qarab “to‘liq tuzaldi” deyish xavfli bo‘lishi mumkin.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21 ta test savoli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Klinikada ko‘p sonli sinish bemorlari, jumladan uzun naysimon suyak sinishlari davolanmoqda. Zamonaviy yordamga qaramay, ularning qancha qismida bitishning kechikishi yoki bitmasligi (nonunion) kutiladi?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1–2 foizida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5–10 foizida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30–40 foizida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60–70 foizida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Staubli va hamkasblari ko‘rsatgan klassik sinish bitishi bosqichlarining to‘g‘ri tartibi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Kallus hosil bo‘lishi, yallig‘lanish, qayta shakllanish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Qayta shakllanish, yallig‘lanish, kallus hosil bo‘lishi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Yallig‘lanish, qayta shakllanish, kallus hosil bo‘lishi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Yallig‘lanish, kallus hosil bo‘lishi, qayta shakllanish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Sinishdan 2 kun o‘tgan bemorning sinish joyida eritrotsit va trombotsitlardan gematoma hosil bo‘lgan, unga neytrofil va monotsitlar kirgan. Bikle bo‘yicha bu qaysi faza?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1-faza: gematoma va yallig‘lanish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2-faza: angiogenez va yumshoq kallus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3-faza: yumshoq kallus mineralizatsiyasi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4-faza: kallusning qayta shakllanishi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Talaba sinishdan 8 oy o‘tgan bemorda ham suyak qayta shakllanishi davom etayotganidan hayron. Bikle bo‘yicha qaysi faza va davomiylik buni tushuntiradi?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1-faza, taxminan 5 kun davom etadi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2-faza, taxminan 5 kun davom 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4-faza, oylardan yillargacha davom etadi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3-faza, bir necha hafta davom etadi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Mualliflarning ma‘lumotiga ko‘ra, 2019-yilda dunyoda yangi sinish holatlari (incident cases) soni qancha bo‘lgan?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Taxminan 455 million holat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178 million holat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2 million holat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180 ming holat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Uzun suyak singanda periost yuzasi bo‘ylab, sinish joyidan biroz nariroqda tog‘ay bosqichisiz suyak hosil bo‘lmoqda. Bu qaysi joy?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Sinish uchlari orasidagi ko‘prik zonasi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Periost yuzasi bo‘ylab intramembranoz joy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Sinish uchlaridagi ilik ichidagi joy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Mushak ichidagi yumshoq to‘qima joyi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Gistologik tekshiruvda sinish uchlarini bog‘lovchi zonada suyak avval tog‘ay oraliq bosqichidan o‘tgani aniqlandi. Bu qaysi jarayon?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Periostda intramembranoz suyak hosil bo‘lishi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Ilik ichida osteotsitlar transdifferensiatsiyasi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lamellar suyakning remodellanishi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Ko‘prik zonasida endoxondral suyak hosil bo‘lishi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Tadqiqotchi hayvon sinishini ilik kanaliga mix kiritib mahkamladi va ilik ichida yangi suyak hosil bo‘lmadi. Buning sababi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Mix ilik bo‘shlig‘ini egallab, yangi suyak hosil bo‘lishiga to‘sqinlik qiladi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Mix periost ildiz hujayralarini butunlay nobud qilib yuboradi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Mix tog‘ay oraliq bosqichini majburan qo‘shib, jarayonni buzadi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Mix gematoma hosil bo‘lishini to‘liq to‘xtatib qo‘yadi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Sinish gematomasida trombotsitlar dastlabki yallig‘lanish bosqichida qanday asosiy vazifani bajaradi?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Osteoklastlarga aylanib, tog‘ayni to‘g‘ridan-to‘g‘ri yemiradi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Gematomani suyuqlantirib, qon quyilmasini tezda so‘ndiradi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O‘sish omillari va sitokinlar ajratib, hujayralarni jalb qiladi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Yetuk lamellar suyak matriksini bevosita hosil qilib beradi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Sinishning dastlabki yallig‘lanish davri o‘tib, gematomada IL-10 ajratuvchi makrofaglar ustun bo‘ldi. Bu makrofaglar qaysi fenotipga mansub?</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M1 – yallig‘lanishni kuchaytiruvchi dastlabki makrofag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M2 – yallig‘lanishni so‘ndiruvchi reparativ makrofag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Neytrofil – gematomaga birinchi kiruvchi hujayra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Osteoklast – ko‘p yadroli gematopoetik hujayra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Uzun suyak sinishida sinish uchlari orasidagi ko‘prik zonasida avval tog‘aysimon, keyin mineralizatsiyalanayotgan to‘qima topildi. Bu zonada suyak qaysi yo‘l bilan hosil bo‘lmoqda?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Intramembranoz yo‘l bilan, tog‘ay oraliq bosqichisiz</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Endoxondral yo‘l bilan, tog‘ay oraliq bosqichi orqali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Intramedullyar yo‘l bilan, ilik bo‘shlig‘ining ichida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To‘g‘ridan-to‘g‘ri periostda, xondrotsit bosqichisiz</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Kallusning kislorod kam va mexanik zo‘riqish yuqori bo‘lgan qismida mezenximal progenitorlar qaysi yo‘nalishda differensiatsiyalanadi?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Osteogen yo‘nalishda, kortikal yuzada intramembranoz suyak hosil qiladi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Adipogen yo‘nalishda, kallus ichida yog‘ to‘qimasi hosil qiladi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Miogen yo‘nalishda, kallus ichida mushak tolalari hosil qiladi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Xondrogen yo‘nalishda, sinishni mustahkamlovchi yumshoq kallus hosil qiladi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Sinishdan keyin kallusga yangi kapillyarlar kirib, qon bilan ta’minlanish va oksigenatsiya tiklandi. HIF parchalanishi natijasida VEGF ifodasi qanday o‘zgaradi?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Pasayadi, tomir novdalanishi susayib, tomirlar yetila boshlaydi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Keskin oshadi, tomir novdalanishi yanada kuchayib davom 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O‘zgarmaydi, chunki HIF kallusda VEGF ifodasini boshqarmaydi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osteoblastlarda oshadi, endoteliy hujayralarida o‘zgarmaydi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Eksperimentda qattiq kallusda mineralizatsiya to‘xtab qoldi. Mineralizatsiya davom etishi uchun ifodasi pasayishi shart bo‘lgan BMP ingibitori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Osteopontin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Runx2</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Noggin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Osteokalsin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Remodellanish davrida osteoblastlar osteoprotegerin (OPG) sekretsiyasini oshirdi. Bu osteoklastlar hosil bo‘lishiga qanday ta’sir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RANKL ni faollashtirib, osteoklastogenezni tezlashtiradi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RANKL ni bog‘lab ushlab, osteoklastogenezni cheklaydi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RANK retseptorini ko‘paytirib, suyak resorbsiyasini oshiradi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Osteoblast apoptozini chaqirib, remodellanishni to‘xtatadi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Remodellanish bosqichida vaqtincha hosil bo‘lgan dag‘al tolali suyak asta-sekin qanday suyak turi bilan almashtiriladi?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Yetuk plastinkasimon (lamellyar) suyak bilan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Tolali tog‘ay to‘qimasi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Fibrovaskulyar granulyatsion to‘qima bilan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Gialin tog‘ayli yumshoq kallus bilan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qandli diabet bilan og‘rigan va chekadi. Sinish joyida kallus kichik, kam minerallashgan. Ikkala omilga xos umumiy mexanizm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Kallusning qon bilan ta’minlanishi va tomirlanishi pasayadi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Xondrotsitlar kallusda haddan tashqari ko‘payib ketadi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Osteoklastlar butunlay yo‘qolib, rezorbsiya to‘xtaydi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Gematoma ortiqcha ivib, kallusni qoplab oladi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Rentgenda kallus mo‘l, lekin sinish uchlari o‘rtasida ko‘prik yo‘q, uchlar qimirlaydi. Bu qaysi turdagi nobitishga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Atrofik nobitishga, ya’ni kallus juda kam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Gipertrofik nobitishga, ya’ni kallus ko‘p</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Kechikkan bitishga, ya’ni 3–6 oy kutiladi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Oligotrofik nobitishga, ya’ni oraliq belgilar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Talaba remodellanish bosqichidagi bemorga osteoklast faolligini erta va to‘liq so‘ndiruvchi standart dori buyurmoqchi. Bunda asosiy biologik xavf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Gematoma tezroq so‘rilib, yallig‘lanish bosqichi qisqaradi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Yumshoq kallus darrov qattiq kallusga aylanib ketadi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Kallusni qayta qurish uchun zarur rezorbsiya jarayonlari yo‘qoladi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Periost o‘zak hujayralari soni keskin oshib ketadi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Abaloparatid teriparatidga nisbatan PTH retseptorining qaysi konformatsiyasiga selektivroq bog‘lanadi?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 konformatsiyasiga ko‘proq moyil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Ikkala konformatsiyaga aynan teng bog‘lanadi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Retseptorning hech qaysi shakliga bog‘lanmaydi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RG konformatsiyasiga ko‘proq moyil bo‘ladi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21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Tajribada uzun suyak sinishida periostning ichki kambial qavati zararlandi. Qaysi hujayralar manbasi eng ko‘p zarar ko‘radi?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Periostning kambial qavatidagi o‘zak hujayralar zarar ko‘radi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Pax7 musbat mushak sun’iy yo‘ldosh hujayralari yo‘qoladi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 plazmasidagi eritrotsitlar kallus manbai sifatida yo‘qoladi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o‘sish plastinkasidagi xondrotsitlar manbasi yo‘qoladi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Taxminan 5–10 foizida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Mualliflar ko‘pchilik sinishlar zamonaviy davoda bitishini, taxminan 5–10 foizida esa (ayniqsa uzun naysimon suyaklarda) bitish kechikishi yoki nonunion rivojlanishini ko‘rsatadi.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Flurina Staubli va boshq., Fracture healing: from molecular and cellular mechanisms to therapeutic strategies, PMID 42768017-bet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Yallig‘lanish, kallus hosil bo‘lishi, qayta shakllanish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Klassik sxema yallig‘lanish, kallus hosil bo‘lishi va qayta shakllanishdan iborat. Qayta shakllanish oxirgi va eng uzoq bosqich bo‘lib, to‘qima to‘qilgan suyak plastinkasimon suyakka almashadi.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Flurina Staubli va boshq., Fracture healing: from molecular and cellular mechanisms to therapeutic strategies, PMID 42768017-bet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1-faza: gematoma va yallig‘lanish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1-fazaga gematoma hosil bo‘lishi, unga neytrofil va monotsitlarning kirishi va yallig‘lanish javobi xos. Bu faza taxminan 5 kun davom etadi.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Bikle D va boshq., Fracture healing: cellular mechanisms and impact of parathyroid hormone and its analogs, PMID 41334438-bet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4-faza, oylardan yillargacha davom etadi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4-faza (qayta shakllanish) oylardan hatto yillargacha davom etadi, fazalar esa bir-birini qoplaydi. Birinchi va ikkinchi fazalar taxminan 5 kundan, uchinchisi bir necha haftadan davom etadi.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Bikle D va boshq., Fracture healing: cellular mechanisms and impact of parathyroid hormone and its analogs, PMID 41334438-bet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Taxminan 178 million holat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2019-yilda 178 milliondan ortiq yangi sinish holati qayd etilgan. 455 million esa shu yilgi mavjud (prevalent) holatlar soni, ya‘ni ikki xil ko‘rsatkich.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Flurina Staubli va boshq., Fracture healing: from molecular and cellular mechanisms to therapeutic strategies, PMID 42768017-bet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Periost yuzasi bo‘ylab intramembranoz joy</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1-joy periost yuzasi bo‘ylab joylashgan. Unda intramembranoz suyak hosil bo‘ladi va oraliq xondrotsit bosqichi kerak bo‘lmaydi. 2-joy (ko‘prik) endoxondral yo‘l bilan shakllanadi. 3-joy ilik ichida joylashgan.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Bikle D va boshq., Fracture healing: cellular mechanisms and impact of parathyroid hormone and its analogs, PMID 41334438-bet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Ko‘prik zonasida endoxondral suyak hosil bo‘lishi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Sinish uchlarini bog‘lovchi 2-joyda suyak endoxondral yo‘l bilan shakllanadi va bu jarayon suyakning dastlabki rivojlanishini ko‘p jihatdan takrorlaydi. Intramembranoz va ilik ichi suyak hosil bo‘lishida tog‘ay oraliq bosqichi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Bikle D va boshq., Fracture healing: cellular mechanisms and impact of parathyroid hormone and its analogs, PMID 41334438-bet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Mix ilik bo‘shlig‘ini egallab, yangi suyak hosil bo‘lishiga to‘sqinlik qiladi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Ilik ichi suyak hosil bo‘lishi (3-joy) mix qo‘yilgan tadqiqotlarda e’tibordan chetda qolgan, chunki mix ilik bo‘shlig‘ini yo‘q qilib, yangi suyak hosil bo‘lishiga yo‘l qo‘ymaydi.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Bikle D va boshq., Fracture healing: cellular mechanisms and impact of parathyroid hormone and its analogs, PMID 41334438-bet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O‘sish omillari va sitokinlar ajratib, hujayralarni jalb qiladi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Trombotsitlar tez to‘planib gemostazni ta’minlaydi, o‘sish omillari va sitokinlar ajratadi. Bular yallig‘lanish hujayralarini va mezenximal stromal/o‘zak hujayralarni (MSC) sinish joyiga jalb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Flurina Staubli va boshq., Fracture healing: from molecular and cellular mechanisms to therapeutic strategies, PMID 42768017-bet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M2 – yallig‘lanishni so‘ndiruvchi reparativ makrofag</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Dastlabki M1 makrofaglar yallig‘lanishni qo‘llab-quvvatlaydi. Keyin M2 makrofaglar IL-10 ajratib yallig‘lanishni kamaytiradi, angiogenez va MSC differensiatsiyasini rag‘batlantiradi. M1/M2 sxemasi soddalashtirilgan, lekin foydali qisqa tushuncha.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Bikle D va boshq., Fracture healing: cellular mechanisms and impact of parathyroid hormone and its analogs, PMID 41334438-bet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Endoxondral yo‘l bilan, tog‘ay oraliq bosqichi orqali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Sinish uchlari orasidagi ko‘prik hududi (2-sayt) endoxondral suyak hosil bo‘lishi bilan rivojlanadi va suyak taraqqiyotini eslatadi. Periostdagi intramembranoz va ilikdagi intramedullyar suyak hosil bo‘lishi tog‘ay bosqichisiz kechadi.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Bikle D va boshq., Fracture healing: cellular mechanisms and impact of parathyroid hormone and its analogs, PMID 41334438; DOI 10.3389/fendo.2025.1703129-bet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Xondrogen yo‘nalishda, sinishni mustahkamlovchi yumshoq kallus hosil qiladi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Kislorodga boy va mexanik barqaror joylarda MSC lar osteogen yo‘nalishni tanlaydi. Gipoksik yoki mexanik zo‘riqqan sharoitda esa xondrogen dastur ishga tushib, sinishni barqarorlashtiruvchi tog‘aysimon yumshoq kallus hosil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Flurina Staubli va boshq., Fracture healing: from molecular and cellular mechanisms to therapeutic strategies, PMID 42768017; DOI 10.1038/s41392-026-02967-z-bet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Pasayadi, tomir novdalanishi susayib, tomirlar yetila boshlaydi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Sinishdan keyingi gipoksiya HIF-1α ni barqarorlashtiradi va u VEGF ni induksiya qiladi. Perfuziya tiklanganda HIF parchalanadi, VEGF ifodasi pasayadi, novdalanish susayib tomirlar yetiladi.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Flurina Staubli va boshq., Fracture healing: from molecular and cellular mechanisms to therapeutic strategies, PMID 42768017; DOI 10.1038/s41392-026-02967-z-bet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Noggin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3-fazada noggin, ya’ni BMP ning osteoblast differensiatsiyasini rag‘batlantirishini to‘suvchi ingibitor, ifodasining pasayishi mineralizatsiya davom etishi uchun zarur. Osteopontin va osteokalsin osteoblast belgilari, Runx2 esa osteoblastogenezni boshqaradigan omil.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Bikle D va boshq., Fracture healing: cellular mechanisms and impact of parathyroid hormone and its analogs, PMID 41334438; DOI 10.3389/fendo.2025.1703129-bet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RANKL ni bog‘lab ushlab, osteoklastogenezni cheklaydi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OPG yolg‘on retseptor sifatida RANKL ni bog‘lab, uning osteoklast prekursorlaridagi RANK ga ulanishiga yo‘l qo‘ymaydi va osteoklastogenezni cheklaydi. RANKL/OPG nisbati almashinuv yo‘nalishini belgilaydi.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Flurina Staubli va boshq., Fracture healing: from molecular and cellular mechanisms to therapeutic strategies, PMID 42768017; DOI 10.1038/s41392-026-02967-z-bet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Yetuk plastinkasimon (lamellyar) suyak bilan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Remodellanish sinish bitishining eng uzoq va oxirgi bosqichi bo‘lib, unda vaqtincha dag‘al tolali suyak rezorbsiya va hosil bo‘lish sikllari orqali yetuk plastinkasimon suyak bilan almashadi. Granulyatsion to‘qima va tog‘aysimon kallus esa avvalgi bosqichlarga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Flurina Staubli va boshq., Fracture healing: from molecular and cellular mechanisms to therapeutic strategies, PMID 42768017; DOI 10.1038/s41392-026-02967-z-bet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Kallusning qon bilan ta’minlanishi va tomirlanishi pasayadi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Jadvalga ko‘ra diabetda kallus kam tomirlangan, kichik va kam minerallashgan, VEGF kamayadi va mikrotomir disfunksiyasi bo‘ladi. Chekishda kallus perfuziyasi va tomirlanishi kamayadi, osteoangiogen bog‘lanish buziladi. Umumiy jihat: tomir ta’minotining yomonlashuvi.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Flurina Staubli va boshq., Fracture healing: from molecular and cellular mechanisms to therapeutic strategies, PMID 42768017-bet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Gipertrofik nobitishga, ya’ni kallus ko‘p</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Gipertrofik nobitishda kallus ko‘p, lekin ko‘prik yo‘q. Bu biologik faollik saqlanganini, ammo mexanik barqarorlik yetarli emasligini ko‘rsatadi. Atrofik turda kallus kam va tomirlanish yomon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Flurina Staubli va boshq., Fracture healing: from molecular and cellular mechanisms to therapeutic strategies, PMID 42768017-bet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Kallusni qayta qurish uchun zarur rezorbsiya jarayonlari yo‘qoladi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Osteoklastlar kallusni qayta shakllantirishda va suyak hosil bo‘lishini bog‘lashda muhim. Standart dorilar osteoklastni bostirib, to‘qima qayta qurilishi uchun kerakli rezorbtiv va signal jarayonlarini ham yo‘qotadi. Bu to‘qima suyagining plastinkasimon suyakka aylanishini buzishi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Flurina Staubli va boshq., Fracture healing: from molecular and cellular mechanisms to therapeutic strategies, PMID 42768017-bet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RG konformatsiyasiga ko‘proq moyil bo‘ladi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Abaloparatid RG shakliga R° shakliga nisbatan yuqori selektivlik ko‘rsatadi. RG shakli tezroq va kamroq davomli signal beradi, bu esa suyakda anabolik ta’sirni kuchli, katabolik ta’sirni kuchsizroq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Bikle D va boshq., Fracture healing: cellular mechanisms and impact of parathyroid hormone and its analogs, PMID 41334438-bet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Periostning kambial qavatidagi o‘zak hujayralar zarar ko‘radi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Periost kambial qavatidagi o‘zak hujayralar uzun suyak sinishida kallus hujayralarining asosiy manbai hisoblanadi. Ular davolashda suyak iligi o‘zak hujayralaridan ustun turadi. Pax7 musbat mushak sun’iy yo‘ldosh hujayralari esa sinish bitishida rol o‘ynamaydi.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Bikle D va boshq., Fracture healing: cellular mechanisms and impact of parathyroid hormone and its analogs, PMID 41334438-bet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Suyak to'qimasida reaktiv (funktsional) o'zgarishlar. Suyak shakllanishi bosqichlari.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Flurina Staubli va boshq. Fracture healing: from molecular and cellular mechanisms to therapeutic strategies, Signal Transduction and Targeted Therapy. 2026. PMID 42768017; DOI 10.1038/s41392-026-02967-z</a:t>
            </a:r>
          </a:p>
          <a:p>
            <a:pPr>
              <a:spcAft>
                <a:spcPts val="1200"/>
              </a:spcAft>
            </a:pPr>
            <a:r>
              <a:rPr sz="2000">
                <a:solidFill>
                  <a:srgbClr val="1F2937"/>
                </a:solidFill>
                <a:latin typeface="Calibri"/>
              </a:rPr>
              <a:t>▸  Bikle D va boshq. Fracture healing: cellular mechanisms and impact of parathyroid hormone and its analogs, Frontiers in Endocrinology. 2025. PMID 41334438; DOI 10.3389/fendo.2025.1703129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