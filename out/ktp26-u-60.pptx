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sinish yuki kelajakda ortishi kutilmoqda? 2) Kechikkan bitish va yolg‘on bo‘g‘imning ijtimoiy oqibatlari qanday? Doskada: ikki ustunli ro‘yxat chizing, chapda «sinishlar soni», o‘ngda «bitmaydigan 5–10%». Tipik xato: talabalar 5–10% ni barcha sinishlarga emas, faqat kechikkan bitish va nonunion ulushiga tegishli deb bilmaydi.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1) Talabalar sinish bitishini qanday bosqichlarda tasavvur qiladi? 2) Qaysi omillar bitishni sekinlashtirishi mumkin? Doskada: dars rejasini 4 ta blokli gorizontal strelka sifatida chizing. Tipik xato: talabalar davolash usullarini bosqichlarni bilmay turib yodlashga urinadi, shuning uchun avval bosqichlar, keyin davo o‘rganilishini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bitish faqat suyak hujayralariga bog‘liq emas? 2) Qaysi buzilish omillarini mahalliy va qaysilarini umumiy deb ajratasiz? Doskada: markazda «sinish», atrofida to‘rt strelka (immun, qon tomir, nerv, skelet). Tipik xato: bitishni faqat suyak hosil bo‘lishi deb tushunish. Eslatma: «reaktiv (funksional) o‘zgarish» atamasi manbada aynan uchramaydi, u dars mavzusi sifatida talqin qilingan.</a:t>
            </a:r>
          </a:p>
          <a:p/>
          <a:p>
            <a:r>
              <a:t>Tekshirish kerak (manbada noaniq):</a:t>
            </a:r>
          </a:p>
          <a:p>
            <a:r>
              <a:t>- Sinish jarohatiga suyak to‘qimasi muvofiqlashgan regenerativ jarayon bilan javob beradi. Bu dars mavzusidagi reaktiv o‘zgarishlarning mohiyatidir.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son suyagi sinishi kam uchrasa ham xarajatning katta qismini beradi? Nega sinish yuki keksalar sonining oshishi bilan ortishi kutiladi? Doskaga: sinishning uchta oqibati (xarajat, kasallanish, o‘lim) ustunlarini chizdiring. Tipik xato: son sinishining ulushi (14%) bilan uning xarajat ulushini aralashtirish. Raqamlar AQSh ma‘lumoti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Avval savolni o‘qing, talabalar javob variantlarini ovoz bilan tanlasin, keyin javobni oching. Muhokama: diabet va chekish bitishga qanday ta‘sir qilishi mumkin? Nega muammo kam resursli sharoitda og‘irlashadi? Doskaga: delayed union va nonunion uchun vaqt o‘qini (3–6 va 6–9 oy) chizdiring. Tipik xato: ikkala atamani sinonim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bosqichlar qat‘iy ajratilmagan, qoplanishi nimani anglatadi? Nega remodellanish eng uzun? Doskaga: uch bosqichni qoplanuvchi uchta strelka sifatida chizdiring. Qo‘shimcha: Bikle to‘rt bosqichli tasnifni beradi (kallus ikkiga bo‘linadi), bu klassik uch bosqichga zid emas. Tipik xato: bosqichlarni qat‘iy ketma-ket va bir-biridan ajralgan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yallig‘lanishsiz ildiz hujayralar faollashmaydi? Yallig‘lanish bosqichi bitishda qanday rol o‘ynaydi? Doskada to‘rt fazani o‘qlar bilan chizdiring va har fazaga bitta asosiy hujayra yozing. Tipik xato: fazalarni qat’iy ajratilgan deb o‘ylash, aslida ular bir-biriga o‘tadi.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4-faza eng uzun? Qaysi kasalliklar vaqtni cho‘zadi? Doskada vaqt chizig‘ini chizib, fazalarning ustma-ust tushishini ko‘rsating. Tipik xato: 5 kunlik muddatni barcha fazalarga tatbiq qilish. Tezkor savol: qaysi faza oylar-yillar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sayt 2 o‘sish plastinkasidagi suyak hosil bo‘lishiga o‘xshaydi? Pin qo‘yilsa sayt 3 ga nima bo‘ladi? Doskada uzun suyak sinishini chizib, uch joyni raqamlang. Tipik xato: xaftaga bosqichi barcha joylarda bor deb o‘ylash, aslida u faqat sayt 2 da bor.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Uchala saytning farqi nimada, xaftaga qaysi birida bor? 2) Nega endoxondral jarayon suyakning dastlabki rivojlanishiga o‘xshaydi? Doskada chizing: uzun suyak sinishining sxemasi va unda 1-, 2-, 3-saytlarni belgilang, xaftagali yo‘lni alohida rangda ko‘rsating. Tipik xato: talabalar intramedullyar suyakni ham xaftaga orqali hosil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Mix 3-saytga qanday ta’sir qiladi? 2) 1- va 2-sayt (periost, ko‘prik) mix qo‘yilganda ham ishlaydimi? Doskada chizing: mix kiritilgan suyak kesimi, ilik bo‘shlig‘i va 3 saytni belgilang. Tipik xato: mix butun suyak tiklanishini to‘xtatadi deb o‘ylash; manbada faqat 3-sayt haqida gap ketadi. Sichqon ma’lumotini odamga to‘g‘ridan-to‘g‘ri ko‘chirmang.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Gematoma nima uchun tiklanishning boshlanishi hisoblanadi? 2) Trombotsitlar qon to‘xtatishdan tashqari qanday vazifa bajaradi? Doskada chizing: gematoma ichidagi hujayralar (trombotsit, eritrotsit, neytrofil, monotsit) va MSC jalb qilinishini ko‘rsatuvchi strelkalar. Tipik xato: gematomani faqat qon laxtasi deb hisoblash; u signal va hujayralarni jalb qilish markazi ham.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neytrofillar birinchi kiradi? 2) Gematoma nima uchun gipoksik va qon tomirsiz? Doskada chizish: gematomadan M2 gacha 5 bosqichli zanjirni chizing. Tipik xato: talabalar M1 ni faqat zararli deb o‘ylaydi, aslida u tozalash va himoya uchun kerak.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Tezkor savol: “Qaysi makrofag angiogenezni qo‘llaydi?” Muhokama: M1/M2 sxemasi nega soddalashtirilgan hisoblanadi? Doskada ikki ustunli ro‘yxat yozdiring: M1 vazifalari va M2 vazifalari. Tipik xato: M1 va M2 ni doimiy, o‘zgarmas hujayra turlari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Treg yetishmasa yallig‘lanish qanday davom etishi mumkin? 2) Semiz hujayralar qon tomir o‘tkazuvchanligiga qanday aloqador? Doskada chizish: gematoma markazida neytrofil, makrofag, Treg va semiz hujayra belgilarini joylashtiring. Tipik xato: immun hujayralarni faqat himoya vazifali deb bilish, ular tiklanishni ham boshqaradi.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Yallig‘lanish nega dastlab kerak (chiqindini tozalash, mikroblarga qarshi himoya, progenitorlarni jalb qilish)? 2) Davomli TNF, IL-1β, IL-6 reparativ jarayonga qanday to‘sqinlik qiladi? Doskada chizish: yallig‘lanish → tiklanish o‘tishi va davomli yallig‘lanishda uning to‘xtashi strelkasi. Tipik xato: talabalar yallig‘lanishni faqat zararli deb o‘ylaydi; dastlabki yallig‘lanish bitish uchun zarur, zarar uning cho‘zilishida.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angiogenez bo‘lmasa yumshoq kallus qattiq kallusga aylanmaydi? 2) Periost progenitorlari bilan ilik progenitorlarining roli qanday farqlanadi? Doskada chizish: sinish uchlari, ular orasida xaftagali ko‘prik va periost bo‘ylab suyak qatlami. Tipik xato: yumshoq kallusni suyak deb o‘ylash; u xaftagali, mineralizatsiyadan keyin qattiq kallusga aylanadi.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Fiksatsiya beqaror bo‘lsa, kallusda qaysi yo‘nalish ustun bo‘ladi? 2) Nega xondrotsitlar oxirgi hujayra emas deb hisoblanadi? Doskada chizish: MSC dan ikki shoxli sxema, bir shox Runx2 → osteoblast, ikkinchisi Sox9 → xondrotsit. Tipik xato: Runx2 va Sox9 ni aralashtirish; Runx2 suyak, Sox9 xaftaga dasturi.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xaftaga aynan gipoksik, zo‘riqqan joyda paydo bo‘ladi? 2) Intramembranoz suyak qayerda hosil bo‘ladi? Doskada: sinish chizig‘i va 3 hudud (periost yuzasi, ko‘prik, ilik) sxemasini chizing, har biriga ‘xaftagali / xaftagasiz’ deb yozing. Tipik xato: talabalar barcha suyak xaftaga orqali hosil bo‘ladi deb o‘ylaydi. Avval talabalarga javob berdiring, keyin slaydni oching.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Gipertrofik xondrotsitning ikki taqdiri qanday? 2) MMP13 nima uchun kerak? Qo‘shimcha: Staubli va boshq. ba’zi gipertrofik xondrotsitlar osteoblastlar zahirasiga qo‘shilishini yozadi, ya’ni ular oxirgi differensiallangan hujayra emas. Doskada: xondrotsit → gipertrofiya → mineralizatsiya → osteoklast bilan olib tashlanish yoki osteoblastga o‘tish zanjirini chizing. Tipik xato: 3-faza bilan 4-fazani aralashtirish. To‘qima suyagi 3-fazada hosil bo‘ladi, plastinkali suyakka almashishi 4-fazada bo‘ladi.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faqat tomir sonini oshirish yetarli emas? 2) Kislorod tiklangach HIF va VEGF nima bo‘ladi? Doskada: 5 tugunli zanjirni chizing va VEGFR1 ‘tuzoq’ vazifasini, VEGFR2 esa asosiy signal ekanini yozing. Tipik xato: VEGFR1 va VEGFR2 rolini aralashtirish. VEGFR2 asosiy angiogen effektni beradi, VEGFR1 esa VEGFni tutib turuvchi modulyator. Slaydda H tur tomirlar faqat tajribada o‘rganilganini ham eslating.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savoli: nima uchun remodellanish eng uzoq bosqich hisoblanadi? Rentgenda bitish ko‘ringani suyak to‘liq tiklangan degani emasmi? Doskada chizing: to‘qima (woven) suyak → plastinkali suyak o‘qi va ustiga 3–4 haftadan oylargacha vaqt shkalasini yozing. Tipik xato: talabalar to‘qima suyagini plastinkali suyak bilan adashtiradi va remodellanishni bir necha kunlik jarayon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osteotsit nega mexanosensor deyiladi? Osteoklast faolligi juda erta so‘nsa nima bo‘lishi mumkin? Doskada chizing: rezorbsiya chuqurchasi → osteoblast → osteoid → plastinkali suyak ketma-ketligini. Tipik xato: osteotsitni faqat passiv hujayra deb hisoblash va qoplovchi hujayralar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RANKL/OPG nisbati oshsa suyak almashinuvi qaysi tomonga siljiydi? Estrogen tanqisligi bu nisbatga qanday ta’sir qilishi mumkin? Doskada chizing: tarozi — bir pallada RANKL (rezorbsiya), ikkinchisida OPG (tutib qolish). Tipik xato: OPG ni osteoklastni qo‘zg‘atuvchi omil deb o‘ylash yoki faqat RANKL miqdoriga qarab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rezorbsiya va shakllanish o‘zaro bog‘liq? 2) Sema3A qanday ikki tomonlama ta’sir ko‘rsatadi? Doskaga chizing: ikki hujayra va signal o‘qlari. Tipik xato: osteoklastni faqat «yemiruvchi»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proteoliz ortiqcha bo‘lsa ham xavfli? 2) TIMP lar qanday rol o‘ynaydi? Doskaga chizing: ferment–manba–vazifa jadvali. Tipik xato: bitmaslikni faqat osteogenez yetishmovchiligi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Osteoklast faqat yemiruvchi hujayramikan? 2) PTH va alendronatning kallusga ta’siri qanday farq qiladi? Doskada: rezorbsiya → osteoblast chaqirilishi → plastinkasimon suyak zanjirini chizing. Tipik xato: osteoklastni bostirish har doim suyakni mustahkamlaydi, deb o‘ylash. Manbaga ko‘ra rezorbsiyani ham erta bostirish, ham haddan ortiq saqlash remodellanishga halal beradi.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o‘zak hujayra g‘oyasi shubha ostida? 2) Periost hujayralari ilik hujayralaridan nimasi bilan ustun? Doskada: sinish joyi atrofida periost, ilik va mushakni chizib, har biridan strelka qo‘ying. Tipik xato: Pax7 yo‘ldosh hujayralarni mushakdagi FAP hujayralari bilan adashtirish. Diqqat: FAP hujayralari hissa qo‘shadi, Pax7 yo‘ldosh hujayralar esa yo‘q.</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TNFni butunlay bostirish zararli bo‘lishi mumkin? 2) Wnt vaqtida va vaqtidan oldin faollashsa nima farq qiladi? Doskada: vaqt o‘qida yallig‘lanish → xaftaga → qattiq kallus va har bir yo‘l maksimumini belgilang. Tipik xato: signal yo‘lini faqat ‘foydali’ yoki faqat ‘zararli’ deb baholash. Manbaga ko‘ra ta’sir kontekstga bog‘liq.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mahkamlash qattiqligi va reabilitatsiya bitishga ta’sir qiladi? 2) Osteotsit zo‘riqishni qanday sezadi? Doskada chizing: yuk → integrin/FAK → YAP/TAZ yadroda → osteogen genlar; yuk yo‘q → YAP/TAZ sitoplazmada. Tipik xato: rentgenda bitish bor ekan, mexanik tiklanish ham to‘liq deb o‘ylash; manbada bu har doim shunday emasligi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Gipertrofik va atrofik bitmaslikning sababi qanday farq qiladi? 2) Nega vaqt chegaralari taxminiy? Doskada chizing: 3 oy – 6 oy – 9 oy vaqt chizig‘i va ustiga kechikish/bitmaslik. Tipik xato: kechikkan bitish ≠ bitmaslik; birinchisida jarayon davom etadi, ikkinchisida to‘xtagan.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qariganda kallus mineralizatsiyasi sekinlashadi? 2) Estrogen tanqisligi qaysi signal o‘qlarini buzadi? Doskaga chizing: ikki ustunli modulyatorlar jadvali. Tipik xato: faqat bitta omilga qarab bitish natijasini bashorat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Qaysi omillarni tuzatish mumkin (chekish, mahkamlash), qaysilarini yo‘q? 2) NSAID tayinlashda nimalarni hisobga olish kerak? Doskada chizing: omil → mexanizm → oqibat zanjiri (masalan, diabet). Tipik xato: NSAID har doim bitishni buzadi deb aytish; manbada klinik dalillar aralash deyilgan.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Rentgenda ko‘prik bo‘lsa, nima uchun suyak hali zaif bo‘lishi mumkin? 2) Qaysi ko‘rsatkichlar (mineral zichlik, mikroarxitektura, mustahkamlik) tasvirda bilinmaydi? Doskada chizish: ikki ustun - «rentgenda bitgan» va «mexanik tiklangan», ularning farqini yozing. Tipik xato: talabalar «bitish» va «mustahkamlik»ni bir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 tomir yetishmovchiligi yumshoq kallusdan qattiq kallusga o‘tishni qanday to‘xtatadi? 2) Diabet va chekish mexanizmlarida qanday umumiy jihat bor? Doskada chizish: 4 faza zanjiri va buzilgan bosqichlarga o‘q. Tipik xato: faqat «suyak hujayralari kam» deb javob berish; qon tomir (osteoangiogenez)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klinik sinovlar natijasi bir xil emas? 2) PTH retseptori nega deyarli barcha bitishda ishtirok etuvchi hujayralarda muhim? Doskada chizish: PTH → retseptor → to‘rt yo‘l → bitishni rag‘batlantirish sxemasi. Tipik xato: davolash «bitmaslikni kamaytiradi» deb o‘ylash; manbada faqat bitish tezlashishi ko‘rsatilgan, bitmaslik soni kamaymagan.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Retseptorning R° va RG shakli nimani belgilaydi? 2) Nega hayvon natijalari klinikaga o‘tmaydi? Doskaga chizing: ikki dori taqqoslash. Tipik xato: PTH ni bitishga tasdiqlangan davo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bosqichlar bir-birini qoplaydi? 2) Qaysi joyda xaltacha (xondrotsit) bosqichi bo‘lmaydi? Doskada chizing: 4 bosqich zanjiri va suyak kesimida 3 joyni belgilang. Tipik xato: intramembranoz va endoxondral suyak hosil bo‘lishini aralashtirish. Qo‘shimcha: teriparatid (PTH 1–34) sinish bitishini tezlashtirishi mumkin, lekin odamlarda tasdiqlanmagan.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Suyak to'qimasida reaktiv (funktsional) o'zgarishlar. Suyak shakllanishi bosqichlari.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2019-yilda dunyoda 178 mln dan ortiq yangi va 455 mln mavjud suyak sinishi holati qayd etilgan.</a:t>
            </a:r>
          </a:p>
          <a:p>
            <a:pPr>
              <a:spcAft>
                <a:spcPts val="1200"/>
              </a:spcAft>
            </a:pPr>
            <a:r>
              <a:rPr sz="2200">
                <a:solidFill>
                  <a:srgbClr val="1F2937"/>
                </a:solidFill>
                <a:latin typeface="Calibri"/>
              </a:rPr>
              <a:t>▸  Sinishlarning taxminan 5–10 foizida, ayniqsa uzun naysimon suyaklarda, bitish kechikadi yoki yolg‘on bo‘g‘im (nonunion) rivojlanadi.</a:t>
            </a:r>
          </a:p>
          <a:p>
            <a:pPr>
              <a:spcAft>
                <a:spcPts val="1200"/>
              </a:spcAft>
            </a:pPr>
            <a:r>
              <a:rPr sz="2200">
                <a:solidFill>
                  <a:srgbClr val="1F2937"/>
                </a:solidFill>
                <a:latin typeface="Calibri"/>
              </a:rPr>
              <a:t>▸  Bunday holat takroriy operatsiya, uzoq reabilitatsiya va mehnat qobiliyati yo‘qolishi orqali katta iqtisodiy yuk keltiradi.</a:t>
            </a:r>
          </a:p>
          <a:p>
            <a:pPr>
              <a:spcAft>
                <a:spcPts val="1200"/>
              </a:spcAft>
            </a:pPr>
            <a:r>
              <a:rPr sz="2200">
                <a:solidFill>
                  <a:srgbClr val="1F2937"/>
                </a:solidFill>
                <a:latin typeface="Calibri"/>
              </a:rPr>
              <a:t>▸  Ko‘pchilik sinish 6–8 haftada bitadi, lekin sezilarli qismi bitmaydi. Kechikish va yolg‘on bo‘g‘im xarajat va asoratni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 Bikle D va boshq., Fracture healing: cellular mechanisms and impact of parathyroid hormone and its analogs, betlar: PMID 41334438; DOI 10.3389/fendo.2025.1703129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Darsning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Maqsad: sinishga javoban suyak to‘qimasida kechadigan reaktiv o‘zgarishlar va bitish bosqichlarini tushunish.</a:t>
            </a:r>
          </a:p>
          <a:p>
            <a:pPr>
              <a:spcAft>
                <a:spcPts val="1200"/>
              </a:spcAft>
            </a:pPr>
            <a:r>
              <a:rPr sz="2200">
                <a:solidFill>
                  <a:srgbClr val="1F2937"/>
                </a:solidFill>
                <a:latin typeface="Calibri"/>
              </a:rPr>
              <a:t>▸  Reja 1: yallig‘lanish, kallus hosil bo‘lishi va qayta qurilish bosqichlari hamda ularda ishtirok etuvchi hujayralar.</a:t>
            </a:r>
          </a:p>
          <a:p>
            <a:pPr>
              <a:spcAft>
                <a:spcPts val="1200"/>
              </a:spcAft>
            </a:pPr>
            <a:r>
              <a:rPr sz="2200">
                <a:solidFill>
                  <a:srgbClr val="1F2937"/>
                </a:solidFill>
                <a:latin typeface="Calibri"/>
              </a:rPr>
              <a:t>▸  Reja 2: periost, suyak ko‘migi va mushakdan keluvchi ildiz hujayralar hamda asosiy signal yo‘llari.</a:t>
            </a:r>
          </a:p>
          <a:p>
            <a:pPr>
              <a:spcAft>
                <a:spcPts val="1200"/>
              </a:spcAft>
            </a:pPr>
            <a:r>
              <a:rPr sz="2200">
                <a:solidFill>
                  <a:srgbClr val="1F2937"/>
                </a:solidFill>
                <a:latin typeface="Calibri"/>
              </a:rPr>
              <a:t>▸  Reja 3: bitishni buzuvchi omillar (yosh, diabet, chekish, infeksiya) va davolash yondashuvlari, jumladan paratiroid gormoni (PTH).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 Bikle D va boshq., Fracture healing: cellular mechanisms and impact of parathyroid hormone and its analogs, betlar: PMID 41334438; DOI 10.3389/fendo.2025.1703129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Reaktiv (funksional) o‘zgarish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 jarohatiga suyak to‘qimasi muvofiqlashgan regenerativ jarayon bilan javob beradi. Bu dars mavzusidagi reaktiv o‘zgarishlarning mohiyatidir.</a:t>
            </a:r>
          </a:p>
          <a:p>
            <a:pPr>
              <a:spcAft>
                <a:spcPts val="1200"/>
              </a:spcAft>
            </a:pPr>
            <a:r>
              <a:rPr sz="2200">
                <a:solidFill>
                  <a:srgbClr val="1F2937"/>
                </a:solidFill>
                <a:latin typeface="Calibri"/>
              </a:rPr>
              <a:t>▸  Jarayon immun, qon tomir, nerv va skelet signal dasturlarining vaqt va joy bo‘yicha aniq muvofiqlashuviga bog‘liq.</a:t>
            </a:r>
          </a:p>
          <a:p>
            <a:pPr>
              <a:spcAft>
                <a:spcPts val="1200"/>
              </a:spcAft>
            </a:pPr>
            <a:r>
              <a:rPr sz="2200">
                <a:solidFill>
                  <a:srgbClr val="1F2937"/>
                </a:solidFill>
                <a:latin typeface="Calibri"/>
              </a:rPr>
              <a:t>▸  Klassik bosqichlar: yallig‘lanish, kallus hosil bo‘lishi va qayta qurilish. Oxirida vaqtinchalik to‘qima plastinkasimon (lamellar) suyakka aylanadi.</a:t>
            </a:r>
          </a:p>
          <a:p>
            <a:pPr>
              <a:spcAft>
                <a:spcPts val="1200"/>
              </a:spcAft>
            </a:pPr>
            <a:r>
              <a:rPr sz="2200">
                <a:solidFill>
                  <a:srgbClr val="1F2937"/>
                </a:solidFill>
                <a:latin typeface="Calibri"/>
              </a:rPr>
              <a:t>▸  Diqqat: doimiy yallig‘lanish, qon ta’minoti yetishmasligi, infeksiya yoki beqarorlik jarayonni kechikkan bitish yoki yolg‘on bo‘g‘imga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Sinish epidemiologiyasi va klinik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AQShda yiliga taxminan 2 million sinish: deyarli yarim million kasalxonaga yotqizish, 2,5 million shifokor qabuli, 180 000 hamshiralik uyiga yotqizish.</a:t>
            </a:r>
          </a:p>
          <a:p>
            <a:pPr>
              <a:spcAft>
                <a:spcPts val="800"/>
              </a:spcAft>
            </a:pPr>
            <a:r>
              <a:rPr sz="1600">
                <a:solidFill>
                  <a:srgbClr val="1F2937"/>
                </a:solidFill>
                <a:latin typeface="Calibri"/>
              </a:rPr>
              <a:t>▸  Son suyagi sinishi barcha sinishlarning atigi 14% ini tashkil qiladi, biroq xarajat va kasallanishning asosiy qismi shunga to‘g‘ri keladi.</a:t>
            </a:r>
          </a:p>
          <a:p>
            <a:pPr>
              <a:spcAft>
                <a:spcPts val="800"/>
              </a:spcAft>
            </a:pPr>
            <a:r>
              <a:rPr sz="1600">
                <a:solidFill>
                  <a:srgbClr val="1F2937"/>
                </a:solidFill>
                <a:latin typeface="Calibri"/>
              </a:rPr>
              <a:t>▸  Son sinishi bir holat uchun taxminan 35 000–54 000 dollar turadi, bir yil ichida o‘lim ko‘rsatkichi 20–30% ga yetadi.</a:t>
            </a:r>
          </a:p>
          <a:p>
            <a:pPr>
              <a:spcAft>
                <a:spcPts val="800"/>
              </a:spcAft>
            </a:pPr>
            <a:r>
              <a:rPr sz="1600">
                <a:solidFill>
                  <a:srgbClr val="1F2937"/>
                </a:solidFill>
                <a:latin typeface="Calibri"/>
              </a:rPr>
              <a:t>▸  Ko‘pchilik sinish 6–8 haftada bitadi, ammo sezilarli ulushi bitmaydi. Kechikish va nonunion (bitmaslik) xarajat va kasallanishni oshiradi.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Yangi sinish (2019)</a:t>
            </a:r>
          </a:p>
          <a:p>
            <a:pPr algn="l">
              <a:spcAft>
                <a:spcPts val="100"/>
              </a:spcAft>
            </a:pPr>
            <a:r>
              <a:rPr sz="3000" b="1">
                <a:solidFill>
                  <a:srgbClr val="0B1F3A"/>
                </a:solidFill>
                <a:latin typeface="Calibri"/>
              </a:rPr>
              <a:t>178 mln</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Mavjud sinish (2019)</a:t>
            </a:r>
          </a:p>
          <a:p>
            <a:pPr algn="l">
              <a:spcAft>
                <a:spcPts val="100"/>
              </a:spcAft>
            </a:pPr>
            <a:r>
              <a:rPr sz="3000" b="1">
                <a:solidFill>
                  <a:srgbClr val="0B1F3A"/>
                </a:solidFill>
                <a:latin typeface="Calibri"/>
              </a:rPr>
              <a:t>455 mln</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Son sinishi ulushi</a:t>
            </a:r>
          </a:p>
          <a:p>
            <a:pPr algn="l">
              <a:spcAft>
                <a:spcPts val="100"/>
              </a:spcAft>
            </a:pPr>
            <a:r>
              <a:rPr sz="3000" b="1">
                <a:solidFill>
                  <a:srgbClr val="0B1F3A"/>
                </a:solidFill>
                <a:latin typeface="Calibri"/>
              </a:rPr>
              <a:t>14 %</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Son sinishi: o‘lim</a:t>
            </a:r>
          </a:p>
          <a:p>
            <a:pPr algn="l">
              <a:spcAft>
                <a:spcPts val="100"/>
              </a:spcAft>
            </a:pPr>
            <a:r>
              <a:rPr sz="2500" b="1">
                <a:solidFill>
                  <a:srgbClr val="0B1F3A"/>
                </a:solidFill>
                <a:latin typeface="Calibri"/>
              </a:rPr>
              <a:t>20–30 %</a:t>
            </a:r>
            <a:r>
              <a:rPr sz="1200" b="0">
                <a:solidFill>
                  <a:srgbClr val="6B7280"/>
                </a:solidFill>
                <a:latin typeface="Calibri"/>
              </a:rPr>
              <a:t>  1 yilda</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Bitmaslik/kechikish</a:t>
            </a:r>
          </a:p>
          <a:p>
            <a:pPr algn="l">
              <a:spcAft>
                <a:spcPts val="100"/>
              </a:spcAft>
            </a:pPr>
            <a:r>
              <a:rPr sz="3000" b="1">
                <a:solidFill>
                  <a:srgbClr val="0B1F3A"/>
                </a:solidFill>
                <a:latin typeface="Calibri"/>
              </a:rPr>
              <a:t>5–10 %</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Sinish yuki: raqamlar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sinish yuki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Savol: uzun suyak sinishlarining taxminan necha foizi kechikib bitadi yoki nonunionga o‘tadi? Javob: taxminan 5–10%.</a:t>
            </a:r>
          </a:p>
          <a:p>
            <a:pPr>
              <a:spcAft>
                <a:spcPts val="800"/>
              </a:spcAft>
            </a:pPr>
            <a:r>
              <a:rPr sz="1600">
                <a:solidFill>
                  <a:srgbClr val="1F2937"/>
                </a:solidFill>
                <a:latin typeface="Calibri"/>
              </a:rPr>
              <a:t>▸  Bitishni yomonlashtiradigan tizimli omillar: diabet, surunkali buyrak kasalligi, semizlik, chekish va jinsiy gormonlar tanqisligi.</a:t>
            </a:r>
          </a:p>
          <a:p>
            <a:pPr>
              <a:spcAft>
                <a:spcPts val="800"/>
              </a:spcAft>
            </a:pPr>
            <a:r>
              <a:rPr sz="1600">
                <a:solidFill>
                  <a:srgbClr val="1F2937"/>
                </a:solidFill>
                <a:latin typeface="Calibri"/>
              </a:rPr>
              <a:t>▸  Kechikkan bitish odatda taxminan 3–6 oydan keyin, nonunion taxminan 6–9 oydan keyin tashxislanadi.</a:t>
            </a:r>
          </a:p>
          <a:p>
            <a:pPr>
              <a:spcAft>
                <a:spcPts val="800"/>
              </a:spcAft>
            </a:pPr>
            <a:r>
              <a:rPr sz="1600">
                <a:solidFill>
                  <a:srgbClr val="1F2937"/>
                </a:solidFill>
                <a:latin typeface="Calibri"/>
              </a:rPr>
              <a:t>▸  Diqqat: xato qilish xavfi. Kechikkan bitish ≠ nonunion: birinchisida kallusda biologik faollik ko‘pincha davom etadi.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Nonunion/kechikish</a:t>
            </a:r>
          </a:p>
          <a:p>
            <a:pPr algn="l">
              <a:spcAft>
                <a:spcPts val="100"/>
              </a:spcAft>
            </a:pPr>
            <a:r>
              <a:rPr sz="3000" b="1">
                <a:solidFill>
                  <a:srgbClr val="0B1F3A"/>
                </a:solidFill>
                <a:latin typeface="Calibri"/>
              </a:rPr>
              <a:t>5–10 %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Kechikkan bitish</a:t>
            </a:r>
          </a:p>
          <a:p>
            <a:pPr algn="l">
              <a:spcAft>
                <a:spcPts val="100"/>
              </a:spcAft>
            </a:pPr>
            <a:r>
              <a:rPr sz="2300" b="1">
                <a:solidFill>
                  <a:srgbClr val="0B1F3A"/>
                </a:solidFill>
                <a:latin typeface="Calibri"/>
              </a:rPr>
              <a:t>3–6 oydan keyin</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Nonunion tashxisi</a:t>
            </a:r>
          </a:p>
          <a:p>
            <a:pPr algn="l">
              <a:spcAft>
                <a:spcPts val="100"/>
              </a:spcAft>
            </a:pPr>
            <a:r>
              <a:rPr sz="2300" b="1">
                <a:solidFill>
                  <a:srgbClr val="0B1F3A"/>
                </a:solidFill>
                <a:latin typeface="Calibri"/>
              </a:rPr>
              <a:t>6–9 oydan keyin</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Kechikish va nonunion</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Bitishning klassik uch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Klassik sxema: yallig‘lanish, kallus hosil bo‘lishi va remodellanish bosqichlari.</a:t>
            </a:r>
          </a:p>
          <a:p>
            <a:pPr>
              <a:spcAft>
                <a:spcPts val="800"/>
              </a:spcAft>
            </a:pPr>
            <a:r>
              <a:rPr sz="1800">
                <a:solidFill>
                  <a:srgbClr val="1F2937"/>
                </a:solidFill>
                <a:latin typeface="Calibri"/>
              </a:rPr>
              <a:t>▸  Bosqichlar bir-birini qoplaydi: keyingisi oldingisi tugamasdan boshlanadi.</a:t>
            </a:r>
          </a:p>
          <a:p>
            <a:pPr>
              <a:spcAft>
                <a:spcPts val="800"/>
              </a:spcAft>
            </a:pPr>
            <a:r>
              <a:rPr sz="1800">
                <a:solidFill>
                  <a:srgbClr val="1F2937"/>
                </a:solidFill>
                <a:latin typeface="Calibri"/>
              </a:rPr>
              <a:t>▸  Remodellanish – oxirgi va eng uzoq bosqich, vaqtinchalik suyak yetuk lamellar suyakka almashadi.</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Yallig‘lanish</a:t>
            </a:r>
          </a:p>
          <a:p>
            <a:pPr algn="l">
              <a:spcAft>
                <a:spcPts val="200"/>
              </a:spcAft>
            </a:pPr>
            <a:r>
              <a:rPr sz="1400" b="0">
                <a:solidFill>
                  <a:srgbClr val="1F2937"/>
                </a:solidFill>
                <a:latin typeface="Calibri"/>
              </a:rPr>
              <a:t>Gematoma va immun hujayralar kelishi</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Kallus</a:t>
            </a:r>
          </a:p>
          <a:p>
            <a:pPr algn="l">
              <a:spcAft>
                <a:spcPts val="200"/>
              </a:spcAft>
            </a:pPr>
            <a:r>
              <a:rPr sz="1400" b="0">
                <a:solidFill>
                  <a:srgbClr val="1F2937"/>
                </a:solidFill>
                <a:latin typeface="Calibri"/>
              </a:rPr>
              <a:t>Yumshoq, so‘ng qattiq kallus hosil bo‘lishi</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Remodellanish</a:t>
            </a:r>
          </a:p>
          <a:p>
            <a:pPr algn="l">
              <a:spcAft>
                <a:spcPts val="200"/>
              </a:spcAft>
            </a:pPr>
            <a:r>
              <a:rPr sz="1400" b="0">
                <a:solidFill>
                  <a:srgbClr val="1F2937"/>
                </a:solidFill>
                <a:latin typeface="Calibri"/>
              </a:rPr>
              <a:t>To‘qilgan suyak lamellarga almashadi</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Klassik uch bosqich</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Bikle bo‘yicha to‘rt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Gematomada trombotsit, neytrofil va monotsitlar bo‘ladi; M1 makrofaglar yallig‘lanishni boshlaydi.</a:t>
            </a:r>
          </a:p>
          <a:p>
            <a:pPr>
              <a:spcAft>
                <a:spcPts val="800"/>
              </a:spcAft>
            </a:pPr>
            <a:r>
              <a:rPr sz="1800">
                <a:solidFill>
                  <a:srgbClr val="1F2937"/>
                </a:solidFill>
                <a:latin typeface="Calibri"/>
              </a:rPr>
              <a:t>▸  2-fazada angiogenez, xondrogenez va osteogenez boshlanadi, yumshoq kallus hosil bo‘ladi.</a:t>
            </a:r>
          </a:p>
          <a:p>
            <a:pPr>
              <a:spcAft>
                <a:spcPts val="800"/>
              </a:spcAft>
            </a:pPr>
            <a:r>
              <a:rPr sz="1800">
                <a:solidFill>
                  <a:srgbClr val="1F2937"/>
                </a:solidFill>
                <a:latin typeface="Calibri"/>
              </a:rPr>
              <a:t>▸  3-fazada xondrotsitlar mineralizatsiyalanadi; 4-fazada to‘qima lamellyar suyakka aylanadi.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Gematoma, yallig‘lanish</a:t>
            </a:r>
          </a:p>
          <a:p>
            <a:pPr algn="l">
              <a:spcAft>
                <a:spcPts val="200"/>
              </a:spcAft>
            </a:pPr>
            <a:r>
              <a:rPr sz="1400" b="0">
                <a:solidFill>
                  <a:srgbClr val="1F2937"/>
                </a:solidFill>
                <a:latin typeface="Calibri"/>
              </a:rPr>
              <a:t>≈5 kun: trombotsit, neytrofil, monotsit; M1</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Yumshoq kallus</a:t>
            </a:r>
          </a:p>
          <a:p>
            <a:pPr algn="l">
              <a:spcAft>
                <a:spcPts val="200"/>
              </a:spcAft>
            </a:pPr>
            <a:r>
              <a:rPr sz="1400" b="0">
                <a:solidFill>
                  <a:srgbClr val="1F2937"/>
                </a:solidFill>
                <a:latin typeface="Calibri"/>
              </a:rPr>
              <a:t>≈5 kun: angiogenez, xondrogenez, osteogenez</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Qattiq kallus</a:t>
            </a:r>
          </a:p>
          <a:p>
            <a:pPr algn="l">
              <a:spcAft>
                <a:spcPts val="200"/>
              </a:spcAft>
            </a:pPr>
            <a:r>
              <a:rPr sz="1400" b="0">
                <a:solidFill>
                  <a:srgbClr val="1F2937"/>
                </a:solidFill>
                <a:latin typeface="Calibri"/>
              </a:rPr>
              <a:t>Bir necha hafta: xondrotsitlar mineralizatsiyasi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Remodellanish</a:t>
            </a:r>
          </a:p>
          <a:p>
            <a:pPr algn="l">
              <a:spcAft>
                <a:spcPts val="200"/>
              </a:spcAft>
            </a:pPr>
            <a:r>
              <a:rPr sz="1400" b="0">
                <a:solidFill>
                  <a:srgbClr val="1F2937"/>
                </a:solidFill>
                <a:latin typeface="Calibri"/>
              </a:rPr>
              <a:t>3–4 haftadan keyin, oylar–yillar: lamellyar suyak</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Bikle bo‘yicha to‘rt faza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Fazalarning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Fazalar bir-biriga o‘tadi: ularning chegarasi aniq emas, jarayonlar qisman bir vaqtda kechadi.</a:t>
            </a:r>
          </a:p>
          <a:p>
            <a:pPr>
              <a:spcAft>
                <a:spcPts val="800"/>
              </a:spcAft>
            </a:pPr>
            <a:r>
              <a:rPr sz="1800">
                <a:solidFill>
                  <a:srgbClr val="1F2937"/>
                </a:solidFill>
                <a:latin typeface="Calibri"/>
              </a:rPr>
              <a:t>▸  Yosh, qandli diabet, semizlik va autoimmun kasalliklar bitishga ta’sir qilib, nobitish xavfini oshiradi.</a:t>
            </a:r>
          </a:p>
          <a:p>
            <a:pPr>
              <a:spcAft>
                <a:spcPts val="800"/>
              </a:spcAft>
            </a:pPr>
            <a:r>
              <a:rPr sz="1800">
                <a:solidFill>
                  <a:srgbClr val="1F2937"/>
                </a:solidFill>
                <a:latin typeface="Calibri"/>
              </a:rPr>
              <a:t>▸  Remodellanish 3–4 haftadan keyin boshlanib, oylar davomida davom etadi.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837450"/>
                <a:gridCol w="2450525"/>
              </a:tblGrid>
              <a:tr h="614476">
                <a:tc>
                  <a:txBody>
                    <a:bodyPr/>
                    <a:lstStyle/>
                    <a:p>
                      <a:r>
                        <a:rPr sz="1800" b="1">
                          <a:solidFill>
                            <a:srgbClr val="FFFFFF"/>
                          </a:solidFill>
                        </a:rPr>
                        <a:t>Faza</a:t>
                      </a:r>
                    </a:p>
                  </a:txBody>
                  <a:tcPr marL="73152" marR="73152" marT="36576" marB="36576">
                    <a:solidFill>
                      <a:srgbClr val="0B1F3A"/>
                    </a:solidFill>
                  </a:tcPr>
                </a:tc>
                <a:tc>
                  <a:txBody>
                    <a:bodyPr/>
                    <a:lstStyle/>
                    <a:p>
                      <a:r>
                        <a:rPr sz="1800" b="1">
                          <a:solidFill>
                            <a:srgbClr val="FFFFFF"/>
                          </a:solidFill>
                        </a:rPr>
                        <a:t>Davomiyligi</a:t>
                      </a:r>
                    </a:p>
                  </a:txBody>
                  <a:tcPr marL="73152" marR="73152" marT="36576" marB="36576">
                    <a:solidFill>
                      <a:srgbClr val="0B1F3A"/>
                    </a:solidFill>
                  </a:tcPr>
                </a:tc>
              </a:tr>
              <a:tr h="614476">
                <a:tc>
                  <a:txBody>
                    <a:bodyPr/>
                    <a:lstStyle/>
                    <a:p>
                      <a:r>
                        <a:rPr sz="1700" b="0">
                          <a:solidFill>
                            <a:srgbClr val="1F2937"/>
                          </a:solidFill>
                        </a:rPr>
                        <a:t>1-faza: gematoma</a:t>
                      </a:r>
                    </a:p>
                  </a:txBody>
                  <a:tcPr marL="73152" marR="73152" marT="36576" marB="36576">
                    <a:solidFill>
                      <a:srgbClr val="E8EEF6"/>
                    </a:solidFill>
                  </a:tcPr>
                </a:tc>
                <a:tc>
                  <a:txBody>
                    <a:bodyPr/>
                    <a:lstStyle/>
                    <a:p>
                      <a:r>
                        <a:rPr sz="1700" b="0">
                          <a:solidFill>
                            <a:srgbClr val="1F2937"/>
                          </a:solidFill>
                        </a:rPr>
                        <a:t>taxminan 5 kun</a:t>
                      </a:r>
                    </a:p>
                  </a:txBody>
                  <a:tcPr marL="73152" marR="73152" marT="36576" marB="36576">
                    <a:solidFill>
                      <a:srgbClr val="E8EEF6"/>
                    </a:solidFill>
                  </a:tcPr>
                </a:tc>
              </a:tr>
              <a:tr h="614476">
                <a:tc>
                  <a:txBody>
                    <a:bodyPr/>
                    <a:lstStyle/>
                    <a:p>
                      <a:r>
                        <a:rPr sz="1700" b="0">
                          <a:solidFill>
                            <a:srgbClr val="1F2937"/>
                          </a:solidFill>
                        </a:rPr>
                        <a:t>2-faza: yumshoq kallus</a:t>
                      </a:r>
                    </a:p>
                  </a:txBody>
                  <a:tcPr marL="73152" marR="73152" marT="36576" marB="36576">
                    <a:solidFill>
                      <a:srgbClr val="FFFFFF"/>
                    </a:solidFill>
                  </a:tcPr>
                </a:tc>
                <a:tc>
                  <a:txBody>
                    <a:bodyPr/>
                    <a:lstStyle/>
                    <a:p>
                      <a:r>
                        <a:rPr sz="1700" b="0">
                          <a:solidFill>
                            <a:srgbClr val="1F2937"/>
                          </a:solidFill>
                        </a:rPr>
                        <a:t>taxminan 5 kun</a:t>
                      </a:r>
                    </a:p>
                  </a:txBody>
                  <a:tcPr marL="73152" marR="73152" marT="36576" marB="36576">
                    <a:solidFill>
                      <a:srgbClr val="FFFFFF"/>
                    </a:solidFill>
                  </a:tcPr>
                </a:tc>
              </a:tr>
              <a:tr h="614476">
                <a:tc>
                  <a:txBody>
                    <a:bodyPr/>
                    <a:lstStyle/>
                    <a:p>
                      <a:r>
                        <a:rPr sz="1700" b="0">
                          <a:solidFill>
                            <a:srgbClr val="1F2937"/>
                          </a:solidFill>
                        </a:rPr>
                        <a:t>3-faza: qattiq kallus</a:t>
                      </a:r>
                    </a:p>
                  </a:txBody>
                  <a:tcPr marL="73152" marR="73152" marT="36576" marB="36576">
                    <a:solidFill>
                      <a:srgbClr val="E8EEF6"/>
                    </a:solidFill>
                  </a:tcPr>
                </a:tc>
                <a:tc>
                  <a:txBody>
                    <a:bodyPr/>
                    <a:lstStyle/>
                    <a:p>
                      <a:r>
                        <a:rPr sz="1700" b="0">
                          <a:solidFill>
                            <a:srgbClr val="1F2937"/>
                          </a:solidFill>
                        </a:rPr>
                        <a:t>bir necha hafta</a:t>
                      </a:r>
                    </a:p>
                  </a:txBody>
                  <a:tcPr marL="73152" marR="73152" marT="36576" marB="36576">
                    <a:solidFill>
                      <a:srgbClr val="E8EEF6"/>
                    </a:solidFill>
                  </a:tcPr>
                </a:tc>
              </a:tr>
              <a:tr h="614476">
                <a:tc>
                  <a:txBody>
                    <a:bodyPr/>
                    <a:lstStyle/>
                    <a:p>
                      <a:r>
                        <a:rPr sz="1700" b="0">
                          <a:solidFill>
                            <a:srgbClr val="1F2937"/>
                          </a:solidFill>
                        </a:rPr>
                        <a:t>4-faza: remodellanish</a:t>
                      </a:r>
                    </a:p>
                  </a:txBody>
                  <a:tcPr marL="73152" marR="73152" marT="36576" marB="36576">
                    <a:solidFill>
                      <a:srgbClr val="FFFFFF"/>
                    </a:solidFill>
                  </a:tcPr>
                </a:tc>
                <a:tc>
                  <a:txBody>
                    <a:bodyPr/>
                    <a:lstStyle/>
                    <a:p>
                      <a:r>
                        <a:rPr sz="1700" b="0">
                          <a:solidFill>
                            <a:srgbClr val="1F2937"/>
                          </a:solidFill>
                        </a:rPr>
                        <a:t>oylar, hatto yillar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Fazalar vaqt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Uchta suyak hosil bo‘lish joyi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Sayt 1 va 2 hujayralarining asosiy manbai periost ildiz hujayralaridir.</a:t>
            </a:r>
          </a:p>
          <a:p>
            <a:pPr>
              <a:spcAft>
                <a:spcPts val="800"/>
              </a:spcAft>
            </a:pPr>
            <a:r>
              <a:rPr sz="1800">
                <a:solidFill>
                  <a:srgbClr val="1F2937"/>
                </a:solidFill>
                <a:latin typeface="Calibri"/>
              </a:rPr>
              <a:t>▸  Sayt 3 hujayralari ilik ildiz hujayralaridan va kortikal osteotsitlarning transdifferensiyasidan keladi.</a:t>
            </a:r>
          </a:p>
          <a:p>
            <a:pPr>
              <a:spcAft>
                <a:spcPts val="800"/>
              </a:spcAft>
            </a:pPr>
            <a:r>
              <a:rPr sz="1800">
                <a:solidFill>
                  <a:srgbClr val="1F2937"/>
                </a:solidFill>
                <a:latin typeface="Calibri"/>
              </a:rPr>
              <a:t>▸  Diqqat: ilik ichidagi pin sayt 3 ni yo‘q qiladi, shuning uchun u kam o‘rganilgan.</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1: periost bo‘ylab</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Jarayon: intramembranoz</a:t>
            </a:r>
          </a:p>
          <a:p>
            <a:pPr algn="l">
              <a:spcAft>
                <a:spcPts val="700"/>
              </a:spcAft>
            </a:pPr>
            <a:r>
              <a:rPr sz="1500" b="1">
                <a:solidFill>
                  <a:srgbClr val="C9A227"/>
                </a:solidFill>
                <a:latin typeface="Calibri"/>
              </a:rPr>
              <a:t>●  </a:t>
            </a:r>
            <a:r>
              <a:rPr sz="1500" b="0">
                <a:solidFill>
                  <a:srgbClr val="1F2937"/>
                </a:solidFill>
                <a:latin typeface="Calibri"/>
              </a:rPr>
              <a:t>Xaftaga kerak emas</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2: sinish oralig‘ida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Jarayon: endoxondral</a:t>
            </a:r>
          </a:p>
          <a:p>
            <a:pPr algn="l">
              <a:spcAft>
                <a:spcPts val="700"/>
              </a:spcAft>
            </a:pPr>
            <a:r>
              <a:rPr sz="1500" b="1">
                <a:solidFill>
                  <a:srgbClr val="C9A227"/>
                </a:solidFill>
                <a:latin typeface="Calibri"/>
              </a:rPr>
              <a:t>●  </a:t>
            </a:r>
            <a:r>
              <a:rPr sz="1500" b="0">
                <a:solidFill>
                  <a:srgbClr val="1F2937"/>
                </a:solidFill>
                <a:latin typeface="Calibri"/>
              </a:rPr>
              <a:t>Xaftaga orqali o‘tadi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3: ilik ichida</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Jarayon: intramedullyar</a:t>
            </a:r>
          </a:p>
          <a:p>
            <a:pPr algn="l">
              <a:spcAft>
                <a:spcPts val="700"/>
              </a:spcAft>
            </a:pPr>
            <a:r>
              <a:rPr sz="1500" b="1">
                <a:solidFill>
                  <a:srgbClr val="C9A227"/>
                </a:solidFill>
                <a:latin typeface="Calibri"/>
              </a:rPr>
              <a:t>●  </a:t>
            </a:r>
            <a:r>
              <a:rPr sz="1500" b="0">
                <a:solidFill>
                  <a:srgbClr val="1F2937"/>
                </a:solidFill>
                <a:latin typeface="Calibri"/>
              </a:rPr>
              <a:t>Xaftaga kerak emas</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Suyak hosil bo‘lishining uch joyi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intramembranoz ≠ endoxondral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Intramembranoz suyak hosil bo‘lishi periost yuzasi bo‘ylab kechadi va oraliq xaftaga bosqichini talab qilmaydi.</a:t>
            </a:r>
          </a:p>
          <a:p>
            <a:pPr>
              <a:spcAft>
                <a:spcPts val="1200"/>
              </a:spcAft>
            </a:pPr>
            <a:r>
              <a:rPr sz="2200">
                <a:solidFill>
                  <a:srgbClr val="1F2937"/>
                </a:solidFill>
                <a:latin typeface="Calibri"/>
              </a:rPr>
              <a:t>▸  Endoxondral suyak sinish uchlari orasidagi ko‘prik joyda rivojlanadi: avval xaftaga hosil bo‘ladi, keyin u suyak bilan almashadi.</a:t>
            </a:r>
          </a:p>
          <a:p>
            <a:pPr>
              <a:spcAft>
                <a:spcPts val="1200"/>
              </a:spcAft>
            </a:pPr>
            <a:r>
              <a:rPr sz="2200">
                <a:solidFill>
                  <a:srgbClr val="1F2937"/>
                </a:solidFill>
                <a:latin typeface="Calibri"/>
              </a:rPr>
              <a:t>▸  Intramedullyar suyak ilik ichida, sinish uchlarida hosil bo‘ladi. U ham xaftaga oraliq bosqichisiz kechadi.</a:t>
            </a:r>
          </a:p>
          <a:p>
            <a:pPr>
              <a:spcAft>
                <a:spcPts val="1200"/>
              </a:spcAft>
            </a:pPr>
            <a:r>
              <a:rPr sz="2200">
                <a:solidFill>
                  <a:srgbClr val="1F2937"/>
                </a:solidFill>
                <a:latin typeface="Calibri"/>
              </a:rPr>
              <a:t>▸  Diqqat: xato qilish xavfi. Xaftagasiz suyak hosil bo‘lishini faqat intramembranoz deb o‘ylamang; intramedullyar yo‘l ham xaftagasiz.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intramedullyar mix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uzun suyak sinishi intramedullyar mix bilan mahkamlangan. Mix ilik bo‘shlig‘ini egallab, uni amalda yo‘qotadi.</a:t>
            </a:r>
          </a:p>
          <a:p>
            <a:pPr>
              <a:spcAft>
                <a:spcPts val="1200"/>
              </a:spcAft>
            </a:pPr>
            <a:r>
              <a:rPr sz="2200">
                <a:solidFill>
                  <a:srgbClr val="1F2937"/>
                </a:solidFill>
                <a:latin typeface="Calibri"/>
              </a:rPr>
              <a:t>▸  Ilik bo‘shlig‘i yo‘qolsa, 3-sayt (ilik ichidagi) yangi suyak hosil bo‘lishi uchun joy qolmaydi. Shu sababli bu sayt ko‘pincha e’tibordan chetda qolgan.</a:t>
            </a:r>
          </a:p>
          <a:p>
            <a:pPr>
              <a:spcAft>
                <a:spcPts val="1200"/>
              </a:spcAft>
            </a:pPr>
            <a:r>
              <a:rPr sz="2200">
                <a:solidFill>
                  <a:srgbClr val="1F2937"/>
                </a:solidFill>
                <a:latin typeface="Calibri"/>
              </a:rPr>
              <a:t>▸  Sichqonlarda intramedullyar suyak 5–10-kunda boshlanadi, vaqtinchalik bo‘ladi va taxminan 28-kunga kelib deyarli yo‘qoladi.</a:t>
            </a:r>
          </a:p>
          <a:p>
            <a:pPr>
              <a:spcAft>
                <a:spcPts val="1200"/>
              </a:spcAft>
            </a:pPr>
            <a:r>
              <a:rPr sz="2200">
                <a:solidFill>
                  <a:srgbClr val="1F2937"/>
                </a:solidFill>
                <a:latin typeface="Calibri"/>
              </a:rPr>
              <a:t>▸  Savol: mix qo‘yilgan sinishda qaysi saytlarda suyak hosil bo‘lishi saqlanadi, qaysi birida to‘sqinlik qilinadi? Javobni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1-faza: gematoma va trombotsitlar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Sinishda qon tomirlari uziladi va gematoma hosil bo‘ladi. U vaqtinchalik matritsa sifatida tiklanishni boshlab beradi.</a:t>
            </a:r>
          </a:p>
          <a:p>
            <a:pPr>
              <a:spcAft>
                <a:spcPts val="1200"/>
              </a:spcAft>
            </a:pPr>
            <a:r>
              <a:rPr sz="2200">
                <a:solidFill>
                  <a:srgbClr val="1F2937"/>
                </a:solidFill>
                <a:latin typeface="Calibri"/>
              </a:rPr>
              <a:t>▸  Trombotsitlar tez agregatsiyalanib qon ketishini to‘xtatadi va o‘sish omillari hamda sitokinlarni ajratib chiqaradi.</a:t>
            </a:r>
          </a:p>
          <a:p>
            <a:pPr>
              <a:spcAft>
                <a:spcPts val="1200"/>
              </a:spcAft>
            </a:pPr>
            <a:r>
              <a:rPr sz="2200">
                <a:solidFill>
                  <a:srgbClr val="1F2937"/>
                </a:solidFill>
                <a:latin typeface="Calibri"/>
              </a:rPr>
              <a:t>▸  Bu moddalar yallig‘lanish hujayralarini va mezenximal stromal hujayralarni (MSC) sinish joyiga jalb qiladi.</a:t>
            </a:r>
          </a:p>
          <a:p>
            <a:pPr>
              <a:spcAft>
                <a:spcPts val="1200"/>
              </a:spcAft>
            </a:pPr>
            <a:r>
              <a:rPr sz="2200">
                <a:solidFill>
                  <a:srgbClr val="1F2937"/>
                </a:solidFill>
                <a:latin typeface="Calibri"/>
              </a:rPr>
              <a:t>▸  Gematomani eritrotsitlar va trombotsitlar hosil qiladi, unga ilikdan neytrofil va monotsitlar kiradi. Bu faza taxminan 5 kun davom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1-faza: neytrofil va makrofaglar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Gematoma hosil bo‘lgach, neytrofillar bir necha soat ichida jarohat joyiga kiradi.</a:t>
            </a:r>
          </a:p>
          <a:p>
            <a:pPr>
              <a:spcAft>
                <a:spcPts val="800"/>
              </a:spcAft>
            </a:pPr>
            <a:r>
              <a:rPr sz="1800">
                <a:solidFill>
                  <a:srgbClr val="1F2937"/>
                </a:solidFill>
                <a:latin typeface="Calibri"/>
              </a:rPr>
              <a:t>▸  Monositlar gematomaga kirib, makrofagga aylanadi va faollik holatini o‘zgartiradi.</a:t>
            </a:r>
          </a:p>
          <a:p>
            <a:pPr>
              <a:spcAft>
                <a:spcPts val="800"/>
              </a:spcAft>
            </a:pPr>
            <a:r>
              <a:rPr sz="1800">
                <a:solidFill>
                  <a:srgbClr val="1F2937"/>
                </a:solidFill>
                <a:latin typeface="Calibri"/>
              </a:rPr>
              <a:t>▸  Erta M1 makrofaglar gipoksik gematomada yallig‘lanish sitokinlarini ajratadi.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Gematoma va trombotsitlar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Neytrofillar kiradi (soatlar)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Monositlar → makrofaglar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M1: yallig‘lanish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M2: tiklanish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Hujayralar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Eslab qoling: M1 → M2 o‘tishi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Eslab qoling: M1 – “tozalovchi va qo‘riqchi”, M2 – “quruvchi va tinchlantiruvchi”. Bu qisqa mnemonika manbadagi funksiyalarga asoslangan.</a:t>
            </a:r>
          </a:p>
          <a:p>
            <a:pPr>
              <a:spcAft>
                <a:spcPts val="800"/>
              </a:spcAft>
            </a:pPr>
            <a:r>
              <a:rPr sz="1600">
                <a:solidFill>
                  <a:srgbClr val="1F2937"/>
                </a:solidFill>
                <a:latin typeface="Calibri"/>
              </a:rPr>
              <a:t>▸  Erta M1 makrofaglar to‘qimani tozalaydi, mikroblardan himoya qiladi. Keyingi M2 makrofaglar yallig‘lanishni so‘ndirib, angiogenezni qo‘llaydi.</a:t>
            </a:r>
          </a:p>
          <a:p>
            <a:pPr>
              <a:spcAft>
                <a:spcPts val="800"/>
              </a:spcAft>
            </a:pPr>
            <a:r>
              <a:rPr sz="1600">
                <a:solidFill>
                  <a:srgbClr val="1F2937"/>
                </a:solidFill>
                <a:latin typeface="Calibri"/>
              </a:rPr>
              <a:t>▸  M2 makrofaglar interleykin-10 (IL-10) ajratib yallig‘lanishni kamaytiradi, VEGF (qon tomir o‘sish omili) orqali tomir hosil bo‘lishini qo‘llaydi.</a:t>
            </a:r>
          </a:p>
          <a:p>
            <a:pPr>
              <a:spcAft>
                <a:spcPts val="800"/>
              </a:spcAft>
            </a:pPr>
            <a:r>
              <a:rPr sz="1600">
                <a:solidFill>
                  <a:srgbClr val="1F2937"/>
                </a:solidFill>
                <a:latin typeface="Calibri"/>
              </a:rPr>
              <a:t>▸  Diqqat: M1 ≠ M2 qat’iy ikki alohida guruh emas. M1/M2 soddalashtirilgan sxema bo‘lib, funksional o‘tishni ifodalovchi qulay qisqartma sifatida ishlatiladi.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M1 (tozalovchi)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To‘qimani tozalaydi</a:t>
            </a:r>
          </a:p>
          <a:p>
            <a:pPr algn="l">
              <a:spcAft>
                <a:spcPts val="700"/>
              </a:spcAft>
            </a:pPr>
            <a:r>
              <a:rPr sz="1500" b="1">
                <a:solidFill>
                  <a:srgbClr val="C9A227"/>
                </a:solidFill>
                <a:latin typeface="Calibri"/>
              </a:rPr>
              <a:t>●  </a:t>
            </a:r>
            <a:r>
              <a:rPr sz="1500" b="0">
                <a:solidFill>
                  <a:srgbClr val="1F2937"/>
                </a:solidFill>
                <a:latin typeface="Calibri"/>
              </a:rPr>
              <a:t>Mikroblardan himoya qiladi</a:t>
            </a:r>
          </a:p>
          <a:p>
            <a:pPr algn="l">
              <a:spcAft>
                <a:spcPts val="700"/>
              </a:spcAft>
            </a:pPr>
            <a:r>
              <a:rPr sz="1500" b="1">
                <a:solidFill>
                  <a:srgbClr val="C9A227"/>
                </a:solidFill>
                <a:latin typeface="Calibri"/>
              </a:rPr>
              <a:t>●  </a:t>
            </a:r>
            <a:r>
              <a:rPr sz="1500" b="0">
                <a:solidFill>
                  <a:srgbClr val="1F2937"/>
                </a:solidFill>
                <a:latin typeface="Calibri"/>
              </a:rPr>
              <a:t>Gipoksik gematomada sitokin ajratadi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M2 (quruvchi)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Yallig‘lanishni so‘ndiradi</a:t>
            </a:r>
          </a:p>
          <a:p>
            <a:pPr algn="l">
              <a:spcAft>
                <a:spcPts val="700"/>
              </a:spcAft>
            </a:pPr>
            <a:r>
              <a:rPr sz="1500" b="1">
                <a:solidFill>
                  <a:srgbClr val="C9A227"/>
                </a:solidFill>
                <a:latin typeface="Calibri"/>
              </a:rPr>
              <a:t>●  </a:t>
            </a:r>
            <a:r>
              <a:rPr sz="1500" b="0">
                <a:solidFill>
                  <a:srgbClr val="1F2937"/>
                </a:solidFill>
                <a:latin typeface="Calibri"/>
              </a:rPr>
              <a:t>IL-10 ajratadi</a:t>
            </a:r>
          </a:p>
          <a:p>
            <a:pPr algn="l">
              <a:spcAft>
                <a:spcPts val="700"/>
              </a:spcAft>
            </a:pPr>
            <a:r>
              <a:rPr sz="1500" b="1">
                <a:solidFill>
                  <a:srgbClr val="C9A227"/>
                </a:solidFill>
                <a:latin typeface="Calibri"/>
              </a:rPr>
              <a:t>●  </a:t>
            </a:r>
            <a:r>
              <a:rPr sz="1500" b="0">
                <a:solidFill>
                  <a:srgbClr val="1F2937"/>
                </a:solidFill>
                <a:latin typeface="Calibri"/>
              </a:rPr>
              <a:t>VEGF: angiogenezni qo‘llaydi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M1 → M2 o‘tishi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immun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Regulyator T hujayralar (Treg) haddan tashqari yallig‘lanishni jilovlaydi va tiklanishni qo‘llovchi immun holatni saqlaydi.</a:t>
            </a:r>
          </a:p>
          <a:p>
            <a:pPr>
              <a:spcAft>
                <a:spcPts val="1200"/>
              </a:spcAft>
            </a:pPr>
            <a:r>
              <a:rPr sz="2200">
                <a:solidFill>
                  <a:srgbClr val="1F2937"/>
                </a:solidFill>
                <a:latin typeface="Calibri"/>
              </a:rPr>
              <a:t>▸  Semiz hujayralar qon tomir o‘tkazuvchanligiga, leykotsitlar jalb etilishiga va mahalliy immun faollikka ta’sir qilishi mumkin.</a:t>
            </a:r>
          </a:p>
          <a:p>
            <a:pPr>
              <a:spcAft>
                <a:spcPts val="1200"/>
              </a:spcAft>
            </a:pPr>
            <a:r>
              <a:rPr sz="2200">
                <a:solidFill>
                  <a:srgbClr val="1F2937"/>
                </a:solidFill>
                <a:latin typeface="Calibri"/>
              </a:rPr>
              <a:t>▸  MSC ham yallig‘lanishni bostiradi: to‘g‘ridan-to‘g‘ri kontakt va TGFβ (transformatsiyalovchi o‘sish omili beta) orqali Treg ni induksiya qiladi.</a:t>
            </a:r>
          </a:p>
          <a:p>
            <a:pPr>
              <a:spcAft>
                <a:spcPts val="1200"/>
              </a:spcAft>
            </a:pPr>
            <a:r>
              <a:rPr sz="2200">
                <a:solidFill>
                  <a:srgbClr val="1F2937"/>
                </a:solidFill>
                <a:latin typeface="Calibri"/>
              </a:rPr>
              <a:t>▸  Dendritik va B hujayralar adaptiv immun javobni hamda osteoklastlar bilan bog‘liq qayta qurilishni modulyatsiya qilishi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davomli yallig‘lanish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sinish joyida infeksiya bor, yallig‘lanish so‘nmaydi va bitish tiklanish bosqichiga o‘tolmayapti.</a:t>
            </a:r>
          </a:p>
          <a:p>
            <a:pPr>
              <a:spcAft>
                <a:spcPts val="1200"/>
              </a:spcAft>
            </a:pPr>
            <a:r>
              <a:rPr sz="2200">
                <a:solidFill>
                  <a:srgbClr val="1F2937"/>
                </a:solidFill>
                <a:latin typeface="Calibri"/>
              </a:rPr>
              <a:t>▸  O‘sma nekrozi omili (TNF), interleykin-1β (IL-1β) va IL-6 uzoq saqlansa, yallig‘lanuvchi makrofaglar faol qoladi, osteogenez va angiogenez bosiladi.</a:t>
            </a:r>
          </a:p>
          <a:p>
            <a:pPr>
              <a:spcAft>
                <a:spcPts val="1200"/>
              </a:spcAft>
            </a:pPr>
            <a:r>
              <a:rPr sz="2200">
                <a:solidFill>
                  <a:srgbClr val="1F2937"/>
                </a:solidFill>
                <a:latin typeface="Calibri"/>
              </a:rPr>
              <a:t>▸  Diqqat: rentgendagi kallus ko‘rinishi infeksiya borligini yoki bitish qobiliyatini o‘zi isbotlamaydi.</a:t>
            </a:r>
          </a:p>
          <a:p>
            <a:pPr>
              <a:spcAft>
                <a:spcPts val="1200"/>
              </a:spcAft>
            </a:pPr>
            <a:r>
              <a:rPr sz="2200">
                <a:solidFill>
                  <a:srgbClr val="1F2937"/>
                </a:solidFill>
                <a:latin typeface="Calibri"/>
              </a:rPr>
              <a:t>▸  Savol: nega sitokinlarni butunlay bostirish xavfli va davomli yallig‘lanish qanday oqibatga (bitmaslik) olib kelishi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2-faza: yumshoq kallus va angiogenez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Periost progenitorlari osteoblast yoki xondrotsitga aylanib, kallus hosil qiladi.</a:t>
            </a:r>
          </a:p>
          <a:p>
            <a:pPr>
              <a:spcAft>
                <a:spcPts val="800"/>
              </a:spcAft>
            </a:pPr>
            <a:r>
              <a:rPr sz="1800">
                <a:solidFill>
                  <a:srgbClr val="1F2937"/>
                </a:solidFill>
                <a:latin typeface="Calibri"/>
              </a:rPr>
              <a:t>▸  Kislorodli, barqaror joyda osteoblast, gipoksiya yoki zo‘riqishda xondrotsit yo‘nalishi tanlanadi.</a:t>
            </a:r>
          </a:p>
          <a:p>
            <a:pPr>
              <a:spcAft>
                <a:spcPts val="800"/>
              </a:spcAft>
            </a:pPr>
            <a:r>
              <a:rPr sz="1800">
                <a:solidFill>
                  <a:srgbClr val="1F2937"/>
                </a:solidFill>
                <a:latin typeface="Calibri"/>
              </a:rPr>
              <a:t>▸  Yangi kapillyarlar kislorod va oziq yetkazib, yumshoq kallusdan qattiq kallusga o‘tishni ta’minlaydi.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Gematoma va yallig‘lanish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Periost progenitorlari ko‘payadi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Angiogenez: kapillyar o‘sishi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Xondrogenez: yumshoq kallus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Mineralizatsiya: qattiq kallus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2-faza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 Flurina Staubli va boshq., Fracture healing: from molecular and cellular mechanisms to therapeutic strategies, betlar: PMID 42768017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Kallusda hujayra taqdirini belgilovchi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Kislorod va barqarorlik bo‘lsa hujayralar osteoblastga, gipoksiyada xondrotsitga aylanadi.</a:t>
            </a:r>
          </a:p>
          <a:p>
            <a:pPr>
              <a:spcAft>
                <a:spcPts val="800"/>
              </a:spcAft>
            </a:pPr>
            <a:r>
              <a:rPr sz="1800">
                <a:solidFill>
                  <a:srgbClr val="1F2937"/>
                </a:solidFill>
                <a:latin typeface="Calibri"/>
              </a:rPr>
              <a:t>▸  Runx2 osteogenez dasturini, Sox9 esa xondrogenez dasturini boshqaradi.</a:t>
            </a:r>
          </a:p>
          <a:p>
            <a:pPr>
              <a:spcAft>
                <a:spcPts val="800"/>
              </a:spcAft>
            </a:pPr>
            <a:r>
              <a:rPr sz="1800">
                <a:solidFill>
                  <a:srgbClr val="1F2937"/>
                </a:solidFill>
                <a:latin typeface="Calibri"/>
              </a:rPr>
              <a:t>▸  Gipertrofik xondrotsitlarning ayrimlari osteoblast zaxirasiga qo‘shilishi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Hujayra taqdiri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Kislorod + barqarorlik</a:t>
            </a:r>
          </a:p>
          <a:p>
            <a:pPr algn="l">
              <a:spcAft>
                <a:spcPts val="0"/>
              </a:spcAft>
            </a:pPr>
            <a:r>
              <a:rPr sz="1200" b="0">
                <a:solidFill>
                  <a:srgbClr val="1F2937"/>
                </a:solidFill>
                <a:latin typeface="Calibri"/>
              </a:rPr>
              <a:t>Osteogenez  ·  Kortikal yuzada intramembranoz suyak</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Gipoksiya yoki zo‘riqish</a:t>
            </a:r>
          </a:p>
          <a:p>
            <a:pPr algn="l">
              <a:spcAft>
                <a:spcPts val="0"/>
              </a:spcAft>
            </a:pPr>
            <a:r>
              <a:rPr sz="1200" b="0">
                <a:solidFill>
                  <a:srgbClr val="1F2937"/>
                </a:solidFill>
                <a:latin typeface="Calibri"/>
              </a:rPr>
              <a:t>Xondrogenez  ·  Xaftagali yumshoq kallus</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Runx2</a:t>
            </a:r>
          </a:p>
          <a:p>
            <a:pPr algn="l">
              <a:spcAft>
                <a:spcPts val="0"/>
              </a:spcAft>
            </a:pPr>
            <a:r>
              <a:rPr sz="1200" b="0">
                <a:solidFill>
                  <a:srgbClr val="1F2937"/>
                </a:solidFill>
                <a:latin typeface="Calibri"/>
              </a:rPr>
              <a:t>Osteoblast rivojlanishi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Sox9</a:t>
            </a:r>
          </a:p>
          <a:p>
            <a:pPr algn="l">
              <a:spcAft>
                <a:spcPts val="0"/>
              </a:spcAft>
            </a:pPr>
            <a:r>
              <a:rPr sz="1200" b="0">
                <a:solidFill>
                  <a:srgbClr val="1F2937"/>
                </a:solidFill>
                <a:latin typeface="Calibri"/>
              </a:rPr>
              <a:t>Xondrotsit dasturi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Taqdir omillari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gipoksiya va kallus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sinish joyida mezenximal stromal hujayralar (MSC) qaysi sharoitda xaftaga hosil qiladi, qaysi sharoitda esa to‘g‘ridan-to‘g‘ri suyak?</a:t>
            </a:r>
          </a:p>
          <a:p>
            <a:pPr>
              <a:spcAft>
                <a:spcPts val="1200"/>
              </a:spcAft>
            </a:pPr>
            <a:r>
              <a:rPr sz="2200">
                <a:solidFill>
                  <a:srgbClr val="1F2937"/>
                </a:solidFill>
                <a:latin typeface="Calibri"/>
              </a:rPr>
              <a:t>▸  Kislorodga boy va mexanik barqaror joylarda MSC osteogen yo‘nalishda ketadi. Kortikal yuzada intramembranoz suyak hosil bo‘ladi.</a:t>
            </a:r>
          </a:p>
          <a:p>
            <a:pPr>
              <a:spcAft>
                <a:spcPts val="1200"/>
              </a:spcAft>
            </a:pPr>
            <a:r>
              <a:rPr sz="2200">
                <a:solidFill>
                  <a:srgbClr val="1F2937"/>
                </a:solidFill>
                <a:latin typeface="Calibri"/>
              </a:rPr>
              <a:t>▸  Gipoksik yoki mexanik zo‘riqqan joyda MSC xondrogen dasturni tanlaydi. Natijada sinishni mustahkamlovchi xaftagali (yumshoq) kallus hosil bo‘ladi.</a:t>
            </a:r>
          </a:p>
          <a:p>
            <a:pPr>
              <a:spcAft>
                <a:spcPts val="1200"/>
              </a:spcAft>
            </a:pPr>
            <a:r>
              <a:rPr sz="2200">
                <a:solidFill>
                  <a:srgbClr val="1F2937"/>
                </a:solidFill>
                <a:latin typeface="Calibri"/>
              </a:rPr>
              <a:t>▸  Diqqat: endoxondral ≠ intramembranoz. Intramembranoz va intramedulyar suyak xaftaga bosqichisiz hosil bo‘ladi, xaftaga esa ko‘prik hududida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3-faza: yumshoq kallusdan qattiq kallusga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3-faza bir necha hafta davom etadi. Xaftaga olib tashlanib kalsiylanadi, qattiq kallus esa to‘liqroq shakllanadi.</a:t>
            </a:r>
          </a:p>
          <a:p>
            <a:pPr>
              <a:spcAft>
                <a:spcPts val="1200"/>
              </a:spcAft>
            </a:pPr>
            <a:r>
              <a:rPr sz="2200">
                <a:solidFill>
                  <a:srgbClr val="1F2937"/>
                </a:solidFill>
                <a:latin typeface="Calibri"/>
              </a:rPr>
              <a:t>▸  Xondrotsitlar mineralizatsiyalanadi. Ularni osteoklastlar olib tashlaydi yoki ular osteoblastlarga aylanadi. Jarayon tomirlanish bilan birga boradi.</a:t>
            </a:r>
          </a:p>
          <a:p>
            <a:pPr>
              <a:spcAft>
                <a:spcPts val="1200"/>
              </a:spcAft>
            </a:pPr>
            <a:r>
              <a:rPr sz="2200">
                <a:solidFill>
                  <a:srgbClr val="1F2937"/>
                </a:solidFill>
                <a:latin typeface="Calibri"/>
              </a:rPr>
              <a:t>▸  Gipertrofik xondrotsitlarda sox9 va X tur kollagen kamayadi, runx2, β-katenin ortadi; so‘ng ishqoriy fosfataza, osterix, osteopontin, osteokalsin paydo bo‘ladi.</a:t>
            </a:r>
          </a:p>
          <a:p>
            <a:pPr>
              <a:spcAft>
                <a:spcPts val="1200"/>
              </a:spcAft>
            </a:pPr>
            <a:r>
              <a:rPr sz="2200">
                <a:solidFill>
                  <a:srgbClr val="1F2937"/>
                </a:solidFill>
                <a:latin typeface="Calibri"/>
              </a:rPr>
              <a:t>▸  MMP13 matriksni parchalaydi, noggin esa pasayishi kerak. Dastlab to‘qima suyagi (woven bone) hosil bo‘ladi, 4-fazada u plastinkali suyakka almashadi.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tomirlar: VEGF/HIF va osteoangiogenez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Gipoksiyada HIF-1α (gipoksiya bilan induksiyalanuvchi omil) barqarorlashadi va VEGFni yoqadi.</a:t>
            </a:r>
          </a:p>
          <a:p>
            <a:pPr>
              <a:spcAft>
                <a:spcPts val="800"/>
              </a:spcAft>
            </a:pPr>
            <a:r>
              <a:rPr sz="1800">
                <a:solidFill>
                  <a:srgbClr val="1F2937"/>
                </a:solidFill>
                <a:latin typeface="Calibri"/>
              </a:rPr>
              <a:t>▸  VEGF (tomir endoteliy o‘sish omili) VEGFR2 orqali endoteliy ko‘payishi va tomir hosil bo‘lishini beradi.</a:t>
            </a:r>
          </a:p>
          <a:p>
            <a:pPr>
              <a:spcAft>
                <a:spcPts val="800"/>
              </a:spcAft>
            </a:pPr>
            <a:r>
              <a:rPr sz="1800">
                <a:solidFill>
                  <a:srgbClr val="1F2937"/>
                </a:solidFill>
                <a:latin typeface="Calibri"/>
              </a:rPr>
              <a:t>▸  H tur tomirlar osteoprogenitorlar bilan bog‘liq; bu asosan tajriba modellarida aniqlangan.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Sinishdan keyingi gipoksiya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HIF-1α barqarorlashadi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 ajraladi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VEGFR2: endoteliy o‘sishi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Tomir kallusga kiradi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Gipoksiyadan tomir kirishigacha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4-faza: remodellanish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Remodellanish — bitishning oxirgi va eng uzoq bosqichi. Vaqtinchalik to‘qima (woven) suyagi asta-sekin yetuk plastinkali suyakka almashadi.</a:t>
            </a:r>
          </a:p>
          <a:p>
            <a:pPr>
              <a:spcAft>
                <a:spcPts val="1200"/>
              </a:spcAft>
            </a:pPr>
            <a:r>
              <a:rPr sz="2200">
                <a:solidFill>
                  <a:srgbClr val="1F2937"/>
                </a:solidFill>
                <a:latin typeface="Calibri"/>
              </a:rPr>
              <a:t>▸  Bu jarayon sinishdan 3–4 hafta o‘tgach boshlanadi va oylar davomida cho‘ziladi.</a:t>
            </a:r>
          </a:p>
          <a:p>
            <a:pPr>
              <a:spcAft>
                <a:spcPts val="1200"/>
              </a:spcAft>
            </a:pPr>
            <a:r>
              <a:rPr sz="2200">
                <a:solidFill>
                  <a:srgbClr val="1F2937"/>
                </a:solidFill>
                <a:latin typeface="Calibri"/>
              </a:rPr>
              <a:t>▸  Maqsad — suyakni sinishdan oldingi holatiga qaytarish, shu jumladan qon yaratuvchi va trabekulyar tuzilmalarni tiklash.</a:t>
            </a:r>
          </a:p>
          <a:p>
            <a:pPr>
              <a:spcAft>
                <a:spcPts val="1200"/>
              </a:spcAft>
            </a:pPr>
            <a:r>
              <a:rPr sz="2200">
                <a:solidFill>
                  <a:srgbClr val="1F2937"/>
                </a:solidFill>
                <a:latin typeface="Calibri"/>
              </a:rPr>
              <a:t>▸  Odam suyagida vaqt o‘tishi bilan Havers tizimi, ya’ni markaziy qon kanali va kanalchalar tarmog‘i qayta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Remodellanish hujayralari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Rezorbsiya va hosil bo‘lish sikllari bir-biriga bog‘liq; suyak mexanik yuklamaga moslashadi.</a:t>
            </a:r>
          </a:p>
          <a:p>
            <a:pPr>
              <a:spcAft>
                <a:spcPts val="800"/>
              </a:spcAft>
            </a:pPr>
            <a:r>
              <a:rPr sz="1800">
                <a:solidFill>
                  <a:srgbClr val="1F2937"/>
                </a:solidFill>
                <a:latin typeface="Calibri"/>
              </a:rPr>
              <a:t>▸  Osteoklastlar — gematopoetik kelib chiqishli yirik ko‘p yadroli hujayralar.</a:t>
            </a:r>
          </a:p>
          <a:p>
            <a:pPr>
              <a:spcAft>
                <a:spcPts val="800"/>
              </a:spcAft>
            </a:pPr>
            <a:r>
              <a:rPr sz="1800">
                <a:solidFill>
                  <a:srgbClr val="1F2937"/>
                </a:solidFill>
                <a:latin typeface="Calibri"/>
              </a:rPr>
              <a:t>▸  Osteotsitlar kanalchalar orqali zo‘riqish va mikrozararni sezib, boshqa hujayralar ishini yo‘naltiradi.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Hujayra</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614476">
                <a:tc>
                  <a:txBody>
                    <a:bodyPr/>
                    <a:lstStyle/>
                    <a:p>
                      <a:r>
                        <a:rPr sz="1700" b="0">
                          <a:solidFill>
                            <a:srgbClr val="1F2937"/>
                          </a:solidFill>
                        </a:rPr>
                        <a:t>Osteoklast</a:t>
                      </a:r>
                    </a:p>
                  </a:txBody>
                  <a:tcPr marL="73152" marR="73152" marT="36576" marB="36576">
                    <a:solidFill>
                      <a:srgbClr val="E8EEF6"/>
                    </a:solidFill>
                  </a:tcPr>
                </a:tc>
                <a:tc>
                  <a:txBody>
                    <a:bodyPr/>
                    <a:lstStyle/>
                    <a:p>
                      <a:r>
                        <a:rPr sz="1700" b="0">
                          <a:solidFill>
                            <a:srgbClr val="1F2937"/>
                          </a:solidFill>
                        </a:rPr>
                        <a:t>Mineral va matritsani rezorbsiya qiladi</a:t>
                      </a:r>
                    </a:p>
                  </a:txBody>
                  <a:tcPr marL="73152" marR="73152" marT="36576" marB="36576">
                    <a:solidFill>
                      <a:srgbClr val="E8EEF6"/>
                    </a:solidFill>
                  </a:tcPr>
                </a:tc>
              </a:tr>
              <a:tr h="614476">
                <a:tc>
                  <a:txBody>
                    <a:bodyPr/>
                    <a:lstStyle/>
                    <a:p>
                      <a:r>
                        <a:rPr sz="1700" b="0">
                          <a:solidFill>
                            <a:srgbClr val="1F2937"/>
                          </a:solidFill>
                        </a:rPr>
                        <a:t>Osteoblast</a:t>
                      </a:r>
                    </a:p>
                  </a:txBody>
                  <a:tcPr marL="73152" marR="73152" marT="36576" marB="36576">
                    <a:solidFill>
                      <a:srgbClr val="FFFFFF"/>
                    </a:solidFill>
                  </a:tcPr>
                </a:tc>
                <a:tc>
                  <a:txBody>
                    <a:bodyPr/>
                    <a:lstStyle/>
                    <a:p>
                      <a:r>
                        <a:rPr sz="1700" b="0">
                          <a:solidFill>
                            <a:srgbClr val="1F2937"/>
                          </a:solidFill>
                        </a:rPr>
                        <a:t>Osteoid ajratadi, mineralizatsiya qiladi</a:t>
                      </a:r>
                    </a:p>
                  </a:txBody>
                  <a:tcPr marL="73152" marR="73152" marT="36576" marB="36576">
                    <a:solidFill>
                      <a:srgbClr val="FFFFFF"/>
                    </a:solidFill>
                  </a:tcPr>
                </a:tc>
              </a:tr>
              <a:tr h="614476">
                <a:tc>
                  <a:txBody>
                    <a:bodyPr/>
                    <a:lstStyle/>
                    <a:p>
                      <a:r>
                        <a:rPr sz="1700" b="0">
                          <a:solidFill>
                            <a:srgbClr val="1F2937"/>
                          </a:solidFill>
                        </a:rPr>
                        <a:t>Osteotsit</a:t>
                      </a:r>
                    </a:p>
                  </a:txBody>
                  <a:tcPr marL="73152" marR="73152" marT="36576" marB="36576">
                    <a:solidFill>
                      <a:srgbClr val="E8EEF6"/>
                    </a:solidFill>
                  </a:tcPr>
                </a:tc>
                <a:tc>
                  <a:txBody>
                    <a:bodyPr/>
                    <a:lstStyle/>
                    <a:p>
                      <a:r>
                        <a:rPr sz="1700" b="0">
                          <a:solidFill>
                            <a:srgbClr val="1F2937"/>
                          </a:solidFill>
                        </a:rPr>
                        <a:t>Mexanosensor: zo‘riqishni sezadi</a:t>
                      </a:r>
                    </a:p>
                  </a:txBody>
                  <a:tcPr marL="73152" marR="73152" marT="36576" marB="36576">
                    <a:solidFill>
                      <a:srgbClr val="E8EEF6"/>
                    </a:solidFill>
                  </a:tcPr>
                </a:tc>
              </a:tr>
              <a:tr h="614476">
                <a:tc>
                  <a:txBody>
                    <a:bodyPr/>
                    <a:lstStyle/>
                    <a:p>
                      <a:r>
                        <a:rPr sz="1700" b="0">
                          <a:solidFill>
                            <a:srgbClr val="1F2937"/>
                          </a:solidFill>
                        </a:rPr>
                        <a:t>Qoplovchi hujayra</a:t>
                      </a:r>
                    </a:p>
                  </a:txBody>
                  <a:tcPr marL="73152" marR="73152" marT="36576" marB="36576">
                    <a:solidFill>
                      <a:srgbClr val="FFFFFF"/>
                    </a:solidFill>
                  </a:tcPr>
                </a:tc>
                <a:tc>
                  <a:txBody>
                    <a:bodyPr/>
                    <a:lstStyle/>
                    <a:p>
                      <a:r>
                        <a:rPr sz="1700" b="0">
                          <a:solidFill>
                            <a:srgbClr val="1F2937"/>
                          </a:solidFill>
                        </a:rPr>
                        <a:t>Nofaol yuzani qoplaydi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Remodellanish hujayralari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RANKL/OPG o‘qi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RANKL ni osteoblastlar, osteotsitlar, stromal va T hujayralar ishlab chiqaradi. U osteoklast prekursorlaridagi RANK ga bog‘lanib osteoklastogenezni qo‘zg‘atadi.</a:t>
            </a:r>
          </a:p>
          <a:p>
            <a:pPr>
              <a:spcAft>
                <a:spcPts val="800"/>
              </a:spcAft>
            </a:pPr>
            <a:r>
              <a:rPr sz="1600">
                <a:solidFill>
                  <a:srgbClr val="1F2937"/>
                </a:solidFill>
                <a:latin typeface="Calibri"/>
              </a:rPr>
              <a:t>▸  OPG — tuzoq (decoy) retseptor: RANKL ni tutib qoladi va osteoklast hosil bo‘lishini cheklaydi.</a:t>
            </a:r>
          </a:p>
          <a:p>
            <a:pPr>
              <a:spcAft>
                <a:spcPts val="800"/>
              </a:spcAft>
            </a:pPr>
            <a:r>
              <a:rPr sz="1600">
                <a:solidFill>
                  <a:srgbClr val="1F2937"/>
                </a:solidFill>
                <a:latin typeface="Calibri"/>
              </a:rPr>
              <a:t>▸  RANKL/OPG nisbati almashinuvning sof yo‘nalishini belgilaydi. Unga Wnt/β-katenin, estrogen holati va yallig‘lanish sitokinlari ta’sir qiladi.</a:t>
            </a:r>
          </a:p>
          <a:p>
            <a:pPr>
              <a:spcAft>
                <a:spcPts val="800"/>
              </a:spcAft>
            </a:pPr>
            <a:r>
              <a:rPr sz="1600">
                <a:solidFill>
                  <a:srgbClr val="1F2937"/>
                </a:solidFill>
                <a:latin typeface="Calibri"/>
              </a:rPr>
              <a:t>▸  Diqqat: RANKL ≠ OPG. RANKL rezorbsiyani kuchaytiradi, OPG esa uni cheklaydi; muhimi ikkalasining nisbati.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RANKL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Osteoblast, osteotsit, stromal, T hujayra</a:t>
            </a:r>
          </a:p>
          <a:p>
            <a:pPr algn="l">
              <a:spcAft>
                <a:spcPts val="700"/>
              </a:spcAft>
            </a:pPr>
            <a:r>
              <a:rPr sz="1500" b="1">
                <a:solidFill>
                  <a:srgbClr val="C9A227"/>
                </a:solidFill>
                <a:latin typeface="Calibri"/>
              </a:rPr>
              <a:t>●  </a:t>
            </a:r>
            <a:r>
              <a:rPr sz="1500" b="0">
                <a:solidFill>
                  <a:srgbClr val="1F2937"/>
                </a:solidFill>
                <a:latin typeface="Calibri"/>
              </a:rPr>
              <a:t>RANK ga bog‘lanadi</a:t>
            </a:r>
          </a:p>
          <a:p>
            <a:pPr algn="l">
              <a:spcAft>
                <a:spcPts val="700"/>
              </a:spcAft>
            </a:pPr>
            <a:r>
              <a:rPr sz="1500" b="1">
                <a:solidFill>
                  <a:srgbClr val="C9A227"/>
                </a:solidFill>
                <a:latin typeface="Calibri"/>
              </a:rPr>
              <a:t>●  </a:t>
            </a:r>
            <a:r>
              <a:rPr sz="1500" b="0">
                <a:solidFill>
                  <a:srgbClr val="1F2937"/>
                </a:solidFill>
                <a:latin typeface="Calibri"/>
              </a:rPr>
              <a:t>Rezorbsiyani kuchaytiradi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OPG</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Tuzoq (decoy) retseptor</a:t>
            </a:r>
          </a:p>
          <a:p>
            <a:pPr algn="l">
              <a:spcAft>
                <a:spcPts val="700"/>
              </a:spcAft>
            </a:pPr>
            <a:r>
              <a:rPr sz="1500" b="1">
                <a:solidFill>
                  <a:srgbClr val="C9A227"/>
                </a:solidFill>
                <a:latin typeface="Calibri"/>
              </a:rPr>
              <a:t>●  </a:t>
            </a:r>
            <a:r>
              <a:rPr sz="1500" b="0">
                <a:solidFill>
                  <a:srgbClr val="1F2937"/>
                </a:solidFill>
                <a:latin typeface="Calibri"/>
              </a:rPr>
              <a:t>RANKL ni tutib qoladi</a:t>
            </a:r>
          </a:p>
          <a:p>
            <a:pPr algn="l">
              <a:spcAft>
                <a:spcPts val="700"/>
              </a:spcAft>
            </a:pPr>
            <a:r>
              <a:rPr sz="1500" b="1">
                <a:solidFill>
                  <a:srgbClr val="C9A227"/>
                </a:solidFill>
                <a:latin typeface="Calibri"/>
              </a:rPr>
              <a:t>●  </a:t>
            </a:r>
            <a:r>
              <a:rPr sz="1500" b="0">
                <a:solidFill>
                  <a:srgbClr val="1F2937"/>
                </a:solidFill>
                <a:latin typeface="Calibri"/>
              </a:rPr>
              <a:t>Osteoklast hosil bo‘lishini cheklaydi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RANKL/OPG o‘qi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Osteoklast–osteoblast bog‘lanishi: ephrin, S1P, Sema3A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RANKL (osteoblast, osteotsit, stromal va T hujayra) osteoklast prekursoridagi RANK ga bog‘lanib, NF-κB, NFATc1 va MAPK orqali rezorbsiyani boshlaydi.</a:t>
            </a:r>
          </a:p>
          <a:p>
            <a:pPr>
              <a:spcAft>
                <a:spcPts val="800"/>
              </a:spcAft>
            </a:pPr>
            <a:r>
              <a:rPr sz="1600">
                <a:solidFill>
                  <a:srgbClr val="1F2937"/>
                </a:solidFill>
                <a:latin typeface="Calibri"/>
              </a:rPr>
              <a:t>▸  Osteoblastdagi EphB4 orqali oldinga signal matriks yig‘ilishini, osteoklastdagi ephrinB2 orqali teskari signal NFATc1 bog‘liq osteoklastogenezni bostiradi.</a:t>
            </a:r>
          </a:p>
          <a:p>
            <a:pPr>
              <a:spcAft>
                <a:spcPts val="800"/>
              </a:spcAft>
            </a:pPr>
            <a:r>
              <a:rPr sz="1600">
                <a:solidFill>
                  <a:srgbClr val="1F2937"/>
                </a:solidFill>
                <a:latin typeface="Calibri"/>
              </a:rPr>
              <a:t>▸  S1P (osteoklast va endoteliydan) osteoblastni rezorbsiya joyiga chaqiradi va omon qolishini qo‘llaydi.</a:t>
            </a:r>
          </a:p>
          <a:p>
            <a:pPr>
              <a:spcAft>
                <a:spcPts val="800"/>
              </a:spcAft>
            </a:pPr>
            <a:r>
              <a:rPr sz="1600">
                <a:solidFill>
                  <a:srgbClr val="1F2937"/>
                </a:solidFill>
                <a:latin typeface="Calibri"/>
              </a:rPr>
              <a:t>▸  Sema3A (asosan osteoblast va osteotsit) osteoklast differensiatsiyasini to‘sadi va osteoblast faolligini oshiradi.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Osteoblast tomoni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EphB4: matriks cho‘kishini rag‘batlantiradi</a:t>
            </a:r>
          </a:p>
          <a:p>
            <a:pPr algn="l">
              <a:spcAft>
                <a:spcPts val="700"/>
              </a:spcAft>
            </a:pPr>
            <a:r>
              <a:rPr sz="1500" b="1">
                <a:solidFill>
                  <a:srgbClr val="C9A227"/>
                </a:solidFill>
                <a:latin typeface="Calibri"/>
              </a:rPr>
              <a:t>●  </a:t>
            </a:r>
            <a:r>
              <a:rPr sz="1500" b="0">
                <a:solidFill>
                  <a:srgbClr val="1F2937"/>
                </a:solidFill>
                <a:latin typeface="Calibri"/>
              </a:rPr>
              <a:t>S1PR: S1P bilan jalb qilinadi, omon qoladi</a:t>
            </a:r>
          </a:p>
          <a:p>
            <a:pPr algn="l">
              <a:spcAft>
                <a:spcPts val="700"/>
              </a:spcAft>
            </a:pPr>
            <a:r>
              <a:rPr sz="1500" b="1">
                <a:solidFill>
                  <a:srgbClr val="C9A227"/>
                </a:solidFill>
                <a:latin typeface="Calibri"/>
              </a:rPr>
              <a:t>●  </a:t>
            </a:r>
            <a:r>
              <a:rPr sz="1500" b="0">
                <a:solidFill>
                  <a:srgbClr val="1F2937"/>
                </a:solidFill>
                <a:latin typeface="Calibri"/>
              </a:rPr>
              <a:t>Sema3A ajratadi: osteoklastni to‘sadi</a:t>
            </a:r>
          </a:p>
          <a:p>
            <a:pPr algn="l">
              <a:spcAft>
                <a:spcPts val="700"/>
              </a:spcAft>
            </a:pPr>
            <a:r>
              <a:rPr sz="1500" b="1">
                <a:solidFill>
                  <a:srgbClr val="C9A227"/>
                </a:solidFill>
                <a:latin typeface="Calibri"/>
              </a:rPr>
              <a:t>●  </a:t>
            </a:r>
            <a:r>
              <a:rPr sz="1500" b="0">
                <a:solidFill>
                  <a:srgbClr val="1F2937"/>
                </a:solidFill>
                <a:latin typeface="Calibri"/>
              </a:rPr>
              <a:t>RANKL va OPG ajratadi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Osteoklast tomoni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RANK + RANKL: NF-κB, NFATc1, MAPK</a:t>
            </a:r>
          </a:p>
          <a:p>
            <a:pPr algn="l">
              <a:spcAft>
                <a:spcPts val="700"/>
              </a:spcAft>
            </a:pPr>
            <a:r>
              <a:rPr sz="1500" b="1">
                <a:solidFill>
                  <a:srgbClr val="C9A227"/>
                </a:solidFill>
                <a:latin typeface="Calibri"/>
              </a:rPr>
              <a:t>●  </a:t>
            </a:r>
            <a:r>
              <a:rPr sz="1500" b="0">
                <a:solidFill>
                  <a:srgbClr val="1F2937"/>
                </a:solidFill>
                <a:latin typeface="Calibri"/>
              </a:rPr>
              <a:t>ephrinB2: NFATc1 ni bostiradi</a:t>
            </a:r>
          </a:p>
          <a:p>
            <a:pPr algn="l">
              <a:spcAft>
                <a:spcPts val="700"/>
              </a:spcAft>
            </a:pPr>
            <a:r>
              <a:rPr sz="1500" b="1">
                <a:solidFill>
                  <a:srgbClr val="C9A227"/>
                </a:solidFill>
                <a:latin typeface="Calibri"/>
              </a:rPr>
              <a:t>●  </a:t>
            </a:r>
            <a:r>
              <a:rPr sz="1500" b="0">
                <a:solidFill>
                  <a:srgbClr val="1F2937"/>
                </a:solidFill>
                <a:latin typeface="Calibri"/>
              </a:rPr>
              <a:t>S1P ajratadi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Rezorbsiya → shakllanish aloqasi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«Matrix turnover and coupling» bo‘limi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Matriks parchalanishi: MMP, TIMP va ADAMTS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600">
                <a:solidFill>
                  <a:srgbClr val="1F2937"/>
                </a:solidFill>
                <a:latin typeface="Calibri"/>
              </a:rPr>
              <a:t>▸  Kallusning yuk ko‘taruvchi suyakka aylanishi uchun muvozanatli matriks parchalanishi kerak: MMP va ADAMTS proteazalari boshqaradi.</a:t>
            </a:r>
          </a:p>
          <a:p>
            <a:pPr>
              <a:spcAft>
                <a:spcPts val="800"/>
              </a:spcAft>
            </a:pPr>
            <a:r>
              <a:rPr sz="1600">
                <a:solidFill>
                  <a:srgbClr val="1F2937"/>
                </a:solidFill>
                <a:latin typeface="Calibri"/>
              </a:rPr>
              <a:t>▸  MMP-9 (osteoklast, immun hujayra, endoteliy) tomir kirishi va xaftaga yo‘qolishini, MMP-13 xaftaga–suyak o‘tishini ta’minlaydi.</a:t>
            </a:r>
          </a:p>
          <a:p>
            <a:pPr>
              <a:spcAft>
                <a:spcPts val="800"/>
              </a:spcAft>
            </a:pPr>
            <a:r>
              <a:rPr sz="1600">
                <a:solidFill>
                  <a:srgbClr val="1F2937"/>
                </a:solidFill>
                <a:latin typeface="Calibri"/>
              </a:rPr>
              <a:t>▸  MMP-2 keyingi matriks takomillashuviga yordam beradi; TIMP lar MMP faolligini cheklaydi; ADAMTS4/5 agrekanni parchalaydi.</a:t>
            </a:r>
          </a:p>
          <a:p>
            <a:pPr>
              <a:spcAft>
                <a:spcPts val="800"/>
              </a:spcAft>
            </a:pPr>
            <a:r>
              <a:rPr sz="1600">
                <a:solidFill>
                  <a:srgbClr val="1F2937"/>
                </a:solidFill>
                <a:latin typeface="Calibri"/>
              </a:rPr>
              <a:t>▸  Proteoliz yetarli bo‘lmasa tomir kirishi va xaftaga tozalanishi kechikadi, ortiqcha yoki vaqtsiz bo‘lsa yangi to‘qima beqaror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1877418"/>
                <a:gridCol w="2073246"/>
              </a:tblGrid>
              <a:tr h="512064">
                <a:tc>
                  <a:txBody>
                    <a:bodyPr/>
                    <a:lstStyle/>
                    <a:p>
                      <a:r>
                        <a:rPr sz="1600" b="1">
                          <a:solidFill>
                            <a:srgbClr val="FFFFFF"/>
                          </a:solidFill>
                        </a:rPr>
                        <a:t>Ferment</a:t>
                      </a:r>
                    </a:p>
                  </a:txBody>
                  <a:tcPr marL="73152" marR="73152" marT="36576" marB="36576">
                    <a:solidFill>
                      <a:srgbClr val="0B1F3A"/>
                    </a:solidFill>
                  </a:tcPr>
                </a:tc>
                <a:tc>
                  <a:txBody>
                    <a:bodyPr/>
                    <a:lstStyle/>
                    <a:p>
                      <a:r>
                        <a:rPr sz="1600" b="1">
                          <a:solidFill>
                            <a:srgbClr val="FFFFFF"/>
                          </a:solidFill>
                        </a:rPr>
                        <a:t>Manba</a:t>
                      </a:r>
                    </a:p>
                  </a:txBody>
                  <a:tcPr marL="73152" marR="73152" marT="36576" marB="36576">
                    <a:solidFill>
                      <a:srgbClr val="0B1F3A"/>
                    </a:solidFill>
                  </a:tcPr>
                </a:tc>
                <a:tc>
                  <a:txBody>
                    <a:bodyPr/>
                    <a:lstStyle/>
                    <a:p>
                      <a:r>
                        <a:rPr sz="1600" b="1">
                          <a:solidFill>
                            <a:srgbClr val="FFFFFF"/>
                          </a:solidFill>
                        </a:rPr>
                        <a:t>Vazifasi</a:t>
                      </a:r>
                    </a:p>
                  </a:txBody>
                  <a:tcPr marL="73152" marR="73152" marT="36576" marB="36576">
                    <a:solidFill>
                      <a:srgbClr val="0B1F3A"/>
                    </a:solidFill>
                  </a:tcPr>
                </a:tc>
              </a:tr>
              <a:tr h="512064">
                <a:tc>
                  <a:txBody>
                    <a:bodyPr/>
                    <a:lstStyle/>
                    <a:p>
                      <a:r>
                        <a:rPr sz="1500" b="0">
                          <a:solidFill>
                            <a:srgbClr val="1F2937"/>
                          </a:solidFill>
                        </a:rPr>
                        <a:t>MMP-9</a:t>
                      </a:r>
                    </a:p>
                  </a:txBody>
                  <a:tcPr marL="73152" marR="73152" marT="36576" marB="36576">
                    <a:solidFill>
                      <a:srgbClr val="E8EEF6"/>
                    </a:solidFill>
                  </a:tcPr>
                </a:tc>
                <a:tc>
                  <a:txBody>
                    <a:bodyPr/>
                    <a:lstStyle/>
                    <a:p>
                      <a:r>
                        <a:rPr sz="1500" b="0">
                          <a:solidFill>
                            <a:srgbClr val="1F2937"/>
                          </a:solidFill>
                        </a:rPr>
                        <a:t>Osteoklast, immun hujayra, endoteliy</a:t>
                      </a:r>
                    </a:p>
                  </a:txBody>
                  <a:tcPr marL="73152" marR="73152" marT="36576" marB="36576">
                    <a:solidFill>
                      <a:srgbClr val="E8EEF6"/>
                    </a:solidFill>
                  </a:tcPr>
                </a:tc>
                <a:tc>
                  <a:txBody>
                    <a:bodyPr/>
                    <a:lstStyle/>
                    <a:p>
                      <a:r>
                        <a:rPr sz="1500" b="0">
                          <a:solidFill>
                            <a:srgbClr val="1F2937"/>
                          </a:solidFill>
                        </a:rPr>
                        <a:t>Tomir kirishi, xaftaga yo‘qolishi</a:t>
                      </a:r>
                    </a:p>
                  </a:txBody>
                  <a:tcPr marL="73152" marR="73152" marT="36576" marB="36576">
                    <a:solidFill>
                      <a:srgbClr val="E8EEF6"/>
                    </a:solidFill>
                  </a:tcPr>
                </a:tc>
              </a:tr>
              <a:tr h="512064">
                <a:tc>
                  <a:txBody>
                    <a:bodyPr/>
                    <a:lstStyle/>
                    <a:p>
                      <a:r>
                        <a:rPr sz="1500" b="0">
                          <a:solidFill>
                            <a:srgbClr val="1F2937"/>
                          </a:solidFill>
                        </a:rPr>
                        <a:t>MMP-13</a:t>
                      </a:r>
                    </a:p>
                  </a:txBody>
                  <a:tcPr marL="73152" marR="73152" marT="36576" marB="36576">
                    <a:solidFill>
                      <a:srgbClr val="FFFFFF"/>
                    </a:solidFill>
                  </a:tcPr>
                </a:tc>
                <a:tc>
                  <a:txBody>
                    <a:bodyPr/>
                    <a:lstStyle/>
                    <a:p>
                      <a:r>
                        <a:rPr sz="1500" b="0">
                          <a:solidFill>
                            <a:srgbClr val="1F2937"/>
                          </a:solidFill>
                        </a:rPr>
                        <a:t>Gipertrofik xondrotsit, osteoblast</a:t>
                      </a:r>
                    </a:p>
                  </a:txBody>
                  <a:tcPr marL="73152" marR="73152" marT="36576" marB="36576">
                    <a:solidFill>
                      <a:srgbClr val="FFFFFF"/>
                    </a:solidFill>
                  </a:tcPr>
                </a:tc>
                <a:tc>
                  <a:txBody>
                    <a:bodyPr/>
                    <a:lstStyle/>
                    <a:p>
                      <a:r>
                        <a:rPr sz="1500" b="0">
                          <a:solidFill>
                            <a:srgbClr val="1F2937"/>
                          </a:solidFill>
                        </a:rPr>
                        <a:t>Kollagen parchalanishi; xaftaga→suyak</a:t>
                      </a:r>
                    </a:p>
                  </a:txBody>
                  <a:tcPr marL="73152" marR="73152" marT="36576" marB="36576">
                    <a:solidFill>
                      <a:srgbClr val="FFFFFF"/>
                    </a:solidFill>
                  </a:tcPr>
                </a:tc>
              </a:tr>
              <a:tr h="512064">
                <a:tc>
                  <a:txBody>
                    <a:bodyPr/>
                    <a:lstStyle/>
                    <a:p>
                      <a:r>
                        <a:rPr sz="1500" b="0">
                          <a:solidFill>
                            <a:srgbClr val="1F2937"/>
                          </a:solidFill>
                        </a:rPr>
                        <a:t>MMP-2</a:t>
                      </a:r>
                    </a:p>
                  </a:txBody>
                  <a:tcPr marL="73152" marR="73152" marT="36576" marB="36576">
                    <a:solidFill>
                      <a:srgbClr val="E8EEF6"/>
                    </a:solidFill>
                  </a:tcPr>
                </a:tc>
                <a:tc>
                  <a:txBody>
                    <a:bodyPr/>
                    <a:lstStyle/>
                    <a:p>
                      <a:r>
                        <a:rPr sz="1500" b="0">
                          <a:solidFill>
                            <a:srgbClr val="1F2937"/>
                          </a:solidFill>
                        </a:rPr>
                        <a:t>Osteoblast, fibroblast</a:t>
                      </a:r>
                    </a:p>
                  </a:txBody>
                  <a:tcPr marL="73152" marR="73152" marT="36576" marB="36576">
                    <a:solidFill>
                      <a:srgbClr val="E8EEF6"/>
                    </a:solidFill>
                  </a:tcPr>
                </a:tc>
                <a:tc>
                  <a:txBody>
                    <a:bodyPr/>
                    <a:lstStyle/>
                    <a:p>
                      <a:r>
                        <a:rPr sz="1500" b="0">
                          <a:solidFill>
                            <a:srgbClr val="1F2937"/>
                          </a:solidFill>
                        </a:rPr>
                        <a:t>Keyingi matriks takomili</a:t>
                      </a:r>
                    </a:p>
                  </a:txBody>
                  <a:tcPr marL="73152" marR="73152" marT="36576" marB="36576">
                    <a:solidFill>
                      <a:srgbClr val="E8EEF6"/>
                    </a:solidFill>
                  </a:tcPr>
                </a:tc>
              </a:tr>
              <a:tr h="512064">
                <a:tc>
                  <a:txBody>
                    <a:bodyPr/>
                    <a:lstStyle/>
                    <a:p>
                      <a:r>
                        <a:rPr sz="1500" b="0">
                          <a:solidFill>
                            <a:srgbClr val="1F2937"/>
                          </a:solidFill>
                        </a:rPr>
                        <a:t>TIMP</a:t>
                      </a:r>
                    </a:p>
                  </a:txBody>
                  <a:tcPr marL="73152" marR="73152" marT="36576" marB="36576">
                    <a:solidFill>
                      <a:srgbClr val="FFFFFF"/>
                    </a:solidFill>
                  </a:tcPr>
                </a:tc>
                <a:tc>
                  <a:txBody>
                    <a:bodyPr/>
                    <a:lstStyle/>
                    <a:p>
                      <a:r>
                        <a:rPr sz="1500" b="0">
                          <a:solidFill>
                            <a:srgbClr val="1F2937"/>
                          </a:solidFill>
                        </a:rPr>
                        <a:t>Mezenximal, stromal hujayra</a:t>
                      </a:r>
                    </a:p>
                  </a:txBody>
                  <a:tcPr marL="73152" marR="73152" marT="36576" marB="36576">
                    <a:solidFill>
                      <a:srgbClr val="FFFFFF"/>
                    </a:solidFill>
                  </a:tcPr>
                </a:tc>
                <a:tc>
                  <a:txBody>
                    <a:bodyPr/>
                    <a:lstStyle/>
                    <a:p>
                      <a:r>
                        <a:rPr sz="1500" b="0">
                          <a:solidFill>
                            <a:srgbClr val="1F2937"/>
                          </a:solidFill>
                        </a:rPr>
                        <a:t>MMP larni cheklaydi</a:t>
                      </a:r>
                    </a:p>
                  </a:txBody>
                  <a:tcPr marL="73152" marR="73152" marT="36576" marB="36576">
                    <a:solidFill>
                      <a:srgbClr val="FFFFFF"/>
                    </a:solidFill>
                  </a:tcPr>
                </a:tc>
              </a:tr>
              <a:tr h="512064">
                <a:tc>
                  <a:txBody>
                    <a:bodyPr/>
                    <a:lstStyle/>
                    <a:p>
                      <a:r>
                        <a:rPr sz="1500" b="0">
                          <a:solidFill>
                            <a:srgbClr val="1F2937"/>
                          </a:solidFill>
                        </a:rPr>
                        <a:t>ADAMTS4/5</a:t>
                      </a:r>
                    </a:p>
                  </a:txBody>
                  <a:tcPr marL="73152" marR="73152" marT="36576" marB="36576">
                    <a:solidFill>
                      <a:srgbClr val="E8EEF6"/>
                    </a:solidFill>
                  </a:tcPr>
                </a:tc>
                <a:tc>
                  <a:txBody>
                    <a:bodyPr/>
                    <a:lstStyle/>
                    <a:p>
                      <a:r>
                        <a:rPr sz="1500" b="0">
                          <a:solidFill>
                            <a:srgbClr val="1F2937"/>
                          </a:solidFill>
                        </a:rPr>
                        <a:t>Xondrotsit, fibroblast</a:t>
                      </a:r>
                    </a:p>
                  </a:txBody>
                  <a:tcPr marL="73152" marR="73152" marT="36576" marB="36576">
                    <a:solidFill>
                      <a:srgbClr val="E8EEF6"/>
                    </a:solidFill>
                  </a:tcPr>
                </a:tc>
                <a:tc>
                  <a:txBody>
                    <a:bodyPr/>
                    <a:lstStyle/>
                    <a:p>
                      <a:r>
                        <a:rPr sz="1500" b="0">
                          <a:solidFill>
                            <a:srgbClr val="1F2937"/>
                          </a:solidFill>
                        </a:rPr>
                        <a:t>Agrekanni parchalaydi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Proteolitik o‘qlar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«Matrix turnover and coupling» bo‘limi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remodellanish va dori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sinish kallusi remodellanish bosqichida. Shifokor osteoklastni bostiradigan standart dorini tanlamoqchi.</a:t>
            </a:r>
          </a:p>
          <a:p>
            <a:pPr>
              <a:spcAft>
                <a:spcPts val="1200"/>
              </a:spcAft>
            </a:pPr>
            <a:r>
              <a:rPr sz="2200">
                <a:solidFill>
                  <a:srgbClr val="1F2937"/>
                </a:solidFill>
                <a:latin typeface="Calibri"/>
              </a:rPr>
              <a:t>▸  Remodellanishda osteoklast eski to‘qimani yemiradi, osteoblast esa yangi plastinkasimon suyak hosil qiladi. Bu ikki jarayon bir-biriga bog‘liq.</a:t>
            </a:r>
          </a:p>
          <a:p>
            <a:pPr>
              <a:spcAft>
                <a:spcPts val="1200"/>
              </a:spcAft>
            </a:pPr>
            <a:r>
              <a:rPr sz="2200">
                <a:solidFill>
                  <a:srgbClr val="1F2937"/>
                </a:solidFill>
                <a:latin typeface="Calibri"/>
              </a:rPr>
              <a:t>▸  Hayvon tadqiqotlarida PTH (paratireoid gormon) alendronat kabi antirezorbtivlardan ustun chiqdi. Klinik natijalar esa bir xil emas.</a:t>
            </a:r>
          </a:p>
          <a:p>
            <a:pPr>
              <a:spcAft>
                <a:spcPts val="1200"/>
              </a:spcAft>
            </a:pPr>
            <a:r>
              <a:rPr sz="2200">
                <a:solidFill>
                  <a:srgbClr val="1F2937"/>
                </a:solidFill>
                <a:latin typeface="Calibri"/>
              </a:rPr>
              <a:t>▸  Savol: osteoklastni bostirish nega kallusning pishgan suyakka aylanishiga xalaqit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Skelet o‘zak/progenitor hujayralari manbalari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Periost o‘zak hujayralari uzun suyak tiklanishida asosiy manba hisoblanadi.</a:t>
            </a:r>
          </a:p>
          <a:p>
            <a:pPr>
              <a:spcAft>
                <a:spcPts val="800"/>
              </a:spcAft>
            </a:pPr>
            <a:r>
              <a:rPr sz="1800">
                <a:solidFill>
                  <a:srgbClr val="1F2937"/>
                </a:solidFill>
                <a:latin typeface="Calibri"/>
              </a:rPr>
              <a:t>▸  Katta yoshlilarda ilikdagi LepR+ hujayralar osteoblastlarning asosiy manbalaridan biri.</a:t>
            </a:r>
          </a:p>
          <a:p>
            <a:pPr>
              <a:spcAft>
                <a:spcPts val="800"/>
              </a:spcAft>
            </a:pPr>
            <a:r>
              <a:rPr sz="1800">
                <a:solidFill>
                  <a:srgbClr val="1F2937"/>
                </a:solidFill>
                <a:latin typeface="Calibri"/>
              </a:rPr>
              <a:t>▸  Mushak ham hissa qo‘shadi, ammo Pax7 yo‘ldosh hujayralar ahamiyatsiz ko‘rinadi.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Hujayra manbalari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Periost</a:t>
            </a:r>
          </a:p>
          <a:p>
            <a:pPr algn="l">
              <a:spcAft>
                <a:spcPts val="0"/>
              </a:spcAft>
            </a:pPr>
            <a:r>
              <a:rPr sz="1200" b="0">
                <a:solidFill>
                  <a:srgbClr val="1F2937"/>
                </a:solidFill>
                <a:latin typeface="Calibri"/>
              </a:rPr>
              <a:t>Asosiy manba  ·  Ichki kambiy qavatida</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Suyak iligi</a:t>
            </a:r>
          </a:p>
          <a:p>
            <a:pPr algn="l">
              <a:spcAft>
                <a:spcPts val="0"/>
              </a:spcAft>
            </a:pPr>
            <a:r>
              <a:rPr sz="1200" b="0">
                <a:solidFill>
                  <a:srgbClr val="1F2937"/>
                </a:solidFill>
                <a:latin typeface="Calibri"/>
              </a:rPr>
              <a:t>LepR+ hujayralar  ·  Perivaskulyar stromal hujayra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Mushak</a:t>
            </a:r>
          </a:p>
          <a:p>
            <a:pPr algn="l">
              <a:spcAft>
                <a:spcPts val="0"/>
              </a:spcAft>
            </a:pPr>
            <a:r>
              <a:rPr sz="1200" b="0">
                <a:solidFill>
                  <a:srgbClr val="1F2937"/>
                </a:solidFill>
                <a:latin typeface="Calibri"/>
              </a:rPr>
              <a:t>Yordamchi manba  ·  FAP hujayralari; Pax7 emas</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Skelet progenitorlari manbalari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Asosiy signal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Signallar fazaga xos: bir yo‘l erta va kech bosqichda turlicha ta’sir qiladi.</a:t>
            </a:r>
          </a:p>
          <a:p>
            <a:pPr>
              <a:spcAft>
                <a:spcPts val="800"/>
              </a:spcAft>
            </a:pPr>
            <a:r>
              <a:rPr sz="1800">
                <a:solidFill>
                  <a:srgbClr val="1F2937"/>
                </a:solidFill>
                <a:latin typeface="Calibri"/>
              </a:rPr>
              <a:t>▸  Natija miqdor bilan emas, vaqt, retseptor turi va hujayra bilan belgilanadi.</a:t>
            </a:r>
          </a:p>
          <a:p>
            <a:pPr>
              <a:spcAft>
                <a:spcPts val="800"/>
              </a:spcAft>
            </a:pPr>
            <a:r>
              <a:rPr sz="1800">
                <a:solidFill>
                  <a:srgbClr val="1F2937"/>
                </a:solidFill>
                <a:latin typeface="Calibri"/>
              </a:rPr>
              <a:t>▸  Wnt muddatidan oldin haddan ortiq faollashsa, xaftaga oraliq bosqichini bostirishi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809750"/>
                <a:gridCol w="1550366"/>
              </a:tblGrid>
              <a:tr h="614476">
                <a:tc>
                  <a:txBody>
                    <a:bodyPr/>
                    <a:lstStyle/>
                    <a:p>
                      <a:r>
                        <a:rPr sz="1600" b="1">
                          <a:solidFill>
                            <a:srgbClr val="FFFFFF"/>
                          </a:solidFill>
                        </a:rPr>
                        <a:t>Yo‘l</a:t>
                      </a:r>
                    </a:p>
                  </a:txBody>
                  <a:tcPr marL="73152" marR="73152" marT="36576" marB="36576">
                    <a:solidFill>
                      <a:srgbClr val="0B1F3A"/>
                    </a:solidFill>
                  </a:tcPr>
                </a:tc>
                <a:tc>
                  <a:txBody>
                    <a:bodyPr/>
                    <a:lstStyle/>
                    <a:p>
                      <a:r>
                        <a:rPr sz="1600" b="1">
                          <a:solidFill>
                            <a:srgbClr val="FFFFFF"/>
                          </a:solidFill>
                        </a:rPr>
                        <a:t>Faza</a:t>
                      </a:r>
                    </a:p>
                  </a:txBody>
                  <a:tcPr marL="73152" marR="73152" marT="36576" marB="36576">
                    <a:solidFill>
                      <a:srgbClr val="0B1F3A"/>
                    </a:solidFill>
                  </a:tcPr>
                </a:tc>
                <a:tc>
                  <a:txBody>
                    <a:bodyPr/>
                    <a:lstStyle/>
                    <a:p>
                      <a:r>
                        <a:rPr sz="1600" b="1">
                          <a:solidFill>
                            <a:srgbClr val="FFFFFF"/>
                          </a:solidFill>
                        </a:rPr>
                        <a:t>Asosiy ta’sir</a:t>
                      </a:r>
                    </a:p>
                  </a:txBody>
                  <a:tcPr marL="73152" marR="73152" marT="36576" marB="36576">
                    <a:solidFill>
                      <a:srgbClr val="0B1F3A"/>
                    </a:solidFill>
                  </a:tcPr>
                </a:tc>
              </a:tr>
              <a:tr h="614476">
                <a:tc>
                  <a:txBody>
                    <a:bodyPr/>
                    <a:lstStyle/>
                    <a:p>
                      <a:r>
                        <a:rPr sz="1500" b="0">
                          <a:solidFill>
                            <a:srgbClr val="1F2937"/>
                          </a:solidFill>
                        </a:rPr>
                        <a:t>TNF, interleykinlar</a:t>
                      </a:r>
                    </a:p>
                  </a:txBody>
                  <a:tcPr marL="73152" marR="73152" marT="36576" marB="36576">
                    <a:solidFill>
                      <a:srgbClr val="E8EEF6"/>
                    </a:solidFill>
                  </a:tcPr>
                </a:tc>
                <a:tc>
                  <a:txBody>
                    <a:bodyPr/>
                    <a:lstStyle/>
                    <a:p>
                      <a:r>
                        <a:rPr sz="1500" b="0">
                          <a:solidFill>
                            <a:srgbClr val="1F2937"/>
                          </a:solidFill>
                        </a:rPr>
                        <a:t>Erta, keyin tiklanish</a:t>
                      </a:r>
                    </a:p>
                  </a:txBody>
                  <a:tcPr marL="73152" marR="73152" marT="36576" marB="36576">
                    <a:solidFill>
                      <a:srgbClr val="E8EEF6"/>
                    </a:solidFill>
                  </a:tcPr>
                </a:tc>
                <a:tc>
                  <a:txBody>
                    <a:bodyPr/>
                    <a:lstStyle/>
                    <a:p>
                      <a:r>
                        <a:rPr sz="1500" b="0">
                          <a:solidFill>
                            <a:srgbClr val="1F2937"/>
                          </a:solidFill>
                        </a:rPr>
                        <a:t>Yallig‘lanishdan tiklanishga o‘tish</a:t>
                      </a:r>
                    </a:p>
                  </a:txBody>
                  <a:tcPr marL="73152" marR="73152" marT="36576" marB="36576">
                    <a:solidFill>
                      <a:srgbClr val="E8EEF6"/>
                    </a:solidFill>
                  </a:tcPr>
                </a:tc>
              </a:tr>
              <a:tr h="614476">
                <a:tc>
                  <a:txBody>
                    <a:bodyPr/>
                    <a:lstStyle/>
                    <a:p>
                      <a:r>
                        <a:rPr sz="1500" b="0">
                          <a:solidFill>
                            <a:srgbClr val="1F2937"/>
                          </a:solidFill>
                        </a:rPr>
                        <a:t>SDF-1/CXCR4</a:t>
                      </a:r>
                    </a:p>
                  </a:txBody>
                  <a:tcPr marL="73152" marR="73152" marT="36576" marB="36576">
                    <a:solidFill>
                      <a:srgbClr val="FFFFFF"/>
                    </a:solidFill>
                  </a:tcPr>
                </a:tc>
                <a:tc>
                  <a:txBody>
                    <a:bodyPr/>
                    <a:lstStyle/>
                    <a:p>
                      <a:r>
                        <a:rPr sz="1500" b="0">
                          <a:solidFill>
                            <a:srgbClr val="1F2937"/>
                          </a:solidFill>
                        </a:rPr>
                        <a:t>Erta (gipoksiya)</a:t>
                      </a:r>
                    </a:p>
                  </a:txBody>
                  <a:tcPr marL="73152" marR="73152" marT="36576" marB="36576">
                    <a:solidFill>
                      <a:srgbClr val="FFFFFF"/>
                    </a:solidFill>
                  </a:tcPr>
                </a:tc>
                <a:tc>
                  <a:txBody>
                    <a:bodyPr/>
                    <a:lstStyle/>
                    <a:p>
                      <a:r>
                        <a:rPr sz="1500" b="0">
                          <a:solidFill>
                            <a:srgbClr val="1F2937"/>
                          </a:solidFill>
                        </a:rPr>
                        <a:t>Progenitorlarni sinish joyiga chaqirish</a:t>
                      </a:r>
                    </a:p>
                  </a:txBody>
                  <a:tcPr marL="73152" marR="73152" marT="36576" marB="36576">
                    <a:solidFill>
                      <a:srgbClr val="FFFFFF"/>
                    </a:solidFill>
                  </a:tcPr>
                </a:tc>
              </a:tr>
              <a:tr h="614476">
                <a:tc>
                  <a:txBody>
                    <a:bodyPr/>
                    <a:lstStyle/>
                    <a:p>
                      <a:r>
                        <a:rPr sz="1500" b="0">
                          <a:solidFill>
                            <a:srgbClr val="1F2937"/>
                          </a:solidFill>
                        </a:rPr>
                        <a:t>TGF-β/BMP, Wnt</a:t>
                      </a:r>
                    </a:p>
                  </a:txBody>
                  <a:tcPr marL="73152" marR="73152" marT="36576" marB="36576">
                    <a:solidFill>
                      <a:srgbClr val="E8EEF6"/>
                    </a:solidFill>
                  </a:tcPr>
                </a:tc>
                <a:tc>
                  <a:txBody>
                    <a:bodyPr/>
                    <a:lstStyle/>
                    <a:p>
                      <a:r>
                        <a:rPr sz="1500" b="0">
                          <a:solidFill>
                            <a:srgbClr val="1F2937"/>
                          </a:solidFill>
                        </a:rPr>
                        <a:t>O‘rta va kech</a:t>
                      </a:r>
                    </a:p>
                  </a:txBody>
                  <a:tcPr marL="73152" marR="73152" marT="36576" marB="36576">
                    <a:solidFill>
                      <a:srgbClr val="E8EEF6"/>
                    </a:solidFill>
                  </a:tcPr>
                </a:tc>
                <a:tc>
                  <a:txBody>
                    <a:bodyPr/>
                    <a:lstStyle/>
                    <a:p>
                      <a:r>
                        <a:rPr sz="1500" b="0">
                          <a:solidFill>
                            <a:srgbClr val="1F2937"/>
                          </a:solidFill>
                        </a:rPr>
                        <a:t>Hujayra yo‘nalishi, suyak pishishi</a:t>
                      </a:r>
                    </a:p>
                  </a:txBody>
                  <a:tcPr marL="73152" marR="73152" marT="36576" marB="36576">
                    <a:solidFill>
                      <a:srgbClr val="E8EEF6"/>
                    </a:solidFill>
                  </a:tcPr>
                </a:tc>
              </a:tr>
              <a:tr h="614476">
                <a:tc>
                  <a:txBody>
                    <a:bodyPr/>
                    <a:lstStyle/>
                    <a:p>
                      <a:r>
                        <a:rPr sz="1500" b="0">
                          <a:solidFill>
                            <a:srgbClr val="1F2937"/>
                          </a:solidFill>
                        </a:rPr>
                        <a:t>Hedgehog, Notch</a:t>
                      </a:r>
                    </a:p>
                  </a:txBody>
                  <a:tcPr marL="73152" marR="73152" marT="36576" marB="36576">
                    <a:solidFill>
                      <a:srgbClr val="FFFFFF"/>
                    </a:solidFill>
                  </a:tcPr>
                </a:tc>
                <a:tc>
                  <a:txBody>
                    <a:bodyPr/>
                    <a:lstStyle/>
                    <a:p>
                      <a:r>
                        <a:rPr sz="1500" b="0">
                          <a:solidFill>
                            <a:srgbClr val="1F2937"/>
                          </a:solidFill>
                        </a:rPr>
                        <a:t>Xaftaga–suyak o‘tishi</a:t>
                      </a:r>
                    </a:p>
                  </a:txBody>
                  <a:tcPr marL="73152" marR="73152" marT="36576" marB="36576">
                    <a:solidFill>
                      <a:srgbClr val="FFFFFF"/>
                    </a:solidFill>
                  </a:tcPr>
                </a:tc>
                <a:tc>
                  <a:txBody>
                    <a:bodyPr/>
                    <a:lstStyle/>
                    <a:p>
                      <a:r>
                        <a:rPr sz="1500" b="0">
                          <a:solidFill>
                            <a:srgbClr val="1F2937"/>
                          </a:solidFill>
                        </a:rPr>
                        <a:t>O‘tish sur’atini sozlash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Signal yo‘llari va faza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omillar va mexanotransduksiya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Boshqariladigan zo‘riqish kallus hosil bo‘lishi va yetilishini qo‘llab-quvvatlaydi.</a:t>
            </a:r>
          </a:p>
          <a:p>
            <a:pPr>
              <a:spcAft>
                <a:spcPts val="1200"/>
              </a:spcAft>
            </a:pPr>
            <a:r>
              <a:rPr sz="2200">
                <a:solidFill>
                  <a:srgbClr val="1F2937"/>
                </a:solidFill>
                <a:latin typeface="Calibri"/>
              </a:rPr>
              <a:t>▸  Barqarorsizlik, yukdan himoyalanish (stress shielding) yoki uzoq yuk bo‘lmasligi kallus tuzilishi va bitishini buzadi.</a:t>
            </a:r>
          </a:p>
          <a:p>
            <a:pPr>
              <a:spcAft>
                <a:spcPts val="1200"/>
              </a:spcAft>
            </a:pPr>
            <a:r>
              <a:rPr sz="2200">
                <a:solidFill>
                  <a:srgbClr val="1F2937"/>
                </a:solidFill>
                <a:latin typeface="Calibri"/>
              </a:rPr>
              <a:t>▸  Osteotsitlar mexanosensor: lakuno-kanalikulyar tarmoq orqali zo‘riqish va suyuqlik siljishini sezib, osteoblast va osteoklast faolligini yo‘naltiradi.</a:t>
            </a:r>
          </a:p>
          <a:p>
            <a:pPr>
              <a:spcAft>
                <a:spcPts val="1200"/>
              </a:spcAft>
            </a:pPr>
            <a:r>
              <a:rPr sz="2200">
                <a:solidFill>
                  <a:srgbClr val="1F2937"/>
                </a:solidFill>
                <a:latin typeface="Calibri"/>
              </a:rPr>
              <a:t>▸  Yuk bor joyda YAP/TAZ (mexanosezgir transkripsiya omillari) yadroga o‘tib osteogen genlarni yoqadi; yuk bo‘lmasa sitoplazmada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Bitishning buzilishi: klinik fenotiplar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Kechikkan bitish: taxminan 3–6 oydan keyin yetarli o‘sish yo‘q, biroq biologik faollik ko‘pincha bor.</a:t>
            </a:r>
          </a:p>
          <a:p>
            <a:pPr>
              <a:spcAft>
                <a:spcPts val="800"/>
              </a:spcAft>
            </a:pPr>
            <a:r>
              <a:rPr sz="1800">
                <a:solidFill>
                  <a:srgbClr val="1F2937"/>
                </a:solidFill>
                <a:latin typeface="Calibri"/>
              </a:rPr>
              <a:t>▸  Bitmaslik ~6–9 oyda tashxislanadi; AQSh dori nazorati (FDA) mezoni: ≥9 oy, 3 oy o‘sishsiz.</a:t>
            </a:r>
          </a:p>
          <a:p>
            <a:pPr>
              <a:spcAft>
                <a:spcPts val="800"/>
              </a:spcAft>
            </a:pPr>
            <a:r>
              <a:rPr sz="1800">
                <a:solidFill>
                  <a:srgbClr val="1F2937"/>
                </a:solidFill>
                <a:latin typeface="Calibri"/>
              </a:rPr>
              <a:t>▸  Uzoq davom etsa yolg‘on bo‘g‘im (pseudarthrosis) hosil bo‘ladi: harakatchan tolali qatlam.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Bitmaslik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Gipertrofik</a:t>
            </a:r>
          </a:p>
          <a:p>
            <a:pPr algn="l">
              <a:spcAft>
                <a:spcPts val="0"/>
              </a:spcAft>
            </a:pPr>
            <a:r>
              <a:rPr sz="1200" b="0">
                <a:solidFill>
                  <a:srgbClr val="1F2937"/>
                </a:solidFill>
                <a:latin typeface="Calibri"/>
              </a:rPr>
              <a:t>Kallus ko‘p, ko‘prik yo‘q  ·  Barqarorlik yetishmaydi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Atrofik</a:t>
            </a:r>
          </a:p>
          <a:p>
            <a:pPr algn="l">
              <a:spcAft>
                <a:spcPts val="0"/>
              </a:spcAft>
            </a:pPr>
            <a:r>
              <a:rPr sz="1200" b="0">
                <a:solidFill>
                  <a:srgbClr val="1F2937"/>
                </a:solidFill>
                <a:latin typeface="Calibri"/>
              </a:rPr>
              <a:t>Kallus juda kam  ·  Qon tomir, hujayra faolligi buzilgan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Oligotrofik</a:t>
            </a:r>
          </a:p>
          <a:p>
            <a:pPr algn="l">
              <a:spcAft>
                <a:spcPts val="0"/>
              </a:spcAft>
            </a:pPr>
            <a:r>
              <a:rPr sz="1200" b="0">
                <a:solidFill>
                  <a:srgbClr val="1F2937"/>
                </a:solidFill>
                <a:latin typeface="Calibri"/>
              </a:rPr>
              <a:t>Oraliq belgilar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Past sifatli bitish</a:t>
            </a:r>
          </a:p>
          <a:p>
            <a:pPr algn="l">
              <a:spcAft>
                <a:spcPts val="0"/>
              </a:spcAft>
            </a:pPr>
            <a:r>
              <a:rPr sz="1200" b="0">
                <a:solidFill>
                  <a:srgbClr val="1F2937"/>
                </a:solidFill>
                <a:latin typeface="Calibri"/>
              </a:rPr>
              <a:t>Uzluksizlik bor, mustahkamlik kam</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Bitmaslik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 buzuvchi tizimli omillar: qarish va gormonlar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Qarishda MSC ning osteogen qobiliyati kamayadi, Wnt/β-katenin, IGF-1 va BMP/TGF-β signallari o‘zgaradi, mexanotransduksiya va angiogen javob susayadi.</a:t>
            </a:r>
          </a:p>
          <a:p>
            <a:pPr>
              <a:spcAft>
                <a:spcPts val="800"/>
              </a:spcAft>
            </a:pPr>
            <a:r>
              <a:rPr sz="1600">
                <a:solidFill>
                  <a:srgbClr val="1F2937"/>
                </a:solidFill>
                <a:latin typeface="Calibri"/>
              </a:rPr>
              <a:t>▸  Natija: kallus mineralizatsiyasi sekin, tomir va anabolik javob zaif; kechikkan bitish va past sifatli regenerat xavfi.</a:t>
            </a:r>
          </a:p>
          <a:p>
            <a:pPr>
              <a:spcAft>
                <a:spcPts val="800"/>
              </a:spcAft>
            </a:pPr>
            <a:r>
              <a:rPr sz="1600">
                <a:solidFill>
                  <a:srgbClr val="1F2937"/>
                </a:solidFill>
                <a:latin typeface="Calibri"/>
              </a:rPr>
              <a:t>▸  Jinsiy gormon tanqisligida osteoblast–osteoklast muvozanati, RANKL/OPG, oksidlovchi stress va NF-κB o‘zgaradi; sklerostin orqali Wnt susayadi.</a:t>
            </a:r>
          </a:p>
          <a:p>
            <a:pPr>
              <a:spcAft>
                <a:spcPts val="800"/>
              </a:spcAft>
            </a:pPr>
            <a:r>
              <a:rPr sz="1600">
                <a:solidFill>
                  <a:srgbClr val="1F2937"/>
                </a:solidFill>
                <a:latin typeface="Calibri"/>
              </a:rPr>
              <a:t>▸  Estrogen tanqisligi modellarida kallus kechikishi va mineral yig‘ilishi hamda mexanik tiklanishi to‘liq bo‘lmasligi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Qarish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MSC osteogen qobiliyati kamayadi</a:t>
            </a:r>
          </a:p>
          <a:p>
            <a:pPr algn="l">
              <a:spcAft>
                <a:spcPts val="700"/>
              </a:spcAft>
            </a:pPr>
            <a:r>
              <a:rPr sz="1500" b="1">
                <a:solidFill>
                  <a:srgbClr val="C9A227"/>
                </a:solidFill>
                <a:latin typeface="Calibri"/>
              </a:rPr>
              <a:t>●  </a:t>
            </a:r>
            <a:r>
              <a:rPr sz="1500" b="0">
                <a:solidFill>
                  <a:srgbClr val="1F2937"/>
                </a:solidFill>
                <a:latin typeface="Calibri"/>
              </a:rPr>
              <a:t>Wnt, IGF-1, BMP/TGF-β o‘zgaradi</a:t>
            </a:r>
          </a:p>
          <a:p>
            <a:pPr algn="l">
              <a:spcAft>
                <a:spcPts val="700"/>
              </a:spcAft>
            </a:pPr>
            <a:r>
              <a:rPr sz="1500" b="1">
                <a:solidFill>
                  <a:srgbClr val="C9A227"/>
                </a:solidFill>
                <a:latin typeface="Calibri"/>
              </a:rPr>
              <a:t>●  </a:t>
            </a:r>
            <a:r>
              <a:rPr sz="1500" b="0">
                <a:solidFill>
                  <a:srgbClr val="1F2937"/>
                </a:solidFill>
                <a:latin typeface="Calibri"/>
              </a:rPr>
              <a:t>Mexanotransduksiya, angiogenez susayadi</a:t>
            </a:r>
          </a:p>
          <a:p>
            <a:pPr algn="l">
              <a:spcAft>
                <a:spcPts val="700"/>
              </a:spcAft>
            </a:pPr>
            <a:r>
              <a:rPr sz="1500" b="1">
                <a:solidFill>
                  <a:srgbClr val="C9A227"/>
                </a:solidFill>
                <a:latin typeface="Calibri"/>
              </a:rPr>
              <a:t>●  </a:t>
            </a:r>
            <a:r>
              <a:rPr sz="1500" b="0">
                <a:solidFill>
                  <a:srgbClr val="1F2937"/>
                </a:solidFill>
                <a:latin typeface="Calibri"/>
              </a:rPr>
              <a:t>Kallus mineralizatsiyasi sekinlashadi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Jinsiy gormon tanqisligi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RANKL/OPG muvozanati buziladi</a:t>
            </a:r>
          </a:p>
          <a:p>
            <a:pPr algn="l">
              <a:spcAft>
                <a:spcPts val="700"/>
              </a:spcAft>
            </a:pPr>
            <a:r>
              <a:rPr sz="1500" b="1">
                <a:solidFill>
                  <a:srgbClr val="C9A227"/>
                </a:solidFill>
                <a:latin typeface="Calibri"/>
              </a:rPr>
              <a:t>●  </a:t>
            </a:r>
            <a:r>
              <a:rPr sz="1500" b="0">
                <a:solidFill>
                  <a:srgbClr val="1F2937"/>
                </a:solidFill>
                <a:latin typeface="Calibri"/>
              </a:rPr>
              <a:t>Oksidlovchi stress, NF-κB ↑</a:t>
            </a:r>
          </a:p>
          <a:p>
            <a:pPr algn="l">
              <a:spcAft>
                <a:spcPts val="700"/>
              </a:spcAft>
            </a:pPr>
            <a:r>
              <a:rPr sz="1500" b="1">
                <a:solidFill>
                  <a:srgbClr val="C9A227"/>
                </a:solidFill>
                <a:latin typeface="Calibri"/>
              </a:rPr>
              <a:t>●  </a:t>
            </a:r>
            <a:r>
              <a:rPr sz="1500" b="0">
                <a:solidFill>
                  <a:srgbClr val="1F2937"/>
                </a:solidFill>
                <a:latin typeface="Calibri"/>
              </a:rPr>
              <a:t>Sklerostin orqali Wnt ingibitsiyasi</a:t>
            </a:r>
          </a:p>
          <a:p>
            <a:pPr algn="l">
              <a:spcAft>
                <a:spcPts val="700"/>
              </a:spcAft>
            </a:pPr>
            <a:r>
              <a:rPr sz="1500" b="1">
                <a:solidFill>
                  <a:srgbClr val="C9A227"/>
                </a:solidFill>
                <a:latin typeface="Calibri"/>
              </a:rPr>
              <a:t>●  </a:t>
            </a:r>
            <a:r>
              <a:rPr sz="1500" b="0">
                <a:solidFill>
                  <a:srgbClr val="1F2937"/>
                </a:solidFill>
                <a:latin typeface="Calibri"/>
              </a:rPr>
              <a:t>Mineral yig‘ilishi to‘liq bo‘lmasligi mumkin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Tizimli modulyatorlar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Modulators of fracture healing (1-jadval)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 buzuvchi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Omillar yallig‘lanish, qon tomir, hujayra jalb etilishi va qayta shakllanishning izchilligini buzadi.</a:t>
            </a:r>
          </a:p>
          <a:p>
            <a:pPr>
              <a:spcAft>
                <a:spcPts val="800"/>
              </a:spcAft>
            </a:pPr>
            <a:r>
              <a:rPr sz="1800">
                <a:solidFill>
                  <a:srgbClr val="1F2937"/>
                </a:solidFill>
                <a:latin typeface="Calibri"/>
              </a:rPr>
              <a:t>▸  Diqqat: NSAID (nosteroid yallig‘lanishga qarshi dori) ta’siri aralash; doza va muddatga bog‘liq.</a:t>
            </a:r>
          </a:p>
          <a:p>
            <a:pPr>
              <a:spcAft>
                <a:spcPts val="800"/>
              </a:spcAft>
            </a:pPr>
            <a:r>
              <a:rPr sz="1800">
                <a:solidFill>
                  <a:srgbClr val="1F2937"/>
                </a:solidFill>
                <a:latin typeface="Calibri"/>
              </a:rPr>
              <a:t>▸  Chekish va ochiq sinish xavfni oshiradi; kritik nuqsonda bitish mexanik uzluksizlikni tiklashga bog‘liq.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878914"/>
                <a:gridCol w="1481201"/>
              </a:tblGrid>
              <a:tr h="61447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Oqibat</a:t>
                      </a:r>
                    </a:p>
                  </a:txBody>
                  <a:tcPr marL="73152" marR="73152" marT="36576" marB="36576">
                    <a:solidFill>
                      <a:srgbClr val="0B1F3A"/>
                    </a:solidFill>
                  </a:tcPr>
                </a:tc>
              </a:tr>
              <a:tr h="614476">
                <a:tc>
                  <a:txBody>
                    <a:bodyPr/>
                    <a:lstStyle/>
                    <a:p>
                      <a:r>
                        <a:rPr sz="1500" b="0">
                          <a:solidFill>
                            <a:srgbClr val="1F2937"/>
                          </a:solidFill>
                        </a:rPr>
                        <a:t>Yosh</a:t>
                      </a:r>
                    </a:p>
                  </a:txBody>
                  <a:tcPr marL="73152" marR="73152" marT="36576" marB="36576">
                    <a:solidFill>
                      <a:srgbClr val="E8EEF6"/>
                    </a:solidFill>
                  </a:tcPr>
                </a:tc>
                <a:tc>
                  <a:txBody>
                    <a:bodyPr/>
                    <a:lstStyle/>
                    <a:p>
                      <a:r>
                        <a:rPr sz="1500" b="0">
                          <a:solidFill>
                            <a:srgbClr val="1F2937"/>
                          </a:solidFill>
                        </a:rPr>
                        <a:t>Hujayra va qon tomir javobi susayadi</a:t>
                      </a:r>
                    </a:p>
                  </a:txBody>
                  <a:tcPr marL="73152" marR="73152" marT="36576" marB="36576">
                    <a:solidFill>
                      <a:srgbClr val="E8EEF6"/>
                    </a:solidFill>
                  </a:tcPr>
                </a:tc>
                <a:tc>
                  <a:txBody>
                    <a:bodyPr/>
                    <a:lstStyle/>
                    <a:p>
                      <a:r>
                        <a:rPr sz="1500" b="0">
                          <a:solidFill>
                            <a:srgbClr val="1F2937"/>
                          </a:solidFill>
                        </a:rPr>
                        <a:t>Kechikkan bitish xavfi</a:t>
                      </a:r>
                    </a:p>
                  </a:txBody>
                  <a:tcPr marL="73152" marR="73152" marT="36576" marB="36576">
                    <a:solidFill>
                      <a:srgbClr val="E8EEF6"/>
                    </a:solidFill>
                  </a:tcPr>
                </a:tc>
              </a:tr>
              <a:tr h="614476">
                <a:tc>
                  <a:txBody>
                    <a:bodyPr/>
                    <a:lstStyle/>
                    <a:p>
                      <a:r>
                        <a:rPr sz="1500" b="0">
                          <a:solidFill>
                            <a:srgbClr val="1F2937"/>
                          </a:solidFill>
                        </a:rPr>
                        <a:t>Diabet</a:t>
                      </a:r>
                    </a:p>
                  </a:txBody>
                  <a:tcPr marL="73152" marR="73152" marT="36576" marB="36576">
                    <a:solidFill>
                      <a:srgbClr val="FFFFFF"/>
                    </a:solidFill>
                  </a:tcPr>
                </a:tc>
                <a:tc>
                  <a:txBody>
                    <a:bodyPr/>
                    <a:lstStyle/>
                    <a:p>
                      <a:r>
                        <a:rPr sz="1500" b="0">
                          <a:solidFill>
                            <a:srgbClr val="1F2937"/>
                          </a:solidFill>
                        </a:rPr>
                        <a:t>Mikrotomir buzilishi, tomir omili kam</a:t>
                      </a:r>
                    </a:p>
                  </a:txBody>
                  <a:tcPr marL="73152" marR="73152" marT="36576" marB="36576">
                    <a:solidFill>
                      <a:srgbClr val="FFFFFF"/>
                    </a:solidFill>
                  </a:tcPr>
                </a:tc>
                <a:tc>
                  <a:txBody>
                    <a:bodyPr/>
                    <a:lstStyle/>
                    <a:p>
                      <a:r>
                        <a:rPr sz="1500" b="0">
                          <a:solidFill>
                            <a:srgbClr val="1F2937"/>
                          </a:solidFill>
                        </a:rPr>
                        <a:t>Kallus kichik, kam mineralli</a:t>
                      </a:r>
                    </a:p>
                  </a:txBody>
                  <a:tcPr marL="73152" marR="73152" marT="36576" marB="36576">
                    <a:solidFill>
                      <a:srgbClr val="FFFFFF"/>
                    </a:solidFill>
                  </a:tcPr>
                </a:tc>
              </a:tr>
              <a:tr h="614476">
                <a:tc>
                  <a:txBody>
                    <a:bodyPr/>
                    <a:lstStyle/>
                    <a:p>
                      <a:r>
                        <a:rPr sz="1500" b="0">
                          <a:solidFill>
                            <a:srgbClr val="1F2937"/>
                          </a:solidFill>
                        </a:rPr>
                        <a:t>Infeksiya</a:t>
                      </a:r>
                    </a:p>
                  </a:txBody>
                  <a:tcPr marL="73152" marR="73152" marT="36576" marB="36576">
                    <a:solidFill>
                      <a:srgbClr val="E8EEF6"/>
                    </a:solidFill>
                  </a:tcPr>
                </a:tc>
                <a:tc>
                  <a:txBody>
                    <a:bodyPr/>
                    <a:lstStyle/>
                    <a:p>
                      <a:r>
                        <a:rPr sz="1500" b="0">
                          <a:solidFill>
                            <a:srgbClr val="1F2937"/>
                          </a:solidFill>
                        </a:rPr>
                        <a:t>Doimiy yallig‘lanish, tomir buzilishi</a:t>
                      </a:r>
                    </a:p>
                  </a:txBody>
                  <a:tcPr marL="73152" marR="73152" marT="36576" marB="36576">
                    <a:solidFill>
                      <a:srgbClr val="E8EEF6"/>
                    </a:solidFill>
                  </a:tcPr>
                </a:tc>
                <a:tc>
                  <a:txBody>
                    <a:bodyPr/>
                    <a:lstStyle/>
                    <a:p>
                      <a:r>
                        <a:rPr sz="1500" b="0">
                          <a:solidFill>
                            <a:srgbClr val="1F2937"/>
                          </a:solidFill>
                        </a:rPr>
                        <a:t>Bitmaslik, infeksiyali sinish</a:t>
                      </a:r>
                    </a:p>
                  </a:txBody>
                  <a:tcPr marL="73152" marR="73152" marT="36576" marB="36576">
                    <a:solidFill>
                      <a:srgbClr val="E8EEF6"/>
                    </a:solidFill>
                  </a:tcPr>
                </a:tc>
              </a:tr>
              <a:tr h="614476">
                <a:tc>
                  <a:txBody>
                    <a:bodyPr/>
                    <a:lstStyle/>
                    <a:p>
                      <a:r>
                        <a:rPr sz="1500" b="0">
                          <a:solidFill>
                            <a:srgbClr val="1F2937"/>
                          </a:solidFill>
                        </a:rPr>
                        <a:t>Barqarorsizlik</a:t>
                      </a:r>
                    </a:p>
                  </a:txBody>
                  <a:tcPr marL="73152" marR="73152" marT="36576" marB="36576">
                    <a:solidFill>
                      <a:srgbClr val="FFFFFF"/>
                    </a:solidFill>
                  </a:tcPr>
                </a:tc>
                <a:tc>
                  <a:txBody>
                    <a:bodyPr/>
                    <a:lstStyle/>
                    <a:p>
                      <a:r>
                        <a:rPr sz="1500" b="0">
                          <a:solidFill>
                            <a:srgbClr val="1F2937"/>
                          </a:solidFill>
                        </a:rPr>
                        <a:t>Haddan ortiq harakat, siljish zo‘riqishi</a:t>
                      </a:r>
                    </a:p>
                  </a:txBody>
                  <a:tcPr marL="73152" marR="73152" marT="36576" marB="36576">
                    <a:solidFill>
                      <a:srgbClr val="FFFFFF"/>
                    </a:solidFill>
                  </a:tcPr>
                </a:tc>
                <a:tc>
                  <a:txBody>
                    <a:bodyPr/>
                    <a:lstStyle/>
                    <a:p>
                      <a:r>
                        <a:rPr sz="1500" b="0">
                          <a:solidFill>
                            <a:srgbClr val="1F2937"/>
                          </a:solidFill>
                        </a:rPr>
                        <a:t>Gipertrofik bitmaslik, yolg‘on bo‘g‘im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radiografik bitish ≠ to‘liq mexanik tiklanish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jihatdan past bitish mumkin: uzluksizlik tiklangan, lekin yangi qism zaif — mineral zichligi past, mikroarxitektura o‘zgargan yoki mustahkamligi kam.</a:t>
            </a:r>
          </a:p>
          <a:p>
            <a:pPr>
              <a:spcAft>
                <a:spcPts val="1200"/>
              </a:spcAft>
            </a:pPr>
            <a:r>
              <a:rPr sz="2200">
                <a:solidFill>
                  <a:srgbClr val="1F2937"/>
                </a:solidFill>
                <a:latin typeface="Calibri"/>
              </a:rPr>
              <a:t>▸  Bunday nuqson oddiy rentgen tasvirda deyarli bilinmasligi mumkin. Uzoq muddatda u suyakning mexanik ishlashini yomonlashtirishi ehtimoli bor.</a:t>
            </a:r>
          </a:p>
          <a:p>
            <a:pPr>
              <a:spcAft>
                <a:spcPts val="1200"/>
              </a:spcAft>
            </a:pPr>
            <a:r>
              <a:rPr sz="2200">
                <a:solidFill>
                  <a:srgbClr val="1F2937"/>
                </a:solidFill>
                <a:latin typeface="Calibri"/>
              </a:rPr>
              <a:t>▸  Osteotsitlar zo‘riqish va mikrozararni sezadi. Shu sabab mexanik muhit va bitish sifati bog‘liq; rentgenda bitish to‘liq mexanik tiklanish emas.</a:t>
            </a:r>
          </a:p>
          <a:p>
            <a:pPr>
              <a:spcAft>
                <a:spcPts val="1200"/>
              </a:spcAft>
            </a:pPr>
            <a:r>
              <a:rPr sz="2200">
                <a:solidFill>
                  <a:srgbClr val="1F2937"/>
                </a:solidFill>
                <a:latin typeface="Calibri"/>
              </a:rPr>
              <a:t>▸  Diqqat: tez radiografik bitish ≠ yaxshi suyak sifati. Miya jarohatida kallus tez hosil bo‘lishi mumkin, lekin suyak sifati optimal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diabet va chekuvchi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diabetli chekuvchi bemorda kallus kichik, kam mineralizatsiyalangan, qon tomirlari kam va remodellanish kechikkan.</a:t>
            </a:r>
          </a:p>
          <a:p>
            <a:pPr>
              <a:spcAft>
                <a:spcPts val="1200"/>
              </a:spcAft>
            </a:pPr>
            <a:r>
              <a:rPr sz="2200">
                <a:solidFill>
                  <a:srgbClr val="1F2937"/>
                </a:solidFill>
                <a:latin typeface="Calibri"/>
              </a:rPr>
              <a:t>▸  Diabetda AGE retseptori faollashadi, oksidativ stress oshadi, VEGF kamayadi, mikrotomirlar zararlanadi.</a:t>
            </a:r>
          </a:p>
          <a:p>
            <a:pPr>
              <a:spcAft>
                <a:spcPts val="1200"/>
              </a:spcAft>
            </a:pPr>
            <a:r>
              <a:rPr sz="2200">
                <a:solidFill>
                  <a:srgbClr val="1F2937"/>
                </a:solidFill>
                <a:latin typeface="Calibri"/>
              </a:rPr>
              <a:t>▸  Chekish kallus perfuziyasini kamaytiradi, osteoangiogenez bog‘lanishini buzadi, kallusni kichraytiradi va mexanik mustahkamligini pasaytiradi.</a:t>
            </a:r>
          </a:p>
          <a:p>
            <a:pPr>
              <a:spcAft>
                <a:spcPts val="1200"/>
              </a:spcAft>
            </a:pPr>
            <a:r>
              <a:rPr sz="2200">
                <a:solidFill>
                  <a:srgbClr val="1F2937"/>
                </a:solidFill>
                <a:latin typeface="Calibri"/>
              </a:rPr>
              <a:t>▸  Savol: qaysi fazalar (2–4) va qaysi mexanizm (qon tomir kirishi, mineralizatsiya, remodellanish) buzilgan? Bitmaslik xavfi qanday?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PTH va abaloparatid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Teriparatid (PTH 1–34) va abaloparatid bitishni tezlashtirishi mumkin; retseptori bir xil.</a:t>
            </a:r>
          </a:p>
          <a:p>
            <a:pPr>
              <a:spcAft>
                <a:spcPts val="800"/>
              </a:spcAft>
            </a:pPr>
            <a:r>
              <a:rPr sz="1800">
                <a:solidFill>
                  <a:srgbClr val="1F2937"/>
                </a:solidFill>
                <a:latin typeface="Calibri"/>
              </a:rPr>
              <a:t>▸  Klinik natijalar bir xil emas: ba’zi sinovlarda bitish tezlashdi, ammo bitmaslik soni kamaymadi.</a:t>
            </a:r>
          </a:p>
          <a:p>
            <a:pPr>
              <a:spcAft>
                <a:spcPts val="800"/>
              </a:spcAft>
            </a:pPr>
            <a:r>
              <a:rPr sz="1800">
                <a:solidFill>
                  <a:srgbClr val="1F2937"/>
                </a:solidFill>
                <a:latin typeface="Calibri"/>
              </a:rPr>
              <a:t>▸  Anabolik ta’sir asosan cAMP/PKA yo‘li orqali; Ca²⁺/PKC yo‘li katabolik ta’sir bilan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Yo‘l</a:t>
                      </a:r>
                    </a:p>
                  </a:txBody>
                  <a:tcPr marL="73152" marR="73152" marT="36576" marB="36576">
                    <a:solidFill>
                      <a:srgbClr val="0B1F3A"/>
                    </a:solidFill>
                  </a:tcPr>
                </a:tc>
                <a:tc>
                  <a:txBody>
                    <a:bodyPr/>
                    <a:lstStyle/>
                    <a:p>
                      <a:r>
                        <a:rPr sz="1800" b="1">
                          <a:solidFill>
                            <a:srgbClr val="FFFFFF"/>
                          </a:solidFill>
                        </a:rPr>
                        <a:t>Roli</a:t>
                      </a:r>
                    </a:p>
                  </a:txBody>
                  <a:tcPr marL="73152" marR="73152" marT="36576" marB="36576">
                    <a:solidFill>
                      <a:srgbClr val="0B1F3A"/>
                    </a:solidFill>
                  </a:tcPr>
                </a:tc>
              </a:tr>
              <a:tr h="614476">
                <a:tc>
                  <a:txBody>
                    <a:bodyPr/>
                    <a:lstStyle/>
                    <a:p>
                      <a:r>
                        <a:rPr sz="1700" b="0">
                          <a:solidFill>
                            <a:srgbClr val="1F2937"/>
                          </a:solidFill>
                        </a:rPr>
                        <a:t>cAMP/PKA</a:t>
                      </a:r>
                    </a:p>
                  </a:txBody>
                  <a:tcPr marL="73152" marR="73152" marT="36576" marB="36576">
                    <a:solidFill>
                      <a:srgbClr val="E8EEF6"/>
                    </a:solidFill>
                  </a:tcPr>
                </a:tc>
                <a:tc>
                  <a:txBody>
                    <a:bodyPr/>
                    <a:lstStyle/>
                    <a:p>
                      <a:r>
                        <a:rPr sz="1700" b="0">
                          <a:solidFill>
                            <a:srgbClr val="1F2937"/>
                          </a:solidFill>
                        </a:rPr>
                        <a:t>Asosiy anabolik, osteogenez yo‘li</a:t>
                      </a:r>
                    </a:p>
                  </a:txBody>
                  <a:tcPr marL="73152" marR="73152" marT="36576" marB="36576">
                    <a:solidFill>
                      <a:srgbClr val="E8EEF6"/>
                    </a:solidFill>
                  </a:tcPr>
                </a:tc>
              </a:tr>
              <a:tr h="614476">
                <a:tc>
                  <a:txBody>
                    <a:bodyPr/>
                    <a:lstStyle/>
                    <a:p>
                      <a:r>
                        <a:rPr sz="1700" b="0">
                          <a:solidFill>
                            <a:srgbClr val="1F2937"/>
                          </a:solidFill>
                        </a:rPr>
                        <a:t>Wnt</a:t>
                      </a:r>
                    </a:p>
                  </a:txBody>
                  <a:tcPr marL="73152" marR="73152" marT="36576" marB="36576">
                    <a:solidFill>
                      <a:srgbClr val="FFFFFF"/>
                    </a:solidFill>
                  </a:tcPr>
                </a:tc>
                <a:tc>
                  <a:txBody>
                    <a:bodyPr/>
                    <a:lstStyle/>
                    <a:p>
                      <a:r>
                        <a:rPr sz="1700" b="0">
                          <a:solidFill>
                            <a:srgbClr val="1F2937"/>
                          </a:solidFill>
                        </a:rPr>
                        <a:t>Periost kamik hujayralarini ko‘paytiradi</a:t>
                      </a:r>
                    </a:p>
                  </a:txBody>
                  <a:tcPr marL="73152" marR="73152" marT="36576" marB="36576">
                    <a:solidFill>
                      <a:srgbClr val="FFFFFF"/>
                    </a:solidFill>
                  </a:tcPr>
                </a:tc>
              </a:tr>
              <a:tr h="614476">
                <a:tc>
                  <a:txBody>
                    <a:bodyPr/>
                    <a:lstStyle/>
                    <a:p>
                      <a:r>
                        <a:rPr sz="1700" b="0">
                          <a:solidFill>
                            <a:srgbClr val="1F2937"/>
                          </a:solidFill>
                        </a:rPr>
                        <a:t>IGF1</a:t>
                      </a:r>
                    </a:p>
                  </a:txBody>
                  <a:tcPr marL="73152" marR="73152" marT="36576" marB="36576">
                    <a:solidFill>
                      <a:srgbClr val="E8EEF6"/>
                    </a:solidFill>
                  </a:tcPr>
                </a:tc>
                <a:tc>
                  <a:txBody>
                    <a:bodyPr/>
                    <a:lstStyle/>
                    <a:p>
                      <a:r>
                        <a:rPr sz="1700" b="0">
                          <a:solidFill>
                            <a:srgbClr val="1F2937"/>
                          </a:solidFill>
                        </a:rPr>
                        <a:t>PTH anabolik ta’siri uchun zarur</a:t>
                      </a:r>
                    </a:p>
                  </a:txBody>
                  <a:tcPr marL="73152" marR="73152" marT="36576" marB="36576">
                    <a:solidFill>
                      <a:srgbClr val="E8EEF6"/>
                    </a:solidFill>
                  </a:tcPr>
                </a:tc>
              </a:tr>
              <a:tr h="614476">
                <a:tc>
                  <a:txBody>
                    <a:bodyPr/>
                    <a:lstStyle/>
                    <a:p>
                      <a:r>
                        <a:rPr sz="1700" b="0">
                          <a:solidFill>
                            <a:srgbClr val="1F2937"/>
                          </a:solidFill>
                        </a:rPr>
                        <a:t>EfnB2/EphB4</a:t>
                      </a:r>
                    </a:p>
                  </a:txBody>
                  <a:tcPr marL="73152" marR="73152" marT="36576" marB="36576">
                    <a:solidFill>
                      <a:srgbClr val="FFFFFF"/>
                    </a:solidFill>
                  </a:tcPr>
                </a:tc>
                <a:tc>
                  <a:txBody>
                    <a:bodyPr/>
                    <a:lstStyle/>
                    <a:p>
                      <a:r>
                        <a:rPr sz="1700" b="0">
                          <a:solidFill>
                            <a:srgbClr val="1F2937"/>
                          </a:solidFill>
                        </a:rPr>
                        <a:t>Hujayralararo aloqa va angiogenez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PTH signal yo‘llari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PTH tajribasi va abaloparatid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Teriparatid (PTH 1–34) sinish bitishini tezlashtirishda hayvon va ayrim klinik tadqiqotlarda samarali, lekin odam uchun bu maqsadda FDA tasdiqlamagan.</a:t>
            </a:r>
          </a:p>
          <a:p>
            <a:pPr>
              <a:spcAft>
                <a:spcPts val="800"/>
              </a:spcAft>
            </a:pPr>
            <a:r>
              <a:rPr sz="1600">
                <a:solidFill>
                  <a:srgbClr val="1F2937"/>
                </a:solidFill>
                <a:latin typeface="Calibri"/>
              </a:rPr>
              <a:t>▸  Gorter sharhidagi 41 hayvon tadqiqotida PTH alendronat kabi antirezorbtivlardan ustun: kallus, mustahkamlik va bitish ko‘rsatkichi yaxshiroq.</a:t>
            </a:r>
          </a:p>
          <a:p>
            <a:pPr>
              <a:spcAft>
                <a:spcPts val="800"/>
              </a:spcAft>
            </a:pPr>
            <a:r>
              <a:rPr sz="1600">
                <a:solidFill>
                  <a:srgbClr val="1F2937"/>
                </a:solidFill>
                <a:latin typeface="Calibri"/>
              </a:rPr>
              <a:t>▸  Klinik natijalar bir xil emas: ayrim tadqiqotlarda bitish tezlashgan, lekin bitmaslik soni kamaymagan.</a:t>
            </a:r>
          </a:p>
          <a:p>
            <a:pPr>
              <a:spcAft>
                <a:spcPts val="800"/>
              </a:spcAft>
            </a:pPr>
            <a:r>
              <a:rPr sz="1600">
                <a:solidFill>
                  <a:srgbClr val="1F2937"/>
                </a:solidFill>
                <a:latin typeface="Calibri"/>
              </a:rPr>
              <a:t>▸  Abaloparatid PTHrP ning sintetik 36 aminokislotali analogi; PTH retseptorining RG shakliga selektivroq — anabolik ta’sir kuchliroq, katabolik kamroq.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Teriparatid (PTH 1–34)</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Retseptor bilan bog‘lanishi R° ga moyilroq</a:t>
            </a:r>
          </a:p>
          <a:p>
            <a:pPr algn="l">
              <a:spcAft>
                <a:spcPts val="700"/>
              </a:spcAft>
            </a:pPr>
            <a:r>
              <a:rPr sz="1500" b="1">
                <a:solidFill>
                  <a:srgbClr val="C9A227"/>
                </a:solidFill>
                <a:latin typeface="Calibri"/>
              </a:rPr>
              <a:t>●  </a:t>
            </a:r>
            <a:r>
              <a:rPr sz="1500" b="0">
                <a:solidFill>
                  <a:srgbClr val="1F2937"/>
                </a:solidFill>
                <a:latin typeface="Calibri"/>
              </a:rPr>
              <a:t>Uzoqroq signal</a:t>
            </a:r>
          </a:p>
          <a:p>
            <a:pPr algn="l">
              <a:spcAft>
                <a:spcPts val="700"/>
              </a:spcAft>
            </a:pPr>
            <a:r>
              <a:rPr sz="1500" b="1">
                <a:solidFill>
                  <a:srgbClr val="C9A227"/>
                </a:solidFill>
                <a:latin typeface="Calibri"/>
              </a:rPr>
              <a:t>●  </a:t>
            </a:r>
            <a:r>
              <a:rPr sz="1500" b="0">
                <a:solidFill>
                  <a:srgbClr val="1F2937"/>
                </a:solidFill>
                <a:latin typeface="Calibri"/>
              </a:rPr>
              <a:t>RANKL ga ta’siri ko‘proq</a:t>
            </a:r>
          </a:p>
          <a:p>
            <a:pPr algn="l">
              <a:spcAft>
                <a:spcPts val="700"/>
              </a:spcAft>
            </a:pPr>
            <a:r>
              <a:rPr sz="1500" b="1">
                <a:solidFill>
                  <a:srgbClr val="C9A227"/>
                </a:solidFill>
                <a:latin typeface="Calibri"/>
              </a:rPr>
              <a:t>●  </a:t>
            </a:r>
            <a:r>
              <a:rPr sz="1500" b="0">
                <a:solidFill>
                  <a:srgbClr val="1F2937"/>
                </a:solidFill>
                <a:latin typeface="Calibri"/>
              </a:rPr>
              <a:t>Bitishni tezlatadi, bitmaslik kamaymagan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Abaloparatid</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PTHrP ning 36 a.k. analogi (76 % gomologiya)</a:t>
            </a:r>
          </a:p>
          <a:p>
            <a:pPr algn="l">
              <a:spcAft>
                <a:spcPts val="700"/>
              </a:spcAft>
            </a:pPr>
            <a:r>
              <a:rPr sz="1500" b="1">
                <a:solidFill>
                  <a:srgbClr val="C9A227"/>
                </a:solidFill>
                <a:latin typeface="Calibri"/>
              </a:rPr>
              <a:t>●  </a:t>
            </a:r>
            <a:r>
              <a:rPr sz="1500" b="0">
                <a:solidFill>
                  <a:srgbClr val="1F2937"/>
                </a:solidFill>
                <a:latin typeface="Calibri"/>
              </a:rPr>
              <a:t>RG shakliga selektivroq</a:t>
            </a:r>
          </a:p>
          <a:p>
            <a:pPr algn="l">
              <a:spcAft>
                <a:spcPts val="700"/>
              </a:spcAft>
            </a:pPr>
            <a:r>
              <a:rPr sz="1500" b="1">
                <a:solidFill>
                  <a:srgbClr val="C9A227"/>
                </a:solidFill>
                <a:latin typeface="Calibri"/>
              </a:rPr>
              <a:t>●  </a:t>
            </a:r>
            <a:r>
              <a:rPr sz="1500" b="0">
                <a:solidFill>
                  <a:srgbClr val="1F2937"/>
                </a:solidFill>
                <a:latin typeface="Calibri"/>
              </a:rPr>
              <a:t>Tezroq, qisqaroq signal: ko‘proq anabolik</a:t>
            </a:r>
          </a:p>
          <a:p>
            <a:pPr algn="l">
              <a:spcAft>
                <a:spcPts val="700"/>
              </a:spcAft>
            </a:pPr>
            <a:r>
              <a:rPr sz="1500" b="1">
                <a:solidFill>
                  <a:srgbClr val="C9A227"/>
                </a:solidFill>
                <a:latin typeface="Calibri"/>
              </a:rPr>
              <a:t>●  </a:t>
            </a:r>
            <a:r>
              <a:rPr sz="1500" b="0">
                <a:solidFill>
                  <a:srgbClr val="1F2937"/>
                </a:solidFill>
                <a:latin typeface="Calibri"/>
              </a:rPr>
              <a:t>RANKL ga ta’siri kamroq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PTH analoglari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 Clinical and animal studies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mustahkamlash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Tuzalish 4 bosqichda: gematoma va yallig‘lanish, yumshoq kallus, qattiq kallus, remodellanish. Dastlabki ikkisi ≈5 kun, oxirgisi oylar–yillar davom etadi.</a:t>
            </a:r>
          </a:p>
          <a:p>
            <a:pPr>
              <a:spcAft>
                <a:spcPts val="1200"/>
              </a:spcAft>
            </a:pPr>
            <a:r>
              <a:rPr sz="2000">
                <a:solidFill>
                  <a:srgbClr val="1F2937"/>
                </a:solidFill>
                <a:latin typeface="Calibri"/>
              </a:rPr>
              <a:t>▸  Uzun suyakda yangi suyak 3 joyda hosil bo‘ladi: periost bo‘ylab (intramembranoz), sinish uchlari orasida (endoxondral) va ilik ichida (intramedullyar).</a:t>
            </a:r>
          </a:p>
          <a:p>
            <a:pPr>
              <a:spcAft>
                <a:spcPts val="1200"/>
              </a:spcAft>
            </a:pPr>
            <a:r>
              <a:rPr sz="2000">
                <a:solidFill>
                  <a:srgbClr val="1F2937"/>
                </a:solidFill>
                <a:latin typeface="Calibri"/>
              </a:rPr>
              <a:t>▸  O‘zak hujayralar periost, ilik, mushakdan keladi (periost asosiy). Remodellanishda osteoklast yigma suyakni so‘radi, osteoblast lamellyar suyakni tiklaydi.</a:t>
            </a:r>
          </a:p>
          <a:p>
            <a:pPr>
              <a:spcAft>
                <a:spcPts val="1200"/>
              </a:spcAft>
            </a:pPr>
            <a:r>
              <a:rPr sz="2000">
                <a:solidFill>
                  <a:srgbClr val="1F2937"/>
                </a:solidFill>
                <a:latin typeface="Calibri"/>
              </a:rPr>
              <a:t>▸  Doimiy yallig‘lanish, tomir yetishmovchiligi, infeksiya, beqarorlik, diabet, chekish bitishni kechiktiradi. Davo: o‘sish omillari, hujayra/gen terapiyasi.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 Flurina Staubli va boshq., Fracture healing: from molecular and cellular mechanisms to therapeutic strategies, betlar: PMID 42768017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suyak bitishining 4 bosqichi “Q-Q-Q-Q”: Qon quyilishi (gematoma va yallig‘lanish), Qurilish boshlanishi (qon tomir va xaryashsimon yumshoq kallus), Qotish (qattiq kallus), Qayta qurish (remodellash). Taxminiy davomiyligi: 1-bosqich ~5 kun, 2-bosqich ~5 kun, 3-bosqich bir necha hafta, 4-bosqich oylardan yillargacha. Bosqichlar bir-birini qoplaydi.</a:t>
            </a:r>
          </a:p>
          <a:p>
            <a:pPr>
              <a:spcAft>
                <a:spcPts val="1200"/>
              </a:spcAft>
            </a:pPr>
            <a:r>
              <a:rPr sz="1800">
                <a:solidFill>
                  <a:srgbClr val="1F2937"/>
                </a:solidFill>
                <a:latin typeface="Calibri"/>
              </a:rPr>
              <a:t>▸  Qiziqarli fakt: uzun suyakda yangi suyak 3 joyda hosil bo‘ladi: periost yuzasida (intramembranoz), singan uchlar orasida (endoxondral) va ilik ichida (intramedullyar). Ilik ichidagi joy ko‘pincha e’tibordan chetda qolgan. Sababi: tajribada ilik bo‘shlig‘iga qo‘yilgan mix (pin) shu bo‘shliqni to‘ldirib, u yerda yangi suyak hosil bo‘lishiga yo‘l qo‘ymaydi.</a:t>
            </a:r>
          </a:p>
          <a:p>
            <a:pPr>
              <a:spcAft>
                <a:spcPts val="1200"/>
              </a:spcAft>
            </a:pPr>
            <a:r>
              <a:rPr sz="1800">
                <a:solidFill>
                  <a:srgbClr val="1F2937"/>
                </a:solidFill>
                <a:latin typeface="Calibri"/>
              </a:rPr>
              <a:t>▸  Hodisa tahlili: kallus katta, lekin singan uchlar ko‘prik hosil qilmagan. Bu gipertrofik nobitishga xos holat. Biologik faollik saqlangan, ammo mexanik barqarorlik yetarli emas. Atrofik shaklda esa kallus kam, qon tomirlar va hujayra faolligi susaygan. Muhim farq: gipertrofik nobitish ≠ atrofik nobitish, shuning uchun davo yondashuvi ham farq qiladi.</a:t>
            </a:r>
          </a:p>
          <a:p>
            <a:pPr>
              <a:spcAft>
                <a:spcPts val="1200"/>
              </a:spcAft>
            </a:pPr>
            <a:r>
              <a:rPr sz="1800">
                <a:solidFill>
                  <a:srgbClr val="1F2937"/>
                </a:solidFill>
                <a:latin typeface="Calibri"/>
              </a:rPr>
              <a:t>▸  Eslab qolish qoidasi: hujayra taqdirini kislorod va mexanik barqarorlik hal qiladi. Kislorodga boy va barqaror joyda MSC (mezenximal stromal/ildiz hujayra) bevosita suyak hosil qiladi (intramembranoz). Gipoksik yoki mexanik zo‘riqqan joyda esa xaryashsimon yumshoq kallus hosil qiladi. Xaryashsimon hujayralarning bir qismi keyinchalik osteoblastga aylanishi mumkin.</a:t>
            </a:r>
          </a:p>
          <a:p>
            <a:pPr>
              <a:spcAft>
                <a:spcPts val="1200"/>
              </a:spcAft>
            </a:pPr>
            <a:r>
              <a:rPr sz="1800">
                <a:solidFill>
                  <a:srgbClr val="1F2937"/>
                </a:solidFill>
                <a:latin typeface="Calibri"/>
              </a:rPr>
              <a:t>▸  Klinik ahamiyatli fakt: radiografik bitish har doim to‘liq mexanik tiklanishni bildirmaydi. Suyak birikkan ko‘rinsa ham, uning mineral zichligi past yoki mikroarxitekturasi buzilgan, mustahkamligi kamaygan bo‘lishi mumkin. Shuning uchun faqat rentgen suratiga qarab “to‘liq tuzaldi” deyish xavfli bo‘lishi mumkin.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Flurina Staubli va boshq. Fracture healing: from molecular and cellular mechanisms to therapeutic strategies, Signal Transduction and Targeted Therapy. 2026. PMID 42768017; DOI 10.1038/s41392-026-02967-z</a:t>
            </a:r>
          </a:p>
          <a:p>
            <a:pPr>
              <a:spcAft>
                <a:spcPts val="800"/>
              </a:spcAft>
            </a:pPr>
            <a:r>
              <a:rPr sz="2000">
                <a:solidFill>
                  <a:srgbClr val="1F2937"/>
                </a:solidFill>
                <a:latin typeface="Calibri"/>
              </a:rPr>
              <a:t>▸  Bikle D va boshq. Fracture healing: cellular mechanisms and impact of parathyroid hormone and its analogs, Frontiers in Endocrinology. 2025. PMID 41334438; DOI 10.3389/fendo.2025.1703129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