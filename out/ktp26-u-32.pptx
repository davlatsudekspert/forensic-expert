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qon va ajratmalar izlari og‘ir jinoyatlarni ochishda muhim? 2) Zardob izotizimi nima? Doskada: ma‘ruza rejasini chizing (qon – zardob izotizimlari – so‘lak – ter). Tipik xato: zardob izotizimlarini eritrotsitar tizimlar (AVO, Rezus)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predmetlar ashyoviy dalil bo‘la oladi? 2) Shifokor hodisa joyida qanday rol o‘ynaydi? Doskada: ashyoviy dalil turlari (quroli, izi, ob‘ekti, ayblovni inkor etuvchi) sxemasini chizing. Tipik xato: ashyoviy dalilni faqat jinoyat quroli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Qaysi biologik ob‘ektlar ajratmalarga kiradi? 2) Qon dog‘i qaysi laboratoriyada tekshiriladi? Doskada: to‘rt laboratoriya va ularning vazifasini jadval qilib chizing. Tipik xato: sud-biologik va sud-gistologik bo‘limlarning vazifalarini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Nega klinitsist-shifokor dalilni laboratoriyada tekshirmaydi? 2) Hodisa joyida umumiy amaliyot shifokori nimalar bilan shug‘ullanishi mumkin? Doskada: ikki ustun chizing — «Shifokor (joyda)» va «Laboratoriya mutaxassisi». Tipik xato: talabalar shifokorni dalilni tekshiruvchi deb o‘ylaydi, aslida u faqat topish, tavsiflash va namuna olishda yordam beradi.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Dalilni kim rasmiy ravishda oladi? 2) Kontrol namuna natijani qanday himoya qiladi? Doskada: devordan namuna olish ketma-ketligini (qirindi → toza qog‘oz → kontrol) chizdiring. Tipik xato: kontrol namunani asosiy dalil bilan bir o‘ramga solish — ular alohida o‘ralishi kerak. Vaziyat o‘quv maqsadida tuzilgan.</a:t>
            </a:r>
          </a:p>
          <a:p/>
          <a:p>
            <a:r>
              <a:t>Tekshirish kerak (manbada noaniq):</a:t>
            </a:r>
          </a:p>
          <a:p>
            <a:r>
              <a:t>- Vaziyat: hodisa joyida devorda va yostiq jildida qonga o‘xshash dog‘lar topildi. Shifokor ko‘zdan kechirishga jalb qilingan.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bir xil qon turli materialda turlicha iz qoldiradi? 2) Sachra izlar qaysi holatlarda paydo bo‘ladi? Doskada: jadvalni ko‘chiring va surtma hamda bosma izlarni qo‘shib chizing (sirpanish bor/yo‘q). Tipik xato: surtma va bosmani aralashtirish — farq sirpanishda.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Noksimon dog‘ning ensiz uchi nimani ko‘rsatadi? 2) Sachralar qaysi sharoitda ko‘payadi? Doskada: to‘rt xil tomchi dog‘ining sxemasini chizdiring, ensiz uchiga strelka qo‘ying. Tipik xato: dog‘ shakli faqat balandlikka bog‘liq deb o‘ylash; harakat va yuzaning qiyaligi ham ta’sir qiladi.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Kontrol namuna nima uchun kerak? 2) Katta to‘shakni butunligicha olib bo‘lmasa nima qilinadi? Doskada: buyum o‘lchamiga qarab qaror sxemasini chizdiring. Tipik xato: faqat dog‘li sohadan namuna olib, toza soha kontrolini unutish.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apprеturali doka xavfli? 2) Qor namunasi nima uchun xonada eritiladi? Doskada: to‘rt substrat bo‘yicha usul–kontrol jadvalini to‘ldiring. Tipik xato: quritishni isitkich yonida yoki quyosh nurida o‘tkazish va kontrolni unutish.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Kontrol namuna bo‘lmasa, natijani qanday talqin qilish qiyinlashadi? 2) Doka bo‘laklarini nega isitkich yonida quritmaymiz? Doskada: «dog‘li soha - kontrol soha» juftligini chizdiring va ikkalasiga alohida o‘ram belgilang. Tipik xato: talabalar kontrolni dalil bilan bitta paketga solishni to‘g‘ri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tur aniqlanmasdan turib guruhni aniqlash mantiqsiz? 2) Qaysi qo‘shimcha savollar ish holatiga qarab qo‘yiladi? Doskada: to‘rt bosqichli zanjirni o‘quvchilar bilan birga chizing. Tipik xato: talabalar guruhiy mansublik bilan muayyan shaxsga mansublikni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taxminiy sinama hodisa joyida foydali, lekin xulosa uchun yetarli emas? 2) Fenolftaleinda rang 1 daqiqadan keyin paydo bo‘lsa, nega inobatga olinmaydi (havo yoki nur ta’sirida oksidlanish mumkin)? Doskada: jadvalni daftarga ko‘chirtiring va har sinama uchun rangni belgilang. Tipik xato: musbat taxminiy sinamani qon borligining qat’iy isboti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taxminiy sinamalar qat’iy xulosa uchun yetarli emas? 2) Mikroskopik usul imkoniyati nega cheklangan (hujayralar ko‘rinishi qisqa vaqtda o‘zgaradi)? Doskada: ishonchli usullar jadvalini chizdiring va har birining holatini yozdiring. Tipik xato: Teyxman va Takayama sinamalarini hozir ham asosiy usul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Qon kam bo‘lganda qaysi usul tanlanadi? 2) ABAcard testining boshqa usullardan farqi nimada? Doskada: Chistovich–Ulengut reaksiyasi sxemasini chizdiring (tortilma, zardob, halqa). Tipik xato: pretsipitatsiya halqasini guruh mansubligi belgisi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bu sinamani hodisa joyida qo‘llash mumkin, ammo yakuniy xulosa uchun yetarli emas? 2) Fenolftaleinda natijani 10–15 soniyada baholash nega muhim? Doskada: ketma-ketlikni chizdiring: qon borligi, tur, guruh, shaxs. Tipik xato: musbat ko‘pikni qon isboti deb yozish.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nima uchun sud-tibbiy tekshiruv bitta tizim bilan cheklanmaydi? Nima uchun AVO tizimidan boshlanadi? Doskada jadvalni chizdiring: har tizim turiga 1-2 misol yozdirilsin. Tipik xato: talabalar guruhiy tizimlarni faqat AVO va Rezus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so‘lak yoki ter dog‘ida guruhni aniqlashda ajratuvchanlik nima uchun muhim? Doskada Gm, Hp, Gc qisqartmalarining ochilishini yozdiring. Tipik xato: Gm, Hp, Gc ni eritrotsitar tizim deb adashtirish (ular zardob tizimlari).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guruhiy tizimlar bilan taqqoslash nima uchun ko‘p mehnat va vaqt talab etadi? DNK usuli bu muammoni qanday hal qiladi? Doskada ferment tizimlari ro‘yxatini yozdirib, HLA ni ochtiring (leykotsitar antigenlar). Tipik xato: HLA ni ferment tizimi deb hisoblash (u alohida leykotsitar tizim).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sud-tibbiyotda AVO tizimining ikkala tarkibiy qismi ham o‘rganiladi? 2) AVO nega odatda birinchi tekshiriladi? Doskada: ikki ustunli solishtirish jadvalini (tibbiyot va sud-tibbiyot) chizdiring. Tipik xato: talabalar agglyutinogen va agglyutininni aralashtiradi, sud-tibbiyotda ham faqat agglyutinogen tekshiriladi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Suyuq qon va qon dog‘i uchun usullar nega farq qiladi? 2) Qaysi holatda absorbsiya-elyusiya afzal? Doskada: Shiff usulining ketma-ketlik sxemasini chizdiring. Tipik xato: Lyates usulini agglyutinogenni aniqlashga tegishli deb o‘ylash, aslida u dog‘da agglyutininlarni aniqlaydi.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Savollarni ovoz chiqarib o‘qing, talabalar javob bersin. Muhokama: 1) Eritrotsitar tizimlarni sanab bering. 2) Zardob va ferment tizimlari qanday farqlanadi? Doskada: ikki ustunli ro‘yxat chizing: eritrotsitar tizimlar va zardob izotizimlari. Tipik xato: Gm, Hp, Gc ni eritrotsitar tizim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tekshiruv aynan AVO tizimidan boshlanadi? 2) Nima uchun bir nechta tizimni solishtirish kerak? Doskada chizing: ‘hodisa joyidagi iz’ va ‘shaxs qoni’ ustunlarini tizimlar (AVO, Rezus, MNSs...) bo‘yicha taqqoslash jadvali. Tipik xato: faqat AVO mos kelganini shaxsning aynan o‘zi deb xulosa qilish.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Guruhiy tizimlar bilan solishtirishga qaraganda DNK usuli nimasi bilan qulay? 2) ‘Gomologik lokus’ so‘zini o‘z so‘zingiz bilan tushuntiring. Doskada chizing: ikkita xromosoma va ularning bir xil joyidagi lokus. Tipik xato: DNK-tekshiruvini faqat qonga xos deb o‘ylash; manbada u biologik ob’ektlar uchun umumiy usul sifatida berilgan.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dog‘ bo‘yicha homiladorlikni qat‘iy aniqlab bo‘lmaydi? 2) Hudud qanday aniqlanadi va nima uchun? Doskada chizing: jadvalning o‘zi (masala — belgi — izoh) va X, Y xromatin hujayralarining sxemasi. Tipik xato: HbA va HbF ni adashtirish (HbA — kattalarda, HbF — go‘daklarda), 15-20 kunlik dog‘da farqlab bo‘lmasligini unutish. Eslab qolish: F — fetal — go‘dak.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bir xil muddatli ikki dog‘ turlicha o‘zgarishi mumkin? 2) Quruq qoldiq ma’lumoti qaysi savolga javob berishga yordam beradi? Doskada chizish: ‘muddat’ markazda, atrofida to‘rtta omil (harorat, namlik, shamol, predmet) strelkalari bilan. Tipik xato: talaba muddatni aniq kun deb yozadi; xulosa taxminiy ekanini ta’kidlang.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Guruh mosligi xulosada qanday ifodalanishi kerak? 2) Qachon DNK-tekshiruviga murojaat qilinadi? Doskada chizish: ‘dog‘ → AVO → boshqa tizimlar → DNK’ ketma-ketligi. Tipik xato: faqat AVO mos kelganini ‘aynan shu shaxs’ deb yozish.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so‘lak va ter uchun turli aniqlovchi moddalar (amilaza, serin) kerak? 2) Nima uchun kontrol alohida o‘raladi? Doskada chizish: ikki ustun — ‘so‘lak: ob’ekt, amilaza’ va ‘ter: ob’ekt, serin’. Tipik xato: amilaza va serinni aralashtirish; so‘lak = amilaza, ter = serin deb eslatib turing.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hodisa joyida qo‘lga rezina qo‘lqop kiyiladi? 2) Nega kontrol namuna alohida o‘raladi? Doskada: zanjirni chizib, har bosqichga xato oqibatini yozing. Tipik xato: namunani isitkich yoki quyosh nuri ostida quritish, ob’ekt bilan kontrolni birga o‘rash. Qo‘shimcha: so‘lakda tur mansublik juda kam so‘raladi, kerak bo‘lsa tur spetsifik zardoblar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Qaysi buyumlarda ter izi ko‘proq uchraydi? 2) So‘lak va terni aniqlashda nimasi bilan farq qiladi? Doskada: ikki ustunli juftlik yozing: so‘lak–amilaza, ter–serin. Tipik xato: amilaza va serinni almashtirib yuborish. Mustahkamlash uchun talabalardan juftliklarni yopiq daftarda yozdiring.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najasda guruhni aniqlab bo‘lmaydi? 2) Siydikda tur nima uchun aniqlanmaydi? Doskada: jadvalni talabalar bilan birga to‘ldiring. Tipik xato: siydik va najasning tur hamda guruhi bir xil aniqlanadi deb o‘ylash. Eslatma: siydik uchun kimyoviy, najas uchun mikroskopik usul qo‘llanadi.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6-7 daq. Muhokama: nima uchun siydikda tur aniqlanmaydi, najasda esa ikkalasi ham aniqlanmaydi? Doskada jadvalni talabalar bilan birga to‘ldiring. Tipik xato: siydik va najasni bir xil deb o‘ylash. Tezkor savol: so‘lakning guruhi qaysi tizim bo‘yicha aniqlanadi?</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so‘lak guruhi topilmasa, bu gumondorning aybsizligini bildiradimi? Doskada Lyuis jadvalini chizdiring. Tipik xato: Le (a+ b-) va Le (a- b+) ni almashtirib yuborish. Tezkor savol: murdada ajratuvchanlik uchun nima olinadi (manbaga ko‘ra qon va o‘t suyuqligi)?</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nima uchun kontrol namuna alohida o‘raladi? Doskada 5 bosqichli zanjirni chizdiring. Tipik xato: namunani isitkich yoki quyosh yonida quritish va kontrolni bir paketga solish. Tezkor savol: so‘lak namunasi nechta ml olinadi?</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3-4 daq. Muhokama: 1) Nima uchun kontrol namuna alohida o‘ralishi kerak? 2) Siydik va najas dog‘ida tur mansublik nega aniqlanmaydi? Doskada: ob’ekt — modda — aniqlash belgisi (so‘lak, ter, siydik) jadvalini chizdiring. Tipik xato: amilaza va serinni aralashtirish, kontrolni ob’ekt bilan birga o‘rash.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5-6 daq. Muhokama: 1) Sigaret qoldig‘ini olishda qanday ehtiyot choralari kerak? 2) Guruhiy mansublik natijasi nimani isbotlaydi? Doskada: vaziyat — ob’ekt — usul — xulosa zanjirini chizdiring. Tipik xato: so‘lak va ter uchun bir xil reaksiyani qo‘llash.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4-5 daq. Muhokama: 1) Taxminiy va ishonchli usulning farqi nimada? 2) Qaysi ajratmada tur va guruh aniqlanmaydi, sababi nima? Doskada: so‘lak, ter, siydik, najas uchun nimani aniqlash mumkinligi jadvalini chizdiring. Tipik xato: qon uchun berilgan taxminiy/ishonchli bo‘linishni so‘lak va terga ham o‘tkazib yuborish.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Qonning zardob izosistemasining sud-tibbiy ahamiyati. Ter, so’lak mavjudligini sud-tibbiy aniqlash.</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mavzu, maqsad va reja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 so‘lak, ter va boshqa ajratmalar izlari qotillik, nomusga tegish kabi og‘ir jinoyatlarni ochishda ashyoviy dalil bo‘ladi.</a:t>
            </a:r>
          </a:p>
          <a:p>
            <a:pPr>
              <a:spcAft>
                <a:spcPts val="1200"/>
              </a:spcAft>
            </a:pPr>
            <a:r>
              <a:rPr sz="2200">
                <a:solidFill>
                  <a:srgbClr val="1F2937"/>
                </a:solidFill>
                <a:latin typeface="Calibri"/>
              </a:rPr>
              <a:t>▸  Qonning guruhiy mansubligi eritrotsitar, zardob, leykotsitar va ferment tizimlari bo‘yicha aniqlanadi.</a:t>
            </a:r>
          </a:p>
          <a:p>
            <a:pPr>
              <a:spcAft>
                <a:spcPts val="1200"/>
              </a:spcAft>
            </a:pPr>
            <a:r>
              <a:rPr sz="2200">
                <a:solidFill>
                  <a:srgbClr val="1F2937"/>
                </a:solidFill>
                <a:latin typeface="Calibri"/>
              </a:rPr>
              <a:t>▸  Zardob izotizimlariga immunoglobulin (Gm), gaptoglobin (Hp) va guruh spetsifik komponent (Gc) kiradi.</a:t>
            </a:r>
          </a:p>
          <a:p>
            <a:pPr>
              <a:spcAft>
                <a:spcPts val="1200"/>
              </a:spcAft>
            </a:pPr>
            <a:r>
              <a:rPr sz="2200">
                <a:solidFill>
                  <a:srgbClr val="1F2937"/>
                </a:solidFill>
                <a:latin typeface="Calibri"/>
              </a:rPr>
              <a:t>▸  So‘lak amilaza fermenti orqali, ter esa serin aminokislotasi orqali aniqlanadi. Ma‘ruzada shu usullar ko‘rib chiqiladi.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303, 307, 311-312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Ashyoviy dalil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JPK 203-moddasiga ko‘ra ashyoviy dalil — kelib chiqishi, kimga tegishliligi, nimaga ishlatilganini aniqlash mumkin bo‘lgan alomat va belgilarga ega narsa.</a:t>
            </a:r>
          </a:p>
          <a:p>
            <a:pPr>
              <a:spcAft>
                <a:spcPts val="1200"/>
              </a:spcAft>
            </a:pPr>
            <a:r>
              <a:rPr sz="2200">
                <a:solidFill>
                  <a:srgbClr val="1F2937"/>
                </a:solidFill>
                <a:latin typeface="Calibri"/>
              </a:rPr>
              <a:t>▸  Jinoyat quroli, jinoyat izini saqlagan yoki jinoiy harakat ob‘ekti bo‘lgan predmetlar ashyoviy dalillar qatoriga kiradi.</a:t>
            </a:r>
          </a:p>
          <a:p>
            <a:pPr>
              <a:spcAft>
                <a:spcPts val="1200"/>
              </a:spcAft>
            </a:pPr>
            <a:r>
              <a:rPr sz="2200">
                <a:solidFill>
                  <a:srgbClr val="1F2937"/>
                </a:solidFill>
                <a:latin typeface="Calibri"/>
              </a:rPr>
              <a:t>▸  Ayblovni inkor etishga yoki aybni yengillashtirishga xizmat qiladigan predmetlar ham ashyoviy dalil hisoblanadi.</a:t>
            </a:r>
          </a:p>
          <a:p>
            <a:pPr>
              <a:spcAft>
                <a:spcPts val="1200"/>
              </a:spcAft>
            </a:pPr>
            <a:r>
              <a:rPr sz="2200">
                <a:solidFill>
                  <a:srgbClr val="1F2937"/>
                </a:solidFill>
                <a:latin typeface="Calibri"/>
              </a:rPr>
              <a:t>▸  Diqqat: dalillarni sud-tibbiy tekshirish klinitsist-shifokorlarga yuklanmaydi. Ular faqat hodisa joyida topish, tavsiflash va namuna olishga jalb qilinishi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Biologik ashyoviy dalillar va laboratoriyalar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Biologik dalillar: to‘qima bo‘laklari, qon, so‘lak, siydik, ter, maniy, najas, ularning dog‘lari va sochlar.</a:t>
            </a:r>
          </a:p>
          <a:p>
            <a:pPr>
              <a:spcAft>
                <a:spcPts val="800"/>
              </a:spcAft>
            </a:pPr>
            <a:r>
              <a:rPr sz="1800">
                <a:solidFill>
                  <a:srgbClr val="1F2937"/>
                </a:solidFill>
                <a:latin typeface="Calibri"/>
              </a:rPr>
              <a:t>▸  Ularni maxsus tayyorgarlikka ega mutaxassislar tegishli laboratoriya tuzilmalarida tekshiradi.</a:t>
            </a:r>
          </a:p>
          <a:p>
            <a:pPr>
              <a:spcAft>
                <a:spcPts val="800"/>
              </a:spcAft>
            </a:pPr>
            <a:r>
              <a:rPr sz="1800">
                <a:solidFill>
                  <a:srgbClr val="1F2937"/>
                </a:solidFill>
                <a:latin typeface="Calibri"/>
              </a:rPr>
              <a:t>▸  Qon va maniy dog‘lari sud-biologik bo‘limda tekshiriladi.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362712"/>
                <a:gridCol w="2925262"/>
              </a:tblGrid>
              <a:tr h="614476">
                <a:tc>
                  <a:txBody>
                    <a:bodyPr/>
                    <a:lstStyle/>
                    <a:p>
                      <a:r>
                        <a:rPr sz="1800" b="1">
                          <a:solidFill>
                            <a:srgbClr val="FFFFFF"/>
                          </a:solidFill>
                        </a:rPr>
                        <a:t>Bo‘lim</a:t>
                      </a:r>
                    </a:p>
                  </a:txBody>
                  <a:tcPr marL="73152" marR="73152" marT="36576" marB="36576">
                    <a:solidFill>
                      <a:srgbClr val="0B1F3A"/>
                    </a:solidFill>
                  </a:tcPr>
                </a:tc>
                <a:tc>
                  <a:txBody>
                    <a:bodyPr/>
                    <a:lstStyle/>
                    <a:p>
                      <a:r>
                        <a:rPr sz="1800" b="1">
                          <a:solidFill>
                            <a:srgbClr val="FFFFFF"/>
                          </a:solidFill>
                        </a:rPr>
                        <a:t>Vazifasi</a:t>
                      </a:r>
                    </a:p>
                  </a:txBody>
                  <a:tcPr marL="73152" marR="73152" marT="36576" marB="36576">
                    <a:solidFill>
                      <a:srgbClr val="0B1F3A"/>
                    </a:solidFill>
                  </a:tcPr>
                </a:tc>
              </a:tr>
              <a:tr h="614476">
                <a:tc>
                  <a:txBody>
                    <a:bodyPr/>
                    <a:lstStyle/>
                    <a:p>
                      <a:r>
                        <a:rPr sz="1700" b="0">
                          <a:solidFill>
                            <a:srgbClr val="1F2937"/>
                          </a:solidFill>
                        </a:rPr>
                        <a:t>Sud-biologik</a:t>
                      </a:r>
                    </a:p>
                  </a:txBody>
                  <a:tcPr marL="73152" marR="73152" marT="36576" marB="36576">
                    <a:solidFill>
                      <a:srgbClr val="E8EEF6"/>
                    </a:solidFill>
                  </a:tcPr>
                </a:tc>
                <a:tc>
                  <a:txBody>
                    <a:bodyPr/>
                    <a:lstStyle/>
                    <a:p>
                      <a:r>
                        <a:rPr sz="1700" b="0">
                          <a:solidFill>
                            <a:srgbClr val="1F2937"/>
                          </a:solidFill>
                        </a:rPr>
                        <a:t>Qon va maniy dog‘lari</a:t>
                      </a:r>
                    </a:p>
                  </a:txBody>
                  <a:tcPr marL="73152" marR="73152" marT="36576" marB="36576">
                    <a:solidFill>
                      <a:srgbClr val="E8EEF6"/>
                    </a:solidFill>
                  </a:tcPr>
                </a:tc>
              </a:tr>
              <a:tr h="614476">
                <a:tc>
                  <a:txBody>
                    <a:bodyPr/>
                    <a:lstStyle/>
                    <a:p>
                      <a:r>
                        <a:rPr sz="1700" b="0">
                          <a:solidFill>
                            <a:srgbClr val="1F2937"/>
                          </a:solidFill>
                        </a:rPr>
                        <a:t>Sud-gistologik</a:t>
                      </a:r>
                    </a:p>
                  </a:txBody>
                  <a:tcPr marL="73152" marR="73152" marT="36576" marB="36576">
                    <a:solidFill>
                      <a:srgbClr val="FFFFFF"/>
                    </a:solidFill>
                  </a:tcPr>
                </a:tc>
                <a:tc>
                  <a:txBody>
                    <a:bodyPr/>
                    <a:lstStyle/>
                    <a:p>
                      <a:r>
                        <a:rPr sz="1700" b="0">
                          <a:solidFill>
                            <a:srgbClr val="1F2937"/>
                          </a:solidFill>
                        </a:rPr>
                        <a:t>A‘zo va to‘qima kesmalari</a:t>
                      </a:r>
                    </a:p>
                  </a:txBody>
                  <a:tcPr marL="73152" marR="73152" marT="36576" marB="36576">
                    <a:solidFill>
                      <a:srgbClr val="FFFFFF"/>
                    </a:solidFill>
                  </a:tcPr>
                </a:tc>
              </a:tr>
              <a:tr h="614476">
                <a:tc>
                  <a:txBody>
                    <a:bodyPr/>
                    <a:lstStyle/>
                    <a:p>
                      <a:r>
                        <a:rPr sz="1700" b="0">
                          <a:solidFill>
                            <a:srgbClr val="1F2937"/>
                          </a:solidFill>
                        </a:rPr>
                        <a:t>Tibbiy kriminalistika</a:t>
                      </a:r>
                    </a:p>
                  </a:txBody>
                  <a:tcPr marL="73152" marR="73152" marT="36576" marB="36576">
                    <a:solidFill>
                      <a:srgbClr val="E8EEF6"/>
                    </a:solidFill>
                  </a:tcPr>
                </a:tc>
                <a:tc>
                  <a:txBody>
                    <a:bodyPr/>
                    <a:lstStyle/>
                    <a:p>
                      <a:r>
                        <a:rPr sz="1700" b="0">
                          <a:solidFill>
                            <a:srgbClr val="1F2937"/>
                          </a:solidFill>
                        </a:rPr>
                        <a:t>Iz, o‘q, shaxs aynanligi</a:t>
                      </a:r>
                    </a:p>
                  </a:txBody>
                  <a:tcPr marL="73152" marR="73152" marT="36576" marB="36576">
                    <a:solidFill>
                      <a:srgbClr val="E8EEF6"/>
                    </a:solidFill>
                  </a:tcPr>
                </a:tc>
              </a:tr>
              <a:tr h="614476">
                <a:tc>
                  <a:txBody>
                    <a:bodyPr/>
                    <a:lstStyle/>
                    <a:p>
                      <a:r>
                        <a:rPr sz="1700" b="0">
                          <a:solidFill>
                            <a:srgbClr val="1F2937"/>
                          </a:solidFill>
                        </a:rPr>
                        <a:t>Sud kimyo</a:t>
                      </a:r>
                    </a:p>
                  </a:txBody>
                  <a:tcPr marL="73152" marR="73152" marT="36576" marB="36576">
                    <a:solidFill>
                      <a:srgbClr val="FFFFFF"/>
                    </a:solidFill>
                  </a:tcPr>
                </a:tc>
                <a:tc>
                  <a:txBody>
                    <a:bodyPr/>
                    <a:lstStyle/>
                    <a:p>
                      <a:r>
                        <a:rPr sz="1700" b="0">
                          <a:solidFill>
                            <a:srgbClr val="1F2937"/>
                          </a:solidFill>
                        </a:rPr>
                        <a:t>Toksik moddalarni aniqlash</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Sud-tibbiy laboratoriyalar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303, 308-309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Shifokorning hodisa joyidagi roli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Ashyoviy dalillarni sud-tibbiy tekshirish ishi klinitsist-shifokorlarga yuklanmaydi.</a:t>
            </a:r>
          </a:p>
          <a:p>
            <a:pPr>
              <a:spcAft>
                <a:spcPts val="1200"/>
              </a:spcAft>
            </a:pPr>
            <a:r>
              <a:rPr sz="2200">
                <a:solidFill>
                  <a:srgbClr val="1F2937"/>
                </a:solidFill>
                <a:latin typeface="Calibri"/>
              </a:rPr>
              <a:t>▸  Ayrim holatlarda umumiy amaliyot shifokorlari va boshqa vrachlar jalb qilinishi mumkin.</a:t>
            </a:r>
          </a:p>
          <a:p>
            <a:pPr>
              <a:spcAft>
                <a:spcPts val="1200"/>
              </a:spcAft>
            </a:pPr>
            <a:r>
              <a:rPr sz="2200">
                <a:solidFill>
                  <a:srgbClr val="1F2937"/>
                </a:solidFill>
                <a:latin typeface="Calibri"/>
              </a:rPr>
              <a:t>▸  Ular hodisa joyini ko‘zdan kechirishda, dalilni topish va tavsiflashda, tekshiruv uchun namuna olishda qatnashadi.</a:t>
            </a:r>
          </a:p>
          <a:p>
            <a:pPr>
              <a:spcAft>
                <a:spcPts val="1200"/>
              </a:spcAft>
            </a:pPr>
            <a:r>
              <a:rPr sz="2200">
                <a:solidFill>
                  <a:srgbClr val="1F2937"/>
                </a:solidFill>
                <a:latin typeface="Calibri"/>
              </a:rPr>
              <a:t>▸  Diqqat: shifokor dalilni topadi va namuna oladi, lekin laboratoriya tekshiruvini sud-biologiya mutaxassislari o‘tkazadi (topish ≠ tekshirish).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biologik dalil topildi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 devorda va yostiq jildida qonga o‘xshash dog‘lar topildi. Shifokor ko‘zdan kechirishga jalb qilingan.</a:t>
            </a:r>
          </a:p>
          <a:p>
            <a:pPr>
              <a:spcAft>
                <a:spcPts val="1200"/>
              </a:spcAft>
            </a:pPr>
            <a:r>
              <a:rPr sz="2200">
                <a:solidFill>
                  <a:srgbClr val="1F2937"/>
                </a:solidFill>
                <a:latin typeface="Calibri"/>
              </a:rPr>
              <a:t>▸  Qonunga ko‘ra ashyoviy dalillarni, jumladan qon izlarini, hodisa joyidan tergovchi oladi. Zarur bo‘lsa, shifokorlar jalb qilinadi.</a:t>
            </a:r>
          </a:p>
          <a:p>
            <a:pPr>
              <a:spcAft>
                <a:spcPts val="1200"/>
              </a:spcAft>
            </a:pPr>
            <a:r>
              <a:rPr sz="2200">
                <a:solidFill>
                  <a:srgbClr val="1F2937"/>
                </a:solidFill>
                <a:latin typeface="Calibri"/>
              </a:rPr>
              <a:t>▸  Kichik buyum (yostiq jildi) butunligicha olinadi. Qattiq yuzadan quruq dog‘ qirindisi olinadi, toza sohadan esa kontrol namuna.</a:t>
            </a:r>
          </a:p>
          <a:p>
            <a:pPr>
              <a:spcAft>
                <a:spcPts val="1200"/>
              </a:spcAft>
            </a:pPr>
            <a:r>
              <a:rPr sz="2200">
                <a:solidFill>
                  <a:srgbClr val="1F2937"/>
                </a:solidFill>
                <a:latin typeface="Calibri"/>
              </a:rPr>
              <a:t>▸  Savol: devordagi dog‘dan qanday namuna olasiz va nima uchun ifloslanmagan sohadan kontrol kerak?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izlarining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Surtma iz qonli jism qattiq yuzada sirpanganda hosil bo‘ladi.</a:t>
            </a:r>
          </a:p>
          <a:p>
            <a:pPr>
              <a:spcAft>
                <a:spcPts val="800"/>
              </a:spcAft>
            </a:pPr>
            <a:r>
              <a:rPr sz="1800">
                <a:solidFill>
                  <a:srgbClr val="1F2937"/>
                </a:solidFill>
                <a:latin typeface="Calibri"/>
              </a:rPr>
              <a:t>▸  Diqqat: surtma ≠ bosma. Bosma sirpanishsiz kontaktda qoladi, shakli jism yuzasiga mos.</a:t>
            </a:r>
          </a:p>
          <a:p>
            <a:pPr>
              <a:spcAft>
                <a:spcPts val="800"/>
              </a:spcAft>
            </a:pPr>
            <a:r>
              <a:rPr sz="1800">
                <a:solidFill>
                  <a:srgbClr val="1F2937"/>
                </a:solidFill>
                <a:latin typeface="Calibri"/>
              </a:rPr>
              <a:t>▸  Ko‘lmak, singdirilgan va oqma izlar material turi va qon oqishiga bog‘liq.</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Iz turi</a:t>
                      </a:r>
                    </a:p>
                  </a:txBody>
                  <a:tcPr marL="73152" marR="73152" marT="36576" marB="36576">
                    <a:solidFill>
                      <a:srgbClr val="0B1F3A"/>
                    </a:solidFill>
                  </a:tcPr>
                </a:tc>
                <a:tc>
                  <a:txBody>
                    <a:bodyPr/>
                    <a:lstStyle/>
                    <a:p>
                      <a:r>
                        <a:rPr sz="1800" b="1">
                          <a:solidFill>
                            <a:srgbClr val="FFFFFF"/>
                          </a:solidFill>
                        </a:rPr>
                        <a:t>Hosil bo‘lish sharti</a:t>
                      </a:r>
                    </a:p>
                  </a:txBody>
                  <a:tcPr marL="73152" marR="73152" marT="36576" marB="36576">
                    <a:solidFill>
                      <a:srgbClr val="0B1F3A"/>
                    </a:solidFill>
                  </a:tcPr>
                </a:tc>
              </a:tr>
              <a:tr h="614476">
                <a:tc>
                  <a:txBody>
                    <a:bodyPr/>
                    <a:lstStyle/>
                    <a:p>
                      <a:r>
                        <a:rPr sz="1700" b="0">
                          <a:solidFill>
                            <a:srgbClr val="1F2937"/>
                          </a:solidFill>
                        </a:rPr>
                        <a:t>Ko‘lmak</a:t>
                      </a:r>
                    </a:p>
                  </a:txBody>
                  <a:tcPr marL="73152" marR="73152" marT="36576" marB="36576">
                    <a:solidFill>
                      <a:srgbClr val="E8EEF6"/>
                    </a:solidFill>
                  </a:tcPr>
                </a:tc>
                <a:tc>
                  <a:txBody>
                    <a:bodyPr/>
                    <a:lstStyle/>
                    <a:p>
                      <a:r>
                        <a:rPr sz="1700" b="0">
                          <a:solidFill>
                            <a:srgbClr val="1F2937"/>
                          </a:solidFill>
                        </a:rPr>
                        <a:t>Past singdiradigan material, ko‘p qon</a:t>
                      </a:r>
                    </a:p>
                  </a:txBody>
                  <a:tcPr marL="73152" marR="73152" marT="36576" marB="36576">
                    <a:solidFill>
                      <a:srgbClr val="E8EEF6"/>
                    </a:solidFill>
                  </a:tcPr>
                </a:tc>
              </a:tr>
              <a:tr h="614476">
                <a:tc>
                  <a:txBody>
                    <a:bodyPr/>
                    <a:lstStyle/>
                    <a:p>
                      <a:r>
                        <a:rPr sz="1700" b="0">
                          <a:solidFill>
                            <a:srgbClr val="1F2937"/>
                          </a:solidFill>
                        </a:rPr>
                        <a:t>Singdirilgan</a:t>
                      </a:r>
                    </a:p>
                  </a:txBody>
                  <a:tcPr marL="73152" marR="73152" marT="36576" marB="36576">
                    <a:solidFill>
                      <a:srgbClr val="FFFFFF"/>
                    </a:solidFill>
                  </a:tcPr>
                </a:tc>
                <a:tc>
                  <a:txBody>
                    <a:bodyPr/>
                    <a:lstStyle/>
                    <a:p>
                      <a:r>
                        <a:rPr sz="1700" b="0">
                          <a:solidFill>
                            <a:srgbClr val="1F2937"/>
                          </a:solidFill>
                        </a:rPr>
                        <a:t>Namni yaxshi oladigan material</a:t>
                      </a:r>
                    </a:p>
                  </a:txBody>
                  <a:tcPr marL="73152" marR="73152" marT="36576" marB="36576">
                    <a:solidFill>
                      <a:srgbClr val="FFFFFF"/>
                    </a:solidFill>
                  </a:tcPr>
                </a:tc>
              </a:tr>
              <a:tr h="614476">
                <a:tc>
                  <a:txBody>
                    <a:bodyPr/>
                    <a:lstStyle/>
                    <a:p>
                      <a:r>
                        <a:rPr sz="1700" b="0">
                          <a:solidFill>
                            <a:srgbClr val="1F2937"/>
                          </a:solidFill>
                        </a:rPr>
                        <a:t>Oqma</a:t>
                      </a:r>
                    </a:p>
                  </a:txBody>
                  <a:tcPr marL="73152" marR="73152" marT="36576" marB="36576">
                    <a:solidFill>
                      <a:srgbClr val="E8EEF6"/>
                    </a:solidFill>
                  </a:tcPr>
                </a:tc>
                <a:tc>
                  <a:txBody>
                    <a:bodyPr/>
                    <a:lstStyle/>
                    <a:p>
                      <a:r>
                        <a:rPr sz="1700" b="0">
                          <a:solidFill>
                            <a:srgbClr val="1F2937"/>
                          </a:solidFill>
                        </a:rPr>
                        <a:t>Qiya yuza bo‘ylab oqayotgan qon</a:t>
                      </a:r>
                    </a:p>
                  </a:txBody>
                  <a:tcPr marL="73152" marR="73152" marT="36576" marB="36576">
                    <a:solidFill>
                      <a:srgbClr val="E8EEF6"/>
                    </a:solidFill>
                  </a:tcPr>
                </a:tc>
              </a:tr>
              <a:tr h="614476">
                <a:tc>
                  <a:txBody>
                    <a:bodyPr/>
                    <a:lstStyle/>
                    <a:p>
                      <a:r>
                        <a:rPr sz="1700" b="0">
                          <a:solidFill>
                            <a:srgbClr val="1F2937"/>
                          </a:solidFill>
                        </a:rPr>
                        <a:t>Sachra</a:t>
                      </a:r>
                    </a:p>
                  </a:txBody>
                  <a:tcPr marL="73152" marR="73152" marT="36576" marB="36576">
                    <a:solidFill>
                      <a:srgbClr val="FFFFFF"/>
                    </a:solidFill>
                  </a:tcPr>
                </a:tc>
                <a:tc>
                  <a:txBody>
                    <a:bodyPr/>
                    <a:lstStyle/>
                    <a:p>
                      <a:r>
                        <a:rPr sz="1700" b="0">
                          <a:solidFill>
                            <a:srgbClr val="1F2937"/>
                          </a:solidFill>
                        </a:rPr>
                        <a:t>Keskin siltash, zarb, arteriyadan fontan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 izlari: tur va sharti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304, 303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tomchisi dog‘ining shakli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Qiya yuzada yoki harakatdagi tana qismidan tomgan dog‘ noksimon; ensiz uchi harakat tomonda.</a:t>
            </a:r>
          </a:p>
          <a:p>
            <a:pPr>
              <a:spcAft>
                <a:spcPts val="800"/>
              </a:spcAft>
            </a:pPr>
            <a:r>
              <a:rPr sz="1800">
                <a:solidFill>
                  <a:srgbClr val="1F2937"/>
                </a:solidFill>
                <a:latin typeface="Calibri"/>
              </a:rPr>
              <a:t>▸  Sachralar asosan harakat yo‘nalishi yoki yuzaning pastroq tomonida joylashadi.</a:t>
            </a:r>
          </a:p>
          <a:p>
            <a:pPr>
              <a:spcAft>
                <a:spcPts val="800"/>
              </a:spcAft>
            </a:pPr>
            <a:r>
              <a:rPr sz="1800">
                <a:solidFill>
                  <a:srgbClr val="1F2937"/>
                </a:solidFill>
                <a:latin typeface="Calibri"/>
              </a:rPr>
              <a:t>▸  Jism keskin siltansa, zarb berilsa yoki arteriyadan qon fontan bo‘lsa, sachra izlar paydo bo‘ladi.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2501069"/>
                <a:gridCol w="2786905"/>
              </a:tblGrid>
              <a:tr h="614476">
                <a:tc>
                  <a:txBody>
                    <a:bodyPr/>
                    <a:lstStyle/>
                    <a:p>
                      <a:r>
                        <a:rPr sz="1800" b="1">
                          <a:solidFill>
                            <a:srgbClr val="FFFFFF"/>
                          </a:solidFill>
                        </a:rPr>
                        <a:t>Sharoit</a:t>
                      </a:r>
                    </a:p>
                  </a:txBody>
                  <a:tcPr marL="73152" marR="73152" marT="36576" marB="36576">
                    <a:solidFill>
                      <a:srgbClr val="0B1F3A"/>
                    </a:solidFill>
                  </a:tcPr>
                </a:tc>
                <a:tc>
                  <a:txBody>
                    <a:bodyPr/>
                    <a:lstStyle/>
                    <a:p>
                      <a:r>
                        <a:rPr sz="1800" b="1">
                          <a:solidFill>
                            <a:srgbClr val="FFFFFF"/>
                          </a:solidFill>
                        </a:rPr>
                        <a:t>Dog‘ shakli</a:t>
                      </a:r>
                    </a:p>
                  </a:txBody>
                  <a:tcPr marL="73152" marR="73152" marT="36576" marB="36576">
                    <a:solidFill>
                      <a:srgbClr val="0B1F3A"/>
                    </a:solidFill>
                  </a:tcPr>
                </a:tc>
              </a:tr>
              <a:tr h="614476">
                <a:tc>
                  <a:txBody>
                    <a:bodyPr/>
                    <a:lstStyle/>
                    <a:p>
                      <a:r>
                        <a:rPr sz="1700" b="0">
                          <a:solidFill>
                            <a:srgbClr val="1F2937"/>
                          </a:solidFill>
                        </a:rPr>
                        <a:t>10–15 sm balandlik, gorizontal yuza</a:t>
                      </a:r>
                    </a:p>
                  </a:txBody>
                  <a:tcPr marL="73152" marR="73152" marT="36576" marB="36576">
                    <a:solidFill>
                      <a:srgbClr val="E8EEF6"/>
                    </a:solidFill>
                  </a:tcPr>
                </a:tc>
                <a:tc>
                  <a:txBody>
                    <a:bodyPr/>
                    <a:lstStyle/>
                    <a:p>
                      <a:r>
                        <a:rPr sz="1700" b="0">
                          <a:solidFill>
                            <a:srgbClr val="1F2937"/>
                          </a:solidFill>
                        </a:rPr>
                        <a:t>Dumaloq, chetlari tekis</a:t>
                      </a:r>
                    </a:p>
                  </a:txBody>
                  <a:tcPr marL="73152" marR="73152" marT="36576" marB="36576">
                    <a:solidFill>
                      <a:srgbClr val="E8EEF6"/>
                    </a:solidFill>
                  </a:tcPr>
                </a:tc>
              </a:tr>
              <a:tr h="614476">
                <a:tc>
                  <a:txBody>
                    <a:bodyPr/>
                    <a:lstStyle/>
                    <a:p>
                      <a:r>
                        <a:rPr sz="1700" b="0">
                          <a:solidFill>
                            <a:srgbClr val="1F2937"/>
                          </a:solidFill>
                        </a:rPr>
                        <a:t>Harakatdagi qism yoki qiya yuza</a:t>
                      </a:r>
                    </a:p>
                  </a:txBody>
                  <a:tcPr marL="73152" marR="73152" marT="36576" marB="36576">
                    <a:solidFill>
                      <a:srgbClr val="FFFFFF"/>
                    </a:solidFill>
                  </a:tcPr>
                </a:tc>
                <a:tc>
                  <a:txBody>
                    <a:bodyPr/>
                    <a:lstStyle/>
                    <a:p>
                      <a:r>
                        <a:rPr sz="1700" b="0">
                          <a:solidFill>
                            <a:srgbClr val="1F2937"/>
                          </a:solidFill>
                        </a:rPr>
                        <a:t>Noksimon, undov belgisiga o‘xshash</a:t>
                      </a:r>
                    </a:p>
                  </a:txBody>
                  <a:tcPr marL="73152" marR="73152" marT="36576" marB="36576">
                    <a:solidFill>
                      <a:srgbClr val="FFFFFF"/>
                    </a:solidFill>
                  </a:tcPr>
                </a:tc>
              </a:tr>
              <a:tr h="614476">
                <a:tc>
                  <a:txBody>
                    <a:bodyPr/>
                    <a:lstStyle/>
                    <a:p>
                      <a:r>
                        <a:rPr sz="1700" b="0">
                          <a:solidFill>
                            <a:srgbClr val="1F2937"/>
                          </a:solidFill>
                        </a:rPr>
                        <a:t>Tushish balandligi kattaroq</a:t>
                      </a:r>
                    </a:p>
                  </a:txBody>
                  <a:tcPr marL="73152" marR="73152" marT="36576" marB="36576">
                    <a:solidFill>
                      <a:srgbClr val="E8EEF6"/>
                    </a:solidFill>
                  </a:tcPr>
                </a:tc>
                <a:tc>
                  <a:txBody>
                    <a:bodyPr/>
                    <a:lstStyle/>
                    <a:p>
                      <a:r>
                        <a:rPr sz="1700" b="0">
                          <a:solidFill>
                            <a:srgbClr val="1F2937"/>
                          </a:solidFill>
                        </a:rPr>
                        <a:t>Chetlari mayda tishsimon</a:t>
                      </a:r>
                    </a:p>
                  </a:txBody>
                  <a:tcPr marL="73152" marR="73152" marT="36576" marB="36576">
                    <a:solidFill>
                      <a:srgbClr val="E8EEF6"/>
                    </a:solidFill>
                  </a:tcPr>
                </a:tc>
              </a:tr>
              <a:tr h="614476">
                <a:tc>
                  <a:txBody>
                    <a:bodyPr/>
                    <a:lstStyle/>
                    <a:p>
                      <a:r>
                        <a:rPr sz="1700" b="0">
                          <a:solidFill>
                            <a:srgbClr val="1F2937"/>
                          </a:solidFill>
                        </a:rPr>
                        <a:t>Balandlik yanada katta</a:t>
                      </a:r>
                    </a:p>
                  </a:txBody>
                  <a:tcPr marL="73152" marR="73152" marT="36576" marB="36576">
                    <a:solidFill>
                      <a:srgbClr val="FFFFFF"/>
                    </a:solidFill>
                  </a:tcPr>
                </a:tc>
                <a:tc>
                  <a:txBody>
                    <a:bodyPr/>
                    <a:lstStyle/>
                    <a:p>
                      <a:r>
                        <a:rPr sz="1700" b="0">
                          <a:solidFill>
                            <a:srgbClr val="1F2937"/>
                          </a:solidFill>
                        </a:rPr>
                        <a:t>Atrofida sachralar (ikkilamchi dog‘lar)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Dog‘ shakli tushish sharoitiga bog‘liq</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izlarini sud-tibbiy tekshiruvga olish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 izini hodisa joyidan tergovchi oladi; zarur hollarda shifokorlar ham jalb qilinadi.</a:t>
            </a:r>
          </a:p>
          <a:p>
            <a:pPr>
              <a:spcAft>
                <a:spcPts val="800"/>
              </a:spcAft>
            </a:pPr>
            <a:r>
              <a:rPr sz="1800">
                <a:solidFill>
                  <a:srgbClr val="1F2937"/>
                </a:solidFill>
                <a:latin typeface="Calibri"/>
              </a:rPr>
              <a:t>▸  Kiyim, poyafzal, qurol, choyshab kabi kichik buyumlar laboratoriyaga butunligicha olinadi.</a:t>
            </a:r>
          </a:p>
          <a:p>
            <a:pPr>
              <a:spcAft>
                <a:spcPts val="800"/>
              </a:spcAft>
            </a:pPr>
            <a:r>
              <a:rPr sz="1800">
                <a:solidFill>
                  <a:srgbClr val="1F2937"/>
                </a:solidFill>
                <a:latin typeface="Calibri"/>
              </a:rPr>
              <a:t>▸  Katta buyumdan (gobelen, palas, to‘shak) dog‘li va ifloslanmagan soha bo‘lagi kontrol sifatida olinadi.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izli predmet</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Kichik: butunligicha olinadi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Katta: dog‘li bo‘lak qirqiladi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Toza sohadan kontrol bo‘lak</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Buyum o‘lchamiga qarab tanlov</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Qattiq yuza, qor va tuproqdan namuna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Yangi doka yoki bint tavsiya etilmaydi: appretura serologik reaksiyalarga salbiy ta’sir qiladi.</a:t>
            </a:r>
          </a:p>
          <a:p>
            <a:pPr>
              <a:spcAft>
                <a:spcPts val="800"/>
              </a:spcAft>
            </a:pPr>
            <a:r>
              <a:rPr sz="1800">
                <a:solidFill>
                  <a:srgbClr val="1F2937"/>
                </a:solidFill>
                <a:latin typeface="Calibri"/>
              </a:rPr>
              <a:t>▸  Doka bo‘laklari xonada, quyosh tushmaydigan joyda (isitkich yonida emas) quritilib, alohida o‘raladi.</a:t>
            </a:r>
          </a:p>
          <a:p>
            <a:pPr>
              <a:spcAft>
                <a:spcPts val="800"/>
              </a:spcAft>
            </a:pPr>
            <a:r>
              <a:rPr sz="1800">
                <a:solidFill>
                  <a:srgbClr val="1F2937"/>
                </a:solidFill>
                <a:latin typeface="Calibri"/>
              </a:rPr>
              <a:t>▸  Qon ko‘lmagidan namuna flakonga 10 ml dan kam olinadi; qiyin bo‘lsa 4x4 sm doka shimdiriladi.</a:t>
            </a:r>
          </a:p>
        </p:txBody>
      </p:sp>
      <p:graphicFrame>
        <p:nvGraphicFramePr>
          <p:cNvPr id="9" name="Table 8"/>
          <p:cNvGraphicFramePr>
            <a:graphicFrameLocks noGrp="1"/>
          </p:cNvGraphicFramePr>
          <p:nvPr/>
        </p:nvGraphicFramePr>
        <p:xfrm>
          <a:off x="6263640" y="1463040"/>
          <a:ext cx="5287973" cy="3072380"/>
        </p:xfrm>
        <a:graphic>
          <a:graphicData uri="http://schemas.openxmlformats.org/drawingml/2006/table">
            <a:tbl>
              <a:tblPr firstRow="1" bandRow="1">
                <a:tableStyleId>{5C22544A-7EE6-4342-B048-85BDC9FD1C3A}</a:tableStyleId>
              </a:tblPr>
              <a:tblGrid>
                <a:gridCol w="1274210"/>
                <a:gridCol w="2229868"/>
                <a:gridCol w="1783895"/>
              </a:tblGrid>
              <a:tr h="614476">
                <a:tc>
                  <a:txBody>
                    <a:bodyPr/>
                    <a:lstStyle/>
                    <a:p>
                      <a:r>
                        <a:rPr sz="1600" b="1">
                          <a:solidFill>
                            <a:srgbClr val="FFFFFF"/>
                          </a:solidFill>
                        </a:rPr>
                        <a:t>Yuza</a:t>
                      </a:r>
                    </a:p>
                  </a:txBody>
                  <a:tcPr marL="73152" marR="73152" marT="36576" marB="36576">
                    <a:solidFill>
                      <a:srgbClr val="0B1F3A"/>
                    </a:solidFill>
                  </a:tcPr>
                </a:tc>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Kontrol</a:t>
                      </a:r>
                    </a:p>
                  </a:txBody>
                  <a:tcPr marL="73152" marR="73152" marT="36576" marB="36576">
                    <a:solidFill>
                      <a:srgbClr val="0B1F3A"/>
                    </a:solidFill>
                  </a:tcPr>
                </a:tc>
              </a:tr>
              <a:tr h="614476">
                <a:tc>
                  <a:txBody>
                    <a:bodyPr/>
                    <a:lstStyle/>
                    <a:p>
                      <a:r>
                        <a:rPr sz="1500" b="0">
                          <a:solidFill>
                            <a:srgbClr val="1F2937"/>
                          </a:solidFill>
                        </a:rPr>
                        <a:t>Qattiq yuza: qirindi</a:t>
                      </a:r>
                    </a:p>
                  </a:txBody>
                  <a:tcPr marL="73152" marR="73152" marT="36576" marB="36576">
                    <a:solidFill>
                      <a:srgbClr val="E8EEF6"/>
                    </a:solidFill>
                  </a:tcPr>
                </a:tc>
                <a:tc>
                  <a:txBody>
                    <a:bodyPr/>
                    <a:lstStyle/>
                    <a:p>
                      <a:r>
                        <a:rPr sz="1500" b="0">
                          <a:solidFill>
                            <a:srgbClr val="1F2937"/>
                          </a:solidFill>
                        </a:rPr>
                        <a:t>Skalpel bilan quruq dog‘ qirindisi</a:t>
                      </a:r>
                    </a:p>
                  </a:txBody>
                  <a:tcPr marL="73152" marR="73152" marT="36576" marB="36576">
                    <a:solidFill>
                      <a:srgbClr val="E8EEF6"/>
                    </a:solidFill>
                  </a:tcPr>
                </a:tc>
                <a:tc>
                  <a:txBody>
                    <a:bodyPr/>
                    <a:lstStyle/>
                    <a:p>
                      <a:r>
                        <a:rPr sz="1500" b="0">
                          <a:solidFill>
                            <a:srgbClr val="1F2937"/>
                          </a:solidFill>
                        </a:rPr>
                        <a:t>Toza sohadan shunday qirindi</a:t>
                      </a:r>
                    </a:p>
                  </a:txBody>
                  <a:tcPr marL="73152" marR="73152" marT="36576" marB="36576">
                    <a:solidFill>
                      <a:srgbClr val="E8EEF6"/>
                    </a:solidFill>
                  </a:tcPr>
                </a:tc>
              </a:tr>
              <a:tr h="614476">
                <a:tc>
                  <a:txBody>
                    <a:bodyPr/>
                    <a:lstStyle/>
                    <a:p>
                      <a:r>
                        <a:rPr sz="1500" b="0">
                          <a:solidFill>
                            <a:srgbClr val="1F2937"/>
                          </a:solidFill>
                        </a:rPr>
                        <a:t>Qattiq yuza: yuvma</a:t>
                      </a:r>
                    </a:p>
                  </a:txBody>
                  <a:tcPr marL="73152" marR="73152" marT="36576" marB="36576">
                    <a:solidFill>
                      <a:srgbClr val="FFFFFF"/>
                    </a:solidFill>
                  </a:tcPr>
                </a:tc>
                <a:tc>
                  <a:txBody>
                    <a:bodyPr/>
                    <a:lstStyle/>
                    <a:p>
                      <a:r>
                        <a:rPr sz="1500" b="0">
                          <a:solidFill>
                            <a:srgbClr val="1F2937"/>
                          </a:solidFill>
                        </a:rPr>
                        <a:t>Nam doka (2x2 sm) bilan artiladi</a:t>
                      </a:r>
                    </a:p>
                  </a:txBody>
                  <a:tcPr marL="73152" marR="73152" marT="36576" marB="36576">
                    <a:solidFill>
                      <a:srgbClr val="FFFFFF"/>
                    </a:solidFill>
                  </a:tcPr>
                </a:tc>
                <a:tc>
                  <a:txBody>
                    <a:bodyPr/>
                    <a:lstStyle/>
                    <a:p>
                      <a:r>
                        <a:rPr sz="1500" b="0">
                          <a:solidFill>
                            <a:srgbClr val="1F2937"/>
                          </a:solidFill>
                        </a:rPr>
                        <a:t>Toza yuzadan shunday doka</a:t>
                      </a:r>
                    </a:p>
                  </a:txBody>
                  <a:tcPr marL="73152" marR="73152" marT="36576" marB="36576">
                    <a:solidFill>
                      <a:srgbClr val="FFFFFF"/>
                    </a:solidFill>
                  </a:tcPr>
                </a:tc>
              </a:tr>
              <a:tr h="614476">
                <a:tc>
                  <a:txBody>
                    <a:bodyPr/>
                    <a:lstStyle/>
                    <a:p>
                      <a:r>
                        <a:rPr sz="1500" b="0">
                          <a:solidFill>
                            <a:srgbClr val="1F2937"/>
                          </a:solidFill>
                        </a:rPr>
                        <a:t>Qor</a:t>
                      </a:r>
                    </a:p>
                  </a:txBody>
                  <a:tcPr marL="73152" marR="73152" marT="36576" marB="36576">
                    <a:solidFill>
                      <a:srgbClr val="E8EEF6"/>
                    </a:solidFill>
                  </a:tcPr>
                </a:tc>
                <a:tc>
                  <a:txBody>
                    <a:bodyPr/>
                    <a:lstStyle/>
                    <a:p>
                      <a:r>
                        <a:rPr sz="1500" b="0">
                          <a:solidFill>
                            <a:srgbClr val="1F2937"/>
                          </a:solidFill>
                        </a:rPr>
                        <a:t>Idishga olinib, xonada eritiladi</a:t>
                      </a:r>
                    </a:p>
                  </a:txBody>
                  <a:tcPr marL="73152" marR="73152" marT="36576" marB="36576">
                    <a:solidFill>
                      <a:srgbClr val="E8EEF6"/>
                    </a:solidFill>
                  </a:tcPr>
                </a:tc>
                <a:tc>
                  <a:txBody>
                    <a:bodyPr/>
                    <a:lstStyle/>
                    <a:p>
                      <a:r>
                        <a:rPr sz="1500" b="0">
                          <a:solidFill>
                            <a:srgbClr val="1F2937"/>
                          </a:solidFill>
                        </a:rPr>
                        <a:t>Toza qordan shu tartibda</a:t>
                      </a:r>
                    </a:p>
                  </a:txBody>
                  <a:tcPr marL="73152" marR="73152" marT="36576" marB="36576">
                    <a:solidFill>
                      <a:srgbClr val="E8EEF6"/>
                    </a:solidFill>
                  </a:tcPr>
                </a:tc>
              </a:tr>
              <a:tr h="614476">
                <a:tc>
                  <a:txBody>
                    <a:bodyPr/>
                    <a:lstStyle/>
                    <a:p>
                      <a:r>
                        <a:rPr sz="1500" b="0">
                          <a:solidFill>
                            <a:srgbClr val="1F2937"/>
                          </a:solidFill>
                        </a:rPr>
                        <a:t>Tuproq, qum</a:t>
                      </a:r>
                    </a:p>
                  </a:txBody>
                  <a:tcPr marL="73152" marR="73152" marT="36576" marB="36576">
                    <a:solidFill>
                      <a:srgbClr val="FFFFFF"/>
                    </a:solidFill>
                  </a:tcPr>
                </a:tc>
                <a:tc>
                  <a:txBody>
                    <a:bodyPr/>
                    <a:lstStyle/>
                    <a:p>
                      <a:r>
                        <a:rPr sz="1500" b="0">
                          <a:solidFill>
                            <a:srgbClr val="1F2937"/>
                          </a:solidFill>
                        </a:rPr>
                        <a:t>Tarelkaga to‘liq olinib, quritiladi</a:t>
                      </a:r>
                    </a:p>
                  </a:txBody>
                  <a:tcPr marL="73152" marR="73152" marT="36576" marB="36576">
                    <a:solidFill>
                      <a:srgbClr val="FFFFFF"/>
                    </a:solidFill>
                  </a:tcPr>
                </a:tc>
                <a:tc>
                  <a:txBody>
                    <a:bodyPr/>
                    <a:lstStyle/>
                    <a:p>
                      <a:r>
                        <a:rPr sz="1500" b="0">
                          <a:solidFill>
                            <a:srgbClr val="1F2937"/>
                          </a:solidFill>
                        </a:rPr>
                        <a:t>Toza joydan shu tartibda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Substratga qarab namuna olish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namuna olish qoidalari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nega qon dog‘i bor sohadan tashqari, ifloslanmagan sohadan ham namuna olinadi?</a:t>
            </a:r>
          </a:p>
          <a:p>
            <a:pPr>
              <a:spcAft>
                <a:spcPts val="1200"/>
              </a:spcAft>
            </a:pPr>
            <a:r>
              <a:rPr sz="2200">
                <a:solidFill>
                  <a:srgbClr val="1F2937"/>
                </a:solidFill>
                <a:latin typeface="Calibri"/>
              </a:rPr>
              <a:t>▸  Javob: bu kontrol namuna. U qirindi, yuvma, qor, tuproq va mato bo‘lagi uchun ham xuddi shu tartibda olinadi.</a:t>
            </a:r>
          </a:p>
          <a:p>
            <a:pPr>
              <a:spcAft>
                <a:spcPts val="1200"/>
              </a:spcAft>
            </a:pPr>
            <a:r>
              <a:rPr sz="2200">
                <a:solidFill>
                  <a:srgbClr val="1F2937"/>
                </a:solidFill>
                <a:latin typeface="Calibri"/>
              </a:rPr>
              <a:t>▸  Namuna uchun yangi doka yoki bint tavsiya etilmaydi: ulardagi kimyoviy appreturalar serologik reaksiyalarga salbiy ta’sir qiladi.</a:t>
            </a:r>
          </a:p>
          <a:p>
            <a:pPr>
              <a:spcAft>
                <a:spcPts val="1200"/>
              </a:spcAft>
            </a:pPr>
            <a:r>
              <a:rPr sz="2200">
                <a:solidFill>
                  <a:srgbClr val="1F2937"/>
                </a:solidFill>
                <a:latin typeface="Calibri"/>
              </a:rPr>
              <a:t>▸  Diqqat: xato qilish xavfi! Tekshiruv ob’ekti va kontrol namuna hech qachon bir o‘ramda yuborilmaydi.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304, 304-305, 312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ekspertizasi masalalari ketma-ketligi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Savollar qat’iy tartibda yechiladi: avval qon borligi, keyin tur, guruh va muayyan shaxsga mansublik.</a:t>
            </a:r>
          </a:p>
          <a:p>
            <a:pPr>
              <a:spcAft>
                <a:spcPts val="800"/>
              </a:spcAft>
            </a:pPr>
            <a:r>
              <a:rPr sz="1800">
                <a:solidFill>
                  <a:srgbClr val="1F2937"/>
                </a:solidFill>
                <a:latin typeface="Calibri"/>
              </a:rPr>
              <a:t>▸  Ba’zan jins, regional mansublik, homilador yoki yaqinda tuqqan ayolga tegishliligi ham so‘raladi.</a:t>
            </a:r>
          </a:p>
          <a:p>
            <a:pPr>
              <a:spcAft>
                <a:spcPts val="800"/>
              </a:spcAft>
            </a:pPr>
            <a:r>
              <a:rPr sz="1800">
                <a:solidFill>
                  <a:srgbClr val="1F2937"/>
                </a:solidFill>
                <a:latin typeface="Calibri"/>
              </a:rPr>
              <a:t>▸  Tekshiruvlar sud-tibbiy ekspertiza muassasalarining sud-biologik bo‘limlarida o‘tkaziladi.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1. Qon borligi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 Tur mansubligi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3. Guruhiy mansublik</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4. Muayyan shaxsga tegishliligi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Qo‘shimcha: jins, hudud</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 tekshiruvi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borligini taxminiy aniqlash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Peroksid, benzidin va fenolftalein sinamalari qondagi peroksidaza va katalaza fermentlariga asoslanadi.</a:t>
            </a:r>
          </a:p>
          <a:p>
            <a:pPr>
              <a:spcAft>
                <a:spcPts val="800"/>
              </a:spcAft>
            </a:pPr>
            <a:r>
              <a:rPr sz="1800">
                <a:solidFill>
                  <a:srgbClr val="1F2937"/>
                </a:solidFill>
                <a:latin typeface="Calibri"/>
              </a:rPr>
              <a:t>▸  Ultrabinafsha nurda dog‘ to‘q jigar rang baxmalsimon; eskisida olov rang flyuoressensiya kuzatiladi.</a:t>
            </a:r>
          </a:p>
          <a:p>
            <a:pPr>
              <a:spcAft>
                <a:spcPts val="800"/>
              </a:spcAft>
            </a:pPr>
            <a:r>
              <a:rPr sz="1800">
                <a:solidFill>
                  <a:srgbClr val="1F2937"/>
                </a:solidFill>
                <a:latin typeface="Calibri"/>
              </a:rPr>
              <a:t>▸  Diqqat: sinamalar nospetsifik, soxta musbat berishi mumkin; ular faqat qon borligini gumon qildiradi.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91639"/>
                <a:gridCol w="1834151"/>
                <a:gridCol w="1762184"/>
              </a:tblGrid>
              <a:tr h="614476">
                <a:tc>
                  <a:txBody>
                    <a:bodyPr/>
                    <a:lstStyle/>
                    <a:p>
                      <a:r>
                        <a:rPr sz="1600" b="1">
                          <a:solidFill>
                            <a:srgbClr val="FFFFFF"/>
                          </a:solidFill>
                        </a:rPr>
                        <a:t>Sinama</a:t>
                      </a:r>
                    </a:p>
                  </a:txBody>
                  <a:tcPr marL="73152" marR="73152" marT="36576" marB="36576">
                    <a:solidFill>
                      <a:srgbClr val="0B1F3A"/>
                    </a:solidFill>
                  </a:tcPr>
                </a:tc>
                <a:tc>
                  <a:txBody>
                    <a:bodyPr/>
                    <a:lstStyle/>
                    <a:p>
                      <a:r>
                        <a:rPr sz="1600" b="1">
                          <a:solidFill>
                            <a:srgbClr val="FFFFFF"/>
                          </a:solidFill>
                        </a:rPr>
                        <a:t>Reagent</a:t>
                      </a:r>
                    </a:p>
                  </a:txBody>
                  <a:tcPr marL="73152" marR="73152" marT="36576" marB="36576">
                    <a:solidFill>
                      <a:srgbClr val="0B1F3A"/>
                    </a:solidFill>
                  </a:tcPr>
                </a:tc>
                <a:tc>
                  <a:txBody>
                    <a:bodyPr/>
                    <a:lstStyle/>
                    <a:p>
                      <a:r>
                        <a:rPr sz="1600" b="1">
                          <a:solidFill>
                            <a:srgbClr val="FFFFFF"/>
                          </a:solidFill>
                        </a:rPr>
                        <a:t>Musbat belgi</a:t>
                      </a:r>
                    </a:p>
                  </a:txBody>
                  <a:tcPr marL="73152" marR="73152" marT="36576" marB="36576">
                    <a:solidFill>
                      <a:srgbClr val="0B1F3A"/>
                    </a:solidFill>
                  </a:tcPr>
                </a:tc>
              </a:tr>
              <a:tr h="614476">
                <a:tc>
                  <a:txBody>
                    <a:bodyPr/>
                    <a:lstStyle/>
                    <a:p>
                      <a:r>
                        <a:rPr sz="1500" b="0">
                          <a:solidFill>
                            <a:srgbClr val="1F2937"/>
                          </a:solidFill>
                        </a:rPr>
                        <a:t>Vodorod peroksid</a:t>
                      </a:r>
                    </a:p>
                  </a:txBody>
                  <a:tcPr marL="73152" marR="73152" marT="36576" marB="36576">
                    <a:solidFill>
                      <a:srgbClr val="E8EEF6"/>
                    </a:solidFill>
                  </a:tcPr>
                </a:tc>
                <a:tc>
                  <a:txBody>
                    <a:bodyPr/>
                    <a:lstStyle/>
                    <a:p>
                      <a:r>
                        <a:rPr sz="1500" b="0">
                          <a:solidFill>
                            <a:srgbClr val="1F2937"/>
                          </a:solidFill>
                        </a:rPr>
                        <a:t>3% eritma tomizish</a:t>
                      </a:r>
                    </a:p>
                  </a:txBody>
                  <a:tcPr marL="73152" marR="73152" marT="36576" marB="36576">
                    <a:solidFill>
                      <a:srgbClr val="E8EEF6"/>
                    </a:solidFill>
                  </a:tcPr>
                </a:tc>
                <a:tc>
                  <a:txBody>
                    <a:bodyPr/>
                    <a:lstStyle/>
                    <a:p>
                      <a:r>
                        <a:rPr sz="1500" b="0">
                          <a:solidFill>
                            <a:srgbClr val="1F2937"/>
                          </a:solidFill>
                        </a:rPr>
                        <a:t>Oq rangli ko‘pik</a:t>
                      </a:r>
                    </a:p>
                  </a:txBody>
                  <a:tcPr marL="73152" marR="73152" marT="36576" marB="36576">
                    <a:solidFill>
                      <a:srgbClr val="E8EEF6"/>
                    </a:solidFill>
                  </a:tcPr>
                </a:tc>
              </a:tr>
              <a:tr h="614476">
                <a:tc>
                  <a:txBody>
                    <a:bodyPr/>
                    <a:lstStyle/>
                    <a:p>
                      <a:r>
                        <a:rPr sz="1500" b="0">
                          <a:solidFill>
                            <a:srgbClr val="1F2937"/>
                          </a:solidFill>
                        </a:rPr>
                        <a:t>Benzidin</a:t>
                      </a:r>
                    </a:p>
                  </a:txBody>
                  <a:tcPr marL="73152" marR="73152" marT="36576" marB="36576">
                    <a:solidFill>
                      <a:srgbClr val="FFFFFF"/>
                    </a:solidFill>
                  </a:tcPr>
                </a:tc>
                <a:tc>
                  <a:txBody>
                    <a:bodyPr/>
                    <a:lstStyle/>
                    <a:p>
                      <a:r>
                        <a:rPr sz="1500" b="0">
                          <a:solidFill>
                            <a:srgbClr val="1F2937"/>
                          </a:solidFill>
                        </a:rPr>
                        <a:t>Benzidin + vodorod peroksid</a:t>
                      </a:r>
                    </a:p>
                  </a:txBody>
                  <a:tcPr marL="73152" marR="73152" marT="36576" marB="36576">
                    <a:solidFill>
                      <a:srgbClr val="FFFFFF"/>
                    </a:solidFill>
                  </a:tcPr>
                </a:tc>
                <a:tc>
                  <a:txBody>
                    <a:bodyPr/>
                    <a:lstStyle/>
                    <a:p>
                      <a:r>
                        <a:rPr sz="1500" b="0">
                          <a:solidFill>
                            <a:srgbClr val="1F2937"/>
                          </a:solidFill>
                        </a:rPr>
                        <a:t>Ko‘k rang paydo bo‘ladi</a:t>
                      </a:r>
                    </a:p>
                  </a:txBody>
                  <a:tcPr marL="73152" marR="73152" marT="36576" marB="36576">
                    <a:solidFill>
                      <a:srgbClr val="FFFFFF"/>
                    </a:solidFill>
                  </a:tcPr>
                </a:tc>
              </a:tr>
              <a:tr h="614476">
                <a:tc>
                  <a:txBody>
                    <a:bodyPr/>
                    <a:lstStyle/>
                    <a:p>
                      <a:r>
                        <a:rPr sz="1500" b="0">
                          <a:solidFill>
                            <a:srgbClr val="1F2937"/>
                          </a:solidFill>
                        </a:rPr>
                        <a:t>Fenolftalein</a:t>
                      </a:r>
                    </a:p>
                  </a:txBody>
                  <a:tcPr marL="73152" marR="73152" marT="36576" marB="36576">
                    <a:solidFill>
                      <a:srgbClr val="E8EEF6"/>
                    </a:solidFill>
                  </a:tcPr>
                </a:tc>
                <a:tc>
                  <a:txBody>
                    <a:bodyPr/>
                    <a:lstStyle/>
                    <a:p>
                      <a:r>
                        <a:rPr sz="1500" b="0">
                          <a:solidFill>
                            <a:srgbClr val="1F2937"/>
                          </a:solidFill>
                        </a:rPr>
                        <a:t>Fenolftalein + 3% peroksid</a:t>
                      </a:r>
                    </a:p>
                  </a:txBody>
                  <a:tcPr marL="73152" marR="73152" marT="36576" marB="36576">
                    <a:solidFill>
                      <a:srgbClr val="E8EEF6"/>
                    </a:solidFill>
                  </a:tcPr>
                </a:tc>
                <a:tc>
                  <a:txBody>
                    <a:bodyPr/>
                    <a:lstStyle/>
                    <a:p>
                      <a:r>
                        <a:rPr sz="1500" b="0">
                          <a:solidFill>
                            <a:srgbClr val="1F2937"/>
                          </a:solidFill>
                        </a:rPr>
                        <a:t>10-15 soniyada qizg‘ish rang</a:t>
                      </a:r>
                    </a:p>
                  </a:txBody>
                  <a:tcPr marL="73152" marR="73152" marT="36576" marB="36576">
                    <a:solidFill>
                      <a:srgbClr val="E8EEF6"/>
                    </a:solidFill>
                  </a:tcPr>
                </a:tc>
              </a:tr>
              <a:tr h="614476">
                <a:tc>
                  <a:txBody>
                    <a:bodyPr/>
                    <a:lstStyle/>
                    <a:p>
                      <a:r>
                        <a:rPr sz="1500" b="0">
                          <a:solidFill>
                            <a:srgbClr val="1F2937"/>
                          </a:solidFill>
                        </a:rPr>
                        <a:t>Lyuminol</a:t>
                      </a:r>
                    </a:p>
                  </a:txBody>
                  <a:tcPr marL="73152" marR="73152" marT="36576" marB="36576">
                    <a:solidFill>
                      <a:srgbClr val="FFFFFF"/>
                    </a:solidFill>
                  </a:tcPr>
                </a:tc>
                <a:tc>
                  <a:txBody>
                    <a:bodyPr/>
                    <a:lstStyle/>
                    <a:p>
                      <a:r>
                        <a:rPr sz="1500" b="0">
                          <a:solidFill>
                            <a:srgbClr val="1F2937"/>
                          </a:solidFill>
                        </a:rPr>
                        <a:t>Eritma purkash yoki tomizish</a:t>
                      </a:r>
                    </a:p>
                  </a:txBody>
                  <a:tcPr marL="73152" marR="73152" marT="36576" marB="36576">
                    <a:solidFill>
                      <a:srgbClr val="FFFFFF"/>
                    </a:solidFill>
                  </a:tcPr>
                </a:tc>
                <a:tc>
                  <a:txBody>
                    <a:bodyPr/>
                    <a:lstStyle/>
                    <a:p>
                      <a:r>
                        <a:rPr sz="1500" b="0">
                          <a:solidFill>
                            <a:srgbClr val="1F2937"/>
                          </a:solidFill>
                        </a:rPr>
                        <a:t>Havo rang nur, 1 daqiqagacha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Taxminiy sinamalar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305, 306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borligini ishonchli aniqlash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Ishonchli usullar: mikroskopik, mikrokristallik, spektral va xromatografik tekshiruvlar.</a:t>
            </a:r>
          </a:p>
          <a:p>
            <a:pPr>
              <a:spcAft>
                <a:spcPts val="800"/>
              </a:spcAft>
            </a:pPr>
            <a:r>
              <a:rPr sz="1800">
                <a:solidFill>
                  <a:srgbClr val="1F2937"/>
                </a:solidFill>
                <a:latin typeface="Calibri"/>
              </a:rPr>
              <a:t>▸  Diqqat: taxminiy ≠ ishonchli usul. Taxminiy sinama qonni qat’iy isbotlamaydi, faqat gumon qilishga imkon beradi.</a:t>
            </a:r>
          </a:p>
          <a:p>
            <a:pPr>
              <a:spcAft>
                <a:spcPts val="800"/>
              </a:spcAft>
            </a:pPr>
            <a:r>
              <a:rPr sz="1800">
                <a:solidFill>
                  <a:srgbClr val="1F2937"/>
                </a:solidFill>
                <a:latin typeface="Calibri"/>
              </a:rPr>
              <a:t>▸  Hozirgi davrda qon asosan xromatografik usulda aniqlanadi: qog‘ozda yoki silufolda yupqa qatlamli.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045969"/>
                <a:gridCol w="2045969"/>
                <a:gridCol w="1196037"/>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c>
                  <a:txBody>
                    <a:bodyPr/>
                    <a:lstStyle/>
                    <a:p>
                      <a:r>
                        <a:rPr sz="1600" b="1">
                          <a:solidFill>
                            <a:srgbClr val="FFFFFF"/>
                          </a:solidFill>
                        </a:rPr>
                        <a:t>Holati</a:t>
                      </a:r>
                    </a:p>
                  </a:txBody>
                  <a:tcPr marL="73152" marR="73152" marT="36576" marB="36576">
                    <a:solidFill>
                      <a:srgbClr val="0B1F3A"/>
                    </a:solidFill>
                  </a:tcPr>
                </a:tc>
              </a:tr>
              <a:tr h="614476">
                <a:tc>
                  <a:txBody>
                    <a:bodyPr/>
                    <a:lstStyle/>
                    <a:p>
                      <a:r>
                        <a:rPr sz="1500" b="0">
                          <a:solidFill>
                            <a:srgbClr val="1F2937"/>
                          </a:solidFill>
                        </a:rPr>
                        <a:t>Mikroskopik</a:t>
                      </a:r>
                    </a:p>
                  </a:txBody>
                  <a:tcPr marL="73152" marR="73152" marT="36576" marB="36576">
                    <a:solidFill>
                      <a:srgbClr val="E8EEF6"/>
                    </a:solidFill>
                  </a:tcPr>
                </a:tc>
                <a:tc>
                  <a:txBody>
                    <a:bodyPr/>
                    <a:lstStyle/>
                    <a:p>
                      <a:r>
                        <a:rPr sz="1500" b="0">
                          <a:solidFill>
                            <a:srgbClr val="1F2937"/>
                          </a:solidFill>
                        </a:rPr>
                        <a:t>Eritrotsitlarni topish</a:t>
                      </a:r>
                    </a:p>
                  </a:txBody>
                  <a:tcPr marL="73152" marR="73152" marT="36576" marB="36576">
                    <a:solidFill>
                      <a:srgbClr val="E8EEF6"/>
                    </a:solidFill>
                  </a:tcPr>
                </a:tc>
                <a:tc>
                  <a:txBody>
                    <a:bodyPr/>
                    <a:lstStyle/>
                    <a:p>
                      <a:r>
                        <a:rPr sz="1500" b="0">
                          <a:solidFill>
                            <a:srgbClr val="1F2937"/>
                          </a:solidFill>
                        </a:rPr>
                        <a:t>Imkoni cheklangan</a:t>
                      </a:r>
                    </a:p>
                  </a:txBody>
                  <a:tcPr marL="73152" marR="73152" marT="36576" marB="36576">
                    <a:solidFill>
                      <a:srgbClr val="E8EEF6"/>
                    </a:solidFill>
                  </a:tcPr>
                </a:tc>
              </a:tr>
              <a:tr h="614476">
                <a:tc>
                  <a:txBody>
                    <a:bodyPr/>
                    <a:lstStyle/>
                    <a:p>
                      <a:r>
                        <a:rPr sz="1500" b="0">
                          <a:solidFill>
                            <a:srgbClr val="1F2937"/>
                          </a:solidFill>
                        </a:rPr>
                        <a:t>Mikrokristallik</a:t>
                      </a:r>
                    </a:p>
                  </a:txBody>
                  <a:tcPr marL="73152" marR="73152" marT="36576" marB="36576">
                    <a:solidFill>
                      <a:srgbClr val="FFFFFF"/>
                    </a:solidFill>
                  </a:tcPr>
                </a:tc>
                <a:tc>
                  <a:txBody>
                    <a:bodyPr/>
                    <a:lstStyle/>
                    <a:p>
                      <a:r>
                        <a:rPr sz="1500" b="0">
                          <a:solidFill>
                            <a:srgbClr val="1F2937"/>
                          </a:solidFill>
                        </a:rPr>
                        <a:t>Gemoglobin kristallari</a:t>
                      </a:r>
                    </a:p>
                  </a:txBody>
                  <a:tcPr marL="73152" marR="73152" marT="36576" marB="36576">
                    <a:solidFill>
                      <a:srgbClr val="FFFFFF"/>
                    </a:solidFill>
                  </a:tcPr>
                </a:tc>
                <a:tc>
                  <a:txBody>
                    <a:bodyPr/>
                    <a:lstStyle/>
                    <a:p>
                      <a:r>
                        <a:rPr sz="1500" b="0">
                          <a:solidFill>
                            <a:srgbClr val="1F2937"/>
                          </a:solidFill>
                        </a:rPr>
                        <a:t>Sezgirligi past, qo‘llanilmaydi</a:t>
                      </a:r>
                    </a:p>
                  </a:txBody>
                  <a:tcPr marL="73152" marR="73152" marT="36576" marB="36576">
                    <a:solidFill>
                      <a:srgbClr val="FFFFFF"/>
                    </a:solidFill>
                  </a:tcPr>
                </a:tc>
              </a:tr>
              <a:tr h="614476">
                <a:tc>
                  <a:txBody>
                    <a:bodyPr/>
                    <a:lstStyle/>
                    <a:p>
                      <a:r>
                        <a:rPr sz="1500" b="0">
                          <a:solidFill>
                            <a:srgbClr val="1F2937"/>
                          </a:solidFill>
                        </a:rPr>
                        <a:t>Spektral</a:t>
                      </a:r>
                    </a:p>
                  </a:txBody>
                  <a:tcPr marL="73152" marR="73152" marT="36576" marB="36576">
                    <a:solidFill>
                      <a:srgbClr val="E8EEF6"/>
                    </a:solidFill>
                  </a:tcPr>
                </a:tc>
                <a:tc>
                  <a:txBody>
                    <a:bodyPr/>
                    <a:lstStyle/>
                    <a:p>
                      <a:r>
                        <a:rPr sz="1500" b="0">
                          <a:solidFill>
                            <a:srgbClr val="1F2937"/>
                          </a:solidFill>
                        </a:rPr>
                        <a:t>To‘lqin yutilishi</a:t>
                      </a:r>
                    </a:p>
                  </a:txBody>
                  <a:tcPr marL="73152" marR="73152" marT="36576" marB="36576">
                    <a:solidFill>
                      <a:srgbClr val="E8EEF6"/>
                    </a:solidFill>
                  </a:tcPr>
                </a:tc>
                <a:tc>
                  <a:txBody>
                    <a:bodyPr/>
                    <a:lstStyle/>
                    <a:p>
                      <a:r>
                        <a:rPr sz="1500" b="0">
                          <a:solidFill>
                            <a:srgbClr val="1F2937"/>
                          </a:solidFill>
                        </a:rPr>
                        <a:t>Mikrospektral mikroskopda</a:t>
                      </a:r>
                    </a:p>
                  </a:txBody>
                  <a:tcPr marL="73152" marR="73152" marT="36576" marB="36576">
                    <a:solidFill>
                      <a:srgbClr val="E8EEF6"/>
                    </a:solidFill>
                  </a:tcPr>
                </a:tc>
              </a:tr>
              <a:tr h="614476">
                <a:tc>
                  <a:txBody>
                    <a:bodyPr/>
                    <a:lstStyle/>
                    <a:p>
                      <a:r>
                        <a:rPr sz="1500" b="0">
                          <a:solidFill>
                            <a:srgbClr val="1F2937"/>
                          </a:solidFill>
                        </a:rPr>
                        <a:t>Xromatografik</a:t>
                      </a:r>
                    </a:p>
                  </a:txBody>
                  <a:tcPr marL="73152" marR="73152" marT="36576" marB="36576">
                    <a:solidFill>
                      <a:srgbClr val="FFFFFF"/>
                    </a:solidFill>
                  </a:tcPr>
                </a:tc>
                <a:tc>
                  <a:txBody>
                    <a:bodyPr/>
                    <a:lstStyle/>
                    <a:p>
                      <a:r>
                        <a:rPr sz="1500" b="0">
                          <a:solidFill>
                            <a:srgbClr val="1F2937"/>
                          </a:solidFill>
                        </a:rPr>
                        <a:t>Qog‘oz yoki silufol plastinka</a:t>
                      </a:r>
                    </a:p>
                  </a:txBody>
                  <a:tcPr marL="73152" marR="73152" marT="36576" marB="36576">
                    <a:solidFill>
                      <a:srgbClr val="FFFFFF"/>
                    </a:solidFill>
                  </a:tcPr>
                </a:tc>
                <a:tc>
                  <a:txBody>
                    <a:bodyPr/>
                    <a:lstStyle/>
                    <a:p>
                      <a:r>
                        <a:rPr sz="1500" b="0">
                          <a:solidFill>
                            <a:srgbClr val="1F2937"/>
                          </a:solidFill>
                        </a:rPr>
                        <a:t>Hozir asosiy usul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Ishonchli usullar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Qonning tur mansubligini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 dog‘i odamnikimi yoki hayvonnikimi, buni tur mansubligini aniqlash hal qiladi.</a:t>
            </a:r>
          </a:p>
          <a:p>
            <a:pPr>
              <a:spcAft>
                <a:spcPts val="800"/>
              </a:spcAft>
            </a:pPr>
            <a:r>
              <a:rPr sz="1800">
                <a:solidFill>
                  <a:srgbClr val="1F2937"/>
                </a:solidFill>
                <a:latin typeface="Calibri"/>
              </a:rPr>
              <a:t>▸  Chistovich–Ulengutda inson oqsiliga qarshi zardobli probirkada pretsipitatsiya halqasi paydo bo‘ladi.</a:t>
            </a:r>
          </a:p>
          <a:p>
            <a:pPr>
              <a:spcAft>
                <a:spcPts val="800"/>
              </a:spcAft>
            </a:pPr>
            <a:r>
              <a:rPr sz="1800">
                <a:solidFill>
                  <a:srgbClr val="1F2937"/>
                </a:solidFill>
                <a:latin typeface="Calibri"/>
              </a:rPr>
              <a:t>▸  Boshqa usullarda ham tur spetsifik zardoblar ishlatiladi; ABAcard qon va turni birga aniqlaydi.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400300"/>
                <a:gridCol w="841706"/>
                <a:gridCol w="2045969"/>
              </a:tblGrid>
              <a:tr h="614476">
                <a:tc>
                  <a:txBody>
                    <a:bodyPr/>
                    <a:lstStyle/>
                    <a:p>
                      <a:r>
                        <a:rPr sz="1600" b="1">
                          <a:solidFill>
                            <a:srgbClr val="FFFFFF"/>
                          </a:solidFill>
                        </a:rPr>
                        <a:t>Usul</a:t>
                      </a:r>
                    </a:p>
                  </a:txBody>
                  <a:tcPr marL="73152" marR="73152" marT="36576" marB="36576">
                    <a:solidFill>
                      <a:srgbClr val="0B1F3A"/>
                    </a:solidFill>
                  </a:tcPr>
                </a:tc>
                <a:tc>
                  <a:txBody>
                    <a:bodyPr/>
                    <a:lstStyle/>
                    <a:p>
                      <a:r>
                        <a:rPr sz="1600" b="1">
                          <a:solidFill>
                            <a:srgbClr val="FFFFFF"/>
                          </a:solidFill>
                        </a:rPr>
                        <a:t>Qachon</a:t>
                      </a:r>
                    </a:p>
                  </a:txBody>
                  <a:tcPr marL="73152" marR="73152" marT="36576" marB="36576">
                    <a:solidFill>
                      <a:srgbClr val="0B1F3A"/>
                    </a:solidFill>
                  </a:tcPr>
                </a:tc>
                <a:tc>
                  <a:txBody>
                    <a:bodyPr/>
                    <a:lstStyle/>
                    <a:p>
                      <a:r>
                        <a:rPr sz="1600" b="1">
                          <a:solidFill>
                            <a:srgbClr val="FFFFFF"/>
                          </a:solidFill>
                        </a:rPr>
                        <a:t>Mohiyati</a:t>
                      </a:r>
                    </a:p>
                  </a:txBody>
                  <a:tcPr marL="73152" marR="73152" marT="36576" marB="36576">
                    <a:solidFill>
                      <a:srgbClr val="0B1F3A"/>
                    </a:solidFill>
                  </a:tcPr>
                </a:tc>
              </a:tr>
              <a:tr h="614476">
                <a:tc>
                  <a:txBody>
                    <a:bodyPr/>
                    <a:lstStyle/>
                    <a:p>
                      <a:r>
                        <a:rPr sz="1500" b="0">
                          <a:solidFill>
                            <a:srgbClr val="1F2937"/>
                          </a:solidFill>
                        </a:rPr>
                        <a:t>Chistovich–Ulengut</a:t>
                      </a:r>
                    </a:p>
                  </a:txBody>
                  <a:tcPr marL="73152" marR="73152" marT="36576" marB="36576">
                    <a:solidFill>
                      <a:srgbClr val="E8EEF6"/>
                    </a:solidFill>
                  </a:tcPr>
                </a:tc>
                <a:tc>
                  <a:txBody>
                    <a:bodyPr/>
                    <a:lstStyle/>
                    <a:p>
                      <a:r>
                        <a:rPr sz="1500" b="0">
                          <a:solidFill>
                            <a:srgbClr val="1F2937"/>
                          </a:solidFill>
                        </a:rPr>
                        <a:t>Tortilmaga zardob qo‘shiladi</a:t>
                      </a:r>
                    </a:p>
                  </a:txBody>
                  <a:tcPr marL="73152" marR="73152" marT="36576" marB="36576">
                    <a:solidFill>
                      <a:srgbClr val="E8EEF6"/>
                    </a:solidFill>
                  </a:tcPr>
                </a:tc>
                <a:tc>
                  <a:txBody>
                    <a:bodyPr/>
                    <a:lstStyle/>
                    <a:p>
                      <a:r>
                        <a:rPr sz="1500" b="0">
                          <a:solidFill>
                            <a:srgbClr val="1F2937"/>
                          </a:solidFill>
                        </a:rPr>
                        <a:t>Pretsipitatsiya halqasi</a:t>
                      </a:r>
                    </a:p>
                  </a:txBody>
                  <a:tcPr marL="73152" marR="73152" marT="36576" marB="36576">
                    <a:solidFill>
                      <a:srgbClr val="E8EEF6"/>
                    </a:solidFill>
                  </a:tcPr>
                </a:tc>
              </a:tr>
              <a:tr h="614476">
                <a:tc>
                  <a:txBody>
                    <a:bodyPr/>
                    <a:lstStyle/>
                    <a:p>
                      <a:r>
                        <a:rPr sz="1500" b="0">
                          <a:solidFill>
                            <a:srgbClr val="1F2937"/>
                          </a:solidFill>
                        </a:rPr>
                        <a:t>Atsetat-sellyuloza elektroforez</a:t>
                      </a:r>
                    </a:p>
                  </a:txBody>
                  <a:tcPr marL="73152" marR="73152" marT="36576" marB="36576">
                    <a:solidFill>
                      <a:srgbClr val="FFFFFF"/>
                    </a:solidFill>
                  </a:tcPr>
                </a:tc>
                <a:tc>
                  <a:txBody>
                    <a:bodyPr/>
                    <a:lstStyle/>
                    <a:p>
                      <a:r>
                        <a:rPr sz="1500" b="0">
                          <a:solidFill>
                            <a:srgbClr val="1F2937"/>
                          </a:solidFill>
                        </a:rPr>
                        <a:t>Tortilmada qon kam bo‘lsa</a:t>
                      </a:r>
                    </a:p>
                  </a:txBody>
                  <a:tcPr marL="73152" marR="73152" marT="36576" marB="36576">
                    <a:solidFill>
                      <a:srgbClr val="FFFFFF"/>
                    </a:solidFill>
                  </a:tcPr>
                </a:tc>
                <a:tc>
                  <a:txBody>
                    <a:bodyPr/>
                    <a:lstStyle/>
                    <a:p>
                      <a:r>
                        <a:rPr sz="1500" b="0">
                          <a:solidFill>
                            <a:srgbClr val="1F2937"/>
                          </a:solidFill>
                        </a:rPr>
                        <a:t>Tur spetsifik zardoblar bilan</a:t>
                      </a:r>
                    </a:p>
                  </a:txBody>
                  <a:tcPr marL="73152" marR="73152" marT="36576" marB="36576">
                    <a:solidFill>
                      <a:srgbClr val="FFFFFF"/>
                    </a:solidFill>
                  </a:tcPr>
                </a:tc>
              </a:tr>
              <a:tr h="614476">
                <a:tc>
                  <a:txBody>
                    <a:bodyPr/>
                    <a:lstStyle/>
                    <a:p>
                      <a:r>
                        <a:rPr sz="1500" b="0">
                          <a:solidFill>
                            <a:srgbClr val="1F2937"/>
                          </a:solidFill>
                        </a:rPr>
                        <a:t>Ouxterloni (gelli agar)</a:t>
                      </a:r>
                    </a:p>
                  </a:txBody>
                  <a:tcPr marL="73152" marR="73152" marT="36576" marB="36576">
                    <a:solidFill>
                      <a:srgbClr val="E8EEF6"/>
                    </a:solidFill>
                  </a:tcPr>
                </a:tc>
                <a:tc>
                  <a:txBody>
                    <a:bodyPr/>
                    <a:lstStyle/>
                    <a:p>
                      <a:r>
                        <a:rPr sz="1500" b="0">
                          <a:solidFill>
                            <a:srgbClr val="1F2937"/>
                          </a:solidFill>
                        </a:rPr>
                        <a:t>Tortilma loyqa bo‘lsa</a:t>
                      </a:r>
                    </a:p>
                  </a:txBody>
                  <a:tcPr marL="73152" marR="73152" marT="36576" marB="36576">
                    <a:solidFill>
                      <a:srgbClr val="E8EEF6"/>
                    </a:solidFill>
                  </a:tcPr>
                </a:tc>
                <a:tc>
                  <a:txBody>
                    <a:bodyPr/>
                    <a:lstStyle/>
                    <a:p>
                      <a:r>
                        <a:rPr sz="1500" b="0">
                          <a:solidFill>
                            <a:srgbClr val="1F2937"/>
                          </a:solidFill>
                        </a:rPr>
                        <a:t>Gelli agarda pretsipitatsiya</a:t>
                      </a:r>
                    </a:p>
                  </a:txBody>
                  <a:tcPr marL="73152" marR="73152" marT="36576" marB="36576">
                    <a:solidFill>
                      <a:srgbClr val="E8EEF6"/>
                    </a:solidFill>
                  </a:tcPr>
                </a:tc>
              </a:tr>
              <a:tr h="614476">
                <a:tc>
                  <a:txBody>
                    <a:bodyPr/>
                    <a:lstStyle/>
                    <a:p>
                      <a:r>
                        <a:rPr sz="1500" b="0">
                          <a:solidFill>
                            <a:srgbClr val="1F2937"/>
                          </a:solidFill>
                        </a:rPr>
                        <a:t>ABAcard testi</a:t>
                      </a:r>
                    </a:p>
                  </a:txBody>
                  <a:tcPr marL="73152" marR="73152" marT="36576" marB="36576">
                    <a:solidFill>
                      <a:srgbClr val="FFFFFF"/>
                    </a:solidFill>
                  </a:tcPr>
                </a:tc>
                <a:tc>
                  <a:txBody>
                    <a:bodyPr/>
                    <a:lstStyle/>
                    <a:p>
                      <a:r>
                        <a:rPr sz="1500" b="0">
                          <a:solidFill>
                            <a:srgbClr val="1F2937"/>
                          </a:solidFill>
                        </a:rPr>
                        <a:t>Qon va turni bir vaqtda bilish</a:t>
                      </a:r>
                    </a:p>
                  </a:txBody>
                  <a:tcPr marL="73152" marR="73152" marT="36576" marB="36576">
                    <a:solidFill>
                      <a:srgbClr val="FFFFFF"/>
                    </a:solidFill>
                  </a:tcPr>
                </a:tc>
                <a:tc>
                  <a:txBody>
                    <a:bodyPr/>
                    <a:lstStyle/>
                    <a:p>
                      <a:r>
                        <a:rPr sz="1500" b="0">
                          <a:solidFill>
                            <a:srgbClr val="1F2937"/>
                          </a:solidFill>
                        </a:rPr>
                        <a:t>Qon borligi va inson mansubligi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Tur mansubligi usullari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306, 306-307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qon dog‘i nima ko‘rsatadi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 devordagi dog‘ga 3% vodorod peroksid tomizilganda oq ko‘pik hosil bo‘ldi.</a:t>
            </a:r>
          </a:p>
          <a:p>
            <a:pPr>
              <a:spcAft>
                <a:spcPts val="1200"/>
              </a:spcAft>
            </a:pPr>
            <a:r>
              <a:rPr sz="2200">
                <a:solidFill>
                  <a:srgbClr val="1F2937"/>
                </a:solidFill>
                <a:latin typeface="Calibri"/>
              </a:rPr>
              <a:t>▸  Mumkin: dog‘da qon bo‘lishi ehtimoli katta, shuning uchun tekshiruv shu dog‘ga qaratiladi. Sinama gumon qilishga imkon beradi.</a:t>
            </a:r>
          </a:p>
          <a:p>
            <a:pPr>
              <a:spcAft>
                <a:spcPts val="1200"/>
              </a:spcAft>
            </a:pPr>
            <a:r>
              <a:rPr sz="2200">
                <a:solidFill>
                  <a:srgbClr val="1F2937"/>
                </a:solidFill>
                <a:latin typeface="Calibri"/>
              </a:rPr>
              <a:t>▸  Mumkin emas: sinama nospetsifik, soxta musbat berishi mumkin. Shu sababli qon borligini qat’iy aytib bo‘lmaydi.</a:t>
            </a:r>
          </a:p>
          <a:p>
            <a:pPr>
              <a:spcAft>
                <a:spcPts val="1200"/>
              </a:spcAft>
            </a:pPr>
            <a:r>
              <a:rPr sz="2200">
                <a:solidFill>
                  <a:srgbClr val="1F2937"/>
                </a:solidFill>
                <a:latin typeface="Calibri"/>
              </a:rPr>
              <a:t>▸  Savol: ekspertiza ketma-ketligida (qon, tur, guruh, shaxs) keyingi qadam qaysi va qaysi usul bilan bajariladi?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305, 305-306, 306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Qonning guruhiy tizimlari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Guruhiy tizimlar to‘rt turga bo‘linadi: eritrotsitar, zardob, leykotsitar va ferment tizimlari.</a:t>
            </a:r>
          </a:p>
          <a:p>
            <a:pPr>
              <a:spcAft>
                <a:spcPts val="800"/>
              </a:spcAft>
            </a:pPr>
            <a:r>
              <a:rPr sz="1800">
                <a:solidFill>
                  <a:srgbClr val="1F2937"/>
                </a:solidFill>
                <a:latin typeface="Calibri"/>
              </a:rPr>
              <a:t>▸  Ular bo‘yicha antigenlar va ularning majmui turlari soni bir necha yuz mingdan ortiq.</a:t>
            </a:r>
          </a:p>
          <a:p>
            <a:pPr>
              <a:spcAft>
                <a:spcPts val="800"/>
              </a:spcAft>
            </a:pPr>
            <a:r>
              <a:rPr sz="1800">
                <a:solidFill>
                  <a:srgbClr val="1F2937"/>
                </a:solidFill>
                <a:latin typeface="Calibri"/>
              </a:rPr>
              <a:t>▸  Tekshiruv odatda AVO eritrotsitar tizimini o‘rganishdan boshlanadi.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880616"/>
                <a:gridCol w="3407359"/>
              </a:tblGrid>
              <a:tr h="614476">
                <a:tc>
                  <a:txBody>
                    <a:bodyPr/>
                    <a:lstStyle/>
                    <a:p>
                      <a:r>
                        <a:rPr sz="1800" b="1">
                          <a:solidFill>
                            <a:srgbClr val="FFFFFF"/>
                          </a:solidFill>
                        </a:rPr>
                        <a:t>Tizim turi</a:t>
                      </a:r>
                    </a:p>
                  </a:txBody>
                  <a:tcPr marL="73152" marR="73152" marT="36576" marB="36576">
                    <a:solidFill>
                      <a:srgbClr val="0B1F3A"/>
                    </a:solidFill>
                  </a:tcPr>
                </a:tc>
                <a:tc>
                  <a:txBody>
                    <a:bodyPr/>
                    <a:lstStyle/>
                    <a:p>
                      <a:r>
                        <a:rPr sz="1800" b="1">
                          <a:solidFill>
                            <a:srgbClr val="FFFFFF"/>
                          </a:solidFill>
                        </a:rPr>
                        <a:t>Misollar</a:t>
                      </a:r>
                    </a:p>
                  </a:txBody>
                  <a:tcPr marL="73152" marR="73152" marT="36576" marB="36576">
                    <a:solidFill>
                      <a:srgbClr val="0B1F3A"/>
                    </a:solidFill>
                  </a:tcPr>
                </a:tc>
              </a:tr>
              <a:tr h="614476">
                <a:tc>
                  <a:txBody>
                    <a:bodyPr/>
                    <a:lstStyle/>
                    <a:p>
                      <a:r>
                        <a:rPr sz="1700" b="0">
                          <a:solidFill>
                            <a:srgbClr val="1F2937"/>
                          </a:solidFill>
                        </a:rPr>
                        <a:t>Eritrotsitar</a:t>
                      </a:r>
                    </a:p>
                  </a:txBody>
                  <a:tcPr marL="73152" marR="73152" marT="36576" marB="36576">
                    <a:solidFill>
                      <a:srgbClr val="E8EEF6"/>
                    </a:solidFill>
                  </a:tcPr>
                </a:tc>
                <a:tc>
                  <a:txBody>
                    <a:bodyPr/>
                    <a:lstStyle/>
                    <a:p>
                      <a:r>
                        <a:rPr sz="1700" b="0">
                          <a:solidFill>
                            <a:srgbClr val="1F2937"/>
                          </a:solidFill>
                        </a:rPr>
                        <a:t>AVO, Rezus (Rh), MNSs, Lyuis (Le)</a:t>
                      </a:r>
                    </a:p>
                  </a:txBody>
                  <a:tcPr marL="73152" marR="73152" marT="36576" marB="36576">
                    <a:solidFill>
                      <a:srgbClr val="E8EEF6"/>
                    </a:solidFill>
                  </a:tcPr>
                </a:tc>
              </a:tr>
              <a:tr h="614476">
                <a:tc>
                  <a:txBody>
                    <a:bodyPr/>
                    <a:lstStyle/>
                    <a:p>
                      <a:r>
                        <a:rPr sz="1700" b="0">
                          <a:solidFill>
                            <a:srgbClr val="1F2937"/>
                          </a:solidFill>
                        </a:rPr>
                        <a:t>Zardob</a:t>
                      </a:r>
                    </a:p>
                  </a:txBody>
                  <a:tcPr marL="73152" marR="73152" marT="36576" marB="36576">
                    <a:solidFill>
                      <a:srgbClr val="FFFFFF"/>
                    </a:solidFill>
                  </a:tcPr>
                </a:tc>
                <a:tc>
                  <a:txBody>
                    <a:bodyPr/>
                    <a:lstStyle/>
                    <a:p>
                      <a:r>
                        <a:rPr sz="1700" b="0">
                          <a:solidFill>
                            <a:srgbClr val="1F2937"/>
                          </a:solidFill>
                        </a:rPr>
                        <a:t>Gm, Hp, Gc</a:t>
                      </a:r>
                    </a:p>
                  </a:txBody>
                  <a:tcPr marL="73152" marR="73152" marT="36576" marB="36576">
                    <a:solidFill>
                      <a:srgbClr val="FFFFFF"/>
                    </a:solidFill>
                  </a:tcPr>
                </a:tc>
              </a:tr>
              <a:tr h="614476">
                <a:tc>
                  <a:txBody>
                    <a:bodyPr/>
                    <a:lstStyle/>
                    <a:p>
                      <a:r>
                        <a:rPr sz="1700" b="0">
                          <a:solidFill>
                            <a:srgbClr val="1F2937"/>
                          </a:solidFill>
                        </a:rPr>
                        <a:t>Ferment</a:t>
                      </a:r>
                    </a:p>
                  </a:txBody>
                  <a:tcPr marL="73152" marR="73152" marT="36576" marB="36576">
                    <a:solidFill>
                      <a:srgbClr val="E8EEF6"/>
                    </a:solidFill>
                  </a:tcPr>
                </a:tc>
                <a:tc>
                  <a:txBody>
                    <a:bodyPr/>
                    <a:lstStyle/>
                    <a:p>
                      <a:r>
                        <a:rPr sz="1700" b="0">
                          <a:solidFill>
                            <a:srgbClr val="1F2937"/>
                          </a:solidFill>
                        </a:rPr>
                        <a:t>Nordon fosfataza, fosfoglyukomutaza va b.</a:t>
                      </a:r>
                    </a:p>
                  </a:txBody>
                  <a:tcPr marL="73152" marR="73152" marT="36576" marB="36576">
                    <a:solidFill>
                      <a:srgbClr val="E8EEF6"/>
                    </a:solidFill>
                  </a:tcPr>
                </a:tc>
              </a:tr>
              <a:tr h="614476">
                <a:tc>
                  <a:txBody>
                    <a:bodyPr/>
                    <a:lstStyle/>
                    <a:p>
                      <a:r>
                        <a:rPr sz="1700" b="0">
                          <a:solidFill>
                            <a:srgbClr val="1F2937"/>
                          </a:solidFill>
                        </a:rPr>
                        <a:t>Leykotsitar</a:t>
                      </a:r>
                    </a:p>
                  </a:txBody>
                  <a:tcPr marL="73152" marR="73152" marT="36576" marB="36576">
                    <a:solidFill>
                      <a:srgbClr val="FFFFFF"/>
                    </a:solidFill>
                  </a:tcPr>
                </a:tc>
                <a:tc>
                  <a:txBody>
                    <a:bodyPr/>
                    <a:lstStyle/>
                    <a:p>
                      <a:r>
                        <a:rPr sz="1700" b="0">
                          <a:solidFill>
                            <a:srgbClr val="1F2937"/>
                          </a:solidFill>
                        </a:rPr>
                        <a:t>HLA antigenlari tizimi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Guruhiy tizimlar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Zardob izotizimlari: Gm, Hp, Gc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Zardob izotizimlariga immunoglobulin (Gm), gaptoglobin (Hp) va guruh spetsifik komponent (Gc) tizimlari kiradi.</a:t>
            </a:r>
          </a:p>
          <a:p>
            <a:pPr>
              <a:spcAft>
                <a:spcPts val="1200"/>
              </a:spcAft>
            </a:pPr>
            <a:r>
              <a:rPr sz="2200">
                <a:solidFill>
                  <a:srgbClr val="1F2937"/>
                </a:solidFill>
                <a:latin typeface="Calibri"/>
              </a:rPr>
              <a:t>▸  Gm tizimi Lyuis tizimi bilan birga qonda tekshirilib, ajratuvchanlikni aniqlashga yordam beradi.</a:t>
            </a:r>
          </a:p>
          <a:p>
            <a:pPr>
              <a:spcAft>
                <a:spcPts val="1200"/>
              </a:spcAft>
            </a:pPr>
            <a:r>
              <a:rPr sz="2200">
                <a:solidFill>
                  <a:srgbClr val="1F2937"/>
                </a:solidFill>
                <a:latin typeface="Calibri"/>
              </a:rPr>
              <a:t>▸  Ajratuvchilar — 80% ga yaqin odam. Ularda qon guruhi antigenlari maniy, siydik, so‘lak kabi ajratmalarda ham topiladi.</a:t>
            </a:r>
          </a:p>
          <a:p>
            <a:pPr>
              <a:spcAft>
                <a:spcPts val="1200"/>
              </a:spcAft>
            </a:pPr>
            <a:r>
              <a:rPr sz="2200">
                <a:solidFill>
                  <a:srgbClr val="1F2937"/>
                </a:solidFill>
                <a:latin typeface="Calibri"/>
              </a:rPr>
              <a:t>▸  Qon izini shaxs qoni bilan taqqoslashda AVO dan keyin zarur bo‘lsa, boshqa tizimlar antigenlari ham tekshiriladi.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 311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Ferment tizimlari va HLA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Ferment tizimlariga eritrotsitar nordon fosfataza, fosfoglyukomutaza va xolinesteraza kiradi.</a:t>
            </a:r>
          </a:p>
          <a:p>
            <a:pPr>
              <a:spcAft>
                <a:spcPts val="1200"/>
              </a:spcAft>
            </a:pPr>
            <a:r>
              <a:rPr sz="2200">
                <a:solidFill>
                  <a:srgbClr val="1F2937"/>
                </a:solidFill>
                <a:latin typeface="Calibri"/>
              </a:rPr>
              <a:t>▸  Adenilatkinaza va 6-fosfoglyukonatdegidrogenaza tizimlari ham ferment guruhiy tizimlari qatoriga kiradi.</a:t>
            </a:r>
          </a:p>
          <a:p>
            <a:pPr>
              <a:spcAft>
                <a:spcPts val="1200"/>
              </a:spcAft>
            </a:pPr>
            <a:r>
              <a:rPr sz="2200">
                <a:solidFill>
                  <a:srgbClr val="1F2937"/>
                </a:solidFill>
                <a:latin typeface="Calibri"/>
              </a:rPr>
              <a:t>▸  Leykotsitar antigenlar (HLA) tizimi ham mavjud.</a:t>
            </a:r>
          </a:p>
          <a:p>
            <a:pPr>
              <a:spcAft>
                <a:spcPts val="1200"/>
              </a:spcAft>
            </a:pPr>
            <a:r>
              <a:rPr sz="2200">
                <a:solidFill>
                  <a:srgbClr val="1F2937"/>
                </a:solidFill>
                <a:latin typeface="Calibri"/>
              </a:rPr>
              <a:t>▸  Ikki shaxsda barcha guruhiy tizimlar bo‘yicha antigenlar mutlaqo mos kelishi mumkin emas. Hozir shaxsni qat’iy DNK-tekshiruvi aniqlaydi.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AVO tizimi: tibbiyot va sud-tibbiyot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 guruhini sud-tibbiy tekshirish odatda AVO eritrotsitar tizimini o‘rganishdan boshlanadi.</a:t>
            </a:r>
          </a:p>
          <a:p>
            <a:pPr>
              <a:spcAft>
                <a:spcPts val="800"/>
              </a:spcAft>
            </a:pPr>
            <a:r>
              <a:rPr sz="1800">
                <a:solidFill>
                  <a:srgbClr val="1F2937"/>
                </a:solidFill>
                <a:latin typeface="Calibri"/>
              </a:rPr>
              <a:t>▸  Tibbiyot muassasalarida AVO tizimining faqat agglyutinogenlari, sud-tibbiyotda esa agglyutinogen ham, agglyutinin ham tekshiriladi.</a:t>
            </a:r>
          </a:p>
          <a:p>
            <a:pPr>
              <a:spcAft>
                <a:spcPts val="800"/>
              </a:spcAft>
            </a:pPr>
            <a:r>
              <a:rPr sz="1800">
                <a:solidFill>
                  <a:srgbClr val="1F2937"/>
                </a:solidFill>
                <a:latin typeface="Calibri"/>
              </a:rPr>
              <a:t>▸  Diqqat: AVO yakuniy emas — zarur bo‘lsa, keyin boshqa tizimlar antigenlari ham tekshiriladi.</a:t>
            </a:r>
          </a:p>
        </p:txBody>
      </p:sp>
      <p:graphicFrame>
        <p:nvGraphicFramePr>
          <p:cNvPr id="9" name="Table 8"/>
          <p:cNvGraphicFramePr>
            <a:graphicFrameLocks noGrp="1"/>
          </p:cNvGraphicFramePr>
          <p:nvPr/>
        </p:nvGraphicFramePr>
        <p:xfrm>
          <a:off x="6263640" y="1463040"/>
          <a:ext cx="5287975" cy="2606040"/>
        </p:xfrm>
        <a:graphic>
          <a:graphicData uri="http://schemas.openxmlformats.org/drawingml/2006/table">
            <a:tbl>
              <a:tblPr firstRow="1" bandRow="1">
                <a:tableStyleId>{5C22544A-7EE6-4342-B048-85BDC9FD1C3A}</a:tableStyleId>
              </a:tblPr>
              <a:tblGrid>
                <a:gridCol w="1550366"/>
                <a:gridCol w="1809750"/>
                <a:gridCol w="1927859"/>
              </a:tblGrid>
              <a:tr h="868680">
                <a:tc>
                  <a:txBody>
                    <a:bodyPr/>
                    <a:lstStyle/>
                    <a:p>
                      <a:r>
                        <a:rPr sz="1600" b="1">
                          <a:solidFill>
                            <a:srgbClr val="FFFFFF"/>
                          </a:solidFill>
                        </a:rPr>
                        <a:t>Muhit</a:t>
                      </a:r>
                    </a:p>
                  </a:txBody>
                  <a:tcPr marL="73152" marR="73152" marT="36576" marB="36576">
                    <a:solidFill>
                      <a:srgbClr val="0B1F3A"/>
                    </a:solidFill>
                  </a:tcPr>
                </a:tc>
                <a:tc>
                  <a:txBody>
                    <a:bodyPr/>
                    <a:lstStyle/>
                    <a:p>
                      <a:r>
                        <a:rPr sz="1600" b="1">
                          <a:solidFill>
                            <a:srgbClr val="FFFFFF"/>
                          </a:solidFill>
                        </a:rPr>
                        <a:t>Agglyutinogen</a:t>
                      </a:r>
                    </a:p>
                  </a:txBody>
                  <a:tcPr marL="73152" marR="73152" marT="36576" marB="36576">
                    <a:solidFill>
                      <a:srgbClr val="0B1F3A"/>
                    </a:solidFill>
                  </a:tcPr>
                </a:tc>
                <a:tc>
                  <a:txBody>
                    <a:bodyPr/>
                    <a:lstStyle/>
                    <a:p>
                      <a:r>
                        <a:rPr sz="1600" b="1">
                          <a:solidFill>
                            <a:srgbClr val="FFFFFF"/>
                          </a:solidFill>
                        </a:rPr>
                        <a:t>Agglyutinin</a:t>
                      </a:r>
                    </a:p>
                  </a:txBody>
                  <a:tcPr marL="73152" marR="73152" marT="36576" marB="36576">
                    <a:solidFill>
                      <a:srgbClr val="0B1F3A"/>
                    </a:solidFill>
                  </a:tcPr>
                </a:tc>
              </a:tr>
              <a:tr h="868680">
                <a:tc>
                  <a:txBody>
                    <a:bodyPr/>
                    <a:lstStyle/>
                    <a:p>
                      <a:r>
                        <a:rPr sz="1500" b="0">
                          <a:solidFill>
                            <a:srgbClr val="1F2937"/>
                          </a:solidFill>
                        </a:rPr>
                        <a:t>Tibbiyot muassasasi</a:t>
                      </a:r>
                    </a:p>
                  </a:txBody>
                  <a:tcPr marL="73152" marR="73152" marT="36576" marB="36576">
                    <a:solidFill>
                      <a:srgbClr val="E8EEF6"/>
                    </a:solidFill>
                  </a:tcPr>
                </a:tc>
                <a:tc>
                  <a:txBody>
                    <a:bodyPr/>
                    <a:lstStyle/>
                    <a:p>
                      <a:r>
                        <a:rPr sz="1500" b="0">
                          <a:solidFill>
                            <a:srgbClr val="1F2937"/>
                          </a:solidFill>
                        </a:rPr>
                        <a:t>Tekshiriladi</a:t>
                      </a:r>
                    </a:p>
                  </a:txBody>
                  <a:tcPr marL="73152" marR="73152" marT="36576" marB="36576">
                    <a:solidFill>
                      <a:srgbClr val="E8EEF6"/>
                    </a:solidFill>
                  </a:tcPr>
                </a:tc>
                <a:tc>
                  <a:txBody>
                    <a:bodyPr/>
                    <a:lstStyle/>
                    <a:p>
                      <a:r>
                        <a:rPr sz="1500" b="0">
                          <a:solidFill>
                            <a:srgbClr val="1F2937"/>
                          </a:solidFill>
                        </a:rPr>
                        <a:t>Tekshirilmaydi</a:t>
                      </a:r>
                    </a:p>
                  </a:txBody>
                  <a:tcPr marL="73152" marR="73152" marT="36576" marB="36576">
                    <a:solidFill>
                      <a:srgbClr val="E8EEF6"/>
                    </a:solidFill>
                  </a:tcPr>
                </a:tc>
              </a:tr>
              <a:tr h="868680">
                <a:tc>
                  <a:txBody>
                    <a:bodyPr/>
                    <a:lstStyle/>
                    <a:p>
                      <a:r>
                        <a:rPr sz="1500" b="0">
                          <a:solidFill>
                            <a:srgbClr val="1F2937"/>
                          </a:solidFill>
                        </a:rPr>
                        <a:t>Sud-tibbiy tekshiruv</a:t>
                      </a:r>
                    </a:p>
                  </a:txBody>
                  <a:tcPr marL="73152" marR="73152" marT="36576" marB="36576">
                    <a:solidFill>
                      <a:srgbClr val="FFFFFF"/>
                    </a:solidFill>
                  </a:tcPr>
                </a:tc>
                <a:tc>
                  <a:txBody>
                    <a:bodyPr/>
                    <a:lstStyle/>
                    <a:p>
                      <a:r>
                        <a:rPr sz="1500" b="0">
                          <a:solidFill>
                            <a:srgbClr val="1F2937"/>
                          </a:solidFill>
                        </a:rPr>
                        <a:t>Tekshiriladi</a:t>
                      </a:r>
                    </a:p>
                  </a:txBody>
                  <a:tcPr marL="73152" marR="73152" marT="36576" marB="36576">
                    <a:solidFill>
                      <a:srgbClr val="FFFFFF"/>
                    </a:solidFill>
                  </a:tcPr>
                </a:tc>
                <a:tc>
                  <a:txBody>
                    <a:bodyPr/>
                    <a:lstStyle/>
                    <a:p>
                      <a:r>
                        <a:rPr sz="1500" b="0">
                          <a:solidFill>
                            <a:srgbClr val="1F2937"/>
                          </a:solidFill>
                        </a:rPr>
                        <a:t>Tekshiriladi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AVO: tibbiyot va sud-tibbiyot</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Suyuq qon va qon dog‘ida guruhni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Dog‘da agglyutinogen: absorbsiya (miqdoriy variant), absorbsiya-elyusiya va aralash agglyutinatsiya reaksiyalari qo‘llanadi.</a:t>
            </a:r>
          </a:p>
          <a:p>
            <a:pPr>
              <a:spcAft>
                <a:spcPts val="800"/>
              </a:spcAft>
            </a:pPr>
            <a:r>
              <a:rPr sz="1800">
                <a:solidFill>
                  <a:srgbClr val="1F2937"/>
                </a:solidFill>
                <a:latin typeface="Calibri"/>
              </a:rPr>
              <a:t>▸  Dog‘ kam yoki antigenlar kuchsiz bo‘lsa, absorbsiya-elyusiya reaksiyasi tavsiya etiladi.</a:t>
            </a:r>
          </a:p>
          <a:p>
            <a:pPr>
              <a:spcAft>
                <a:spcPts val="800"/>
              </a:spcAft>
            </a:pPr>
            <a:r>
              <a:rPr sz="1800">
                <a:solidFill>
                  <a:srgbClr val="1F2937"/>
                </a:solidFill>
                <a:latin typeface="Calibri"/>
              </a:rPr>
              <a:t>▸  Dog‘da agglyutininlar: standart eritrotsitlar aralashmasi bilan qoplama oyna (Lyates) usuli.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Qon sentrifugalanadi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Zardob va elementlar ajraladi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Anti-A, anti-V: agglyutinogen</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Agglyutinin: standart eritrotsit</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Shiff usuli: suyuq qon</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izotizimlar va AVO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zardob izotizimlariga qaysilar kiradi? Javob: immunoglobulin (Gm), gaptoglobin (Hp) va guruh spetsifik komponent (Gc).</a:t>
            </a:r>
          </a:p>
          <a:p>
            <a:pPr>
              <a:spcAft>
                <a:spcPts val="1200"/>
              </a:spcAft>
            </a:pPr>
            <a:r>
              <a:rPr sz="2200">
                <a:solidFill>
                  <a:srgbClr val="1F2937"/>
                </a:solidFill>
                <a:latin typeface="Calibri"/>
              </a:rPr>
              <a:t>▸  Tezkor savol: sud-tibbiy tekshiruvlar odatda qaysi eritrotsitar tizimdan boshlanadi? Javob: AVO tizimidan.</a:t>
            </a:r>
          </a:p>
          <a:p>
            <a:pPr>
              <a:spcAft>
                <a:spcPts val="1200"/>
              </a:spcAft>
            </a:pPr>
            <a:r>
              <a:rPr sz="2200">
                <a:solidFill>
                  <a:srgbClr val="1F2937"/>
                </a:solidFill>
                <a:latin typeface="Calibri"/>
              </a:rPr>
              <a:t>▸  Tezkor savol: Lyates usuli dog‘da nimani aniqlaydi? Javob: standart eritrotsitlar yordamida agglyutininlarni.</a:t>
            </a:r>
          </a:p>
          <a:p>
            <a:pPr>
              <a:spcAft>
                <a:spcPts val="1200"/>
              </a:spcAft>
            </a:pPr>
            <a:r>
              <a:rPr sz="2200">
                <a:solidFill>
                  <a:srgbClr val="1F2937"/>
                </a:solidFill>
                <a:latin typeface="Calibri"/>
              </a:rPr>
              <a:t>▸  Diqqat: AVO, Rezus (Rh), MNSs, Lyuis — eritrotsitar tizimlar; Gm, Hp, Gc esa zardob izotizimlari. Ularni aralashtirmang.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Qonning muayyan shaxsga tegishliligi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Hodisa joyidagi qon izlari shubhali shaxsning o‘z qoni bilan guruhiy tizimlar bo‘yicha solishtiriladi.</a:t>
            </a:r>
          </a:p>
          <a:p>
            <a:pPr>
              <a:spcAft>
                <a:spcPts val="1200"/>
              </a:spcAft>
            </a:pPr>
            <a:r>
              <a:rPr sz="2200">
                <a:solidFill>
                  <a:srgbClr val="1F2937"/>
                </a:solidFill>
                <a:latin typeface="Calibri"/>
              </a:rPr>
              <a:t>▸  Tekshiruv odatda AVO tizimidan boshlanadi. Zarur bo‘lsa, boshqa tizimlarning antigenlari ham tekshiriladi.</a:t>
            </a:r>
          </a:p>
          <a:p>
            <a:pPr>
              <a:spcAft>
                <a:spcPts val="1200"/>
              </a:spcAft>
            </a:pPr>
            <a:r>
              <a:rPr sz="2200">
                <a:solidFill>
                  <a:srgbClr val="1F2937"/>
                </a:solidFill>
                <a:latin typeface="Calibri"/>
              </a:rPr>
              <a:t>▸  Ikki kishida barcha guruhiy tizimlar bo‘yicha antigenlar to‘liq mos kelishi mumkin emas.</a:t>
            </a:r>
          </a:p>
          <a:p>
            <a:pPr>
              <a:spcAft>
                <a:spcPts val="1200"/>
              </a:spcAft>
            </a:pPr>
            <a:r>
              <a:rPr sz="2200">
                <a:solidFill>
                  <a:srgbClr val="1F2937"/>
                </a:solidFill>
                <a:latin typeface="Calibri"/>
              </a:rPr>
              <a:t>▸  Bunday taqqoslash ko‘p mehnat va vaqt talab qiladi. Shuning uchun hozir ko‘proq DNK-tekshiruvi qo‘llanadi.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DNK-tekshiruvi: zamonaviy imkoniyat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So‘nggi davrda qonning aniq bir shaxsga tegishliligi qat‘iy tarzda DNK-tekshiruvi yordamida aniqlanadi.</a:t>
            </a:r>
          </a:p>
          <a:p>
            <a:pPr>
              <a:spcAft>
                <a:spcPts val="1200"/>
              </a:spcAft>
            </a:pPr>
            <a:r>
              <a:rPr sz="2200">
                <a:solidFill>
                  <a:srgbClr val="1F2937"/>
                </a:solidFill>
                <a:latin typeface="Calibri"/>
              </a:rPr>
              <a:t>▸  1985 yilda A. Djeffris DNK polimorfizmini o‘rganish sud-biologiyada muhim bo‘lishi mumkinligini aytdi. 1986 yildan genetik usullar qo‘llana boshladi.</a:t>
            </a:r>
          </a:p>
          <a:p>
            <a:pPr>
              <a:spcAft>
                <a:spcPts val="1200"/>
              </a:spcAft>
            </a:pPr>
            <a:r>
              <a:rPr sz="2200">
                <a:solidFill>
                  <a:srgbClr val="1F2937"/>
                </a:solidFill>
                <a:latin typeface="Calibri"/>
              </a:rPr>
              <a:t>▸  Usul ‘genom daktiloskopiya’, ‘genotiplash’, ‘DNK-analiz’ deb ham ataladi. Mohiyati — har kimning genetik xususiyatlarini aniqlash.</a:t>
            </a:r>
          </a:p>
          <a:p>
            <a:pPr>
              <a:spcAft>
                <a:spcPts val="1200"/>
              </a:spcAft>
            </a:pPr>
            <a:r>
              <a:rPr sz="2200">
                <a:solidFill>
                  <a:srgbClr val="1F2937"/>
                </a:solidFill>
                <a:latin typeface="Calibri"/>
              </a:rPr>
              <a:t>▸  Xromosoma juftligining bir xil joyida joylashgan va bir belgi uchun mas’ul DNK sohalari gomologik lokuslar deyiladi.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 321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Qonning jins, hudud, homiladorlik, yosh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Jins X va Y xromatin orqali aniqlanadi. Y-xromatin akrixin bilan bo‘yalib, lyuminessent mikroskopiyada ko‘rinadi.</a:t>
            </a:r>
          </a:p>
          <a:p>
            <a:pPr>
              <a:spcAft>
                <a:spcPts val="800"/>
              </a:spcAft>
            </a:pPr>
            <a:r>
              <a:rPr sz="1800">
                <a:solidFill>
                  <a:srgbClr val="1F2937"/>
                </a:solidFill>
                <a:latin typeface="Calibri"/>
              </a:rPr>
              <a:t>▸  Qon bo‘yicha homiladorlik xoriongonadotrop gormon orqali aniqlanadi; qon dog‘i bo‘yicha qat‘iy aniqlab bo‘lmaydi.</a:t>
            </a:r>
          </a:p>
          <a:p>
            <a:pPr>
              <a:spcAft>
                <a:spcPts val="800"/>
              </a:spcAft>
            </a:pPr>
            <a:r>
              <a:rPr sz="1800">
                <a:solidFill>
                  <a:srgbClr val="1F2937"/>
                </a:solidFill>
                <a:latin typeface="Calibri"/>
              </a:rPr>
              <a:t>▸  Kattalar qonida gemoglobin HbA, go‘daklarda fetal gemoglobin HbF bo‘ladi; HbF ishqorga chidamliroq.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91639"/>
                <a:gridCol w="2108432"/>
                <a:gridCol w="1487903"/>
              </a:tblGrid>
              <a:tr h="614476">
                <a:tc>
                  <a:txBody>
                    <a:bodyPr/>
                    <a:lstStyle/>
                    <a:p>
                      <a:r>
                        <a:rPr sz="1600" b="1">
                          <a:solidFill>
                            <a:srgbClr val="FFFFFF"/>
                          </a:solidFill>
                        </a:rPr>
                        <a:t>Masala</a:t>
                      </a:r>
                    </a:p>
                  </a:txBody>
                  <a:tcPr marL="73152" marR="73152" marT="36576" marB="36576">
                    <a:solidFill>
                      <a:srgbClr val="0B1F3A"/>
                    </a:solidFill>
                  </a:tcPr>
                </a:tc>
                <a:tc>
                  <a:txBody>
                    <a:bodyPr/>
                    <a:lstStyle/>
                    <a:p>
                      <a:r>
                        <a:rPr sz="1600" b="1">
                          <a:solidFill>
                            <a:srgbClr val="FFFFFF"/>
                          </a:solidFill>
                        </a:rPr>
                        <a:t>Belgi/usul</a:t>
                      </a:r>
                    </a:p>
                  </a:txBody>
                  <a:tcPr marL="73152" marR="73152" marT="36576" marB="36576">
                    <a:solidFill>
                      <a:srgbClr val="0B1F3A"/>
                    </a:solidFill>
                  </a:tcPr>
                </a:tc>
                <a:tc>
                  <a:txBody>
                    <a:bodyPr/>
                    <a:lstStyle/>
                    <a:p>
                      <a:r>
                        <a:rPr sz="1600" b="1">
                          <a:solidFill>
                            <a:srgbClr val="FFFFFF"/>
                          </a:solidFill>
                        </a:rPr>
                        <a:t>Izoh</a:t>
                      </a:r>
                    </a:p>
                  </a:txBody>
                  <a:tcPr marL="73152" marR="73152" marT="36576" marB="36576">
                    <a:solidFill>
                      <a:srgbClr val="0B1F3A"/>
                    </a:solidFill>
                  </a:tcPr>
                </a:tc>
              </a:tr>
              <a:tr h="614476">
                <a:tc>
                  <a:txBody>
                    <a:bodyPr/>
                    <a:lstStyle/>
                    <a:p>
                      <a:r>
                        <a:rPr sz="1500" b="0">
                          <a:solidFill>
                            <a:srgbClr val="1F2937"/>
                          </a:solidFill>
                        </a:rPr>
                        <a:t>Jins</a:t>
                      </a:r>
                    </a:p>
                  </a:txBody>
                  <a:tcPr marL="73152" marR="73152" marT="36576" marB="36576">
                    <a:solidFill>
                      <a:srgbClr val="E8EEF6"/>
                    </a:solidFill>
                  </a:tcPr>
                </a:tc>
                <a:tc>
                  <a:txBody>
                    <a:bodyPr/>
                    <a:lstStyle/>
                    <a:p>
                      <a:r>
                        <a:rPr sz="1500" b="0">
                          <a:solidFill>
                            <a:srgbClr val="1F2937"/>
                          </a:solidFill>
                        </a:rPr>
                        <a:t>Y-xromatin (erkak), X-xromatin (ayol)</a:t>
                      </a:r>
                    </a:p>
                  </a:txBody>
                  <a:tcPr marL="73152" marR="73152" marT="36576" marB="36576">
                    <a:solidFill>
                      <a:srgbClr val="E8EEF6"/>
                    </a:solidFill>
                  </a:tcPr>
                </a:tc>
                <a:tc>
                  <a:txBody>
                    <a:bodyPr/>
                    <a:lstStyle/>
                    <a:p>
                      <a:r>
                        <a:rPr sz="1500" b="0">
                          <a:solidFill>
                            <a:srgbClr val="1F2937"/>
                          </a:solidFill>
                        </a:rPr>
                        <a:t>Hujayralar sitologiyasi; DNK ham mumkin</a:t>
                      </a:r>
                    </a:p>
                  </a:txBody>
                  <a:tcPr marL="73152" marR="73152" marT="36576" marB="36576">
                    <a:solidFill>
                      <a:srgbClr val="E8EEF6"/>
                    </a:solidFill>
                  </a:tcPr>
                </a:tc>
              </a:tr>
              <a:tr h="614476">
                <a:tc>
                  <a:txBody>
                    <a:bodyPr/>
                    <a:lstStyle/>
                    <a:p>
                      <a:r>
                        <a:rPr sz="1500" b="0">
                          <a:solidFill>
                            <a:srgbClr val="1F2937"/>
                          </a:solidFill>
                        </a:rPr>
                        <a:t>Hudud</a:t>
                      </a:r>
                    </a:p>
                  </a:txBody>
                  <a:tcPr marL="73152" marR="73152" marT="36576" marB="36576">
                    <a:solidFill>
                      <a:srgbClr val="FFFFFF"/>
                    </a:solidFill>
                  </a:tcPr>
                </a:tc>
                <a:tc>
                  <a:txBody>
                    <a:bodyPr/>
                    <a:lstStyle/>
                    <a:p>
                      <a:r>
                        <a:rPr sz="1500" b="0">
                          <a:solidFill>
                            <a:srgbClr val="1F2937"/>
                          </a:solidFill>
                        </a:rPr>
                        <a:t>Tegishli shilliq qavat epiteliysi hujayralari</a:t>
                      </a:r>
                    </a:p>
                  </a:txBody>
                  <a:tcPr marL="73152" marR="73152" marT="36576" marB="36576">
                    <a:solidFill>
                      <a:srgbClr val="FFFFFF"/>
                    </a:solidFill>
                  </a:tcPr>
                </a:tc>
                <a:tc>
                  <a:txBody>
                    <a:bodyPr/>
                    <a:lstStyle/>
                    <a:p>
                      <a:r>
                        <a:rPr sz="1500" b="0">
                          <a:solidFill>
                            <a:srgbClr val="1F2937"/>
                          </a:solidFill>
                        </a:rPr>
                        <a:t>Burun, o‘pka, ichak, bachadon, qin</a:t>
                      </a:r>
                    </a:p>
                  </a:txBody>
                  <a:tcPr marL="73152" marR="73152" marT="36576" marB="36576">
                    <a:solidFill>
                      <a:srgbClr val="FFFFFF"/>
                    </a:solidFill>
                  </a:tcPr>
                </a:tc>
              </a:tr>
              <a:tr h="614476">
                <a:tc>
                  <a:txBody>
                    <a:bodyPr/>
                    <a:lstStyle/>
                    <a:p>
                      <a:r>
                        <a:rPr sz="1500" b="0">
                          <a:solidFill>
                            <a:srgbClr val="1F2937"/>
                          </a:solidFill>
                        </a:rPr>
                        <a:t>Homiladorlik</a:t>
                      </a:r>
                    </a:p>
                  </a:txBody>
                  <a:tcPr marL="73152" marR="73152" marT="36576" marB="36576">
                    <a:solidFill>
                      <a:srgbClr val="E8EEF6"/>
                    </a:solidFill>
                  </a:tcPr>
                </a:tc>
                <a:tc>
                  <a:txBody>
                    <a:bodyPr/>
                    <a:lstStyle/>
                    <a:p>
                      <a:r>
                        <a:rPr sz="1500" b="0">
                          <a:solidFill>
                            <a:srgbClr val="1F2937"/>
                          </a:solidFill>
                        </a:rPr>
                        <a:t>Xoriongonadotrop gormon, oksitotsinaza</a:t>
                      </a:r>
                    </a:p>
                  </a:txBody>
                  <a:tcPr marL="73152" marR="73152" marT="36576" marB="36576">
                    <a:solidFill>
                      <a:srgbClr val="E8EEF6"/>
                    </a:solidFill>
                  </a:tcPr>
                </a:tc>
                <a:tc>
                  <a:txBody>
                    <a:bodyPr/>
                    <a:lstStyle/>
                    <a:p>
                      <a:r>
                        <a:rPr sz="1500" b="0">
                          <a:solidFill>
                            <a:srgbClr val="1F2937"/>
                          </a:solidFill>
                        </a:rPr>
                        <a:t>Dog‘ bo‘yicha qat‘iy aniqlab bo‘lmaydi</a:t>
                      </a:r>
                    </a:p>
                  </a:txBody>
                  <a:tcPr marL="73152" marR="73152" marT="36576" marB="36576">
                    <a:solidFill>
                      <a:srgbClr val="E8EEF6"/>
                    </a:solidFill>
                  </a:tcPr>
                </a:tc>
              </a:tr>
              <a:tr h="614476">
                <a:tc>
                  <a:txBody>
                    <a:bodyPr/>
                    <a:lstStyle/>
                    <a:p>
                      <a:r>
                        <a:rPr sz="1500" b="0">
                          <a:solidFill>
                            <a:srgbClr val="1F2937"/>
                          </a:solidFill>
                        </a:rPr>
                        <a:t>Yosh</a:t>
                      </a:r>
                    </a:p>
                  </a:txBody>
                  <a:tcPr marL="73152" marR="73152" marT="36576" marB="36576">
                    <a:solidFill>
                      <a:srgbClr val="FFFFFF"/>
                    </a:solidFill>
                  </a:tcPr>
                </a:tc>
                <a:tc>
                  <a:txBody>
                    <a:bodyPr/>
                    <a:lstStyle/>
                    <a:p>
                      <a:r>
                        <a:rPr sz="1500" b="0">
                          <a:solidFill>
                            <a:srgbClr val="1F2937"/>
                          </a:solidFill>
                        </a:rPr>
                        <a:t>HbA (kattalar), HbF (go‘daklar)</a:t>
                      </a:r>
                    </a:p>
                  </a:txBody>
                  <a:tcPr marL="73152" marR="73152" marT="36576" marB="36576">
                    <a:solidFill>
                      <a:srgbClr val="FFFFFF"/>
                    </a:solidFill>
                  </a:tcPr>
                </a:tc>
                <a:tc>
                  <a:txBody>
                    <a:bodyPr/>
                    <a:lstStyle/>
                    <a:p>
                      <a:r>
                        <a:rPr sz="1500" b="0">
                          <a:solidFill>
                            <a:srgbClr val="1F2937"/>
                          </a:solidFill>
                        </a:rPr>
                        <a:t>Yangi dog‘da; 15-20 kunlikda bo‘lmaydi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Qonning qo‘shimcha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307-308, 308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izi muddati va miqdorini baholash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Qon izining paydo bo‘lish muddati gemoglobin o‘zgarishi va qon fermentlari aktivligining pasayishiga qarab baholanadi.</a:t>
            </a:r>
          </a:p>
          <a:p>
            <a:pPr>
              <a:spcAft>
                <a:spcPts val="1200"/>
              </a:spcAft>
            </a:pPr>
            <a:r>
              <a:rPr sz="2200">
                <a:solidFill>
                  <a:srgbClr val="1F2937"/>
                </a:solidFill>
                <a:latin typeface="Calibri"/>
              </a:rPr>
              <a:t>▸  Diqqat: xato qilish xavfi! Bu baholash aniq sana emas, faqat taxminiy xulosa bo‘lishi mumkin.</a:t>
            </a:r>
          </a:p>
          <a:p>
            <a:pPr>
              <a:spcAft>
                <a:spcPts val="1200"/>
              </a:spcAft>
            </a:pPr>
            <a:r>
              <a:rPr sz="2200">
                <a:solidFill>
                  <a:srgbClr val="1F2937"/>
                </a:solidFill>
                <a:latin typeface="Calibri"/>
              </a:rPr>
              <a:t>▸  Izdagi o‘zgarishlar nafaqat muddatga bog‘liq: harorat, namlik, shamol va dog‘ turgan predmetning xususiyatlari ham ta’sir qiladi.</a:t>
            </a:r>
          </a:p>
          <a:p>
            <a:pPr>
              <a:spcAft>
                <a:spcPts val="1200"/>
              </a:spcAft>
            </a:pPr>
            <a:r>
              <a:rPr sz="2200">
                <a:solidFill>
                  <a:srgbClr val="1F2937"/>
                </a:solidFill>
                <a:latin typeface="Calibri"/>
              </a:rPr>
              <a:t>▸  Tashqariga quyilgan qon miqdori kerak bo‘lsa, bir litr suyuq qondan o‘rtacha 210 gr atrofida quruq qoldiq qolishi hisobga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guruh mos keldi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joyidagi qon dog‘i AVO tizimi bo‘yicha gumondor qoniga mos keldi. Savol: dog‘ aynan gumondorniki, deb qat’iy aytish mumkinmi?</a:t>
            </a:r>
          </a:p>
          <a:p>
            <a:pPr>
              <a:spcAft>
                <a:spcPts val="1200"/>
              </a:spcAft>
            </a:pPr>
            <a:r>
              <a:rPr sz="2200">
                <a:solidFill>
                  <a:srgbClr val="1F2937"/>
                </a:solidFill>
                <a:latin typeface="Calibri"/>
              </a:rPr>
              <a:t>▸  Dog‘ va shaxs qoni guruhiy tizimlar bo‘yicha taqqoslanadi. Odatda AVO tizimidan boshlanadi, zarur bo‘lsa boshqa tizimlar antigenlari ham tekshiriladi.</a:t>
            </a:r>
          </a:p>
          <a:p>
            <a:pPr>
              <a:spcAft>
                <a:spcPts val="1200"/>
              </a:spcAft>
            </a:pPr>
            <a:r>
              <a:rPr sz="2200">
                <a:solidFill>
                  <a:srgbClr val="1F2937"/>
                </a:solidFill>
                <a:latin typeface="Calibri"/>
              </a:rPr>
              <a:t>▸  Diqqat: xato qilish xavfi! Bitta tizimning mosligi ≠ barcha tizimlarning mosligi. Ikki shaxsda barcha tizimlar bo‘yicha antigenlar to‘liq mos kelmaydi.</a:t>
            </a:r>
          </a:p>
          <a:p>
            <a:pPr>
              <a:spcAft>
                <a:spcPts val="1200"/>
              </a:spcAft>
            </a:pPr>
            <a:r>
              <a:rPr sz="2200">
                <a:solidFill>
                  <a:srgbClr val="1F2937"/>
                </a:solidFill>
                <a:latin typeface="Calibri"/>
              </a:rPr>
              <a:t>▸  Bunday taqqoslash ko‘p mehnat va vaqt talab etadi. So‘nggi davrda qonning aniq shaxsga tegishliligi qat’iy tarzda DNK-tekshiruvi bilan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So‘lak va ter tekshiruv ob’ektlari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So‘lak tekshiruvi ob’ektlari: sigaret qoldig‘i, dastro‘mol, sochiq, konvert va marka, idish-tovoq, og‘iz berkitilgan mato bo‘lagi, tishlangan ovqat.</a:t>
            </a:r>
          </a:p>
          <a:p>
            <a:pPr>
              <a:spcAft>
                <a:spcPts val="1200"/>
              </a:spcAft>
            </a:pPr>
            <a:r>
              <a:rPr sz="2200">
                <a:solidFill>
                  <a:srgbClr val="1F2937"/>
                </a:solidFill>
                <a:latin typeface="Calibri"/>
              </a:rPr>
              <a:t>▸  Ob’ektni olishda qo‘lga rezina qo‘lqop kiyiladi, kichik narsalar pinset bilan olinadi. So‘lak borligi amilaza fermenti orqali aniqlanadi.</a:t>
            </a:r>
          </a:p>
          <a:p>
            <a:pPr>
              <a:spcAft>
                <a:spcPts val="1200"/>
              </a:spcAft>
            </a:pPr>
            <a:r>
              <a:rPr sz="2200">
                <a:solidFill>
                  <a:srgbClr val="1F2937"/>
                </a:solidFill>
                <a:latin typeface="Calibri"/>
              </a:rPr>
              <a:t>▸  Ter bo‘yicha ko‘pincha kiyim-bosh, poyafzal, yotoq anjomlari, sochiqlar olinadi. Ter tarkibida serin aminokislotasi ko‘p, dog‘dagi ter shu orqali aniqlanadi.</a:t>
            </a:r>
          </a:p>
          <a:p>
            <a:pPr>
              <a:spcAft>
                <a:spcPts val="1200"/>
              </a:spcAft>
            </a:pPr>
            <a:r>
              <a:rPr sz="2200">
                <a:solidFill>
                  <a:srgbClr val="1F2937"/>
                </a:solidFill>
                <a:latin typeface="Calibri"/>
              </a:rPr>
              <a:t>▸  Diqqat: xato qilish xavfi! Tekshiruv ob’ekti va kontrol ob’ekt bir o‘ramda bo‘lmaydi. Ular alohida, quritilgan holda o‘raladi.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311, 311-312, 312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So‘lak mavjudligini aniqlash: amilaza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So‘lak izi sigaret qoldig‘i, dastro‘mol, sochiq, konvert, idish-tovoq va og‘iz berkitgan mato bo‘laklaridan izlanadi.</a:t>
            </a:r>
          </a:p>
          <a:p>
            <a:pPr>
              <a:spcAft>
                <a:spcPts val="800"/>
              </a:spcAft>
            </a:pPr>
            <a:r>
              <a:rPr sz="1800">
                <a:solidFill>
                  <a:srgbClr val="1F2937"/>
                </a:solidFill>
                <a:latin typeface="Calibri"/>
              </a:rPr>
              <a:t>▸  So‘lak borligi so‘lak fermenti — amilazani aniqlash orqali hal etiladi.</a:t>
            </a:r>
          </a:p>
          <a:p>
            <a:pPr>
              <a:spcAft>
                <a:spcPts val="800"/>
              </a:spcAft>
            </a:pPr>
            <a:r>
              <a:rPr sz="1800">
                <a:solidFill>
                  <a:srgbClr val="1F2937"/>
                </a:solidFill>
                <a:latin typeface="Calibri"/>
              </a:rPr>
              <a:t>▸  Diqqat: ob’ekt va kontrol namuna bitta o‘ramda bo‘lmaydi; quyoshdan va issiqdan uzoqda quriting.</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Ob’ektni topish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Qo‘lqop va pinset bilan olish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Amilaza fermentini aniqlash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Quritish: xona harorati, soya</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Alohida o‘rab yuborish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So‘lakni tekshirish zanjiri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311, 312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 mavjudligini aniqlash: serin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Ter tekshiruvida ko‘pincha kiyim-bosh, poyafzal, yotoq anjomlari va sochiqlar ekspertiza ob’ekti sifatida olinadi.</a:t>
            </a:r>
          </a:p>
          <a:p>
            <a:pPr>
              <a:spcAft>
                <a:spcPts val="1200"/>
              </a:spcAft>
            </a:pPr>
            <a:r>
              <a:rPr sz="2200">
                <a:solidFill>
                  <a:srgbClr val="1F2937"/>
                </a:solidFill>
                <a:latin typeface="Calibri"/>
              </a:rPr>
              <a:t>▸  Ter tarkibida serin aminokislotasi ko‘p miqdorda bo‘ladi.</a:t>
            </a:r>
          </a:p>
          <a:p>
            <a:pPr>
              <a:spcAft>
                <a:spcPts val="1200"/>
              </a:spcAft>
            </a:pPr>
            <a:r>
              <a:rPr sz="2200">
                <a:solidFill>
                  <a:srgbClr val="1F2937"/>
                </a:solidFill>
                <a:latin typeface="Calibri"/>
              </a:rPr>
              <a:t>▸  Dog‘da ter bor-yo‘qligi masalasi aynan shu aminokislotani aniqlash orqali hal etiladi.</a:t>
            </a:r>
          </a:p>
          <a:p>
            <a:pPr>
              <a:spcAft>
                <a:spcPts val="1200"/>
              </a:spcAft>
            </a:pPr>
            <a:r>
              <a:rPr sz="2200">
                <a:solidFill>
                  <a:srgbClr val="1F2937"/>
                </a:solidFill>
                <a:latin typeface="Calibri"/>
              </a:rPr>
              <a:t>▸  Diqqat: so‘lak — amilaza, ter — serin. Ter va so‘lakning tur mansubligi juda kam aniqlanadi, guruhi odatda AVO (qon guruhi) tizimi bilan topiladi.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311, 311-312, 312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Siydik va najas dog‘larini solishtirish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Siydik va najas dog‘lari amaliyotda nisbatan kam tekshiriladi, asosan jinsiy jinoyatlar bilan bog‘liq bo‘ladi.</a:t>
            </a:r>
          </a:p>
          <a:p>
            <a:pPr>
              <a:spcAft>
                <a:spcPts val="800"/>
              </a:spcAft>
            </a:pPr>
            <a:r>
              <a:rPr sz="1800">
                <a:solidFill>
                  <a:srgbClr val="1F2937"/>
                </a:solidFill>
                <a:latin typeface="Calibri"/>
              </a:rPr>
              <a:t>▸  Najasda antigen vazifasini bajaradigan oqsillar parchalangan, shu sabab tur va guruhi aniqlanmaydi.</a:t>
            </a:r>
          </a:p>
          <a:p>
            <a:pPr>
              <a:spcAft>
                <a:spcPts val="800"/>
              </a:spcAft>
            </a:pPr>
            <a:r>
              <a:rPr sz="1800">
                <a:solidFill>
                  <a:srgbClr val="1F2937"/>
                </a:solidFill>
                <a:latin typeface="Calibri"/>
              </a:rPr>
              <a:t>▸  Diqqat: siydikda tur oqsili yo‘q, tur aniqlanmaydi; guruh esa AVO (qon guruhi) tizimi bilan topiladi.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573530"/>
                <a:gridCol w="1709610"/>
                <a:gridCol w="2004834"/>
              </a:tblGrid>
              <a:tr h="614476">
                <a:tc>
                  <a:txBody>
                    <a:bodyPr/>
                    <a:lstStyle/>
                    <a:p>
                      <a:r>
                        <a:rPr sz="1600" b="1">
                          <a:solidFill>
                            <a:srgbClr val="FFFFFF"/>
                          </a:solidFill>
                        </a:rPr>
                        <a:t>Ko‘rsatkich</a:t>
                      </a:r>
                    </a:p>
                  </a:txBody>
                  <a:tcPr marL="73152" marR="73152" marT="36576" marB="36576">
                    <a:solidFill>
                      <a:srgbClr val="0B1F3A"/>
                    </a:solidFill>
                  </a:tcPr>
                </a:tc>
                <a:tc>
                  <a:txBody>
                    <a:bodyPr/>
                    <a:lstStyle/>
                    <a:p>
                      <a:r>
                        <a:rPr sz="1600" b="1">
                          <a:solidFill>
                            <a:srgbClr val="FFFFFF"/>
                          </a:solidFill>
                        </a:rPr>
                        <a:t>Siydik</a:t>
                      </a:r>
                    </a:p>
                  </a:txBody>
                  <a:tcPr marL="73152" marR="73152" marT="36576" marB="36576">
                    <a:solidFill>
                      <a:srgbClr val="0B1F3A"/>
                    </a:solidFill>
                  </a:tcPr>
                </a:tc>
                <a:tc>
                  <a:txBody>
                    <a:bodyPr/>
                    <a:lstStyle/>
                    <a:p>
                      <a:r>
                        <a:rPr sz="1600" b="1">
                          <a:solidFill>
                            <a:srgbClr val="FFFFFF"/>
                          </a:solidFill>
                        </a:rPr>
                        <a:t>Najas</a:t>
                      </a:r>
                    </a:p>
                  </a:txBody>
                  <a:tcPr marL="73152" marR="73152" marT="36576" marB="36576">
                    <a:solidFill>
                      <a:srgbClr val="0B1F3A"/>
                    </a:solidFill>
                  </a:tcPr>
                </a:tc>
              </a:tr>
              <a:tr h="614476">
                <a:tc>
                  <a:txBody>
                    <a:bodyPr/>
                    <a:lstStyle/>
                    <a:p>
                      <a:r>
                        <a:rPr sz="1500" b="0">
                          <a:solidFill>
                            <a:srgbClr val="1F2937"/>
                          </a:solidFill>
                        </a:rPr>
                        <a:t>Nimani aniqlaymiz</a:t>
                      </a:r>
                    </a:p>
                  </a:txBody>
                  <a:tcPr marL="73152" marR="73152" marT="36576" marB="36576">
                    <a:solidFill>
                      <a:srgbClr val="E8EEF6"/>
                    </a:solidFill>
                  </a:tcPr>
                </a:tc>
                <a:tc>
                  <a:txBody>
                    <a:bodyPr/>
                    <a:lstStyle/>
                    <a:p>
                      <a:r>
                        <a:rPr sz="1500" b="0">
                          <a:solidFill>
                            <a:srgbClr val="1F2937"/>
                          </a:solidFill>
                        </a:rPr>
                        <a:t>Kreatinin, mochevina</a:t>
                      </a:r>
                    </a:p>
                  </a:txBody>
                  <a:tcPr marL="73152" marR="73152" marT="36576" marB="36576">
                    <a:solidFill>
                      <a:srgbClr val="E8EEF6"/>
                    </a:solidFill>
                  </a:tcPr>
                </a:tc>
                <a:tc>
                  <a:txBody>
                    <a:bodyPr/>
                    <a:lstStyle/>
                    <a:p>
                      <a:r>
                        <a:rPr sz="1500" b="0">
                          <a:solidFill>
                            <a:srgbClr val="1F2937"/>
                          </a:solidFill>
                        </a:rPr>
                        <a:t>Ovqat, mikroorganizm, gelmint tuxumi</a:t>
                      </a:r>
                    </a:p>
                  </a:txBody>
                  <a:tcPr marL="73152" marR="73152" marT="36576" marB="36576">
                    <a:solidFill>
                      <a:srgbClr val="E8EEF6"/>
                    </a:solidFill>
                  </a:tcPr>
                </a:tc>
              </a:tr>
              <a:tr h="614476">
                <a:tc>
                  <a:txBody>
                    <a:bodyPr/>
                    <a:lstStyle/>
                    <a:p>
                      <a:r>
                        <a:rPr sz="1500" b="0">
                          <a:solidFill>
                            <a:srgbClr val="1F2937"/>
                          </a:solidFill>
                        </a:rPr>
                        <a:t>Usul</a:t>
                      </a:r>
                    </a:p>
                  </a:txBody>
                  <a:tcPr marL="73152" marR="73152" marT="36576" marB="36576">
                    <a:solidFill>
                      <a:srgbClr val="FFFFFF"/>
                    </a:solidFill>
                  </a:tcPr>
                </a:tc>
                <a:tc>
                  <a:txBody>
                    <a:bodyPr/>
                    <a:lstStyle/>
                    <a:p>
                      <a:r>
                        <a:rPr sz="1500" b="0">
                          <a:solidFill>
                            <a:srgbClr val="1F2937"/>
                          </a:solidFill>
                        </a:rPr>
                        <a:t>Kimyoviy aniqlash</a:t>
                      </a:r>
                    </a:p>
                  </a:txBody>
                  <a:tcPr marL="73152" marR="73152" marT="36576" marB="36576">
                    <a:solidFill>
                      <a:srgbClr val="FFFFFF"/>
                    </a:solidFill>
                  </a:tcPr>
                </a:tc>
                <a:tc>
                  <a:txBody>
                    <a:bodyPr/>
                    <a:lstStyle/>
                    <a:p>
                      <a:r>
                        <a:rPr sz="1500" b="0">
                          <a:solidFill>
                            <a:srgbClr val="1F2937"/>
                          </a:solidFill>
                        </a:rPr>
                        <a:t>Mikroskopik tekshiruv</a:t>
                      </a:r>
                    </a:p>
                  </a:txBody>
                  <a:tcPr marL="73152" marR="73152" marT="36576" marB="36576">
                    <a:solidFill>
                      <a:srgbClr val="FFFFFF"/>
                    </a:solidFill>
                  </a:tcPr>
                </a:tc>
              </a:tr>
              <a:tr h="614476">
                <a:tc>
                  <a:txBody>
                    <a:bodyPr/>
                    <a:lstStyle/>
                    <a:p>
                      <a:r>
                        <a:rPr sz="1500" b="0">
                          <a:solidFill>
                            <a:srgbClr val="1F2937"/>
                          </a:solidFill>
                        </a:rPr>
                        <a:t>Tur mansubligi</a:t>
                      </a:r>
                    </a:p>
                  </a:txBody>
                  <a:tcPr marL="73152" marR="73152" marT="36576" marB="36576">
                    <a:solidFill>
                      <a:srgbClr val="E8EEF6"/>
                    </a:solidFill>
                  </a:tcPr>
                </a:tc>
                <a:tc>
                  <a:txBody>
                    <a:bodyPr/>
                    <a:lstStyle/>
                    <a:p>
                      <a:r>
                        <a:rPr sz="1500" b="0">
                          <a:solidFill>
                            <a:srgbClr val="1F2937"/>
                          </a:solidFill>
                        </a:rPr>
                        <a:t>Aniqlanmaydi (tur oqsili yo‘q)</a:t>
                      </a:r>
                    </a:p>
                  </a:txBody>
                  <a:tcPr marL="73152" marR="73152" marT="36576" marB="36576">
                    <a:solidFill>
                      <a:srgbClr val="E8EEF6"/>
                    </a:solidFill>
                  </a:tcPr>
                </a:tc>
                <a:tc>
                  <a:txBody>
                    <a:bodyPr/>
                    <a:lstStyle/>
                    <a:p>
                      <a:r>
                        <a:rPr sz="1500" b="0">
                          <a:solidFill>
                            <a:srgbClr val="1F2937"/>
                          </a:solidFill>
                        </a:rPr>
                        <a:t>Aniqlab bo‘lmaydi</a:t>
                      </a:r>
                    </a:p>
                  </a:txBody>
                  <a:tcPr marL="73152" marR="73152" marT="36576" marB="36576">
                    <a:solidFill>
                      <a:srgbClr val="E8EEF6"/>
                    </a:solidFill>
                  </a:tcPr>
                </a:tc>
              </a:tr>
              <a:tr h="614476">
                <a:tc>
                  <a:txBody>
                    <a:bodyPr/>
                    <a:lstStyle/>
                    <a:p>
                      <a:r>
                        <a:rPr sz="1500" b="0">
                          <a:solidFill>
                            <a:srgbClr val="1F2937"/>
                          </a:solidFill>
                        </a:rPr>
                        <a:t>Guruhiy mansubligi</a:t>
                      </a:r>
                    </a:p>
                  </a:txBody>
                  <a:tcPr marL="73152" marR="73152" marT="36576" marB="36576">
                    <a:solidFill>
                      <a:srgbClr val="FFFFFF"/>
                    </a:solidFill>
                  </a:tcPr>
                </a:tc>
                <a:tc>
                  <a:txBody>
                    <a:bodyPr/>
                    <a:lstStyle/>
                    <a:p>
                      <a:r>
                        <a:rPr sz="1500" b="0">
                          <a:solidFill>
                            <a:srgbClr val="1F2937"/>
                          </a:solidFill>
                        </a:rPr>
                        <a:t>Odatda AVO tizimi bo‘yicha</a:t>
                      </a:r>
                    </a:p>
                  </a:txBody>
                  <a:tcPr marL="73152" marR="73152" marT="36576" marB="36576">
                    <a:solidFill>
                      <a:srgbClr val="FFFFFF"/>
                    </a:solidFill>
                  </a:tcPr>
                </a:tc>
                <a:tc>
                  <a:txBody>
                    <a:bodyPr/>
                    <a:lstStyle/>
                    <a:p>
                      <a:r>
                        <a:rPr sz="1500" b="0">
                          <a:solidFill>
                            <a:srgbClr val="1F2937"/>
                          </a:solidFill>
                        </a:rPr>
                        <a:t>Aniqlab bo‘lmaydi (antigen parchalangan)</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Siydik va najas: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Ajratmalarda tur va guruhiy mansublik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So‘lak va ter dog‘ida tur mansublikni aniqlash juda kam talab etiladi; kerak bo‘lsa tur-spetsifik zardoblar ishlatiladi.</a:t>
            </a:r>
          </a:p>
          <a:p>
            <a:pPr>
              <a:spcAft>
                <a:spcPts val="800"/>
              </a:spcAft>
            </a:pPr>
            <a:r>
              <a:rPr sz="1800">
                <a:solidFill>
                  <a:srgbClr val="1F2937"/>
                </a:solidFill>
                <a:latin typeface="Calibri"/>
              </a:rPr>
              <a:t>▸  So‘lak, ter va siydikning guruhiy mansubligi odatda AVO qon guruh tizimi bo‘yicha aniqlanadi.</a:t>
            </a:r>
          </a:p>
          <a:p>
            <a:pPr>
              <a:spcAft>
                <a:spcPts val="800"/>
              </a:spcAft>
            </a:pPr>
            <a:r>
              <a:rPr sz="1800">
                <a:solidFill>
                  <a:srgbClr val="1F2937"/>
                </a:solidFill>
                <a:latin typeface="Calibri"/>
              </a:rPr>
              <a:t>▸  Diqqat: siydikda tur aniqlanmaydi, najasda esa tur ham, guruh ham aniqlanmaydi.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03697"/>
                <a:gridCol w="2292638"/>
                <a:gridCol w="1691639"/>
              </a:tblGrid>
              <a:tr h="614476">
                <a:tc>
                  <a:txBody>
                    <a:bodyPr/>
                    <a:lstStyle/>
                    <a:p>
                      <a:r>
                        <a:rPr sz="1600" b="1">
                          <a:solidFill>
                            <a:srgbClr val="FFFFFF"/>
                          </a:solidFill>
                        </a:rPr>
                        <a:t>Ajratma</a:t>
                      </a:r>
                    </a:p>
                  </a:txBody>
                  <a:tcPr marL="73152" marR="73152" marT="36576" marB="36576">
                    <a:solidFill>
                      <a:srgbClr val="0B1F3A"/>
                    </a:solidFill>
                  </a:tcPr>
                </a:tc>
                <a:tc>
                  <a:txBody>
                    <a:bodyPr/>
                    <a:lstStyle/>
                    <a:p>
                      <a:r>
                        <a:rPr sz="1600" b="1">
                          <a:solidFill>
                            <a:srgbClr val="FFFFFF"/>
                          </a:solidFill>
                        </a:rPr>
                        <a:t>Tur mansubligi</a:t>
                      </a:r>
                    </a:p>
                  </a:txBody>
                  <a:tcPr marL="73152" marR="73152" marT="36576" marB="36576">
                    <a:solidFill>
                      <a:srgbClr val="0B1F3A"/>
                    </a:solidFill>
                  </a:tcPr>
                </a:tc>
                <a:tc>
                  <a:txBody>
                    <a:bodyPr/>
                    <a:lstStyle/>
                    <a:p>
                      <a:r>
                        <a:rPr sz="1600" b="1">
                          <a:solidFill>
                            <a:srgbClr val="FFFFFF"/>
                          </a:solidFill>
                        </a:rPr>
                        <a:t>Guruh (AVO)</a:t>
                      </a:r>
                    </a:p>
                  </a:txBody>
                  <a:tcPr marL="73152" marR="73152" marT="36576" marB="36576">
                    <a:solidFill>
                      <a:srgbClr val="0B1F3A"/>
                    </a:solidFill>
                  </a:tcPr>
                </a:tc>
              </a:tr>
              <a:tr h="614476">
                <a:tc>
                  <a:txBody>
                    <a:bodyPr/>
                    <a:lstStyle/>
                    <a:p>
                      <a:r>
                        <a:rPr sz="1500" b="0">
                          <a:solidFill>
                            <a:srgbClr val="1F2937"/>
                          </a:solidFill>
                        </a:rPr>
                        <a:t>So‘lak</a:t>
                      </a:r>
                    </a:p>
                  </a:txBody>
                  <a:tcPr marL="73152" marR="73152" marT="36576" marB="36576">
                    <a:solidFill>
                      <a:srgbClr val="E8EEF6"/>
                    </a:solidFill>
                  </a:tcPr>
                </a:tc>
                <a:tc>
                  <a:txBody>
                    <a:bodyPr/>
                    <a:lstStyle/>
                    <a:p>
                      <a:r>
                        <a:rPr sz="1500" b="0">
                          <a:solidFill>
                            <a:srgbClr val="1F2937"/>
                          </a:solidFill>
                        </a:rPr>
                        <a:t>Kamdan-kam; tur zardobi bilan</a:t>
                      </a:r>
                    </a:p>
                  </a:txBody>
                  <a:tcPr marL="73152" marR="73152" marT="36576" marB="36576">
                    <a:solidFill>
                      <a:srgbClr val="E8EEF6"/>
                    </a:solidFill>
                  </a:tcPr>
                </a:tc>
                <a:tc>
                  <a:txBody>
                    <a:bodyPr/>
                    <a:lstStyle/>
                    <a:p>
                      <a:r>
                        <a:rPr sz="1500" b="0">
                          <a:solidFill>
                            <a:srgbClr val="1F2937"/>
                          </a:solidFill>
                        </a:rPr>
                        <a:t>Aniqlanadi</a:t>
                      </a:r>
                    </a:p>
                  </a:txBody>
                  <a:tcPr marL="73152" marR="73152" marT="36576" marB="36576">
                    <a:solidFill>
                      <a:srgbClr val="E8EEF6"/>
                    </a:solidFill>
                  </a:tcPr>
                </a:tc>
              </a:tr>
              <a:tr h="614476">
                <a:tc>
                  <a:txBody>
                    <a:bodyPr/>
                    <a:lstStyle/>
                    <a:p>
                      <a:r>
                        <a:rPr sz="1500" b="0">
                          <a:solidFill>
                            <a:srgbClr val="1F2937"/>
                          </a:solidFill>
                        </a:rPr>
                        <a:t>Ter</a:t>
                      </a:r>
                    </a:p>
                  </a:txBody>
                  <a:tcPr marL="73152" marR="73152" marT="36576" marB="36576">
                    <a:solidFill>
                      <a:srgbClr val="FFFFFF"/>
                    </a:solidFill>
                  </a:tcPr>
                </a:tc>
                <a:tc>
                  <a:txBody>
                    <a:bodyPr/>
                    <a:lstStyle/>
                    <a:p>
                      <a:r>
                        <a:rPr sz="1500" b="0">
                          <a:solidFill>
                            <a:srgbClr val="1F2937"/>
                          </a:solidFill>
                        </a:rPr>
                        <a:t>Kamdan-kam; tur zardobi bilan</a:t>
                      </a:r>
                    </a:p>
                  </a:txBody>
                  <a:tcPr marL="73152" marR="73152" marT="36576" marB="36576">
                    <a:solidFill>
                      <a:srgbClr val="FFFFFF"/>
                    </a:solidFill>
                  </a:tcPr>
                </a:tc>
                <a:tc>
                  <a:txBody>
                    <a:bodyPr/>
                    <a:lstStyle/>
                    <a:p>
                      <a:r>
                        <a:rPr sz="1500" b="0">
                          <a:solidFill>
                            <a:srgbClr val="1F2937"/>
                          </a:solidFill>
                        </a:rPr>
                        <a:t>Aniqlanadi</a:t>
                      </a:r>
                    </a:p>
                  </a:txBody>
                  <a:tcPr marL="73152" marR="73152" marT="36576" marB="36576">
                    <a:solidFill>
                      <a:srgbClr val="FFFFFF"/>
                    </a:solidFill>
                  </a:tcPr>
                </a:tc>
              </a:tr>
              <a:tr h="614476">
                <a:tc>
                  <a:txBody>
                    <a:bodyPr/>
                    <a:lstStyle/>
                    <a:p>
                      <a:r>
                        <a:rPr sz="1500" b="0">
                          <a:solidFill>
                            <a:srgbClr val="1F2937"/>
                          </a:solidFill>
                        </a:rPr>
                        <a:t>Siydik</a:t>
                      </a:r>
                    </a:p>
                  </a:txBody>
                  <a:tcPr marL="73152" marR="73152" marT="36576" marB="36576">
                    <a:solidFill>
                      <a:srgbClr val="E8EEF6"/>
                    </a:solidFill>
                  </a:tcPr>
                </a:tc>
                <a:tc>
                  <a:txBody>
                    <a:bodyPr/>
                    <a:lstStyle/>
                    <a:p>
                      <a:r>
                        <a:rPr sz="1500" b="0">
                          <a:solidFill>
                            <a:srgbClr val="1F2937"/>
                          </a:solidFill>
                        </a:rPr>
                        <a:t>Aniqlanmaydi</a:t>
                      </a:r>
                    </a:p>
                  </a:txBody>
                  <a:tcPr marL="73152" marR="73152" marT="36576" marB="36576">
                    <a:solidFill>
                      <a:srgbClr val="E8EEF6"/>
                    </a:solidFill>
                  </a:tcPr>
                </a:tc>
                <a:tc>
                  <a:txBody>
                    <a:bodyPr/>
                    <a:lstStyle/>
                    <a:p>
                      <a:r>
                        <a:rPr sz="1500" b="0">
                          <a:solidFill>
                            <a:srgbClr val="1F2937"/>
                          </a:solidFill>
                        </a:rPr>
                        <a:t>Aniqlanadi</a:t>
                      </a:r>
                    </a:p>
                  </a:txBody>
                  <a:tcPr marL="73152" marR="73152" marT="36576" marB="36576">
                    <a:solidFill>
                      <a:srgbClr val="E8EEF6"/>
                    </a:solidFill>
                  </a:tcPr>
                </a:tc>
              </a:tr>
              <a:tr h="614476">
                <a:tc>
                  <a:txBody>
                    <a:bodyPr/>
                    <a:lstStyle/>
                    <a:p>
                      <a:r>
                        <a:rPr sz="1500" b="0">
                          <a:solidFill>
                            <a:srgbClr val="1F2937"/>
                          </a:solidFill>
                        </a:rPr>
                        <a:t>Najas</a:t>
                      </a:r>
                    </a:p>
                  </a:txBody>
                  <a:tcPr marL="73152" marR="73152" marT="36576" marB="36576">
                    <a:solidFill>
                      <a:srgbClr val="FFFFFF"/>
                    </a:solidFill>
                  </a:tcPr>
                </a:tc>
                <a:tc>
                  <a:txBody>
                    <a:bodyPr/>
                    <a:lstStyle/>
                    <a:p>
                      <a:r>
                        <a:rPr sz="1500" b="0">
                          <a:solidFill>
                            <a:srgbClr val="1F2937"/>
                          </a:solidFill>
                        </a:rPr>
                        <a:t>Aniqlanmaydi</a:t>
                      </a:r>
                    </a:p>
                  </a:txBody>
                  <a:tcPr marL="73152" marR="73152" marT="36576" marB="36576">
                    <a:solidFill>
                      <a:srgbClr val="FFFFFF"/>
                    </a:solidFill>
                  </a:tcPr>
                </a:tc>
                <a:tc>
                  <a:txBody>
                    <a:bodyPr/>
                    <a:lstStyle/>
                    <a:p>
                      <a:r>
                        <a:rPr sz="1500" b="0">
                          <a:solidFill>
                            <a:srgbClr val="1F2937"/>
                          </a:solidFill>
                        </a:rPr>
                        <a:t>Aniqlanmaydi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Ajratmalar: nimani aniqlash mumkin</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Ajratuvchilar va ajratuvchi emaslar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Taxminan 80% odamda qon guruh antigenlari so‘lak va boshqa ajratmalarda ham topiladi; ular ajratuvchilar.</a:t>
            </a:r>
          </a:p>
          <a:p>
            <a:pPr>
              <a:spcAft>
                <a:spcPts val="800"/>
              </a:spcAft>
            </a:pPr>
            <a:r>
              <a:rPr sz="1800">
                <a:solidFill>
                  <a:srgbClr val="1F2937"/>
                </a:solidFill>
                <a:latin typeface="Calibri"/>
              </a:rPr>
              <a:t>▸  Qolganlar ajratuvchi emas; ajratuvchanlik qondagi Lyuis va Gm (immunoglobulin) tizimlari bilan aniqlanadi.</a:t>
            </a:r>
          </a:p>
          <a:p>
            <a:pPr>
              <a:spcAft>
                <a:spcPts val="800"/>
              </a:spcAft>
            </a:pPr>
            <a:r>
              <a:rPr sz="1800">
                <a:solidFill>
                  <a:srgbClr val="1F2937"/>
                </a:solidFill>
                <a:latin typeface="Calibri"/>
              </a:rPr>
              <a:t>▸  Gumondordan taqqoslash uchun qon va so‘lak olinadi; so‘lak ajratuvchanlik masalasini yoritadi.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2321550"/>
                <a:gridCol w="2966425"/>
              </a:tblGrid>
              <a:tr h="768096">
                <a:tc>
                  <a:txBody>
                    <a:bodyPr/>
                    <a:lstStyle/>
                    <a:p>
                      <a:r>
                        <a:rPr sz="1800" b="1">
                          <a:solidFill>
                            <a:srgbClr val="FFFFFF"/>
                          </a:solidFill>
                        </a:rPr>
                        <a:t>Lyuis guruhi</a:t>
                      </a:r>
                    </a:p>
                  </a:txBody>
                  <a:tcPr marL="73152" marR="73152" marT="36576" marB="36576">
                    <a:solidFill>
                      <a:srgbClr val="0B1F3A"/>
                    </a:solidFill>
                  </a:tcPr>
                </a:tc>
                <a:tc>
                  <a:txBody>
                    <a:bodyPr/>
                    <a:lstStyle/>
                    <a:p>
                      <a:r>
                        <a:rPr sz="1800" b="1">
                          <a:solidFill>
                            <a:srgbClr val="FFFFFF"/>
                          </a:solidFill>
                        </a:rPr>
                        <a:t>Ajratuvchanlik</a:t>
                      </a:r>
                    </a:p>
                  </a:txBody>
                  <a:tcPr marL="73152" marR="73152" marT="36576" marB="36576">
                    <a:solidFill>
                      <a:srgbClr val="0B1F3A"/>
                    </a:solidFill>
                  </a:tcPr>
                </a:tc>
              </a:tr>
              <a:tr h="768096">
                <a:tc>
                  <a:txBody>
                    <a:bodyPr/>
                    <a:lstStyle/>
                    <a:p>
                      <a:r>
                        <a:rPr sz="1700" b="0">
                          <a:solidFill>
                            <a:srgbClr val="1F2937"/>
                          </a:solidFill>
                        </a:rPr>
                        <a:t>Le (a- b+)</a:t>
                      </a:r>
                    </a:p>
                  </a:txBody>
                  <a:tcPr marL="73152" marR="73152" marT="36576" marB="36576">
                    <a:solidFill>
                      <a:srgbClr val="E8EEF6"/>
                    </a:solidFill>
                  </a:tcPr>
                </a:tc>
                <a:tc>
                  <a:txBody>
                    <a:bodyPr/>
                    <a:lstStyle/>
                    <a:p>
                      <a:r>
                        <a:rPr sz="1700" b="0">
                          <a:solidFill>
                            <a:srgbClr val="1F2937"/>
                          </a:solidFill>
                        </a:rPr>
                        <a:t>Ajratuvchi</a:t>
                      </a:r>
                    </a:p>
                  </a:txBody>
                  <a:tcPr marL="73152" marR="73152" marT="36576" marB="36576">
                    <a:solidFill>
                      <a:srgbClr val="E8EEF6"/>
                    </a:solidFill>
                  </a:tcPr>
                </a:tc>
              </a:tr>
              <a:tr h="768096">
                <a:tc>
                  <a:txBody>
                    <a:bodyPr/>
                    <a:lstStyle/>
                    <a:p>
                      <a:r>
                        <a:rPr sz="1700" b="0">
                          <a:solidFill>
                            <a:srgbClr val="1F2937"/>
                          </a:solidFill>
                        </a:rPr>
                        <a:t>Le (a+ b-)</a:t>
                      </a:r>
                    </a:p>
                  </a:txBody>
                  <a:tcPr marL="73152" marR="73152" marT="36576" marB="36576">
                    <a:solidFill>
                      <a:srgbClr val="FFFFFF"/>
                    </a:solidFill>
                  </a:tcPr>
                </a:tc>
                <a:tc>
                  <a:txBody>
                    <a:bodyPr/>
                    <a:lstStyle/>
                    <a:p>
                      <a:r>
                        <a:rPr sz="1700" b="0">
                          <a:solidFill>
                            <a:srgbClr val="1F2937"/>
                          </a:solidFill>
                        </a:rPr>
                        <a:t>Ajratuvchi emas</a:t>
                      </a:r>
                    </a:p>
                  </a:txBody>
                  <a:tcPr marL="73152" marR="73152" marT="36576" marB="36576">
                    <a:solidFill>
                      <a:srgbClr val="FFFFFF"/>
                    </a:solidFill>
                  </a:tcPr>
                </a:tc>
              </a:tr>
              <a:tr h="768096">
                <a:tc>
                  <a:txBody>
                    <a:bodyPr/>
                    <a:lstStyle/>
                    <a:p>
                      <a:r>
                        <a:rPr sz="1700" b="0">
                          <a:solidFill>
                            <a:srgbClr val="1F2937"/>
                          </a:solidFill>
                        </a:rPr>
                        <a:t>Le (a- b-)</a:t>
                      </a:r>
                    </a:p>
                  </a:txBody>
                  <a:tcPr marL="73152" marR="73152" marT="36576" marB="36576">
                    <a:solidFill>
                      <a:srgbClr val="E8EEF6"/>
                    </a:solidFill>
                  </a:tcPr>
                </a:tc>
                <a:tc>
                  <a:txBody>
                    <a:bodyPr/>
                    <a:lstStyle/>
                    <a:p>
                      <a:r>
                        <a:rPr sz="1700" b="0">
                          <a:solidFill>
                            <a:srgbClr val="1F2937"/>
                          </a:solidFill>
                        </a:rPr>
                        <a:t>Aniq belgilab bo‘lmaydi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Lyuis tizimi va ajratuvchanlik</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311, 309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Namunani yig‘ish, quritish va yuborish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39</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Og‘iz chayiladi, probirkaga 2-3 ml so‘lak yig‘iladi; imkon bo‘lsa, sud-biologik bo‘limda olinadi.</a:t>
            </a:r>
          </a:p>
          <a:p>
            <a:pPr>
              <a:spcAft>
                <a:spcPts val="800"/>
              </a:spcAft>
            </a:pPr>
            <a:r>
              <a:rPr sz="1800">
                <a:solidFill>
                  <a:srgbClr val="1F2937"/>
                </a:solidFill>
                <a:latin typeface="Calibri"/>
              </a:rPr>
              <a:t>▸  So‘lak sentrifugalanadi, cho‘kma usti suyuqlik dokaga quyiladi, quritilib qog‘ozga o‘raladi.</a:t>
            </a:r>
          </a:p>
          <a:p>
            <a:pPr>
              <a:spcAft>
                <a:spcPts val="800"/>
              </a:spcAft>
            </a:pPr>
            <a:r>
              <a:rPr sz="1800">
                <a:solidFill>
                  <a:srgbClr val="1F2937"/>
                </a:solidFill>
                <a:latin typeface="Calibri"/>
              </a:rPr>
              <a:t>▸  Ob’ekt va kontrol alohida o‘raladi, bir o‘ramda bo‘lmaydi; quyosh nuri va issiqlikdan uzoqda quritiladi.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Og‘izni chayish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2-3 ml so‘lak yig‘ish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Sentrifuga, dokaga quyish</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Xona haroratida quritish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Qog‘ozga alohida o‘rash</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So‘lak namunasi yo‘li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309, 312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ter, so‘lak va qadoqlash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dog‘da so‘lak qaysi ferment orqali, ter esa qaysi aminokislota orqali aniqlanadi? Siydik dog‘ida nima aniqlanadi?</a:t>
            </a:r>
          </a:p>
          <a:p>
            <a:pPr>
              <a:spcAft>
                <a:spcPts val="1200"/>
              </a:spcAft>
            </a:pPr>
            <a:r>
              <a:rPr sz="2200">
                <a:solidFill>
                  <a:srgbClr val="1F2937"/>
                </a:solidFill>
                <a:latin typeface="Calibri"/>
              </a:rPr>
              <a:t>▸  Javob: so‘lak — amilaza fermenti, ter — serin aminokislotasi. Siydik dog‘ida kreatinin va mochevina aniqlanadi.</a:t>
            </a:r>
          </a:p>
          <a:p>
            <a:pPr>
              <a:spcAft>
                <a:spcPts val="1200"/>
              </a:spcAft>
            </a:pPr>
            <a:r>
              <a:rPr sz="2200">
                <a:solidFill>
                  <a:srgbClr val="1F2937"/>
                </a:solidFill>
                <a:latin typeface="Calibri"/>
              </a:rPr>
              <a:t>▸  Diqqat: xato qilish xavfi — tekshiruv ob’ekti va kontrol ob’ekt bir o‘ramga solinmaydi. Har biri alohida o‘raladi.</a:t>
            </a:r>
          </a:p>
          <a:p>
            <a:pPr>
              <a:spcAft>
                <a:spcPts val="1200"/>
              </a:spcAft>
            </a:pPr>
            <a:r>
              <a:rPr sz="2200">
                <a:solidFill>
                  <a:srgbClr val="1F2937"/>
                </a:solidFill>
                <a:latin typeface="Calibri"/>
              </a:rPr>
              <a:t>▸  Ob’ektlar xona haroratida quritiladi: quyosh nuri bevosita tushmaydigan, issiqlik manbaidan uzoq, hasharotlar kirmaydigan joyda.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311-312, 312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so‘lak va ter ekspertizasi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 sigaret qoldig‘i topildi, jabrlanuvchining kiyimida esa shubhali dog‘ bor. Savol: qaysi usul, qanday xulosa?</a:t>
            </a:r>
          </a:p>
          <a:p>
            <a:pPr>
              <a:spcAft>
                <a:spcPts val="1200"/>
              </a:spcAft>
            </a:pPr>
            <a:r>
              <a:rPr sz="2200">
                <a:solidFill>
                  <a:srgbClr val="1F2937"/>
                </a:solidFill>
                <a:latin typeface="Calibri"/>
              </a:rPr>
              <a:t>▸  Sigaret qoldig‘i so‘lak ob’ekti hisoblanadi. U qo‘lga rezina qo‘lqop kiyib, pinset bilan olinadi. So‘lak amilaza orqali aniqlanadi.</a:t>
            </a:r>
          </a:p>
          <a:p>
            <a:pPr>
              <a:spcAft>
                <a:spcPts val="1200"/>
              </a:spcAft>
            </a:pPr>
            <a:r>
              <a:rPr sz="2200">
                <a:solidFill>
                  <a:srgbClr val="1F2937"/>
                </a:solidFill>
                <a:latin typeface="Calibri"/>
              </a:rPr>
              <a:t>▸  Kiyim dog‘ida ter borligi serin aminokislotasini aniqlash bilan hal qilinadi. Kiyim-bosh ter bo‘yicha tez-tez olinadigan ob’ektdir.</a:t>
            </a:r>
          </a:p>
          <a:p>
            <a:pPr>
              <a:spcAft>
                <a:spcPts val="1200"/>
              </a:spcAft>
            </a:pPr>
            <a:r>
              <a:rPr sz="2200">
                <a:solidFill>
                  <a:srgbClr val="1F2937"/>
                </a:solidFill>
                <a:latin typeface="Calibri"/>
              </a:rPr>
              <a:t>▸  Xulosa: tur mansublik juda kam kerak bo‘ladi, kerak bo‘lsa tur-spetsifik zardoblar ishlatiladi. Guruhiy mansublik odatda AVO tizimi bilan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311-312, 311, 312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asosiy xatolar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39</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Asosiy xulosa: so‘lak — amilaza, ter — serin, siydik — kreatinin va mochevina. So‘lak, ter va siydikning guruhi odatda AVO tizimi bilan aniqlanadi.</a:t>
            </a:r>
          </a:p>
          <a:p>
            <a:pPr>
              <a:spcAft>
                <a:spcPts val="1200"/>
              </a:spcAft>
            </a:pPr>
            <a:r>
              <a:rPr sz="2200">
                <a:solidFill>
                  <a:srgbClr val="1F2937"/>
                </a:solidFill>
                <a:latin typeface="Calibri"/>
              </a:rPr>
              <a:t>▸  Taxminiy usul bilan ishonchli usul farqlanadi. Qon misolida taxminiy sinamalar nospetsifik, faqat gumon beradi, ishonchlisi esa xromatografiya.</a:t>
            </a:r>
          </a:p>
          <a:p>
            <a:pPr>
              <a:spcAft>
                <a:spcPts val="1200"/>
              </a:spcAft>
            </a:pPr>
            <a:r>
              <a:rPr sz="2200">
                <a:solidFill>
                  <a:srgbClr val="1F2937"/>
                </a:solidFill>
                <a:latin typeface="Calibri"/>
              </a:rPr>
              <a:t>▸  Tipik xatolar: kontrolni ob’ekt bilan birga o‘rash. Siydikda tur, najasda tur va guruh mansubligini aniqlashga urinish.</a:t>
            </a:r>
          </a:p>
          <a:p>
            <a:pPr>
              <a:spcAft>
                <a:spcPts val="1200"/>
              </a:spcAft>
            </a:pPr>
            <a:r>
              <a:rPr sz="2200">
                <a:solidFill>
                  <a:srgbClr val="1F2937"/>
                </a:solidFill>
                <a:latin typeface="Calibri"/>
              </a:rPr>
              <a:t>▸  Nazorat savollari: so‘lak va ter qanday aniqlanadi? Qaysi buyumlar so‘lak ob’ekti bo‘ladi? Namunalar qanday quritiladi va o‘raladi?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311-312, 306, 312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qoling: dog‘ni tekshirish tartibi — avval modda bormi, keyin qaysi tur, keyin qaysi guruh, oxirida aynan kimniki. Ter va so‘lak uchun ham shu mantiq qo‘llanadi, lekin tur mansubligi kamdan-kam so‘raladi.</a:t>
            </a:r>
          </a:p>
          <a:p>
            <a:pPr>
              <a:spcAft>
                <a:spcPts val="1200"/>
              </a:spcAft>
            </a:pPr>
            <a:r>
              <a:rPr sz="1800">
                <a:solidFill>
                  <a:srgbClr val="1F2937"/>
                </a:solidFill>
                <a:latin typeface="Calibri"/>
              </a:rPr>
              <a:t>▸  Hodisa joyida so‘lak izi sigaret qoldig‘i, dastro‘mol, piyola yoki og‘izga tiqilgan mato bo‘lagida qolishi mumkin. So‘lakning borligi amilaza fermentini aniqlash bilan isbotlanadi, ter esa serin aminokislotasi bo‘yicha aniqlanadi.</a:t>
            </a:r>
          </a:p>
          <a:p>
            <a:pPr>
              <a:spcAft>
                <a:spcPts val="1200"/>
              </a:spcAft>
            </a:pPr>
            <a:r>
              <a:rPr sz="1800">
                <a:solidFill>
                  <a:srgbClr val="1F2937"/>
                </a:solidFill>
                <a:latin typeface="Calibri"/>
              </a:rPr>
              <a:t>▸  Diqqat, tur ≠ guruh: siydikda tur uchun xos oqsillar bo‘lmagani sababli uning turi aniqlanmaydi. Najasda antigen vazifasini bajaradigan oqsillar parchalangan, shuning uchun tur ham, guruh ham aniqlanmaydi.</a:t>
            </a:r>
          </a:p>
          <a:p>
            <a:pPr>
              <a:spcAft>
                <a:spcPts val="1200"/>
              </a:spcAft>
            </a:pPr>
            <a:r>
              <a:rPr sz="1800">
                <a:solidFill>
                  <a:srgbClr val="1F2937"/>
                </a:solidFill>
                <a:latin typeface="Calibri"/>
              </a:rPr>
              <a:t>▸  Qonning guruhiy tizimlari juda ko‘p. Eritrotsitar tizimlardan tashqari zardob izotizimlari ham bor: immunoglobulin (Gm), gaptoglobin (Hp) va guruh spetsifik komponent (Gc). Tekshiruv odatda AVO tizimidan boshlanadi.</a:t>
            </a:r>
          </a:p>
          <a:p>
            <a:pPr>
              <a:spcAft>
                <a:spcPts val="1200"/>
              </a:spcAft>
            </a:pPr>
            <a:r>
              <a:rPr sz="1800">
                <a:solidFill>
                  <a:srgbClr val="1F2937"/>
                </a:solidFill>
                <a:latin typeface="Calibri"/>
              </a:rPr>
              <a:t>▸  Taxminan 80% odamda qondagi guruhiy antigenlar so‘lak va boshqa ajratmalarda ham topiladi (“ajratuvchilar”). Qolganlarda topilmaydi. Ajratuvchanlik Lyuis va Gm tizimlari orqali aniqlanadi: Le(a- b+) ajratuvchilarga, Le(a+ b-) ajratuvchi emaslarga xos.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Qonning zardob izosistemasining sud-tibbiy ahamiyati. Ter, so’lak mavjudligini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39</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13. Ashyoviy dalillarni sud-tibbiy tekshirish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