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qon yo‘qotishda faqat hajm emas, sur’at ham muhim? Mexanik jarohat o‘lim sabablari orasida qaysi o‘rinda turadi? Doskada: ma’ruza rejasini 3-4 bo‘lim ko‘rinishida yozdiring. Tipik xato: travmatologiyani faqat klinik fan deb tushunish, sud-tibbiy vazifalarni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huquqiy va sud-tibbiy ta’rif qanday farq qiladi? Nega ichki ta’sirdagi buzilish jarohat emas? Doskada: ikki ustunli ‘Tashqi ta’sir → jarohat / Ichki ta’sir → kasallik’ sxemasini chizdiring. Tipik xato: jarohatni faqat anatomik butunlik buzilishi deb o‘ylash, funksiya buzilishini qo‘shmaslik.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ruhiy ta’sirni sud psixiatriyasi o‘rganadi? Bir necha omil birgalikda ta’sir qilishi mumkinmi? Doskada: to‘rt turni daraxt shaklida, fizik tur ostiga beshta turchani chizdiring. Tipik xato: mexanik jarohatni alohida tur deb hisoblash, aslida u fizik omilning turchasi.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diagnozda tasnif mezonlari birinchi o‘rinda turadi? 2) Oddiy va murakkab jarohat nimasi bilan farq qiladi? Doskada jadvalni chizdiring va talabalar har qatorga o‘z misol topsin. Tipik xato: murakkab jarohatni ko‘p jarohat bilan, cheklanganni yakka bilan aralashtirish. Omil turi, soha va son alohida mezonlardir.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travmatizm turlari faoliyat turiga bog‘liq? 2) Profilaktika uchun sud-tibbiy materiallardan qanday foydalanish mumkin (28-bet)? Doskada travmatizm turlarining daraxt sxemasini chizdiring. Tipik xato: travmatizmni bitta jarohat bilan tenglashtirish; u guruhdagi turdosh jarohatlar majmuidir.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Javoblar: A — oddiy cheklangan yakka; B — oddiy qo‘sh ko‘p; C — murakkab qo‘sh ko‘p (darslikdagi misollar). Muhokama: 1) C holatni nega murakkab deymiz? 2) B holatni nega qo‘sh deymiz? Doskada uchta ustunli tasnif jadvalini to‘ldirdiring. Tipik xato: bitta soha va bitta omilni ko‘rib, ko‘p jarohatni yakka deb belgilash.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o‘limdan keyin etkazilgan jarohatda qon ketishi va emboliya bo‘lmaydi? 2) Qon aylanish tizimi belgilari nega eng muhim? Doskada: umumiy belgilarni qon, nafas, limfa, emboliya guruhlariga bo‘lib yozing. Tipik xato: o‘limdan keyin jarohat etkazilishi ehtimolini (reanimatsiya, tashish, hayvonlar) unutish va barcha jarohatni hayotiy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belgi butun organizm, qaysi biri faqat jarohat sohasi haqida gapiradi? 2) Nega bitta belgiga tayanib xulosa qilish xavfli? Doskada: ikki ustunli jadvalni talabalar bilan to‘ldiring. Tipik xato: umumiy va mahalliy belgilarni aralashtirish (masalan, tromb va nekrozni umumiy deb yozish). Diqqat: umumiy ≠ mahalliy.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klinitsist tavsifi ekspertiza uchun muhim, ekspertiza qachon tayinlanadi? 2) Qaysi usul hayotiylik va muddatni aniqlaydi? Doskada: sxemani chizib, har bosqichga bitta misol yozing. Tipik xato: tibbiy hujjatga faqat diagnozni yozib, jarohatning shakli, o‘lchami va rangini tushirib qoldirish.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bitta belgiga tayanib xulosa qilib bo‘lmaydi? 2) Umumiy va mahalliy belgilar farqi nima? Doskaga ikki ustun chizdiring: umumiy va mahalliy belgilar. Tipik xato: o‘limdan keyingi jarohatni faqat tashqi ko‘rinishiga qarab hayotiy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Massa va tezlik oshsa, jarohat ko‘lami qanday o‘zgaradi? 2) Bir xil kuchda turli odamlarda jarohat nega farq qiladi? Doskaga chizing: massa va tezlik → kinetik energiya → jarohat ko‘lami. Tipik xato: faqat jism og‘irligiga e’tibor berib, tezlik va soha xususiyatini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Bolta qurolmi yoki anjommi? Nega? 2) Tosh qachon jism, qachon boshqa toifa bo‘ladi? Doskaga jadvalni o‘zlari chizsin va o‘z misollarini qo‘shsin. Tipik xato: anjomni qurol bilan aralashtirish (qurol maxsus hujum yoki mudofaa uchun tayyorlanadi).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o‘lim vaqti sababni birlamchi yoki ikkilamchiga ajratadi? 2) Qon yo‘qotish qaysi guruhga kiradi? Doskada: ikki ustunli jadvalni (birlamchi va ikkilamchi) chizdiring va har ustunga misollarni yozdiring. Tipik xato: talabalar birlamchi ≠ ikkilamchi farqini jarohat og‘irligi bilan adashtiradi, aslida mezon o‘lim sodir bo‘lish muddatidir.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faqat qon hajmiga qarab xulosa qilib bo‘lmaydi? 2) Sur’at o‘lim muddatiga qanday ta’sir qiladi? Doskada: ikki ustunli solishtirma jadval (o‘tkir va ko‘p qon yo‘qotish: hajm, tezlik, sabab) chizdiring. Tipik xato: ikkala turni bir xil deb o‘ylash. Tezkor savol: ko‘p qon yo‘qotish chegarasi qancha? (50% dan ortiq, 2,5 l va undan ko‘p).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faqat miya va yurakda kamqonlik, taloq esa qonga to‘yingan? 2) Minakov dog‘lari qanday hosil bo‘ladi? (Yurak ichidagi bosimning keskin pasayishi va adashgan nervning o‘ta ta’sirlanishi, 31-bet.) Doskada: yurak chap qorinchasining kesimini chizib, endokard ostidagi tasmasimon qon quyilishlarni belgilang. Tipik xato: o‘tkir qon yo‘qotishda barcha a’zolar kamqon deb o‘ylash. Mnemonika: o‘tkir bo‘lsa, miya va yurak oqaradi, taloq to‘yingan qoladi.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Minakov dog‘lari nega aynan o‘tkir qon yo‘qotishda uchraydi? 2) Ular topilmasa, o‘tkir qon yo‘qotishni inkor qilish mumkinmi? Doskada: yurak chap qorinchasini chizib, endokard ostidagi tasmasimon dog‘larni belgilang. Tipik xato: talabalar dog‘larni har qanday qon yo‘qotishning doimiy belgisi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 yo‘qotish sekin kechsa, nega ichki a’zolar kamqon bo‘lib qoladi? 2) Murda dog‘lari kam va kech paydo bo‘lishi ekspertizada nimani eslatadi? Doskada: 2,5 litr chegarasi va asosiy belgilar (teri, taloq, dog‘lar, mushak) ro‘yxatini yozing. Tipik xato: 500 ml gacha bo‘lgan o‘tkir yo‘qotishni ko‘p qon yo‘qotish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Taloq holati ikki turni qanday farqlashga yordam beradi? 2) Nega o‘tkirda faqat miya va yurak mushaklari kamqon bo‘ladi? Doskada: jadvalni talabalar bilan birga qayta chizdiring. Tipik xato: murda dog‘lari va Minakov dog‘lari ustunlarini almashtirib yuborish. Tezkor savol: ’Taloq kamqon va qisqargan bo‘lsa, qaysi turni o‘ylaysiz?’</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oz qon (500 ml gacha) yo‘qotilganda ham o‘lim tez yuz beradi? 2) Qaysi a’zolarda kamqonlik bor, qaysilarida yo‘q? Doskada: o‘tkir qon yo‘qotish murdasining belgilar ro‘yxatini chizdiring. Tipik xato: o‘tkir qon yo‘qotishda barcha ichki a’zolar kamqon bo‘ladi deb o‘ylash. Aslida kamqonlik faqat bosh miya va yurak mushaklarida topiladi, taloq esa odatdagidek to‘yingan.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Qon hajmi va tomir hajmi nomutanosibligi nimani anglatadi? 2) Shokdan o‘lgan murdada jarohatdan tashqari qanday o‘zgarishlar topiladi? Doskada: shok zanjirini 5 qadamda chizdiring. Tipik xato: travmatik shokni qon yo‘qotish bilan aralashtirish. Shokning mohiyati markaziy nerv, yurak-qon tomir va endokrin tizimlar faoliyatining buzilishidir.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Qisilish bosh miyada, orqa miyada va yurakda qanday joy tanlaydi? 2) Gematoma turlarini joylashuvi bo‘yicha sanang. Doskada: bosh miya pardalarining qatlamlarini chizib, epidural, subdural va subaraxnoidal gematomalar o‘rnini belgilang. Tipik xato: gemoperikardni (yurak qopida qon) gemotoraks (ko‘krak bo‘shlig‘ida qon)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oz va ko‘p miqdordagi havo oqibati farq qiladi? 2) Nega tekshiruv aynan ko‘krak qafasidan boshlanadi? Doskada: Sunsov sinamasi bosqichlarini zanjir shaklida chizdiring. Tipik xato: 5-7 kub sm va 10 kub sm chegaralarini aralashtirish; suvga havo pufagi chiqishini manfiy natija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yog‘ emboliyasida o‘lim kechikadi? 2) Qaysi a’zolardan kesma olinadi va nima uchun? Doskada: yog‘ zarralarining suyakdan o‘pka va miyagacha yo‘lini strelkalar bilan chizdiring. Tipik xato: Sudan III va Sudan IV ranglarini almashtirib yuborish; yog‘ emboliyasini havo emboliyasidek darhol o‘limga olib keladi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Aspiratsion asfiksiyada murda tekshiruvida qanday belgilar topiladi? 2) Nega ikkilamchi sabablar kechroq o‘limga olib keladi? Doskada: birlamchi va ikkilamchi sabablarni ikki ustunda yozdiring. Tipik xato: shok va emboliyani faqat birlamchi sabab deb hisoblash, ular ikkilamchi bo‘lib ham kelishi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qon hajmi bilan birga qon yo‘qotish sur’ati ham muhim? 2) Havo emboliyasida nega tekshiruv ko‘krak qafasidan boshlanadi? Doskada chizing: ikki ustunli solishtirish (havo va yog‘ emboliyasi: manba, vaqt, tashxis usuli). Qo‘shimcha: havoga shubha bo‘lsa, perikard bo‘shlig‘iga suv quyilib, o‘ng qorincha teshiladi; pufaklar chiqsa, Sunsov sinamasi musbat. Tipik xato: yog‘ emboliyasida o‘lim darhol keladi deb o‘ylash; aslida u birmuncha muddatdan keyin sodir bo‘ladi.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Bir jism qachon cheklangan, qachon cheklanmagan yuza hisoblanadi? 2) Nega inersion travmada aks zarb jarohatlari uchraydi? Doskada chizing: jism yuzasi va tana sohasini ikki doira bilan solishtiring. Qo‘shimcha: tirik shaxslar ekspertizasining 80% dan ziyodi o‘tmas jism jarohatlariga to‘g‘ri keladi. Tipik xato: yuzani mutlaq cheklangan deb hisoblash; bo‘linish nisbiy.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siqilishda tashqi jarohat kam, ichki shikast og‘ir bo‘lishi mumkin? 2) Buralishda nega spiralsimon sinish hosil bo‘ladi? Doskada chizing: to‘rt mexanizmning kuch yo‘nalishlarini strelkalar bilan. Qo‘shimcha: aksariyat hollarda jarohat ikki va undan ortiq mexanizm orqali vujudga keladi; kuchli chayqalishga bolalarning silkinish sindromi misol. Tipik xato: bitta jarohatni faqat bitta mexanizmga bog‘lash.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Shilinma yoshini nima uchun bosqichlar bo‘yicha baholaymiz? 2) Pergament dog‘ini shilinmadan qaysi belgilar bilan ajratasiz? Doskada: 4 bosqichli vaqt chizig‘ini chizing va har bosqichga belgi yozing. Tipik xato: muddatlarni qat’iy deb hisoblash. Ular shartli, yosh, teri xususiyati va jarohat chuqurligiga bog‘liq (qoplama 4-6 soatdan keyin ham hosil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Qontalash rangi nima uchun o‘zgaradi (gemoglobin o‘zgarishi)? 2) Ko‘z, lab shilliq qavati va bo‘yindagi qon quyilishlarda rang nega tuslanmaydi? Doskada: rang o‘zgarish zanjirini chizing, o‘zgarish chekka qismdan boshlanishini ko‘rsating. Tipik xato: muddatlarni aniq deb olish; ular taxminiy, jism va soha xususiyatiga bog‘liq. Bilvosita qontalashlar kechroq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Yara turlari (lat, majaqlangan, yirtma, laxtaksimon) qaysi mexanizmlardan hosil bo‘ladi? 2) Nega yorilishni yaradan farqlash ekspertizada muhim? Doskada: ikki ustunli taqqoslash jadvalini o‘zingiz to‘ldirtiring. Tipik xato: yorilishni yara deb baholash. Yorilish bilvosita va ta’sir yo‘nalishiga perpendikulyar, parallel bir necha urchuqsimon jarohat ko‘rinishida bo‘ladi.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Shilinma bosqichini qaysi belgilar bo‘yicha aniqlaysiz? 2) Nega muddatlar «shartli» deyiladi? Doskada: shilinma bosqichlari (yangi, qoplama, epitelizatsiya, iz) va qontalash ranglarini vaqt chizig‘ida chizdiring. Tipik xato: talaba muddatlarni qat’iy raqam deb oladi va pergament dog‘ini hayotiy shilinma bilan almashtiradi.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Egilishda kuch qaysi tomondan tushganini qanday aniqlaysiz? 2) Nega chiqishda tashqi jarohat bo‘lmasligi mumkin? Doskada: egilgan suyak sxemasini chizib, cho‘zilish va siqilish tomonlarini belgilang. Tipik xato: cho‘zilish va siqilish tomonlarini almashtirib yuborish; muvaqqat va doimiy deformatsiyani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asosiy jarohatlar V bosqichda hosil bo‘ladi? 2) Birlamchi va ikkilamchi jarohat qanday farqlanadi? Doskada: 6 bosqichli zanjirni chizib, har bosqichda jarohat bor-yo‘qligini belgilang. Tipik xato: IV bosqichda jarohat bo‘ladi deb o‘ylash (faqat to‘siq bo‘lsa mumkin) va yuzaga yiqilishda ikkilamchi jarohat bor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kesma yara bo‘shliqqa o‘tmaydi? 2) Sanchma yarada tashqi qon ketish kamligi nimani anglatadi? Doskada: to‘rt jarohat turini jadval ko‘rinishida chizdiring va har biriga mos qon ketish turini yozdiring. Tipik xato: kichik tashqi yarani yengil jarohat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Talabalar juft bo‘lib javob beradi. Muhokama: 1) Ichki qon ketishni qaysi belgilar bilan aniqlaymiz? 2) Tashqi yara soni ichki jarohat soniga mos keladimi? Doskada: kirish teshigi, yara kanali va ichki jarohat sxemasini chizdiring. Tipik xato: tashqi qon ketish miqdoriga qarab jarohat og‘irligini baholash.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O‘tkir va ko‘p qon yo‘qotishda taloq holati qanday farq qiladi? 2) O‘limning birlamchi va ikkilamchi sabablari nimasi bilan farqlanadi? Doskada: ikki ustunli solishtirma jadval chizdiring (o‘tkir va ko‘p qon yo‘qotish). Tipik xato: Minakov dog‘larini ko‘p qon yo‘qotishda doim uchraydi deb o‘ylash; manbada ular faqat ayrim hollarda topiladi.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Turli xil qon yo'qotishlarining patomorfologiyasi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Travmatologiya (trauma – shikast, logos – ta’limot) shikastlanishlar haqidagi fan. Klinikada diagnostika, davolash va profilaktika bilan shug‘ullanadi.</a:t>
            </a:r>
          </a:p>
          <a:p>
            <a:pPr>
              <a:spcAft>
                <a:spcPts val="1200"/>
              </a:spcAft>
            </a:pPr>
            <a:r>
              <a:rPr sz="2200">
                <a:solidFill>
                  <a:srgbClr val="1F2937"/>
                </a:solidFill>
                <a:latin typeface="Calibri"/>
              </a:rPr>
              <a:t>▸  Sud-tibbiy travmatologiya shikastlanish mexanizmi va vaqtini, jarohat etkazgan jismni aniqlaydi hamda jarohatni baholaydi.</a:t>
            </a:r>
          </a:p>
          <a:p>
            <a:pPr>
              <a:spcAft>
                <a:spcPts val="1200"/>
              </a:spcAft>
            </a:pPr>
            <a:r>
              <a:rPr sz="2200">
                <a:solidFill>
                  <a:srgbClr val="1F2937"/>
                </a:solidFill>
                <a:latin typeface="Calibri"/>
              </a:rPr>
              <a:t>▸  Mexanik jarohatlar o‘lim sabablari tarkibida yurak-qon tomir va onkologik kasalliklardan keyin turadi.</a:t>
            </a:r>
          </a:p>
          <a:p>
            <a:pPr>
              <a:spcAft>
                <a:spcPts val="1200"/>
              </a:spcAft>
            </a:pPr>
            <a:r>
              <a:rPr sz="2200">
                <a:solidFill>
                  <a:srgbClr val="1F2937"/>
                </a:solidFill>
                <a:latin typeface="Calibri"/>
              </a:rPr>
              <a:t>▸  Qon yo‘qotish – mexanik jarohatdan o‘limning birlamchi sabablaridan biri. Bunda qon hajmi bilan birga yo‘qotish sur’ati ham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 26,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 huquqida tan jarohati – qasddan yoki ehtiyotsizlik oqibatida sodir etilgan g‘ayriqonuniy harakat tufayli sog‘liqqa yetgan ziyon.</a:t>
            </a:r>
          </a:p>
          <a:p>
            <a:pPr>
              <a:spcAft>
                <a:spcPts val="1200"/>
              </a:spcAft>
            </a:pPr>
            <a:r>
              <a:rPr sz="2200">
                <a:solidFill>
                  <a:srgbClr val="1F2937"/>
                </a:solidFill>
                <a:latin typeface="Calibri"/>
              </a:rPr>
              <a:t>▸  Sud tibbiyotida tashqi ta’sir natijasida a’zo va to‘qimalarning anatomik butunligi yoki fiziologik funksiyasi buzilishi tan jarohati deyiladi.</a:t>
            </a:r>
          </a:p>
          <a:p>
            <a:pPr>
              <a:spcAft>
                <a:spcPts val="1200"/>
              </a:spcAft>
            </a:pPr>
            <a:r>
              <a:rPr sz="2200">
                <a:solidFill>
                  <a:srgbClr val="1F2937"/>
                </a:solidFill>
                <a:latin typeface="Calibri"/>
              </a:rPr>
              <a:t>▸  Xuddi shunday holat ichki ta’sir tufayli paydo bo‘lsa, u kasallik deb tushuniladi.</a:t>
            </a:r>
          </a:p>
          <a:p>
            <a:pPr>
              <a:spcAft>
                <a:spcPts val="1200"/>
              </a:spcAft>
            </a:pPr>
            <a:r>
              <a:rPr sz="2200">
                <a:solidFill>
                  <a:srgbClr val="1F2937"/>
                </a:solidFill>
                <a:latin typeface="Calibri"/>
              </a:rPr>
              <a:t>▸  Diqqat: xato qilish xavfi – tan jarohati ≠ kasallik. Farq ta’sirning tashqi yoki ichki ekanida.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Shikastlovchi tashqi ta’sirning to‘rt turi farqlanadi: fizik, kimyoviy, biologik va ruhiy.</a:t>
            </a:r>
          </a:p>
          <a:p>
            <a:pPr>
              <a:spcAft>
                <a:spcPts val="800"/>
              </a:spcAft>
            </a:pPr>
            <a:r>
              <a:rPr sz="1800">
                <a:solidFill>
                  <a:srgbClr val="1F2937"/>
                </a:solidFill>
                <a:latin typeface="Calibri"/>
              </a:rPr>
              <a:t>▸  Fizik ta’sir mexanik, termik, elektr, barometrik va nur turchalariga bo‘linadi.</a:t>
            </a:r>
          </a:p>
          <a:p>
            <a:pPr>
              <a:spcAft>
                <a:spcPts val="800"/>
              </a:spcAft>
            </a:pPr>
            <a:r>
              <a:rPr sz="1800">
                <a:solidFill>
                  <a:srgbClr val="1F2937"/>
                </a:solidFill>
                <a:latin typeface="Calibri"/>
              </a:rPr>
              <a:t>▸  Ruhiy ta’sir oqibatini sud psixiatriyasi o‘rganadi; bunda sud-psixiatrik ekspertiza tayinlanadi.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Tur</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Fizik</a:t>
                      </a:r>
                    </a:p>
                  </a:txBody>
                  <a:tcPr marL="73152" marR="73152" marT="36576" marB="36576">
                    <a:solidFill>
                      <a:srgbClr val="E8EEF6"/>
                    </a:solidFill>
                  </a:tcPr>
                </a:tc>
                <a:tc>
                  <a:txBody>
                    <a:bodyPr/>
                    <a:lstStyle/>
                    <a:p>
                      <a:r>
                        <a:rPr sz="1300" b="0">
                          <a:solidFill>
                            <a:srgbClr val="1F2937"/>
                          </a:solidFill>
                        </a:rPr>
                        <a:t>Mexanik, termik, barometrik, elektr, nur</a:t>
                      </a:r>
                    </a:p>
                  </a:txBody>
                  <a:tcPr marL="73152" marR="73152" marT="36576" marB="36576">
                    <a:solidFill>
                      <a:srgbClr val="E8EEF6"/>
                    </a:solidFill>
                  </a:tcPr>
                </a:tc>
              </a:tr>
              <a:tr h="411480">
                <a:tc>
                  <a:txBody>
                    <a:bodyPr/>
                    <a:lstStyle/>
                    <a:p>
                      <a:r>
                        <a:rPr sz="1300" b="0">
                          <a:solidFill>
                            <a:srgbClr val="1F2937"/>
                          </a:solidFill>
                        </a:rPr>
                        <a:t>Kimyoviy</a:t>
                      </a:r>
                    </a:p>
                  </a:txBody>
                  <a:tcPr marL="73152" marR="73152" marT="36576" marB="36576">
                    <a:solidFill>
                      <a:srgbClr val="FFFFFF"/>
                    </a:solidFill>
                  </a:tcPr>
                </a:tc>
                <a:tc>
                  <a:txBody>
                    <a:bodyPr/>
                    <a:lstStyle/>
                    <a:p>
                      <a:r>
                        <a:rPr sz="1300" b="0">
                          <a:solidFill>
                            <a:srgbClr val="1F2937"/>
                          </a:solidFill>
                        </a:rPr>
                        <a:t>Zaharlar, kimyoviy moddalar, dorilar</a:t>
                      </a:r>
                    </a:p>
                  </a:txBody>
                  <a:tcPr marL="73152" marR="73152" marT="36576" marB="36576">
                    <a:solidFill>
                      <a:srgbClr val="FFFFFF"/>
                    </a:solidFill>
                  </a:tcPr>
                </a:tc>
              </a:tr>
              <a:tr h="411480">
                <a:tc>
                  <a:txBody>
                    <a:bodyPr/>
                    <a:lstStyle/>
                    <a:p>
                      <a:r>
                        <a:rPr sz="1300" b="0">
                          <a:solidFill>
                            <a:srgbClr val="1F2937"/>
                          </a:solidFill>
                        </a:rPr>
                        <a:t>Biologik</a:t>
                      </a:r>
                    </a:p>
                  </a:txBody>
                  <a:tcPr marL="73152" marR="73152" marT="36576" marB="36576">
                    <a:solidFill>
                      <a:srgbClr val="E8EEF6"/>
                    </a:solidFill>
                  </a:tcPr>
                </a:tc>
                <a:tc>
                  <a:txBody>
                    <a:bodyPr/>
                    <a:lstStyle/>
                    <a:p>
                      <a:r>
                        <a:rPr sz="1300" b="0">
                          <a:solidFill>
                            <a:srgbClr val="1F2937"/>
                          </a:solidFill>
                        </a:rPr>
                        <a:t>Toksinlar, mikroorganizmlar</a:t>
                      </a:r>
                    </a:p>
                  </a:txBody>
                  <a:tcPr marL="73152" marR="73152" marT="36576" marB="36576">
                    <a:solidFill>
                      <a:srgbClr val="E8EEF6"/>
                    </a:solidFill>
                  </a:tcPr>
                </a:tc>
              </a:tr>
              <a:tr h="411480">
                <a:tc>
                  <a:txBody>
                    <a:bodyPr/>
                    <a:lstStyle/>
                    <a:p>
                      <a:r>
                        <a:rPr sz="1300" b="0">
                          <a:solidFill>
                            <a:srgbClr val="1F2937"/>
                          </a:solidFill>
                        </a:rPr>
                        <a:t>Ruhiy</a:t>
                      </a:r>
                    </a:p>
                  </a:txBody>
                  <a:tcPr marL="73152" marR="73152" marT="36576" marB="36576">
                    <a:solidFill>
                      <a:srgbClr val="FFFFFF"/>
                    </a:solidFill>
                  </a:tcPr>
                </a:tc>
                <a:tc>
                  <a:txBody>
                    <a:bodyPr/>
                    <a:lstStyle/>
                    <a:p>
                      <a:r>
                        <a:rPr sz="1300" b="0">
                          <a:solidFill>
                            <a:srgbClr val="1F2937"/>
                          </a:solidFill>
                        </a:rPr>
                        <a:t>Kuchli hayajon, qo‘rquv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Shikastlovchi omillar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tasnifi: oddiy, murakkab, qo‘sh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Tasnifda tashqi ta’sir turi, shikastlanish sohasi va jarohatlar soni hisobga olinadi.</a:t>
            </a:r>
          </a:p>
          <a:p>
            <a:pPr>
              <a:spcAft>
                <a:spcPts val="800"/>
              </a:spcAft>
            </a:pPr>
            <a:r>
              <a:rPr sz="1800">
                <a:solidFill>
                  <a:srgbClr val="1F2937"/>
                </a:solidFill>
                <a:latin typeface="Calibri"/>
              </a:rPr>
              <a:t>▸  Klinik va sud-tibbiy diagnozda jarohat avvalo shu mezonlar bo‘yicha aniqlashtiriladi.</a:t>
            </a:r>
          </a:p>
          <a:p>
            <a:pPr>
              <a:spcAft>
                <a:spcPts val="800"/>
              </a:spcAft>
            </a:pPr>
            <a:r>
              <a:rPr sz="1800">
                <a:solidFill>
                  <a:srgbClr val="1F2937"/>
                </a:solidFill>
                <a:latin typeface="Calibri"/>
              </a:rPr>
              <a:t>▸  Diqqat: cheklangan jarohat ≠ qo‘sh jarohat; ular shikastlangan soha bo‘yicha farqlanadi.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26197"/>
                <a:gridCol w="1226197"/>
                <a:gridCol w="2835580"/>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Ma’nosi</a:t>
                      </a:r>
                    </a:p>
                  </a:txBody>
                  <a:tcPr marL="73152" marR="73152" marT="36576" marB="36576">
                    <a:solidFill>
                      <a:srgbClr val="0B1F3A"/>
                    </a:solidFill>
                  </a:tcPr>
                </a:tc>
              </a:tr>
              <a:tr h="411480">
                <a:tc>
                  <a:txBody>
                    <a:bodyPr/>
                    <a:lstStyle/>
                    <a:p>
                      <a:r>
                        <a:rPr sz="1200" b="0">
                          <a:solidFill>
                            <a:srgbClr val="1F2937"/>
                          </a:solidFill>
                        </a:rPr>
                        <a:t>Omil soni</a:t>
                      </a:r>
                    </a:p>
                  </a:txBody>
                  <a:tcPr marL="73152" marR="73152" marT="36576" marB="36576">
                    <a:solidFill>
                      <a:srgbClr val="E8EEF6"/>
                    </a:solidFill>
                  </a:tcPr>
                </a:tc>
                <a:tc>
                  <a:txBody>
                    <a:bodyPr/>
                    <a:lstStyle/>
                    <a:p>
                      <a:r>
                        <a:rPr sz="1200" b="0">
                          <a:solidFill>
                            <a:srgbClr val="1F2937"/>
                          </a:solidFill>
                        </a:rPr>
                        <a:t>Oddiy / murakkab</a:t>
                      </a:r>
                    </a:p>
                  </a:txBody>
                  <a:tcPr marL="73152" marR="73152" marT="36576" marB="36576">
                    <a:solidFill>
                      <a:srgbClr val="E8EEF6"/>
                    </a:solidFill>
                  </a:tcPr>
                </a:tc>
                <a:tc>
                  <a:txBody>
                    <a:bodyPr/>
                    <a:lstStyle/>
                    <a:p>
                      <a:r>
                        <a:rPr sz="1200" b="0">
                          <a:solidFill>
                            <a:srgbClr val="1F2937"/>
                          </a:solidFill>
                        </a:rPr>
                        <a:t>Bitta omil / ikki va undan ortiq tur</a:t>
                      </a:r>
                    </a:p>
                  </a:txBody>
                  <a:tcPr marL="73152" marR="73152" marT="36576" marB="36576">
                    <a:solidFill>
                      <a:srgbClr val="E8EEF6"/>
                    </a:solidFill>
                  </a:tcPr>
                </a:tc>
              </a:tr>
              <a:tr h="411480">
                <a:tc>
                  <a:txBody>
                    <a:bodyPr/>
                    <a:lstStyle/>
                    <a:p>
                      <a:r>
                        <a:rPr sz="1200" b="0">
                          <a:solidFill>
                            <a:srgbClr val="1F2937"/>
                          </a:solidFill>
                        </a:rPr>
                        <a:t>Soha</a:t>
                      </a:r>
                    </a:p>
                  </a:txBody>
                  <a:tcPr marL="73152" marR="73152" marT="36576" marB="36576">
                    <a:solidFill>
                      <a:srgbClr val="FFFFFF"/>
                    </a:solidFill>
                  </a:tcPr>
                </a:tc>
                <a:tc>
                  <a:txBody>
                    <a:bodyPr/>
                    <a:lstStyle/>
                    <a:p>
                      <a:r>
                        <a:rPr sz="1200" b="0">
                          <a:solidFill>
                            <a:srgbClr val="1F2937"/>
                          </a:solidFill>
                        </a:rPr>
                        <a:t>Cheklangan</a:t>
                      </a:r>
                    </a:p>
                  </a:txBody>
                  <a:tcPr marL="73152" marR="73152" marT="36576" marB="36576">
                    <a:solidFill>
                      <a:srgbClr val="FFFFFF"/>
                    </a:solidFill>
                  </a:tcPr>
                </a:tc>
                <a:tc>
                  <a:txBody>
                    <a:bodyPr/>
                    <a:lstStyle/>
                    <a:p>
                      <a:r>
                        <a:rPr sz="1200" b="0">
                          <a:solidFill>
                            <a:srgbClr val="1F2937"/>
                          </a:solidFill>
                        </a:rPr>
                        <a:t>Bir anatomik soha yoki bir segment</a:t>
                      </a:r>
                    </a:p>
                  </a:txBody>
                  <a:tcPr marL="73152" marR="73152" marT="36576" marB="36576">
                    <a:solidFill>
                      <a:srgbClr val="FFFFFF"/>
                    </a:solidFill>
                  </a:tcPr>
                </a:tc>
              </a:tr>
              <a:tr h="411480">
                <a:tc>
                  <a:txBody>
                    <a:bodyPr/>
                    <a:lstStyle/>
                    <a:p>
                      <a:r>
                        <a:rPr sz="1200" b="0">
                          <a:solidFill>
                            <a:srgbClr val="1F2937"/>
                          </a:solidFill>
                        </a:rPr>
                        <a:t>Soha</a:t>
                      </a:r>
                    </a:p>
                  </a:txBody>
                  <a:tcPr marL="73152" marR="73152" marT="36576" marB="36576">
                    <a:solidFill>
                      <a:srgbClr val="E8EEF6"/>
                    </a:solidFill>
                  </a:tcPr>
                </a:tc>
                <a:tc>
                  <a:txBody>
                    <a:bodyPr/>
                    <a:lstStyle/>
                    <a:p>
                      <a:r>
                        <a:rPr sz="1200" b="0">
                          <a:solidFill>
                            <a:srgbClr val="1F2937"/>
                          </a:solidFill>
                        </a:rPr>
                        <a:t>Qo‘sh</a:t>
                      </a:r>
                    </a:p>
                  </a:txBody>
                  <a:tcPr marL="73152" marR="73152" marT="36576" marB="36576">
                    <a:solidFill>
                      <a:srgbClr val="E8EEF6"/>
                    </a:solidFill>
                  </a:tcPr>
                </a:tc>
                <a:tc>
                  <a:txBody>
                    <a:bodyPr/>
                    <a:lstStyle/>
                    <a:p>
                      <a:r>
                        <a:rPr sz="1200" b="0">
                          <a:solidFill>
                            <a:srgbClr val="1F2937"/>
                          </a:solidFill>
                        </a:rPr>
                        <a:t>Ikki va undan ortiq soha yoki segment</a:t>
                      </a:r>
                    </a:p>
                  </a:txBody>
                  <a:tcPr marL="73152" marR="73152" marT="36576" marB="36576">
                    <a:solidFill>
                      <a:srgbClr val="E8EEF6"/>
                    </a:solidFill>
                  </a:tcPr>
                </a:tc>
              </a:tr>
              <a:tr h="411480">
                <a:tc>
                  <a:txBody>
                    <a:bodyPr/>
                    <a:lstStyle/>
                    <a:p>
                      <a:r>
                        <a:rPr sz="1200" b="0">
                          <a:solidFill>
                            <a:srgbClr val="1F2937"/>
                          </a:solidFill>
                        </a:rPr>
                        <a:t>Soni</a:t>
                      </a:r>
                    </a:p>
                  </a:txBody>
                  <a:tcPr marL="73152" marR="73152" marT="36576" marB="36576">
                    <a:solidFill>
                      <a:srgbClr val="FFFFFF"/>
                    </a:solidFill>
                  </a:tcPr>
                </a:tc>
                <a:tc>
                  <a:txBody>
                    <a:bodyPr/>
                    <a:lstStyle/>
                    <a:p>
                      <a:r>
                        <a:rPr sz="1200" b="0">
                          <a:solidFill>
                            <a:srgbClr val="1F2937"/>
                          </a:solidFill>
                        </a:rPr>
                        <a:t>Yakka / ko‘p</a:t>
                      </a:r>
                    </a:p>
                  </a:txBody>
                  <a:tcPr marL="73152" marR="73152" marT="36576" marB="36576">
                    <a:solidFill>
                      <a:srgbClr val="FFFFFF"/>
                    </a:solidFill>
                  </a:tcPr>
                </a:tc>
                <a:tc>
                  <a:txBody>
                    <a:bodyPr/>
                    <a:lstStyle/>
                    <a:p>
                      <a:r>
                        <a:rPr sz="1200" b="0">
                          <a:solidFill>
                            <a:srgbClr val="1F2937"/>
                          </a:solidFill>
                        </a:rPr>
                        <a:t>Jarohatlar soniga qarab ajratiladi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tasnifi mezonlari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 va uning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xil sharoitdagi shaxslarda kuzatiladigan turdosh jarohatlar majmui travmatizm deyiladi.</a:t>
            </a:r>
          </a:p>
          <a:p>
            <a:pPr>
              <a:spcAft>
                <a:spcPts val="800"/>
              </a:spcAft>
            </a:pPr>
            <a:r>
              <a:rPr sz="1800">
                <a:solidFill>
                  <a:srgbClr val="1F2937"/>
                </a:solidFill>
                <a:latin typeface="Calibri"/>
              </a:rPr>
              <a:t>▸  Travmatizm turlari asosan shaxslar faoliyatining xususiyatlari bilan bog‘liq.</a:t>
            </a:r>
          </a:p>
          <a:p>
            <a:pPr>
              <a:spcAft>
                <a:spcPts val="800"/>
              </a:spcAft>
            </a:pPr>
            <a:r>
              <a:rPr sz="1800">
                <a:solidFill>
                  <a:srgbClr val="1F2937"/>
                </a:solidFill>
                <a:latin typeface="Calibri"/>
              </a:rPr>
              <a:t>▸  Ko‘p hollarda sabab — qoidaga rioya qilmaslik, jumladan spirtli ichimlik yoki narkotik iste’mol qilish.</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Ko‘rinishlari</a:t>
                      </a:r>
                    </a:p>
                  </a:txBody>
                  <a:tcPr marL="73152" marR="73152" marT="36576" marB="36576">
                    <a:solidFill>
                      <a:srgbClr val="0B1F3A"/>
                    </a:solidFill>
                  </a:tcPr>
                </a:tc>
              </a:tr>
              <a:tr h="411480">
                <a:tc>
                  <a:txBody>
                    <a:bodyPr/>
                    <a:lstStyle/>
                    <a:p>
                      <a:r>
                        <a:rPr sz="1300" b="0">
                          <a:solidFill>
                            <a:srgbClr val="1F2937"/>
                          </a:solidFill>
                        </a:rPr>
                        <a:t>Ishlab chiqarish</a:t>
                      </a:r>
                    </a:p>
                  </a:txBody>
                  <a:tcPr marL="73152" marR="73152" marT="36576" marB="36576">
                    <a:solidFill>
                      <a:srgbClr val="E8EEF6"/>
                    </a:solidFill>
                  </a:tcPr>
                </a:tc>
                <a:tc>
                  <a:txBody>
                    <a:bodyPr/>
                    <a:lstStyle/>
                    <a:p>
                      <a:r>
                        <a:rPr sz="1300" b="0">
                          <a:solidFill>
                            <a:srgbClr val="1F2937"/>
                          </a:solidFill>
                        </a:rPr>
                        <a:t>Sanoat, qishloq xo‘jaligi, qurilish</a:t>
                      </a:r>
                    </a:p>
                  </a:txBody>
                  <a:tcPr marL="73152" marR="73152" marT="36576" marB="36576">
                    <a:solidFill>
                      <a:srgbClr val="E8EEF6"/>
                    </a:solidFill>
                  </a:tcPr>
                </a:tc>
              </a:tr>
              <a:tr h="411480">
                <a:tc>
                  <a:txBody>
                    <a:bodyPr/>
                    <a:lstStyle/>
                    <a:p>
                      <a:r>
                        <a:rPr sz="1300" b="0">
                          <a:solidFill>
                            <a:srgbClr val="1F2937"/>
                          </a:solidFill>
                        </a:rPr>
                        <a:t>Transport</a:t>
                      </a:r>
                    </a:p>
                  </a:txBody>
                  <a:tcPr marL="73152" marR="73152" marT="36576" marB="36576">
                    <a:solidFill>
                      <a:srgbClr val="FFFFFF"/>
                    </a:solidFill>
                  </a:tcPr>
                </a:tc>
                <a:tc>
                  <a:txBody>
                    <a:bodyPr/>
                    <a:lstStyle/>
                    <a:p>
                      <a:r>
                        <a:rPr sz="1300" b="0">
                          <a:solidFill>
                            <a:srgbClr val="1F2937"/>
                          </a:solidFill>
                        </a:rPr>
                        <a:t>Avto, moto, velosiped, temir yo‘l, havo, suv</a:t>
                      </a:r>
                    </a:p>
                  </a:txBody>
                  <a:tcPr marL="73152" marR="73152" marT="36576" marB="36576">
                    <a:solidFill>
                      <a:srgbClr val="FFFFFF"/>
                    </a:solidFill>
                  </a:tcPr>
                </a:tc>
              </a:tr>
              <a:tr h="411480">
                <a:tc>
                  <a:txBody>
                    <a:bodyPr/>
                    <a:lstStyle/>
                    <a:p>
                      <a:r>
                        <a:rPr sz="1300" b="0">
                          <a:solidFill>
                            <a:srgbClr val="1F2937"/>
                          </a:solidFill>
                        </a:rPr>
                        <a:t>Harbiy</a:t>
                      </a:r>
                    </a:p>
                  </a:txBody>
                  <a:tcPr marL="73152" marR="73152" marT="36576" marB="36576">
                    <a:solidFill>
                      <a:srgbClr val="E8EEF6"/>
                    </a:solidFill>
                  </a:tcPr>
                </a:tc>
                <a:tc>
                  <a:txBody>
                    <a:bodyPr/>
                    <a:lstStyle/>
                    <a:p>
                      <a:r>
                        <a:rPr sz="1300" b="0">
                          <a:solidFill>
                            <a:srgbClr val="1F2937"/>
                          </a:solidFill>
                        </a:rPr>
                        <a:t>Urush va tinchlik davri</a:t>
                      </a:r>
                    </a:p>
                  </a:txBody>
                  <a:tcPr marL="73152" marR="73152" marT="36576" marB="36576">
                    <a:solidFill>
                      <a:srgbClr val="E8EEF6"/>
                    </a:solidFill>
                  </a:tcPr>
                </a:tc>
              </a:tr>
              <a:tr h="411480">
                <a:tc>
                  <a:txBody>
                    <a:bodyPr/>
                    <a:lstStyle/>
                    <a:p>
                      <a:r>
                        <a:rPr sz="1300" b="0">
                          <a:solidFill>
                            <a:srgbClr val="1F2937"/>
                          </a:solidFill>
                        </a:rPr>
                        <a:t>Boshqa turlar</a:t>
                      </a:r>
                    </a:p>
                  </a:txBody>
                  <a:tcPr marL="73152" marR="73152" marT="36576" marB="36576">
                    <a:solidFill>
                      <a:srgbClr val="FFFFFF"/>
                    </a:solidFill>
                  </a:tcPr>
                </a:tc>
                <a:tc>
                  <a:txBody>
                    <a:bodyPr/>
                    <a:lstStyle/>
                    <a:p>
                      <a:r>
                        <a:rPr sz="1300" b="0">
                          <a:solidFill>
                            <a:srgbClr val="1F2937"/>
                          </a:solidFill>
                        </a:rPr>
                        <a:t>Ko‘cha, sport, maktab, maishiy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Travmatizm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jarohatni tasniflash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 holat: ko‘krak qafasida sanchma yara bor.</a:t>
            </a:r>
          </a:p>
          <a:p>
            <a:pPr>
              <a:spcAft>
                <a:spcPts val="1200"/>
              </a:spcAft>
            </a:pPr>
            <a:r>
              <a:rPr sz="2200">
                <a:solidFill>
                  <a:srgbClr val="1F2937"/>
                </a:solidFill>
                <a:latin typeface="Calibri"/>
              </a:rPr>
              <a:t>▸  B holat: bosh miya chayqalishi va qorin sohasida qontalashlar aniqlangan.</a:t>
            </a:r>
          </a:p>
          <a:p>
            <a:pPr>
              <a:spcAft>
                <a:spcPts val="1200"/>
              </a:spcAft>
            </a:pPr>
            <a:r>
              <a:rPr sz="2200">
                <a:solidFill>
                  <a:srgbClr val="1F2937"/>
                </a:solidFill>
                <a:latin typeface="Calibri"/>
              </a:rPr>
              <a:t>▸  C holat: qobirg‘alar sinishi va termik kuyish birga kuzatilgan.</a:t>
            </a:r>
          </a:p>
          <a:p>
            <a:pPr>
              <a:spcAft>
                <a:spcPts val="1200"/>
              </a:spcAft>
            </a:pPr>
            <a:r>
              <a:rPr sz="2200">
                <a:solidFill>
                  <a:srgbClr val="1F2937"/>
                </a:solidFill>
                <a:latin typeface="Calibri"/>
              </a:rPr>
              <a:t>▸  Savol: har bir holatni omil turi (oddiy/murakkab), soha (cheklangan/qo‘sh) va soni (yakka/ko‘p) bo‘yicha tasniflang.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hayotiyligi: umumiy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hayotiyligi butun organizm yoki a’zoning shikastlanishga reaksiyasi belgilari bilan aniqlanadi. Bunda ko‘proq qon aylanish tizimidagi o‘zgarishlar muhim.</a:t>
            </a:r>
          </a:p>
          <a:p>
            <a:pPr>
              <a:spcAft>
                <a:spcPts val="1200"/>
              </a:spcAft>
            </a:pPr>
            <a:r>
              <a:rPr sz="2200">
                <a:solidFill>
                  <a:srgbClr val="1F2937"/>
                </a:solidFill>
                <a:latin typeface="Calibri"/>
              </a:rPr>
              <a:t>▸  Umumiy belgilar: tashqi va ichki qon ketishi, ichki a’zolarning umumiy kamqonligi. Nafas yo‘llarida qon va yot moddalar aspiratsiyasi ham topiladi.</a:t>
            </a:r>
          </a:p>
          <a:p>
            <a:pPr>
              <a:spcAft>
                <a:spcPts val="1200"/>
              </a:spcAft>
            </a:pPr>
            <a:r>
              <a:rPr sz="2200">
                <a:solidFill>
                  <a:srgbClr val="1F2937"/>
                </a:solidFill>
                <a:latin typeface="Calibri"/>
              </a:rPr>
              <a:t>▸  Oshqozon va ichakda qon yoki yot moddalar bo‘lishi, siydik va buyrak naychalarida mioglobin topilishi ham hayotiylikni ko‘rsatadi.</a:t>
            </a:r>
          </a:p>
          <a:p>
            <a:pPr>
              <a:spcAft>
                <a:spcPts val="1200"/>
              </a:spcAft>
            </a:pPr>
            <a:r>
              <a:rPr sz="2200">
                <a:solidFill>
                  <a:srgbClr val="1F2937"/>
                </a:solidFill>
                <a:latin typeface="Calibri"/>
              </a:rPr>
              <a:t>▸  Limfada eritrotsit va yog‘ topilishi, regional limfa tugunlarida eritrofagiya va emboliya (havo, yog‘, to‘qima, yot modda) ham umumiy belgilar.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umumiy va mahalliy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Mahalliy belgilar: jarohat sohasida qon quyilishi, tromb, reaktiv shish va yallig‘lanish alomatlari.</a:t>
            </a:r>
          </a:p>
          <a:p>
            <a:pPr>
              <a:spcAft>
                <a:spcPts val="800"/>
              </a:spcAft>
            </a:pPr>
            <a:r>
              <a:rPr sz="1800">
                <a:solidFill>
                  <a:srgbClr val="1F2937"/>
                </a:solidFill>
                <a:latin typeface="Calibri"/>
              </a:rPr>
              <a:t>▸  Belgilar aniqligi jarohat turi, soni, ko‘lamiga hamda organizm va soha xususiyatlariga bog‘liq.</a:t>
            </a:r>
          </a:p>
          <a:p>
            <a:pPr>
              <a:spcAft>
                <a:spcPts val="800"/>
              </a:spcAft>
            </a:pPr>
            <a:r>
              <a:rPr sz="1800">
                <a:solidFill>
                  <a:srgbClr val="1F2937"/>
                </a:solidFill>
                <a:latin typeface="Calibri"/>
              </a:rPr>
              <a:t>▸  Filogenetik keksa to‘qimalarda o‘limdan keyingi jarohat hayotiyga o‘xshab qolishi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66134"/>
                <a:gridCol w="1713005"/>
                <a:gridCol w="2308834"/>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Umumiy</a:t>
                      </a:r>
                    </a:p>
                  </a:txBody>
                  <a:tcPr marL="73152" marR="73152" marT="36576" marB="36576">
                    <a:solidFill>
                      <a:srgbClr val="0B1F3A"/>
                    </a:solidFill>
                  </a:tcPr>
                </a:tc>
                <a:tc>
                  <a:txBody>
                    <a:bodyPr/>
                    <a:lstStyle/>
                    <a:p>
                      <a:r>
                        <a:rPr sz="1300" b="1">
                          <a:solidFill>
                            <a:srgbClr val="FFFFFF"/>
                          </a:solidFill>
                        </a:rPr>
                        <a:t>Mahalliy</a:t>
                      </a:r>
                    </a:p>
                  </a:txBody>
                  <a:tcPr marL="73152" marR="73152" marT="36576" marB="36576">
                    <a:solidFill>
                      <a:srgbClr val="0B1F3A"/>
                    </a:solidFill>
                  </a:tcPr>
                </a:tc>
              </a:tr>
              <a:tr h="411480">
                <a:tc>
                  <a:txBody>
                    <a:bodyPr/>
                    <a:lstStyle/>
                    <a:p>
                      <a:r>
                        <a:rPr sz="1200" b="0">
                          <a:solidFill>
                            <a:srgbClr val="1F2937"/>
                          </a:solidFill>
                        </a:rPr>
                        <a:t>Qon bilan bog‘liq</a:t>
                      </a:r>
                    </a:p>
                  </a:txBody>
                  <a:tcPr marL="73152" marR="73152" marT="36576" marB="36576">
                    <a:solidFill>
                      <a:srgbClr val="E8EEF6"/>
                    </a:solidFill>
                  </a:tcPr>
                </a:tc>
                <a:tc>
                  <a:txBody>
                    <a:bodyPr/>
                    <a:lstStyle/>
                    <a:p>
                      <a:r>
                        <a:rPr sz="1200" b="0">
                          <a:solidFill>
                            <a:srgbClr val="1F2937"/>
                          </a:solidFill>
                        </a:rPr>
                        <a:t>Qon ketishi, kamqonlik</a:t>
                      </a:r>
                    </a:p>
                  </a:txBody>
                  <a:tcPr marL="73152" marR="73152" marT="36576" marB="36576">
                    <a:solidFill>
                      <a:srgbClr val="E8EEF6"/>
                    </a:solidFill>
                  </a:tcPr>
                </a:tc>
                <a:tc>
                  <a:txBody>
                    <a:bodyPr/>
                    <a:lstStyle/>
                    <a:p>
                      <a:r>
                        <a:rPr sz="1200" b="0">
                          <a:solidFill>
                            <a:srgbClr val="1F2937"/>
                          </a:solidFill>
                        </a:rPr>
                        <a:t>Qon quyilishi, tromb</a:t>
                      </a:r>
                    </a:p>
                  </a:txBody>
                  <a:tcPr marL="73152" marR="73152" marT="36576" marB="36576">
                    <a:solidFill>
                      <a:srgbClr val="E8EEF6"/>
                    </a:solidFill>
                  </a:tcPr>
                </a:tc>
              </a:tr>
              <a:tr h="411480">
                <a:tc>
                  <a:txBody>
                    <a:bodyPr/>
                    <a:lstStyle/>
                    <a:p>
                      <a:r>
                        <a:rPr sz="1200" b="0">
                          <a:solidFill>
                            <a:srgbClr val="1F2937"/>
                          </a:solidFill>
                        </a:rPr>
                        <a:t>Reaksiya</a:t>
                      </a:r>
                    </a:p>
                  </a:txBody>
                  <a:tcPr marL="73152" marR="73152" marT="36576" marB="36576">
                    <a:solidFill>
                      <a:srgbClr val="FFFFFF"/>
                    </a:solidFill>
                  </a:tcPr>
                </a:tc>
                <a:tc>
                  <a:txBody>
                    <a:bodyPr/>
                    <a:lstStyle/>
                    <a:p>
                      <a:r>
                        <a:rPr sz="1200" b="0">
                          <a:solidFill>
                            <a:srgbClr val="1F2937"/>
                          </a:solidFill>
                        </a:rPr>
                        <a:t>Mioglobin, eritrofagiya</a:t>
                      </a:r>
                    </a:p>
                  </a:txBody>
                  <a:tcPr marL="73152" marR="73152" marT="36576" marB="36576">
                    <a:solidFill>
                      <a:srgbClr val="FFFFFF"/>
                    </a:solidFill>
                  </a:tcPr>
                </a:tc>
                <a:tc>
                  <a:txBody>
                    <a:bodyPr/>
                    <a:lstStyle/>
                    <a:p>
                      <a:r>
                        <a:rPr sz="1200" b="0">
                          <a:solidFill>
                            <a:srgbClr val="1F2937"/>
                          </a:solidFill>
                        </a:rPr>
                        <a:t>Reaktiv shish, yallig‘lanish</a:t>
                      </a:r>
                    </a:p>
                  </a:txBody>
                  <a:tcPr marL="73152" marR="73152" marT="36576" marB="36576">
                    <a:solidFill>
                      <a:srgbClr val="FFFFFF"/>
                    </a:solidFill>
                  </a:tcPr>
                </a:tc>
              </a:tr>
              <a:tr h="411480">
                <a:tc>
                  <a:txBody>
                    <a:bodyPr/>
                    <a:lstStyle/>
                    <a:p>
                      <a:r>
                        <a:rPr sz="1200" b="0">
                          <a:solidFill>
                            <a:srgbClr val="1F2937"/>
                          </a:solidFill>
                        </a:rPr>
                        <a:t>Hujayra, to‘qima</a:t>
                      </a:r>
                    </a:p>
                  </a:txBody>
                  <a:tcPr marL="73152" marR="73152" marT="36576" marB="36576">
                    <a:solidFill>
                      <a:srgbClr val="E8EEF6"/>
                    </a:solidFill>
                  </a:tcPr>
                </a:tc>
                <a:tc>
                  <a:txBody>
                    <a:bodyPr/>
                    <a:lstStyle/>
                    <a:p>
                      <a:r>
                        <a:rPr sz="1200" b="0">
                          <a:solidFill>
                            <a:srgbClr val="1F2937"/>
                          </a:solidFill>
                        </a:rPr>
                        <a:t>Emboliya, aspiratsiya</a:t>
                      </a:r>
                    </a:p>
                  </a:txBody>
                  <a:tcPr marL="73152" marR="73152" marT="36576" marB="36576">
                    <a:solidFill>
                      <a:srgbClr val="E8EEF6"/>
                    </a:solidFill>
                  </a:tcPr>
                </a:tc>
                <a:tc>
                  <a:txBody>
                    <a:bodyPr/>
                    <a:lstStyle/>
                    <a:p>
                      <a:r>
                        <a:rPr sz="1200" b="0">
                          <a:solidFill>
                            <a:srgbClr val="1F2937"/>
                          </a:solidFill>
                        </a:rPr>
                        <a:t>Nekroz, gistokimyoviy o‘zgarish</a:t>
                      </a:r>
                    </a:p>
                  </a:txBody>
                  <a:tcPr marL="73152" marR="73152" marT="36576" marB="36576">
                    <a:solidFill>
                      <a:srgbClr val="E8EEF6"/>
                    </a:solidFill>
                  </a:tcPr>
                </a:tc>
              </a:tr>
              <a:tr h="411480">
                <a:tc>
                  <a:txBody>
                    <a:bodyPr/>
                    <a:lstStyle/>
                    <a:p>
                      <a:r>
                        <a:rPr sz="1200" b="0">
                          <a:solidFill>
                            <a:srgbClr val="1F2937"/>
                          </a:solidFill>
                        </a:rPr>
                        <a:t>Mushak</a:t>
                      </a:r>
                    </a:p>
                  </a:txBody>
                  <a:tcPr marL="73152" marR="73152" marT="36576" marB="36576">
                    <a:solidFill>
                      <a:srgbClr val="FFFFFF"/>
                    </a:solidFill>
                  </a:tcPr>
                </a:tc>
                <a:tc>
                  <a:txBody>
                    <a:bodyPr/>
                    <a:lstStyle/>
                    <a:p>
                      <a:r>
                        <a:rPr sz="1200" b="0">
                          <a:solidFill>
                            <a:srgbClr val="1F2937"/>
                          </a:solidFill>
                        </a:rPr>
                        <a:t>Belgilanmagan</a:t>
                      </a:r>
                    </a:p>
                  </a:txBody>
                  <a:tcPr marL="73152" marR="73152" marT="36576" marB="36576">
                    <a:solidFill>
                      <a:srgbClr val="FFFFFF"/>
                    </a:solidFill>
                  </a:tcPr>
                </a:tc>
                <a:tc>
                  <a:txBody>
                    <a:bodyPr/>
                    <a:lstStyle/>
                    <a:p>
                      <a:r>
                        <a:rPr sz="1200" b="0">
                          <a:solidFill>
                            <a:srgbClr val="1F2937"/>
                          </a:solidFill>
                        </a:rPr>
                        <a:t>Shikastlangan mushak qisqarishi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Umumiy va mahalliy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 tekshirish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Avval makroskopik ko‘rik: jarohat turi, joyi, shakli, rangi, yara uchlari, chetlari va tubi baholanadi.</a:t>
            </a:r>
          </a:p>
          <a:p>
            <a:pPr>
              <a:spcAft>
                <a:spcPts val="800"/>
              </a:spcAft>
            </a:pPr>
            <a:r>
              <a:rPr sz="1800">
                <a:solidFill>
                  <a:srgbClr val="1F2937"/>
                </a:solidFill>
                <a:latin typeface="Calibri"/>
              </a:rPr>
              <a:t>▸  Hayotiylik va yetkazilish muddati gistologik usul bilan aniqlanadi. Yot jism va suyak uchun rentgen qo‘llanadi.</a:t>
            </a:r>
          </a:p>
          <a:p>
            <a:pPr>
              <a:spcAft>
                <a:spcPts val="800"/>
              </a:spcAft>
            </a:pPr>
            <a:r>
              <a:rPr sz="1800">
                <a:solidFill>
                  <a:srgbClr val="1F2937"/>
                </a:solidFill>
                <a:latin typeface="Calibri"/>
              </a:rPr>
              <a:t>▸  Klinitsist jarohatni to‘liq tavsiflashi shart. Yuzaki yozuv yoki faqat diagnoz ekspertizani qiyinlashtiradi.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Makroskopik ko‘rik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O‘lchov tekshiruvlari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Rentgen, spektral, trasologik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Gistologik tekshiruv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Laboratoriya usullari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Tekshiruv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hayotiylik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umumiy belgilar qaysilar? Tashqi va ichki qon ketishi, nafas yo‘llariga qon tushishi (aspiratsiya), embollarning topilishi shular jumlasidan.</a:t>
            </a:r>
          </a:p>
          <a:p>
            <a:pPr>
              <a:spcAft>
                <a:spcPts val="1200"/>
              </a:spcAft>
            </a:pPr>
            <a:r>
              <a:rPr sz="2200">
                <a:solidFill>
                  <a:srgbClr val="1F2937"/>
                </a:solidFill>
                <a:latin typeface="Calibri"/>
              </a:rPr>
              <a:t>▸  Mahalliy belgilar: jarohat sohasidagi to‘qimaga qon quyilishi, tromblar, reaktiv shish, yallig‘lanish alomatlari, hujayralar nekrozi.</a:t>
            </a:r>
          </a:p>
          <a:p>
            <a:pPr>
              <a:spcAft>
                <a:spcPts val="1200"/>
              </a:spcAft>
            </a:pPr>
            <a:r>
              <a:rPr sz="2200">
                <a:solidFill>
                  <a:srgbClr val="1F2937"/>
                </a:solidFill>
                <a:latin typeface="Calibri"/>
              </a:rPr>
              <a:t>▸  Belgilarning aniqligi jarohat turi, soni va ko‘lamiga, shuningdek organizmning va shikastlangan sohaning xususiyatlariga bog‘liq.</a:t>
            </a:r>
          </a:p>
          <a:p>
            <a:pPr>
              <a:spcAft>
                <a:spcPts val="1200"/>
              </a:spcAft>
            </a:pPr>
            <a:r>
              <a:rPr sz="2200">
                <a:solidFill>
                  <a:srgbClr val="1F2937"/>
                </a:solidFill>
                <a:latin typeface="Calibri"/>
              </a:rPr>
              <a:t>▸  Diqqat: xato qilish xavfi! Filogenetik jihatdan qadimiy ayrim to‘qimalarda o‘limdan keyingi jarohat hayotiy jarohatga o‘xshashi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 va kinetik energiya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jarohat hosil bo‘lishining asosiy sharti – harakat. Shikastlovchi jism yoki tana va uning qismlari harakatda bo‘lishi kerak.</a:t>
            </a:r>
          </a:p>
          <a:p>
            <a:pPr>
              <a:spcAft>
                <a:spcPts val="1200"/>
              </a:spcAft>
            </a:pPr>
            <a:r>
              <a:rPr sz="2200">
                <a:solidFill>
                  <a:srgbClr val="1F2937"/>
                </a:solidFill>
                <a:latin typeface="Calibri"/>
              </a:rPr>
              <a:t>▸  Shikastlanish xususiyati o‘zaro ta’sir vaqtidagi kinetik energiya (harakat energiyasi) kattaligiga bog‘liq.</a:t>
            </a:r>
          </a:p>
          <a:p>
            <a:pPr>
              <a:spcAft>
                <a:spcPts val="1200"/>
              </a:spcAft>
            </a:pPr>
            <a:r>
              <a:rPr sz="2200">
                <a:solidFill>
                  <a:srgbClr val="1F2937"/>
                </a:solidFill>
                <a:latin typeface="Calibri"/>
              </a:rPr>
              <a:t>▸  Jarohatning yaqqolligi va ko‘lami harakatdagi omilning massasi va tezligiga to‘g‘ri proporsional bo‘ladi.</a:t>
            </a:r>
          </a:p>
          <a:p>
            <a:pPr>
              <a:spcAft>
                <a:spcPts val="1200"/>
              </a:spcAft>
            </a:pPr>
            <a:r>
              <a:rPr sz="2200">
                <a:solidFill>
                  <a:srgbClr val="1F2937"/>
                </a:solidFill>
                <a:latin typeface="Calibri"/>
              </a:rPr>
              <a:t>▸  Yana jism qattiqligi, tig‘ yoki yuza xususiyati, soha anatomiyasi, yosh, kasalliklar, ta’sirlar soni va davomiyligi ahamiyatli.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 29-30,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Qurol, anjom va jism: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jarohatlar o‘tmas, o‘tkir jismlar va o‘q otar qurollardan etkaziladigan turlarga bo‘linadi.</a:t>
            </a:r>
          </a:p>
          <a:p>
            <a:pPr>
              <a:spcAft>
                <a:spcPts val="800"/>
              </a:spcAft>
            </a:pPr>
            <a:r>
              <a:rPr sz="1800">
                <a:solidFill>
                  <a:srgbClr val="1F2937"/>
                </a:solidFill>
                <a:latin typeface="Calibri"/>
              </a:rPr>
              <a:t>▸  O‘tmas jarohatlarga o‘tmas jism, transport vositasi va balandlikdan yiqilish ta’siridagilar kiradi.</a:t>
            </a:r>
          </a:p>
          <a:p>
            <a:pPr>
              <a:spcAft>
                <a:spcPts val="800"/>
              </a:spcAft>
            </a:pPr>
            <a:r>
              <a:rPr sz="1800">
                <a:solidFill>
                  <a:srgbClr val="1F2937"/>
                </a:solidFill>
                <a:latin typeface="Calibri"/>
              </a:rPr>
              <a:t>▸  O‘q otar jarohatlar o‘q otar qurol va portlash natijasida olingan turlarga bo‘linadi.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2643987"/>
                <a:gridCol w="1586392"/>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Ta’rif</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Qurol</a:t>
                      </a:r>
                    </a:p>
                  </a:txBody>
                  <a:tcPr marL="73152" marR="73152" marT="36576" marB="36576">
                    <a:solidFill>
                      <a:srgbClr val="E8EEF6"/>
                    </a:solidFill>
                  </a:tcPr>
                </a:tc>
                <a:tc>
                  <a:txBody>
                    <a:bodyPr/>
                    <a:lstStyle/>
                    <a:p>
                      <a:r>
                        <a:rPr sz="1200" b="0">
                          <a:solidFill>
                            <a:srgbClr val="1F2937"/>
                          </a:solidFill>
                        </a:rPr>
                        <a:t>Hujum yoki mudofaa uchun maxsus tayyorlangan</a:t>
                      </a:r>
                    </a:p>
                  </a:txBody>
                  <a:tcPr marL="73152" marR="73152" marT="36576" marB="36576">
                    <a:solidFill>
                      <a:srgbClr val="E8EEF6"/>
                    </a:solidFill>
                  </a:tcPr>
                </a:tc>
                <a:tc>
                  <a:txBody>
                    <a:bodyPr/>
                    <a:lstStyle/>
                    <a:p>
                      <a:r>
                        <a:rPr sz="1200" b="0">
                          <a:solidFill>
                            <a:srgbClr val="1F2937"/>
                          </a:solidFill>
                        </a:rPr>
                        <a:t>Pistolet, miltiq, hanjar</a:t>
                      </a:r>
                    </a:p>
                  </a:txBody>
                  <a:tcPr marL="73152" marR="73152" marT="36576" marB="36576">
                    <a:solidFill>
                      <a:srgbClr val="E8EEF6"/>
                    </a:solidFill>
                  </a:tcPr>
                </a:tc>
              </a:tr>
              <a:tr h="411480">
                <a:tc>
                  <a:txBody>
                    <a:bodyPr/>
                    <a:lstStyle/>
                    <a:p>
                      <a:r>
                        <a:rPr sz="1200" b="0">
                          <a:solidFill>
                            <a:srgbClr val="1F2937"/>
                          </a:solidFill>
                        </a:rPr>
                        <a:t>Anjom</a:t>
                      </a:r>
                    </a:p>
                  </a:txBody>
                  <a:tcPr marL="73152" marR="73152" marT="36576" marB="36576">
                    <a:solidFill>
                      <a:srgbClr val="FFFFFF"/>
                    </a:solidFill>
                  </a:tcPr>
                </a:tc>
                <a:tc>
                  <a:txBody>
                    <a:bodyPr/>
                    <a:lstStyle/>
                    <a:p>
                      <a:r>
                        <a:rPr sz="1200" b="0">
                          <a:solidFill>
                            <a:srgbClr val="1F2937"/>
                          </a:solidFill>
                        </a:rPr>
                        <a:t>Ishlab chiqarish, uy-ro‘zg‘or uchun mahsulot</a:t>
                      </a:r>
                    </a:p>
                  </a:txBody>
                  <a:tcPr marL="73152" marR="73152" marT="36576" marB="36576">
                    <a:solidFill>
                      <a:srgbClr val="FFFFFF"/>
                    </a:solidFill>
                  </a:tcPr>
                </a:tc>
                <a:tc>
                  <a:txBody>
                    <a:bodyPr/>
                    <a:lstStyle/>
                    <a:p>
                      <a:r>
                        <a:rPr sz="1200" b="0">
                          <a:solidFill>
                            <a:srgbClr val="1F2937"/>
                          </a:solidFill>
                        </a:rPr>
                        <a:t>Bolta, arra, qaychi</a:t>
                      </a:r>
                    </a:p>
                  </a:txBody>
                  <a:tcPr marL="73152" marR="73152" marT="36576" marB="36576">
                    <a:solidFill>
                      <a:srgbClr val="FFFFFF"/>
                    </a:solidFill>
                  </a:tcPr>
                </a:tc>
              </a:tr>
              <a:tr h="411480">
                <a:tc>
                  <a:txBody>
                    <a:bodyPr/>
                    <a:lstStyle/>
                    <a:p>
                      <a:r>
                        <a:rPr sz="1200" b="0">
                          <a:solidFill>
                            <a:srgbClr val="1F2937"/>
                          </a:solidFill>
                        </a:rPr>
                        <a:t>Jism</a:t>
                      </a:r>
                    </a:p>
                  </a:txBody>
                  <a:tcPr marL="73152" marR="73152" marT="36576" marB="36576">
                    <a:solidFill>
                      <a:srgbClr val="E8EEF6"/>
                    </a:solidFill>
                  </a:tcPr>
                </a:tc>
                <a:tc>
                  <a:txBody>
                    <a:bodyPr/>
                    <a:lstStyle/>
                    <a:p>
                      <a:r>
                        <a:rPr sz="1200" b="0">
                          <a:solidFill>
                            <a:srgbClr val="1F2937"/>
                          </a:solidFill>
                        </a:rPr>
                        <a:t>Aniq qo‘llanilish maqsadi yo‘q narsa</a:t>
                      </a:r>
                    </a:p>
                  </a:txBody>
                  <a:tcPr marL="73152" marR="73152" marT="36576" marB="36576">
                    <a:solidFill>
                      <a:srgbClr val="E8EEF6"/>
                    </a:solidFill>
                  </a:tcPr>
                </a:tc>
                <a:tc>
                  <a:txBody>
                    <a:bodyPr/>
                    <a:lstStyle/>
                    <a:p>
                      <a:r>
                        <a:rPr sz="1200" b="0">
                          <a:solidFill>
                            <a:srgbClr val="1F2937"/>
                          </a:solidFill>
                        </a:rPr>
                        <a:t>Tosh, tayoq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tushuncha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jarohatlardan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sababda o‘lim shikastdan so‘ng qisqa vaqtda, ikkilamchi sababda birmuncha keyin sodir bo‘ladi.</a:t>
            </a:r>
          </a:p>
          <a:p>
            <a:pPr>
              <a:spcAft>
                <a:spcPts val="800"/>
              </a:spcAft>
            </a:pPr>
            <a:r>
              <a:rPr sz="1800">
                <a:solidFill>
                  <a:srgbClr val="1F2937"/>
                </a:solidFill>
                <a:latin typeface="Calibri"/>
              </a:rPr>
              <a:t>▸  Birlamchi sabablar 7 ta: jumladan qon yo‘qotish, travmatik shok, emboliya va qon aspiratsiyasi.</a:t>
            </a:r>
          </a:p>
          <a:p>
            <a:pPr>
              <a:spcAft>
                <a:spcPts val="800"/>
              </a:spcAft>
            </a:pPr>
            <a:r>
              <a:rPr sz="1800">
                <a:solidFill>
                  <a:srgbClr val="1F2937"/>
                </a:solidFill>
                <a:latin typeface="Calibri"/>
              </a:rPr>
              <a:t>▸  Ikkilamchi sabablarga infeksion asoratlar kiradi; ba’zan ikkilamchi qon yo‘qotish ham kuzatiladi.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38320"/>
                <a:gridCol w="3749655"/>
              </a:tblGrid>
              <a:tr h="411480">
                <a:tc>
                  <a:txBody>
                    <a:bodyPr/>
                    <a:lstStyle/>
                    <a:p>
                      <a:r>
                        <a:rPr sz="1400" b="1">
                          <a:solidFill>
                            <a:srgbClr val="FFFFFF"/>
                          </a:solidFill>
                        </a:rPr>
                        <a:t>Sabab</a:t>
                      </a:r>
                    </a:p>
                  </a:txBody>
                  <a:tcPr marL="73152" marR="73152" marT="36576" marB="36576">
                    <a:solidFill>
                      <a:srgbClr val="0B1F3A"/>
                    </a:solidFill>
                  </a:tcPr>
                </a:tc>
                <a:tc>
                  <a:txBody>
                    <a:bodyPr/>
                    <a:lstStyle/>
                    <a:p>
                      <a:r>
                        <a:rPr sz="1400" b="1">
                          <a:solidFill>
                            <a:srgbClr val="FFFFFF"/>
                          </a:solidFill>
                        </a:rPr>
                        <a:t>Xususiyati</a:t>
                      </a:r>
                    </a:p>
                  </a:txBody>
                  <a:tcPr marL="73152" marR="73152" marT="36576" marB="36576">
                    <a:solidFill>
                      <a:srgbClr val="0B1F3A"/>
                    </a:solidFill>
                  </a:tcPr>
                </a:tc>
              </a:tr>
              <a:tr h="411480">
                <a:tc>
                  <a:txBody>
                    <a:bodyPr/>
                    <a:lstStyle/>
                    <a:p>
                      <a:r>
                        <a:rPr sz="1300" b="0">
                          <a:solidFill>
                            <a:srgbClr val="1F2937"/>
                          </a:solidFill>
                        </a:rPr>
                        <a:t>Birlamchi</a:t>
                      </a:r>
                    </a:p>
                  </a:txBody>
                  <a:tcPr marL="73152" marR="73152" marT="36576" marB="36576">
                    <a:solidFill>
                      <a:srgbClr val="E8EEF6"/>
                    </a:solidFill>
                  </a:tcPr>
                </a:tc>
                <a:tc>
                  <a:txBody>
                    <a:bodyPr/>
                    <a:lstStyle/>
                    <a:p>
                      <a:r>
                        <a:rPr sz="1300" b="0">
                          <a:solidFill>
                            <a:srgbClr val="1F2937"/>
                          </a:solidFill>
                        </a:rPr>
                        <a:t>Shikastdan so‘ng qisqa vaqtda o‘lim</a:t>
                      </a:r>
                    </a:p>
                  </a:txBody>
                  <a:tcPr marL="73152" marR="73152" marT="36576" marB="36576">
                    <a:solidFill>
                      <a:srgbClr val="E8EEF6"/>
                    </a:solidFill>
                  </a:tcPr>
                </a:tc>
              </a:tr>
              <a:tr h="411480">
                <a:tc>
                  <a:txBody>
                    <a:bodyPr/>
                    <a:lstStyle/>
                    <a:p>
                      <a:r>
                        <a:rPr sz="1300" b="0">
                          <a:solidFill>
                            <a:srgbClr val="1F2937"/>
                          </a:solidFill>
                        </a:rPr>
                        <a:t>Ikkilamchi</a:t>
                      </a:r>
                    </a:p>
                  </a:txBody>
                  <a:tcPr marL="73152" marR="73152" marT="36576" marB="36576">
                    <a:solidFill>
                      <a:srgbClr val="FFFFFF"/>
                    </a:solidFill>
                  </a:tcPr>
                </a:tc>
                <a:tc>
                  <a:txBody>
                    <a:bodyPr/>
                    <a:lstStyle/>
                    <a:p>
                      <a:r>
                        <a:rPr sz="1300" b="0">
                          <a:solidFill>
                            <a:srgbClr val="1F2937"/>
                          </a:solidFill>
                        </a:rPr>
                        <a:t>Birmuncha muddatdan so‘ng o‘lim</a:t>
                      </a:r>
                    </a:p>
                  </a:txBody>
                  <a:tcPr marL="73152" marR="73152" marT="36576" marB="36576">
                    <a:solidFill>
                      <a:srgbClr val="FFFFFF"/>
                    </a:solidFill>
                  </a:tcPr>
                </a:tc>
              </a:tr>
              <a:tr h="411480">
                <a:tc>
                  <a:txBody>
                    <a:bodyPr/>
                    <a:lstStyle/>
                    <a:p>
                      <a:r>
                        <a:rPr sz="1300" b="0">
                          <a:solidFill>
                            <a:srgbClr val="1F2937"/>
                          </a:solidFill>
                        </a:rPr>
                        <a:t>Birlamchi misol</a:t>
                      </a:r>
                    </a:p>
                  </a:txBody>
                  <a:tcPr marL="73152" marR="73152" marT="36576" marB="36576">
                    <a:solidFill>
                      <a:srgbClr val="E8EEF6"/>
                    </a:solidFill>
                  </a:tcPr>
                </a:tc>
                <a:tc>
                  <a:txBody>
                    <a:bodyPr/>
                    <a:lstStyle/>
                    <a:p>
                      <a:r>
                        <a:rPr sz="1300" b="0">
                          <a:solidFill>
                            <a:srgbClr val="1F2937"/>
                          </a:solidFill>
                        </a:rPr>
                        <a:t>Qon yo‘qotish, travmatik shok, emboliya</a:t>
                      </a:r>
                    </a:p>
                  </a:txBody>
                  <a:tcPr marL="73152" marR="73152" marT="36576" marB="36576">
                    <a:solidFill>
                      <a:srgbClr val="E8EEF6"/>
                    </a:solidFill>
                  </a:tcPr>
                </a:tc>
              </a:tr>
              <a:tr h="411480">
                <a:tc>
                  <a:txBody>
                    <a:bodyPr/>
                    <a:lstStyle/>
                    <a:p>
                      <a:r>
                        <a:rPr sz="1300" b="0">
                          <a:solidFill>
                            <a:srgbClr val="1F2937"/>
                          </a:solidFill>
                        </a:rPr>
                        <a:t>Ikkilamchi misol</a:t>
                      </a:r>
                    </a:p>
                  </a:txBody>
                  <a:tcPr marL="73152" marR="73152" marT="36576" marB="36576">
                    <a:solidFill>
                      <a:srgbClr val="FFFFFF"/>
                    </a:solidFill>
                  </a:tcPr>
                </a:tc>
                <a:tc>
                  <a:txBody>
                    <a:bodyPr/>
                    <a:lstStyle/>
                    <a:p>
                      <a:r>
                        <a:rPr sz="1300" b="0">
                          <a:solidFill>
                            <a:srgbClr val="1F2937"/>
                          </a:solidFill>
                        </a:rPr>
                        <a:t>Sepsis, qoqshol, travmatik toksikoz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O‘lim sabablari tasnifi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 30-32,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yo‘qotish: hajm va sur’at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yo‘qotishda nafaqat yo‘qotilgan qon hajmi, balki qon yo‘qotish sur’ati ham muhim ahamiyatga ega.</a:t>
            </a:r>
          </a:p>
          <a:p>
            <a:pPr>
              <a:spcAft>
                <a:spcPts val="1200"/>
              </a:spcAft>
            </a:pPr>
            <a:r>
              <a:rPr sz="2200">
                <a:solidFill>
                  <a:srgbClr val="1F2937"/>
                </a:solidFill>
                <a:latin typeface="Calibri"/>
              </a:rPr>
              <a:t>▸  Yirik arterial qon tomirlari shikastlansa, o‘tkir qon yo‘qotish rivojlanadi.</a:t>
            </a:r>
          </a:p>
          <a:p>
            <a:pPr>
              <a:spcAft>
                <a:spcPts val="1200"/>
              </a:spcAft>
            </a:pPr>
            <a:r>
              <a:rPr sz="2200">
                <a:solidFill>
                  <a:srgbClr val="1F2937"/>
                </a:solidFill>
                <a:latin typeface="Calibri"/>
              </a:rPr>
              <a:t>▸  Ko‘p qon yo‘qotish — 50% dan ortiq, ya’ni 2,5 litr va undan ko‘p. U odatda sekinroq, bir necha soat davomida kechadi.</a:t>
            </a:r>
          </a:p>
          <a:p>
            <a:pPr>
              <a:spcAft>
                <a:spcPts val="1200"/>
              </a:spcAft>
            </a:pPr>
            <a:r>
              <a:rPr sz="2200">
                <a:solidFill>
                  <a:srgbClr val="1F2937"/>
                </a:solidFill>
                <a:latin typeface="Calibri"/>
              </a:rPr>
              <a:t>▸  Diqqat: xato qilish xavfi! O‘tkir qon yo‘qotish (tez, nisbatan oz hajm) ≠ ko‘p qon yo‘qotish (sekin, katta hajm).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qon yo‘qotish patomorfologiyasi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Yirik arteriya shikastida 500 ml gacha qon ketganda ham dastlabki daqiqalarda qorinchalar fibrillyatsiyasidan o‘lim bo‘ladi.</a:t>
            </a:r>
          </a:p>
          <a:p>
            <a:pPr>
              <a:spcAft>
                <a:spcPts val="800"/>
              </a:spcAft>
            </a:pPr>
            <a:r>
              <a:rPr sz="1800">
                <a:solidFill>
                  <a:srgbClr val="1F2937"/>
                </a:solidFill>
                <a:latin typeface="Calibri"/>
              </a:rPr>
              <a:t>▸  Murda dog‘lari va mushaklarning qotishi odatdagidek bo‘ladi.</a:t>
            </a:r>
          </a:p>
          <a:p>
            <a:pPr>
              <a:spcAft>
                <a:spcPts val="800"/>
              </a:spcAft>
            </a:pPr>
            <a:r>
              <a:rPr sz="1800">
                <a:solidFill>
                  <a:srgbClr val="1F2937"/>
                </a:solidFill>
                <a:latin typeface="Calibri"/>
              </a:rPr>
              <a:t>▸  Chap qorincha endokardi ostidagi Minakov dog‘lari o‘tkir qon yo‘qotishga xos belgidir.</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13489"/>
                <a:gridCol w="2974485"/>
              </a:tblGrid>
              <a:tr h="411480">
                <a:tc>
                  <a:txBody>
                    <a:bodyPr/>
                    <a:lstStyle/>
                    <a:p>
                      <a:r>
                        <a:rPr sz="1400" b="1">
                          <a:solidFill>
                            <a:srgbClr val="FFFFFF"/>
                          </a:solidFill>
                        </a:rPr>
                        <a:t>A’zo/belgi</a:t>
                      </a:r>
                    </a:p>
                  </a:txBody>
                  <a:tcPr marL="73152" marR="73152" marT="36576" marB="36576">
                    <a:solidFill>
                      <a:srgbClr val="0B1F3A"/>
                    </a:solidFill>
                  </a:tcPr>
                </a:tc>
                <a:tc>
                  <a:txBody>
                    <a:bodyPr/>
                    <a:lstStyle/>
                    <a:p>
                      <a:r>
                        <a:rPr sz="1400" b="1">
                          <a:solidFill>
                            <a:srgbClr val="FFFFFF"/>
                          </a:solidFill>
                        </a:rPr>
                        <a:t>Topilma</a:t>
                      </a:r>
                    </a:p>
                  </a:txBody>
                  <a:tcPr marL="73152" marR="73152" marT="36576" marB="36576">
                    <a:solidFill>
                      <a:srgbClr val="0B1F3A"/>
                    </a:solidFill>
                  </a:tcPr>
                </a:tc>
              </a:tr>
              <a:tr h="411480">
                <a:tc>
                  <a:txBody>
                    <a:bodyPr/>
                    <a:lstStyle/>
                    <a:p>
                      <a:r>
                        <a:rPr sz="1300" b="0">
                          <a:solidFill>
                            <a:srgbClr val="1F2937"/>
                          </a:solidFill>
                        </a:rPr>
                        <a:t>Miya, yurak mushagi</a:t>
                      </a:r>
                    </a:p>
                  </a:txBody>
                  <a:tcPr marL="73152" marR="73152" marT="36576" marB="36576">
                    <a:solidFill>
                      <a:srgbClr val="E8EEF6"/>
                    </a:solidFill>
                  </a:tcPr>
                </a:tc>
                <a:tc>
                  <a:txBody>
                    <a:bodyPr/>
                    <a:lstStyle/>
                    <a:p>
                      <a:r>
                        <a:rPr sz="1300" b="0">
                          <a:solidFill>
                            <a:srgbClr val="1F2937"/>
                          </a:solidFill>
                        </a:rPr>
                        <a:t>Kamqonlik</a:t>
                      </a:r>
                    </a:p>
                  </a:txBody>
                  <a:tcPr marL="73152" marR="73152" marT="36576" marB="36576">
                    <a:solidFill>
                      <a:srgbClr val="E8EEF6"/>
                    </a:solidFill>
                  </a:tcPr>
                </a:tc>
              </a:tr>
              <a:tr h="411480">
                <a:tc>
                  <a:txBody>
                    <a:bodyPr/>
                    <a:lstStyle/>
                    <a:p>
                      <a:r>
                        <a:rPr sz="1300" b="0">
                          <a:solidFill>
                            <a:srgbClr val="1F2937"/>
                          </a:solidFill>
                        </a:rPr>
                        <a:t>Taloq, boshqa a’zolar</a:t>
                      </a:r>
                    </a:p>
                  </a:txBody>
                  <a:tcPr marL="73152" marR="73152" marT="36576" marB="36576">
                    <a:solidFill>
                      <a:srgbClr val="FFFFFF"/>
                    </a:solidFill>
                  </a:tcPr>
                </a:tc>
                <a:tc>
                  <a:txBody>
                    <a:bodyPr/>
                    <a:lstStyle/>
                    <a:p>
                      <a:r>
                        <a:rPr sz="1300" b="0">
                          <a:solidFill>
                            <a:srgbClr val="1F2937"/>
                          </a:solidFill>
                        </a:rPr>
                        <a:t>Odatdagidek qonga to‘yingan</a:t>
                      </a:r>
                    </a:p>
                  </a:txBody>
                  <a:tcPr marL="73152" marR="73152" marT="36576" marB="36576">
                    <a:solidFill>
                      <a:srgbClr val="FFFFFF"/>
                    </a:solidFill>
                  </a:tcPr>
                </a:tc>
              </a:tr>
              <a:tr h="411480">
                <a:tc>
                  <a:txBody>
                    <a:bodyPr/>
                    <a:lstStyle/>
                    <a:p>
                      <a:r>
                        <a:rPr sz="1300" b="0">
                          <a:solidFill>
                            <a:srgbClr val="1F2937"/>
                          </a:solidFill>
                        </a:rPr>
                        <a:t>Murda dog‘lari</a:t>
                      </a:r>
                    </a:p>
                  </a:txBody>
                  <a:tcPr marL="73152" marR="73152" marT="36576" marB="36576">
                    <a:solidFill>
                      <a:srgbClr val="E8EEF6"/>
                    </a:solidFill>
                  </a:tcPr>
                </a:tc>
                <a:tc>
                  <a:txBody>
                    <a:bodyPr/>
                    <a:lstStyle/>
                    <a:p>
                      <a:r>
                        <a:rPr sz="1300" b="0">
                          <a:solidFill>
                            <a:srgbClr val="1F2937"/>
                          </a:solidFill>
                        </a:rPr>
                        <a:t>Odatdagidek</a:t>
                      </a:r>
                    </a:p>
                  </a:txBody>
                  <a:tcPr marL="73152" marR="73152" marT="36576" marB="36576">
                    <a:solidFill>
                      <a:srgbClr val="E8EEF6"/>
                    </a:solidFill>
                  </a:tcPr>
                </a:tc>
              </a:tr>
              <a:tr h="411480">
                <a:tc>
                  <a:txBody>
                    <a:bodyPr/>
                    <a:lstStyle/>
                    <a:p>
                      <a:r>
                        <a:rPr sz="1300" b="0">
                          <a:solidFill>
                            <a:srgbClr val="1F2937"/>
                          </a:solidFill>
                        </a:rPr>
                        <a:t>Mushak qotishi</a:t>
                      </a:r>
                    </a:p>
                  </a:txBody>
                  <a:tcPr marL="73152" marR="73152" marT="36576" marB="36576">
                    <a:solidFill>
                      <a:srgbClr val="FFFFFF"/>
                    </a:solidFill>
                  </a:tcPr>
                </a:tc>
                <a:tc>
                  <a:txBody>
                    <a:bodyPr/>
                    <a:lstStyle/>
                    <a:p>
                      <a:r>
                        <a:rPr sz="1300" b="0">
                          <a:solidFill>
                            <a:srgbClr val="1F2937"/>
                          </a:solidFill>
                        </a:rPr>
                        <a:t>Odatdagidek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qon yo‘qotishda a’zolar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Minakov dog‘lari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Minakov dog‘lari — yurak chap qorinchasi endokardi ostida joylashgan tasmasimon qon quyilishlar.</a:t>
            </a:r>
          </a:p>
          <a:p>
            <a:pPr>
              <a:spcAft>
                <a:spcPts val="1200"/>
              </a:spcAft>
            </a:pPr>
            <a:r>
              <a:rPr sz="2200">
                <a:solidFill>
                  <a:srgbClr val="1F2937"/>
                </a:solidFill>
                <a:latin typeface="Calibri"/>
              </a:rPr>
              <a:t>▸  Ular o‘tkir qon yo‘qotish uchun xos belgi hisoblanadi.</a:t>
            </a:r>
          </a:p>
          <a:p>
            <a:pPr>
              <a:spcAft>
                <a:spcPts val="1200"/>
              </a:spcAft>
            </a:pPr>
            <a:r>
              <a:rPr sz="2200">
                <a:solidFill>
                  <a:srgbClr val="1F2937"/>
                </a:solidFill>
                <a:latin typeface="Calibri"/>
              </a:rPr>
              <a:t>▸  Hosil bo‘lish sababi: yurak ichidagi bosimning keskin pasayishi va adashgan nervning o‘ta ta’sirlanishi.</a:t>
            </a:r>
          </a:p>
          <a:p>
            <a:pPr>
              <a:spcAft>
                <a:spcPts val="1200"/>
              </a:spcAft>
            </a:pPr>
            <a:r>
              <a:rPr sz="2200">
                <a:solidFill>
                  <a:srgbClr val="1F2937"/>
                </a:solidFill>
                <a:latin typeface="Calibri"/>
              </a:rPr>
              <a:t>▸  Diqqat: xato qilish xavfi. Ko‘p qon yo‘qotishda bu dog‘lar odatda bo‘lmaydi, faqat ayrim holatlarda topiladi.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Ko‘p qon yo‘qotish patomorfologiyasi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Ko‘p qon yo‘qotish — qonning 50% dan ortig‘i, ya’ni 2,5 litr va undan ko‘pi yo‘qotilishi.</a:t>
            </a:r>
          </a:p>
          <a:p>
            <a:pPr>
              <a:spcAft>
                <a:spcPts val="1200"/>
              </a:spcAft>
            </a:pPr>
            <a:r>
              <a:rPr sz="2200">
                <a:solidFill>
                  <a:srgbClr val="1F2937"/>
                </a:solidFill>
                <a:latin typeface="Calibri"/>
              </a:rPr>
              <a:t>▸  U odatda sekinroq, bir necha soat davomida kechadi va umumiy kamqonlik alomatlari rivojlanib ulguradi.</a:t>
            </a:r>
          </a:p>
          <a:p>
            <a:pPr>
              <a:spcAft>
                <a:spcPts val="1200"/>
              </a:spcAft>
            </a:pPr>
            <a:r>
              <a:rPr sz="2200">
                <a:solidFill>
                  <a:srgbClr val="1F2937"/>
                </a:solidFill>
                <a:latin typeface="Calibri"/>
              </a:rPr>
              <a:t>▸  Teri quruq va oqimtir bo‘ladi. Ichki a’zolar, jumladan taloq kamqon va qisqargan holatda topiladi.</a:t>
            </a:r>
          </a:p>
          <a:p>
            <a:pPr>
              <a:spcAft>
                <a:spcPts val="1200"/>
              </a:spcAft>
            </a:pPr>
            <a:r>
              <a:rPr sz="2200">
                <a:solidFill>
                  <a:srgbClr val="1F2937"/>
                </a:solidFill>
                <a:latin typeface="Calibri"/>
              </a:rPr>
              <a:t>▸  Murda dog‘lari kech paydo bo‘ladi va kamroq bo‘ladi. Mushak qotishi kuchliroq rivojlanadi.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va ko‘p qon yo‘qotishni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yirik arterial tomir shikasti, 500 ml gacha, o‘lim dastlabki minutlarda.</a:t>
            </a:r>
          </a:p>
          <a:p>
            <a:pPr>
              <a:spcAft>
                <a:spcPts val="800"/>
              </a:spcAft>
            </a:pPr>
            <a:r>
              <a:rPr sz="1800">
                <a:solidFill>
                  <a:srgbClr val="1F2937"/>
                </a:solidFill>
                <a:latin typeface="Calibri"/>
              </a:rPr>
              <a:t>▸  Ko‘p: 50% dan ortiq yo‘qotish, soatlab davom etadi, umumiy kamqonlik rivojlanadi.</a:t>
            </a:r>
          </a:p>
          <a:p>
            <a:pPr>
              <a:spcAft>
                <a:spcPts val="800"/>
              </a:spcAft>
            </a:pPr>
            <a:r>
              <a:rPr sz="1800">
                <a:solidFill>
                  <a:srgbClr val="1F2937"/>
                </a:solidFill>
                <a:latin typeface="Calibri"/>
              </a:rPr>
              <a:t>▸  Mushak qotishi o‘tkirda odatdagidek, ko‘p qon yo‘qotishda kuchliroq.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70982"/>
                <a:gridCol w="2275837"/>
                <a:gridCol w="194115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O‘tkir</a:t>
                      </a:r>
                    </a:p>
                  </a:txBody>
                  <a:tcPr marL="73152" marR="73152" marT="36576" marB="36576">
                    <a:solidFill>
                      <a:srgbClr val="0B1F3A"/>
                    </a:solidFill>
                  </a:tcPr>
                </a:tc>
                <a:tc>
                  <a:txBody>
                    <a:bodyPr/>
                    <a:lstStyle/>
                    <a:p>
                      <a:r>
                        <a:rPr sz="1300" b="1">
                          <a:solidFill>
                            <a:srgbClr val="FFFFFF"/>
                          </a:solidFill>
                        </a:rPr>
                        <a:t>Ko‘p</a:t>
                      </a:r>
                    </a:p>
                  </a:txBody>
                  <a:tcPr marL="73152" marR="73152" marT="36576" marB="36576">
                    <a:solidFill>
                      <a:srgbClr val="0B1F3A"/>
                    </a:solidFill>
                  </a:tcPr>
                </a:tc>
              </a:tr>
              <a:tr h="411480">
                <a:tc>
                  <a:txBody>
                    <a:bodyPr/>
                    <a:lstStyle/>
                    <a:p>
                      <a:r>
                        <a:rPr sz="1200" b="0">
                          <a:solidFill>
                            <a:srgbClr val="1F2937"/>
                          </a:solidFill>
                        </a:rPr>
                        <a:t>Hajm va tezlik</a:t>
                      </a:r>
                    </a:p>
                  </a:txBody>
                  <a:tcPr marL="73152" marR="73152" marT="36576" marB="36576">
                    <a:solidFill>
                      <a:srgbClr val="E8EEF6"/>
                    </a:solidFill>
                  </a:tcPr>
                </a:tc>
                <a:tc>
                  <a:txBody>
                    <a:bodyPr/>
                    <a:lstStyle/>
                    <a:p>
                      <a:r>
                        <a:rPr sz="1200" b="0">
                          <a:solidFill>
                            <a:srgbClr val="1F2937"/>
                          </a:solidFill>
                        </a:rPr>
                        <a:t>500 ml gacha; dastlabki minutlarda</a:t>
                      </a:r>
                    </a:p>
                  </a:txBody>
                  <a:tcPr marL="73152" marR="73152" marT="36576" marB="36576">
                    <a:solidFill>
                      <a:srgbClr val="E8EEF6"/>
                    </a:solidFill>
                  </a:tcPr>
                </a:tc>
                <a:tc>
                  <a:txBody>
                    <a:bodyPr/>
                    <a:lstStyle/>
                    <a:p>
                      <a:r>
                        <a:rPr sz="1200" b="0">
                          <a:solidFill>
                            <a:srgbClr val="1F2937"/>
                          </a:solidFill>
                        </a:rPr>
                        <a:t>50% dan ortiq; bir necha soat</a:t>
                      </a:r>
                    </a:p>
                  </a:txBody>
                  <a:tcPr marL="73152" marR="73152" marT="36576" marB="36576">
                    <a:solidFill>
                      <a:srgbClr val="E8EEF6"/>
                    </a:solidFill>
                  </a:tcPr>
                </a:tc>
              </a:tr>
              <a:tr h="411480">
                <a:tc>
                  <a:txBody>
                    <a:bodyPr/>
                    <a:lstStyle/>
                    <a:p>
                      <a:r>
                        <a:rPr sz="1200" b="0">
                          <a:solidFill>
                            <a:srgbClr val="1F2937"/>
                          </a:solidFill>
                        </a:rPr>
                        <a:t>Taloq</a:t>
                      </a:r>
                    </a:p>
                  </a:txBody>
                  <a:tcPr marL="73152" marR="73152" marT="36576" marB="36576">
                    <a:solidFill>
                      <a:srgbClr val="FFFFFF"/>
                    </a:solidFill>
                  </a:tcPr>
                </a:tc>
                <a:tc>
                  <a:txBody>
                    <a:bodyPr/>
                    <a:lstStyle/>
                    <a:p>
                      <a:r>
                        <a:rPr sz="1200" b="0">
                          <a:solidFill>
                            <a:srgbClr val="1F2937"/>
                          </a:solidFill>
                        </a:rPr>
                        <a:t>Odatdagidek qonga to‘yingan</a:t>
                      </a:r>
                    </a:p>
                  </a:txBody>
                  <a:tcPr marL="73152" marR="73152" marT="36576" marB="36576">
                    <a:solidFill>
                      <a:srgbClr val="FFFFFF"/>
                    </a:solidFill>
                  </a:tcPr>
                </a:tc>
                <a:tc>
                  <a:txBody>
                    <a:bodyPr/>
                    <a:lstStyle/>
                    <a:p>
                      <a:r>
                        <a:rPr sz="1200" b="0">
                          <a:solidFill>
                            <a:srgbClr val="1F2937"/>
                          </a:solidFill>
                        </a:rPr>
                        <a:t>Kamqon va qisqargan</a:t>
                      </a:r>
                    </a:p>
                  </a:txBody>
                  <a:tcPr marL="73152" marR="73152" marT="36576" marB="36576">
                    <a:solidFill>
                      <a:srgbClr val="FFFFFF"/>
                    </a:solidFill>
                  </a:tcPr>
                </a:tc>
              </a:tr>
              <a:tr h="411480">
                <a:tc>
                  <a:txBody>
                    <a:bodyPr/>
                    <a:lstStyle/>
                    <a:p>
                      <a:r>
                        <a:rPr sz="1200" b="0">
                          <a:solidFill>
                            <a:srgbClr val="1F2937"/>
                          </a:solidFill>
                        </a:rPr>
                        <a:t>Murda dog‘lari</a:t>
                      </a:r>
                    </a:p>
                  </a:txBody>
                  <a:tcPr marL="73152" marR="73152" marT="36576" marB="36576">
                    <a:solidFill>
                      <a:srgbClr val="E8EEF6"/>
                    </a:solidFill>
                  </a:tcPr>
                </a:tc>
                <a:tc>
                  <a:txBody>
                    <a:bodyPr/>
                    <a:lstStyle/>
                    <a:p>
                      <a:r>
                        <a:rPr sz="1200" b="0">
                          <a:solidFill>
                            <a:srgbClr val="1F2937"/>
                          </a:solidFill>
                        </a:rPr>
                        <a:t>Odatdagidek</a:t>
                      </a:r>
                    </a:p>
                  </a:txBody>
                  <a:tcPr marL="73152" marR="73152" marT="36576" marB="36576">
                    <a:solidFill>
                      <a:srgbClr val="E8EEF6"/>
                    </a:solidFill>
                  </a:tcPr>
                </a:tc>
                <a:tc>
                  <a:txBody>
                    <a:bodyPr/>
                    <a:lstStyle/>
                    <a:p>
                      <a:r>
                        <a:rPr sz="1200" b="0">
                          <a:solidFill>
                            <a:srgbClr val="1F2937"/>
                          </a:solidFill>
                        </a:rPr>
                        <a:t>Kech paydo bo‘ladi, kamroq</a:t>
                      </a:r>
                    </a:p>
                  </a:txBody>
                  <a:tcPr marL="73152" marR="73152" marT="36576" marB="36576">
                    <a:solidFill>
                      <a:srgbClr val="E8EEF6"/>
                    </a:solidFill>
                  </a:tcPr>
                </a:tc>
              </a:tr>
              <a:tr h="411480">
                <a:tc>
                  <a:txBody>
                    <a:bodyPr/>
                    <a:lstStyle/>
                    <a:p>
                      <a:r>
                        <a:rPr sz="1200" b="0">
                          <a:solidFill>
                            <a:srgbClr val="1F2937"/>
                          </a:solidFill>
                        </a:rPr>
                        <a:t>Minakov dog‘lari</a:t>
                      </a:r>
                    </a:p>
                  </a:txBody>
                  <a:tcPr marL="73152" marR="73152" marT="36576" marB="36576">
                    <a:solidFill>
                      <a:srgbClr val="FFFFFF"/>
                    </a:solidFill>
                  </a:tcPr>
                </a:tc>
                <a:tc>
                  <a:txBody>
                    <a:bodyPr/>
                    <a:lstStyle/>
                    <a:p>
                      <a:r>
                        <a:rPr sz="1200" b="0">
                          <a:solidFill>
                            <a:srgbClr val="1F2937"/>
                          </a:solidFill>
                        </a:rPr>
                        <a:t>Xos belgi</a:t>
                      </a:r>
                    </a:p>
                  </a:txBody>
                  <a:tcPr marL="73152" marR="73152" marT="36576" marB="36576">
                    <a:solidFill>
                      <a:srgbClr val="FFFFFF"/>
                    </a:solidFill>
                  </a:tcPr>
                </a:tc>
                <a:tc>
                  <a:txBody>
                    <a:bodyPr/>
                    <a:lstStyle/>
                    <a:p>
                      <a:r>
                        <a:rPr sz="1200" b="0">
                          <a:solidFill>
                            <a:srgbClr val="1F2937"/>
                          </a:solidFill>
                        </a:rPr>
                        <a:t>Faqat ayrim holatlarda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turni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arterial qon yo‘qotish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yirik arteriya shikastlangan, qon 500 ml gacha yo‘qotilgan. O‘lim dastlabki daqiqalarda yurak qorinchalari fibrillyatsiyasidan sodir bo‘lgan.</a:t>
            </a:r>
          </a:p>
          <a:p>
            <a:pPr>
              <a:spcAft>
                <a:spcPts val="1200"/>
              </a:spcAft>
            </a:pPr>
            <a:r>
              <a:rPr sz="2200">
                <a:solidFill>
                  <a:srgbClr val="1F2937"/>
                </a:solidFill>
                <a:latin typeface="Calibri"/>
              </a:rPr>
              <a:t>▸  Murdada faqat bosh miya va yurak mushaklari kamqon. Taloq va boshqa ichki a’zolar odatdagidek qonga to‘yingan.</a:t>
            </a:r>
          </a:p>
          <a:p>
            <a:pPr>
              <a:spcAft>
                <a:spcPts val="1200"/>
              </a:spcAft>
            </a:pPr>
            <a:r>
              <a:rPr sz="2200">
                <a:solidFill>
                  <a:srgbClr val="1F2937"/>
                </a:solidFill>
                <a:latin typeface="Calibri"/>
              </a:rPr>
              <a:t>▸  Murda dog‘lari va mushak qotishi odatdagidek. Chap qorincha endokardi ostida tasmasimon qon quyilishlar (Minakov dog‘lari) topiladi.</a:t>
            </a:r>
          </a:p>
          <a:p>
            <a:pPr>
              <a:spcAft>
                <a:spcPts val="1200"/>
              </a:spcAft>
            </a:pPr>
            <a:r>
              <a:rPr sz="2200">
                <a:solidFill>
                  <a:srgbClr val="1F2937"/>
                </a:solidFill>
                <a:latin typeface="Calibri"/>
              </a:rPr>
              <a:t>▸  Savol: Minakov dog‘lari nega paydo bo‘ladi va nega taloq qonga to‘yingan qoladi? Sabab: ichki bosim keskin pasayadi, adashgan nerv o‘ta ta’sirlanadi.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Travmatik shok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Travmatik shok — shikastga nerv, yurak-qon tomir va endokrin tizimlarning og‘ir buzilishi bilan javobi.</a:t>
            </a:r>
          </a:p>
          <a:p>
            <a:pPr>
              <a:spcAft>
                <a:spcPts val="800"/>
              </a:spcAft>
            </a:pPr>
            <a:r>
              <a:rPr sz="1800">
                <a:solidFill>
                  <a:srgbClr val="1F2937"/>
                </a:solidFill>
                <a:latin typeface="Calibri"/>
              </a:rPr>
              <a:t>▸  Shokda periferik qon aylanishi yetishmaydi, aylanayotgan qon miqdori tomir tizimi hajmiga mos kelmaydi.</a:t>
            </a:r>
          </a:p>
          <a:p>
            <a:pPr>
              <a:spcAft>
                <a:spcPts val="800"/>
              </a:spcAft>
            </a:pPr>
            <a:r>
              <a:rPr sz="1800">
                <a:solidFill>
                  <a:srgbClr val="1F2937"/>
                </a:solidFill>
                <a:latin typeface="Calibri"/>
              </a:rPr>
              <a:t>▸  Og‘ir (III-IV daraja) shok o‘limga olib keladi; venoz to‘laqonlik, jigar-taloqda qon depolanishi kuzatiladi.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Shikastlanish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Nerv va endokrin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Periferik qon aylanishi buziladi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hajmi ≠ tomir hajmi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III-IV daraja: o‘lim xavfi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Travmatik shok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bilan qisilish: gematoma, gemoperikard, gemotoraks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 va orqa miya, yurak va o‘pka qon yoki havo bilan qisilishi mumkin. Bu mexanik jarohatning o‘limga olib boruvchi asoratidir.</a:t>
            </a:r>
          </a:p>
          <a:p>
            <a:pPr>
              <a:spcAft>
                <a:spcPts val="1200"/>
              </a:spcAft>
            </a:pPr>
            <a:r>
              <a:rPr sz="2200">
                <a:solidFill>
                  <a:srgbClr val="1F2937"/>
                </a:solidFill>
                <a:latin typeface="Calibri"/>
              </a:rPr>
              <a:t>▸  Kalla-miya jarohatida gematomalar suyak ichida (epidural, subdural, subaraxnoidal), qorinchalar ichida va miya to‘qimasida bo‘ladi.</a:t>
            </a:r>
          </a:p>
          <a:p>
            <a:pPr>
              <a:spcAft>
                <a:spcPts val="1200"/>
              </a:spcAft>
            </a:pPr>
            <a:r>
              <a:rPr sz="2200">
                <a:solidFill>
                  <a:srgbClr val="1F2937"/>
                </a:solidFill>
                <a:latin typeface="Calibri"/>
              </a:rPr>
              <a:t>▸  Umurtqa pog‘onasining bo‘yin va ko‘krak qismi shikastlansa, orqa miyaning shu qismlari qisiladi.</a:t>
            </a:r>
          </a:p>
          <a:p>
            <a:pPr>
              <a:spcAft>
                <a:spcPts val="1200"/>
              </a:spcAft>
            </a:pPr>
            <a:r>
              <a:rPr sz="2200">
                <a:solidFill>
                  <a:srgbClr val="1F2937"/>
                </a:solidFill>
                <a:latin typeface="Calibri"/>
              </a:rPr>
              <a:t>▸  Ko‘krak qafasi shikastida gemoperikard, pnevmotoraks va gemotoraks rivojlanadi. Diqqat: pnevmotoraks havo, gemotoraks qon bilan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Havo emboliyasi va Sunsov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emboliyasi yirik venalar shikastlanishida va jinoiy abortda rivojlanishi mumkin.</a:t>
            </a:r>
          </a:p>
          <a:p>
            <a:pPr>
              <a:spcAft>
                <a:spcPts val="800"/>
              </a:spcAft>
            </a:pPr>
            <a:r>
              <a:rPr sz="1800">
                <a:solidFill>
                  <a:srgbClr val="1F2937"/>
                </a:solidFill>
                <a:latin typeface="Calibri"/>
              </a:rPr>
              <a:t>▸  Oz havo (5-7 kub sm) qonda erib ketadi; 10 kub sm va undan ko‘pi tez kirsa, o‘lim bo‘lishi mumkin.</a:t>
            </a:r>
          </a:p>
          <a:p>
            <a:pPr>
              <a:spcAft>
                <a:spcPts val="800"/>
              </a:spcAft>
            </a:pPr>
            <a:r>
              <a:rPr sz="1800">
                <a:solidFill>
                  <a:srgbClr val="1F2937"/>
                </a:solidFill>
                <a:latin typeface="Calibri"/>
              </a:rPr>
              <a:t>▸  Gistologiyada o‘pka tomirlarida havo pufaklari izlari – katakchasimon hosilalar topilishi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Tekshiruv ko‘krakdan boshlanadi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To‘sh suyagi ajratiladi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Perikardga suv quyiladi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O‘ng qorincha devori teshiladi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Suvdan pufak chiqsa – musbat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Sunsov sinamasi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Yog‘ emboliyasi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Yog‘ emboliyasi uzun naysimon suyaklar sinishi va teri osti yog‘ qavati majaqlanishida uchraydi.</a:t>
            </a:r>
          </a:p>
          <a:p>
            <a:pPr>
              <a:spcAft>
                <a:spcPts val="800"/>
              </a:spcAft>
            </a:pPr>
            <a:r>
              <a:rPr sz="1800">
                <a:solidFill>
                  <a:srgbClr val="1F2937"/>
                </a:solidFill>
                <a:latin typeface="Calibri"/>
              </a:rPr>
              <a:t>▸  Yog‘ zarralari o‘pka tomirlarini yopadi; o‘lim darhol emas, 2-3 kundan so‘ng sodir bo‘ladi.</a:t>
            </a:r>
          </a:p>
          <a:p>
            <a:pPr>
              <a:spcAft>
                <a:spcPts val="800"/>
              </a:spcAft>
            </a:pPr>
            <a:r>
              <a:rPr sz="1800">
                <a:solidFill>
                  <a:srgbClr val="1F2937"/>
                </a:solidFill>
                <a:latin typeface="Calibri"/>
              </a:rPr>
              <a:t>▸  Embollar katta qon aylanish doirasi orqali miya va boshqa ichki a’zolarga ham yetib borishi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05278"/>
                <a:gridCol w="3682696"/>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Ma’lumot</a:t>
                      </a:r>
                    </a:p>
                  </a:txBody>
                  <a:tcPr marL="73152" marR="73152" marT="36576" marB="36576">
                    <a:solidFill>
                      <a:srgbClr val="0B1F3A"/>
                    </a:solidFill>
                  </a:tcPr>
                </a:tc>
              </a:tr>
              <a:tr h="411480">
                <a:tc>
                  <a:txBody>
                    <a:bodyPr/>
                    <a:lstStyle/>
                    <a:p>
                      <a:r>
                        <a:rPr sz="1300" b="0">
                          <a:solidFill>
                            <a:srgbClr val="1F2937"/>
                          </a:solidFill>
                        </a:rPr>
                        <a:t>Material</a:t>
                      </a:r>
                    </a:p>
                  </a:txBody>
                  <a:tcPr marL="73152" marR="73152" marT="36576" marB="36576">
                    <a:solidFill>
                      <a:srgbClr val="E8EEF6"/>
                    </a:solidFill>
                  </a:tcPr>
                </a:tc>
                <a:tc>
                  <a:txBody>
                    <a:bodyPr/>
                    <a:lstStyle/>
                    <a:p>
                      <a:r>
                        <a:rPr sz="1300" b="0">
                          <a:solidFill>
                            <a:srgbClr val="1F2937"/>
                          </a:solidFill>
                        </a:rPr>
                        <a:t>O‘pka va miyaning muzlatilgan kesmalari</a:t>
                      </a:r>
                    </a:p>
                  </a:txBody>
                  <a:tcPr marL="73152" marR="73152" marT="36576" marB="36576">
                    <a:solidFill>
                      <a:srgbClr val="E8EEF6"/>
                    </a:solidFill>
                  </a:tcPr>
                </a:tc>
              </a:tr>
              <a:tr h="411480">
                <a:tc>
                  <a:txBody>
                    <a:bodyPr/>
                    <a:lstStyle/>
                    <a:p>
                      <a:r>
                        <a:rPr sz="1300" b="0">
                          <a:solidFill>
                            <a:srgbClr val="1F2937"/>
                          </a:solidFill>
                        </a:rPr>
                        <a:t>Sudan III</a:t>
                      </a:r>
                    </a:p>
                  </a:txBody>
                  <a:tcPr marL="73152" marR="73152" marT="36576" marB="36576">
                    <a:solidFill>
                      <a:srgbClr val="FFFFFF"/>
                    </a:solidFill>
                  </a:tcPr>
                </a:tc>
                <a:tc>
                  <a:txBody>
                    <a:bodyPr/>
                    <a:lstStyle/>
                    <a:p>
                      <a:r>
                        <a:rPr sz="1300" b="0">
                          <a:solidFill>
                            <a:srgbClr val="1F2937"/>
                          </a:solidFill>
                        </a:rPr>
                        <a:t>Yog‘ tomchilari olovrang qizil</a:t>
                      </a:r>
                    </a:p>
                  </a:txBody>
                  <a:tcPr marL="73152" marR="73152" marT="36576" marB="36576">
                    <a:solidFill>
                      <a:srgbClr val="FFFFFF"/>
                    </a:solidFill>
                  </a:tcPr>
                </a:tc>
              </a:tr>
              <a:tr h="411480">
                <a:tc>
                  <a:txBody>
                    <a:bodyPr/>
                    <a:lstStyle/>
                    <a:p>
                      <a:r>
                        <a:rPr sz="1300" b="0">
                          <a:solidFill>
                            <a:srgbClr val="1F2937"/>
                          </a:solidFill>
                        </a:rPr>
                        <a:t>Sudan IV</a:t>
                      </a:r>
                    </a:p>
                  </a:txBody>
                  <a:tcPr marL="73152" marR="73152" marT="36576" marB="36576">
                    <a:solidFill>
                      <a:srgbClr val="E8EEF6"/>
                    </a:solidFill>
                  </a:tcPr>
                </a:tc>
                <a:tc>
                  <a:txBody>
                    <a:bodyPr/>
                    <a:lstStyle/>
                    <a:p>
                      <a:r>
                        <a:rPr sz="1300" b="0">
                          <a:solidFill>
                            <a:srgbClr val="1F2937"/>
                          </a:solidFill>
                        </a:rPr>
                        <a:t>Yog‘ tomchilari qora rangda</a:t>
                      </a:r>
                    </a:p>
                  </a:txBody>
                  <a:tcPr marL="73152" marR="73152" marT="36576" marB="36576">
                    <a:solidFill>
                      <a:srgbClr val="E8EEF6"/>
                    </a:solidFill>
                  </a:tcPr>
                </a:tc>
              </a:tr>
              <a:tr h="411480">
                <a:tc>
                  <a:txBody>
                    <a:bodyPr/>
                    <a:lstStyle/>
                    <a:p>
                      <a:r>
                        <a:rPr sz="1300" b="0">
                          <a:solidFill>
                            <a:srgbClr val="1F2937"/>
                          </a:solidFill>
                        </a:rPr>
                        <a:t>Tekshiruv</a:t>
                      </a:r>
                    </a:p>
                  </a:txBody>
                  <a:tcPr marL="73152" marR="73152" marT="36576" marB="36576">
                    <a:solidFill>
                      <a:srgbClr val="FFFFFF"/>
                    </a:solidFill>
                  </a:tcPr>
                </a:tc>
                <a:tc>
                  <a:txBody>
                    <a:bodyPr/>
                    <a:lstStyle/>
                    <a:p>
                      <a:r>
                        <a:rPr sz="1300" b="0">
                          <a:solidFill>
                            <a:srgbClr val="1F2937"/>
                          </a:solidFill>
                        </a:rPr>
                        <a:t>Mikroskop: tomir bo‘shlig‘ida tomchilar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Yog‘ emboliyasi diagnostikasi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aspiratsiyasi va ikkilamchi sabablar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Halqum, nafas yo‘llari shikastlanishi, kalla asosi va burun suyaklari sinishida qon nafas yo‘llariga tushib, aspiratsion asfiksiyaga olib kelishi mumkin.</a:t>
            </a:r>
          </a:p>
          <a:p>
            <a:pPr>
              <a:spcAft>
                <a:spcPts val="1200"/>
              </a:spcAft>
            </a:pPr>
            <a:r>
              <a:rPr sz="2200">
                <a:solidFill>
                  <a:srgbClr val="1F2937"/>
                </a:solidFill>
                <a:latin typeface="Calibri"/>
              </a:rPr>
              <a:t>▸  Ikkilamchi sabablar: sepsisga olib kelgan yiringli peritonit, plevrit, meningit, osteomielit, gaz gangrenasi, qoqshol va travmatik toksikoz.</a:t>
            </a:r>
          </a:p>
          <a:p>
            <a:pPr>
              <a:spcAft>
                <a:spcPts val="1200"/>
              </a:spcAft>
            </a:pPr>
            <a:r>
              <a:rPr sz="2200">
                <a:solidFill>
                  <a:srgbClr val="1F2937"/>
                </a:solidFill>
                <a:latin typeface="Calibri"/>
              </a:rPr>
              <a:t>▸  Shikastlanishdan ma’lum muddat o‘tgach ikkilamchi qon yo‘qotish, shok va emboliya ham kuzatilishi mumkin.</a:t>
            </a:r>
          </a:p>
          <a:p>
            <a:pPr>
              <a:spcAft>
                <a:spcPts val="1200"/>
              </a:spcAft>
            </a:pPr>
            <a:r>
              <a:rPr sz="2200">
                <a:solidFill>
                  <a:srgbClr val="1F2937"/>
                </a:solidFill>
                <a:latin typeface="Calibri"/>
              </a:rPr>
              <a:t>▸  Diqqat: birlamchi sababda o‘lim tez, ikkilamchida birmuncha muddatdan so‘ng sodir bo‘ladi – ularni adashtirmang.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32, 33,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emboliya va qon yo‘qotish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Tezkor savol: yirik arteriya shikastlansa, 500 ml gacha qon ketganda ham o‘lim qanday sodir bo‘ladi? Javob: dastlabki minutlarda yurak qorinchalari fibrillyatsiyasidan.</a:t>
            </a:r>
          </a:p>
          <a:p>
            <a:pPr>
              <a:spcAft>
                <a:spcPts val="1200"/>
              </a:spcAft>
            </a:pPr>
            <a:r>
              <a:rPr sz="2000">
                <a:solidFill>
                  <a:srgbClr val="1F2937"/>
                </a:solidFill>
                <a:latin typeface="Calibri"/>
              </a:rPr>
              <a:t>▸  Tezkor savol: Minakov dog‘lari qayerda topiladi? Javob: chap qorincha endokardi ostida, tasmasimon qon quyilishlar; ular o‘tkir qon yo‘qotishga xos.</a:t>
            </a:r>
          </a:p>
          <a:p>
            <a:pPr>
              <a:spcAft>
                <a:spcPts val="1200"/>
              </a:spcAft>
            </a:pPr>
            <a:r>
              <a:rPr sz="2000">
                <a:solidFill>
                  <a:srgbClr val="1F2937"/>
                </a:solidFill>
                <a:latin typeface="Calibri"/>
              </a:rPr>
              <a:t>▸  Diqqat: havo emboliyasi ≠ yog‘ emboliyasi. Havo yirik vena shikastida, jinoiy abortda uchraydi; 10 kub sm va ortiq havo tez kirsa, o‘lim mumkin.</a:t>
            </a:r>
          </a:p>
          <a:p>
            <a:pPr>
              <a:spcAft>
                <a:spcPts val="1200"/>
              </a:spcAft>
            </a:pPr>
            <a:r>
              <a:rPr sz="2000">
                <a:solidFill>
                  <a:srgbClr val="1F2937"/>
                </a:solidFill>
                <a:latin typeface="Calibri"/>
              </a:rPr>
              <a:t>▸  Yog‘ emboliyasi uzun naysimon suyaklar sinishida bo‘ladi; o‘lim 2-3 kundan so‘ng. Muzlatilgan kesma Sudan III (olovrang qizil) yoki Sudan IV (qora) bilan bo‘yaladi.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 turlari va yuzasi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Qattiq (tosh, tayoq), yumshoq (sharf, sochiq) va elastik (rezina to‘p) o‘tmas jismlar farqlanadi.</a:t>
            </a:r>
          </a:p>
          <a:p>
            <a:pPr>
              <a:spcAft>
                <a:spcPts val="800"/>
              </a:spcAft>
            </a:pPr>
            <a:r>
              <a:rPr sz="1800">
                <a:solidFill>
                  <a:srgbClr val="1F2937"/>
                </a:solidFill>
                <a:latin typeface="Calibri"/>
              </a:rPr>
              <a:t>▸  Yuza cheklangan yoki cheklanmagan bo‘lishi jism va shikastlangan soha yuzasining nisbatiga bog‘liq.</a:t>
            </a:r>
          </a:p>
          <a:p>
            <a:pPr>
              <a:spcAft>
                <a:spcPts val="800"/>
              </a:spcAft>
            </a:pPr>
            <a:r>
              <a:rPr sz="1800">
                <a:solidFill>
                  <a:srgbClr val="1F2937"/>
                </a:solidFill>
                <a:latin typeface="Calibri"/>
              </a:rPr>
              <a:t>▸  Impression travmada jism massasi soha massasidan kichik; inersion travmada ta’sir kuchi ancha katta.</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95383"/>
                <a:gridCol w="2239612"/>
                <a:gridCol w="205297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Impression</a:t>
                      </a:r>
                    </a:p>
                  </a:txBody>
                  <a:tcPr marL="73152" marR="73152" marT="36576" marB="36576">
                    <a:solidFill>
                      <a:srgbClr val="0B1F3A"/>
                    </a:solidFill>
                  </a:tcPr>
                </a:tc>
                <a:tc>
                  <a:txBody>
                    <a:bodyPr/>
                    <a:lstStyle/>
                    <a:p>
                      <a:r>
                        <a:rPr sz="1300" b="1">
                          <a:solidFill>
                            <a:srgbClr val="FFFFFF"/>
                          </a:solidFill>
                        </a:rPr>
                        <a:t>Inersion</a:t>
                      </a:r>
                    </a:p>
                  </a:txBody>
                  <a:tcPr marL="73152" marR="73152" marT="36576" marB="36576">
                    <a:solidFill>
                      <a:srgbClr val="0B1F3A"/>
                    </a:solidFill>
                  </a:tcPr>
                </a:tc>
              </a:tr>
              <a:tr h="411480">
                <a:tc>
                  <a:txBody>
                    <a:bodyPr/>
                    <a:lstStyle/>
                    <a:p>
                      <a:r>
                        <a:rPr sz="1200" b="0">
                          <a:solidFill>
                            <a:srgbClr val="1F2937"/>
                          </a:solidFill>
                        </a:rPr>
                        <a:t>Massa va kuch</a:t>
                      </a:r>
                    </a:p>
                  </a:txBody>
                  <a:tcPr marL="73152" marR="73152" marT="36576" marB="36576">
                    <a:solidFill>
                      <a:srgbClr val="E8EEF6"/>
                    </a:solidFill>
                  </a:tcPr>
                </a:tc>
                <a:tc>
                  <a:txBody>
                    <a:bodyPr/>
                    <a:lstStyle/>
                    <a:p>
                      <a:r>
                        <a:rPr sz="1200" b="0">
                          <a:solidFill>
                            <a:srgbClr val="1F2937"/>
                          </a:solidFill>
                        </a:rPr>
                        <a:t>Jism massasi soha massasidan kichik</a:t>
                      </a:r>
                    </a:p>
                  </a:txBody>
                  <a:tcPr marL="73152" marR="73152" marT="36576" marB="36576">
                    <a:solidFill>
                      <a:srgbClr val="E8EEF6"/>
                    </a:solidFill>
                  </a:tcPr>
                </a:tc>
                <a:tc>
                  <a:txBody>
                    <a:bodyPr/>
                    <a:lstStyle/>
                    <a:p>
                      <a:r>
                        <a:rPr sz="1200" b="0">
                          <a:solidFill>
                            <a:srgbClr val="1F2937"/>
                          </a:solidFill>
                        </a:rPr>
                        <a:t>Ta’sir kuchi massadan ancha katta</a:t>
                      </a:r>
                    </a:p>
                  </a:txBody>
                  <a:tcPr marL="73152" marR="73152" marT="36576" marB="36576">
                    <a:solidFill>
                      <a:srgbClr val="E8EEF6"/>
                    </a:solidFill>
                  </a:tcPr>
                </a:tc>
              </a:tr>
              <a:tr h="411480">
                <a:tc>
                  <a:txBody>
                    <a:bodyPr/>
                    <a:lstStyle/>
                    <a:p>
                      <a:r>
                        <a:rPr sz="1200" b="0">
                          <a:solidFill>
                            <a:srgbClr val="1F2937"/>
                          </a:solidFill>
                        </a:rPr>
                        <a:t>Shikast joyi</a:t>
                      </a:r>
                    </a:p>
                  </a:txBody>
                  <a:tcPr marL="73152" marR="73152" marT="36576" marB="36576">
                    <a:solidFill>
                      <a:srgbClr val="FFFFFF"/>
                    </a:solidFill>
                  </a:tcPr>
                </a:tc>
                <a:tc>
                  <a:txBody>
                    <a:bodyPr/>
                    <a:lstStyle/>
                    <a:p>
                      <a:r>
                        <a:rPr sz="1200" b="0">
                          <a:solidFill>
                            <a:srgbClr val="1F2937"/>
                          </a:solidFill>
                        </a:rPr>
                        <a:t>Faqat ta’sir sohasi bilan cheklanadi</a:t>
                      </a:r>
                    </a:p>
                  </a:txBody>
                  <a:tcPr marL="73152" marR="73152" marT="36576" marB="36576">
                    <a:solidFill>
                      <a:srgbClr val="FFFFFF"/>
                    </a:solidFill>
                  </a:tcPr>
                </a:tc>
                <a:tc>
                  <a:txBody>
                    <a:bodyPr/>
                    <a:lstStyle/>
                    <a:p>
                      <a:r>
                        <a:rPr sz="1200" b="0">
                          <a:solidFill>
                            <a:srgbClr val="1F2937"/>
                          </a:solidFill>
                        </a:rPr>
                        <a:t>Bilvosita jarohatlar ham bo‘ladi</a:t>
                      </a:r>
                    </a:p>
                  </a:txBody>
                  <a:tcPr marL="73152" marR="73152" marT="36576" marB="36576">
                    <a:solidFill>
                      <a:srgbClr val="FFFFFF"/>
                    </a:solidFill>
                  </a:tcPr>
                </a:tc>
              </a:tr>
              <a:tr h="411480">
                <a:tc>
                  <a:txBody>
                    <a:bodyPr/>
                    <a:lstStyle/>
                    <a:p>
                      <a:r>
                        <a:rPr sz="1200" b="0">
                          <a:solidFill>
                            <a:srgbClr val="1F2937"/>
                          </a:solidFill>
                        </a:rPr>
                        <a:t>Qo‘shimcha belgi</a:t>
                      </a:r>
                    </a:p>
                  </a:txBody>
                  <a:tcPr marL="73152" marR="73152" marT="36576" marB="36576">
                    <a:solidFill>
                      <a:srgbClr val="E8EEF6"/>
                    </a:solidFill>
                  </a:tcPr>
                </a:tc>
                <a:tc>
                  <a:txBody>
                    <a:bodyPr/>
                    <a:lstStyle/>
                    <a:p>
                      <a:r>
                        <a:rPr sz="1200" b="0">
                          <a:solidFill>
                            <a:srgbClr val="1F2937"/>
                          </a:solidFill>
                        </a:rPr>
                        <a:t>Mahalliy jarohat</a:t>
                      </a:r>
                    </a:p>
                  </a:txBody>
                  <a:tcPr marL="73152" marR="73152" marT="36576" marB="36576">
                    <a:solidFill>
                      <a:srgbClr val="E8EEF6"/>
                    </a:solidFill>
                  </a:tcPr>
                </a:tc>
                <a:tc>
                  <a:txBody>
                    <a:bodyPr/>
                    <a:lstStyle/>
                    <a:p>
                      <a:r>
                        <a:rPr sz="1200" b="0">
                          <a:solidFill>
                            <a:srgbClr val="1F2937"/>
                          </a:solidFill>
                        </a:rPr>
                        <a:t>Umumiy chayqalish, aks zarb</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Impression va inersion travma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33, 33-34,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jismlarning ta’sir mexanizmlari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Zarb — bir tomonga yo‘nalgan, qisqa ta’sir. Siqilishda esa ikki kuch bir-biriga qarab, uzoqroq ta’sir etadi.</a:t>
            </a:r>
          </a:p>
          <a:p>
            <a:pPr>
              <a:spcAft>
                <a:spcPts val="800"/>
              </a:spcAft>
            </a:pPr>
            <a:r>
              <a:rPr sz="1800">
                <a:solidFill>
                  <a:srgbClr val="1F2937"/>
                </a:solidFill>
                <a:latin typeface="Calibri"/>
              </a:rPr>
              <a:t>▸  Chayqalish zarbdan so‘ng yoki silkinishda: kuchsizi — miya chayqalishi, kuchlisi — ichki a’zo va boylam yorilishi.</a:t>
            </a:r>
          </a:p>
          <a:p>
            <a:pPr>
              <a:spcAft>
                <a:spcPts val="800"/>
              </a:spcAft>
            </a:pPr>
            <a:r>
              <a:rPr sz="1800">
                <a:solidFill>
                  <a:srgbClr val="1F2937"/>
                </a:solidFill>
                <a:latin typeface="Calibri"/>
              </a:rPr>
              <a:t>▸  Diqqat: siqilish ≠ cho‘zilish. Birida kuchlar markazga qarab, ikkinchisida markazdan qochib ta’sir qiladi.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Kuch</a:t>
                      </a:r>
                    </a:p>
                  </a:txBody>
                  <a:tcPr marL="73152" marR="73152" marT="36576" marB="36576">
                    <a:solidFill>
                      <a:srgbClr val="0B1F3A"/>
                    </a:solidFill>
                  </a:tcPr>
                </a:tc>
                <a:tc>
                  <a:txBody>
                    <a:bodyPr/>
                    <a:lstStyle/>
                    <a:p>
                      <a:r>
                        <a:rPr sz="1300" b="1">
                          <a:solidFill>
                            <a:srgbClr val="FFFFFF"/>
                          </a:solidFill>
                        </a:rPr>
                        <a:t>Jarohat</a:t>
                      </a:r>
                    </a:p>
                  </a:txBody>
                  <a:tcPr marL="73152" marR="73152" marT="36576" marB="36576">
                    <a:solidFill>
                      <a:srgbClr val="0B1F3A"/>
                    </a:solidFill>
                  </a:tcPr>
                </a:tc>
              </a:tr>
              <a:tr h="411480">
                <a:tc>
                  <a:txBody>
                    <a:bodyPr/>
                    <a:lstStyle/>
                    <a:p>
                      <a:r>
                        <a:rPr sz="1200" b="0">
                          <a:solidFill>
                            <a:srgbClr val="1F2937"/>
                          </a:solidFill>
                        </a:rPr>
                        <a:t>Siqilish</a:t>
                      </a:r>
                    </a:p>
                  </a:txBody>
                  <a:tcPr marL="73152" marR="73152" marT="36576" marB="36576">
                    <a:solidFill>
                      <a:srgbClr val="E8EEF6"/>
                    </a:solidFill>
                  </a:tcPr>
                </a:tc>
                <a:tc>
                  <a:txBody>
                    <a:bodyPr/>
                    <a:lstStyle/>
                    <a:p>
                      <a:r>
                        <a:rPr sz="1200" b="0">
                          <a:solidFill>
                            <a:srgbClr val="1F2937"/>
                          </a:solidFill>
                        </a:rPr>
                        <a:t>Markazga intiluvchi kuchlar, uzoq ta’sir</a:t>
                      </a:r>
                    </a:p>
                  </a:txBody>
                  <a:tcPr marL="73152" marR="73152" marT="36576" marB="36576">
                    <a:solidFill>
                      <a:srgbClr val="E8EEF6"/>
                    </a:solidFill>
                  </a:tcPr>
                </a:tc>
                <a:tc>
                  <a:txBody>
                    <a:bodyPr/>
                    <a:lstStyle/>
                    <a:p>
                      <a:r>
                        <a:rPr sz="1200" b="0">
                          <a:solidFill>
                            <a:srgbClr val="1F2937"/>
                          </a:solidFill>
                        </a:rPr>
                        <a:t>Ichki a’zo va suyak shikasti og‘irroq</a:t>
                      </a:r>
                    </a:p>
                  </a:txBody>
                  <a:tcPr marL="73152" marR="73152" marT="36576" marB="36576">
                    <a:solidFill>
                      <a:srgbClr val="E8EEF6"/>
                    </a:solidFill>
                  </a:tcPr>
                </a:tc>
              </a:tr>
              <a:tr h="411480">
                <a:tc>
                  <a:txBody>
                    <a:bodyPr/>
                    <a:lstStyle/>
                    <a:p>
                      <a:r>
                        <a:rPr sz="1200" b="0">
                          <a:solidFill>
                            <a:srgbClr val="1F2937"/>
                          </a:solidFill>
                        </a:rPr>
                        <a:t>Cho‘zilish</a:t>
                      </a:r>
                    </a:p>
                  </a:txBody>
                  <a:tcPr marL="73152" marR="73152" marT="36576" marB="36576">
                    <a:solidFill>
                      <a:srgbClr val="FFFFFF"/>
                    </a:solidFill>
                  </a:tcPr>
                </a:tc>
                <a:tc>
                  <a:txBody>
                    <a:bodyPr/>
                    <a:lstStyle/>
                    <a:p>
                      <a:r>
                        <a:rPr sz="1200" b="0">
                          <a:solidFill>
                            <a:srgbClr val="1F2937"/>
                          </a:solidFill>
                        </a:rPr>
                        <a:t>Markazdan qochuvchi kuchlar</a:t>
                      </a:r>
                    </a:p>
                  </a:txBody>
                  <a:tcPr marL="73152" marR="73152" marT="36576" marB="36576">
                    <a:solidFill>
                      <a:srgbClr val="FFFFFF"/>
                    </a:solidFill>
                  </a:tcPr>
                </a:tc>
                <a:tc>
                  <a:txBody>
                    <a:bodyPr/>
                    <a:lstStyle/>
                    <a:p>
                      <a:r>
                        <a:rPr sz="1200" b="0">
                          <a:solidFill>
                            <a:srgbClr val="1F2937"/>
                          </a:solidFill>
                        </a:rPr>
                        <a:t>Yirtma yara, yorilish, tana qismi ajralishi</a:t>
                      </a:r>
                    </a:p>
                  </a:txBody>
                  <a:tcPr marL="73152" marR="73152" marT="36576" marB="36576">
                    <a:solidFill>
                      <a:srgbClr val="FFFFFF"/>
                    </a:solidFill>
                  </a:tcPr>
                </a:tc>
              </a:tr>
              <a:tr h="411480">
                <a:tc>
                  <a:txBody>
                    <a:bodyPr/>
                    <a:lstStyle/>
                    <a:p>
                      <a:r>
                        <a:rPr sz="1200" b="0">
                          <a:solidFill>
                            <a:srgbClr val="1F2937"/>
                          </a:solidFill>
                        </a:rPr>
                        <a:t>Ishqalanish</a:t>
                      </a:r>
                    </a:p>
                  </a:txBody>
                  <a:tcPr marL="73152" marR="73152" marT="36576" marB="36576">
                    <a:solidFill>
                      <a:srgbClr val="E8EEF6"/>
                    </a:solidFill>
                  </a:tcPr>
                </a:tc>
                <a:tc>
                  <a:txBody>
                    <a:bodyPr/>
                    <a:lstStyle/>
                    <a:p>
                      <a:r>
                        <a:rPr sz="1200" b="0">
                          <a:solidFill>
                            <a:srgbClr val="1F2937"/>
                          </a:solidFill>
                        </a:rPr>
                        <a:t>Burchak ostida harakatlanuvchi jism</a:t>
                      </a:r>
                    </a:p>
                  </a:txBody>
                  <a:tcPr marL="73152" marR="73152" marT="36576" marB="36576">
                    <a:solidFill>
                      <a:srgbClr val="E8EEF6"/>
                    </a:solidFill>
                  </a:tcPr>
                </a:tc>
                <a:tc>
                  <a:txBody>
                    <a:bodyPr/>
                    <a:lstStyle/>
                    <a:p>
                      <a:r>
                        <a:rPr sz="1200" b="0">
                          <a:solidFill>
                            <a:srgbClr val="1F2937"/>
                          </a:solidFill>
                        </a:rPr>
                        <a:t>Shilinma, teri ajralishi</a:t>
                      </a:r>
                    </a:p>
                  </a:txBody>
                  <a:tcPr marL="73152" marR="73152" marT="36576" marB="36576">
                    <a:solidFill>
                      <a:srgbClr val="E8EEF6"/>
                    </a:solidFill>
                  </a:tcPr>
                </a:tc>
              </a:tr>
              <a:tr h="411480">
                <a:tc>
                  <a:txBody>
                    <a:bodyPr/>
                    <a:lstStyle/>
                    <a:p>
                      <a:r>
                        <a:rPr sz="1200" b="0">
                          <a:solidFill>
                            <a:srgbClr val="1F2937"/>
                          </a:solidFill>
                        </a:rPr>
                        <a:t>Buralish</a:t>
                      </a:r>
                    </a:p>
                  </a:txBody>
                  <a:tcPr marL="73152" marR="73152" marT="36576" marB="36576">
                    <a:solidFill>
                      <a:srgbClr val="FFFFFF"/>
                    </a:solidFill>
                  </a:tcPr>
                </a:tc>
                <a:tc>
                  <a:txBody>
                    <a:bodyPr/>
                    <a:lstStyle/>
                    <a:p>
                      <a:r>
                        <a:rPr sz="1200" b="0">
                          <a:solidFill>
                            <a:srgbClr val="1F2937"/>
                          </a:solidFill>
                        </a:rPr>
                        <a:t>Ikki aylana, qarama-qarshi yo‘nalish</a:t>
                      </a:r>
                    </a:p>
                  </a:txBody>
                  <a:tcPr marL="73152" marR="73152" marT="36576" marB="36576">
                    <a:solidFill>
                      <a:srgbClr val="FFFFFF"/>
                    </a:solidFill>
                  </a:tcPr>
                </a:tc>
                <a:tc>
                  <a:txBody>
                    <a:bodyPr/>
                    <a:lstStyle/>
                    <a:p>
                      <a:r>
                        <a:rPr sz="1200" b="0">
                          <a:solidFill>
                            <a:srgbClr val="1F2937"/>
                          </a:solidFill>
                        </a:rPr>
                        <a:t>Spiralsimon suyak sinishi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 va jarohat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35, 36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Shilinmalar va ularning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Shilinma — terining yuza qavatlari: epidermis va so‘rg‘ichsimon qavat butunligining buzilishi.</a:t>
            </a:r>
          </a:p>
          <a:p>
            <a:pPr>
              <a:spcAft>
                <a:spcPts val="800"/>
              </a:spcAft>
            </a:pPr>
            <a:r>
              <a:rPr sz="1800">
                <a:solidFill>
                  <a:srgbClr val="1F2937"/>
                </a:solidFill>
                <a:latin typeface="Calibri"/>
              </a:rPr>
              <a:t>▸  Faqat epidermis zararlansa — yuzaki, so‘rg‘ichsimon qavatga o‘tsa — chuqur shilinma deyiladi.</a:t>
            </a:r>
          </a:p>
          <a:p>
            <a:pPr>
              <a:spcAft>
                <a:spcPts val="800"/>
              </a:spcAft>
            </a:pPr>
            <a:r>
              <a:rPr sz="1800">
                <a:solidFill>
                  <a:srgbClr val="1F2937"/>
                </a:solidFill>
                <a:latin typeface="Calibri"/>
              </a:rPr>
              <a:t>▸  Diqqat: pergament dog‘i ≠ shilinma. U o‘limdan keyingi qurish belgisi, qoplama hosil bo‘lmaydi.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555286"/>
                <a:gridCol w="1430863"/>
                <a:gridCol w="2301824"/>
              </a:tblGrid>
              <a:tr h="411480">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r>
              <a:tr h="411480">
                <a:tc>
                  <a:txBody>
                    <a:bodyPr/>
                    <a:lstStyle/>
                    <a:p>
                      <a:r>
                        <a:rPr sz="1200" b="0">
                          <a:solidFill>
                            <a:srgbClr val="1F2937"/>
                          </a:solidFill>
                        </a:rPr>
                        <a:t>1. Yangi shilinma</a:t>
                      </a:r>
                    </a:p>
                  </a:txBody>
                  <a:tcPr marL="73152" marR="73152" marT="36576" marB="36576">
                    <a:solidFill>
                      <a:srgbClr val="E8EEF6"/>
                    </a:solidFill>
                  </a:tcPr>
                </a:tc>
                <a:tc>
                  <a:txBody>
                    <a:bodyPr/>
                    <a:lstStyle/>
                    <a:p>
                      <a:r>
                        <a:rPr sz="1200" b="0">
                          <a:solidFill>
                            <a:srgbClr val="1F2937"/>
                          </a:solidFill>
                        </a:rPr>
                        <a:t>12 soatgacha</a:t>
                      </a:r>
                    </a:p>
                  </a:txBody>
                  <a:tcPr marL="73152" marR="73152" marT="36576" marB="36576">
                    <a:solidFill>
                      <a:srgbClr val="E8EEF6"/>
                    </a:solidFill>
                  </a:tcPr>
                </a:tc>
                <a:tc>
                  <a:txBody>
                    <a:bodyPr/>
                    <a:lstStyle/>
                    <a:p>
                      <a:r>
                        <a:rPr sz="1200" b="0">
                          <a:solidFill>
                            <a:srgbClr val="1F2937"/>
                          </a:solidFill>
                        </a:rPr>
                        <a:t>Yuza nam, keyin quriydi, sathdan past</a:t>
                      </a:r>
                    </a:p>
                  </a:txBody>
                  <a:tcPr marL="73152" marR="73152" marT="36576" marB="36576">
                    <a:solidFill>
                      <a:srgbClr val="E8EEF6"/>
                    </a:solidFill>
                  </a:tcPr>
                </a:tc>
              </a:tr>
              <a:tr h="411480">
                <a:tc>
                  <a:txBody>
                    <a:bodyPr/>
                    <a:lstStyle/>
                    <a:p>
                      <a:r>
                        <a:rPr sz="1200" b="0">
                          <a:solidFill>
                            <a:srgbClr val="1F2937"/>
                          </a:solidFill>
                        </a:rPr>
                        <a:t>2. Qoplama hosil bo‘lishi</a:t>
                      </a:r>
                    </a:p>
                  </a:txBody>
                  <a:tcPr marL="73152" marR="73152" marT="36576" marB="36576">
                    <a:solidFill>
                      <a:srgbClr val="FFFFFF"/>
                    </a:solidFill>
                  </a:tcPr>
                </a:tc>
                <a:tc>
                  <a:txBody>
                    <a:bodyPr/>
                    <a:lstStyle/>
                    <a:p>
                      <a:r>
                        <a:rPr sz="1200" b="0">
                          <a:solidFill>
                            <a:srgbClr val="1F2937"/>
                          </a:solidFill>
                        </a:rPr>
                        <a:t>2-3 sutkagacha</a:t>
                      </a:r>
                    </a:p>
                  </a:txBody>
                  <a:tcPr marL="73152" marR="73152" marT="36576" marB="36576">
                    <a:solidFill>
                      <a:srgbClr val="FFFFFF"/>
                    </a:solidFill>
                  </a:tcPr>
                </a:tc>
                <a:tc>
                  <a:txBody>
                    <a:bodyPr/>
                    <a:lstStyle/>
                    <a:p>
                      <a:r>
                        <a:rPr sz="1200" b="0">
                          <a:solidFill>
                            <a:srgbClr val="1F2937"/>
                          </a:solidFill>
                        </a:rPr>
                        <a:t>Qoplama sog‘lom teri sathida</a:t>
                      </a:r>
                    </a:p>
                  </a:txBody>
                  <a:tcPr marL="73152" marR="73152" marT="36576" marB="36576">
                    <a:solidFill>
                      <a:srgbClr val="FFFFFF"/>
                    </a:solidFill>
                  </a:tcPr>
                </a:tc>
              </a:tr>
              <a:tr h="411480">
                <a:tc>
                  <a:txBody>
                    <a:bodyPr/>
                    <a:lstStyle/>
                    <a:p>
                      <a:r>
                        <a:rPr sz="1200" b="0">
                          <a:solidFill>
                            <a:srgbClr val="1F2937"/>
                          </a:solidFill>
                        </a:rPr>
                        <a:t>3. Epitelizatsiya</a:t>
                      </a:r>
                    </a:p>
                  </a:txBody>
                  <a:tcPr marL="73152" marR="73152" marT="36576" marB="36576">
                    <a:solidFill>
                      <a:srgbClr val="E8EEF6"/>
                    </a:solidFill>
                  </a:tcPr>
                </a:tc>
                <a:tc>
                  <a:txBody>
                    <a:bodyPr/>
                    <a:lstStyle/>
                    <a:p>
                      <a:r>
                        <a:rPr sz="1200" b="0">
                          <a:solidFill>
                            <a:srgbClr val="1F2937"/>
                          </a:solidFill>
                        </a:rPr>
                        <a:t>7-9 sutkagacha</a:t>
                      </a:r>
                    </a:p>
                  </a:txBody>
                  <a:tcPr marL="73152" marR="73152" marT="36576" marB="36576">
                    <a:solidFill>
                      <a:srgbClr val="E8EEF6"/>
                    </a:solidFill>
                  </a:tcPr>
                </a:tc>
                <a:tc>
                  <a:txBody>
                    <a:bodyPr/>
                    <a:lstStyle/>
                    <a:p>
                      <a:r>
                        <a:rPr sz="1200" b="0">
                          <a:solidFill>
                            <a:srgbClr val="1F2937"/>
                          </a:solidFill>
                        </a:rPr>
                        <a:t>Qoplama qalinlashib, chetdan ko‘chadi</a:t>
                      </a:r>
                    </a:p>
                  </a:txBody>
                  <a:tcPr marL="73152" marR="73152" marT="36576" marB="36576">
                    <a:solidFill>
                      <a:srgbClr val="E8EEF6"/>
                    </a:solidFill>
                  </a:tcPr>
                </a:tc>
              </a:tr>
              <a:tr h="411480">
                <a:tc>
                  <a:txBody>
                    <a:bodyPr/>
                    <a:lstStyle/>
                    <a:p>
                      <a:r>
                        <a:rPr sz="1200" b="0">
                          <a:solidFill>
                            <a:srgbClr val="1F2937"/>
                          </a:solidFill>
                        </a:rPr>
                        <a:t>4. Iz bosqichi</a:t>
                      </a:r>
                    </a:p>
                  </a:txBody>
                  <a:tcPr marL="73152" marR="73152" marT="36576" marB="36576">
                    <a:solidFill>
                      <a:srgbClr val="FFFFFF"/>
                    </a:solidFill>
                  </a:tcPr>
                </a:tc>
                <a:tc>
                  <a:txBody>
                    <a:bodyPr/>
                    <a:lstStyle/>
                    <a:p>
                      <a:r>
                        <a:rPr sz="1200" b="0">
                          <a:solidFill>
                            <a:srgbClr val="1F2937"/>
                          </a:solidFill>
                        </a:rPr>
                        <a:t>10-15 sutkada yo‘qoladi</a:t>
                      </a:r>
                    </a:p>
                  </a:txBody>
                  <a:tcPr marL="73152" marR="73152" marT="36576" marB="36576">
                    <a:solidFill>
                      <a:srgbClr val="FFFFFF"/>
                    </a:solidFill>
                  </a:tcPr>
                </a:tc>
                <a:tc>
                  <a:txBody>
                    <a:bodyPr/>
                    <a:lstStyle/>
                    <a:p>
                      <a:r>
                        <a:rPr sz="1200" b="0">
                          <a:solidFill>
                            <a:srgbClr val="1F2937"/>
                          </a:solidFill>
                        </a:rPr>
                        <a:t>Pushti dog‘ ko‘rinishidagi iz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Taykov bo‘yicha bosqichlar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36,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Qontalash va gematoma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Qontalash — qon tomir yorilib, teri va yumshoq to‘qimalarga qon quyilishi; shish va og‘riq kuzatiladi.</a:t>
            </a:r>
          </a:p>
          <a:p>
            <a:pPr>
              <a:spcAft>
                <a:spcPts val="800"/>
              </a:spcAft>
            </a:pPr>
            <a:r>
              <a:rPr sz="1800">
                <a:solidFill>
                  <a:srgbClr val="1F2937"/>
                </a:solidFill>
                <a:latin typeface="Calibri"/>
              </a:rPr>
              <a:t>▸  Bo‘shliq yoki to‘qimalar oralig‘ida qonning to‘planishi gematoma deb ataladi.</a:t>
            </a:r>
          </a:p>
          <a:p>
            <a:pPr>
              <a:spcAft>
                <a:spcPts val="800"/>
              </a:spcAft>
            </a:pPr>
            <a:r>
              <a:rPr sz="1800">
                <a:solidFill>
                  <a:srgbClr val="1F2937"/>
                </a:solidFill>
                <a:latin typeface="Calibri"/>
              </a:rPr>
              <a:t>▸  Diqqat: o‘lim holatlarida qontalashni murda dog‘idan farqlash kerak, ayniqsa murda dog‘lari joyida.</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tomir yorilishi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 qizg‘ish-ko‘kimtir</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3-4 sutka: yashil tus</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6-8 sutka: sariq tus</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Rang o‘zgarishi (taxminiy)</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37,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jismdan yara va yorilish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Yara — terining barcha qavatlari va chuqur yumshoq to‘qimalar ajralishi; chetlari notekis, shilingan.</a:t>
            </a:r>
          </a:p>
          <a:p>
            <a:pPr>
              <a:spcAft>
                <a:spcPts val="800"/>
              </a:spcAft>
            </a:pPr>
            <a:r>
              <a:rPr sz="1800">
                <a:solidFill>
                  <a:srgbClr val="1F2937"/>
                </a:solidFill>
                <a:latin typeface="Calibri"/>
              </a:rPr>
              <a:t>▸  Tashqi qon ketishi odatda kuchli bo‘lmaydi; yordam ko‘rsatilmasa qo‘pol chandiq qoladi.</a:t>
            </a:r>
          </a:p>
          <a:p>
            <a:pPr>
              <a:spcAft>
                <a:spcPts val="800"/>
              </a:spcAft>
            </a:pPr>
            <a:r>
              <a:rPr sz="1800">
                <a:solidFill>
                  <a:srgbClr val="1F2937"/>
                </a:solidFill>
                <a:latin typeface="Calibri"/>
              </a:rPr>
              <a:t>▸  Yorilish doim bilvosita jarohat: bo‘rtib turgan suyak yaqinida to‘qimalar cho‘zilishidan hosil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10850"/>
                <a:gridCol w="1982990"/>
                <a:gridCol w="179413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Yara</a:t>
                      </a:r>
                    </a:p>
                  </a:txBody>
                  <a:tcPr marL="73152" marR="73152" marT="36576" marB="36576">
                    <a:solidFill>
                      <a:srgbClr val="0B1F3A"/>
                    </a:solidFill>
                  </a:tcPr>
                </a:tc>
                <a:tc>
                  <a:txBody>
                    <a:bodyPr/>
                    <a:lstStyle/>
                    <a:p>
                      <a:r>
                        <a:rPr sz="1300" b="1">
                          <a:solidFill>
                            <a:srgbClr val="FFFFFF"/>
                          </a:solidFill>
                        </a:rPr>
                        <a:t>Yorilish</a:t>
                      </a:r>
                    </a:p>
                  </a:txBody>
                  <a:tcPr marL="73152" marR="73152" marT="36576" marB="36576">
                    <a:solidFill>
                      <a:srgbClr val="0B1F3A"/>
                    </a:solidFill>
                  </a:tcPr>
                </a:tc>
              </a:tr>
              <a:tr h="411480">
                <a:tc>
                  <a:txBody>
                    <a:bodyPr/>
                    <a:lstStyle/>
                    <a:p>
                      <a:r>
                        <a:rPr sz="1200" b="0">
                          <a:solidFill>
                            <a:srgbClr val="1F2937"/>
                          </a:solidFill>
                        </a:rPr>
                        <a:t>Uchlari</a:t>
                      </a:r>
                    </a:p>
                  </a:txBody>
                  <a:tcPr marL="73152" marR="73152" marT="36576" marB="36576">
                    <a:solidFill>
                      <a:srgbClr val="E8EEF6"/>
                    </a:solidFill>
                  </a:tcPr>
                </a:tc>
                <a:tc>
                  <a:txBody>
                    <a:bodyPr/>
                    <a:lstStyle/>
                    <a:p>
                      <a:r>
                        <a:rPr sz="1200" b="0">
                          <a:solidFill>
                            <a:srgbClr val="1F2937"/>
                          </a:solidFill>
                        </a:rPr>
                        <a:t>Odatda o‘tmas</a:t>
                      </a:r>
                    </a:p>
                  </a:txBody>
                  <a:tcPr marL="73152" marR="73152" marT="36576" marB="36576">
                    <a:solidFill>
                      <a:srgbClr val="E8EEF6"/>
                    </a:solidFill>
                  </a:tcPr>
                </a:tc>
                <a:tc>
                  <a:txBody>
                    <a:bodyPr/>
                    <a:lstStyle/>
                    <a:p>
                      <a:r>
                        <a:rPr sz="1200" b="0">
                          <a:solidFill>
                            <a:srgbClr val="1F2937"/>
                          </a:solidFill>
                        </a:rPr>
                        <a:t>Ko‘pincha o‘tkir</a:t>
                      </a:r>
                    </a:p>
                  </a:txBody>
                  <a:tcPr marL="73152" marR="73152" marT="36576" marB="36576">
                    <a:solidFill>
                      <a:srgbClr val="E8EEF6"/>
                    </a:solidFill>
                  </a:tcPr>
                </a:tc>
              </a:tr>
              <a:tr h="411480">
                <a:tc>
                  <a:txBody>
                    <a:bodyPr/>
                    <a:lstStyle/>
                    <a:p>
                      <a:r>
                        <a:rPr sz="1200" b="0">
                          <a:solidFill>
                            <a:srgbClr val="1F2937"/>
                          </a:solidFill>
                        </a:rPr>
                        <a:t>Chetlari</a:t>
                      </a:r>
                    </a:p>
                  </a:txBody>
                  <a:tcPr marL="73152" marR="73152" marT="36576" marB="36576">
                    <a:solidFill>
                      <a:srgbClr val="FFFFFF"/>
                    </a:solidFill>
                  </a:tcPr>
                </a:tc>
                <a:tc>
                  <a:txBody>
                    <a:bodyPr/>
                    <a:lstStyle/>
                    <a:p>
                      <a:r>
                        <a:rPr sz="1200" b="0">
                          <a:solidFill>
                            <a:srgbClr val="1F2937"/>
                          </a:solidFill>
                        </a:rPr>
                        <a:t>Notekis, shilingan</a:t>
                      </a:r>
                    </a:p>
                  </a:txBody>
                  <a:tcPr marL="73152" marR="73152" marT="36576" marB="36576">
                    <a:solidFill>
                      <a:srgbClr val="FFFFFF"/>
                    </a:solidFill>
                  </a:tcPr>
                </a:tc>
                <a:tc>
                  <a:txBody>
                    <a:bodyPr/>
                    <a:lstStyle/>
                    <a:p>
                      <a:r>
                        <a:rPr sz="1200" b="0">
                          <a:solidFill>
                            <a:srgbClr val="1F2937"/>
                          </a:solidFill>
                        </a:rPr>
                        <a:t>Tekis, shilinishsiz</a:t>
                      </a:r>
                    </a:p>
                  </a:txBody>
                  <a:tcPr marL="73152" marR="73152" marT="36576" marB="36576">
                    <a:solidFill>
                      <a:srgbClr val="FFFFFF"/>
                    </a:solidFill>
                  </a:tcPr>
                </a:tc>
              </a:tr>
              <a:tr h="411480">
                <a:tc>
                  <a:txBody>
                    <a:bodyPr/>
                    <a:lstStyle/>
                    <a:p>
                      <a:r>
                        <a:rPr sz="1200" b="0">
                          <a:solidFill>
                            <a:srgbClr val="1F2937"/>
                          </a:solidFill>
                        </a:rPr>
                        <a:t>Chekka devori</a:t>
                      </a:r>
                    </a:p>
                  </a:txBody>
                  <a:tcPr marL="73152" marR="73152" marT="36576" marB="36576">
                    <a:solidFill>
                      <a:srgbClr val="E8EEF6"/>
                    </a:solidFill>
                  </a:tcPr>
                </a:tc>
                <a:tc>
                  <a:txBody>
                    <a:bodyPr/>
                    <a:lstStyle/>
                    <a:p>
                      <a:r>
                        <a:rPr sz="1200" b="0">
                          <a:solidFill>
                            <a:srgbClr val="1F2937"/>
                          </a:solidFill>
                        </a:rPr>
                        <a:t>Notekis, ko‘prikchali</a:t>
                      </a:r>
                    </a:p>
                  </a:txBody>
                  <a:tcPr marL="73152" marR="73152" marT="36576" marB="36576">
                    <a:solidFill>
                      <a:srgbClr val="E8EEF6"/>
                    </a:solidFill>
                  </a:tcPr>
                </a:tc>
                <a:tc>
                  <a:txBody>
                    <a:bodyPr/>
                    <a:lstStyle/>
                    <a:p>
                      <a:r>
                        <a:rPr sz="1200" b="0">
                          <a:solidFill>
                            <a:srgbClr val="1F2937"/>
                          </a:solidFill>
                        </a:rPr>
                        <a:t>Tikka</a:t>
                      </a:r>
                    </a:p>
                  </a:txBody>
                  <a:tcPr marL="73152" marR="73152" marT="36576" marB="36576">
                    <a:solidFill>
                      <a:srgbClr val="E8EEF6"/>
                    </a:solidFill>
                  </a:tcPr>
                </a:tc>
              </a:tr>
              <a:tr h="411480">
                <a:tc>
                  <a:txBody>
                    <a:bodyPr/>
                    <a:lstStyle/>
                    <a:p>
                      <a:r>
                        <a:rPr sz="1200" b="0">
                          <a:solidFill>
                            <a:srgbClr val="1F2937"/>
                          </a:solidFill>
                        </a:rPr>
                        <a:t>Tubi</a:t>
                      </a:r>
                    </a:p>
                  </a:txBody>
                  <a:tcPr marL="73152" marR="73152" marT="36576" marB="36576">
                    <a:solidFill>
                      <a:srgbClr val="FFFFFF"/>
                    </a:solidFill>
                  </a:tcPr>
                </a:tc>
                <a:tc>
                  <a:txBody>
                    <a:bodyPr/>
                    <a:lstStyle/>
                    <a:p>
                      <a:r>
                        <a:rPr sz="1200" b="0">
                          <a:solidFill>
                            <a:srgbClr val="1F2937"/>
                          </a:solidFill>
                        </a:rPr>
                        <a:t>Notekis sathli</a:t>
                      </a:r>
                    </a:p>
                  </a:txBody>
                  <a:tcPr marL="73152" marR="73152" marT="36576" marB="36576">
                    <a:solidFill>
                      <a:srgbClr val="FFFFFF"/>
                    </a:solidFill>
                  </a:tcPr>
                </a:tc>
                <a:tc>
                  <a:txBody>
                    <a:bodyPr/>
                    <a:lstStyle/>
                    <a:p>
                      <a:r>
                        <a:rPr sz="1200" b="0">
                          <a:solidFill>
                            <a:srgbClr val="1F2937"/>
                          </a:solidFill>
                        </a:rPr>
                        <a:t>Yassi, bir sathda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 va yorilish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39,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o‘tmas jismdan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jabrlanganning bilagida shilinma bor. Uning yuzasi qoplama bilan qoplangan, qoplama sog‘lom teri sathida. Savol: shilinma qaysi bosqichda?</a:t>
            </a:r>
          </a:p>
          <a:p>
            <a:pPr>
              <a:spcAft>
                <a:spcPts val="1200"/>
              </a:spcAft>
            </a:pPr>
            <a:r>
              <a:rPr sz="2200">
                <a:solidFill>
                  <a:srgbClr val="1F2937"/>
                </a:solidFill>
                <a:latin typeface="Calibri"/>
              </a:rPr>
              <a:t>▸  Eslatma: qoplama hosil bo‘lish bosqichi 2-3 sutkagacha davom etadi. Epitelizatsiyada qoplama qattiqlashib, sog‘lom teri sathidan ko‘tariladi.</a:t>
            </a:r>
          </a:p>
          <a:p>
            <a:pPr>
              <a:spcAft>
                <a:spcPts val="1200"/>
              </a:spcAft>
            </a:pPr>
            <a:r>
              <a:rPr sz="2200">
                <a:solidFill>
                  <a:srgbClr val="1F2937"/>
                </a:solidFill>
                <a:latin typeface="Calibri"/>
              </a:rPr>
              <a:t>▸  Qontalashda yashil tus 3-4 sutkada, sariq tus 6-8 sutkada paydo bo‘la boshlaydi. Bu muddatlar taxminiy, jism va soha xususiyatiga bog‘liq.</a:t>
            </a:r>
          </a:p>
          <a:p>
            <a:pPr>
              <a:spcAft>
                <a:spcPts val="1200"/>
              </a:spcAft>
            </a:pPr>
            <a:r>
              <a:rPr sz="2200">
                <a:solidFill>
                  <a:srgbClr val="1F2937"/>
                </a:solidFill>
                <a:latin typeface="Calibri"/>
              </a:rPr>
              <a:t>▸  Diqqat: xato qilish xavfi! Pergament dog‘i ≠ shilinma. Pergament dog‘ida qoplama hosil bo‘lmaydi va hayotiy jarohat belgilari aniqlanmaydi.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36, 38,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sinishi va chiqishlar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Muvaqqat deformatsiyada suyak shaklini tiklaydi; doimiy deformatsiyada suyakda sinish paydo bo‘ladi.</a:t>
            </a:r>
          </a:p>
          <a:p>
            <a:pPr>
              <a:spcAft>
                <a:spcPts val="800"/>
              </a:spcAft>
            </a:pPr>
            <a:r>
              <a:rPr sz="1800">
                <a:solidFill>
                  <a:srgbClr val="1F2937"/>
                </a:solidFill>
                <a:latin typeface="Calibri"/>
              </a:rPr>
              <a:t>▸  To‘liq sinishda suyak ikki yangi yuzaga ajraladi; noto‘liq sinish — darz ketish yoki chala sinish.</a:t>
            </a:r>
          </a:p>
          <a:p>
            <a:pPr>
              <a:spcAft>
                <a:spcPts val="800"/>
              </a:spcAft>
            </a:pPr>
            <a:r>
              <a:rPr sz="1800">
                <a:solidFill>
                  <a:srgbClr val="1F2937"/>
                </a:solidFill>
                <a:latin typeface="Calibri"/>
              </a:rPr>
              <a:t>▸  Chiqish hamisha bilvosita jarohat: bo‘g‘im yuzalari turg‘un siljiydi, tashqi jarohat xos emas.</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71791"/>
                <a:gridCol w="1673409"/>
                <a:gridCol w="2342773"/>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Cho‘zilish tomoni</a:t>
                      </a:r>
                    </a:p>
                  </a:txBody>
                  <a:tcPr marL="73152" marR="73152" marT="36576" marB="36576">
                    <a:solidFill>
                      <a:srgbClr val="0B1F3A"/>
                    </a:solidFill>
                  </a:tcPr>
                </a:tc>
                <a:tc>
                  <a:txBody>
                    <a:bodyPr/>
                    <a:lstStyle/>
                    <a:p>
                      <a:r>
                        <a:rPr sz="1300" b="1">
                          <a:solidFill>
                            <a:srgbClr val="FFFFFF"/>
                          </a:solidFill>
                        </a:rPr>
                        <a:t>Siqilish tomoni</a:t>
                      </a:r>
                    </a:p>
                  </a:txBody>
                  <a:tcPr marL="73152" marR="73152" marT="36576" marB="36576">
                    <a:solidFill>
                      <a:srgbClr val="0B1F3A"/>
                    </a:solidFill>
                  </a:tcPr>
                </a:tc>
              </a:tr>
              <a:tr h="411480">
                <a:tc>
                  <a:txBody>
                    <a:bodyPr/>
                    <a:lstStyle/>
                    <a:p>
                      <a:r>
                        <a:rPr sz="1200" b="0">
                          <a:solidFill>
                            <a:srgbClr val="1F2937"/>
                          </a:solidFill>
                        </a:rPr>
                        <a:t>Sinish chizig‘i</a:t>
                      </a:r>
                    </a:p>
                  </a:txBody>
                  <a:tcPr marL="73152" marR="73152" marT="36576" marB="36576">
                    <a:solidFill>
                      <a:srgbClr val="E8EEF6"/>
                    </a:solidFill>
                  </a:tcPr>
                </a:tc>
                <a:tc>
                  <a:txBody>
                    <a:bodyPr/>
                    <a:lstStyle/>
                    <a:p>
                      <a:r>
                        <a:rPr sz="1200" b="0">
                          <a:solidFill>
                            <a:srgbClr val="1F2937"/>
                          </a:solidFill>
                        </a:rPr>
                        <a:t>Bitta to‘g‘ri, ko‘ndalang</a:t>
                      </a:r>
                    </a:p>
                  </a:txBody>
                  <a:tcPr marL="73152" marR="73152" marT="36576" marB="36576">
                    <a:solidFill>
                      <a:srgbClr val="E8EEF6"/>
                    </a:solidFill>
                  </a:tcPr>
                </a:tc>
                <a:tc>
                  <a:txBody>
                    <a:bodyPr/>
                    <a:lstStyle/>
                    <a:p>
                      <a:r>
                        <a:rPr sz="1200" b="0">
                          <a:solidFill>
                            <a:srgbClr val="1F2937"/>
                          </a:solidFill>
                        </a:rPr>
                        <a:t>Zigzagsimon, qiyshiq yoki uzunasiga</a:t>
                      </a:r>
                    </a:p>
                  </a:txBody>
                  <a:tcPr marL="73152" marR="73152" marT="36576" marB="36576">
                    <a:solidFill>
                      <a:srgbClr val="E8EEF6"/>
                    </a:solidFill>
                  </a:tcPr>
                </a:tc>
              </a:tr>
              <a:tr h="411480">
                <a:tc>
                  <a:txBody>
                    <a:bodyPr/>
                    <a:lstStyle/>
                    <a:p>
                      <a:r>
                        <a:rPr sz="1200" b="0">
                          <a:solidFill>
                            <a:srgbClr val="1F2937"/>
                          </a:solidFill>
                        </a:rPr>
                        <a:t>Siniq chetlari</a:t>
                      </a:r>
                    </a:p>
                  </a:txBody>
                  <a:tcPr marL="73152" marR="73152" marT="36576" marB="36576">
                    <a:solidFill>
                      <a:srgbClr val="FFFFFF"/>
                    </a:solidFill>
                  </a:tcPr>
                </a:tc>
                <a:tc>
                  <a:txBody>
                    <a:bodyPr/>
                    <a:lstStyle/>
                    <a:p>
                      <a:r>
                        <a:rPr sz="1200" b="0">
                          <a:solidFill>
                            <a:srgbClr val="1F2937"/>
                          </a:solidFill>
                        </a:rPr>
                        <a:t>Tekis yoki mayda tishli</a:t>
                      </a:r>
                    </a:p>
                  </a:txBody>
                  <a:tcPr marL="73152" marR="73152" marT="36576" marB="36576">
                    <a:solidFill>
                      <a:srgbClr val="FFFFFF"/>
                    </a:solidFill>
                  </a:tcPr>
                </a:tc>
                <a:tc>
                  <a:txBody>
                    <a:bodyPr/>
                    <a:lstStyle/>
                    <a:p>
                      <a:r>
                        <a:rPr sz="1200" b="0">
                          <a:solidFill>
                            <a:srgbClr val="1F2937"/>
                          </a:solidFill>
                        </a:rPr>
                        <a:t>Notekis, yirik tishli, edirilgan</a:t>
                      </a:r>
                    </a:p>
                  </a:txBody>
                  <a:tcPr marL="73152" marR="73152" marT="36576" marB="36576">
                    <a:solidFill>
                      <a:srgbClr val="FFFFFF"/>
                    </a:solidFill>
                  </a:tcPr>
                </a:tc>
              </a:tr>
              <a:tr h="411480">
                <a:tc>
                  <a:txBody>
                    <a:bodyPr/>
                    <a:lstStyle/>
                    <a:p>
                      <a:r>
                        <a:rPr sz="1200" b="0">
                          <a:solidFill>
                            <a:srgbClr val="1F2937"/>
                          </a:solidFill>
                        </a:rPr>
                        <a:t>Suyak siniqlari</a:t>
                      </a:r>
                    </a:p>
                  </a:txBody>
                  <a:tcPr marL="73152" marR="73152" marT="36576" marB="36576">
                    <a:solidFill>
                      <a:srgbClr val="E8EEF6"/>
                    </a:solidFill>
                  </a:tcPr>
                </a:tc>
                <a:tc>
                  <a:txBody>
                    <a:bodyPr/>
                    <a:lstStyle/>
                    <a:p>
                      <a:r>
                        <a:rPr sz="1200" b="0">
                          <a:solidFill>
                            <a:srgbClr val="1F2937"/>
                          </a:solidFill>
                        </a:rPr>
                        <a:t>Hosil bo‘lmaydi</a:t>
                      </a:r>
                    </a:p>
                  </a:txBody>
                  <a:tcPr marL="73152" marR="73152" marT="36576" marB="36576">
                    <a:solidFill>
                      <a:srgbClr val="E8EEF6"/>
                    </a:solidFill>
                  </a:tcPr>
                </a:tc>
                <a:tc>
                  <a:txBody>
                    <a:bodyPr/>
                    <a:lstStyle/>
                    <a:p>
                      <a:r>
                        <a:rPr sz="1200" b="0">
                          <a:solidFill>
                            <a:srgbClr val="1F2937"/>
                          </a:solidFill>
                        </a:rPr>
                        <a:t>Hosil bo‘lishi mumkin</a:t>
                      </a:r>
                    </a:p>
                  </a:txBody>
                  <a:tcPr marL="73152" marR="73152" marT="36576" marB="36576">
                    <a:solidFill>
                      <a:srgbClr val="E8EEF6"/>
                    </a:solidFill>
                  </a:tcPr>
                </a:tc>
              </a:tr>
              <a:tr h="411480">
                <a:tc>
                  <a:txBody>
                    <a:bodyPr/>
                    <a:lstStyle/>
                    <a:p>
                      <a:r>
                        <a:rPr sz="1200" b="0">
                          <a:solidFill>
                            <a:srgbClr val="1F2937"/>
                          </a:solidFill>
                        </a:rPr>
                        <a:t>Yaqinlashtirilganda</a:t>
                      </a:r>
                    </a:p>
                  </a:txBody>
                  <a:tcPr marL="73152" marR="73152" marT="36576" marB="36576">
                    <a:solidFill>
                      <a:srgbClr val="FFFFFF"/>
                    </a:solidFill>
                  </a:tcPr>
                </a:tc>
                <a:tc>
                  <a:txBody>
                    <a:bodyPr/>
                    <a:lstStyle/>
                    <a:p>
                      <a:r>
                        <a:rPr sz="1200" b="0">
                          <a:solidFill>
                            <a:srgbClr val="1F2937"/>
                          </a:solidFill>
                        </a:rPr>
                        <a:t>Zich mos keladi</a:t>
                      </a:r>
                    </a:p>
                  </a:txBody>
                  <a:tcPr marL="73152" marR="73152" marT="36576" marB="36576">
                    <a:solidFill>
                      <a:srgbClr val="FFFFFF"/>
                    </a:solidFill>
                  </a:tcPr>
                </a:tc>
                <a:tc>
                  <a:txBody>
                    <a:bodyPr/>
                    <a:lstStyle/>
                    <a:p>
                      <a:r>
                        <a:rPr sz="1200" b="0">
                          <a:solidFill>
                            <a:srgbClr val="1F2937"/>
                          </a:solidFill>
                        </a:rPr>
                        <a:t>Mos tushmaydi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Egilishda sinish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41, 43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Yiqilish natijasidagi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Yuzaga yiqilishda 3 bosqich: muvozanat yo‘qoladi, tana yiqila boshlaydi, yuza bilan zarblanadi.</a:t>
            </a:r>
          </a:p>
          <a:p>
            <a:pPr>
              <a:spcAft>
                <a:spcPts val="800"/>
              </a:spcAft>
            </a:pPr>
            <a:r>
              <a:rPr sz="1800">
                <a:solidFill>
                  <a:srgbClr val="1F2937"/>
                </a:solidFill>
                <a:latin typeface="Calibri"/>
              </a:rPr>
              <a:t>▸  Balandlikdan yiqilishda ikkilamchi jarohat VI bosqichda hosil bo‘ladi; yuzaga yiqilishda u bo‘lmaydi.</a:t>
            </a:r>
          </a:p>
          <a:p>
            <a:pPr>
              <a:spcAft>
                <a:spcPts val="800"/>
              </a:spcAft>
            </a:pPr>
            <a:r>
              <a:rPr sz="1800">
                <a:solidFill>
                  <a:srgbClr val="1F2937"/>
                </a:solidFill>
                <a:latin typeface="Calibri"/>
              </a:rPr>
              <a:t>▸  Balandlikdan yiqilishda ichki jarohatlar tashqisidan jiddiyroq; tashqilari asosan bir tomonda.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 muvozanat, aylanish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 tayanchdan ajralish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IV: parvoz</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 zarblanish — asosiy jarohat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 inersiya, ikkilamchi zarb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Balandlikdan yiqilish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47, 44, 47, 46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jismlardan shikastlanish va qon ketishi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Kesma yara chetlari tekis, uchi o‘tkir bo‘ladi; odatda chuqur bo‘lmaydi va tana bo‘shlig‘iga o‘tmaydi.</a:t>
            </a:r>
          </a:p>
          <a:p>
            <a:pPr>
              <a:spcAft>
                <a:spcPts val="800"/>
              </a:spcAft>
            </a:pPr>
            <a:r>
              <a:rPr sz="1800">
                <a:solidFill>
                  <a:srgbClr val="1F2937"/>
                </a:solidFill>
                <a:latin typeface="Calibri"/>
              </a:rPr>
              <a:t>▸  Sanchma yarada tashqi qon ketishga qaraganda ichki qon ketish kuchliroq bo‘ladi.</a:t>
            </a:r>
          </a:p>
          <a:p>
            <a:pPr>
              <a:spcAft>
                <a:spcPts val="800"/>
              </a:spcAft>
            </a:pPr>
            <a:r>
              <a:rPr sz="1800">
                <a:solidFill>
                  <a:srgbClr val="1F2937"/>
                </a:solidFill>
                <a:latin typeface="Calibri"/>
              </a:rPr>
              <a:t>▸  Diqqat: sanchma yara tashqidan kichik ko‘rinadi, lekin chuqur bo‘lib, ichki a’zolarga yetishi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61450"/>
                <a:gridCol w="2343534"/>
                <a:gridCol w="1982990"/>
              </a:tblGrid>
              <a:tr h="411480">
                <a:tc>
                  <a:txBody>
                    <a:bodyPr/>
                    <a:lstStyle/>
                    <a:p>
                      <a:r>
                        <a:rPr sz="1300" b="1">
                          <a:solidFill>
                            <a:srgbClr val="FFFFFF"/>
                          </a:solidFill>
                        </a:rPr>
                        <a:t>Jarohat</a:t>
                      </a:r>
                    </a:p>
                  </a:txBody>
                  <a:tcPr marL="73152" marR="73152" marT="36576" marB="36576">
                    <a:solidFill>
                      <a:srgbClr val="0B1F3A"/>
                    </a:solidFill>
                  </a:tcPr>
                </a:tc>
                <a:tc>
                  <a:txBody>
                    <a:bodyPr/>
                    <a:lstStyle/>
                    <a:p>
                      <a:r>
                        <a:rPr sz="1300" b="1">
                          <a:solidFill>
                            <a:srgbClr val="FFFFFF"/>
                          </a:solidFill>
                        </a:rPr>
                        <a:t>Shakli</a:t>
                      </a:r>
                    </a:p>
                  </a:txBody>
                  <a:tcPr marL="73152" marR="73152" marT="36576" marB="36576">
                    <a:solidFill>
                      <a:srgbClr val="0B1F3A"/>
                    </a:solidFill>
                  </a:tcPr>
                </a:tc>
                <a:tc>
                  <a:txBody>
                    <a:bodyPr/>
                    <a:lstStyle/>
                    <a:p>
                      <a:r>
                        <a:rPr sz="1300" b="1">
                          <a:solidFill>
                            <a:srgbClr val="FFFFFF"/>
                          </a:solidFill>
                        </a:rPr>
                        <a:t>Muhim belgi</a:t>
                      </a:r>
                    </a:p>
                  </a:txBody>
                  <a:tcPr marL="73152" marR="73152" marT="36576" marB="36576">
                    <a:solidFill>
                      <a:srgbClr val="0B1F3A"/>
                    </a:solidFill>
                  </a:tcPr>
                </a:tc>
              </a:tr>
              <a:tr h="411480">
                <a:tc>
                  <a:txBody>
                    <a:bodyPr/>
                    <a:lstStyle/>
                    <a:p>
                      <a:r>
                        <a:rPr sz="1200" b="0">
                          <a:solidFill>
                            <a:srgbClr val="1F2937"/>
                          </a:solidFill>
                        </a:rPr>
                        <a:t>Kesma</a:t>
                      </a:r>
                    </a:p>
                  </a:txBody>
                  <a:tcPr marL="73152" marR="73152" marT="36576" marB="36576">
                    <a:solidFill>
                      <a:srgbClr val="E8EEF6"/>
                    </a:solidFill>
                  </a:tcPr>
                </a:tc>
                <a:tc>
                  <a:txBody>
                    <a:bodyPr/>
                    <a:lstStyle/>
                    <a:p>
                      <a:r>
                        <a:rPr sz="1200" b="0">
                          <a:solidFill>
                            <a:srgbClr val="1F2937"/>
                          </a:solidFill>
                        </a:rPr>
                        <a:t>Urchuqsimon, chetlari tekis</a:t>
                      </a:r>
                    </a:p>
                  </a:txBody>
                  <a:tcPr marL="73152" marR="73152" marT="36576" marB="36576">
                    <a:solidFill>
                      <a:srgbClr val="E8EEF6"/>
                    </a:solidFill>
                  </a:tcPr>
                </a:tc>
                <a:tc>
                  <a:txBody>
                    <a:bodyPr/>
                    <a:lstStyle/>
                    <a:p>
                      <a:r>
                        <a:rPr sz="1200" b="0">
                          <a:solidFill>
                            <a:srgbClr val="1F2937"/>
                          </a:solidFill>
                        </a:rPr>
                        <a:t>Tashqi qon ketish xos</a:t>
                      </a:r>
                    </a:p>
                  </a:txBody>
                  <a:tcPr marL="73152" marR="73152" marT="36576" marB="36576">
                    <a:solidFill>
                      <a:srgbClr val="E8EEF6"/>
                    </a:solidFill>
                  </a:tcPr>
                </a:tc>
              </a:tr>
              <a:tr h="411480">
                <a:tc>
                  <a:txBody>
                    <a:bodyPr/>
                    <a:lstStyle/>
                    <a:p>
                      <a:r>
                        <a:rPr sz="1200" b="0">
                          <a:solidFill>
                            <a:srgbClr val="1F2937"/>
                          </a:solidFill>
                        </a:rPr>
                        <a:t>Sanchma</a:t>
                      </a:r>
                    </a:p>
                  </a:txBody>
                  <a:tcPr marL="73152" marR="73152" marT="36576" marB="36576">
                    <a:solidFill>
                      <a:srgbClr val="FFFFFF"/>
                    </a:solidFill>
                  </a:tcPr>
                </a:tc>
                <a:tc>
                  <a:txBody>
                    <a:bodyPr/>
                    <a:lstStyle/>
                    <a:p>
                      <a:r>
                        <a:rPr sz="1200" b="0">
                          <a:solidFill>
                            <a:srgbClr val="1F2937"/>
                          </a:solidFill>
                        </a:rPr>
                        <a:t>Yoriqsimon, jism kesimiga mos</a:t>
                      </a:r>
                    </a:p>
                  </a:txBody>
                  <a:tcPr marL="73152" marR="73152" marT="36576" marB="36576">
                    <a:solidFill>
                      <a:srgbClr val="FFFFFF"/>
                    </a:solidFill>
                  </a:tcPr>
                </a:tc>
                <a:tc>
                  <a:txBody>
                    <a:bodyPr/>
                    <a:lstStyle/>
                    <a:p>
                      <a:r>
                        <a:rPr sz="1200" b="0">
                          <a:solidFill>
                            <a:srgbClr val="1F2937"/>
                          </a:solidFill>
                        </a:rPr>
                        <a:t>Ichki qon ketish kuchliroq</a:t>
                      </a:r>
                    </a:p>
                  </a:txBody>
                  <a:tcPr marL="73152" marR="73152" marT="36576" marB="36576">
                    <a:solidFill>
                      <a:srgbClr val="FFFFFF"/>
                    </a:solidFill>
                  </a:tcPr>
                </a:tc>
              </a:tr>
              <a:tr h="411480">
                <a:tc>
                  <a:txBody>
                    <a:bodyPr/>
                    <a:lstStyle/>
                    <a:p>
                      <a:r>
                        <a:rPr sz="1200" b="0">
                          <a:solidFill>
                            <a:srgbClr val="1F2937"/>
                          </a:solidFill>
                        </a:rPr>
                        <a:t>Sanchma-kesma</a:t>
                      </a:r>
                    </a:p>
                  </a:txBody>
                  <a:tcPr marL="73152" marR="73152" marT="36576" marB="36576">
                    <a:solidFill>
                      <a:srgbClr val="E8EEF6"/>
                    </a:solidFill>
                  </a:tcPr>
                </a:tc>
                <a:tc>
                  <a:txBody>
                    <a:bodyPr/>
                    <a:lstStyle/>
                    <a:p>
                      <a:r>
                        <a:rPr sz="1200" b="0">
                          <a:solidFill>
                            <a:srgbClr val="1F2937"/>
                          </a:solidFill>
                        </a:rPr>
                        <a:t>Ponasimon yoki urchuqsimon, uchi o‘tkir</a:t>
                      </a:r>
                    </a:p>
                  </a:txBody>
                  <a:tcPr marL="73152" marR="73152" marT="36576" marB="36576">
                    <a:solidFill>
                      <a:srgbClr val="E8EEF6"/>
                    </a:solidFill>
                  </a:tcPr>
                </a:tc>
                <a:tc>
                  <a:txBody>
                    <a:bodyPr/>
                    <a:lstStyle/>
                    <a:p>
                      <a:r>
                        <a:rPr sz="1200" b="0">
                          <a:solidFill>
                            <a:srgbClr val="1F2937"/>
                          </a:solidFill>
                        </a:rPr>
                        <a:t>Bo‘shliqqa o‘tishi mumkin</a:t>
                      </a:r>
                    </a:p>
                  </a:txBody>
                  <a:tcPr marL="73152" marR="73152" marT="36576" marB="36576">
                    <a:solidFill>
                      <a:srgbClr val="E8EEF6"/>
                    </a:solidFill>
                  </a:tcPr>
                </a:tc>
              </a:tr>
              <a:tr h="411480">
                <a:tc>
                  <a:txBody>
                    <a:bodyPr/>
                    <a:lstStyle/>
                    <a:p>
                      <a:r>
                        <a:rPr sz="1200" b="0">
                          <a:solidFill>
                            <a:srgbClr val="1F2937"/>
                          </a:solidFill>
                        </a:rPr>
                        <a:t>Chopma</a:t>
                      </a:r>
                    </a:p>
                  </a:txBody>
                  <a:tcPr marL="73152" marR="73152" marT="36576" marB="36576">
                    <a:solidFill>
                      <a:srgbClr val="FFFFFF"/>
                    </a:solidFill>
                  </a:tcPr>
                </a:tc>
                <a:tc>
                  <a:txBody>
                    <a:bodyPr/>
                    <a:lstStyle/>
                    <a:p>
                      <a:r>
                        <a:rPr sz="1200" b="0">
                          <a:solidFill>
                            <a:srgbClr val="1F2937"/>
                          </a:solidFill>
                        </a:rPr>
                        <a:t>Yoriqsimon yoki yoysimon, ko‘lamli</a:t>
                      </a:r>
                    </a:p>
                  </a:txBody>
                  <a:tcPr marL="73152" marR="73152" marT="36576" marB="36576">
                    <a:solidFill>
                      <a:srgbClr val="FFFFFF"/>
                    </a:solidFill>
                  </a:tcPr>
                </a:tc>
                <a:tc>
                  <a:txBody>
                    <a:bodyPr/>
                    <a:lstStyle/>
                    <a:p>
                      <a:r>
                        <a:rPr sz="1200" b="0">
                          <a:solidFill>
                            <a:srgbClr val="1F2937"/>
                          </a:solidFill>
                        </a:rPr>
                        <a:t>Suyak, miya shikastlanishi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jism jarohatlari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48-49, 50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o‘tkir jismdan qon ketish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ko‘krak qafasida tashqi o‘lchami kichik bitta sanchma yara bor, tashqi qon ketishi kam.</a:t>
            </a:r>
          </a:p>
          <a:p>
            <a:pPr>
              <a:spcAft>
                <a:spcPts val="1200"/>
              </a:spcAft>
            </a:pPr>
            <a:r>
              <a:rPr sz="2200">
                <a:solidFill>
                  <a:srgbClr val="1F2937"/>
                </a:solidFill>
                <a:latin typeface="Calibri"/>
              </a:rPr>
              <a:t>▸  Savol: yara kichik va tashqi qon ketishi kam bo‘lsa, jarohatni xavfsiz deyish mumkinmi? Sababini tushuntiring.</a:t>
            </a:r>
          </a:p>
          <a:p>
            <a:pPr>
              <a:spcAft>
                <a:spcPts val="1200"/>
              </a:spcAft>
            </a:pPr>
            <a:r>
              <a:rPr sz="2200">
                <a:solidFill>
                  <a:srgbClr val="1F2937"/>
                </a:solidFill>
                <a:latin typeface="Calibri"/>
              </a:rPr>
              <a:t>▸  Yo‘l-yo‘riq: sanchma yaraning tashqi o‘lchami chuqurligidan kichik bo‘ladi, u tana bo‘shlig‘iga o‘tib, ichki qon ketishni kuchaytiradi.</a:t>
            </a:r>
          </a:p>
          <a:p>
            <a:pPr>
              <a:spcAft>
                <a:spcPts val="1200"/>
              </a:spcAft>
            </a:pPr>
            <a:r>
              <a:rPr sz="2200">
                <a:solidFill>
                  <a:srgbClr val="1F2937"/>
                </a:solidFill>
                <a:latin typeface="Calibri"/>
              </a:rPr>
              <a:t>▸  Qo‘shimcha: bitta tashqi yara bo‘lganda ham yurak, o‘pka harakatlanib, bir necha ichki jarohat hosil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50, 51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Yirik arteriya shikastlanganda o‘tkir qon yo‘qotish bo‘ladi: 500 ml gacha yo‘qotilsa ham, o‘lim dastlabki minutlarda qorinchalar fibrillyatsiyasidan yuz beradi.</a:t>
            </a:r>
          </a:p>
          <a:p>
            <a:pPr>
              <a:spcAft>
                <a:spcPts val="1200"/>
              </a:spcAft>
            </a:pPr>
            <a:r>
              <a:rPr sz="2200">
                <a:solidFill>
                  <a:srgbClr val="1F2937"/>
                </a:solidFill>
                <a:latin typeface="Calibri"/>
              </a:rPr>
              <a:t>▸  Bunda faqat bosh miya va yurak mushaklari kamqon, taloq odatdagidek to‘la; chap qorincha endokardi ostida Minakov dog‘lari xos.</a:t>
            </a:r>
          </a:p>
          <a:p>
            <a:pPr>
              <a:spcAft>
                <a:spcPts val="1200"/>
              </a:spcAft>
            </a:pPr>
            <a:r>
              <a:rPr sz="2200">
                <a:solidFill>
                  <a:srgbClr val="1F2937"/>
                </a:solidFill>
                <a:latin typeface="Calibri"/>
              </a:rPr>
              <a:t>▸  Ko‘p qon yo‘qotishda (2,5 l va undan ko‘p) umumiy kamqonlik rivojlanadi: teri oqimtir, taloq qisqargan, murda dog‘lari kech va kam.</a:t>
            </a:r>
          </a:p>
          <a:p>
            <a:pPr>
              <a:spcAft>
                <a:spcPts val="1200"/>
              </a:spcAft>
            </a:pPr>
            <a:r>
              <a:rPr sz="2200">
                <a:solidFill>
                  <a:srgbClr val="1F2937"/>
                </a:solidFill>
                <a:latin typeface="Calibri"/>
              </a:rPr>
              <a:t>▸  Boshqa sabablar: travmatik shok, miya va yurakning qisilishi, havo va yog‘ emboliyasi, qon aspiratsiyasi; ikkilamchi sabablar: infeksiya, intoksikatsiya.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31-33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Minakov dog‘lari: chap qorincha endokardi ostidagi tasmasimon qon quyilishlar o‘tkir qon yo‘qotishning xos belgisi. Sababi – yurak ichidagi bosimning keskin pasayishi va adashgan nervning o‘ta ta’sirlanishi. Ko‘p qon yo‘qotishda ular faqat ayrim holatlarda topiladi.</a:t>
            </a:r>
          </a:p>
          <a:p>
            <a:pPr>
              <a:spcAft>
                <a:spcPts val="1200"/>
              </a:spcAft>
            </a:pPr>
            <a:r>
              <a:rPr sz="1800">
                <a:solidFill>
                  <a:srgbClr val="1F2937"/>
                </a:solidFill>
                <a:latin typeface="Calibri"/>
              </a:rPr>
              <a:t>▸  Eslab qolish usuli – “tez va ko‘p” taqqoslash. O‘tkir qon yo‘qotishda (500 ml gacha) o‘lim minutlarda, qorinchalar fibrillyatsiyasidan bo‘ladi, taloq esa qonga to‘yingan. Ko‘p qon yo‘qotishda (2,5 l dan ortiq) bir necha soat o‘tadi, taloq qisqargan, murda dog‘lari kech va kam paydo bo‘ladi.</a:t>
            </a:r>
          </a:p>
          <a:p>
            <a:pPr>
              <a:spcAft>
                <a:spcPts val="1200"/>
              </a:spcAft>
            </a:pPr>
            <a:r>
              <a:rPr sz="1800">
                <a:solidFill>
                  <a:srgbClr val="1F2937"/>
                </a:solidFill>
                <a:latin typeface="Calibri"/>
              </a:rPr>
              <a:t>▸  Sunsov sinamasi havo emboliyasini aniqlaydi. Ko‘krak qafasi ochilgach, perikard bo‘shlig‘iga suv quyiladi va o‘ng qorincha devori teshiladi. Suvdan havo pufaklari chiqsa, natija musbat. Xavfli miqdor: 10 kub sm va undan ortiq havo tez kirganda.</a:t>
            </a:r>
          </a:p>
          <a:p>
            <a:pPr>
              <a:spcAft>
                <a:spcPts val="1200"/>
              </a:spcAft>
            </a:pPr>
            <a:r>
              <a:rPr sz="1800">
                <a:solidFill>
                  <a:srgbClr val="1F2937"/>
                </a:solidFill>
                <a:latin typeface="Calibri"/>
              </a:rPr>
              <a:t>▸  Yog‘ emboliyasida o‘lim shikastlanishdan darhol emas, 2-3 kundan so‘ng yuz beradi, chunki yog‘ zarralari o‘pka tomirlarini sekin yopadi. Muzlatilgan kesmalar Sudan III bilan olovrang qizil, Sudan IV bilan qora bo‘yaladi.</a:t>
            </a:r>
          </a:p>
          <a:p>
            <a:pPr>
              <a:spcAft>
                <a:spcPts val="1200"/>
              </a:spcAft>
            </a:pPr>
            <a:r>
              <a:rPr sz="1800">
                <a:solidFill>
                  <a:srgbClr val="1F2937"/>
                </a:solidFill>
                <a:latin typeface="Calibri"/>
              </a:rPr>
              <a:t>▸  Hodisa tahlili: qon ketishi jarohat turiga qarab farqlanadi. Kesma yaralarda tashqi qon ketish xos, o‘tmas jism yaralarida u kuchli bo‘lmaydi, sanchma yaralarda esa ichki qon ketish tashqisidan kuchliroq. Shuning uchun tashqi qon oz bo‘lsa, ichki qon yo‘qotishni istisno qilib bo‘lmaydi.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xil mehnat sharoitidagi shaxslar guruhida turdosh jarohatlar kuzatilmoqda. Bu majmua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Murakkab jarohat deb ataladi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Travmatologiya deb ataladi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Travmatizm deb ataladi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Kasallik deb ataladi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Qobirg‘alar sinishi hamda qo‘lning termik kuyishi bo‘lgan holat qanday tasniflanadi?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Murakkab qo‘sh ko‘p shikastlanish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Oddiy qo‘sh ko‘p shikastlanish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Oddiy cheklangan yakka shikastlanish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Murakkab cheklangan yakka shikastlanish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kuchli qo‘rquv ta’siri oqibatlarini aniqlash kerak. Odatda qaysi ekspertiza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Sud-kimyoviy ekspertiza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Sud-biologik ekspertiza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Sud-trasologik ekspertiza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Sud-psixiatrik ekspertiza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jarohat sohasidagi qon tomirlarida tromblar topildi. Bu belgi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Hayotiylikning umumiy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Hayotiylikning mahalliy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dog‘ining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Pergament dog‘ining belgisi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Jarohatlarning hayotiyligi va etkazilish muddati qaysi usul yordamida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Gistologik tekshiruv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Rentgenografik tekshiruv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Spektral analiz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Stereomikroskopiya usuli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ichki tekshiruvida jarohatga yaqin regional limfa tugunlarida eritrotsitlar (eritrofagiya) topildi. Bu topilma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o‘limdan keyin etkazilganini ko‘rsatuvchi murda dog‘i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hayotiyligining umumiy belgilaridan biri (eritrofagiya)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o‘lim sababini aniqlovchi mahalliy hayotiylik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Pergament dog‘iga xos, jarohat hayotiy emasligini bildiruvchi belgi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 xil mexanik omilning massasi ham, harakat tezligi ham oshirildi. Jarohatning yaqqolligi va ko‘lami qanday o‘zgaradi?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Ko‘lam o‘zgarmaydi, chunki kinetik energiya doimiy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Ko‘lam kamayadi, chunki massa ortishi ta’sirni susaytiradi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Ko‘lam faqat tezlikka bog‘liq bo‘lib, massa ahamiyatga ega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Yaqqolligi va ko‘lami massa hamda tezlikka to‘g‘ri proporsional ortadi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Ekspertiza bolta bilan jarohat etkazilganini aniqladi. Mexanik jarohat etkazuvchi vositalar tasnifida bolta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Anjom, chunki u ishlab chiqarish yoki uy-ro‘zg‘orda ishlatiladi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Qurol, chunki u hujum yoki mudofaa uchun maxsus tayyorlangan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Jism, chunki uning aniq qo‘llanilish maqsadi mavjud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Qurol, chunki uning o‘tkir dami va katta massasi bor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Yirik arteriya shikastlangan, taxminan 500 ml gacha qon yo‘qotilgan. Murdada faqat bosh miya va yurak mushaklarida kamqonlik topildi. O‘lim mexanizmi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Travmatik shokning IV darajasi bir necha soat davomida rivojlanishi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Yog‘ emboliyasi tufayli shikastlanishdan 2-3 kun o‘tib o‘lim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Dastlabki daqiqalarda yurak qorinchalarining fibrillyatsiyasi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Qonning nafas yo‘llariga tushishi natijasida aspiratsion asfiksiya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teri quruq va oqimtir, taloq kamqon hamda qisqargan, murda dog‘lari kech paydo bo‘lgan va kam, mushak qotishi kuchli. Qaysi holat ehtimol?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O‘tkir qon yo‘qotish: 500 ml gacha, dastlabki daqiqalarda fibrillyatsiya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Ko‘p qon yo‘qotish: 50% dan ortiq, bir necha soat davomida kechgan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Havo emboliyasi: venaga 10 kub sm dan ortiq havo tez o‘tgan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Travmatik shok: qonning jigar va taloqda patologik depolanishi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Yirik arteriya shikastlangan, taxminan 500 ml qon yo‘qotilgan va o‘lim dastlabki minutlarda qorinchalar fibrillyatsiyasidan yuz bergan. Murdani ochganda qaysi belgi o‘tkir qon yo‘qotish uchun xos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Chap qorincha endokardi ostida tasmasimon qon quyilishlar topilishi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Teri quruq va oqimtir, taloq kamqon va qisqargan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dog‘lari kech paydo bo‘lib, mushak qotishi kuchayishi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O‘pka tomirlarida olovrang qizil yog‘ tomchilari aniqlanishi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Havo emboliyasiga shubha bilan murdaning ichki tekshiruvi ko‘krak qafasidan boshlandi. Perikard bo‘shlig‘iga yurak sathini yopadigan miqdorda suv quyilib, o‘ng qorincha devori teshildi. Qaysi natija Sunsov sinamasida musbat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Suv tubiga qon laxtalarining cho‘kishi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Suvdan havo pufaklarining chiqishi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Suv rangining qizg‘ish tusga kirishi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Suv sathida yog‘ tomchilarining paydo bo‘lishi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Uzun naysimon suyak sinishidan keyin shaxs 2-3 kundan so‘ng vafot etdi, yog‘ emboliyasiga shubha qilinmoqda. O‘pka va bosh miyaning muzlatilgan kesmalari tashxis uchun qaysi usulda tekshiriladi?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Sunsov sinamasi bilan, o‘ng qorincha devorini teshib</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Qontalash rangini bilirubin va gemosiderin bo‘yicha baholab</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Sudan III yoki Sudan IV bilan bo‘yab, mikroskopda ko‘rib</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rentgenografiya yordamida o‘pka tomirlarini ko‘rib</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Kalla asosi va burun suyaklarining sinishidan keyin murda tekshiruvida nafas yo‘llarida qon va asfiksiyaning umumiy belgilari topildi. Qaysi holat o‘limning sababi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Yog‘ emboliyasi natijasida o‘pka tomirlarining yopilishi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Gemoperikard tufayli yurakning qon bilan qisilishi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Travmatik toksikoz tufayli rivojlangan intoksikatsiya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Qonning aspiratsiyasi natijasida aspiratsion asfiksiya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Tanaga markazdan qochuvchi ikki kuch ta’sir etgan; yirtma yaralar, to‘qima yorilishlari va tana qismlarining ajralishi kuzatilgan. Bu o‘tmas jismning qaysi ta’sir mexanizmiga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Zarb mexanizmiga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Cho‘zilish mexanizmiga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Siqilish mexanizmiga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Ishqalanish mexanizmiga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shilinma yuzasi avval nam bo‘lib, keyin quriganini va sog‘lom teri sathidan pastligini aniqladi. Bu qaysi bosqichga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Qoplama hosil bo‘lish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Yangi shilinma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Epitelizatsiya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Iz qolish bosqichi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Qontalashda yashil tus paydo bo‘la boshladi. Taxminiy muddat qaysi oraliqqa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Dastlabki bir sutka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3-4 sutka oralig‘ida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6-8 sutka oralig‘ida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12 soat atrofida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Bo‘rtib turgan suyak yaqinida chetlari tekis, shilinishsiz, uchlari o‘tkir, tubi yassi jarohat topildi. Bu qanday jarohat?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Lat yara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Majaqlangan yara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Laxtaksimon yara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To‘qimalar yorilishi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ekspertizasida qobirg‘aning tashqi plastinkasida siqilish, ichki plastinkasida cho‘zilish belgilari aniqlandi. Bu qanday sinish?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Bevosita sinish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Bilvosita sinish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Muvaqqat deformatsiya natijasi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Chiqish bilan birga kelgan sinish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Qaysi o‘tkir jism jarohatida tashqi qon ketishga nisbatan ichki qon ketish kuchliroq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Kesma yara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Chopma yara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Sanchma yara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Arralangan yara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Travmatizm deb ataladi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xil mehnat va turmush sharoitidagi shaxslar guruhida kuzatiladigan turdosh jarohatlar majmui travmatizm deyiladi. Travmatologiya esa shikastlanishlar haqidagi fan, murakkab jarohat esa ikki va undan ortiq turdagi tashqi ta’sir natijasidir.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Murakkab qo‘sh ko‘p shikastlanish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Sinish mexanik, kuyish termik ta’sir bo‘lgani uchun jarohat murakkab. Ikki turli soha shikastlangani uchun qo‘sh, jarohatlar soni ikkita bo‘lgani uchun ko‘p deb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Sud-psixiatrik ekspertiza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Ruhiy ta’sir natijalarini o‘rganish odatda sud psixiatriyasining predmeti bo‘lib, bunday holatlarda sud-psixiatrik ekspertiza tayinlanadi. Boshqa uchta ekspertiza ruhiy omilni o‘rganmaydi.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Hayotiylikning mahalliy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Shikastlangan sohadagi qon tomirlarida tromblar topilishi jarohat hayotiyligini tasdiqlovchi mahalliy belgilar qatoriga kiradi. Umumiy belgilarga esa tashqi va ichki qon ketishi, emboliyalar kabilar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Gistologik tekshiruv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Hayotiylik va etkazilish muddati gistologik tekshiruvlar yordamida aniqlanadi. Rentgenografiya yot jism va suyak shikastini, spektral analiz metall zarralarini, stereomikroskopiya jarohatni fazoviy o‘rganishni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Jarohat hayotiyligining umumiy belgilaridan biri (eritrofagiya)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Regional limfa tugunlarida eritrotsitlarning bo‘lishi (eritrofagiya) jarohat hayotiyligining umumiy belgilari qatoriga kiradi. Pergament dog‘larida hayotiy jarohatlarga xos o‘zgarishlar aniqlanmaydi.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Yaqqolligi va ko‘lami massa hamda tezlikka to‘g‘ri proporsional ortadi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Shikastlanish xususiyatlari o‘zaro ta’sir vaqtidagi kinetik energiyaga bog‘liq. Jarohatning yaqqolligi va ko‘lami harakatdagi omilning massasi hamda tezligiga to‘g‘ri proporsional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29-30-bet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Anjom, chunki u ishlab chiqarish yoki uy-ro‘zg‘orda ishlatiladi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Ishlab chiqarish, uy-ro‘zg‘or yoki kundalik hayotda ishlatiladigan mahsulotlar (bolta, arra, qaychi) anjom hisoblanadi. Qurol hujum yoki mudofaa uchun maxsus tayyorlanadi, aniq maqsadi yo‘q narsalar (tosh, tayoq) esa jism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Dastlabki daqiqalarda yurak qorinchalarining fibrillyatsiyasi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Yirik arterial tomirlar shikastlanganda o‘tkir qon yo‘qotish rivojlanadi. Nisbatan oz qon (500 ml gacha) yo‘qotilsa ham, o‘lim dastlabki daqiqalarda yurak qorinchalarining fibrillyatsiyasidan sodir bo‘ladi. Bunda faqat bosh miya va yurak mushaklari kamqon bo‘ladi, taloq esa qon bilan to‘yingan.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Ko‘p qon yo‘qotish: 50% dan ortiq, bir necha soat davomida kechgan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Ko‘p qon yo‘qotishda (50% dan ortiq, ya’ni 2,5 litr va undan ko‘p) jarayon bir necha soat davom etadi. Umumiy kamqonlik, taloqning kamqonligi va qisqarishi, murda dog‘larining kech va kam bo‘lishi hamda kuchli mushak qotishi xosdir. O‘tkir qon yo‘qotishda esa taloq odatdagidek qonga to‘yingan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Chap qorincha endokardi ostida tasmasimon qon quyilishlar topilishi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Chap qorincha endokardi ostidagi tasmasimon qon quyilishlar (Minakov dog‘lari) o‘tkir qon yo‘qotish uchun xos. Ular yurak ichidagi bosim keskin tushishi va adashgan nerv o‘ta ta’sirlanishidan paydo bo‘ladi. Teri oqimtirligi, taloq kamqonligi va murda dog‘larining kech paydo bo‘lishi ko‘p (50% dan ortiq) qon yo‘qotishga xos. Yog‘ tomchilari yog‘ emboliyasiga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Suvdan havo pufaklarining chiqishi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Sunsov sinamasida o‘ng qorincha devori teshilganda suvdan havo pufaklarining chiqishi musbat natija hisoblanadi. Qolgan variantlar bu sinamaning natijasi emas. Yog‘ tomchilari yog‘ emboliyasida, maxsus bo‘yoqlar yordamida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Sudan III yoki Sudan IV bilan bo‘yab, mikroskopda ko‘rib</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Yog‘ emboliyasida muzlatilgan kesmalar Sudan III yoki Sudan IV bilan bo‘yaladi. Mikroskopda tomir ichidagi yog‘ tomchilari Sudan III da olovrang qizil, Sudan IV da qora ko‘rinadi. Sunsov sinamasi havo emboliyasini aniqlash uchun mo‘ljallangan.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Qonning aspiratsiyasi natijasida aspiratsion asfiksiya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Halqum, nafas yo‘llari shikastlanganda yoki kalla asosi va burun suyaklari singanda qon nafas yo‘llariga tushib, aspiratsion asfiksiyaga olib kelishi mumkin. Murdada nafas yo‘llarida qon va asfiksiya belgilari aniqlanadi. Boshqa variantlar bu manzaraga mos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Cho‘zilish mexanizmiga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Cho‘zilishda tanaga markazdan qochuvchi ikki yoki undan ortiq kuch ta’sir etadi. Bu mexanizm uchun bilvosita jarohatlar xos: yirtma yaralar, yorilishlar va tana qismlarining ajralishi. Siqilishda kuchlar markazga intiladi, ishqalanishda shilinma hosil bo‘ladi, zarb esa bir tomonga yo‘nalgan qisqa ta’sirdir.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35-bet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Yangi shilinma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Yangi shilinma bosqichida yuza avval nam bo‘ladi, keyin quriydi va sog‘lom teri sathidan past turadi. Bu bosqich 12 soatgacha davom etadi. Keyingi bosqichlarda qoplama hosil bo‘ladi va ko‘tariladi.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36-bet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3-4 sutka oralig‘ida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Qontalashda yashil tus taxminan 3-4 sutkada paydo bo‘ladi, sariq tus esa 6-8 sutkada. Bu muddatlar taxminiy: ular shikastlovchi jism va shikastlangan sohaga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38-bet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To‘qimalar yorilishi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Yorilish bilvosita jarohat: bo‘rtib turgan suyak yaqinida to‘qima cho‘zilishidan hosil bo‘ladi. Uchlari o‘tkir, chetlari tekis, shilinishsiz, tubi yassi bo‘ladi. O‘tmas jismdan hosil bo‘lgan yaralarda chetlar notekis va shilingan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40-bet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Bevosita sinish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Bevosita sinishda tashqi plastinkada siqilish, ichki plastinkada cho‘zilish belgilari bo‘ladi. Bilvosita sinishda esa buning teskarisi kuzatiladi, odatda tashqi jarohatlar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43-bet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Sanchma yara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Sanchma yaralarning tashqi o‘lchami chuqurligidan ancha kichik bo‘ladi va tana bo‘shliqlariga o‘tishi mumkin. Shuning uchun ichki qon ketish kuchliroq. Kesma yaralar uchun esa tashqi qon ketish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50-bet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qon yo'qotishlarining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2. Sud-tibbiy travmatologiya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