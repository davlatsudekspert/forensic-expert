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Mikroskopdagi o‘zgarish nega har doim o‘lim sababi bo‘lavermaydi? 2) Gistologiyadan tashqari yana qanday ma’lumot kerak? Doskada chizish: ikki ustun — «sabab» va «tasodifiy topilma» — va har biriga bittadan misol yozdiring. Tipik xato: topilgan o‘zgarishni darhol o‘lim sababi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aynan o‘pka va yurak tanlangan? 2) Ikki manba bir-biridan nimasi bilan farq qiladi? Doskada chizish: ikki bo‘limli reja jadvalini ko‘chirtiring. Tipik xato: ikki ishni bir xil tadqiqot turi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DAD va ARDS o‘rtasidagi bog‘liqlik qanday? 2) Qaysi holatlarda DAD rivojlanishi mumkin? Doskada chizish: «DAD — gistologik nom, ARDS — klinik nom» sxemasini chizdiring. Tipik xato: DAD va ARDS ni aynan bir tushuncha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nima uchun bir xil o‘pka morfologiyasi turli sabablardan kelib chiqishi mumkin? Sud-tibbiy ekspertiza uchun bu nimani anglatadi? Doskada: DAD markazda, atrofida to‘rt guruh sababni chizing. Tipik xato: DAD ni alohida kasallik deb o‘ylash, aslida bu ko‘p sababli morfologik o‘zgarish.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nega biopsiya materialida o‘tkir bosqich kam uchraydi? Sud-tibbiy yorishning afzalligi nimada? Doskada: ikki ustunli solishtirish (biopsiya va yorish) chizing. Tipik xato: biopsiyada topilgan kech bosqichni DAD ning odatdagi ko‘rinishi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talabalardan og‘zaki so‘rang. Muhokama: DAD va ARDS atamalari qanday farqlanadi? Doskada: «morfologiya → klinika» strelkasini chizing. Tipik xato: DAD va ARDS ni bir xil tushuncha deb yozish.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aynan sud-tibbiy autopsiya o‘pka shikastini o‘rganish uchun qulay? 2) Faqat hisobotlarga tayanishning cheklovi nima? Doskada: tanlov voronkasini 12 504 → 6813 → 66 ko‘rinishida chizdiring. Statistika: Fisher aniq testi, logistik regressiya, P&lt;0,05 ahamiyatli deb olingan (SPSS 11.5). Tipik xato: 12 504 (barcha autopsiya), 6813 (gistologik namunali hisobot) va 66 (DAD holatlari) raqamlarini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Intensivlik bilan tarqalishning farqi nimada? 2) Nega faza ajratishda bitta mezon (fibroz) tanlangan? Doskada: 0–3 shkalani to‘rt katakli sxema ko‘rinishida chizdiring. Tipik xato: gialin membrana (HM) tarqalish bo‘yicha, surunkali yallig‘lanish esa intensivlik bo‘yicha baholanishini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sud-tibbiy autopsiyada ko‘proq erta (ekssudativ) faza uchraydi? 2) Alveolyar fibrin proliferativ faza uchun nimani anglatadi? Doskada: uch fazani strelkalar bilan chizib, har biriga xarakterli belgini yozing (ekssudativ: alveolyar ekssudat/shish; proliferativ: fibrin, fibroz, gistiotsitar deskvamatsiya, surunkali yallig‘lanish). Eslatma: logistik regressiyada proliferativ fazani faqat alveolyar fibrin mustaqil bashorat qilgan; tadqiqot holatlari kech fibrotik fazaga mos kelmagan. Tipik xato: ekssudativ va proliferativ fazani gialin membrana borligiga qarab ajratish; asosiy mezon organizatsiyalovchi fibrozdir.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keyingi fazada HM ko‘proq topiladi? 2) HM necha kundan keyin shakllanadi? Doskada chizing: vaqt o‘qi (shikast → 4–5 kun → HM) va ikki faza ustuni. Tipik xato: HM har doim ekssudativ fazada ko‘p deb o‘ylash; aslida u proliferativ fazada ko‘proq topilgan.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sud-tibbiy materialda erkaklar ko‘p bo‘lishi mumkin? 2) Fazalar nisbati nimani ko‘rsatadi? Doskada chizing: 66 holatni ikki qismga bo‘luvchi doira diagrammasi. Tipik xato: foizlarni 100 dan oshiq yoki umumiy sonsiz talqin qilish; asosiy son 66.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bitta belgi (fibrin) mustaqil bashorat bo‘ldi? 2) Barcha belgilar har holatda bir xil kuchda topiladimi? Doskada chizing: ikki ustunli jadval (ekssudativ | proliferativ) va belgilarni joylashtiring. Tipik xato: fibroz va fibrinni bir narsa deb adashtirish (fibroz ≠ fibrin).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fibroz bor, lekin mustaqil belgi emas? 2) Fazani ajratishda asosiy mezon nima (alveolyar organizatsiyalovchi fibroz)? Doskada: ikki ustunli ro‘yxat chizing: ekssudativ faza (ekssudat/shish) va proliferativ faza (fibrin, fibroz, surunkali yallig‘lanish, gistiotsitlar). Tipik xato: P qiymati bo‘yicha ustun belgini ’mustaqil prediktor’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sud-tibbiy seriyada travma, kasalxona seriyasida infeksiya ustun? 2) Yog‘ emboliyasi DAD bilan qanday bog‘lanishi mumkin? Doskada: sabablar ro‘yxati (travma, yong‘in, boshqalar) va 41% ni belgilang. Tipik xato: 41% ni barcha 66 holatga emas, travma guruhiga tegishli deb bilmaslik yoki 92% ni shu tadqiqot natijasi deb o‘ylash (u adabiyot ma’lumoti).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Travmada o‘pka shikastlanishining qanday mexanizmlari bo‘lishi mumkin (qon ketishdan gipoksiya, sitokinlar va h.k.)? 2) Hayotlik ma’lumotlari bo‘lmasa, xulosa qanday yozilishi kerak? Doskada: ’DAD → ko‘p sabab → anamnez + otopsiya + gistologiya → xulosa’ zanjirini chizing. Tipik xato: DAD topilganini o‘lim sababi deb to‘g‘ridan-to‘g‘ri yozish.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HM mavjudligi nima uchun o‘tkir fibrinoz pnevmoniyani inkor qiladi? 2) Neytrofillar kam bo‘lishi qaysi tashxisni chetlatadi? Doskada chizish: to‘rt holatni DAD bilan yonma-yon solishtiruvchi jadval. Tipik xato: UIP (oddiy interstitsial pnevmoniya) avj olishini DAD bilan bir xil deb olish; ularning reaksiyasi o‘xshash, ammo fonda dog‘simon fibroz va asalari uyasi naqshi bo‘ladi. AEP – o‘tkir eozinofil pnevmoniya.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Yong‘in o‘limida DAD o‘pka yoki o‘pkadan tashqari yo‘l bilan rivojlanishi mumkinmi? 2) Jarrohlikdan keyingi DAD sud-tibbiy javobgarlikni baholashda nimani bildiradi? Doskada chizish: to‘rt sababdan nafas yetishmovchiligiga olib boruvchi strelkali sxema. Tipik xato: bitta sabab bor deb o‘ylash; ko‘p hollarda o‘zaro bog‘liq bir nechta hodisa bo‘ladi.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Yorishda DAD topilmasa, ARDSni butunlay inkor qilish mumkinmi? 2) Faqat gistologiya asosida o‘lim sababini yozish nima uchun xavfli? Doskada chizish: ‘DAD ≠ o‘lim sababi’ degan qisqa mantiqiy zanjir (gistologiya + klinika + holat). Tipik xato: DAD topilgach, uni darhol yagona o‘lim sababi deb ko‘rsatish.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Talabalar avval javobni o‘zlari aytsin, so‘ng umumlashtiring. Muhokama savollari: 1) Travma yoki yong‘in holatida DAD ning qaysi turli omillari ishtirok etishi mumkin (sepsis, intoksikatsiya)? 2) Hayotlik ma’lumoti bo‘lmasa, xulosada nimalarga ehtiyot bo‘lish kerak? Doskada chizish: ‘DAD’ markazda, atrofida sabab omillari (travma, yong‘in, sepsis, dori zaharlanishi) va ‘antemortem + sud-tibbiy ma’lumot’ strelkasi. Tipik xato: DAD topilishini o‘limning yagona sababi deb yozish yoki DAD yo‘qligini ARDS yo‘q degan ma’noda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Nega miokardit topilmasi har doim o‘lim sababi bo‘lavermaydi? 2) Qanday holatlarda boshqa topilmalar miokardit talqinini murakkablashtiradi? Doskada chizish: uch ustunli sxema ‘sabab / hissa qo‘shuvchi / tasodifiy’ va har biriga bittadan misol yozdiring. Tipik xato: gistologik ‘miokardit’ so‘zini avtomatik ravishda o‘lim sababi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Markazlar: Niderlandiya sud-tibbiyot instituti (NFI) va Amsterdam universitet tibbiyot markazi (Amsterdam UMC). Muhokama savollari: 1) Nega tizimli kasallik va miokard infarkti bor holatlar chiqarib tashlandi? 2) Retrospektiv dizaynning cheklovi qanday? Doskada chizish: tanlov voronkasini (85 + 51 dan 79 gacha) chizdiring. Tipik xato: 79 holatning hammasini miokarditdan o‘lgan deb o‘ylash; tanlovga miokard yallig‘lanishi bor har qanday holat kirgan.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1-guruhdagi yallig‘lanish “tasodifiy” hisoblangan? 2) 2-guruhda yakuniy xulosa nima uchun qiyin? Doskada: uch ustunli jadvalni (guruh, soni, mazmun) o‘zlari chizsin. Tipik xato: 2- va 3-guruhni bir xil deb o‘ylash; 2-guruhda miokardit faqat bir nechta mumkin sabablardan biri.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miotsit shikasti yolg‘iz o‘zi ajratuvchi belgi bo‘la olmagan? 2) Diffuz va ko‘p o‘choqli yallig‘lanish farqi nimada? Doskada: ≥10 hujayrali o‘choq va diffuz tarqalishning sodda sxemasini chizdiring. Tipik xato: miotsit shikasti bor bo‘lsa, miokardit o‘limning sababi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past indeks qiymatlari kam ahamiyatli? 2) Diffuz holatda indeks nega chalg‘itadi? Doskada: 10 ta kesmada 6 ta o‘choq bo‘lsa, indeksni hisoblang va toifasini toping. Tipik xato: indeks 0 ni “yallig‘lanish yo‘q” deb o‘qish.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bir xil o‘choq soni turli talqinga olib kelishi mumkin? Nega faqat diffuz tur ajratuvchi bo‘ldi? Doskada: to‘rt turni ‘o‘choq soni’ va ‘shikast’ o‘qlari bo‘yicha joylashtiring. Tipik xato: chegaraviy miokarditda ham shikast bor deb o‘ylash; aslida u shikastsiz.</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Talabalardan javobni yozma so‘rang, so‘ng tekshiring. Muhokama: 12 kesmada 6 ta o‘choq topilsa indeks qancha va u qaysi toifaga kiradi? Doskada: indeks formulasini va 5 ta toifa shkalasini yozing. Tipik xato: indeks 0 ni ‘yallig‘lanish yo‘q’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miotsit shikasti bo‘lsa, miokardit o‘lim sababi bo‘ladimi? Nima uchun faqat GE yetarli emas? Doskada: bo‘yoq nomini hujayra turiga strelka bilan bog‘lang. Tipik xato: CD68 ni limfotsit belgisi deb adashtirish; u makrofaglarni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Avval uch guruh ta’rifini eslating: 1 – aniq zo‘ravon o‘lim, 2 – miokardit bir nechta mumkin bo‘lgan sabablardan biri, 3 – yagona muhim topilma. Muhokama: nega faqat diffuz o‘tkir shakl guruhlarni ajratdi? Nega oz indeks hamma guruhda ko‘p chiqdi? Doskada: jadvalni chizib, har guruh uchun diffuz holatlar sonini to‘ldirtiring. Tipik xato: indeks past bo‘lsa, yallig‘lanish ahamiyatsiz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tasodifiy yallig‘lanish nega deyarli doim limfotsitar? Nima uchun limfotsitar tur o‘lim sababini isbotlamaydi? Nolimfotsitar ustunlik nimani taxmin qildiradi? Doskada: uchta guruh uchun infiltrat turlarini ustunli diagrammada chizdiring. Tipik xato: miotsit shikasti bo‘lsa, miokardit o‘limga sabab deb avtomatik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diffuz holatda nega o‘choq sanab bo‘lmaydi? Indeks 0 bo‘lgan preparatda sud-tibbiy ekspert qanday xatoga yo‘l qo‘yishi mumkin? Doskada: indeks formulasini yozib, diffuz holat uchun surat nol bo‘lishini ko‘rsating. Tipik xato: indeks 0 ni normal miokard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o‘choqlar soni yolg‘iz yetarli emas? 2) Qaysi qo‘shimcha tekshiruvlarni buyurasiz? Doskada: «Ha / Yo‘q / Noaniq» ustunlari bilan qaror daraxtini chizdiring. Tipik xato: miotsit nekrozini avtomatik o‘lim sababi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klinik tashxis qo‘yilgach tekshiruv to‘xtab qolishi xavfli? 2) Barcha tekshiruvga imkon bo‘lmasa, xulosani qanday yozasiz? Doskada: tekshiruv zanjirini ketma-ket chizdiring. Tipik xato: genetik va toksikologik tekshiruvni unutish.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Ikki organda gistologiya yolg‘iz nimani isbotlay olmaydi? 2) Jadvaldagi qaysi belgi eng ishonchli? Doskada: jadvalni talabalar bilan birga to‘ldiring. Mnemonika («bitta belgi — bitta xulosa emas») o‘qituvchi tomonidan umumlashtirilgan, manbada so‘zma-so‘z yo‘q. Tipik xato: DAD yoki miokardit topilgani zahoti o‘lim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faqat gistologiyaga tayanib miokarditni o‘lim sababi deb yozish xavfli? 2) DAD topilmasa, ARDS ni inkor qilish mumkinmi? Doskada chizish: o‘lim sababini aniqlash uchun kerakli tekshiruvlar ro‘yxatini (ko‘rik, gistologiya, toksikologiya, genetika, holat sharoiti) yozdiring. Tipik xato: mikroskopda yallig‘lanish ko‘rindi, demak o‘lim sababi shu, deb xulosa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Gistopatologik belgilar</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gistopatologik belgilar nima uchun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Mikroskopda topilgan o‘zgarish o‘lim sababi bo‘lishi ham, o‘limga aloqasiz tasodifiy topilma bo‘lishi ham mumkin.</a:t>
            </a:r>
          </a:p>
          <a:p>
            <a:pPr>
              <a:spcAft>
                <a:spcPts val="1200"/>
              </a:spcAft>
            </a:pPr>
            <a:r>
              <a:rPr sz="2200">
                <a:solidFill>
                  <a:srgbClr val="1F2937"/>
                </a:solidFill>
                <a:latin typeface="Calibri"/>
              </a:rPr>
              <a:t>▸  Yurakdagi yallig‘lanish (miokardit) yorishlarda tez-tez uchraydi, ammo uni gistologik tashxislash qiyin.</a:t>
            </a:r>
          </a:p>
          <a:p>
            <a:pPr>
              <a:spcAft>
                <a:spcPts val="1200"/>
              </a:spcAft>
            </a:pPr>
            <a:r>
              <a:rPr sz="2200">
                <a:solidFill>
                  <a:srgbClr val="1F2937"/>
                </a:solidFill>
                <a:latin typeface="Calibri"/>
              </a:rPr>
              <a:t>▸  Diffuz alveolyar shikast (DAD) ko‘p omilli o‘zgarish. Faqat unga qarab o‘lim sababini aniqlash kutilmaydi.</a:t>
            </a:r>
          </a:p>
          <a:p>
            <a:pPr>
              <a:spcAft>
                <a:spcPts val="1200"/>
              </a:spcAft>
            </a:pPr>
            <a:r>
              <a:rPr sz="2200">
                <a:solidFill>
                  <a:srgbClr val="1F2937"/>
                </a:solidFill>
                <a:latin typeface="Calibri"/>
              </a:rPr>
              <a:t>▸  Gistologiya yolg‘iz yetarli emas. O‘limgacha bo‘lgan tibbiy va sud-tibbiy ma’lumot, toksikologiya, holat tahlili ham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 Urer et al., Diffuse Alveolar Damage of the Lungs in Forensic Autopsies: Assessment of Histopathological Stages and Causes of Death, betlar: PMID 23028252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rejasi va ikki asosiy manba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bo‘lim: o‘pkada DAD, uning bosqichlari va o‘lim sabablari.</a:t>
            </a:r>
          </a:p>
          <a:p>
            <a:pPr>
              <a:spcAft>
                <a:spcPts val="800"/>
              </a:spcAft>
            </a:pPr>
            <a:r>
              <a:rPr sz="1800">
                <a:solidFill>
                  <a:srgbClr val="1F2937"/>
                </a:solidFill>
                <a:latin typeface="Calibri"/>
              </a:rPr>
              <a:t>▸  Ikkinchi bo‘lim: yurakda miokard yallig‘lanishi va uning o‘limdagi ahamiyati.</a:t>
            </a:r>
          </a:p>
          <a:p>
            <a:pPr>
              <a:spcAft>
                <a:spcPts val="800"/>
              </a:spcAft>
            </a:pPr>
            <a:r>
              <a:rPr sz="1800">
                <a:solidFill>
                  <a:srgbClr val="1F2937"/>
                </a:solidFill>
                <a:latin typeface="Calibri"/>
              </a:rPr>
              <a:t>▸  du Long ishi sud-tibbiy va klinik yorishlarni birga o‘rgangan (79 ta holat).</a:t>
            </a:r>
          </a:p>
        </p:txBody>
      </p:sp>
      <p:graphicFrame>
        <p:nvGraphicFramePr>
          <p:cNvPr id="9" name="Table 8"/>
          <p:cNvGraphicFramePr>
            <a:graphicFrameLocks noGrp="1"/>
          </p:cNvGraphicFramePr>
          <p:nvPr/>
        </p:nvGraphicFramePr>
        <p:xfrm>
          <a:off x="6263640" y="1463040"/>
          <a:ext cx="5287973" cy="1234440"/>
        </p:xfrm>
        <a:graphic>
          <a:graphicData uri="http://schemas.openxmlformats.org/drawingml/2006/table">
            <a:tbl>
              <a:tblPr firstRow="1" bandRow="1">
                <a:tableStyleId>{5C22544A-7EE6-4342-B048-85BDC9FD1C3A}</a:tableStyleId>
              </a:tblPr>
              <a:tblGrid>
                <a:gridCol w="1321993"/>
                <a:gridCol w="2396113"/>
                <a:gridCol w="1569867"/>
              </a:tblGrid>
              <a:tr h="411480">
                <a:tc>
                  <a:txBody>
                    <a:bodyPr/>
                    <a:lstStyle/>
                    <a:p>
                      <a:r>
                        <a:rPr sz="1300" b="1">
                          <a:solidFill>
                            <a:srgbClr val="FFFFFF"/>
                          </a:solidFill>
                        </a:rPr>
                        <a:t>Bo‘lim</a:t>
                      </a:r>
                    </a:p>
                  </a:txBody>
                  <a:tcPr marL="73152" marR="73152" marT="36576" marB="36576">
                    <a:solidFill>
                      <a:srgbClr val="0B1F3A"/>
                    </a:solidFill>
                  </a:tcPr>
                </a:tc>
                <a:tc>
                  <a:txBody>
                    <a:bodyPr/>
                    <a:lstStyle/>
                    <a:p>
                      <a:r>
                        <a:rPr sz="1300" b="1">
                          <a:solidFill>
                            <a:srgbClr val="FFFFFF"/>
                          </a:solidFill>
                        </a:rPr>
                        <a:t>A’zo/belgi</a:t>
                      </a:r>
                    </a:p>
                  </a:txBody>
                  <a:tcPr marL="73152" marR="73152" marT="36576" marB="36576">
                    <a:solidFill>
                      <a:srgbClr val="0B1F3A"/>
                    </a:solidFill>
                  </a:tcPr>
                </a:tc>
                <a:tc>
                  <a:txBody>
                    <a:bodyPr/>
                    <a:lstStyle/>
                    <a:p>
                      <a:r>
                        <a:rPr sz="1300" b="1">
                          <a:solidFill>
                            <a:srgbClr val="FFFFFF"/>
                          </a:solidFill>
                        </a:rPr>
                        <a:t>Manba</a:t>
                      </a:r>
                    </a:p>
                  </a:txBody>
                  <a:tcPr marL="73152" marR="73152" marT="36576" marB="36576">
                    <a:solidFill>
                      <a:srgbClr val="0B1F3A"/>
                    </a:solidFill>
                  </a:tcPr>
                </a:tc>
              </a:tr>
              <a:tr h="411480">
                <a:tc>
                  <a:txBody>
                    <a:bodyPr/>
                    <a:lstStyle/>
                    <a:p>
                      <a:r>
                        <a:rPr sz="1200" b="0">
                          <a:solidFill>
                            <a:srgbClr val="1F2937"/>
                          </a:solidFill>
                        </a:rPr>
                        <a:t>1</a:t>
                      </a:r>
                    </a:p>
                  </a:txBody>
                  <a:tcPr marL="73152" marR="73152" marT="36576" marB="36576">
                    <a:solidFill>
                      <a:srgbClr val="E8EEF6"/>
                    </a:solidFill>
                  </a:tcPr>
                </a:tc>
                <a:tc>
                  <a:txBody>
                    <a:bodyPr/>
                    <a:lstStyle/>
                    <a:p>
                      <a:r>
                        <a:rPr sz="1200" b="0">
                          <a:solidFill>
                            <a:srgbClr val="1F2937"/>
                          </a:solidFill>
                        </a:rPr>
                        <a:t>O‘pka: DAD</a:t>
                      </a:r>
                    </a:p>
                  </a:txBody>
                  <a:tcPr marL="73152" marR="73152" marT="36576" marB="36576">
                    <a:solidFill>
                      <a:srgbClr val="E8EEF6"/>
                    </a:solidFill>
                  </a:tcPr>
                </a:tc>
                <a:tc>
                  <a:txBody>
                    <a:bodyPr/>
                    <a:lstStyle/>
                    <a:p>
                      <a:r>
                        <a:rPr sz="1200" b="0">
                          <a:solidFill>
                            <a:srgbClr val="1F2937"/>
                          </a:solidFill>
                        </a:rPr>
                        <a:t>Urer va b., 2012</a:t>
                      </a:r>
                    </a:p>
                  </a:txBody>
                  <a:tcPr marL="73152" marR="73152" marT="36576" marB="36576">
                    <a:solidFill>
                      <a:srgbClr val="E8EEF6"/>
                    </a:solidFill>
                  </a:tcPr>
                </a:tc>
              </a:tr>
              <a:tr h="411480">
                <a:tc>
                  <a:txBody>
                    <a:bodyPr/>
                    <a:lstStyle/>
                    <a:p>
                      <a:r>
                        <a:rPr sz="1200" b="0">
                          <a:solidFill>
                            <a:srgbClr val="1F2937"/>
                          </a:solidFill>
                        </a:rPr>
                        <a:t>2</a:t>
                      </a:r>
                    </a:p>
                  </a:txBody>
                  <a:tcPr marL="73152" marR="73152" marT="36576" marB="36576">
                    <a:solidFill>
                      <a:srgbClr val="FFFFFF"/>
                    </a:solidFill>
                  </a:tcPr>
                </a:tc>
                <a:tc>
                  <a:txBody>
                    <a:bodyPr/>
                    <a:lstStyle/>
                    <a:p>
                      <a:r>
                        <a:rPr sz="1200" b="0">
                          <a:solidFill>
                            <a:srgbClr val="1F2937"/>
                          </a:solidFill>
                        </a:rPr>
                        <a:t>Yurak: miokard yallig‘lanishi</a:t>
                      </a:r>
                    </a:p>
                  </a:txBody>
                  <a:tcPr marL="73152" marR="73152" marT="36576" marB="36576">
                    <a:solidFill>
                      <a:srgbClr val="FFFFFF"/>
                    </a:solidFill>
                  </a:tcPr>
                </a:tc>
                <a:tc>
                  <a:txBody>
                    <a:bodyPr/>
                    <a:lstStyle/>
                    <a:p>
                      <a:r>
                        <a:rPr sz="1200" b="0">
                          <a:solidFill>
                            <a:srgbClr val="1F2937"/>
                          </a:solidFill>
                        </a:rPr>
                        <a:t>du Long va b., 2022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Ma’ruzaning ikki bo‘limi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Diffuz alveolyar shikast (DAD):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DAD — o‘tkir interstitsial pnevmoniyaning morfologik prototipi. Uning kechishi tez va o‘limga olib kelishi mumkin.</a:t>
            </a:r>
          </a:p>
          <a:p>
            <a:pPr>
              <a:spcAft>
                <a:spcPts val="1200"/>
              </a:spcAft>
            </a:pPr>
            <a:r>
              <a:rPr sz="2200">
                <a:solidFill>
                  <a:srgbClr val="1F2937"/>
                </a:solidFill>
                <a:latin typeface="Calibri"/>
              </a:rPr>
              <a:t>▸  Klinikada DAD o‘tkir respirator distress sindromi (ARDS) ko‘rinishida namoyon bo‘ladi.</a:t>
            </a:r>
          </a:p>
          <a:p>
            <a:pPr>
              <a:spcAft>
                <a:spcPts val="1200"/>
              </a:spcAft>
            </a:pPr>
            <a:r>
              <a:rPr sz="2200">
                <a:solidFill>
                  <a:srgbClr val="1F2937"/>
                </a:solidFill>
                <a:latin typeface="Calibri"/>
              </a:rPr>
              <a:t>▸  U sepsis, shok, travmada va surunkali interstitsial o‘pka kasalliklarining o‘tkirlashuvida uchraydi.</a:t>
            </a:r>
          </a:p>
          <a:p>
            <a:pPr>
              <a:spcAft>
                <a:spcPts val="1200"/>
              </a:spcAft>
            </a:pPr>
            <a:r>
              <a:rPr sz="2200">
                <a:solidFill>
                  <a:srgbClr val="1F2937"/>
                </a:solidFill>
                <a:latin typeface="Calibri"/>
              </a:rPr>
              <a:t>▸  Rentgenda ikki tomonlama diffuz xiralashuv ko‘rinadi, chuqur gipoksemiya sun’iy ventilyatsiyani talab qiladi. O‘lim 43–50%.</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DAD qaysi holatlarda uchraydi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DAD — o‘tkir interstitsial pnevmoniyaning morfologik prototipi; kechishi tez va halokatli.</a:t>
            </a:r>
          </a:p>
          <a:p>
            <a:pPr>
              <a:spcAft>
                <a:spcPts val="800"/>
              </a:spcAft>
            </a:pPr>
            <a:r>
              <a:rPr sz="1800">
                <a:solidFill>
                  <a:srgbClr val="1F2937"/>
                </a:solidFill>
                <a:latin typeface="Calibri"/>
              </a:rPr>
              <a:t>▸  Sepsis, shok, travma, o‘tkir respirator distress sindromi (ARDS) va idiopatik hollarda uchraydi.</a:t>
            </a:r>
          </a:p>
          <a:p>
            <a:pPr>
              <a:spcAft>
                <a:spcPts val="800"/>
              </a:spcAft>
            </a:pPr>
            <a:r>
              <a:rPr sz="1800">
                <a:solidFill>
                  <a:srgbClr val="1F2937"/>
                </a:solidFill>
                <a:latin typeface="Calibri"/>
              </a:rPr>
              <a:t>▸  Surunkali interstitsial o‘pka kasalliklarining o‘tkir avj olishida ham kuzatiladi.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84163"/>
                <a:gridCol w="3103811"/>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a:t>
                      </a:r>
                    </a:p>
                  </a:txBody>
                  <a:tcPr marL="73152" marR="73152" marT="36576" marB="36576">
                    <a:solidFill>
                      <a:srgbClr val="0B1F3A"/>
                    </a:solidFill>
                  </a:tcPr>
                </a:tc>
              </a:tr>
              <a:tr h="411480">
                <a:tc>
                  <a:txBody>
                    <a:bodyPr/>
                    <a:lstStyle/>
                    <a:p>
                      <a:r>
                        <a:rPr sz="1300" b="0">
                          <a:solidFill>
                            <a:srgbClr val="1F2937"/>
                          </a:solidFill>
                        </a:rPr>
                        <a:t>Tizimli holat</a:t>
                      </a:r>
                    </a:p>
                  </a:txBody>
                  <a:tcPr marL="73152" marR="73152" marT="36576" marB="36576">
                    <a:solidFill>
                      <a:srgbClr val="E8EEF6"/>
                    </a:solidFill>
                  </a:tcPr>
                </a:tc>
                <a:tc>
                  <a:txBody>
                    <a:bodyPr/>
                    <a:lstStyle/>
                    <a:p>
                      <a:r>
                        <a:rPr sz="1300" b="0">
                          <a:solidFill>
                            <a:srgbClr val="1F2937"/>
                          </a:solidFill>
                        </a:rPr>
                        <a:t>Sepsis, shok</a:t>
                      </a:r>
                    </a:p>
                  </a:txBody>
                  <a:tcPr marL="73152" marR="73152" marT="36576" marB="36576">
                    <a:solidFill>
                      <a:srgbClr val="E8EEF6"/>
                    </a:solidFill>
                  </a:tcPr>
                </a:tc>
              </a:tr>
              <a:tr h="411480">
                <a:tc>
                  <a:txBody>
                    <a:bodyPr/>
                    <a:lstStyle/>
                    <a:p>
                      <a:r>
                        <a:rPr sz="1300" b="0">
                          <a:solidFill>
                            <a:srgbClr val="1F2937"/>
                          </a:solidFill>
                        </a:rPr>
                        <a:t>Jarohat</a:t>
                      </a:r>
                    </a:p>
                  </a:txBody>
                  <a:tcPr marL="73152" marR="73152" marT="36576" marB="36576">
                    <a:solidFill>
                      <a:srgbClr val="FFFFFF"/>
                    </a:solidFill>
                  </a:tcPr>
                </a:tc>
                <a:tc>
                  <a:txBody>
                    <a:bodyPr/>
                    <a:lstStyle/>
                    <a:p>
                      <a:r>
                        <a:rPr sz="1300" b="0">
                          <a:solidFill>
                            <a:srgbClr val="1F2937"/>
                          </a:solidFill>
                        </a:rPr>
                        <a:t>Travma</a:t>
                      </a:r>
                    </a:p>
                  </a:txBody>
                  <a:tcPr marL="73152" marR="73152" marT="36576" marB="36576">
                    <a:solidFill>
                      <a:srgbClr val="FFFFFF"/>
                    </a:solidFill>
                  </a:tcPr>
                </a:tc>
              </a:tr>
              <a:tr h="411480">
                <a:tc>
                  <a:txBody>
                    <a:bodyPr/>
                    <a:lstStyle/>
                    <a:p>
                      <a:r>
                        <a:rPr sz="1300" b="0">
                          <a:solidFill>
                            <a:srgbClr val="1F2937"/>
                          </a:solidFill>
                        </a:rPr>
                        <a:t>Sababi aniqlanmagan</a:t>
                      </a:r>
                    </a:p>
                  </a:txBody>
                  <a:tcPr marL="73152" marR="73152" marT="36576" marB="36576">
                    <a:solidFill>
                      <a:srgbClr val="E8EEF6"/>
                    </a:solidFill>
                  </a:tcPr>
                </a:tc>
                <a:tc>
                  <a:txBody>
                    <a:bodyPr/>
                    <a:lstStyle/>
                    <a:p>
                      <a:r>
                        <a:rPr sz="1300" b="0">
                          <a:solidFill>
                            <a:srgbClr val="1F2937"/>
                          </a:solidFill>
                        </a:rPr>
                        <a:t>Idiopatik holatlar</a:t>
                      </a:r>
                    </a:p>
                  </a:txBody>
                  <a:tcPr marL="73152" marR="73152" marT="36576" marB="36576">
                    <a:solidFill>
                      <a:srgbClr val="E8EEF6"/>
                    </a:solidFill>
                  </a:tcPr>
                </a:tc>
              </a:tr>
              <a:tr h="411480">
                <a:tc>
                  <a:txBody>
                    <a:bodyPr/>
                    <a:lstStyle/>
                    <a:p>
                      <a:r>
                        <a:rPr sz="1300" b="0">
                          <a:solidFill>
                            <a:srgbClr val="1F2937"/>
                          </a:solidFill>
                        </a:rPr>
                        <a:t>Surunkali kasallik</a:t>
                      </a:r>
                    </a:p>
                  </a:txBody>
                  <a:tcPr marL="73152" marR="73152" marT="36576" marB="36576">
                    <a:solidFill>
                      <a:srgbClr val="FFFFFF"/>
                    </a:solidFill>
                  </a:tcPr>
                </a:tc>
                <a:tc>
                  <a:txBody>
                    <a:bodyPr/>
                    <a:lstStyle/>
                    <a:p>
                      <a:r>
                        <a:rPr sz="1300" b="0">
                          <a:solidFill>
                            <a:srgbClr val="1F2937"/>
                          </a:solidFill>
                        </a:rPr>
                        <a:t>Interstitsial kasallik avji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DAD uchraydigan holatlar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 Introduction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DAD o‘rganishda sud-tibbiy yorishning o‘rni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Og‘ir nafas yetishmovchiligi bor bemorlarda ochiq o‘pka biopsiyasi cheklangan, shuning uchun bunday ma’lumotlar kam.</a:t>
            </a:r>
          </a:p>
          <a:p>
            <a:pPr>
              <a:spcAft>
                <a:spcPts val="1200"/>
              </a:spcAft>
            </a:pPr>
            <a:r>
              <a:rPr sz="2200">
                <a:solidFill>
                  <a:srgbClr val="1F2937"/>
                </a:solidFill>
                <a:latin typeface="Calibri"/>
              </a:rPr>
              <a:t>▸  O‘tkir bosqichda o‘lim xavfi yuqori, shu sababli biopsiyada ko‘pincha kech yoki organizatsiya bosqichi topiladi.</a:t>
            </a:r>
          </a:p>
          <a:p>
            <a:pPr>
              <a:spcAft>
                <a:spcPts val="1200"/>
              </a:spcAft>
            </a:pPr>
            <a:r>
              <a:rPr sz="2200">
                <a:solidFill>
                  <a:srgbClr val="1F2937"/>
                </a:solidFill>
                <a:latin typeface="Calibri"/>
              </a:rPr>
              <a:t>▸  Ochiq biopsiya idiopatik o‘pka fibrozi bor bemorlarda o‘tkir xurujni qo‘zg‘atishi mumkin.</a:t>
            </a:r>
          </a:p>
          <a:p>
            <a:pPr>
              <a:spcAft>
                <a:spcPts val="1200"/>
              </a:spcAft>
            </a:pPr>
            <a:r>
              <a:rPr sz="2200">
                <a:solidFill>
                  <a:srgbClr val="1F2937"/>
                </a:solidFill>
                <a:latin typeface="Calibri"/>
              </a:rPr>
              <a:t>▸  Shu sababli sud-tibbiy yorish va DAD tarqalishini o‘rganish muqobil tadqiqot yo‘nalishi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 Introduction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DAD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DAD qaysi kasallikning morfologik prototipi? Javob: o‘tkir interstitsial pnevmoniyaning.</a:t>
            </a:r>
          </a:p>
          <a:p>
            <a:pPr>
              <a:spcAft>
                <a:spcPts val="1200"/>
              </a:spcAft>
            </a:pPr>
            <a:r>
              <a:rPr sz="2200">
                <a:solidFill>
                  <a:srgbClr val="1F2937"/>
                </a:solidFill>
                <a:latin typeface="Calibri"/>
              </a:rPr>
              <a:t>▸  Savol: klinikada DAD qaysi sindrom bilan namoyon bo‘ladi? Javob: o‘tkir respirator distress sindromi (ARDS).</a:t>
            </a:r>
          </a:p>
          <a:p>
            <a:pPr>
              <a:spcAft>
                <a:spcPts val="1200"/>
              </a:spcAft>
            </a:pPr>
            <a:r>
              <a:rPr sz="2200">
                <a:solidFill>
                  <a:srgbClr val="1F2937"/>
                </a:solidFill>
                <a:latin typeface="Calibri"/>
              </a:rPr>
              <a:t>▸  Diqqat: xato qilish xavfi — DAD ≠ ARDS. DAD morfologik tasvir, ARDS esa klinik sindrom.</a:t>
            </a:r>
          </a:p>
          <a:p>
            <a:pPr>
              <a:spcAft>
                <a:spcPts val="1200"/>
              </a:spcAft>
            </a:pPr>
            <a:r>
              <a:rPr sz="2200">
                <a:solidFill>
                  <a:srgbClr val="1F2937"/>
                </a:solidFill>
                <a:latin typeface="Calibri"/>
              </a:rPr>
              <a:t>▸  Radiologiyada ikki tomonlama diffuz xiralashuv, ko‘p hollarda mexanik ventilyatsiya talab qiladigan chuqur gipoksemiya kuzatiladi.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 Introduction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materiali va usuli (Urer va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2006–2008 yillarda 12 504 ta autopsiya o‘tkazilgan; 6813 tasida gistologik namuna bo‘lgan.</a:t>
            </a:r>
          </a:p>
          <a:p>
            <a:pPr>
              <a:spcAft>
                <a:spcPts val="800"/>
              </a:spcAft>
            </a:pPr>
            <a:r>
              <a:rPr sz="1800">
                <a:solidFill>
                  <a:srgbClr val="1F2937"/>
                </a:solidFill>
                <a:latin typeface="Calibri"/>
              </a:rPr>
              <a:t>▸  18 yoshdan katta, diffuz alveolyar shikastlanish (DAD) tashxisli 66 kishi tanlangan.</a:t>
            </a:r>
          </a:p>
          <a:p>
            <a:pPr>
              <a:spcAft>
                <a:spcPts val="800"/>
              </a:spcAft>
            </a:pPr>
            <a:r>
              <a:rPr sz="1800">
                <a:solidFill>
                  <a:srgbClr val="1F2937"/>
                </a:solidFill>
                <a:latin typeface="Calibri"/>
              </a:rPr>
              <a:t>▸  Gematoksilin-eozin (H&amp;E) bilan bo‘yalgan o‘pka preparatlarini patolog yorug‘lik mikroskopida qayta baholagan.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12 504 ta autopsiya (2006–2008)</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6813 ta gistologik hisobot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18+ yosh, DAD: 66 holat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H&amp;E preparat qayta ko‘rildi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Fisher testi, regressiya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Tanlov va tahlil bosqichlari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ATS/ERS mezonlari va baholash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2002 yilgi ATS/ERS (Amerika torakal va Yevropa respirator jamiyatlari) kelishuv mezonlari asos qilingan.</a:t>
            </a:r>
          </a:p>
          <a:p>
            <a:pPr>
              <a:spcAft>
                <a:spcPts val="800"/>
              </a:spcAft>
            </a:pPr>
            <a:r>
              <a:rPr sz="1800">
                <a:solidFill>
                  <a:srgbClr val="1F2937"/>
                </a:solidFill>
                <a:latin typeface="Calibri"/>
              </a:rPr>
              <a:t>▸  Belgilar 0 (yo‘q), 1 (yengil), 2 (o‘rta), 3 (og‘ir) shkalada baholangan.</a:t>
            </a:r>
          </a:p>
          <a:p>
            <a:pPr>
              <a:spcAft>
                <a:spcPts val="800"/>
              </a:spcAft>
            </a:pPr>
            <a:r>
              <a:rPr sz="1800">
                <a:solidFill>
                  <a:srgbClr val="1F2937"/>
                </a:solidFill>
                <a:latin typeface="Calibri"/>
              </a:rPr>
              <a:t>▸  Alveolyar organizatsiyalovchi fibroz bo‘lishi ekssudativ va proliferativ fazani ajratuvchi asosiy mezon.</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109821"/>
                <a:gridCol w="2415494"/>
                <a:gridCol w="1762658"/>
              </a:tblGrid>
              <a:tr h="411480">
                <a:tc>
                  <a:txBody>
                    <a:bodyPr/>
                    <a:lstStyle/>
                    <a:p>
                      <a:r>
                        <a:rPr sz="1300" b="1">
                          <a:solidFill>
                            <a:srgbClr val="FFFFFF"/>
                          </a:solidFill>
                        </a:rPr>
                        <a:t>Ko‘rsatkich</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Baholash</a:t>
                      </a:r>
                    </a:p>
                  </a:txBody>
                  <a:tcPr marL="73152" marR="73152" marT="36576" marB="36576">
                    <a:solidFill>
                      <a:srgbClr val="0B1F3A"/>
                    </a:solidFill>
                  </a:tcPr>
                </a:tc>
              </a:tr>
              <a:tr h="411480">
                <a:tc>
                  <a:txBody>
                    <a:bodyPr/>
                    <a:lstStyle/>
                    <a:p>
                      <a:r>
                        <a:rPr sz="1200" b="0">
                          <a:solidFill>
                            <a:srgbClr val="1F2937"/>
                          </a:solidFill>
                        </a:rPr>
                        <a:t>Intensivlik</a:t>
                      </a:r>
                    </a:p>
                  </a:txBody>
                  <a:tcPr marL="73152" marR="73152" marT="36576" marB="36576">
                    <a:solidFill>
                      <a:srgbClr val="E8EEF6"/>
                    </a:solidFill>
                  </a:tcPr>
                </a:tc>
                <a:tc>
                  <a:txBody>
                    <a:bodyPr/>
                    <a:lstStyle/>
                    <a:p>
                      <a:r>
                        <a:rPr sz="1200" b="0">
                          <a:solidFill>
                            <a:srgbClr val="1F2937"/>
                          </a:solidFill>
                        </a:rPr>
                        <a:t>Surunkali yallig‘lanish, eozinofiliya</a:t>
                      </a:r>
                    </a:p>
                  </a:txBody>
                  <a:tcPr marL="73152" marR="73152" marT="36576" marB="36576">
                    <a:solidFill>
                      <a:srgbClr val="E8EEF6"/>
                    </a:solidFill>
                  </a:tcPr>
                </a:tc>
                <a:tc>
                  <a:txBody>
                    <a:bodyPr/>
                    <a:lstStyle/>
                    <a:p>
                      <a:r>
                        <a:rPr sz="1200" b="0">
                          <a:solidFill>
                            <a:srgbClr val="1F2937"/>
                          </a:solidFill>
                        </a:rPr>
                        <a:t>0–3 shkala</a:t>
                      </a:r>
                    </a:p>
                  </a:txBody>
                  <a:tcPr marL="73152" marR="73152" marT="36576" marB="36576">
                    <a:solidFill>
                      <a:srgbClr val="E8EEF6"/>
                    </a:solidFill>
                  </a:tcPr>
                </a:tc>
              </a:tr>
              <a:tr h="411480">
                <a:tc>
                  <a:txBody>
                    <a:bodyPr/>
                    <a:lstStyle/>
                    <a:p>
                      <a:r>
                        <a:rPr sz="1200" b="0">
                          <a:solidFill>
                            <a:srgbClr val="1F2937"/>
                          </a:solidFill>
                        </a:rPr>
                        <a:t>Tarqalish</a:t>
                      </a:r>
                    </a:p>
                  </a:txBody>
                  <a:tcPr marL="73152" marR="73152" marT="36576" marB="36576">
                    <a:solidFill>
                      <a:srgbClr val="FFFFFF"/>
                    </a:solidFill>
                  </a:tcPr>
                </a:tc>
                <a:tc>
                  <a:txBody>
                    <a:bodyPr/>
                    <a:lstStyle/>
                    <a:p>
                      <a:r>
                        <a:rPr sz="1200" b="0">
                          <a:solidFill>
                            <a:srgbClr val="1F2937"/>
                          </a:solidFill>
                        </a:rPr>
                        <a:t>Gialin membrana (HM)</a:t>
                      </a:r>
                    </a:p>
                  </a:txBody>
                  <a:tcPr marL="73152" marR="73152" marT="36576" marB="36576">
                    <a:solidFill>
                      <a:srgbClr val="FFFFFF"/>
                    </a:solidFill>
                  </a:tcPr>
                </a:tc>
                <a:tc>
                  <a:txBody>
                    <a:bodyPr/>
                    <a:lstStyle/>
                    <a:p>
                      <a:r>
                        <a:rPr sz="1200" b="0">
                          <a:solidFill>
                            <a:srgbClr val="1F2937"/>
                          </a:solidFill>
                        </a:rPr>
                        <a:t>0–3 shkala</a:t>
                      </a:r>
                    </a:p>
                  </a:txBody>
                  <a:tcPr marL="73152" marR="73152" marT="36576" marB="36576">
                    <a:solidFill>
                      <a:srgbClr val="FFFFFF"/>
                    </a:solidFill>
                  </a:tcPr>
                </a:tc>
              </a:tr>
              <a:tr h="411480">
                <a:tc>
                  <a:txBody>
                    <a:bodyPr/>
                    <a:lstStyle/>
                    <a:p>
                      <a:r>
                        <a:rPr sz="1200" b="0">
                          <a:solidFill>
                            <a:srgbClr val="1F2937"/>
                          </a:solidFill>
                        </a:rPr>
                        <a:t>Asosiy mezon</a:t>
                      </a:r>
                    </a:p>
                  </a:txBody>
                  <a:tcPr marL="73152" marR="73152" marT="36576" marB="36576">
                    <a:solidFill>
                      <a:srgbClr val="E8EEF6"/>
                    </a:solidFill>
                  </a:tcPr>
                </a:tc>
                <a:tc>
                  <a:txBody>
                    <a:bodyPr/>
                    <a:lstStyle/>
                    <a:p>
                      <a:r>
                        <a:rPr sz="1200" b="0">
                          <a:solidFill>
                            <a:srgbClr val="1F2937"/>
                          </a:solidFill>
                        </a:rPr>
                        <a:t>Alveolyar organizatsiyalovchi fibroz</a:t>
                      </a:r>
                    </a:p>
                  </a:txBody>
                  <a:tcPr marL="73152" marR="73152" marT="36576" marB="36576">
                    <a:solidFill>
                      <a:srgbClr val="E8EEF6"/>
                    </a:solidFill>
                  </a:tcPr>
                </a:tc>
                <a:tc>
                  <a:txBody>
                    <a:bodyPr/>
                    <a:lstStyle/>
                    <a:p>
                      <a:r>
                        <a:rPr sz="1200" b="0">
                          <a:solidFill>
                            <a:srgbClr val="1F2937"/>
                          </a:solidFill>
                        </a:rPr>
                        <a:t>Bor-yo‘qligi: faza ajratadi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Intensivlik va tarqalish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DAD fazalari: ekssudativ, proliferativ, fibrotik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DAD uch bosqichdan o‘tadi: erta ekssudativ, ostki o‘tkir proliferativ va kech fibrotik.</a:t>
            </a:r>
          </a:p>
          <a:p>
            <a:pPr>
              <a:spcAft>
                <a:spcPts val="800"/>
              </a:spcAft>
            </a:pPr>
            <a:r>
              <a:rPr sz="1800">
                <a:solidFill>
                  <a:srgbClr val="1F2937"/>
                </a:solidFill>
                <a:latin typeface="Calibri"/>
              </a:rPr>
              <a:t>▸  Gialin membrana shikastdan 4–5 kun o‘tgach shakllanadi; proliferativ holatlarda u ko‘proq uchragan.</a:t>
            </a:r>
          </a:p>
          <a:p>
            <a:pPr>
              <a:spcAft>
                <a:spcPts val="800"/>
              </a:spcAft>
            </a:pPr>
            <a:r>
              <a:rPr sz="1800">
                <a:solidFill>
                  <a:srgbClr val="1F2937"/>
                </a:solidFill>
                <a:latin typeface="Calibri"/>
              </a:rPr>
              <a:t>▸  Tadqiqotda 50 ta (75,7%) holat ekssudativ, 16 ta (24,2%) proliferativ fazada bo‘lgan.</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Alveolokapillyar shikast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Erta ekssudativ (o‘tkir)</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Ostki o‘tkir proliferativ</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 fibrotik (surunkali)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DAD bosqichlari ketma-ketligi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Gialin membrana (HM) paydo bo‘lishi va chastotasi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Gialin membrana (HM) shikastdan 4–5 kun o‘tgach ko‘rina boshlaydi.</a:t>
            </a:r>
          </a:p>
          <a:p>
            <a:pPr>
              <a:spcAft>
                <a:spcPts val="800"/>
              </a:spcAft>
            </a:pPr>
            <a:r>
              <a:rPr sz="1800">
                <a:solidFill>
                  <a:srgbClr val="1F2937"/>
                </a:solidFill>
                <a:latin typeface="Calibri"/>
              </a:rPr>
              <a:t>▸  Ferrer ma’lumoti: HM ekssudativ fazadagi holatlarning 12%, proliferativ fazadagilarning 62% qismida topilgan.</a:t>
            </a:r>
          </a:p>
          <a:p>
            <a:pPr>
              <a:spcAft>
                <a:spcPts val="800"/>
              </a:spcAft>
            </a:pPr>
            <a:r>
              <a:rPr sz="1800">
                <a:solidFill>
                  <a:srgbClr val="1F2937"/>
                </a:solidFill>
                <a:latin typeface="Calibri"/>
              </a:rPr>
              <a:t>▸  Mazkur tadqiqotda ham HM proliferativ fazada ekssudativ fazaga qaraganda ko‘proq uchradi.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3103811"/>
                <a:gridCol w="2184163"/>
              </a:tblGrid>
              <a:tr h="411480">
                <a:tc>
                  <a:txBody>
                    <a:bodyPr/>
                    <a:lstStyle/>
                    <a:p>
                      <a:r>
                        <a:rPr sz="1400" b="1">
                          <a:solidFill>
                            <a:srgbClr val="FFFFFF"/>
                          </a:solidFill>
                        </a:rPr>
                        <a:t>Faza</a:t>
                      </a:r>
                    </a:p>
                  </a:txBody>
                  <a:tcPr marL="73152" marR="73152" marT="36576" marB="36576">
                    <a:solidFill>
                      <a:srgbClr val="0B1F3A"/>
                    </a:solidFill>
                  </a:tcPr>
                </a:tc>
                <a:tc>
                  <a:txBody>
                    <a:bodyPr/>
                    <a:lstStyle/>
                    <a:p>
                      <a:r>
                        <a:rPr sz="1400" b="1">
                          <a:solidFill>
                            <a:srgbClr val="FFFFFF"/>
                          </a:solidFill>
                        </a:rPr>
                        <a:t>HM chastotasi</a:t>
                      </a:r>
                    </a:p>
                  </a:txBody>
                  <a:tcPr marL="73152" marR="73152" marT="36576" marB="36576">
                    <a:solidFill>
                      <a:srgbClr val="0B1F3A"/>
                    </a:solidFill>
                  </a:tcPr>
                </a:tc>
              </a:tr>
              <a:tr h="411480">
                <a:tc>
                  <a:txBody>
                    <a:bodyPr/>
                    <a:lstStyle/>
                    <a:p>
                      <a:r>
                        <a:rPr sz="1300" b="0">
                          <a:solidFill>
                            <a:srgbClr val="1F2937"/>
                          </a:solidFill>
                        </a:rPr>
                        <a:t>Ekssudativ (erta faza)</a:t>
                      </a:r>
                    </a:p>
                  </a:txBody>
                  <a:tcPr marL="73152" marR="73152" marT="36576" marB="36576">
                    <a:solidFill>
                      <a:srgbClr val="E8EEF6"/>
                    </a:solidFill>
                  </a:tcPr>
                </a:tc>
                <a:tc>
                  <a:txBody>
                    <a:bodyPr/>
                    <a:lstStyle/>
                    <a:p>
                      <a:r>
                        <a:rPr sz="1300" b="0">
                          <a:solidFill>
                            <a:srgbClr val="1F2937"/>
                          </a:solidFill>
                        </a:rPr>
                        <a:t>12%</a:t>
                      </a:r>
                    </a:p>
                  </a:txBody>
                  <a:tcPr marL="73152" marR="73152" marT="36576" marB="36576">
                    <a:solidFill>
                      <a:srgbClr val="E8EEF6"/>
                    </a:solidFill>
                  </a:tcPr>
                </a:tc>
              </a:tr>
              <a:tr h="411480">
                <a:tc>
                  <a:txBody>
                    <a:bodyPr/>
                    <a:lstStyle/>
                    <a:p>
                      <a:r>
                        <a:rPr sz="1300" b="0">
                          <a:solidFill>
                            <a:srgbClr val="1F2937"/>
                          </a:solidFill>
                        </a:rPr>
                        <a:t>Proliferativ (keyingi faza)</a:t>
                      </a:r>
                    </a:p>
                  </a:txBody>
                  <a:tcPr marL="73152" marR="73152" marT="36576" marB="36576">
                    <a:solidFill>
                      <a:srgbClr val="FFFFFF"/>
                    </a:solidFill>
                  </a:tcPr>
                </a:tc>
                <a:tc>
                  <a:txBody>
                    <a:bodyPr/>
                    <a:lstStyle/>
                    <a:p>
                      <a:r>
                        <a:rPr sz="1300" b="0">
                          <a:solidFill>
                            <a:srgbClr val="1F2937"/>
                          </a:solidFill>
                        </a:rPr>
                        <a:t>62%</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HM chastotasi (Ferrer)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fazalar va demografik ko‘rsatkichlar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DAD (diffuz alveolyar shikast) tashxisli 66 holatdan 50 tasi (75,7%) ekssudativ, 16 tasi (24,2%) proliferativ fazada edi.</a:t>
            </a:r>
          </a:p>
          <a:p>
            <a:pPr>
              <a:spcAft>
                <a:spcPts val="800"/>
              </a:spcAft>
            </a:pPr>
            <a:r>
              <a:rPr sz="1800">
                <a:solidFill>
                  <a:srgbClr val="1F2937"/>
                </a:solidFill>
                <a:latin typeface="Calibri"/>
              </a:rPr>
              <a:t>▸  Holatlarning 55 tasi (83,3%) erkak, 11 tasi (16,6%) ayol bo‘lgan.</a:t>
            </a:r>
          </a:p>
          <a:p>
            <a:pPr>
              <a:spcAft>
                <a:spcPts val="800"/>
              </a:spcAft>
            </a:pPr>
            <a:r>
              <a:rPr sz="1800">
                <a:solidFill>
                  <a:srgbClr val="1F2937"/>
                </a:solidFill>
                <a:latin typeface="Calibri"/>
              </a:rPr>
              <a:t>▸  O‘rtacha yosh 53, mediana 54 yosh; yosh oralig‘i 19 dan 92 gacha.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24108"/>
                <a:gridCol w="2563866"/>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Soni (%)</a:t>
                      </a:r>
                    </a:p>
                  </a:txBody>
                  <a:tcPr marL="73152" marR="73152" marT="36576" marB="36576">
                    <a:solidFill>
                      <a:srgbClr val="0B1F3A"/>
                    </a:solidFill>
                  </a:tcPr>
                </a:tc>
              </a:tr>
              <a:tr h="411480">
                <a:tc>
                  <a:txBody>
                    <a:bodyPr/>
                    <a:lstStyle/>
                    <a:p>
                      <a:r>
                        <a:rPr sz="1300" b="0">
                          <a:solidFill>
                            <a:srgbClr val="1F2937"/>
                          </a:solidFill>
                        </a:rPr>
                        <a:t>Ekssudativ faza</a:t>
                      </a:r>
                    </a:p>
                  </a:txBody>
                  <a:tcPr marL="73152" marR="73152" marT="36576" marB="36576">
                    <a:solidFill>
                      <a:srgbClr val="E8EEF6"/>
                    </a:solidFill>
                  </a:tcPr>
                </a:tc>
                <a:tc>
                  <a:txBody>
                    <a:bodyPr/>
                    <a:lstStyle/>
                    <a:p>
                      <a:r>
                        <a:rPr sz="1300" b="0">
                          <a:solidFill>
                            <a:srgbClr val="1F2937"/>
                          </a:solidFill>
                        </a:rPr>
                        <a:t>50 (75,7%)</a:t>
                      </a:r>
                    </a:p>
                  </a:txBody>
                  <a:tcPr marL="73152" marR="73152" marT="36576" marB="36576">
                    <a:solidFill>
                      <a:srgbClr val="E8EEF6"/>
                    </a:solidFill>
                  </a:tcPr>
                </a:tc>
              </a:tr>
              <a:tr h="411480">
                <a:tc>
                  <a:txBody>
                    <a:bodyPr/>
                    <a:lstStyle/>
                    <a:p>
                      <a:r>
                        <a:rPr sz="1300" b="0">
                          <a:solidFill>
                            <a:srgbClr val="1F2937"/>
                          </a:solidFill>
                        </a:rPr>
                        <a:t>Proliferativ faza</a:t>
                      </a:r>
                    </a:p>
                  </a:txBody>
                  <a:tcPr marL="73152" marR="73152" marT="36576" marB="36576">
                    <a:solidFill>
                      <a:srgbClr val="FFFFFF"/>
                    </a:solidFill>
                  </a:tcPr>
                </a:tc>
                <a:tc>
                  <a:txBody>
                    <a:bodyPr/>
                    <a:lstStyle/>
                    <a:p>
                      <a:r>
                        <a:rPr sz="1300" b="0">
                          <a:solidFill>
                            <a:srgbClr val="1F2937"/>
                          </a:solidFill>
                        </a:rPr>
                        <a:t>16 (24,2%)</a:t>
                      </a:r>
                    </a:p>
                  </a:txBody>
                  <a:tcPr marL="73152" marR="73152" marT="36576" marB="36576">
                    <a:solidFill>
                      <a:srgbClr val="FFFFFF"/>
                    </a:solidFill>
                  </a:tcPr>
                </a:tc>
              </a:tr>
              <a:tr h="411480">
                <a:tc>
                  <a:txBody>
                    <a:bodyPr/>
                    <a:lstStyle/>
                    <a:p>
                      <a:r>
                        <a:rPr sz="1300" b="0">
                          <a:solidFill>
                            <a:srgbClr val="1F2937"/>
                          </a:solidFill>
                        </a:rPr>
                        <a:t>Erkaklar</a:t>
                      </a:r>
                    </a:p>
                  </a:txBody>
                  <a:tcPr marL="73152" marR="73152" marT="36576" marB="36576">
                    <a:solidFill>
                      <a:srgbClr val="E8EEF6"/>
                    </a:solidFill>
                  </a:tcPr>
                </a:tc>
                <a:tc>
                  <a:txBody>
                    <a:bodyPr/>
                    <a:lstStyle/>
                    <a:p>
                      <a:r>
                        <a:rPr sz="1300" b="0">
                          <a:solidFill>
                            <a:srgbClr val="1F2937"/>
                          </a:solidFill>
                        </a:rPr>
                        <a:t>55 (83,3%)</a:t>
                      </a:r>
                    </a:p>
                  </a:txBody>
                  <a:tcPr marL="73152" marR="73152" marT="36576" marB="36576">
                    <a:solidFill>
                      <a:srgbClr val="E8EEF6"/>
                    </a:solidFill>
                  </a:tcPr>
                </a:tc>
              </a:tr>
              <a:tr h="411480">
                <a:tc>
                  <a:txBody>
                    <a:bodyPr/>
                    <a:lstStyle/>
                    <a:p>
                      <a:r>
                        <a:rPr sz="1300" b="0">
                          <a:solidFill>
                            <a:srgbClr val="1F2937"/>
                          </a:solidFill>
                        </a:rPr>
                        <a:t>Ayollar</a:t>
                      </a:r>
                    </a:p>
                  </a:txBody>
                  <a:tcPr marL="73152" marR="73152" marT="36576" marB="36576">
                    <a:solidFill>
                      <a:srgbClr val="FFFFFF"/>
                    </a:solidFill>
                  </a:tcPr>
                </a:tc>
                <a:tc>
                  <a:txBody>
                    <a:bodyPr/>
                    <a:lstStyle/>
                    <a:p>
                      <a:r>
                        <a:rPr sz="1300" b="0">
                          <a:solidFill>
                            <a:srgbClr val="1F2937"/>
                          </a:solidFill>
                        </a:rPr>
                        <a:t>11 (16,6%)</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Holatlar taqsimoti (n = 66)</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Fazalarni ajratuvchi gistologik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alveolyar ekssudat/shish ekssudativ fazada sezilarli yuqori bo‘lgan.</a:t>
            </a:r>
          </a:p>
          <a:p>
            <a:pPr>
              <a:spcAft>
                <a:spcPts val="800"/>
              </a:spcAft>
            </a:pPr>
            <a:r>
              <a:rPr sz="1800">
                <a:solidFill>
                  <a:srgbClr val="1F2937"/>
                </a:solidFill>
                <a:latin typeface="Calibri"/>
              </a:rPr>
              <a:t>▸  Proliferativ fazada histiotsitar desk‘vamatsiya, fibroz, surunkali yallig‘lanish va fibrin ko‘proq edi.</a:t>
            </a:r>
          </a:p>
          <a:p>
            <a:pPr>
              <a:spcAft>
                <a:spcPts val="800"/>
              </a:spcAft>
            </a:pPr>
            <a:r>
              <a:rPr sz="1800">
                <a:solidFill>
                  <a:srgbClr val="1F2937"/>
                </a:solidFill>
                <a:latin typeface="Calibri"/>
              </a:rPr>
              <a:t>▸  Regressiyada faqat alveolyar fibrin proliferativ fazani mustaqil bashorat qildi (P = 0,016).</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2643987"/>
                <a:gridCol w="1321993"/>
                <a:gridCol w="1321993"/>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Ustun faza</a:t>
                      </a:r>
                    </a:p>
                  </a:txBody>
                  <a:tcPr marL="73152" marR="73152" marT="36576" marB="36576">
                    <a:solidFill>
                      <a:srgbClr val="0B1F3A"/>
                    </a:solidFill>
                  </a:tcPr>
                </a:tc>
                <a:tc>
                  <a:txBody>
                    <a:bodyPr/>
                    <a:lstStyle/>
                    <a:p>
                      <a:r>
                        <a:rPr sz="1300" b="1">
                          <a:solidFill>
                            <a:srgbClr val="FFFFFF"/>
                          </a:solidFill>
                        </a:rPr>
                        <a:t>P qiymati</a:t>
                      </a:r>
                    </a:p>
                  </a:txBody>
                  <a:tcPr marL="73152" marR="73152" marT="36576" marB="36576">
                    <a:solidFill>
                      <a:srgbClr val="0B1F3A"/>
                    </a:solidFill>
                  </a:tcPr>
                </a:tc>
              </a:tr>
              <a:tr h="411480">
                <a:tc>
                  <a:txBody>
                    <a:bodyPr/>
                    <a:lstStyle/>
                    <a:p>
                      <a:r>
                        <a:rPr sz="1200" b="0">
                          <a:solidFill>
                            <a:srgbClr val="1F2937"/>
                          </a:solidFill>
                        </a:rPr>
                        <a:t>Alveolyar ekssudat/shish</a:t>
                      </a:r>
                    </a:p>
                  </a:txBody>
                  <a:tcPr marL="73152" marR="73152" marT="36576" marB="36576">
                    <a:solidFill>
                      <a:srgbClr val="E8EEF6"/>
                    </a:solidFill>
                  </a:tcPr>
                </a:tc>
                <a:tc>
                  <a:txBody>
                    <a:bodyPr/>
                    <a:lstStyle/>
                    <a:p>
                      <a:r>
                        <a:rPr sz="1200" b="0">
                          <a:solidFill>
                            <a:srgbClr val="1F2937"/>
                          </a:solidFill>
                        </a:rPr>
                        <a:t>Ekssudativ</a:t>
                      </a:r>
                    </a:p>
                  </a:txBody>
                  <a:tcPr marL="73152" marR="73152" marT="36576" marB="36576">
                    <a:solidFill>
                      <a:srgbClr val="E8EEF6"/>
                    </a:solidFill>
                  </a:tcPr>
                </a:tc>
                <a:tc>
                  <a:txBody>
                    <a:bodyPr/>
                    <a:lstStyle/>
                    <a:p>
                      <a:r>
                        <a:rPr sz="1200" b="0">
                          <a:solidFill>
                            <a:srgbClr val="1F2937"/>
                          </a:solidFill>
                        </a:rPr>
                        <a:t>0,003</a:t>
                      </a:r>
                    </a:p>
                  </a:txBody>
                  <a:tcPr marL="73152" marR="73152" marT="36576" marB="36576">
                    <a:solidFill>
                      <a:srgbClr val="E8EEF6"/>
                    </a:solidFill>
                  </a:tcPr>
                </a:tc>
              </a:tr>
              <a:tr h="411480">
                <a:tc>
                  <a:txBody>
                    <a:bodyPr/>
                    <a:lstStyle/>
                    <a:p>
                      <a:r>
                        <a:rPr sz="1200" b="0">
                          <a:solidFill>
                            <a:srgbClr val="1F2937"/>
                          </a:solidFill>
                        </a:rPr>
                        <a:t>Histiotsitar desk‘vamatsiya</a:t>
                      </a:r>
                    </a:p>
                  </a:txBody>
                  <a:tcPr marL="73152" marR="73152" marT="36576" marB="36576">
                    <a:solidFill>
                      <a:srgbClr val="FFFFFF"/>
                    </a:solidFill>
                  </a:tcPr>
                </a:tc>
                <a:tc>
                  <a:txBody>
                    <a:bodyPr/>
                    <a:lstStyle/>
                    <a:p>
                      <a:r>
                        <a:rPr sz="1200" b="0">
                          <a:solidFill>
                            <a:srgbClr val="1F2937"/>
                          </a:solidFill>
                        </a:rPr>
                        <a:t>Proliferativ</a:t>
                      </a:r>
                    </a:p>
                  </a:txBody>
                  <a:tcPr marL="73152" marR="73152" marT="36576" marB="36576">
                    <a:solidFill>
                      <a:srgbClr val="FFFFFF"/>
                    </a:solidFill>
                  </a:tcPr>
                </a:tc>
                <a:tc>
                  <a:txBody>
                    <a:bodyPr/>
                    <a:lstStyle/>
                    <a:p>
                      <a:r>
                        <a:rPr sz="1200" b="0">
                          <a:solidFill>
                            <a:srgbClr val="1F2937"/>
                          </a:solidFill>
                        </a:rPr>
                        <a:t>0,037</a:t>
                      </a:r>
                    </a:p>
                  </a:txBody>
                  <a:tcPr marL="73152" marR="73152" marT="36576" marB="36576">
                    <a:solidFill>
                      <a:srgbClr val="FFFFFF"/>
                    </a:solidFill>
                  </a:tcPr>
                </a:tc>
              </a:tr>
              <a:tr h="411480">
                <a:tc>
                  <a:txBody>
                    <a:bodyPr/>
                    <a:lstStyle/>
                    <a:p>
                      <a:r>
                        <a:rPr sz="1200" b="0">
                          <a:solidFill>
                            <a:srgbClr val="1F2937"/>
                          </a:solidFill>
                        </a:rPr>
                        <a:t>Fibroz / surunkali yallig‘lanish</a:t>
                      </a:r>
                    </a:p>
                  </a:txBody>
                  <a:tcPr marL="73152" marR="73152" marT="36576" marB="36576">
                    <a:solidFill>
                      <a:srgbClr val="E8EEF6"/>
                    </a:solidFill>
                  </a:tcPr>
                </a:tc>
                <a:tc>
                  <a:txBody>
                    <a:bodyPr/>
                    <a:lstStyle/>
                    <a:p>
                      <a:r>
                        <a:rPr sz="1200" b="0">
                          <a:solidFill>
                            <a:srgbClr val="1F2937"/>
                          </a:solidFill>
                        </a:rPr>
                        <a:t>Proliferativ</a:t>
                      </a:r>
                    </a:p>
                  </a:txBody>
                  <a:tcPr marL="73152" marR="73152" marT="36576" marB="36576">
                    <a:solidFill>
                      <a:srgbClr val="E8EEF6"/>
                    </a:solidFill>
                  </a:tcPr>
                </a:tc>
                <a:tc>
                  <a:txBody>
                    <a:bodyPr/>
                    <a:lstStyle/>
                    <a:p>
                      <a:r>
                        <a:rPr sz="1200" b="0">
                          <a:solidFill>
                            <a:srgbClr val="1F2937"/>
                          </a:solidFill>
                        </a:rPr>
                        <a:t>0,017 / 0,02</a:t>
                      </a:r>
                    </a:p>
                  </a:txBody>
                  <a:tcPr marL="73152" marR="73152" marT="36576" marB="36576">
                    <a:solidFill>
                      <a:srgbClr val="E8EEF6"/>
                    </a:solidFill>
                  </a:tcPr>
                </a:tc>
              </a:tr>
              <a:tr h="411480">
                <a:tc>
                  <a:txBody>
                    <a:bodyPr/>
                    <a:lstStyle/>
                    <a:p>
                      <a:r>
                        <a:rPr sz="1200" b="0">
                          <a:solidFill>
                            <a:srgbClr val="1F2937"/>
                          </a:solidFill>
                        </a:rPr>
                        <a:t>Alveolyar fibrin</a:t>
                      </a:r>
                    </a:p>
                  </a:txBody>
                  <a:tcPr marL="73152" marR="73152" marT="36576" marB="36576">
                    <a:solidFill>
                      <a:srgbClr val="FFFFFF"/>
                    </a:solidFill>
                  </a:tcPr>
                </a:tc>
                <a:tc>
                  <a:txBody>
                    <a:bodyPr/>
                    <a:lstStyle/>
                    <a:p>
                      <a:r>
                        <a:rPr sz="1200" b="0">
                          <a:solidFill>
                            <a:srgbClr val="1F2937"/>
                          </a:solidFill>
                        </a:rPr>
                        <a:t>Proliferativ</a:t>
                      </a:r>
                    </a:p>
                  </a:txBody>
                  <a:tcPr marL="73152" marR="73152" marT="36576" marB="36576">
                    <a:solidFill>
                      <a:srgbClr val="FFFFFF"/>
                    </a:solidFill>
                  </a:tcPr>
                </a:tc>
                <a:tc>
                  <a:txBody>
                    <a:bodyPr/>
                    <a:lstStyle/>
                    <a:p>
                      <a:r>
                        <a:rPr sz="1200" b="0">
                          <a:solidFill>
                            <a:srgbClr val="1F2937"/>
                          </a:solidFill>
                        </a:rPr>
                        <a:t>0,001</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Faza bo‘yicha farqlovchi belgilar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fazalar va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logistik regressiyada proliferativ faza foydasiga qaysi belgi mustaqil o‘zgaruvchi bo‘ldi? Javob: alveolyar fibrin (P = 0,016).</a:t>
            </a:r>
          </a:p>
          <a:p>
            <a:pPr>
              <a:spcAft>
                <a:spcPts val="1200"/>
              </a:spcAft>
            </a:pPr>
            <a:r>
              <a:rPr sz="2200">
                <a:solidFill>
                  <a:srgbClr val="1F2937"/>
                </a:solidFill>
                <a:latin typeface="Calibri"/>
              </a:rPr>
              <a:t>▸  Ekssudativ fazada faqat alveolyar ekssudat/shish ulushi sezilarli yuqori bo‘ldi (P = 0,003).</a:t>
            </a:r>
          </a:p>
          <a:p>
            <a:pPr>
              <a:spcAft>
                <a:spcPts val="1200"/>
              </a:spcAft>
            </a:pPr>
            <a:r>
              <a:rPr sz="2200">
                <a:solidFill>
                  <a:srgbClr val="1F2937"/>
                </a:solidFill>
                <a:latin typeface="Calibri"/>
              </a:rPr>
              <a:t>▸  Proliferativ holatlarda ko‘proq uchradi: alveolyar gistiotsitar desKvamatsiya, alveolyar fibroz, surunkali yallig‘lanish va fibrin.</a:t>
            </a:r>
          </a:p>
          <a:p>
            <a:pPr>
              <a:spcAft>
                <a:spcPts val="1200"/>
              </a:spcAft>
            </a:pPr>
            <a:r>
              <a:rPr sz="2200">
                <a:solidFill>
                  <a:srgbClr val="1F2937"/>
                </a:solidFill>
                <a:latin typeface="Calibri"/>
              </a:rPr>
              <a:t>▸  Diqqat: fibroz va surunkali yallig‘lanish proliferativ fazada ko‘p, lekin yengil darajada edi. Mustaqil belgi faqat fibrin.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DAD sabablari: travma va yong‘in ustun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28 holat (41%) jismoniy travma bilan bog‘liq edi. Ularning yettitasi yo‘l-transport va ishlab chiqarish hodisalari.</a:t>
            </a:r>
          </a:p>
          <a:p>
            <a:pPr>
              <a:spcAft>
                <a:spcPts val="1200"/>
              </a:spcAft>
            </a:pPr>
            <a:r>
              <a:rPr sz="2200">
                <a:solidFill>
                  <a:srgbClr val="1F2937"/>
                </a:solidFill>
                <a:latin typeface="Calibri"/>
              </a:rPr>
              <a:t>▸  Eng ko‘p uchragan hodisa turlari jismoniy travma va yong‘in bo‘ldi. Travma, kuyish va boshqa guruhlar orasida faza bo‘yicha farq topilmadi.</a:t>
            </a:r>
          </a:p>
          <a:p>
            <a:pPr>
              <a:spcAft>
                <a:spcPts val="1200"/>
              </a:spcAft>
            </a:pPr>
            <a:r>
              <a:rPr sz="2200">
                <a:solidFill>
                  <a:srgbClr val="1F2937"/>
                </a:solidFill>
                <a:latin typeface="Calibri"/>
              </a:rPr>
              <a:t>▸  Travmadan keyin rivojlangan yog‘ emboliyasi proliferativ fazadagi bitta DAD holatida aniqlandi.</a:t>
            </a:r>
          </a:p>
          <a:p>
            <a:pPr>
              <a:spcAft>
                <a:spcPts val="1200"/>
              </a:spcAft>
            </a:pPr>
            <a:r>
              <a:rPr sz="2200">
                <a:solidFill>
                  <a:srgbClr val="1F2937"/>
                </a:solidFill>
                <a:latin typeface="Calibri"/>
              </a:rPr>
              <a:t>▸  Sud-tibbiy otopsiyadagi DAD o‘limlarining 92% g‘ayritabiiy, travma eng ko‘p sabab. Kasalxona seriyalarida esa infeksiya ustun.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DAD va o‘lim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travma yoki yong‘indan keyin vafot etgan shaxs o‘pkasida mikroskopda DAD topildi. Vaziyat tadqiqotdagi holat turlariga asoslangan.</a:t>
            </a:r>
          </a:p>
          <a:p>
            <a:pPr>
              <a:spcAft>
                <a:spcPts val="1200"/>
              </a:spcAft>
            </a:pPr>
            <a:r>
              <a:rPr sz="2200">
                <a:solidFill>
                  <a:srgbClr val="1F2937"/>
                </a:solidFill>
                <a:latin typeface="Calibri"/>
              </a:rPr>
              <a:t>▸  Savol: DAD yolg‘iz o‘lim sababini belgilaydimi? Yo‘q. DAD ko‘p omillar chaqiradigan umumiy o‘zgarish, shuning uchun yolg‘iz sabab bo‘la olmaydi.</a:t>
            </a:r>
          </a:p>
          <a:p>
            <a:pPr>
              <a:spcAft>
                <a:spcPts val="1200"/>
              </a:spcAft>
            </a:pPr>
            <a:r>
              <a:rPr sz="2200">
                <a:solidFill>
                  <a:srgbClr val="1F2937"/>
                </a:solidFill>
                <a:latin typeface="Calibri"/>
              </a:rPr>
              <a:t>▸  Hayotlik davridagi tibbiy va sud-tibbiy ma’lumotlar birgalikda baholanishi kerak. Yong‘inda gipoksiya va yonish gazlari muhim rol o‘ynaydi.</a:t>
            </a:r>
          </a:p>
          <a:p>
            <a:pPr>
              <a:spcAft>
                <a:spcPts val="1200"/>
              </a:spcAft>
            </a:pPr>
            <a:r>
              <a:rPr sz="2200">
                <a:solidFill>
                  <a:srgbClr val="1F2937"/>
                </a:solidFill>
                <a:latin typeface="Calibri"/>
              </a:rPr>
              <a:t>▸  Diqqat: otopsiyada DAD yo‘qligi ARDS ni inkor qilmaydi, chunki ARDS klinikasi bor shaxslarning faqat yarmida DAD topiladi.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Differensial tashxis: DAD ≠ o‘xshash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Mikroskopik differensial tashxis qo‘yish mexanizmni gistologiya bilan bog‘lashdan ham muhimroq.</a:t>
            </a:r>
          </a:p>
          <a:p>
            <a:pPr>
              <a:spcAft>
                <a:spcPts val="800"/>
              </a:spcAft>
            </a:pPr>
            <a:r>
              <a:rPr sz="1800">
                <a:solidFill>
                  <a:srgbClr val="1F2937"/>
                </a:solidFill>
                <a:latin typeface="Calibri"/>
              </a:rPr>
              <a:t>▸  Gialin membrana (HM) barcha holatlarda bor edi, shu sabab o‘tkir fibrinoz pnevmoniya variantiga mos kelmadi.</a:t>
            </a:r>
          </a:p>
          <a:p>
            <a:pPr>
              <a:spcAft>
                <a:spcPts val="800"/>
              </a:spcAft>
            </a:pPr>
            <a:r>
              <a:rPr sz="1800">
                <a:solidFill>
                  <a:srgbClr val="1F2937"/>
                </a:solidFill>
                <a:latin typeface="Calibri"/>
              </a:rPr>
              <a:t>▸  Septa fibrozi va alveolyar organizatsiyalanuvchi fibroz birga bo‘lsa, bu proliferativ faza belgisi.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90454"/>
                <a:gridCol w="2897520"/>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Farqlovchi belgi</a:t>
                      </a:r>
                    </a:p>
                  </a:txBody>
                  <a:tcPr marL="73152" marR="73152" marT="36576" marB="36576">
                    <a:solidFill>
                      <a:srgbClr val="0B1F3A"/>
                    </a:solidFill>
                  </a:tcPr>
                </a:tc>
              </a:tr>
              <a:tr h="411480">
                <a:tc>
                  <a:txBody>
                    <a:bodyPr/>
                    <a:lstStyle/>
                    <a:p>
                      <a:r>
                        <a:rPr sz="1300" b="0">
                          <a:solidFill>
                            <a:srgbClr val="1F2937"/>
                          </a:solidFill>
                        </a:rPr>
                        <a:t>O‘tkir fibrinoz pnevmoniya</a:t>
                      </a:r>
                    </a:p>
                  </a:txBody>
                  <a:tcPr marL="73152" marR="73152" marT="36576" marB="36576">
                    <a:solidFill>
                      <a:srgbClr val="E8EEF6"/>
                    </a:solidFill>
                  </a:tcPr>
                </a:tc>
                <a:tc>
                  <a:txBody>
                    <a:bodyPr/>
                    <a:lstStyle/>
                    <a:p>
                      <a:r>
                        <a:rPr sz="1300" b="0">
                          <a:solidFill>
                            <a:srgbClr val="1F2937"/>
                          </a:solidFill>
                        </a:rPr>
                        <a:t>HM yo‘q, fibrin keng to‘plangan</a:t>
                      </a:r>
                    </a:p>
                  </a:txBody>
                  <a:tcPr marL="73152" marR="73152" marT="36576" marB="36576">
                    <a:solidFill>
                      <a:srgbClr val="E8EEF6"/>
                    </a:solidFill>
                  </a:tcPr>
                </a:tc>
              </a:tr>
              <a:tr h="411480">
                <a:tc>
                  <a:txBody>
                    <a:bodyPr/>
                    <a:lstStyle/>
                    <a:p>
                      <a:r>
                        <a:rPr sz="1300" b="0">
                          <a:solidFill>
                            <a:srgbClr val="1F2937"/>
                          </a:solidFill>
                        </a:rPr>
                        <a:t>Bakterial pnevmoniya</a:t>
                      </a:r>
                    </a:p>
                  </a:txBody>
                  <a:tcPr marL="73152" marR="73152" marT="36576" marB="36576">
                    <a:solidFill>
                      <a:srgbClr val="FFFFFF"/>
                    </a:solidFill>
                  </a:tcPr>
                </a:tc>
                <a:tc>
                  <a:txBody>
                    <a:bodyPr/>
                    <a:lstStyle/>
                    <a:p>
                      <a:r>
                        <a:rPr sz="1300" b="0">
                          <a:solidFill>
                            <a:srgbClr val="1F2937"/>
                          </a:solidFill>
                        </a:rPr>
                        <a:t>DAD da alveola va septada neytrofil kam</a:t>
                      </a:r>
                    </a:p>
                  </a:txBody>
                  <a:tcPr marL="73152" marR="73152" marT="36576" marB="36576">
                    <a:solidFill>
                      <a:srgbClr val="FFFFFF"/>
                    </a:solidFill>
                  </a:tcPr>
                </a:tc>
              </a:tr>
              <a:tr h="411480">
                <a:tc>
                  <a:txBody>
                    <a:bodyPr/>
                    <a:lstStyle/>
                    <a:p>
                      <a:r>
                        <a:rPr sz="1300" b="0">
                          <a:solidFill>
                            <a:srgbClr val="1F2937"/>
                          </a:solidFill>
                        </a:rPr>
                        <a:t>UIP avj olishi</a:t>
                      </a:r>
                    </a:p>
                  </a:txBody>
                  <a:tcPr marL="73152" marR="73152" marT="36576" marB="36576">
                    <a:solidFill>
                      <a:srgbClr val="E8EEF6"/>
                    </a:solidFill>
                  </a:tcPr>
                </a:tc>
                <a:tc>
                  <a:txBody>
                    <a:bodyPr/>
                    <a:lstStyle/>
                    <a:p>
                      <a:r>
                        <a:rPr sz="1300" b="0">
                          <a:solidFill>
                            <a:srgbClr val="1F2937"/>
                          </a:solidFill>
                        </a:rPr>
                        <a:t>Dog‘simon fibroz va asalari uyasi naqshi</a:t>
                      </a:r>
                    </a:p>
                  </a:txBody>
                  <a:tcPr marL="73152" marR="73152" marT="36576" marB="36576">
                    <a:solidFill>
                      <a:srgbClr val="E8EEF6"/>
                    </a:solidFill>
                  </a:tcPr>
                </a:tc>
              </a:tr>
              <a:tr h="411480">
                <a:tc>
                  <a:txBody>
                    <a:bodyPr/>
                    <a:lstStyle/>
                    <a:p>
                      <a:r>
                        <a:rPr sz="1300" b="0">
                          <a:solidFill>
                            <a:srgbClr val="1F2937"/>
                          </a:solidFill>
                        </a:rPr>
                        <a:t>O‘tkir eozinofil pnevmoniya (AEP)</a:t>
                      </a:r>
                    </a:p>
                  </a:txBody>
                  <a:tcPr marL="73152" marR="73152" marT="36576" marB="36576">
                    <a:solidFill>
                      <a:srgbClr val="FFFFFF"/>
                    </a:solidFill>
                  </a:tcPr>
                </a:tc>
                <a:tc>
                  <a:txBody>
                    <a:bodyPr/>
                    <a:lstStyle/>
                    <a:p>
                      <a:r>
                        <a:rPr sz="1300" b="0">
                          <a:solidFill>
                            <a:srgbClr val="1F2937"/>
                          </a:solidFill>
                        </a:rPr>
                        <a:t>Mikroabssess va diffuz HM kuzatilmadi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DAD va o‘xshash holatlar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O‘pka shikastining mexanizmlari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Travmada bosh jarohati, nafas mushaklari va o‘pka arteriya bosimi ham ahamiyatli.</a:t>
            </a:r>
          </a:p>
          <a:p>
            <a:pPr>
              <a:spcAft>
                <a:spcPts val="800"/>
              </a:spcAft>
            </a:pPr>
            <a:r>
              <a:rPr sz="1800">
                <a:solidFill>
                  <a:srgbClr val="1F2937"/>
                </a:solidFill>
                <a:latin typeface="Calibri"/>
              </a:rPr>
              <a:t>▸  Qorin va ko‘krak jarrohligi ayniqsa xavfli: anesteziya va ko‘krak harakati ta’sir qiladi.</a:t>
            </a:r>
          </a:p>
          <a:p>
            <a:pPr>
              <a:spcAft>
                <a:spcPts val="800"/>
              </a:spcAft>
            </a:pPr>
            <a:r>
              <a:rPr sz="1800">
                <a:solidFill>
                  <a:srgbClr val="1F2937"/>
                </a:solidFill>
                <a:latin typeface="Calibri"/>
              </a:rPr>
              <a:t>▸  Kimyoterapiya vositalari, ayrim antibiotiklar va paraquat alveolyar shikast asorati berishi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Sabab</a:t>
                      </a:r>
                    </a:p>
                  </a:txBody>
                  <a:tcPr marL="73152" marR="73152" marT="36576" marB="36576">
                    <a:solidFill>
                      <a:srgbClr val="0B1F3A"/>
                    </a:solidFill>
                  </a:tcPr>
                </a:tc>
                <a:tc>
                  <a:txBody>
                    <a:bodyPr/>
                    <a:lstStyle/>
                    <a:p>
                      <a:r>
                        <a:rPr sz="1400" b="1">
                          <a:solidFill>
                            <a:srgbClr val="FFFFFF"/>
                          </a:solidFill>
                        </a:rPr>
                        <a:t>Rivojlanish yo‘li</a:t>
                      </a:r>
                    </a:p>
                  </a:txBody>
                  <a:tcPr marL="73152" marR="73152" marT="36576" marB="36576">
                    <a:solidFill>
                      <a:srgbClr val="0B1F3A"/>
                    </a:solidFill>
                  </a:tcPr>
                </a:tc>
              </a:tr>
              <a:tr h="411480">
                <a:tc>
                  <a:txBody>
                    <a:bodyPr/>
                    <a:lstStyle/>
                    <a:p>
                      <a:r>
                        <a:rPr sz="1300" b="0">
                          <a:solidFill>
                            <a:srgbClr val="1F2937"/>
                          </a:solidFill>
                        </a:rPr>
                        <a:t>Travma</a:t>
                      </a:r>
                    </a:p>
                  </a:txBody>
                  <a:tcPr marL="73152" marR="73152" marT="36576" marB="36576">
                    <a:solidFill>
                      <a:srgbClr val="E8EEF6"/>
                    </a:solidFill>
                  </a:tcPr>
                </a:tc>
                <a:tc>
                  <a:txBody>
                    <a:bodyPr/>
                    <a:lstStyle/>
                    <a:p>
                      <a:r>
                        <a:rPr sz="1300" b="0">
                          <a:solidFill>
                            <a:srgbClr val="1F2937"/>
                          </a:solidFill>
                        </a:rPr>
                        <a:t>Qon ketishidan gipoksiya, sitokinlar, shish</a:t>
                      </a:r>
                    </a:p>
                  </a:txBody>
                  <a:tcPr marL="73152" marR="73152" marT="36576" marB="36576">
                    <a:solidFill>
                      <a:srgbClr val="E8EEF6"/>
                    </a:solidFill>
                  </a:tcPr>
                </a:tc>
              </a:tr>
              <a:tr h="411480">
                <a:tc>
                  <a:txBody>
                    <a:bodyPr/>
                    <a:lstStyle/>
                    <a:p>
                      <a:r>
                        <a:rPr sz="1300" b="0">
                          <a:solidFill>
                            <a:srgbClr val="1F2937"/>
                          </a:solidFill>
                        </a:rPr>
                        <a:t>Yong‘in</a:t>
                      </a:r>
                    </a:p>
                  </a:txBody>
                  <a:tcPr marL="73152" marR="73152" marT="36576" marB="36576">
                    <a:solidFill>
                      <a:srgbClr val="FFFFFF"/>
                    </a:solidFill>
                  </a:tcPr>
                </a:tc>
                <a:tc>
                  <a:txBody>
                    <a:bodyPr/>
                    <a:lstStyle/>
                    <a:p>
                      <a:r>
                        <a:rPr sz="1300" b="0">
                          <a:solidFill>
                            <a:srgbClr val="1F2937"/>
                          </a:solidFill>
                        </a:rPr>
                        <a:t>Gipoksiya va yonishda ajralgan gazlar</a:t>
                      </a:r>
                    </a:p>
                  </a:txBody>
                  <a:tcPr marL="73152" marR="73152" marT="36576" marB="36576">
                    <a:solidFill>
                      <a:srgbClr val="FFFFFF"/>
                    </a:solidFill>
                  </a:tcPr>
                </a:tc>
              </a:tr>
              <a:tr h="411480">
                <a:tc>
                  <a:txBody>
                    <a:bodyPr/>
                    <a:lstStyle/>
                    <a:p>
                      <a:r>
                        <a:rPr sz="1300" b="0">
                          <a:solidFill>
                            <a:srgbClr val="1F2937"/>
                          </a:solidFill>
                        </a:rPr>
                        <a:t>Jarrohlik</a:t>
                      </a:r>
                    </a:p>
                  </a:txBody>
                  <a:tcPr marL="73152" marR="73152" marT="36576" marB="36576">
                    <a:solidFill>
                      <a:srgbClr val="E8EEF6"/>
                    </a:solidFill>
                  </a:tcPr>
                </a:tc>
                <a:tc>
                  <a:txBody>
                    <a:bodyPr/>
                    <a:lstStyle/>
                    <a:p>
                      <a:r>
                        <a:rPr sz="1300" b="0">
                          <a:solidFill>
                            <a:srgbClr val="1F2937"/>
                          </a:solidFill>
                        </a:rPr>
                        <a:t>Anesteziya va ko‘krak harakati buzilishi</a:t>
                      </a:r>
                    </a:p>
                  </a:txBody>
                  <a:tcPr marL="73152" marR="73152" marT="36576" marB="36576">
                    <a:solidFill>
                      <a:srgbClr val="E8EEF6"/>
                    </a:solidFill>
                  </a:tcPr>
                </a:tc>
              </a:tr>
              <a:tr h="411480">
                <a:tc>
                  <a:txBody>
                    <a:bodyPr/>
                    <a:lstStyle/>
                    <a:p>
                      <a:r>
                        <a:rPr sz="1300" b="0">
                          <a:solidFill>
                            <a:srgbClr val="1F2937"/>
                          </a:solidFill>
                        </a:rPr>
                        <a:t>Dori va paraquat</a:t>
                      </a:r>
                    </a:p>
                  </a:txBody>
                  <a:tcPr marL="73152" marR="73152" marT="36576" marB="36576">
                    <a:solidFill>
                      <a:srgbClr val="FFFFFF"/>
                    </a:solidFill>
                  </a:tcPr>
                </a:tc>
                <a:tc>
                  <a:txBody>
                    <a:bodyPr/>
                    <a:lstStyle/>
                    <a:p>
                      <a:r>
                        <a:rPr sz="1300" b="0">
                          <a:solidFill>
                            <a:srgbClr val="1F2937"/>
                          </a:solidFill>
                        </a:rPr>
                        <a:t>Alveolaga toksik ta’sir, atsidoz, sitokinlar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Nafas yetishmovchiligi yo‘llari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DAD cheklovlari va tashxis qiymati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DAD turli omillardan kelib chiqadigan umumiy o‘zgarish, shuning uchun yolg‘iz o‘zi o‘lim sababini belgilamaydi. Hayotlik tibbiy va sud-tibbiy ma’lumot birga baholanadi.</a:t>
            </a:r>
          </a:p>
          <a:p>
            <a:pPr>
              <a:spcAft>
                <a:spcPts val="1200"/>
              </a:spcAft>
            </a:pPr>
            <a:r>
              <a:rPr sz="2000">
                <a:solidFill>
                  <a:srgbClr val="1F2937"/>
                </a:solidFill>
                <a:latin typeface="Calibri"/>
              </a:rPr>
              <a:t>▸  O‘tkir respirator distress sindromi (ARDS) klinikasi bor odamlarning faqat yarmida yorishda DAD topiladi. DAD bo‘lmasligi ARDSni inkor qilmaydi.</a:t>
            </a:r>
          </a:p>
          <a:p>
            <a:pPr>
              <a:spcAft>
                <a:spcPts val="1200"/>
              </a:spcAft>
            </a:pPr>
            <a:r>
              <a:rPr sz="2000">
                <a:solidFill>
                  <a:srgbClr val="1F2937"/>
                </a:solidFill>
                <a:latin typeface="Calibri"/>
              </a:rPr>
              <a:t>▸  Tadqiqot cheklovlari: alveolyar qon quyilish baholanmagan, ma’lumot hisobotlardan olingan, o‘lim va aralashuv oraliqlari noma’lum, kuzatuvchilararo farq bor.</a:t>
            </a:r>
          </a:p>
          <a:p>
            <a:pPr>
              <a:spcAft>
                <a:spcPts val="1200"/>
              </a:spcAft>
            </a:pPr>
            <a:r>
              <a:rPr sz="2000">
                <a:solidFill>
                  <a:srgbClr val="1F2937"/>
                </a:solidFill>
                <a:latin typeface="Calibri"/>
              </a:rPr>
              <a:t>▸  DAD rivojlanish mexanizmi to‘liq tushunilmagan, shu sabab patolog va sud-tibbiyot mutaxassisi klinik parametrlarni ham bilishi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DAD bo‘limi yakuni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o‘pkada diffuz alveolyar shikastlanish (DAD) topilsa, o‘lim sababi shu bilan aniqlanadimi? Nega antemortem va sud-tibbiy ma’lumotlar birga baholanadi?</a:t>
            </a:r>
          </a:p>
          <a:p>
            <a:pPr>
              <a:spcAft>
                <a:spcPts val="1200"/>
              </a:spcAft>
            </a:pPr>
            <a:r>
              <a:rPr sz="2200">
                <a:solidFill>
                  <a:srgbClr val="1F2937"/>
                </a:solidFill>
                <a:latin typeface="Calibri"/>
              </a:rPr>
              <a:t>▸  DAD bitta kasallikka xos emas. Bu turli omillardan kelib chiqishi mumkin bo‘lgan umumiy patologik o‘zgarishdir.</a:t>
            </a:r>
          </a:p>
          <a:p>
            <a:pPr>
              <a:spcAft>
                <a:spcPts val="1200"/>
              </a:spcAft>
            </a:pPr>
            <a:r>
              <a:rPr sz="2200">
                <a:solidFill>
                  <a:srgbClr val="1F2937"/>
                </a:solidFill>
                <a:latin typeface="Calibri"/>
              </a:rPr>
              <a:t>▸  Shu sababli faqat DAD bo‘yicha o‘lim sababini aniqlash kutilmaydi. Hayotlik davridagi tibbiy va sud-tibbiy ma’lumot birga baholanadi.</a:t>
            </a:r>
          </a:p>
          <a:p>
            <a:pPr>
              <a:spcAft>
                <a:spcPts val="1200"/>
              </a:spcAft>
            </a:pPr>
            <a:r>
              <a:rPr sz="2200">
                <a:solidFill>
                  <a:srgbClr val="1F2937"/>
                </a:solidFill>
                <a:latin typeface="Calibri"/>
              </a:rPr>
              <a:t>▸  Diqqat: o‘tkir respirator distress sindromi (ARDS) klinikasi bo‘lganlarning taxminan yarmida DAD topiladi. DAD yo‘qligi ARDSni inkor etmaydi.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yallig‘lanishi: muammoning qo‘yilishi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Miokardit sud-tibbiy va klinik autopsiyada tez-tez uchraydi. To‘satdan yurak o‘limi tadqiqotlarida uchrash chastotasi 0,3% dan 14,8% gacha.</a:t>
            </a:r>
          </a:p>
          <a:p>
            <a:pPr>
              <a:spcAft>
                <a:spcPts val="1200"/>
              </a:spcAft>
            </a:pPr>
            <a:r>
              <a:rPr sz="2200">
                <a:solidFill>
                  <a:srgbClr val="1F2937"/>
                </a:solidFill>
                <a:latin typeface="Calibri"/>
              </a:rPr>
              <a:t>▸  Miokarditning gistopatologik tashxisi qiyin. Klinikasi yengil “grippga o‘xshash” belgilardan to‘satdan o‘limgacha o‘zgaradi.</a:t>
            </a:r>
          </a:p>
          <a:p>
            <a:pPr>
              <a:spcAft>
                <a:spcPts val="1200"/>
              </a:spcAft>
            </a:pPr>
            <a:r>
              <a:rPr sz="2200">
                <a:solidFill>
                  <a:srgbClr val="1F2937"/>
                </a:solidFill>
                <a:latin typeface="Calibri"/>
              </a:rPr>
              <a:t>▸  Boshqa topilmalar ham bo‘lsa, yallig‘lanish o‘limning sababi, hissa qo‘shgan omili yoki ahamiyatsiz topilma ekanini baholash murakkab.</a:t>
            </a:r>
          </a:p>
          <a:p>
            <a:pPr>
              <a:spcAft>
                <a:spcPts val="1200"/>
              </a:spcAft>
            </a:pPr>
            <a:r>
              <a:rPr sz="2200">
                <a:solidFill>
                  <a:srgbClr val="1F2937"/>
                </a:solidFill>
                <a:latin typeface="Calibri"/>
              </a:rPr>
              <a:t>▸  Masalan, miokardit bo‘g‘ish yoki ushlab turishdan asfiksiyaga mos topilmalar bilan, yoki chegaraviy o‘ldiruvchi toksikologiya bilan birga uchrashi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Tadqiqot dizayni va tanlov (du Long va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Retrospektiv, ikki markazli tadqiqot: sud-tibbiy va klinik autopsiya holatlari, 2014–2019 yillar.</a:t>
            </a:r>
          </a:p>
          <a:p>
            <a:pPr>
              <a:spcAft>
                <a:spcPts val="1200"/>
              </a:spcAft>
            </a:pPr>
            <a:r>
              <a:rPr sz="2200">
                <a:solidFill>
                  <a:srgbClr val="1F2937"/>
                </a:solidFill>
                <a:latin typeface="Calibri"/>
              </a:rPr>
              <a:t>▸  Istisno: 18 yoshgacha, tizimli yoki ishemik yurak kasalligi, to‘liq bo‘lmagan hisobot yoki blok.</a:t>
            </a:r>
          </a:p>
          <a:p>
            <a:pPr>
              <a:spcAft>
                <a:spcPts val="1200"/>
              </a:spcAft>
            </a:pPr>
            <a:r>
              <a:rPr sz="2200">
                <a:solidFill>
                  <a:srgbClr val="1F2937"/>
                </a:solidFill>
                <a:latin typeface="Calibri"/>
              </a:rPr>
              <a:t>▸  Yakunda 79 holat qoldi: 41 sud-tibbiy, 38 klinik; 56 erkak, 23 ayol.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guruhning tuzilishi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Jami 79 ta kattalar autopsiyasi o‘rganilgan: 41 ta sud-tibbiy va 38 ta klinik holat.</a:t>
            </a:r>
          </a:p>
          <a:p>
            <a:pPr>
              <a:spcAft>
                <a:spcPts val="800"/>
              </a:spcAft>
            </a:pPr>
            <a:r>
              <a:rPr sz="1800">
                <a:solidFill>
                  <a:srgbClr val="1F2937"/>
                </a:solidFill>
                <a:latin typeface="Calibri"/>
              </a:rPr>
              <a:t>▸  1-guruhda miokardit tasodifiy topilma deb baholangan; bemorlar 1 soatdan kam yashagan.</a:t>
            </a:r>
          </a:p>
          <a:p>
            <a:pPr>
              <a:spcAft>
                <a:spcPts val="800"/>
              </a:spcAft>
            </a:pPr>
            <a:r>
              <a:rPr sz="1800">
                <a:solidFill>
                  <a:srgbClr val="1F2937"/>
                </a:solidFill>
                <a:latin typeface="Calibri"/>
              </a:rPr>
              <a:t>▸  2- va 3-guruhdagi hech kimda muvaffaqiyatli reanimatsiya o‘tkazilmagan.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262800"/>
                <a:gridCol w="1262800"/>
                <a:gridCol w="2762375"/>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Soni</a:t>
                      </a:r>
                    </a:p>
                  </a:txBody>
                  <a:tcPr marL="73152" marR="73152" marT="36576" marB="36576">
                    <a:solidFill>
                      <a:srgbClr val="0B1F3A"/>
                    </a:solidFill>
                  </a:tcPr>
                </a:tc>
                <a:tc>
                  <a:txBody>
                    <a:bodyPr/>
                    <a:lstStyle/>
                    <a:p>
                      <a:r>
                        <a:rPr sz="1300" b="1">
                          <a:solidFill>
                            <a:srgbClr val="FFFFFF"/>
                          </a:solidFill>
                        </a:rPr>
                        <a:t>Mazmun</a:t>
                      </a:r>
                    </a:p>
                  </a:txBody>
                  <a:tcPr marL="73152" marR="73152" marT="36576" marB="36576">
                    <a:solidFill>
                      <a:srgbClr val="0B1F3A"/>
                    </a:solidFill>
                  </a:tcPr>
                </a:tc>
              </a:tr>
              <a:tr h="411480">
                <a:tc>
                  <a:txBody>
                    <a:bodyPr/>
                    <a:lstStyle/>
                    <a:p>
                      <a:r>
                        <a:rPr sz="1200" b="0">
                          <a:solidFill>
                            <a:srgbClr val="1F2937"/>
                          </a:solidFill>
                        </a:rPr>
                        <a:t>1-guruh</a:t>
                      </a:r>
                    </a:p>
                  </a:txBody>
                  <a:tcPr marL="73152" marR="73152" marT="36576" marB="36576">
                    <a:solidFill>
                      <a:srgbClr val="E8EEF6"/>
                    </a:solidFill>
                  </a:tcPr>
                </a:tc>
                <a:tc>
                  <a:txBody>
                    <a:bodyPr/>
                    <a:lstStyle/>
                    <a:p>
                      <a:r>
                        <a:rPr sz="1200" b="0">
                          <a:solidFill>
                            <a:srgbClr val="1F2937"/>
                          </a:solidFill>
                        </a:rPr>
                        <a:t>27</a:t>
                      </a:r>
                    </a:p>
                  </a:txBody>
                  <a:tcPr marL="73152" marR="73152" marT="36576" marB="36576">
                    <a:solidFill>
                      <a:srgbClr val="E8EEF6"/>
                    </a:solidFill>
                  </a:tcPr>
                </a:tc>
                <a:tc>
                  <a:txBody>
                    <a:bodyPr/>
                    <a:lstStyle/>
                    <a:p>
                      <a:r>
                        <a:rPr sz="1200" b="0">
                          <a:solidFill>
                            <a:srgbClr val="1F2937"/>
                          </a:solidFill>
                        </a:rPr>
                        <a:t>Aniq g‘ayritabiiy o‘lim</a:t>
                      </a:r>
                    </a:p>
                  </a:txBody>
                  <a:tcPr marL="73152" marR="73152" marT="36576" marB="36576">
                    <a:solidFill>
                      <a:srgbClr val="E8EEF6"/>
                    </a:solidFill>
                  </a:tcPr>
                </a:tc>
              </a:tr>
              <a:tr h="411480">
                <a:tc>
                  <a:txBody>
                    <a:bodyPr/>
                    <a:lstStyle/>
                    <a:p>
                      <a:r>
                        <a:rPr sz="1200" b="0">
                          <a:solidFill>
                            <a:srgbClr val="1F2937"/>
                          </a:solidFill>
                        </a:rPr>
                        <a:t>2-guruh</a:t>
                      </a:r>
                    </a:p>
                  </a:txBody>
                  <a:tcPr marL="73152" marR="73152" marT="36576" marB="36576">
                    <a:solidFill>
                      <a:srgbClr val="FFFFFF"/>
                    </a:solidFill>
                  </a:tcPr>
                </a:tc>
                <a:tc>
                  <a:txBody>
                    <a:bodyPr/>
                    <a:lstStyle/>
                    <a:p>
                      <a:r>
                        <a:rPr sz="1200" b="0">
                          <a:solidFill>
                            <a:srgbClr val="1F2937"/>
                          </a:solidFill>
                        </a:rPr>
                        <a:t>29</a:t>
                      </a:r>
                    </a:p>
                  </a:txBody>
                  <a:tcPr marL="73152" marR="73152" marT="36576" marB="36576">
                    <a:solidFill>
                      <a:srgbClr val="FFFFFF"/>
                    </a:solidFill>
                  </a:tcPr>
                </a:tc>
                <a:tc>
                  <a:txBody>
                    <a:bodyPr/>
                    <a:lstStyle/>
                    <a:p>
                      <a:r>
                        <a:rPr sz="1200" b="0">
                          <a:solidFill>
                            <a:srgbClr val="1F2937"/>
                          </a:solidFill>
                        </a:rPr>
                        <a:t>Miokardit — mumkin sabablardan biri</a:t>
                      </a:r>
                    </a:p>
                  </a:txBody>
                  <a:tcPr marL="73152" marR="73152" marT="36576" marB="36576">
                    <a:solidFill>
                      <a:srgbClr val="FFFFFF"/>
                    </a:solidFill>
                  </a:tcPr>
                </a:tc>
              </a:tr>
              <a:tr h="411480">
                <a:tc>
                  <a:txBody>
                    <a:bodyPr/>
                    <a:lstStyle/>
                    <a:p>
                      <a:r>
                        <a:rPr sz="1200" b="0">
                          <a:solidFill>
                            <a:srgbClr val="1F2937"/>
                          </a:solidFill>
                        </a:rPr>
                        <a:t>3-guruh</a:t>
                      </a:r>
                    </a:p>
                  </a:txBody>
                  <a:tcPr marL="73152" marR="73152" marT="36576" marB="36576">
                    <a:solidFill>
                      <a:srgbClr val="E8EEF6"/>
                    </a:solidFill>
                  </a:tcPr>
                </a:tc>
                <a:tc>
                  <a:txBody>
                    <a:bodyPr/>
                    <a:lstStyle/>
                    <a:p>
                      <a:r>
                        <a:rPr sz="1200" b="0">
                          <a:solidFill>
                            <a:srgbClr val="1F2937"/>
                          </a:solidFill>
                        </a:rPr>
                        <a:t>23</a:t>
                      </a:r>
                    </a:p>
                  </a:txBody>
                  <a:tcPr marL="73152" marR="73152" marT="36576" marB="36576">
                    <a:solidFill>
                      <a:srgbClr val="E8EEF6"/>
                    </a:solidFill>
                  </a:tcPr>
                </a:tc>
                <a:tc>
                  <a:txBody>
                    <a:bodyPr/>
                    <a:lstStyle/>
                    <a:p>
                      <a:r>
                        <a:rPr sz="1200" b="0">
                          <a:solidFill>
                            <a:srgbClr val="1F2937"/>
                          </a:solidFill>
                        </a:rPr>
                        <a:t>Miokardit — yagona muhim topilma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Guruhlar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o‘chog‘i va gistologik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O‘choq — kamida 10 ta yallig‘lanish hujayrasi to‘plami. HE bo‘yalgan kesmalarda o‘choqlar soni va joyi sanalgan.</a:t>
            </a:r>
          </a:p>
          <a:p>
            <a:pPr>
              <a:spcAft>
                <a:spcPts val="1200"/>
              </a:spcAft>
            </a:pPr>
            <a:r>
              <a:rPr sz="2200">
                <a:solidFill>
                  <a:srgbClr val="1F2937"/>
                </a:solidFill>
                <a:latin typeface="Calibri"/>
              </a:rPr>
              <a:t>▸  Aniq o‘choq bo‘lmasa-yu, yallig‘lanish hujayralari tarqoq joylashsa, holat “diffuz” deb yozilgan.</a:t>
            </a:r>
          </a:p>
          <a:p>
            <a:pPr>
              <a:spcAft>
                <a:spcPts val="1200"/>
              </a:spcAft>
            </a:pPr>
            <a:r>
              <a:rPr sz="2200">
                <a:solidFill>
                  <a:srgbClr val="1F2937"/>
                </a:solidFill>
                <a:latin typeface="Calibri"/>
              </a:rPr>
              <a:t>▸  Miotsit shikasti — yallig‘lanish hujayralari yonida kardiomiotsitning vakuollanishi, bo‘laklanishi yoki parchalanishi. Fibroz, shish va qon quyilishi bor yoki yo‘q deb belgilangan.</a:t>
            </a:r>
          </a:p>
          <a:p>
            <a:pPr>
              <a:spcAft>
                <a:spcPts val="1200"/>
              </a:spcAft>
            </a:pPr>
            <a:r>
              <a:rPr sz="2200">
                <a:solidFill>
                  <a:srgbClr val="1F2937"/>
                </a:solidFill>
                <a:latin typeface="Calibri"/>
              </a:rPr>
              <a:t>▸  Diqqat: guruhlarni faqat diffuz yallig‘lanish ishonchli ajratgan. Miotsit shikasti, shish, fibroz va qon quyilishi guruhlarda deyarli teng chiqqan.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Yallig‘lanish indeksi (Kitulwatte)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Indeks = o‘choqlarning umumiy soni, kesmalarning umumiy soniga bo‘linadi.</a:t>
            </a:r>
          </a:p>
          <a:p>
            <a:pPr>
              <a:spcAft>
                <a:spcPts val="800"/>
              </a:spcAft>
            </a:pPr>
            <a:r>
              <a:rPr sz="1800">
                <a:solidFill>
                  <a:srgbClr val="1F2937"/>
                </a:solidFill>
                <a:latin typeface="Calibri"/>
              </a:rPr>
              <a:t>▸  Bu tadqiqotda ko‘pchilik holat “oz” toifada; o‘rta va yaqqol yallig‘lanish uchramagan.</a:t>
            </a:r>
          </a:p>
          <a:p>
            <a:pPr>
              <a:spcAft>
                <a:spcPts val="800"/>
              </a:spcAft>
            </a:pPr>
            <a:r>
              <a:rPr sz="1800">
                <a:solidFill>
                  <a:srgbClr val="1F2937"/>
                </a:solidFill>
                <a:latin typeface="Calibri"/>
              </a:rPr>
              <a:t>▸  Diqqat: diffuz yallig‘lanishda o‘choq yo‘q, indeks 0 chiqadi — bu yallig‘lanish yo‘q degani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Qiymat</a:t>
                      </a:r>
                    </a:p>
                  </a:txBody>
                  <a:tcPr marL="73152" marR="73152" marT="36576" marB="36576">
                    <a:solidFill>
                      <a:srgbClr val="0B1F3A"/>
                    </a:solidFill>
                  </a:tcPr>
                </a:tc>
                <a:tc>
                  <a:txBody>
                    <a:bodyPr/>
                    <a:lstStyle/>
                    <a:p>
                      <a:r>
                        <a:rPr sz="1400" b="1">
                          <a:solidFill>
                            <a:srgbClr val="FFFFFF"/>
                          </a:solidFill>
                        </a:rPr>
                        <a:t>Toifa</a:t>
                      </a:r>
                    </a:p>
                  </a:txBody>
                  <a:tcPr marL="73152" marR="73152" marT="36576" marB="36576">
                    <a:solidFill>
                      <a:srgbClr val="0B1F3A"/>
                    </a:solidFill>
                  </a:tcPr>
                </a:tc>
              </a:tr>
              <a:tr h="411480">
                <a:tc>
                  <a:txBody>
                    <a:bodyPr/>
                    <a:lstStyle/>
                    <a:p>
                      <a:r>
                        <a:rPr sz="1300" b="0">
                          <a:solidFill>
                            <a:srgbClr val="1F2937"/>
                          </a:solidFill>
                        </a:rPr>
                        <a:t>0</a:t>
                      </a:r>
                    </a:p>
                  </a:txBody>
                  <a:tcPr marL="73152" marR="73152" marT="36576" marB="36576">
                    <a:solidFill>
                      <a:srgbClr val="E8EEF6"/>
                    </a:solidFill>
                  </a:tcPr>
                </a:tc>
                <a:tc>
                  <a:txBody>
                    <a:bodyPr/>
                    <a:lstStyle/>
                    <a:p>
                      <a:r>
                        <a:rPr sz="1300" b="0">
                          <a:solidFill>
                            <a:srgbClr val="1F2937"/>
                          </a:solidFill>
                        </a:rPr>
                        <a:t>Yo‘q</a:t>
                      </a:r>
                    </a:p>
                  </a:txBody>
                  <a:tcPr marL="73152" marR="73152" marT="36576" marB="36576">
                    <a:solidFill>
                      <a:srgbClr val="E8EEF6"/>
                    </a:solidFill>
                  </a:tcPr>
                </a:tc>
              </a:tr>
              <a:tr h="411480">
                <a:tc>
                  <a:txBody>
                    <a:bodyPr/>
                    <a:lstStyle/>
                    <a:p>
                      <a:r>
                        <a:rPr sz="1300" b="0">
                          <a:solidFill>
                            <a:srgbClr val="1F2937"/>
                          </a:solidFill>
                        </a:rPr>
                        <a:t>0,1–1,0</a:t>
                      </a:r>
                    </a:p>
                  </a:txBody>
                  <a:tcPr marL="73152" marR="73152" marT="36576" marB="36576">
                    <a:solidFill>
                      <a:srgbClr val="FFFFFF"/>
                    </a:solidFill>
                  </a:tcPr>
                </a:tc>
                <a:tc>
                  <a:txBody>
                    <a:bodyPr/>
                    <a:lstStyle/>
                    <a:p>
                      <a:r>
                        <a:rPr sz="1300" b="0">
                          <a:solidFill>
                            <a:srgbClr val="1F2937"/>
                          </a:solidFill>
                        </a:rPr>
                        <a:t>Oz</a:t>
                      </a:r>
                    </a:p>
                  </a:txBody>
                  <a:tcPr marL="73152" marR="73152" marT="36576" marB="36576">
                    <a:solidFill>
                      <a:srgbClr val="FFFFFF"/>
                    </a:solidFill>
                  </a:tcPr>
                </a:tc>
              </a:tr>
              <a:tr h="411480">
                <a:tc>
                  <a:txBody>
                    <a:bodyPr/>
                    <a:lstStyle/>
                    <a:p>
                      <a:r>
                        <a:rPr sz="1300" b="0">
                          <a:solidFill>
                            <a:srgbClr val="1F2937"/>
                          </a:solidFill>
                        </a:rPr>
                        <a:t>1,1–1,9</a:t>
                      </a:r>
                    </a:p>
                  </a:txBody>
                  <a:tcPr marL="73152" marR="73152" marT="36576" marB="36576">
                    <a:solidFill>
                      <a:srgbClr val="E8EEF6"/>
                    </a:solidFill>
                  </a:tcPr>
                </a:tc>
                <a:tc>
                  <a:txBody>
                    <a:bodyPr/>
                    <a:lstStyle/>
                    <a:p>
                      <a:r>
                        <a:rPr sz="1300" b="0">
                          <a:solidFill>
                            <a:srgbClr val="1F2937"/>
                          </a:solidFill>
                        </a:rPr>
                        <a:t>Yengil</a:t>
                      </a:r>
                    </a:p>
                  </a:txBody>
                  <a:tcPr marL="73152" marR="73152" marT="36576" marB="36576">
                    <a:solidFill>
                      <a:srgbClr val="E8EEF6"/>
                    </a:solidFill>
                  </a:tcPr>
                </a:tc>
              </a:tr>
              <a:tr h="411480">
                <a:tc>
                  <a:txBody>
                    <a:bodyPr/>
                    <a:lstStyle/>
                    <a:p>
                      <a:r>
                        <a:rPr sz="1300" b="0">
                          <a:solidFill>
                            <a:srgbClr val="1F2937"/>
                          </a:solidFill>
                        </a:rPr>
                        <a:t>2,0–4,9 va ≥5,0</a:t>
                      </a:r>
                    </a:p>
                  </a:txBody>
                  <a:tcPr marL="73152" marR="73152" marT="36576" marB="36576">
                    <a:solidFill>
                      <a:srgbClr val="FFFFFF"/>
                    </a:solidFill>
                  </a:tcPr>
                </a:tc>
                <a:tc>
                  <a:txBody>
                    <a:bodyPr/>
                    <a:lstStyle/>
                    <a:p>
                      <a:r>
                        <a:rPr sz="1300" b="0">
                          <a:solidFill>
                            <a:srgbClr val="1F2937"/>
                          </a:solidFill>
                        </a:rPr>
                        <a:t>O‘rta va yaqqol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Indeks toifalari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Basso tasnifi: miokardit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Tasnif Yevropa yurak-qon tomir patologiyasi assotsiatsiyasi (AECVP) ko‘rsatmasiga tayanadi va Basso ishidan moslashtirilgan.</a:t>
            </a:r>
          </a:p>
          <a:p>
            <a:pPr>
              <a:spcAft>
                <a:spcPts val="800"/>
              </a:spcAft>
            </a:pPr>
            <a:r>
              <a:rPr sz="1800">
                <a:solidFill>
                  <a:srgbClr val="1F2937"/>
                </a:solidFill>
                <a:latin typeface="Calibri"/>
              </a:rPr>
              <a:t>▸  O‘choq — kamida 10 ta yallig‘lanish hujayrasi. Shikastsiz siyrak o‘choqlar chegaraviy miokardit sanaladi.</a:t>
            </a:r>
          </a:p>
          <a:p>
            <a:pPr>
              <a:spcAft>
                <a:spcPts val="800"/>
              </a:spcAft>
            </a:pPr>
            <a:r>
              <a:rPr sz="1800">
                <a:solidFill>
                  <a:srgbClr val="1F2937"/>
                </a:solidFill>
                <a:latin typeface="Calibri"/>
              </a:rPr>
              <a:t>▸  Guruhlar orasida faqat o‘tkir diffuz miokardit sezilarli farq berdi (P = 0.021).</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75105"/>
                <a:gridCol w="2864319"/>
                <a:gridCol w="1248549"/>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O‘choq / tarqalish</a:t>
                      </a:r>
                    </a:p>
                  </a:txBody>
                  <a:tcPr marL="73152" marR="73152" marT="36576" marB="36576">
                    <a:solidFill>
                      <a:srgbClr val="0B1F3A"/>
                    </a:solidFill>
                  </a:tcPr>
                </a:tc>
                <a:tc>
                  <a:txBody>
                    <a:bodyPr/>
                    <a:lstStyle/>
                    <a:p>
                      <a:r>
                        <a:rPr sz="1300" b="1">
                          <a:solidFill>
                            <a:srgbClr val="FFFFFF"/>
                          </a:solidFill>
                        </a:rPr>
                        <a:t>Shikast</a:t>
                      </a:r>
                    </a:p>
                  </a:txBody>
                  <a:tcPr marL="73152" marR="73152" marT="36576" marB="36576">
                    <a:solidFill>
                      <a:srgbClr val="0B1F3A"/>
                    </a:solidFill>
                  </a:tcPr>
                </a:tc>
              </a:tr>
              <a:tr h="411480">
                <a:tc>
                  <a:txBody>
                    <a:bodyPr/>
                    <a:lstStyle/>
                    <a:p>
                      <a:r>
                        <a:rPr sz="1200" b="0">
                          <a:solidFill>
                            <a:srgbClr val="1F2937"/>
                          </a:solidFill>
                        </a:rPr>
                        <a:t>Chegaraviy</a:t>
                      </a:r>
                    </a:p>
                  </a:txBody>
                  <a:tcPr marL="73152" marR="73152" marT="36576" marB="36576">
                    <a:solidFill>
                      <a:srgbClr val="E8EEF6"/>
                    </a:solidFill>
                  </a:tcPr>
                </a:tc>
                <a:tc>
                  <a:txBody>
                    <a:bodyPr/>
                    <a:lstStyle/>
                    <a:p>
                      <a:r>
                        <a:rPr sz="1200" b="0">
                          <a:solidFill>
                            <a:srgbClr val="1F2937"/>
                          </a:solidFill>
                        </a:rPr>
                        <a:t>Siyrak o‘choqlar, har biri ≥10 hujayra</a:t>
                      </a:r>
                    </a:p>
                  </a:txBody>
                  <a:tcPr marL="73152" marR="73152" marT="36576" marB="36576">
                    <a:solidFill>
                      <a:srgbClr val="E8EEF6"/>
                    </a:solidFill>
                  </a:tcPr>
                </a:tc>
                <a:tc>
                  <a:txBody>
                    <a:bodyPr/>
                    <a:lstStyle/>
                    <a:p>
                      <a:r>
                        <a:rPr sz="1200" b="0">
                          <a:solidFill>
                            <a:srgbClr val="1F2937"/>
                          </a:solidFill>
                        </a:rPr>
                        <a:t>Yo‘q</a:t>
                      </a:r>
                    </a:p>
                  </a:txBody>
                  <a:tcPr marL="73152" marR="73152" marT="36576" marB="36576">
                    <a:solidFill>
                      <a:srgbClr val="E8EEF6"/>
                    </a:solidFill>
                  </a:tcPr>
                </a:tc>
              </a:tr>
              <a:tr h="411480">
                <a:tc>
                  <a:txBody>
                    <a:bodyPr/>
                    <a:lstStyle/>
                    <a:p>
                      <a:r>
                        <a:rPr sz="1200" b="0">
                          <a:solidFill>
                            <a:srgbClr val="1F2937"/>
                          </a:solidFill>
                        </a:rPr>
                        <a:t>Fokal</a:t>
                      </a:r>
                    </a:p>
                  </a:txBody>
                  <a:tcPr marL="73152" marR="73152" marT="36576" marB="36576">
                    <a:solidFill>
                      <a:srgbClr val="FFFFFF"/>
                    </a:solidFill>
                  </a:tcPr>
                </a:tc>
                <a:tc>
                  <a:txBody>
                    <a:bodyPr/>
                    <a:lstStyle/>
                    <a:p>
                      <a:r>
                        <a:rPr sz="1200" b="0">
                          <a:solidFill>
                            <a:srgbClr val="1F2937"/>
                          </a:solidFill>
                        </a:rPr>
                        <a:t>Kamida 1 o‘choq (≥10 hujayra)</a:t>
                      </a:r>
                    </a:p>
                  </a:txBody>
                  <a:tcPr marL="73152" marR="73152" marT="36576" marB="36576">
                    <a:solidFill>
                      <a:srgbClr val="FFFFFF"/>
                    </a:solidFill>
                  </a:tcPr>
                </a:tc>
                <a:tc>
                  <a:txBody>
                    <a:bodyPr/>
                    <a:lstStyle/>
                    <a:p>
                      <a:r>
                        <a:rPr sz="1200" b="0">
                          <a:solidFill>
                            <a:srgbClr val="1F2937"/>
                          </a:solidFill>
                        </a:rPr>
                        <a:t>Bor</a:t>
                      </a:r>
                    </a:p>
                  </a:txBody>
                  <a:tcPr marL="73152" marR="73152" marT="36576" marB="36576">
                    <a:solidFill>
                      <a:srgbClr val="FFFFFF"/>
                    </a:solidFill>
                  </a:tcPr>
                </a:tc>
              </a:tr>
              <a:tr h="411480">
                <a:tc>
                  <a:txBody>
                    <a:bodyPr/>
                    <a:lstStyle/>
                    <a:p>
                      <a:r>
                        <a:rPr sz="1200" b="0">
                          <a:solidFill>
                            <a:srgbClr val="1F2937"/>
                          </a:solidFill>
                        </a:rPr>
                        <a:t>Multifokal</a:t>
                      </a:r>
                    </a:p>
                  </a:txBody>
                  <a:tcPr marL="73152" marR="73152" marT="36576" marB="36576">
                    <a:solidFill>
                      <a:srgbClr val="E8EEF6"/>
                    </a:solidFill>
                  </a:tcPr>
                </a:tc>
                <a:tc>
                  <a:txBody>
                    <a:bodyPr/>
                    <a:lstStyle/>
                    <a:p>
                      <a:r>
                        <a:rPr sz="1200" b="0">
                          <a:solidFill>
                            <a:srgbClr val="1F2937"/>
                          </a:solidFill>
                        </a:rPr>
                        <a:t>Bir kesmada &gt;1 o‘choq yoki ko‘p kesmada</a:t>
                      </a:r>
                    </a:p>
                  </a:txBody>
                  <a:tcPr marL="73152" marR="73152" marT="36576" marB="36576">
                    <a:solidFill>
                      <a:srgbClr val="E8EEF6"/>
                    </a:solidFill>
                  </a:tcPr>
                </a:tc>
                <a:tc>
                  <a:txBody>
                    <a:bodyPr/>
                    <a:lstStyle/>
                    <a:p>
                      <a:r>
                        <a:rPr sz="1200" b="0">
                          <a:solidFill>
                            <a:srgbClr val="1F2937"/>
                          </a:solidFill>
                        </a:rPr>
                        <a:t>Variantga bog‘liq</a:t>
                      </a:r>
                    </a:p>
                  </a:txBody>
                  <a:tcPr marL="73152" marR="73152" marT="36576" marB="36576">
                    <a:solidFill>
                      <a:srgbClr val="E8EEF6"/>
                    </a:solidFill>
                  </a:tcPr>
                </a:tc>
              </a:tr>
              <a:tr h="411480">
                <a:tc>
                  <a:txBody>
                    <a:bodyPr/>
                    <a:lstStyle/>
                    <a:p>
                      <a:r>
                        <a:rPr sz="1200" b="0">
                          <a:solidFill>
                            <a:srgbClr val="1F2937"/>
                          </a:solidFill>
                        </a:rPr>
                        <a:t>O‘tkir diffuz</a:t>
                      </a:r>
                    </a:p>
                  </a:txBody>
                  <a:tcPr marL="73152" marR="73152" marT="36576" marB="36576">
                    <a:solidFill>
                      <a:srgbClr val="FFFFFF"/>
                    </a:solidFill>
                  </a:tcPr>
                </a:tc>
                <a:tc>
                  <a:txBody>
                    <a:bodyPr/>
                    <a:lstStyle/>
                    <a:p>
                      <a:r>
                        <a:rPr sz="1200" b="0">
                          <a:solidFill>
                            <a:srgbClr val="1F2937"/>
                          </a:solidFill>
                        </a:rPr>
                        <a:t>Diffuz infiltratsiya, o‘choqsiz</a:t>
                      </a:r>
                    </a:p>
                  </a:txBody>
                  <a:tcPr marL="73152" marR="73152" marT="36576" marB="36576">
                    <a:solidFill>
                      <a:srgbClr val="FFFFFF"/>
                    </a:solidFill>
                  </a:tcPr>
                </a:tc>
                <a:tc>
                  <a:txBody>
                    <a:bodyPr/>
                    <a:lstStyle/>
                    <a:p>
                      <a:r>
                        <a:rPr sz="1200" b="0">
                          <a:solidFill>
                            <a:srgbClr val="1F2937"/>
                          </a:solidFill>
                        </a:rPr>
                        <a:t>Keng tarqalgan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Miokardit turlari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tasnif va indeks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fokal va multifokal miokardit farqi nima? Fokal — shikastli kamida bitta o‘choq. Multifokal — bir kesmada bir nechta o‘choq yoki ko‘p kesmada shikastli o‘choq.</a:t>
            </a:r>
          </a:p>
          <a:p>
            <a:pPr>
              <a:spcAft>
                <a:spcPts val="1200"/>
              </a:spcAft>
            </a:pPr>
            <a:r>
              <a:rPr sz="2200">
                <a:solidFill>
                  <a:srgbClr val="1F2937"/>
                </a:solidFill>
                <a:latin typeface="Calibri"/>
              </a:rPr>
              <a:t>▸  Savol 2: yallig‘lanish indeksi qanday hisoblanadi? O‘choqlarning umumiy sonini kesmalarning umumiy soniga bo‘lamiz (Kitulwatte usuli).</a:t>
            </a:r>
          </a:p>
          <a:p>
            <a:pPr>
              <a:spcAft>
                <a:spcPts val="1200"/>
              </a:spcAft>
            </a:pPr>
            <a:r>
              <a:rPr sz="2200">
                <a:solidFill>
                  <a:srgbClr val="1F2937"/>
                </a:solidFill>
                <a:latin typeface="Calibri"/>
              </a:rPr>
              <a:t>▸  Talqin: 0 — yo‘q; 0.1–1.0 — kam; 1.1–1.9 — yengil; 2.0–4.9 — o‘rtacha; ≥5.0 — yaqqol yallig‘lanish.</a:t>
            </a:r>
          </a:p>
          <a:p>
            <a:pPr>
              <a:spcAft>
                <a:spcPts val="1200"/>
              </a:spcAft>
            </a:pPr>
            <a:r>
              <a:rPr sz="2200">
                <a:solidFill>
                  <a:srgbClr val="1F2937"/>
                </a:solidFill>
                <a:latin typeface="Calibri"/>
              </a:rPr>
              <a:t>▸  Diqqat: xato qilish xavfi — diffuz yallig‘lanishda o‘choq yo‘q, indeks 0 chiqadi. Bu yallig‘lanish yo‘q degani emas, aksincha eng og‘ir shakl.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Miotsit shikasti va immunogistokimyo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Miotsit shikasti — yallig‘lanish yonida kardiomiotsitning vakuolizatsiyasi, bo‘laklanishi yoki parchalanishi.</a:t>
            </a:r>
          </a:p>
          <a:p>
            <a:pPr>
              <a:spcAft>
                <a:spcPts val="800"/>
              </a:spcAft>
            </a:pPr>
            <a:r>
              <a:rPr sz="1800">
                <a:solidFill>
                  <a:srgbClr val="1F2937"/>
                </a:solidFill>
                <a:latin typeface="Calibri"/>
              </a:rPr>
              <a:t>▸  Nekrotik kardiomiotsit ingichka, sal eozinofil hujayra qoldig‘i sifatida tanilishi mumkin.</a:t>
            </a:r>
          </a:p>
          <a:p>
            <a:pPr>
              <a:spcAft>
                <a:spcPts val="800"/>
              </a:spcAft>
            </a:pPr>
            <a:r>
              <a:rPr sz="1800">
                <a:solidFill>
                  <a:srgbClr val="1F2937"/>
                </a:solidFill>
                <a:latin typeface="Calibri"/>
              </a:rPr>
              <a:t>▸  Ustun hujayra turi gematoksilin-eozin (GE) va CD45, CD68, mieloperoksidaza (MPO) bo‘yoqlari bilan aniqlandi.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96369"/>
                <a:gridCol w="3691605"/>
              </a:tblGrid>
              <a:tr h="411480">
                <a:tc>
                  <a:txBody>
                    <a:bodyPr/>
                    <a:lstStyle/>
                    <a:p>
                      <a:r>
                        <a:rPr sz="1400" b="1">
                          <a:solidFill>
                            <a:srgbClr val="FFFFFF"/>
                          </a:solidFill>
                        </a:rPr>
                        <a:t>Bo‘yoq</a:t>
                      </a:r>
                    </a:p>
                  </a:txBody>
                  <a:tcPr marL="73152" marR="73152" marT="36576" marB="36576">
                    <a:solidFill>
                      <a:srgbClr val="0B1F3A"/>
                    </a:solidFill>
                  </a:tcPr>
                </a:tc>
                <a:tc>
                  <a:txBody>
                    <a:bodyPr/>
                    <a:lstStyle/>
                    <a:p>
                      <a:r>
                        <a:rPr sz="1400" b="1">
                          <a:solidFill>
                            <a:srgbClr val="FFFFFF"/>
                          </a:solidFill>
                        </a:rPr>
                        <a:t>Aniqlaydi</a:t>
                      </a:r>
                    </a:p>
                  </a:txBody>
                  <a:tcPr marL="73152" marR="73152" marT="36576" marB="36576">
                    <a:solidFill>
                      <a:srgbClr val="0B1F3A"/>
                    </a:solidFill>
                  </a:tcPr>
                </a:tc>
              </a:tr>
              <a:tr h="411480">
                <a:tc>
                  <a:txBody>
                    <a:bodyPr/>
                    <a:lstStyle/>
                    <a:p>
                      <a:r>
                        <a:rPr sz="1300" b="0">
                          <a:solidFill>
                            <a:srgbClr val="1F2937"/>
                          </a:solidFill>
                        </a:rPr>
                        <a:t>CD45</a:t>
                      </a:r>
                    </a:p>
                  </a:txBody>
                  <a:tcPr marL="73152" marR="73152" marT="36576" marB="36576">
                    <a:solidFill>
                      <a:srgbClr val="E8EEF6"/>
                    </a:solidFill>
                  </a:tcPr>
                </a:tc>
                <a:tc>
                  <a:txBody>
                    <a:bodyPr/>
                    <a:lstStyle/>
                    <a:p>
                      <a:r>
                        <a:rPr sz="1300" b="0">
                          <a:solidFill>
                            <a:srgbClr val="1F2937"/>
                          </a:solidFill>
                        </a:rPr>
                        <a:t>Limfotsitlar</a:t>
                      </a:r>
                    </a:p>
                  </a:txBody>
                  <a:tcPr marL="73152" marR="73152" marT="36576" marB="36576">
                    <a:solidFill>
                      <a:srgbClr val="E8EEF6"/>
                    </a:solidFill>
                  </a:tcPr>
                </a:tc>
              </a:tr>
              <a:tr h="411480">
                <a:tc>
                  <a:txBody>
                    <a:bodyPr/>
                    <a:lstStyle/>
                    <a:p>
                      <a:r>
                        <a:rPr sz="1300" b="0">
                          <a:solidFill>
                            <a:srgbClr val="1F2937"/>
                          </a:solidFill>
                        </a:rPr>
                        <a:t>CD68</a:t>
                      </a:r>
                    </a:p>
                  </a:txBody>
                  <a:tcPr marL="73152" marR="73152" marT="36576" marB="36576">
                    <a:solidFill>
                      <a:srgbClr val="FFFFFF"/>
                    </a:solidFill>
                  </a:tcPr>
                </a:tc>
                <a:tc>
                  <a:txBody>
                    <a:bodyPr/>
                    <a:lstStyle/>
                    <a:p>
                      <a:r>
                        <a:rPr sz="1300" b="0">
                          <a:solidFill>
                            <a:srgbClr val="1F2937"/>
                          </a:solidFill>
                        </a:rPr>
                        <a:t>Makrofaglar</a:t>
                      </a:r>
                    </a:p>
                  </a:txBody>
                  <a:tcPr marL="73152" marR="73152" marT="36576" marB="36576">
                    <a:solidFill>
                      <a:srgbClr val="FFFFFF"/>
                    </a:solidFill>
                  </a:tcPr>
                </a:tc>
              </a:tr>
              <a:tr h="411480">
                <a:tc>
                  <a:txBody>
                    <a:bodyPr/>
                    <a:lstStyle/>
                    <a:p>
                      <a:r>
                        <a:rPr sz="1300" b="0">
                          <a:solidFill>
                            <a:srgbClr val="1F2937"/>
                          </a:solidFill>
                        </a:rPr>
                        <a:t>MPO</a:t>
                      </a:r>
                    </a:p>
                  </a:txBody>
                  <a:tcPr marL="73152" marR="73152" marT="36576" marB="36576">
                    <a:solidFill>
                      <a:srgbClr val="E8EEF6"/>
                    </a:solidFill>
                  </a:tcPr>
                </a:tc>
                <a:tc>
                  <a:txBody>
                    <a:bodyPr/>
                    <a:lstStyle/>
                    <a:p>
                      <a:r>
                        <a:rPr sz="1300" b="0">
                          <a:solidFill>
                            <a:srgbClr val="1F2937"/>
                          </a:solidFill>
                        </a:rPr>
                        <a:t>Neytrofil va eozinofil granulotsitlar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Bo‘yoq va hujayra turi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 tarqalish va og‘irlik darajasi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79 holatning 17 tasida (21,5%) yurak yallig‘lanishi diffuz tarqalgan edi.</a:t>
            </a:r>
          </a:p>
          <a:p>
            <a:pPr>
              <a:spcAft>
                <a:spcPts val="800"/>
              </a:spcAft>
            </a:pPr>
            <a:r>
              <a:rPr sz="1800">
                <a:solidFill>
                  <a:srgbClr val="1F2937"/>
                </a:solidFill>
                <a:latin typeface="Calibri"/>
              </a:rPr>
              <a:t>▸  Yallig‘lanish indeksi ko‘pchilikda oz (0,1–1,0) bo‘ldi; o‘rtacha va yuqori daraja uchramadi.</a:t>
            </a:r>
          </a:p>
          <a:p>
            <a:pPr>
              <a:spcAft>
                <a:spcPts val="800"/>
              </a:spcAft>
            </a:pPr>
            <a:r>
              <a:rPr sz="1800">
                <a:solidFill>
                  <a:srgbClr val="1F2937"/>
                </a:solidFill>
                <a:latin typeface="Calibri"/>
              </a:rPr>
              <a:t>▸  Guruhlar orasida faqat diffuz o‘tkir miokardit farq berdi: 2- va 3-guruhda 9 va 7, 1-guruhda 1 holat (P = 0,021).</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2203322"/>
                <a:gridCol w="1410126"/>
                <a:gridCol w="1674525"/>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Oz indeks</a:t>
                      </a:r>
                    </a:p>
                  </a:txBody>
                  <a:tcPr marL="73152" marR="73152" marT="36576" marB="36576">
                    <a:solidFill>
                      <a:srgbClr val="0B1F3A"/>
                    </a:solidFill>
                  </a:tcPr>
                </a:tc>
                <a:tc>
                  <a:txBody>
                    <a:bodyPr/>
                    <a:lstStyle/>
                    <a:p>
                      <a:r>
                        <a:rPr sz="1300" b="1">
                          <a:solidFill>
                            <a:srgbClr val="FFFFFF"/>
                          </a:solidFill>
                        </a:rPr>
                        <a:t>Diffuz o‘tkir</a:t>
                      </a:r>
                    </a:p>
                  </a:txBody>
                  <a:tcPr marL="73152" marR="73152" marT="36576" marB="36576">
                    <a:solidFill>
                      <a:srgbClr val="0B1F3A"/>
                    </a:solidFill>
                  </a:tcPr>
                </a:tc>
              </a:tr>
              <a:tr h="411480">
                <a:tc>
                  <a:txBody>
                    <a:bodyPr/>
                    <a:lstStyle/>
                    <a:p>
                      <a:r>
                        <a:rPr sz="1200" b="0">
                          <a:solidFill>
                            <a:srgbClr val="1F2937"/>
                          </a:solidFill>
                        </a:rPr>
                        <a:t>1-guruh (zo‘ravon o‘lim)</a:t>
                      </a:r>
                    </a:p>
                  </a:txBody>
                  <a:tcPr marL="73152" marR="73152" marT="36576" marB="36576">
                    <a:solidFill>
                      <a:srgbClr val="E8EEF6"/>
                    </a:solidFill>
                  </a:tcPr>
                </a:tc>
                <a:tc>
                  <a:txBody>
                    <a:bodyPr/>
                    <a:lstStyle/>
                    <a:p>
                      <a:r>
                        <a:rPr sz="1200" b="0">
                          <a:solidFill>
                            <a:srgbClr val="1F2937"/>
                          </a:solidFill>
                        </a:rPr>
                        <a:t>24/27</a:t>
                      </a:r>
                    </a:p>
                  </a:txBody>
                  <a:tcPr marL="73152" marR="73152" marT="36576" marB="36576">
                    <a:solidFill>
                      <a:srgbClr val="E8EEF6"/>
                    </a:solidFill>
                  </a:tcPr>
                </a:tc>
                <a:tc>
                  <a:txBody>
                    <a:bodyPr/>
                    <a:lstStyle/>
                    <a:p>
                      <a:r>
                        <a:rPr sz="1200" b="0">
                          <a:solidFill>
                            <a:srgbClr val="1F2937"/>
                          </a:solidFill>
                        </a:rPr>
                        <a:t>1 holat</a:t>
                      </a:r>
                    </a:p>
                  </a:txBody>
                  <a:tcPr marL="73152" marR="73152" marT="36576" marB="36576">
                    <a:solidFill>
                      <a:srgbClr val="E8EEF6"/>
                    </a:solidFill>
                  </a:tcPr>
                </a:tc>
              </a:tr>
              <a:tr h="411480">
                <a:tc>
                  <a:txBody>
                    <a:bodyPr/>
                    <a:lstStyle/>
                    <a:p>
                      <a:r>
                        <a:rPr sz="1200" b="0">
                          <a:solidFill>
                            <a:srgbClr val="1F2937"/>
                          </a:solidFill>
                        </a:rPr>
                        <a:t>2-guruh (bir necha sabab)</a:t>
                      </a:r>
                    </a:p>
                  </a:txBody>
                  <a:tcPr marL="73152" marR="73152" marT="36576" marB="36576">
                    <a:solidFill>
                      <a:srgbClr val="FFFFFF"/>
                    </a:solidFill>
                  </a:tcPr>
                </a:tc>
                <a:tc>
                  <a:txBody>
                    <a:bodyPr/>
                    <a:lstStyle/>
                    <a:p>
                      <a:r>
                        <a:rPr sz="1200" b="0">
                          <a:solidFill>
                            <a:srgbClr val="1F2937"/>
                          </a:solidFill>
                        </a:rPr>
                        <a:t>17/29</a:t>
                      </a:r>
                    </a:p>
                  </a:txBody>
                  <a:tcPr marL="73152" marR="73152" marT="36576" marB="36576">
                    <a:solidFill>
                      <a:srgbClr val="FFFFFF"/>
                    </a:solidFill>
                  </a:tcPr>
                </a:tc>
                <a:tc>
                  <a:txBody>
                    <a:bodyPr/>
                    <a:lstStyle/>
                    <a:p>
                      <a:r>
                        <a:rPr sz="1200" b="0">
                          <a:solidFill>
                            <a:srgbClr val="1F2937"/>
                          </a:solidFill>
                        </a:rPr>
                        <a:t>9 holat</a:t>
                      </a:r>
                    </a:p>
                  </a:txBody>
                  <a:tcPr marL="73152" marR="73152" marT="36576" marB="36576">
                    <a:solidFill>
                      <a:srgbClr val="FFFFFF"/>
                    </a:solidFill>
                  </a:tcPr>
                </a:tc>
              </a:tr>
              <a:tr h="411480">
                <a:tc>
                  <a:txBody>
                    <a:bodyPr/>
                    <a:lstStyle/>
                    <a:p>
                      <a:r>
                        <a:rPr sz="1200" b="0">
                          <a:solidFill>
                            <a:srgbClr val="1F2937"/>
                          </a:solidFill>
                        </a:rPr>
                        <a:t>3-guruh (yagona topilma)</a:t>
                      </a:r>
                    </a:p>
                  </a:txBody>
                  <a:tcPr marL="73152" marR="73152" marT="36576" marB="36576">
                    <a:solidFill>
                      <a:srgbClr val="E8EEF6"/>
                    </a:solidFill>
                  </a:tcPr>
                </a:tc>
                <a:tc>
                  <a:txBody>
                    <a:bodyPr/>
                    <a:lstStyle/>
                    <a:p>
                      <a:r>
                        <a:rPr sz="1200" b="0">
                          <a:solidFill>
                            <a:srgbClr val="1F2937"/>
                          </a:solidFill>
                        </a:rPr>
                        <a:t>16/23</a:t>
                      </a:r>
                    </a:p>
                  </a:txBody>
                  <a:tcPr marL="73152" marR="73152" marT="36576" marB="36576">
                    <a:solidFill>
                      <a:srgbClr val="E8EEF6"/>
                    </a:solidFill>
                  </a:tcPr>
                </a:tc>
                <a:tc>
                  <a:txBody>
                    <a:bodyPr/>
                    <a:lstStyle/>
                    <a:p>
                      <a:r>
                        <a:rPr sz="1200" b="0">
                          <a:solidFill>
                            <a:srgbClr val="1F2937"/>
                          </a:solidFill>
                        </a:rPr>
                        <a:t>7 holat</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Guruhlar bo‘yicha natija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Infiltrat turi va boshqa gistologik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1-guruhda infiltrat deyarli hammasida limfotsitar edi (26/27); bir holatda aralash tur topildi.</a:t>
            </a:r>
          </a:p>
          <a:p>
            <a:pPr>
              <a:spcAft>
                <a:spcPts val="1200"/>
              </a:spcAft>
            </a:pPr>
            <a:r>
              <a:rPr sz="2200">
                <a:solidFill>
                  <a:srgbClr val="1F2937"/>
                </a:solidFill>
                <a:latin typeface="Calibri"/>
              </a:rPr>
              <a:t>▸  3-guruhda ham limfotsitar tur ustun (18/23). 2-guruhda tur eng xilma-xil: limfotsitar atigi 13/29.</a:t>
            </a:r>
          </a:p>
          <a:p>
            <a:pPr>
              <a:spcAft>
                <a:spcPts val="1200"/>
              </a:spcAft>
            </a:pPr>
            <a:r>
              <a:rPr sz="2200">
                <a:solidFill>
                  <a:srgbClr val="1F2937"/>
                </a:solidFill>
                <a:latin typeface="Calibri"/>
              </a:rPr>
              <a:t>▸  2-guruhda aralash, neytrofilli, eozinofilli va gigant hujayrali yallig‘lanish ham uchradi.</a:t>
            </a:r>
          </a:p>
          <a:p>
            <a:pPr>
              <a:spcAft>
                <a:spcPts val="1200"/>
              </a:spcAft>
            </a:pPr>
            <a:r>
              <a:rPr sz="2200">
                <a:solidFill>
                  <a:srgbClr val="1F2937"/>
                </a:solidFill>
                <a:latin typeface="Calibri"/>
              </a:rPr>
              <a:t>▸  Miotsit shikasti (78%, 76%, 70%), shish, fibroz va qon quyilishi guruhlar orasida ishonchli farq bermadi.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indeks 0 ≠ yallig‘lanish yo‘q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Diffuz yallig‘lanishda alohida o‘choq bo‘lmaydi, shuning uchun hisoblangan indeks 0 chiqadi.</a:t>
            </a:r>
          </a:p>
          <a:p>
            <a:pPr>
              <a:spcAft>
                <a:spcPts val="1200"/>
              </a:spcAft>
            </a:pPr>
            <a:r>
              <a:rPr sz="2200">
                <a:solidFill>
                  <a:srgbClr val="1F2937"/>
                </a:solidFill>
                <a:latin typeface="Calibri"/>
              </a:rPr>
              <a:t>▸  Bu yanglishtiradi: 0 qiymat yallig‘lanish yo‘q degan taassurot beradi, holbuki diffuz shakl eng og‘ir turdir.</a:t>
            </a:r>
          </a:p>
          <a:p>
            <a:pPr>
              <a:spcAft>
                <a:spcPts val="1200"/>
              </a:spcAft>
            </a:pPr>
            <a:r>
              <a:rPr sz="2200">
                <a:solidFill>
                  <a:srgbClr val="1F2937"/>
                </a:solidFill>
                <a:latin typeface="Calibri"/>
              </a:rPr>
              <a:t>▸  Indeks (o‘choqlar soni / kesmalar soni) faqat nodiffuz turlarga qo‘llanishi kerak.</a:t>
            </a:r>
          </a:p>
          <a:p>
            <a:pPr>
              <a:spcAft>
                <a:spcPts val="1200"/>
              </a:spcAft>
            </a:pPr>
            <a:r>
              <a:rPr sz="2200">
                <a:solidFill>
                  <a:srgbClr val="1F2937"/>
                </a:solidFill>
                <a:latin typeface="Calibri"/>
              </a:rPr>
              <a:t>▸  Past indekslarning qiymati cheklangan; indeks yuqori ko‘rsatkichlarda ko‘proq ma’lumot beradi.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tasodifiy yoki o‘limli miokardit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yurak kesmalarida bir necha yallig‘lanish o‘chog‘i va miotsit nekrozi bor. Boshqa gistologik o‘lim sababi topilmagan.</a:t>
            </a:r>
          </a:p>
          <a:p>
            <a:pPr>
              <a:spcAft>
                <a:spcPts val="1200"/>
              </a:spcAft>
            </a:pPr>
            <a:r>
              <a:rPr sz="2200">
                <a:solidFill>
                  <a:srgbClr val="1F2937"/>
                </a:solidFill>
                <a:latin typeface="Calibri"/>
              </a:rPr>
              <a:t>▸  Diqqat: o‘choqlar ko‘pligi va miotsit shikasti ravshan tabiiy bo‘lmagan o‘limda (1-guruh) ham uchragan, ya’ni tasodifiy bo‘lishi mumkin.</a:t>
            </a:r>
          </a:p>
          <a:p>
            <a:pPr>
              <a:spcAft>
                <a:spcPts val="1200"/>
              </a:spcAft>
            </a:pPr>
            <a:r>
              <a:rPr sz="2200">
                <a:solidFill>
                  <a:srgbClr val="1F2937"/>
                </a:solidFill>
                <a:latin typeface="Calibri"/>
              </a:rPr>
              <a:t>▸  Savol: bu miokarditni o‘lim sababi deb atash mumkinmi? Keyingi qadamlar qanday bo‘ladi?</a:t>
            </a:r>
          </a:p>
          <a:p>
            <a:pPr>
              <a:spcAft>
                <a:spcPts val="1200"/>
              </a:spcAft>
            </a:pPr>
            <a:r>
              <a:rPr sz="2200">
                <a:solidFill>
                  <a:srgbClr val="1F2937"/>
                </a:solidFill>
                <a:latin typeface="Calibri"/>
              </a:rPr>
              <a:t>▸  Yo‘nalish: boshqa sabablarni istisno qiling (toksikologiya, genetika, klinik tarix, holat sharoiti). Diffuz o‘tkir shakl esa ancha ishonchli.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Cheklovlar va keng qamrovli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Genetik tekshiruv va oilaviy anamnez o‘tkazilmagan, shuning uchun aritmiyaga moyillik baholanmagan.</a:t>
            </a:r>
          </a:p>
          <a:p>
            <a:pPr>
              <a:spcAft>
                <a:spcPts val="800"/>
              </a:spcAft>
            </a:pPr>
            <a:r>
              <a:rPr sz="1800">
                <a:solidFill>
                  <a:srgbClr val="1F2937"/>
                </a:solidFill>
                <a:latin typeface="Calibri"/>
              </a:rPr>
              <a:t>▸  Klinik autopsiyalarda toksikologik sabab istisno qilinmagan; hamroh kasalliklar talqinni qiyinlashtirgan.</a:t>
            </a:r>
          </a:p>
          <a:p>
            <a:pPr>
              <a:spcAft>
                <a:spcPts val="800"/>
              </a:spcAft>
            </a:pPr>
            <a:r>
              <a:rPr sz="1800">
                <a:solidFill>
                  <a:srgbClr val="1F2937"/>
                </a:solidFill>
                <a:latin typeface="Calibri"/>
              </a:rPr>
              <a:t>▸  Ortiqcha baholash sud jarayonini murakkablashtirishi, hatto gumondorni asossiz oqlashi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Ko‘rik + organlar gistologiyasi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tarix, holat sharoiti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Toksikologiya va biokimyo</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Genetika, virusologiya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Ehtiyotkor xulosa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Keng qamrovli tekshiruv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Eslab qoling: ikki o‘pka va yurak belgilarini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78</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DAD yolg‘iz o‘lim sababini belgilamaydi; antemortem va sud-tibbiy ma’lumot birga baholanadi.</a:t>
            </a:r>
          </a:p>
          <a:p>
            <a:pPr>
              <a:spcAft>
                <a:spcPts val="800"/>
              </a:spcAft>
            </a:pPr>
            <a:r>
              <a:rPr sz="1800">
                <a:solidFill>
                  <a:srgbClr val="1F2937"/>
                </a:solidFill>
                <a:latin typeface="Calibri"/>
              </a:rPr>
              <a:t>▸  Miokarditda diffuz o‘tkir shakl muhim va tasodifiy yallig‘lanishni ajratgan yagona belgi bo‘ldi.</a:t>
            </a:r>
          </a:p>
          <a:p>
            <a:pPr>
              <a:spcAft>
                <a:spcPts val="800"/>
              </a:spcAft>
            </a:pPr>
            <a:r>
              <a:rPr sz="1800">
                <a:solidFill>
                  <a:srgbClr val="1F2937"/>
                </a:solidFill>
                <a:latin typeface="Calibri"/>
              </a:rPr>
              <a:t>▸  Eslab qoling: bitta belgi — bitta xulosa emas; avval boshqa sabablarni istisno qiling. (?)</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057595"/>
                <a:gridCol w="2115190"/>
                <a:gridCol w="211519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O‘pka (DAD)</a:t>
                      </a:r>
                    </a:p>
                  </a:txBody>
                  <a:tcPr marL="73152" marR="73152" marT="36576" marB="36576">
                    <a:solidFill>
                      <a:srgbClr val="0B1F3A"/>
                    </a:solidFill>
                  </a:tcPr>
                </a:tc>
                <a:tc>
                  <a:txBody>
                    <a:bodyPr/>
                    <a:lstStyle/>
                    <a:p>
                      <a:r>
                        <a:rPr sz="1300" b="1">
                          <a:solidFill>
                            <a:srgbClr val="FFFFFF"/>
                          </a:solidFill>
                        </a:rPr>
                        <a:t>Yurak</a:t>
                      </a:r>
                    </a:p>
                  </a:txBody>
                  <a:tcPr marL="73152" marR="73152" marT="36576" marB="36576">
                    <a:solidFill>
                      <a:srgbClr val="0B1F3A"/>
                    </a:solidFill>
                  </a:tcPr>
                </a:tc>
              </a:tr>
              <a:tr h="411480">
                <a:tc>
                  <a:txBody>
                    <a:bodyPr/>
                    <a:lstStyle/>
                    <a:p>
                      <a:r>
                        <a:rPr sz="1200" b="0">
                          <a:solidFill>
                            <a:srgbClr val="1F2937"/>
                          </a:solidFill>
                        </a:rPr>
                        <a:t>Asosiy belgi</a:t>
                      </a:r>
                    </a:p>
                  </a:txBody>
                  <a:tcPr marL="73152" marR="73152" marT="36576" marB="36576">
                    <a:solidFill>
                      <a:srgbClr val="E8EEF6"/>
                    </a:solidFill>
                  </a:tcPr>
                </a:tc>
                <a:tc>
                  <a:txBody>
                    <a:bodyPr/>
                    <a:lstStyle/>
                    <a:p>
                      <a:r>
                        <a:rPr sz="1200" b="0">
                          <a:solidFill>
                            <a:srgbClr val="1F2937"/>
                          </a:solidFill>
                        </a:rPr>
                        <a:t>Gialin membrana, alveolyar eksudat/shish</a:t>
                      </a:r>
                    </a:p>
                  </a:txBody>
                  <a:tcPr marL="73152" marR="73152" marT="36576" marB="36576">
                    <a:solidFill>
                      <a:srgbClr val="E8EEF6"/>
                    </a:solidFill>
                  </a:tcPr>
                </a:tc>
                <a:tc>
                  <a:txBody>
                    <a:bodyPr/>
                    <a:lstStyle/>
                    <a:p>
                      <a:r>
                        <a:rPr sz="1200" b="0">
                          <a:solidFill>
                            <a:srgbClr val="1F2937"/>
                          </a:solidFill>
                        </a:rPr>
                        <a:t>O‘choqlar ≥10 hujayra, miotsit shikasti</a:t>
                      </a:r>
                    </a:p>
                  </a:txBody>
                  <a:tcPr marL="73152" marR="73152" marT="36576" marB="36576">
                    <a:solidFill>
                      <a:srgbClr val="E8EEF6"/>
                    </a:solidFill>
                  </a:tcPr>
                </a:tc>
              </a:tr>
              <a:tr h="411480">
                <a:tc>
                  <a:txBody>
                    <a:bodyPr/>
                    <a:lstStyle/>
                    <a:p>
                      <a:r>
                        <a:rPr sz="1200" b="0">
                          <a:solidFill>
                            <a:srgbClr val="1F2937"/>
                          </a:solidFill>
                        </a:rPr>
                        <a:t>Bosqich/tur</a:t>
                      </a:r>
                    </a:p>
                  </a:txBody>
                  <a:tcPr marL="73152" marR="73152" marT="36576" marB="36576">
                    <a:solidFill>
                      <a:srgbClr val="FFFFFF"/>
                    </a:solidFill>
                  </a:tcPr>
                </a:tc>
                <a:tc>
                  <a:txBody>
                    <a:bodyPr/>
                    <a:lstStyle/>
                    <a:p>
                      <a:r>
                        <a:rPr sz="1200" b="0">
                          <a:solidFill>
                            <a:srgbClr val="1F2937"/>
                          </a:solidFill>
                        </a:rPr>
                        <a:t>Eksudativ va proliferativ</a:t>
                      </a:r>
                    </a:p>
                  </a:txBody>
                  <a:tcPr marL="73152" marR="73152" marT="36576" marB="36576">
                    <a:solidFill>
                      <a:srgbClr val="FFFFFF"/>
                    </a:solidFill>
                  </a:tcPr>
                </a:tc>
                <a:tc>
                  <a:txBody>
                    <a:bodyPr/>
                    <a:lstStyle/>
                    <a:p>
                      <a:r>
                        <a:rPr sz="1200" b="0">
                          <a:solidFill>
                            <a:srgbClr val="1F2937"/>
                          </a:solidFill>
                        </a:rPr>
                        <a:t>Borderline, fokal, multifokal, diffuz</a:t>
                      </a:r>
                    </a:p>
                  </a:txBody>
                  <a:tcPr marL="73152" marR="73152" marT="36576" marB="36576">
                    <a:solidFill>
                      <a:srgbClr val="FFFFFF"/>
                    </a:solidFill>
                  </a:tcPr>
                </a:tc>
              </a:tr>
              <a:tr h="411480">
                <a:tc>
                  <a:txBody>
                    <a:bodyPr/>
                    <a:lstStyle/>
                    <a:p>
                      <a:r>
                        <a:rPr sz="1200" b="0">
                          <a:solidFill>
                            <a:srgbClr val="1F2937"/>
                          </a:solidFill>
                        </a:rPr>
                        <a:t>Yolg‘iz yetarli emas</a:t>
                      </a:r>
                    </a:p>
                  </a:txBody>
                  <a:tcPr marL="73152" marR="73152" marT="36576" marB="36576">
                    <a:solidFill>
                      <a:srgbClr val="E8EEF6"/>
                    </a:solidFill>
                  </a:tcPr>
                </a:tc>
                <a:tc>
                  <a:txBody>
                    <a:bodyPr/>
                    <a:lstStyle/>
                    <a:p>
                      <a:r>
                        <a:rPr sz="1200" b="0">
                          <a:solidFill>
                            <a:srgbClr val="1F2937"/>
                          </a:solidFill>
                        </a:rPr>
                        <a:t>DAD yolg‘iz o‘lim sababini aytmaydi</a:t>
                      </a:r>
                    </a:p>
                  </a:txBody>
                  <a:tcPr marL="73152" marR="73152" marT="36576" marB="36576">
                    <a:solidFill>
                      <a:srgbClr val="E8EEF6"/>
                    </a:solidFill>
                  </a:tcPr>
                </a:tc>
                <a:tc>
                  <a:txBody>
                    <a:bodyPr/>
                    <a:lstStyle/>
                    <a:p>
                      <a:r>
                        <a:rPr sz="1200" b="0">
                          <a:solidFill>
                            <a:srgbClr val="1F2937"/>
                          </a:solidFill>
                        </a:rPr>
                        <a:t>O‘choqlar soni va miotsit shikasti yolg‘iz</a:t>
                      </a:r>
                    </a:p>
                  </a:txBody>
                  <a:tcPr marL="73152" marR="73152" marT="36576" marB="36576">
                    <a:solidFill>
                      <a:srgbClr val="E8EEF6"/>
                    </a:solidFill>
                  </a:tcPr>
                </a:tc>
              </a:tr>
              <a:tr h="411480">
                <a:tc>
                  <a:txBody>
                    <a:bodyPr/>
                    <a:lstStyle/>
                    <a:p>
                      <a:r>
                        <a:rPr sz="1200" b="0">
                          <a:solidFill>
                            <a:srgbClr val="1F2937"/>
                          </a:solidFill>
                        </a:rPr>
                        <a:t>Ajratuvchi</a:t>
                      </a:r>
                    </a:p>
                  </a:txBody>
                  <a:tcPr marL="73152" marR="73152" marT="36576" marB="36576">
                    <a:solidFill>
                      <a:srgbClr val="FFFFFF"/>
                    </a:solidFill>
                  </a:tcPr>
                </a:tc>
                <a:tc>
                  <a:txBody>
                    <a:bodyPr/>
                    <a:lstStyle/>
                    <a:p>
                      <a:r>
                        <a:rPr sz="1200" b="0">
                          <a:solidFill>
                            <a:srgbClr val="1F2937"/>
                          </a:solidFill>
                        </a:rPr>
                        <a:t>Alveolyar fibrin — proliferativ tomon</a:t>
                      </a:r>
                    </a:p>
                  </a:txBody>
                  <a:tcPr marL="73152" marR="73152" marT="36576" marB="36576">
                    <a:solidFill>
                      <a:srgbClr val="FFFFFF"/>
                    </a:solidFill>
                  </a:tcPr>
                </a:tc>
                <a:tc>
                  <a:txBody>
                    <a:bodyPr/>
                    <a:lstStyle/>
                    <a:p>
                      <a:r>
                        <a:rPr sz="1200" b="0">
                          <a:solidFill>
                            <a:srgbClr val="1F2937"/>
                          </a:solidFill>
                        </a:rPr>
                        <a:t>Diffuz o‘tkir yallig‘lanish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DAD va miokardit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Urer et al., Diffuse Alveolar Damage of the Lungs in Forensic Autopsies: Assessment of Histopathological Stages and Causes of Death, betlar: PMID 23028252; du Long et al., The histopathological spectrum of myocardial inflammation in relation to circumstance of death: a retrospective cohort study in clinical and forensic autopsies, betlar: PMID 35784416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amaliy tavsiyalar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78</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Gistologiya yolg‘iz o‘zi miokardning tasodifiy yallig‘lanishini ahamiyatli yallig‘lanishdan ishonchli ajrata olmaydi. Faqat diffuz yallig‘lanish farq ko‘rsatdi.</a:t>
            </a:r>
          </a:p>
          <a:p>
            <a:pPr>
              <a:spcAft>
                <a:spcPts val="1200"/>
              </a:spcAft>
            </a:pPr>
            <a:r>
              <a:rPr sz="2200">
                <a:solidFill>
                  <a:srgbClr val="1F2937"/>
                </a:solidFill>
                <a:latin typeface="Calibri"/>
              </a:rPr>
              <a:t>▸  Baho berishda barcha yorish natijalari, qo‘shimcha testlar (toksikologiya, virusologiya, genetika) va o‘lim holati sharoiti birgalikda ko‘riladi.</a:t>
            </a:r>
          </a:p>
          <a:p>
            <a:pPr>
              <a:spcAft>
                <a:spcPts val="1200"/>
              </a:spcAft>
            </a:pPr>
            <a:r>
              <a:rPr sz="2200">
                <a:solidFill>
                  <a:srgbClr val="1F2937"/>
                </a:solidFill>
                <a:latin typeface="Calibri"/>
              </a:rPr>
              <a:t>▸  Diffuz alveolyar shikastlanish (DAD) o‘zi o‘lim sababini aytmaydi. Uning topilmasligi o‘tkir respirator distress sindromini (ARDS) inkor qilmaydi.</a:t>
            </a:r>
          </a:p>
          <a:p>
            <a:pPr>
              <a:spcAft>
                <a:spcPts val="1200"/>
              </a:spcAft>
            </a:pPr>
            <a:r>
              <a:rPr sz="2200">
                <a:solidFill>
                  <a:srgbClr val="1F2937"/>
                </a:solidFill>
                <a:latin typeface="Calibri"/>
              </a:rPr>
              <a:t>▸  Keng tekshiruv imkonsiz bo‘lsa, o‘lim sababi va mexanizmi haqida qat’iy xulosa chiqarishdan ehtiyot bo‘lish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du Long et al., The histopathological spectrum of myocardial inflammation in relation to circumstance of death: a retrospective cohort study in clinical and forensic autopsies, betlar: PMID 35784416; Urer et al., Diffuse Alveolar Damage of the Lungs in Forensic Autopsies: Assessment of Histopathological Stages and Causes of Death, betlar: PMID 23028252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78</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sud-tibbiy yorilgan 66 ta DAD (diffuz alveolyar shikastlanish) holatidan 50 tasi (75,7%) eksudativ, 16 tasi (24,2%) proliferativ fazada edi. Proliferativ faza belgisi sifatida faqat alveolyar fibrin mustaqil bo‘ldi.</a:t>
            </a:r>
          </a:p>
          <a:p>
            <a:pPr>
              <a:spcAft>
                <a:spcPts val="1200"/>
              </a:spcAft>
            </a:pPr>
            <a:r>
              <a:rPr sz="1800">
                <a:solidFill>
                  <a:srgbClr val="1F2937"/>
                </a:solidFill>
                <a:latin typeface="Calibri"/>
              </a:rPr>
              <a:t>▸  Qiziqarli fakt: sud-tibbiy yorishda DAD topilgan o‘limlarning 92% g‘ayritabiiy bo‘lgan, eng ko‘p sabab travma. Kasalxona yorishlarida esa infeksiya birinchi o‘rinda turadi.</a:t>
            </a:r>
          </a:p>
          <a:p>
            <a:pPr>
              <a:spcAft>
                <a:spcPts val="1200"/>
              </a:spcAft>
            </a:pPr>
            <a:r>
              <a:rPr sz="1800">
                <a:solidFill>
                  <a:srgbClr val="1F2937"/>
                </a:solidFill>
                <a:latin typeface="Calibri"/>
              </a:rPr>
              <a:t>▸  Eslab qolish: gialin membrana jarohatdan 4-5 kun o‘tgach paydo bo‘ladi. Shuning uchun u kechroq, proliferativ fazada ko‘proq uchraydi (Ferrer: eksudativda 12%, proliferativda 62%).</a:t>
            </a:r>
          </a:p>
          <a:p>
            <a:pPr>
              <a:spcAft>
                <a:spcPts val="1200"/>
              </a:spcAft>
            </a:pPr>
            <a:r>
              <a:rPr sz="1800">
                <a:solidFill>
                  <a:srgbClr val="1F2937"/>
                </a:solidFill>
                <a:latin typeface="Calibri"/>
              </a:rPr>
              <a:t>▸  Eslab qoling (Basso bo‘yicha miokardit): chegaraviy – o‘choq bor, kardiomiotsit shikasti yo‘q; fokal – 1 o‘choq + shikast; multifokal – bir nechta o‘choq; diffuz o‘tkir – yoyilgan infiltratsiya + keng shikast. O‘choq: ≥10 yallig‘lanish hujayrasi.</a:t>
            </a:r>
          </a:p>
          <a:p>
            <a:pPr>
              <a:spcAft>
                <a:spcPts val="1200"/>
              </a:spcAft>
            </a:pPr>
            <a:r>
              <a:rPr sz="1800">
                <a:solidFill>
                  <a:srgbClr val="1F2937"/>
                </a:solidFill>
                <a:latin typeface="Calibri"/>
              </a:rPr>
              <a:t>▸  Diqqat, tuzoq: diffuz yallig‘lanishda o‘choq yo‘q, shuning uchun yallig‘lanish indeksi 0 chiqadi va yallig‘lanish yo‘qdek ko‘rinadi. Aslida bu eng og‘ir shakl. Uch guruhni faqat diffuz o‘zgarish ishonchli ajratdi.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Sud-tibbiyot eksperti o‘pka preparatida alveolyar organizatsiyalanuvchi fibroz topdi. Bu qaysi DAD bosqichini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Eksudativ (erta o‘tkir) bosqichni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Proliferativ (organizatsiya) bosqichni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Kech fibrotik (surunkali) bosqichni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Bosqichni aniqlab bo‘lmaydi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Diffuz alveolyar shikast (DAD) qaysi kasallikning morfologik prototipi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O‘tkir interstitsial pnevmoniya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Surunkali obstruktiv o‘pka kasalligi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Lobar bakterial pnevmoniya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arteriyasi tromboemboliyasi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o‘pka rentgenida ikki tomonlama diffuz xiralashuv, chuqur gipoksemiya va mexanik ventilyatsiya zarurati bor. DAD klinik jihatdan qaysi sindrom sifatida namoyon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Bronxial astma xuruji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Lobar pnevmoniya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O‘pka sili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O‘tkir respirator distress sindromi (ARDS)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sud-tibbiy autopsiyadagi DAD o‘pka preparatini gematoksilin-eozin bilan bo‘yab qayta baholamoqda. U qaysi mezonlarga tayanadi?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Dallas mezonlari bo‘yicha miokardit tashxisi mezonlari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Kitulwatte indeksi bo‘yicha yallig‘lanish darajasi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2002 yilgi ATS/ERS idiopatik interstitsial pnevmoniya mezonlari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AECVP yo‘riqnomasi bo‘yicha miokardit turlari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Idiopatik o‘pka fibrozi va og‘ir nafas buzilishi bor bemorda ochiq o‘pka biopsiyasining qaysi xavfi sud-tibbiy autopsiyani muqobil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Gialin membranani butunlay yo‘qotib yuboradi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xurujni qo‘zg‘atishi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Namunani o‘pkadan olib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bolalarda qo‘llash mumkin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Patologga ikkita o‘pka preparati berildi, ikkalasida ham gialin membrana bor. Ekssudativ va proliferativ fazani ajratishda qaysi belgi asosiy mezon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Alveolalarda neytrofillar to‘planishining ko‘pligi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Alveolalarda organizatsiyalanuvchi fibroz mavjudligi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Gialin membrananing bironta ham uchrashi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Alveolyar ekssudat va shish darajasining kuchi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Diffuz alveolyar shikastlanishda (DAD) gialin membrana (HM) rivoji jarohatdan keyin taxminan qachon namoyon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Jarohatdan keyin dastlabki bir necha soatda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Jarohatdan keyin taxminan 2-3 hafta o‘tgach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surunkali fibrotik fazaning oxirida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Jarohatdan keyin taxminan 4-5 kun o‘tgach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DAD holatida proliferativ faza ehtimolini baholamoqda. Logistik regressiyada proliferativ faza foydasiga mustaqil bashorat qilgan yagona belgi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Alveolalarda fibrin mavjudligi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Alveolyar histiotsitar desquamatsiya mavjudligi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Surunkali yallig‘lanish mavjudligi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Alveolyar fibroz mavjudligi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DAD preparatida alveolalar va septalarda neytrofillar juda kam. Faqat shu belgiga tayanib, qaysi differensial tashxis istisno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Fonda UIP ning o‘tkir avj 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eozinofil pnevmoniya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Yondosh bakterial pnevmoniya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Gialin membranasiz o‘tkir fibrozli pnevmoniya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yorishda o‘pkada DAD aniqlandi. O‘lim sababini faqat shu topilma asosida belgilash mumkinmi?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Ha, DAD o‘zi yetarli bo‘lib, qo‘shimcha ma’lumot talab qilinmaydi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Yo‘q, DAD hayotlik tibbiy va sud-tibbiy ma’lumotlar bilan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Ha, gialin membrana bo‘lsa, o‘lim sababi aniq deb hisoblanadi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Yo‘q, DAD hech qachon o‘lim mexanizmi bilan bog‘lanmaydi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Bosh jarohati olgan bemorda o‘tkir nafas yetishmovchiligi rivojlandi. Quyidagi mexanizmlardan qaysi biri aynan bosh jarohatiga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Dorining alveolalarga bevosita toksik ta’siri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Nafas markaziga bevosita ta’sir ko‘rsatish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Anesteziya sabab nafas ataksiyasi rivojlanishi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Yonish paytidagi zaharli gazlar ta’siri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Klinikada ARDS (o‘tkir respirator distress sindromi) bo‘lgan shaxs autopsiyasida diffuz alveolyar shikast (DAD) topilmadi.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DAD topilmasligi ARDS bo‘lmaganini isbotlamaydi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DAD topilmasligi ARDSni to‘liq inkor etadi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 holat ARDS tashxisini yanada kuchaytiradi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Bunda o‘lim sababi aniq o‘pkadan emas, deyiladi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Pichoqlanishdan 1 soatdan kam yashab o‘lgan shaxs miokardida yallig‘lanish topildi. Du Long va hamkorlari tuzilmasida bu holat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2-guruh: miokardit mumkin sabablardan biri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3-guruh: miokardit yagona muhim topilma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Guruhga kirmaydi, tanlovdan chiqariladi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1-guruh: yallig‘lanish tasodifiy topilma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Gistologik kesmada ≥10 yallig‘lanish hujayrasidan iborat bitta o‘choq va kardiomiotsit shikastlanishi bor. Basso tasnifi bo‘yicha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Chegaraviy (borderline) miokardit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Multifokal miokardit shakli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Fokal miokardit shakli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O‘tkir diffuz miokardit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Preparatda aniq o‘choqlarsiz, diffuz tarqalgan yallig‘lanish bor. Kitulwatte yallig‘lanish indeksi qiymati qanday chiqadi?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0,1–1,0 oralig‘ida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0 ga teng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2,0–4,9 oralig‘ida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5,0 va undan yuqori bo‘ladi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kesmada ≥10 hujayrali ikkita yallig‘lanish o‘chog‘i va miotsit nekrozi topildi. Basso tasnifi bo‘yicha bu qaysi tur?</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Chegaraviy miokardit turi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Fokal miokardit turi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Multifokal miokardit turi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O‘tkir diffuz miokardit turi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Diffuz yallig‘lanishli holatda alohida o‘choqlar yo‘q, shuning uchun yallig‘lanish indeksi 0 chiqdi.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Indeks aldamchi: yallig‘lanish bor, o‘choq sanalmagan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Yallig‘lanish umuman yo‘q, yurak to‘qimasi me‘yorda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Yallig‘lanish juda yengil va amaliy ahamiyatsiz</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Yallig‘lanish faqat o‘tkazuvchi tizimda joylashgan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infiltratda makrofaglar ustunligini tasdiqlamoqchi. Qaysi immunogistokimyoviy bo‘yoq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CD45 bo‘yog‘i tanlanadi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MPO bo‘yog‘i tanlanadi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HE bo‘yog‘i yetadi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CD68 bo‘yog‘i tanlanadi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Uch guruh orasida qaysi belgi statistik jihatdan ishonchli farq ko‘rsatdi (P = 0.021)?</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Fokal miokardit uchragan holatlar soni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O‘tkir diffuz miokardit uchragan holatlar soni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Multifokal miokardit uchragan holatlar soni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Chegaraviy miokardit uchragan holatlar soni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78</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3-guruhda faqat miokardit topilgan o‘lim holati baholanmoqda. Ekspert nima qilishi kerak?</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Toksikologik va genetik sabablarni istisno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Miokarditni darhol yagona o‘lim sababi deb yozish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yallig‘lanish o‘choqlari sonini hisoblash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Qo‘shimcha tekshiruvsiz ishni yopib qo‘yish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Proliferativ (organizatsiya) bosqichni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Tadqiqotda har qanday alveolyar organizatsiyalanuvchi fibroz mavjudligi eksudativ bosqichni proliferativ bosqichdan ajratuvchi asosiy mezon deb qabul qilingan. DAD ‘diffuz alveolyar shikast’ degani.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O‘tkir interstitsial pnevmoniya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DAD o‘tkir interstitsial pnevmoniyaning morfologik prototipi bo‘lib, tez va o‘lim bilan tugaydigan klinik kechishi bilan xarakterlanadi.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O‘tkir respirator distress sindromi (ARDS)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DAD klinik jihatdan o‘tkir respirator distress sindromi (ARDS) sifatida namoyon bo‘lishi, rentgenda ikki tomonlama diffuz xiralashuv kuzatilishi aytilgan.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2002 yilgi ATS/ERS idiopatik interstitsial pnevmoniya mezonlari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Preparatlar 2002 yilgi ATS/ERS (Amerika Torakal Jamiyati va Yevropa Respirator Jamiyati) idiopatik interstitsial pnevmoniya konsensus mezonlari asosida qayta ko‘rilgan. Boshqa variantlar yurak (miokard) mezonlari.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O‘tkir xurujni qo‘zg‘atishi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Ochiq biopsiya idiopatik o‘pka fibrozi bor bemorlarda o‘tkir xurujni qo‘zg‘atishi mumkin va og‘ir nafas buzilishida cheklangan. Shuning uchun sud-tibbiy autopsiya muqobil tadqiqot sohasi sifatida ko‘riladi.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Alveolalarda organizatsiyalanuvchi fibroz mavjudligi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Tadqiqotda alveolalarda har qanday organizatsiyalanuvchi fibroz borligi ekssudativ fazani proliferativ fazadan ajratuvchi asosiy mezon deb qabul qilingan. Gialin membrana ikkala fazada ham uchraydi, shuning uchun u ajratuvchi mezon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Jarohatdan keyin taxminan 4-5 kun o‘tgach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Muhokamada gialin membrana rivoji shikastlanishdan 4-5 kun o‘tgach namoyon bo‘lishi qayd etilgan. Shu sababli u keyingi (proliferativ) fazada ko‘proq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Alveolalarda fibrin mavjudligi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 o‘zgaruvchili taqqoslashda bir nechta belgi proliferativ holatlarda yuqori edi. Logistik regressiyada esa faqat alveolyar fibrin mustaqil bashorat qiluvchi bo‘ldi (P = 0,016).</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Yondosh bakterial pnevmoniya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alveolalar va septalarda neytrofillar kamligi tufayli yondosh bakterial pnevmoniyani istisno qilgan. Boshqa holatlar boshqa belgilar (fibroz, honeycomb, eozinofil mikroabssesslar, gialin membrana) asosida farqlanadi.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Yo‘q, DAD hayotlik tibbiy va sud-tibbiy ma’lumotlar bilan baholanadi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DAD bitta kasallikka xos emas, bir nechta omildan paydo bo‘ladigan umumiy o‘zgarish. Shuning uchun o‘lim sababini aniqlash uchun hayotlik davridagi tibbiy va sud-tibbiy ma’lumotlar birgalikda baholanishi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Nafas markaziga bevosita ta’sir ko‘rsatish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Travmada nafas yetishmovchiligi bir necha yo‘l bilan rivojlanadi. Jarohat boshda bo‘lsa, nafas markaziga ta’sir qiladi. Dori toksikligi zaharlanishga, anesteziya jarrohlikka, zaharli gazlar yong‘inga xos mexanizmlardir.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DAD topilmasligi ARDS bo‘lmaganini isbotlamaydi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ARDS klinik ko‘rinishi bor shaxslarning taxminan yarmida autopsiyada DAD aniqlanadi. Shuning uchun DAD yo‘qligi ARDSni inkor etmaydi. DAD ko‘p omilli o‘zgarish bo‘lgani uchun faqat u o‘lim sababini aniqlashga yetmaydi.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Urer et al., Diffuse Alveolar Damage of the Lungs in Forensic Autopsies: Assessment of Histopathological Stages and Causes of Death, PMID 23028252-bet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1-guruh: yallig‘lanish tasodifiy topilma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1-guruhga aniq g‘ayritabiiy o‘lim sababi bor, omon qolish vaqti 1 soatdan kam shaxslar kiritilgan, masalan pichoqlash yoki otilish. Ularda miokard yallig‘lanishi tasodifiy topilma deb baholangan.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Fokal miokardit shakli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Fokal miokardit deb kamida bitta kesmada ≥10 hujayrali o‘choq va miotsit shikastlanishi borligi aytiladi. Chegaraviy shaklda miotsit shikasti bo‘lmaydi. Multifokalda o‘choqlar bir nechta bo‘ladi. Diffuz shaklda esa yallig‘lanish keng tarqalgan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0 ga teng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Indeks o‘choqlar sonini kesmalar soniga bo‘lish bilan hisoblanadi. Diffuz yallig‘lanishda aniq o‘choq bo‘lmagani uchun indeks 0 chiqadi. Bu yallig‘lanish yo‘qdek yanglish taassurot beradi, shuning uchun indeks faqat diffuz bo‘lmagan turlarda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Multifokal miokardit turi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Multifokal miokarditda bir kesmada ≥10 hujayrali birdan ortiq o‘choq bo‘ladi. Fokal turda kamida bitta o‘choq va miotsit shikasti yetarli. Diffuz turda esa o‘choqlar emas, yoyilgan infiltrat va keng miotsit shikasti bo‘ladi. Manbadagi 1B rasmida ikki o‘choq va nekroz multifokal miokardit deb ko‘rsatilgan.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 DOI 10.1080/20961790.2021.1989793-bet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Indeks aldamchi: yallig‘lanish bor, o‘choq sanalmagan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Indeks o‘choqlar sonini kesmalar soniga bo‘lish bilan hisoblanadi. Diffuz yallig‘lanishda aniq o‘choq bo‘lmaydi, shuning uchun indeks 0 chiqadi. Diffuz tur eng og‘ir shakl, shu sababli 0 qiymat yallig‘lanish yo‘q degan noto‘g‘ri xulosaga olib keladi. Indeksni faqat diffuz bo‘lmagan turlarda qo‘llash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 DOI 10.1080/20961790.2021.1989793-bet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CD68 bo‘yog‘i tanlanadi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Tadqiqotda CD45 limfotsitlarni, CD68 makrofaglarni, miyeloperoksidaza (MPO) esa neytrofillarni ko‘rsatish uchun ishlatilgan. Shuning uchun makrofaglar uchun CD68 tanlanadi. HE (gematoksilin-eozin) umumiy bo‘yoq bo‘lib, hujayra turini aniq ajratmaydi.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 DOI 10.1080/20961790.2021.1989793-bet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O‘tkir diffuz miokardit uchragan holatlar soni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O‘tkir diffuz miokardit deyarli faqat 2- va 3-guruhlarda topilgan (mos ravishda 9 va 7 holat), 1-guruhda esa bor-yo‘g‘i 1 holat. Chegaraviy, fokal va multifokal turlar guruhlar orasida sezilarli farq bermagan.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 DOI 10.1080/20961790.2021.1989793-bet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78</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Toksikologik va genetik sabablarni istisno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Muallifler miokarditning ahamiyati ba‘zan oshirib baholanishi mumkinligini ta‘kidlaydi. Gistologiyaning o‘zi tasodifiy va o‘limga olib kelgan miokarditni ishonchli ajratmaydi. Shuning uchun toksikologik va genetik tekshiruvlar, klinik tarix va holat sharoitlarini o‘rganishni o‘z ichiga olgan keng qamrovli tekshiruv zarur.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du Long et al., The histopathological spectrum of myocardial inflammation in relation to circumstance of death: a retrospective cohort study in clinical and forensic autopsies, PMID 35784416; DOI 10.1080/20961790.2021.1989793-bet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Gistopatologik belgilar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78</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Urer et al. Diffuse Alveolar Damage of the Lungs in Forensic Autopsies: Assessment of Histopathological Stages and Causes of Death, The Scientific World Journal. 2012. PMID 23028252; DOI 10.1100/2012/657316</a:t>
            </a:r>
          </a:p>
          <a:p>
            <a:pPr>
              <a:spcAft>
                <a:spcPts val="1200"/>
              </a:spcAft>
            </a:pPr>
            <a:r>
              <a:rPr sz="2000">
                <a:solidFill>
                  <a:srgbClr val="1F2937"/>
                </a:solidFill>
                <a:latin typeface="Calibri"/>
              </a:rPr>
              <a:t>▸  du Long et al. The histopathological spectrum of myocardial inflammation in relation to circumstance of death: a retrospective cohort study in clinical and forensic autopsies, Forensic Sciences Research. 2022. PMID 35784416; DOI 10.1080/20961790.2021.1989793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