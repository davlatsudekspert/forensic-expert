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savoli: nega zaharlanish zo‘raki o‘lim tuzilmasida uchinchi o‘rinda turadi, birinchi ikkitasi qaysilar? Doskada: zo‘raki o‘lim sabablarining uchta pog‘onasini yozdiring. Tipik xato: zaharlanishni mexanik jarohat bilan bir pog‘onaga qo‘yish.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savoli: nega bir modda bir holatda dori, boshqasida zahar bo‘ladi? Sud-tibbiy toksikologiyaning maqsadi klinik toksikologiyadan nimasi bilan farq qiladi? Doskada: toksikologiyaning oltita yo‘nalishini ro‘yxat qilib yozdiring. Tipik xato: sud-tibbiy toksikologiya vazifasini faqat davolash deb o‘ylash.</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savoli: yatrogen zaharlanish baxtsiz hodisaga nega kiradi? Mastlik holati o‘limning turini qanday o‘zgartiradi? Doskada: uch turni qasddan/tasodifan ustunlariga bo‘lib chizdiring. Tipik xato: qotillikni eng ko‘p uchraydigan tur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nega bir xil moddaning ta’siri har xil bo‘lishi mumkin? 3% sirka kislota va sirka essensiyasi misolida tushuntiring. Doskada 4 omilni kvadrat sxemada chizdiring. Tipik xato: faqat dozaga e’tibor berib, konsentratsiya va agregat holatni unutish.</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tolerantlik nega dozani oshirishga olib keladi? Abstinensiya sindromi nima bilan namoyon bo‘ladi? Doskada ketma-ketlikni chizdiring: takroriy qabul – tolerantlik – bog‘liqlik – abstinensiya. Diqqat: tolerantlik ≠ bog‘liqlik. Tolerantlik moslashish, bog‘liqlik esa moddani qabul qilishga yengib bo‘lmas intilishdir. Tipik xato: bu tushunchalarni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nega nafas yo‘li orqali kirgan modda og‘iz orqali kirganidan kuchliroq ta’sir qilishi mumkin? Doskada ikki yo‘lni chizing: jigar orqali o‘tadigan va o‘tmaydigan. Tipik xato: kirish yo‘lini ahamiyatsiz deb hisoblash va eruvchanlikning rolini unutish.</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Savollarni talabalarga navbat bilan bering, javobni kitobsiz so‘rang. Muhokama: nega bir xil doza turli odamlarda turlicha ta’sir qiladi? Giyohvand moddalarda tolerantlik nima uchun dozani oshirishga olib keladi? Doskada chizish: ikki ustun — “tolerantlik” va “bog‘liqlik” — va ularning belgilarini yozdiring. Tipik xato: tolerantlikni bog‘liqlikning o‘zi deb tushunish.</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nega funksional zaharlarda murdadagi o‘zgarishlar kam bo‘lib, tibbiy hujjatlar muhim bo‘ladi? Zaharlanishga qaysi belgilar shubha uyg‘otadi? Doskada chizish: uch qutili zanjir va har qutiga 2 ta misol yozdiring. Tipik xato: faqat murda tekshiruviga tayanib, hodisa joyi va hujjatlarni, laboratoriya natijalarini hisobga olmaslik.</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nima uchun og‘iz orqali kirgan zahar uchun oshqozon massasi, jigar va buyrak olinadi? Zahar noma’lum bo‘lsa, nima uchun ko‘p a’zo olinadi? Doskada chizish: “kirgan — ta’sir etgan — chiqqan” uch nuqtasini bitta misolda ko‘rsating. Tipik xato: zahar noma’lum bo‘lgandagi hajmlarni “uch nuqta” qoidasiga aralashtirib yuborish.</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nega metanol zaharlanishida narkotik ta’sirdan keyin kardio-, nefro- va neyrotoksik o‘zgarishlar rivojlanadi? Metabolit tushunchasi nimani o‘zgartiradi? Doskada chizing: zahar → jigar → metabolit → organ shikasti zanjiri. Tipik xato: toksikokinetika (zahar bilan nima bo‘ladi) va toksikodinamika (zahar organizmga nima qiladi) tushunchalarini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hodisa joyida qaysi buyumlarni birinchi navbatda olasiz va nima uchun? Zahar manbai ma’lum bo‘lsa, “uch nuqta” qoidasi bo‘yicha qaysi a’zolar olinadi? Doskada chizing: zaharlanish diagnostikasining uch bosqichi (joy ko‘rigi → murda tekshiruvi → laboratoriya). Tipik xato: faqat murda ko‘rigiga tayanish; funksional zaharlarda xos morfologik o‘zgarish bo‘lmasligi mumkin, shuning uchun laboratoriya va tibbiy hujjatlar ham muhim.</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nega funksional zaharlarda murdada xos morfologik o‘zgarish topilmasligi mumkin? Mahalliy va destruktiv zaharlar farqi nimada? Doskada chizing: tasnif daraxti (mahalliy / umumiy → destruktiv, gemotrop, funksional). Tipik xato: darslik tasnif jadvalida opiatlar va anasha MNT ni qo‘zg‘atuvchilar qatorida, 6.10-bo‘limda esa sedativ ta’sirli deyilgan — bu farqni talabalarga alohida tushuntiring.</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4 daq. Muhokama: 1) Nega narkotiklar muammosi faqat tibbiy emas, ijtimoiy-iqtisodiy ham hisoblanadi? 2) Sedativ va qo‘zg‘atuvchi moddalar organizmga qanday farqli ta’sir qiladi? Doskada: ikki ustunli ro‘yxat chizing — “sedativ (nasha, opiatlar)” va “qo‘zg‘atuvchi (kokain, amfetaminlar)”. Tezkor savol: BMT ma’lumotiga ko‘ra qaysi modda iste’molchilari eng ko‘p? Tipik xato: talabalar amfetaminlarni sedativ moddalar qatoriga qo‘shib yuboradi.</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Geroin nega yarim sintetik guruhga kiradi? 2) Hududiy farqlar (nasha, opiatlar va kokain) profilaktikaga qanday ta’sir qiladi? Doskada: jadvalni chizing va har guruhga yana bittadan misol qo‘shtiring. Tezkor savol: promedol qaysi guruhga kiradi? Tipik xato: morfin va geroinni bir guruhga qo‘yish.</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Nega DRD faqat zaharlanishdan o‘limni emas, balki besh guruhni qamrab oladi? 2) Narkotik mastligida baxtsiz hodisa xavfi nega ortadi? Doskada: besh guruhli sxemani chizing va har biriga qisqa misol yozing. Tezkor savol: DRD tarkibiga qotillik kiradimi? Tipik xato: DRD ni faqat katta doza bilan zaharlanish deb tushunish.</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daqiqa. Talabalar javobni daftarga yozib, keyin og‘zaki aytadi. Muhokama: 1) Nega narkotikdan mast holatda baxtsiz hodisa va qotillik xavfi ortadi? 2) DRD tushunchasi muammoning haqiqiy ko‘lamini aniqlashga qanday yordam beradi? Doskada chizish: uch ustunli jadval (tabiiy, yarim sintetik, sintetik) va unga moddalarni joylash. Tipik xato: diqqat, morfin ≠ geroin. Morfin tabiiy, geroin yarim sintetik; ular ko‘pincha adashtiriladi. Ikkinchi xato: DRD ni faqat ortiqcha dozadan o‘lim deb tushunish.</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1) Jigarda to‘planish va buyrak orqali chiqarilish toksikologik tekshiruv uchun qanday ob’ektlarni tanlashni belgilaydi? 2) Nima uchun in’eksiyada ta’sir tezroq boshlanadi? Doskada chizish: vaqt o‘qi (10-15 daqiqa, 20-30 daqiqa, 8-12 soat, 3-4 kun) va ularga mos voqealar. Tipik xato: raqamlarni aralashtirish. 8-12 soat maksimal chiqarilish vaqti, 3-4 kun esa 90 % chiqib bo‘lish muddati.</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daqiqa. Muhokama: 1) Qorachiqning torayishi va nafas markazi falaji o‘rtasida qanday bog‘liqlik bor? 2) Morfinning murdada uzoq saqlanishi sud-kimyoviy tekshiruvda qanday ahamiyatga ega? Doskada chizish: klinik rivojlanish zanjiri (ko‘ngil aynishi, qusish, sianoz, qorachiq torayishi, koma, nafas markazi falaji). Tipik xato: parenteral dozani ichga qabul qilinadigan doza bilan adashtirish. Parenteralda letal doza kichikroq (0,1-0,2 g, ichga 0,2-0,4 g).</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1) Nima uchun nashadan o‘lim kam uchraydi? 2) Narkokurerda o‘lim qanday yuz beradi? Doskada: nasha ta’siri bosqichlari zanjirini (qabul – qo‘zg‘alish belgilari – uyqu) chizdiring. Tipik xato: nashani ham kokain kabi qo‘zg‘atuvchi deb o‘ylash; nasha sedativ guruhga kiradi.</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1) Kokain va opiatlardagi eyforiya qanday farqlanadi? 2) O‘lim sabablari qaysi a’zolar faoliyati buzilishi bilan bog‘liq? Doskada: ikki ustunli taqqoslash (opiat/nasha va kokain eyforiyasi) chizdiring. Tipik xato: kokain eyforiyasini tinchlanish bilan bog‘lash.</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1) Vegetativ va ruhiy belgilar o‘rtasidagi farq nima? 2) Fensiklidinni siydikdan aniqlash muddati nima uchun muhim? Doskada: ikki ustunli ro‘yxat (vegetativ / ruhiy belgilar) chizdiring. Tipik xato: faqat ruhiy belgilarni eslab, vegetativ buzilishlarni unutish.</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6-7 daqiqa. Muhokama: nima uchun amfetaminlar asosan og‘izdan qabul qilinadi? Nega ular yoshlar orasida xavfli hisoblanadi? Doskada chizish: kokain va amfetaminni solishtiruvchi 3 ustunli jadval. Diqqat: xato qilish xavfi — amfetamin ≠ kokain: ta’siri o‘xshash, lekin amfetaminniki kuchsizroq va davomiyroq. Tipik xato: talabalar ekstazini kokainning hosilasi deb o‘ylaydi, aslida u amfetamin qatoriga kiradi.</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4-5 daqiqa. Muhokama: spayslarni nashadan nima bilan farqlash mumkin? Nima uchun ularning ta’siri xavfliroq? Doskada chizish: spaysning tarkibi sxemasi (o‘simlik + sintetik kannabinoid = chekiladigan aralashma). Tipik xato: spaysni tabiiy nasha deb hisoblash, aslida unda sintetik kannabinoidlar bor.</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daqiqa. Muhokama: klinik belgilar asosida modda guruhini aniq aytish mumkinmi? Nima uchun laboratoriya tekshiruvi zarur? Doskada chizish: ‘belgi → gumon → namuna → tekshiruv’ zanjiri. Tipik xato: faqat klinik belgilarga tayanib xulosa qilish. Namuna ham o‘z vaqtida, imkon qadar tezroq olinishi kerak.</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Tolerantlik va bog‘liqlik qanday bog‘langan? 2) Nega abstinensiya sindromi bo‘lganda qabul qilishga intilish kuchayadi? Doskada: 5 bosqichli zanjirni chizdiring va har bosqichga bittadan misol yozdiring. Tipik xato: tolerantlikni (dozaga o‘rganish) abstinensiya sindromi (mahrumlik belgilari) bilan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doza oshib boradi? 2) Morfinning murdada uzoq saqlanishi ekspertiza uchun nimani anglatadi? Doskada: jadvalni chizing va uch ko‘rsatkichni vaqt o‘qida joylashtiring. Tipik xato: 25-30 kunni qat’iy muddat deb o‘ylash – manbada u o‘rtacha ko‘rsatkich.</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4 daq. Muhokama: 1) Nega oddiy kimyoviy moddalar (masalan, atseton) nazorat ro‘yxatida? 2) Shifokor prekursorlar haqida nima uchun bilishi kerak? Doskada: ‘prekursor → narkotik/psixotrop modda’ qisqa sxemasini chizing. Tipik xato: prekursorni o‘zi narkotik vosita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daqiqa. Muhokama: nega birinchi guruh sud-tibbiy amaliyotda deyarli qo‘llanmaydi? Nega to‘rt guruh belgilari bilvosita dalil hisoblanadi? Doskada to‘rt guruhli jadvalni talabalar bilan birga chizing. Tipik xato: turmush tarzi belgilarini (masalan, tatirovka) iste’molning qat’iy isboti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daqiqa. Muhokama: venadagi chandiqlar va ichki a’zolardagi granulemalar o‘rtasida qanday bog‘liqlik bor? Nega eritmaning nosterilligi muhim? Doskada zanjirni (in’eksiya – mahalliy iz – asorat – tarqalish) chizdiring. Tipik xato: granulemalarni faqat o‘pkada bo‘ladi deb o‘ylash; jigarda ham uchraydi.</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qabul qilish yo‘li (vena, burun, og‘iz) bo‘yicha qanday o‘zgarishlar kutiladi? Nega bu belgilar bilvosita dalil hisoblanadi? Doskada uchta yo‘l bo‘yicha qisqa ro‘yxat tuzdiring. Tipik xato: ichak ishemiyasini in’eksiya belgisi deb hisoblash; manbada u og‘iz orqali qabul qilishda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In’eksiya yo‘li qaysi kasalliklar bilan bog‘liq? 2) Turmush tarzi belgilari nega faqat bilvosita dalil? Doskada: belgilarni to‘rt guruhga ajratib jadval chizdiring. Tipik xato: bu belgilarni moddaning qabul qilinganini isbotlovchi dalil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Nega faqat morfologiyaga tayanib xulosa qilib bo‘lmaydi? 2) Qaysi tekshiruv asosiy tasdiq beradi? Doskada: markazda sud-kimyoviy natija, atrofida tafsilot, klinika va morfologiya strelkalarini chizdiring. Tipik xato: in’eksiya izini yoki ozginlikni yagona isbot deb olish.</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Jadvaldan tashqari: kokain 2-6 soatdan so‘ng, 48-72 soat davomida aniqlanadi. Muhokama: 1) Nega namuna imkon qadar tez olinadi? 2) Kannabinoidlar uchun nima uchun qo‘l yuvmasi ham olinadi? Doskada: vaqt o‘qida moddalarning aniqlanish oralig‘ini chizdiring. Tipik xato: kannabinoidlar va boshqa moddalar uchun namuna hajmlarini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Zahar topilsa, har doim zaharlanish bo‘ladimi? 2) Zahar topilmasa, uni butunlay inkor etish mumkinmi? Doskada: soxta musbat va soxta manfiy sabablarini ikki ustunda chizdiring. Diqqat: laboratoriya natijasi ≠ yakuniy xulosa. Tipik xato: natijani voqea tafsilotidan ajratib, yolg‘iz baholash.</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Har bir topilma to‘rt guruhdan qaysi biriga kiradi? 2) Faqat shu belgilarga tayanib, qanday xulosa chiqarish mumkin emas? Doskada: to‘rt guruhni ustun qilib chizing va topilmalarni joylashtiring. Tipik xato: chandiq va ozg‘inlikni iste’molning qat’iy isboti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Yakuniy savollar: 1) DRD tushunchasiga qaysi o‘lim turlari kiradi? 2) Murdadagi to‘rt guruh o‘zgarishni sanang. 3) Nega bu belgilar bilvosita dalil hisoblanadi? Doskada: DRD ning besh tarkibiy qismini chizing. Tipik xato: faqat katta dozadan o‘limni DRD deb o‘ylash.</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4069080"/>
            <a:ext cx="2743200" cy="7315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737360"/>
            <a:ext cx="10911535" cy="2194560"/>
          </a:xfrm>
          <a:prstGeom prst="rect">
            <a:avLst/>
          </a:prstGeom>
          <a:noFill/>
        </p:spPr>
        <p:txBody>
          <a:bodyPr wrap="square" anchor="b">
            <a:spAutoFit/>
          </a:bodyPr>
          <a:lstStyle/>
          <a:p>
            <a:r>
              <a:rPr sz="4000" b="1">
                <a:solidFill>
                  <a:srgbClr val="FFFFFF"/>
                </a:solidFill>
                <a:latin typeface="Georgia"/>
              </a:rPr>
              <a:t>Surunkali giyohvand moddalar bilan zaharlanishning patomorfologiyasi</a:t>
            </a:r>
          </a:p>
        </p:txBody>
      </p:sp>
      <p:sp>
        <p:nvSpPr>
          <p:cNvPr id="5" name="TextBox 4"/>
          <p:cNvSpPr txBox="1"/>
          <p:nvPr/>
        </p:nvSpPr>
        <p:spPr>
          <a:xfrm>
            <a:off x="640080" y="4343400"/>
            <a:ext cx="10911535" cy="548640"/>
          </a:xfrm>
          <a:prstGeom prst="rect">
            <a:avLst/>
          </a:prstGeom>
          <a:noFill/>
        </p:spPr>
        <p:txBody>
          <a:bodyPr wrap="square">
            <a:spAutoFit/>
          </a:bodyPr>
          <a:lstStyle/>
          <a:p>
            <a:r>
              <a:rPr sz="2000" b="0">
                <a:solidFill>
                  <a:srgbClr val="C9A227"/>
                </a:solidFill>
                <a:latin typeface="Calibri"/>
              </a:rPr>
              <a:t>Sud tibbiyoti · ma’ruza taqdimoti</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Kirish: mavzu, maqsad va reja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giyohvand moddalar bilan zaharlanishning patomorfologiyasi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Kimyoviy omillardan sog‘liqning buzilishi va o‘lim murda hamda tirik shaxslar sud-tibbiy ekspertizasida nisbatan keng uchraydi.</a:t>
            </a:r>
          </a:p>
          <a:p>
            <a:pPr>
              <a:spcAft>
                <a:spcPts val="1200"/>
              </a:spcAft>
            </a:pPr>
            <a:r>
              <a:rPr sz="2200">
                <a:solidFill>
                  <a:srgbClr val="1F2937"/>
                </a:solidFill>
                <a:latin typeface="Calibri"/>
              </a:rPr>
              <a:t>▸  Zo‘raki o‘lim tuzilmasida zaharlanishlar mexanik jarohatlar va mexanik asfiksiyadan keyin uchinchi o‘rinni egallaydi.</a:t>
            </a:r>
          </a:p>
          <a:p>
            <a:pPr>
              <a:spcAft>
                <a:spcPts val="1200"/>
              </a:spcAft>
            </a:pPr>
            <a:r>
              <a:rPr sz="2200">
                <a:solidFill>
                  <a:srgbClr val="1F2937"/>
                </a:solidFill>
                <a:latin typeface="Calibri"/>
              </a:rPr>
              <a:t>▸  Narkotik vositalar bilan bog‘liq o‘limlar uchun “narkotiklar bilan bog‘liq o‘lim” (drug related death, DRD) tushunchasi kiritilgan.</a:t>
            </a:r>
          </a:p>
          <a:p>
            <a:pPr>
              <a:spcAft>
                <a:spcPts val="1200"/>
              </a:spcAft>
            </a:pPr>
            <a:r>
              <a:rPr sz="2200">
                <a:solidFill>
                  <a:srgbClr val="1F2937"/>
                </a:solidFill>
                <a:latin typeface="Calibri"/>
              </a:rPr>
              <a:t>▸  Reja: zahar tushunchasi, zaharlanish omillari, sud-tibbiy diagnostika, narkotik va psixotrop moddalarning qayta qabul qilinishidagi o‘zgarishlar.</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132, 168, 132-172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Zahar va zaharlanish tushunchasi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giyohvand moddalar bilan zaharlanishning patomorfologiyasi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Zahar nisbiy tushuncha: oz miqdorda ta’sir etib, sog‘liqni buzadigan yoki o‘limga olib keladigan modda. Mutlaq zahar ham, mutlaq beziyon modda ham yo‘q.</a:t>
            </a:r>
          </a:p>
          <a:p>
            <a:pPr>
              <a:spcAft>
                <a:spcPts val="1200"/>
              </a:spcAft>
            </a:pPr>
            <a:r>
              <a:rPr sz="2000">
                <a:solidFill>
                  <a:srgbClr val="1F2937"/>
                </a:solidFill>
                <a:latin typeface="Calibri"/>
              </a:rPr>
              <a:t>▸  Paratsels iborasi: moddani dori yoki zaharga aylantiradigan narsa faqat doza. Oz miqdordagi modda ta’siridan sog‘liqning buzilishi zaharlanish deyiladi.</a:t>
            </a:r>
          </a:p>
          <a:p>
            <a:pPr>
              <a:spcAft>
                <a:spcPts val="1200"/>
              </a:spcAft>
            </a:pPr>
            <a:r>
              <a:rPr sz="2000">
                <a:solidFill>
                  <a:srgbClr val="1F2937"/>
                </a:solidFill>
                <a:latin typeface="Calibri"/>
              </a:rPr>
              <a:t>▸  Toksikologiya sanoat, qishloq xo‘jaligi, harbiy, oziq-ovqat, maishiy va sud-tibbiy yo‘nalishlarga ega. Sud-tibbiy toksikologiya fan sifatida shakllanishining boshlanishi bo‘lgan.</a:t>
            </a:r>
          </a:p>
          <a:p>
            <a:pPr>
              <a:spcAft>
                <a:spcPts val="1200"/>
              </a:spcAft>
            </a:pPr>
            <a:r>
              <a:rPr sz="2000">
                <a:solidFill>
                  <a:srgbClr val="1F2937"/>
                </a:solidFill>
                <a:latin typeface="Calibri"/>
              </a:rPr>
              <a:t>▸  Diqqat: boshqa toksikologiya turlari sabab, yordam va profilaktikani o‘rgansa, sud-tibbiy toksikologiya huquqni muhofaza idoralari qo‘ygan vazifalarni hal etadi.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132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Zaharlanish turlari: qotillik, o‘z-o‘zini o‘ldirish, baxtsiz hodisa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giyohvand moddalar bilan zaharlanishning patomorfologiyasi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Voqea tafsiloti bo‘yicha zaharlanish qotillik, o‘z-o‘zini o‘ldirish yoki baxtsiz hodisa ko‘rinishida bo‘lishi mumkin.</a:t>
            </a:r>
          </a:p>
          <a:p>
            <a:pPr>
              <a:spcAft>
                <a:spcPts val="1200"/>
              </a:spcAft>
            </a:pPr>
            <a:r>
              <a:rPr sz="2000">
                <a:solidFill>
                  <a:srgbClr val="1F2937"/>
                </a:solidFill>
                <a:latin typeface="Calibri"/>
              </a:rPr>
              <a:t>▸  Ekspertiza ma’lumotlariga ko‘ra aksariyat holat baxtsiz hodisa. Keyingi o‘rinda zaharlanish orqali o‘z-o‘zini o‘ldirish turadi. Zaharlab qotillik kamdan-kam kuzatiladi.</a:t>
            </a:r>
          </a:p>
          <a:p>
            <a:pPr>
              <a:spcAft>
                <a:spcPts val="1200"/>
              </a:spcAft>
            </a:pPr>
            <a:r>
              <a:rPr sz="2000">
                <a:solidFill>
                  <a:srgbClr val="1F2937"/>
                </a:solidFill>
                <a:latin typeface="Calibri"/>
              </a:rPr>
              <a:t>▸  Qotillik va o‘z-o‘zini o‘ldirishda zaharlanish qasddan, baxtsiz hodisada tasodifan yuz beradi. Ayrim tasodifiy holatlar yatrogen bo‘lib, doza yoki dori almashtirish xatosidan chiqadi.</a:t>
            </a:r>
          </a:p>
          <a:p>
            <a:pPr>
              <a:spcAft>
                <a:spcPts val="1200"/>
              </a:spcAft>
            </a:pPr>
            <a:r>
              <a:rPr sz="2000">
                <a:solidFill>
                  <a:srgbClr val="1F2937"/>
                </a:solidFill>
                <a:latin typeface="Calibri"/>
              </a:rPr>
              <a:t>▸  Narkotik yoki psixotrop moddadan mastlik o‘z-o‘zini o‘ldirish, baxtsiz hodisa va qotillik qurboni bo‘lish ehtimolini ancha oshiradi.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132, 168</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Zaharlanishga ta’sir etuvchi to‘rt omil</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giyohvand moddalar bilan zaharlanishning patomorfologiyasi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Zaharlanishda to‘rt omil muhim: zahar, organizm, kirish yo‘li va ta’sir paytidagi tashqi sharoit.</a:t>
            </a:r>
          </a:p>
          <a:p>
            <a:pPr>
              <a:spcAft>
                <a:spcPts val="800"/>
              </a:spcAft>
            </a:pPr>
            <a:r>
              <a:rPr sz="1800">
                <a:solidFill>
                  <a:srgbClr val="1F2937"/>
                </a:solidFill>
                <a:latin typeface="Calibri"/>
              </a:rPr>
              <a:t>▸  Is gazi va karbonat angidridi tuzilishi o‘xshash, ammo toksikligi bir xil emas.</a:t>
            </a:r>
          </a:p>
          <a:p>
            <a:pPr>
              <a:spcAft>
                <a:spcPts val="800"/>
              </a:spcAft>
            </a:pPr>
            <a:r>
              <a:rPr sz="1800">
                <a:solidFill>
                  <a:srgbClr val="1F2937"/>
                </a:solidFill>
                <a:latin typeface="Calibri"/>
              </a:rPr>
              <a:t>▸  Doza, konsentratsiya, agregat holat va eruvchanlik ta’sirni belgilaydi; gaz suyuqdan, suyuq qattiqdan kuchliroq.</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1797911"/>
                <a:gridCol w="3490063"/>
              </a:tblGrid>
              <a:tr h="411480">
                <a:tc>
                  <a:txBody>
                    <a:bodyPr/>
                    <a:lstStyle/>
                    <a:p>
                      <a:r>
                        <a:rPr sz="1400" b="1">
                          <a:solidFill>
                            <a:srgbClr val="FFFFFF"/>
                          </a:solidFill>
                        </a:rPr>
                        <a:t>Omil guruhi</a:t>
                      </a:r>
                    </a:p>
                  </a:txBody>
                  <a:tcPr marL="73152" marR="73152" marT="36576" marB="36576">
                    <a:solidFill>
                      <a:srgbClr val="0B1F3A"/>
                    </a:solidFill>
                  </a:tcPr>
                </a:tc>
                <a:tc>
                  <a:txBody>
                    <a:bodyPr/>
                    <a:lstStyle/>
                    <a:p>
                      <a:r>
                        <a:rPr sz="1400" b="1">
                          <a:solidFill>
                            <a:srgbClr val="FFFFFF"/>
                          </a:solidFill>
                        </a:rPr>
                        <a:t>Misol</a:t>
                      </a:r>
                    </a:p>
                  </a:txBody>
                  <a:tcPr marL="73152" marR="73152" marT="36576" marB="36576">
                    <a:solidFill>
                      <a:srgbClr val="0B1F3A"/>
                    </a:solidFill>
                  </a:tcPr>
                </a:tc>
              </a:tr>
              <a:tr h="411480">
                <a:tc>
                  <a:txBody>
                    <a:bodyPr/>
                    <a:lstStyle/>
                    <a:p>
                      <a:r>
                        <a:rPr sz="1300" b="0">
                          <a:solidFill>
                            <a:srgbClr val="1F2937"/>
                          </a:solidFill>
                        </a:rPr>
                        <a:t>Zahar</a:t>
                      </a:r>
                    </a:p>
                  </a:txBody>
                  <a:tcPr marL="73152" marR="73152" marT="36576" marB="36576">
                    <a:solidFill>
                      <a:srgbClr val="E8EEF6"/>
                    </a:solidFill>
                  </a:tcPr>
                </a:tc>
                <a:tc>
                  <a:txBody>
                    <a:bodyPr/>
                    <a:lstStyle/>
                    <a:p>
                      <a:r>
                        <a:rPr sz="1300" b="0">
                          <a:solidFill>
                            <a:srgbClr val="1F2937"/>
                          </a:solidFill>
                        </a:rPr>
                        <a:t>doza, konsentratsiya, eruvchanlik</a:t>
                      </a:r>
                    </a:p>
                  </a:txBody>
                  <a:tcPr marL="73152" marR="73152" marT="36576" marB="36576">
                    <a:solidFill>
                      <a:srgbClr val="E8EEF6"/>
                    </a:solidFill>
                  </a:tcPr>
                </a:tc>
              </a:tr>
              <a:tr h="411480">
                <a:tc>
                  <a:txBody>
                    <a:bodyPr/>
                    <a:lstStyle/>
                    <a:p>
                      <a:r>
                        <a:rPr sz="1300" b="0">
                          <a:solidFill>
                            <a:srgbClr val="1F2937"/>
                          </a:solidFill>
                        </a:rPr>
                        <a:t>Organizm</a:t>
                      </a:r>
                    </a:p>
                  </a:txBody>
                  <a:tcPr marL="73152" marR="73152" marT="36576" marB="36576">
                    <a:solidFill>
                      <a:srgbClr val="FFFFFF"/>
                    </a:solidFill>
                  </a:tcPr>
                </a:tc>
                <a:tc>
                  <a:txBody>
                    <a:bodyPr/>
                    <a:lstStyle/>
                    <a:p>
                      <a:r>
                        <a:rPr sz="1300" b="0">
                          <a:solidFill>
                            <a:srgbClr val="1F2937"/>
                          </a:solidFill>
                        </a:rPr>
                        <a:t>vazn, yosh, salomatlik</a:t>
                      </a:r>
                    </a:p>
                  </a:txBody>
                  <a:tcPr marL="73152" marR="73152" marT="36576" marB="36576">
                    <a:solidFill>
                      <a:srgbClr val="FFFFFF"/>
                    </a:solidFill>
                  </a:tcPr>
                </a:tc>
              </a:tr>
              <a:tr h="411480">
                <a:tc>
                  <a:txBody>
                    <a:bodyPr/>
                    <a:lstStyle/>
                    <a:p>
                      <a:r>
                        <a:rPr sz="1300" b="0">
                          <a:solidFill>
                            <a:srgbClr val="1F2937"/>
                          </a:solidFill>
                        </a:rPr>
                        <a:t>Kirish yo‘li</a:t>
                      </a:r>
                    </a:p>
                  </a:txBody>
                  <a:tcPr marL="73152" marR="73152" marT="36576" marB="36576">
                    <a:solidFill>
                      <a:srgbClr val="E8EEF6"/>
                    </a:solidFill>
                  </a:tcPr>
                </a:tc>
                <a:tc>
                  <a:txBody>
                    <a:bodyPr/>
                    <a:lstStyle/>
                    <a:p>
                      <a:r>
                        <a:rPr sz="1300" b="0">
                          <a:solidFill>
                            <a:srgbClr val="1F2937"/>
                          </a:solidFill>
                        </a:rPr>
                        <a:t>og‘iz, nafas yo‘li, in’eksiya</a:t>
                      </a:r>
                    </a:p>
                  </a:txBody>
                  <a:tcPr marL="73152" marR="73152" marT="36576" marB="36576">
                    <a:solidFill>
                      <a:srgbClr val="E8EEF6"/>
                    </a:solidFill>
                  </a:tcPr>
                </a:tc>
              </a:tr>
              <a:tr h="411480">
                <a:tc>
                  <a:txBody>
                    <a:bodyPr/>
                    <a:lstStyle/>
                    <a:p>
                      <a:r>
                        <a:rPr sz="1300" b="0">
                          <a:solidFill>
                            <a:srgbClr val="1F2937"/>
                          </a:solidFill>
                        </a:rPr>
                        <a:t>Tashqi sharoit</a:t>
                      </a:r>
                    </a:p>
                  </a:txBody>
                  <a:tcPr marL="73152" marR="73152" marT="36576" marB="36576">
                    <a:solidFill>
                      <a:srgbClr val="FFFFFF"/>
                    </a:solidFill>
                  </a:tcPr>
                </a:tc>
                <a:tc>
                  <a:txBody>
                    <a:bodyPr/>
                    <a:lstStyle/>
                    <a:p>
                      <a:r>
                        <a:rPr sz="1300" b="0">
                          <a:solidFill>
                            <a:srgbClr val="1F2937"/>
                          </a:solidFill>
                        </a:rPr>
                        <a:t>yopiq, issiq, nam muhit</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To‘rt omil guruhi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132, 132-133, 133</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Organizm omillari: tolerantlik, bog‘liqlik, abstinensiya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giyohvand moddalar bilan zaharlanishning patomorfologiyasi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Zaharga javob vazn, yosh va salomatlikka bog‘liq: bolalar sezgirroq, yurak, jigar, buyrak kasalligida qarshilik kamayadi.</a:t>
            </a:r>
          </a:p>
          <a:p>
            <a:pPr>
              <a:spcAft>
                <a:spcPts val="1200"/>
              </a:spcAft>
            </a:pPr>
            <a:r>
              <a:rPr sz="2200">
                <a:solidFill>
                  <a:srgbClr val="1F2937"/>
                </a:solidFill>
                <a:latin typeface="Calibri"/>
              </a:rPr>
              <a:t>▸  Genetik xususiyat sezgirlikni o‘zgartiradi; ba’zi moddalarga o‘ta sezgirlik – idiosinkraziya ham genetik tushuntiriladi.</a:t>
            </a:r>
          </a:p>
          <a:p>
            <a:pPr>
              <a:spcAft>
                <a:spcPts val="1200"/>
              </a:spcAft>
            </a:pPr>
            <a:r>
              <a:rPr sz="2200">
                <a:solidFill>
                  <a:srgbClr val="1F2937"/>
                </a:solidFill>
                <a:latin typeface="Calibri"/>
              </a:rPr>
              <a:t>▸  Moddaning qisqa vaqtda takroran ta’sir etishi tolerantlikni, ya’ni o‘rganib qolishni keltirib chiqarishi mumkin.</a:t>
            </a:r>
          </a:p>
          <a:p>
            <a:pPr>
              <a:spcAft>
                <a:spcPts val="1200"/>
              </a:spcAft>
            </a:pPr>
            <a:r>
              <a:rPr sz="2200">
                <a:solidFill>
                  <a:srgbClr val="1F2937"/>
                </a:solidFill>
                <a:latin typeface="Calibri"/>
              </a:rPr>
              <a:t>▸  Giyohvand moddada tolerantlik bilan ruhiy va jismoniy bog‘liqlik shakllanadi, ko‘proq doza qabul qilinadi; qabul to‘xtasa abstinensiya sindromi chiqadi.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133-134, 134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Zaharning organizmga kirish yo‘llari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giyohvand moddalar bilan zaharlanishning patomorfologiyasi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Zahar teri, og‘iz, nafas yo‘llari, to‘g‘ri ichak yoki in’eksiya orqali organizmga kirishi mumkin.</a:t>
            </a:r>
          </a:p>
          <a:p>
            <a:pPr>
              <a:spcAft>
                <a:spcPts val="1200"/>
              </a:spcAft>
            </a:pPr>
            <a:r>
              <a:rPr sz="2200">
                <a:solidFill>
                  <a:srgbClr val="1F2937"/>
                </a:solidFill>
                <a:latin typeface="Calibri"/>
              </a:rPr>
              <a:t>▸  Qonga qanchalik tez va to‘liq o‘tsa, toksik ta’sir shunchalik kuchli bo‘ladi; bunda suv va yog‘da eruvchanlik muhim.</a:t>
            </a:r>
          </a:p>
          <a:p>
            <a:pPr>
              <a:spcAft>
                <a:spcPts val="1200"/>
              </a:spcAft>
            </a:pPr>
            <a:r>
              <a:rPr sz="2200">
                <a:solidFill>
                  <a:srgbClr val="1F2937"/>
                </a:solidFill>
                <a:latin typeface="Calibri"/>
              </a:rPr>
              <a:t>▸  Yog‘da yaxshi eriydigan moddalar (fosfororganik birikmalar) shikastlanmagan teri orqali ham so‘riladi; erimaydiganlar faqat mahalliy ta’sir qiladi.</a:t>
            </a:r>
          </a:p>
          <a:p>
            <a:pPr>
              <a:spcAft>
                <a:spcPts val="1200"/>
              </a:spcAft>
            </a:pPr>
            <a:r>
              <a:rPr sz="2200">
                <a:solidFill>
                  <a:srgbClr val="1F2937"/>
                </a:solidFill>
                <a:latin typeface="Calibri"/>
              </a:rPr>
              <a:t>▸  Nafas yo‘llari, to‘g‘ri ichak va qin shilliq qavatidan so‘rilgan modda jigardan o‘tmaydi, shuning uchun oshqozon-ichakdagidan kuchliroq ta’sir qiladi.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134, 134-135, 135</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zaharlanish omillari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giyohvand moddalar bilan zaharlanishning patomorfologiyasi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8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1-savol. Paratsels iborasiga ko‘ra, nima moddani doriga yoki zaharga aylantiradi? Javob: faqat doza.</a:t>
            </a:r>
          </a:p>
          <a:p>
            <a:pPr>
              <a:spcAft>
                <a:spcPts val="1200"/>
              </a:spcAft>
            </a:pPr>
            <a:r>
              <a:rPr sz="2200">
                <a:solidFill>
                  <a:srgbClr val="1F2937"/>
                </a:solidFill>
                <a:latin typeface="Calibri"/>
              </a:rPr>
              <a:t>▸  2-savol. Tolerantlik nima? Bu moddaning takroriy ta’siriga o‘rganib qolish; u uyqu dorilari va analgetiklarda ham uchraydi.</a:t>
            </a:r>
          </a:p>
          <a:p>
            <a:pPr>
              <a:spcAft>
                <a:spcPts val="1200"/>
              </a:spcAft>
            </a:pPr>
            <a:r>
              <a:rPr sz="2200">
                <a:solidFill>
                  <a:srgbClr val="1F2937"/>
                </a:solidFill>
                <a:latin typeface="Calibri"/>
              </a:rPr>
              <a:t>▸  Diqqat: xato qilish xavfi! Tolerantlik ≠ bog‘liqlik. Giyohvand moddalarda ruhiy va jismoniy bog‘liqlik, ko‘proq dozaga intilish va abstinensiya sindromi ham bo‘ladi.</a:t>
            </a:r>
          </a:p>
          <a:p>
            <a:pPr>
              <a:spcAft>
                <a:spcPts val="1200"/>
              </a:spcAft>
            </a:pPr>
            <a:r>
              <a:rPr sz="2200">
                <a:solidFill>
                  <a:srgbClr val="1F2937"/>
                </a:solidFill>
                <a:latin typeface="Calibri"/>
              </a:rPr>
              <a:t>▸  3-savol. Qaysi kirish yo‘lida ta’sir kuchli? Nafas yo‘llari, to‘g‘ri ichak va qindan so‘rilgan modda jigardan o‘tmaydi, shuning uchun kuchliroq ta’sir qiladi.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132, 134, 135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Zaharlanishning sud-tibbiy diagnostikasi: uch bosqich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giyohvand moddalar bilan zaharlanishning patomorfologiyasi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9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1-bosqich: hodisa joyi, dori idishlari, shpritslar, qusuq va tibbiy hujjatlar o‘rganiladi.</a:t>
            </a:r>
          </a:p>
          <a:p>
            <a:pPr>
              <a:spcAft>
                <a:spcPts val="800"/>
              </a:spcAft>
            </a:pPr>
            <a:r>
              <a:rPr sz="1800">
                <a:solidFill>
                  <a:srgbClr val="1F2937"/>
                </a:solidFill>
                <a:latin typeface="Calibri"/>
              </a:rPr>
              <a:t>▸  2-bosqich: murdada in’eksiya izlari, teri rangi, murda dog‘lari, yot hid va mushak qotishi baholanadi.</a:t>
            </a:r>
          </a:p>
          <a:p>
            <a:pPr>
              <a:spcAft>
                <a:spcPts val="800"/>
              </a:spcAft>
            </a:pPr>
            <a:r>
              <a:rPr sz="1800">
                <a:solidFill>
                  <a:srgbClr val="1F2937"/>
                </a:solidFill>
                <a:latin typeface="Calibri"/>
              </a:rPr>
              <a:t>▸  3-bosqich: gistologik, sud-kimyoviy va boshqa laboratoriya tekshiruvlari; eng ko‘pi sud-kimyoviy.</a:t>
            </a:r>
          </a:p>
        </p:txBody>
      </p:sp>
      <p:sp>
        <p:nvSpPr>
          <p:cNvPr id="9" name="Rounded Rectangle 8"/>
          <p:cNvSpPr/>
          <p:nvPr/>
        </p:nvSpPr>
        <p:spPr>
          <a:xfrm>
            <a:off x="6263640" y="1463040"/>
            <a:ext cx="5287975" cy="77724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1. Hodisa joyi va hujjatlar</a:t>
            </a:r>
          </a:p>
        </p:txBody>
      </p:sp>
      <p:sp>
        <p:nvSpPr>
          <p:cNvPr id="10" name="Down Arrow 9"/>
          <p:cNvSpPr/>
          <p:nvPr/>
        </p:nvSpPr>
        <p:spPr>
          <a:xfrm>
            <a:off x="8770467" y="2258568"/>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532888"/>
            <a:ext cx="5287975" cy="777240"/>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2. Murda tekshiruvi</a:t>
            </a:r>
          </a:p>
        </p:txBody>
      </p:sp>
      <p:sp>
        <p:nvSpPr>
          <p:cNvPr id="12" name="Down Arrow 11"/>
          <p:cNvSpPr/>
          <p:nvPr/>
        </p:nvSpPr>
        <p:spPr>
          <a:xfrm>
            <a:off x="8770467" y="3328416"/>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602736"/>
            <a:ext cx="5287975" cy="77724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3. Laboratoriya tekshiruvlari</a:t>
            </a:r>
          </a:p>
        </p:txBody>
      </p:sp>
      <p:sp>
        <p:nvSpPr>
          <p:cNvPr id="14" name="TextBox 13"/>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Diagnostika zanjiri</a:t>
            </a:r>
          </a:p>
        </p:txBody>
      </p:sp>
      <p:sp>
        <p:nvSpPr>
          <p:cNvPr id="15" name="TextBox 14"/>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135, 135-136, 136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Toksikologik tekshiruv uchun material olish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giyohvand moddalar bilan zaharlanishning patomorfologiyasi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10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“Uch nuqta” qoidasi: zahar kirgan, asosan ta’sir etgan va organizmdan chiqqan joylardan namuna olinadi.</a:t>
            </a:r>
          </a:p>
          <a:p>
            <a:pPr>
              <a:spcAft>
                <a:spcPts val="800"/>
              </a:spcAft>
            </a:pPr>
            <a:r>
              <a:rPr sz="1800">
                <a:solidFill>
                  <a:srgbClr val="1F2937"/>
                </a:solidFill>
                <a:latin typeface="Calibri"/>
              </a:rPr>
              <a:t>▸  Zahar noma’lum bo‘lsa, miya, o‘pka, jigar, buyrak, oshqozon massasi, ichak va qon olinadi.</a:t>
            </a:r>
          </a:p>
          <a:p>
            <a:pPr>
              <a:spcAft>
                <a:spcPts val="800"/>
              </a:spcAft>
            </a:pPr>
            <a:r>
              <a:rPr sz="1800">
                <a:solidFill>
                  <a:srgbClr val="1F2937"/>
                </a:solidFill>
                <a:latin typeface="Calibri"/>
              </a:rPr>
              <a:t>▸  Chuqur chirishda 1,5–2,0 kg aralash massa — “o‘rta sinama” — toksikologik tekshiruvga olinadi.</a:t>
            </a:r>
          </a:p>
        </p:txBody>
      </p:sp>
      <p:graphicFrame>
        <p:nvGraphicFramePr>
          <p:cNvPr id="9" name="Table 8"/>
          <p:cNvGraphicFramePr>
            <a:graphicFrameLocks noGrp="1"/>
          </p:cNvGraphicFramePr>
          <p:nvPr/>
        </p:nvGraphicFramePr>
        <p:xfrm>
          <a:off x="6263640" y="1463040"/>
          <a:ext cx="5287973" cy="2057400"/>
        </p:xfrm>
        <a:graphic>
          <a:graphicData uri="http://schemas.openxmlformats.org/drawingml/2006/table">
            <a:tbl>
              <a:tblPr firstRow="1" bandRow="1">
                <a:tableStyleId>{5C22544A-7EE6-4342-B048-85BDC9FD1C3A}</a:tableStyleId>
              </a:tblPr>
              <a:tblGrid>
                <a:gridCol w="1372839"/>
                <a:gridCol w="2033836"/>
                <a:gridCol w="1881298"/>
              </a:tblGrid>
              <a:tr h="411480">
                <a:tc>
                  <a:txBody>
                    <a:bodyPr/>
                    <a:lstStyle/>
                    <a:p>
                      <a:r>
                        <a:rPr sz="1300" b="1">
                          <a:solidFill>
                            <a:srgbClr val="FFFFFF"/>
                          </a:solidFill>
                        </a:rPr>
                        <a:t>Holat</a:t>
                      </a:r>
                    </a:p>
                  </a:txBody>
                  <a:tcPr marL="73152" marR="73152" marT="36576" marB="36576">
                    <a:solidFill>
                      <a:srgbClr val="0B1F3A"/>
                    </a:solidFill>
                  </a:tcPr>
                </a:tc>
                <a:tc>
                  <a:txBody>
                    <a:bodyPr/>
                    <a:lstStyle/>
                    <a:p>
                      <a:r>
                        <a:rPr sz="1300" b="1">
                          <a:solidFill>
                            <a:srgbClr val="FFFFFF"/>
                          </a:solidFill>
                        </a:rPr>
                        <a:t>Material</a:t>
                      </a:r>
                    </a:p>
                  </a:txBody>
                  <a:tcPr marL="73152" marR="73152" marT="36576" marB="36576">
                    <a:solidFill>
                      <a:srgbClr val="0B1F3A"/>
                    </a:solidFill>
                  </a:tcPr>
                </a:tc>
                <a:tc>
                  <a:txBody>
                    <a:bodyPr/>
                    <a:lstStyle/>
                    <a:p>
                      <a:r>
                        <a:rPr sz="1300" b="1">
                          <a:solidFill>
                            <a:srgbClr val="FFFFFF"/>
                          </a:solidFill>
                        </a:rPr>
                        <a:t>Izoh</a:t>
                      </a:r>
                    </a:p>
                  </a:txBody>
                  <a:tcPr marL="73152" marR="73152" marT="36576" marB="36576">
                    <a:solidFill>
                      <a:srgbClr val="0B1F3A"/>
                    </a:solidFill>
                  </a:tcPr>
                </a:tc>
              </a:tr>
              <a:tr h="411480">
                <a:tc>
                  <a:txBody>
                    <a:bodyPr/>
                    <a:lstStyle/>
                    <a:p>
                      <a:r>
                        <a:rPr sz="1200" b="0">
                          <a:solidFill>
                            <a:srgbClr val="1F2937"/>
                          </a:solidFill>
                        </a:rPr>
                        <a:t>Zahar ma’lum (og‘iz orqali)</a:t>
                      </a:r>
                    </a:p>
                  </a:txBody>
                  <a:tcPr marL="73152" marR="73152" marT="36576" marB="36576">
                    <a:solidFill>
                      <a:srgbClr val="E8EEF6"/>
                    </a:solidFill>
                  </a:tcPr>
                </a:tc>
                <a:tc>
                  <a:txBody>
                    <a:bodyPr/>
                    <a:lstStyle/>
                    <a:p>
                      <a:r>
                        <a:rPr sz="1200" b="0">
                          <a:solidFill>
                            <a:srgbClr val="1F2937"/>
                          </a:solidFill>
                        </a:rPr>
                        <a:t>Oshqozon massasi, jigar bo‘lagi, butun buyrak</a:t>
                      </a:r>
                    </a:p>
                  </a:txBody>
                  <a:tcPr marL="73152" marR="73152" marT="36576" marB="36576">
                    <a:solidFill>
                      <a:srgbClr val="E8EEF6"/>
                    </a:solidFill>
                  </a:tcPr>
                </a:tc>
                <a:tc>
                  <a:txBody>
                    <a:bodyPr/>
                    <a:lstStyle/>
                    <a:p>
                      <a:r>
                        <a:rPr sz="1200" b="0">
                          <a:solidFill>
                            <a:srgbClr val="1F2937"/>
                          </a:solidFill>
                        </a:rPr>
                        <a:t>“Uch nuqta” qoidasi</a:t>
                      </a:r>
                    </a:p>
                  </a:txBody>
                  <a:tcPr marL="73152" marR="73152" marT="36576" marB="36576">
                    <a:solidFill>
                      <a:srgbClr val="E8EEF6"/>
                    </a:solidFill>
                  </a:tcPr>
                </a:tc>
              </a:tr>
              <a:tr h="411480">
                <a:tc>
                  <a:txBody>
                    <a:bodyPr/>
                    <a:lstStyle/>
                    <a:p>
                      <a:r>
                        <a:rPr sz="1200" b="0">
                          <a:solidFill>
                            <a:srgbClr val="1F2937"/>
                          </a:solidFill>
                        </a:rPr>
                        <a:t>Zahar noma’lum</a:t>
                      </a:r>
                    </a:p>
                  </a:txBody>
                  <a:tcPr marL="73152" marR="73152" marT="36576" marB="36576">
                    <a:solidFill>
                      <a:srgbClr val="FFFFFF"/>
                    </a:solidFill>
                  </a:tcPr>
                </a:tc>
                <a:tc>
                  <a:txBody>
                    <a:bodyPr/>
                    <a:lstStyle/>
                    <a:p>
                      <a:r>
                        <a:rPr sz="1200" b="0">
                          <a:solidFill>
                            <a:srgbClr val="1F2937"/>
                          </a:solidFill>
                        </a:rPr>
                        <a:t>Miya 1/3, o‘pka 1/4, jigar 1/3 o‘t bilan</a:t>
                      </a:r>
                    </a:p>
                  </a:txBody>
                  <a:tcPr marL="73152" marR="73152" marT="36576" marB="36576">
                    <a:solidFill>
                      <a:srgbClr val="FFFFFF"/>
                    </a:solidFill>
                  </a:tcPr>
                </a:tc>
                <a:tc>
                  <a:txBody>
                    <a:bodyPr/>
                    <a:lstStyle/>
                    <a:p>
                      <a:r>
                        <a:rPr sz="1200" b="0">
                          <a:solidFill>
                            <a:srgbClr val="1F2937"/>
                          </a:solidFill>
                        </a:rPr>
                        <a:t>Buyrak siydik bilan, oshqozon massasi</a:t>
                      </a:r>
                    </a:p>
                  </a:txBody>
                  <a:tcPr marL="73152" marR="73152" marT="36576" marB="36576">
                    <a:solidFill>
                      <a:srgbClr val="FFFFFF"/>
                    </a:solidFill>
                  </a:tcPr>
                </a:tc>
              </a:tr>
              <a:tr h="411480">
                <a:tc>
                  <a:txBody>
                    <a:bodyPr/>
                    <a:lstStyle/>
                    <a:p>
                      <a:r>
                        <a:rPr sz="1200" b="0">
                          <a:solidFill>
                            <a:srgbClr val="1F2937"/>
                          </a:solidFill>
                        </a:rPr>
                        <a:t>Zahar noma’lum (davomi)</a:t>
                      </a:r>
                    </a:p>
                  </a:txBody>
                  <a:tcPr marL="73152" marR="73152" marT="36576" marB="36576">
                    <a:solidFill>
                      <a:srgbClr val="E8EEF6"/>
                    </a:solidFill>
                  </a:tcPr>
                </a:tc>
                <a:tc>
                  <a:txBody>
                    <a:bodyPr/>
                    <a:lstStyle/>
                    <a:p>
                      <a:r>
                        <a:rPr sz="1200" b="0">
                          <a:solidFill>
                            <a:srgbClr val="1F2937"/>
                          </a:solidFill>
                        </a:rPr>
                        <a:t>Ingichka, yo‘g‘on ichak 1 m dan; qon</a:t>
                      </a:r>
                    </a:p>
                  </a:txBody>
                  <a:tcPr marL="73152" marR="73152" marT="36576" marB="36576">
                    <a:solidFill>
                      <a:srgbClr val="E8EEF6"/>
                    </a:solidFill>
                  </a:tcPr>
                </a:tc>
                <a:tc>
                  <a:txBody>
                    <a:bodyPr/>
                    <a:lstStyle/>
                    <a:p>
                      <a:r>
                        <a:rPr sz="1200" b="0">
                          <a:solidFill>
                            <a:srgbClr val="1F2937"/>
                          </a:solidFill>
                        </a:rPr>
                        <a:t>Qon 100–200 ml; idishlar alohida</a:t>
                      </a:r>
                    </a:p>
                  </a:txBody>
                  <a:tcPr marL="73152" marR="73152" marT="36576" marB="36576">
                    <a:solidFill>
                      <a:srgbClr val="E8EEF6"/>
                    </a:solidFill>
                  </a:tcPr>
                </a:tc>
              </a:tr>
              <a:tr h="411480">
                <a:tc>
                  <a:txBody>
                    <a:bodyPr/>
                    <a:lstStyle/>
                    <a:p>
                      <a:r>
                        <a:rPr sz="1200" b="0">
                          <a:solidFill>
                            <a:srgbClr val="1F2937"/>
                          </a:solidFill>
                        </a:rPr>
                        <a:t>Chuqur chirish</a:t>
                      </a:r>
                    </a:p>
                  </a:txBody>
                  <a:tcPr marL="73152" marR="73152" marT="36576" marB="36576">
                    <a:solidFill>
                      <a:srgbClr val="FFFFFF"/>
                    </a:solidFill>
                  </a:tcPr>
                </a:tc>
                <a:tc>
                  <a:txBody>
                    <a:bodyPr/>
                    <a:lstStyle/>
                    <a:p>
                      <a:r>
                        <a:rPr sz="1200" b="0">
                          <a:solidFill>
                            <a:srgbClr val="1F2937"/>
                          </a:solidFill>
                        </a:rPr>
                        <a:t>Ko‘krak-qorin a’zolari aralashmasi</a:t>
                      </a:r>
                    </a:p>
                  </a:txBody>
                  <a:tcPr marL="73152" marR="73152" marT="36576" marB="36576">
                    <a:solidFill>
                      <a:srgbClr val="FFFFFF"/>
                    </a:solidFill>
                  </a:tcPr>
                </a:tc>
                <a:tc>
                  <a:txBody>
                    <a:bodyPr/>
                    <a:lstStyle/>
                    <a:p>
                      <a:r>
                        <a:rPr sz="1200" b="0">
                          <a:solidFill>
                            <a:srgbClr val="1F2937"/>
                          </a:solidFill>
                        </a:rPr>
                        <a:t>“O‘rta sinama” 1,5–2,0 kg</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Material olish jadvali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136</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Toksikokinetika va toksikodinamika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giyohvand moddalar bilan zaharlanishning patomorfologiyasi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11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Toksikokinetika — zaharning kirishi, taqsimlanishi, metabolizmi va chiqarilishi jarayonlari majmui.</a:t>
            </a:r>
          </a:p>
          <a:p>
            <a:pPr>
              <a:spcAft>
                <a:spcPts val="800"/>
              </a:spcAft>
            </a:pPr>
            <a:r>
              <a:rPr sz="1800">
                <a:solidFill>
                  <a:srgbClr val="1F2937"/>
                </a:solidFill>
                <a:latin typeface="Calibri"/>
              </a:rPr>
              <a:t>▸  Biotransformatsiya asosan jigarda; metanol va etilenglikol metabolitlari o‘zidan zaharliroq.</a:t>
            </a:r>
          </a:p>
          <a:p>
            <a:pPr>
              <a:spcAft>
                <a:spcPts val="800"/>
              </a:spcAft>
            </a:pPr>
            <a:r>
              <a:rPr sz="1800">
                <a:solidFill>
                  <a:srgbClr val="1F2937"/>
                </a:solidFill>
                <a:latin typeface="Calibri"/>
              </a:rPr>
              <a:t>▸  Toksikodinamika — organizmning zaharga javob reaksiyalari; u toksikokinetika bilan uzviy bog‘liq.</a:t>
            </a:r>
          </a:p>
        </p:txBody>
      </p:sp>
      <p:graphicFrame>
        <p:nvGraphicFramePr>
          <p:cNvPr id="9" name="Table 8"/>
          <p:cNvGraphicFramePr>
            <a:graphicFrameLocks noGrp="1"/>
          </p:cNvGraphicFramePr>
          <p:nvPr/>
        </p:nvGraphicFramePr>
        <p:xfrm>
          <a:off x="6263640" y="1463040"/>
          <a:ext cx="5287974" cy="1645920"/>
        </p:xfrm>
        <a:graphic>
          <a:graphicData uri="http://schemas.openxmlformats.org/drawingml/2006/table">
            <a:tbl>
              <a:tblPr firstRow="1" bandRow="1">
                <a:tableStyleId>{5C22544A-7EE6-4342-B048-85BDC9FD1C3A}</a:tableStyleId>
              </a:tblPr>
              <a:tblGrid>
                <a:gridCol w="1566807"/>
                <a:gridCol w="3721167"/>
              </a:tblGrid>
              <a:tr h="411480">
                <a:tc>
                  <a:txBody>
                    <a:bodyPr/>
                    <a:lstStyle/>
                    <a:p>
                      <a:r>
                        <a:rPr sz="1400" b="1">
                          <a:solidFill>
                            <a:srgbClr val="FFFFFF"/>
                          </a:solidFill>
                        </a:rPr>
                        <a:t>Bosqich</a:t>
                      </a:r>
                    </a:p>
                  </a:txBody>
                  <a:tcPr marL="73152" marR="73152" marT="36576" marB="36576">
                    <a:solidFill>
                      <a:srgbClr val="0B1F3A"/>
                    </a:solidFill>
                  </a:tcPr>
                </a:tc>
                <a:tc>
                  <a:txBody>
                    <a:bodyPr/>
                    <a:lstStyle/>
                    <a:p>
                      <a:r>
                        <a:rPr sz="1400" b="1">
                          <a:solidFill>
                            <a:srgbClr val="FFFFFF"/>
                          </a:solidFill>
                        </a:rPr>
                        <a:t>Misol</a:t>
                      </a:r>
                    </a:p>
                  </a:txBody>
                  <a:tcPr marL="73152" marR="73152" marT="36576" marB="36576">
                    <a:solidFill>
                      <a:srgbClr val="0B1F3A"/>
                    </a:solidFill>
                  </a:tcPr>
                </a:tc>
              </a:tr>
              <a:tr h="411480">
                <a:tc>
                  <a:txBody>
                    <a:bodyPr/>
                    <a:lstStyle/>
                    <a:p>
                      <a:r>
                        <a:rPr sz="1300" b="0">
                          <a:solidFill>
                            <a:srgbClr val="1F2937"/>
                          </a:solidFill>
                        </a:rPr>
                        <a:t>Birlamchi toksik</a:t>
                      </a:r>
                    </a:p>
                  </a:txBody>
                  <a:tcPr marL="73152" marR="73152" marT="36576" marB="36576">
                    <a:solidFill>
                      <a:srgbClr val="E8EEF6"/>
                    </a:solidFill>
                  </a:tcPr>
                </a:tc>
                <a:tc>
                  <a:txBody>
                    <a:bodyPr/>
                    <a:lstStyle/>
                    <a:p>
                      <a:r>
                        <a:rPr sz="1300" b="0">
                          <a:solidFill>
                            <a:srgbClr val="1F2937"/>
                          </a:solidFill>
                        </a:rPr>
                        <a:t>og‘iz, qizilo‘ngach, oshqozon kuyishi</a:t>
                      </a:r>
                    </a:p>
                  </a:txBody>
                  <a:tcPr marL="73152" marR="73152" marT="36576" marB="36576">
                    <a:solidFill>
                      <a:srgbClr val="E8EEF6"/>
                    </a:solidFill>
                  </a:tcPr>
                </a:tc>
              </a:tr>
              <a:tr h="411480">
                <a:tc>
                  <a:txBody>
                    <a:bodyPr/>
                    <a:lstStyle/>
                    <a:p>
                      <a:r>
                        <a:rPr sz="1300" b="0">
                          <a:solidFill>
                            <a:srgbClr val="1F2937"/>
                          </a:solidFill>
                        </a:rPr>
                        <a:t>Keyingi toksik</a:t>
                      </a:r>
                    </a:p>
                  </a:txBody>
                  <a:tcPr marL="73152" marR="73152" marT="36576" marB="36576">
                    <a:solidFill>
                      <a:srgbClr val="FFFFFF"/>
                    </a:solidFill>
                  </a:tcPr>
                </a:tc>
                <a:tc>
                  <a:txBody>
                    <a:bodyPr/>
                    <a:lstStyle/>
                    <a:p>
                      <a:r>
                        <a:rPr sz="1300" b="0">
                          <a:solidFill>
                            <a:srgbClr val="1F2937"/>
                          </a:solidFill>
                        </a:rPr>
                        <a:t>atsidoz tufayli eritrotsitlar gemolizi</a:t>
                      </a:r>
                    </a:p>
                  </a:txBody>
                  <a:tcPr marL="73152" marR="73152" marT="36576" marB="36576">
                    <a:solidFill>
                      <a:srgbClr val="FFFFFF"/>
                    </a:solidFill>
                  </a:tcPr>
                </a:tc>
              </a:tr>
              <a:tr h="411480">
                <a:tc>
                  <a:txBody>
                    <a:bodyPr/>
                    <a:lstStyle/>
                    <a:p>
                      <a:r>
                        <a:rPr sz="1300" b="0">
                          <a:solidFill>
                            <a:srgbClr val="1F2937"/>
                          </a:solidFill>
                        </a:rPr>
                        <a:t>Metatoksik</a:t>
                      </a:r>
                    </a:p>
                  </a:txBody>
                  <a:tcPr marL="73152" marR="73152" marT="36576" marB="36576">
                    <a:solidFill>
                      <a:srgbClr val="E8EEF6"/>
                    </a:solidFill>
                  </a:tcPr>
                </a:tc>
                <a:tc>
                  <a:txBody>
                    <a:bodyPr/>
                    <a:lstStyle/>
                    <a:p>
                      <a:r>
                        <a:rPr sz="1300" b="0">
                          <a:solidFill>
                            <a:srgbClr val="1F2937"/>
                          </a:solidFill>
                        </a:rPr>
                        <a:t>toksik gepatit, toksik nefroz</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Toksikodinamika bosqichlari (sirka kislotasi)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136-137, 137-138, 138</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1: zaharlanishga shubha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giyohvand moddalar bilan zaharlanishning patomorfologiyasi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12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hodisa joyida shpritslar va dori idishlari, murdada in’eksiya izlari. Savol: qaysi bosqich boshlanadi va nima olinadi?</a:t>
            </a:r>
          </a:p>
          <a:p>
            <a:pPr>
              <a:spcAft>
                <a:spcPts val="1200"/>
              </a:spcAft>
            </a:pPr>
            <a:r>
              <a:rPr sz="2200">
                <a:solidFill>
                  <a:srgbClr val="1F2937"/>
                </a:solidFill>
                <a:latin typeface="Calibri"/>
              </a:rPr>
              <a:t>▸  Birinchi bosqich: joy mutaxassis ishtirokida ko‘zdan kechiriladi; shpritslar, idishlar, o‘ramlar, retseptlar, qusuq ashyoviy dalil sifatida olinadi.</a:t>
            </a:r>
          </a:p>
          <a:p>
            <a:pPr>
              <a:spcAft>
                <a:spcPts val="1200"/>
              </a:spcAft>
            </a:pPr>
            <a:r>
              <a:rPr sz="2200">
                <a:solidFill>
                  <a:srgbClr val="1F2937"/>
                </a:solidFill>
                <a:latin typeface="Calibri"/>
              </a:rPr>
              <a:t>▸  Murdada in’eksiya izlari, teri va shilliq qavat holati, murda dog‘lari rangi, mushak qotishi va yot hid zaharlanishga shubha uyg‘otadi.</a:t>
            </a:r>
          </a:p>
          <a:p>
            <a:pPr>
              <a:spcAft>
                <a:spcPts val="1200"/>
              </a:spcAft>
            </a:pPr>
            <a:r>
              <a:rPr sz="2200">
                <a:solidFill>
                  <a:srgbClr val="1F2937"/>
                </a:solidFill>
                <a:latin typeface="Calibri"/>
              </a:rPr>
              <a:t>▸  Diqqat: xato qilish xavfi — laboratoriya uchun “uch nuqta” qoidasi: zahar kirgan, ta’sir etgan va chiqqan joylardan namuna olinadi (oshqozon massasi, jigar, buyrak).</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135, 136</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Zaharlarning sud-tibbiy tasnifi va funksional zaharlar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giyohvand moddalar bilan zaharlanishning patomorfologiyasi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13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Zaharlar asosan mahalliy va asosan umumiy (rezorbtiv) ta’sir etuvchilarga bo‘linadi.</a:t>
            </a:r>
          </a:p>
          <a:p>
            <a:pPr>
              <a:spcAft>
                <a:spcPts val="800"/>
              </a:spcAft>
            </a:pPr>
            <a:r>
              <a:rPr sz="1800">
                <a:solidFill>
                  <a:srgbClr val="1F2937"/>
                </a:solidFill>
                <a:latin typeface="Calibri"/>
              </a:rPr>
              <a:t>▸  Markaziy nerv tizimini (MNT) qo‘zg‘atuvchilar: kokain, amfetaminlar, opiatlar, anasha, kofein. (?)</a:t>
            </a:r>
          </a:p>
          <a:p>
            <a:pPr>
              <a:spcAft>
                <a:spcPts val="800"/>
              </a:spcAft>
            </a:pPr>
            <a:r>
              <a:rPr sz="1800">
                <a:solidFill>
                  <a:srgbClr val="1F2937"/>
                </a:solidFill>
                <a:latin typeface="Calibri"/>
              </a:rPr>
              <a:t>▸  MNT ni so‘ndiruvchilar: etil va boshqa spirtlar, uyqu dorilari (barbituratlar), trankvilizatorlar.</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950647"/>
                <a:gridCol w="2138956"/>
                <a:gridCol w="2198371"/>
              </a:tblGrid>
              <a:tr h="411480">
                <a:tc>
                  <a:txBody>
                    <a:bodyPr/>
                    <a:lstStyle/>
                    <a:p>
                      <a:r>
                        <a:rPr sz="1300" b="1">
                          <a:solidFill>
                            <a:srgbClr val="FFFFFF"/>
                          </a:solidFill>
                        </a:rPr>
                        <a:t>Guruh</a:t>
                      </a:r>
                    </a:p>
                  </a:txBody>
                  <a:tcPr marL="73152" marR="73152" marT="36576" marB="36576">
                    <a:solidFill>
                      <a:srgbClr val="0B1F3A"/>
                    </a:solidFill>
                  </a:tcPr>
                </a:tc>
                <a:tc>
                  <a:txBody>
                    <a:bodyPr/>
                    <a:lstStyle/>
                    <a:p>
                      <a:r>
                        <a:rPr sz="1300" b="1">
                          <a:solidFill>
                            <a:srgbClr val="FFFFFF"/>
                          </a:solidFill>
                        </a:rPr>
                        <a:t>Ta’sir</a:t>
                      </a:r>
                    </a:p>
                  </a:txBody>
                  <a:tcPr marL="73152" marR="73152" marT="36576" marB="36576">
                    <a:solidFill>
                      <a:srgbClr val="0B1F3A"/>
                    </a:solidFill>
                  </a:tcPr>
                </a:tc>
                <a:tc>
                  <a:txBody>
                    <a:bodyPr/>
                    <a:lstStyle/>
                    <a:p>
                      <a:r>
                        <a:rPr sz="1300" b="1">
                          <a:solidFill>
                            <a:srgbClr val="FFFFFF"/>
                          </a:solidFill>
                        </a:rPr>
                        <a:t>Misol</a:t>
                      </a:r>
                    </a:p>
                  </a:txBody>
                  <a:tcPr marL="73152" marR="73152" marT="36576" marB="36576">
                    <a:solidFill>
                      <a:srgbClr val="0B1F3A"/>
                    </a:solidFill>
                  </a:tcPr>
                </a:tc>
              </a:tr>
              <a:tr h="411480">
                <a:tc>
                  <a:txBody>
                    <a:bodyPr/>
                    <a:lstStyle/>
                    <a:p>
                      <a:r>
                        <a:rPr sz="1200" b="0">
                          <a:solidFill>
                            <a:srgbClr val="1F2937"/>
                          </a:solidFill>
                        </a:rPr>
                        <a:t>Mahalliy</a:t>
                      </a:r>
                    </a:p>
                  </a:txBody>
                  <a:tcPr marL="73152" marR="73152" marT="36576" marB="36576">
                    <a:solidFill>
                      <a:srgbClr val="E8EEF6"/>
                    </a:solidFill>
                  </a:tcPr>
                </a:tc>
                <a:tc>
                  <a:txBody>
                    <a:bodyPr/>
                    <a:lstStyle/>
                    <a:p>
                      <a:r>
                        <a:rPr sz="1200" b="0">
                          <a:solidFill>
                            <a:srgbClr val="1F2937"/>
                          </a:solidFill>
                        </a:rPr>
                        <a:t>kontakt joyida nekroz</a:t>
                      </a:r>
                    </a:p>
                  </a:txBody>
                  <a:tcPr marL="73152" marR="73152" marT="36576" marB="36576">
                    <a:solidFill>
                      <a:srgbClr val="E8EEF6"/>
                    </a:solidFill>
                  </a:tcPr>
                </a:tc>
                <a:tc>
                  <a:txBody>
                    <a:bodyPr/>
                    <a:lstStyle/>
                    <a:p>
                      <a:r>
                        <a:rPr sz="1200" b="0">
                          <a:solidFill>
                            <a:srgbClr val="1F2937"/>
                          </a:solidFill>
                        </a:rPr>
                        <a:t>kislotalar, ishqorlar, yod tindirmasi</a:t>
                      </a:r>
                    </a:p>
                  </a:txBody>
                  <a:tcPr marL="73152" marR="73152" marT="36576" marB="36576">
                    <a:solidFill>
                      <a:srgbClr val="E8EEF6"/>
                    </a:solidFill>
                  </a:tcPr>
                </a:tc>
              </a:tr>
              <a:tr h="411480">
                <a:tc>
                  <a:txBody>
                    <a:bodyPr/>
                    <a:lstStyle/>
                    <a:p>
                      <a:r>
                        <a:rPr sz="1200" b="0">
                          <a:solidFill>
                            <a:srgbClr val="1F2937"/>
                          </a:solidFill>
                        </a:rPr>
                        <a:t>Destruktiv</a:t>
                      </a:r>
                    </a:p>
                  </a:txBody>
                  <a:tcPr marL="73152" marR="73152" marT="36576" marB="36576">
                    <a:solidFill>
                      <a:srgbClr val="FFFFFF"/>
                    </a:solidFill>
                  </a:tcPr>
                </a:tc>
                <a:tc>
                  <a:txBody>
                    <a:bodyPr/>
                    <a:lstStyle/>
                    <a:p>
                      <a:r>
                        <a:rPr sz="1200" b="0">
                          <a:solidFill>
                            <a:srgbClr val="1F2937"/>
                          </a:solidFill>
                        </a:rPr>
                        <a:t>ichki a’zolarda to‘qima buzilishi</a:t>
                      </a:r>
                    </a:p>
                  </a:txBody>
                  <a:tcPr marL="73152" marR="73152" marT="36576" marB="36576">
                    <a:solidFill>
                      <a:srgbClr val="FFFFFF"/>
                    </a:solidFill>
                  </a:tcPr>
                </a:tc>
                <a:tc>
                  <a:txBody>
                    <a:bodyPr/>
                    <a:lstStyle/>
                    <a:p>
                      <a:r>
                        <a:rPr sz="1200" b="0">
                          <a:solidFill>
                            <a:srgbClr val="1F2937"/>
                          </a:solidFill>
                        </a:rPr>
                        <a:t>simob, qo‘rg‘oshin, margimush</a:t>
                      </a:r>
                    </a:p>
                  </a:txBody>
                  <a:tcPr marL="73152" marR="73152" marT="36576" marB="36576">
                    <a:solidFill>
                      <a:srgbClr val="FFFFFF"/>
                    </a:solidFill>
                  </a:tcPr>
                </a:tc>
              </a:tr>
              <a:tr h="411480">
                <a:tc>
                  <a:txBody>
                    <a:bodyPr/>
                    <a:lstStyle/>
                    <a:p>
                      <a:r>
                        <a:rPr sz="1200" b="0">
                          <a:solidFill>
                            <a:srgbClr val="1F2937"/>
                          </a:solidFill>
                        </a:rPr>
                        <a:t>Gemotrop</a:t>
                      </a:r>
                    </a:p>
                  </a:txBody>
                  <a:tcPr marL="73152" marR="73152" marT="36576" marB="36576">
                    <a:solidFill>
                      <a:srgbClr val="E8EEF6"/>
                    </a:solidFill>
                  </a:tcPr>
                </a:tc>
                <a:tc>
                  <a:txBody>
                    <a:bodyPr/>
                    <a:lstStyle/>
                    <a:p>
                      <a:r>
                        <a:rPr sz="1200" b="0">
                          <a:solidFill>
                            <a:srgbClr val="1F2937"/>
                          </a:solidFill>
                        </a:rPr>
                        <a:t>qon xususiyatlariga birlamchi ta’sir</a:t>
                      </a:r>
                    </a:p>
                  </a:txBody>
                  <a:tcPr marL="73152" marR="73152" marT="36576" marB="36576">
                    <a:solidFill>
                      <a:srgbClr val="E8EEF6"/>
                    </a:solidFill>
                  </a:tcPr>
                </a:tc>
                <a:tc>
                  <a:txBody>
                    <a:bodyPr/>
                    <a:lstStyle/>
                    <a:p>
                      <a:r>
                        <a:rPr sz="1200" b="0">
                          <a:solidFill>
                            <a:srgbClr val="1F2937"/>
                          </a:solidFill>
                        </a:rPr>
                        <a:t>is gazi, arsin, ritsin</a:t>
                      </a:r>
                    </a:p>
                  </a:txBody>
                  <a:tcPr marL="73152" marR="73152" marT="36576" marB="36576">
                    <a:solidFill>
                      <a:srgbClr val="E8EEF6"/>
                    </a:solidFill>
                  </a:tcPr>
                </a:tc>
              </a:tr>
              <a:tr h="411480">
                <a:tc>
                  <a:txBody>
                    <a:bodyPr/>
                    <a:lstStyle/>
                    <a:p>
                      <a:r>
                        <a:rPr sz="1200" b="0">
                          <a:solidFill>
                            <a:srgbClr val="1F2937"/>
                          </a:solidFill>
                        </a:rPr>
                        <a:t>Funksional</a:t>
                      </a:r>
                    </a:p>
                  </a:txBody>
                  <a:tcPr marL="73152" marR="73152" marT="36576" marB="36576">
                    <a:solidFill>
                      <a:srgbClr val="FFFFFF"/>
                    </a:solidFill>
                  </a:tcPr>
                </a:tc>
                <a:tc>
                  <a:txBody>
                    <a:bodyPr/>
                    <a:lstStyle/>
                    <a:p>
                      <a:r>
                        <a:rPr sz="1200" b="0">
                          <a:solidFill>
                            <a:srgbClr val="1F2937"/>
                          </a:solidFill>
                        </a:rPr>
                        <a:t>MNT, PNT faoliyatining buzilishi</a:t>
                      </a:r>
                    </a:p>
                  </a:txBody>
                  <a:tcPr marL="73152" marR="73152" marT="36576" marB="36576">
                    <a:solidFill>
                      <a:srgbClr val="FFFFFF"/>
                    </a:solidFill>
                  </a:tcPr>
                </a:tc>
                <a:tc>
                  <a:txBody>
                    <a:bodyPr/>
                    <a:lstStyle/>
                    <a:p>
                      <a:r>
                        <a:rPr sz="1200" b="0">
                          <a:solidFill>
                            <a:srgbClr val="1F2937"/>
                          </a:solidFill>
                        </a:rPr>
                        <a:t>sianidlar, kokain, opiatlar, spirtlar</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Zaharlar tasnifi (soddalashtirilgan)</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138, 139-140, 140</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Narkotiklar muammosi: global ko‘lam</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giyohvand moddalar bilan zaharlanishning patomorfologiyasi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14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Narkotiklar va boshqa gangituvchi moddalarni iste’mol qilish dunyoning barcha mamlakatlarida dolzarb muammo sifatida tan olingan.</a:t>
            </a:r>
          </a:p>
          <a:p>
            <a:pPr>
              <a:spcAft>
                <a:spcPts val="1200"/>
              </a:spcAft>
            </a:pPr>
            <a:r>
              <a:rPr sz="2200">
                <a:solidFill>
                  <a:srgbClr val="1F2937"/>
                </a:solidFill>
                <a:latin typeface="Calibri"/>
              </a:rPr>
              <a:t>▸  BMT (Birlashgan Millatlar Tashkiloti) tuzilmasi ma’lumoti: dunyoda 130–190 mln kishi nasha preparatlarini, 30–40 mln kishi amfetamin qatori preparatlarini iste’mol qiladi.</a:t>
            </a:r>
          </a:p>
          <a:p>
            <a:pPr>
              <a:spcAft>
                <a:spcPts val="1200"/>
              </a:spcAft>
            </a:pPr>
            <a:r>
              <a:rPr sz="2200">
                <a:solidFill>
                  <a:srgbClr val="1F2937"/>
                </a:solidFill>
                <a:latin typeface="Calibri"/>
              </a:rPr>
              <a:t>▸  Geroinni 11,3 mln, boshqa opiatlarni 4,1 mln kishi iste’mol qiladi. Masala tibbiy, siyosiy, ijtimoiy va iqtisodiy ahamiyatga ega.</a:t>
            </a:r>
          </a:p>
          <a:p>
            <a:pPr>
              <a:spcAft>
                <a:spcPts val="1200"/>
              </a:spcAft>
            </a:pPr>
            <a:r>
              <a:rPr sz="2200">
                <a:solidFill>
                  <a:srgbClr val="1F2937"/>
                </a:solidFill>
                <a:latin typeface="Calibri"/>
              </a:rPr>
              <a:t>▸  Diqqat: xato qilish xavfi — sedativ ta’sirli moddalar (nasha, opiatlar) qo‘zg‘atuvchi moddalardan (kokain, amfetaminlar) farq qiladi.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167</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Narkotik moddalar tasnifi: tabiiy, yarim sintetik, sintetik</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giyohvand moddalar bilan zaharlanishning patomorfologiyasi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15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Mamlakatimizda nasha va opiatlarni iste’mol qilish bilan bog‘liq holatlar uchraydi.</a:t>
            </a:r>
          </a:p>
          <a:p>
            <a:pPr>
              <a:spcAft>
                <a:spcPts val="800"/>
              </a:spcAft>
            </a:pPr>
            <a:r>
              <a:rPr sz="1800">
                <a:solidFill>
                  <a:srgbClr val="1F2937"/>
                </a:solidFill>
                <a:latin typeface="Calibri"/>
              </a:rPr>
              <a:t>▸  Kokain iste’moli asosan G‘arbiy yarim shar mamlakatlari uchun xos.</a:t>
            </a:r>
          </a:p>
          <a:p>
            <a:pPr>
              <a:spcAft>
                <a:spcPts val="800"/>
              </a:spcAft>
            </a:pPr>
            <a:r>
              <a:rPr sz="1800">
                <a:solidFill>
                  <a:srgbClr val="1F2937"/>
                </a:solidFill>
                <a:latin typeface="Calibri"/>
              </a:rPr>
              <a:t>▸  So‘nggi yillarda amfetamin qatori preparatlari, ayniqsa yoshlar orasida, ko‘paymoqda.</a:t>
            </a:r>
          </a:p>
        </p:txBody>
      </p:sp>
      <p:graphicFrame>
        <p:nvGraphicFramePr>
          <p:cNvPr id="9" name="Table 8"/>
          <p:cNvGraphicFramePr>
            <a:graphicFrameLocks noGrp="1"/>
          </p:cNvGraphicFramePr>
          <p:nvPr/>
        </p:nvGraphicFramePr>
        <p:xfrm>
          <a:off x="6263640" y="1463040"/>
          <a:ext cx="5287975" cy="1645920"/>
        </p:xfrm>
        <a:graphic>
          <a:graphicData uri="http://schemas.openxmlformats.org/drawingml/2006/table">
            <a:tbl>
              <a:tblPr firstRow="1" bandRow="1">
                <a:tableStyleId>{5C22544A-7EE6-4342-B048-85BDC9FD1C3A}</a:tableStyleId>
              </a:tblPr>
              <a:tblGrid>
                <a:gridCol w="1538320"/>
                <a:gridCol w="3749655"/>
              </a:tblGrid>
              <a:tr h="411480">
                <a:tc>
                  <a:txBody>
                    <a:bodyPr/>
                    <a:lstStyle/>
                    <a:p>
                      <a:r>
                        <a:rPr sz="1400" b="1">
                          <a:solidFill>
                            <a:srgbClr val="FFFFFF"/>
                          </a:solidFill>
                        </a:rPr>
                        <a:t>Guruh</a:t>
                      </a:r>
                    </a:p>
                  </a:txBody>
                  <a:tcPr marL="73152" marR="73152" marT="36576" marB="36576">
                    <a:solidFill>
                      <a:srgbClr val="0B1F3A"/>
                    </a:solidFill>
                  </a:tcPr>
                </a:tc>
                <a:tc>
                  <a:txBody>
                    <a:bodyPr/>
                    <a:lstStyle/>
                    <a:p>
                      <a:r>
                        <a:rPr sz="1400" b="1">
                          <a:solidFill>
                            <a:srgbClr val="FFFFFF"/>
                          </a:solidFill>
                        </a:rPr>
                        <a:t>Misollar</a:t>
                      </a:r>
                    </a:p>
                  </a:txBody>
                  <a:tcPr marL="73152" marR="73152" marT="36576" marB="36576">
                    <a:solidFill>
                      <a:srgbClr val="0B1F3A"/>
                    </a:solidFill>
                  </a:tcPr>
                </a:tc>
              </a:tr>
              <a:tr h="411480">
                <a:tc>
                  <a:txBody>
                    <a:bodyPr/>
                    <a:lstStyle/>
                    <a:p>
                      <a:r>
                        <a:rPr sz="1300" b="0">
                          <a:solidFill>
                            <a:srgbClr val="1F2937"/>
                          </a:solidFill>
                        </a:rPr>
                        <a:t>Tabiiy</a:t>
                      </a:r>
                    </a:p>
                  </a:txBody>
                  <a:tcPr marL="73152" marR="73152" marT="36576" marB="36576">
                    <a:solidFill>
                      <a:srgbClr val="E8EEF6"/>
                    </a:solidFill>
                  </a:tcPr>
                </a:tc>
                <a:tc>
                  <a:txBody>
                    <a:bodyPr/>
                    <a:lstStyle/>
                    <a:p>
                      <a:r>
                        <a:rPr sz="1300" b="0">
                          <a:solidFill>
                            <a:srgbClr val="1F2937"/>
                          </a:solidFill>
                        </a:rPr>
                        <a:t>Nasha, morfin, kodein, kokain</a:t>
                      </a:r>
                    </a:p>
                  </a:txBody>
                  <a:tcPr marL="73152" marR="73152" marT="36576" marB="36576">
                    <a:solidFill>
                      <a:srgbClr val="E8EEF6"/>
                    </a:solidFill>
                  </a:tcPr>
                </a:tc>
              </a:tr>
              <a:tr h="411480">
                <a:tc>
                  <a:txBody>
                    <a:bodyPr/>
                    <a:lstStyle/>
                    <a:p>
                      <a:r>
                        <a:rPr sz="1300" b="0">
                          <a:solidFill>
                            <a:srgbClr val="1F2937"/>
                          </a:solidFill>
                        </a:rPr>
                        <a:t>Yarim sintetik</a:t>
                      </a:r>
                    </a:p>
                  </a:txBody>
                  <a:tcPr marL="73152" marR="73152" marT="36576" marB="36576">
                    <a:solidFill>
                      <a:srgbClr val="FFFFFF"/>
                    </a:solidFill>
                  </a:tcPr>
                </a:tc>
                <a:tc>
                  <a:txBody>
                    <a:bodyPr/>
                    <a:lstStyle/>
                    <a:p>
                      <a:r>
                        <a:rPr sz="1300" b="0">
                          <a:solidFill>
                            <a:srgbClr val="1F2937"/>
                          </a:solidFill>
                        </a:rPr>
                        <a:t>Geroin, meskalin, efedron</a:t>
                      </a:r>
                    </a:p>
                  </a:txBody>
                  <a:tcPr marL="73152" marR="73152" marT="36576" marB="36576">
                    <a:solidFill>
                      <a:srgbClr val="FFFFFF"/>
                    </a:solidFill>
                  </a:tcPr>
                </a:tc>
              </a:tr>
              <a:tr h="411480">
                <a:tc>
                  <a:txBody>
                    <a:bodyPr/>
                    <a:lstStyle/>
                    <a:p>
                      <a:r>
                        <a:rPr sz="1300" b="0">
                          <a:solidFill>
                            <a:srgbClr val="1F2937"/>
                          </a:solidFill>
                        </a:rPr>
                        <a:t>Sintetik</a:t>
                      </a:r>
                    </a:p>
                  </a:txBody>
                  <a:tcPr marL="73152" marR="73152" marT="36576" marB="36576">
                    <a:solidFill>
                      <a:srgbClr val="E8EEF6"/>
                    </a:solidFill>
                  </a:tcPr>
                </a:tc>
                <a:tc>
                  <a:txBody>
                    <a:bodyPr/>
                    <a:lstStyle/>
                    <a:p>
                      <a:r>
                        <a:rPr sz="1300" b="0">
                          <a:solidFill>
                            <a:srgbClr val="1F2937"/>
                          </a:solidFill>
                        </a:rPr>
                        <a:t>Amfetamin, promedol, metadon, sombrevin</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Narkotiklar tasnifi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168</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“Narkotiklar bilan bog‘liq o‘lim” (DRD) tushunchasi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giyohvand moddalar bilan zaharlanishning patomorfologiyasi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16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DRD (drug related death) — narkotik va psixotrop moddalar iste’moli bilan bevosita yoki bilvosita bog‘liq o‘lim.</a:t>
            </a:r>
          </a:p>
          <a:p>
            <a:pPr>
              <a:spcAft>
                <a:spcPts val="800"/>
              </a:spcAft>
            </a:pPr>
            <a:r>
              <a:rPr sz="1800">
                <a:solidFill>
                  <a:srgbClr val="1F2937"/>
                </a:solidFill>
                <a:latin typeface="Calibri"/>
              </a:rPr>
              <a:t>▸  Mastlik o‘z-o‘zini o‘ldirish, baxtsiz hodisa va qotillik qurboni bo‘lish ehtimolini ancha oshiradi.</a:t>
            </a:r>
          </a:p>
          <a:p>
            <a:pPr>
              <a:spcAft>
                <a:spcPts val="800"/>
              </a:spcAft>
            </a:pPr>
            <a:r>
              <a:rPr sz="1800">
                <a:solidFill>
                  <a:srgbClr val="1F2937"/>
                </a:solidFill>
                <a:latin typeface="Calibri"/>
              </a:rPr>
              <a:t>▸  Baxtsiz hodisalarga yo‘l-transport hodisasi, balandlikdan yiqilish, yong‘inda kuyish va cho‘kish kiradi.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Katta doza bilan zaharlanish</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Uzoq qabul qilish oqibati</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O‘z-o‘zini o‘ldirish</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Baxtsiz hodisa</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Qotillik natijasidagi o‘lim</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DRD: besh guruh</a:t>
            </a:r>
          </a:p>
        </p:txBody>
      </p:sp>
      <p:sp>
        <p:nvSpPr>
          <p:cNvPr id="19" name="TextBox 1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168</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tasnif va DRD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giyohvand moddalar bilan zaharlanishning patomorfologiyasi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17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Savol: geroin qaysi guruhga kiradi? Javob: yarim sintetik guruhga, u atsetillangan morfin. Morfin esa tabiiy modda hisoblanadi.</a:t>
            </a:r>
          </a:p>
          <a:p>
            <a:pPr>
              <a:spcAft>
                <a:spcPts val="1200"/>
              </a:spcAft>
            </a:pPr>
            <a:r>
              <a:rPr sz="2200">
                <a:solidFill>
                  <a:srgbClr val="1F2937"/>
                </a:solidFill>
                <a:latin typeface="Calibri"/>
              </a:rPr>
              <a:t>▸  Tabiiy: nasha, morfin, kodein, kokain. Yarim sintetik: geroin, meskalin, efedron. Sintetik: amfetamin, promedol, metadon.</a:t>
            </a:r>
          </a:p>
          <a:p>
            <a:pPr>
              <a:spcAft>
                <a:spcPts val="1200"/>
              </a:spcAft>
            </a:pPr>
            <a:r>
              <a:rPr sz="2200">
                <a:solidFill>
                  <a:srgbClr val="1F2937"/>
                </a:solidFill>
                <a:latin typeface="Calibri"/>
              </a:rPr>
              <a:t>▸  Savol: DRD (narkotiklar bilan bog‘liq o‘lim, drug related death) ga nimalar kiradi? Javob: katta dozadan zaharlanish, uzoq qabul oqibati, o‘z-o‘zini o‘ldirish, baxtsiz hodisa, qotillik.</a:t>
            </a:r>
          </a:p>
          <a:p>
            <a:pPr>
              <a:spcAft>
                <a:spcPts val="1200"/>
              </a:spcAft>
            </a:pPr>
            <a:r>
              <a:rPr sz="2200">
                <a:solidFill>
                  <a:srgbClr val="1F2937"/>
                </a:solidFill>
                <a:latin typeface="Calibri"/>
              </a:rPr>
              <a:t>▸  Savol: kokain qayerda ko‘proq iste’mol qilinadi? Javob: G‘arbiy yarim shar mamlakatlarida. Bizning hududda nasha va opiatlar uchraydi.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168</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Opiatlar: manba va toksikokinetika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giyohvand moddalar bilan zaharlanishning patomorfologiyasi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18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Opiy — opiy ko‘knorining (Papaver somniferum) quritilgan sharbati. Unda morfin, kodein, tebain, narkotin alkaloidlari bor. Geroin yarim sintetik mahsulot.</a:t>
            </a:r>
          </a:p>
          <a:p>
            <a:pPr>
              <a:spcAft>
                <a:spcPts val="1200"/>
              </a:spcAft>
            </a:pPr>
            <a:r>
              <a:rPr sz="2000">
                <a:solidFill>
                  <a:srgbClr val="1F2937"/>
                </a:solidFill>
                <a:latin typeface="Calibri"/>
              </a:rPr>
              <a:t>▸  Opiatlar qonga tez so‘riladi. Og‘iz orqali qabul qilinganda ta’sir 20-30 daqiqadan, teri ostiga yuborilganda 10-15 daqiqadan so‘ng boshlanadi.</a:t>
            </a:r>
          </a:p>
          <a:p>
            <a:pPr>
              <a:spcAft>
                <a:spcPts val="1200"/>
              </a:spcAft>
            </a:pPr>
            <a:r>
              <a:rPr sz="2000">
                <a:solidFill>
                  <a:srgbClr val="1F2937"/>
                </a:solidFill>
                <a:latin typeface="Calibri"/>
              </a:rPr>
              <a:t>▸  Opiatlar barcha to‘qimalarda bo‘ladi, lekin jigarda ko‘proq to‘planadi. Morfinning jigardagi konsentratsiyasi qondagidan qariyb besh barobar yuqori.</a:t>
            </a:r>
          </a:p>
          <a:p>
            <a:pPr>
              <a:spcAft>
                <a:spcPts val="1200"/>
              </a:spcAft>
            </a:pPr>
            <a:r>
              <a:rPr sz="2000">
                <a:solidFill>
                  <a:srgbClr val="1F2937"/>
                </a:solidFill>
                <a:latin typeface="Calibri"/>
              </a:rPr>
              <a:t>▸  Chiqarilish qonga so‘rilgan zahoti boshlanadi, asosan buyrak va oshqozon-ichak orqali. Morfin maksimumi 8-12 soatda, dastlabki 3-4 kunda 90 % ga yaqini chiqadi.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168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Opiatlardan zaharlanish: klinika va letal dozalar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giyohvand moddalar bilan zaharlanishning patomorfologiyasi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19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Dastlab ko‘ngil aynishi, qusish, sianoz, qorachiq torayishi, hansirash, karaxtlik kuzatiladi.</a:t>
            </a:r>
          </a:p>
          <a:p>
            <a:pPr>
              <a:spcAft>
                <a:spcPts val="800"/>
              </a:spcAft>
            </a:pPr>
            <a:r>
              <a:rPr sz="1800">
                <a:solidFill>
                  <a:srgbClr val="1F2937"/>
                </a:solidFill>
                <a:latin typeface="Calibri"/>
              </a:rPr>
              <a:t>▸  Keyin koma rivojlanadi. Zaharlanish soatlardan kunlargacha cho‘ziladi, o‘lim nafas olish markazi falajidan.</a:t>
            </a:r>
          </a:p>
          <a:p>
            <a:pPr>
              <a:spcAft>
                <a:spcPts val="800"/>
              </a:spcAft>
            </a:pPr>
            <a:r>
              <a:rPr sz="1800">
                <a:solidFill>
                  <a:srgbClr val="1F2937"/>
                </a:solidFill>
                <a:latin typeface="Calibri"/>
              </a:rPr>
              <a:t>▸  Parenteral yuborilganda kichikroq doza ham o‘ldiradi. Morfin murdada oylab parchalanmaydi.</a:t>
            </a:r>
          </a:p>
        </p:txBody>
      </p:sp>
      <p:graphicFrame>
        <p:nvGraphicFramePr>
          <p:cNvPr id="9" name="Table 8"/>
          <p:cNvGraphicFramePr>
            <a:graphicFrameLocks noGrp="1"/>
          </p:cNvGraphicFramePr>
          <p:nvPr/>
        </p:nvGraphicFramePr>
        <p:xfrm>
          <a:off x="6263640" y="1463040"/>
          <a:ext cx="5287974" cy="1645920"/>
        </p:xfrm>
        <a:graphic>
          <a:graphicData uri="http://schemas.openxmlformats.org/drawingml/2006/table">
            <a:tbl>
              <a:tblPr firstRow="1" bandRow="1">
                <a:tableStyleId>{5C22544A-7EE6-4342-B048-85BDC9FD1C3A}</a:tableStyleId>
              </a:tblPr>
              <a:tblGrid>
                <a:gridCol w="2799516"/>
                <a:gridCol w="2488458"/>
              </a:tblGrid>
              <a:tr h="411480">
                <a:tc>
                  <a:txBody>
                    <a:bodyPr/>
                    <a:lstStyle/>
                    <a:p>
                      <a:r>
                        <a:rPr sz="1400" b="1">
                          <a:solidFill>
                            <a:srgbClr val="FFFFFF"/>
                          </a:solidFill>
                        </a:rPr>
                        <a:t>Modda / yo‘l</a:t>
                      </a:r>
                    </a:p>
                  </a:txBody>
                  <a:tcPr marL="73152" marR="73152" marT="36576" marB="36576">
                    <a:solidFill>
                      <a:srgbClr val="0B1F3A"/>
                    </a:solidFill>
                  </a:tcPr>
                </a:tc>
                <a:tc>
                  <a:txBody>
                    <a:bodyPr/>
                    <a:lstStyle/>
                    <a:p>
                      <a:r>
                        <a:rPr sz="1400" b="1">
                          <a:solidFill>
                            <a:srgbClr val="FFFFFF"/>
                          </a:solidFill>
                        </a:rPr>
                        <a:t>Letal doza</a:t>
                      </a:r>
                    </a:p>
                  </a:txBody>
                  <a:tcPr marL="73152" marR="73152" marT="36576" marB="36576">
                    <a:solidFill>
                      <a:srgbClr val="0B1F3A"/>
                    </a:solidFill>
                  </a:tcPr>
                </a:tc>
              </a:tr>
              <a:tr h="411480">
                <a:tc>
                  <a:txBody>
                    <a:bodyPr/>
                    <a:lstStyle/>
                    <a:p>
                      <a:r>
                        <a:rPr sz="1300" b="0">
                          <a:solidFill>
                            <a:srgbClr val="1F2937"/>
                          </a:solidFill>
                        </a:rPr>
                        <a:t>Quruq opiy, ichga</a:t>
                      </a:r>
                    </a:p>
                  </a:txBody>
                  <a:tcPr marL="73152" marR="73152" marT="36576" marB="36576">
                    <a:solidFill>
                      <a:srgbClr val="E8EEF6"/>
                    </a:solidFill>
                  </a:tcPr>
                </a:tc>
                <a:tc>
                  <a:txBody>
                    <a:bodyPr/>
                    <a:lstStyle/>
                    <a:p>
                      <a:r>
                        <a:rPr sz="1300" b="0">
                          <a:solidFill>
                            <a:srgbClr val="1F2937"/>
                          </a:solidFill>
                        </a:rPr>
                        <a:t>2-5 g</a:t>
                      </a:r>
                    </a:p>
                  </a:txBody>
                  <a:tcPr marL="73152" marR="73152" marT="36576" marB="36576">
                    <a:solidFill>
                      <a:srgbClr val="E8EEF6"/>
                    </a:solidFill>
                  </a:tcPr>
                </a:tc>
              </a:tr>
              <a:tr h="411480">
                <a:tc>
                  <a:txBody>
                    <a:bodyPr/>
                    <a:lstStyle/>
                    <a:p>
                      <a:r>
                        <a:rPr sz="1300" b="0">
                          <a:solidFill>
                            <a:srgbClr val="1F2937"/>
                          </a:solidFill>
                        </a:rPr>
                        <a:t>Morfin, ichga</a:t>
                      </a:r>
                    </a:p>
                  </a:txBody>
                  <a:tcPr marL="73152" marR="73152" marT="36576" marB="36576">
                    <a:solidFill>
                      <a:srgbClr val="FFFFFF"/>
                    </a:solidFill>
                  </a:tcPr>
                </a:tc>
                <a:tc>
                  <a:txBody>
                    <a:bodyPr/>
                    <a:lstStyle/>
                    <a:p>
                      <a:r>
                        <a:rPr sz="1300" b="0">
                          <a:solidFill>
                            <a:srgbClr val="1F2937"/>
                          </a:solidFill>
                        </a:rPr>
                        <a:t>0,2-0,4 g</a:t>
                      </a:r>
                    </a:p>
                  </a:txBody>
                  <a:tcPr marL="73152" marR="73152" marT="36576" marB="36576">
                    <a:solidFill>
                      <a:srgbClr val="FFFFFF"/>
                    </a:solidFill>
                  </a:tcPr>
                </a:tc>
              </a:tr>
              <a:tr h="411480">
                <a:tc>
                  <a:txBody>
                    <a:bodyPr/>
                    <a:lstStyle/>
                    <a:p>
                      <a:r>
                        <a:rPr sz="1300" b="0">
                          <a:solidFill>
                            <a:srgbClr val="1F2937"/>
                          </a:solidFill>
                        </a:rPr>
                        <a:t>Morfin, parenteral</a:t>
                      </a:r>
                    </a:p>
                  </a:txBody>
                  <a:tcPr marL="73152" marR="73152" marT="36576" marB="36576">
                    <a:solidFill>
                      <a:srgbClr val="E8EEF6"/>
                    </a:solidFill>
                  </a:tcPr>
                </a:tc>
                <a:tc>
                  <a:txBody>
                    <a:bodyPr/>
                    <a:lstStyle/>
                    <a:p>
                      <a:r>
                        <a:rPr sz="1300" b="0">
                          <a:solidFill>
                            <a:srgbClr val="1F2937"/>
                          </a:solidFill>
                        </a:rPr>
                        <a:t>0,1-0,2 g</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Letal dozalar</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168, 168-169, 169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Nasha va uning ta’siri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giyohvand moddalar bilan zaharlanishning patomorfologiyasi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20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Nasha (Cannabis sativa) o‘simligidan olinadigan asosiy narkotik komponent tetragidrokannabinol. U chekiladi yoki og‘iz orqali qabul qilinadi.</a:t>
            </a:r>
          </a:p>
          <a:p>
            <a:pPr>
              <a:spcAft>
                <a:spcPts val="1200"/>
              </a:spcAft>
            </a:pPr>
            <a:r>
              <a:rPr sz="2200">
                <a:solidFill>
                  <a:srgbClr val="1F2937"/>
                </a:solidFill>
                <a:latin typeface="Calibri"/>
              </a:rPr>
              <a:t>▸  Zaharlanishda qorachiq kengayadi, nistagm, taxikardiya, qon bosimi ko‘tarilishi, hansirash va harakatlar diskoordinatsiyasi bo‘ladi. Gallyusinatsiyali qisqa psixoz mumkin.</a:t>
            </a:r>
          </a:p>
          <a:p>
            <a:pPr>
              <a:spcAft>
                <a:spcPts val="1200"/>
              </a:spcAft>
            </a:pPr>
            <a:r>
              <a:rPr sz="2200">
                <a:solidFill>
                  <a:srgbClr val="1F2937"/>
                </a:solidFill>
                <a:latin typeface="Calibri"/>
              </a:rPr>
              <a:t>▸  Keyin holsizlik, giporefleksiya va uyqu kuzatiladi. Nasha tez parchalanadi, shuning uchun zaharlanish odatda o‘lim bilan tugamaydi.</a:t>
            </a:r>
          </a:p>
          <a:p>
            <a:pPr>
              <a:spcAft>
                <a:spcPts val="1200"/>
              </a:spcAft>
            </a:pPr>
            <a:r>
              <a:rPr sz="2200">
                <a:solidFill>
                  <a:srgbClr val="1F2937"/>
                </a:solidFill>
                <a:latin typeface="Calibri"/>
              </a:rPr>
              <a:t>▸  Diqqat: narkokurerlarda oshqozon-ichakdagi nasha o‘ramlari buzilsa, zaharlanish o‘limga olib kelishi mumkin.</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169</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Kokain bilan zaharlanish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giyohvand moddalar bilan zaharlanishning patomorfologiyasi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21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Kokain alkaloidi Janubiy Amerika butasi koka (Erythroxylon coca) barglaridan olinadi.</a:t>
            </a:r>
          </a:p>
          <a:p>
            <a:pPr>
              <a:spcAft>
                <a:spcPts val="1200"/>
              </a:spcAft>
            </a:pPr>
            <a:r>
              <a:rPr sz="2200">
                <a:solidFill>
                  <a:srgbClr val="1F2937"/>
                </a:solidFill>
                <a:latin typeface="Calibri"/>
              </a:rPr>
              <a:t>▸  Kukuni burun orqali nafas bilan tortiladi. Eritmasi vena ichiga yoki teri ostiga yuboriladi.</a:t>
            </a:r>
          </a:p>
          <a:p>
            <a:pPr>
              <a:spcAft>
                <a:spcPts val="1200"/>
              </a:spcAft>
            </a:pPr>
            <a:r>
              <a:rPr sz="2200">
                <a:solidFill>
                  <a:srgbClr val="1F2937"/>
                </a:solidFill>
                <a:latin typeface="Calibri"/>
              </a:rPr>
              <a:t>▸  Kokainda psixomotor qo‘zg‘alish bilan eyforiya xos. Puls va nafas tezlashadi, qorachiq kengayadi, qon bosimi va tana harorati ko‘tariladi.</a:t>
            </a:r>
          </a:p>
          <a:p>
            <a:pPr>
              <a:spcAft>
                <a:spcPts val="1200"/>
              </a:spcAft>
            </a:pPr>
            <a:r>
              <a:rPr sz="2200">
                <a:solidFill>
                  <a:srgbClr val="1F2937"/>
                </a:solidFill>
                <a:latin typeface="Calibri"/>
              </a:rPr>
              <a:t>▸  Keyin aritmiya, hansirash, hushning buzilishi bo‘ladi. O‘lim nafas markazi falajidan yoki yurak qorinchalari fibrillyasiyasidan yuz beradi.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169</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Psixotrop moddalar: LSD, psilotsibin, fensiklidin, meskalin</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giyohvand moddalar bilan zaharlanishning patomorfologiyasi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22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Psixotrop moddalar qatoriga lizergin kislotasi hosilalari (LSD), psilotsibin, fensiklidin va meskalin kiradi.</a:t>
            </a:r>
          </a:p>
          <a:p>
            <a:pPr>
              <a:spcAft>
                <a:spcPts val="1200"/>
              </a:spcAft>
            </a:pPr>
            <a:r>
              <a:rPr sz="2200">
                <a:solidFill>
                  <a:srgbClr val="1F2937"/>
                </a:solidFill>
                <a:latin typeface="Calibri"/>
              </a:rPr>
              <a:t>▸  Ular vegetativ buzilishlarni chaqiradi: taxikardiya, qon bosimining ko‘tarilishi, qorachiqlarning kengayishi.</a:t>
            </a:r>
          </a:p>
          <a:p>
            <a:pPr>
              <a:spcAft>
                <a:spcPts val="1200"/>
              </a:spcAft>
            </a:pPr>
            <a:r>
              <a:rPr sz="2200">
                <a:solidFill>
                  <a:srgbClr val="1F2937"/>
                </a:solidFill>
                <a:latin typeface="Calibri"/>
              </a:rPr>
              <a:t>▸  Ruhiyat buziladi: reallikni noto‘g‘ri qabul qilish, alahsirash va gallyusinatsiyalar kuzatiladi.</a:t>
            </a:r>
          </a:p>
          <a:p>
            <a:pPr>
              <a:spcAft>
                <a:spcPts val="1200"/>
              </a:spcAft>
            </a:pPr>
            <a:r>
              <a:rPr sz="2200">
                <a:solidFill>
                  <a:srgbClr val="1F2937"/>
                </a:solidFill>
                <a:latin typeface="Calibri"/>
              </a:rPr>
              <a:t>▸  Laboratoriyada fensiklidin siydikda iste’moldan 4-6 soat o‘tgach topiladi va 7-14 kun davomida aniqlanadi.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170, 171</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Amfetaminlar va “ekstazi” (MDMA)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giyohvand moddalar bilan zaharlanishning patomorfologiyasi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23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Amfetaminlar feniletilaminning sintetik hosilalari bo‘lib, MNT (markaziy nerv tizimi)ni qo‘zg‘atadi.</a:t>
            </a:r>
          </a:p>
          <a:p>
            <a:pPr>
              <a:spcAft>
                <a:spcPts val="800"/>
              </a:spcAft>
            </a:pPr>
            <a:r>
              <a:rPr sz="1800">
                <a:solidFill>
                  <a:srgbClr val="1F2937"/>
                </a:solidFill>
                <a:latin typeface="Calibri"/>
              </a:rPr>
              <a:t>▸  “Ekstazi” nomi bilan MDMA (metilendioksimetamfetamin) tanilgan; klublarda tabletka tarzida tarqatiladi.</a:t>
            </a:r>
          </a:p>
          <a:p>
            <a:pPr>
              <a:spcAft>
                <a:spcPts val="800"/>
              </a:spcAft>
            </a:pPr>
            <a:r>
              <a:rPr sz="1800">
                <a:solidFill>
                  <a:srgbClr val="1F2937"/>
                </a:solidFill>
                <a:latin typeface="Calibri"/>
              </a:rPr>
              <a:t>▸  Ekstazining letal dozasi 500 mg. Venaga yuborish xavfli, shuning uchun asosan og‘izdan qabul qilinadi.</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1379471"/>
                <a:gridCol w="2452394"/>
                <a:gridCol w="1456109"/>
              </a:tblGrid>
              <a:tr h="411480">
                <a:tc>
                  <a:txBody>
                    <a:bodyPr/>
                    <a:lstStyle/>
                    <a:p>
                      <a:r>
                        <a:rPr sz="1300" b="1">
                          <a:solidFill>
                            <a:srgbClr val="FFFFFF"/>
                          </a:solidFill>
                        </a:rPr>
                        <a:t>Belgi</a:t>
                      </a:r>
                    </a:p>
                  </a:txBody>
                  <a:tcPr marL="73152" marR="73152" marT="36576" marB="36576">
                    <a:solidFill>
                      <a:srgbClr val="0B1F3A"/>
                    </a:solidFill>
                  </a:tcPr>
                </a:tc>
                <a:tc>
                  <a:txBody>
                    <a:bodyPr/>
                    <a:lstStyle/>
                    <a:p>
                      <a:r>
                        <a:rPr sz="1300" b="1">
                          <a:solidFill>
                            <a:srgbClr val="FFFFFF"/>
                          </a:solidFill>
                        </a:rPr>
                        <a:t>Kokain</a:t>
                      </a:r>
                    </a:p>
                  </a:txBody>
                  <a:tcPr marL="73152" marR="73152" marT="36576" marB="36576">
                    <a:solidFill>
                      <a:srgbClr val="0B1F3A"/>
                    </a:solidFill>
                  </a:tcPr>
                </a:tc>
                <a:tc>
                  <a:txBody>
                    <a:bodyPr/>
                    <a:lstStyle/>
                    <a:p>
                      <a:r>
                        <a:rPr sz="1300" b="1">
                          <a:solidFill>
                            <a:srgbClr val="FFFFFF"/>
                          </a:solidFill>
                        </a:rPr>
                        <a:t>Amfetamin</a:t>
                      </a:r>
                    </a:p>
                  </a:txBody>
                  <a:tcPr marL="73152" marR="73152" marT="36576" marB="36576">
                    <a:solidFill>
                      <a:srgbClr val="0B1F3A"/>
                    </a:solidFill>
                  </a:tcPr>
                </a:tc>
              </a:tr>
              <a:tr h="411480">
                <a:tc>
                  <a:txBody>
                    <a:bodyPr/>
                    <a:lstStyle/>
                    <a:p>
                      <a:r>
                        <a:rPr sz="1200" b="0">
                          <a:solidFill>
                            <a:srgbClr val="1F2937"/>
                          </a:solidFill>
                        </a:rPr>
                        <a:t>Ta’sir kuchi</a:t>
                      </a:r>
                    </a:p>
                  </a:txBody>
                  <a:tcPr marL="73152" marR="73152" marT="36576" marB="36576">
                    <a:solidFill>
                      <a:srgbClr val="E8EEF6"/>
                    </a:solidFill>
                  </a:tcPr>
                </a:tc>
                <a:tc>
                  <a:txBody>
                    <a:bodyPr/>
                    <a:lstStyle/>
                    <a:p>
                      <a:r>
                        <a:rPr sz="1200" b="0">
                          <a:solidFill>
                            <a:srgbClr val="1F2937"/>
                          </a:solidFill>
                        </a:rPr>
                        <a:t>Kuchliroq</a:t>
                      </a:r>
                    </a:p>
                  </a:txBody>
                  <a:tcPr marL="73152" marR="73152" marT="36576" marB="36576">
                    <a:solidFill>
                      <a:srgbClr val="E8EEF6"/>
                    </a:solidFill>
                  </a:tcPr>
                </a:tc>
                <a:tc>
                  <a:txBody>
                    <a:bodyPr/>
                    <a:lstStyle/>
                    <a:p>
                      <a:r>
                        <a:rPr sz="1200" b="0">
                          <a:solidFill>
                            <a:srgbClr val="1F2937"/>
                          </a:solidFill>
                        </a:rPr>
                        <a:t>Kuchsizroq</a:t>
                      </a:r>
                    </a:p>
                  </a:txBody>
                  <a:tcPr marL="73152" marR="73152" marT="36576" marB="36576">
                    <a:solidFill>
                      <a:srgbClr val="E8EEF6"/>
                    </a:solidFill>
                  </a:tcPr>
                </a:tc>
              </a:tr>
              <a:tr h="411480">
                <a:tc>
                  <a:txBody>
                    <a:bodyPr/>
                    <a:lstStyle/>
                    <a:p>
                      <a:r>
                        <a:rPr sz="1200" b="0">
                          <a:solidFill>
                            <a:srgbClr val="1F2937"/>
                          </a:solidFill>
                        </a:rPr>
                        <a:t>Ta’sir davomiyligi</a:t>
                      </a:r>
                    </a:p>
                  </a:txBody>
                  <a:tcPr marL="73152" marR="73152" marT="36576" marB="36576">
                    <a:solidFill>
                      <a:srgbClr val="FFFFFF"/>
                    </a:solidFill>
                  </a:tcPr>
                </a:tc>
                <a:tc>
                  <a:txBody>
                    <a:bodyPr/>
                    <a:lstStyle/>
                    <a:p>
                      <a:r>
                        <a:rPr sz="1200" b="0">
                          <a:solidFill>
                            <a:srgbClr val="1F2937"/>
                          </a:solidFill>
                        </a:rPr>
                        <a:t>Qisqaroq</a:t>
                      </a:r>
                    </a:p>
                  </a:txBody>
                  <a:tcPr marL="73152" marR="73152" marT="36576" marB="36576">
                    <a:solidFill>
                      <a:srgbClr val="FFFFFF"/>
                    </a:solidFill>
                  </a:tcPr>
                </a:tc>
                <a:tc>
                  <a:txBody>
                    <a:bodyPr/>
                    <a:lstStyle/>
                    <a:p>
                      <a:r>
                        <a:rPr sz="1200" b="0">
                          <a:solidFill>
                            <a:srgbClr val="1F2937"/>
                          </a:solidFill>
                        </a:rPr>
                        <a:t>Davomiyroq</a:t>
                      </a:r>
                    </a:p>
                  </a:txBody>
                  <a:tcPr marL="73152" marR="73152" marT="36576" marB="36576">
                    <a:solidFill>
                      <a:srgbClr val="FFFFFF"/>
                    </a:solidFill>
                  </a:tcPr>
                </a:tc>
              </a:tr>
              <a:tr h="411480">
                <a:tc>
                  <a:txBody>
                    <a:bodyPr/>
                    <a:lstStyle/>
                    <a:p>
                      <a:r>
                        <a:rPr sz="1200" b="0">
                          <a:solidFill>
                            <a:srgbClr val="1F2937"/>
                          </a:solidFill>
                        </a:rPr>
                        <a:t>Qabul qilish yo‘li</a:t>
                      </a:r>
                    </a:p>
                  </a:txBody>
                  <a:tcPr marL="73152" marR="73152" marT="36576" marB="36576">
                    <a:solidFill>
                      <a:srgbClr val="E8EEF6"/>
                    </a:solidFill>
                  </a:tcPr>
                </a:tc>
                <a:tc>
                  <a:txBody>
                    <a:bodyPr/>
                    <a:lstStyle/>
                    <a:p>
                      <a:r>
                        <a:rPr sz="1200" b="0">
                          <a:solidFill>
                            <a:srgbClr val="1F2937"/>
                          </a:solidFill>
                        </a:rPr>
                        <a:t>Burundan, vena va teri ostiga</a:t>
                      </a:r>
                    </a:p>
                  </a:txBody>
                  <a:tcPr marL="73152" marR="73152" marT="36576" marB="36576">
                    <a:solidFill>
                      <a:srgbClr val="E8EEF6"/>
                    </a:solidFill>
                  </a:tcPr>
                </a:tc>
                <a:tc>
                  <a:txBody>
                    <a:bodyPr/>
                    <a:lstStyle/>
                    <a:p>
                      <a:r>
                        <a:rPr sz="1200" b="0">
                          <a:solidFill>
                            <a:srgbClr val="1F2937"/>
                          </a:solidFill>
                        </a:rPr>
                        <a:t>Asosan og‘iz orqali</a:t>
                      </a:r>
                    </a:p>
                  </a:txBody>
                  <a:tcPr marL="73152" marR="73152" marT="36576" marB="36576">
                    <a:solidFill>
                      <a:srgbClr val="E8EEF6"/>
                    </a:solidFill>
                  </a:tcPr>
                </a:tc>
              </a:tr>
              <a:tr h="411480">
                <a:tc>
                  <a:txBody>
                    <a:bodyPr/>
                    <a:lstStyle/>
                    <a:p>
                      <a:r>
                        <a:rPr sz="1200" b="0">
                          <a:solidFill>
                            <a:srgbClr val="1F2937"/>
                          </a:solidFill>
                        </a:rPr>
                        <a:t>Asosiy ta’sir</a:t>
                      </a:r>
                    </a:p>
                  </a:txBody>
                  <a:tcPr marL="73152" marR="73152" marT="36576" marB="36576">
                    <a:solidFill>
                      <a:srgbClr val="FFFFFF"/>
                    </a:solidFill>
                  </a:tcPr>
                </a:tc>
                <a:tc>
                  <a:txBody>
                    <a:bodyPr/>
                    <a:lstStyle/>
                    <a:p>
                      <a:r>
                        <a:rPr sz="1200" b="0">
                          <a:solidFill>
                            <a:srgbClr val="1F2937"/>
                          </a:solidFill>
                        </a:rPr>
                        <a:t>Psixomotor qo‘zg‘alish, eyforiya</a:t>
                      </a:r>
                    </a:p>
                  </a:txBody>
                  <a:tcPr marL="73152" marR="73152" marT="36576" marB="36576">
                    <a:solidFill>
                      <a:srgbClr val="FFFFFF"/>
                    </a:solidFill>
                  </a:tcPr>
                </a:tc>
                <a:tc>
                  <a:txBody>
                    <a:bodyPr/>
                    <a:lstStyle/>
                    <a:p>
                      <a:r>
                        <a:rPr sz="1200" b="0">
                          <a:solidFill>
                            <a:srgbClr val="1F2937"/>
                          </a:solidFill>
                        </a:rPr>
                        <a:t>MNTni qo‘zg‘atish</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Kokain va amfetamin</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170</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Spayslar: sintetik kannabinoidlar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giyohvand moddalar bilan zaharlanishning patomorfologiyasi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24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Spayslar (ingl. spice — ziravor) chekish uchun mo‘ljallangan aralashma: maydalangan o‘simlikka sintetik kannabinoidlar qo‘shiladi.</a:t>
            </a:r>
          </a:p>
          <a:p>
            <a:pPr>
              <a:spcAft>
                <a:spcPts val="1200"/>
              </a:spcAft>
            </a:pPr>
            <a:r>
              <a:rPr sz="2200">
                <a:solidFill>
                  <a:srgbClr val="1F2937"/>
                </a:solidFill>
                <a:latin typeface="Calibri"/>
              </a:rPr>
              <a:t>▸  O‘ramlari 0,5 grammdan 3,0 grammgacha bo‘ladi. Ulardan foydalanish 2000-yillardan keyin aholi orasida kuzatilmoqda.</a:t>
            </a:r>
          </a:p>
          <a:p>
            <a:pPr>
              <a:spcAft>
                <a:spcPts val="1200"/>
              </a:spcAft>
            </a:pPr>
            <a:r>
              <a:rPr sz="2200">
                <a:solidFill>
                  <a:srgbClr val="1F2937"/>
                </a:solidFill>
                <a:latin typeface="Calibri"/>
              </a:rPr>
              <a:t>▸  Ta’siri nashaga o‘xshash, lekin undan kuchliroq va davomiyroq bo‘ladi.</a:t>
            </a:r>
          </a:p>
          <a:p>
            <a:pPr>
              <a:spcAft>
                <a:spcPts val="1200"/>
              </a:spcAft>
            </a:pPr>
            <a:r>
              <a:rPr sz="2200">
                <a:solidFill>
                  <a:srgbClr val="1F2937"/>
                </a:solidFill>
                <a:latin typeface="Calibri"/>
              </a:rPr>
              <a:t>▸  Belgilari: taxikardiya, qon bosimining oshishi, titrash, kuchli hayajon, qo‘zg‘alish, dezorientatsiya, talvasa va gallyusinatsiyalar.</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170</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2: noma’lum modda gumoni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giyohvand moddalar bilan zaharlanishning patomorfologiyasi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25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yoshlar klubidan keltirilgan shaxsda qorachiqlar kengaygan, puls tez, kuchli qo‘zg‘alish bor.</a:t>
            </a:r>
          </a:p>
          <a:p>
            <a:pPr>
              <a:spcAft>
                <a:spcPts val="1200"/>
              </a:spcAft>
            </a:pPr>
            <a:r>
              <a:rPr sz="2200">
                <a:solidFill>
                  <a:srgbClr val="1F2937"/>
                </a:solidFill>
                <a:latin typeface="Calibri"/>
              </a:rPr>
              <a:t>▸  Savol: qaysi guruh gumon qilinadi? Bu belgilar amfetaminlar va spayslarda uchraydi; klublarda amfetamin tabletkalari tarqatiladi.</a:t>
            </a:r>
          </a:p>
          <a:p>
            <a:pPr>
              <a:spcAft>
                <a:spcPts val="1200"/>
              </a:spcAft>
            </a:pPr>
            <a:r>
              <a:rPr sz="2200">
                <a:solidFill>
                  <a:srgbClr val="1F2937"/>
                </a:solidFill>
                <a:latin typeface="Calibri"/>
              </a:rPr>
              <a:t>▸  Namuna: iste’mol qilganlikda gumon qilingan shaxsdan 15-20 ml qon va kamida 200 ml siydik olinadi.</a:t>
            </a:r>
          </a:p>
          <a:p>
            <a:pPr>
              <a:spcAft>
                <a:spcPts val="1200"/>
              </a:spcAft>
            </a:pPr>
            <a:r>
              <a:rPr sz="2200">
                <a:solidFill>
                  <a:srgbClr val="1F2937"/>
                </a:solidFill>
                <a:latin typeface="Calibri"/>
              </a:rPr>
              <a:t>▸  Metamfetamin siydikda iste’moldan 4-6 soat o‘tgach topiladi va 48-72 soat davomida aniqlanadi.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170, 171</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Surunkali qabul: tolerantlik, bog‘liqlik, abstinensiya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giyohvand moddalar bilan zaharlanishning patomorfologiyasi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26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Zaharli moddaning qisqa vaqt oralig‘ida takroran ta’siri organizmda tolerantlik – o‘rganib qolishni keltirib chiqarishi mumkin.</a:t>
            </a:r>
          </a:p>
          <a:p>
            <a:pPr>
              <a:spcAft>
                <a:spcPts val="800"/>
              </a:spcAft>
            </a:pPr>
            <a:r>
              <a:rPr sz="1800">
                <a:solidFill>
                  <a:srgbClr val="1F2937"/>
                </a:solidFill>
                <a:latin typeface="Calibri"/>
              </a:rPr>
              <a:t>▸  Ruhiy bog‘liqlik – yengib bo‘lmas intilish; jismoniy bog‘liqlik – tolerantlik tufayli dozani oshirish zarurati.</a:t>
            </a:r>
          </a:p>
          <a:p>
            <a:pPr>
              <a:spcAft>
                <a:spcPts val="800"/>
              </a:spcAft>
            </a:pPr>
            <a:r>
              <a:rPr sz="1800">
                <a:solidFill>
                  <a:srgbClr val="1F2937"/>
                </a:solidFill>
                <a:latin typeface="Calibri"/>
              </a:rPr>
              <a:t>▸  Modda qabul qilinmasa, abstinensiya sindromi kuzatiladi. Misol: narkomaniya va toksikomaniya.</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Qayta-qayta qabul qilish</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Tolerantlik shakllanadi</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Ruhiy bog‘liqlik: intilish</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Jismoniy bog‘liqlik: doza ortadi</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Qabul yo‘q: abstinensiya</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Surunkali qabul zanjiri</a:t>
            </a:r>
          </a:p>
        </p:txBody>
      </p:sp>
      <p:sp>
        <p:nvSpPr>
          <p:cNvPr id="19" name="TextBox 1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134, 170</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Opiatlarga o‘rganib qolish: muddat va doza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giyohvand moddalar bilan zaharlanishning patomorfologiyasi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27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Opiatlar – opiy ko‘knori sharbati alkaloidlari (morfin, kodein) va yarim sintetik geroin.</a:t>
            </a:r>
          </a:p>
          <a:p>
            <a:pPr>
              <a:spcAft>
                <a:spcPts val="800"/>
              </a:spcAft>
            </a:pPr>
            <a:r>
              <a:rPr sz="1800">
                <a:solidFill>
                  <a:srgbClr val="1F2937"/>
                </a:solidFill>
                <a:latin typeface="Calibri"/>
              </a:rPr>
              <a:t>▸  Zaharlanishda qorachiqlar torayadi, koma rivojlanadi. O‘lim nafas olish markazining falajidan sodir bo‘ladi.</a:t>
            </a:r>
          </a:p>
          <a:p>
            <a:pPr>
              <a:spcAft>
                <a:spcPts val="800"/>
              </a:spcAft>
            </a:pPr>
            <a:r>
              <a:rPr sz="1800">
                <a:solidFill>
                  <a:srgbClr val="1F2937"/>
                </a:solidFill>
                <a:latin typeface="Calibri"/>
              </a:rPr>
              <a:t>▸  Morfin murdada uzoq parchalanmaydi, o‘limdan bir necha oy keyin ham sud-kimyoviy tekshiruvda topilishi mumkin.</a:t>
            </a:r>
          </a:p>
        </p:txBody>
      </p:sp>
      <p:graphicFrame>
        <p:nvGraphicFramePr>
          <p:cNvPr id="9" name="Table 8"/>
          <p:cNvGraphicFramePr>
            <a:graphicFrameLocks noGrp="1"/>
          </p:cNvGraphicFramePr>
          <p:nvPr/>
        </p:nvGraphicFramePr>
        <p:xfrm>
          <a:off x="6263640" y="1463040"/>
          <a:ext cx="5287974" cy="1645920"/>
        </p:xfrm>
        <a:graphic>
          <a:graphicData uri="http://schemas.openxmlformats.org/drawingml/2006/table">
            <a:tbl>
              <a:tblPr firstRow="1" bandRow="1">
                <a:tableStyleId>{5C22544A-7EE6-4342-B048-85BDC9FD1C3A}</a:tableStyleId>
              </a:tblPr>
              <a:tblGrid>
                <a:gridCol w="1961668"/>
                <a:gridCol w="3326306"/>
              </a:tblGrid>
              <a:tr h="411480">
                <a:tc>
                  <a:txBody>
                    <a:bodyPr/>
                    <a:lstStyle/>
                    <a:p>
                      <a:r>
                        <a:rPr sz="1400" b="1">
                          <a:solidFill>
                            <a:srgbClr val="FFFFFF"/>
                          </a:solidFill>
                        </a:rPr>
                        <a:t>Ko‘rsatkich</a:t>
                      </a:r>
                    </a:p>
                  </a:txBody>
                  <a:tcPr marL="73152" marR="73152" marT="36576" marB="36576">
                    <a:solidFill>
                      <a:srgbClr val="0B1F3A"/>
                    </a:solidFill>
                  </a:tcPr>
                </a:tc>
                <a:tc>
                  <a:txBody>
                    <a:bodyPr/>
                    <a:lstStyle/>
                    <a:p>
                      <a:r>
                        <a:rPr sz="1400" b="1">
                          <a:solidFill>
                            <a:srgbClr val="FFFFFF"/>
                          </a:solidFill>
                        </a:rPr>
                        <a:t>Ma’lumot</a:t>
                      </a:r>
                    </a:p>
                  </a:txBody>
                  <a:tcPr marL="73152" marR="73152" marT="36576" marB="36576">
                    <a:solidFill>
                      <a:srgbClr val="0B1F3A"/>
                    </a:solidFill>
                  </a:tcPr>
                </a:tc>
              </a:tr>
              <a:tr h="411480">
                <a:tc>
                  <a:txBody>
                    <a:bodyPr/>
                    <a:lstStyle/>
                    <a:p>
                      <a:r>
                        <a:rPr sz="1300" b="0">
                          <a:solidFill>
                            <a:srgbClr val="1F2937"/>
                          </a:solidFill>
                        </a:rPr>
                        <a:t>O‘rganib qolish muddati</a:t>
                      </a:r>
                    </a:p>
                  </a:txBody>
                  <a:tcPr marL="73152" marR="73152" marT="36576" marB="36576">
                    <a:solidFill>
                      <a:srgbClr val="E8EEF6"/>
                    </a:solidFill>
                  </a:tcPr>
                </a:tc>
                <a:tc>
                  <a:txBody>
                    <a:bodyPr/>
                    <a:lstStyle/>
                    <a:p>
                      <a:r>
                        <a:rPr sz="1300" b="0">
                          <a:solidFill>
                            <a:srgbClr val="1F2937"/>
                          </a:solidFill>
                        </a:rPr>
                        <a:t>o‘rtacha 25-30 kun</a:t>
                      </a:r>
                    </a:p>
                  </a:txBody>
                  <a:tcPr marL="73152" marR="73152" marT="36576" marB="36576">
                    <a:solidFill>
                      <a:srgbClr val="E8EEF6"/>
                    </a:solidFill>
                  </a:tcPr>
                </a:tc>
              </a:tr>
              <a:tr h="411480">
                <a:tc>
                  <a:txBody>
                    <a:bodyPr/>
                    <a:lstStyle/>
                    <a:p>
                      <a:r>
                        <a:rPr sz="1300" b="0">
                          <a:solidFill>
                            <a:srgbClr val="1F2937"/>
                          </a:solidFill>
                        </a:rPr>
                        <a:t>Doza</a:t>
                      </a:r>
                    </a:p>
                  </a:txBody>
                  <a:tcPr marL="73152" marR="73152" marT="36576" marB="36576">
                    <a:solidFill>
                      <a:srgbClr val="FFFFFF"/>
                    </a:solidFill>
                  </a:tcPr>
                </a:tc>
                <a:tc>
                  <a:txBody>
                    <a:bodyPr/>
                    <a:lstStyle/>
                    <a:p>
                      <a:r>
                        <a:rPr sz="1300" b="0">
                          <a:solidFill>
                            <a:srgbClr val="1F2937"/>
                          </a:solidFill>
                        </a:rPr>
                        <a:t>kuniga 10,0 g.gacha ko‘tarilishi mumkin</a:t>
                      </a:r>
                    </a:p>
                  </a:txBody>
                  <a:tcPr marL="73152" marR="73152" marT="36576" marB="36576">
                    <a:solidFill>
                      <a:srgbClr val="FFFFFF"/>
                    </a:solidFill>
                  </a:tcPr>
                </a:tc>
              </a:tr>
              <a:tr h="411480">
                <a:tc>
                  <a:txBody>
                    <a:bodyPr/>
                    <a:lstStyle/>
                    <a:p>
                      <a:r>
                        <a:rPr sz="1300" b="0">
                          <a:solidFill>
                            <a:srgbClr val="1F2937"/>
                          </a:solidFill>
                        </a:rPr>
                        <a:t>Qabul to‘xtatilsa</a:t>
                      </a:r>
                    </a:p>
                  </a:txBody>
                  <a:tcPr marL="73152" marR="73152" marT="36576" marB="36576">
                    <a:solidFill>
                      <a:srgbClr val="E8EEF6"/>
                    </a:solidFill>
                  </a:tcPr>
                </a:tc>
                <a:tc>
                  <a:txBody>
                    <a:bodyPr/>
                    <a:lstStyle/>
                    <a:p>
                      <a:r>
                        <a:rPr sz="1300" b="0">
                          <a:solidFill>
                            <a:srgbClr val="1F2937"/>
                          </a:solidFill>
                        </a:rPr>
                        <a:t>abstinensiya 5-6 kun davom etadi</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Opiatlarga o‘rganib qolish</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168, 168-169, 169</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Prekursorlar va ularning nazorati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giyohvand moddalar bilan zaharlanishning patomorfologiyasi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28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Prekursor (ingliz tilida “precursor” – oldin keluvchi) – narkotik vosita va psixotrop moddalarni tayyorlashda ishlatiladigan moddalar.</a:t>
            </a:r>
          </a:p>
          <a:p>
            <a:pPr>
              <a:spcAft>
                <a:spcPts val="1200"/>
              </a:spcAft>
            </a:pPr>
            <a:r>
              <a:rPr sz="2200">
                <a:solidFill>
                  <a:srgbClr val="1F2937"/>
                </a:solidFill>
                <a:latin typeface="Calibri"/>
              </a:rPr>
              <a:t>▸  Ro‘yxatga xlorid va sulfat kislotalari, kaliy permanganat, etil efiri, atseton, toluol, piperidin, ergotamin, efedrin kiritilgan.</a:t>
            </a:r>
          </a:p>
          <a:p>
            <a:pPr>
              <a:spcAft>
                <a:spcPts val="1200"/>
              </a:spcAft>
            </a:pPr>
            <a:r>
              <a:rPr sz="2200">
                <a:solidFill>
                  <a:srgbClr val="1F2937"/>
                </a:solidFill>
                <a:latin typeface="Calibri"/>
              </a:rPr>
              <a:t>▸  Diqqat: prekursor ≠ narkotik vosita. Prekursorlar ro‘yxati alohida tasdiqlanadi; sotib olish, saqlash, ishlatish va hisobdan chiqarishga alohida talablar bor.</a:t>
            </a:r>
          </a:p>
          <a:p>
            <a:pPr>
              <a:spcAft>
                <a:spcPts val="1200"/>
              </a:spcAft>
            </a:pPr>
            <a:r>
              <a:rPr sz="2200">
                <a:solidFill>
                  <a:srgbClr val="1F2937"/>
                </a:solidFill>
                <a:latin typeface="Calibri"/>
              </a:rPr>
              <a:t>▸  Shifokorlar prekursorlar haqida tegishli ma’lumotga ega bo‘lishi lozim.</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171</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Murdada o‘zgarishlarning to‘rt guruhi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giyohvand moddalar bilan zaharlanishning patomorfologiyasi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29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Narkotik iste’moli bilan bog‘liq o‘limda murdadagi o‘zgarishlar shartli ravishda to‘rt guruhga bo‘linadi.</a:t>
            </a:r>
          </a:p>
          <a:p>
            <a:pPr>
              <a:spcAft>
                <a:spcPts val="800"/>
              </a:spcAft>
            </a:pPr>
            <a:r>
              <a:rPr sz="1800">
                <a:solidFill>
                  <a:srgbClr val="1F2937"/>
                </a:solidFill>
                <a:latin typeface="Calibri"/>
              </a:rPr>
              <a:t>▸  Spetsifik neyrokimyoviy o‘zgarishlarni faqat murakkab laboratoriya usullari aniqlaydi; amaliyotda ahamiyati yo‘q.</a:t>
            </a:r>
          </a:p>
          <a:p>
            <a:pPr>
              <a:spcAft>
                <a:spcPts val="800"/>
              </a:spcAft>
            </a:pPr>
            <a:r>
              <a:rPr sz="1800">
                <a:solidFill>
                  <a:srgbClr val="1F2937"/>
                </a:solidFill>
                <a:latin typeface="Calibri"/>
              </a:rPr>
              <a:t>▸  Diqqat: bu belgilar bilvosita dalil, qat’iy xulosa bermaydi; sud-kimyo natijasi bilan birga baholanadi.</a:t>
            </a:r>
          </a:p>
        </p:txBody>
      </p:sp>
      <p:graphicFrame>
        <p:nvGraphicFramePr>
          <p:cNvPr id="9" name="Table 8"/>
          <p:cNvGraphicFramePr>
            <a:graphicFrameLocks noGrp="1"/>
          </p:cNvGraphicFramePr>
          <p:nvPr/>
        </p:nvGraphicFramePr>
        <p:xfrm>
          <a:off x="6263640" y="1463040"/>
          <a:ext cx="5287975" cy="2057400"/>
        </p:xfrm>
        <a:graphic>
          <a:graphicData uri="http://schemas.openxmlformats.org/drawingml/2006/table">
            <a:tbl>
              <a:tblPr firstRow="1" bandRow="1">
                <a:tableStyleId>{5C22544A-7EE6-4342-B048-85BDC9FD1C3A}</a:tableStyleId>
              </a:tblPr>
              <a:tblGrid>
                <a:gridCol w="1098800"/>
                <a:gridCol w="2472300"/>
                <a:gridCol w="1716875"/>
              </a:tblGrid>
              <a:tr h="411480">
                <a:tc>
                  <a:txBody>
                    <a:bodyPr/>
                    <a:lstStyle/>
                    <a:p>
                      <a:r>
                        <a:rPr sz="1300" b="1">
                          <a:solidFill>
                            <a:srgbClr val="FFFFFF"/>
                          </a:solidFill>
                        </a:rPr>
                        <a:t>Guruh</a:t>
                      </a:r>
                    </a:p>
                  </a:txBody>
                  <a:tcPr marL="73152" marR="73152" marT="36576" marB="36576">
                    <a:solidFill>
                      <a:srgbClr val="0B1F3A"/>
                    </a:solidFill>
                  </a:tcPr>
                </a:tc>
                <a:tc>
                  <a:txBody>
                    <a:bodyPr/>
                    <a:lstStyle/>
                    <a:p>
                      <a:r>
                        <a:rPr sz="1300" b="1">
                          <a:solidFill>
                            <a:srgbClr val="FFFFFF"/>
                          </a:solidFill>
                        </a:rPr>
                        <a:t>Mazmuni</a:t>
                      </a:r>
                    </a:p>
                  </a:txBody>
                  <a:tcPr marL="73152" marR="73152" marT="36576" marB="36576">
                    <a:solidFill>
                      <a:srgbClr val="0B1F3A"/>
                    </a:solidFill>
                  </a:tcPr>
                </a:tc>
                <a:tc>
                  <a:txBody>
                    <a:bodyPr/>
                    <a:lstStyle/>
                    <a:p>
                      <a:r>
                        <a:rPr sz="1300" b="1">
                          <a:solidFill>
                            <a:srgbClr val="FFFFFF"/>
                          </a:solidFill>
                        </a:rPr>
                        <a:t>Izoh</a:t>
                      </a:r>
                    </a:p>
                  </a:txBody>
                  <a:tcPr marL="73152" marR="73152" marT="36576" marB="36576">
                    <a:solidFill>
                      <a:srgbClr val="0B1F3A"/>
                    </a:solidFill>
                  </a:tcPr>
                </a:tc>
              </a:tr>
              <a:tr h="411480">
                <a:tc>
                  <a:txBody>
                    <a:bodyPr/>
                    <a:lstStyle/>
                    <a:p>
                      <a:r>
                        <a:rPr sz="1200" b="0">
                          <a:solidFill>
                            <a:srgbClr val="1F2937"/>
                          </a:solidFill>
                        </a:rPr>
                        <a:t>1. Spetsifik</a:t>
                      </a:r>
                    </a:p>
                  </a:txBody>
                  <a:tcPr marL="73152" marR="73152" marT="36576" marB="36576">
                    <a:solidFill>
                      <a:srgbClr val="E8EEF6"/>
                    </a:solidFill>
                  </a:tcPr>
                </a:tc>
                <a:tc>
                  <a:txBody>
                    <a:bodyPr/>
                    <a:lstStyle/>
                    <a:p>
                      <a:r>
                        <a:rPr sz="1200" b="0">
                          <a:solidFill>
                            <a:srgbClr val="1F2937"/>
                          </a:solidFill>
                        </a:rPr>
                        <a:t>Neyrokimyoviy, neyrofiziologik</a:t>
                      </a:r>
                    </a:p>
                  </a:txBody>
                  <a:tcPr marL="73152" marR="73152" marT="36576" marB="36576">
                    <a:solidFill>
                      <a:srgbClr val="E8EEF6"/>
                    </a:solidFill>
                  </a:tcPr>
                </a:tc>
                <a:tc>
                  <a:txBody>
                    <a:bodyPr/>
                    <a:lstStyle/>
                    <a:p>
                      <a:r>
                        <a:rPr sz="1200" b="0">
                          <a:solidFill>
                            <a:srgbClr val="1F2937"/>
                          </a:solidFill>
                        </a:rPr>
                        <a:t>Amaliyotda ahamiyati yo‘q</a:t>
                      </a:r>
                    </a:p>
                  </a:txBody>
                  <a:tcPr marL="73152" marR="73152" marT="36576" marB="36576">
                    <a:solidFill>
                      <a:srgbClr val="E8EEF6"/>
                    </a:solidFill>
                  </a:tcPr>
                </a:tc>
              </a:tr>
              <a:tr h="411480">
                <a:tc>
                  <a:txBody>
                    <a:bodyPr/>
                    <a:lstStyle/>
                    <a:p>
                      <a:r>
                        <a:rPr sz="1200" b="0">
                          <a:solidFill>
                            <a:srgbClr val="1F2937"/>
                          </a:solidFill>
                        </a:rPr>
                        <a:t>2. Qayta qabul</a:t>
                      </a:r>
                    </a:p>
                  </a:txBody>
                  <a:tcPr marL="73152" marR="73152" marT="36576" marB="36576">
                    <a:solidFill>
                      <a:srgbClr val="FFFFFF"/>
                    </a:solidFill>
                  </a:tcPr>
                </a:tc>
                <a:tc>
                  <a:txBody>
                    <a:bodyPr/>
                    <a:lstStyle/>
                    <a:p>
                      <a:r>
                        <a:rPr sz="1200" b="0">
                          <a:solidFill>
                            <a:srgbClr val="1F2937"/>
                          </a:solidFill>
                        </a:rPr>
                        <a:t>Yot moddalarni qayta kiritish izlari</a:t>
                      </a:r>
                    </a:p>
                  </a:txBody>
                  <a:tcPr marL="73152" marR="73152" marT="36576" marB="36576">
                    <a:solidFill>
                      <a:srgbClr val="FFFFFF"/>
                    </a:solidFill>
                  </a:tcPr>
                </a:tc>
                <a:tc>
                  <a:txBody>
                    <a:bodyPr/>
                    <a:lstStyle/>
                    <a:p>
                      <a:r>
                        <a:rPr sz="1200" b="0">
                          <a:solidFill>
                            <a:srgbClr val="1F2937"/>
                          </a:solidFill>
                        </a:rPr>
                        <a:t>Kirish yo‘liga bog‘liq</a:t>
                      </a:r>
                    </a:p>
                  </a:txBody>
                  <a:tcPr marL="73152" marR="73152" marT="36576" marB="36576">
                    <a:solidFill>
                      <a:srgbClr val="FFFFFF"/>
                    </a:solidFill>
                  </a:tcPr>
                </a:tc>
              </a:tr>
              <a:tr h="411480">
                <a:tc>
                  <a:txBody>
                    <a:bodyPr/>
                    <a:lstStyle/>
                    <a:p>
                      <a:r>
                        <a:rPr sz="1200" b="0">
                          <a:solidFill>
                            <a:srgbClr val="1F2937"/>
                          </a:solidFill>
                        </a:rPr>
                        <a:t>3. In’eksiya</a:t>
                      </a:r>
                    </a:p>
                  </a:txBody>
                  <a:tcPr marL="73152" marR="73152" marT="36576" marB="36576">
                    <a:solidFill>
                      <a:srgbClr val="E8EEF6"/>
                    </a:solidFill>
                  </a:tcPr>
                </a:tc>
                <a:tc>
                  <a:txBody>
                    <a:bodyPr/>
                    <a:lstStyle/>
                    <a:p>
                      <a:r>
                        <a:rPr sz="1200" b="0">
                          <a:solidFill>
                            <a:srgbClr val="1F2937"/>
                          </a:solidFill>
                        </a:rPr>
                        <a:t>Yuqumli kasalliklar (gepatit va b.)</a:t>
                      </a:r>
                    </a:p>
                  </a:txBody>
                  <a:tcPr marL="73152" marR="73152" marT="36576" marB="36576">
                    <a:solidFill>
                      <a:srgbClr val="E8EEF6"/>
                    </a:solidFill>
                  </a:tcPr>
                </a:tc>
                <a:tc>
                  <a:txBody>
                    <a:bodyPr/>
                    <a:lstStyle/>
                    <a:p>
                      <a:r>
                        <a:rPr sz="1200" b="0">
                          <a:solidFill>
                            <a:srgbClr val="1F2937"/>
                          </a:solidFill>
                        </a:rPr>
                        <a:t>In’eksiya orqali yuqadi</a:t>
                      </a:r>
                    </a:p>
                  </a:txBody>
                  <a:tcPr marL="73152" marR="73152" marT="36576" marB="36576">
                    <a:solidFill>
                      <a:srgbClr val="E8EEF6"/>
                    </a:solidFill>
                  </a:tcPr>
                </a:tc>
              </a:tr>
              <a:tr h="411480">
                <a:tc>
                  <a:txBody>
                    <a:bodyPr/>
                    <a:lstStyle/>
                    <a:p>
                      <a:r>
                        <a:rPr sz="1200" b="0">
                          <a:solidFill>
                            <a:srgbClr val="1F2937"/>
                          </a:solidFill>
                        </a:rPr>
                        <a:t>4. Turmush tarzi</a:t>
                      </a:r>
                    </a:p>
                  </a:txBody>
                  <a:tcPr marL="73152" marR="73152" marT="36576" marB="36576">
                    <a:solidFill>
                      <a:srgbClr val="FFFFFF"/>
                    </a:solidFill>
                  </a:tcPr>
                </a:tc>
                <a:tc>
                  <a:txBody>
                    <a:bodyPr/>
                    <a:lstStyle/>
                    <a:p>
                      <a:r>
                        <a:rPr sz="1200" b="0">
                          <a:solidFill>
                            <a:srgbClr val="1F2937"/>
                          </a:solidFill>
                        </a:rPr>
                        <a:t>Ozginlik, tuberkulez, tatirovkalar</a:t>
                      </a:r>
                    </a:p>
                  </a:txBody>
                  <a:tcPr marL="73152" marR="73152" marT="36576" marB="36576">
                    <a:solidFill>
                      <a:srgbClr val="FFFFFF"/>
                    </a:solidFill>
                  </a:tcPr>
                </a:tc>
                <a:tc>
                  <a:txBody>
                    <a:bodyPr/>
                    <a:lstStyle/>
                    <a:p>
                      <a:r>
                        <a:rPr sz="1200" b="0">
                          <a:solidFill>
                            <a:srgbClr val="1F2937"/>
                          </a:solidFill>
                        </a:rPr>
                        <a:t>Bilvosita belgilar</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To‘rt guruh</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172</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Vena ichiga yuborishning morfologik izlari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giyohvand moddalar bilan zaharlanishning patomorfologiyasi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30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Venalar proyeksiyasida ko‘plab, turli muddatli mayda yaralar va chandiqlar aniqlanadi.</a:t>
            </a:r>
          </a:p>
          <a:p>
            <a:pPr>
              <a:spcAft>
                <a:spcPts val="800"/>
              </a:spcAft>
            </a:pPr>
            <a:r>
              <a:rPr sz="1800">
                <a:solidFill>
                  <a:srgbClr val="1F2937"/>
                </a:solidFill>
                <a:latin typeface="Calibri"/>
              </a:rPr>
              <a:t>▸  Qo‘lbola nosteril eritmadan vaskulit, tromboflebit, bakterial endokardit, abssess va sepsis kelib chiqadi.</a:t>
            </a:r>
          </a:p>
          <a:p>
            <a:pPr>
              <a:spcAft>
                <a:spcPts val="800"/>
              </a:spcAft>
            </a:pPr>
            <a:r>
              <a:rPr sz="1800">
                <a:solidFill>
                  <a:srgbClr val="1F2937"/>
                </a:solidFill>
                <a:latin typeface="Calibri"/>
              </a:rPr>
              <a:t>▸  Yot moddalar qon bilan tarqalib, ichki a’zolarda, ayniqsa o‘pka va jigarda granulemalar hosil qiladi.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Nosteril qo‘lbola eritma</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Vena ichiga in’eksiya</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Venada: yara va chandiq</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Asorat: vaskulit, sepsis</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O‘pka, jigarda granulema</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In’eksiyadan asoratgacha</a:t>
            </a:r>
          </a:p>
        </p:txBody>
      </p:sp>
      <p:sp>
        <p:nvSpPr>
          <p:cNvPr id="19" name="TextBox 1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172</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Burun va og‘iz orqali qabul qilishdagi o‘zgarishlar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giyohvand moddalar bilan zaharlanishning patomorfologiyasi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31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Yot moddalar burun orqali nafas bilan olinsa, burun va uning qo‘shimcha bo‘shliqlari shilliq qavatida surunkali yallig‘lanish bo‘ladi.</a:t>
            </a:r>
          </a:p>
          <a:p>
            <a:pPr>
              <a:spcAft>
                <a:spcPts val="1200"/>
              </a:spcAft>
            </a:pPr>
            <a:r>
              <a:rPr sz="2200">
                <a:solidFill>
                  <a:srgbClr val="1F2937"/>
                </a:solidFill>
                <a:latin typeface="Calibri"/>
              </a:rPr>
              <a:t>▸  Shu yo‘l bilan qabul qilinganda aspiratsion pnevmoniya rivojlanadi va o‘pkada granulemalar aniqlanadi.</a:t>
            </a:r>
          </a:p>
          <a:p>
            <a:pPr>
              <a:spcAft>
                <a:spcPts val="1200"/>
              </a:spcAft>
            </a:pPr>
            <a:r>
              <a:rPr sz="2200">
                <a:solidFill>
                  <a:srgbClr val="1F2937"/>
                </a:solidFill>
                <a:latin typeface="Calibri"/>
              </a:rPr>
              <a:t>▸  Kokain va amfetaminlar og‘iz orqali qabul qilinganda ichaklarning ishemik shikastlanishi kuzatiladi.</a:t>
            </a:r>
          </a:p>
          <a:p>
            <a:pPr>
              <a:spcAft>
                <a:spcPts val="1200"/>
              </a:spcAft>
            </a:pPr>
            <a:r>
              <a:rPr sz="2200">
                <a:solidFill>
                  <a:srgbClr val="1F2937"/>
                </a:solidFill>
                <a:latin typeface="Calibri"/>
              </a:rPr>
              <a:t>▸  Diqqat: bu o‘zgarishlar iste’molni qat’iy isbotlamaydi; ular voqea tafsiloti va sud-kimyoviy natijalar bilan birga baholanadi.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172</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Infeksiyalar va turmush tarzi belgilari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giyohvand moddalar bilan zaharlanishning patomorfologiyasi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32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In’eksiya yo‘li bilan qabul qilish OITS (orttirilgan immunitet tanqisligi sindromi) va gepatit B, C, D bilan bog‘liq.</a:t>
            </a:r>
          </a:p>
          <a:p>
            <a:pPr>
              <a:spcAft>
                <a:spcPts val="800"/>
              </a:spcAft>
            </a:pPr>
            <a:r>
              <a:rPr sz="1800">
                <a:solidFill>
                  <a:srgbClr val="1F2937"/>
                </a:solidFill>
                <a:latin typeface="Calibri"/>
              </a:rPr>
              <a:t>▸  Turmush tarzi izlari: ozginlik, tuberkulez, venerik kasalliklar, pedikulez va terida xos tatuirovkalar.</a:t>
            </a:r>
          </a:p>
          <a:p>
            <a:pPr>
              <a:spcAft>
                <a:spcPts val="800"/>
              </a:spcAft>
            </a:pPr>
            <a:r>
              <a:rPr sz="1800">
                <a:solidFill>
                  <a:srgbClr val="1F2937"/>
                </a:solidFill>
                <a:latin typeface="Calibri"/>
              </a:rPr>
              <a:t>▸  Ayollarda homiladorlikni saqlay olmaslik va kichik massali bolalar tug‘ilishi ham uchraydi.</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1702907"/>
                <a:gridCol w="3585067"/>
              </a:tblGrid>
              <a:tr h="411480">
                <a:tc>
                  <a:txBody>
                    <a:bodyPr/>
                    <a:lstStyle/>
                    <a:p>
                      <a:r>
                        <a:rPr sz="1400" b="1">
                          <a:solidFill>
                            <a:srgbClr val="FFFFFF"/>
                          </a:solidFill>
                        </a:rPr>
                        <a:t>Guruh</a:t>
                      </a:r>
                    </a:p>
                  </a:txBody>
                  <a:tcPr marL="73152" marR="73152" marT="36576" marB="36576">
                    <a:solidFill>
                      <a:srgbClr val="0B1F3A"/>
                    </a:solidFill>
                  </a:tcPr>
                </a:tc>
                <a:tc>
                  <a:txBody>
                    <a:bodyPr/>
                    <a:lstStyle/>
                    <a:p>
                      <a:r>
                        <a:rPr sz="1400" b="1">
                          <a:solidFill>
                            <a:srgbClr val="FFFFFF"/>
                          </a:solidFill>
                        </a:rPr>
                        <a:t>Belgilar</a:t>
                      </a:r>
                    </a:p>
                  </a:txBody>
                  <a:tcPr marL="73152" marR="73152" marT="36576" marB="36576">
                    <a:solidFill>
                      <a:srgbClr val="0B1F3A"/>
                    </a:solidFill>
                  </a:tcPr>
                </a:tc>
              </a:tr>
              <a:tr h="411480">
                <a:tc>
                  <a:txBody>
                    <a:bodyPr/>
                    <a:lstStyle/>
                    <a:p>
                      <a:r>
                        <a:rPr sz="1300" b="0">
                          <a:solidFill>
                            <a:srgbClr val="1F2937"/>
                          </a:solidFill>
                        </a:rPr>
                        <a:t>Yuqumli kasalliklar</a:t>
                      </a:r>
                    </a:p>
                  </a:txBody>
                  <a:tcPr marL="73152" marR="73152" marT="36576" marB="36576">
                    <a:solidFill>
                      <a:srgbClr val="E8EEF6"/>
                    </a:solidFill>
                  </a:tcPr>
                </a:tc>
                <a:tc>
                  <a:txBody>
                    <a:bodyPr/>
                    <a:lstStyle/>
                    <a:p>
                      <a:r>
                        <a:rPr sz="1300" b="0">
                          <a:solidFill>
                            <a:srgbClr val="1F2937"/>
                          </a:solidFill>
                        </a:rPr>
                        <a:t>OITS, gepatit B, C, D</a:t>
                      </a:r>
                    </a:p>
                  </a:txBody>
                  <a:tcPr marL="73152" marR="73152" marT="36576" marB="36576">
                    <a:solidFill>
                      <a:srgbClr val="E8EEF6"/>
                    </a:solidFill>
                  </a:tcPr>
                </a:tc>
              </a:tr>
              <a:tr h="411480">
                <a:tc>
                  <a:txBody>
                    <a:bodyPr/>
                    <a:lstStyle/>
                    <a:p>
                      <a:r>
                        <a:rPr sz="1300" b="0">
                          <a:solidFill>
                            <a:srgbClr val="1F2937"/>
                          </a:solidFill>
                        </a:rPr>
                        <a:t>Umumiy holat</a:t>
                      </a:r>
                    </a:p>
                  </a:txBody>
                  <a:tcPr marL="73152" marR="73152" marT="36576" marB="36576">
                    <a:solidFill>
                      <a:srgbClr val="FFFFFF"/>
                    </a:solidFill>
                  </a:tcPr>
                </a:tc>
                <a:tc>
                  <a:txBody>
                    <a:bodyPr/>
                    <a:lstStyle/>
                    <a:p>
                      <a:r>
                        <a:rPr sz="1300" b="0">
                          <a:solidFill>
                            <a:srgbClr val="1F2937"/>
                          </a:solidFill>
                        </a:rPr>
                        <a:t>Ozginlik, tuberkulez</a:t>
                      </a:r>
                    </a:p>
                  </a:txBody>
                  <a:tcPr marL="73152" marR="73152" marT="36576" marB="36576">
                    <a:solidFill>
                      <a:srgbClr val="FFFFFF"/>
                    </a:solidFill>
                  </a:tcPr>
                </a:tc>
              </a:tr>
              <a:tr h="411480">
                <a:tc>
                  <a:txBody>
                    <a:bodyPr/>
                    <a:lstStyle/>
                    <a:p>
                      <a:r>
                        <a:rPr sz="1300" b="0">
                          <a:solidFill>
                            <a:srgbClr val="1F2937"/>
                          </a:solidFill>
                        </a:rPr>
                        <a:t>Boshqa belgilar</a:t>
                      </a:r>
                    </a:p>
                  </a:txBody>
                  <a:tcPr marL="73152" marR="73152" marT="36576" marB="36576">
                    <a:solidFill>
                      <a:srgbClr val="E8EEF6"/>
                    </a:solidFill>
                  </a:tcPr>
                </a:tc>
                <a:tc>
                  <a:txBody>
                    <a:bodyPr/>
                    <a:lstStyle/>
                    <a:p>
                      <a:r>
                        <a:rPr sz="1300" b="0">
                          <a:solidFill>
                            <a:srgbClr val="1F2937"/>
                          </a:solidFill>
                        </a:rPr>
                        <a:t>Venerik kasalliklar, pedikulez, tatuirovka</a:t>
                      </a:r>
                    </a:p>
                  </a:txBody>
                  <a:tcPr marL="73152" marR="73152" marT="36576" marB="36576">
                    <a:solidFill>
                      <a:srgbClr val="E8EEF6"/>
                    </a:solidFill>
                  </a:tcPr>
                </a:tc>
              </a:tr>
              <a:tr h="411480">
                <a:tc>
                  <a:txBody>
                    <a:bodyPr/>
                    <a:lstStyle/>
                    <a:p>
                      <a:r>
                        <a:rPr sz="1300" b="0">
                          <a:solidFill>
                            <a:srgbClr val="1F2937"/>
                          </a:solidFill>
                        </a:rPr>
                        <a:t>Homiladorlik</a:t>
                      </a:r>
                    </a:p>
                  </a:txBody>
                  <a:tcPr marL="73152" marR="73152" marT="36576" marB="36576">
                    <a:solidFill>
                      <a:srgbClr val="FFFFFF"/>
                    </a:solidFill>
                  </a:tcPr>
                </a:tc>
                <a:tc>
                  <a:txBody>
                    <a:bodyPr/>
                    <a:lstStyle/>
                    <a:p>
                      <a:r>
                        <a:rPr sz="1300" b="0">
                          <a:solidFill>
                            <a:srgbClr val="1F2937"/>
                          </a:solidFill>
                        </a:rPr>
                        <a:t>Saqlay olmaslik, kichik massali bola</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Bilvosita belgilar guruhlari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172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Diqqat: morfologik belgilar qat’iy xulosa bermaydi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giyohvand moddalar bilan zaharlanishning patomorfologiyasi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33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Diqqat: keltirilgan o‘zgarishlar asosida narkotik yoki psixotrop modda iste’mol qilinganligi haqida qat’iy xulosa qilib bo‘lmaydi.</a:t>
            </a:r>
          </a:p>
          <a:p>
            <a:pPr>
              <a:spcAft>
                <a:spcPts val="1200"/>
              </a:spcAft>
            </a:pPr>
            <a:r>
              <a:rPr sz="2200">
                <a:solidFill>
                  <a:srgbClr val="1F2937"/>
                </a:solidFill>
                <a:latin typeface="Calibri"/>
              </a:rPr>
              <a:t>▸  Bu o‘zgarishlar bilvosita dalil hisoblanadi va faqat boshqa ma’lumotlar bilan birga baholanadi.</a:t>
            </a:r>
          </a:p>
          <a:p>
            <a:pPr>
              <a:spcAft>
                <a:spcPts val="1200"/>
              </a:spcAft>
            </a:pPr>
            <a:r>
              <a:rPr sz="2200">
                <a:solidFill>
                  <a:srgbClr val="1F2937"/>
                </a:solidFill>
                <a:latin typeface="Calibri"/>
              </a:rPr>
              <a:t>▸  Birga baholanadigan ma’lumotlar: voqea tafsiloti, katamnestik yoki klinik ma’lumotlar va asosan sud-kimyoviy tekshiruv natijalari.</a:t>
            </a:r>
          </a:p>
          <a:p>
            <a:pPr>
              <a:spcAft>
                <a:spcPts val="1200"/>
              </a:spcAft>
            </a:pPr>
            <a:r>
              <a:rPr sz="2200">
                <a:solidFill>
                  <a:srgbClr val="1F2937"/>
                </a:solidFill>
                <a:latin typeface="Calibri"/>
              </a:rPr>
              <a:t>▸  Spetsifik neyrokimyoviy o‘zgarishlar faqat tajribada yoki o‘limdan keyin juda qisqa muddatda aniqlanadi; amaliyotda ahamiyatsiz.</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172</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Laboratoriya uchun namunalar va siydikda aniqlanish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giyohvand moddalar bilan zaharlanishning patomorfologiyasi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34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Kannabinoidlar uchun 10 ml qon, 10 ml siydik, 10 ml so‘lak va qo‘l barmoqlaridan yuvma olinadi.</a:t>
            </a:r>
          </a:p>
          <a:p>
            <a:pPr>
              <a:spcAft>
                <a:spcPts val="800"/>
              </a:spcAft>
            </a:pPr>
            <a:r>
              <a:rPr sz="1800">
                <a:solidFill>
                  <a:srgbClr val="1F2937"/>
                </a:solidFill>
                <a:latin typeface="Calibri"/>
              </a:rPr>
              <a:t>▸  Nasha gumon qilinsa, barmoqlar etil spirtli paxta bilan artiladi, tiqin polietilen qopchaga solinadi.</a:t>
            </a:r>
          </a:p>
          <a:p>
            <a:pPr>
              <a:spcAft>
                <a:spcPts val="800"/>
              </a:spcAft>
            </a:pPr>
            <a:r>
              <a:rPr sz="1800">
                <a:solidFill>
                  <a:srgbClr val="1F2937"/>
                </a:solidFill>
                <a:latin typeface="Calibri"/>
              </a:rPr>
              <a:t>▸  Boshqa moddalar uchun 15-20 ml qon va kamida 200 ml siydik olinadi.</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1692152"/>
                <a:gridCol w="1797911"/>
                <a:gridCol w="1797911"/>
              </a:tblGrid>
              <a:tr h="411480">
                <a:tc>
                  <a:txBody>
                    <a:bodyPr/>
                    <a:lstStyle/>
                    <a:p>
                      <a:r>
                        <a:rPr sz="1300" b="1">
                          <a:solidFill>
                            <a:srgbClr val="FFFFFF"/>
                          </a:solidFill>
                        </a:rPr>
                        <a:t>Modda</a:t>
                      </a:r>
                    </a:p>
                  </a:txBody>
                  <a:tcPr marL="73152" marR="73152" marT="36576" marB="36576">
                    <a:solidFill>
                      <a:srgbClr val="0B1F3A"/>
                    </a:solidFill>
                  </a:tcPr>
                </a:tc>
                <a:tc>
                  <a:txBody>
                    <a:bodyPr/>
                    <a:lstStyle/>
                    <a:p>
                      <a:r>
                        <a:rPr sz="1300" b="1">
                          <a:solidFill>
                            <a:srgbClr val="FFFFFF"/>
                          </a:solidFill>
                        </a:rPr>
                        <a:t>Boshlanishi</a:t>
                      </a:r>
                    </a:p>
                  </a:txBody>
                  <a:tcPr marL="73152" marR="73152" marT="36576" marB="36576">
                    <a:solidFill>
                      <a:srgbClr val="0B1F3A"/>
                    </a:solidFill>
                  </a:tcPr>
                </a:tc>
                <a:tc>
                  <a:txBody>
                    <a:bodyPr/>
                    <a:lstStyle/>
                    <a:p>
                      <a:r>
                        <a:rPr sz="1300" b="1">
                          <a:solidFill>
                            <a:srgbClr val="FFFFFF"/>
                          </a:solidFill>
                        </a:rPr>
                        <a:t>Davomiyligi</a:t>
                      </a:r>
                    </a:p>
                  </a:txBody>
                  <a:tcPr marL="73152" marR="73152" marT="36576" marB="36576">
                    <a:solidFill>
                      <a:srgbClr val="0B1F3A"/>
                    </a:solidFill>
                  </a:tcPr>
                </a:tc>
              </a:tr>
              <a:tr h="411480">
                <a:tc>
                  <a:txBody>
                    <a:bodyPr/>
                    <a:lstStyle/>
                    <a:p>
                      <a:r>
                        <a:rPr sz="1200" b="0">
                          <a:solidFill>
                            <a:srgbClr val="1F2937"/>
                          </a:solidFill>
                        </a:rPr>
                        <a:t>Kannabinoidlar</a:t>
                      </a:r>
                    </a:p>
                  </a:txBody>
                  <a:tcPr marL="73152" marR="73152" marT="36576" marB="36576">
                    <a:solidFill>
                      <a:srgbClr val="E8EEF6"/>
                    </a:solidFill>
                  </a:tcPr>
                </a:tc>
                <a:tc>
                  <a:txBody>
                    <a:bodyPr/>
                    <a:lstStyle/>
                    <a:p>
                      <a:r>
                        <a:rPr sz="1200" b="0">
                          <a:solidFill>
                            <a:srgbClr val="1F2937"/>
                          </a:solidFill>
                        </a:rPr>
                        <a:t>1-3 soat</a:t>
                      </a:r>
                    </a:p>
                  </a:txBody>
                  <a:tcPr marL="73152" marR="73152" marT="36576" marB="36576">
                    <a:solidFill>
                      <a:srgbClr val="E8EEF6"/>
                    </a:solidFill>
                  </a:tcPr>
                </a:tc>
                <a:tc>
                  <a:txBody>
                    <a:bodyPr/>
                    <a:lstStyle/>
                    <a:p>
                      <a:r>
                        <a:rPr sz="1200" b="0">
                          <a:solidFill>
                            <a:srgbClr val="1F2937"/>
                          </a:solidFill>
                        </a:rPr>
                        <a:t>24-168 soat</a:t>
                      </a:r>
                    </a:p>
                  </a:txBody>
                  <a:tcPr marL="73152" marR="73152" marT="36576" marB="36576">
                    <a:solidFill>
                      <a:srgbClr val="E8EEF6"/>
                    </a:solidFill>
                  </a:tcPr>
                </a:tc>
              </a:tr>
              <a:tr h="411480">
                <a:tc>
                  <a:txBody>
                    <a:bodyPr/>
                    <a:lstStyle/>
                    <a:p>
                      <a:r>
                        <a:rPr sz="1200" b="0">
                          <a:solidFill>
                            <a:srgbClr val="1F2937"/>
                          </a:solidFill>
                        </a:rPr>
                        <a:t>Geroin</a:t>
                      </a:r>
                    </a:p>
                  </a:txBody>
                  <a:tcPr marL="73152" marR="73152" marT="36576" marB="36576">
                    <a:solidFill>
                      <a:srgbClr val="FFFFFF"/>
                    </a:solidFill>
                  </a:tcPr>
                </a:tc>
                <a:tc>
                  <a:txBody>
                    <a:bodyPr/>
                    <a:lstStyle/>
                    <a:p>
                      <a:r>
                        <a:rPr sz="1200" b="0">
                          <a:solidFill>
                            <a:srgbClr val="1F2937"/>
                          </a:solidFill>
                        </a:rPr>
                        <a:t>2-6 soat</a:t>
                      </a:r>
                    </a:p>
                  </a:txBody>
                  <a:tcPr marL="73152" marR="73152" marT="36576" marB="36576">
                    <a:solidFill>
                      <a:srgbClr val="FFFFFF"/>
                    </a:solidFill>
                  </a:tcPr>
                </a:tc>
                <a:tc>
                  <a:txBody>
                    <a:bodyPr/>
                    <a:lstStyle/>
                    <a:p>
                      <a:r>
                        <a:rPr sz="1200" b="0">
                          <a:solidFill>
                            <a:srgbClr val="1F2937"/>
                          </a:solidFill>
                        </a:rPr>
                        <a:t>24-72 soat</a:t>
                      </a:r>
                    </a:p>
                  </a:txBody>
                  <a:tcPr marL="73152" marR="73152" marT="36576" marB="36576">
                    <a:solidFill>
                      <a:srgbClr val="FFFFFF"/>
                    </a:solidFill>
                  </a:tcPr>
                </a:tc>
              </a:tr>
              <a:tr h="411480">
                <a:tc>
                  <a:txBody>
                    <a:bodyPr/>
                    <a:lstStyle/>
                    <a:p>
                      <a:r>
                        <a:rPr sz="1200" b="0">
                          <a:solidFill>
                            <a:srgbClr val="1F2937"/>
                          </a:solidFill>
                        </a:rPr>
                        <a:t>Metamfetamin</a:t>
                      </a:r>
                    </a:p>
                  </a:txBody>
                  <a:tcPr marL="73152" marR="73152" marT="36576" marB="36576">
                    <a:solidFill>
                      <a:srgbClr val="E8EEF6"/>
                    </a:solidFill>
                  </a:tcPr>
                </a:tc>
                <a:tc>
                  <a:txBody>
                    <a:bodyPr/>
                    <a:lstStyle/>
                    <a:p>
                      <a:r>
                        <a:rPr sz="1200" b="0">
                          <a:solidFill>
                            <a:srgbClr val="1F2937"/>
                          </a:solidFill>
                        </a:rPr>
                        <a:t>4-6 soat</a:t>
                      </a:r>
                    </a:p>
                  </a:txBody>
                  <a:tcPr marL="73152" marR="73152" marT="36576" marB="36576">
                    <a:solidFill>
                      <a:srgbClr val="E8EEF6"/>
                    </a:solidFill>
                  </a:tcPr>
                </a:tc>
                <a:tc>
                  <a:txBody>
                    <a:bodyPr/>
                    <a:lstStyle/>
                    <a:p>
                      <a:r>
                        <a:rPr sz="1200" b="0">
                          <a:solidFill>
                            <a:srgbClr val="1F2937"/>
                          </a:solidFill>
                        </a:rPr>
                        <a:t>48-72 soat</a:t>
                      </a:r>
                    </a:p>
                  </a:txBody>
                  <a:tcPr marL="73152" marR="73152" marT="36576" marB="36576">
                    <a:solidFill>
                      <a:srgbClr val="E8EEF6"/>
                    </a:solidFill>
                  </a:tcPr>
                </a:tc>
              </a:tr>
              <a:tr h="411480">
                <a:tc>
                  <a:txBody>
                    <a:bodyPr/>
                    <a:lstStyle/>
                    <a:p>
                      <a:r>
                        <a:rPr sz="1200" b="0">
                          <a:solidFill>
                            <a:srgbClr val="1F2937"/>
                          </a:solidFill>
                        </a:rPr>
                        <a:t>Fensiklidin</a:t>
                      </a:r>
                    </a:p>
                  </a:txBody>
                  <a:tcPr marL="73152" marR="73152" marT="36576" marB="36576">
                    <a:solidFill>
                      <a:srgbClr val="FFFFFF"/>
                    </a:solidFill>
                  </a:tcPr>
                </a:tc>
                <a:tc>
                  <a:txBody>
                    <a:bodyPr/>
                    <a:lstStyle/>
                    <a:p>
                      <a:r>
                        <a:rPr sz="1200" b="0">
                          <a:solidFill>
                            <a:srgbClr val="1F2937"/>
                          </a:solidFill>
                        </a:rPr>
                        <a:t>4-6 soat</a:t>
                      </a:r>
                    </a:p>
                  </a:txBody>
                  <a:tcPr marL="73152" marR="73152" marT="36576" marB="36576">
                    <a:solidFill>
                      <a:srgbClr val="FFFFFF"/>
                    </a:solidFill>
                  </a:tcPr>
                </a:tc>
                <a:tc>
                  <a:txBody>
                    <a:bodyPr/>
                    <a:lstStyle/>
                    <a:p>
                      <a:r>
                        <a:rPr sz="1200" b="0">
                          <a:solidFill>
                            <a:srgbClr val="1F2937"/>
                          </a:solidFill>
                        </a:rPr>
                        <a:t>7-14 kun</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Siydikda aniqlanish muddatlari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171</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Laboratoriya natijalarini tanqidiy baholash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giyohvand moddalar bilan zaharlanishning patomorfologiyasi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35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Zaharlanish bo‘lmasa ham tekshiruvda zahar topilishi mumkin; aksincha, zaharlanishda zahar topilmasligi ham uchraydi.</a:t>
            </a:r>
          </a:p>
          <a:p>
            <a:pPr>
              <a:spcAft>
                <a:spcPts val="800"/>
              </a:spcAft>
            </a:pPr>
            <a:r>
              <a:rPr sz="1800">
                <a:solidFill>
                  <a:srgbClr val="1F2937"/>
                </a:solidFill>
                <a:latin typeface="Calibri"/>
              </a:rPr>
              <a:t>▸  Amaliyotda eng ko‘p sud-kimyoviy va gistologik tekshiruvlar o‘tkaziladi; gistologiya makroskopik ko‘rikni to‘ldiradi.</a:t>
            </a:r>
          </a:p>
          <a:p>
            <a:pPr>
              <a:spcAft>
                <a:spcPts val="800"/>
              </a:spcAft>
            </a:pPr>
            <a:r>
              <a:rPr sz="1800">
                <a:solidFill>
                  <a:srgbClr val="1F2937"/>
                </a:solidFill>
                <a:latin typeface="Calibri"/>
              </a:rPr>
              <a:t>▸  Natija hamisha voqea tafsiloti, klinik va makroskopik ma’lumotlar bilan birga, tanqidiy baholanadi.</a:t>
            </a:r>
          </a:p>
        </p:txBody>
      </p:sp>
      <p:graphicFrame>
        <p:nvGraphicFramePr>
          <p:cNvPr id="9" name="Table 8"/>
          <p:cNvGraphicFramePr>
            <a:graphicFrameLocks noGrp="1"/>
          </p:cNvGraphicFramePr>
          <p:nvPr/>
        </p:nvGraphicFramePr>
        <p:xfrm>
          <a:off x="6263640" y="1463040"/>
          <a:ext cx="5287975" cy="2057400"/>
        </p:xfrm>
        <a:graphic>
          <a:graphicData uri="http://schemas.openxmlformats.org/drawingml/2006/table">
            <a:tbl>
              <a:tblPr firstRow="1" bandRow="1">
                <a:tableStyleId>{5C22544A-7EE6-4342-B048-85BDC9FD1C3A}</a:tableStyleId>
              </a:tblPr>
              <a:tblGrid>
                <a:gridCol w="1510850"/>
                <a:gridCol w="3777125"/>
              </a:tblGrid>
              <a:tr h="411480">
                <a:tc>
                  <a:txBody>
                    <a:bodyPr/>
                    <a:lstStyle/>
                    <a:p>
                      <a:r>
                        <a:rPr sz="1400" b="1">
                          <a:solidFill>
                            <a:srgbClr val="FFFFFF"/>
                          </a:solidFill>
                        </a:rPr>
                        <a:t>Natija</a:t>
                      </a:r>
                    </a:p>
                  </a:txBody>
                  <a:tcPr marL="73152" marR="73152" marT="36576" marB="36576">
                    <a:solidFill>
                      <a:srgbClr val="0B1F3A"/>
                    </a:solidFill>
                  </a:tcPr>
                </a:tc>
                <a:tc>
                  <a:txBody>
                    <a:bodyPr/>
                    <a:lstStyle/>
                    <a:p>
                      <a:r>
                        <a:rPr sz="1400" b="1">
                          <a:solidFill>
                            <a:srgbClr val="FFFFFF"/>
                          </a:solidFill>
                        </a:rPr>
                        <a:t>Mumkin sabab</a:t>
                      </a:r>
                    </a:p>
                  </a:txBody>
                  <a:tcPr marL="73152" marR="73152" marT="36576" marB="36576">
                    <a:solidFill>
                      <a:srgbClr val="0B1F3A"/>
                    </a:solidFill>
                  </a:tcPr>
                </a:tc>
              </a:tr>
              <a:tr h="411480">
                <a:tc>
                  <a:txBody>
                    <a:bodyPr/>
                    <a:lstStyle/>
                    <a:p>
                      <a:r>
                        <a:rPr sz="1300" b="0">
                          <a:solidFill>
                            <a:srgbClr val="1F2937"/>
                          </a:solidFill>
                        </a:rPr>
                        <a:t>Soxta musbat</a:t>
                      </a:r>
                    </a:p>
                  </a:txBody>
                  <a:tcPr marL="73152" marR="73152" marT="36576" marB="36576">
                    <a:solidFill>
                      <a:srgbClr val="E8EEF6"/>
                    </a:solidFill>
                  </a:tcPr>
                </a:tc>
                <a:tc>
                  <a:txBody>
                    <a:bodyPr/>
                    <a:lstStyle/>
                    <a:p>
                      <a:r>
                        <a:rPr sz="1300" b="0">
                          <a:solidFill>
                            <a:srgbClr val="1F2937"/>
                          </a:solidFill>
                        </a:rPr>
                        <a:t>Dori, chirish, kasb, ob’ekt olishdagi xato</a:t>
                      </a:r>
                    </a:p>
                  </a:txBody>
                  <a:tcPr marL="73152" marR="73152" marT="36576" marB="36576">
                    <a:solidFill>
                      <a:srgbClr val="E8EEF6"/>
                    </a:solidFill>
                  </a:tcPr>
                </a:tc>
              </a:tr>
              <a:tr h="411480">
                <a:tc>
                  <a:txBody>
                    <a:bodyPr/>
                    <a:lstStyle/>
                    <a:p>
                      <a:r>
                        <a:rPr sz="1300" b="0">
                          <a:solidFill>
                            <a:srgbClr val="1F2937"/>
                          </a:solidFill>
                        </a:rPr>
                        <a:t>Soxta manfiy</a:t>
                      </a:r>
                    </a:p>
                  </a:txBody>
                  <a:tcPr marL="73152" marR="73152" marT="36576" marB="36576">
                    <a:solidFill>
                      <a:srgbClr val="FFFFFF"/>
                    </a:solidFill>
                  </a:tcPr>
                </a:tc>
                <a:tc>
                  <a:txBody>
                    <a:bodyPr/>
                    <a:lstStyle/>
                    <a:p>
                      <a:r>
                        <a:rPr sz="1300" b="0">
                          <a:solidFill>
                            <a:srgbClr val="1F2937"/>
                          </a:solidFill>
                        </a:rPr>
                        <a:t>Tez parchalanish, infuziya, vaqt o‘tishi</a:t>
                      </a:r>
                    </a:p>
                  </a:txBody>
                  <a:tcPr marL="73152" marR="73152" marT="36576" marB="36576">
                    <a:solidFill>
                      <a:srgbClr val="FFFFFF"/>
                    </a:solidFill>
                  </a:tcPr>
                </a:tc>
              </a:tr>
              <a:tr h="411480">
                <a:tc>
                  <a:txBody>
                    <a:bodyPr/>
                    <a:lstStyle/>
                    <a:p>
                      <a:r>
                        <a:rPr sz="1300" b="0">
                          <a:solidFill>
                            <a:srgbClr val="1F2937"/>
                          </a:solidFill>
                        </a:rPr>
                        <a:t>Soxta manfiy</a:t>
                      </a:r>
                    </a:p>
                  </a:txBody>
                  <a:tcPr marL="73152" marR="73152" marT="36576" marB="36576">
                    <a:solidFill>
                      <a:srgbClr val="E8EEF6"/>
                    </a:solidFill>
                  </a:tcPr>
                </a:tc>
                <a:tc>
                  <a:txBody>
                    <a:bodyPr/>
                    <a:lstStyle/>
                    <a:p>
                      <a:r>
                        <a:rPr sz="1300" b="0">
                          <a:solidFill>
                            <a:srgbClr val="1F2937"/>
                          </a:solidFill>
                        </a:rPr>
                        <a:t>Ob’ekt olish xatosi; usul ishlab chiqilmagan</a:t>
                      </a:r>
                    </a:p>
                  </a:txBody>
                  <a:tcPr marL="73152" marR="73152" marT="36576" marB="36576">
                    <a:solidFill>
                      <a:srgbClr val="E8EEF6"/>
                    </a:solidFill>
                  </a:tcPr>
                </a:tc>
              </a:tr>
              <a:tr h="411480">
                <a:tc>
                  <a:txBody>
                    <a:bodyPr/>
                    <a:lstStyle/>
                    <a:p>
                      <a:r>
                        <a:rPr sz="1300" b="0">
                          <a:solidFill>
                            <a:srgbClr val="1F2937"/>
                          </a:solidFill>
                        </a:rPr>
                        <a:t>To‘g‘ri baholash</a:t>
                      </a:r>
                    </a:p>
                  </a:txBody>
                  <a:tcPr marL="73152" marR="73152" marT="36576" marB="36576">
                    <a:solidFill>
                      <a:srgbClr val="FFFFFF"/>
                    </a:solidFill>
                  </a:tcPr>
                </a:tc>
                <a:tc>
                  <a:txBody>
                    <a:bodyPr/>
                    <a:lstStyle/>
                    <a:p>
                      <a:r>
                        <a:rPr sz="1300" b="0">
                          <a:solidFill>
                            <a:srgbClr val="1F2937"/>
                          </a:solidFill>
                        </a:rPr>
                        <a:t>Voqea, klinika, makroskopiya bilan birga</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Soxta natijalar sabablari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180, 181</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3: murda tekshiruvi va xulosa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giyohvand moddalar bilan zaharlanishning patomorfologiyasi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36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Vaziyat: yosh erkak murdasi. Venalar proyeksiyasida (masalan, tirsak) turli muddatli chandiqlar, tana ozg‘in, o‘pkada granulemalar topilgan.</a:t>
            </a:r>
          </a:p>
          <a:p>
            <a:pPr>
              <a:spcAft>
                <a:spcPts val="1200"/>
              </a:spcAft>
            </a:pPr>
            <a:r>
              <a:rPr sz="2000">
                <a:solidFill>
                  <a:srgbClr val="1F2937"/>
                </a:solidFill>
                <a:latin typeface="Calibri"/>
              </a:rPr>
              <a:t>▸  Venalardagi chandiq va yaralar hamda o‘pka granulemalari yot moddalarning qayta-qayta qabul qilinishi bilan bog‘liq (2-guruh) o‘zgarishlardir.</a:t>
            </a:r>
          </a:p>
          <a:p>
            <a:pPr>
              <a:spcAft>
                <a:spcPts val="1200"/>
              </a:spcAft>
            </a:pPr>
            <a:r>
              <a:rPr sz="2000">
                <a:solidFill>
                  <a:srgbClr val="1F2937"/>
                </a:solidFill>
                <a:latin typeface="Calibri"/>
              </a:rPr>
              <a:t>▸  Ozg‘inlik turmush tarzi bilan bog‘liq o‘zgarishlarga (4-guruh) kiradi. OITS (orttirilgan immunitet tanqisligi sindromi) va gepatitlar in’eksiya infeksiyalari (3-guruh) hisoblanadi.</a:t>
            </a:r>
          </a:p>
          <a:p>
            <a:pPr>
              <a:spcAft>
                <a:spcPts val="1200"/>
              </a:spcAft>
            </a:pPr>
            <a:r>
              <a:rPr sz="2000">
                <a:solidFill>
                  <a:srgbClr val="1F2937"/>
                </a:solidFill>
                <a:latin typeface="Calibri"/>
              </a:rPr>
              <a:t>▸  Xulosa chegarasi: bu belgilar bilvosita dalil. Iste’molga qat’iy xulosa uchun voqea tafsiloti, klinika va asosan sud-kimyoviy natija zarur.</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172</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Xulosa va eslab qolish nuqtalari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giyohvand moddalar bilan zaharlanishning patomorfologiyasi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37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Narkotiklar bilan bog‘liq o‘lim (DRD, drug related death) bevosita yoki bilvosita bog‘liq o‘limlarni qamraydi: katta doza, uzoq qabul, o‘z-o‘zini o‘ldirish, baxtsiz hodisa, qotillik.</a:t>
            </a:r>
          </a:p>
          <a:p>
            <a:pPr>
              <a:spcAft>
                <a:spcPts val="1200"/>
              </a:spcAft>
            </a:pPr>
            <a:r>
              <a:rPr sz="2000">
                <a:solidFill>
                  <a:srgbClr val="1F2937"/>
                </a:solidFill>
                <a:latin typeface="Calibri"/>
              </a:rPr>
              <a:t>▸  Murdada topiladigan o‘zgarishlar to‘rt guruhga bo‘linadi: spetsifik, qayta qabul bilan bog‘liq, in’eksiya infeksiyalari va turmush tarzi bilan bog‘liq.</a:t>
            </a:r>
          </a:p>
          <a:p>
            <a:pPr>
              <a:spcAft>
                <a:spcPts val="1200"/>
              </a:spcAft>
            </a:pPr>
            <a:r>
              <a:rPr sz="2000">
                <a:solidFill>
                  <a:srgbClr val="1F2937"/>
                </a:solidFill>
                <a:latin typeface="Calibri"/>
              </a:rPr>
              <a:t>▸  Bu o‘zgarishlar bilvosita dalil, ular asosida iste’mol haqida qat’iy xulosa qilib bo‘lmaydi; asosan sud-kimyoviy natijalar bilan birga baholanadi.</a:t>
            </a:r>
          </a:p>
          <a:p>
            <a:pPr>
              <a:spcAft>
                <a:spcPts val="1200"/>
              </a:spcAft>
            </a:pPr>
            <a:r>
              <a:rPr sz="2000">
                <a:solidFill>
                  <a:srgbClr val="1F2937"/>
                </a:solidFill>
                <a:latin typeface="Calibri"/>
              </a:rPr>
              <a:t>▸  Laboratoriya tekshiruvlarining ko‘lami va natijalari ekspertiza xulosasining ishonchliligi va asoslanganligini belgilaydi.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168, 172, 136</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Qiziqarli ma’lumotlar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giyohvand moddalar bilan zaharlanishning patomorfologiyasi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38 / 80</a:t>
            </a:r>
          </a:p>
        </p:txBody>
      </p:sp>
      <p:sp>
        <p:nvSpPr>
          <p:cNvPr id="8" name="TextBox 7"/>
          <p:cNvSpPr txBox="1"/>
          <p:nvPr/>
        </p:nvSpPr>
        <p:spPr>
          <a:xfrm>
            <a:off x="640080" y="1463040"/>
            <a:ext cx="10911535" cy="4754880"/>
          </a:xfrm>
          <a:prstGeom prst="rect">
            <a:avLst/>
          </a:prstGeom>
          <a:noFill/>
        </p:spPr>
        <p:txBody>
          <a:bodyPr wrap="square">
            <a:spAutoFit/>
          </a:bodyPr>
          <a:lstStyle/>
          <a:p>
            <a:pPr>
              <a:spcAft>
                <a:spcPts val="1200"/>
              </a:spcAft>
            </a:pPr>
            <a:r>
              <a:rPr sz="1800">
                <a:solidFill>
                  <a:srgbClr val="1F2937"/>
                </a:solidFill>
                <a:latin typeface="Calibri"/>
              </a:rPr>
              <a:t>▸  Morfinning jigardagi konsentratsiyasi qondagidan qariyb besh barobar yuqori. Chiqarilishi 8-12 soatda eng yuqori bo‘lib, dastlabki 3-4 kunda 90% ga yaqini chiqadi. Murdada u uzoq parchalanmaydi va bir necha oydan keyin ham sud-kimyoviy tekshiruvda topilishi mumkin.</a:t>
            </a:r>
          </a:p>
          <a:p>
            <a:pPr>
              <a:spcAft>
                <a:spcPts val="1200"/>
              </a:spcAft>
            </a:pPr>
            <a:r>
              <a:rPr sz="1800">
                <a:solidFill>
                  <a:srgbClr val="1F2937"/>
                </a:solidFill>
                <a:latin typeface="Calibri"/>
              </a:rPr>
              <a:t>▸  Eslab qolish usuli: murdadagi o‘zgarishlarning to‘rt guruhi “MYIT” bilan eslanadi. M - modda uchun maxsus (neyrokimyoviy) o‘zgarishlar, Y - yot moddani takror yuborish izlari, I - in’eksiya bilan yuqqan infeksiyalar (OITS, gepatit), T - turmush tarzi belgilari (ozginlik, tatuirovka). Bu belgilar faqat bilvosita dalil bo‘lib, qat’iy xulosa berolmaydi.</a:t>
            </a:r>
          </a:p>
          <a:p>
            <a:pPr>
              <a:spcAft>
                <a:spcPts val="1200"/>
              </a:spcAft>
            </a:pPr>
            <a:r>
              <a:rPr sz="1800">
                <a:solidFill>
                  <a:srgbClr val="1F2937"/>
                </a:solidFill>
                <a:latin typeface="Calibri"/>
              </a:rPr>
              <a:t>▸  Hodisa tahlili: murdada venalar bo‘ylab turli muddatli mayda yaralar va chandiqlar topildi, o‘pka va jigarda granulemalar bor. Bu surunkali in’eksiya yo‘li bilan qabul qilishni ko‘rsatadi, ayniqsa nosteril eritmalar bo‘lsa. Narkotik qabul qilinganini tasdiqlash uchun esa sud-kimyoviy tekshiruv va voqea tafsilotlari kerak.</a:t>
            </a:r>
          </a:p>
          <a:p>
            <a:pPr>
              <a:spcAft>
                <a:spcPts val="1200"/>
              </a:spcAft>
            </a:pPr>
            <a:r>
              <a:rPr sz="1800">
                <a:solidFill>
                  <a:srgbClr val="1F2937"/>
                </a:solidFill>
                <a:latin typeface="Calibri"/>
              </a:rPr>
              <a:t>▸  Siydik tekshiruvida moddalar turlicha muddatda aniqlanadi. Kannabinoidlar 1-3 soatdan keyin paydo bo‘lib, 24-168 soat davomida topiladi. Geroin 2-6 soatdan so‘ng 24-72 soat topiladi. Fensiklidin esa 4-6 soatdan keyin 7-14 kungacha aniqlanadi. Shu sababli namunani imkon qadar erta olish kerak.</a:t>
            </a:r>
          </a:p>
          <a:p>
            <a:pPr>
              <a:spcAft>
                <a:spcPts val="1200"/>
              </a:spcAft>
            </a:pPr>
            <a:r>
              <a:rPr sz="1800">
                <a:solidFill>
                  <a:srgbClr val="1F2937"/>
                </a:solidFill>
                <a:latin typeface="Calibri"/>
              </a:rPr>
              <a:t>▸  Bog‘liqlikning ikki tomoni bor: ruhiy bog‘liqlik (qabul qilishga yengib bo‘lmas intilish) va jismoniy bog‘liqlik (tolerantlik tufayli dozani oshirish zarurati). Opiatlarga o‘rganib qolish o‘rtacha 25-30 kunda rivojlanadi va doza kuniga 10,0 g gacha ko‘tarilishi mumkin. Qabul to‘xtatilsa, abstinensiya sindromi 5-6 kun davom etadi.</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377440"/>
            <a:ext cx="10911535" cy="1280160"/>
          </a:xfrm>
          <a:prstGeom prst="rect">
            <a:avLst/>
          </a:prstGeom>
          <a:noFill/>
        </p:spPr>
        <p:txBody>
          <a:bodyPr wrap="square" anchor="ctr">
            <a:spAutoFit/>
          </a:bodyPr>
          <a:lstStyle/>
          <a:p>
            <a:r>
              <a:rPr sz="4400" b="1">
                <a:solidFill>
                  <a:srgbClr val="FFFFFF"/>
                </a:solidFill>
                <a:latin typeface="Georgia"/>
              </a:rPr>
              <a:t>Bilimingizni sinang</a:t>
            </a:r>
          </a:p>
        </p:txBody>
      </p:sp>
      <p:sp>
        <p:nvSpPr>
          <p:cNvPr id="4" name="TextBox 3"/>
          <p:cNvSpPr txBox="1"/>
          <p:nvPr/>
        </p:nvSpPr>
        <p:spPr>
          <a:xfrm>
            <a:off x="640080" y="3749039"/>
            <a:ext cx="10911535" cy="548640"/>
          </a:xfrm>
          <a:prstGeom prst="rect">
            <a:avLst/>
          </a:prstGeom>
          <a:noFill/>
        </p:spPr>
        <p:txBody>
          <a:bodyPr wrap="square">
            <a:spAutoFit/>
          </a:bodyPr>
          <a:lstStyle/>
          <a:p>
            <a:r>
              <a:rPr sz="2200" b="0">
                <a:solidFill>
                  <a:srgbClr val="C9A227"/>
                </a:solidFill>
                <a:latin typeface="Calibri"/>
              </a:rPr>
              <a:t>20 ta test savoli</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giyohvand moddalar bilan zaharlanishning patomorfologiyasi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40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Shaxs giyohvand moddani uzoq qabul qilib, dozani oshirib bordi. Qabulni to‘xtatganda unda og‘ir holat boshlandi. Bu holat nima deb ataladi?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Idiosinkraziya holati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Abstinensiya sindromi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Kumulyasiya holati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Yatrogen zaharlanish</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2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giyohvand moddalar bilan zaharlanishning patomorfologiyasi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41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Dehqonning shikastlanmagan terisiga fosfororganik birikma tushdi. Modda nima sababli teri orqali qonga o‘tishi mumkin?</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Suvda yaxshi erishi sababli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Gazsimon holatda bo‘lishi sababli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Jigar orqali o‘tmasligi sababli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Yog‘da yaxshi erishi sababli</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3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giyohvand moddalar bilan zaharlanishning patomorfologiyasi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42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Alkogol yoki is gazi bilan zaharlanishga qanday tashqi muhit sharoiti moyillik yaratadi?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Yopiq, harorat baland, namlik katta muhit</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Ochiq muhit, past harorat va past namlik</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Yopiq muhit, harorat past, namlik juda kam</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Yopiq muhit, faqat havo harorati past</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4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giyohvand moddalar bilan zaharlanishning patomorfologiyasi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43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Mutaxassis murda topilgan joyni ko‘zdan kechirib, shpritslar, dori o‘ramlari va qusuq moddalarga e’tibor qaratdi. Bu qaysi bosqich?</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Murdani tashqi va ichki tekshirish bosqichi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Qo‘shimcha laboratoriya tekshiruvlari bosqichi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Hodisa joyini ko‘zdan kechirish bosqichi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Ekspert xulosasini rasmiylashtirish bosqichi</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5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giyohvand moddalar bilan zaharlanishning patomorfologiyasi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44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Og‘iz orqali qabul qilingan zahar jigarga ta’sir etib, siydik bilan chiqdi. “Uch nuqta” qoidasiga ko‘ra qaysi ob’ektlar olinadi?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Faqat yurak qoni va bosh miya bo‘lagi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Oshqozon massasi, jigar bo‘lagi, buyrak siydik bilan</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Bosh miya, o‘pka va yo‘g‘on ichak bo‘laklari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Faqat periferik vena qoni va siydik namunasi</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6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giyohvand moddalar bilan zaharlanishning patomorfologiyasi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45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Sirka kislotasidan zaharlangan jabrlanganda avval og‘iz va qizilo‘ngach kuygan, so‘ng atsidoz tufayli eritrotsitlar gemolizi rivojlangan. Gemoliz toksik ta’sirning qaysi turiga kiradi?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Birlamchi toksik ta’sir</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Keyingi toksik ta’sir</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Metatoksik ta’sir</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Kumulyativ ta’sir</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7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giyohvand moddalar bilan zaharlanishning patomorfologiyasi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46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Strixnin bilan zaharlangan jabrlanganda tonik talvasalar kuzatildi. Funksional zaharlarning qaysi guruhchasiga kiradi (MNT – markaziy nerv tizimi, PNT – periferik nerv tizimi)?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MNT ni falajlovchi zaharlar</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MNT ni so‘ndiruvchi zaharlar</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MNT ni qo‘zg‘atuvchi zaharlar</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Asosan PNT ga ta’sir etuvchi</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8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giyohvand moddalar bilan zaharlanishning patomorfologiyasi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47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Jabrlanganga morfin parenteral yo‘l bilan yuborilgan. Manbaga ko‘ra, qaysi miqdor o‘limga olib kelishi mumkin?</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0,1-0,2 g morfin</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0,2-0,4 g morfin</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2-5 g morfin</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0,005 g morfin</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9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giyohvand moddalar bilan zaharlanishning patomorfologiyasi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48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Laboratoriyaga geroin namunasi keltirildi. Uni narkotik moddalarning qaysi guruhiga kiritish kerak?</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Tabiiy narkotiklar guruhiga</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Prekursorlar guruhiga</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Sintetik narkotiklar guruhiga</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Yarim sintetik narkotiklar guruhiga</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10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giyohvand moddalar bilan zaharlanishning patomorfologiyasi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49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Narkotik mastlik holatidagi shaxs balandlikdan yiqilib halok bo‘ldi. Bu o‘lim “narkotiklar bilan bog‘liq o‘lim” (DRD) tushunchasida qanday baholanadi?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DRD ga kirmaydi, chunki zaharlanish bo‘lmagan</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DRD ga bilvosita bog‘liq baxtsiz hodisa sifatida kiradi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DRD ga faqat qotillik bo‘lsa kiradi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DRD ga faqat katta doza bo‘lsa kiradi</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11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giyohvand moddalar bilan zaharlanishning patomorfologiyasi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50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Yosh yigitda qorachiqlar kengaygan, nistagm, taxikardiya, qon bosimining ko‘tarilishi va harakatlar koordinatsiyasining buzilishi aniqlangan. Qisqa muddatli gallyusinatsiyali psixoz ham bor. Qaysi moddadan zaharlanish ehtimoli yuqori?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Opiatlar (morfin)</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Nasha preparatlari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Fosfororganik zahar</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Pilokarpin preparati</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12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giyohvand moddalar bilan zaharlanishning patomorfologiyasi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51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Opiatlar va nasha qabul qilinganda tinchlanish bilan kechadigan eyforiya rivojlanadi. Kokain qabul qilinganda eyforiya qanday xususiyatga ega bo‘ladi?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Tinchlanish va bo‘shashish bilan</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Chuqur uyqu va sustlik bilan</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Qorachiqlarning torayishi bilan</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Psixomotor qo‘zg‘alish bilan</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13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giyohvand moddalar bilan zaharlanishning patomorfologiyasi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52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Bemor opiatlarni muntazam qabul qilmoqda va ta’sir sustlashgani uchun dozani oshirmoqda. Opiatlarga o‘rganib qolish o‘rtacha qancha muddatda rivojlanadi?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Taxminan 25-30 kun ichida</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Taxminan 5-6 kun ichida</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Taxminan 3-4 kun ichida</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Taxminan 7-14 kun ichida</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14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giyohvand moddalar bilan zaharlanishning patomorfologiyasi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53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Quyidagi moddalardan qaysi biri narkotik vosita va psixotrop moddalar tayyorlashda ishlatiladigan prekursorlar ro‘yxatiga kiritilgan?</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Kodein alkaloidi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Morfin alkaloidi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Efedrin moddasi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Tebain alkaloidi</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15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giyohvand moddalar bilan zaharlanishning patomorfologiyasi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54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Yoshlar chekish uchun mo‘ljallangan 0,5-3,0 gramm o‘ramdan foydalangan. Aralashma maydalangan o‘simlikdan iborat. Ularda taxikardiya, titrash, kuchli hayajon, dezorientatsiya va talvasa kuzatilgan. Qaysi modda ishlatilgan?</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Nasha o‘simligi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Kokain kukuni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“Ekstazi” tabletkasi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Spayslar aralashmasi</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16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giyohvand moddalar bilan zaharlanishning patomorfologiyasi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55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Murda tekshiruvida bilak venalari bo‘ylab turli muddatli ko‘plab mayda yaralar va chandiqlar topildi. Bu o‘zgarish moddaning qaysi yo‘l bilan qabul qilinganiga mos keladi?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Moddani burun orqali nafas bilan tortib qabul qilish</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Moddani og‘iz orqali ichga qabul qilish usuli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Moddani vena ichiga qayta-qayta yuborish usuli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Moddani teri ustiga surtib qo‘llash usuli</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17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giyohvand moddalar bilan zaharlanishning patomorfologiyasi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56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Murdada burun va uning qo‘shimcha bo‘shliqlari shilliq qavatida surunkali yallig‘lanish, o‘pkada granulemalar topildi. Qaysi qabul yo‘li ehtimolroq?</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Burun orqali nafas bilan tortib qabul qilish</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Vena ichiga nosteril eritma yuborish usuli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Og‘iz orqali tabletka tarzida qabul qilish</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Teri ostiga ko‘p marta yuborish usuli</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18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giyohvand moddalar bilan zaharlanishning patomorfologiyasi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57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Shifokor kokain iste’mol qilganlikda gumon qilingan shaxsning siydigini tekshirmoqchi. Kokain siydikda qancha muddat davomida aniqlanadi?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24-72 soat davomida</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24-168 soat davomida</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48-72 soat davomida</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7-14 kun davomida</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19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giyohvand moddalar bilan zaharlanishning patomorfologiyasi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58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Murdada ozginlik, shprits shaklidagi tatirovka va in’eksiya chandiqlari topildi, sud-kimyoviy natija hali yo‘q. Bu belgilar qanday baholanadi?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Narkotik iste’mol qilinganining qat’iy isboti sifatida</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O‘lim sababini to‘liq aniqlovchi asosiy dalil sifatida</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Faqat zaharlanishdan o‘lim bo‘lganini tasdiqlovchi belgi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Bilvosita dalil sifatida, boshqa ma’lumotlar bilan birgalikda</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20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giyohvand moddalar bilan zaharlanishning patomorfologiyasi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59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Zaharlanish bo‘lmagan holatda ham laboratoriya tekshiruvida zaharli modda topilishi mumkin. Quyidagilardan qaysi biri shunday holatga misol bo‘ladi?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Zaharli modda juda tez parchalanib ketgan holat</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Modda chirish jarayonida murdaning o‘zida hosil bo‘lgan holat</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Davolashda intensiv infuzion muolajalar o‘tkazilgan holat</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Zaharlanishdan keyin ancha uzoq vaqt o‘tib ketgan holat</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giyohvand moddalar bilan zaharlanishning patomorfologiyasi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60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Abstinensiya sindromi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Giyohvand moddalarda ruhiy va jismoniy bog‘liqlik shakllanadi. Shu sababli modda ko‘proq miqdorda qabul qilinadi. Qabul to‘xtatilganda abstinensiya sindromi kuzatiladi. Idiosinkraziya genetik o‘ta sezgirlikdir, kumulyasiya esa to‘planish.</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134-bet</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2: 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giyohvand moddalar bilan zaharlanishning patomorfologiyasi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61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D. Yog‘da yaxshi erishi sababli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Fosfororganik birikmalar yog‘da yaxshi eriydi. Shuning uchun ular shilliq qavatlar orqali ham, shikastlanmagan teri orqali ham so‘rilib qonga o‘tadi. Suvda va yog‘da erimaydigan moddalar esa faqat mahalliy ta’sir qilishi mumkin.</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135-bet</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3: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giyohvand moddalar bilan zaharlanishning patomorfologiyasi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62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Yopiq, harorat baland, namlik katta muhit</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Alkogol va is gazi bilan zaharlanishga yopiq, harorati baland va namligi katta muhit moyillik yaratadi. Ochiq muhit, past harorat va namlik esa bu moddalarning ta’sirini susaytiradi.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135-bet</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4: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giyohvand moddalar bilan zaharlanishning patomorfologiyasi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63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Hodisa joyini ko‘zdan kechirish bosqichi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Zaharlanish diagnostikasining birinchi bosqichi hodisa yoki murda topilgan joyni mutaxassis ishtirokida ko‘zdan kechirishdir. Unda dori idishlari, shpritslar va qusuq moddalarga e’tibor beriladi. Murdani tekshirish ikkinchi, laboratoriya uchinchi bosqichdir.</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135-bet</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5: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giyohvand moddalar bilan zaharlanishning patomorfologiyasi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64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Oshqozon massasi, jigar bo‘lagi, buyrak siydik bilan</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“Uch nuqta” qoidasiga ko‘ra ob’ektlar zahar kirgan, asosan ta’sir etgan va organizmdan chiqqan joylardan olinadi. Bu holatda oshqozon massasi, jigar bo‘lagi va siydik bilan butun buyrak olinadi.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136-bet</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6: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giyohvand moddalar bilan zaharlanishning patomorfologiyasi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65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Keyingi toksik ta’sir</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Toksikodinamikada birlamchi, keyingi va metatoksik ta’sirlar farqlanadi. Sirka kislotasida shilliq qavatlarning kuyishi birlamchi ta’sir, atsidoz tufayli eritrotsitlar gemolizi keyingi toksik ta’sir. Toksik gepatit va nefroz esa metatoksik ta’sir hisoblanadi.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138-bet</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7: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giyohvand moddalar bilan zaharlanishning patomorfologiyasi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66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MNT ni qo‘zg‘atuvchi zaharlar</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Sud-tibbiy tasnifda strixnin talvasa chaqiruvchi moddalar sifatida MNT ni qo‘zg‘atuvchi funksional zaharlar qatoriga kiritilgan. Sianidlar va vodorod sulfid MNT ni falajlovchilarga, spirtlar va barbituratlar so‘ndiruvchilarga kiradi.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139-140-bet</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8: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giyohvand moddalar bilan zaharlanishning patomorfologiyasi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67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0,1-0,2 g morfin</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Parenteral yuborilganda 0,1-0,2 g morfin o‘limga olib kelishi mumkin. Ichga qabul qilinganda morfinning letal dozasi 0,2-0,4 g, quruq opiyniki esa 2-5 g.</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169-bet</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9: 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giyohvand moddalar bilan zaharlanishning patomorfologiyasi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68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D. Yarim sintetik narkotiklar guruhiga</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Geroin opiyning yarim sintetik mahsuli, ya’ni atsetillangan morfin. Nasha, morfin, kodein va kokain tabiiy, amfetamin, promedol va metadon sintetik moddalar qatoriga kiradi.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168-bet</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10: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giyohvand moddalar bilan zaharlanishning patomorfologiyasi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69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DRD ga bilvosita bog‘liq baxtsiz hodisa sifatida kiradi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DRD ga moddalarni iste’mol qilish bilan bevosita yoki bilvosita bog‘liq o‘limlar kiradi: katta doza, uzoq qabul oqibati, o‘z-o‘zini o‘ldirish, baxtsiz hodisalar va qotillik. Mastlik balandlikdan yiqilish kabi baxtsiz hodisalar ehtimolini oshiradi.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168-bet</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11: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giyohvand moddalar bilan zaharlanishning patomorfologiyasi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70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Nasha preparatlari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Qorachiqlarning kengayishi, nistagm, taxikardiya, qon bosimining oshishi va diskoordinatsiya nasha bilan zaharlanishga xos. Opiatlarda qorachiqlar torayadi. Fosfororganik birikmalar va pilokarpin ham qorachiqlarni toraytiradi.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169-bet</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12: 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giyohvand moddalar bilan zaharlanishning patomorfologiyasi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71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D. Psixomotor qo‘zg‘alish bilan</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Opiatlar va nasha tinchlantiruvchi eyforiya beradi. Kokain uchun psixomotor qo‘zg‘alish bilan boradigan eyforiya xos. Bunda puls va nafas tezlashadi, qorachiqlar kengayadi.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169-bet</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13: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giyohvand moddalar bilan zaharlanishning patomorfologiyasi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72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Taxminan 25-30 kun ichida</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Opiatlarga o‘rganib qolish o‘rtacha 25-30 kunda rivojlanadi, doza kuniga 10,0 g gacha ko‘tarilishi mumkin. 5-6 kun – abstinensiya sindromining davomiyligi. 3-4 kun – morfinning ko‘p qismi chiqarilish muddati. 7-14 kun – fensiklidinning siydikda aniqlanish muddati.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171-bet</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14: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giyohvand moddalar bilan zaharlanishning patomorfologiyasi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73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Efedrin moddasi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Prekursorlar ro‘yxatiga xlorid va sulfat kislotalari, kaliy permanganat, etil efiri, atseton, toluol, piperidin, ergotamin, efedrin kiradi. Kodein, morfin va tebain esa opiy tarkibidagi alkaloidlar, ya’ni narkotik moddalarning o‘zi.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171-bet</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15: 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giyohvand moddalar bilan zaharlanishning patomorfologiyasi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74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D. Spayslar aralashmasi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Spayslar – maydalangan o‘simlikka sintetik kannabinoidlar qo‘shilgan chekiladigan aralashma, o‘ramlari 0,5-3,0 g. Ular nashaga o‘xshash, lekin kuchliroq va davomiyroq ta’sir qiladi. Kokain burundan tortiladi, ekstazi esa tabletka tarzida iste’mol qilinadi.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170-bet</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16: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giyohvand moddalar bilan zaharlanishning patomorfologiyasi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75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Moddani vena ichiga qayta-qayta yuborish usuli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Moddalar vena ichiga yuborilganda venalar proyeksiyasida ko‘plab, turli muddatli mayda yaralar va chandiqlar aniqlanadi. Burun orqali qabul qilishda esa burun shilliq qavatining surunkali yallig‘lanishi va aspiratsion pnevmoniya uchraydi, og‘iz orqali qabul qilishda ichaklarning ishemik shikastlanishi kuzatiladi.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172-bet</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17: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giyohvand moddalar bilan zaharlanishning patomorfologiyasi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76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Burun orqali nafas bilan tortib qabul qilish</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Yot moddalar burun orqali nafas bilan qabul qilinganda burun va uning qo‘shimcha bo‘shliqlari shilliq qavatining surunkali yallig‘lanishi, aspiratsion pnevmoniya va o‘pkada granulemalar bo‘ladi.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172-bet</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18: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giyohvand moddalar bilan zaharlanishning patomorfologiyasi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77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48-72 soat davomida</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Jadvalga ko‘ra kokain siydikda qabul qilingandan 2-6 soat o‘tgach paydo bo‘ladi va 48-72 soat davomida aniqlanadi. 24-168 soat kannabinoidlarga, 7-14 kun fensiklidinga xos.</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171-bet</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19: 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giyohvand moddalar bilan zaharlanishning patomorfologiyasi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78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D. Bilvosita dalil sifatida, boshqa ma’lumotlar bilan birgalikda</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Bu o‘zgarishlar asosida narkotik iste’mol qilinganligi haqida qat’iy xulosa qilib bo‘lmaydi. Ular bilvosita dalil bo‘lib, voqea tafsiloti, klinik ma’lumotlar va asosan sud-kimyoviy natijalar bilan birga baholanadi.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172-bet</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20: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giyohvand moddalar bilan zaharlanishning patomorfologiyasi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79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Modda chirish jarayonida murdaning o‘zida hosil bo‘lgan holat</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Zahar zaharlanishsiz ham topilishi mumkin: modda dori sifatida qo‘llanganda, chirish jarayonida hosil bo‘lganda yoki kasbiy faoliyat bilan bog‘liq bo‘lganda. Qolgan uch variant zaharlanish bo‘lsa ham zahar topilmaslik sabablari hisoblanadi.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180-bet</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Foydalanilgan manbalar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giyohvand moddalar bilan zaharlanishning patomorfologiyasi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80 / 80</a:t>
            </a:r>
          </a:p>
        </p:txBody>
      </p:sp>
      <p:sp>
        <p:nvSpPr>
          <p:cNvPr id="8" name="TextBox 7"/>
          <p:cNvSpPr txBox="1"/>
          <p:nvPr/>
        </p:nvSpPr>
        <p:spPr>
          <a:xfrm>
            <a:off x="640080" y="1463040"/>
            <a:ext cx="10911535" cy="4572000"/>
          </a:xfrm>
          <a:prstGeom prst="rect">
            <a:avLst/>
          </a:prstGeom>
          <a:noFill/>
        </p:spPr>
        <p:txBody>
          <a:bodyPr wrap="square">
            <a:spAutoFit/>
          </a:bodyPr>
          <a:lstStyle/>
          <a:p>
            <a:pPr>
              <a:spcAft>
                <a:spcPts val="1200"/>
              </a:spcAft>
            </a:pPr>
            <a:r>
              <a:rPr sz="2000">
                <a:solidFill>
                  <a:srgbClr val="1F2937"/>
                </a:solidFill>
                <a:latin typeface="Calibri"/>
              </a:rPr>
              <a:t>▸  G‘iyosov Z.A. Sud tibbiyoti: darslik, Toshkent: Global Books nashriyoti. 2018. Bob 6. Sud-tibbiy toksikologiya (qisman mos)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