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savoli: nega zaharlanish zo‘raki o‘lim tuzilmasida uchinchi o‘rinda turadi, birinchi ikkitasi qaysilar? Doskada: zo‘raki o‘lim sabablarining uchta pog‘onasini yozdiring. Tipik xato: zaharlanishni mexanik jarohat bilan bir pog‘onaga qo‘yish.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savoli: nega bir modda bir holatda dori, boshqasida zahar bo‘ladi? Sud-tibbiy toksikologiyaning maqsadi klinik toksikologiyadan nimasi bilan farq qiladi? Doskada: toksikologiyaning oltita yo‘nalishini ro‘yxat qilib yozdiring. Tipik xato: sud-tibbiy toksikologiya vazifasini faqat davolash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savoli: yatrogen zaharlanish baxtsiz hodisaga nega kiradi? Mastlik holati o‘limning turini qanday o‘zgartiradi? Doskada: uch turni qasddan/tasodifan ustunlariga bo‘lib chizdiring. Tipik xato: qotillikni eng ko‘p uchraydigan tur deb hisoblash. Narkotik yoki psixotrop moddadan mastlik o‘z-o‘zini o‘ldirish, baxtsiz hodisa va qotillik qurboni bo‘lish ehtimolini ancha oshiradi.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xil moddaning ta’siri har xil bo‘lishi mumkin? 3% sirka kislota va sirka essensiyasi misolida tushuntiring. Doskada 4 omilni kvadrat sxemada chizdiring. Tipik xato: faqat dozaga e’tibor berib, konsentratsiya va agregat holatni unutish.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tolerantlik nega dozani oshirishga olib keladi? Abstinensiya sindromi nima bilan namoyon bo‘ladi? Doskada ketma-ketlikni chizdiring: takroriy qabul – tolerantlik – bog‘liqlik – abstinensiya. Diqqat: tolerantlik ≠ bog‘liqlik. Tolerantlik moslashish, bog‘liqlik esa moddani qabul qilishga yengib bo‘lmas intilishdir. Tipik xato: bu tushunchalarni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nafas yo‘li orqali kirgan modda og‘iz orqali kirganidan kuchliroq ta’sir qilishi mumkin? Doskada ikki yo‘lni chizing: jigar orqali o‘tadigan va o‘tmaydigan. Tipik xato: kirish yo‘lini ahamiyatsiz deb hisoblash va eruvchanlikning rolini unutish.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kitobsiz so‘rang. Muhokama: nega bir xil doza turli odamlarda turlicha ta’sir qiladi? Giyohvand moddalarda tolerantlik nima uchun dozani oshirishga olib keladi? Doskada chizish: ikki ustun — “tolerantlik” va “bog‘liqlik” — va ularning belgilarini yozdiring. Tipik xato: tolerantlikni bog‘liqlikning o‘zi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funksional zaharlarda murdadagi o‘zgarishlar kam bo‘lib, tibbiy hujjatlar muhim bo‘ladi? Zaharlanishga qaysi belgilar shubha uyg‘otadi? Doskada chizish: uch qutili zanjir va har qutiga 2 ta misol yozdiring. Tipik xato: faqat murda tekshiruviga tayanib, hodisa joyi va hujjatlarni, laboratoriya natijalarini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og‘iz orqali kirgan zahar uchun oshqozon massasi, jigar va buyrak olinadi? Zahar noma’lum bo‘lsa, nima uchun ko‘p a’zo olinadi? Doskada chizish: “kirgan — ta’sir etgan — chiqqan” uch nuqtasini bitta misolda ko‘rsating. Tipik xato: zahar noma’lum bo‘lgandagi hajmlarni “uch nuqta” qoidasiga aralashtirib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metanol zaharlanishida narkotik ta’sirdan keyin kardio-, nefro- va neyrotoksik o‘zgarishlar rivojlanadi? Metabolit tushunchasi nimani o‘zgartiradi? Doskada chizing: zahar → jigar → metabolit → organ shikasti zanjiri. Tipik xato: toksikokinetika (zahar bilan nima bo‘ladi) va toksikodinamika (zahar organizmga nima qiladi)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hodisa joyida qaysi buyumlarni birinchi navbatda olasiz va nima uchun? Zahar manbai ma’lum bo‘lsa, “uch nuqta” qoidasi bo‘yicha qaysi a’zolar olinadi? Doskada chizing: zaharlanish diagnostikasining uch bosqichi (joy ko‘rigi → murda tekshiruvi → laboratoriya). Tipik xato: faqat murda ko‘rigiga tayanish; funksional zaharlarda xos morfologik o‘zgarish bo‘lmasligi mumkin, shuning uchun laboratoriya va tibbiy hujjatlar ham muhim.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funksional zaharlarda murdada xos morfologik o‘zgarish topilmasligi mumkin? Mahalliy va destruktiv zaharlar farqi nimada? Doskada chizing: tasnif daraxti (mahalliy / umumiy → destruktiv, gemotrop, funksional). Tipik xato: darslik tasnif jadvalida opiatlar va anasha MNT ni qo‘zg‘atuvchilar qatorida, 6.10-bo‘limda esa sedativ ta’sirli deyilgan — bu farqni talabalarga alohida tushuntiring.</a:t>
            </a:r>
          </a:p>
          <a:p/>
          <a:p>
            <a:r>
              <a:t>Tekshirish kerak (manbada noaniq):</a:t>
            </a:r>
          </a:p>
          <a:p>
            <a:r>
              <a:t>- Markaziy nerv tizimini (MNT) qo‘zg‘atuvchilar: kokain, amfetaminlar, opiatlar, anasha, kofein.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narkotiklar muammosi faqat tibbiy emas, ijtimoiy-iqtisodiy ham hisoblanadi? 2) Sedativ va qo‘zg‘atuvchi moddalar organizmga qanday farqli ta’sir qiladi? Doskada: ikki ustunli ro‘yxat chizing — “sedativ (nasha, opiatlar)” va “qo‘zg‘atuvchi (kokain, amfetaminlar)”. Tezkor savol: BMT ma’lumotiga ko‘ra qaysi modda iste’molchilari eng ko‘p? Tipik xato: talabalar amfetaminlarni sedativ moddalar qatoriga qo‘shib yuboradi.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Geroin nega yarim sintetik guruhga kiradi? 2) Hududiy farqlar (nasha, opiatlar va kokain) profilaktikaga qanday ta’sir qiladi? Doskada: jadvalni chizing va har guruhga yana bittadan misol qo‘shtiring. Tezkor savol: promedol qaysi guruhga kiradi? Tipik xato: morfin va geroinni bir guruhga qo‘yish.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DRD faqat zaharlanishdan o‘limni emas, balki besh guruhni qamrab oladi? 2) Narkotik mastligida baxtsiz hodisa xavfi nega ortadi? Doskada: besh guruhli sxemani chizing va har biriga qisqa misol yozing. Tezkor savol: DRD tarkibiga qotillik kiradimi? Tipik xato: DRD ni faqat katta doza bilan zaharlanish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Talabalar javobni daftarga yozib, keyin og‘zaki aytadi. Muhokama: 1) Nega narkotikdan mast holatda baxtsiz hodisa va qotillik xavfi ortadi? 2) DRD tushunchasi muammoning haqiqiy ko‘lamini aniqlashga qanday yordam beradi? Doskada chizish: uch ustunli jadval (tabiiy, yarim sintetik, sintetik) va unga moddalarni joylash. Tipik xato: diqqat, morfin ≠ geroin. Morfin tabiiy, geroin yarim sintetik; ular ko‘pincha adashtiriladi. Ikkinchi xato: DRD ni faqat ortiqcha dozadan o‘lim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Jigarda to‘planish va buyrak orqali chiqarilish toksikologik tekshiruv uchun qanday ob’ektlarni tanlashni belgilaydi? 2) Nima uchun in’eksiyada ta’sir tezroq boshlanadi? Doskada chizish: vaqt o‘qi (10-15 daqiqa, 20-30 daqiqa, 8-12 soat, 3-4 kun) va ularga mos voqealar. Tipik xato: raqamlarni aralashtirish. 8-12 soat maksimal chiqarilish vaqti, 3-4 kun esa 90 % chiqib bo‘lish muddati.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Qorachiqning torayishi va nafas markazi falaji o‘rtasida qanday bog‘liqlik bor? 2) Morfinning murdada uzoq saqlanishi sud-kimyoviy tekshiruvda qanday ahamiyatga ega? Doskada chizish: klinik rivojlanish zanjiri (ko‘ngil aynishi, qusish, sianoz, qorachiq torayishi, koma, nafas markazi falaji). Tipik xato: parenteral dozani ichga qabul qilinadigan doza bilan adashtirish. Parenteralda letal doza kichikroq (0,1-0,2 g, ichga 0,2-0,4 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nashadan o‘lim kam uchraydi? 2) Narkokurerda o‘lim qanday yuz beradi? Doskada: nasha ta’siri bosqichlari zanjirini (qabul – qo‘zg‘alish belgilari – uyqu) chizdiring. Tipik xato: nashani ham kokain kabi qo‘zg‘atuvchi deb o‘ylash; nasha sedativ guruhga kiradi.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Kokain va opiatlardagi eyforiya qanday farqlanadi? 2) O‘lim sabablari qaysi a’zolar faoliyati buzilishi bilan bog‘liq? Doskada: ikki ustunli taqqoslash (opiat/nasha va kokain eyforiyasi) chizdiring. Tipik xato: kokain eyforiyasini tinchlanish bilan bog‘lash.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Vegetativ va ruhiy belgilar o‘rtasidagi farq nima? 2) Fensiklidinni siydikdan aniqlash muddati nima uchun muhim? Doskada: ikki ustunli ro‘yxat (vegetativ / ruhiy belgilar) chizdiring. Tipik xato: faqat ruhiy belgilarni eslab, vegetativ buzilishlarni unutish.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nima uchun amfetaminlar asosan og‘izdan qabul qilinadi? Nega ular yoshlar orasida xavfli hisoblanadi? Doskada chizish: kokain va amfetaminni solishtiruvchi 3 ustunli jadval. Diqqat: xato qilish xavfi — amfetamin ≠ kokain: ta’siri o‘xshash, lekin amfetaminniki kuchsizroq va davomiyroq. Tipik xato: talabalar ekstazini kokainning hosilasi deb o‘ylaydi, aslida u amfetamin qatoriga kiradi.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daqiqa. Muhokama: spayslarni nashadan nima bilan farqlash mumkin? Nima uchun ularning ta’siri xavfliroq? Doskada chizish: spaysning tarkibi sxemasi (o‘simlik + sintetik kannabinoid = chekiladigan aralashma). Tipik xato: spaysni tabiiy nasha deb hisoblash, aslida unda sintetik kannabinoidlar bor.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klinik belgilar asosida modda guruhini aniq aytish mumkinmi? Nima uchun laboratoriya tekshiruvi zarur? Doskada chizish: ‘belgi → gumon → namuna → tekshiruv’ zanjiri. Tipik xato: faqat klinik belgilarga tayanib xulosa qilish. Namuna ham o‘z vaqtida, imkon qadar tezroq olinishi kerak.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Tolerantlik va bog‘liqlik qanday bog‘langan? 2) Nega abstinensiya sindromi bo‘lganda qabul qilishga intilish kuchayadi? Doskada: 5 bosqichli zanjirni chizdiring va har bosqichga bittadan misol yozdiring. Tipik xato: tolerantlikni (dozaga o‘rganish) abstinensiya sindromi (mahrumlik belgilari)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doza oshib boradi? 2) Morfinning murdada uzoq saqlanishi ekspertiza uchun nimani anglatadi? Doskada: jadvalni chizing va uch ko‘rsatkichni vaqt o‘qida joylashtiring. Tipik xato: 25-30 kunni qat’iy muddat deb o‘ylash – manbada u o‘rtacha ko‘rsatkich.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oddiy kimyoviy moddalar (masalan, atseton) nazorat ro‘yxatida? 2) Shifokor prekursorlar haqida nima uchun bilishi kerak? Doskada: ‘prekursor → narkotik/psixotrop modda’ qisqa sxemasini chizing. Tipik xato: prekursorni o‘zi narkotik vosita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nega birinchi guruh sud-tibbiy amaliyotda deyarli qo‘llanmaydi? Nega to‘rt guruh belgilari bilvosita dalil hisoblanadi? Doskada to‘rt guruhli jadvalni talabalar bilan birga chizing. Tipik xato: turmush tarzi belgilarini (masalan, tatirovka) iste’molning qat’iy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venadagi chandiqlar va ichki a’zolardagi granulemalar o‘rtasida qanday bog‘liqlik bor? Nega eritmaning nosterilligi muhim? Doskada zanjirni (in’eksiya – mahalliy iz – asorat – tarqalish) chizdiring. Tipik xato: granulemalarni faqat o‘pkada bo‘ladi deb o‘ylash; jigarda ham uchraydi.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Manba: Pigolkin (red.), 4-bob, 164–167-betlar.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Manba: Pigolkin (red.), 4-bob, 167–168-betlar.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Manba: Pigolkin (red.), 4-bob, 170–172-betlar (rus tilida).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qabul qilish yo‘li (vena, burun, og‘iz) bo‘yicha qanday o‘zgarishlar kutiladi? Nega bu belgilar bilvosita dalil hisoblanadi? Doskada uchta yo‘l bo‘yicha qisqa ro‘yxat tuzdiring. Tipik xato: ichak ishemiyasini in’eksiya belgisi deb hisoblash; manbada u og‘iz orqali qabul qilishda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In’eksiya yo‘li qaysi kasalliklar bilan bog‘liq? 2) Turmush tarzi belgilari nega faqat bilvosita dalil? Doskada: belgilarni to‘rt guruhga ajratib jadval chizdiring. Tipik xato: bu belgilarni moddaning qabul qilinganini isbotlovchi dalil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faqat morfologiyaga tayanib xulosa qilib bo‘lmaydi? 2) Qaysi tekshiruv asosiy tasdiq beradi? Doskada: markazda sud-kimyoviy natija, atrofida tafsilot, klinika va morfologiya strelkalarini chizdiring. Tipik xato: in’eksiya izini yoki ozginlikni yagona isbot deb olish.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Jadvaldan tashqari: kokain 2-6 soatdan so‘ng, 48-72 soat davomida aniqlanadi. Muhokama: 1) Nega namuna imkon qadar tez olinadi? 2) Kannabinoidlar uchun nima uchun qo‘l yuvmasi ham olinadi? Doskada: vaqt o‘qida moddalarning aniqlanish oralig‘ini chizdiring. Tipik xato: kannabinoidlar va boshqa moddalar uchun namuna hajmlarini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Zahar topilsa, har doim zaharlanish bo‘ladimi? 2) Zahar topilmasa, uni butunlay inkor etish mumkinmi? Doskada: soxta musbat va soxta manfiy sabablarini ikki ustunda chizdiring. Diqqat: laboratoriya natijasi ≠ yakuniy xulosa. Tipik xato: natijani voqea tafsilotidan ajratib, yolg‘iz baholash.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Har bir topilma to‘rt guruhdan qaysi biriga kiradi? 2) Faqat shu belgilarga tayanib, qanday xulosa chiqarish mumkin emas? Doskada: to‘rt guruhni ustun qilib chizing va topilmalarni joylashtiring. Tipik xato: chandiq va ozg‘inlikni iste’molning qat’iy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Yakuniy savollar: 1) DRD tushunchasiga qaysi o‘lim turlari kiradi? 2) Murdadagi to‘rt guruh o‘zgarishni sanang. 3) Nega bu belgilar bilvosita dalil hisoblanadi? Doskada: DRD ning besh tarkibiy qismini chizing. Tipik xato: faqat katta dozadan o‘limni DRD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Surunkali giyohvand moddalar bilan zaharlanishning patomorfologiyasi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Kimyoviy omillardan sog‘liqning buzilishi va o‘lim murda hamda tirik shaxslar sud-tibbiy ekspertizasida nisbatan keng uchraydi.</a:t>
            </a:r>
          </a:p>
          <a:p>
            <a:pPr>
              <a:spcAft>
                <a:spcPts val="1200"/>
              </a:spcAft>
            </a:pPr>
            <a:r>
              <a:rPr sz="2200">
                <a:solidFill>
                  <a:srgbClr val="1F2937"/>
                </a:solidFill>
                <a:latin typeface="Calibri"/>
              </a:rPr>
              <a:t>▸  Zo‘raki o‘lim tuzilmasida zaharlanishlar mexanik jarohatlar va mexanik asfiksiyadan keyin uchinchi o‘rinni egallaydi.</a:t>
            </a:r>
          </a:p>
          <a:p>
            <a:pPr>
              <a:spcAft>
                <a:spcPts val="1200"/>
              </a:spcAft>
            </a:pPr>
            <a:r>
              <a:rPr sz="2200">
                <a:solidFill>
                  <a:srgbClr val="1F2937"/>
                </a:solidFill>
                <a:latin typeface="Calibri"/>
              </a:rPr>
              <a:t>▸  Narkotik vositalar bilan bog‘liq o‘limlar uchun “narkotiklar bilan bog‘liq o‘lim” (drug related death, DRD) tushunchasi kiritilgan.</a:t>
            </a:r>
          </a:p>
          <a:p>
            <a:pPr>
              <a:spcAft>
                <a:spcPts val="1200"/>
              </a:spcAft>
            </a:pPr>
            <a:r>
              <a:rPr sz="2200">
                <a:solidFill>
                  <a:srgbClr val="1F2937"/>
                </a:solidFill>
                <a:latin typeface="Calibri"/>
              </a:rPr>
              <a:t>▸  Reja: zahar tushunchasi, zaharlanish omillari, sud-tibbiy diagnostika, narkotik va psixotrop moddalarning qayta qabul qilinishidagi o‘zgarishlar.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168, 132-172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 nisbiy tushuncha: oz miqdorda ta’sir etib, sog‘liqni buzadigan yoki o‘limga olib keladigan modda. Mutlaq zahar ham, mutlaq beziyon modda ham yo‘q.</a:t>
            </a:r>
          </a:p>
          <a:p>
            <a:pPr>
              <a:spcAft>
                <a:spcPts val="1200"/>
              </a:spcAft>
            </a:pPr>
            <a:r>
              <a:rPr sz="2000">
                <a:solidFill>
                  <a:srgbClr val="1F2937"/>
                </a:solidFill>
                <a:latin typeface="Calibri"/>
              </a:rPr>
              <a:t>▸  Paratsels iborasi: moddani dori yoki zaharga aylantiradigan narsa faqat doza. Oz miqdordagi modda ta’siridan sog‘liqning buzilishi zaharlanish deyiladi.</a:t>
            </a:r>
          </a:p>
          <a:p>
            <a:pPr>
              <a:spcAft>
                <a:spcPts val="1200"/>
              </a:spcAft>
            </a:pPr>
            <a:r>
              <a:rPr sz="2000">
                <a:solidFill>
                  <a:srgbClr val="1F2937"/>
                </a:solidFill>
                <a:latin typeface="Calibri"/>
              </a:rPr>
              <a:t>▸  Toksikologiya sanoat, qishloq xo‘jaligi, harbiy, oziq-ovqat, maishiy va sud-tibbiy yo‘nalishlarga ega.</a:t>
            </a:r>
          </a:p>
          <a:p>
            <a:pPr>
              <a:spcAft>
                <a:spcPts val="1200"/>
              </a:spcAft>
            </a:pPr>
            <a:r>
              <a:rPr sz="2000">
                <a:solidFill>
                  <a:srgbClr val="1F2937"/>
                </a:solidFill>
                <a:latin typeface="Calibri"/>
              </a:rPr>
              <a:t>▸  Sud-tibbiy toksikologiya fan sifatida shakllanishining boshlanishi bo‘lgan.</a:t>
            </a:r>
          </a:p>
          <a:p>
            <a:pPr>
              <a:spcAft>
                <a:spcPts val="1200"/>
              </a:spcAft>
            </a:pPr>
            <a:r>
              <a:rPr sz="2000">
                <a:solidFill>
                  <a:srgbClr val="1F2937"/>
                </a:solidFill>
                <a:latin typeface="Calibri"/>
              </a:rPr>
              <a:t>▸  Diqqat: boshqa toksikologiya turlari sabab, yordam va profilaktikani o‘rgansa, sud-tibbiy toksikologiya huquqni muhofaza idoralari vazifalarini hal etadi.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 turlari: qotillik, o‘z-o‘zini o‘ldirish, baxtsiz hodisa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tafsiloti bo‘yicha zaharlanish qotillik, o‘z-o‘zini o‘ldirish yoki baxtsiz hodisa ko‘rinishida bo‘lishi mumkin.</a:t>
            </a:r>
          </a:p>
          <a:p>
            <a:pPr>
              <a:spcAft>
                <a:spcPts val="1200"/>
              </a:spcAft>
            </a:pPr>
            <a:r>
              <a:rPr sz="2200">
                <a:solidFill>
                  <a:srgbClr val="1F2937"/>
                </a:solidFill>
                <a:latin typeface="Calibri"/>
              </a:rPr>
              <a:t>▸  Ekspertiza ma’lumotlariga ko‘ra aksariyat holat baxtsiz hodisa. Keyingi o‘rinda zaharlanish orqali o‘z-o‘zini o‘ldirish turadi.</a:t>
            </a:r>
          </a:p>
          <a:p>
            <a:pPr>
              <a:spcAft>
                <a:spcPts val="1200"/>
              </a:spcAft>
            </a:pPr>
            <a:r>
              <a:rPr sz="2200">
                <a:solidFill>
                  <a:srgbClr val="1F2937"/>
                </a:solidFill>
                <a:latin typeface="Calibri"/>
              </a:rPr>
              <a:t>▸  Zaharlab qotillik kamdan-kam kuzatiladi.</a:t>
            </a:r>
          </a:p>
          <a:p>
            <a:pPr>
              <a:spcAft>
                <a:spcPts val="1200"/>
              </a:spcAft>
            </a:pPr>
            <a:r>
              <a:rPr sz="2200">
                <a:solidFill>
                  <a:srgbClr val="1F2937"/>
                </a:solidFill>
                <a:latin typeface="Calibri"/>
              </a:rPr>
              <a:t>▸  Qotillik va o‘z-o‘zini o‘ldirishda zaharlanish qasddan, baxtsiz hodisada tasodifan yuz beradi.</a:t>
            </a:r>
          </a:p>
          <a:p>
            <a:pPr>
              <a:spcAft>
                <a:spcPts val="1200"/>
              </a:spcAft>
            </a:pPr>
            <a:r>
              <a:rPr sz="2200">
                <a:solidFill>
                  <a:srgbClr val="1F2937"/>
                </a:solidFill>
                <a:latin typeface="Calibri"/>
              </a:rPr>
              <a:t>▸  Ayrim tasodifiy holatlar yatrogen bo‘lib, doza yoki dori almashtirish xatosidan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Zaharlanishga ta’sir etuvchi to‘rt omil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Zaharlanishda to‘rt omil muhim: zahar, organizm, kirish yo‘li va ta’sir paytidagi tashqi sharoit.</a:t>
            </a:r>
          </a:p>
          <a:p>
            <a:pPr>
              <a:spcAft>
                <a:spcPts val="800"/>
              </a:spcAft>
            </a:pPr>
            <a:r>
              <a:rPr sz="1800">
                <a:solidFill>
                  <a:srgbClr val="1F2937"/>
                </a:solidFill>
                <a:latin typeface="Calibri"/>
              </a:rPr>
              <a:t>▸  Is gazi va karbonat angidridi tuzilishi o‘xshash, ammo toksikligi bir xil emas.</a:t>
            </a:r>
          </a:p>
          <a:p>
            <a:pPr>
              <a:spcAft>
                <a:spcPts val="800"/>
              </a:spcAft>
            </a:pPr>
            <a:r>
              <a:rPr sz="1800">
                <a:solidFill>
                  <a:srgbClr val="1F2937"/>
                </a:solidFill>
                <a:latin typeface="Calibri"/>
              </a:rPr>
              <a:t>▸  Doza, konsentratsiya, agregat holat va eruvchanlik ta’sirni belgilaydi; gaz suyuqdan, suyuq qattiqdan kuchliroq.</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To‘rt omil guruhi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Zahar</a:t>
            </a:r>
          </a:p>
          <a:p>
            <a:pPr algn="l">
              <a:spcAft>
                <a:spcPts val="0"/>
              </a:spcAft>
            </a:pPr>
            <a:r>
              <a:rPr sz="1200" b="0">
                <a:solidFill>
                  <a:srgbClr val="1F2937"/>
                </a:solidFill>
                <a:latin typeface="Calibri"/>
              </a:rPr>
              <a:t>Doza, konsentratsiya  ·  Eruvchanlik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Organizm</a:t>
            </a:r>
          </a:p>
          <a:p>
            <a:pPr algn="l">
              <a:spcAft>
                <a:spcPts val="0"/>
              </a:spcAft>
            </a:pPr>
            <a:r>
              <a:rPr sz="1200" b="0">
                <a:solidFill>
                  <a:srgbClr val="1F2937"/>
                </a:solidFill>
                <a:latin typeface="Calibri"/>
              </a:rPr>
              <a:t>Vazn, yosh  ·  Salomatlik</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Kirish yo‘li</a:t>
            </a:r>
          </a:p>
          <a:p>
            <a:pPr algn="l">
              <a:spcAft>
                <a:spcPts val="0"/>
              </a:spcAft>
            </a:pPr>
            <a:r>
              <a:rPr sz="1200" b="0">
                <a:solidFill>
                  <a:srgbClr val="1F2937"/>
                </a:solidFill>
                <a:latin typeface="Calibri"/>
              </a:rPr>
              <a:t>Og‘iz, nafas yo‘li  ·  In’eksiya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sharoit</a:t>
            </a:r>
          </a:p>
          <a:p>
            <a:pPr algn="l">
              <a:spcAft>
                <a:spcPts val="0"/>
              </a:spcAft>
            </a:pPr>
            <a:r>
              <a:rPr sz="1200" b="0">
                <a:solidFill>
                  <a:srgbClr val="1F2937"/>
                </a:solidFill>
                <a:latin typeface="Calibri"/>
              </a:rPr>
              <a:t>Yopiq, issiq, nam muhit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Zaharlanishga ta’sir etuvchi omillar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132-133, 133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omillari: tolerantlik, bog‘liqlik, abstinensiya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Zaharga javob vazn, yosh va salomatlikka bog‘liq: bolalar sezgirroq, yurak, jigar, buyrak kasalligida qarshilik kamayadi.</a:t>
            </a:r>
          </a:p>
          <a:p>
            <a:pPr>
              <a:spcAft>
                <a:spcPts val="1200"/>
              </a:spcAft>
            </a:pPr>
            <a:r>
              <a:rPr sz="2200">
                <a:solidFill>
                  <a:srgbClr val="1F2937"/>
                </a:solidFill>
                <a:latin typeface="Calibri"/>
              </a:rPr>
              <a:t>▸  Genetik xususiyat sezgirlikni o‘zgartiradi; ba’zi moddalarga o‘ta sezgirlik – idiosinkraziya ham genetik tushuntiriladi.</a:t>
            </a:r>
          </a:p>
          <a:p>
            <a:pPr>
              <a:spcAft>
                <a:spcPts val="1200"/>
              </a:spcAft>
            </a:pPr>
            <a:r>
              <a:rPr sz="2200">
                <a:solidFill>
                  <a:srgbClr val="1F2937"/>
                </a:solidFill>
                <a:latin typeface="Calibri"/>
              </a:rPr>
              <a:t>▸  Moddaning qisqa vaqtda takroran ta’sir etishi tolerantlikni, ya’ni o‘rganib qolishni keltirib chiqarishi mumkin.</a:t>
            </a:r>
          </a:p>
          <a:p>
            <a:pPr>
              <a:spcAft>
                <a:spcPts val="1200"/>
              </a:spcAft>
            </a:pPr>
            <a:r>
              <a:rPr sz="2200">
                <a:solidFill>
                  <a:srgbClr val="1F2937"/>
                </a:solidFill>
                <a:latin typeface="Calibri"/>
              </a:rPr>
              <a:t>▸  Giyohvand moddada tolerantlik bilan ruhiy va jismoniy bog‘liqlik shakllanadi, ko‘proq doza qabul qilinadi; qabul to‘xtasa abstinensiya sindromi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133-134, 134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Zaharning organizmga kirish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teri, og‘iz, nafas yo‘llari, to‘g‘ri ichak yoki in’eksiya orqali organizmga kirishi mumkin.</a:t>
            </a:r>
          </a:p>
          <a:p>
            <a:pPr>
              <a:spcAft>
                <a:spcPts val="1200"/>
              </a:spcAft>
            </a:pPr>
            <a:r>
              <a:rPr sz="2200">
                <a:solidFill>
                  <a:srgbClr val="1F2937"/>
                </a:solidFill>
                <a:latin typeface="Calibri"/>
              </a:rPr>
              <a:t>▸  Qonga qanchalik tez va to‘liq o‘tsa, toksik ta’sir shunchalik kuchli bo‘ladi; bunda suv va yog‘da eruvchanlik muhim.</a:t>
            </a:r>
          </a:p>
          <a:p>
            <a:pPr>
              <a:spcAft>
                <a:spcPts val="1200"/>
              </a:spcAft>
            </a:pPr>
            <a:r>
              <a:rPr sz="2200">
                <a:solidFill>
                  <a:srgbClr val="1F2937"/>
                </a:solidFill>
                <a:latin typeface="Calibri"/>
              </a:rPr>
              <a:t>▸  Yog‘da yaxshi eriydigan moddalar (fosfororganik birikmalar) shikastlanmagan teri orqali ham so‘riladi; erimaydiganlar faqat mahalliy ta’sir qiladi.</a:t>
            </a:r>
          </a:p>
          <a:p>
            <a:pPr>
              <a:spcAft>
                <a:spcPts val="1200"/>
              </a:spcAft>
            </a:pPr>
            <a:r>
              <a:rPr sz="2200">
                <a:solidFill>
                  <a:srgbClr val="1F2937"/>
                </a:solidFill>
                <a:latin typeface="Calibri"/>
              </a:rPr>
              <a:t>▸  Nafas yo‘llari, to‘g‘ri ichak va qin shilliq qavatidan so‘rilgan modda jigardan o‘tmaydi, shuning uchun oshqozon-ichakdagidan kuchliroq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134-135, 135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zaharlanish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Paratsels iborasiga ko‘ra, nima moddani doriga yoki zaharga aylantiradi? Javob: faqat doza.</a:t>
            </a:r>
          </a:p>
          <a:p>
            <a:pPr>
              <a:spcAft>
                <a:spcPts val="1200"/>
              </a:spcAft>
            </a:pPr>
            <a:r>
              <a:rPr sz="2200">
                <a:solidFill>
                  <a:srgbClr val="1F2937"/>
                </a:solidFill>
                <a:latin typeface="Calibri"/>
              </a:rPr>
              <a:t>▸  2-savol. Tolerantlik nima? Bu moddaning takroriy ta’siriga o‘rganib qolish; u uyqu dorilari va analgetiklarda ham uchraydi.</a:t>
            </a:r>
          </a:p>
          <a:p>
            <a:pPr>
              <a:spcAft>
                <a:spcPts val="1200"/>
              </a:spcAft>
            </a:pPr>
            <a:r>
              <a:rPr sz="2200">
                <a:solidFill>
                  <a:srgbClr val="1F2937"/>
                </a:solidFill>
                <a:latin typeface="Calibri"/>
              </a:rPr>
              <a:t>▸  Diqqat: xato qilish xavfi! Tolerantlik ≠ bog‘liqlik.</a:t>
            </a:r>
          </a:p>
          <a:p>
            <a:pPr>
              <a:spcAft>
                <a:spcPts val="1200"/>
              </a:spcAft>
            </a:pPr>
            <a:r>
              <a:rPr sz="2200">
                <a:solidFill>
                  <a:srgbClr val="1F2937"/>
                </a:solidFill>
                <a:latin typeface="Calibri"/>
              </a:rPr>
              <a:t>▸  Giyohvand moddalarda ruhiy va jismoniy bog‘liqlik, ko‘proq dozaga intilish va abstinensiya sindromi ham bo‘ladi.</a:t>
            </a:r>
          </a:p>
          <a:p>
            <a:pPr>
              <a:spcAft>
                <a:spcPts val="1200"/>
              </a:spcAft>
            </a:pPr>
            <a:r>
              <a:rPr sz="2200">
                <a:solidFill>
                  <a:srgbClr val="1F2937"/>
                </a:solidFill>
                <a:latin typeface="Calibri"/>
              </a:rPr>
              <a:t>▸  3-savol. Qaysi kirish yo‘lida ta’sir kuchli? Nafas yo‘llari, to‘g‘ri ichak va qindan so‘rilgan modda jigardan o‘tmaydi, shuning uchun kuchliroq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134, 135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sud-tibbiy diagnostikasi: uch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1-bosqich: hodisa joyi, dori idishlari, shpritslar, qusuq va tibbiy hujjatlar o‘rganiladi.</a:t>
            </a:r>
          </a:p>
          <a:p>
            <a:pPr>
              <a:spcAft>
                <a:spcPts val="800"/>
              </a:spcAft>
            </a:pPr>
            <a:r>
              <a:rPr sz="1800">
                <a:solidFill>
                  <a:srgbClr val="1F2937"/>
                </a:solidFill>
                <a:latin typeface="Calibri"/>
              </a:rPr>
              <a:t>▸  2-bosqich: murdada in’eksiya izlari, teri rangi, murda dog‘lari, yot hid va mushak qotishi baholanadi.</a:t>
            </a:r>
          </a:p>
          <a:p>
            <a:pPr>
              <a:spcAft>
                <a:spcPts val="800"/>
              </a:spcAft>
            </a:pPr>
            <a:r>
              <a:rPr sz="1800">
                <a:solidFill>
                  <a:srgbClr val="1F2937"/>
                </a:solidFill>
                <a:latin typeface="Calibri"/>
              </a:rPr>
              <a:t>▸  3-bosqich: gistologik, sud-kimyoviy va boshqa laboratoriya tekshiruvlari; eng ko‘pi sud-kimyoviy.</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Hodisa joyi va hujjatlar</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Murda tekshiruvi</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Laboratoriya tekshiruvlari</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Diagnostika zanjiri</a:t>
            </a:r>
          </a:p>
        </p:txBody>
      </p:sp>
      <p:sp>
        <p:nvSpPr>
          <p:cNvPr id="15" name="TextBox 1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135-136, 136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Toksikologik tekshiruv uchun material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“Uch nuqta” qoidasi: zahar kirgan, asosan ta’sir etgan va organizmdan chiqqan joylardan namuna olinadi.</a:t>
            </a:r>
          </a:p>
          <a:p>
            <a:pPr>
              <a:spcAft>
                <a:spcPts val="800"/>
              </a:spcAft>
            </a:pPr>
            <a:r>
              <a:rPr sz="1800">
                <a:solidFill>
                  <a:srgbClr val="1F2937"/>
                </a:solidFill>
                <a:latin typeface="Calibri"/>
              </a:rPr>
              <a:t>▸  Zahar noma’lum bo‘lsa, miya, o‘pka, jigar, buyrak, oshqozon massasi, ichak va qon olinadi.</a:t>
            </a:r>
          </a:p>
          <a:p>
            <a:pPr>
              <a:spcAft>
                <a:spcPts val="800"/>
              </a:spcAft>
            </a:pPr>
            <a:r>
              <a:rPr sz="1800">
                <a:solidFill>
                  <a:srgbClr val="1F2937"/>
                </a:solidFill>
                <a:latin typeface="Calibri"/>
              </a:rPr>
              <a:t>▸  Chuqur chirishda 1,5–2,0 kg aralash massa — “o‘rta sinama” — toksikologik tekshiruvga olinadi.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Zahar ma’lum (og‘iz)</a:t>
            </a:r>
          </a:p>
          <a:p>
            <a:pPr algn="l">
              <a:spcAft>
                <a:spcPts val="200"/>
              </a:spcAft>
            </a:pPr>
            <a:r>
              <a:rPr sz="1400" b="0">
                <a:solidFill>
                  <a:srgbClr val="1F2937"/>
                </a:solidFill>
                <a:latin typeface="Calibri"/>
              </a:rPr>
              <a:t>Oshqozon massasi, jigar bo‘lagi, butun buyrak</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Zahar noma’lum</a:t>
            </a:r>
          </a:p>
          <a:p>
            <a:pPr algn="l">
              <a:spcAft>
                <a:spcPts val="200"/>
              </a:spcAft>
            </a:pPr>
            <a:r>
              <a:rPr sz="1400" b="0">
                <a:solidFill>
                  <a:srgbClr val="1F2937"/>
                </a:solidFill>
                <a:latin typeface="Calibri"/>
              </a:rPr>
              <a:t>Miya 1/3, o‘pka 1/4, jigar 1/3 o‘t bilan</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Davomi</a:t>
            </a:r>
          </a:p>
          <a:p>
            <a:pPr algn="l">
              <a:spcAft>
                <a:spcPts val="200"/>
              </a:spcAft>
            </a:pPr>
            <a:r>
              <a:rPr sz="1400" b="0">
                <a:solidFill>
                  <a:srgbClr val="1F2937"/>
                </a:solidFill>
                <a:latin typeface="Calibri"/>
              </a:rPr>
              <a:t>Buyrak siydik bilan, oshqozon massasi, ichak 1 m, qon 100–200 ml; idish alohida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Chuqur chirish</a:t>
            </a:r>
          </a:p>
          <a:p>
            <a:pPr algn="l">
              <a:spcAft>
                <a:spcPts val="200"/>
              </a:spcAft>
            </a:pPr>
            <a:r>
              <a:rPr sz="1400" b="0">
                <a:solidFill>
                  <a:srgbClr val="1F2937"/>
                </a:solidFill>
                <a:latin typeface="Calibri"/>
              </a:rPr>
              <a:t>Ko‘krak-qorin a’zolari aralashmasi — “o‘rta sinama” 1,5–2,0 kg</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Material olish: “uch nuqta” qoidasi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Toksikokinetika — zaharning kirishi, taqsimlanishi, metabolizmi va chiqarilishi jarayonlari majmui.</a:t>
            </a:r>
          </a:p>
          <a:p>
            <a:pPr>
              <a:spcAft>
                <a:spcPts val="800"/>
              </a:spcAft>
            </a:pPr>
            <a:r>
              <a:rPr sz="1800">
                <a:solidFill>
                  <a:srgbClr val="1F2937"/>
                </a:solidFill>
                <a:latin typeface="Calibri"/>
              </a:rPr>
              <a:t>▸  Biotransformatsiya asosan jigarda; metanol va etilenglikol metabolitlari o‘zidan zaharliroq.</a:t>
            </a:r>
          </a:p>
          <a:p>
            <a:pPr>
              <a:spcAft>
                <a:spcPts val="800"/>
              </a:spcAft>
            </a:pPr>
            <a:r>
              <a:rPr sz="1800">
                <a:solidFill>
                  <a:srgbClr val="1F2937"/>
                </a:solidFill>
                <a:latin typeface="Calibri"/>
              </a:rPr>
              <a:t>▸  Toksikodinamika — organizmning zaharga javob reaksiyalari; u toksikokinetika bilan uzviy bog‘liq.</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Birlamchi toksik</a:t>
            </a:r>
          </a:p>
          <a:p>
            <a:pPr algn="l">
              <a:spcAft>
                <a:spcPts val="200"/>
              </a:spcAft>
            </a:pPr>
            <a:r>
              <a:rPr sz="1400" b="0">
                <a:solidFill>
                  <a:srgbClr val="1F2937"/>
                </a:solidFill>
                <a:latin typeface="Calibri"/>
              </a:rPr>
              <a:t>Og‘iz, qizilo‘ngach, oshqozon kuyishi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Keyingi toksik</a:t>
            </a:r>
          </a:p>
          <a:p>
            <a:pPr algn="l">
              <a:spcAft>
                <a:spcPts val="200"/>
              </a:spcAft>
            </a:pPr>
            <a:r>
              <a:rPr sz="1400" b="0">
                <a:solidFill>
                  <a:srgbClr val="1F2937"/>
                </a:solidFill>
                <a:latin typeface="Calibri"/>
              </a:rPr>
              <a:t>Atsidoz tufayli eritrotsitlar gemolizi</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Metatoksik</a:t>
            </a:r>
          </a:p>
          <a:p>
            <a:pPr algn="l">
              <a:spcAft>
                <a:spcPts val="200"/>
              </a:spcAft>
            </a:pPr>
            <a:r>
              <a:rPr sz="1400" b="0">
                <a:solidFill>
                  <a:srgbClr val="1F2937"/>
                </a:solidFill>
                <a:latin typeface="Calibri"/>
              </a:rPr>
              <a:t>Toksik gepatit, toksik nefroz</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Toksikodinamika bosqichlari (sirka kislotasi)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136-137, 137-138, 138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zaharlanishga shubha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 shpritslar va dori idishlari, murdada in’eksiya izlari. Savol: qaysi bosqich boshlanadi va nima olinadi?</a:t>
            </a:r>
          </a:p>
          <a:p>
            <a:pPr>
              <a:spcAft>
                <a:spcPts val="1200"/>
              </a:spcAft>
            </a:pPr>
            <a:r>
              <a:rPr sz="2200">
                <a:solidFill>
                  <a:srgbClr val="1F2937"/>
                </a:solidFill>
                <a:latin typeface="Calibri"/>
              </a:rPr>
              <a:t>▸  Birinchi bosqich: joy mutaxassis ishtirokida ko‘zdan kechiriladi; shpritslar, idishlar, o‘ramlar, retseptlar, qusuq ashyoviy dalil sifatida olinadi.</a:t>
            </a:r>
          </a:p>
          <a:p>
            <a:pPr>
              <a:spcAft>
                <a:spcPts val="1200"/>
              </a:spcAft>
            </a:pPr>
            <a:r>
              <a:rPr sz="2200">
                <a:solidFill>
                  <a:srgbClr val="1F2937"/>
                </a:solidFill>
                <a:latin typeface="Calibri"/>
              </a:rPr>
              <a:t>▸  Murdada in’eksiya izlari, teri va shilliq qavat holati, murda dog‘lari rangi, mushak qotishi va yot hid zaharlanishga shubha uyg‘otadi.</a:t>
            </a:r>
          </a:p>
          <a:p>
            <a:pPr>
              <a:spcAft>
                <a:spcPts val="1200"/>
              </a:spcAft>
            </a:pPr>
            <a:r>
              <a:rPr sz="2200">
                <a:solidFill>
                  <a:srgbClr val="1F2937"/>
                </a:solidFill>
                <a:latin typeface="Calibri"/>
              </a:rPr>
              <a:t>▸  Diqqat: laboratoriya uchun “uch nuqta” qoidasi — namuna zahar kirgan, ta’sir etgan va chiqqan joylardan olinadi (oshqozon massasi, jigar, buyrak).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sud-tibbiy tasnifi va funksional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Zaharlar asosan mahalliy va asosan umumiy (rezorbtiv) ta’sir etuvchilarga bo‘linadi.</a:t>
            </a:r>
          </a:p>
          <a:p>
            <a:pPr>
              <a:spcAft>
                <a:spcPts val="800"/>
              </a:spcAft>
            </a:pPr>
            <a:r>
              <a:rPr sz="1800">
                <a:solidFill>
                  <a:srgbClr val="1F2937"/>
                </a:solidFill>
                <a:latin typeface="Calibri"/>
              </a:rPr>
              <a:t>▸  Markaziy nerv tizimini (MNT) qo‘zg‘atuvchilar: kokain, amfetaminlar, opiatlar, anasha, kofein.</a:t>
            </a:r>
          </a:p>
          <a:p>
            <a:pPr>
              <a:spcAft>
                <a:spcPts val="800"/>
              </a:spcAft>
            </a:pPr>
            <a:r>
              <a:rPr sz="1800">
                <a:solidFill>
                  <a:srgbClr val="1F2937"/>
                </a:solidFill>
                <a:latin typeface="Calibri"/>
              </a:rPr>
              <a:t>▸  MNT ni so‘ndiruvchilar: etil va boshqa spirtlar, uyqu dorilari (barbituratlar), trankvilizatorlar.</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Zaharlar tasnifi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Mahalliy</a:t>
            </a:r>
          </a:p>
          <a:p>
            <a:pPr algn="l">
              <a:spcAft>
                <a:spcPts val="0"/>
              </a:spcAft>
            </a:pPr>
            <a:r>
              <a:rPr sz="1200" b="0">
                <a:solidFill>
                  <a:srgbClr val="1F2937"/>
                </a:solidFill>
                <a:latin typeface="Calibri"/>
              </a:rPr>
              <a:t>Kislota, ishqor, yod tindirmasi  ·  Kontakt joyida nekroz</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Destruktiv</a:t>
            </a:r>
          </a:p>
          <a:p>
            <a:pPr algn="l">
              <a:spcAft>
                <a:spcPts val="0"/>
              </a:spcAft>
            </a:pPr>
            <a:r>
              <a:rPr sz="1200" b="0">
                <a:solidFill>
                  <a:srgbClr val="1F2937"/>
                </a:solidFill>
                <a:latin typeface="Calibri"/>
              </a:rPr>
              <a:t>Simob, qo‘rg‘oshin, margimush  ·  Ichki a’zolarda to‘qima buzilishi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Gemotrop</a:t>
            </a:r>
          </a:p>
          <a:p>
            <a:pPr algn="l">
              <a:spcAft>
                <a:spcPts val="0"/>
              </a:spcAft>
            </a:pPr>
            <a:r>
              <a:rPr sz="1200" b="0">
                <a:solidFill>
                  <a:srgbClr val="1F2937"/>
                </a:solidFill>
                <a:latin typeface="Calibri"/>
              </a:rPr>
              <a:t>Is gazi, arsin, ritsin  ·  Qonga birlamchi ta’sir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Funksional</a:t>
            </a:r>
          </a:p>
          <a:p>
            <a:pPr algn="l">
              <a:spcAft>
                <a:spcPts val="0"/>
              </a:spcAft>
            </a:pPr>
            <a:r>
              <a:rPr sz="1200" b="0">
                <a:solidFill>
                  <a:srgbClr val="1F2937"/>
                </a:solidFill>
                <a:latin typeface="Calibri"/>
              </a:rPr>
              <a:t>Sianid, kokain, opiat, spirt  ·  MNT, PNT buzilishi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Zaharlar tasnifi (soddalashtirilgan)</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 139-140, 140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Narkotiklar muammosi: global ko‘lam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Narkotiklar va boshqa gangituvchi moddalarni iste’mol qilish dunyoning barcha mamlakatlarida dolzarb muammo sifatida tan olingan.</a:t>
            </a:r>
          </a:p>
          <a:p>
            <a:pPr>
              <a:spcAft>
                <a:spcPts val="1200"/>
              </a:spcAft>
            </a:pPr>
            <a:r>
              <a:rPr sz="2200">
                <a:solidFill>
                  <a:srgbClr val="1F2937"/>
                </a:solidFill>
                <a:latin typeface="Calibri"/>
              </a:rPr>
              <a:t>▸  BMT ma’lumoti: dunyoda 130–190 mln kishi nasha preparatlarini, 30–40 mln kishi amfetamin qatori preparatlarini iste’mol qiladi.</a:t>
            </a:r>
          </a:p>
          <a:p>
            <a:pPr>
              <a:spcAft>
                <a:spcPts val="1200"/>
              </a:spcAft>
            </a:pPr>
            <a:r>
              <a:rPr sz="2200">
                <a:solidFill>
                  <a:srgbClr val="1F2937"/>
                </a:solidFill>
                <a:latin typeface="Calibri"/>
              </a:rPr>
              <a:t>▸  Geroinni 11,3 mln, boshqa opiatlarni 4,1 mln kishi iste’mol qiladi. Masala tibbiy, siyosiy, ijtimoiy va iqtisodiy ahamiyatga ega.</a:t>
            </a:r>
          </a:p>
          <a:p>
            <a:pPr>
              <a:spcAft>
                <a:spcPts val="1200"/>
              </a:spcAft>
            </a:pPr>
            <a:r>
              <a:rPr sz="2200">
                <a:solidFill>
                  <a:srgbClr val="1F2937"/>
                </a:solidFill>
                <a:latin typeface="Calibri"/>
              </a:rPr>
              <a:t>▸  Diqqat: xato qilish xavfi — sedativ ta’sirli moddalar (nasha, opiatlar) qo‘zg‘atuvchi moddalardan (kokain, amfetaminlar)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 moddalar tasnifi: tabiiy, yarim sintetik, sintetik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Mamlakatimizda nasha va opiatlarni iste’mol qilish bilan bog‘liq holatlar uchraydi.</a:t>
            </a:r>
          </a:p>
          <a:p>
            <a:pPr>
              <a:spcAft>
                <a:spcPts val="800"/>
              </a:spcAft>
            </a:pPr>
            <a:r>
              <a:rPr sz="1800">
                <a:solidFill>
                  <a:srgbClr val="1F2937"/>
                </a:solidFill>
                <a:latin typeface="Calibri"/>
              </a:rPr>
              <a:t>▸  Kokain iste’moli asosan G‘arbiy yarim shar mamlakatlari uchun xos.</a:t>
            </a:r>
          </a:p>
          <a:p>
            <a:pPr>
              <a:spcAft>
                <a:spcPts val="800"/>
              </a:spcAft>
            </a:pPr>
            <a:r>
              <a:rPr sz="1800">
                <a:solidFill>
                  <a:srgbClr val="1F2937"/>
                </a:solidFill>
                <a:latin typeface="Calibri"/>
              </a:rPr>
              <a:t>▸  So‘nggi yillarda amfetamin qatori preparatlari, ayniqsa yoshlar orasida, ko‘paymoqda.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Narkotiklar tasnifi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Tabiiy</a:t>
            </a:r>
          </a:p>
          <a:p>
            <a:pPr algn="l">
              <a:spcAft>
                <a:spcPts val="0"/>
              </a:spcAft>
            </a:pPr>
            <a:r>
              <a:rPr sz="1200" b="0">
                <a:solidFill>
                  <a:srgbClr val="1F2937"/>
                </a:solidFill>
                <a:latin typeface="Calibri"/>
              </a:rPr>
              <a:t>Nasha, morfin  ·  Kodein, kokain</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Yarim sintetik</a:t>
            </a:r>
          </a:p>
          <a:p>
            <a:pPr algn="l">
              <a:spcAft>
                <a:spcPts val="0"/>
              </a:spcAft>
            </a:pPr>
            <a:r>
              <a:rPr sz="1200" b="0">
                <a:solidFill>
                  <a:srgbClr val="1F2937"/>
                </a:solidFill>
                <a:latin typeface="Calibri"/>
              </a:rPr>
              <a:t>Geroin, meskalin  ·  Efedron</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Sintetik</a:t>
            </a:r>
          </a:p>
          <a:p>
            <a:pPr algn="l">
              <a:spcAft>
                <a:spcPts val="0"/>
              </a:spcAft>
            </a:pPr>
            <a:r>
              <a:rPr sz="1200" b="0">
                <a:solidFill>
                  <a:srgbClr val="1F2937"/>
                </a:solidFill>
                <a:latin typeface="Calibri"/>
              </a:rPr>
              <a:t>Amfetamin, promedol  ·  Metadon, sombrevin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Kelib chiqishi bo‘yicha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“Narkotiklar bilan bog‘liq o‘lim” (DRD)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DRD (drug related death) — narkotik va psixotrop moddalar iste’moli bilan bevosita yoki bilvosita bog‘liq o‘lim.</a:t>
            </a:r>
          </a:p>
          <a:p>
            <a:pPr>
              <a:spcAft>
                <a:spcPts val="800"/>
              </a:spcAft>
            </a:pPr>
            <a:r>
              <a:rPr sz="1800">
                <a:solidFill>
                  <a:srgbClr val="1F2937"/>
                </a:solidFill>
                <a:latin typeface="Calibri"/>
              </a:rPr>
              <a:t>▸  Mastlik o‘z-o‘zini o‘ldirish, baxtsiz hodisa va qotillik qurboni bo‘lish ehtimolini ancha oshiradi.</a:t>
            </a:r>
          </a:p>
          <a:p>
            <a:pPr>
              <a:spcAft>
                <a:spcPts val="800"/>
              </a:spcAft>
            </a:pPr>
            <a:r>
              <a:rPr sz="1800">
                <a:solidFill>
                  <a:srgbClr val="1F2937"/>
                </a:solidFill>
                <a:latin typeface="Calibri"/>
              </a:rPr>
              <a:t>▸  Baxtsiz hodisalarga yo‘l-transport hodisasi, balandlikdan yiqilish, yong‘inda kuyish va cho‘kish kiradi.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Katta doza bilan zaharlanish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Uzoq qabul qilish oqibati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O‘z-o‘zini o‘ldirish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Baxtsiz hodisa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Qotillik natijasidagi o‘lim</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DRD: besh guruh</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tasnif va DRD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geroin qaysi guruhga kiradi? Javob: yarim sintetik guruhga, u atsetillangan morfin. Morfin esa tabiiy modda hisoblanadi.</a:t>
            </a:r>
          </a:p>
          <a:p>
            <a:pPr>
              <a:spcAft>
                <a:spcPts val="1200"/>
              </a:spcAft>
            </a:pPr>
            <a:r>
              <a:rPr sz="2200">
                <a:solidFill>
                  <a:srgbClr val="1F2937"/>
                </a:solidFill>
                <a:latin typeface="Calibri"/>
              </a:rPr>
              <a:t>▸  Tabiiy: nasha, morfin, kodein, kokain. Yarim sintetik: geroin, meskalin, efedron. Sintetik: amfetamin, promedol, metadon.</a:t>
            </a:r>
          </a:p>
          <a:p>
            <a:pPr>
              <a:spcAft>
                <a:spcPts val="1200"/>
              </a:spcAft>
            </a:pPr>
            <a:r>
              <a:rPr sz="2200">
                <a:solidFill>
                  <a:srgbClr val="1F2937"/>
                </a:solidFill>
                <a:latin typeface="Calibri"/>
              </a:rPr>
              <a:t>▸  Savol: DRD (narkotiklar bilan bog‘liq o‘lim, drug related death) ga nimalar kiradi?</a:t>
            </a:r>
          </a:p>
          <a:p>
            <a:pPr>
              <a:spcAft>
                <a:spcPts val="1200"/>
              </a:spcAft>
            </a:pPr>
            <a:r>
              <a:rPr sz="2200">
                <a:solidFill>
                  <a:srgbClr val="1F2937"/>
                </a:solidFill>
                <a:latin typeface="Calibri"/>
              </a:rPr>
              <a:t>▸  Javob: katta dozadan zaharlanish, uzoq qabul oqibati, o‘z-o‘zini o‘ldirish, baxtsiz hodisa, qotillik.</a:t>
            </a:r>
          </a:p>
          <a:p>
            <a:pPr>
              <a:spcAft>
                <a:spcPts val="1200"/>
              </a:spcAft>
            </a:pPr>
            <a:r>
              <a:rPr sz="2200">
                <a:solidFill>
                  <a:srgbClr val="1F2937"/>
                </a:solidFill>
                <a:latin typeface="Calibri"/>
              </a:rPr>
              <a:t>▸  Savol: kokain qayerda ko‘proq iste’mol qilinadi? Javob: G‘arbiy yarim shar mamlakatlarida. Bizning hududda nasha va opiatlar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 manba va toksikokinetika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Opiy — opiy ko‘knorining (Papaver somniferum) quritilgan sharbati. Unda morfin, kodein, tebain, narkotin alkaloidlari bor. Geroin yarim sintetik mahsulot.</a:t>
            </a:r>
          </a:p>
          <a:p>
            <a:pPr>
              <a:spcAft>
                <a:spcPts val="1200"/>
              </a:spcAft>
            </a:pPr>
            <a:r>
              <a:rPr sz="2000">
                <a:solidFill>
                  <a:srgbClr val="1F2937"/>
                </a:solidFill>
                <a:latin typeface="Calibri"/>
              </a:rPr>
              <a:t>▸  Opiatlar qonga tez so‘riladi. Og‘iz orqali qabul qilinganda ta’sir 20-30 daqiqadan, teri ostiga yuborilganda 10-15 daqiqadan so‘ng boshlanadi.</a:t>
            </a:r>
          </a:p>
          <a:p>
            <a:pPr>
              <a:spcAft>
                <a:spcPts val="1200"/>
              </a:spcAft>
            </a:pPr>
            <a:r>
              <a:rPr sz="2000">
                <a:solidFill>
                  <a:srgbClr val="1F2937"/>
                </a:solidFill>
                <a:latin typeface="Calibri"/>
              </a:rPr>
              <a:t>▸  Opiatlar barcha to‘qimalarda bo‘ladi, lekin jigarda ko‘proq to‘planadi. Morfinning jigardagi konsentratsiyasi qondagidan qariyb besh barobar yuqori.</a:t>
            </a:r>
          </a:p>
          <a:p>
            <a:pPr>
              <a:spcAft>
                <a:spcPts val="1200"/>
              </a:spcAft>
            </a:pPr>
            <a:r>
              <a:rPr sz="2000">
                <a:solidFill>
                  <a:srgbClr val="1F2937"/>
                </a:solidFill>
                <a:latin typeface="Calibri"/>
              </a:rPr>
              <a:t>▸  Chiqarilish qonga so‘rilgan zahoti boshlanadi, asosan buyrak va oshqozon-ichak orqali. Morfin maksimumi 8-12 soatda, dastlabki 3-4 kunda 90 % ga yaqini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Opiatlardan zaharlanish: klinika va letal dozalar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Dastlab ko‘ngil aynishi, qusish, sianoz, qorachiq torayishi, hansirash, karaxtlik kuzatiladi.</a:t>
            </a:r>
          </a:p>
          <a:p>
            <a:pPr>
              <a:spcAft>
                <a:spcPts val="800"/>
              </a:spcAft>
            </a:pPr>
            <a:r>
              <a:rPr sz="1800">
                <a:solidFill>
                  <a:srgbClr val="1F2937"/>
                </a:solidFill>
                <a:latin typeface="Calibri"/>
              </a:rPr>
              <a:t>▸  Keyin koma rivojlanadi. Zaharlanish soatlardan kunlargacha cho‘ziladi, o‘lim nafas olish markazi falajidan.</a:t>
            </a:r>
          </a:p>
          <a:p>
            <a:pPr>
              <a:spcAft>
                <a:spcPts val="800"/>
              </a:spcAft>
            </a:pPr>
            <a:r>
              <a:rPr sz="1800">
                <a:solidFill>
                  <a:srgbClr val="1F2937"/>
                </a:solidFill>
                <a:latin typeface="Calibri"/>
              </a:rPr>
              <a:t>▸  Parenteral yuborilganda kichikroq doza ham o‘ldiradi. Morfin murdada oylab parchalanmaydi.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Quruq opiy, ichga</a:t>
            </a:r>
          </a:p>
          <a:p>
            <a:pPr algn="l">
              <a:spcAft>
                <a:spcPts val="100"/>
              </a:spcAft>
            </a:pPr>
            <a:r>
              <a:rPr sz="3000" b="1">
                <a:solidFill>
                  <a:srgbClr val="0B1F3A"/>
                </a:solidFill>
                <a:latin typeface="Calibri"/>
              </a:rPr>
              <a:t>2–5</a:t>
            </a:r>
            <a:r>
              <a:rPr sz="1500" b="0">
                <a:solidFill>
                  <a:srgbClr val="6B7280"/>
                </a:solidFill>
                <a:latin typeface="Calibri"/>
              </a:rPr>
              <a:t>  g</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Morfin, ichga</a:t>
            </a:r>
          </a:p>
          <a:p>
            <a:pPr algn="l">
              <a:spcAft>
                <a:spcPts val="100"/>
              </a:spcAft>
            </a:pPr>
            <a:r>
              <a:rPr sz="2500" b="1">
                <a:solidFill>
                  <a:srgbClr val="0B1F3A"/>
                </a:solidFill>
                <a:latin typeface="Calibri"/>
              </a:rPr>
              <a:t>0,2–0,4</a:t>
            </a:r>
            <a:r>
              <a:rPr sz="1200" b="0">
                <a:solidFill>
                  <a:srgbClr val="6B7280"/>
                </a:solidFill>
                <a:latin typeface="Calibri"/>
              </a:rPr>
              <a:t>  g</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Morfin, parenteral</a:t>
            </a:r>
          </a:p>
          <a:p>
            <a:pPr algn="l">
              <a:spcAft>
                <a:spcPts val="100"/>
              </a:spcAft>
            </a:pPr>
            <a:r>
              <a:rPr sz="2500" b="1">
                <a:solidFill>
                  <a:srgbClr val="0B1F3A"/>
                </a:solidFill>
                <a:latin typeface="Calibri"/>
              </a:rPr>
              <a:t>0,1–0,2</a:t>
            </a:r>
            <a:r>
              <a:rPr sz="1200" b="0">
                <a:solidFill>
                  <a:srgbClr val="6B7280"/>
                </a:solidFill>
                <a:latin typeface="Calibri"/>
              </a:rPr>
              <a:t>  g</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Letal dozalar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 168-169, 169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Nasha va uning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Nasha (Cannabis sativa) o‘simligidan olinadigan asosiy narkotik komponent tetragidrokannabinol. U chekiladi yoki og‘iz orqali qabul qilinadi.</a:t>
            </a:r>
          </a:p>
          <a:p>
            <a:pPr>
              <a:spcAft>
                <a:spcPts val="1200"/>
              </a:spcAft>
            </a:pPr>
            <a:r>
              <a:rPr sz="2200">
                <a:solidFill>
                  <a:srgbClr val="1F2937"/>
                </a:solidFill>
                <a:latin typeface="Calibri"/>
              </a:rPr>
              <a:t>▸  Zaharlanishda qorachiq kengayadi, nistagm, taxikardiya, qon bosimi ko‘tarilishi, hansirash va harakatlar diskoordinatsiyasi bo‘ladi.</a:t>
            </a:r>
          </a:p>
          <a:p>
            <a:pPr>
              <a:spcAft>
                <a:spcPts val="1200"/>
              </a:spcAft>
            </a:pPr>
            <a:r>
              <a:rPr sz="2200">
                <a:solidFill>
                  <a:srgbClr val="1F2937"/>
                </a:solidFill>
                <a:latin typeface="Calibri"/>
              </a:rPr>
              <a:t>▸  Gallyusinatsiyali qisqa psixoz mumkin.</a:t>
            </a:r>
          </a:p>
          <a:p>
            <a:pPr>
              <a:spcAft>
                <a:spcPts val="1200"/>
              </a:spcAft>
            </a:pPr>
            <a:r>
              <a:rPr sz="2200">
                <a:solidFill>
                  <a:srgbClr val="1F2937"/>
                </a:solidFill>
                <a:latin typeface="Calibri"/>
              </a:rPr>
              <a:t>▸  Keyin holsizlik, giporefleksiya va uyqu kuzatiladi. Nasha tez parchalanadi, shuning uchun zaharlanish odatda o‘lim bilan tugamaydi.</a:t>
            </a:r>
          </a:p>
          <a:p>
            <a:pPr>
              <a:spcAft>
                <a:spcPts val="1200"/>
              </a:spcAft>
            </a:pPr>
            <a:r>
              <a:rPr sz="2200">
                <a:solidFill>
                  <a:srgbClr val="1F2937"/>
                </a:solidFill>
                <a:latin typeface="Calibri"/>
              </a:rPr>
              <a:t>▸  Diqqat: narkokurerlarda oshqozon-ichakdagi nasha o‘ramlari buzilsa, zaharlanish o‘limga olib kelishi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Kokain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Kokain alkaloidi Janubiy Amerika butasi koka (Erythroxylon coca) barglaridan olinadi.</a:t>
            </a:r>
          </a:p>
          <a:p>
            <a:pPr>
              <a:spcAft>
                <a:spcPts val="1200"/>
              </a:spcAft>
            </a:pPr>
            <a:r>
              <a:rPr sz="2200">
                <a:solidFill>
                  <a:srgbClr val="1F2937"/>
                </a:solidFill>
                <a:latin typeface="Calibri"/>
              </a:rPr>
              <a:t>▸  Kukuni burun orqali nafas bilan tortiladi. Eritmasi vena ichiga yoki teri ostiga yuboriladi.</a:t>
            </a:r>
          </a:p>
          <a:p>
            <a:pPr>
              <a:spcAft>
                <a:spcPts val="1200"/>
              </a:spcAft>
            </a:pPr>
            <a:r>
              <a:rPr sz="2200">
                <a:solidFill>
                  <a:srgbClr val="1F2937"/>
                </a:solidFill>
                <a:latin typeface="Calibri"/>
              </a:rPr>
              <a:t>▸  Kokainda psixomotor qo‘zg‘alish bilan eyforiya xos. Puls va nafas tezlashadi, qorachiq kengayadi, qon bosimi va tana harorati ko‘tariladi.</a:t>
            </a:r>
          </a:p>
          <a:p>
            <a:pPr>
              <a:spcAft>
                <a:spcPts val="1200"/>
              </a:spcAft>
            </a:pPr>
            <a:r>
              <a:rPr sz="2200">
                <a:solidFill>
                  <a:srgbClr val="1F2937"/>
                </a:solidFill>
                <a:latin typeface="Calibri"/>
              </a:rPr>
              <a:t>▸  Keyin aritmiya, hansirash, hushning buzilishi bo‘ladi. O‘lim nafas markazi falajidan yoki yurak qorinchalari fibrillyasiyasidan yuz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Psixotrop moddalar: LSD, psilotsibin, fensiklidin, meskalin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Psixotrop moddalar qatoriga lizergin kislotasi hosilalari (LSD), psilotsibin, fensiklidin va meskalin kiradi.</a:t>
            </a:r>
          </a:p>
          <a:p>
            <a:pPr>
              <a:spcAft>
                <a:spcPts val="1200"/>
              </a:spcAft>
            </a:pPr>
            <a:r>
              <a:rPr sz="2200">
                <a:solidFill>
                  <a:srgbClr val="1F2937"/>
                </a:solidFill>
                <a:latin typeface="Calibri"/>
              </a:rPr>
              <a:t>▸  Ular vegetativ buzilishlarni chaqiradi: taxikardiya, qon bosimining ko‘tarilishi, qorachiqlarning kengayishi.</a:t>
            </a:r>
          </a:p>
          <a:p>
            <a:pPr>
              <a:spcAft>
                <a:spcPts val="1200"/>
              </a:spcAft>
            </a:pPr>
            <a:r>
              <a:rPr sz="2200">
                <a:solidFill>
                  <a:srgbClr val="1F2937"/>
                </a:solidFill>
                <a:latin typeface="Calibri"/>
              </a:rPr>
              <a:t>▸  Ruhiyat buziladi: reallikni noto‘g‘ri qabul qilish, alahsirash va gallyusinatsiyalar kuzatiladi.</a:t>
            </a:r>
          </a:p>
          <a:p>
            <a:pPr>
              <a:spcAft>
                <a:spcPts val="1200"/>
              </a:spcAft>
            </a:pPr>
            <a:r>
              <a:rPr sz="2200">
                <a:solidFill>
                  <a:srgbClr val="1F2937"/>
                </a:solidFill>
                <a:latin typeface="Calibri"/>
              </a:rPr>
              <a:t>▸  Laboratoriyada fensiklidin siydikda iste’moldan 4-6 soat o‘tgach topiladi va 7-14 kun davomida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170, 171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Amfetaminlar va “ekstazi” (MDMA)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Amfetaminlar feniletilaminning sintetik hosilalari bo‘lib, MNT (markaziy nerv tizimi)ni qo‘zg‘atadi.</a:t>
            </a:r>
          </a:p>
          <a:p>
            <a:pPr>
              <a:spcAft>
                <a:spcPts val="800"/>
              </a:spcAft>
            </a:pPr>
            <a:r>
              <a:rPr sz="1800">
                <a:solidFill>
                  <a:srgbClr val="1F2937"/>
                </a:solidFill>
                <a:latin typeface="Calibri"/>
              </a:rPr>
              <a:t>▸  “Ekstazi” nomi bilan MDMA (metilendioksimetamfetamin) tanilgan; klublarda tabletka tarzida tarqatiladi.</a:t>
            </a:r>
          </a:p>
          <a:p>
            <a:pPr>
              <a:spcAft>
                <a:spcPts val="800"/>
              </a:spcAft>
            </a:pPr>
            <a:r>
              <a:rPr sz="1800">
                <a:solidFill>
                  <a:srgbClr val="1F2937"/>
                </a:solidFill>
                <a:latin typeface="Calibri"/>
              </a:rPr>
              <a:t>▸  Ekstazining letal dozasi 500 mg. Venaga yuborish xavfli, shuning uchun asosan og‘izdan qabul qilinadi.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Kokain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Ta’sir kuchliroq</a:t>
            </a:r>
          </a:p>
          <a:p>
            <a:pPr algn="l">
              <a:spcAft>
                <a:spcPts val="700"/>
              </a:spcAft>
            </a:pPr>
            <a:r>
              <a:rPr sz="1500" b="1">
                <a:solidFill>
                  <a:srgbClr val="C9A227"/>
                </a:solidFill>
                <a:latin typeface="Calibri"/>
              </a:rPr>
              <a:t>●  </a:t>
            </a:r>
            <a:r>
              <a:rPr sz="1500" b="0">
                <a:solidFill>
                  <a:srgbClr val="1F2937"/>
                </a:solidFill>
                <a:latin typeface="Calibri"/>
              </a:rPr>
              <a:t>Ta’sir qisqaroq</a:t>
            </a:r>
          </a:p>
          <a:p>
            <a:pPr algn="l">
              <a:spcAft>
                <a:spcPts val="700"/>
              </a:spcAft>
            </a:pPr>
            <a:r>
              <a:rPr sz="1500" b="1">
                <a:solidFill>
                  <a:srgbClr val="C9A227"/>
                </a:solidFill>
                <a:latin typeface="Calibri"/>
              </a:rPr>
              <a:t>●  </a:t>
            </a:r>
            <a:r>
              <a:rPr sz="1500" b="0">
                <a:solidFill>
                  <a:srgbClr val="1F2937"/>
                </a:solidFill>
                <a:latin typeface="Calibri"/>
              </a:rPr>
              <a:t>Burundan, vena va teri ostiga</a:t>
            </a:r>
          </a:p>
          <a:p>
            <a:pPr algn="l">
              <a:spcAft>
                <a:spcPts val="700"/>
              </a:spcAft>
            </a:pPr>
            <a:r>
              <a:rPr sz="1500" b="1">
                <a:solidFill>
                  <a:srgbClr val="C9A227"/>
                </a:solidFill>
                <a:latin typeface="Calibri"/>
              </a:rPr>
              <a:t>●  </a:t>
            </a:r>
            <a:r>
              <a:rPr sz="1500" b="0">
                <a:solidFill>
                  <a:srgbClr val="1F2937"/>
                </a:solidFill>
                <a:latin typeface="Calibri"/>
              </a:rPr>
              <a:t>Psixomotor qo‘zg‘alish, eyforiya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Amfetamin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Ta’sir kuchsizroq</a:t>
            </a:r>
          </a:p>
          <a:p>
            <a:pPr algn="l">
              <a:spcAft>
                <a:spcPts val="700"/>
              </a:spcAft>
            </a:pPr>
            <a:r>
              <a:rPr sz="1500" b="1">
                <a:solidFill>
                  <a:srgbClr val="C9A227"/>
                </a:solidFill>
                <a:latin typeface="Calibri"/>
              </a:rPr>
              <a:t>●  </a:t>
            </a:r>
            <a:r>
              <a:rPr sz="1500" b="0">
                <a:solidFill>
                  <a:srgbClr val="1F2937"/>
                </a:solidFill>
                <a:latin typeface="Calibri"/>
              </a:rPr>
              <a:t>Ta’sir davomiyroq</a:t>
            </a:r>
          </a:p>
          <a:p>
            <a:pPr algn="l">
              <a:spcAft>
                <a:spcPts val="700"/>
              </a:spcAft>
            </a:pPr>
            <a:r>
              <a:rPr sz="1500" b="1">
                <a:solidFill>
                  <a:srgbClr val="C9A227"/>
                </a:solidFill>
                <a:latin typeface="Calibri"/>
              </a:rPr>
              <a:t>●  </a:t>
            </a:r>
            <a:r>
              <a:rPr sz="1500" b="0">
                <a:solidFill>
                  <a:srgbClr val="1F2937"/>
                </a:solidFill>
                <a:latin typeface="Calibri"/>
              </a:rPr>
              <a:t>Asosan og‘iz orqali</a:t>
            </a:r>
          </a:p>
          <a:p>
            <a:pPr algn="l">
              <a:spcAft>
                <a:spcPts val="700"/>
              </a:spcAft>
            </a:pPr>
            <a:r>
              <a:rPr sz="1500" b="1">
                <a:solidFill>
                  <a:srgbClr val="C9A227"/>
                </a:solidFill>
                <a:latin typeface="Calibri"/>
              </a:rPr>
              <a:t>●  </a:t>
            </a:r>
            <a:r>
              <a:rPr sz="1500" b="0">
                <a:solidFill>
                  <a:srgbClr val="1F2937"/>
                </a:solidFill>
                <a:latin typeface="Calibri"/>
              </a:rPr>
              <a:t>MNTni qo‘zg‘atish</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Kokain va amfetamin</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Spayslar: sintetik kannabinoidlar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Spayslar (ingl. spice — ziravor) chekish uchun mo‘ljallangan aralashma: maydalangan o‘simlikka sintetik kannabinoidlar qo‘shiladi.</a:t>
            </a:r>
          </a:p>
          <a:p>
            <a:pPr>
              <a:spcAft>
                <a:spcPts val="1200"/>
              </a:spcAft>
            </a:pPr>
            <a:r>
              <a:rPr sz="2200">
                <a:solidFill>
                  <a:srgbClr val="1F2937"/>
                </a:solidFill>
                <a:latin typeface="Calibri"/>
              </a:rPr>
              <a:t>▸  O‘ramlari 0,5 grammdan 3,0 grammgacha bo‘ladi. Ulardan foydalanish 2000-yillardan keyin aholi orasida kuzatilmoqda.</a:t>
            </a:r>
          </a:p>
          <a:p>
            <a:pPr>
              <a:spcAft>
                <a:spcPts val="1200"/>
              </a:spcAft>
            </a:pPr>
            <a:r>
              <a:rPr sz="2200">
                <a:solidFill>
                  <a:srgbClr val="1F2937"/>
                </a:solidFill>
                <a:latin typeface="Calibri"/>
              </a:rPr>
              <a:t>▸  Ta’siri nashaga o‘xshash, lekin undan kuchliroq va davomiyroq bo‘ladi.</a:t>
            </a:r>
          </a:p>
          <a:p>
            <a:pPr>
              <a:spcAft>
                <a:spcPts val="1200"/>
              </a:spcAft>
            </a:pPr>
            <a:r>
              <a:rPr sz="2200">
                <a:solidFill>
                  <a:srgbClr val="1F2937"/>
                </a:solidFill>
                <a:latin typeface="Calibri"/>
              </a:rPr>
              <a:t>▸  Belgilari: taxikardiya, qon bosimining oshishi, titrash, kuchli hayajon, qo‘zg‘alish, dezorientatsiya, talvasa va gallyusinatsiyalar.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noma’lum modda gumoni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yoshlar klubidan keltirilgan shaxsda qorachiqlar kengaygan, puls tez, kuchli qo‘zg‘alish bor.</a:t>
            </a:r>
          </a:p>
          <a:p>
            <a:pPr>
              <a:spcAft>
                <a:spcPts val="1200"/>
              </a:spcAft>
            </a:pPr>
            <a:r>
              <a:rPr sz="2200">
                <a:solidFill>
                  <a:srgbClr val="1F2937"/>
                </a:solidFill>
                <a:latin typeface="Calibri"/>
              </a:rPr>
              <a:t>▸  Savol: qaysi guruh gumon qilinadi? Bu belgilar amfetaminlar va spayslarda uchraydi; klublarda amfetamin tabletkalari tarqatiladi.</a:t>
            </a:r>
          </a:p>
          <a:p>
            <a:pPr>
              <a:spcAft>
                <a:spcPts val="1200"/>
              </a:spcAft>
            </a:pPr>
            <a:r>
              <a:rPr sz="2200">
                <a:solidFill>
                  <a:srgbClr val="1F2937"/>
                </a:solidFill>
                <a:latin typeface="Calibri"/>
              </a:rPr>
              <a:t>▸  Namuna: iste’mol qilganlikda gumon qilingan shaxsdan 15-20 ml qon va kamida 200 ml siydik olinadi.</a:t>
            </a:r>
          </a:p>
          <a:p>
            <a:pPr>
              <a:spcAft>
                <a:spcPts val="1200"/>
              </a:spcAft>
            </a:pPr>
            <a:r>
              <a:rPr sz="2200">
                <a:solidFill>
                  <a:srgbClr val="1F2937"/>
                </a:solidFill>
                <a:latin typeface="Calibri"/>
              </a:rPr>
              <a:t>▸  Metamfetamin siydikda iste’moldan 4-6 soat o‘tgach topiladi va 48-72 soat davomida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170, 171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qabul: tolerantlik, bog‘liqlik, abstinensiya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Zaharli moddaning qisqa vaqt oralig‘ida takroran ta’siri organizmda tolerantlik – o‘rganib qolishni keltirib chiqarishi mumkin.</a:t>
            </a:r>
          </a:p>
          <a:p>
            <a:pPr>
              <a:spcAft>
                <a:spcPts val="800"/>
              </a:spcAft>
            </a:pPr>
            <a:r>
              <a:rPr sz="1800">
                <a:solidFill>
                  <a:srgbClr val="1F2937"/>
                </a:solidFill>
                <a:latin typeface="Calibri"/>
              </a:rPr>
              <a:t>▸  Ruhiy bog‘liqlik – yengib bo‘lmas intilish; jismoniy bog‘liqlik – tolerantlik tufayli dozani oshirish zarurati.</a:t>
            </a:r>
          </a:p>
          <a:p>
            <a:pPr>
              <a:spcAft>
                <a:spcPts val="800"/>
              </a:spcAft>
            </a:pPr>
            <a:r>
              <a:rPr sz="1800">
                <a:solidFill>
                  <a:srgbClr val="1F2937"/>
                </a:solidFill>
                <a:latin typeface="Calibri"/>
              </a:rPr>
              <a:t>▸  Modda qabul qilinmasa, abstinensiya sindromi kuzatiladi. Misol: narkomaniya va toksikomaniya.</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Qayta-qayta qabul</a:t>
            </a:r>
          </a:p>
          <a:p>
            <a:pPr algn="l">
              <a:spcAft>
                <a:spcPts val="200"/>
              </a:spcAft>
            </a:pPr>
            <a:r>
              <a:rPr sz="1400" b="0">
                <a:solidFill>
                  <a:srgbClr val="1F2937"/>
                </a:solidFill>
                <a:latin typeface="Calibri"/>
              </a:rPr>
              <a:t>Takroriy ta’sir</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Tolerantlik</a:t>
            </a:r>
          </a:p>
          <a:p>
            <a:pPr algn="l">
              <a:spcAft>
                <a:spcPts val="200"/>
              </a:spcAft>
            </a:pPr>
            <a:r>
              <a:rPr sz="1400" b="0">
                <a:solidFill>
                  <a:srgbClr val="1F2937"/>
                </a:solidFill>
                <a:latin typeface="Calibri"/>
              </a:rPr>
              <a:t>Organizm o‘rganib qoladi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Ruhiy bog‘liqlik</a:t>
            </a:r>
          </a:p>
          <a:p>
            <a:pPr algn="l">
              <a:spcAft>
                <a:spcPts val="200"/>
              </a:spcAft>
            </a:pPr>
            <a:r>
              <a:rPr sz="1400" b="0">
                <a:solidFill>
                  <a:srgbClr val="1F2937"/>
                </a:solidFill>
                <a:latin typeface="Calibri"/>
              </a:rPr>
              <a:t>Yengib bo‘lmas intilish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Jismoniy bog‘liqlik</a:t>
            </a:r>
          </a:p>
          <a:p>
            <a:pPr algn="l">
              <a:spcAft>
                <a:spcPts val="200"/>
              </a:spcAft>
            </a:pPr>
            <a:r>
              <a:rPr sz="1400" b="0">
                <a:solidFill>
                  <a:srgbClr val="1F2937"/>
                </a:solidFill>
                <a:latin typeface="Calibri"/>
              </a:rPr>
              <a:t>Dozani oshirish zarurati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Abstinensiya</a:t>
            </a:r>
          </a:p>
          <a:p>
            <a:pPr algn="l">
              <a:spcAft>
                <a:spcPts val="200"/>
              </a:spcAft>
            </a:pPr>
            <a:r>
              <a:rPr sz="1400" b="0">
                <a:solidFill>
                  <a:srgbClr val="1F2937"/>
                </a:solidFill>
                <a:latin typeface="Calibri"/>
              </a:rPr>
              <a:t>Qabul to‘xtasa sindrom</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Surunkali qabul zanjiri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170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Opiatlarga o‘rganib qolish: muddat va doza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Opiatlar – opiy ko‘knori sharbati alkaloidlari (morfin, kodein) va yarim sintetik geroin.</a:t>
            </a:r>
          </a:p>
          <a:p>
            <a:pPr>
              <a:spcAft>
                <a:spcPts val="800"/>
              </a:spcAft>
            </a:pPr>
            <a:r>
              <a:rPr sz="1800">
                <a:solidFill>
                  <a:srgbClr val="1F2937"/>
                </a:solidFill>
                <a:latin typeface="Calibri"/>
              </a:rPr>
              <a:t>▸  Zaharlanishda qorachiqlar torayadi, koma rivojlanadi. O‘lim nafas olish markazining falajidan sodir bo‘ladi.</a:t>
            </a:r>
          </a:p>
          <a:p>
            <a:pPr>
              <a:spcAft>
                <a:spcPts val="800"/>
              </a:spcAft>
            </a:pPr>
            <a:r>
              <a:rPr sz="1800">
                <a:solidFill>
                  <a:srgbClr val="1F2937"/>
                </a:solidFill>
                <a:latin typeface="Calibri"/>
              </a:rPr>
              <a:t>▸  Morfin murdada uzoq parchalanmaydi, o‘limdan bir necha oy keyin ham sud-kimyoviy tekshiruvda topilishi mumkin.</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O‘rtacha muddat</a:t>
            </a:r>
          </a:p>
          <a:p>
            <a:pPr algn="l">
              <a:spcAft>
                <a:spcPts val="100"/>
              </a:spcAft>
            </a:pPr>
            <a:r>
              <a:rPr sz="2500" b="1">
                <a:solidFill>
                  <a:srgbClr val="0B1F3A"/>
                </a:solidFill>
                <a:latin typeface="Calibri"/>
              </a:rPr>
              <a:t>25–30</a:t>
            </a:r>
            <a:r>
              <a:rPr sz="1200" b="0">
                <a:solidFill>
                  <a:srgbClr val="6B7280"/>
                </a:solidFill>
                <a:latin typeface="Calibri"/>
              </a:rPr>
              <a:t>  kun</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Doza ko‘tarilishi</a:t>
            </a:r>
          </a:p>
          <a:p>
            <a:pPr algn="l">
              <a:spcAft>
                <a:spcPts val="100"/>
              </a:spcAft>
            </a:pPr>
            <a:r>
              <a:rPr sz="2300" b="1">
                <a:solidFill>
                  <a:srgbClr val="0B1F3A"/>
                </a:solidFill>
                <a:latin typeface="Calibri"/>
              </a:rPr>
              <a:t>≤ 10,0</a:t>
            </a:r>
            <a:r>
              <a:rPr sz="1100" b="0">
                <a:solidFill>
                  <a:srgbClr val="6B7280"/>
                </a:solidFill>
                <a:latin typeface="Calibri"/>
              </a:rPr>
              <a:t>  g/kun</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Abstinensiya</a:t>
            </a:r>
          </a:p>
          <a:p>
            <a:pPr algn="l">
              <a:spcAft>
                <a:spcPts val="100"/>
              </a:spcAft>
            </a:pPr>
            <a:r>
              <a:rPr sz="3000" b="1">
                <a:solidFill>
                  <a:srgbClr val="0B1F3A"/>
                </a:solidFill>
                <a:latin typeface="Calibri"/>
              </a:rPr>
              <a:t>5–6</a:t>
            </a:r>
            <a:r>
              <a:rPr sz="1500" b="0">
                <a:solidFill>
                  <a:srgbClr val="6B7280"/>
                </a:solidFill>
                <a:latin typeface="Calibri"/>
              </a:rPr>
              <a:t>  kun</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Opiatlarga o‘rganib qolish</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 168-169, 169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Prekursorlar va ularning nazorati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Prekursor (ingliz tilida “precursor” – oldin keluvchi) – narkotik vosita va psixotrop moddalarni tayyorlashda ishlatiladigan moddalar.</a:t>
            </a:r>
          </a:p>
          <a:p>
            <a:pPr>
              <a:spcAft>
                <a:spcPts val="1200"/>
              </a:spcAft>
            </a:pPr>
            <a:r>
              <a:rPr sz="2200">
                <a:solidFill>
                  <a:srgbClr val="1F2937"/>
                </a:solidFill>
                <a:latin typeface="Calibri"/>
              </a:rPr>
              <a:t>▸  Ro‘yxatga xlorid va sulfat kislotalari, kaliy permanganat, etil efiri, atseton, toluol, piperidin, ergotamin, efedrin kiritilgan.</a:t>
            </a:r>
          </a:p>
          <a:p>
            <a:pPr>
              <a:spcAft>
                <a:spcPts val="1200"/>
              </a:spcAft>
            </a:pPr>
            <a:r>
              <a:rPr sz="2200">
                <a:solidFill>
                  <a:srgbClr val="1F2937"/>
                </a:solidFill>
                <a:latin typeface="Calibri"/>
              </a:rPr>
              <a:t>▸  Diqqat: prekursor ≠ narkotik vosita. Prekursorlar ro‘yxati alohida tasdiqlanadi; sotib olish, saqlash, ishlatish va hisobdan chiqarishga alohida talablar bor.</a:t>
            </a:r>
          </a:p>
          <a:p>
            <a:pPr>
              <a:spcAft>
                <a:spcPts val="1200"/>
              </a:spcAft>
            </a:pPr>
            <a:r>
              <a:rPr sz="2200">
                <a:solidFill>
                  <a:srgbClr val="1F2937"/>
                </a:solidFill>
                <a:latin typeface="Calibri"/>
              </a:rPr>
              <a:t>▸  Shifokorlar prekursorlar haqida tegishli ma’lumotga ega bo‘lishi lozim.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 o‘zgarishlarning to‘rt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Narkotik iste’moli bilan bog‘liq o‘limda murdadagi o‘zgarishlar shartli ravishda to‘rt guruhga bo‘linadi.</a:t>
            </a:r>
          </a:p>
          <a:p>
            <a:pPr>
              <a:spcAft>
                <a:spcPts val="800"/>
              </a:spcAft>
            </a:pPr>
            <a:r>
              <a:rPr sz="1800">
                <a:solidFill>
                  <a:srgbClr val="1F2937"/>
                </a:solidFill>
                <a:latin typeface="Calibri"/>
              </a:rPr>
              <a:t>▸  Spetsifik neyrokimyoviy o‘zgarishlarni faqat murakkab laboratoriya usullari aniqlaydi; amaliyotda ahamiyati yo‘q.</a:t>
            </a:r>
          </a:p>
          <a:p>
            <a:pPr>
              <a:spcAft>
                <a:spcPts val="800"/>
              </a:spcAft>
            </a:pPr>
            <a:r>
              <a:rPr sz="1800">
                <a:solidFill>
                  <a:srgbClr val="1F2937"/>
                </a:solidFill>
                <a:latin typeface="Calibri"/>
              </a:rPr>
              <a:t>▸  Diqqat: bu belgilar bilvosita dalil, qat’iy xulosa bermaydi; sud-kimyo natijasi bilan birga baholanadi.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Murdadagi o‘zgarishlar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 Spetsifik</a:t>
            </a:r>
          </a:p>
          <a:p>
            <a:pPr algn="l">
              <a:spcAft>
                <a:spcPts val="0"/>
              </a:spcAft>
            </a:pPr>
            <a:r>
              <a:rPr sz="1200" b="0">
                <a:solidFill>
                  <a:srgbClr val="1F2937"/>
                </a:solidFill>
                <a:latin typeface="Calibri"/>
              </a:rPr>
              <a:t>Neyrokimyoviy, neyrofiziologik  ·  Amaliyotda ahamiyati yo‘q</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 Qayta qabul</a:t>
            </a:r>
          </a:p>
          <a:p>
            <a:pPr algn="l">
              <a:spcAft>
                <a:spcPts val="0"/>
              </a:spcAft>
            </a:pPr>
            <a:r>
              <a:rPr sz="1200" b="0">
                <a:solidFill>
                  <a:srgbClr val="1F2937"/>
                </a:solidFill>
                <a:latin typeface="Calibri"/>
              </a:rPr>
              <a:t>Yot moddalarni qayta kiritish izlari  ·  Kirish yo‘liga bog‘liq</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3. In’eksiya</a:t>
            </a:r>
          </a:p>
          <a:p>
            <a:pPr algn="l">
              <a:spcAft>
                <a:spcPts val="0"/>
              </a:spcAft>
            </a:pPr>
            <a:r>
              <a:rPr sz="1200" b="0">
                <a:solidFill>
                  <a:srgbClr val="1F2937"/>
                </a:solidFill>
                <a:latin typeface="Calibri"/>
              </a:rPr>
              <a:t>Yuqumli kasalliklar (gepatit va b.)  ·  In’eksiya orqali yuqadi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4. Turmush tarzi</a:t>
            </a:r>
          </a:p>
          <a:p>
            <a:pPr algn="l">
              <a:spcAft>
                <a:spcPts val="0"/>
              </a:spcAft>
            </a:pPr>
            <a:r>
              <a:rPr sz="1200" b="0">
                <a:solidFill>
                  <a:srgbClr val="1F2937"/>
                </a:solidFill>
                <a:latin typeface="Calibri"/>
              </a:rPr>
              <a:t>Ozginlik, tuberkulez  ·  Tatirovkalar  ·  Bilvosita belgilar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To‘rt guruh</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Vena ichiga yuborishning morfologik izlari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Venalar proyeksiyasida ko‘plab, turli muddatli mayda yaralar va chandiqlar aniqlanadi.</a:t>
            </a:r>
          </a:p>
          <a:p>
            <a:pPr>
              <a:spcAft>
                <a:spcPts val="800"/>
              </a:spcAft>
            </a:pPr>
            <a:r>
              <a:rPr sz="1800">
                <a:solidFill>
                  <a:srgbClr val="1F2937"/>
                </a:solidFill>
                <a:latin typeface="Calibri"/>
              </a:rPr>
              <a:t>▸  Qo‘lbola nosteril eritmadan vaskulit, tromboflebit, bakterial endokardit, abssess va sepsis kelib chiqadi.</a:t>
            </a:r>
          </a:p>
          <a:p>
            <a:pPr>
              <a:spcAft>
                <a:spcPts val="800"/>
              </a:spcAft>
            </a:pPr>
            <a:r>
              <a:rPr sz="1800">
                <a:solidFill>
                  <a:srgbClr val="1F2937"/>
                </a:solidFill>
                <a:latin typeface="Calibri"/>
              </a:rPr>
              <a:t>▸  Yot moddalar qon bilan tarqalib, ichki a’zolarda, ayniqsa o‘pka va jigarda granulemalar hosil qiladi.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Nosteril qo‘lbola eritma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Vena ichiga in’eksiya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Venada: yara va chandiq</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Asorat: vaskulit, sepsis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O‘pka, jigarda granulema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In’eksiyadan asoratgacha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surunkali intoksikatsiya fonida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Bronxit va bronxiolit opiy narkomanlarining 27,0% da; ko‘pincha pastki bo‘laklarda bronxospazm va ateleklaz.</a:t>
            </a:r>
          </a:p>
          <a:p>
            <a:pPr>
              <a:spcAft>
                <a:spcPts val="800"/>
              </a:spcAft>
            </a:pPr>
            <a:r>
              <a:rPr sz="1600">
                <a:solidFill>
                  <a:srgbClr val="1F2937"/>
                </a:solidFill>
                <a:latin typeface="Calibri"/>
              </a:rPr>
              <a:t>▸  Xarakterli: shishli fibrinoz-gemorragik pnevmoniya — alveolada yetilmagan fibrin, tomirda trombalar; toksik-anafilaktik javob bilan bog‘liq.</a:t>
            </a:r>
          </a:p>
          <a:p>
            <a:pPr>
              <a:spcAft>
                <a:spcPts val="800"/>
              </a:spcAft>
            </a:pPr>
            <a:r>
              <a:rPr sz="1600">
                <a:solidFill>
                  <a:srgbClr val="1F2937"/>
                </a:solidFill>
                <a:latin typeface="Calibri"/>
              </a:rPr>
              <a:t>▸  Yot jism granulemalari — qo‘lbola opiy preparatlarini in’eksiya qilgan narkomanlarning 60% da (talk, magneziya, soda, oq loy, kraxmal zarralari).</a:t>
            </a:r>
          </a:p>
          <a:p>
            <a:pPr>
              <a:spcAft>
                <a:spcPts val="800"/>
              </a:spcAft>
            </a:pPr>
            <a:r>
              <a:rPr sz="1600">
                <a:solidFill>
                  <a:srgbClr val="1F2937"/>
                </a:solidFill>
                <a:latin typeface="Calibri"/>
              </a:rPr>
              <a:t>▸  Septik endokarditda o‘pka arteriyasi shoxlarida yiringli emboliyalar va pnevmoniyaning destruktiv kechishi; shuningdek tuberkulyoz granulemalar.</a:t>
            </a:r>
          </a:p>
          <a:p>
            <a:pPr>
              <a:spcAft>
                <a:spcPts val="800"/>
              </a:spcAft>
            </a:pPr>
            <a:r>
              <a:rPr sz="1600">
                <a:solidFill>
                  <a:srgbClr val="1F2937"/>
                </a:solidFill>
                <a:latin typeface="Calibri"/>
              </a:rPr>
              <a:t>▸  Granulematoz, opportunistik infeksiyalar va endokardit surunkali intoksikatsiya oqibati; tanatogenezga faqat asoratlari orqali, bilvosita taalluqli.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O‘pka o‘zgarishlari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Bronxit, bronxiolit</a:t>
            </a:r>
          </a:p>
          <a:p>
            <a:pPr algn="l">
              <a:spcAft>
                <a:spcPts val="0"/>
              </a:spcAft>
            </a:pPr>
            <a:r>
              <a:rPr sz="1200" b="0">
                <a:solidFill>
                  <a:srgbClr val="1F2937"/>
                </a:solidFill>
                <a:latin typeface="Calibri"/>
              </a:rPr>
              <a:t>27,0% opiy narkomanlarida  ·  Bronxospazm, ateleklaz</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Fibrinoz-gemorragik</a:t>
            </a:r>
          </a:p>
          <a:p>
            <a:pPr algn="l">
              <a:spcAft>
                <a:spcPts val="0"/>
              </a:spcAft>
            </a:pPr>
            <a:r>
              <a:rPr sz="1200" b="0">
                <a:solidFill>
                  <a:srgbClr val="1F2937"/>
                </a:solidFill>
                <a:latin typeface="Calibri"/>
              </a:rPr>
              <a:t>Yetilmagan fibrin, trombalar  ·  Allergen aralashmalar</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Yot jism granulemalari</a:t>
            </a:r>
          </a:p>
          <a:p>
            <a:pPr algn="l">
              <a:spcAft>
                <a:spcPts val="0"/>
              </a:spcAft>
            </a:pPr>
            <a:r>
              <a:rPr sz="1200" b="0">
                <a:solidFill>
                  <a:srgbClr val="1F2937"/>
                </a:solidFill>
                <a:latin typeface="Calibri"/>
              </a:rPr>
              <a:t>60% qo‘lbola preparatlarda  ·  Talk, kraxmal zarralari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Septik endokardit</a:t>
            </a:r>
          </a:p>
          <a:p>
            <a:pPr algn="l">
              <a:spcAft>
                <a:spcPts val="0"/>
              </a:spcAft>
            </a:pPr>
            <a:r>
              <a:rPr sz="1200" b="0">
                <a:solidFill>
                  <a:srgbClr val="1F2937"/>
                </a:solidFill>
                <a:latin typeface="Calibri"/>
              </a:rPr>
              <a:t>Yiringli emboliyalar  ·  Destruktiv pnevmoniya</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Tuberkulyoz</a:t>
            </a:r>
          </a:p>
          <a:p>
            <a:pPr algn="l">
              <a:spcAft>
                <a:spcPts val="0"/>
              </a:spcAft>
            </a:pPr>
            <a:r>
              <a:rPr sz="1200" b="0">
                <a:solidFill>
                  <a:srgbClr val="1F2937"/>
                </a:solidFill>
                <a:latin typeface="Calibri"/>
              </a:rPr>
              <a:t>Kazeozli epiteloid granulemalar</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O‘pka: surunkali intoksikatsiya</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164, 164–165, 166, 166–167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Yurak: narkogen kardiomiopatiya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Ateroskleroz kuchsiz bo‘lsa-da, kardioskleroz o‘choqlari bor: koronar arteriyalar stenozi atigi 20,1% da — fibrozda nokoronar mexanizmlar muhim.</a:t>
            </a:r>
          </a:p>
          <a:p>
            <a:pPr>
              <a:spcAft>
                <a:spcPts val="800"/>
              </a:spcAft>
            </a:pPr>
            <a:r>
              <a:rPr sz="1600">
                <a:solidFill>
                  <a:srgbClr val="1F2937"/>
                </a:solidFill>
                <a:latin typeface="Calibri"/>
              </a:rPr>
              <a:t>▸  Yurak kameralari kengayishi 32,4% da; yurak massasi 230–460 g (o‘rtacha 274 g) — me’yor chegarasida.</a:t>
            </a:r>
          </a:p>
          <a:p>
            <a:pPr>
              <a:spcAft>
                <a:spcPts val="800"/>
              </a:spcAft>
            </a:pPr>
            <a:r>
              <a:rPr sz="1600">
                <a:solidFill>
                  <a:srgbClr val="1F2937"/>
                </a:solidFill>
                <a:latin typeface="Calibri"/>
              </a:rPr>
              <a:t>▸  Dilatatsion kardiomiopatiya 36,4% (Volgograd); taxminan yarmida giyohvand dozasi o‘rtacha spirt mastligi bilan birga.</a:t>
            </a:r>
          </a:p>
          <a:p>
            <a:pPr>
              <a:spcAft>
                <a:spcPts val="800"/>
              </a:spcAft>
            </a:pPr>
            <a:r>
              <a:rPr sz="1600">
                <a:solidFill>
                  <a:srgbClr val="1F2937"/>
                </a:solidFill>
                <a:latin typeface="Calibri"/>
              </a:rPr>
              <a:t>▸  Gistologik: qorinchalar fibrillyatsiyasi belgilari 20,7%, kardiomiotsitlar distrofiyasi 59,2%, diffuz kardioskleroz 19,6%, o‘choqli kardioskleroz 33%.</a:t>
            </a:r>
          </a:p>
          <a:p>
            <a:pPr>
              <a:spcAft>
                <a:spcPts val="800"/>
              </a:spcAft>
            </a:pPr>
            <a:r>
              <a:rPr sz="1600">
                <a:solidFill>
                  <a:srgbClr val="1F2937"/>
                </a:solidFill>
                <a:latin typeface="Calibri"/>
              </a:rPr>
              <a:t>▸  Mikrosirkulyatsiyada staz va sladj, fibrin-leykotsitar trombalar; bakterial endokarditda kuzatuvlarda uch tabaqali qopqoq zararlangan.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Koronar stenoz</a:t>
            </a:r>
          </a:p>
          <a:p>
            <a:pPr algn="l">
              <a:spcAft>
                <a:spcPts val="100"/>
              </a:spcAft>
            </a:pPr>
            <a:r>
              <a:rPr sz="3000" b="1">
                <a:solidFill>
                  <a:srgbClr val="0B1F3A"/>
                </a:solidFill>
                <a:latin typeface="Calibri"/>
              </a:rPr>
              <a:t>20,1</a:t>
            </a:r>
            <a:r>
              <a:rPr sz="1500" b="0">
                <a:solidFill>
                  <a:srgbClr val="6B7280"/>
                </a:solidFill>
                <a:latin typeface="Calibri"/>
              </a:rPr>
              <a:t>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Kameralar kengayishi</a:t>
            </a:r>
          </a:p>
          <a:p>
            <a:pPr algn="l">
              <a:spcAft>
                <a:spcPts val="100"/>
              </a:spcAft>
            </a:pPr>
            <a:r>
              <a:rPr sz="3000" b="1">
                <a:solidFill>
                  <a:srgbClr val="0B1F3A"/>
                </a:solidFill>
                <a:latin typeface="Calibri"/>
              </a:rPr>
              <a:t>32,4</a:t>
            </a:r>
            <a:r>
              <a:rPr sz="1500" b="0">
                <a:solidFill>
                  <a:srgbClr val="6B7280"/>
                </a:solidFill>
                <a:latin typeface="Calibri"/>
              </a:rPr>
              <a:t>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Dilatatsion KMP</a:t>
            </a:r>
          </a:p>
          <a:p>
            <a:pPr algn="l">
              <a:spcAft>
                <a:spcPts val="100"/>
              </a:spcAft>
            </a:pPr>
            <a:r>
              <a:rPr sz="3000" b="1">
                <a:solidFill>
                  <a:srgbClr val="0B1F3A"/>
                </a:solidFill>
                <a:latin typeface="Calibri"/>
              </a:rPr>
              <a:t>36,4</a:t>
            </a:r>
            <a:r>
              <a:rPr sz="1500" b="0">
                <a:solidFill>
                  <a:srgbClr val="6B7280"/>
                </a:solidFill>
                <a:latin typeface="Calibri"/>
              </a:rPr>
              <a:t>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Miotsit distrofiyasi</a:t>
            </a:r>
          </a:p>
          <a:p>
            <a:pPr algn="l">
              <a:spcAft>
                <a:spcPts val="100"/>
              </a:spcAft>
            </a:pPr>
            <a:r>
              <a:rPr sz="3000" b="1">
                <a:solidFill>
                  <a:srgbClr val="0B1F3A"/>
                </a:solidFill>
                <a:latin typeface="Calibri"/>
              </a:rPr>
              <a:t>59,2</a:t>
            </a:r>
            <a:r>
              <a:rPr sz="1500" b="0">
                <a:solidFill>
                  <a:srgbClr val="6B7280"/>
                </a:solidFill>
                <a:latin typeface="Calibri"/>
              </a:rPr>
              <a:t>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Diffuz kardioskleroz</a:t>
            </a:r>
          </a:p>
          <a:p>
            <a:pPr algn="l">
              <a:spcAft>
                <a:spcPts val="100"/>
              </a:spcAft>
            </a:pPr>
            <a:r>
              <a:rPr sz="3000" b="1">
                <a:solidFill>
                  <a:srgbClr val="0B1F3A"/>
                </a:solidFill>
                <a:latin typeface="Calibri"/>
              </a:rPr>
              <a:t>19,6</a:t>
            </a:r>
            <a:r>
              <a:rPr sz="1500" b="0">
                <a:solidFill>
                  <a:srgbClr val="6B7280"/>
                </a:solidFill>
                <a:latin typeface="Calibri"/>
              </a:rPr>
              <a:t>  %</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O‘choqli kardioskleroz</a:t>
            </a:r>
          </a:p>
          <a:p>
            <a:pPr algn="l">
              <a:spcAft>
                <a:spcPts val="100"/>
              </a:spcAft>
            </a:pPr>
            <a:r>
              <a:rPr sz="3000" b="1">
                <a:solidFill>
                  <a:srgbClr val="0B1F3A"/>
                </a:solidFill>
                <a:latin typeface="Calibri"/>
              </a:rPr>
              <a:t>33</a:t>
            </a:r>
            <a:r>
              <a:rPr sz="1500" b="0">
                <a:solidFill>
                  <a:srgbClr val="6B7280"/>
                </a:solidFill>
                <a:latin typeface="Calibri"/>
              </a:rPr>
              <a:t>  %</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Yurak: chastotalar (KMP — kardiomiopatiya)</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167, 167–168, 168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Jigar: surunkali narkotik intoksikatsiyadagi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Jigar odatda kattalashgan (o‘rtacha massasi 1937 ± 116 g), deyarli yarmida 2000 g dan ortiq (gepatomegaliya); tarang kapsula.</a:t>
            </a:r>
          </a:p>
          <a:p>
            <a:pPr>
              <a:spcAft>
                <a:spcPts val="800"/>
              </a:spcAft>
            </a:pPr>
            <a:r>
              <a:rPr sz="1600">
                <a:solidFill>
                  <a:srgbClr val="1F2937"/>
                </a:solidFill>
                <a:latin typeface="Calibri"/>
              </a:rPr>
              <a:t>▸  Kesmada to‘laqon, jigarrang-qizil; 33% da mayda sariq o‘choqlar, 14% da diffuz sarg‘ish tus — surunkali gepatit manzarasiga mos.</a:t>
            </a:r>
          </a:p>
          <a:p>
            <a:pPr>
              <a:spcAft>
                <a:spcPts val="800"/>
              </a:spcAft>
            </a:pPr>
            <a:r>
              <a:rPr sz="1600">
                <a:solidFill>
                  <a:srgbClr val="1F2937"/>
                </a:solidFill>
                <a:latin typeface="Calibri"/>
              </a:rPr>
              <a:t>▸  Mikroskopda hammada markaziy va oraliq venalar hamda sinusoidlar to‘laqonligi; 4,2% da o‘tkir o‘choqli qon quyilishlar (tez o‘lim).</a:t>
            </a:r>
          </a:p>
          <a:p>
            <a:pPr>
              <a:spcAft>
                <a:spcPts val="800"/>
              </a:spcAft>
            </a:pPr>
            <a:r>
              <a:rPr sz="1600">
                <a:solidFill>
                  <a:srgbClr val="1F2937"/>
                </a:solidFill>
                <a:latin typeface="Calibri"/>
              </a:rPr>
              <a:t>▸  Yog‘ distrofiyasi 70% da; portal yo‘llarda sideofaglar yoki gemosiderin 27,5% da — surunkali gepatitli, narkomaniyasiz bemorlarga xos emas.</a:t>
            </a:r>
          </a:p>
          <a:p>
            <a:pPr>
              <a:spcAft>
                <a:spcPts val="800"/>
              </a:spcAft>
            </a:pPr>
            <a:r>
              <a:rPr sz="1600">
                <a:solidFill>
                  <a:srgbClr val="1F2937"/>
                </a:solidFill>
                <a:latin typeface="Calibri"/>
              </a:rPr>
              <a:t>▸  Venalarda fibrinli yoki fibrin-eritrotsitar trombalar mahalliy DVS-sindrom belgisi bo‘lib, tanatogenezda muhim bo‘lishi mumkin.</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Jigar massasi</a:t>
            </a:r>
          </a:p>
          <a:p>
            <a:pPr algn="l">
              <a:spcAft>
                <a:spcPts val="100"/>
              </a:spcAft>
            </a:pPr>
            <a:r>
              <a:rPr sz="3000" b="1">
                <a:solidFill>
                  <a:srgbClr val="0B1F3A"/>
                </a:solidFill>
                <a:latin typeface="Calibri"/>
              </a:rPr>
              <a:t>1937 ± 116</a:t>
            </a:r>
            <a:r>
              <a:rPr sz="1500" b="0">
                <a:solidFill>
                  <a:srgbClr val="6B7280"/>
                </a:solidFill>
                <a:latin typeface="Calibri"/>
              </a:rPr>
              <a:t>  g</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Massa &gt; 2000 g</a:t>
            </a:r>
          </a:p>
          <a:p>
            <a:pPr algn="l">
              <a:spcAft>
                <a:spcPts val="100"/>
              </a:spcAft>
            </a:pPr>
            <a:r>
              <a:rPr sz="3000" b="1">
                <a:solidFill>
                  <a:srgbClr val="0B1F3A"/>
                </a:solidFill>
                <a:latin typeface="Calibri"/>
              </a:rPr>
              <a:t>~ 50</a:t>
            </a:r>
            <a:r>
              <a:rPr sz="1500" b="0">
                <a:solidFill>
                  <a:srgbClr val="6B7280"/>
                </a:solidFill>
                <a:latin typeface="Calibri"/>
              </a:rPr>
              <a:t>  % holat</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Yog‘ distrofiyasi</a:t>
            </a:r>
          </a:p>
          <a:p>
            <a:pPr algn="l">
              <a:spcAft>
                <a:spcPts val="100"/>
              </a:spcAft>
            </a:pPr>
            <a:r>
              <a:rPr sz="3000" b="1">
                <a:solidFill>
                  <a:srgbClr val="0B1F3A"/>
                </a:solidFill>
                <a:latin typeface="Calibri"/>
              </a:rPr>
              <a:t>70</a:t>
            </a:r>
            <a:r>
              <a:rPr sz="1500" b="0">
                <a:solidFill>
                  <a:srgbClr val="6B7280"/>
                </a:solidFill>
                <a:latin typeface="Calibri"/>
              </a:rPr>
              <a:t>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Diffuz mayda tomchili</a:t>
            </a:r>
          </a:p>
          <a:p>
            <a:pPr algn="l">
              <a:spcAft>
                <a:spcPts val="100"/>
              </a:spcAft>
            </a:pPr>
            <a:r>
              <a:rPr sz="3000" b="1">
                <a:solidFill>
                  <a:srgbClr val="0B1F3A"/>
                </a:solidFill>
                <a:latin typeface="Calibri"/>
              </a:rPr>
              <a:t>36,7</a:t>
            </a:r>
            <a:r>
              <a:rPr sz="1500" b="0">
                <a:solidFill>
                  <a:srgbClr val="6B7280"/>
                </a:solidFill>
                <a:latin typeface="Calibri"/>
              </a:rPr>
              <a:t>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Gemosiderin/sideofag</a:t>
            </a:r>
          </a:p>
          <a:p>
            <a:pPr algn="l">
              <a:spcAft>
                <a:spcPts val="100"/>
              </a:spcAft>
            </a:pPr>
            <a:r>
              <a:rPr sz="3000" b="1">
                <a:solidFill>
                  <a:srgbClr val="0B1F3A"/>
                </a:solidFill>
                <a:latin typeface="Calibri"/>
              </a:rPr>
              <a:t>27,5</a:t>
            </a:r>
            <a:r>
              <a:rPr sz="1500" b="0">
                <a:solidFill>
                  <a:srgbClr val="6B7280"/>
                </a:solidFill>
                <a:latin typeface="Calibri"/>
              </a:rPr>
              <a:t>  %</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O‘tkir qon quyilish</a:t>
            </a:r>
          </a:p>
          <a:p>
            <a:pPr algn="l">
              <a:spcAft>
                <a:spcPts val="100"/>
              </a:spcAft>
            </a:pPr>
            <a:r>
              <a:rPr sz="3000" b="1">
                <a:solidFill>
                  <a:srgbClr val="0B1F3A"/>
                </a:solidFill>
                <a:latin typeface="Calibri"/>
              </a:rPr>
              <a:t>4,2</a:t>
            </a:r>
            <a:r>
              <a:rPr sz="1500" b="0">
                <a:solidFill>
                  <a:srgbClr val="6B7280"/>
                </a:solidFill>
                <a:latin typeface="Calibri"/>
              </a:rPr>
              <a:t>  %</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Jigar: ko‘rsatkichlar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170, 171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Burun va og‘iz orqali qabul qilishdagi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Yot moddalar burun orqali nafas bilan olinsa, burun va uning qo‘shimcha bo‘shliqlari shilliq qavatida surunkali yallig‘lanish bo‘ladi.</a:t>
            </a:r>
          </a:p>
          <a:p>
            <a:pPr>
              <a:spcAft>
                <a:spcPts val="1200"/>
              </a:spcAft>
            </a:pPr>
            <a:r>
              <a:rPr sz="2200">
                <a:solidFill>
                  <a:srgbClr val="1F2937"/>
                </a:solidFill>
                <a:latin typeface="Calibri"/>
              </a:rPr>
              <a:t>▸  Shu yo‘l bilan qabul qilinganda aspiratsion pnevmoniya rivojlanadi va o‘pkada granulemalar aniqlanadi.</a:t>
            </a:r>
          </a:p>
          <a:p>
            <a:pPr>
              <a:spcAft>
                <a:spcPts val="1200"/>
              </a:spcAft>
            </a:pPr>
            <a:r>
              <a:rPr sz="2200">
                <a:solidFill>
                  <a:srgbClr val="1F2937"/>
                </a:solidFill>
                <a:latin typeface="Calibri"/>
              </a:rPr>
              <a:t>▸  Kokain va amfetaminlar og‘iz orqali qabul qilinganda ichaklarning ishemik shikastlanishi kuzatiladi.</a:t>
            </a:r>
          </a:p>
          <a:p>
            <a:pPr>
              <a:spcAft>
                <a:spcPts val="1200"/>
              </a:spcAft>
            </a:pPr>
            <a:r>
              <a:rPr sz="2200">
                <a:solidFill>
                  <a:srgbClr val="1F2937"/>
                </a:solidFill>
                <a:latin typeface="Calibri"/>
              </a:rPr>
              <a:t>▸  Diqqat: bu o‘zgarishlar iste’molni qat’iy isbotlamaydi; ular voqea tafsiloti va sud-kimyoviy natijalar bilan birga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Infeksiyalar va turmush tarzi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In’eksiya yo‘li bilan qabul qilish OITS (orttirilgan immunitet tanqisligi sindromi) va gepatit B, C, D bilan bog‘liq.</a:t>
            </a:r>
          </a:p>
          <a:p>
            <a:pPr>
              <a:spcAft>
                <a:spcPts val="800"/>
              </a:spcAft>
            </a:pPr>
            <a:r>
              <a:rPr sz="1800">
                <a:solidFill>
                  <a:srgbClr val="1F2937"/>
                </a:solidFill>
                <a:latin typeface="Calibri"/>
              </a:rPr>
              <a:t>▸  Turmush tarzi izlari: ozginlik, tuberkulez, venerik kasalliklar, pedikulez va terida xos tatuirovkalar.</a:t>
            </a:r>
          </a:p>
          <a:p>
            <a:pPr>
              <a:spcAft>
                <a:spcPts val="800"/>
              </a:spcAft>
            </a:pPr>
            <a:r>
              <a:rPr sz="1800">
                <a:solidFill>
                  <a:srgbClr val="1F2937"/>
                </a:solidFill>
                <a:latin typeface="Calibri"/>
              </a:rPr>
              <a:t>▸  Ayollarda homiladorlikni saqlay olmaslik va kichik massali bolalar tug‘ilishi ham uchraydi.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Bilvosita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Yuqumli kasalliklar</a:t>
            </a:r>
          </a:p>
          <a:p>
            <a:pPr algn="l">
              <a:spcAft>
                <a:spcPts val="0"/>
              </a:spcAft>
            </a:pPr>
            <a:r>
              <a:rPr sz="1200" b="0">
                <a:solidFill>
                  <a:srgbClr val="1F2937"/>
                </a:solidFill>
                <a:latin typeface="Calibri"/>
              </a:rPr>
              <a:t>OITS, gepatit B, C, D</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 holat</a:t>
            </a:r>
          </a:p>
          <a:p>
            <a:pPr algn="l">
              <a:spcAft>
                <a:spcPts val="0"/>
              </a:spcAft>
            </a:pPr>
            <a:r>
              <a:rPr sz="1200" b="0">
                <a:solidFill>
                  <a:srgbClr val="1F2937"/>
                </a:solidFill>
                <a:latin typeface="Calibri"/>
              </a:rPr>
              <a:t>Ozginlik, tuberkulez</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Boshqa belgilar</a:t>
            </a:r>
          </a:p>
          <a:p>
            <a:pPr algn="l">
              <a:spcAft>
                <a:spcPts val="0"/>
              </a:spcAft>
            </a:pPr>
            <a:r>
              <a:rPr sz="1200" b="0">
                <a:solidFill>
                  <a:srgbClr val="1F2937"/>
                </a:solidFill>
                <a:latin typeface="Calibri"/>
              </a:rPr>
              <a:t>Venerik kasalliklar  ·  Pedikulez, tatirovka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Homiladorlik</a:t>
            </a:r>
          </a:p>
          <a:p>
            <a:pPr algn="l">
              <a:spcAft>
                <a:spcPts val="0"/>
              </a:spcAft>
            </a:pPr>
            <a:r>
              <a:rPr sz="1200" b="0">
                <a:solidFill>
                  <a:srgbClr val="1F2937"/>
                </a:solidFill>
                <a:latin typeface="Calibri"/>
              </a:rPr>
              <a:t>Saqlay olmaslik  ·  Kichik massali bola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Bilvosita belgilar guruhlari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morfologik belgilar qat’iy xulosa bermaydi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keltirilgan o‘zgarishlar asosida narkotik yoki psixotrop modda iste’mol qilinganligi haqida qat’iy xulosa qilib bo‘lmaydi.</a:t>
            </a:r>
          </a:p>
          <a:p>
            <a:pPr>
              <a:spcAft>
                <a:spcPts val="1200"/>
              </a:spcAft>
            </a:pPr>
            <a:r>
              <a:rPr sz="2200">
                <a:solidFill>
                  <a:srgbClr val="1F2937"/>
                </a:solidFill>
                <a:latin typeface="Calibri"/>
              </a:rPr>
              <a:t>▸  Bu o‘zgarishlar bilvosita dalil hisoblanadi va faqat boshqa ma’lumotlar bilan birga baholanadi.</a:t>
            </a:r>
          </a:p>
          <a:p>
            <a:pPr>
              <a:spcAft>
                <a:spcPts val="1200"/>
              </a:spcAft>
            </a:pPr>
            <a:r>
              <a:rPr sz="2200">
                <a:solidFill>
                  <a:srgbClr val="1F2937"/>
                </a:solidFill>
                <a:latin typeface="Calibri"/>
              </a:rPr>
              <a:t>▸  Birga baholanadigan ma’lumotlar: voqea tafsiloti, katamnestik yoki klinik ma’lumotlar va asosan sud-kimyoviy tekshiruv natijalari.</a:t>
            </a:r>
          </a:p>
          <a:p>
            <a:pPr>
              <a:spcAft>
                <a:spcPts val="1200"/>
              </a:spcAft>
            </a:pPr>
            <a:r>
              <a:rPr sz="2200">
                <a:solidFill>
                  <a:srgbClr val="1F2937"/>
                </a:solidFill>
                <a:latin typeface="Calibri"/>
              </a:rPr>
              <a:t>▸  Spetsifik neyrokimyoviy o‘zgarishlar faqat tajribada yoki o‘limdan keyin juda qisqa muddatda aniqlanadi; amaliyotda ahamiyatsiz.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uchun namunalar va siydikda aniqlanish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Kannabinoidlar uchun 10 ml qon, 10 ml siydik, 10 ml so‘lak va qo‘l barmoqlaridan yuvma olinadi.</a:t>
            </a:r>
          </a:p>
          <a:p>
            <a:pPr>
              <a:spcAft>
                <a:spcPts val="800"/>
              </a:spcAft>
            </a:pPr>
            <a:r>
              <a:rPr sz="1800">
                <a:solidFill>
                  <a:srgbClr val="1F2937"/>
                </a:solidFill>
                <a:latin typeface="Calibri"/>
              </a:rPr>
              <a:t>▸  Nasha gumon qilinsa, barmoqlar etil spirtli paxta bilan artiladi, tiqin polietilen qopchaga solinadi.</a:t>
            </a:r>
          </a:p>
          <a:p>
            <a:pPr>
              <a:spcAft>
                <a:spcPts val="800"/>
              </a:spcAft>
            </a:pPr>
            <a:r>
              <a:rPr sz="1800">
                <a:solidFill>
                  <a:srgbClr val="1F2937"/>
                </a:solidFill>
                <a:latin typeface="Calibri"/>
              </a:rPr>
              <a:t>▸  Boshqa moddalar uchun 15-20 ml qon va kamida 200 ml siydik olinadi.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927859"/>
                <a:gridCol w="1680058"/>
                <a:gridCol w="1680058"/>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Boshlanishi</a:t>
                      </a:r>
                    </a:p>
                  </a:txBody>
                  <a:tcPr marL="73152" marR="73152" marT="36576" marB="36576">
                    <a:solidFill>
                      <a:srgbClr val="0B1F3A"/>
                    </a:solidFill>
                  </a:tcPr>
                </a:tc>
                <a:tc>
                  <a:txBody>
                    <a:bodyPr/>
                    <a:lstStyle/>
                    <a:p>
                      <a:r>
                        <a:rPr sz="1600" b="1">
                          <a:solidFill>
                            <a:srgbClr val="FFFFFF"/>
                          </a:solidFill>
                        </a:rPr>
                        <a:t>Davomiyligi</a:t>
                      </a:r>
                    </a:p>
                  </a:txBody>
                  <a:tcPr marL="73152" marR="73152" marT="36576" marB="36576">
                    <a:solidFill>
                      <a:srgbClr val="0B1F3A"/>
                    </a:solidFill>
                  </a:tcPr>
                </a:tc>
              </a:tr>
              <a:tr h="614476">
                <a:tc>
                  <a:txBody>
                    <a:bodyPr/>
                    <a:lstStyle/>
                    <a:p>
                      <a:r>
                        <a:rPr sz="1500" b="0">
                          <a:solidFill>
                            <a:srgbClr val="1F2937"/>
                          </a:solidFill>
                        </a:rPr>
                        <a:t>Kannabinoidlar</a:t>
                      </a:r>
                    </a:p>
                  </a:txBody>
                  <a:tcPr marL="73152" marR="73152" marT="36576" marB="36576">
                    <a:solidFill>
                      <a:srgbClr val="E8EEF6"/>
                    </a:solidFill>
                  </a:tcPr>
                </a:tc>
                <a:tc>
                  <a:txBody>
                    <a:bodyPr/>
                    <a:lstStyle/>
                    <a:p>
                      <a:r>
                        <a:rPr sz="1500" b="0">
                          <a:solidFill>
                            <a:srgbClr val="1F2937"/>
                          </a:solidFill>
                        </a:rPr>
                        <a:t>1-3 soat</a:t>
                      </a:r>
                    </a:p>
                  </a:txBody>
                  <a:tcPr marL="73152" marR="73152" marT="36576" marB="36576">
                    <a:solidFill>
                      <a:srgbClr val="E8EEF6"/>
                    </a:solidFill>
                  </a:tcPr>
                </a:tc>
                <a:tc>
                  <a:txBody>
                    <a:bodyPr/>
                    <a:lstStyle/>
                    <a:p>
                      <a:r>
                        <a:rPr sz="1500" b="0">
                          <a:solidFill>
                            <a:srgbClr val="1F2937"/>
                          </a:solidFill>
                        </a:rPr>
                        <a:t>24-168 soat</a:t>
                      </a:r>
                    </a:p>
                  </a:txBody>
                  <a:tcPr marL="73152" marR="73152" marT="36576" marB="36576">
                    <a:solidFill>
                      <a:srgbClr val="E8EEF6"/>
                    </a:solidFill>
                  </a:tcPr>
                </a:tc>
              </a:tr>
              <a:tr h="614476">
                <a:tc>
                  <a:txBody>
                    <a:bodyPr/>
                    <a:lstStyle/>
                    <a:p>
                      <a:r>
                        <a:rPr sz="1500" b="0">
                          <a:solidFill>
                            <a:srgbClr val="1F2937"/>
                          </a:solidFill>
                        </a:rPr>
                        <a:t>Geroin</a:t>
                      </a:r>
                    </a:p>
                  </a:txBody>
                  <a:tcPr marL="73152" marR="73152" marT="36576" marB="36576">
                    <a:solidFill>
                      <a:srgbClr val="FFFFFF"/>
                    </a:solidFill>
                  </a:tcPr>
                </a:tc>
                <a:tc>
                  <a:txBody>
                    <a:bodyPr/>
                    <a:lstStyle/>
                    <a:p>
                      <a:r>
                        <a:rPr sz="1500" b="0">
                          <a:solidFill>
                            <a:srgbClr val="1F2937"/>
                          </a:solidFill>
                        </a:rPr>
                        <a:t>2-6 soat</a:t>
                      </a:r>
                    </a:p>
                  </a:txBody>
                  <a:tcPr marL="73152" marR="73152" marT="36576" marB="36576">
                    <a:solidFill>
                      <a:srgbClr val="FFFFFF"/>
                    </a:solidFill>
                  </a:tcPr>
                </a:tc>
                <a:tc>
                  <a:txBody>
                    <a:bodyPr/>
                    <a:lstStyle/>
                    <a:p>
                      <a:r>
                        <a:rPr sz="1500" b="0">
                          <a:solidFill>
                            <a:srgbClr val="1F2937"/>
                          </a:solidFill>
                        </a:rPr>
                        <a:t>24-72 soat</a:t>
                      </a:r>
                    </a:p>
                  </a:txBody>
                  <a:tcPr marL="73152" marR="73152" marT="36576" marB="36576">
                    <a:solidFill>
                      <a:srgbClr val="FFFFFF"/>
                    </a:solidFill>
                  </a:tcPr>
                </a:tc>
              </a:tr>
              <a:tr h="614476">
                <a:tc>
                  <a:txBody>
                    <a:bodyPr/>
                    <a:lstStyle/>
                    <a:p>
                      <a:r>
                        <a:rPr sz="1500" b="0">
                          <a:solidFill>
                            <a:srgbClr val="1F2937"/>
                          </a:solidFill>
                        </a:rPr>
                        <a:t>Metamfetamin</a:t>
                      </a:r>
                    </a:p>
                  </a:txBody>
                  <a:tcPr marL="73152" marR="73152" marT="36576" marB="36576">
                    <a:solidFill>
                      <a:srgbClr val="E8EEF6"/>
                    </a:solidFill>
                  </a:tcPr>
                </a:tc>
                <a:tc>
                  <a:txBody>
                    <a:bodyPr/>
                    <a:lstStyle/>
                    <a:p>
                      <a:r>
                        <a:rPr sz="1500" b="0">
                          <a:solidFill>
                            <a:srgbClr val="1F2937"/>
                          </a:solidFill>
                        </a:rPr>
                        <a:t>4-6 soat</a:t>
                      </a:r>
                    </a:p>
                  </a:txBody>
                  <a:tcPr marL="73152" marR="73152" marT="36576" marB="36576">
                    <a:solidFill>
                      <a:srgbClr val="E8EEF6"/>
                    </a:solidFill>
                  </a:tcPr>
                </a:tc>
                <a:tc>
                  <a:txBody>
                    <a:bodyPr/>
                    <a:lstStyle/>
                    <a:p>
                      <a:r>
                        <a:rPr sz="1500" b="0">
                          <a:solidFill>
                            <a:srgbClr val="1F2937"/>
                          </a:solidFill>
                        </a:rPr>
                        <a:t>48-72 soat</a:t>
                      </a:r>
                    </a:p>
                  </a:txBody>
                  <a:tcPr marL="73152" marR="73152" marT="36576" marB="36576">
                    <a:solidFill>
                      <a:srgbClr val="E8EEF6"/>
                    </a:solidFill>
                  </a:tcPr>
                </a:tc>
              </a:tr>
              <a:tr h="614476">
                <a:tc>
                  <a:txBody>
                    <a:bodyPr/>
                    <a:lstStyle/>
                    <a:p>
                      <a:r>
                        <a:rPr sz="1500" b="0">
                          <a:solidFill>
                            <a:srgbClr val="1F2937"/>
                          </a:solidFill>
                        </a:rPr>
                        <a:t>Fensiklidin</a:t>
                      </a:r>
                    </a:p>
                  </a:txBody>
                  <a:tcPr marL="73152" marR="73152" marT="36576" marB="36576">
                    <a:solidFill>
                      <a:srgbClr val="FFFFFF"/>
                    </a:solidFill>
                  </a:tcPr>
                </a:tc>
                <a:tc>
                  <a:txBody>
                    <a:bodyPr/>
                    <a:lstStyle/>
                    <a:p>
                      <a:r>
                        <a:rPr sz="1500" b="0">
                          <a:solidFill>
                            <a:srgbClr val="1F2937"/>
                          </a:solidFill>
                        </a:rPr>
                        <a:t>4-6 soat</a:t>
                      </a:r>
                    </a:p>
                  </a:txBody>
                  <a:tcPr marL="73152" marR="73152" marT="36576" marB="36576">
                    <a:solidFill>
                      <a:srgbClr val="FFFFFF"/>
                    </a:solidFill>
                  </a:tcPr>
                </a:tc>
                <a:tc>
                  <a:txBody>
                    <a:bodyPr/>
                    <a:lstStyle/>
                    <a:p>
                      <a:r>
                        <a:rPr sz="1500" b="0">
                          <a:solidFill>
                            <a:srgbClr val="1F2937"/>
                          </a:solidFill>
                        </a:rPr>
                        <a:t>7-14 kun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Siydikda aniqlanish muddatlari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natijalarini tanqidiy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 bo‘lmasa ham tekshiruvda zahar topilishi mumkin; aksincha, zaharlanishda zahar topilmasligi ham uchraydi.</a:t>
            </a:r>
          </a:p>
          <a:p>
            <a:pPr>
              <a:spcAft>
                <a:spcPts val="800"/>
              </a:spcAft>
            </a:pPr>
            <a:r>
              <a:rPr sz="1800">
                <a:solidFill>
                  <a:srgbClr val="1F2937"/>
                </a:solidFill>
                <a:latin typeface="Calibri"/>
              </a:rPr>
              <a:t>▸  Amaliyotda eng ko‘p sud-kimyoviy va gistologik tekshiruvlar o‘tkaziladi; gistologiya makroskopik ko‘rikni to‘ldiradi.</a:t>
            </a:r>
          </a:p>
          <a:p>
            <a:pPr>
              <a:spcAft>
                <a:spcPts val="800"/>
              </a:spcAft>
            </a:pPr>
            <a:r>
              <a:rPr sz="1800">
                <a:solidFill>
                  <a:srgbClr val="1F2937"/>
                </a:solidFill>
                <a:latin typeface="Calibri"/>
              </a:rPr>
              <a:t>▸  Natija hamisha voqea tafsiloti, klinik va makroskopik ma’lumotlar bilan birga, tanqidiy baholanadi.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Natija</a:t>
                      </a:r>
                    </a:p>
                  </a:txBody>
                  <a:tcPr marL="73152" marR="73152" marT="36576" marB="36576">
                    <a:solidFill>
                      <a:srgbClr val="0B1F3A"/>
                    </a:solidFill>
                  </a:tcPr>
                </a:tc>
                <a:tc>
                  <a:txBody>
                    <a:bodyPr/>
                    <a:lstStyle/>
                    <a:p>
                      <a:r>
                        <a:rPr sz="1800" b="1">
                          <a:solidFill>
                            <a:srgbClr val="FFFFFF"/>
                          </a:solidFill>
                        </a:rPr>
                        <a:t>Mumkin sabab</a:t>
                      </a:r>
                    </a:p>
                  </a:txBody>
                  <a:tcPr marL="73152" marR="73152" marT="36576" marB="36576">
                    <a:solidFill>
                      <a:srgbClr val="0B1F3A"/>
                    </a:solidFill>
                  </a:tcPr>
                </a:tc>
              </a:tr>
              <a:tr h="614476">
                <a:tc>
                  <a:txBody>
                    <a:bodyPr/>
                    <a:lstStyle/>
                    <a:p>
                      <a:r>
                        <a:rPr sz="1700" b="0">
                          <a:solidFill>
                            <a:srgbClr val="1F2937"/>
                          </a:solidFill>
                        </a:rPr>
                        <a:t>Soxta musbat</a:t>
                      </a:r>
                    </a:p>
                  </a:txBody>
                  <a:tcPr marL="73152" marR="73152" marT="36576" marB="36576">
                    <a:solidFill>
                      <a:srgbClr val="E8EEF6"/>
                    </a:solidFill>
                  </a:tcPr>
                </a:tc>
                <a:tc>
                  <a:txBody>
                    <a:bodyPr/>
                    <a:lstStyle/>
                    <a:p>
                      <a:r>
                        <a:rPr sz="1700" b="0">
                          <a:solidFill>
                            <a:srgbClr val="1F2937"/>
                          </a:solidFill>
                        </a:rPr>
                        <a:t>Dori, chirish, kasb, ob’ekt xatosi</a:t>
                      </a:r>
                    </a:p>
                  </a:txBody>
                  <a:tcPr marL="73152" marR="73152" marT="36576" marB="36576">
                    <a:solidFill>
                      <a:srgbClr val="E8EEF6"/>
                    </a:solidFill>
                  </a:tcPr>
                </a:tc>
              </a:tr>
              <a:tr h="614476">
                <a:tc>
                  <a:txBody>
                    <a:bodyPr/>
                    <a:lstStyle/>
                    <a:p>
                      <a:r>
                        <a:rPr sz="1700" b="0">
                          <a:solidFill>
                            <a:srgbClr val="1F2937"/>
                          </a:solidFill>
                        </a:rPr>
                        <a:t>Soxta manfiy</a:t>
                      </a:r>
                    </a:p>
                  </a:txBody>
                  <a:tcPr marL="73152" marR="73152" marT="36576" marB="36576">
                    <a:solidFill>
                      <a:srgbClr val="FFFFFF"/>
                    </a:solidFill>
                  </a:tcPr>
                </a:tc>
                <a:tc>
                  <a:txBody>
                    <a:bodyPr/>
                    <a:lstStyle/>
                    <a:p>
                      <a:r>
                        <a:rPr sz="1700" b="0">
                          <a:solidFill>
                            <a:srgbClr val="1F2937"/>
                          </a:solidFill>
                        </a:rPr>
                        <a:t>Tez parchalanish, infuziya, vaqt o‘tishi</a:t>
                      </a:r>
                    </a:p>
                  </a:txBody>
                  <a:tcPr marL="73152" marR="73152" marT="36576" marB="36576">
                    <a:solidFill>
                      <a:srgbClr val="FFFFFF"/>
                    </a:solidFill>
                  </a:tcPr>
                </a:tc>
              </a:tr>
              <a:tr h="614476">
                <a:tc>
                  <a:txBody>
                    <a:bodyPr/>
                    <a:lstStyle/>
                    <a:p>
                      <a:r>
                        <a:rPr sz="1700" b="0">
                          <a:solidFill>
                            <a:srgbClr val="1F2937"/>
                          </a:solidFill>
                        </a:rPr>
                        <a:t>Soxta manfiy</a:t>
                      </a:r>
                    </a:p>
                  </a:txBody>
                  <a:tcPr marL="73152" marR="73152" marT="36576" marB="36576">
                    <a:solidFill>
                      <a:srgbClr val="E8EEF6"/>
                    </a:solidFill>
                  </a:tcPr>
                </a:tc>
                <a:tc>
                  <a:txBody>
                    <a:bodyPr/>
                    <a:lstStyle/>
                    <a:p>
                      <a:r>
                        <a:rPr sz="1700" b="0">
                          <a:solidFill>
                            <a:srgbClr val="1F2937"/>
                          </a:solidFill>
                        </a:rPr>
                        <a:t>Namuna xatosi; usul yo‘q</a:t>
                      </a:r>
                    </a:p>
                  </a:txBody>
                  <a:tcPr marL="73152" marR="73152" marT="36576" marB="36576">
                    <a:solidFill>
                      <a:srgbClr val="E8EEF6"/>
                    </a:solidFill>
                  </a:tcPr>
                </a:tc>
              </a:tr>
              <a:tr h="614476">
                <a:tc>
                  <a:txBody>
                    <a:bodyPr/>
                    <a:lstStyle/>
                    <a:p>
                      <a:r>
                        <a:rPr sz="1700" b="0">
                          <a:solidFill>
                            <a:srgbClr val="1F2937"/>
                          </a:solidFill>
                        </a:rPr>
                        <a:t>To‘g‘ri baholash</a:t>
                      </a:r>
                    </a:p>
                  </a:txBody>
                  <a:tcPr marL="73152" marR="73152" marT="36576" marB="36576">
                    <a:solidFill>
                      <a:srgbClr val="FFFFFF"/>
                    </a:solidFill>
                  </a:tcPr>
                </a:tc>
                <a:tc>
                  <a:txBody>
                    <a:bodyPr/>
                    <a:lstStyle/>
                    <a:p>
                      <a:r>
                        <a:rPr sz="1700" b="0">
                          <a:solidFill>
                            <a:srgbClr val="1F2937"/>
                          </a:solidFill>
                        </a:rPr>
                        <a:t>Voqea, klinika, makroskopiya bilan birga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Soxta natijalar sabablari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180, 181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murda tekshiruvi va 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yosh erkak murdasi. Venalar proyeksiyasida (masalan, tirsak) turli muddatli chandiqlar, tana ozg‘in, o‘pkada granulemalar topilgan.</a:t>
            </a:r>
          </a:p>
          <a:p>
            <a:pPr>
              <a:spcAft>
                <a:spcPts val="1200"/>
              </a:spcAft>
            </a:pPr>
            <a:r>
              <a:rPr sz="2000">
                <a:solidFill>
                  <a:srgbClr val="1F2937"/>
                </a:solidFill>
                <a:latin typeface="Calibri"/>
              </a:rPr>
              <a:t>▸  Venalardagi chandiq va yaralar hamda o‘pka granulemalari yot moddalarning qayta-qayta qabul qilinishi bilan bog‘liq (2-guruh) o‘zgarishlardir.</a:t>
            </a:r>
          </a:p>
          <a:p>
            <a:pPr>
              <a:spcAft>
                <a:spcPts val="1200"/>
              </a:spcAft>
            </a:pPr>
            <a:r>
              <a:rPr sz="2000">
                <a:solidFill>
                  <a:srgbClr val="1F2937"/>
                </a:solidFill>
                <a:latin typeface="Calibri"/>
              </a:rPr>
              <a:t>▸  Ozg‘inlik turmush tarzi bilan bog‘liq o‘zgarishlarga (4-guruh) kiradi.</a:t>
            </a:r>
          </a:p>
          <a:p>
            <a:pPr>
              <a:spcAft>
                <a:spcPts val="1200"/>
              </a:spcAft>
            </a:pPr>
            <a:r>
              <a:rPr sz="2000">
                <a:solidFill>
                  <a:srgbClr val="1F2937"/>
                </a:solidFill>
                <a:latin typeface="Calibri"/>
              </a:rPr>
              <a:t>▸  OITS (orttirilgan immunitet tanqisligi sindromi) va gepatitlar in’eksiya infeksiyalari (3-guruh) hisoblanadi.</a:t>
            </a:r>
          </a:p>
          <a:p>
            <a:pPr>
              <a:spcAft>
                <a:spcPts val="1200"/>
              </a:spcAft>
            </a:pPr>
            <a:r>
              <a:rPr sz="2000">
                <a:solidFill>
                  <a:srgbClr val="1F2937"/>
                </a:solidFill>
                <a:latin typeface="Calibri"/>
              </a:rPr>
              <a:t>▸  Xulosa chegarasi: bu belgilar bilvosita dalil. Iste’molga qat’iy xulosa uchun voqea tafsiloti, klinika va asosan sud-kimyoviy natija zarur.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eslab qolish nuqtalari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Narkotiklar bilan bog‘liq o‘lim (DRD): katta doza, uzoq qabul oqibati, o‘z-o‘zini o‘ldirish, baxtsiz hodisa, qotillik — bevosita yoki bilvosita bog‘liq.</a:t>
            </a:r>
          </a:p>
          <a:p>
            <a:pPr>
              <a:spcAft>
                <a:spcPts val="1200"/>
              </a:spcAft>
            </a:pPr>
            <a:r>
              <a:rPr sz="2200">
                <a:solidFill>
                  <a:srgbClr val="1F2937"/>
                </a:solidFill>
                <a:latin typeface="Calibri"/>
              </a:rPr>
              <a:t>▸  Murdada topiladigan o‘zgarishlar to‘rt guruhga bo‘linadi: spetsifik, qayta qabul bilan bog‘liq, in’eksiya infeksiyalari va turmush tarzi bilan bog‘liq.</a:t>
            </a:r>
          </a:p>
          <a:p>
            <a:pPr>
              <a:spcAft>
                <a:spcPts val="1200"/>
              </a:spcAft>
            </a:pPr>
            <a:r>
              <a:rPr sz="2200">
                <a:solidFill>
                  <a:srgbClr val="1F2937"/>
                </a:solidFill>
                <a:latin typeface="Calibri"/>
              </a:rPr>
              <a:t>▸  Bu o‘zgarishlar bilvosita dalil, ular asosida iste’mol haqida qat’iy xulosa qilib bo‘lmaydi; asosan sud-kimyoviy natijalar bilan birga baholanadi.</a:t>
            </a:r>
          </a:p>
          <a:p>
            <a:pPr>
              <a:spcAft>
                <a:spcPts val="1200"/>
              </a:spcAft>
            </a:pPr>
            <a:r>
              <a:rPr sz="2200">
                <a:solidFill>
                  <a:srgbClr val="1F2937"/>
                </a:solidFill>
                <a:latin typeface="Calibri"/>
              </a:rPr>
              <a:t>▸  Laboratoriya tekshiruvlarining ko‘lami va natijalari ekspertiza xulosasining ishonchliligi va asoslanganligini belgilaydi.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 172, 136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Morfinning jigardagi konsentratsiyasi qondagidan qariyb besh barobar yuqori. Chiqarilishi 8-12 soatda eng yuqori bo‘lib, dastlabki 3-4 kunda 90% ga yaqini chiqadi. Murdada u uzoq parchalanmaydi va bir necha oydan keyin ham sud-kimyoviy tekshiruvda topilishi mumkin.</a:t>
            </a:r>
          </a:p>
          <a:p>
            <a:pPr>
              <a:spcAft>
                <a:spcPts val="1200"/>
              </a:spcAft>
            </a:pPr>
            <a:r>
              <a:rPr sz="1800">
                <a:solidFill>
                  <a:srgbClr val="1F2937"/>
                </a:solidFill>
                <a:latin typeface="Calibri"/>
              </a:rPr>
              <a:t>▸  Eslab qolish usuli: murdadagi o‘zgarishlarning to‘rt guruhi “MYIT” bilan eslanadi. M - modda uchun maxsus (neyrokimyoviy) o‘zgarishlar, Y - yot moddani takror yuborish izlari, I - in’eksiya bilan yuqqan infeksiyalar (OITS, gepatit), T - turmush tarzi belgilari (ozginlik, tatuirovka). Bu belgilar faqat bilvosita dalil bo‘lib, qat’iy xulosa berolmaydi.</a:t>
            </a:r>
          </a:p>
          <a:p>
            <a:pPr>
              <a:spcAft>
                <a:spcPts val="1200"/>
              </a:spcAft>
            </a:pPr>
            <a:r>
              <a:rPr sz="1800">
                <a:solidFill>
                  <a:srgbClr val="1F2937"/>
                </a:solidFill>
                <a:latin typeface="Calibri"/>
              </a:rPr>
              <a:t>▸  Hodisa tahlili: murdada venalar bo‘ylab turli muddatli mayda yaralar va chandiqlar topildi, o‘pka va jigarda granulemalar bor. Bu surunkali in’eksiya yo‘li bilan qabul qilishni ko‘rsatadi, ayniqsa nosteril eritmalar bo‘lsa. Narkotik qabul qilinganini tasdiqlash uchun esa sud-kimyoviy tekshiruv va voqea tafsilotlari kerak.</a:t>
            </a:r>
          </a:p>
          <a:p>
            <a:pPr>
              <a:spcAft>
                <a:spcPts val="1200"/>
              </a:spcAft>
            </a:pPr>
            <a:r>
              <a:rPr sz="1800">
                <a:solidFill>
                  <a:srgbClr val="1F2937"/>
                </a:solidFill>
                <a:latin typeface="Calibri"/>
              </a:rPr>
              <a:t>▸  Siydik tekshiruvida moddalar turlicha muddatda aniqlanadi. Kannabinoidlar 1-3 soatdan keyin paydo bo‘lib, 24-168 soat davomida topiladi. Geroin 2-6 soatdan so‘ng 24-72 soat topiladi. Fensiklidin esa 4-6 soatdan keyin 7-14 kungacha aniqlanadi. Shu sababli namunani imkon qadar erta olish kerak.</a:t>
            </a:r>
          </a:p>
          <a:p>
            <a:pPr>
              <a:spcAft>
                <a:spcPts val="1200"/>
              </a:spcAft>
            </a:pPr>
            <a:r>
              <a:rPr sz="1800">
                <a:solidFill>
                  <a:srgbClr val="1F2937"/>
                </a:solidFill>
                <a:latin typeface="Calibri"/>
              </a:rPr>
              <a:t>▸  Bog‘liqlikning ikki tomoni bor: ruhiy bog‘liqlik (qabul qilishga yengib bo‘lmas intilish) va jismoniy bog‘liqlik (tolerantlik tufayli dozani oshirish zarurati). Opiatlarga o‘rganib qolish o‘rtacha 25-30 kunda rivojlanadi va doza kuniga 10,0 g gacha ko‘tarilishi mumkin. Qabul to‘xtatilsa, abstinensiya sindromi 5-6 kun davom etadi.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giyohvand moddalar bilan zaharlanishning patomorfologiyasi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6. Sud-tibbiy toksikologiya (qisman 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