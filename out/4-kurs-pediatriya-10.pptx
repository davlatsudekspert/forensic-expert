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pediatr uchun asfiksiya bilimi zarur (bolalar, yot jism, tasodifiy yopilish)? 2) Mexanik asfiksiya oddiy gipoksiyadan nimasi bilan farq qiladi? Doskada: mexanik asfiksiyaning 3 turini daraxt shaklida chizdiring. Tipik xato: asfiksiya va gipoksiyani bir xil deb olish — asfiksiyada gipoksiya giperkapniya bilan birga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miya to‘qimasi kislorod tanqisligiga eng sezgir? 2) Nega sud tibbiyoti uchun faqat yashinsimon va o‘tkir turlar ahamiyatli? Doskada: gipoksiya tezligi bo‘yicha 4 turni vaqt o‘qida (soniya → oy) chizdiring. Tipik xato: 5-10 minutni barcha to‘qimalarga tegishli deb o‘ylash — bu faqat markaziy nerv tizimiga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Yopiq sandiqqa kirib qolgan bola qaysi turga mos keladi? 2) Nega giperoksik gipoksiyada kislorod ko‘p bo‘lsa-da, gipoksiya rivojlanadi? Doskada: jadvalni talabalar bilan birga to‘ldiring, uchta bosim sharoitini alohida yozing. Tipik xato: giperoksik va giperkapnik turlarni aralashtirish. Keyingi slaydda qisqa ’Tezkor savol’ o‘tkazing.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Mexanik asfiksiya qaysi endogen gipoksiya turiga eng yaqin? 2) Gemik va sitotoksik gipoksiyani nima farqlaydi? Doskada: 5 turni ustun shaklida chizib, har biriga bittadan sabab yozdiring. Tipik xato: respirator gipoksiyani faqat o‘pka kasalligi deb o‘ylash, holbuki bo‘yin qisilishi va nafas yo‘llari yopilishi ham shunga kiradi.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Atama tarjimasi ta’rifni qanchalik aks ettiradi? 2) Nega faqat gipoksiya demasdan giperkapniyani ham qo‘shamiz? Doskada: «Asfiksiya = gipoksiya + giperkapniya» formulasini yozdiring. Tipik xato: gipoksiya va asfiksiyani sinonim deb olish.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Osilish va cho‘kish qaysi turga kiradi? 2) Nega autoasfiksiofiliya hodisa joyini ko‘zdan kechirishda alohida e’tibor talab qiladi? Doskada: tasnif daraxtini chizdiring (3 shox, ularning tarmoqlari). Tipik xato: kompression asfiksiyani strangulyatsion bilan aralashtirish (bo‘yin qisilishi va ko‘krak-qorin qisilishi).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holatlarda hodisa joyini sinchiklab ko‘rish alohida muhim? 2) Seksual asfiksiyada qaysi usullar ko‘p uchraydi? Doskada: autoasfiksiofiliyaning 3 belgisini (kim, qanday usul, hodisa joyidagi ashyolar) ustunlarga yozdiring. Tipik xato: bunday o‘limni avtomatik o‘z-o‘zini o‘ldirish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Qaysi belgilar seksual asfiksiyani qo‘llab-quvvatlaydi? 2) Boshqa ehtimoliy sabablarni istisno qilish uchun nima kerak? Doskada: hodisa joyi va murda belgilarini ikki ustunda yozdiring. Tipik xato: faqat bitta belgiga qarab xulosa chiqarish.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tez-tez so‘rang. Muhokama: 1) Gipoksiya va asfiksiya farqi nimada? 2) Qisilishdan asfiksiya qanday ikki ko‘rinishga bo‘linadi? Doskada: mexanik asfiksiya tasnifining daraxt sxemasini chizdiring. Tipik xato: giperkapniyani gipoksiya bilan bir xil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preasfiktik davrda asfiksiya belgilari ko‘rinmaydi? 2) Qonning qayta taqsimlanishi organizm uchun qanday foyda beradi? Doskada chizish: preasfiktik davrdagi kompensator o‘zgarishlar (qon ko‘payishi, suyulishi, qayta taqsimlanishi) sxemasi. Tipik xato: talabalar preasfiktik davrni asfiktik davrning bir bosqichi deb o‘ylaydi, aslida u alohida davr.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nafas to‘xtashi bosqichida mushaklar bo‘shashadi va reflekslar so‘nadi? 2) Nima uchun nafas to‘xtagandan keyin ham yurak urishi mumkin? Doskada chizish: beshta bosqichni o‘q bilan ketma-ket chizib, yoniga davomiyligini yozing. Tipik xato: vaqt ko‘rsatkichlarini qat’iy deb o‘ylash. Darslikda ular shartli va taxminiy, chunki tugallanmagan asfiksiya kuzatuvlariga asoslangan.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Ko‘krak qafasi kengayishi plevra bosimiga qanday ta’sir qiladi? 2) Talvasa jarohatini boshqa shaxs yetkazgan jarohatdan nima uchun farqlash kerak? Doskada chizish: ikki ustunli jadvalni talabalar daftarida to‘ldirish. Tipik xato: arterial va venoz bosim yo‘nalishini chalkashtirish. Inspiratorda arterial pasayadi, ekspiratorda ko‘tariladi.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Nafas to‘xtagandan keyin yurak nega yana bir necha minut ishlaydi? 2) Yurakning reflektor to‘xtashi qaysi retseptorlar ta’sirlanishidan kelib chiqadi? Doskada chizish: asfiktik davr bosqichlarining ketma-ketligi (inspirator, ekspirator, nisbiy tinchlik, terminal, to‘liq to‘xtash) va ularning taxminiy davomiyligi. Tipik xato: nafas to‘xtashini klinik o‘lim bilan aralashtirish; bosqich vaqtlari shartli va taxminiy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Belgilar yo‘qligi mexanik asfiksiyani istisno qiladimi? 2) Bunday holatda yana qaysi ma’lumotlarga tayanish kerak (hodisa tafsilotlari, bo‘yindagi iz)? Doskada chizish: ikki yo‘l sxemasi, ya’ni sekin asfiksiya va yurakning reflektor to‘xtashi. Tipik xato: murdada sianoz va qon quyilishlar yo‘q ekan, asfiksiya bo‘lmagan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Karaxtlik davri asfiktik komadan nimasi bilan farq qiladi (talvasa yo‘q, hush tiklanadi)? 2) Konfabulyatsiya nima? Doskada chizish: to‘rt davrning ketma-ketlik zanjiri va har davr ostiga bittadan asosiy belgi. Tipik xato: karaxtlik bosqichlari (sopor, chuqur, yengil, uyquchanlik) tartibini aralashtirish va retrograd amneziyani konfabulyatsiya bilan chalkashtirish.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tugallanmagan asfiksiyada tibbiy hujjat sud-tibbiy ekspertiza uchun muhim? 2) Dastlabki soatlarda o‘pka shishi nimani bildiradi? Doskada: o‘lim sabablarini vaqt bo‘yicha (daqiqa-soat, sutka, kechroq) uch qatorli jadval qilib chizdiring. Tipik xato: postasfiktik holatni faqat o‘lim bilan tugaydi deb o‘ylash; aslida u qutqarilgan shaxsda ham rivojlanadi.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sianoz mexanik asfiksiyaning ishonchli belgisi emas? 2) Midriaz nima uchun noturg‘un hisoblanadi? Doskada: tashqi belgilarni ‘belgi — paydo bo‘lish sababi’ ko‘rinishida ikki ustunli ro‘yxat qilib yozdiring. Tipik xato: murda yuzining ko‘kimtirligini doim asfiksiya belgisi deb baholash; murdaning yotish holatini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bitta belgi emas, belgilar majmuasi baholanadi? 2) Tarde dog‘lari qayerda ko‘proq uchraydi (o‘pka bo‘laklari oralig‘i, diafragmal plevra, yurak orqa yuzasi)? Doskada: yurak va o‘pka sxemasini chizib, Tarde dog‘larini belgilang. Tipik xato: Tarde dog‘lari yoki suyuq qonni mexanik asfiksiyaning yagona isboti deb hisoblash; ular tez o‘limning boshqa turlarida ham uchraydi.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sianozning o‘zi yetarli dalil emas? 2) Asfiktik yurak, kamqonlik va qisqargan taloq nima uchun nisbatan ishonchliroq? Doskada chizish: “umumiy belgilar → majmua → xulosa” strelkali sxema. Tipik xato: bitta belgiga qarab asfiksiya tashxisini qo‘yish.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Savollarni talabalarga navbat bilan bering, javobni slaydni ochishdan oldin so‘rang. Muhokama: nega bosqich davomiyligi shartli va taxminiy hisoblanadi? Doskada chizish: asfiktik davr bosqichlarini ketma-ket yozish. Tipik xato: inspirator va ekspirator bosqichlarni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yotgan holatda ham osilishdan o‘lim mumkin? 2) Notipik osilishning qanday variantlarini bilasiz? Doskada chizish: jadvalni ko‘chirib, har bir variantga tana holatining sxemasini chizing. Tipik xato: tipik joylashuv (sirtmoq tuguni) bilan tipik osilish (tana erkin osilishi)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sirtmoqni yechmasdan, tugunga qarama-qarshi tomondan kesish kerak? 2) Tugun murdani tekshirishda qanday ma’lumot berishi mumkin? Doskada: bo‘yin va sirtmoq sxemasini chizib, tugunning tipik (orqa) va atipik (old, yon) joylarini belgilang. Tipik xato: tugunni yechib yoki buzib yuborish. Diqqat: tipik tugun joyi ≠ atipik tugun joyi. Eslatma: sirpanuvchan va sirpanmas sirtmoqning ta’rifi manbadagi 5.4-jadvalda berilgan, matnda ochilmagan; jadvalni ko‘rsatib tushuntiring.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yurak-qon tomir kasalligi bor odamda reflektor to‘xtash xavfi ortadi? 2) Havo yo‘li to‘liq yopilmasa ham o‘lim nega sodir bo‘ladi? Doskada: bo‘yin kesimini chizib, havo yo‘li, bo‘yinturuq vena, uyqu va umurtqa arteriyalarini belgilang. Tipik xato: o‘limni faqat havo yo‘lining yopilishi bilan izohlash. Diqqat: bo‘yinturuq vena (qon chiqishi) ≠ umurtqa arteriyasi (qon kelishi).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Egat xususiyatlarini nega sirtmoq bilan solishtiramiz? 2) Yumshoq sirtmoqda terida egat ko‘rinmasa, qanday belgiga tayanamiz? Doskada: bo‘yinda tipik va atipik egatni qiyshiq chiziq bilan chizib, tugun joyini belgilang. Tipik xato: egat yo‘qligini osilish bo‘lmaganligi deb xulosa qilish. Diqqat: egat sirtmoqning shilinma izi, tugunning bosma izi esa uchlari tutashgan joyda qolishi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yumshoq sirtmoqda teri egati ko‘rinmay qolishi mumkin? 2) Egatning hayotiyligi nega bahsli holatlarda muhim? Doskada chizing: egat kesimi va yonida to‘rt belgi (Amyuss, Martin, Valxer, Simon) joylashuvi. Diqqat: xato qilish xavfi — Kasper belgisi osilishda “mis sim” izi, chin cho‘kishda esa yurak chap kamerasi qonining ochroq rangi; ikkalasini aralashtirmang. Tipik xato: cho‘zilish belgilarini (Amyuss, Valxer, Simon) hayotiylik belgilari (Bokarius, Neyding, Kasyanov) bilan adashtirish. Eslatma: cho‘zilish jarohatlari asosan semiz odamlarda, tipik siltab osilishda kuzatiladi.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Egat joylashuvi bo‘yicha ikki holatni qanday ajratasiz? 2) Nega cho‘zilish belgilari sirtmoq bilan bo‘g‘ishda bo‘lmaydi? Doskada chizing: bo‘yin sxemasida ikki egat — qiyshiq-yuqori va gorizontal-pastroq. Qo‘shimcha: sirtmoq bilan bo‘g‘ishda sianoz, murda dog‘lari ko‘lami va ixtiyorsiz axlat, siydik ajralishi yaqqolroq. Tipik xato: atipik osilishda egat pastroq bo‘lishi mumkinligini unutib, joylashuv bo‘yicha xulosani yagona belgiga tayanib chiqarish; belgilar majmuasini baholang.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Old tomondan ikki qo‘l bilan bo‘g‘ilganda barmoq izlari bo‘ynda qanday joylashadi? 2) Pozitsion asfiksiya diagnostikasi nimaga asoslanadi (voqea tafsilotlari, boshqa o‘lim sabablarini istisno qilish)? Doskada chizing: bo‘yin old va orqa yuzasida ikki qo‘l izlarining joylashuvi (old tomondan: har tarafda old yuzada bittadan, orqada 2-4 tadan). Tipik xato: yumshoq jism ustidan bo‘g‘ishda tashqi izlar kamligini “bo‘g‘ish bo‘lmagan” deb talqin qilish; ichki tekshiruvni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Egatning yo‘nalishi va joyi nimaga ishora qiladi? 2) Nega Amyuss, Valxer, Simon belgilari yo‘qligi muhim? Kutilgan javob: sirtmoq bilan bo‘g‘ish (gorizontal egat, qalqonsimon tog‘ay sathida, cho‘zilish belgilari yo‘q). Doskada chizing: bo‘yin konturida osilish va bo‘g‘ishdagi egat joylashuvini yonma-yon. Tipik xato: til osti suyagi singanini osilishning asosiy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qarshilik bo‘lmaganda xos belgi topilmaydi va ekspert nimaga tayanadi? 2) Qusuq aspiratsiyasini o‘limdan keyingi tushishdan qanday farqlaysiz? Doskada chizing: nafas yo‘llari sxemasi, yot jism va suyuqlik qayergacha yetishini ko‘rsating. Tipik xato: nafas yo‘lida qusuq topilsa, avtomatik obturatsion asfiksiya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asfiktik cho‘kishda oshqozonda suv ko‘proq bo‘ladi? 2) Dengiz suvida nega gemodilyusiya o‘rniga qon quyuqlashadi? Doskada chizing: alveola va qon osmotik farqini ikki strelka bilan (chuchuk va sho‘r suv). Tipik xato: Tarde dog‘i bilan Rasskazov-Lukomskiy-Paltauf dog‘ini aralashtirish va Sveshnikov belgisini (kalla asosidagi suyuqlik) oshqozondagi suv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o‘pkadagi diatom topilmasi hayotiylik isboti bo‘la olmaydi? 2) Asfiktik cho‘kishda plankton uchun qaysi suyuqlik olinadi? Doskada chizing: suv → alveola → qon → a’zolar zanjiri (chin cho‘kish). Tipik xato: o‘pkadagi planktonni hayotiylik belgisi deb hisoblash va suv namunasi olishni unutish.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omillar teri o‘zgarishini tezlashtiradi yoki sekinlashtiradi? 2) Suvdagi to‘satdan o‘limda nimaga e’tibor beriladi? Doskada chizing: soatlardan haftalargacha vaqt chizig‘i. Tipik xato: bujmayish muddatini o‘lim sababi bilan bog‘lash.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Qusuq aspiratsiyasini murdadan keyingi tushishdan qanday ajratamiz (miqdor, kichik bronxlar, gistologiya)? 2) Asfiktik cho‘kishda suv qayerga o‘tadi? Doskada chizing: nafas yo‘li sxemasi va suv yetgan darajani belgilang. Tipik xato: qusuq topilishining o‘zini obturatsion asfiksiya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bolalar karbonat angidridga sezgirroq? 2) Olomonda qisilganda o‘lim sababini qanday aniqlaymiz? Doskada: jadvalni chizib, har ustunga yana bitta misol yozdiring. Tipik xato: kompression asfiksiyani strangulyatsiya bilan aralashtirish (ko‘krak-qorin qisilishi ≠ bo‘yin qisilishi). Diqqat: Olive-Danjer (ekximotik niqob) ≠ Lakkasan (o‘pka karmin shishishi). Eslab qoling: niqob — yuz va bo‘yin, karmin — o‘pka. Cheklangan muhitda o‘ziga xos belgi yo‘qligini alohida ta‘kidlang.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Umumasfiktik belgilar nega yakka holda tashxis qo‘ymaydi? 2) Egatning joyi va yo‘nalishi tur haqida nima deydi? Doskada: osilish va sirtmoq bilan bo‘g‘ish egatini yonma-yon sxematik chizdiring. Kutiladigan javob: sirtmoq bilan bo‘g‘ish (qotillik ehtimoli yuqori), chunki egat gorizontal, pastda va cho‘zilish belgilari yo‘q. Tipik xato: bitta belgiga (masalan, sianoz) tayanib xulosa qilish. Diqqat: osilish ≠ sirtmoq bilan bo‘g‘ish, ularda sirtmoqqa kuch qo‘yilishi har xil.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mashgʻulot: Mexanik asfiksiya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Mexanik asfiksiya — mexanik omil ta’sirida tashqi nafas olishning buzilishi: kislorod kamayadi, karbonat angidrid ko‘payadi.</a:t>
            </a:r>
          </a:p>
          <a:p>
            <a:pPr>
              <a:spcAft>
                <a:spcPts val="1200"/>
              </a:spcAft>
            </a:pPr>
            <a:r>
              <a:rPr sz="2200">
                <a:solidFill>
                  <a:srgbClr val="1F2937"/>
                </a:solidFill>
                <a:latin typeface="Calibri"/>
              </a:rPr>
              <a:t>▸  Sud-tibbiy tasnif uch turni ajratadi: qisilishdan, yopilishdan va cheklangan muhitdagi asfiksiya.</a:t>
            </a:r>
          </a:p>
          <a:p>
            <a:pPr>
              <a:spcAft>
                <a:spcPts val="1200"/>
              </a:spcAft>
            </a:pPr>
            <a:r>
              <a:rPr sz="2200">
                <a:solidFill>
                  <a:srgbClr val="1F2937"/>
                </a:solidFill>
                <a:latin typeface="Calibri"/>
              </a:rPr>
              <a:t>▸  Osilish asfiksiyadan o‘lim holatlarining 65-70% ini beradi. Strangulyatsiya o‘limlarning uchdan ikki qismidan ortig‘iga to‘g‘ri keladi.</a:t>
            </a:r>
          </a:p>
          <a:p>
            <a:pPr>
              <a:spcAft>
                <a:spcPts val="1200"/>
              </a:spcAft>
            </a:pPr>
            <a:r>
              <a:rPr sz="2200">
                <a:solidFill>
                  <a:srgbClr val="1F2937"/>
                </a:solidFill>
                <a:latin typeface="Calibri"/>
              </a:rPr>
              <a:t>▸  Reja: gipoksiya, asfiksiya kechishi, postasfiktik holat, umumiy belgilar, so‘ng strangulyatsion, obturatsion, kompression va yopiq muhit asfiksiyasi.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 111, 103-129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Kislorod ehtiyoji va gipoksiya jadalligi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Kislorodning 98,5-99,0% qismi nafas a’zolari orqali olinadi, qolgani teri, oshqozon va ichaklar orqali.</a:t>
            </a:r>
          </a:p>
          <a:p>
            <a:pPr>
              <a:spcAft>
                <a:spcPts val="1200"/>
              </a:spcAft>
            </a:pPr>
            <a:r>
              <a:rPr sz="2200">
                <a:solidFill>
                  <a:srgbClr val="1F2937"/>
                </a:solidFill>
                <a:latin typeface="Calibri"/>
              </a:rPr>
              <a:t>▸  Tinch holatda bir minutda 6-8 l havo kerak. Jismoniy zo‘riqishda ehtiyoj ba’zan 10-20 barobargacha ortadi.</a:t>
            </a:r>
          </a:p>
          <a:p>
            <a:pPr>
              <a:spcAft>
                <a:spcPts val="1200"/>
              </a:spcAft>
            </a:pPr>
            <a:r>
              <a:rPr sz="2200">
                <a:solidFill>
                  <a:srgbClr val="1F2937"/>
                </a:solidFill>
                <a:latin typeface="Calibri"/>
              </a:rPr>
              <a:t>▸  Markaziy nerv tizimida to‘qima nafasi 5-10 minut to‘xtasa, o‘zgarishlar tiklanmaydi. Mushak va biriktiruvchi to‘qimada bu vaqt ancha uzoq.</a:t>
            </a:r>
          </a:p>
          <a:p>
            <a:pPr>
              <a:spcAft>
                <a:spcPts val="1200"/>
              </a:spcAft>
            </a:pPr>
            <a:r>
              <a:rPr sz="2200">
                <a:solidFill>
                  <a:srgbClr val="1F2937"/>
                </a:solidFill>
                <a:latin typeface="Calibri"/>
              </a:rPr>
              <a:t>▸  Tezligi bo‘yicha: yashinsimon (soniya), o‘tkir (daqiqa), biroz o‘tkir (soat), surunkali (kun-oy). Sud tibbiyotida birinchi ikkisi muhim.</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103,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Ekzogen 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Havoda kislorod odatda 20,93%. Gipoksik turda nafas olinadigan havoda u kamroq bo‘ladi.</a:t>
            </a:r>
          </a:p>
          <a:p>
            <a:pPr>
              <a:spcAft>
                <a:spcPts val="800"/>
              </a:spcAft>
            </a:pPr>
            <a:r>
              <a:rPr sz="1800">
                <a:solidFill>
                  <a:srgbClr val="1F2937"/>
                </a:solidFill>
                <a:latin typeface="Calibri"/>
              </a:rPr>
              <a:t>▸  Bosim bo‘yicha: gipobarik — tog‘ kasalligi, normobarik — kislorodi kam gaz, giperbarik — chuqur suv.</a:t>
            </a:r>
          </a:p>
          <a:p>
            <a:pPr>
              <a:spcAft>
                <a:spcPts val="800"/>
              </a:spcAft>
            </a:pPr>
            <a:r>
              <a:rPr sz="1800">
                <a:solidFill>
                  <a:srgbClr val="1F2937"/>
                </a:solidFill>
                <a:latin typeface="Calibri"/>
              </a:rPr>
              <a:t>▸  Diqqat: giperoksik ≠ giperkapnik. Birida kislorod ko‘p, ikkinchisida karbonat angidrid ko‘p.</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Tur</a:t>
                      </a:r>
                    </a:p>
                  </a:txBody>
                  <a:tcPr marL="73152" marR="73152" marT="36576" marB="36576">
                    <a:solidFill>
                      <a:srgbClr val="0B1F3A"/>
                    </a:solidFill>
                  </a:tcPr>
                </a:tc>
                <a:tc>
                  <a:txBody>
                    <a:bodyPr/>
                    <a:lstStyle/>
                    <a:p>
                      <a:r>
                        <a:rPr sz="1300" b="1">
                          <a:solidFill>
                            <a:srgbClr val="FFFFFF"/>
                          </a:solidFill>
                        </a:rPr>
                        <a:t>Sharoit</a:t>
                      </a:r>
                    </a:p>
                  </a:txBody>
                  <a:tcPr marL="73152" marR="73152" marT="36576" marB="36576">
                    <a:solidFill>
                      <a:srgbClr val="0B1F3A"/>
                    </a:solidFill>
                  </a:tcPr>
                </a:tc>
                <a:tc>
                  <a:txBody>
                    <a:bodyPr/>
                    <a:lstStyle/>
                    <a:p>
                      <a:r>
                        <a:rPr sz="1300" b="1">
                          <a:solidFill>
                            <a:srgbClr val="FFFFFF"/>
                          </a:solidFill>
                        </a:rPr>
                        <a:t>Natija</a:t>
                      </a:r>
                    </a:p>
                  </a:txBody>
                  <a:tcPr marL="73152" marR="73152" marT="36576" marB="36576">
                    <a:solidFill>
                      <a:srgbClr val="0B1F3A"/>
                    </a:solidFill>
                  </a:tcPr>
                </a:tc>
              </a:tr>
              <a:tr h="411480">
                <a:tc>
                  <a:txBody>
                    <a:bodyPr/>
                    <a:lstStyle/>
                    <a:p>
                      <a:r>
                        <a:rPr sz="1200" b="0">
                          <a:solidFill>
                            <a:srgbClr val="1F2937"/>
                          </a:solidFill>
                        </a:rPr>
                        <a:t>Gipoksik</a:t>
                      </a:r>
                    </a:p>
                  </a:txBody>
                  <a:tcPr marL="73152" marR="73152" marT="36576" marB="36576">
                    <a:solidFill>
                      <a:srgbClr val="E8EEF6"/>
                    </a:solidFill>
                  </a:tcPr>
                </a:tc>
                <a:tc>
                  <a:txBody>
                    <a:bodyPr/>
                    <a:lstStyle/>
                    <a:p>
                      <a:r>
                        <a:rPr sz="1200" b="0">
                          <a:solidFill>
                            <a:srgbClr val="1F2937"/>
                          </a:solidFill>
                        </a:rPr>
                        <a:t>Havoda kislorod miqdori oz</a:t>
                      </a:r>
                    </a:p>
                  </a:txBody>
                  <a:tcPr marL="73152" marR="73152" marT="36576" marB="36576">
                    <a:solidFill>
                      <a:srgbClr val="E8EEF6"/>
                    </a:solidFill>
                  </a:tcPr>
                </a:tc>
                <a:tc>
                  <a:txBody>
                    <a:bodyPr/>
                    <a:lstStyle/>
                    <a:p>
                      <a:r>
                        <a:rPr sz="1200" b="0">
                          <a:solidFill>
                            <a:srgbClr val="1F2937"/>
                          </a:solidFill>
                        </a:rPr>
                        <a:t>Tog‘, chuqur suv, kislorodi kam gaz</a:t>
                      </a:r>
                    </a:p>
                  </a:txBody>
                  <a:tcPr marL="73152" marR="73152" marT="36576" marB="36576">
                    <a:solidFill>
                      <a:srgbClr val="E8EEF6"/>
                    </a:solidFill>
                  </a:tcPr>
                </a:tc>
              </a:tr>
              <a:tr h="411480">
                <a:tc>
                  <a:txBody>
                    <a:bodyPr/>
                    <a:lstStyle/>
                    <a:p>
                      <a:r>
                        <a:rPr sz="1200" b="0">
                          <a:solidFill>
                            <a:srgbClr val="1F2937"/>
                          </a:solidFill>
                        </a:rPr>
                        <a:t>Giperoksik</a:t>
                      </a:r>
                    </a:p>
                  </a:txBody>
                  <a:tcPr marL="73152" marR="73152" marT="36576" marB="36576">
                    <a:solidFill>
                      <a:srgbClr val="FFFFFF"/>
                    </a:solidFill>
                  </a:tcPr>
                </a:tc>
                <a:tc>
                  <a:txBody>
                    <a:bodyPr/>
                    <a:lstStyle/>
                    <a:p>
                      <a:r>
                        <a:rPr sz="1200" b="0">
                          <a:solidFill>
                            <a:srgbClr val="1F2937"/>
                          </a:solidFill>
                        </a:rPr>
                        <a:t>Kislorod konsentratsiyasi katta, uzoq nafas</a:t>
                      </a:r>
                    </a:p>
                  </a:txBody>
                  <a:tcPr marL="73152" marR="73152" marT="36576" marB="36576">
                    <a:solidFill>
                      <a:srgbClr val="FFFFFF"/>
                    </a:solidFill>
                  </a:tcPr>
                </a:tc>
                <a:tc>
                  <a:txBody>
                    <a:bodyPr/>
                    <a:lstStyle/>
                    <a:p>
                      <a:r>
                        <a:rPr sz="1200" b="0">
                          <a:solidFill>
                            <a:srgbClr val="1F2937"/>
                          </a:solidFill>
                        </a:rPr>
                        <a:t>O‘pkada o‘zgarish, kislorod qonga o‘tmaydi</a:t>
                      </a:r>
                    </a:p>
                  </a:txBody>
                  <a:tcPr marL="73152" marR="73152" marT="36576" marB="36576">
                    <a:solidFill>
                      <a:srgbClr val="FFFFFF"/>
                    </a:solidFill>
                  </a:tcPr>
                </a:tc>
              </a:tr>
              <a:tr h="411480">
                <a:tc>
                  <a:txBody>
                    <a:bodyPr/>
                    <a:lstStyle/>
                    <a:p>
                      <a:r>
                        <a:rPr sz="1200" b="0">
                          <a:solidFill>
                            <a:srgbClr val="1F2937"/>
                          </a:solidFill>
                        </a:rPr>
                        <a:t>Giperkapnik</a:t>
                      </a:r>
                    </a:p>
                  </a:txBody>
                  <a:tcPr marL="73152" marR="73152" marT="36576" marB="36576">
                    <a:solidFill>
                      <a:srgbClr val="E8EEF6"/>
                    </a:solidFill>
                  </a:tcPr>
                </a:tc>
                <a:tc>
                  <a:txBody>
                    <a:bodyPr/>
                    <a:lstStyle/>
                    <a:p>
                      <a:r>
                        <a:rPr sz="1200" b="0">
                          <a:solidFill>
                            <a:srgbClr val="1F2937"/>
                          </a:solidFill>
                        </a:rPr>
                        <a:t>Cheklangan (yopiq) muhit</a:t>
                      </a:r>
                    </a:p>
                  </a:txBody>
                  <a:tcPr marL="73152" marR="73152" marT="36576" marB="36576">
                    <a:solidFill>
                      <a:srgbClr val="E8EEF6"/>
                    </a:solidFill>
                  </a:tcPr>
                </a:tc>
                <a:tc>
                  <a:txBody>
                    <a:bodyPr/>
                    <a:lstStyle/>
                    <a:p>
                      <a:r>
                        <a:rPr sz="1200" b="0">
                          <a:solidFill>
                            <a:srgbClr val="1F2937"/>
                          </a:solidFill>
                        </a:rPr>
                        <a:t>Kislorod kamayadi, CO2 ko‘payadi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Ekzogen gipoksiya turlari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Endogen 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Endogen gipoksiyaning beshta turi bor: respirator, sirkulyator, gemik, sitotoksik va fiziologik.</a:t>
            </a:r>
          </a:p>
          <a:p>
            <a:pPr>
              <a:spcAft>
                <a:spcPts val="800"/>
              </a:spcAft>
            </a:pPr>
            <a:r>
              <a:rPr sz="1800">
                <a:solidFill>
                  <a:srgbClr val="1F2937"/>
                </a:solidFill>
                <a:latin typeface="Calibri"/>
              </a:rPr>
              <a:t>▸  Respirator: bevosita shakli bo‘yin qisilishi va nafas yo‘llari yopilishi, bilvosita shakli shok va sepsisda.</a:t>
            </a:r>
          </a:p>
          <a:p>
            <a:pPr>
              <a:spcAft>
                <a:spcPts val="800"/>
              </a:spcAft>
            </a:pPr>
            <a:r>
              <a:rPr sz="1800">
                <a:solidFill>
                  <a:srgbClr val="1F2937"/>
                </a:solidFill>
                <a:latin typeface="Calibri"/>
              </a:rPr>
              <a:t>▸  Fiziologik gipoksiya vaqtincha: jismoniy zo‘riqishda yoki birdaniga ko‘p ovqat yeyilganda.</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Tur</a:t>
                      </a:r>
                    </a:p>
                  </a:txBody>
                  <a:tcPr marL="73152" marR="73152" marT="36576" marB="36576">
                    <a:solidFill>
                      <a:srgbClr val="0B1F3A"/>
                    </a:solidFill>
                  </a:tcPr>
                </a:tc>
                <a:tc>
                  <a:txBody>
                    <a:bodyPr/>
                    <a:lstStyle/>
                    <a:p>
                      <a:r>
                        <a:rPr sz="1400" b="1">
                          <a:solidFill>
                            <a:srgbClr val="FFFFFF"/>
                          </a:solidFill>
                        </a:rPr>
                        <a:t>Sababi</a:t>
                      </a:r>
                    </a:p>
                  </a:txBody>
                  <a:tcPr marL="73152" marR="73152" marT="36576" marB="36576">
                    <a:solidFill>
                      <a:srgbClr val="0B1F3A"/>
                    </a:solidFill>
                  </a:tcPr>
                </a:tc>
              </a:tr>
              <a:tr h="411480">
                <a:tc>
                  <a:txBody>
                    <a:bodyPr/>
                    <a:lstStyle/>
                    <a:p>
                      <a:r>
                        <a:rPr sz="1300" b="0">
                          <a:solidFill>
                            <a:srgbClr val="1F2937"/>
                          </a:solidFill>
                        </a:rPr>
                        <a:t>Respirator</a:t>
                      </a:r>
                    </a:p>
                  </a:txBody>
                  <a:tcPr marL="73152" marR="73152" marT="36576" marB="36576">
                    <a:solidFill>
                      <a:srgbClr val="E8EEF6"/>
                    </a:solidFill>
                  </a:tcPr>
                </a:tc>
                <a:tc>
                  <a:txBody>
                    <a:bodyPr/>
                    <a:lstStyle/>
                    <a:p>
                      <a:r>
                        <a:rPr sz="1300" b="0">
                          <a:solidFill>
                            <a:srgbClr val="1F2937"/>
                          </a:solidFill>
                        </a:rPr>
                        <a:t>Bo‘yin qisilishi, nafas yo‘llari yopilishi</a:t>
                      </a:r>
                    </a:p>
                  </a:txBody>
                  <a:tcPr marL="73152" marR="73152" marT="36576" marB="36576">
                    <a:solidFill>
                      <a:srgbClr val="E8EEF6"/>
                    </a:solidFill>
                  </a:tcPr>
                </a:tc>
              </a:tr>
              <a:tr h="411480">
                <a:tc>
                  <a:txBody>
                    <a:bodyPr/>
                    <a:lstStyle/>
                    <a:p>
                      <a:r>
                        <a:rPr sz="1300" b="0">
                          <a:solidFill>
                            <a:srgbClr val="1F2937"/>
                          </a:solidFill>
                        </a:rPr>
                        <a:t>Sirkulyator</a:t>
                      </a:r>
                    </a:p>
                  </a:txBody>
                  <a:tcPr marL="73152" marR="73152" marT="36576" marB="36576">
                    <a:solidFill>
                      <a:srgbClr val="FFFFFF"/>
                    </a:solidFill>
                  </a:tcPr>
                </a:tc>
                <a:tc>
                  <a:txBody>
                    <a:bodyPr/>
                    <a:lstStyle/>
                    <a:p>
                      <a:r>
                        <a:rPr sz="1300" b="0">
                          <a:solidFill>
                            <a:srgbClr val="1F2937"/>
                          </a:solidFill>
                        </a:rPr>
                        <a:t>Qon aylanishi buzilishi, terminal holat</a:t>
                      </a:r>
                    </a:p>
                  </a:txBody>
                  <a:tcPr marL="73152" marR="73152" marT="36576" marB="36576">
                    <a:solidFill>
                      <a:srgbClr val="FFFFFF"/>
                    </a:solidFill>
                  </a:tcPr>
                </a:tc>
              </a:tr>
              <a:tr h="411480">
                <a:tc>
                  <a:txBody>
                    <a:bodyPr/>
                    <a:lstStyle/>
                    <a:p>
                      <a:r>
                        <a:rPr sz="1300" b="0">
                          <a:solidFill>
                            <a:srgbClr val="1F2937"/>
                          </a:solidFill>
                        </a:rPr>
                        <a:t>Gemik</a:t>
                      </a:r>
                    </a:p>
                  </a:txBody>
                  <a:tcPr marL="73152" marR="73152" marT="36576" marB="36576">
                    <a:solidFill>
                      <a:srgbClr val="E8EEF6"/>
                    </a:solidFill>
                  </a:tcPr>
                </a:tc>
                <a:tc>
                  <a:txBody>
                    <a:bodyPr/>
                    <a:lstStyle/>
                    <a:p>
                      <a:r>
                        <a:rPr sz="1300" b="0">
                          <a:solidFill>
                            <a:srgbClr val="1F2937"/>
                          </a:solidFill>
                        </a:rPr>
                        <a:t>Gemoglobin kamayishi yoki bog‘lay olmasligi</a:t>
                      </a:r>
                    </a:p>
                  </a:txBody>
                  <a:tcPr marL="73152" marR="73152" marT="36576" marB="36576">
                    <a:solidFill>
                      <a:srgbClr val="E8EEF6"/>
                    </a:solidFill>
                  </a:tcPr>
                </a:tc>
              </a:tr>
              <a:tr h="411480">
                <a:tc>
                  <a:txBody>
                    <a:bodyPr/>
                    <a:lstStyle/>
                    <a:p>
                      <a:r>
                        <a:rPr sz="1300" b="0">
                          <a:solidFill>
                            <a:srgbClr val="1F2937"/>
                          </a:solidFill>
                        </a:rPr>
                        <a:t>Sitotoksik</a:t>
                      </a:r>
                    </a:p>
                  </a:txBody>
                  <a:tcPr marL="73152" marR="73152" marT="36576" marB="36576">
                    <a:solidFill>
                      <a:srgbClr val="FFFFFF"/>
                    </a:solidFill>
                  </a:tcPr>
                </a:tc>
                <a:tc>
                  <a:txBody>
                    <a:bodyPr/>
                    <a:lstStyle/>
                    <a:p>
                      <a:r>
                        <a:rPr sz="1300" b="0">
                          <a:solidFill>
                            <a:srgbClr val="1F2937"/>
                          </a:solidFill>
                        </a:rPr>
                        <a:t>Zaharlanishda to‘qima nafasining buzilishi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Endogen gipoksiya: tur va sabab</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 va mexanik asfiksiya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 tibbiyotida kislorod tanqisligi qadimdan asfiksiya atamasi bilan belgilanadi. Grekcha: a — inkor, sphygmos — puls, ya’ni pulsning yo‘qligi.</a:t>
            </a:r>
          </a:p>
          <a:p>
            <a:pPr>
              <a:spcAft>
                <a:spcPts val="1200"/>
              </a:spcAft>
            </a:pPr>
            <a:r>
              <a:rPr sz="2200">
                <a:solidFill>
                  <a:srgbClr val="1F2937"/>
                </a:solidFill>
                <a:latin typeface="Calibri"/>
              </a:rPr>
              <a:t>▸  Asfiksiya — tashqi nafas buzilishi tufayli kislorod tanqisligi va karbonat angidrid ko‘payishi bilan hayotiy tizimlar faoliyatining o‘tkir buzilishi.</a:t>
            </a:r>
          </a:p>
          <a:p>
            <a:pPr>
              <a:spcAft>
                <a:spcPts val="1200"/>
              </a:spcAft>
            </a:pPr>
            <a:r>
              <a:rPr sz="2200">
                <a:solidFill>
                  <a:srgbClr val="1F2937"/>
                </a:solidFill>
                <a:latin typeface="Calibri"/>
              </a:rPr>
              <a:t>▸  Asfiksiyada gipoksiya doimo giperkapniya, ya’ni karbonat angidrid ko‘payishi bilan birga rivojlanadi.</a:t>
            </a:r>
          </a:p>
          <a:p>
            <a:pPr>
              <a:spcAft>
                <a:spcPts val="1200"/>
              </a:spcAft>
            </a:pPr>
            <a:r>
              <a:rPr sz="2200">
                <a:solidFill>
                  <a:srgbClr val="1F2937"/>
                </a:solidFill>
                <a:latin typeface="Calibri"/>
              </a:rPr>
              <a:t>▸  Mexanik omil ta’sirida tashqi nafas buzilishidan vujudga kelgan holat mexanik asfiksiya deyiladi. Diqqat: gipoksiya ≠ asfiksiya, chunki asfiksiyada giperkapniya ham bor.</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104, 104-105, 105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Sud-tibbiy tasnifda mexanik asfiksiyaning uch turi bor: qisilish, yopilish va cheklangan muhit.</a:t>
            </a:r>
          </a:p>
          <a:p>
            <a:pPr>
              <a:spcAft>
                <a:spcPts val="800"/>
              </a:spcAft>
            </a:pPr>
            <a:r>
              <a:rPr sz="1800">
                <a:solidFill>
                  <a:srgbClr val="1F2937"/>
                </a:solidFill>
                <a:latin typeface="Calibri"/>
              </a:rPr>
              <a:t>▸  Strangulyatsion — bo‘yin a’zolarining qisilishi; kompression — ko‘krak va qorin bo‘shliqlari a’zolarining qisilishi.</a:t>
            </a:r>
          </a:p>
          <a:p>
            <a:pPr>
              <a:spcAft>
                <a:spcPts val="800"/>
              </a:spcAft>
            </a:pPr>
            <a:r>
              <a:rPr sz="1800">
                <a:solidFill>
                  <a:srgbClr val="1F2937"/>
                </a:solidFill>
                <a:latin typeface="Calibri"/>
              </a:rPr>
              <a:t>▸  Alohida holat: autoasfiksiofiliya (seksual asfiksiya) — jinsiy qo‘zg‘alish gipoksiya va giperkapniya sharoitida kechadi.</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Turi</a:t>
                      </a:r>
                    </a:p>
                  </a:txBody>
                  <a:tcPr marL="73152" marR="73152" marT="36576" marB="36576">
                    <a:solidFill>
                      <a:srgbClr val="0B1F3A"/>
                    </a:solidFill>
                  </a:tcPr>
                </a:tc>
                <a:tc>
                  <a:txBody>
                    <a:bodyPr/>
                    <a:lstStyle/>
                    <a:p>
                      <a:r>
                        <a:rPr sz="1400" b="1">
                          <a:solidFill>
                            <a:srgbClr val="FFFFFF"/>
                          </a:solidFill>
                        </a:rPr>
                        <a:t>Ko‘rinishlari</a:t>
                      </a:r>
                    </a:p>
                  </a:txBody>
                  <a:tcPr marL="73152" marR="73152" marT="36576" marB="36576">
                    <a:solidFill>
                      <a:srgbClr val="0B1F3A"/>
                    </a:solidFill>
                  </a:tcPr>
                </a:tc>
              </a:tr>
              <a:tr h="411480">
                <a:tc>
                  <a:txBody>
                    <a:bodyPr/>
                    <a:lstStyle/>
                    <a:p>
                      <a:r>
                        <a:rPr sz="1300" b="0">
                          <a:solidFill>
                            <a:srgbClr val="1F2937"/>
                          </a:solidFill>
                        </a:rPr>
                        <a:t>Qisilishdan</a:t>
                      </a:r>
                    </a:p>
                  </a:txBody>
                  <a:tcPr marL="73152" marR="73152" marT="36576" marB="36576">
                    <a:solidFill>
                      <a:srgbClr val="E8EEF6"/>
                    </a:solidFill>
                  </a:tcPr>
                </a:tc>
                <a:tc>
                  <a:txBody>
                    <a:bodyPr/>
                    <a:lstStyle/>
                    <a:p>
                      <a:r>
                        <a:rPr sz="1300" b="0">
                          <a:solidFill>
                            <a:srgbClr val="1F2937"/>
                          </a:solidFill>
                        </a:rPr>
                        <a:t>Strangulyatsion; kompression</a:t>
                      </a:r>
                    </a:p>
                  </a:txBody>
                  <a:tcPr marL="73152" marR="73152" marT="36576" marB="36576">
                    <a:solidFill>
                      <a:srgbClr val="E8EEF6"/>
                    </a:solidFill>
                  </a:tcPr>
                </a:tc>
              </a:tr>
              <a:tr h="411480">
                <a:tc>
                  <a:txBody>
                    <a:bodyPr/>
                    <a:lstStyle/>
                    <a:p>
                      <a:r>
                        <a:rPr sz="1300" b="0">
                          <a:solidFill>
                            <a:srgbClr val="1F2937"/>
                          </a:solidFill>
                        </a:rPr>
                        <a:t>Yopilishdan</a:t>
                      </a:r>
                    </a:p>
                  </a:txBody>
                  <a:tcPr marL="73152" marR="73152" marT="36576" marB="36576">
                    <a:solidFill>
                      <a:srgbClr val="FFFFFF"/>
                    </a:solidFill>
                  </a:tcPr>
                </a:tc>
                <a:tc>
                  <a:txBody>
                    <a:bodyPr/>
                    <a:lstStyle/>
                    <a:p>
                      <a:r>
                        <a:rPr sz="1300" b="0">
                          <a:solidFill>
                            <a:srgbClr val="1F2937"/>
                          </a:solidFill>
                        </a:rPr>
                        <a:t>Nafas teshiklari; nafas yo‘llari; cho‘kish</a:t>
                      </a:r>
                    </a:p>
                  </a:txBody>
                  <a:tcPr marL="73152" marR="73152" marT="36576" marB="36576">
                    <a:solidFill>
                      <a:srgbClr val="FFFFFF"/>
                    </a:solidFill>
                  </a:tcPr>
                </a:tc>
              </a:tr>
              <a:tr h="411480">
                <a:tc>
                  <a:txBody>
                    <a:bodyPr/>
                    <a:lstStyle/>
                    <a:p>
                      <a:r>
                        <a:rPr sz="1300" b="0">
                          <a:solidFill>
                            <a:srgbClr val="1F2937"/>
                          </a:solidFill>
                        </a:rPr>
                        <a:t>Cheklangan muhit</a:t>
                      </a:r>
                    </a:p>
                  </a:txBody>
                  <a:tcPr marL="73152" marR="73152" marT="36576" marB="36576">
                    <a:solidFill>
                      <a:srgbClr val="E8EEF6"/>
                    </a:solidFill>
                  </a:tcPr>
                </a:tc>
                <a:tc>
                  <a:txBody>
                    <a:bodyPr/>
                    <a:lstStyle/>
                    <a:p>
                      <a:r>
                        <a:rPr sz="1300" b="0">
                          <a:solidFill>
                            <a:srgbClr val="1F2937"/>
                          </a:solidFill>
                        </a:rPr>
                        <a:t>Yopiq muhitda kislorod kamayadi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Mexanik asfiksiya tasnifi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Autoasfiksiofiliya (seksual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Autoasfiksiofiliya (seksual, autoerotik asfiksiya)da jinsiy qo‘zg‘alish gipoksiya va giperkapniya sharoitida sodir bo‘ladi. Orgazm spontan yoki onanizm natijasida yuzaga keladi.</a:t>
            </a:r>
          </a:p>
          <a:p>
            <a:pPr>
              <a:spcAft>
                <a:spcPts val="1200"/>
              </a:spcAft>
            </a:pPr>
            <a:r>
              <a:rPr sz="2000">
                <a:solidFill>
                  <a:srgbClr val="1F2937"/>
                </a:solidFill>
                <a:latin typeface="Calibri"/>
              </a:rPr>
              <a:t>▸  Ko‘pincha jinsiy chetlanishga moyil o‘rta yoshdagi yolg‘iz erkaklarda, ba’zan yosh erkaklarda kuzatiladi.</a:t>
            </a:r>
          </a:p>
          <a:p>
            <a:pPr>
              <a:spcAft>
                <a:spcPts val="1200"/>
              </a:spcAft>
            </a:pPr>
            <a:r>
              <a:rPr sz="2000">
                <a:solidFill>
                  <a:srgbClr val="1F2937"/>
                </a:solidFill>
                <a:latin typeface="Calibri"/>
              </a:rPr>
              <a:t>▸  Xos jihati: asfiktik jarayonni shaxs o‘zi qo‘l, oyoq yoki moslamalar bilan boshqaradi. Ko‘pincha bo‘yin sirtmoq bilan qisiladi yoki boshga polietilen qopcha kiyiladi.</a:t>
            </a:r>
          </a:p>
          <a:p>
            <a:pPr>
              <a:spcAft>
                <a:spcPts val="1200"/>
              </a:spcAft>
            </a:pPr>
            <a:r>
              <a:rPr sz="2000">
                <a:solidFill>
                  <a:srgbClr val="1F2937"/>
                </a:solidFill>
                <a:latin typeface="Calibri"/>
              </a:rPr>
              <a:t>▸  Ba’zan o‘lim bilan tugaydi va baxtsiz hodisa deb baholanadi. Hodisa joyida pornografik rasmlar, jinsiy a’zo imitatorlari, boshqa jins kiyimi topilishi mumkin.</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 105-106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gumonli o‘lim hodisa joyida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(o‘quv misoli): yolg‘iz yashovchi o‘rta yoshdagi erkak o‘z xonasida o‘lik topildi. Bo‘yinda sirtmoq bor, sirtmoq tana og‘irligi bilan emas, moslama orqali tortilgan.</a:t>
            </a:r>
          </a:p>
          <a:p>
            <a:pPr>
              <a:spcAft>
                <a:spcPts val="1200"/>
              </a:spcAft>
            </a:pPr>
            <a:r>
              <a:rPr sz="2200">
                <a:solidFill>
                  <a:srgbClr val="1F2937"/>
                </a:solidFill>
                <a:latin typeface="Calibri"/>
              </a:rPr>
              <a:t>▸  Hodisa joyida pornografik rasmlar va jinsiy a’zo imitatorlari bor. Murdada jinsiy a’zolar yalang‘ochlangan, onanizmga xos belgilar aniqlanishi mumkin.</a:t>
            </a:r>
          </a:p>
          <a:p>
            <a:pPr>
              <a:spcAft>
                <a:spcPts val="1200"/>
              </a:spcAft>
            </a:pPr>
            <a:r>
              <a:rPr sz="2200">
                <a:solidFill>
                  <a:srgbClr val="1F2937"/>
                </a:solidFill>
                <a:latin typeface="Calibri"/>
              </a:rPr>
              <a:t>▸  Diqqat: xato qilish xavfi! Osilish ko‘pincha o‘z-o‘zini o‘ldirish usuli, seksual asfiksiyada o‘lim esa baxtsiz hodisa sifatida baholanadi.</a:t>
            </a:r>
          </a:p>
          <a:p>
            <a:pPr>
              <a:spcAft>
                <a:spcPts val="1200"/>
              </a:spcAft>
            </a:pPr>
            <a:r>
              <a:rPr sz="2200">
                <a:solidFill>
                  <a:srgbClr val="1F2937"/>
                </a:solidFill>
                <a:latin typeface="Calibri"/>
              </a:rPr>
              <a:t>▸  Savol: bu holatda o‘lim turini qaysi dalillarga tayanib baholaysiz? Hodisa joyidan yana nimalarni izlaysiz?</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 106, 106, 111, 105-106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ekzogen gipoksiyaning turlari? Javob: gipoksik, giperoksik va giperkapnik.</a:t>
            </a:r>
          </a:p>
          <a:p>
            <a:pPr>
              <a:spcAft>
                <a:spcPts val="1200"/>
              </a:spcAft>
            </a:pPr>
            <a:r>
              <a:rPr sz="2200">
                <a:solidFill>
                  <a:srgbClr val="1F2937"/>
                </a:solidFill>
                <a:latin typeface="Calibri"/>
              </a:rPr>
              <a:t>▸  Savol: endogen gipoksiyaning turlari? Javob: respirator, gemik, sirkulyator, sitotoksik va fiziologik.</a:t>
            </a:r>
          </a:p>
          <a:p>
            <a:pPr>
              <a:spcAft>
                <a:spcPts val="1200"/>
              </a:spcAft>
            </a:pPr>
            <a:r>
              <a:rPr sz="2200">
                <a:solidFill>
                  <a:srgbClr val="1F2937"/>
                </a:solidFill>
                <a:latin typeface="Calibri"/>
              </a:rPr>
              <a:t>▸  Savol: asfiksiya nima? Javob: tashqi nafas buzilishidan kislorod tanqisligi va karbonat angidrid ko‘payishi; gipoksiya giperkapniya bilan birga rivojlanadi.</a:t>
            </a:r>
          </a:p>
          <a:p>
            <a:pPr>
              <a:spcAft>
                <a:spcPts val="1200"/>
              </a:spcAft>
            </a:pPr>
            <a:r>
              <a:rPr sz="2200">
                <a:solidFill>
                  <a:srgbClr val="1F2937"/>
                </a:solidFill>
                <a:latin typeface="Calibri"/>
              </a:rPr>
              <a:t>▸  Savol: mexanik asfiksiyaning turlari? Javob: qisilishdan, yopilishdan va cheklangan muhitdagi asfiksiya.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103, 104, 104-105, 105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Asfiksiyaning preasfiktik davri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Preasfiktik davr o‘rtacha 20-30 sekund davom etadi. Nafas qisqa vaqtga to‘xtaydi, keyin uning maromi sekinlashadi.</a:t>
            </a:r>
          </a:p>
          <a:p>
            <a:pPr>
              <a:spcAft>
                <a:spcPts val="1200"/>
              </a:spcAft>
            </a:pPr>
            <a:r>
              <a:rPr sz="2200">
                <a:solidFill>
                  <a:srgbClr val="1F2937"/>
                </a:solidFill>
                <a:latin typeface="Calibri"/>
              </a:rPr>
              <a:t>▸  Ba’zan tartibsiz harakat kuzatiladi. Organizm kompensator-moslashuv imkoniyatlari bilan asfiktik omil ta’sirini bartaraf etishga urinadi.</a:t>
            </a:r>
          </a:p>
          <a:p>
            <a:pPr>
              <a:spcAft>
                <a:spcPts val="1200"/>
              </a:spcAft>
            </a:pPr>
            <a:r>
              <a:rPr sz="2200">
                <a:solidFill>
                  <a:srgbClr val="1F2937"/>
                </a:solidFill>
                <a:latin typeface="Calibri"/>
              </a:rPr>
              <a:t>▸  Kislorodni tashuvchi qon miqdori ko‘payadi, qon suyuqlashadi va hayot uchun muhim a’zolar foydasiga qayta taqsimlanadi.</a:t>
            </a:r>
          </a:p>
          <a:p>
            <a:pPr>
              <a:spcAft>
                <a:spcPts val="1200"/>
              </a:spcAft>
            </a:pPr>
            <a:r>
              <a:rPr sz="2200">
                <a:solidFill>
                  <a:srgbClr val="1F2937"/>
                </a:solidFill>
                <a:latin typeface="Calibri"/>
              </a:rPr>
              <a:t>▸  Shu moslashuv hisobiga bu davrda asfiksiya belgilari hali rivojlanmaydi.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Asfiktik davr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Inspirator va ekspirator bosqich taxminan 1 minutdan davom etadi. Hush odatda 40-60 sekundda yo‘qoladi.</a:t>
            </a:r>
          </a:p>
          <a:p>
            <a:pPr>
              <a:spcAft>
                <a:spcPts val="800"/>
              </a:spcAft>
            </a:pPr>
            <a:r>
              <a:rPr sz="1800">
                <a:solidFill>
                  <a:srgbClr val="1F2937"/>
                </a:solidFill>
                <a:latin typeface="Calibri"/>
              </a:rPr>
              <a:t>▸  Nafas to‘xtashi bosqichi 30-40 sekund, terminal nafas olish esa 5 minutgacha davom etishi mumkin.</a:t>
            </a:r>
          </a:p>
          <a:p>
            <a:pPr>
              <a:spcAft>
                <a:spcPts val="800"/>
              </a:spcAft>
            </a:pPr>
            <a:r>
              <a:rPr sz="1800">
                <a:solidFill>
                  <a:srgbClr val="1F2937"/>
                </a:solidFill>
                <a:latin typeface="Calibri"/>
              </a:rPr>
              <a:t>▸  Nafas markazi falajlangach, yurak yana 3-10 minut urib turishi mumkin. So‘ng yurak to‘xtab, klinik o‘lim boshlanadi.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Inspirator hansirash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Ekspirator hansirash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 to‘xtashi (tinchlik)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nafas olish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to‘liq to‘xtashi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Asfiktik davr ketma-ketligi</a:t>
            </a:r>
          </a:p>
        </p:txBody>
      </p:sp>
      <p:sp>
        <p:nvSpPr>
          <p:cNvPr id="19" name="TextBox 1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 106-107, 107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Inspirator va ekspirator hansirash: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Ekspirator bosqichda siydik, maniy, axlat ajralishi bilan kuchli klonik talvasalar bo‘lishi mumkin.</a:t>
            </a:r>
          </a:p>
          <a:p>
            <a:pPr>
              <a:spcAft>
                <a:spcPts val="800"/>
              </a:spcAft>
            </a:pPr>
            <a:r>
              <a:rPr sz="1800">
                <a:solidFill>
                  <a:srgbClr val="1F2937"/>
                </a:solidFill>
                <a:latin typeface="Calibri"/>
              </a:rPr>
              <a:t>▸  Talvasada tana qismlari atrofdagi jismlarga urilib, turli jarohatlar paydo bo‘ladi.</a:t>
            </a:r>
          </a:p>
          <a:p>
            <a:pPr>
              <a:spcAft>
                <a:spcPts val="800"/>
              </a:spcAft>
            </a:pPr>
            <a:r>
              <a:rPr sz="1800">
                <a:solidFill>
                  <a:srgbClr val="1F2937"/>
                </a:solidFill>
                <a:latin typeface="Calibri"/>
              </a:rPr>
              <a:t>▸  Diqqat: talvasa jarohati ≠ o‘zga shaxs yetkazgan jarohat. Ularni farqlash zarur.</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019368"/>
                <a:gridCol w="1975026"/>
                <a:gridCol w="2293579"/>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Inspirator</a:t>
                      </a:r>
                    </a:p>
                  </a:txBody>
                  <a:tcPr marL="73152" marR="73152" marT="36576" marB="36576">
                    <a:solidFill>
                      <a:srgbClr val="0B1F3A"/>
                    </a:solidFill>
                  </a:tcPr>
                </a:tc>
                <a:tc>
                  <a:txBody>
                    <a:bodyPr/>
                    <a:lstStyle/>
                    <a:p>
                      <a:r>
                        <a:rPr sz="1300" b="1">
                          <a:solidFill>
                            <a:srgbClr val="FFFFFF"/>
                          </a:solidFill>
                        </a:rPr>
                        <a:t>Ekspirator</a:t>
                      </a:r>
                    </a:p>
                  </a:txBody>
                  <a:tcPr marL="73152" marR="73152" marT="36576" marB="36576">
                    <a:solidFill>
                      <a:srgbClr val="0B1F3A"/>
                    </a:solidFill>
                  </a:tcPr>
                </a:tc>
              </a:tr>
              <a:tr h="411480">
                <a:tc>
                  <a:txBody>
                    <a:bodyPr/>
                    <a:lstStyle/>
                    <a:p>
                      <a:r>
                        <a:rPr sz="1200" b="0">
                          <a:solidFill>
                            <a:srgbClr val="1F2937"/>
                          </a:solidFill>
                        </a:rPr>
                        <a:t>Nafas</a:t>
                      </a:r>
                    </a:p>
                  </a:txBody>
                  <a:tcPr marL="73152" marR="73152" marT="36576" marB="36576">
                    <a:solidFill>
                      <a:srgbClr val="E8EEF6"/>
                    </a:solidFill>
                  </a:tcPr>
                </a:tc>
                <a:tc>
                  <a:txBody>
                    <a:bodyPr/>
                    <a:lstStyle/>
                    <a:p>
                      <a:r>
                        <a:rPr sz="1200" b="0">
                          <a:solidFill>
                            <a:srgbClr val="1F2937"/>
                          </a:solidFill>
                        </a:rPr>
                        <a:t>Olish tezlashadi va uzayadi</a:t>
                      </a:r>
                    </a:p>
                  </a:txBody>
                  <a:tcPr marL="73152" marR="73152" marT="36576" marB="36576">
                    <a:solidFill>
                      <a:srgbClr val="E8EEF6"/>
                    </a:solidFill>
                  </a:tcPr>
                </a:tc>
                <a:tc>
                  <a:txBody>
                    <a:bodyPr/>
                    <a:lstStyle/>
                    <a:p>
                      <a:r>
                        <a:rPr sz="1200" b="0">
                          <a:solidFill>
                            <a:srgbClr val="1F2937"/>
                          </a:solidFill>
                        </a:rPr>
                        <a:t>Chiqarish kuchli va uzoqroq</a:t>
                      </a:r>
                    </a:p>
                  </a:txBody>
                  <a:tcPr marL="73152" marR="73152" marT="36576" marB="36576">
                    <a:solidFill>
                      <a:srgbClr val="E8EEF6"/>
                    </a:solidFill>
                  </a:tcPr>
                </a:tc>
              </a:tr>
              <a:tr h="411480">
                <a:tc>
                  <a:txBody>
                    <a:bodyPr/>
                    <a:lstStyle/>
                    <a:p>
                      <a:r>
                        <a:rPr sz="1200" b="0">
                          <a:solidFill>
                            <a:srgbClr val="1F2937"/>
                          </a:solidFill>
                        </a:rPr>
                        <a:t>Plevra bosimi</a:t>
                      </a:r>
                    </a:p>
                  </a:txBody>
                  <a:tcPr marL="73152" marR="73152" marT="36576" marB="36576">
                    <a:solidFill>
                      <a:srgbClr val="FFFFFF"/>
                    </a:solidFill>
                  </a:tcPr>
                </a:tc>
                <a:tc>
                  <a:txBody>
                    <a:bodyPr/>
                    <a:lstStyle/>
                    <a:p>
                      <a:r>
                        <a:rPr sz="1200" b="0">
                          <a:solidFill>
                            <a:srgbClr val="1F2937"/>
                          </a:solidFill>
                        </a:rPr>
                        <a:t>Keskin pasayadi</a:t>
                      </a:r>
                    </a:p>
                  </a:txBody>
                  <a:tcPr marL="73152" marR="73152" marT="36576" marB="36576">
                    <a:solidFill>
                      <a:srgbClr val="FFFFFF"/>
                    </a:solidFill>
                  </a:tcPr>
                </a:tc>
                <a:tc>
                  <a:txBody>
                    <a:bodyPr/>
                    <a:lstStyle/>
                    <a:p>
                      <a:r>
                        <a:rPr sz="1200" b="0">
                          <a:solidFill>
                            <a:srgbClr val="1F2937"/>
                          </a:solidFill>
                        </a:rPr>
                        <a:t>Ortadi</a:t>
                      </a:r>
                    </a:p>
                  </a:txBody>
                  <a:tcPr marL="73152" marR="73152" marT="36576" marB="36576">
                    <a:solidFill>
                      <a:srgbClr val="FFFFFF"/>
                    </a:solidFill>
                  </a:tcPr>
                </a:tc>
              </a:tr>
              <a:tr h="411480">
                <a:tc>
                  <a:txBody>
                    <a:bodyPr/>
                    <a:lstStyle/>
                    <a:p>
                      <a:r>
                        <a:rPr sz="1200" b="0">
                          <a:solidFill>
                            <a:srgbClr val="1F2937"/>
                          </a:solidFill>
                        </a:rPr>
                        <a:t>Qon bosimi</a:t>
                      </a:r>
                    </a:p>
                  </a:txBody>
                  <a:tcPr marL="73152" marR="73152" marT="36576" marB="36576">
                    <a:solidFill>
                      <a:srgbClr val="E8EEF6"/>
                    </a:solidFill>
                  </a:tcPr>
                </a:tc>
                <a:tc>
                  <a:txBody>
                    <a:bodyPr/>
                    <a:lstStyle/>
                    <a:p>
                      <a:r>
                        <a:rPr sz="1200" b="0">
                          <a:solidFill>
                            <a:srgbClr val="1F2937"/>
                          </a:solidFill>
                        </a:rPr>
                        <a:t>Arterial pasayadi, venoz ortadi</a:t>
                      </a:r>
                    </a:p>
                  </a:txBody>
                  <a:tcPr marL="73152" marR="73152" marT="36576" marB="36576">
                    <a:solidFill>
                      <a:srgbClr val="E8EEF6"/>
                    </a:solidFill>
                  </a:tcPr>
                </a:tc>
                <a:tc>
                  <a:txBody>
                    <a:bodyPr/>
                    <a:lstStyle/>
                    <a:p>
                      <a:r>
                        <a:rPr sz="1200" b="0">
                          <a:solidFill>
                            <a:srgbClr val="1F2937"/>
                          </a:solidFill>
                        </a:rPr>
                        <a:t>Arterial ko‘tariladi, venoz kamayadi</a:t>
                      </a:r>
                    </a:p>
                  </a:txBody>
                  <a:tcPr marL="73152" marR="73152" marT="36576" marB="36576">
                    <a:solidFill>
                      <a:srgbClr val="E8EEF6"/>
                    </a:solidFill>
                  </a:tcPr>
                </a:tc>
              </a:tr>
              <a:tr h="411480">
                <a:tc>
                  <a:txBody>
                    <a:bodyPr/>
                    <a:lstStyle/>
                    <a:p>
                      <a:r>
                        <a:rPr sz="1200" b="0">
                          <a:solidFill>
                            <a:srgbClr val="1F2937"/>
                          </a:solidFill>
                        </a:rPr>
                        <a:t>Puls va harakat</a:t>
                      </a:r>
                    </a:p>
                  </a:txBody>
                  <a:tcPr marL="73152" marR="73152" marT="36576" marB="36576">
                    <a:solidFill>
                      <a:srgbClr val="FFFFFF"/>
                    </a:solidFill>
                  </a:tcPr>
                </a:tc>
                <a:tc>
                  <a:txBody>
                    <a:bodyPr/>
                    <a:lstStyle/>
                    <a:p>
                      <a:r>
                        <a:rPr sz="1200" b="0">
                          <a:solidFill>
                            <a:srgbClr val="1F2937"/>
                          </a:solidFill>
                        </a:rPr>
                        <a:t>Sekinlashadi; harakat tartibsiz</a:t>
                      </a:r>
                    </a:p>
                  </a:txBody>
                  <a:tcPr marL="73152" marR="73152" marT="36576" marB="36576">
                    <a:solidFill>
                      <a:srgbClr val="FFFFFF"/>
                    </a:solidFill>
                  </a:tcPr>
                </a:tc>
                <a:tc>
                  <a:txBody>
                    <a:bodyPr/>
                    <a:lstStyle/>
                    <a:p>
                      <a:r>
                        <a:rPr sz="1200" b="0">
                          <a:solidFill>
                            <a:srgbClr val="1F2937"/>
                          </a:solidFill>
                        </a:rPr>
                        <a:t>Tezlashadi; klonik talvasa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hansirash bosqichi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Terminal bosqich va yurakning reflektor to‘xtashi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Terminal bosqichda orqa miya markazlari faollashadi. Onda-sonda ritmsiz, turli chuqurlikdagi nafas harakatlari paydo bo‘ladi, ko‘pincha og‘iz ochiladi.</a:t>
            </a:r>
          </a:p>
          <a:p>
            <a:pPr>
              <a:spcAft>
                <a:spcPts val="1200"/>
              </a:spcAft>
            </a:pPr>
            <a:r>
              <a:rPr sz="2200">
                <a:solidFill>
                  <a:srgbClr val="1F2937"/>
                </a:solidFill>
                <a:latin typeface="Calibri"/>
              </a:rPr>
              <a:t>▸  Bosqich 5 minutgacha davom etadi. Oxirida arterial bosim juda pasayadi, reflekslar yo‘qoladi; ba’zan kuchli talvasalar bo‘ladi.</a:t>
            </a:r>
          </a:p>
          <a:p>
            <a:pPr>
              <a:spcAft>
                <a:spcPts val="1200"/>
              </a:spcAft>
            </a:pPr>
            <a:r>
              <a:rPr sz="2200">
                <a:solidFill>
                  <a:srgbClr val="1F2937"/>
                </a:solidFill>
                <a:latin typeface="Calibri"/>
              </a:rPr>
              <a:t>▸  Nafas markazi falajlanib, nafas butunlay to‘xtaydi. Diqqat: nafas to‘xtashi ≠ yurak to‘xtashi, yurak yana 3-10 minut urishi mumkin.</a:t>
            </a:r>
          </a:p>
          <a:p>
            <a:pPr>
              <a:spcAft>
                <a:spcPts val="1200"/>
              </a:spcAft>
            </a:pPr>
            <a:r>
              <a:rPr sz="2200">
                <a:solidFill>
                  <a:srgbClr val="1F2937"/>
                </a:solidFill>
                <a:latin typeface="Calibri"/>
              </a:rPr>
              <a:t>▸  Yurak reflektor to‘xtashi mumkin: karotid sinus, hiqildoq, traxeya, bronx retseptorlari ta’sirlanganda yoki adashgan va yuqori hiqildoq nervlari shikastlanganda.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106-107, 107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tez o‘lim va belgilarning yo‘qligi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Shartli vaziyat: bo‘yni sirtmoq bilan qisilgan shaxs murdasida sianoz va Tarde dog‘lari kabi asfiktik belgilar aniqlanmadi.</a:t>
            </a:r>
          </a:p>
          <a:p>
            <a:pPr>
              <a:spcAft>
                <a:spcPts val="1200"/>
              </a:spcAft>
            </a:pPr>
            <a:r>
              <a:rPr sz="2200">
                <a:solidFill>
                  <a:srgbClr val="1F2937"/>
                </a:solidFill>
                <a:latin typeface="Calibri"/>
              </a:rPr>
              <a:t>▸  Savol: bu asfiksiya bo‘lmaganini bildiradimi? Asfiktik ta’sirdan 30 sekundgacha yurak to‘xtasa, umumasfiktik belgilar rivojlanib ulgurmaydi.</a:t>
            </a:r>
          </a:p>
          <a:p>
            <a:pPr>
              <a:spcAft>
                <a:spcPts val="1200"/>
              </a:spcAft>
            </a:pPr>
            <a:r>
              <a:rPr sz="2200">
                <a:solidFill>
                  <a:srgbClr val="1F2937"/>
                </a:solidFill>
                <a:latin typeface="Calibri"/>
              </a:rPr>
              <a:t>▸  Sirtmoq bilan bo‘g‘ishda bo‘yinning refleksogen sohalari ko‘proq ta’sirlanadi. Shu sabab belgilar to‘liq rivojlanguncha yurak reflektor to‘xtashi mumkin.</a:t>
            </a:r>
          </a:p>
          <a:p>
            <a:pPr>
              <a:spcAft>
                <a:spcPts val="1200"/>
              </a:spcAft>
            </a:pPr>
            <a:r>
              <a:rPr sz="2200">
                <a:solidFill>
                  <a:srgbClr val="1F2937"/>
                </a:solidFill>
                <a:latin typeface="Calibri"/>
              </a:rPr>
              <a:t>▸  Muhokama: osilishda bo‘yindagi strangulyatsion egat asosiy belgi. Egat sirtmoq bilan taqqoslanadi.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107, 117, 114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holat davrlari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Asfiktik koma: mushaklar atoniyasi, reflekslar yo‘q; keyin detserebratsion rigidlik va talvasalar.</a:t>
            </a:r>
          </a:p>
          <a:p>
            <a:pPr>
              <a:spcAft>
                <a:spcPts val="800"/>
              </a:spcAft>
            </a:pPr>
            <a:r>
              <a:rPr sz="1800">
                <a:solidFill>
                  <a:srgbClr val="1F2937"/>
                </a:solidFill>
                <a:latin typeface="Calibri"/>
              </a:rPr>
              <a:t>▸  Karaxtlik va dezorientatsiya: hush tiklanadi, konfabulyatsiya bilan retrograd amneziya kuzatiladi.</a:t>
            </a:r>
          </a:p>
          <a:p>
            <a:pPr>
              <a:spcAft>
                <a:spcPts val="800"/>
              </a:spcAft>
            </a:pPr>
            <a:r>
              <a:rPr sz="1800">
                <a:solidFill>
                  <a:srgbClr val="1F2937"/>
                </a:solidFill>
                <a:latin typeface="Calibri"/>
              </a:rPr>
              <a:t>▸  Qoldiq oqibatlar: yengil holatda 1-2 haftada o‘tadi, og‘irida xotira va diqqat buziladi.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702907"/>
                <a:gridCol w="3585067"/>
              </a:tblGrid>
              <a:tr h="411480">
                <a:tc>
                  <a:txBody>
                    <a:bodyPr/>
                    <a:lstStyle/>
                    <a:p>
                      <a:r>
                        <a:rPr sz="1400" b="1">
                          <a:solidFill>
                            <a:srgbClr val="FFFFFF"/>
                          </a:solidFill>
                        </a:rPr>
                        <a:t>Davr</a:t>
                      </a:r>
                    </a:p>
                  </a:txBody>
                  <a:tcPr marL="73152" marR="73152" marT="36576" marB="36576">
                    <a:solidFill>
                      <a:srgbClr val="0B1F3A"/>
                    </a:solidFill>
                  </a:tcPr>
                </a:tc>
                <a:tc>
                  <a:txBody>
                    <a:bodyPr/>
                    <a:lstStyle/>
                    <a:p>
                      <a:r>
                        <a:rPr sz="1400" b="1">
                          <a:solidFill>
                            <a:srgbClr val="FFFFFF"/>
                          </a:solidFill>
                        </a:rPr>
                        <a:t>Asosiy belgi</a:t>
                      </a:r>
                    </a:p>
                  </a:txBody>
                  <a:tcPr marL="73152" marR="73152" marT="36576" marB="36576">
                    <a:solidFill>
                      <a:srgbClr val="0B1F3A"/>
                    </a:solidFill>
                  </a:tcPr>
                </a:tc>
              </a:tr>
              <a:tr h="411480">
                <a:tc>
                  <a:txBody>
                    <a:bodyPr/>
                    <a:lstStyle/>
                    <a:p>
                      <a:r>
                        <a:rPr sz="1300" b="0">
                          <a:solidFill>
                            <a:srgbClr val="1F2937"/>
                          </a:solidFill>
                        </a:rPr>
                        <a:t>1. Asfiktik koma</a:t>
                      </a:r>
                    </a:p>
                  </a:txBody>
                  <a:tcPr marL="73152" marR="73152" marT="36576" marB="36576">
                    <a:solidFill>
                      <a:srgbClr val="E8EEF6"/>
                    </a:solidFill>
                  </a:tcPr>
                </a:tc>
                <a:tc>
                  <a:txBody>
                    <a:bodyPr/>
                    <a:lstStyle/>
                    <a:p>
                      <a:r>
                        <a:rPr sz="1300" b="0">
                          <a:solidFill>
                            <a:srgbClr val="1F2937"/>
                          </a:solidFill>
                        </a:rPr>
                        <a:t>Atoniya, arefleksiya; keyin talvasalar</a:t>
                      </a:r>
                    </a:p>
                  </a:txBody>
                  <a:tcPr marL="73152" marR="73152" marT="36576" marB="36576">
                    <a:solidFill>
                      <a:srgbClr val="E8EEF6"/>
                    </a:solidFill>
                  </a:tcPr>
                </a:tc>
              </a:tr>
              <a:tr h="411480">
                <a:tc>
                  <a:txBody>
                    <a:bodyPr/>
                    <a:lstStyle/>
                    <a:p>
                      <a:r>
                        <a:rPr sz="1300" b="0">
                          <a:solidFill>
                            <a:srgbClr val="1F2937"/>
                          </a:solidFill>
                        </a:rPr>
                        <a:t>2. Karaxtlik</a:t>
                      </a:r>
                    </a:p>
                  </a:txBody>
                  <a:tcPr marL="73152" marR="73152" marT="36576" marB="36576">
                    <a:solidFill>
                      <a:srgbClr val="FFFFFF"/>
                    </a:solidFill>
                  </a:tcPr>
                </a:tc>
                <a:tc>
                  <a:txBody>
                    <a:bodyPr/>
                    <a:lstStyle/>
                    <a:p>
                      <a:r>
                        <a:rPr sz="1300" b="0">
                          <a:solidFill>
                            <a:srgbClr val="1F2937"/>
                          </a:solidFill>
                        </a:rPr>
                        <a:t>Hush tiklanadi: sopordan uyquchanlikkacha</a:t>
                      </a:r>
                    </a:p>
                  </a:txBody>
                  <a:tcPr marL="73152" marR="73152" marT="36576" marB="36576">
                    <a:solidFill>
                      <a:srgbClr val="FFFFFF"/>
                    </a:solidFill>
                  </a:tcPr>
                </a:tc>
              </a:tr>
              <a:tr h="411480">
                <a:tc>
                  <a:txBody>
                    <a:bodyPr/>
                    <a:lstStyle/>
                    <a:p>
                      <a:r>
                        <a:rPr sz="1300" b="0">
                          <a:solidFill>
                            <a:srgbClr val="1F2937"/>
                          </a:solidFill>
                        </a:rPr>
                        <a:t>3. Dezorientatsiya</a:t>
                      </a:r>
                    </a:p>
                  </a:txBody>
                  <a:tcPr marL="73152" marR="73152" marT="36576" marB="36576">
                    <a:solidFill>
                      <a:srgbClr val="E8EEF6"/>
                    </a:solidFill>
                  </a:tcPr>
                </a:tc>
                <a:tc>
                  <a:txBody>
                    <a:bodyPr/>
                    <a:lstStyle/>
                    <a:p>
                      <a:r>
                        <a:rPr sz="1300" b="0">
                          <a:solidFill>
                            <a:srgbClr val="1F2937"/>
                          </a:solidFill>
                        </a:rPr>
                        <a:t>Zamon-makonda adashish, amneziya</a:t>
                      </a:r>
                    </a:p>
                  </a:txBody>
                  <a:tcPr marL="73152" marR="73152" marT="36576" marB="36576">
                    <a:solidFill>
                      <a:srgbClr val="E8EEF6"/>
                    </a:solidFill>
                  </a:tcPr>
                </a:tc>
              </a:tr>
              <a:tr h="411480">
                <a:tc>
                  <a:txBody>
                    <a:bodyPr/>
                    <a:lstStyle/>
                    <a:p>
                      <a:r>
                        <a:rPr sz="1300" b="0">
                          <a:solidFill>
                            <a:srgbClr val="1F2937"/>
                          </a:solidFill>
                        </a:rPr>
                        <a:t>4. Qoldiq oqibatlar</a:t>
                      </a:r>
                    </a:p>
                  </a:txBody>
                  <a:tcPr marL="73152" marR="73152" marT="36576" marB="36576">
                    <a:solidFill>
                      <a:srgbClr val="FFFFFF"/>
                    </a:solidFill>
                  </a:tcPr>
                </a:tc>
                <a:tc>
                  <a:txBody>
                    <a:bodyPr/>
                    <a:lstStyle/>
                    <a:p>
                      <a:r>
                        <a:rPr sz="1300" b="0">
                          <a:solidFill>
                            <a:srgbClr val="1F2937"/>
                          </a:solidFill>
                        </a:rPr>
                        <a:t>Yengil bo‘lsa 1-2 haftada yo‘qoladi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Postasfiktik davrlar</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108, 109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holat: oqibatlar va asoratlar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Yengil holatda to‘liq yordam bilan o‘zgarishlar 1-2 haftada izsiz yo‘qoladi. Og‘irida xotira, diqqat buziladi, bosh og‘rig‘i, paralich, ba’zan aql pasayishi qoladi.</a:t>
            </a:r>
          </a:p>
          <a:p>
            <a:pPr>
              <a:spcAft>
                <a:spcPts val="1200"/>
              </a:spcAft>
            </a:pPr>
            <a:r>
              <a:rPr sz="2000">
                <a:solidFill>
                  <a:srgbClr val="1F2937"/>
                </a:solidFill>
                <a:latin typeface="Calibri"/>
              </a:rPr>
              <a:t>▸  Gipoksiya jigarda distrofiya va nekrozga, buyrakda shokka xos o‘zgarishlarga olib keladi. Oshqozon-ichakda eroziya, yaralar, so‘ngra peritonit yoki ichki qon ketish bo‘lishi mumkin.</a:t>
            </a:r>
          </a:p>
          <a:p>
            <a:pPr>
              <a:spcAft>
                <a:spcPts val="1200"/>
              </a:spcAft>
            </a:pPr>
            <a:r>
              <a:rPr sz="2000">
                <a:solidFill>
                  <a:srgbClr val="1F2937"/>
                </a:solidFill>
                <a:latin typeface="Calibri"/>
              </a:rPr>
              <a:t>▸  Dastlabki daqiqa-soatlarda o‘lim asfiktik komadan, birinchi sutkada o‘pka va miya shishidan bo‘ladi. Kechroq gipostatik pnevmoniya o‘limga sabab bo‘ladi.</a:t>
            </a:r>
          </a:p>
          <a:p>
            <a:pPr>
              <a:spcAft>
                <a:spcPts val="1200"/>
              </a:spcAft>
            </a:pPr>
            <a:r>
              <a:rPr sz="2000">
                <a:solidFill>
                  <a:srgbClr val="1F2937"/>
                </a:solidFill>
                <a:latin typeface="Calibri"/>
              </a:rPr>
              <a:t>▸  Tirik shaxsda jarohat og‘irligini, o‘limda sababni aniqlashda to‘liq ma’lumotli tibbiy hujjatlarning ahamiyati juda katta.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109, 109-110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umumiy tashqi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Diqqat: yuz-bo‘yin sianozi turg‘un emas. Chalqancha yotgan murdada yo‘qolishi, yuzi pastga yotganda esa asfiksiyasiz ham ko‘kimtir bo‘lishi mumkin.</a:t>
            </a:r>
          </a:p>
          <a:p>
            <a:pPr>
              <a:spcAft>
                <a:spcPts val="1200"/>
              </a:spcAft>
            </a:pPr>
            <a:r>
              <a:rPr sz="2000">
                <a:solidFill>
                  <a:srgbClr val="1F2937"/>
                </a:solidFill>
                <a:latin typeface="Calibri"/>
              </a:rPr>
              <a:t>▸  Murda dog‘lari ko‘lamli, ko‘kimtir-binafsha bo‘lib, o‘limdan bir soatgacha tez paydo bo‘ladi. Sababi qonning suyuqligi va karbonat angidridga to‘yinganligidir; fonida mayda qon quyilishlar bo‘lishi mumkin.</a:t>
            </a:r>
          </a:p>
          <a:p>
            <a:pPr>
              <a:spcAft>
                <a:spcPts val="1200"/>
              </a:spcAft>
            </a:pPr>
            <a:r>
              <a:rPr sz="2000">
                <a:solidFill>
                  <a:srgbClr val="1F2937"/>
                </a:solidFill>
                <a:latin typeface="Calibri"/>
              </a:rPr>
              <a:t>▸  Ko‘z biriktiruvchi qobig‘ida mayda qon quyilishlar (subkonyunktival ekximozlar) hansirashda bosim keskin o‘zgarishidan chiqadi. Qorachiq kengayishi (midriaz) noturg‘un belgi.</a:t>
            </a:r>
          </a:p>
          <a:p>
            <a:pPr>
              <a:spcAft>
                <a:spcPts val="1200"/>
              </a:spcAft>
            </a:pPr>
            <a:r>
              <a:rPr sz="2000">
                <a:solidFill>
                  <a:srgbClr val="1F2937"/>
                </a:solidFill>
                <a:latin typeface="Calibri"/>
              </a:rPr>
              <a:t>▸  Talvasada silliq mushaklar qisqarishidan siydik va axlat ixtiyorsiz ajraladi. Erkakda sperma, ayolda bachadon bo‘yni kanalidan shilliq tiqin chiqadi.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umumiy ichki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Qisman o‘pka emfizemasi hansirash bosqichlarida paydo bo‘ladi; ichki a’zolar venoz to‘laqon bo‘ladi.</a:t>
            </a:r>
          </a:p>
          <a:p>
            <a:pPr>
              <a:spcAft>
                <a:spcPts val="800"/>
              </a:spcAft>
            </a:pPr>
            <a:r>
              <a:rPr sz="1800">
                <a:solidFill>
                  <a:srgbClr val="1F2937"/>
                </a:solidFill>
                <a:latin typeface="Calibri"/>
              </a:rPr>
              <a:t>▸  Belgilar spetsifik emas, boshqa tez o‘limda ham uchraydi; diagnozda majmuasi baholanadi.</a:t>
            </a:r>
          </a:p>
          <a:p>
            <a:pPr>
              <a:spcAft>
                <a:spcPts val="800"/>
              </a:spcAft>
            </a:pPr>
            <a:r>
              <a:rPr sz="1800">
                <a:solidFill>
                  <a:srgbClr val="1F2937"/>
                </a:solidFill>
                <a:latin typeface="Calibri"/>
              </a:rPr>
              <a:t>▸  Asfiktik yurak, kamqonlik va qisqargan taloq nisbatan patognomik (shu holatga xos) belgilar.</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946269"/>
                <a:gridCol w="2226515"/>
                <a:gridCol w="2115190"/>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Ko‘rinishi</a:t>
                      </a:r>
                    </a:p>
                  </a:txBody>
                  <a:tcPr marL="73152" marR="73152" marT="36576" marB="36576">
                    <a:solidFill>
                      <a:srgbClr val="0B1F3A"/>
                    </a:solidFill>
                  </a:tcPr>
                </a:tc>
                <a:tc>
                  <a:txBody>
                    <a:bodyPr/>
                    <a:lstStyle/>
                    <a:p>
                      <a:r>
                        <a:rPr sz="1300" b="1">
                          <a:solidFill>
                            <a:srgbClr val="FFFFFF"/>
                          </a:solidFill>
                        </a:rPr>
                        <a:t>Sababi</a:t>
                      </a:r>
                    </a:p>
                  </a:txBody>
                  <a:tcPr marL="73152" marR="73152" marT="36576" marB="36576">
                    <a:solidFill>
                      <a:srgbClr val="0B1F3A"/>
                    </a:solidFill>
                  </a:tcPr>
                </a:tc>
              </a:tr>
              <a:tr h="411480">
                <a:tc>
                  <a:txBody>
                    <a:bodyPr/>
                    <a:lstStyle/>
                    <a:p>
                      <a:r>
                        <a:rPr sz="1200" b="0">
                          <a:solidFill>
                            <a:srgbClr val="1F2937"/>
                          </a:solidFill>
                        </a:rPr>
                        <a:t>Suyuq qon</a:t>
                      </a:r>
                    </a:p>
                  </a:txBody>
                  <a:tcPr marL="73152" marR="73152" marT="36576" marB="36576">
                    <a:solidFill>
                      <a:srgbClr val="E8EEF6"/>
                    </a:solidFill>
                  </a:tcPr>
                </a:tc>
                <a:tc>
                  <a:txBody>
                    <a:bodyPr/>
                    <a:lstStyle/>
                    <a:p>
                      <a:r>
                        <a:rPr sz="1200" b="0">
                          <a:solidFill>
                            <a:srgbClr val="1F2937"/>
                          </a:solidFill>
                        </a:rPr>
                        <a:t>Yurak, yirik venalarda to‘q qizil</a:t>
                      </a:r>
                    </a:p>
                  </a:txBody>
                  <a:tcPr marL="73152" marR="73152" marT="36576" marB="36576">
                    <a:solidFill>
                      <a:srgbClr val="E8EEF6"/>
                    </a:solidFill>
                  </a:tcPr>
                </a:tc>
                <a:tc>
                  <a:txBody>
                    <a:bodyPr/>
                    <a:lstStyle/>
                    <a:p>
                      <a:r>
                        <a:rPr sz="1200" b="0">
                          <a:solidFill>
                            <a:srgbClr val="1F2937"/>
                          </a:solidFill>
                        </a:rPr>
                        <a:t>Giperkapniya, fibrinogenaza ko‘payishi</a:t>
                      </a:r>
                    </a:p>
                  </a:txBody>
                  <a:tcPr marL="73152" marR="73152" marT="36576" marB="36576">
                    <a:solidFill>
                      <a:srgbClr val="E8EEF6"/>
                    </a:solidFill>
                  </a:tcPr>
                </a:tc>
              </a:tr>
              <a:tr h="411480">
                <a:tc>
                  <a:txBody>
                    <a:bodyPr/>
                    <a:lstStyle/>
                    <a:p>
                      <a:r>
                        <a:rPr sz="1200" b="0">
                          <a:solidFill>
                            <a:srgbClr val="1F2937"/>
                          </a:solidFill>
                        </a:rPr>
                        <a:t>Asfiktik yurak</a:t>
                      </a:r>
                    </a:p>
                  </a:txBody>
                  <a:tcPr marL="73152" marR="73152" marT="36576" marB="36576">
                    <a:solidFill>
                      <a:srgbClr val="FFFFFF"/>
                    </a:solidFill>
                  </a:tcPr>
                </a:tc>
                <a:tc>
                  <a:txBody>
                    <a:bodyPr/>
                    <a:lstStyle/>
                    <a:p>
                      <a:r>
                        <a:rPr sz="1200" b="0">
                          <a:solidFill>
                            <a:srgbClr val="1F2937"/>
                          </a:solidFill>
                        </a:rPr>
                        <a:t>O‘ng kameralar ko‘proq to‘lgan</a:t>
                      </a:r>
                    </a:p>
                  </a:txBody>
                  <a:tcPr marL="73152" marR="73152" marT="36576" marB="36576">
                    <a:solidFill>
                      <a:srgbClr val="FFFFFF"/>
                    </a:solidFill>
                  </a:tcPr>
                </a:tc>
                <a:tc>
                  <a:txBody>
                    <a:bodyPr/>
                    <a:lstStyle/>
                    <a:p>
                      <a:r>
                        <a:rPr sz="1200" b="0">
                          <a:solidFill>
                            <a:srgbClr val="1F2937"/>
                          </a:solidFill>
                        </a:rPr>
                        <a:t>Kichik doirada bosim ortishi</a:t>
                      </a:r>
                    </a:p>
                  </a:txBody>
                  <a:tcPr marL="73152" marR="73152" marT="36576" marB="36576">
                    <a:solidFill>
                      <a:srgbClr val="FFFFFF"/>
                    </a:solidFill>
                  </a:tcPr>
                </a:tc>
              </a:tr>
              <a:tr h="411480">
                <a:tc>
                  <a:txBody>
                    <a:bodyPr/>
                    <a:lstStyle/>
                    <a:p>
                      <a:r>
                        <a:rPr sz="1200" b="0">
                          <a:solidFill>
                            <a:srgbClr val="1F2937"/>
                          </a:solidFill>
                        </a:rPr>
                        <a:t>Tarde dog‘lari</a:t>
                      </a:r>
                    </a:p>
                  </a:txBody>
                  <a:tcPr marL="73152" marR="73152" marT="36576" marB="36576">
                    <a:solidFill>
                      <a:srgbClr val="E8EEF6"/>
                    </a:solidFill>
                  </a:tcPr>
                </a:tc>
                <a:tc>
                  <a:txBody>
                    <a:bodyPr/>
                    <a:lstStyle/>
                    <a:p>
                      <a:r>
                        <a:rPr sz="1200" b="0">
                          <a:solidFill>
                            <a:srgbClr val="1F2937"/>
                          </a:solidFill>
                        </a:rPr>
                        <a:t>2-3 mm to‘q qizil, plevra, epikard ostida</a:t>
                      </a:r>
                    </a:p>
                  </a:txBody>
                  <a:tcPr marL="73152" marR="73152" marT="36576" marB="36576">
                    <a:solidFill>
                      <a:srgbClr val="E8EEF6"/>
                    </a:solidFill>
                  </a:tcPr>
                </a:tc>
                <a:tc>
                  <a:txBody>
                    <a:bodyPr/>
                    <a:lstStyle/>
                    <a:p>
                      <a:r>
                        <a:rPr sz="1200" b="0">
                          <a:solidFill>
                            <a:srgbClr val="1F2937"/>
                          </a:solidFill>
                        </a:rPr>
                        <a:t>Tomir bosimi ortishi, o‘tkazuvchanlik</a:t>
                      </a:r>
                    </a:p>
                  </a:txBody>
                  <a:tcPr marL="73152" marR="73152" marT="36576" marB="36576">
                    <a:solidFill>
                      <a:srgbClr val="E8EEF6"/>
                    </a:solidFill>
                  </a:tcPr>
                </a:tc>
              </a:tr>
              <a:tr h="411480">
                <a:tc>
                  <a:txBody>
                    <a:bodyPr/>
                    <a:lstStyle/>
                    <a:p>
                      <a:r>
                        <a:rPr sz="1200" b="0">
                          <a:solidFill>
                            <a:srgbClr val="1F2937"/>
                          </a:solidFill>
                        </a:rPr>
                        <a:t>Sabinskiy belgisi</a:t>
                      </a:r>
                    </a:p>
                  </a:txBody>
                  <a:tcPr marL="73152" marR="73152" marT="36576" marB="36576">
                    <a:solidFill>
                      <a:srgbClr val="FFFFFF"/>
                    </a:solidFill>
                  </a:tcPr>
                </a:tc>
                <a:tc>
                  <a:txBody>
                    <a:bodyPr/>
                    <a:lstStyle/>
                    <a:p>
                      <a:r>
                        <a:rPr sz="1200" b="0">
                          <a:solidFill>
                            <a:srgbClr val="1F2937"/>
                          </a:solidFill>
                        </a:rPr>
                        <a:t>Kamqon, qisqargan taloq</a:t>
                      </a:r>
                    </a:p>
                  </a:txBody>
                  <a:tcPr marL="73152" marR="73152" marT="36576" marB="36576">
                    <a:solidFill>
                      <a:srgbClr val="FFFFFF"/>
                    </a:solidFill>
                  </a:tcPr>
                </a:tc>
                <a:tc>
                  <a:txBody>
                    <a:bodyPr/>
                    <a:lstStyle/>
                    <a:p>
                      <a:r>
                        <a:rPr sz="1200" b="0">
                          <a:solidFill>
                            <a:srgbClr val="1F2937"/>
                          </a:solidFill>
                        </a:rPr>
                        <a:t>Preasfiktik davrda depo qoni chiqishi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Ichki belgilar va sabablari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110-111, 111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belgilar spetsifik emas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yuz sianozi, Tarde dog‘lari va suyuq to‘q qizil qon topildi. Savol: bu faqat mexanik asfiksiyani isbotlaydimi?</a:t>
            </a:r>
          </a:p>
          <a:p>
            <a:pPr>
              <a:spcAft>
                <a:spcPts val="1200"/>
              </a:spcAft>
            </a:pPr>
            <a:r>
              <a:rPr sz="2200">
                <a:solidFill>
                  <a:srgbClr val="1F2937"/>
                </a:solidFill>
                <a:latin typeface="Calibri"/>
              </a:rPr>
              <a:t>▸  Yo‘q. Bu o‘zgarishlar tez o‘limning boshqa turlarida ham uchraydi: to‘satdan yurak o‘limi, elektrotravma, anafilaktik shok.</a:t>
            </a:r>
          </a:p>
          <a:p>
            <a:pPr>
              <a:spcAft>
                <a:spcPts val="1200"/>
              </a:spcAft>
            </a:pPr>
            <a:r>
              <a:rPr sz="2200">
                <a:solidFill>
                  <a:srgbClr val="1F2937"/>
                </a:solidFill>
                <a:latin typeface="Calibri"/>
              </a:rPr>
              <a:t>▸  Diagnostikada belgilar alohida emas, majmua holida, ya’ni birgalikda baholanadi.</a:t>
            </a:r>
          </a:p>
          <a:p>
            <a:pPr>
              <a:spcAft>
                <a:spcPts val="1200"/>
              </a:spcAft>
            </a:pPr>
            <a:r>
              <a:rPr sz="2200">
                <a:solidFill>
                  <a:srgbClr val="1F2937"/>
                </a:solidFill>
                <a:latin typeface="Calibri"/>
              </a:rPr>
              <a:t>▸  Diqqat: xato qilish xavfi! Sianoz turg‘un emas: murda chalqancha yotsa yo‘qoladi, yuzi pastga yotsa asfiksiyasiz ham ko‘kimtir bo‘ladi.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110-111, 110, 111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Preasfiktik davr o‘rtacha necha soniya davom etadi? Javob: 20-30 soniya, bu davrda asfiksiya belgilari hali rivojlanmaydi.</a:t>
            </a:r>
          </a:p>
          <a:p>
            <a:pPr>
              <a:spcAft>
                <a:spcPts val="1200"/>
              </a:spcAft>
            </a:pPr>
            <a:r>
              <a:rPr sz="2200">
                <a:solidFill>
                  <a:srgbClr val="1F2937"/>
                </a:solidFill>
                <a:latin typeface="Calibri"/>
              </a:rPr>
              <a:t>▸  Inspirator hansirash bosqichidan keyin qaysi bosqich keladi? Javob: ekspirator hansirash, unda nafas chiqarish kuchliroq bo‘ladi.</a:t>
            </a:r>
          </a:p>
          <a:p>
            <a:pPr>
              <a:spcAft>
                <a:spcPts val="1200"/>
              </a:spcAft>
            </a:pPr>
            <a:r>
              <a:rPr sz="2200">
                <a:solidFill>
                  <a:srgbClr val="1F2937"/>
                </a:solidFill>
                <a:latin typeface="Calibri"/>
              </a:rPr>
              <a:t>▸  Postasfiktik holatning to‘rt davrini ayting. Javob: asfiktik koma, karaxtlik, dezorientatsiya va xotira buzilishi, qoldiq oqibatlar.</a:t>
            </a:r>
          </a:p>
          <a:p>
            <a:pPr>
              <a:spcAft>
                <a:spcPts val="1200"/>
              </a:spcAft>
            </a:pPr>
            <a:r>
              <a:rPr sz="2200">
                <a:solidFill>
                  <a:srgbClr val="1F2937"/>
                </a:solidFill>
                <a:latin typeface="Calibri"/>
              </a:rPr>
              <a:t>▸  Subkonyunktival ekximozlar qachon paydo bo‘ladi? Javob: hansirash bosqichida, arterial va venoz bosim keskin o‘zgarganda.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106, 108, 110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 tipik va notipik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Eng ko‘p uchraydi (65-70%). Aksariyati o‘z-o‘zini o‘ldirish usuli, baxtsiz hodisa kamdan-kam uchraydi.</a:t>
            </a:r>
          </a:p>
          <a:p>
            <a:pPr>
              <a:spcAft>
                <a:spcPts val="800"/>
              </a:spcAft>
            </a:pPr>
            <a:r>
              <a:rPr sz="1800">
                <a:solidFill>
                  <a:srgbClr val="1F2937"/>
                </a:solidFill>
                <a:latin typeface="Calibri"/>
              </a:rPr>
              <a:t>▸  Qon tomir va nervlarni qisish uchun sirtmoqni katta kuch bilan tortish shart emas.</a:t>
            </a:r>
          </a:p>
          <a:p>
            <a:pPr>
              <a:spcAft>
                <a:spcPts val="800"/>
              </a:spcAft>
            </a:pPr>
            <a:r>
              <a:rPr sz="1800">
                <a:solidFill>
                  <a:srgbClr val="1F2937"/>
                </a:solidFill>
                <a:latin typeface="Calibri"/>
              </a:rPr>
              <a:t>▸  Tizzaga tayansa kuch tana massasining 20%i, yotganda esa bosh og‘irligi (4-5 kg) ga teng.</a:t>
            </a:r>
          </a:p>
        </p:txBody>
      </p:sp>
      <p:graphicFrame>
        <p:nvGraphicFramePr>
          <p:cNvPr id="9" name="Table 8"/>
          <p:cNvGraphicFramePr>
            <a:graphicFrameLocks noGrp="1"/>
          </p:cNvGraphicFramePr>
          <p:nvPr/>
        </p:nvGraphicFramePr>
        <p:xfrm>
          <a:off x="6263640" y="1463040"/>
          <a:ext cx="5287975" cy="1645920"/>
        </p:xfrm>
        <a:graphic>
          <a:graphicData uri="http://schemas.openxmlformats.org/drawingml/2006/table">
            <a:tbl>
              <a:tblPr firstRow="1" bandRow="1">
                <a:tableStyleId>{5C22544A-7EE6-4342-B048-85BDC9FD1C3A}</a:tableStyleId>
              </a:tblPr>
              <a:tblGrid>
                <a:gridCol w="1098800"/>
                <a:gridCol w="1991575"/>
                <a:gridCol w="2197600"/>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Tipik</a:t>
                      </a:r>
                    </a:p>
                  </a:txBody>
                  <a:tcPr marL="73152" marR="73152" marT="36576" marB="36576">
                    <a:solidFill>
                      <a:srgbClr val="0B1F3A"/>
                    </a:solidFill>
                  </a:tcPr>
                </a:tc>
                <a:tc>
                  <a:txBody>
                    <a:bodyPr/>
                    <a:lstStyle/>
                    <a:p>
                      <a:r>
                        <a:rPr sz="1300" b="1">
                          <a:solidFill>
                            <a:srgbClr val="FFFFFF"/>
                          </a:solidFill>
                        </a:rPr>
                        <a:t>Notipik</a:t>
                      </a:r>
                    </a:p>
                  </a:txBody>
                  <a:tcPr marL="73152" marR="73152" marT="36576" marB="36576">
                    <a:solidFill>
                      <a:srgbClr val="0B1F3A"/>
                    </a:solidFill>
                  </a:tcPr>
                </a:tc>
              </a:tr>
              <a:tr h="411480">
                <a:tc>
                  <a:txBody>
                    <a:bodyPr/>
                    <a:lstStyle/>
                    <a:p>
                      <a:r>
                        <a:rPr sz="1200" b="0">
                          <a:solidFill>
                            <a:srgbClr val="1F2937"/>
                          </a:solidFill>
                        </a:rPr>
                        <a:t>Nomi</a:t>
                      </a:r>
                    </a:p>
                  </a:txBody>
                  <a:tcPr marL="73152" marR="73152" marT="36576" marB="36576">
                    <a:solidFill>
                      <a:srgbClr val="E8EEF6"/>
                    </a:solidFill>
                  </a:tcPr>
                </a:tc>
                <a:tc>
                  <a:txBody>
                    <a:bodyPr/>
                    <a:lstStyle/>
                    <a:p>
                      <a:r>
                        <a:rPr sz="1200" b="0">
                          <a:solidFill>
                            <a:srgbClr val="1F2937"/>
                          </a:solidFill>
                        </a:rPr>
                        <a:t>To‘liq osilish</a:t>
                      </a:r>
                    </a:p>
                  </a:txBody>
                  <a:tcPr marL="73152" marR="73152" marT="36576" marB="36576">
                    <a:solidFill>
                      <a:srgbClr val="E8EEF6"/>
                    </a:solidFill>
                  </a:tcPr>
                </a:tc>
                <a:tc>
                  <a:txBody>
                    <a:bodyPr/>
                    <a:lstStyle/>
                    <a:p>
                      <a:r>
                        <a:rPr sz="1200" b="0">
                          <a:solidFill>
                            <a:srgbClr val="1F2937"/>
                          </a:solidFill>
                        </a:rPr>
                        <a:t>To‘liqmas osilish</a:t>
                      </a:r>
                    </a:p>
                  </a:txBody>
                  <a:tcPr marL="73152" marR="73152" marT="36576" marB="36576">
                    <a:solidFill>
                      <a:srgbClr val="E8EEF6"/>
                    </a:solidFill>
                  </a:tcPr>
                </a:tc>
              </a:tr>
              <a:tr h="411480">
                <a:tc>
                  <a:txBody>
                    <a:bodyPr/>
                    <a:lstStyle/>
                    <a:p>
                      <a:r>
                        <a:rPr sz="1200" b="0">
                          <a:solidFill>
                            <a:srgbClr val="1F2937"/>
                          </a:solidFill>
                        </a:rPr>
                        <a:t>Tananing holati</a:t>
                      </a:r>
                    </a:p>
                  </a:txBody>
                  <a:tcPr marL="73152" marR="73152" marT="36576" marB="36576">
                    <a:solidFill>
                      <a:srgbClr val="FFFFFF"/>
                    </a:solidFill>
                  </a:tcPr>
                </a:tc>
                <a:tc>
                  <a:txBody>
                    <a:bodyPr/>
                    <a:lstStyle/>
                    <a:p>
                      <a:r>
                        <a:rPr sz="1200" b="0">
                          <a:solidFill>
                            <a:srgbClr val="1F2937"/>
                          </a:solidFill>
                        </a:rPr>
                        <a:t>Sirtmoqda erkin osilib turadi</a:t>
                      </a:r>
                    </a:p>
                  </a:txBody>
                  <a:tcPr marL="73152" marR="73152" marT="36576" marB="36576">
                    <a:solidFill>
                      <a:srgbClr val="FFFFFF"/>
                    </a:solidFill>
                  </a:tcPr>
                </a:tc>
                <a:tc>
                  <a:txBody>
                    <a:bodyPr/>
                    <a:lstStyle/>
                    <a:p>
                      <a:r>
                        <a:rPr sz="1200" b="0">
                          <a:solidFill>
                            <a:srgbClr val="1F2937"/>
                          </a:solidFill>
                        </a:rPr>
                        <a:t>Bir qismi tayanchga ega</a:t>
                      </a:r>
                    </a:p>
                  </a:txBody>
                  <a:tcPr marL="73152" marR="73152" marT="36576" marB="36576">
                    <a:solidFill>
                      <a:srgbClr val="FFFFFF"/>
                    </a:solidFill>
                  </a:tcPr>
                </a:tc>
              </a:tr>
              <a:tr h="411480">
                <a:tc>
                  <a:txBody>
                    <a:bodyPr/>
                    <a:lstStyle/>
                    <a:p>
                      <a:r>
                        <a:rPr sz="1200" b="0">
                          <a:solidFill>
                            <a:srgbClr val="1F2937"/>
                          </a:solidFill>
                        </a:rPr>
                        <a:t>Variantlar</a:t>
                      </a:r>
                    </a:p>
                  </a:txBody>
                  <a:tcPr marL="73152" marR="73152" marT="36576" marB="36576">
                    <a:solidFill>
                      <a:srgbClr val="E8EEF6"/>
                    </a:solidFill>
                  </a:tcPr>
                </a:tc>
                <a:tc>
                  <a:txBody>
                    <a:bodyPr/>
                    <a:lstStyle/>
                    <a:p>
                      <a:r>
                        <a:rPr sz="1200" b="0">
                          <a:solidFill>
                            <a:srgbClr val="1F2937"/>
                          </a:solidFill>
                        </a:rPr>
                        <a:t>Yo‘q</a:t>
                      </a:r>
                    </a:p>
                  </a:txBody>
                  <a:tcPr marL="73152" marR="73152" marT="36576" marB="36576">
                    <a:solidFill>
                      <a:srgbClr val="E8EEF6"/>
                    </a:solidFill>
                  </a:tcPr>
                </a:tc>
                <a:tc>
                  <a:txBody>
                    <a:bodyPr/>
                    <a:lstStyle/>
                    <a:p>
                      <a:r>
                        <a:rPr sz="1200" b="0">
                          <a:solidFill>
                            <a:srgbClr val="1F2937"/>
                          </a:solidFill>
                        </a:rPr>
                        <a:t>Turgan, o‘tirgan, yotgan va h.k.</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Tipik va notipik osilish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111, 112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Sirtmoq va tugunning xususiyatlari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Sirtmoq materiali turlicha bo‘ladi; halqa bir, ikki yoki ko‘p o‘ramli bo‘lishi mumkin.</a:t>
            </a:r>
          </a:p>
          <a:p>
            <a:pPr>
              <a:spcAft>
                <a:spcPts val="800"/>
              </a:spcAft>
            </a:pPr>
            <a:r>
              <a:rPr sz="1800">
                <a:solidFill>
                  <a:srgbClr val="1F2937"/>
                </a:solidFill>
                <a:latin typeface="Calibri"/>
              </a:rPr>
              <a:t>▸  Tugun kriminalistik jihatdan muhim: u sirtmoqni tayyorlagan shaxsning kasbiy ko‘nikmasini ko‘rsatishi mumkin.</a:t>
            </a:r>
          </a:p>
          <a:p>
            <a:pPr>
              <a:spcAft>
                <a:spcPts val="800"/>
              </a:spcAft>
            </a:pPr>
            <a:r>
              <a:rPr sz="1800">
                <a:solidFill>
                  <a:srgbClr val="1F2937"/>
                </a:solidFill>
                <a:latin typeface="Calibri"/>
              </a:rPr>
              <a:t>▸  Sirtmoqni olishda tugunga qarama-qarshi tomon kesiladi; tugunsiz (universal) sirtmoqda ham osilish bo‘ladi.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800161"/>
                <a:gridCol w="3487813"/>
              </a:tblGrid>
              <a:tr h="411480">
                <a:tc>
                  <a:txBody>
                    <a:bodyPr/>
                    <a:lstStyle/>
                    <a:p>
                      <a:r>
                        <a:rPr sz="1400" b="1">
                          <a:solidFill>
                            <a:srgbClr val="FFFFFF"/>
                          </a:solidFill>
                        </a:rPr>
                        <a:t>Belgi</a:t>
                      </a:r>
                    </a:p>
                  </a:txBody>
                  <a:tcPr marL="73152" marR="73152" marT="36576" marB="36576">
                    <a:solidFill>
                      <a:srgbClr val="0B1F3A"/>
                    </a:solidFill>
                  </a:tcPr>
                </a:tc>
                <a:tc>
                  <a:txBody>
                    <a:bodyPr/>
                    <a:lstStyle/>
                    <a:p>
                      <a:r>
                        <a:rPr sz="1400" b="1">
                          <a:solidFill>
                            <a:srgbClr val="FFFFFF"/>
                          </a:solidFill>
                        </a:rPr>
                        <a:t>Variantlar</a:t>
                      </a:r>
                    </a:p>
                  </a:txBody>
                  <a:tcPr marL="73152" marR="73152" marT="36576" marB="36576">
                    <a:solidFill>
                      <a:srgbClr val="0B1F3A"/>
                    </a:solidFill>
                  </a:tcPr>
                </a:tc>
              </a:tr>
              <a:tr h="411480">
                <a:tc>
                  <a:txBody>
                    <a:bodyPr/>
                    <a:lstStyle/>
                    <a:p>
                      <a:r>
                        <a:rPr sz="1300" b="0">
                          <a:solidFill>
                            <a:srgbClr val="1F2937"/>
                          </a:solidFill>
                        </a:rPr>
                        <a:t>Material</a:t>
                      </a:r>
                    </a:p>
                  </a:txBody>
                  <a:tcPr marL="73152" marR="73152" marT="36576" marB="36576">
                    <a:solidFill>
                      <a:srgbClr val="E8EEF6"/>
                    </a:solidFill>
                  </a:tcPr>
                </a:tc>
                <a:tc>
                  <a:txBody>
                    <a:bodyPr/>
                    <a:lstStyle/>
                    <a:p>
                      <a:r>
                        <a:rPr sz="1300" b="0">
                          <a:solidFill>
                            <a:srgbClr val="1F2937"/>
                          </a:solidFill>
                        </a:rPr>
                        <a:t>Yumshoq, yarim qattiq, qattiq</a:t>
                      </a:r>
                    </a:p>
                  </a:txBody>
                  <a:tcPr marL="73152" marR="73152" marT="36576" marB="36576">
                    <a:solidFill>
                      <a:srgbClr val="E8EEF6"/>
                    </a:solidFill>
                  </a:tcPr>
                </a:tc>
              </a:tr>
              <a:tr h="411480">
                <a:tc>
                  <a:txBody>
                    <a:bodyPr/>
                    <a:lstStyle/>
                    <a:p>
                      <a:r>
                        <a:rPr sz="1300" b="0">
                          <a:solidFill>
                            <a:srgbClr val="1F2937"/>
                          </a:solidFill>
                        </a:rPr>
                        <a:t>O‘ramlar soni</a:t>
                      </a:r>
                    </a:p>
                  </a:txBody>
                  <a:tcPr marL="73152" marR="73152" marT="36576" marB="36576">
                    <a:solidFill>
                      <a:srgbClr val="FFFFFF"/>
                    </a:solidFill>
                  </a:tcPr>
                </a:tc>
                <a:tc>
                  <a:txBody>
                    <a:bodyPr/>
                    <a:lstStyle/>
                    <a:p>
                      <a:r>
                        <a:rPr sz="1300" b="0">
                          <a:solidFill>
                            <a:srgbClr val="1F2937"/>
                          </a:solidFill>
                        </a:rPr>
                        <a:t>Bir, ikki, ko‘p o‘ramli</a:t>
                      </a:r>
                    </a:p>
                  </a:txBody>
                  <a:tcPr marL="73152" marR="73152" marT="36576" marB="36576">
                    <a:solidFill>
                      <a:srgbClr val="FFFFFF"/>
                    </a:solidFill>
                  </a:tcPr>
                </a:tc>
              </a:tr>
              <a:tr h="411480">
                <a:tc>
                  <a:txBody>
                    <a:bodyPr/>
                    <a:lstStyle/>
                    <a:p>
                      <a:r>
                        <a:rPr sz="1300" b="0">
                          <a:solidFill>
                            <a:srgbClr val="1F2937"/>
                          </a:solidFill>
                        </a:rPr>
                        <a:t>Siljishi</a:t>
                      </a:r>
                    </a:p>
                  </a:txBody>
                  <a:tcPr marL="73152" marR="73152" marT="36576" marB="36576">
                    <a:solidFill>
                      <a:srgbClr val="E8EEF6"/>
                    </a:solidFill>
                  </a:tcPr>
                </a:tc>
                <a:tc>
                  <a:txBody>
                    <a:bodyPr/>
                    <a:lstStyle/>
                    <a:p>
                      <a:r>
                        <a:rPr sz="1300" b="0">
                          <a:solidFill>
                            <a:srgbClr val="1F2937"/>
                          </a:solidFill>
                        </a:rPr>
                        <a:t>Sirpanuvchan va sirpanmas</a:t>
                      </a:r>
                    </a:p>
                  </a:txBody>
                  <a:tcPr marL="73152" marR="73152" marT="36576" marB="36576">
                    <a:solidFill>
                      <a:srgbClr val="E8EEF6"/>
                    </a:solidFill>
                  </a:tcPr>
                </a:tc>
              </a:tr>
              <a:tr h="411480">
                <a:tc>
                  <a:txBody>
                    <a:bodyPr/>
                    <a:lstStyle/>
                    <a:p>
                      <a:r>
                        <a:rPr sz="1300" b="0">
                          <a:solidFill>
                            <a:srgbClr val="1F2937"/>
                          </a:solidFill>
                        </a:rPr>
                        <a:t>Tugun joyi</a:t>
                      </a:r>
                    </a:p>
                  </a:txBody>
                  <a:tcPr marL="73152" marR="73152" marT="36576" marB="36576">
                    <a:solidFill>
                      <a:srgbClr val="FFFFFF"/>
                    </a:solidFill>
                  </a:tcPr>
                </a:tc>
                <a:tc>
                  <a:txBody>
                    <a:bodyPr/>
                    <a:lstStyle/>
                    <a:p>
                      <a:r>
                        <a:rPr sz="1300" b="0">
                          <a:solidFill>
                            <a:srgbClr val="1F2937"/>
                          </a:solidFill>
                        </a:rPr>
                        <a:t>Tipik (orqa), atipik (old, yon)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Sirtmoq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Osilishda o‘limning vujudga kelish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Osilishda o‘lim bir necha omilning birgalikdagi ta’siridan sodir bo‘ladi, faqat bitta sabab yetakchi emas.</a:t>
            </a:r>
          </a:p>
          <a:p>
            <a:pPr>
              <a:spcAft>
                <a:spcPts val="800"/>
              </a:spcAft>
            </a:pPr>
            <a:r>
              <a:rPr sz="1800">
                <a:solidFill>
                  <a:srgbClr val="1F2937"/>
                </a:solidFill>
                <a:latin typeface="Calibri"/>
              </a:rPr>
              <a:t>▸  Uyqu arteriyalari qisilsa ham, umurtqa arteriyalari orqali qon keladi; kalla ichi bosimi keskin oshadi.</a:t>
            </a:r>
          </a:p>
          <a:p>
            <a:pPr>
              <a:spcAft>
                <a:spcPts val="800"/>
              </a:spcAft>
            </a:pPr>
            <a:r>
              <a:rPr sz="1800">
                <a:solidFill>
                  <a:srgbClr val="1F2937"/>
                </a:solidFill>
                <a:latin typeface="Calibri"/>
              </a:rPr>
              <a:t>▸  Atipik tugunda qizilo‘ngach to‘liq berkilmaydi: adashgan nerv ta’sirlanib, qusish va aspiratsiya bo‘lishi mumkin.</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Omil</a:t>
                      </a:r>
                    </a:p>
                  </a:txBody>
                  <a:tcPr marL="73152" marR="73152" marT="36576" marB="36576">
                    <a:solidFill>
                      <a:srgbClr val="0B1F3A"/>
                    </a:solidFill>
                  </a:tcPr>
                </a:tc>
                <a:tc>
                  <a:txBody>
                    <a:bodyPr/>
                    <a:lstStyle/>
                    <a:p>
                      <a:r>
                        <a:rPr sz="1400" b="1">
                          <a:solidFill>
                            <a:srgbClr val="FFFFFF"/>
                          </a:solidFill>
                        </a:rPr>
                        <a:t>Mohiyati</a:t>
                      </a:r>
                    </a:p>
                  </a:txBody>
                  <a:tcPr marL="73152" marR="73152" marT="36576" marB="36576">
                    <a:solidFill>
                      <a:srgbClr val="0B1F3A"/>
                    </a:solidFill>
                  </a:tcPr>
                </a:tc>
              </a:tr>
              <a:tr h="411480">
                <a:tc>
                  <a:txBody>
                    <a:bodyPr/>
                    <a:lstStyle/>
                    <a:p>
                      <a:r>
                        <a:rPr sz="1300" b="0">
                          <a:solidFill>
                            <a:srgbClr val="1F2937"/>
                          </a:solidFill>
                        </a:rPr>
                        <a:t>Havo yo‘li</a:t>
                      </a:r>
                    </a:p>
                  </a:txBody>
                  <a:tcPr marL="73152" marR="73152" marT="36576" marB="36576">
                    <a:solidFill>
                      <a:srgbClr val="E8EEF6"/>
                    </a:solidFill>
                  </a:tcPr>
                </a:tc>
                <a:tc>
                  <a:txBody>
                    <a:bodyPr/>
                    <a:lstStyle/>
                    <a:p>
                      <a:r>
                        <a:rPr sz="1300" b="0">
                          <a:solidFill>
                            <a:srgbClr val="1F2937"/>
                          </a:solidFill>
                        </a:rPr>
                        <a:t>Til asosi siljib, yo‘l torayadi</a:t>
                      </a:r>
                    </a:p>
                  </a:txBody>
                  <a:tcPr marL="73152" marR="73152" marT="36576" marB="36576">
                    <a:solidFill>
                      <a:srgbClr val="E8EEF6"/>
                    </a:solidFill>
                  </a:tcPr>
                </a:tc>
              </a:tr>
              <a:tr h="411480">
                <a:tc>
                  <a:txBody>
                    <a:bodyPr/>
                    <a:lstStyle/>
                    <a:p>
                      <a:r>
                        <a:rPr sz="1300" b="0">
                          <a:solidFill>
                            <a:srgbClr val="1F2937"/>
                          </a:solidFill>
                        </a:rPr>
                        <a:t>Venalar</a:t>
                      </a:r>
                    </a:p>
                  </a:txBody>
                  <a:tcPr marL="73152" marR="73152" marT="36576" marB="36576">
                    <a:solidFill>
                      <a:srgbClr val="FFFFFF"/>
                    </a:solidFill>
                  </a:tcPr>
                </a:tc>
                <a:tc>
                  <a:txBody>
                    <a:bodyPr/>
                    <a:lstStyle/>
                    <a:p>
                      <a:r>
                        <a:rPr sz="1300" b="0">
                          <a:solidFill>
                            <a:srgbClr val="1F2937"/>
                          </a:solidFill>
                        </a:rPr>
                        <a:t>Miyadan qon oqishi qiyinlashadi</a:t>
                      </a:r>
                    </a:p>
                  </a:txBody>
                  <a:tcPr marL="73152" marR="73152" marT="36576" marB="36576">
                    <a:solidFill>
                      <a:srgbClr val="FFFFFF"/>
                    </a:solidFill>
                  </a:tcPr>
                </a:tc>
              </a:tr>
              <a:tr h="411480">
                <a:tc>
                  <a:txBody>
                    <a:bodyPr/>
                    <a:lstStyle/>
                    <a:p>
                      <a:r>
                        <a:rPr sz="1300" b="0">
                          <a:solidFill>
                            <a:srgbClr val="1F2937"/>
                          </a:solidFill>
                        </a:rPr>
                        <a:t>Reflektor</a:t>
                      </a:r>
                    </a:p>
                  </a:txBody>
                  <a:tcPr marL="73152" marR="73152" marT="36576" marB="36576">
                    <a:solidFill>
                      <a:srgbClr val="E8EEF6"/>
                    </a:solidFill>
                  </a:tcPr>
                </a:tc>
                <a:tc>
                  <a:txBody>
                    <a:bodyPr/>
                    <a:lstStyle/>
                    <a:p>
                      <a:r>
                        <a:rPr sz="1300" b="0">
                          <a:solidFill>
                            <a:srgbClr val="1F2937"/>
                          </a:solidFill>
                        </a:rPr>
                        <a:t>Adashgan nerv ta’siri: yurak to‘xtashi</a:t>
                      </a:r>
                    </a:p>
                  </a:txBody>
                  <a:tcPr marL="73152" marR="73152" marT="36576" marB="36576">
                    <a:solidFill>
                      <a:srgbClr val="E8EEF6"/>
                    </a:solidFill>
                  </a:tcPr>
                </a:tc>
              </a:tr>
              <a:tr h="411480">
                <a:tc>
                  <a:txBody>
                    <a:bodyPr/>
                    <a:lstStyle/>
                    <a:p>
                      <a:r>
                        <a:rPr sz="1300" b="0">
                          <a:solidFill>
                            <a:srgbClr val="1F2937"/>
                          </a:solidFill>
                        </a:rPr>
                        <a:t>Umurtqa</a:t>
                      </a:r>
                    </a:p>
                  </a:txBody>
                  <a:tcPr marL="73152" marR="73152" marT="36576" marB="36576">
                    <a:solidFill>
                      <a:srgbClr val="FFFFFF"/>
                    </a:solidFill>
                  </a:tcPr>
                </a:tc>
                <a:tc>
                  <a:txBody>
                    <a:bodyPr/>
                    <a:lstStyle/>
                    <a:p>
                      <a:r>
                        <a:rPr sz="1300" b="0">
                          <a:solidFill>
                            <a:srgbClr val="1F2937"/>
                          </a:solidFill>
                        </a:rPr>
                        <a:t>Keskin tipik osilishda orqa miya yorilishi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O‘lim omillari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113, 113-114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Strangulyatsion egat va uning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belgi — bo‘yindagi strangulyatsion egat; u shilinma bo‘lib, sirtmoq xususiyatiga bog‘liq.</a:t>
            </a:r>
          </a:p>
          <a:p>
            <a:pPr>
              <a:spcAft>
                <a:spcPts val="800"/>
              </a:spcAft>
            </a:pPr>
            <a:r>
              <a:rPr sz="1800">
                <a:solidFill>
                  <a:srgbClr val="1F2937"/>
                </a:solidFill>
                <a:latin typeface="Calibri"/>
              </a:rPr>
              <a:t>▸  Egatning joyi, yo‘nalishi, tutashuvi, kengligi, chuqurligi va relefi sirtmoq bilan solishtiriladi.</a:t>
            </a:r>
          </a:p>
          <a:p>
            <a:pPr>
              <a:spcAft>
                <a:spcPts val="800"/>
              </a:spcAft>
            </a:pPr>
            <a:r>
              <a:rPr sz="1800">
                <a:solidFill>
                  <a:srgbClr val="1F2937"/>
                </a:solidFill>
                <a:latin typeface="Calibri"/>
              </a:rPr>
              <a:t>▸  Qattiq sirtmoq chuqur egat qoldiradi; yumshoq sirtmoqda egat bilinmasa, “mis sim belgisi” (Kasper) topiladi.</a:t>
            </a:r>
          </a:p>
        </p:txBody>
      </p:sp>
      <p:graphicFrame>
        <p:nvGraphicFramePr>
          <p:cNvPr id="9" name="Table 8"/>
          <p:cNvGraphicFramePr>
            <a:graphicFrameLocks noGrp="1"/>
          </p:cNvGraphicFramePr>
          <p:nvPr/>
        </p:nvGraphicFramePr>
        <p:xfrm>
          <a:off x="6263640" y="1463040"/>
          <a:ext cx="5287974" cy="1645920"/>
        </p:xfrm>
        <a:graphic>
          <a:graphicData uri="http://schemas.openxmlformats.org/drawingml/2006/table">
            <a:tbl>
              <a:tblPr firstRow="1" bandRow="1">
                <a:tableStyleId>{5C22544A-7EE6-4342-B048-85BDC9FD1C3A}</a:tableStyleId>
              </a:tblPr>
              <a:tblGrid>
                <a:gridCol w="1281933"/>
                <a:gridCol w="2163262"/>
                <a:gridCol w="1842779"/>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Tipik</a:t>
                      </a:r>
                    </a:p>
                  </a:txBody>
                  <a:tcPr marL="73152" marR="73152" marT="36576" marB="36576">
                    <a:solidFill>
                      <a:srgbClr val="0B1F3A"/>
                    </a:solidFill>
                  </a:tcPr>
                </a:tc>
                <a:tc>
                  <a:txBody>
                    <a:bodyPr/>
                    <a:lstStyle/>
                    <a:p>
                      <a:r>
                        <a:rPr sz="1300" b="1">
                          <a:solidFill>
                            <a:srgbClr val="FFFFFF"/>
                          </a:solidFill>
                        </a:rPr>
                        <a:t>Atipik</a:t>
                      </a:r>
                    </a:p>
                  </a:txBody>
                  <a:tcPr marL="73152" marR="73152" marT="36576" marB="36576">
                    <a:solidFill>
                      <a:srgbClr val="0B1F3A"/>
                    </a:solidFill>
                  </a:tcPr>
                </a:tc>
              </a:tr>
              <a:tr h="411480">
                <a:tc>
                  <a:txBody>
                    <a:bodyPr/>
                    <a:lstStyle/>
                    <a:p>
                      <a:r>
                        <a:rPr sz="1200" b="0">
                          <a:solidFill>
                            <a:srgbClr val="1F2937"/>
                          </a:solidFill>
                        </a:rPr>
                        <a:t>Tugun</a:t>
                      </a:r>
                    </a:p>
                  </a:txBody>
                  <a:tcPr marL="73152" marR="73152" marT="36576" marB="36576">
                    <a:solidFill>
                      <a:srgbClr val="E8EEF6"/>
                    </a:solidFill>
                  </a:tcPr>
                </a:tc>
                <a:tc>
                  <a:txBody>
                    <a:bodyPr/>
                    <a:lstStyle/>
                    <a:p>
                      <a:r>
                        <a:rPr sz="1200" b="0">
                          <a:solidFill>
                            <a:srgbClr val="1F2937"/>
                          </a:solidFill>
                        </a:rPr>
                        <a:t>Orqa sohada</a:t>
                      </a:r>
                    </a:p>
                  </a:txBody>
                  <a:tcPr marL="73152" marR="73152" marT="36576" marB="36576">
                    <a:solidFill>
                      <a:srgbClr val="E8EEF6"/>
                    </a:solidFill>
                  </a:tcPr>
                </a:tc>
                <a:tc>
                  <a:txBody>
                    <a:bodyPr/>
                    <a:lstStyle/>
                    <a:p>
                      <a:r>
                        <a:rPr sz="1200" b="0">
                          <a:solidFill>
                            <a:srgbClr val="1F2937"/>
                          </a:solidFill>
                        </a:rPr>
                        <a:t>Old yoki yon sohada</a:t>
                      </a:r>
                    </a:p>
                  </a:txBody>
                  <a:tcPr marL="73152" marR="73152" marT="36576" marB="36576">
                    <a:solidFill>
                      <a:srgbClr val="E8EEF6"/>
                    </a:solidFill>
                  </a:tcPr>
                </a:tc>
              </a:tr>
              <a:tr h="411480">
                <a:tc>
                  <a:txBody>
                    <a:bodyPr/>
                    <a:lstStyle/>
                    <a:p>
                      <a:r>
                        <a:rPr sz="1200" b="0">
                          <a:solidFill>
                            <a:srgbClr val="1F2937"/>
                          </a:solidFill>
                        </a:rPr>
                        <a:t>Joylashuv</a:t>
                      </a:r>
                    </a:p>
                  </a:txBody>
                  <a:tcPr marL="73152" marR="73152" marT="36576" marB="36576">
                    <a:solidFill>
                      <a:srgbClr val="FFFFFF"/>
                    </a:solidFill>
                  </a:tcPr>
                </a:tc>
                <a:tc>
                  <a:txBody>
                    <a:bodyPr/>
                    <a:lstStyle/>
                    <a:p>
                      <a:r>
                        <a:rPr sz="1200" b="0">
                          <a:solidFill>
                            <a:srgbClr val="1F2937"/>
                          </a:solidFill>
                        </a:rPr>
                        <a:t>Til osti suyagidan yuqorida</a:t>
                      </a:r>
                    </a:p>
                  </a:txBody>
                  <a:tcPr marL="73152" marR="73152" marT="36576" marB="36576">
                    <a:solidFill>
                      <a:srgbClr val="FFFFFF"/>
                    </a:solidFill>
                  </a:tcPr>
                </a:tc>
                <a:tc>
                  <a:txBody>
                    <a:bodyPr/>
                    <a:lstStyle/>
                    <a:p>
                      <a:r>
                        <a:rPr sz="1200" b="0">
                          <a:solidFill>
                            <a:srgbClr val="1F2937"/>
                          </a:solidFill>
                        </a:rPr>
                        <a:t>Pastroq bo‘lishi mumkin</a:t>
                      </a:r>
                    </a:p>
                  </a:txBody>
                  <a:tcPr marL="73152" marR="73152" marT="36576" marB="36576">
                    <a:solidFill>
                      <a:srgbClr val="FFFFFF"/>
                    </a:solidFill>
                  </a:tcPr>
                </a:tc>
              </a:tr>
              <a:tr h="411480">
                <a:tc>
                  <a:txBody>
                    <a:bodyPr/>
                    <a:lstStyle/>
                    <a:p>
                      <a:r>
                        <a:rPr sz="1200" b="0">
                          <a:solidFill>
                            <a:srgbClr val="1F2937"/>
                          </a:solidFill>
                        </a:rPr>
                        <a:t>Yo‘nalish</a:t>
                      </a:r>
                    </a:p>
                  </a:txBody>
                  <a:tcPr marL="73152" marR="73152" marT="36576" marB="36576">
                    <a:solidFill>
                      <a:srgbClr val="E8EEF6"/>
                    </a:solidFill>
                  </a:tcPr>
                </a:tc>
                <a:tc>
                  <a:txBody>
                    <a:bodyPr/>
                    <a:lstStyle/>
                    <a:p>
                      <a:r>
                        <a:rPr sz="1200" b="0">
                          <a:solidFill>
                            <a:srgbClr val="1F2937"/>
                          </a:solidFill>
                        </a:rPr>
                        <a:t>Qiyshiq-vertikal</a:t>
                      </a:r>
                    </a:p>
                  </a:txBody>
                  <a:tcPr marL="73152" marR="73152" marT="36576" marB="36576">
                    <a:solidFill>
                      <a:srgbClr val="E8EEF6"/>
                    </a:solidFill>
                  </a:tcPr>
                </a:tc>
                <a:tc>
                  <a:txBody>
                    <a:bodyPr/>
                    <a:lstStyle/>
                    <a:p>
                      <a:r>
                        <a:rPr sz="1200" b="0">
                          <a:solidFill>
                            <a:srgbClr val="1F2937"/>
                          </a:solidFill>
                        </a:rPr>
                        <a:t>Vertikalligi kamayadi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Tipik va atipik osilishda egat</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114, 114-115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Cho‘zilish belgilari va egat hayotiyligi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Kasper belgisi: yumshoq sirtmoqda teri egati ko‘rinmasa, ichki to‘qimada oqimtir yo‘lka (“mis sim”) topiladi.</a:t>
            </a:r>
          </a:p>
          <a:p>
            <a:pPr>
              <a:spcAft>
                <a:spcPts val="800"/>
              </a:spcAft>
            </a:pPr>
            <a:r>
              <a:rPr sz="1800">
                <a:solidFill>
                  <a:srgbClr val="1F2937"/>
                </a:solidFill>
                <a:latin typeface="Calibri"/>
              </a:rPr>
              <a:t>▸  Brouardel belgisi: halqum orti sohasi va halqumning orqa devorida ko‘lamli qon quyilish.</a:t>
            </a:r>
          </a:p>
          <a:p>
            <a:pPr>
              <a:spcAft>
                <a:spcPts val="800"/>
              </a:spcAft>
            </a:pPr>
            <a:r>
              <a:rPr sz="1800">
                <a:solidFill>
                  <a:srgbClr val="1F2937"/>
                </a:solidFill>
                <a:latin typeface="Calibri"/>
              </a:rPr>
              <a:t>▸  Bokarius sinamasi, Neyding va Kasyanov belgilari egatning hayotiy yetkazilganini tasdiqlaydi.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175105"/>
                <a:gridCol w="2937763"/>
                <a:gridCol w="1175105"/>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Topilma</a:t>
                      </a:r>
                    </a:p>
                  </a:txBody>
                  <a:tcPr marL="73152" marR="73152" marT="36576" marB="36576">
                    <a:solidFill>
                      <a:srgbClr val="0B1F3A"/>
                    </a:solidFill>
                  </a:tcPr>
                </a:tc>
                <a:tc>
                  <a:txBody>
                    <a:bodyPr/>
                    <a:lstStyle/>
                    <a:p>
                      <a:r>
                        <a:rPr sz="1300" b="1">
                          <a:solidFill>
                            <a:srgbClr val="FFFFFF"/>
                          </a:solidFill>
                        </a:rPr>
                        <a:t>Ma’nosi</a:t>
                      </a:r>
                    </a:p>
                  </a:txBody>
                  <a:tcPr marL="73152" marR="73152" marT="36576" marB="36576">
                    <a:solidFill>
                      <a:srgbClr val="0B1F3A"/>
                    </a:solidFill>
                  </a:tcPr>
                </a:tc>
              </a:tr>
              <a:tr h="411480">
                <a:tc>
                  <a:txBody>
                    <a:bodyPr/>
                    <a:lstStyle/>
                    <a:p>
                      <a:r>
                        <a:rPr sz="1200" b="0">
                          <a:solidFill>
                            <a:srgbClr val="1F2937"/>
                          </a:solidFill>
                        </a:rPr>
                        <a:t>Amyuss</a:t>
                      </a:r>
                    </a:p>
                  </a:txBody>
                  <a:tcPr marL="73152" marR="73152" marT="36576" marB="36576">
                    <a:solidFill>
                      <a:srgbClr val="E8EEF6"/>
                    </a:solidFill>
                  </a:tcPr>
                </a:tc>
                <a:tc>
                  <a:txBody>
                    <a:bodyPr/>
                    <a:lstStyle/>
                    <a:p>
                      <a:r>
                        <a:rPr sz="1200" b="0">
                          <a:solidFill>
                            <a:srgbClr val="1F2937"/>
                          </a:solidFill>
                        </a:rPr>
                        <a:t>Uyqu arteriyasi intimasi ko‘ndalang yorilishi</a:t>
                      </a:r>
                    </a:p>
                  </a:txBody>
                  <a:tcPr marL="73152" marR="73152" marT="36576" marB="36576">
                    <a:solidFill>
                      <a:srgbClr val="E8EEF6"/>
                    </a:solidFill>
                  </a:tcPr>
                </a:tc>
                <a:tc>
                  <a:txBody>
                    <a:bodyPr/>
                    <a:lstStyle/>
                    <a:p>
                      <a:r>
                        <a:rPr sz="1200" b="0">
                          <a:solidFill>
                            <a:srgbClr val="1F2937"/>
                          </a:solidFill>
                        </a:rPr>
                        <a:t>Cho‘zilish</a:t>
                      </a:r>
                    </a:p>
                  </a:txBody>
                  <a:tcPr marL="73152" marR="73152" marT="36576" marB="36576">
                    <a:solidFill>
                      <a:srgbClr val="E8EEF6"/>
                    </a:solidFill>
                  </a:tcPr>
                </a:tc>
              </a:tr>
              <a:tr h="411480">
                <a:tc>
                  <a:txBody>
                    <a:bodyPr/>
                    <a:lstStyle/>
                    <a:p>
                      <a:r>
                        <a:rPr sz="1200" b="0">
                          <a:solidFill>
                            <a:srgbClr val="1F2937"/>
                          </a:solidFill>
                        </a:rPr>
                        <a:t>Martin</a:t>
                      </a:r>
                    </a:p>
                  </a:txBody>
                  <a:tcPr marL="73152" marR="73152" marT="36576" marB="36576">
                    <a:solidFill>
                      <a:srgbClr val="FFFFFF"/>
                    </a:solidFill>
                  </a:tcPr>
                </a:tc>
                <a:tc>
                  <a:txBody>
                    <a:bodyPr/>
                    <a:lstStyle/>
                    <a:p>
                      <a:r>
                        <a:rPr sz="1200" b="0">
                          <a:solidFill>
                            <a:srgbClr val="1F2937"/>
                          </a:solidFill>
                        </a:rPr>
                        <a:t>Uyqu arteriyasi tashqi qavatida qon quyilish</a:t>
                      </a:r>
                    </a:p>
                  </a:txBody>
                  <a:tcPr marL="73152" marR="73152" marT="36576" marB="36576">
                    <a:solidFill>
                      <a:srgbClr val="FFFFFF"/>
                    </a:solidFill>
                  </a:tcPr>
                </a:tc>
                <a:tc>
                  <a:txBody>
                    <a:bodyPr/>
                    <a:lstStyle/>
                    <a:p>
                      <a:r>
                        <a:rPr sz="1200" b="0">
                          <a:solidFill>
                            <a:srgbClr val="1F2937"/>
                          </a:solidFill>
                        </a:rPr>
                        <a:t>Cho‘zilish</a:t>
                      </a:r>
                    </a:p>
                  </a:txBody>
                  <a:tcPr marL="73152" marR="73152" marT="36576" marB="36576">
                    <a:solidFill>
                      <a:srgbClr val="FFFFFF"/>
                    </a:solidFill>
                  </a:tcPr>
                </a:tc>
              </a:tr>
              <a:tr h="411480">
                <a:tc>
                  <a:txBody>
                    <a:bodyPr/>
                    <a:lstStyle/>
                    <a:p>
                      <a:r>
                        <a:rPr sz="1200" b="0">
                          <a:solidFill>
                            <a:srgbClr val="1F2937"/>
                          </a:solidFill>
                        </a:rPr>
                        <a:t>Valxer</a:t>
                      </a:r>
                    </a:p>
                  </a:txBody>
                  <a:tcPr marL="73152" marR="73152" marT="36576" marB="36576">
                    <a:solidFill>
                      <a:srgbClr val="E8EEF6"/>
                    </a:solidFill>
                  </a:tcPr>
                </a:tc>
                <a:tc>
                  <a:txBody>
                    <a:bodyPr/>
                    <a:lstStyle/>
                    <a:p>
                      <a:r>
                        <a:rPr sz="1200" b="0">
                          <a:solidFill>
                            <a:srgbClr val="1F2937"/>
                          </a:solidFill>
                        </a:rPr>
                        <a:t>To‘sh-o‘mrov-so‘rg‘ichsimon mushak pastki uchida qon quyilish</a:t>
                      </a:r>
                    </a:p>
                  </a:txBody>
                  <a:tcPr marL="73152" marR="73152" marT="36576" marB="36576">
                    <a:solidFill>
                      <a:srgbClr val="E8EEF6"/>
                    </a:solidFill>
                  </a:tcPr>
                </a:tc>
                <a:tc>
                  <a:txBody>
                    <a:bodyPr/>
                    <a:lstStyle/>
                    <a:p>
                      <a:r>
                        <a:rPr sz="1200" b="0">
                          <a:solidFill>
                            <a:srgbClr val="1F2937"/>
                          </a:solidFill>
                        </a:rPr>
                        <a:t>Cho‘zilish</a:t>
                      </a:r>
                    </a:p>
                  </a:txBody>
                  <a:tcPr marL="73152" marR="73152" marT="36576" marB="36576">
                    <a:solidFill>
                      <a:srgbClr val="E8EEF6"/>
                    </a:solidFill>
                  </a:tcPr>
                </a:tc>
              </a:tr>
              <a:tr h="411480">
                <a:tc>
                  <a:txBody>
                    <a:bodyPr/>
                    <a:lstStyle/>
                    <a:p>
                      <a:r>
                        <a:rPr sz="1200" b="0">
                          <a:solidFill>
                            <a:srgbClr val="1F2937"/>
                          </a:solidFill>
                        </a:rPr>
                        <a:t>Simon</a:t>
                      </a:r>
                    </a:p>
                  </a:txBody>
                  <a:tcPr marL="73152" marR="73152" marT="36576" marB="36576">
                    <a:solidFill>
                      <a:srgbClr val="FFFFFF"/>
                    </a:solidFill>
                  </a:tcPr>
                </a:tc>
                <a:tc>
                  <a:txBody>
                    <a:bodyPr/>
                    <a:lstStyle/>
                    <a:p>
                      <a:r>
                        <a:rPr sz="1200" b="0">
                          <a:solidFill>
                            <a:srgbClr val="1F2937"/>
                          </a:solidFill>
                        </a:rPr>
                        <a:t>Bo‘yin umurtqalararo disklariga qon quyilish</a:t>
                      </a:r>
                    </a:p>
                  </a:txBody>
                  <a:tcPr marL="73152" marR="73152" marT="36576" marB="36576">
                    <a:solidFill>
                      <a:srgbClr val="FFFFFF"/>
                    </a:solidFill>
                  </a:tcPr>
                </a:tc>
                <a:tc>
                  <a:txBody>
                    <a:bodyPr/>
                    <a:lstStyle/>
                    <a:p>
                      <a:r>
                        <a:rPr sz="1200" b="0">
                          <a:solidFill>
                            <a:srgbClr val="1F2937"/>
                          </a:solidFill>
                        </a:rPr>
                        <a:t>Cho‘zilish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Bo‘yin cho‘zilishi belgilari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115, 116, 116-117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Bo‘yinni sirtmoq bilan bo‘g‘ish va osilishdan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Refleksogen sohalar ko‘proq ta’sirlanadi, o‘lim yurakning reflektor to‘xtashidan bo‘lishi mumkin.</a:t>
            </a:r>
          </a:p>
          <a:p>
            <a:pPr>
              <a:spcAft>
                <a:spcPts val="800"/>
              </a:spcAft>
            </a:pPr>
            <a:r>
              <a:rPr sz="1800">
                <a:solidFill>
                  <a:srgbClr val="1F2937"/>
                </a:solidFill>
                <a:latin typeface="Calibri"/>
              </a:rPr>
              <a:t>▸  Aksariyat qotillik; kurash va o‘z-o‘zini himoya jarohatlari topilishi mumkin.</a:t>
            </a:r>
          </a:p>
          <a:p>
            <a:pPr>
              <a:spcAft>
                <a:spcPts val="800"/>
              </a:spcAft>
            </a:pPr>
            <a:r>
              <a:rPr sz="1800">
                <a:solidFill>
                  <a:srgbClr val="1F2937"/>
                </a:solidFill>
                <a:latin typeface="Calibri"/>
              </a:rPr>
              <a:t>▸  Til osti suyagi shikasti xos emas; qalqonsimon tog‘ay shoxchalari sinishi mumkin.</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1259041"/>
                <a:gridCol w="1825610"/>
                <a:gridCol w="2203322"/>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Osilish</a:t>
                      </a:r>
                    </a:p>
                  </a:txBody>
                  <a:tcPr marL="73152" marR="73152" marT="36576" marB="36576">
                    <a:solidFill>
                      <a:srgbClr val="0B1F3A"/>
                    </a:solidFill>
                  </a:tcPr>
                </a:tc>
                <a:tc>
                  <a:txBody>
                    <a:bodyPr/>
                    <a:lstStyle/>
                    <a:p>
                      <a:r>
                        <a:rPr sz="1300" b="1">
                          <a:solidFill>
                            <a:srgbClr val="FFFFFF"/>
                          </a:solidFill>
                        </a:rPr>
                        <a:t>Sirtmoq bilan</a:t>
                      </a:r>
                    </a:p>
                  </a:txBody>
                  <a:tcPr marL="73152" marR="73152" marT="36576" marB="36576">
                    <a:solidFill>
                      <a:srgbClr val="0B1F3A"/>
                    </a:solidFill>
                  </a:tcPr>
                </a:tc>
              </a:tr>
              <a:tr h="411480">
                <a:tc>
                  <a:txBody>
                    <a:bodyPr/>
                    <a:lstStyle/>
                    <a:p>
                      <a:r>
                        <a:rPr sz="1200" b="0">
                          <a:solidFill>
                            <a:srgbClr val="1F2937"/>
                          </a:solidFill>
                        </a:rPr>
                        <a:t>Kuch manbai</a:t>
                      </a:r>
                    </a:p>
                  </a:txBody>
                  <a:tcPr marL="73152" marR="73152" marT="36576" marB="36576">
                    <a:solidFill>
                      <a:srgbClr val="E8EEF6"/>
                    </a:solidFill>
                  </a:tcPr>
                </a:tc>
                <a:tc>
                  <a:txBody>
                    <a:bodyPr/>
                    <a:lstStyle/>
                    <a:p>
                      <a:r>
                        <a:rPr sz="1200" b="0">
                          <a:solidFill>
                            <a:srgbClr val="1F2937"/>
                          </a:solidFill>
                        </a:rPr>
                        <a:t>Tana yoki qismining og‘irligi</a:t>
                      </a:r>
                    </a:p>
                  </a:txBody>
                  <a:tcPr marL="73152" marR="73152" marT="36576" marB="36576">
                    <a:solidFill>
                      <a:srgbClr val="E8EEF6"/>
                    </a:solidFill>
                  </a:tcPr>
                </a:tc>
                <a:tc>
                  <a:txBody>
                    <a:bodyPr/>
                    <a:lstStyle/>
                    <a:p>
                      <a:r>
                        <a:rPr sz="1200" b="0">
                          <a:solidFill>
                            <a:srgbClr val="1F2937"/>
                          </a:solidFill>
                        </a:rPr>
                        <a:t>O‘zga kuch ta’siri</a:t>
                      </a:r>
                    </a:p>
                  </a:txBody>
                  <a:tcPr marL="73152" marR="73152" marT="36576" marB="36576">
                    <a:solidFill>
                      <a:srgbClr val="E8EEF6"/>
                    </a:solidFill>
                  </a:tcPr>
                </a:tc>
              </a:tr>
              <a:tr h="411480">
                <a:tc>
                  <a:txBody>
                    <a:bodyPr/>
                    <a:lstStyle/>
                    <a:p>
                      <a:r>
                        <a:rPr sz="1200" b="0">
                          <a:solidFill>
                            <a:srgbClr val="1F2937"/>
                          </a:solidFill>
                        </a:rPr>
                        <a:t>Egat yo‘nalishi</a:t>
                      </a:r>
                    </a:p>
                  </a:txBody>
                  <a:tcPr marL="73152" marR="73152" marT="36576" marB="36576">
                    <a:solidFill>
                      <a:srgbClr val="FFFFFF"/>
                    </a:solidFill>
                  </a:tcPr>
                </a:tc>
                <a:tc>
                  <a:txBody>
                    <a:bodyPr/>
                    <a:lstStyle/>
                    <a:p>
                      <a:r>
                        <a:rPr sz="1200" b="0">
                          <a:solidFill>
                            <a:srgbClr val="1F2937"/>
                          </a:solidFill>
                        </a:rPr>
                        <a:t>Qiyshiq-vertikal</a:t>
                      </a:r>
                    </a:p>
                  </a:txBody>
                  <a:tcPr marL="73152" marR="73152" marT="36576" marB="36576">
                    <a:solidFill>
                      <a:srgbClr val="FFFFFF"/>
                    </a:solidFill>
                  </a:tcPr>
                </a:tc>
                <a:tc>
                  <a:txBody>
                    <a:bodyPr/>
                    <a:lstStyle/>
                    <a:p>
                      <a:r>
                        <a:rPr sz="1200" b="0">
                          <a:solidFill>
                            <a:srgbClr val="1F2937"/>
                          </a:solidFill>
                        </a:rPr>
                        <a:t>Gorizontal</a:t>
                      </a:r>
                    </a:p>
                  </a:txBody>
                  <a:tcPr marL="73152" marR="73152" marT="36576" marB="36576">
                    <a:solidFill>
                      <a:srgbClr val="FFFFFF"/>
                    </a:solidFill>
                  </a:tcPr>
                </a:tc>
              </a:tr>
              <a:tr h="411480">
                <a:tc>
                  <a:txBody>
                    <a:bodyPr/>
                    <a:lstStyle/>
                    <a:p>
                      <a:r>
                        <a:rPr sz="1200" b="0">
                          <a:solidFill>
                            <a:srgbClr val="1F2937"/>
                          </a:solidFill>
                        </a:rPr>
                        <a:t>Egat joyi</a:t>
                      </a:r>
                    </a:p>
                  </a:txBody>
                  <a:tcPr marL="73152" marR="73152" marT="36576" marB="36576">
                    <a:solidFill>
                      <a:srgbClr val="E8EEF6"/>
                    </a:solidFill>
                  </a:tcPr>
                </a:tc>
                <a:tc>
                  <a:txBody>
                    <a:bodyPr/>
                    <a:lstStyle/>
                    <a:p>
                      <a:r>
                        <a:rPr sz="1200" b="0">
                          <a:solidFill>
                            <a:srgbClr val="1F2937"/>
                          </a:solidFill>
                        </a:rPr>
                        <a:t>Til osti suyagidan yuqorida</a:t>
                      </a:r>
                    </a:p>
                  </a:txBody>
                  <a:tcPr marL="73152" marR="73152" marT="36576" marB="36576">
                    <a:solidFill>
                      <a:srgbClr val="E8EEF6"/>
                    </a:solidFill>
                  </a:tcPr>
                </a:tc>
                <a:tc>
                  <a:txBody>
                    <a:bodyPr/>
                    <a:lstStyle/>
                    <a:p>
                      <a:r>
                        <a:rPr sz="1200" b="0">
                          <a:solidFill>
                            <a:srgbClr val="1F2937"/>
                          </a:solidFill>
                        </a:rPr>
                        <a:t>Qalqonsimon tog‘ay sathi va pastroq</a:t>
                      </a:r>
                    </a:p>
                  </a:txBody>
                  <a:tcPr marL="73152" marR="73152" marT="36576" marB="36576">
                    <a:solidFill>
                      <a:srgbClr val="E8EEF6"/>
                    </a:solidFill>
                  </a:tcPr>
                </a:tc>
              </a:tr>
              <a:tr h="411480">
                <a:tc>
                  <a:txBody>
                    <a:bodyPr/>
                    <a:lstStyle/>
                    <a:p>
                      <a:r>
                        <a:rPr sz="1200" b="0">
                          <a:solidFill>
                            <a:srgbClr val="1F2937"/>
                          </a:solidFill>
                        </a:rPr>
                        <a:t>Cho‘zilish belgilari</a:t>
                      </a:r>
                    </a:p>
                  </a:txBody>
                  <a:tcPr marL="73152" marR="73152" marT="36576" marB="36576">
                    <a:solidFill>
                      <a:srgbClr val="FFFFFF"/>
                    </a:solidFill>
                  </a:tcPr>
                </a:tc>
                <a:tc>
                  <a:txBody>
                    <a:bodyPr/>
                    <a:lstStyle/>
                    <a:p>
                      <a:r>
                        <a:rPr sz="1200" b="0">
                          <a:solidFill>
                            <a:srgbClr val="1F2937"/>
                          </a:solidFill>
                        </a:rPr>
                        <a:t>Bo‘lishi mumkin</a:t>
                      </a:r>
                    </a:p>
                  </a:txBody>
                  <a:tcPr marL="73152" marR="73152" marT="36576" marB="36576">
                    <a:solidFill>
                      <a:srgbClr val="FFFFFF"/>
                    </a:solidFill>
                  </a:tcPr>
                </a:tc>
                <a:tc>
                  <a:txBody>
                    <a:bodyPr/>
                    <a:lstStyle/>
                    <a:p>
                      <a:r>
                        <a:rPr sz="1200" b="0">
                          <a:solidFill>
                            <a:srgbClr val="1F2937"/>
                          </a:solidFill>
                        </a:rPr>
                        <a:t>Vujudga kelmaydi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Osilish va sirtmoq bilan bo‘g‘ish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Qo‘l, o‘tmas jism bilan bo‘g‘ish va pozitsion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Qo‘l bilan bo‘g‘ishda bo‘ynda barmoqlardan dumaloq yoki oval qontalashlar, ustida tirnoqdan yoysimon shilinmalar bo‘ladi.</a:t>
            </a:r>
          </a:p>
          <a:p>
            <a:pPr>
              <a:spcAft>
                <a:spcPts val="1200"/>
              </a:spcAft>
            </a:pPr>
            <a:r>
              <a:rPr sz="2200">
                <a:solidFill>
                  <a:srgbClr val="1F2937"/>
                </a:solidFill>
                <a:latin typeface="Calibri"/>
              </a:rPr>
              <a:t>▸  Ichki jarohatlar tashqisidan yaqqolroq: til osti suyagi shoxchalari, qalqonsimon tog‘ay sinishi, yumshoq to‘qimalarga qon quyilishi.</a:t>
            </a:r>
          </a:p>
          <a:p>
            <a:pPr>
              <a:spcAft>
                <a:spcPts val="1200"/>
              </a:spcAft>
            </a:pPr>
            <a:r>
              <a:rPr sz="2200">
                <a:solidFill>
                  <a:srgbClr val="1F2937"/>
                </a:solidFill>
                <a:latin typeface="Calibri"/>
              </a:rPr>
              <a:t>▸  O‘tmas jism (tayoq, stul suyanchig‘i) bilan bo‘g‘ishda izlar asosan ta’sir yuzasi proeksiyasida: qontalash, shilinma, suyak va tog‘ay shikasti.</a:t>
            </a:r>
          </a:p>
          <a:p>
            <a:pPr>
              <a:spcAft>
                <a:spcPts val="1200"/>
              </a:spcAft>
            </a:pPr>
            <a:r>
              <a:rPr sz="2200">
                <a:solidFill>
                  <a:srgbClr val="1F2937"/>
                </a:solidFill>
                <a:latin typeface="Calibri"/>
              </a:rPr>
              <a:t>▸  Pozitsion asfiksiyada egat bo‘lmaydi; bukilish burmasi egatga o‘xshashi mumkin, til osti suyagi va hiqildoq tog‘aylari shikastlanmaydi.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118, 119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strangulyatsion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bo‘yinida gorizontal, tutashgan, bir xil kenglikdagi egat qalqonsimon tog‘ay sathida. Amyuss, Valxer, Simon belgilari topilmagan.</a:t>
            </a:r>
          </a:p>
          <a:p>
            <a:pPr>
              <a:spcAft>
                <a:spcPts val="1200"/>
              </a:spcAft>
            </a:pPr>
            <a:r>
              <a:rPr sz="2200">
                <a:solidFill>
                  <a:srgbClr val="1F2937"/>
                </a:solidFill>
                <a:latin typeface="Calibri"/>
              </a:rPr>
              <a:t>▸  Taqqoslang: tipik osilishda egat bo‘yinning yuqori qismida, til osti suyagidan baland va qiyshiq-vertikal yo‘nalishda bo‘ladi.</a:t>
            </a:r>
          </a:p>
          <a:p>
            <a:pPr>
              <a:spcAft>
                <a:spcPts val="1200"/>
              </a:spcAft>
            </a:pPr>
            <a:r>
              <a:rPr sz="2200">
                <a:solidFill>
                  <a:srgbClr val="1F2937"/>
                </a:solidFill>
                <a:latin typeface="Calibri"/>
              </a:rPr>
              <a:t>▸  Qo‘l bilan bo‘g‘ishda bo‘yinda dumaloq yoki oval qontalashlar va tirnoqdan yoysimon shilinmalar bo‘ladi. Ichki jarohatlar tashqisidan yaqqolroq.</a:t>
            </a:r>
          </a:p>
          <a:p>
            <a:pPr>
              <a:spcAft>
                <a:spcPts val="1200"/>
              </a:spcAft>
            </a:pPr>
            <a:r>
              <a:rPr sz="2200">
                <a:solidFill>
                  <a:srgbClr val="1F2937"/>
                </a:solidFill>
                <a:latin typeface="Calibri"/>
              </a:rPr>
              <a:t>▸  Savol: bu egat qaysi turga xos? Diqqat: osilish ≠ sirtmoq bilan bo‘g‘ish. Osilishda egat yuqorida, bo‘g‘ishda gorizontal va pastroqda.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117, 114, 118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Obturatsion asfiksiya: teshiklar va nafas yo‘llari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Og‘iz-burunni qo‘l yoki yumshoq jism bilan yopish yosh bolalar, holsiz kattalarga qarshi qotillik usuli. Tasodifan yopilish hushsiz holatda uchraydi.</a:t>
            </a:r>
          </a:p>
          <a:p>
            <a:pPr>
              <a:spcAft>
                <a:spcPts val="1200"/>
              </a:spcAft>
            </a:pPr>
            <a:r>
              <a:rPr sz="2000">
                <a:solidFill>
                  <a:srgbClr val="1F2937"/>
                </a:solidFill>
                <a:latin typeface="Calibri"/>
              </a:rPr>
              <a:t>▸  Qarshilik bo‘lmasa, umumasfiktik belgilardan boshqa xos belgi topilmaydi. Qarshilikda og‘iz-burun atrofida qontalash, shilinma, milkda qon quyilish bo‘ladi.</a:t>
            </a:r>
          </a:p>
          <a:p>
            <a:pPr>
              <a:spcAft>
                <a:spcPts val="1200"/>
              </a:spcAft>
            </a:pPr>
            <a:r>
              <a:rPr sz="2000">
                <a:solidFill>
                  <a:srgbClr val="1F2937"/>
                </a:solidFill>
                <a:latin typeface="Calibri"/>
              </a:rPr>
              <a:t>▸  Nafas yo‘lini yot jism, sochiluvchan modda, qon, qusuq yopadi; ko‘pincha baxtsiz hodisa. O‘lim: havo o‘tmasligi, tovush boylami spazmi yoki yurakning reflektor to‘xtashi.</a:t>
            </a:r>
          </a:p>
          <a:p>
            <a:pPr>
              <a:spcAft>
                <a:spcPts val="1200"/>
              </a:spcAft>
            </a:pPr>
            <a:r>
              <a:rPr sz="2000">
                <a:solidFill>
                  <a:srgbClr val="1F2937"/>
                </a:solidFill>
                <a:latin typeface="Calibri"/>
              </a:rPr>
              <a:t>▸  Diqqat: nafas yo‘lidagi qusuq har doim obturatsiya emas. Reanimatsiya, tashish, chirishda ham tushadi, lekin oz va mayda bronxlargacha yetmaydi.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119, 120, 120–121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 chin va asfiktik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Chin cho‘kishda suv alveolalargacha yetadi. Asfiktik turda hiqildoq spazmi suvni traxeya va bronxlarga o‘tkazmaydi.</a:t>
            </a:r>
          </a:p>
          <a:p>
            <a:pPr>
              <a:spcAft>
                <a:spcPts val="800"/>
              </a:spcAft>
            </a:pPr>
            <a:r>
              <a:rPr sz="1800">
                <a:solidFill>
                  <a:srgbClr val="1F2937"/>
                </a:solidFill>
                <a:latin typeface="Calibri"/>
              </a:rPr>
              <a:t>▸  Dengiz suvida qon quyuqlashadi (gipovolemiya); plevra ostidagi pushti-qizg‘ish dog‘lar hosil bo‘lmaydi.</a:t>
            </a:r>
          </a:p>
          <a:p>
            <a:pPr>
              <a:spcAft>
                <a:spcPts val="800"/>
              </a:spcAft>
            </a:pPr>
            <a:r>
              <a:rPr sz="1800">
                <a:solidFill>
                  <a:srgbClr val="1F2937"/>
                </a:solidFill>
                <a:latin typeface="Calibri"/>
              </a:rPr>
              <a:t>▸  Diqqat: Tarde dog‘i ≠ Rasskazov-Lukomskiy-Paltauf dog‘i: ikkinchisi kattaroq, epikard ostida bo‘lmaydi.</a:t>
            </a:r>
          </a:p>
        </p:txBody>
      </p:sp>
      <p:graphicFrame>
        <p:nvGraphicFramePr>
          <p:cNvPr id="9" name="Table 8"/>
          <p:cNvGraphicFramePr>
            <a:graphicFrameLocks noGrp="1"/>
          </p:cNvGraphicFramePr>
          <p:nvPr/>
        </p:nvGraphicFramePr>
        <p:xfrm>
          <a:off x="6263640" y="1463040"/>
          <a:ext cx="5287974" cy="2057400"/>
        </p:xfrm>
        <a:graphic>
          <a:graphicData uri="http://schemas.openxmlformats.org/drawingml/2006/table">
            <a:tbl>
              <a:tblPr firstRow="1" bandRow="1">
                <a:tableStyleId>{5C22544A-7EE6-4342-B048-85BDC9FD1C3A}</a:tableStyleId>
              </a:tblPr>
              <a:tblGrid>
                <a:gridCol w="1057595"/>
                <a:gridCol w="2239612"/>
                <a:gridCol w="1990767"/>
              </a:tblGrid>
              <a:tr h="411480">
                <a:tc>
                  <a:txBody>
                    <a:bodyPr/>
                    <a:lstStyle/>
                    <a:p>
                      <a:r>
                        <a:rPr sz="1300" b="1">
                          <a:solidFill>
                            <a:srgbClr val="FFFFFF"/>
                          </a:solidFill>
                        </a:rPr>
                        <a:t>Belgi</a:t>
                      </a:r>
                    </a:p>
                  </a:txBody>
                  <a:tcPr marL="73152" marR="73152" marT="36576" marB="36576">
                    <a:solidFill>
                      <a:srgbClr val="0B1F3A"/>
                    </a:solidFill>
                  </a:tcPr>
                </a:tc>
                <a:tc>
                  <a:txBody>
                    <a:bodyPr/>
                    <a:lstStyle/>
                    <a:p>
                      <a:r>
                        <a:rPr sz="1300" b="1">
                          <a:solidFill>
                            <a:srgbClr val="FFFFFF"/>
                          </a:solidFill>
                        </a:rPr>
                        <a:t>Chin cho‘kish</a:t>
                      </a:r>
                    </a:p>
                  </a:txBody>
                  <a:tcPr marL="73152" marR="73152" marT="36576" marB="36576">
                    <a:solidFill>
                      <a:srgbClr val="0B1F3A"/>
                    </a:solidFill>
                  </a:tcPr>
                </a:tc>
                <a:tc>
                  <a:txBody>
                    <a:bodyPr/>
                    <a:lstStyle/>
                    <a:p>
                      <a:r>
                        <a:rPr sz="1300" b="1">
                          <a:solidFill>
                            <a:srgbClr val="FFFFFF"/>
                          </a:solidFill>
                        </a:rPr>
                        <a:t>Asfiktik</a:t>
                      </a:r>
                    </a:p>
                  </a:txBody>
                  <a:tcPr marL="73152" marR="73152" marT="36576" marB="36576">
                    <a:solidFill>
                      <a:srgbClr val="0B1F3A"/>
                    </a:solidFill>
                  </a:tcPr>
                </a:tc>
              </a:tr>
              <a:tr h="411480">
                <a:tc>
                  <a:txBody>
                    <a:bodyPr/>
                    <a:lstStyle/>
                    <a:p>
                      <a:r>
                        <a:rPr sz="1200" b="0">
                          <a:solidFill>
                            <a:srgbClr val="1F2937"/>
                          </a:solidFill>
                        </a:rPr>
                        <a:t>Suv nafas yo‘lida</a:t>
                      </a:r>
                    </a:p>
                  </a:txBody>
                  <a:tcPr marL="73152" marR="73152" marT="36576" marB="36576">
                    <a:solidFill>
                      <a:srgbClr val="E8EEF6"/>
                    </a:solidFill>
                  </a:tcPr>
                </a:tc>
                <a:tc>
                  <a:txBody>
                    <a:bodyPr/>
                    <a:lstStyle/>
                    <a:p>
                      <a:r>
                        <a:rPr sz="1200" b="0">
                          <a:solidFill>
                            <a:srgbClr val="1F2937"/>
                          </a:solidFill>
                        </a:rPr>
                        <a:t>Alveolalargacha yetadi</a:t>
                      </a:r>
                    </a:p>
                  </a:txBody>
                  <a:tcPr marL="73152" marR="73152" marT="36576" marB="36576">
                    <a:solidFill>
                      <a:srgbClr val="E8EEF6"/>
                    </a:solidFill>
                  </a:tcPr>
                </a:tc>
                <a:tc>
                  <a:txBody>
                    <a:bodyPr/>
                    <a:lstStyle/>
                    <a:p>
                      <a:r>
                        <a:rPr sz="1200" b="0">
                          <a:solidFill>
                            <a:srgbClr val="1F2937"/>
                          </a:solidFill>
                        </a:rPr>
                        <a:t>Spazm tufayli suv o‘tmaydi</a:t>
                      </a:r>
                    </a:p>
                  </a:txBody>
                  <a:tcPr marL="73152" marR="73152" marT="36576" marB="36576">
                    <a:solidFill>
                      <a:srgbClr val="E8EEF6"/>
                    </a:solidFill>
                  </a:tcPr>
                </a:tc>
              </a:tr>
              <a:tr h="411480">
                <a:tc>
                  <a:txBody>
                    <a:bodyPr/>
                    <a:lstStyle/>
                    <a:p>
                      <a:r>
                        <a:rPr sz="1200" b="0">
                          <a:solidFill>
                            <a:srgbClr val="1F2937"/>
                          </a:solidFill>
                        </a:rPr>
                        <a:t>Ko‘pik</a:t>
                      </a:r>
                    </a:p>
                  </a:txBody>
                  <a:tcPr marL="73152" marR="73152" marT="36576" marB="36576">
                    <a:solidFill>
                      <a:srgbClr val="FFFFFF"/>
                    </a:solidFill>
                  </a:tcPr>
                </a:tc>
                <a:tc>
                  <a:txBody>
                    <a:bodyPr/>
                    <a:lstStyle/>
                    <a:p>
                      <a:r>
                        <a:rPr sz="1200" b="0">
                          <a:solidFill>
                            <a:srgbClr val="1F2937"/>
                          </a:solidFill>
                        </a:rPr>
                        <a:t>Turg‘un mayda pufakli oq ko‘pik</a:t>
                      </a:r>
                    </a:p>
                  </a:txBody>
                  <a:tcPr marL="73152" marR="73152" marT="36576" marB="36576">
                    <a:solidFill>
                      <a:srgbClr val="FFFFFF"/>
                    </a:solidFill>
                  </a:tcPr>
                </a:tc>
                <a:tc>
                  <a:txBody>
                    <a:bodyPr/>
                    <a:lstStyle/>
                    <a:p>
                      <a:r>
                        <a:rPr sz="1200" b="0">
                          <a:solidFill>
                            <a:srgbClr val="1F2937"/>
                          </a:solidFill>
                        </a:rPr>
                        <a:t>Oz, noturg‘un oq ko‘pik</a:t>
                      </a:r>
                    </a:p>
                  </a:txBody>
                  <a:tcPr marL="73152" marR="73152" marT="36576" marB="36576">
                    <a:solidFill>
                      <a:srgbClr val="FFFFFF"/>
                    </a:solidFill>
                  </a:tcPr>
                </a:tc>
              </a:tr>
              <a:tr h="411480">
                <a:tc>
                  <a:txBody>
                    <a:bodyPr/>
                    <a:lstStyle/>
                    <a:p>
                      <a:r>
                        <a:rPr sz="1200" b="0">
                          <a:solidFill>
                            <a:srgbClr val="1F2937"/>
                          </a:solidFill>
                        </a:rPr>
                        <a:t>Plevra osti</a:t>
                      </a:r>
                    </a:p>
                  </a:txBody>
                  <a:tcPr marL="73152" marR="73152" marT="36576" marB="36576">
                    <a:solidFill>
                      <a:srgbClr val="E8EEF6"/>
                    </a:solidFill>
                  </a:tcPr>
                </a:tc>
                <a:tc>
                  <a:txBody>
                    <a:bodyPr/>
                    <a:lstStyle/>
                    <a:p>
                      <a:r>
                        <a:rPr sz="1200" b="0">
                          <a:solidFill>
                            <a:srgbClr val="1F2937"/>
                          </a:solidFill>
                        </a:rPr>
                        <a:t>Rasskazov-Lukomskiy-Paltauf dog‘lari</a:t>
                      </a:r>
                    </a:p>
                  </a:txBody>
                  <a:tcPr marL="73152" marR="73152" marT="36576" marB="36576">
                    <a:solidFill>
                      <a:srgbClr val="E8EEF6"/>
                    </a:solidFill>
                  </a:tcPr>
                </a:tc>
                <a:tc>
                  <a:txBody>
                    <a:bodyPr/>
                    <a:lstStyle/>
                    <a:p>
                      <a:r>
                        <a:rPr sz="1200" b="0">
                          <a:solidFill>
                            <a:srgbClr val="1F2937"/>
                          </a:solidFill>
                        </a:rPr>
                        <a:t>Faqat Tarde dog‘lari</a:t>
                      </a:r>
                    </a:p>
                  </a:txBody>
                  <a:tcPr marL="73152" marR="73152" marT="36576" marB="36576">
                    <a:solidFill>
                      <a:srgbClr val="E8EEF6"/>
                    </a:solidFill>
                  </a:tcPr>
                </a:tc>
              </a:tr>
              <a:tr h="411480">
                <a:tc>
                  <a:txBody>
                    <a:bodyPr/>
                    <a:lstStyle/>
                    <a:p>
                      <a:r>
                        <a:rPr sz="1200" b="0">
                          <a:solidFill>
                            <a:srgbClr val="1F2937"/>
                          </a:solidFill>
                        </a:rPr>
                        <a:t>Oshqozondagi suv</a:t>
                      </a:r>
                    </a:p>
                  </a:txBody>
                  <a:tcPr marL="73152" marR="73152" marT="36576" marB="36576">
                    <a:solidFill>
                      <a:srgbClr val="FFFFFF"/>
                    </a:solidFill>
                  </a:tcPr>
                </a:tc>
                <a:tc>
                  <a:txBody>
                    <a:bodyPr/>
                    <a:lstStyle/>
                    <a:p>
                      <a:r>
                        <a:rPr sz="1200" b="0">
                          <a:solidFill>
                            <a:srgbClr val="1F2937"/>
                          </a:solidFill>
                        </a:rPr>
                        <a:t>300 ml gacha (Fegerlund)</a:t>
                      </a:r>
                    </a:p>
                  </a:txBody>
                  <a:tcPr marL="73152" marR="73152" marT="36576" marB="36576">
                    <a:solidFill>
                      <a:srgbClr val="FFFFFF"/>
                    </a:solidFill>
                  </a:tcPr>
                </a:tc>
                <a:tc>
                  <a:txBody>
                    <a:bodyPr/>
                    <a:lstStyle/>
                    <a:p>
                      <a:r>
                        <a:rPr sz="1200" b="0">
                          <a:solidFill>
                            <a:srgbClr val="1F2937"/>
                          </a:solidFill>
                        </a:rPr>
                        <a:t>1 l gacha, kalla asosida 5–15 ml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Chin va asfiktik cho‘kish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121, 123, 122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Cho‘kishning hayotiyligini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Diatom planktoni kremniyli qobiqli bir hujayrali suv o‘simligi; har bir havzaning o‘ziga xos tarkibi bor.</a:t>
            </a:r>
          </a:p>
          <a:p>
            <a:pPr>
              <a:spcAft>
                <a:spcPts val="800"/>
              </a:spcAft>
            </a:pPr>
            <a:r>
              <a:rPr sz="1800">
                <a:solidFill>
                  <a:srgbClr val="1F2937"/>
                </a:solidFill>
                <a:latin typeface="Calibri"/>
              </a:rPr>
              <a:t>▸  Chin cho‘kishda plankton suyak miya va parenximatoz a’zolarda topiladi; o‘pkada topilsa, ahamiyati yo‘q.</a:t>
            </a:r>
          </a:p>
          <a:p>
            <a:pPr>
              <a:spcAft>
                <a:spcPts val="800"/>
              </a:spcAft>
            </a:pPr>
            <a:r>
              <a:rPr sz="1800">
                <a:solidFill>
                  <a:srgbClr val="1F2937"/>
                </a:solidFill>
                <a:latin typeface="Calibri"/>
              </a:rPr>
              <a:t>▸  Taqqoslash uchun havzadan 1 l suv namunasi olinadi; asfiktik cho‘kishda kalla asosi suyuqligi tekshiriladi.</a:t>
            </a:r>
          </a:p>
        </p:txBody>
      </p:sp>
      <p:graphicFrame>
        <p:nvGraphicFramePr>
          <p:cNvPr id="9" name="Table 8"/>
          <p:cNvGraphicFramePr>
            <a:graphicFrameLocks noGrp="1"/>
          </p:cNvGraphicFramePr>
          <p:nvPr/>
        </p:nvGraphicFramePr>
        <p:xfrm>
          <a:off x="6263640" y="1463040"/>
          <a:ext cx="5287973" cy="2057400"/>
        </p:xfrm>
        <a:graphic>
          <a:graphicData uri="http://schemas.openxmlformats.org/drawingml/2006/table">
            <a:tbl>
              <a:tblPr firstRow="1" bandRow="1">
                <a:tableStyleId>{5C22544A-7EE6-4342-B048-85BDC9FD1C3A}</a:tableStyleId>
              </a:tblPr>
              <a:tblGrid>
                <a:gridCol w="929753"/>
                <a:gridCol w="2033836"/>
                <a:gridCol w="2324384"/>
              </a:tblGrid>
              <a:tr h="411480">
                <a:tc>
                  <a:txBody>
                    <a:bodyPr/>
                    <a:lstStyle/>
                    <a:p>
                      <a:r>
                        <a:rPr sz="1300" b="1">
                          <a:solidFill>
                            <a:srgbClr val="FFFFFF"/>
                          </a:solidFill>
                        </a:rPr>
                        <a:t>Usul</a:t>
                      </a:r>
                    </a:p>
                  </a:txBody>
                  <a:tcPr marL="73152" marR="73152" marT="36576" marB="36576">
                    <a:solidFill>
                      <a:srgbClr val="0B1F3A"/>
                    </a:solidFill>
                  </a:tcPr>
                </a:tc>
                <a:tc>
                  <a:txBody>
                    <a:bodyPr/>
                    <a:lstStyle/>
                    <a:p>
                      <a:r>
                        <a:rPr sz="1300" b="1">
                          <a:solidFill>
                            <a:srgbClr val="FFFFFF"/>
                          </a:solidFill>
                        </a:rPr>
                        <a:t>Nimani ko‘radi</a:t>
                      </a:r>
                    </a:p>
                  </a:txBody>
                  <a:tcPr marL="73152" marR="73152" marT="36576" marB="36576">
                    <a:solidFill>
                      <a:srgbClr val="0B1F3A"/>
                    </a:solidFill>
                  </a:tcPr>
                </a:tc>
                <a:tc>
                  <a:txBody>
                    <a:bodyPr/>
                    <a:lstStyle/>
                    <a:p>
                      <a:r>
                        <a:rPr sz="1300" b="1">
                          <a:solidFill>
                            <a:srgbClr val="FFFFFF"/>
                          </a:solidFill>
                        </a:rPr>
                        <a:t>Izoh</a:t>
                      </a:r>
                    </a:p>
                  </a:txBody>
                  <a:tcPr marL="73152" marR="73152" marT="36576" marB="36576">
                    <a:solidFill>
                      <a:srgbClr val="0B1F3A"/>
                    </a:solidFill>
                  </a:tcPr>
                </a:tc>
              </a:tr>
              <a:tr h="411480">
                <a:tc>
                  <a:txBody>
                    <a:bodyPr/>
                    <a:lstStyle/>
                    <a:p>
                      <a:r>
                        <a:rPr sz="1200" b="0">
                          <a:solidFill>
                            <a:srgbClr val="1F2937"/>
                          </a:solidFill>
                        </a:rPr>
                        <a:t>Diatom plankton</a:t>
                      </a:r>
                    </a:p>
                  </a:txBody>
                  <a:tcPr marL="73152" marR="73152" marT="36576" marB="36576">
                    <a:solidFill>
                      <a:srgbClr val="E8EEF6"/>
                    </a:solidFill>
                  </a:tcPr>
                </a:tc>
                <a:tc>
                  <a:txBody>
                    <a:bodyPr/>
                    <a:lstStyle/>
                    <a:p>
                      <a:r>
                        <a:rPr sz="1200" b="0">
                          <a:solidFill>
                            <a:srgbClr val="1F2937"/>
                          </a:solidFill>
                        </a:rPr>
                        <a:t>Qon va a’zolarda plankton topilishi</a:t>
                      </a:r>
                    </a:p>
                  </a:txBody>
                  <a:tcPr marL="73152" marR="73152" marT="36576" marB="36576">
                    <a:solidFill>
                      <a:srgbClr val="E8EEF6"/>
                    </a:solidFill>
                  </a:tcPr>
                </a:tc>
                <a:tc>
                  <a:txBody>
                    <a:bodyPr/>
                    <a:lstStyle/>
                    <a:p>
                      <a:r>
                        <a:rPr sz="1200" b="0">
                          <a:solidFill>
                            <a:srgbClr val="1F2937"/>
                          </a:solidFill>
                        </a:rPr>
                        <a:t>Havza suvidagi planktonga mos kelishi</a:t>
                      </a:r>
                    </a:p>
                  </a:txBody>
                  <a:tcPr marL="73152" marR="73152" marT="36576" marB="36576">
                    <a:solidFill>
                      <a:srgbClr val="E8EEF6"/>
                    </a:solidFill>
                  </a:tcPr>
                </a:tc>
              </a:tr>
              <a:tr h="411480">
                <a:tc>
                  <a:txBody>
                    <a:bodyPr/>
                    <a:lstStyle/>
                    <a:p>
                      <a:r>
                        <a:rPr sz="1200" b="0">
                          <a:solidFill>
                            <a:srgbClr val="1F2937"/>
                          </a:solidFill>
                        </a:rPr>
                        <a:t>Psevdoplankton</a:t>
                      </a:r>
                    </a:p>
                  </a:txBody>
                  <a:tcPr marL="73152" marR="73152" marT="36576" marB="36576">
                    <a:solidFill>
                      <a:srgbClr val="FFFFFF"/>
                    </a:solidFill>
                  </a:tcPr>
                </a:tc>
                <a:tc>
                  <a:txBody>
                    <a:bodyPr/>
                    <a:lstStyle/>
                    <a:p>
                      <a:r>
                        <a:rPr sz="1200" b="0">
                          <a:solidFill>
                            <a:srgbClr val="1F2937"/>
                          </a:solidFill>
                        </a:rPr>
                        <a:t>Qum, o‘simlik changi zarrachalari</a:t>
                      </a:r>
                    </a:p>
                  </a:txBody>
                  <a:tcPr marL="73152" marR="73152" marT="36576" marB="36576">
                    <a:solidFill>
                      <a:srgbClr val="FFFFFF"/>
                    </a:solidFill>
                  </a:tcPr>
                </a:tc>
                <a:tc>
                  <a:txBody>
                    <a:bodyPr/>
                    <a:lstStyle/>
                    <a:p>
                      <a:r>
                        <a:rPr sz="1200" b="0">
                          <a:solidFill>
                            <a:srgbClr val="1F2937"/>
                          </a:solidFill>
                        </a:rPr>
                        <a:t>Polyarizatsion mikroskopiyada aniqlanadi</a:t>
                      </a:r>
                    </a:p>
                  </a:txBody>
                  <a:tcPr marL="73152" marR="73152" marT="36576" marB="36576">
                    <a:solidFill>
                      <a:srgbClr val="FFFFFF"/>
                    </a:solidFill>
                  </a:tcPr>
                </a:tc>
              </a:tr>
              <a:tr h="411480">
                <a:tc>
                  <a:txBody>
                    <a:bodyPr/>
                    <a:lstStyle/>
                    <a:p>
                      <a:r>
                        <a:rPr sz="1200" b="0">
                          <a:solidFill>
                            <a:srgbClr val="1F2937"/>
                          </a:solidFill>
                        </a:rPr>
                        <a:t>Bakteriologik</a:t>
                      </a:r>
                    </a:p>
                  </a:txBody>
                  <a:tcPr marL="73152" marR="73152" marT="36576" marB="36576">
                    <a:solidFill>
                      <a:srgbClr val="E8EEF6"/>
                    </a:solidFill>
                  </a:tcPr>
                </a:tc>
                <a:tc>
                  <a:txBody>
                    <a:bodyPr/>
                    <a:lstStyle/>
                    <a:p>
                      <a:r>
                        <a:rPr sz="1200" b="0">
                          <a:solidFill>
                            <a:srgbClr val="1F2937"/>
                          </a:solidFill>
                        </a:rPr>
                        <a:t>Pseudomonas putida, fluorescens</a:t>
                      </a:r>
                    </a:p>
                  </a:txBody>
                  <a:tcPr marL="73152" marR="73152" marT="36576" marB="36576">
                    <a:solidFill>
                      <a:srgbClr val="E8EEF6"/>
                    </a:solidFill>
                  </a:tcPr>
                </a:tc>
                <a:tc>
                  <a:txBody>
                    <a:bodyPr/>
                    <a:lstStyle/>
                    <a:p>
                      <a:r>
                        <a:rPr sz="1200" b="0">
                          <a:solidFill>
                            <a:srgbClr val="1F2937"/>
                          </a:solidFill>
                        </a:rPr>
                        <a:t>Suvga hayotiy tushganlik tasdig‘i</a:t>
                      </a:r>
                    </a:p>
                  </a:txBody>
                  <a:tcPr marL="73152" marR="73152" marT="36576" marB="36576">
                    <a:solidFill>
                      <a:srgbClr val="E8EEF6"/>
                    </a:solidFill>
                  </a:tcPr>
                </a:tc>
              </a:tr>
              <a:tr h="411480">
                <a:tc>
                  <a:txBody>
                    <a:bodyPr/>
                    <a:lstStyle/>
                    <a:p>
                      <a:r>
                        <a:rPr sz="1200" b="0">
                          <a:solidFill>
                            <a:srgbClr val="1F2937"/>
                          </a:solidFill>
                        </a:rPr>
                        <a:t>Krioskopik va b.</a:t>
                      </a:r>
                    </a:p>
                  </a:txBody>
                  <a:tcPr marL="73152" marR="73152" marT="36576" marB="36576">
                    <a:solidFill>
                      <a:srgbClr val="FFFFFF"/>
                    </a:solidFill>
                  </a:tcPr>
                </a:tc>
                <a:tc>
                  <a:txBody>
                    <a:bodyPr/>
                    <a:lstStyle/>
                    <a:p>
                      <a:r>
                        <a:rPr sz="1200" b="0">
                          <a:solidFill>
                            <a:srgbClr val="1F2937"/>
                          </a:solidFill>
                        </a:rPr>
                        <a:t>Chap va o‘ng yurak qoni xususiyati</a:t>
                      </a:r>
                    </a:p>
                  </a:txBody>
                  <a:tcPr marL="73152" marR="73152" marT="36576" marB="36576">
                    <a:solidFill>
                      <a:srgbClr val="FFFFFF"/>
                    </a:solidFill>
                  </a:tcPr>
                </a:tc>
                <a:tc>
                  <a:txBody>
                    <a:bodyPr/>
                    <a:lstStyle/>
                    <a:p>
                      <a:r>
                        <a:rPr sz="1200" b="0">
                          <a:solidFill>
                            <a:srgbClr val="1F2937"/>
                          </a:solidFill>
                        </a:rPr>
                        <a:t>Muzlash, nur sindirish, o‘tkazuvchanlik</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Laboratoriya usullari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124, 125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suvda bo‘lganlik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Murda tez soviydi, teri oqaradi, “g‘oz terisi” bo‘ladi; tana loy va suv o‘tlari bilan ifloslanadi.</a:t>
            </a:r>
          </a:p>
          <a:p>
            <a:pPr>
              <a:spcAft>
                <a:spcPts val="800"/>
              </a:spcAft>
            </a:pPr>
            <a:r>
              <a:rPr sz="1800">
                <a:solidFill>
                  <a:srgbClr val="1F2937"/>
                </a:solidFill>
                <a:latin typeface="Calibri"/>
              </a:rPr>
              <a:t>▸  Soch 10-15 kunda oson sug‘uriladi; tezlik harorat, kiyim va yoshga bog‘liq, o‘lim sababiga emas.</a:t>
            </a:r>
          </a:p>
          <a:p>
            <a:pPr>
              <a:spcAft>
                <a:spcPts val="800"/>
              </a:spcAft>
            </a:pPr>
            <a:r>
              <a:rPr sz="1800">
                <a:solidFill>
                  <a:srgbClr val="1F2937"/>
                </a:solidFill>
                <a:latin typeface="Calibri"/>
              </a:rPr>
              <a:t>▸  Suvga tushgan zahoti reflektor to‘xtashda asfiksiya belgilari ulgurmaydi — bu suvdagi to‘satdan o‘lim.</a:t>
            </a:r>
          </a:p>
        </p:txBody>
      </p:sp>
      <p:graphicFrame>
        <p:nvGraphicFramePr>
          <p:cNvPr id="9" name="Table 8"/>
          <p:cNvGraphicFramePr>
            <a:graphicFrameLocks noGrp="1"/>
          </p:cNvGraphicFramePr>
          <p:nvPr/>
        </p:nvGraphicFramePr>
        <p:xfrm>
          <a:off x="6263640" y="1463040"/>
          <a:ext cx="5287975" cy="2057400"/>
        </p:xfrm>
        <a:graphic>
          <a:graphicData uri="http://schemas.openxmlformats.org/drawingml/2006/table">
            <a:tbl>
              <a:tblPr firstRow="1" bandRow="1">
                <a:tableStyleId>{5C22544A-7EE6-4342-B048-85BDC9FD1C3A}</a:tableStyleId>
              </a:tblPr>
              <a:tblGrid>
                <a:gridCol w="1510850"/>
                <a:gridCol w="3777125"/>
              </a:tblGrid>
              <a:tr h="411480">
                <a:tc>
                  <a:txBody>
                    <a:bodyPr/>
                    <a:lstStyle/>
                    <a:p>
                      <a:r>
                        <a:rPr sz="1400" b="1">
                          <a:solidFill>
                            <a:srgbClr val="FFFFFF"/>
                          </a:solidFill>
                        </a:rPr>
                        <a:t>Muddat</a:t>
                      </a:r>
                    </a:p>
                  </a:txBody>
                  <a:tcPr marL="73152" marR="73152" marT="36576" marB="36576">
                    <a:solidFill>
                      <a:srgbClr val="0B1F3A"/>
                    </a:solidFill>
                  </a:tcPr>
                </a:tc>
                <a:tc>
                  <a:txBody>
                    <a:bodyPr/>
                    <a:lstStyle/>
                    <a:p>
                      <a:r>
                        <a:rPr sz="1400" b="1">
                          <a:solidFill>
                            <a:srgbClr val="FFFFFF"/>
                          </a:solidFill>
                        </a:rPr>
                        <a:t>Teridagi o‘zgarish</a:t>
                      </a:r>
                    </a:p>
                  </a:txBody>
                  <a:tcPr marL="73152" marR="73152" marT="36576" marB="36576">
                    <a:solidFill>
                      <a:srgbClr val="0B1F3A"/>
                    </a:solidFill>
                  </a:tcPr>
                </a:tc>
              </a:tr>
              <a:tr h="411480">
                <a:tc>
                  <a:txBody>
                    <a:bodyPr/>
                    <a:lstStyle/>
                    <a:p>
                      <a:r>
                        <a:rPr sz="1300" b="0">
                          <a:solidFill>
                            <a:srgbClr val="1F2937"/>
                          </a:solidFill>
                        </a:rPr>
                        <a:t>Bir necha soat</a:t>
                      </a:r>
                    </a:p>
                  </a:txBody>
                  <a:tcPr marL="73152" marR="73152" marT="36576" marB="36576">
                    <a:solidFill>
                      <a:srgbClr val="E8EEF6"/>
                    </a:solidFill>
                  </a:tcPr>
                </a:tc>
                <a:tc>
                  <a:txBody>
                    <a:bodyPr/>
                    <a:lstStyle/>
                    <a:p>
                      <a:r>
                        <a:rPr sz="1300" b="0">
                          <a:solidFill>
                            <a:srgbClr val="1F2937"/>
                          </a:solidFill>
                        </a:rPr>
                        <a:t>Qo‘l, oyoq barmoqlari oqarib bujmayadi</a:t>
                      </a:r>
                    </a:p>
                  </a:txBody>
                  <a:tcPr marL="73152" marR="73152" marT="36576" marB="36576">
                    <a:solidFill>
                      <a:srgbClr val="E8EEF6"/>
                    </a:solidFill>
                  </a:tcPr>
                </a:tc>
              </a:tr>
              <a:tr h="411480">
                <a:tc>
                  <a:txBody>
                    <a:bodyPr/>
                    <a:lstStyle/>
                    <a:p>
                      <a:r>
                        <a:rPr sz="1300" b="0">
                          <a:solidFill>
                            <a:srgbClr val="1F2937"/>
                          </a:solidFill>
                        </a:rPr>
                        <a:t>2-5 kun</a:t>
                      </a:r>
                    </a:p>
                  </a:txBody>
                  <a:tcPr marL="73152" marR="73152" marT="36576" marB="36576">
                    <a:solidFill>
                      <a:srgbClr val="FFFFFF"/>
                    </a:solidFill>
                  </a:tcPr>
                </a:tc>
                <a:tc>
                  <a:txBody>
                    <a:bodyPr/>
                    <a:lstStyle/>
                    <a:p>
                      <a:r>
                        <a:rPr sz="1300" b="0">
                          <a:solidFill>
                            <a:srgbClr val="1F2937"/>
                          </a:solidFill>
                        </a:rPr>
                        <a:t>Qo‘l kafti: “kir yuvuvchi qo‘li”</a:t>
                      </a:r>
                    </a:p>
                  </a:txBody>
                  <a:tcPr marL="73152" marR="73152" marT="36576" marB="36576">
                    <a:solidFill>
                      <a:srgbClr val="FFFFFF"/>
                    </a:solidFill>
                  </a:tcPr>
                </a:tc>
              </a:tr>
              <a:tr h="411480">
                <a:tc>
                  <a:txBody>
                    <a:bodyPr/>
                    <a:lstStyle/>
                    <a:p>
                      <a:r>
                        <a:rPr sz="1300" b="0">
                          <a:solidFill>
                            <a:srgbClr val="1F2937"/>
                          </a:solidFill>
                        </a:rPr>
                        <a:t>5-8 kun</a:t>
                      </a:r>
                    </a:p>
                  </a:txBody>
                  <a:tcPr marL="73152" marR="73152" marT="36576" marB="36576">
                    <a:solidFill>
                      <a:srgbClr val="E8EEF6"/>
                    </a:solidFill>
                  </a:tcPr>
                </a:tc>
                <a:tc>
                  <a:txBody>
                    <a:bodyPr/>
                    <a:lstStyle/>
                    <a:p>
                      <a:r>
                        <a:rPr sz="1300" b="0">
                          <a:solidFill>
                            <a:srgbClr val="1F2937"/>
                          </a:solidFill>
                        </a:rPr>
                        <a:t>Oyoq tovoni to‘liq qamraladi</a:t>
                      </a:r>
                    </a:p>
                  </a:txBody>
                  <a:tcPr marL="73152" marR="73152" marT="36576" marB="36576">
                    <a:solidFill>
                      <a:srgbClr val="E8EEF6"/>
                    </a:solidFill>
                  </a:tcPr>
                </a:tc>
              </a:tr>
              <a:tr h="411480">
                <a:tc>
                  <a:txBody>
                    <a:bodyPr/>
                    <a:lstStyle/>
                    <a:p>
                      <a:r>
                        <a:rPr sz="1300" b="0">
                          <a:solidFill>
                            <a:srgbClr val="1F2937"/>
                          </a:solidFill>
                        </a:rPr>
                        <a:t>2-3 hafta</a:t>
                      </a:r>
                    </a:p>
                  </a:txBody>
                  <a:tcPr marL="73152" marR="73152" marT="36576" marB="36576">
                    <a:solidFill>
                      <a:srgbClr val="FFFFFF"/>
                    </a:solidFill>
                  </a:tcPr>
                </a:tc>
                <a:tc>
                  <a:txBody>
                    <a:bodyPr/>
                    <a:lstStyle/>
                    <a:p>
                      <a:r>
                        <a:rPr sz="1300" b="0">
                          <a:solidFill>
                            <a:srgbClr val="1F2937"/>
                          </a:solidFill>
                        </a:rPr>
                        <a:t>Kaft terisi “o‘lim qo‘lqopi” bo‘lib tushadi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Teri o‘zgarishlari vaqti</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127, 128-129, 124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va tezkor savol 3: cho‘kish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Voqea: suvdan chiqarilgan murdaning nafas yo‘llarida oz miqdorda oshqozon massasi topildi; kichik bronx va alveolalarda yo‘q.</a:t>
            </a:r>
          </a:p>
          <a:p>
            <a:pPr>
              <a:spcAft>
                <a:spcPts val="1200"/>
              </a:spcAft>
            </a:pPr>
            <a:r>
              <a:rPr sz="2200">
                <a:solidFill>
                  <a:srgbClr val="1F2937"/>
                </a:solidFill>
                <a:latin typeface="Calibri"/>
              </a:rPr>
              <a:t>▸  Diqqat: nafas yo‘lida qusuq topilishi ≠ obturatsion asfiksiya isboti. Savol: bu massa qanday yo‘l bilan tushishi mumkin?</a:t>
            </a:r>
          </a:p>
          <a:p>
            <a:pPr>
              <a:spcAft>
                <a:spcPts val="1200"/>
              </a:spcAft>
            </a:pPr>
            <a:r>
              <a:rPr sz="2200">
                <a:solidFill>
                  <a:srgbClr val="1F2937"/>
                </a:solidFill>
                <a:latin typeface="Calibri"/>
              </a:rPr>
              <a:t>▸  Javob: massa reanimatsiyada yurak massajida, murda tashilganda va chirishda ham tushadi; miqdori oz bo‘ladi.</a:t>
            </a:r>
          </a:p>
          <a:p>
            <a:pPr>
              <a:spcAft>
                <a:spcPts val="1200"/>
              </a:spcAft>
            </a:pPr>
            <a:r>
              <a:rPr sz="2200">
                <a:solidFill>
                  <a:srgbClr val="1F2937"/>
                </a:solidFill>
                <a:latin typeface="Calibri"/>
              </a:rPr>
              <a:t>▸  Tezkor savol: chin va asfiktik cho‘kish nimasi bilan farqlanadi? Suv alveolagacha yetadimi yoki laringospazm to‘sadimi?</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120-121, 121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Kompression va cheklangan muhitdagi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79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Faqat ko‘krak qisilishi faqat qorin qisilishidan xavfliroq; frontal qisilish yonlamadan xavfliroq.</a:t>
            </a:r>
          </a:p>
          <a:p>
            <a:pPr>
              <a:spcAft>
                <a:spcPts val="800"/>
              </a:spcAft>
            </a:pPr>
            <a:r>
              <a:rPr sz="1800">
                <a:solidFill>
                  <a:srgbClr val="1F2937"/>
                </a:solidFill>
                <a:latin typeface="Calibri"/>
              </a:rPr>
              <a:t>▸  Ekximotik niqob (Olive-Danjer belgisi) va o‘pkaning karmin shishishi (Lakkasan belgisi) xos belgilar.</a:t>
            </a:r>
          </a:p>
          <a:p>
            <a:pPr>
              <a:spcAft>
                <a:spcPts val="800"/>
              </a:spcAft>
            </a:pPr>
            <a:r>
              <a:rPr sz="1800">
                <a:solidFill>
                  <a:srgbClr val="1F2937"/>
                </a:solidFill>
                <a:latin typeface="Calibri"/>
              </a:rPr>
              <a:t>▸  Karbonat angidrid kattalarda 8-10% da o‘limga olib keladi; bolalarda 2,0-2,5% da xavfli.</a:t>
            </a:r>
          </a:p>
        </p:txBody>
      </p:sp>
      <p:graphicFrame>
        <p:nvGraphicFramePr>
          <p:cNvPr id="9" name="Table 8"/>
          <p:cNvGraphicFramePr>
            <a:graphicFrameLocks noGrp="1"/>
          </p:cNvGraphicFramePr>
          <p:nvPr/>
        </p:nvGraphicFramePr>
        <p:xfrm>
          <a:off x="6263640" y="1463040"/>
          <a:ext cx="5287973" cy="1645920"/>
        </p:xfrm>
        <a:graphic>
          <a:graphicData uri="http://schemas.openxmlformats.org/drawingml/2006/table">
            <a:tbl>
              <a:tblPr firstRow="1" bandRow="1">
                <a:tableStyleId>{5C22544A-7EE6-4342-B048-85BDC9FD1C3A}</a:tableStyleId>
              </a:tblPr>
              <a:tblGrid>
                <a:gridCol w="881329"/>
                <a:gridCol w="2203322"/>
                <a:gridCol w="2203322"/>
              </a:tblGrid>
              <a:tr h="411480">
                <a:tc>
                  <a:txBody>
                    <a:bodyPr/>
                    <a:lstStyle/>
                    <a:p>
                      <a:r>
                        <a:rPr sz="1300" b="1">
                          <a:solidFill>
                            <a:srgbClr val="FFFFFF"/>
                          </a:solidFill>
                        </a:rPr>
                        <a:t>Jihat</a:t>
                      </a:r>
                    </a:p>
                  </a:txBody>
                  <a:tcPr marL="73152" marR="73152" marT="36576" marB="36576">
                    <a:solidFill>
                      <a:srgbClr val="0B1F3A"/>
                    </a:solidFill>
                  </a:tcPr>
                </a:tc>
                <a:tc>
                  <a:txBody>
                    <a:bodyPr/>
                    <a:lstStyle/>
                    <a:p>
                      <a:r>
                        <a:rPr sz="1300" b="1">
                          <a:solidFill>
                            <a:srgbClr val="FFFFFF"/>
                          </a:solidFill>
                        </a:rPr>
                        <a:t>Kompression</a:t>
                      </a:r>
                    </a:p>
                  </a:txBody>
                  <a:tcPr marL="73152" marR="73152" marT="36576" marB="36576">
                    <a:solidFill>
                      <a:srgbClr val="0B1F3A"/>
                    </a:solidFill>
                  </a:tcPr>
                </a:tc>
                <a:tc>
                  <a:txBody>
                    <a:bodyPr/>
                    <a:lstStyle/>
                    <a:p>
                      <a:r>
                        <a:rPr sz="1300" b="1">
                          <a:solidFill>
                            <a:srgbClr val="FFFFFF"/>
                          </a:solidFill>
                        </a:rPr>
                        <a:t>Cheklangan</a:t>
                      </a:r>
                    </a:p>
                  </a:txBody>
                  <a:tcPr marL="73152" marR="73152" marT="36576" marB="36576">
                    <a:solidFill>
                      <a:srgbClr val="0B1F3A"/>
                    </a:solidFill>
                  </a:tcPr>
                </a:tc>
              </a:tr>
              <a:tr h="411480">
                <a:tc>
                  <a:txBody>
                    <a:bodyPr/>
                    <a:lstStyle/>
                    <a:p>
                      <a:r>
                        <a:rPr sz="1200" b="0">
                          <a:solidFill>
                            <a:srgbClr val="1F2937"/>
                          </a:solidFill>
                        </a:rPr>
                        <a:t>Sabab</a:t>
                      </a:r>
                    </a:p>
                  </a:txBody>
                  <a:tcPr marL="73152" marR="73152" marT="36576" marB="36576">
                    <a:solidFill>
                      <a:srgbClr val="E8EEF6"/>
                    </a:solidFill>
                  </a:tcPr>
                </a:tc>
                <a:tc>
                  <a:txBody>
                    <a:bodyPr/>
                    <a:lstStyle/>
                    <a:p>
                      <a:r>
                        <a:rPr sz="1200" b="0">
                          <a:solidFill>
                            <a:srgbClr val="1F2937"/>
                          </a:solidFill>
                        </a:rPr>
                        <a:t>Ko‘krak, qorin o‘tmas jism bilan qisiladi</a:t>
                      </a:r>
                    </a:p>
                  </a:txBody>
                  <a:tcPr marL="73152" marR="73152" marT="36576" marB="36576">
                    <a:solidFill>
                      <a:srgbClr val="E8EEF6"/>
                    </a:solidFill>
                  </a:tcPr>
                </a:tc>
                <a:tc>
                  <a:txBody>
                    <a:bodyPr/>
                    <a:lstStyle/>
                    <a:p>
                      <a:r>
                        <a:rPr sz="1200" b="0">
                          <a:solidFill>
                            <a:srgbClr val="1F2937"/>
                          </a:solidFill>
                        </a:rPr>
                        <a:t>Kislorod kamayadi, karbonat angidrid ortadi</a:t>
                      </a:r>
                    </a:p>
                  </a:txBody>
                  <a:tcPr marL="73152" marR="73152" marT="36576" marB="36576">
                    <a:solidFill>
                      <a:srgbClr val="E8EEF6"/>
                    </a:solidFill>
                  </a:tcPr>
                </a:tc>
              </a:tr>
              <a:tr h="411480">
                <a:tc>
                  <a:txBody>
                    <a:bodyPr/>
                    <a:lstStyle/>
                    <a:p>
                      <a:r>
                        <a:rPr sz="1200" b="0">
                          <a:solidFill>
                            <a:srgbClr val="1F2937"/>
                          </a:solidFill>
                        </a:rPr>
                        <a:t>Xos belgi</a:t>
                      </a:r>
                    </a:p>
                  </a:txBody>
                  <a:tcPr marL="73152" marR="73152" marT="36576" marB="36576">
                    <a:solidFill>
                      <a:srgbClr val="FFFFFF"/>
                    </a:solidFill>
                  </a:tcPr>
                </a:tc>
                <a:tc>
                  <a:txBody>
                    <a:bodyPr/>
                    <a:lstStyle/>
                    <a:p>
                      <a:r>
                        <a:rPr sz="1200" b="0">
                          <a:solidFill>
                            <a:srgbClr val="1F2937"/>
                          </a:solidFill>
                        </a:rPr>
                        <a:t>Ekximotik niqob, karmin shishish</a:t>
                      </a:r>
                    </a:p>
                  </a:txBody>
                  <a:tcPr marL="73152" marR="73152" marT="36576" marB="36576">
                    <a:solidFill>
                      <a:srgbClr val="FFFFFF"/>
                    </a:solidFill>
                  </a:tcPr>
                </a:tc>
                <a:tc>
                  <a:txBody>
                    <a:bodyPr/>
                    <a:lstStyle/>
                    <a:p>
                      <a:r>
                        <a:rPr sz="1200" b="0">
                          <a:solidFill>
                            <a:srgbClr val="1F2937"/>
                          </a:solidFill>
                        </a:rPr>
                        <a:t>Xos belgi yo‘q, tez o‘lim belgilari</a:t>
                      </a:r>
                    </a:p>
                  </a:txBody>
                  <a:tcPr marL="73152" marR="73152" marT="36576" marB="36576">
                    <a:solidFill>
                      <a:srgbClr val="FFFFFF"/>
                    </a:solidFill>
                  </a:tcPr>
                </a:tc>
              </a:tr>
              <a:tr h="411480">
                <a:tc>
                  <a:txBody>
                    <a:bodyPr/>
                    <a:lstStyle/>
                    <a:p>
                      <a:r>
                        <a:rPr sz="1200" b="0">
                          <a:solidFill>
                            <a:srgbClr val="1F2937"/>
                          </a:solidFill>
                        </a:rPr>
                        <a:t>Misol</a:t>
                      </a:r>
                    </a:p>
                  </a:txBody>
                  <a:tcPr marL="73152" marR="73152" marT="36576" marB="36576">
                    <a:solidFill>
                      <a:srgbClr val="E8EEF6"/>
                    </a:solidFill>
                  </a:tcPr>
                </a:tc>
                <a:tc>
                  <a:txBody>
                    <a:bodyPr/>
                    <a:lstStyle/>
                    <a:p>
                      <a:r>
                        <a:rPr sz="1200" b="0">
                          <a:solidFill>
                            <a:srgbClr val="1F2937"/>
                          </a:solidFill>
                        </a:rPr>
                        <a:t>Ko‘chki, olomon, bino qulashi</a:t>
                      </a:r>
                    </a:p>
                  </a:txBody>
                  <a:tcPr marL="73152" marR="73152" marT="36576" marB="36576">
                    <a:solidFill>
                      <a:srgbClr val="E8EEF6"/>
                    </a:solidFill>
                  </a:tcPr>
                </a:tc>
                <a:tc>
                  <a:txBody>
                    <a:bodyPr/>
                    <a:lstStyle/>
                    <a:p>
                      <a:r>
                        <a:rPr sz="1200" b="0">
                          <a:solidFill>
                            <a:srgbClr val="1F2937"/>
                          </a:solidFill>
                        </a:rPr>
                        <a:t>Quduq, sovutkich, plastik qopcha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turni solishtirish</a:t>
            </a:r>
          </a:p>
        </p:txBody>
      </p:sp>
      <p:sp>
        <p:nvSpPr>
          <p:cNvPr id="11" name="TextBox 10"/>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129, 130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yakuniy voqea tahlili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79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Mexanik asfiksiyaning uch turi: qisilishdan, yopilishdan va cheklangan muhitdagi asfiksiya. Qisilish strangulyatsion va kompression bo‘ladi.</a:t>
            </a:r>
          </a:p>
          <a:p>
            <a:pPr>
              <a:spcAft>
                <a:spcPts val="1200"/>
              </a:spcAft>
            </a:pPr>
            <a:r>
              <a:rPr sz="2200">
                <a:solidFill>
                  <a:srgbClr val="1F2937"/>
                </a:solidFill>
                <a:latin typeface="Calibri"/>
              </a:rPr>
              <a:t>▸  Tarde dog‘lari, suyuq to‘q qon kabi umumasfiktik belgilar spetsifik emas; asfiktik yurak, kamqon va qisqargan taloq nisbatan patognomik. Majmua baholanadi.</a:t>
            </a:r>
          </a:p>
          <a:p>
            <a:pPr>
              <a:spcAft>
                <a:spcPts val="1200"/>
              </a:spcAft>
            </a:pPr>
            <a:r>
              <a:rPr sz="2200">
                <a:solidFill>
                  <a:srgbClr val="1F2937"/>
                </a:solidFill>
                <a:latin typeface="Calibri"/>
              </a:rPr>
              <a:t>▸  Osilishda egat yuqorida, qiyshiq bo‘lib, cho‘zilish belgilari (Amyuss) bo‘lishi mumkin; sirtmoq bilan bo‘g‘ishda egat gorizontal, pastroq, bunday belgilar yo‘q.</a:t>
            </a:r>
          </a:p>
          <a:p>
            <a:pPr>
              <a:spcAft>
                <a:spcPts val="1200"/>
              </a:spcAft>
            </a:pPr>
            <a:r>
              <a:rPr sz="2200">
                <a:solidFill>
                  <a:srgbClr val="1F2937"/>
                </a:solidFill>
                <a:latin typeface="Calibri"/>
              </a:rPr>
              <a:t>▸  Voqea tahlili: bo‘yinda gorizontal, tutashgan egat, qalqonsimon tog‘ay shoxchalari singan, Amyuss belgisi yo‘q. Qaysi tur ehtimol va nega?</a:t>
            </a:r>
          </a:p>
        </p:txBody>
      </p:sp>
      <p:sp>
        <p:nvSpPr>
          <p:cNvPr id="9" name="TextBox 8"/>
          <p:cNvSpPr txBox="1"/>
          <p:nvPr/>
        </p:nvSpPr>
        <p:spPr>
          <a:xfrm>
            <a:off x="640080" y="6053328"/>
            <a:ext cx="10911535" cy="320040"/>
          </a:xfrm>
          <a:prstGeom prst="rect">
            <a:avLst/>
          </a:prstGeom>
          <a:noFill/>
        </p:spPr>
        <p:txBody>
          <a:bodyPr wrap="square">
            <a:spAutoFit/>
          </a:bodyPr>
          <a:lstStyle/>
          <a:p>
            <a:r>
              <a:rPr sz="1000" b="0">
                <a:solidFill>
                  <a:srgbClr val="6B7280"/>
                </a:solidFill>
                <a:latin typeface="Calibri"/>
              </a:rPr>
              <a:t>Manba: G‘iyosov Z.A., Sud tibbiyoti: darslik, betlar: 105, 111, 115-117, 117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79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fakt: asfiksiya kechishi bo‘yicha tibbiyot tarixida faqat bitta tajriba qayd etilgan. 1905-yilda N. Minovici o‘zida, yordamchilari ishtirokida osilish tajribasini o‘tkazgan. Shuning uchun bosqichlar vaqti shartli va taxminiy.</a:t>
            </a:r>
          </a:p>
          <a:p>
            <a:pPr>
              <a:spcAft>
                <a:spcPts val="1200"/>
              </a:spcAft>
            </a:pPr>
            <a:r>
              <a:rPr sz="1800">
                <a:solidFill>
                  <a:srgbClr val="1F2937"/>
                </a:solidFill>
                <a:latin typeface="Calibri"/>
              </a:rPr>
              <a:t>▸  Eslab qolish usuli (Tarde va Rasskazov-Lukomskiy-Paltauf dog‘lari): Tarde dog‘lari mayda (2-3 mm), to‘q qizil, plevra va epikard ostida. Rasskazov-Lukomskiy-Paltauf dog‘lari kattaroq, pushti-qizg‘ish, faqat plevra ostida; epikardda va dengiz suvida cho‘kishda bo‘lmaydi.</a:t>
            </a:r>
          </a:p>
          <a:p>
            <a:pPr>
              <a:spcAft>
                <a:spcPts val="1200"/>
              </a:spcAft>
            </a:pPr>
            <a:r>
              <a:rPr sz="1800">
                <a:solidFill>
                  <a:srgbClr val="1F2937"/>
                </a:solidFill>
                <a:latin typeface="Calibri"/>
              </a:rPr>
              <a:t>▸  Hodisa tahlili: oshqozonda ko‘p suv topildi. Chin cho‘kishda oshqozonda 300 ml gacha, asfiktik cho‘kishda laringospazm tufayli 1 l gacha suv bo‘lishi mumkin (Fegerlund belgisi). Hajm turni farqlashga yordam beradi.</a:t>
            </a:r>
          </a:p>
          <a:p>
            <a:pPr>
              <a:spcAft>
                <a:spcPts val="1200"/>
              </a:spcAft>
            </a:pPr>
            <a:r>
              <a:rPr sz="1800">
                <a:solidFill>
                  <a:srgbClr val="1F2937"/>
                </a:solidFill>
                <a:latin typeface="Calibri"/>
              </a:rPr>
              <a:t>▸  Eslab qolish usuli (egat): osilishda egat qiyshiq, bo‘yinning yuqori qismida, til osti suyagidan baland. Sirtmoq bilan bo‘g‘ishda egat gorizontal, qalqonsimon tog‘ay sathida yoki undan pastroq joylashadi.</a:t>
            </a:r>
          </a:p>
          <a:p>
            <a:pPr>
              <a:spcAft>
                <a:spcPts val="1200"/>
              </a:spcAft>
            </a:pPr>
            <a:r>
              <a:rPr sz="1800">
                <a:solidFill>
                  <a:srgbClr val="1F2937"/>
                </a:solidFill>
                <a:latin typeface="Calibri"/>
              </a:rPr>
              <a:t>▸  Hodisa joyi ahamiyati: seksual asfiksiyadan o‘lim baxtsiz hodisa deb baholanadi. Joyni sinchiklab ko‘zdan kechirish kerak. Jinsiy chetlanishni tasdiqlovchi ashyolar topilishi va murdada jinsiy a’zolarning yalang‘ochligi aniqlanishi mumkin.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377440"/>
            <a:ext cx="10911535" cy="1280160"/>
          </a:xfrm>
          <a:prstGeom prst="rect">
            <a:avLst/>
          </a:prstGeom>
          <a:noFill/>
        </p:spPr>
        <p:txBody>
          <a:bodyPr wrap="square" anchor="ctr">
            <a:spAutoFit/>
          </a:bodyPr>
          <a:lstStyle/>
          <a:p>
            <a:r>
              <a:rPr sz="4400" b="1">
                <a:solidFill>
                  <a:srgbClr val="FFFFFF"/>
                </a:solidFill>
                <a:latin typeface="Georgia"/>
              </a:rPr>
              <a:t>Bilimingizni sinang</a:t>
            </a:r>
          </a:p>
        </p:txBody>
      </p:sp>
      <p:sp>
        <p:nvSpPr>
          <p:cNvPr id="4" name="TextBox 3"/>
          <p:cNvSpPr txBox="1"/>
          <p:nvPr/>
        </p:nvSpPr>
        <p:spPr>
          <a:xfrm>
            <a:off x="640080" y="3749039"/>
            <a:ext cx="10911535" cy="548640"/>
          </a:xfrm>
          <a:prstGeom prst="rect">
            <a:avLst/>
          </a:prstGeom>
          <a:noFill/>
        </p:spPr>
        <p:txBody>
          <a:bodyPr wrap="square">
            <a:spAutoFit/>
          </a:bodyPr>
          <a:lstStyle/>
          <a:p>
            <a:r>
              <a:rPr sz="2200" b="0">
                <a:solidFill>
                  <a:srgbClr val="C9A227"/>
                </a:solidFill>
                <a:latin typeface="Calibri"/>
              </a:rPr>
              <a:t>20 ta test savoli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Hodisa joyida yolg‘iz erkak murdasi topildi: boshida polietilen qopcha, atrofda pornografik rasmlar va jinsiy a’zo imitatorlari bor. O‘lim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Qotillik, chunki boshga qopcha kiygizilgan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O‘z-o‘zini o‘ldirish, chunki u yolg‘iz bo‘lgan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Baxtsiz hodisa, chunki seksual asfiksiya shunday baholanadi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Tabiiy o‘lim, chunki yurak to‘satdan to‘xtagan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Yer qimirlashida odamning ko‘krak va qorin a’zolari qulagan devor ostida qisilib qoldi. U qisilishdan asfiksiyaning qaysi ko‘rinishiga kiradi?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Kompression asfiksiya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Strangulyasion asfiksiya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Obturatsion asfiksiya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Cheklangan muhitdagi asfiksiya</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Alpinist yuqori tog‘da past atmosfera bosimi sharoitida balandlik kasalligiga uchradi. Bu ekzogen gipoksiyaning qaysi turi?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Giperoksik gipoksiya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Giperkapnik gipoksiya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Sitotoksik gipoksiya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Gipoksik (gipobarik) gipoksiya</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Bemor ko‘p qon yo‘qotdi, qonida gemoglobin miqdori kamaydi. Endogen gipoksiyaning qaysi turi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Sirkulyator gipoksiya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Gemik gipoksiya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Respirator gipoksiya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Fiziologik gipoksiya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“Asfiksiya” so‘zi grek tilidan olingan bo‘lib, tub ma’nosi nimani anglatadi?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Pulsning yo‘qligini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Nafasning yo‘qligini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Qonning yo‘qligini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Hushning yo‘qligini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Osilgan shaxsda asfiksiya boshlangach 20–30 soniya nafas qisqa to‘xtab, so‘ng sekinlashgan. Asfiksiya belgilari hali rivojlanmagan. Buning asosiy sababi nima?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Nafas markazi falajlanib, organizm javob reaksiyasini yo‘qotgan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 miqdori ko‘payib, hayotiy a’zolar foydasiga qayta taqsimlangan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Karbonat angidrid to‘planmagani uchun gipoksiya boshlanmagan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Adashgan nerv o‘ta ta’sirlanib, yurak butunlay to‘xtab qolgan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Asfiktik davrning “nafasning qisqa vaqtga to‘xtashi” bosqichida nafas olishning to‘xtashiga nima sabab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Orqa miya markazlarining faollashuvi va noritmik harakatlar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Ko‘krak qafasi kengayishi natijasida plevra bosimining pasayishi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Siydik va maniy ajralishi tufayli nafas mushaklarining bo‘shashishi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Adashgan nerv o‘ta ta’sirlanib, nafas markazi qo‘zg‘aluvchanligi pasayishi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Asfiktik davrda arterial bosim ko‘tarilgan, venoz bosim kamaygan, puls tezlashgan, siydik ajralishi bilan kuchli klonik talvasalar kuzatilmoqda. Bu qaysi bosqich?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Ekspirator hansirash bosqichi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Inspirator hansirash bosqichi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Nafasning qisqa to‘xtashi bosqichi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Terminal nafas olish bosqichi</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tekshiruvida umumasfiktik belgilar aniqlanmadi, hodisa bo‘yicha asfiktik ta’sirdan 30 soniya ichida o‘lim sodir bo‘lgan. Eng ehtimoliy o‘lim mexanizmi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Terminal bosqichda arterial bosimning o‘ta pasayishi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Ekspirator hansirash bosqichidagi kuchli talvasalar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Yurakning reflektor to‘xtashi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Postasfiktik komadan keyingi o‘pka shishishi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Sirtmoqdan o‘z vaqtida olingan jabrlanganda dastlabki soatlarda o‘pka shishishi rivojlandi. Bu holat qanday baholanadi?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Karaxtlik davrining odatiy sopor bosqichi sifatida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Noxush prognostik belgi sifatida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Retrograd amneziyaning yo‘qolish belgisi sifatida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Qon bosimi va pulsning normallashishi sifatida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chalqancha yotqizilgan, uning yuzi va bo‘yni ko‘kimtir emas. Sianoz belgisining yo‘qolishi qaysi holat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Qorachiqlarning kengayishi tufayli qon ketishi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Qonning pastga oqib tushishi natijasida belgining yo‘qolishi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Karbonat angidridning qonda kamayib ketishi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Konyunktivadagi qon quyilishlarning ko‘payishi</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Murdada visseral plevra va epikard ostida 2-3 mm li to‘q qizil qon quyilishlar hamda suyuq qon topildi. Qaysi xulosa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 belgilar faqat osilishga xos, yakka o‘zi yetarli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 belgilar faqat cho‘kishda hosil bo‘ladi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Bu belgilar o‘limdan keyingi chirish natijasidir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Belgilar spetsifik emas, ularning majmuasi baholanadi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Shaxs tizzalariga tayanib osilgan. Bunda sirtmoq qanday kuch bilan tortiladi?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massasining 20%iga teng kuch bilan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boshning massasiga (4-5 kg) teng kuch bilan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Tananing butun massasiga teng kuch bilan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massasining yarmiga teng kuch bilan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Yurak-qon tomir kasalligi bor shaxs osilgan va yurak reflektor to‘xtagan. Qaysi sohalarning qisilishi yoki cho‘zilishi bunga sabab bo‘lishi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Faqat bo‘yinturuq venalar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Umurtqa arteriyalarining to‘liq bekilishi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Adashgan nerv, yuqori hiqildoq nervi, sinokarotid tugun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Qizilo‘ngachning to‘liq berkilishi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Bo‘yinga sochiq ustidan sirtmoq solingan, terida egat yaqqol ko‘rinmaydi. Ichki tekshiruvda egat proyeksiyasida oqimtir yo‘lka topildi. U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Bruardel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Kasper belgisi (mis sim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Amyuss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Simon belgisi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 tekshiruvida strangulyatsion egat sohasidan teri laxtagi olinib, ikki oynacha orasida yorug‘likda ko‘rildi. Egat burmachasida to‘laqonlik va qon quyilishlari topildi. Bu topilma nimani bildiradi?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Egat o‘limdan keyin hosil bo‘lganini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Egat hayotiy yetkazilganini (Bokarius sinamasi)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Egat bo‘yinda sirtmoqsiz paydo bo‘lganini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Egat faqat qattiq sirtmoqdan hosil bo‘lganini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Murdaning bo‘ynida gorizontal, tutashgan egat qalqonsimon tog‘ay sathida va undan pastroqda joylashgan. Amyuss va Simon belgilari yo‘q, til osti suyagi butun. Bu qaysi holatga eng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Tipik to‘liq osilishga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Pozitsion asfiksiyaga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Bo‘yinni sirtmoq bilan bo‘g‘ishga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Obturatsion asfiksiyaga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Bo‘yinni qo‘l bilan bo‘g‘ishda jarohatlarning joylashuvi haqida qaysi fikr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Ichki jarohatlar tashqisidan yaqqolroq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Tashqi jarohatlar ichkisidan doim yaqqolroq</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Til osti suyagi va tog‘aylar butun 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Bo‘yinda hech qanday jarohat bo‘lmaydi</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Murdaning og‘iz-burni atrofida turg‘un mayda pufakli oq ko‘pik, o‘pkalari xamirsimon, plevra ostida Rasskazov-Lukomskiy-Paltauf dog‘lari bor. Bu qaysi holat?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Asfiktik (quruq) cho‘kish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Suvdagi to‘satdan o‘lim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Kompression asfiksiya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Chin (aspiratsion) cho‘kish</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20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79</a:t>
            </a:r>
          </a:p>
        </p:txBody>
      </p:sp>
      <p:sp>
        <p:nvSpPr>
          <p:cNvPr id="8" name="TextBox 7"/>
          <p:cNvSpPr txBox="1"/>
          <p:nvPr/>
        </p:nvSpPr>
        <p:spPr>
          <a:xfrm>
            <a:off x="640080" y="1417320"/>
            <a:ext cx="10911535" cy="1463040"/>
          </a:xfrm>
          <a:prstGeom prst="rect">
            <a:avLst/>
          </a:prstGeom>
          <a:noFill/>
        </p:spPr>
        <p:txBody>
          <a:bodyPr wrap="square">
            <a:spAutoFit/>
          </a:bodyPr>
          <a:lstStyle/>
          <a:p>
            <a:r>
              <a:rPr sz="2400" b="1">
                <a:solidFill>
                  <a:srgbClr val="1F2937"/>
                </a:solidFill>
                <a:latin typeface="Calibri"/>
              </a:rPr>
              <a:t>Suv havzasidan chiqarilgan murdaning suyak miyasida shu havza suvidagi planktonga mos diatom planktoni topildi. Bu nimadan dalolat beradi?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Suvga o‘limdan keyin tushganligidan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Suvga hayotiy tushganligidan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o‘pka shishganligidan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suvda uzoq yotganligidan</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Baxtsiz hodisa, chunki seksual asfiksiya shunday baholanadi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Autoasfiksiofiliyada jinsiy qo‘zg‘alish gipoksiya va giperkapniya sharoitida kechadi. Bunday hodisa o‘lim bilan tugasa, baxtsiz hodisa sifatida baholanadi. Hodisa joyidagi ashyolar (pornografik rasmlar, imitatorlar) shuni tasdiqlaydi.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105-106-bet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Kompression asfiksiya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Qisilishdan asfiksiya ikki ko‘rinishda bo‘ladi: bo‘yin a’zolarining qisilishi (strangulyasion) va ko‘krak hamda qorin bo‘shliqlari a’zolarining qisilishi (kompression). Bu holat ikkinchisiga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105-bet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Gipoksik (gipobarik) gipoksiya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Gipoksik gipoksiyada nafas olinayotgan havoda kislorod kam bo‘ladi. Past bosimda (gipobarik) u tog‘ yoki balandlik kasalligi tarzida namoyon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Gemik gipoksiya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Qonda gemoglobin kamayganda (gipoxrom anemiya, qon yo‘qotish) yoki uning kislorodni bog‘lash xususiyati buzilganda (zaharlanishlar) gemik gipoksiya vujudga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Pulsning yo‘qligini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Asfiksiya (a – inkor, sphygmos – puls) tub ma’noda pulsning yo‘qligini bildiradi. Hozir bu atama tashqi nafas buzilishidan kislorod tanqisligi va karbonat angidrid ko‘payishini ifodalaydi.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104-bet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Qon miqdori ko‘payib, hayotiy a’zolar foydasiga qayta taqsimlangan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Preasfiktik davrda kompensator-moslashuv ishga tushadi: aylanayotgan qon ko‘payadi, suyuqlashadi va hayot uchun muhim a’zolar foydasiga qayta taqsimlanadi. Shu sababli bu davrda asfiksiya belgilari rivojlanmaydi.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106-bet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Adashgan nerv o‘ta ta’sirlanib, nafas markazi qo‘zg‘aluvchanligi pasayishi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Karbonat angidrid juda ko‘payganda adashgan nerv o‘ta ta’sirlanadi va nafas olish markazining qo‘zg‘aluvchanligi pasayadi, natijada nafas to‘xtaydi. Bu bosqich 30–40 soniya davom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106-bet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Ekspirator hansirash bosqichi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Ekspirator hansirashda nafas chiqarish kuchliroq va uzoqroq bo‘ladi, arterial bosim ko‘tariladi, venoz bosim kamayadi, puls tezlashadi va klonik talvasalar bo‘lishi mumkin. Inspirator bosqichda esa arterial bosim pasayadi, puls sekinlashadi.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106-bet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Yurakning reflektor to‘xtashi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Asfiktik ta’sirdan 30 soniyagacha yurak reflektor to‘xtasa, umumasfiktik belgilar rivojlanib ulgurmaydi va murda tekshiruvida aniqlanmasligi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107-bet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Noxush prognostik belgi sifatida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Postasfiktik holatda dastlabki soatlarda o‘pka shishishining rivojlanishi noxush prognostik belgi hisoblanadi. Dastlabki sutkada o‘lim o‘pka va bosh miya shishishidan ham sodir bo‘lishi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109-bet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69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Qonning pastga oqib tushishi natijasida belgining yo‘qolishi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Yuz va bo‘yin sianozi turg‘un belgi emas. Murda chalqancha yotganda qon pastga oqib tushadi va ko‘kimtirlik yo‘qolishi mumkin. Aksincha, yuzi bilan pastga yotganda asfiksiyaga aloqasiz bo‘lsa ham ko‘kimtirlik paydo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110-bet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70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Belgilar spetsifik emas, ularning majmuasi baholanadi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Tarde dog‘lari va boshqa umumasfiktik o‘zgarishlar tez o‘limning boshqa turlarida ham uchraydi. Shuning uchun mexanik asfiksiya diagnostikasida ular majmua sifatida e’tiborga olinadi.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111-bet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71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Tana massasining 20%iga teng kuch bilan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Tizzalarga tayanib osilishda sirtmoq tana massasining 20%iga teng kuch bilan tortiladi. Yotgan holatda esa faqat boshning massasiga (4-5 kg) teng kuch ta’sir qiladi. Qon tomir va nervlarni qisish uchun katta kuch talab etilmaydi.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112-bet</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72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Adashgan nerv, yuqori hiqildoq nervi, sinokarotid tugun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Adashgan nerv, yuqori hiqildoq nervi va sinokarotid tugun sohalarining qisilishi yoki cho‘zilishi yurakning reflektor to‘xtashiga olib keladi. Bu ayniqsa yurak-qon tomir kasalliklarida uchraydi.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113-bet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73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Kasper belgisi (mis sim belgisi)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Yumshoq material bilan qisilganda terida egat yaqqol bo‘lmaydi. Ichki tekshiruvda bo‘yin yumshoq to‘qimalarida oqimtir yo‘lkasimon iz, ya’ni “mis sim belgisi” (Kasper belgisi) aniqlanadi. Amyuss belgisi uyqu arteriyasi intimasining yorilishi, Simon belgisi umurtqalararo disklarga qon quyilishi, Bruardel belgisi halqum orti qon quyilishidir.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115-bet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74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Egat hayotiy yetkazilganini (Bokarius sinamasi)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Egat burmachasi sohasida to‘laqonlik va qon quyilishlarining bo‘lishi egatning hayotiy yetkazilganini ko‘rsatadi. Bu Bokarius sinamasi deb ataladi. Qolgan variantlar bu belgiga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116-bet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75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C. Bo‘yinni sirtmoq bilan bo‘g‘ishga</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Sirtmoq bilan bo‘g‘ishda sirtmoq o‘zga kuch ta’sirida qisiladi. Egat gorizontal, ko‘pincha tutashgan va qalqonsimon tog‘ay sathida yoki undan pastroqda bo‘ladi. Bo‘yinning cho‘zilishi belgilari (Amyuss, Valxer, Simon) hosil bo‘lmaydi. Osilishda egat qiyshiq va yuqoriroq, pozitsion asfiksiyada egat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117-bet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76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A. Ichki jarohatlar tashqisidan yaqqolroq bo‘ladi</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Qo‘l bilan bo‘g‘ishda bo‘yindagi ichki jarohatlar tashqisiga nisbatan yaqqolroq va ko‘lamliroq bo‘ladi. Til osti suyagi shoxchalari, qalqonsimon tog‘ay sinishi va yumshoq to‘qimalarga qon quyilishi mumkin.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118-bet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77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D. Chin (aspiratsion) cho‘kish</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Turg‘un mayda pufakli oq ko‘pik (Krushevskiy belgisi), xamirsimon o‘pkalar va Rasskazov-Lukomskiy-Paltauf dog‘lari chin cho‘kishga xos. Bunda suv alveolalargacha yetib boradi. Asfiktik cho‘kishda suv nafas yo‘llariga o‘tmaydi va faqat Tarde dog‘lari topiladi.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122-bet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78 / 79</a:t>
            </a:r>
          </a:p>
        </p:txBody>
      </p:sp>
      <p:sp>
        <p:nvSpPr>
          <p:cNvPr id="8" name="TextBox 7"/>
          <p:cNvSpPr txBox="1"/>
          <p:nvPr/>
        </p:nvSpPr>
        <p:spPr>
          <a:xfrm>
            <a:off x="640080" y="1463040"/>
            <a:ext cx="10911535" cy="914400"/>
          </a:xfrm>
          <a:prstGeom prst="rect">
            <a:avLst/>
          </a:prstGeom>
          <a:noFill/>
        </p:spPr>
        <p:txBody>
          <a:bodyPr wrap="square">
            <a:spAutoFit/>
          </a:bodyPr>
          <a:lstStyle/>
          <a:p>
            <a:r>
              <a:rPr sz="2400" b="1">
                <a:solidFill>
                  <a:srgbClr val="0B1F3A"/>
                </a:solidFill>
                <a:latin typeface="Calibri"/>
              </a:rPr>
              <a:t>B. Suvga hayotiy tushganligidan</a:t>
            </a:r>
          </a:p>
        </p:txBody>
      </p:sp>
      <p:sp>
        <p:nvSpPr>
          <p:cNvPr id="9" name="TextBox 8"/>
          <p:cNvSpPr txBox="1"/>
          <p:nvPr/>
        </p:nvSpPr>
        <p:spPr>
          <a:xfrm>
            <a:off x="640080" y="2377440"/>
            <a:ext cx="10911535" cy="3291840"/>
          </a:xfrm>
          <a:prstGeom prst="rect">
            <a:avLst/>
          </a:prstGeom>
          <a:noFill/>
        </p:spPr>
        <p:txBody>
          <a:bodyPr wrap="square">
            <a:spAutoFit/>
          </a:bodyPr>
          <a:lstStyle/>
          <a:p>
            <a:r>
              <a:rPr sz="2000" b="0">
                <a:solidFill>
                  <a:srgbClr val="1F2937"/>
                </a:solidFill>
                <a:latin typeface="Calibri"/>
              </a:rPr>
              <a:t>Chin cho‘kishda diatom planktoni qonga o‘tib, katta qon aylanish doirasi orqali parenximatoz a’zolar va suyak miyaga tarqaladi. Ularda topilishi suvga hayotiy tushganlikni ko‘rsatadi. Plankton havza suvidagiga mos kelishi lozim. Faqat o‘pka to‘qimasida topilishi diagnostik ahamiyatga ega emas.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125-bet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Foydalanilgan manbalar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mashgʻulot: Mexanik asfiksiya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79 / 79</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2000">
                <a:solidFill>
                  <a:srgbClr val="1F2937"/>
                </a:solidFill>
                <a:latin typeface="Calibri"/>
              </a:rPr>
              <a:t>▸  G‘iyosov Z.A. Sud tibbiyoti: darslik, Toshkent: Global Books nashriyoti. 2018. Bob 5. Kislorod tanqisligi (asfiksiya)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