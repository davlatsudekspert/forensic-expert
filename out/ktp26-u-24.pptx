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jarohatning hayotlik vaqtida yetkazilganini bilish tergov uchun muhim? 2) O‘q otar jarohat boshqa mexanik jarohatlardan nimasi bilan farq qiladi? Doskada: ikki ustunli reja chizing: chapda ‘Hayotiylik’, o‘ngda ‘O‘q otar jarohat mexanizmi’. Tipik xato: talabalar hayotiylikni faqat tashqi qon ketishiga qisqartiradi, aslida belgilar guruhi mavjud.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Murdani transportirovka qilishda hosil bo‘lgan jarohatni hayotiy jarohatdan farqlash nega kerak? 2) Reanimatsiya paytida qanday jarohat paydo bo‘lishi mumkin? Doskada: ‘o‘limdan keyingi jarohat’ manbalarini ikki guruhga (qasddan / tasodifan) ajratib chizing. Tipik xato: ‘jarohat bor bo‘lsa, odam tirik paytida yetkazilgan’ degan xulosa.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umumiy va mahalliy belgilar birgalikda baholanadi? 2) Qon aylanish bilan bog‘liq belgilar nega amaliy jihatdan muhim? Doskada: ikki ustunli jadvalni (umumiy / mahalliy) talabalar bilan to‘ldiring. Tipik xato: eritrofagiya va mioglobinni mahalliy belgi deb hisoblash, aslida ular umumiy belgilar qatorida.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o‘limdan keyin yetkazilgan jarohatda qon aylanishiga bog‘liq belgilar bo‘lmaydi deb o‘ylaysiz? 2) Aspiratsiya va qon ketishi o‘rtasida qanday bog‘liqlik bor? Doskada: ‘Umumiy belgilar’ ro‘yxati, qon bilan bog‘liq bandlar tagiga chizilsin. Tipik xato: talabalar bitta belgini yetarli deb hisoblaydi; belgilar majmui baholanadi.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limfa va limfa tugunlari hayotiylikni ko‘rsatadi? 2) Qanday emboliya turlari ro‘yxatda bor? Doskada: jadvalni yarim ochiq qoldirib, talabalar to‘ldirsin. Tipik xato: eritrofagiyani limfadagi eritrotsit bilan aralashtirish; birinchisi regional limfa tugunlariga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Umumiy va mahalliy belgilarni qanday farqlaysiz? 2) Nega bitta belgiga tayanib xulosa qilish xavfli? Doskada: ikki ustunli solishtirish jadvalini talabalar o‘zlari chizsin. Tipik xato: reaktiv shish yoki nekrozni umumiy belgi deb hisoblash; ular jarohat sohasiga xos.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bitta belgiga tayanib xulosa chiqarish xavfli? 2) Jarohatning turi va soni belgilar aniqligiga qanday ta’sir qiladi? Doskada chizish: “aniqlikka ta’sir etuvchi omillar” sxemasini (jarohat, organizm, to‘qima yoshi) chizing. Tipik xato: talaba to‘qimada hayotiylikka o‘xshash o‘zgarish topilsa, uni darhol hayotiy jarohat deb baholaydi.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tibbiy hujjatdagi to‘liq tavsif ekspertiza uchun muhim? 2) Qaysi usul hayotiylik masalasini hal etadi? Doskada chizish: usul va uning vazifasini juftlab yozing. Tipik xato: talaba makroskopik ko‘rik va o‘lchovni o‘tkazmay, to‘g‘ridan-to‘g‘ri laboratoriya usullariga o‘tadi.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Havo miqdori va kirish tezligi nima uchun muhim? 2) Havo emboliyasiga shubha bo‘lsa, nima uchun ichki tekshiruv ko‘krak qafasidan boshlanadi? Doskada chizish: sinama bosqichlarini ketma-ket sxema qilib chizing. Tipik xato: talaba suv quyish bosqichini tushirib qoldiradi yoki ‘pufakchalar chiqishi’ni manfiy natija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yog‘ emboliyasida o‘lim shikastdan keyin darhol emas, 2-3 kundan so‘ng boshlanadi? 2) Qon aspiratsiyasi qanday jarohatlarda uchraydi? Doskada chizish: yog‘ zarralarining suyak sinishidan o‘pka qon tomirigacha yo‘li (sodda strelkalar). Tipik xato: Sudan III va Sudan IV ranglarini (olovrang qizil va qora)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Shilinma yoshini aniqlashda nega muddatlarni qat’iy deb bo‘lmaydi? 2) Qoplama sathi bosqichlar bo‘yicha qanday o‘zgaradi? Doskada chizish: to‘rt bosqichli vaqt chizig‘ini sutkalar bilan chizing. Tipik xato: bosqich muddatlarini mutlaq aniq deb qabul qilish. Manba ularni shartli deydi. Kitobdagi muddatlar Taykov (1951) bo‘yicha.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Qontalash rangi nega vaqt o‘tishi bilan o‘zgaradi (gemoglobin o‘zgarishi)? 2) Nega murda dog‘lari joylashadigan sohada qontalashni baholash murakkab? Doskada chizish: qontalash rang o‘zgarishi vaqt chizig‘i (qizg‘ish-ko‘kimtir, yashil, sariq). Tipik xato: pergament dog‘ini hayotiy shilinma deb talqin qilish. Eslatma: rang muddatlari taxminiy.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Bitta belgi bilan xulosa chiqarish nega xavfli? 2) Havo emboliyasiga shubhada ichki tekshiruv nimadan boshlanadi? Doskada chizing: ikki ustunli jadval, chapda umumiy, o‘ngda mahalliy belgilar. Tipik xato: faqat qon quyilishiga tayanib xulosa chiqarish, to‘qima yoshini va o‘limdan keyingi o‘zgarishlarni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umumiy: qon ketishi, kamqonlik, aspiratsiya; mahalliy: qon quyilishi, tromb, shish, yallig‘lanish. 2) o‘ng qorincha teshilganda perikarddagi suvdan havo pufaklari chiqadi. 3) yangi shilinma, qoplama hosil bo‘lishi, epitelizatsiya, iz. Muhokama: pergament dog‘i bilan shilinma farqi ekspertizada nimaga ta’sir qiladi? Doskada 4 bosqichli zanjir chizdiring. Tipik xato: bosqichlar tartibini va muddatlarini aralashtirish; muddatlar shartli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O‘q otar jarohatning o‘tmas jismdan jarohatdan asosiy farqi nimada? 2) Nega portlash travmasi ham shu bobda o‘rganiladi? Doskada chizing: ikki shoxli sxema, o‘q otar jarohat bo‘lib ikkiga ajraladi (o‘q otar quroldan jarohat va portlash travmasi). Tipik xato: o‘q otar jarohatni faqat mexanik ta’sir deb o‘ylash; termik va kimyoviy omillarni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tipik va atipik qurolni sud-tibbiy jihatdan nega farqlash kerak? Silliq stvolda kalibr soni kattalashsa, kanal diametri qanday o‘zgaradi? Doskada: stvolning ko‘ndalang kesimi (silliq va o‘yiqli) chizilsin, kalibr ko‘rsatilsin. Tipik xato: kalibrni ikkala stvolda ham mm deb o‘ylash. Diqqat: silliq stvolda kalibr o‘qlar soni, o‘yiqli stvolda mm bilan o‘lchanadi. Bosim ma’lumoti 83-betda berilgan.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tutunsiz porox o‘qni uzoqroq masofaga otadi? Kapsyul tarkibi nima uchun kerak? Doskada: patron kesimi (snaryad, gilza, kapsyul, porox) va zanjir chizilsin. Tipik xato: kapsyul va poroxni bir narsa deb o‘ylash; kapsyul poroxni yondiruvchi vosita, porox esa energiya manbai.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sochmali va o‘qli patron tuzilishi qanday farqlanadi? Maxsus o‘qlar jarohatda qanday qo‘shimcha izlar qoldirishi mumkin? Doskada: sochmali patronning 7 qismi ketma-ket yozilsin. Tipik xato: sochma va kartechni aralashtirish; chegara 5,5 mm. Diqqat: sochma ≠ kartech (katta sochma).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silliq va o‘yiqli stvolda bosim farq qiladi? 2) Qurol va ikkilamchi snaryad qanday shikast beradi? Doskada: to‘rt omilning sxemasini chizdiring. Tipik xato: birlamchi snaryad bilan ikkilamchi snaryadni aralashtirish (o‘q ≠ kiyim yoki suyak bo‘lagi).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Energiya kamaysa yara qanday o‘zgaradi? 2) Nega chiqish teshigi ko‘pincha ponasimon ta’sirdan hosil bo‘ladi? Doskada: energiya zinapoyasini (ming → yuz → o‘n joul) chizdiring. Tipik xato: yulma ta’sirdagi defektni o‘qdan katta deb o‘ylash (aslida kichik); ponasimon ta’sirda defekt bo‘lmaydi.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kirish teshigi atrofi pushti tusga kiradi? 2) Qaysi omil qaysi masofada ta’sir qiladi? Doskada: stvol uchidan nishongacha masofa chizig‘i (3–5, 3–10, 10–15 sm) chizing. Tipik xato: alanga masofasini (3–10 sm) porox gazlari masofasi (10–15 sm)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slaydni ochishdan oldin so‘rang. Muhokama: nega yorma, yulma va ponasimon ta’sir faqat o‘q energiyasiga bog‘liq? Qo‘shimcha omillar yara shakliga qanday ta’sir qiladi? Doskada: patronning 4 qismini (snaryad, porox, kapsyul, gilza) sxema qilib chizdiring. Tipik xato: yulma ta’sirni yorma ta’sir bilan adashtirish (yulmada defekt bor, o‘lchami o‘qdan kichik).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bir xil distansiya turli qurollarda har xil masofaga to‘g‘ri kelishi mumkin? Nega masofani faqat eksperiment bilan aniqlash mumkin? Doskada: ikki ustunli jadvalni chizib, har ikki tushunchaga misol yozdiring. Tipik xato: distansiya va masofani bir xil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zonalar farqi nimaga bog‘liq? Nega masofa ortgach, qoplangan yuza kattalashadi? Doskada: stvol uchidan nishongacha uch zonani chizib, har biriga belgilarni yozing. Tipik xato: AK avtomati ko‘rsatkichlarini 7,62 kalibrli Kalashnikov uchun aytilganini unutish va ikkinchi zonada qurum borligini inkor etish. AKM va AK 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qurum o‘q ortidan nishongacha boradi? Yaqin distansiyada qurum taqsimoti Vinogradov fenomenidan nimasi bilan farq qiladi? Doskada: o‘q va uning ortidagi past bosimli bo‘shliqni chizing. Tipik xato: Vinogradov fenomenini yaqin distansiya belgisi deb hisoblash. Yaqin distansiyada qurum teshikdan chetga kamayadi, Vinogradov fenomenida esa chetga ortadi.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distansiya va masofa tushunchalari nimasi bilan farq qiladi? Qurum faqat kiyimning ichki qavatida bo‘lsa, qanday xulosa chiqadi? Doskada: eksperiment sxemasini chizing: bir xil qurol va patron, o‘xshash nishon, turli oraliq masofalar, natijani taqqoslash. Tipik xato: distansiyani (belgilar majmui) uzunlik birligidagi masofa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zarb kuchi faqat o‘q yo‘nalishida emas, yon tomonga ham ta’sir qiladi? Uch guruh omil jarohat ko‘rinishini qanday o‘zgartiradi? Doskada: zarb ta’siri zanjirini strelkalar bilan chizdiring. Tipik xato: jarohat faqat o‘q yo‘li bo‘ylab hosil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uzlukli kanalning hayotiylikni aniqlashdagi ahamiyati nimada? Ko‘r yara va yalama jarohat farqi nimada? Doskada: yara kanali atrofidagi uch zonani konsentrik doiralar ko‘rinishida chizdiring. Tipik xato: ko‘r yara bilan yalama jarohatni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chetlari ichkariga yoki tashqariga qayrilishi nimani ko‘rsatadi? Suyakdagi defekt shakli o‘q yo‘nalishini qanday belgilaydi? Doskada: yassi suyakdagi kesik konusni kirish va chiqish tomoni bilan chizdiring. Tipik xato: chiqish teshigida hoshiya doim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Javoblar: teshik kirish teshigi (ichkariga qayrilgan chetlar, 1-3 mm shilinish va ifloslanish hoshiyasi). Zarb nazariyasi: o‘q kichik yuzaga kuchli zarb beradi, siqilish to‘lqini kanal devorlarini to‘lqinsimon harakatlantiradi, musbat va manfiy bosimli fazalar almashadi. Ko‘r yarada chiqish teshigi yo‘q va snaryad kanal oxirida qoladi; teshib o‘tar yarada kirish, kanal va chiqish bor. Muhokama: nega yara devorida uchta zona ajratiladi? Doskada: kirish va chiqish teshigini yonma-yon chizing. Tipik xato: talabalar to‘qima defektini chiqish teshigiga xos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sochmali qurolda yaqin distansiya zonasi uzunroq? Gaz qurolida sud-kimyoviy tekshiruv nega muhim? Doskada: sochmaning kompakt, nisbiy tarqalma va tarqalma ta’sirini masofa o‘qi bo‘ylab chizing. Tipik xato: pnevmatik qurolni porox gazi bilan otiladi deb o‘ylash; u siqilgan havo bilan ishlaydi va qo‘shimcha omil izi qoldirmaydi.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otish masofasini nima uchun faqat eksperiment bilan aniqlash mumkin? Jarohatlar ketma-ketligi qaysi belgilarga qarab hal etiladi? Doskada: zanjirni chizing va har bosqichga bitta belgi yozing. Ketma-ketlikda dastlabki jarohatda qon quyilishi yaqqolroq, keyingisida qurum va metall zarrachalari ko‘proq, moy zarrachalari kamroq bo‘ladi. O‘zi yetkazganlikda qo‘l, burun va quloqda qurum izi, stvol uchida va kaftda qon izi topilishi mumkin. Tipik xato: distansiya va masofani bir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portlash turlari (tabiiy, qasddan, tasodifiy) ekspertizada farqlanadi? 2) Birlamchi va tarqatuvchi moddalarning farqi nimada (kapsyul va porox misolida)? Doskada chizish: to‘rt distansiyani markazdan chetga qarab konsentrik doiralar ko‘rinishida chizib, har birining asosiy omilini yozing. Tipik xato: distansiyalarning aniq masofasini universal deb o‘ylash; aslida u modda va zaryad quvvatiga bog‘liq (101-bet).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 va B yaralarni qaysi belgilar bo‘yicha taqqoslaysiz? 2) Ketma-ketlikni aniqlash hayotiylik masalasidan nimasi bilan farq qiladi? Doskada chizish: ikki yara atrofidagi belgilar (qon quyilishi, moy, qurum, metall) uchun A va B ustunli taqqoslash jadvali. Tipik xato: qurum va metallni dastlabki jarohatda ko‘proq deb o‘ylash; manbaga ko‘ra ular keyingi jarohatlarda ko‘proq (97-bet). Qo‘shimcha: yara kanalining uzlukli bo‘lishi odatda shikastlanishning hayotiyligidan dalolat beradi (Giyosov, 90-bet).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Takrorlash savollari: Bob 4 nazorat savollaridan 7 (distansiya va masofa farqi), 8, 9 va 10 (tirab, yaqin, yaqin bo‘lmagan distansiya jarohatlari). Muhokama: hayotiylik, mexanizm va kirish-chiqish teshigini bitta voqeada qanday bog‘laysiz? Doskada chizish: yara devoridagi uch zonani (kanal, lat yeyish, chayqalish) konsentrik doiralar bilan ko‘rsating. Tipik xato: distansiya va masofani aralashtirish; masofa faqat eksperiment bilan aniqlanadi (86-87-betlar). Ikkinchi xato: o‘limdan keyingi jarohatni doim hayotiy belgisizdir deb hisoblash; filogenetik katta yoshli to‘qimalarda u hayotiyga o‘xshashi mumkin (Giyosov, Bob 2, 29-bet).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Jarohatning hayotlik vaqtida yetkazilganligini aniqlash. O’q otar quroldan jarohatlanish mexanizmi.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travmatologiya shikastlanish mexanizmi va vaqtini, jarohat yetkazgan jismni aniqlashga xizmat qiladi.</a:t>
            </a:r>
          </a:p>
          <a:p>
            <a:pPr>
              <a:spcAft>
                <a:spcPts val="1200"/>
              </a:spcAft>
            </a:pPr>
            <a:r>
              <a:rPr sz="2200">
                <a:solidFill>
                  <a:srgbClr val="1F2937"/>
                </a:solidFill>
                <a:latin typeface="Calibri"/>
              </a:rPr>
              <a:t>▸  Birinchi savol: jarohat odam tirikligida yetkazilganmi yoki o‘limdan keyinmi? Buni reaksiya belgilari orqali aniqlaymiz.</a:t>
            </a:r>
          </a:p>
          <a:p>
            <a:pPr>
              <a:spcAft>
                <a:spcPts val="1200"/>
              </a:spcAft>
            </a:pPr>
            <a:r>
              <a:rPr sz="2200">
                <a:solidFill>
                  <a:srgbClr val="1F2937"/>
                </a:solidFill>
                <a:latin typeface="Calibri"/>
              </a:rPr>
              <a:t>▸  Ikkinchi savol: o‘q otar quroldan jarohat qanday hosil bo‘ladi? Snaryadni porox gazlarining energiyasi harakatga keltiradi.</a:t>
            </a:r>
          </a:p>
          <a:p>
            <a:pPr>
              <a:spcAft>
                <a:spcPts val="1200"/>
              </a:spcAft>
            </a:pPr>
            <a:r>
              <a:rPr sz="2200">
                <a:solidFill>
                  <a:srgbClr val="1F2937"/>
                </a:solidFill>
                <a:latin typeface="Calibri"/>
              </a:rPr>
              <a:t>▸  Reja: hayotiylik belgilari, qurol va patron, shikastlovchi omillar, otish distansiyasi, kirish va chiqish teshiklari.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 28, 80, 28-29; 80-92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hayotiyligi tushunchasi va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amaliyotida jarohatlarning hayotiyligini aniqlash o‘ta muhim hisoblanadi.</a:t>
            </a:r>
          </a:p>
          <a:p>
            <a:pPr>
              <a:spcAft>
                <a:spcPts val="1200"/>
              </a:spcAft>
            </a:pPr>
            <a:r>
              <a:rPr sz="2200">
                <a:solidFill>
                  <a:srgbClr val="1F2937"/>
                </a:solidFill>
                <a:latin typeface="Calibri"/>
              </a:rPr>
              <a:t>▸  O‘limdan so‘ng jarohat qasddan yetkazilishi mumkin: murdani qismlarga ajratish yoki o‘lim sababiga oid asl holatni o‘zgartirish.</a:t>
            </a:r>
          </a:p>
          <a:p>
            <a:pPr>
              <a:spcAft>
                <a:spcPts val="1200"/>
              </a:spcAft>
            </a:pPr>
            <a:r>
              <a:rPr sz="2200">
                <a:solidFill>
                  <a:srgbClr val="1F2937"/>
                </a:solidFill>
                <a:latin typeface="Calibri"/>
              </a:rPr>
              <a:t>▸  Tasodifan ham yetkazilishi mumkin: reanimatsiya, murdani tekshirish, tashish paytida, hayvonlar, qushlar, baliqlar ta’sirida.</a:t>
            </a:r>
          </a:p>
          <a:p>
            <a:pPr>
              <a:spcAft>
                <a:spcPts val="1200"/>
              </a:spcAft>
            </a:pPr>
            <a:r>
              <a:rPr sz="2200">
                <a:solidFill>
                  <a:srgbClr val="1F2937"/>
                </a:solidFill>
                <a:latin typeface="Calibri"/>
              </a:rPr>
              <a:t>▸  Diqqat: xato qilish xavfi! Ayrim filogenetik katta yoshli to‘qimalarda o‘limdan keyingi jarohat hayotiy jarohatga o‘xshashi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 aniqlash tamoyili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Hayotiylik butun organizm yoki a’zo, to‘qimaning shikastlanishga reaksiyasi belgilari bilan aniqlanadi.</a:t>
            </a:r>
          </a:p>
          <a:p>
            <a:pPr>
              <a:spcAft>
                <a:spcPts val="800"/>
              </a:spcAft>
            </a:pPr>
            <a:r>
              <a:rPr sz="1800">
                <a:solidFill>
                  <a:srgbClr val="1F2937"/>
                </a:solidFill>
                <a:latin typeface="Calibri"/>
              </a:rPr>
              <a:t>▸  Amaliy ahamiyatga asosan qon aylanish tizimi bilan bog‘liq o‘zgarishlar ega.</a:t>
            </a:r>
          </a:p>
          <a:p>
            <a:pPr>
              <a:spcAft>
                <a:spcPts val="800"/>
              </a:spcAft>
            </a:pPr>
            <a:r>
              <a:rPr sz="1800">
                <a:solidFill>
                  <a:srgbClr val="1F2937"/>
                </a:solidFill>
                <a:latin typeface="Calibri"/>
              </a:rPr>
              <a:t>▸  Belgilar aniqligi jarohat turi, soni, ko‘lamiga va organizm xususiyatlariga bog‘liq.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81273"/>
                <a:gridCol w="2126093"/>
                <a:gridCol w="2180608"/>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Umumiy belgi</a:t>
                      </a:r>
                    </a:p>
                  </a:txBody>
                  <a:tcPr marL="73152" marR="73152" marT="36576" marB="36576">
                    <a:solidFill>
                      <a:srgbClr val="0B1F3A"/>
                    </a:solidFill>
                  </a:tcPr>
                </a:tc>
                <a:tc>
                  <a:txBody>
                    <a:bodyPr/>
                    <a:lstStyle/>
                    <a:p>
                      <a:r>
                        <a:rPr sz="1300" b="1">
                          <a:solidFill>
                            <a:srgbClr val="FFFFFF"/>
                          </a:solidFill>
                        </a:rPr>
                        <a:t>Mahalliy belgi</a:t>
                      </a:r>
                    </a:p>
                  </a:txBody>
                  <a:tcPr marL="73152" marR="73152" marT="36576" marB="36576">
                    <a:solidFill>
                      <a:srgbClr val="0B1F3A"/>
                    </a:solidFill>
                  </a:tcPr>
                </a:tc>
              </a:tr>
              <a:tr h="411480">
                <a:tc>
                  <a:txBody>
                    <a:bodyPr/>
                    <a:lstStyle/>
                    <a:p>
                      <a:r>
                        <a:rPr sz="1200" b="0">
                          <a:solidFill>
                            <a:srgbClr val="1F2937"/>
                          </a:solidFill>
                        </a:rPr>
                        <a:t>Qon</a:t>
                      </a:r>
                    </a:p>
                  </a:txBody>
                  <a:tcPr marL="73152" marR="73152" marT="36576" marB="36576">
                    <a:solidFill>
                      <a:srgbClr val="E8EEF6"/>
                    </a:solidFill>
                  </a:tcPr>
                </a:tc>
                <a:tc>
                  <a:txBody>
                    <a:bodyPr/>
                    <a:lstStyle/>
                    <a:p>
                      <a:r>
                        <a:rPr sz="1200" b="0">
                          <a:solidFill>
                            <a:srgbClr val="1F2937"/>
                          </a:solidFill>
                        </a:rPr>
                        <a:t>Tashqi va ichki qon ketishi</a:t>
                      </a:r>
                    </a:p>
                  </a:txBody>
                  <a:tcPr marL="73152" marR="73152" marT="36576" marB="36576">
                    <a:solidFill>
                      <a:srgbClr val="E8EEF6"/>
                    </a:solidFill>
                  </a:tcPr>
                </a:tc>
                <a:tc>
                  <a:txBody>
                    <a:bodyPr/>
                    <a:lstStyle/>
                    <a:p>
                      <a:r>
                        <a:rPr sz="1200" b="0">
                          <a:solidFill>
                            <a:srgbClr val="1F2937"/>
                          </a:solidFill>
                        </a:rPr>
                        <a:t>Jarohat sohasidagi to‘qimaga qon quyilishi</a:t>
                      </a:r>
                    </a:p>
                  </a:txBody>
                  <a:tcPr marL="73152" marR="73152" marT="36576" marB="36576">
                    <a:solidFill>
                      <a:srgbClr val="E8EEF6"/>
                    </a:solidFill>
                  </a:tcPr>
                </a:tc>
              </a:tr>
              <a:tr h="411480">
                <a:tc>
                  <a:txBody>
                    <a:bodyPr/>
                    <a:lstStyle/>
                    <a:p>
                      <a:r>
                        <a:rPr sz="1200" b="0">
                          <a:solidFill>
                            <a:srgbClr val="1F2937"/>
                          </a:solidFill>
                        </a:rPr>
                        <a:t>Qon tomir</a:t>
                      </a:r>
                    </a:p>
                  </a:txBody>
                  <a:tcPr marL="73152" marR="73152" marT="36576" marB="36576">
                    <a:solidFill>
                      <a:srgbClr val="FFFFFF"/>
                    </a:solidFill>
                  </a:tcPr>
                </a:tc>
                <a:tc>
                  <a:txBody>
                    <a:bodyPr/>
                    <a:lstStyle/>
                    <a:p>
                      <a:r>
                        <a:rPr sz="1200" b="0">
                          <a:solidFill>
                            <a:srgbClr val="1F2937"/>
                          </a:solidFill>
                        </a:rPr>
                        <a:t>Embollar aniqlanishi</a:t>
                      </a:r>
                    </a:p>
                  </a:txBody>
                  <a:tcPr marL="73152" marR="73152" marT="36576" marB="36576">
                    <a:solidFill>
                      <a:srgbClr val="FFFFFF"/>
                    </a:solidFill>
                  </a:tcPr>
                </a:tc>
                <a:tc>
                  <a:txBody>
                    <a:bodyPr/>
                    <a:lstStyle/>
                    <a:p>
                      <a:r>
                        <a:rPr sz="1200" b="0">
                          <a:solidFill>
                            <a:srgbClr val="1F2937"/>
                          </a:solidFill>
                        </a:rPr>
                        <a:t>Qon tomirlarida tromblar</a:t>
                      </a:r>
                    </a:p>
                  </a:txBody>
                  <a:tcPr marL="73152" marR="73152" marT="36576" marB="36576">
                    <a:solidFill>
                      <a:srgbClr val="FFFFFF"/>
                    </a:solidFill>
                  </a:tcPr>
                </a:tc>
              </a:tr>
              <a:tr h="411480">
                <a:tc>
                  <a:txBody>
                    <a:bodyPr/>
                    <a:lstStyle/>
                    <a:p>
                      <a:r>
                        <a:rPr sz="1200" b="0">
                          <a:solidFill>
                            <a:srgbClr val="1F2937"/>
                          </a:solidFill>
                        </a:rPr>
                        <a:t>To‘qima reaksiyasi</a:t>
                      </a:r>
                    </a:p>
                  </a:txBody>
                  <a:tcPr marL="73152" marR="73152" marT="36576" marB="36576">
                    <a:solidFill>
                      <a:srgbClr val="E8EEF6"/>
                    </a:solidFill>
                  </a:tcPr>
                </a:tc>
                <a:tc>
                  <a:txBody>
                    <a:bodyPr/>
                    <a:lstStyle/>
                    <a:p>
                      <a:r>
                        <a:rPr sz="1200" b="0">
                          <a:solidFill>
                            <a:srgbClr val="1F2937"/>
                          </a:solidFill>
                        </a:rPr>
                        <a:t>Regional limfa tugunlarida eritrofagiya</a:t>
                      </a:r>
                    </a:p>
                  </a:txBody>
                  <a:tcPr marL="73152" marR="73152" marT="36576" marB="36576">
                    <a:solidFill>
                      <a:srgbClr val="E8EEF6"/>
                    </a:solidFill>
                  </a:tcPr>
                </a:tc>
                <a:tc>
                  <a:txBody>
                    <a:bodyPr/>
                    <a:lstStyle/>
                    <a:p>
                      <a:r>
                        <a:rPr sz="1200" b="0">
                          <a:solidFill>
                            <a:srgbClr val="1F2937"/>
                          </a:solidFill>
                        </a:rPr>
                        <a:t>Reaktiv shish, yallig‘lanish alomatlari</a:t>
                      </a:r>
                    </a:p>
                  </a:txBody>
                  <a:tcPr marL="73152" marR="73152" marT="36576" marB="36576">
                    <a:solidFill>
                      <a:srgbClr val="E8EEF6"/>
                    </a:solidFill>
                  </a:tcPr>
                </a:tc>
              </a:tr>
              <a:tr h="411480">
                <a:tc>
                  <a:txBody>
                    <a:bodyPr/>
                    <a:lstStyle/>
                    <a:p>
                      <a:r>
                        <a:rPr sz="1200" b="0">
                          <a:solidFill>
                            <a:srgbClr val="1F2937"/>
                          </a:solidFill>
                        </a:rPr>
                        <a:t>Hujayra</a:t>
                      </a:r>
                    </a:p>
                  </a:txBody>
                  <a:tcPr marL="73152" marR="73152" marT="36576" marB="36576">
                    <a:solidFill>
                      <a:srgbClr val="FFFFFF"/>
                    </a:solidFill>
                  </a:tcPr>
                </a:tc>
                <a:tc>
                  <a:txBody>
                    <a:bodyPr/>
                    <a:lstStyle/>
                    <a:p>
                      <a:r>
                        <a:rPr sz="1200" b="0">
                          <a:solidFill>
                            <a:srgbClr val="1F2937"/>
                          </a:solidFill>
                        </a:rPr>
                        <a:t>Siydikda mioglobin</a:t>
                      </a:r>
                    </a:p>
                  </a:txBody>
                  <a:tcPr marL="73152" marR="73152" marT="36576" marB="36576">
                    <a:solidFill>
                      <a:srgbClr val="FFFFFF"/>
                    </a:solidFill>
                  </a:tcPr>
                </a:tc>
                <a:tc>
                  <a:txBody>
                    <a:bodyPr/>
                    <a:lstStyle/>
                    <a:p>
                      <a:r>
                        <a:rPr sz="1200" b="0">
                          <a:solidFill>
                            <a:srgbClr val="1F2937"/>
                          </a:solidFill>
                        </a:rPr>
                        <a:t>Hujayralar nekrozi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Umumiy va mahalliy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umumiy belgilari: qon va aspiratsiya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hayotiyligi butun organizm yoki a’zo, to‘qimaning shikastlanishga reaksiyasi belgilari orqali aniqlanadi. Amalda ko‘proq qon aylanishidagi o‘zgarishlar ahamiyatli.</a:t>
            </a:r>
          </a:p>
          <a:p>
            <a:pPr>
              <a:spcAft>
                <a:spcPts val="1200"/>
              </a:spcAft>
            </a:pPr>
            <a:r>
              <a:rPr sz="2200">
                <a:solidFill>
                  <a:srgbClr val="1F2937"/>
                </a:solidFill>
                <a:latin typeface="Calibri"/>
              </a:rPr>
              <a:t>▸  Tashqi va ichki qon ketishi hamda ichki a’zolarning umumiy kamqonligi umumiy belgilar qatoriga kiradi.</a:t>
            </a:r>
          </a:p>
          <a:p>
            <a:pPr>
              <a:spcAft>
                <a:spcPts val="1200"/>
              </a:spcAft>
            </a:pPr>
            <a:r>
              <a:rPr sz="2200">
                <a:solidFill>
                  <a:srgbClr val="1F2937"/>
                </a:solidFill>
                <a:latin typeface="Calibri"/>
              </a:rPr>
              <a:t>▸  Nafas yo‘llarida qon va boshqa yot moddalarning aspiratsiyasi (so‘rilib tushishi) ham umumiy belgi hisoblanadi.</a:t>
            </a:r>
          </a:p>
          <a:p>
            <a:pPr>
              <a:spcAft>
                <a:spcPts val="1200"/>
              </a:spcAft>
            </a:pPr>
            <a:r>
              <a:rPr sz="2200">
                <a:solidFill>
                  <a:srgbClr val="1F2937"/>
                </a:solidFill>
                <a:latin typeface="Calibri"/>
              </a:rPr>
              <a:t>▸  Oshqozon va ichakda qon yoki yot moddalar, shikastlangan a’zolarda mayda bo‘lakchalar topilishi ham umumiy belgilarga kiradi.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belgilar: mioglobin, limfa, emboliya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Siydik va buyrak naychalarida mioglobin bo‘lishi hayotiylik belgisi sifatida keltirilgan.</a:t>
            </a:r>
          </a:p>
          <a:p>
            <a:pPr>
              <a:spcAft>
                <a:spcPts val="800"/>
              </a:spcAft>
            </a:pPr>
            <a:r>
              <a:rPr sz="1800">
                <a:solidFill>
                  <a:srgbClr val="1F2937"/>
                </a:solidFill>
                <a:latin typeface="Calibri"/>
              </a:rPr>
              <a:t>▸  Yog‘ to‘qimali sohalar shikastlanganda limfada eritrotsit va yog‘ topiladi.</a:t>
            </a:r>
          </a:p>
          <a:p>
            <a:pPr>
              <a:spcAft>
                <a:spcPts val="800"/>
              </a:spcAft>
            </a:pPr>
            <a:r>
              <a:rPr sz="1800">
                <a:solidFill>
                  <a:srgbClr val="1F2937"/>
                </a:solidFill>
                <a:latin typeface="Calibri"/>
              </a:rPr>
              <a:t>▸  Regional limfa tugunlarida eritrotsitlar bo‘lishi eritrofagiya deyiladi; emboliyalar ham aniqlanadi.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42521"/>
                <a:gridCol w="3345453"/>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Topilish joyi</a:t>
                      </a:r>
                    </a:p>
                  </a:txBody>
                  <a:tcPr marL="73152" marR="73152" marT="36576" marB="36576">
                    <a:solidFill>
                      <a:srgbClr val="0B1F3A"/>
                    </a:solidFill>
                  </a:tcPr>
                </a:tc>
              </a:tr>
              <a:tr h="411480">
                <a:tc>
                  <a:txBody>
                    <a:bodyPr/>
                    <a:lstStyle/>
                    <a:p>
                      <a:r>
                        <a:rPr sz="1300" b="0">
                          <a:solidFill>
                            <a:srgbClr val="1F2937"/>
                          </a:solidFill>
                        </a:rPr>
                        <a:t>Mioglobin</a:t>
                      </a:r>
                    </a:p>
                  </a:txBody>
                  <a:tcPr marL="73152" marR="73152" marT="36576" marB="36576">
                    <a:solidFill>
                      <a:srgbClr val="E8EEF6"/>
                    </a:solidFill>
                  </a:tcPr>
                </a:tc>
                <a:tc>
                  <a:txBody>
                    <a:bodyPr/>
                    <a:lstStyle/>
                    <a:p>
                      <a:r>
                        <a:rPr sz="1300" b="0">
                          <a:solidFill>
                            <a:srgbClr val="1F2937"/>
                          </a:solidFill>
                        </a:rPr>
                        <a:t>Siydik va buyrak naychalarida</a:t>
                      </a:r>
                    </a:p>
                  </a:txBody>
                  <a:tcPr marL="73152" marR="73152" marT="36576" marB="36576">
                    <a:solidFill>
                      <a:srgbClr val="E8EEF6"/>
                    </a:solidFill>
                  </a:tcPr>
                </a:tc>
              </a:tr>
              <a:tr h="411480">
                <a:tc>
                  <a:txBody>
                    <a:bodyPr/>
                    <a:lstStyle/>
                    <a:p>
                      <a:r>
                        <a:rPr sz="1300" b="0">
                          <a:solidFill>
                            <a:srgbClr val="1F2937"/>
                          </a:solidFill>
                        </a:rPr>
                        <a:t>Eritrotsit va yog‘</a:t>
                      </a:r>
                    </a:p>
                  </a:txBody>
                  <a:tcPr marL="73152" marR="73152" marT="36576" marB="36576">
                    <a:solidFill>
                      <a:srgbClr val="FFFFFF"/>
                    </a:solidFill>
                  </a:tcPr>
                </a:tc>
                <a:tc>
                  <a:txBody>
                    <a:bodyPr/>
                    <a:lstStyle/>
                    <a:p>
                      <a:r>
                        <a:rPr sz="1300" b="0">
                          <a:solidFill>
                            <a:srgbClr val="1F2937"/>
                          </a:solidFill>
                        </a:rPr>
                        <a:t>Limfada (yog‘ to‘qimali sohada)</a:t>
                      </a:r>
                    </a:p>
                  </a:txBody>
                  <a:tcPr marL="73152" marR="73152" marT="36576" marB="36576">
                    <a:solidFill>
                      <a:srgbClr val="FFFFFF"/>
                    </a:solidFill>
                  </a:tcPr>
                </a:tc>
              </a:tr>
              <a:tr h="411480">
                <a:tc>
                  <a:txBody>
                    <a:bodyPr/>
                    <a:lstStyle/>
                    <a:p>
                      <a:r>
                        <a:rPr sz="1300" b="0">
                          <a:solidFill>
                            <a:srgbClr val="1F2937"/>
                          </a:solidFill>
                        </a:rPr>
                        <a:t>Eritrofagiya</a:t>
                      </a:r>
                    </a:p>
                  </a:txBody>
                  <a:tcPr marL="73152" marR="73152" marT="36576" marB="36576">
                    <a:solidFill>
                      <a:srgbClr val="E8EEF6"/>
                    </a:solidFill>
                  </a:tcPr>
                </a:tc>
                <a:tc>
                  <a:txBody>
                    <a:bodyPr/>
                    <a:lstStyle/>
                    <a:p>
                      <a:r>
                        <a:rPr sz="1300" b="0">
                          <a:solidFill>
                            <a:srgbClr val="1F2937"/>
                          </a:solidFill>
                        </a:rPr>
                        <a:t>Regional limfa tugunlarida</a:t>
                      </a:r>
                    </a:p>
                  </a:txBody>
                  <a:tcPr marL="73152" marR="73152" marT="36576" marB="36576">
                    <a:solidFill>
                      <a:srgbClr val="E8EEF6"/>
                    </a:solidFill>
                  </a:tcPr>
                </a:tc>
              </a:tr>
              <a:tr h="411480">
                <a:tc>
                  <a:txBody>
                    <a:bodyPr/>
                    <a:lstStyle/>
                    <a:p>
                      <a:r>
                        <a:rPr sz="1300" b="0">
                          <a:solidFill>
                            <a:srgbClr val="1F2937"/>
                          </a:solidFill>
                        </a:rPr>
                        <a:t>Emboliya</a:t>
                      </a:r>
                    </a:p>
                  </a:txBody>
                  <a:tcPr marL="73152" marR="73152" marT="36576" marB="36576">
                    <a:solidFill>
                      <a:srgbClr val="FFFFFF"/>
                    </a:solidFill>
                  </a:tcPr>
                </a:tc>
                <a:tc>
                  <a:txBody>
                    <a:bodyPr/>
                    <a:lstStyle/>
                    <a:p>
                      <a:r>
                        <a:rPr sz="1300" b="0">
                          <a:solidFill>
                            <a:srgbClr val="1F2937"/>
                          </a:solidFill>
                        </a:rPr>
                        <a:t>Havo, yog‘, to‘qima, yot modda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Umumiy belgilar va ularning joyi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mahalliy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Mahalliy belgilar: jarohat sohasidagi to‘qimaga qon quyilishi, qon tomirlarda tromb, reaktiv shish.</a:t>
            </a:r>
          </a:p>
          <a:p>
            <a:pPr>
              <a:spcAft>
                <a:spcPts val="800"/>
              </a:spcAft>
            </a:pPr>
            <a:r>
              <a:rPr sz="1800">
                <a:solidFill>
                  <a:srgbClr val="1F2937"/>
                </a:solidFill>
                <a:latin typeface="Calibri"/>
              </a:rPr>
              <a:t>▸  Yana: yallig‘lanish alomatlari, mushaklar qisqarishi, hujayralar nekrozi, gistokimyoviy o‘zgarishlar.</a:t>
            </a:r>
          </a:p>
          <a:p>
            <a:pPr>
              <a:spcAft>
                <a:spcPts val="800"/>
              </a:spcAft>
            </a:pPr>
            <a:r>
              <a:rPr sz="1800">
                <a:solidFill>
                  <a:srgbClr val="1F2937"/>
                </a:solidFill>
                <a:latin typeface="Calibri"/>
              </a:rPr>
              <a:t>▸  Diqqat: belgilar aniqligi jarohat turi, soni, ko‘lamiga va organizm xususiyatlariga bog‘liq.</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09821"/>
                <a:gridCol w="2284927"/>
                <a:gridCol w="1893225"/>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Umumiy</a:t>
                      </a:r>
                    </a:p>
                  </a:txBody>
                  <a:tcPr marL="73152" marR="73152" marT="36576" marB="36576">
                    <a:solidFill>
                      <a:srgbClr val="0B1F3A"/>
                    </a:solidFill>
                  </a:tcPr>
                </a:tc>
                <a:tc>
                  <a:txBody>
                    <a:bodyPr/>
                    <a:lstStyle/>
                    <a:p>
                      <a:r>
                        <a:rPr sz="1300" b="1">
                          <a:solidFill>
                            <a:srgbClr val="FFFFFF"/>
                          </a:solidFill>
                        </a:rPr>
                        <a:t>Mahalliy</a:t>
                      </a:r>
                    </a:p>
                  </a:txBody>
                  <a:tcPr marL="73152" marR="73152" marT="36576" marB="36576">
                    <a:solidFill>
                      <a:srgbClr val="0B1F3A"/>
                    </a:solidFill>
                  </a:tcPr>
                </a:tc>
              </a:tr>
              <a:tr h="411480">
                <a:tc>
                  <a:txBody>
                    <a:bodyPr/>
                    <a:lstStyle/>
                    <a:p>
                      <a:r>
                        <a:rPr sz="1200" b="0">
                          <a:solidFill>
                            <a:srgbClr val="1F2937"/>
                          </a:solidFill>
                        </a:rPr>
                        <a:t>Qamrov</a:t>
                      </a:r>
                    </a:p>
                  </a:txBody>
                  <a:tcPr marL="73152" marR="73152" marT="36576" marB="36576">
                    <a:solidFill>
                      <a:srgbClr val="E8EEF6"/>
                    </a:solidFill>
                  </a:tcPr>
                </a:tc>
                <a:tc>
                  <a:txBody>
                    <a:bodyPr/>
                    <a:lstStyle/>
                    <a:p>
                      <a:r>
                        <a:rPr sz="1200" b="0">
                          <a:solidFill>
                            <a:srgbClr val="1F2937"/>
                          </a:solidFill>
                        </a:rPr>
                        <a:t>Butun organizm reaksiyasi</a:t>
                      </a:r>
                    </a:p>
                  </a:txBody>
                  <a:tcPr marL="73152" marR="73152" marT="36576" marB="36576">
                    <a:solidFill>
                      <a:srgbClr val="E8EEF6"/>
                    </a:solidFill>
                  </a:tcPr>
                </a:tc>
                <a:tc>
                  <a:txBody>
                    <a:bodyPr/>
                    <a:lstStyle/>
                    <a:p>
                      <a:r>
                        <a:rPr sz="1200" b="0">
                          <a:solidFill>
                            <a:srgbClr val="1F2937"/>
                          </a:solidFill>
                        </a:rPr>
                        <a:t>Shikastlangan soha to‘qimasi</a:t>
                      </a:r>
                    </a:p>
                  </a:txBody>
                  <a:tcPr marL="73152" marR="73152" marT="36576" marB="36576">
                    <a:solidFill>
                      <a:srgbClr val="E8EEF6"/>
                    </a:solidFill>
                  </a:tcPr>
                </a:tc>
              </a:tr>
              <a:tr h="411480">
                <a:tc>
                  <a:txBody>
                    <a:bodyPr/>
                    <a:lstStyle/>
                    <a:p>
                      <a:r>
                        <a:rPr sz="1200" b="0">
                          <a:solidFill>
                            <a:srgbClr val="1F2937"/>
                          </a:solidFill>
                        </a:rPr>
                        <a:t>Qon bilan bog‘liq</a:t>
                      </a:r>
                    </a:p>
                  </a:txBody>
                  <a:tcPr marL="73152" marR="73152" marT="36576" marB="36576">
                    <a:solidFill>
                      <a:srgbClr val="FFFFFF"/>
                    </a:solidFill>
                  </a:tcPr>
                </a:tc>
                <a:tc>
                  <a:txBody>
                    <a:bodyPr/>
                    <a:lstStyle/>
                    <a:p>
                      <a:r>
                        <a:rPr sz="1200" b="0">
                          <a:solidFill>
                            <a:srgbClr val="1F2937"/>
                          </a:solidFill>
                        </a:rPr>
                        <a:t>Qon ketishi, kamqonlik, aspiratsiya</a:t>
                      </a:r>
                    </a:p>
                  </a:txBody>
                  <a:tcPr marL="73152" marR="73152" marT="36576" marB="36576">
                    <a:solidFill>
                      <a:srgbClr val="FFFFFF"/>
                    </a:solidFill>
                  </a:tcPr>
                </a:tc>
                <a:tc>
                  <a:txBody>
                    <a:bodyPr/>
                    <a:lstStyle/>
                    <a:p>
                      <a:r>
                        <a:rPr sz="1200" b="0">
                          <a:solidFill>
                            <a:srgbClr val="1F2937"/>
                          </a:solidFill>
                        </a:rPr>
                        <a:t>Qon quyilishi, tromb</a:t>
                      </a:r>
                    </a:p>
                  </a:txBody>
                  <a:tcPr marL="73152" marR="73152" marT="36576" marB="36576">
                    <a:solidFill>
                      <a:srgbClr val="FFFFFF"/>
                    </a:solidFill>
                  </a:tcPr>
                </a:tc>
              </a:tr>
              <a:tr h="411480">
                <a:tc>
                  <a:txBody>
                    <a:bodyPr/>
                    <a:lstStyle/>
                    <a:p>
                      <a:r>
                        <a:rPr sz="1200" b="0">
                          <a:solidFill>
                            <a:srgbClr val="1F2937"/>
                          </a:solidFill>
                        </a:rPr>
                        <a:t>Boshqa belgilar</a:t>
                      </a:r>
                    </a:p>
                  </a:txBody>
                  <a:tcPr marL="73152" marR="73152" marT="36576" marB="36576">
                    <a:solidFill>
                      <a:srgbClr val="E8EEF6"/>
                    </a:solidFill>
                  </a:tcPr>
                </a:tc>
                <a:tc>
                  <a:txBody>
                    <a:bodyPr/>
                    <a:lstStyle/>
                    <a:p>
                      <a:r>
                        <a:rPr sz="1200" b="0">
                          <a:solidFill>
                            <a:srgbClr val="1F2937"/>
                          </a:solidFill>
                        </a:rPr>
                        <a:t>Mioglobin, eritrofagiya, emboliya</a:t>
                      </a:r>
                    </a:p>
                  </a:txBody>
                  <a:tcPr marL="73152" marR="73152" marT="36576" marB="36576">
                    <a:solidFill>
                      <a:srgbClr val="E8EEF6"/>
                    </a:solidFill>
                  </a:tcPr>
                </a:tc>
                <a:tc>
                  <a:txBody>
                    <a:bodyPr/>
                    <a:lstStyle/>
                    <a:p>
                      <a:r>
                        <a:rPr sz="1200" b="0">
                          <a:solidFill>
                            <a:srgbClr val="1F2937"/>
                          </a:solidFill>
                        </a:rPr>
                        <a:t>Shish, yallig‘lanish, nekroz</a:t>
                      </a:r>
                    </a:p>
                  </a:txBody>
                  <a:tcPr marL="73152" marR="73152" marT="36576" marB="36576">
                    <a:solidFill>
                      <a:srgbClr val="E8EEF6"/>
                    </a:solidFill>
                  </a:tcPr>
                </a:tc>
              </a:tr>
              <a:tr h="411480">
                <a:tc>
                  <a:txBody>
                    <a:bodyPr/>
                    <a:lstStyle/>
                    <a:p>
                      <a:r>
                        <a:rPr sz="1200" b="0">
                          <a:solidFill>
                            <a:srgbClr val="1F2937"/>
                          </a:solidFill>
                        </a:rPr>
                        <a:t>Mushak va hujayra</a:t>
                      </a:r>
                    </a:p>
                  </a:txBody>
                  <a:tcPr marL="73152" marR="73152" marT="36576" marB="36576">
                    <a:solidFill>
                      <a:srgbClr val="FFFFFF"/>
                    </a:solidFill>
                  </a:tcPr>
                </a:tc>
                <a:tc>
                  <a:txBody>
                    <a:bodyPr/>
                    <a:lstStyle/>
                    <a:p>
                      <a:r>
                        <a:rPr sz="1200" b="0">
                          <a:solidFill>
                            <a:srgbClr val="1F2937"/>
                          </a:solidFill>
                        </a:rPr>
                        <a:t>Oshqozon-ichakda qon, yot moddalar</a:t>
                      </a:r>
                    </a:p>
                  </a:txBody>
                  <a:tcPr marL="73152" marR="73152" marT="36576" marB="36576">
                    <a:solidFill>
                      <a:srgbClr val="FFFFFF"/>
                    </a:solidFill>
                  </a:tcPr>
                </a:tc>
                <a:tc>
                  <a:txBody>
                    <a:bodyPr/>
                    <a:lstStyle/>
                    <a:p>
                      <a:r>
                        <a:rPr sz="1200" b="0">
                          <a:solidFill>
                            <a:srgbClr val="1F2937"/>
                          </a:solidFill>
                        </a:rPr>
                        <a:t>Mushak qisqarishi, gistokimyo</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Umumiy va mahalliy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28-29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Belgilar aniqligi va to‘qimalarning filogenetik yoshi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Hayotiylik belgilarining aniqligi jarohatning turi, soni va ko‘lamiga bog‘liq bo‘ladi.</a:t>
            </a:r>
          </a:p>
          <a:p>
            <a:pPr>
              <a:spcAft>
                <a:spcPts val="1200"/>
              </a:spcAft>
            </a:pPr>
            <a:r>
              <a:rPr sz="2200">
                <a:solidFill>
                  <a:srgbClr val="1F2937"/>
                </a:solidFill>
                <a:latin typeface="Calibri"/>
              </a:rPr>
              <a:t>▸  Aniqlik organizmning umumiy xususiyatlariga va shikastlangan sohaning mahalliy xususiyatlariga ham bog‘liq.</a:t>
            </a:r>
          </a:p>
          <a:p>
            <a:pPr>
              <a:spcAft>
                <a:spcPts val="1200"/>
              </a:spcAft>
            </a:pPr>
            <a:r>
              <a:rPr sz="2200">
                <a:solidFill>
                  <a:srgbClr val="1F2937"/>
                </a:solidFill>
                <a:latin typeface="Calibri"/>
              </a:rPr>
              <a:t>▸  Biologik o‘limdan keyin hayotiy jarayonlar turli to‘qimalarda bir vaqtda to‘xtamaydi. Bu to‘qimaning filogenetik yoshiga bog‘liq.</a:t>
            </a:r>
          </a:p>
          <a:p>
            <a:pPr>
              <a:spcAft>
                <a:spcPts val="1200"/>
              </a:spcAft>
            </a:pPr>
            <a:r>
              <a:rPr sz="2200">
                <a:solidFill>
                  <a:srgbClr val="1F2937"/>
                </a:solidFill>
                <a:latin typeface="Calibri"/>
              </a:rPr>
              <a:t>▸  Diqqat: xato qilish xavfi! Filogenetik katta yoshli to‘qimalarda o‘limdan keyingi jarohat hayotiy jarohatga o‘xshab ketishi mumkin. “O‘xshash” degani “hayotiy” degani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28-29,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Jarohatlarni tekshirish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avval makroskopik ko‘riladi va o‘lchanadi.</a:t>
            </a:r>
          </a:p>
          <a:p>
            <a:pPr>
              <a:spcAft>
                <a:spcPts val="800"/>
              </a:spcAft>
            </a:pPr>
            <a:r>
              <a:rPr sz="1800">
                <a:solidFill>
                  <a:srgbClr val="1F2937"/>
                </a:solidFill>
                <a:latin typeface="Calibri"/>
              </a:rPr>
              <a:t>▸  Stereomikroskopiya, trasologiya hamda sud-biologik, sud-kimyoviy usullar masalaga qarab qo‘llanadi.</a:t>
            </a:r>
          </a:p>
          <a:p>
            <a:pPr>
              <a:spcAft>
                <a:spcPts val="800"/>
              </a:spcAft>
            </a:pPr>
            <a:r>
              <a:rPr sz="1800">
                <a:solidFill>
                  <a:srgbClr val="1F2937"/>
                </a:solidFill>
                <a:latin typeface="Calibri"/>
              </a:rPr>
              <a:t>▸  Vrach jarohatni hujjatda to‘liq tavsiflashi kerak. Faqat diagnoz yozish yetarli emas.</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288825"/>
                <a:gridCol w="2999150"/>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Vazifasi</a:t>
                      </a:r>
                    </a:p>
                  </a:txBody>
                  <a:tcPr marL="73152" marR="73152" marT="36576" marB="36576">
                    <a:solidFill>
                      <a:srgbClr val="0B1F3A"/>
                    </a:solidFill>
                  </a:tcPr>
                </a:tc>
              </a:tr>
              <a:tr h="411480">
                <a:tc>
                  <a:txBody>
                    <a:bodyPr/>
                    <a:lstStyle/>
                    <a:p>
                      <a:r>
                        <a:rPr sz="1300" b="0">
                          <a:solidFill>
                            <a:srgbClr val="1F2937"/>
                          </a:solidFill>
                        </a:rPr>
                        <a:t>Makroskopik ko‘rik</a:t>
                      </a:r>
                    </a:p>
                  </a:txBody>
                  <a:tcPr marL="73152" marR="73152" marT="36576" marB="36576">
                    <a:solidFill>
                      <a:srgbClr val="E8EEF6"/>
                    </a:solidFill>
                  </a:tcPr>
                </a:tc>
                <a:tc>
                  <a:txBody>
                    <a:bodyPr/>
                    <a:lstStyle/>
                    <a:p>
                      <a:r>
                        <a:rPr sz="1300" b="0">
                          <a:solidFill>
                            <a:srgbClr val="1F2937"/>
                          </a:solidFill>
                        </a:rPr>
                        <a:t>Tur, joy, shakl, chetlari, tubi, rangi</a:t>
                      </a:r>
                    </a:p>
                  </a:txBody>
                  <a:tcPr marL="73152" marR="73152" marT="36576" marB="36576">
                    <a:solidFill>
                      <a:srgbClr val="E8EEF6"/>
                    </a:solidFill>
                  </a:tcPr>
                </a:tc>
              </a:tr>
              <a:tr h="411480">
                <a:tc>
                  <a:txBody>
                    <a:bodyPr/>
                    <a:lstStyle/>
                    <a:p>
                      <a:r>
                        <a:rPr sz="1300" b="0">
                          <a:solidFill>
                            <a:srgbClr val="1F2937"/>
                          </a:solidFill>
                        </a:rPr>
                        <a:t>Rentgenografiya</a:t>
                      </a:r>
                    </a:p>
                  </a:txBody>
                  <a:tcPr marL="73152" marR="73152" marT="36576" marB="36576">
                    <a:solidFill>
                      <a:srgbClr val="FFFFFF"/>
                    </a:solidFill>
                  </a:tcPr>
                </a:tc>
                <a:tc>
                  <a:txBody>
                    <a:bodyPr/>
                    <a:lstStyle/>
                    <a:p>
                      <a:r>
                        <a:rPr sz="1300" b="0">
                          <a:solidFill>
                            <a:srgbClr val="1F2937"/>
                          </a:solidFill>
                        </a:rPr>
                        <a:t>Yot jism va suyak shikastlari</a:t>
                      </a:r>
                    </a:p>
                  </a:txBody>
                  <a:tcPr marL="73152" marR="73152" marT="36576" marB="36576">
                    <a:solidFill>
                      <a:srgbClr val="FFFFFF"/>
                    </a:solidFill>
                  </a:tcPr>
                </a:tc>
              </a:tr>
              <a:tr h="411480">
                <a:tc>
                  <a:txBody>
                    <a:bodyPr/>
                    <a:lstStyle/>
                    <a:p>
                      <a:r>
                        <a:rPr sz="1300" b="0">
                          <a:solidFill>
                            <a:srgbClr val="1F2937"/>
                          </a:solidFill>
                        </a:rPr>
                        <a:t>Rangli bosma, spektral analiz</a:t>
                      </a:r>
                    </a:p>
                  </a:txBody>
                  <a:tcPr marL="73152" marR="73152" marT="36576" marB="36576">
                    <a:solidFill>
                      <a:srgbClr val="E8EEF6"/>
                    </a:solidFill>
                  </a:tcPr>
                </a:tc>
                <a:tc>
                  <a:txBody>
                    <a:bodyPr/>
                    <a:lstStyle/>
                    <a:p>
                      <a:r>
                        <a:rPr sz="1300" b="0">
                          <a:solidFill>
                            <a:srgbClr val="1F2937"/>
                          </a:solidFill>
                        </a:rPr>
                        <a:t>Metall zarralari va izlari</a:t>
                      </a:r>
                    </a:p>
                  </a:txBody>
                  <a:tcPr marL="73152" marR="73152" marT="36576" marB="36576">
                    <a:solidFill>
                      <a:srgbClr val="E8EEF6"/>
                    </a:solidFill>
                  </a:tcPr>
                </a:tc>
              </a:tr>
              <a:tr h="411480">
                <a:tc>
                  <a:txBody>
                    <a:bodyPr/>
                    <a:lstStyle/>
                    <a:p>
                      <a:r>
                        <a:rPr sz="1300" b="0">
                          <a:solidFill>
                            <a:srgbClr val="1F2937"/>
                          </a:solidFill>
                        </a:rPr>
                        <a:t>Gistologik tekshiruv</a:t>
                      </a:r>
                    </a:p>
                  </a:txBody>
                  <a:tcPr marL="73152" marR="73152" marT="36576" marB="36576">
                    <a:solidFill>
                      <a:srgbClr val="FFFFFF"/>
                    </a:solidFill>
                  </a:tcPr>
                </a:tc>
                <a:tc>
                  <a:txBody>
                    <a:bodyPr/>
                    <a:lstStyle/>
                    <a:p>
                      <a:r>
                        <a:rPr sz="1300" b="0">
                          <a:solidFill>
                            <a:srgbClr val="1F2937"/>
                          </a:solidFill>
                        </a:rPr>
                        <a:t>Hayotiylik va yetkazilish muddati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vazifalari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Havo emboliyasi va Sunsov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 emboliyasi yirik venalar shikastida va jinoiy abortda rivojlanishi mumkin.</a:t>
            </a:r>
          </a:p>
          <a:p>
            <a:pPr>
              <a:spcAft>
                <a:spcPts val="800"/>
              </a:spcAft>
            </a:pPr>
            <a:r>
              <a:rPr sz="1800">
                <a:solidFill>
                  <a:srgbClr val="1F2937"/>
                </a:solidFill>
                <a:latin typeface="Calibri"/>
              </a:rPr>
              <a:t>▸  Oz havo (5-7 kub sm) qonda erib ketadi. 10 kub sm va undan ko‘pi tez kirsa, fibrillyatsiya va o‘lim bo‘lishi mumkin.</a:t>
            </a:r>
          </a:p>
          <a:p>
            <a:pPr>
              <a:spcAft>
                <a:spcPts val="800"/>
              </a:spcAft>
            </a:pPr>
            <a:r>
              <a:rPr sz="1800">
                <a:solidFill>
                  <a:srgbClr val="1F2937"/>
                </a:solidFill>
                <a:latin typeface="Calibri"/>
              </a:rPr>
              <a:t>▸  Suvdan havo pufakchalari chiqsa, sinama musbat. O‘pka tomirlarida katakchasimon izlar ham topilishi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Ko‘krak qafasi ochiladi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To‘sh suyagi ajratib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Perikardga kesma, suv quyiladi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O‘ng qorincha devori teshiladi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Pufakchalar chiqishi — musbat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Sunsov sinamasi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Yog‘ emboliyasi va qon aspiratsiyasi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Yog‘ emboliyasi asosan uzun naysimon suyaklar singanda va teri osti yog‘ qavati majaqlanganda kuzatiladi.</a:t>
            </a:r>
          </a:p>
          <a:p>
            <a:pPr>
              <a:spcAft>
                <a:spcPts val="1200"/>
              </a:spcAft>
            </a:pPr>
            <a:r>
              <a:rPr sz="2000">
                <a:solidFill>
                  <a:srgbClr val="1F2937"/>
                </a:solidFill>
                <a:latin typeface="Calibri"/>
              </a:rPr>
              <a:t>▸  Mayda yog‘ zarralari o‘pka qon tomirlarida to‘planib, bo‘shliqlarini asta yopadi. Shu sabab o‘lim darhol emas, 2-3 kundan so‘ng yuz beradi.</a:t>
            </a:r>
          </a:p>
          <a:p>
            <a:pPr>
              <a:spcAft>
                <a:spcPts val="1200"/>
              </a:spcAft>
            </a:pPr>
            <a:r>
              <a:rPr sz="2000">
                <a:solidFill>
                  <a:srgbClr val="1F2937"/>
                </a:solidFill>
                <a:latin typeface="Calibri"/>
              </a:rPr>
              <a:t>▸  Diagnostika: o‘pka va bosh miyaning muzlatilgan kesmalari Sudan III yoki Sudan IV bilan bo‘yaladi. Yog‘ tomchilari Sudan III da olovrang qizil, Sudan IV da qora bo‘ladi.</a:t>
            </a:r>
          </a:p>
          <a:p>
            <a:pPr>
              <a:spcAft>
                <a:spcPts val="1200"/>
              </a:spcAft>
            </a:pPr>
            <a:r>
              <a:rPr sz="2000">
                <a:solidFill>
                  <a:srgbClr val="1F2937"/>
                </a:solidFill>
                <a:latin typeface="Calibri"/>
              </a:rPr>
              <a:t>▸  Halqum, nafas yo‘llari shikasti, kalla asosi va burun suyaklari sinishida qon nafas yo‘llariga tushib asfiksiya beradi. Murdada nafas yo‘llarida qon va asfiksiyaning umumiy belgilari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Shilinma bosqichlari (Taykov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Muddatlar shartli: ular yosh, sog‘liq holati, teri xususiyati va jarohat chuqurligiga bog‘liq.</a:t>
            </a:r>
          </a:p>
          <a:p>
            <a:pPr>
              <a:spcAft>
                <a:spcPts val="800"/>
              </a:spcAft>
            </a:pPr>
            <a:r>
              <a:rPr sz="1800">
                <a:solidFill>
                  <a:srgbClr val="1F2937"/>
                </a:solidFill>
                <a:latin typeface="Calibri"/>
              </a:rPr>
              <a:t>▸  Ayrim holatlarda qoplama 4-6 soatdan so‘ng hosil bo‘ladi, qoldiq iz esa 30 kundan ortiq ham aniqlanishi mumkin.</a:t>
            </a:r>
          </a:p>
          <a:p>
            <a:pPr>
              <a:spcAft>
                <a:spcPts val="800"/>
              </a:spcAft>
            </a:pPr>
            <a:r>
              <a:rPr sz="1800">
                <a:solidFill>
                  <a:srgbClr val="1F2937"/>
                </a:solidFill>
                <a:latin typeface="Calibri"/>
              </a:rPr>
              <a:t>▸  Shilinma shaklidan qat’i nazar, undan qolgan iz dumaloq yoki oval shaklda bo‘ladi.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68652"/>
                <a:gridCol w="1430863"/>
                <a:gridCol w="2488458"/>
              </a:tblGrid>
              <a:tr h="411480">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r>
              <a:tr h="411480">
                <a:tc>
                  <a:txBody>
                    <a:bodyPr/>
                    <a:lstStyle/>
                    <a:p>
                      <a:r>
                        <a:rPr sz="1200" b="0">
                          <a:solidFill>
                            <a:srgbClr val="1F2937"/>
                          </a:solidFill>
                        </a:rPr>
                        <a:t>Yangi shilinma</a:t>
                      </a:r>
                    </a:p>
                  </a:txBody>
                  <a:tcPr marL="73152" marR="73152" marT="36576" marB="36576">
                    <a:solidFill>
                      <a:srgbClr val="E8EEF6"/>
                    </a:solidFill>
                  </a:tcPr>
                </a:tc>
                <a:tc>
                  <a:txBody>
                    <a:bodyPr/>
                    <a:lstStyle/>
                    <a:p>
                      <a:r>
                        <a:rPr sz="1200" b="0">
                          <a:solidFill>
                            <a:srgbClr val="1F2937"/>
                          </a:solidFill>
                        </a:rPr>
                        <a:t>12 soatgacha</a:t>
                      </a:r>
                    </a:p>
                  </a:txBody>
                  <a:tcPr marL="73152" marR="73152" marT="36576" marB="36576">
                    <a:solidFill>
                      <a:srgbClr val="E8EEF6"/>
                    </a:solidFill>
                  </a:tcPr>
                </a:tc>
                <a:tc>
                  <a:txBody>
                    <a:bodyPr/>
                    <a:lstStyle/>
                    <a:p>
                      <a:r>
                        <a:rPr sz="1200" b="0">
                          <a:solidFill>
                            <a:srgbClr val="1F2937"/>
                          </a:solidFill>
                        </a:rPr>
                        <a:t>Yuza nam, so‘ng quriydi; sathdan past</a:t>
                      </a:r>
                    </a:p>
                  </a:txBody>
                  <a:tcPr marL="73152" marR="73152" marT="36576" marB="36576">
                    <a:solidFill>
                      <a:srgbClr val="E8EEF6"/>
                    </a:solidFill>
                  </a:tcPr>
                </a:tc>
              </a:tr>
              <a:tr h="411480">
                <a:tc>
                  <a:txBody>
                    <a:bodyPr/>
                    <a:lstStyle/>
                    <a:p>
                      <a:r>
                        <a:rPr sz="1200" b="0">
                          <a:solidFill>
                            <a:srgbClr val="1F2937"/>
                          </a:solidFill>
                        </a:rPr>
                        <a:t>Qoplama hosil bo‘lishi</a:t>
                      </a:r>
                    </a:p>
                  </a:txBody>
                  <a:tcPr marL="73152" marR="73152" marT="36576" marB="36576">
                    <a:solidFill>
                      <a:srgbClr val="FFFFFF"/>
                    </a:solidFill>
                  </a:tcPr>
                </a:tc>
                <a:tc>
                  <a:txBody>
                    <a:bodyPr/>
                    <a:lstStyle/>
                    <a:p>
                      <a:r>
                        <a:rPr sz="1200" b="0">
                          <a:solidFill>
                            <a:srgbClr val="1F2937"/>
                          </a:solidFill>
                        </a:rPr>
                        <a:t>2-3 sutkagacha</a:t>
                      </a:r>
                    </a:p>
                  </a:txBody>
                  <a:tcPr marL="73152" marR="73152" marT="36576" marB="36576">
                    <a:solidFill>
                      <a:srgbClr val="FFFFFF"/>
                    </a:solidFill>
                  </a:tcPr>
                </a:tc>
                <a:tc>
                  <a:txBody>
                    <a:bodyPr/>
                    <a:lstStyle/>
                    <a:p>
                      <a:r>
                        <a:rPr sz="1200" b="0">
                          <a:solidFill>
                            <a:srgbClr val="1F2937"/>
                          </a:solidFill>
                        </a:rPr>
                        <a:t>Nekroz to‘qimasi, limfa, qon quriydi</a:t>
                      </a:r>
                    </a:p>
                  </a:txBody>
                  <a:tcPr marL="73152" marR="73152" marT="36576" marB="36576">
                    <a:solidFill>
                      <a:srgbClr val="FFFFFF"/>
                    </a:solidFill>
                  </a:tcPr>
                </a:tc>
              </a:tr>
              <a:tr h="411480">
                <a:tc>
                  <a:txBody>
                    <a:bodyPr/>
                    <a:lstStyle/>
                    <a:p>
                      <a:r>
                        <a:rPr sz="1200" b="0">
                          <a:solidFill>
                            <a:srgbClr val="1F2937"/>
                          </a:solidFill>
                        </a:rPr>
                        <a:t>Epitelizatsiya</a:t>
                      </a:r>
                    </a:p>
                  </a:txBody>
                  <a:tcPr marL="73152" marR="73152" marT="36576" marB="36576">
                    <a:solidFill>
                      <a:srgbClr val="E8EEF6"/>
                    </a:solidFill>
                  </a:tcPr>
                </a:tc>
                <a:tc>
                  <a:txBody>
                    <a:bodyPr/>
                    <a:lstStyle/>
                    <a:p>
                      <a:r>
                        <a:rPr sz="1200" b="0">
                          <a:solidFill>
                            <a:srgbClr val="1F2937"/>
                          </a:solidFill>
                        </a:rPr>
                        <a:t>7-9 sutkagacha</a:t>
                      </a:r>
                    </a:p>
                  </a:txBody>
                  <a:tcPr marL="73152" marR="73152" marT="36576" marB="36576">
                    <a:solidFill>
                      <a:srgbClr val="E8EEF6"/>
                    </a:solidFill>
                  </a:tcPr>
                </a:tc>
                <a:tc>
                  <a:txBody>
                    <a:bodyPr/>
                    <a:lstStyle/>
                    <a:p>
                      <a:r>
                        <a:rPr sz="1200" b="0">
                          <a:solidFill>
                            <a:srgbClr val="1F2937"/>
                          </a:solidFill>
                        </a:rPr>
                        <a:t>Qoplama qattiqlashadi, sathdan ko‘tariladi</a:t>
                      </a:r>
                    </a:p>
                  </a:txBody>
                  <a:tcPr marL="73152" marR="73152" marT="36576" marB="36576">
                    <a:solidFill>
                      <a:srgbClr val="E8EEF6"/>
                    </a:solidFill>
                  </a:tcPr>
                </a:tc>
              </a:tr>
              <a:tr h="411480">
                <a:tc>
                  <a:txBody>
                    <a:bodyPr/>
                    <a:lstStyle/>
                    <a:p>
                      <a:r>
                        <a:rPr sz="1200" b="0">
                          <a:solidFill>
                            <a:srgbClr val="1F2937"/>
                          </a:solidFill>
                        </a:rPr>
                        <a:t>Iz bosqichi</a:t>
                      </a:r>
                    </a:p>
                  </a:txBody>
                  <a:tcPr marL="73152" marR="73152" marT="36576" marB="36576">
                    <a:solidFill>
                      <a:srgbClr val="FFFFFF"/>
                    </a:solidFill>
                  </a:tcPr>
                </a:tc>
                <a:tc>
                  <a:txBody>
                    <a:bodyPr/>
                    <a:lstStyle/>
                    <a:p>
                      <a:r>
                        <a:rPr sz="1200" b="0">
                          <a:solidFill>
                            <a:srgbClr val="1F2937"/>
                          </a:solidFill>
                        </a:rPr>
                        <a:t>10-15 sutkada yo‘qoladi</a:t>
                      </a:r>
                    </a:p>
                  </a:txBody>
                  <a:tcPr marL="73152" marR="73152" marT="36576" marB="36576">
                    <a:solidFill>
                      <a:srgbClr val="FFFFFF"/>
                    </a:solidFill>
                  </a:tcPr>
                </a:tc>
                <a:tc>
                  <a:txBody>
                    <a:bodyPr/>
                    <a:lstStyle/>
                    <a:p>
                      <a:r>
                        <a:rPr sz="1200" b="0">
                          <a:solidFill>
                            <a:srgbClr val="1F2937"/>
                          </a:solidFill>
                        </a:rPr>
                        <a:t>Qoplama o‘rnida pushti dog‘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Shilinmaning 4 bosqichi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Qontalash va murda dog‘i, pergament dog‘i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Qontalash rangi: dastlab qizg‘ish-ko‘kimtir, 3-4 sutkada yashil, 6-8 sutkada sariq tus paydo bo‘la boshlaydi.</a:t>
            </a:r>
          </a:p>
          <a:p>
            <a:pPr>
              <a:spcAft>
                <a:spcPts val="800"/>
              </a:spcAft>
            </a:pPr>
            <a:r>
              <a:rPr sz="1800">
                <a:solidFill>
                  <a:srgbClr val="1F2937"/>
                </a:solidFill>
                <a:latin typeface="Calibri"/>
              </a:rPr>
              <a:t>▸  Rang o‘zgarishi chetdan boshlanadi. Ko‘z, lab shilliq qavati va bo‘yinda tuslanmay, oqarib ketadi.</a:t>
            </a:r>
          </a:p>
          <a:p>
            <a:pPr>
              <a:spcAft>
                <a:spcPts val="800"/>
              </a:spcAft>
            </a:pPr>
            <a:r>
              <a:rPr sz="1800">
                <a:solidFill>
                  <a:srgbClr val="1F2937"/>
                </a:solidFill>
                <a:latin typeface="Calibri"/>
              </a:rPr>
              <a:t>▸  Diqqat: qontalash ≠ murda dog‘i, shilinma ≠ pergament dog‘i. Murda dog‘i sohasida farqlash qiyinlashadi.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84222"/>
                <a:gridCol w="1813020"/>
                <a:gridCol w="219073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Shilinma</a:t>
                      </a:r>
                    </a:p>
                  </a:txBody>
                  <a:tcPr marL="73152" marR="73152" marT="36576" marB="36576">
                    <a:solidFill>
                      <a:srgbClr val="0B1F3A"/>
                    </a:solidFill>
                  </a:tcPr>
                </a:tc>
                <a:tc>
                  <a:txBody>
                    <a:bodyPr/>
                    <a:lstStyle/>
                    <a:p>
                      <a:r>
                        <a:rPr sz="1300" b="1">
                          <a:solidFill>
                            <a:srgbClr val="FFFFFF"/>
                          </a:solidFill>
                        </a:rPr>
                        <a:t>Pergament dog‘i</a:t>
                      </a:r>
                    </a:p>
                  </a:txBody>
                  <a:tcPr marL="73152" marR="73152" marT="36576" marB="36576">
                    <a:solidFill>
                      <a:srgbClr val="0B1F3A"/>
                    </a:solidFill>
                  </a:tcPr>
                </a:tc>
              </a:tr>
              <a:tr h="411480">
                <a:tc>
                  <a:txBody>
                    <a:bodyPr/>
                    <a:lstStyle/>
                    <a:p>
                      <a:r>
                        <a:rPr sz="1200" b="0">
                          <a:solidFill>
                            <a:srgbClr val="1F2937"/>
                          </a:solidFill>
                        </a:rPr>
                        <a:t>Kelib chiqishi</a:t>
                      </a:r>
                    </a:p>
                  </a:txBody>
                  <a:tcPr marL="73152" marR="73152" marT="36576" marB="36576">
                    <a:solidFill>
                      <a:srgbClr val="E8EEF6"/>
                    </a:solidFill>
                  </a:tcPr>
                </a:tc>
                <a:tc>
                  <a:txBody>
                    <a:bodyPr/>
                    <a:lstStyle/>
                    <a:p>
                      <a:r>
                        <a:rPr sz="1200" b="0">
                          <a:solidFill>
                            <a:srgbClr val="1F2937"/>
                          </a:solidFill>
                        </a:rPr>
                        <a:t>Hayotiy jarohat</a:t>
                      </a:r>
                    </a:p>
                  </a:txBody>
                  <a:tcPr marL="73152" marR="73152" marT="36576" marB="36576">
                    <a:solidFill>
                      <a:srgbClr val="E8EEF6"/>
                    </a:solidFill>
                  </a:tcPr>
                </a:tc>
                <a:tc>
                  <a:txBody>
                    <a:bodyPr/>
                    <a:lstStyle/>
                    <a:p>
                      <a:r>
                        <a:rPr sz="1200" b="0">
                          <a:solidFill>
                            <a:srgbClr val="1F2937"/>
                          </a:solidFill>
                        </a:rPr>
                        <a:t>O‘limdan so‘ng qurish alomati</a:t>
                      </a:r>
                    </a:p>
                  </a:txBody>
                  <a:tcPr marL="73152" marR="73152" marT="36576" marB="36576">
                    <a:solidFill>
                      <a:srgbClr val="E8EEF6"/>
                    </a:solidFill>
                  </a:tcPr>
                </a:tc>
              </a:tr>
              <a:tr h="411480">
                <a:tc>
                  <a:txBody>
                    <a:bodyPr/>
                    <a:lstStyle/>
                    <a:p>
                      <a:r>
                        <a:rPr sz="1200" b="0">
                          <a:solidFill>
                            <a:srgbClr val="1F2937"/>
                          </a:solidFill>
                        </a:rPr>
                        <a:t>Rangi</a:t>
                      </a:r>
                    </a:p>
                  </a:txBody>
                  <a:tcPr marL="73152" marR="73152" marT="36576" marB="36576">
                    <a:solidFill>
                      <a:srgbClr val="FFFFFF"/>
                    </a:solidFill>
                  </a:tcPr>
                </a:tc>
                <a:tc>
                  <a:txBody>
                    <a:bodyPr/>
                    <a:lstStyle/>
                    <a:p>
                      <a:r>
                        <a:rPr sz="1200" b="0">
                          <a:solidFill>
                            <a:srgbClr val="1F2937"/>
                          </a:solidFill>
                        </a:rPr>
                        <a:t>Qoplama, so‘ng pushti iz</a:t>
                      </a:r>
                    </a:p>
                  </a:txBody>
                  <a:tcPr marL="73152" marR="73152" marT="36576" marB="36576">
                    <a:solidFill>
                      <a:srgbClr val="FFFFFF"/>
                    </a:solidFill>
                  </a:tcPr>
                </a:tc>
                <a:tc>
                  <a:txBody>
                    <a:bodyPr/>
                    <a:lstStyle/>
                    <a:p>
                      <a:r>
                        <a:rPr sz="1200" b="0">
                          <a:solidFill>
                            <a:srgbClr val="1F2937"/>
                          </a:solidFill>
                        </a:rPr>
                        <a:t>Sariq, jigar rang</a:t>
                      </a:r>
                    </a:p>
                  </a:txBody>
                  <a:tcPr marL="73152" marR="73152" marT="36576" marB="36576">
                    <a:solidFill>
                      <a:srgbClr val="FFFFFF"/>
                    </a:solidFill>
                  </a:tcPr>
                </a:tc>
              </a:tr>
              <a:tr h="411480">
                <a:tc>
                  <a:txBody>
                    <a:bodyPr/>
                    <a:lstStyle/>
                    <a:p>
                      <a:r>
                        <a:rPr sz="1200" b="0">
                          <a:solidFill>
                            <a:srgbClr val="1F2937"/>
                          </a:solidFill>
                        </a:rPr>
                        <a:t>Qoplama</a:t>
                      </a:r>
                    </a:p>
                  </a:txBody>
                  <a:tcPr marL="73152" marR="73152" marT="36576" marB="36576">
                    <a:solidFill>
                      <a:srgbClr val="E8EEF6"/>
                    </a:solidFill>
                  </a:tcPr>
                </a:tc>
                <a:tc>
                  <a:txBody>
                    <a:bodyPr/>
                    <a:lstStyle/>
                    <a:p>
                      <a:r>
                        <a:rPr sz="1200" b="0">
                          <a:solidFill>
                            <a:srgbClr val="1F2937"/>
                          </a:solidFill>
                        </a:rPr>
                        <a:t>Hosil bo‘ladi</a:t>
                      </a:r>
                    </a:p>
                  </a:txBody>
                  <a:tcPr marL="73152" marR="73152" marT="36576" marB="36576">
                    <a:solidFill>
                      <a:srgbClr val="E8EEF6"/>
                    </a:solidFill>
                  </a:tcPr>
                </a:tc>
                <a:tc>
                  <a:txBody>
                    <a:bodyPr/>
                    <a:lstStyle/>
                    <a:p>
                      <a:r>
                        <a:rPr sz="1200" b="0">
                          <a:solidFill>
                            <a:srgbClr val="1F2937"/>
                          </a:solidFill>
                        </a:rPr>
                        <a:t>Hosil bo‘lmaydi</a:t>
                      </a:r>
                    </a:p>
                  </a:txBody>
                  <a:tcPr marL="73152" marR="73152" marT="36576" marB="36576">
                    <a:solidFill>
                      <a:srgbClr val="E8EEF6"/>
                    </a:solidFill>
                  </a:tcPr>
                </a:tc>
              </a:tr>
              <a:tr h="411480">
                <a:tc>
                  <a:txBody>
                    <a:bodyPr/>
                    <a:lstStyle/>
                    <a:p>
                      <a:r>
                        <a:rPr sz="1200" b="0">
                          <a:solidFill>
                            <a:srgbClr val="1F2937"/>
                          </a:solidFill>
                        </a:rPr>
                        <a:t>Hayotiy o‘zgarish</a:t>
                      </a:r>
                    </a:p>
                  </a:txBody>
                  <a:tcPr marL="73152" marR="73152" marT="36576" marB="36576">
                    <a:solidFill>
                      <a:srgbClr val="FFFFFF"/>
                    </a:solidFill>
                  </a:tcPr>
                </a:tc>
                <a:tc>
                  <a:txBody>
                    <a:bodyPr/>
                    <a:lstStyle/>
                    <a:p>
                      <a:r>
                        <a:rPr sz="1200" b="0">
                          <a:solidFill>
                            <a:srgbClr val="1F2937"/>
                          </a:solidFill>
                        </a:rPr>
                        <a:t>Aniqlanadi</a:t>
                      </a:r>
                    </a:p>
                  </a:txBody>
                  <a:tcPr marL="73152" marR="73152" marT="36576" marB="36576">
                    <a:solidFill>
                      <a:srgbClr val="FFFFFF"/>
                    </a:solidFill>
                  </a:tcPr>
                </a:tc>
                <a:tc>
                  <a:txBody>
                    <a:bodyPr/>
                    <a:lstStyle/>
                    <a:p>
                      <a:r>
                        <a:rPr sz="1200" b="0">
                          <a:solidFill>
                            <a:srgbClr val="1F2937"/>
                          </a:solidFill>
                        </a:rPr>
                        <a:t>Aniqlanmaydi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Shilinma va pergament dog‘i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38, 37-38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hayotiylik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jarohat sohasidagi to‘qimaga qon quyilgan, qon tomirida tromb bor. Yirik vena shikastlangani uchun havo emboliyasiga shubha qilindi.</a:t>
            </a:r>
          </a:p>
          <a:p>
            <a:pPr>
              <a:spcAft>
                <a:spcPts val="1200"/>
              </a:spcAft>
            </a:pPr>
            <a:r>
              <a:rPr sz="2200">
                <a:solidFill>
                  <a:srgbClr val="1F2937"/>
                </a:solidFill>
                <a:latin typeface="Calibri"/>
              </a:rPr>
              <a:t>▸  Savol: bu belgilar jarohat hayotlik vaqtida yetkazilganini ko‘rsatadimi? Mahalliy va umumiy belgilarni ajrating.</a:t>
            </a:r>
          </a:p>
          <a:p>
            <a:pPr>
              <a:spcAft>
                <a:spcPts val="1200"/>
              </a:spcAft>
            </a:pPr>
            <a:r>
              <a:rPr sz="2200">
                <a:solidFill>
                  <a:srgbClr val="1F2937"/>
                </a:solidFill>
                <a:latin typeface="Calibri"/>
              </a:rPr>
              <a:t>▸  To‘qimaga qon quyilishi va tomirdagi tromb mahalliy belgilar. Nafas yo‘llarida qon aspiratsiyasi esa umumiy belgi hisoblanadi.</a:t>
            </a:r>
          </a:p>
          <a:p>
            <a:pPr>
              <a:spcAft>
                <a:spcPts val="1200"/>
              </a:spcAft>
            </a:pPr>
            <a:r>
              <a:rPr sz="2200">
                <a:solidFill>
                  <a:srgbClr val="1F2937"/>
                </a:solidFill>
                <a:latin typeface="Calibri"/>
              </a:rPr>
              <a:t>▸  Diqqat: ba’zi filogenetik katta yoshli to‘qimalarda o‘limdan keyingi jarohat hayotiyga o‘xshashi mumkin. Belgilar aniqligi jarohat va organizmga ham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31-32, 28, 28-29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hayotiylikning umumiy va mahalliy belgilaridan ikkitadan ayting.</a:t>
            </a:r>
          </a:p>
          <a:p>
            <a:pPr>
              <a:spcAft>
                <a:spcPts val="1200"/>
              </a:spcAft>
            </a:pPr>
            <a:r>
              <a:rPr sz="2200">
                <a:solidFill>
                  <a:srgbClr val="1F2937"/>
                </a:solidFill>
                <a:latin typeface="Calibri"/>
              </a:rPr>
              <a:t>▸  Savol 2: havo emboliyasida Sunsov sinamasining ijobiy natijasi qanday ko‘rinadi?</a:t>
            </a:r>
          </a:p>
          <a:p>
            <a:pPr>
              <a:spcAft>
                <a:spcPts val="1200"/>
              </a:spcAft>
            </a:pPr>
            <a:r>
              <a:rPr sz="2200">
                <a:solidFill>
                  <a:srgbClr val="1F2937"/>
                </a:solidFill>
                <a:latin typeface="Calibri"/>
              </a:rPr>
              <a:t>▸  Savol 3: shilinmaning to‘rt bosqichini ketma-ket sanab bering.</a:t>
            </a:r>
          </a:p>
          <a:p>
            <a:pPr>
              <a:spcAft>
                <a:spcPts val="1200"/>
              </a:spcAft>
            </a:pPr>
            <a:r>
              <a:rPr sz="2200">
                <a:solidFill>
                  <a:srgbClr val="1F2937"/>
                </a:solidFill>
                <a:latin typeface="Calibri"/>
              </a:rPr>
              <a:t>▸  Diqqat: shilinma ≠ pergament dog‘i. Pergament dog‘i o‘limdan keyingi quruq iz bo‘lib, unda qoplama hosil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32, 36-37,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 tushunchasi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 otar quroldan shikastlovchi snaryad porox gazlari energiyasi bilan harakatga keladi. Bunday quroldan yetkazilgan shikast o‘q otar jarohat deyiladi.</a:t>
            </a:r>
          </a:p>
          <a:p>
            <a:pPr>
              <a:spcAft>
                <a:spcPts val="1200"/>
              </a:spcAft>
            </a:pPr>
            <a:r>
              <a:rPr sz="2200">
                <a:solidFill>
                  <a:srgbClr val="1F2937"/>
                </a:solidFill>
                <a:latin typeface="Calibri"/>
              </a:rPr>
              <a:t>▸  Artillerik snaryad, mina, granata va turli portlovchi moddalar portlashidan yetgan shikastlar ham o‘q otar jarohatlar qatoriga kiradi.</a:t>
            </a:r>
          </a:p>
          <a:p>
            <a:pPr>
              <a:spcAft>
                <a:spcPts val="1200"/>
              </a:spcAft>
            </a:pPr>
            <a:r>
              <a:rPr sz="2200">
                <a:solidFill>
                  <a:srgbClr val="1F2937"/>
                </a:solidFill>
                <a:latin typeface="Calibri"/>
              </a:rPr>
              <a:t>▸  Hozirgi kunda bu shikastlar shartli ikki guruhga bo‘linadi: o‘q otar qurollardan jarohat va portlash travmasi.</a:t>
            </a:r>
          </a:p>
          <a:p>
            <a:pPr>
              <a:spcAft>
                <a:spcPts val="1200"/>
              </a:spcAft>
            </a:pPr>
            <a:r>
              <a:rPr sz="2200">
                <a:solidFill>
                  <a:srgbClr val="1F2937"/>
                </a:solidFill>
                <a:latin typeface="Calibri"/>
              </a:rPr>
              <a:t>▸  O‘tmas va o‘tkir jismlardan farqi: snaryad massasi kichik, tezligi katta, katta masofada ta’sir qiladi. Mexanik omildan tashqari termik, kimyoviy ta’sir ham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qurol turlari va stvol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Maqsadiga ko‘ra jangovor, ov, sport, gaz va maxsus qurollar bor; zavod qurollari tipik hisoblanadi.</a:t>
            </a:r>
          </a:p>
          <a:p>
            <a:pPr>
              <a:spcAft>
                <a:spcPts val="800"/>
              </a:spcAft>
            </a:pPr>
            <a:r>
              <a:rPr sz="1800">
                <a:solidFill>
                  <a:srgbClr val="1F2937"/>
                </a:solidFill>
                <a:latin typeface="Calibri"/>
              </a:rPr>
              <a:t>▸  Qo‘lbola yoki o‘zgartirilgan (stvoli kalta qilingan) qurol atipik; stvol uzun, o‘rta va kalta bo‘ladi.</a:t>
            </a:r>
          </a:p>
          <a:p>
            <a:pPr>
              <a:spcAft>
                <a:spcPts val="800"/>
              </a:spcAft>
            </a:pPr>
            <a:r>
              <a:rPr sz="1800">
                <a:solidFill>
                  <a:srgbClr val="1F2937"/>
                </a:solidFill>
                <a:latin typeface="Calibri"/>
              </a:rPr>
              <a:t>▸  Jangovor va sport qurollari stvolida 4-6 o‘yiq o‘qni aylantiradi; uchish uzoq va aniq bo‘ladi.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098800"/>
                <a:gridCol w="2334950"/>
                <a:gridCol w="18542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Silliq stvol</a:t>
                      </a:r>
                    </a:p>
                  </a:txBody>
                  <a:tcPr marL="73152" marR="73152" marT="36576" marB="36576">
                    <a:solidFill>
                      <a:srgbClr val="0B1F3A"/>
                    </a:solidFill>
                  </a:tcPr>
                </a:tc>
                <a:tc>
                  <a:txBody>
                    <a:bodyPr/>
                    <a:lstStyle/>
                    <a:p>
                      <a:r>
                        <a:rPr sz="1300" b="1">
                          <a:solidFill>
                            <a:srgbClr val="FFFFFF"/>
                          </a:solidFill>
                        </a:rPr>
                        <a:t>O‘yiqli stvol</a:t>
                      </a:r>
                    </a:p>
                  </a:txBody>
                  <a:tcPr marL="73152" marR="73152" marT="36576" marB="36576">
                    <a:solidFill>
                      <a:srgbClr val="0B1F3A"/>
                    </a:solidFill>
                  </a:tcPr>
                </a:tc>
              </a:tr>
              <a:tr h="411480">
                <a:tc>
                  <a:txBody>
                    <a:bodyPr/>
                    <a:lstStyle/>
                    <a:p>
                      <a:r>
                        <a:rPr sz="1200" b="0">
                          <a:solidFill>
                            <a:srgbClr val="1F2937"/>
                          </a:solidFill>
                        </a:rPr>
                        <a:t>Ichki yuza</a:t>
                      </a:r>
                    </a:p>
                  </a:txBody>
                  <a:tcPr marL="73152" marR="73152" marT="36576" marB="36576">
                    <a:solidFill>
                      <a:srgbClr val="E8EEF6"/>
                    </a:solidFill>
                  </a:tcPr>
                </a:tc>
                <a:tc>
                  <a:txBody>
                    <a:bodyPr/>
                    <a:lstStyle/>
                    <a:p>
                      <a:r>
                        <a:rPr sz="1200" b="0">
                          <a:solidFill>
                            <a:srgbClr val="1F2937"/>
                          </a:solidFill>
                        </a:rPr>
                        <a:t>O‘yiqlar yo‘q</a:t>
                      </a:r>
                    </a:p>
                  </a:txBody>
                  <a:tcPr marL="73152" marR="73152" marT="36576" marB="36576">
                    <a:solidFill>
                      <a:srgbClr val="E8EEF6"/>
                    </a:solidFill>
                  </a:tcPr>
                </a:tc>
                <a:tc>
                  <a:txBody>
                    <a:bodyPr/>
                    <a:lstStyle/>
                    <a:p>
                      <a:r>
                        <a:rPr sz="1200" b="0">
                          <a:solidFill>
                            <a:srgbClr val="1F2937"/>
                          </a:solidFill>
                        </a:rPr>
                        <a:t>4-6 vintsimon o‘yiq</a:t>
                      </a:r>
                    </a:p>
                  </a:txBody>
                  <a:tcPr marL="73152" marR="73152" marT="36576" marB="36576">
                    <a:solidFill>
                      <a:srgbClr val="E8EEF6"/>
                    </a:solidFill>
                  </a:tcPr>
                </a:tc>
              </a:tr>
              <a:tr h="411480">
                <a:tc>
                  <a:txBody>
                    <a:bodyPr/>
                    <a:lstStyle/>
                    <a:p>
                      <a:r>
                        <a:rPr sz="1200" b="0">
                          <a:solidFill>
                            <a:srgbClr val="1F2937"/>
                          </a:solidFill>
                        </a:rPr>
                        <a:t>Kalibr</a:t>
                      </a:r>
                    </a:p>
                  </a:txBody>
                  <a:tcPr marL="73152" marR="73152" marT="36576" marB="36576">
                    <a:solidFill>
                      <a:srgbClr val="FFFFFF"/>
                    </a:solidFill>
                  </a:tcPr>
                </a:tc>
                <a:tc>
                  <a:txBody>
                    <a:bodyPr/>
                    <a:lstStyle/>
                    <a:p>
                      <a:r>
                        <a:rPr sz="1200" b="0">
                          <a:solidFill>
                            <a:srgbClr val="1F2937"/>
                          </a:solidFill>
                        </a:rPr>
                        <a:t>1 funt qo‘rg‘oshindagi o‘qlar soni</a:t>
                      </a:r>
                    </a:p>
                  </a:txBody>
                  <a:tcPr marL="73152" marR="73152" marT="36576" marB="36576">
                    <a:solidFill>
                      <a:srgbClr val="FFFFFF"/>
                    </a:solidFill>
                  </a:tcPr>
                </a:tc>
                <a:tc>
                  <a:txBody>
                    <a:bodyPr/>
                    <a:lstStyle/>
                    <a:p>
                      <a:r>
                        <a:rPr sz="1200" b="0">
                          <a:solidFill>
                            <a:srgbClr val="1F2937"/>
                          </a:solidFill>
                        </a:rPr>
                        <a:t>O‘yiqlararo masofa, mm</a:t>
                      </a:r>
                    </a:p>
                  </a:txBody>
                  <a:tcPr marL="73152" marR="73152" marT="36576" marB="36576">
                    <a:solidFill>
                      <a:srgbClr val="FFFFFF"/>
                    </a:solidFill>
                  </a:tcPr>
                </a:tc>
              </a:tr>
              <a:tr h="411480">
                <a:tc>
                  <a:txBody>
                    <a:bodyPr/>
                    <a:lstStyle/>
                    <a:p>
                      <a:r>
                        <a:rPr sz="1200" b="0">
                          <a:solidFill>
                            <a:srgbClr val="1F2937"/>
                          </a:solidFill>
                        </a:rPr>
                        <a:t>Asosiy qurol</a:t>
                      </a:r>
                    </a:p>
                  </a:txBody>
                  <a:tcPr marL="73152" marR="73152" marT="36576" marB="36576">
                    <a:solidFill>
                      <a:srgbClr val="E8EEF6"/>
                    </a:solidFill>
                  </a:tcPr>
                </a:tc>
                <a:tc>
                  <a:txBody>
                    <a:bodyPr/>
                    <a:lstStyle/>
                    <a:p>
                      <a:r>
                        <a:rPr sz="1200" b="0">
                          <a:solidFill>
                            <a:srgbClr val="1F2937"/>
                          </a:solidFill>
                        </a:rPr>
                        <a:t>Silliq stvolli ov miltig‘i</a:t>
                      </a:r>
                    </a:p>
                  </a:txBody>
                  <a:tcPr marL="73152" marR="73152" marT="36576" marB="36576">
                    <a:solidFill>
                      <a:srgbClr val="E8EEF6"/>
                    </a:solidFill>
                  </a:tcPr>
                </a:tc>
                <a:tc>
                  <a:txBody>
                    <a:bodyPr/>
                    <a:lstStyle/>
                    <a:p>
                      <a:r>
                        <a:rPr sz="1200" b="0">
                          <a:solidFill>
                            <a:srgbClr val="1F2937"/>
                          </a:solidFill>
                        </a:rPr>
                        <a:t>Jangovor va sport qurollari</a:t>
                      </a:r>
                    </a:p>
                  </a:txBody>
                  <a:tcPr marL="73152" marR="73152" marT="36576" marB="36576">
                    <a:solidFill>
                      <a:srgbClr val="E8EEF6"/>
                    </a:solidFill>
                  </a:tcPr>
                </a:tc>
              </a:tr>
              <a:tr h="411480">
                <a:tc>
                  <a:txBody>
                    <a:bodyPr/>
                    <a:lstStyle/>
                    <a:p>
                      <a:r>
                        <a:rPr sz="1200" b="0">
                          <a:solidFill>
                            <a:srgbClr val="1F2937"/>
                          </a:solidFill>
                        </a:rPr>
                        <a:t>Bosim, atm.</a:t>
                      </a:r>
                    </a:p>
                  </a:txBody>
                  <a:tcPr marL="73152" marR="73152" marT="36576" marB="36576">
                    <a:solidFill>
                      <a:srgbClr val="FFFFFF"/>
                    </a:solidFill>
                  </a:tcPr>
                </a:tc>
                <a:tc>
                  <a:txBody>
                    <a:bodyPr/>
                    <a:lstStyle/>
                    <a:p>
                      <a:r>
                        <a:rPr sz="1200" b="0">
                          <a:solidFill>
                            <a:srgbClr val="1F2937"/>
                          </a:solidFill>
                        </a:rPr>
                        <a:t>400-700</a:t>
                      </a:r>
                    </a:p>
                  </a:txBody>
                  <a:tcPr marL="73152" marR="73152" marT="36576" marB="36576">
                    <a:solidFill>
                      <a:srgbClr val="FFFFFF"/>
                    </a:solidFill>
                  </a:tcPr>
                </a:tc>
                <a:tc>
                  <a:txBody>
                    <a:bodyPr/>
                    <a:lstStyle/>
                    <a:p>
                      <a:r>
                        <a:rPr sz="1200" b="0">
                          <a:solidFill>
                            <a:srgbClr val="1F2937"/>
                          </a:solidFill>
                        </a:rPr>
                        <a:t>2000-3000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Silliq va o‘yiqli stvol</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80, 81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Patronning tuzilishi va porox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Unitar patronda o‘q, porox va kapsyul bitta gilza ichida; gilza po‘lat, latun yoki temirdan yasaladi.</a:t>
            </a:r>
          </a:p>
          <a:p>
            <a:pPr>
              <a:spcAft>
                <a:spcPts val="800"/>
              </a:spcAft>
            </a:pPr>
            <a:r>
              <a:rPr sz="1800">
                <a:solidFill>
                  <a:srgbClr val="1F2937"/>
                </a:solidFill>
                <a:latin typeface="Calibri"/>
              </a:rPr>
              <a:t>▸  Tutunsiz porox nitrotsellyulozadan; qora porox (selitra, ko‘mir, oltingugurt) ov va signal qurollarida.</a:t>
            </a:r>
          </a:p>
          <a:p>
            <a:pPr>
              <a:spcAft>
                <a:spcPts val="800"/>
              </a:spcAft>
            </a:pPr>
            <a:r>
              <a:rPr sz="1800">
                <a:solidFill>
                  <a:srgbClr val="1F2937"/>
                </a:solidFill>
                <a:latin typeface="Calibri"/>
              </a:rPr>
              <a:t>▸  Qora poroxning 1 g yonishi taxminan 300 sm³ gaz beradi; tutunsizda uch barobar ko‘p, o‘q energiyasi katta.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Tepki kapsyulga mexanik ta’sir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Kapsyul poroxni yondiradi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Porox gazlari hosil bo‘ladi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Gaz bosimi oshadi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stvoldan otilib chiqadi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Otish jarayoni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82, 82-83, 83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patron va maxsus o‘qlar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Sochmali patron gilzasi latun, plastmassa yoki kartondan; ichida kapsyul, porox, karton va kigiz tiqin, sochma va sochma tiqini bor.</a:t>
            </a:r>
          </a:p>
          <a:p>
            <a:pPr>
              <a:spcAft>
                <a:spcPts val="1200"/>
              </a:spcAft>
            </a:pPr>
            <a:r>
              <a:rPr sz="2200">
                <a:solidFill>
                  <a:srgbClr val="1F2937"/>
                </a:solidFill>
                <a:latin typeface="Calibri"/>
              </a:rPr>
              <a:t>▸  Sochma — diametri 1 mm dan 5,5 mm gacha bo‘lgan sharchalar; undan kattasi katta sochma (kartech) deyiladi.</a:t>
            </a:r>
          </a:p>
          <a:p>
            <a:pPr>
              <a:spcAft>
                <a:spcPts val="1200"/>
              </a:spcAft>
            </a:pPr>
            <a:r>
              <a:rPr sz="2200">
                <a:solidFill>
                  <a:srgbClr val="1F2937"/>
                </a:solidFill>
                <a:latin typeface="Calibri"/>
              </a:rPr>
              <a:t>▸  Zirxteshar o‘q asosi maxsus po‘latdan; yondiruvchi o‘qda fosfor, iz qoldiruvchida bariy va magniy birikmalari bo‘ladi.</a:t>
            </a:r>
          </a:p>
          <a:p>
            <a:pPr>
              <a:spcAft>
                <a:spcPts val="1200"/>
              </a:spcAft>
            </a:pPr>
            <a:r>
              <a:rPr sz="2200">
                <a:solidFill>
                  <a:srgbClr val="1F2937"/>
                </a:solidFill>
                <a:latin typeface="Calibri"/>
              </a:rPr>
              <a:t>▸  Yorma o‘q nishonga tekkanda mayda qismlarga bo‘linadi; xalqaro bitimlarga ko‘ra jangovor harakatlarda uni ishlatish taqiqlangan.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 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otishning shikastlovchi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O‘q, sochma va ularning qismlari asosiy (birlamchi) snaryad hisoblanadi.</a:t>
            </a:r>
          </a:p>
          <a:p>
            <a:pPr>
              <a:spcAft>
                <a:spcPts val="800"/>
              </a:spcAft>
            </a:pPr>
            <a:r>
              <a:rPr sz="1800">
                <a:solidFill>
                  <a:srgbClr val="1F2937"/>
                </a:solidFill>
                <a:latin typeface="Calibri"/>
              </a:rPr>
              <a:t>▸  Porox yonganda 0,01–0,001 sekundda bosim hosil bo‘ladi: silliq stvolda 400–700, o‘yiqli stvolda 2000–3000 atmosfera.</a:t>
            </a:r>
          </a:p>
          <a:p>
            <a:pPr>
              <a:spcAft>
                <a:spcPts val="800"/>
              </a:spcAft>
            </a:pPr>
            <a:r>
              <a:rPr sz="1800">
                <a:solidFill>
                  <a:srgbClr val="1F2937"/>
                </a:solidFill>
                <a:latin typeface="Calibri"/>
              </a:rPr>
              <a:t>▸  Makarov pistoletidan o‘q 315 m/sek, AKM avtomatidan 710 m/sek tezlikda chiqadi.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Omil</a:t>
                      </a:r>
                    </a:p>
                  </a:txBody>
                  <a:tcPr marL="73152" marR="73152" marT="36576" marB="36576">
                    <a:solidFill>
                      <a:srgbClr val="0B1F3A"/>
                    </a:solidFill>
                  </a:tcPr>
                </a:tc>
                <a:tc>
                  <a:txBody>
                    <a:bodyPr/>
                    <a:lstStyle/>
                    <a:p>
                      <a:r>
                        <a:rPr sz="1400" b="1">
                          <a:solidFill>
                            <a:srgbClr val="FFFFFF"/>
                          </a:solidFill>
                        </a:rPr>
                        <a:t>Tarkibi</a:t>
                      </a:r>
                    </a:p>
                  </a:txBody>
                  <a:tcPr marL="73152" marR="73152" marT="36576" marB="36576">
                    <a:solidFill>
                      <a:srgbClr val="0B1F3A"/>
                    </a:solidFill>
                  </a:tcPr>
                </a:tc>
              </a:tr>
              <a:tr h="411480">
                <a:tc>
                  <a:txBody>
                    <a:bodyPr/>
                    <a:lstStyle/>
                    <a:p>
                      <a:r>
                        <a:rPr sz="1300" b="0">
                          <a:solidFill>
                            <a:srgbClr val="1F2937"/>
                          </a:solidFill>
                        </a:rPr>
                        <a:t>Asosiy snaryad</a:t>
                      </a:r>
                    </a:p>
                  </a:txBody>
                  <a:tcPr marL="73152" marR="73152" marT="36576" marB="36576">
                    <a:solidFill>
                      <a:srgbClr val="E8EEF6"/>
                    </a:solidFill>
                  </a:tcPr>
                </a:tc>
                <a:tc>
                  <a:txBody>
                    <a:bodyPr/>
                    <a:lstStyle/>
                    <a:p>
                      <a:r>
                        <a:rPr sz="1300" b="0">
                          <a:solidFill>
                            <a:srgbClr val="1F2937"/>
                          </a:solidFill>
                        </a:rPr>
                        <a:t>o‘q, sochma va ularning qismlari</a:t>
                      </a:r>
                    </a:p>
                  </a:txBody>
                  <a:tcPr marL="73152" marR="73152" marT="36576" marB="36576">
                    <a:solidFill>
                      <a:srgbClr val="E8EEF6"/>
                    </a:solidFill>
                  </a:tcPr>
                </a:tc>
              </a:tr>
              <a:tr h="411480">
                <a:tc>
                  <a:txBody>
                    <a:bodyPr/>
                    <a:lstStyle/>
                    <a:p>
                      <a:r>
                        <a:rPr sz="1300" b="0">
                          <a:solidFill>
                            <a:srgbClr val="1F2937"/>
                          </a:solidFill>
                        </a:rPr>
                        <a:t>Qo‘shimcha omillar</a:t>
                      </a:r>
                    </a:p>
                  </a:txBody>
                  <a:tcPr marL="73152" marR="73152" marT="36576" marB="36576">
                    <a:solidFill>
                      <a:srgbClr val="FFFFFF"/>
                    </a:solidFill>
                  </a:tcPr>
                </a:tc>
                <a:tc>
                  <a:txBody>
                    <a:bodyPr/>
                    <a:lstStyle/>
                    <a:p>
                      <a:r>
                        <a:rPr sz="1300" b="0">
                          <a:solidFill>
                            <a:srgbClr val="1F2937"/>
                          </a:solidFill>
                        </a:rPr>
                        <a:t>o‘qoldi havo, alanga, gaz, qurum, zarralar</a:t>
                      </a:r>
                    </a:p>
                  </a:txBody>
                  <a:tcPr marL="73152" marR="73152" marT="36576" marB="36576">
                    <a:solidFill>
                      <a:srgbClr val="FFFFFF"/>
                    </a:solidFill>
                  </a:tcPr>
                </a:tc>
              </a:tr>
              <a:tr h="411480">
                <a:tc>
                  <a:txBody>
                    <a:bodyPr/>
                    <a:lstStyle/>
                    <a:p>
                      <a:r>
                        <a:rPr sz="1300" b="0">
                          <a:solidFill>
                            <a:srgbClr val="1F2937"/>
                          </a:solidFill>
                        </a:rPr>
                        <a:t>O‘q otar qurol</a:t>
                      </a:r>
                    </a:p>
                  </a:txBody>
                  <a:tcPr marL="73152" marR="73152" marT="36576" marB="36576">
                    <a:solidFill>
                      <a:srgbClr val="E8EEF6"/>
                    </a:solidFill>
                  </a:tcPr>
                </a:tc>
                <a:tc>
                  <a:txBody>
                    <a:bodyPr/>
                    <a:lstStyle/>
                    <a:p>
                      <a:r>
                        <a:rPr sz="1300" b="0">
                          <a:solidFill>
                            <a:srgbClr val="1F2937"/>
                          </a:solidFill>
                        </a:rPr>
                        <a:t>stvol va qismlari (yorilishi mumkin)</a:t>
                      </a:r>
                    </a:p>
                  </a:txBody>
                  <a:tcPr marL="73152" marR="73152" marT="36576" marB="36576">
                    <a:solidFill>
                      <a:srgbClr val="E8EEF6"/>
                    </a:solidFill>
                  </a:tcPr>
                </a:tc>
              </a:tr>
              <a:tr h="411480">
                <a:tc>
                  <a:txBody>
                    <a:bodyPr/>
                    <a:lstStyle/>
                    <a:p>
                      <a:r>
                        <a:rPr sz="1300" b="0">
                          <a:solidFill>
                            <a:srgbClr val="1F2937"/>
                          </a:solidFill>
                        </a:rPr>
                        <a:t>Ikkilamchi snaryad</a:t>
                      </a:r>
                    </a:p>
                  </a:txBody>
                  <a:tcPr marL="73152" marR="73152" marT="36576" marB="36576">
                    <a:solidFill>
                      <a:srgbClr val="FFFFFF"/>
                    </a:solidFill>
                  </a:tcPr>
                </a:tc>
                <a:tc>
                  <a:txBody>
                    <a:bodyPr/>
                    <a:lstStyle/>
                    <a:p>
                      <a:r>
                        <a:rPr sz="1300" b="0">
                          <a:solidFill>
                            <a:srgbClr val="1F2937"/>
                          </a:solidFill>
                        </a:rPr>
                        <a:t>kiyim-bosh, to‘siq, suyak bo‘laklari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Shikastlovchi omillar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83, 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Ta’sir turlari: yorma, yulma, ponasimon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ta’sir turi o‘qning nishonga tegish vaqtidagi energiyasiga bog‘liq.</a:t>
            </a:r>
          </a:p>
          <a:p>
            <a:pPr>
              <a:spcAft>
                <a:spcPts val="800"/>
              </a:spcAft>
            </a:pPr>
            <a:r>
              <a:rPr sz="1800">
                <a:solidFill>
                  <a:srgbClr val="1F2937"/>
                </a:solidFill>
                <a:latin typeface="Calibri"/>
              </a:rPr>
              <a:t>▸  Yorma ta’sir maxsus yoki o‘zgartirilgan o‘qlarda va tirab otishda ham bo‘lishi mumkin.</a:t>
            </a:r>
          </a:p>
          <a:p>
            <a:pPr>
              <a:spcAft>
                <a:spcPts val="800"/>
              </a:spcAft>
            </a:pPr>
            <a:r>
              <a:rPr sz="1800">
                <a:solidFill>
                  <a:srgbClr val="1F2937"/>
                </a:solidFill>
                <a:latin typeface="Calibri"/>
              </a:rPr>
              <a:t>▸  Minus-to‘qimani N.I.Pirogov 1849-yilda tasvirlagan; chiqish teshigi odatda ponasimon ta’sirdan.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248549"/>
                <a:gridCol w="1395437"/>
                <a:gridCol w="2643987"/>
              </a:tblGrid>
              <a:tr h="411480">
                <a:tc>
                  <a:txBody>
                    <a:bodyPr/>
                    <a:lstStyle/>
                    <a:p>
                      <a:r>
                        <a:rPr sz="1300" b="1">
                          <a:solidFill>
                            <a:srgbClr val="FFFFFF"/>
                          </a:solidFill>
                        </a:rPr>
                        <a:t>Ta’sir turi</a:t>
                      </a:r>
                    </a:p>
                  </a:txBody>
                  <a:tcPr marL="73152" marR="73152" marT="36576" marB="36576">
                    <a:solidFill>
                      <a:srgbClr val="0B1F3A"/>
                    </a:solidFill>
                  </a:tcPr>
                </a:tc>
                <a:tc>
                  <a:txBody>
                    <a:bodyPr/>
                    <a:lstStyle/>
                    <a:p>
                      <a:r>
                        <a:rPr sz="1300" b="1">
                          <a:solidFill>
                            <a:srgbClr val="FFFFFF"/>
                          </a:solidFill>
                        </a:rPr>
                        <a:t>Energiya</a:t>
                      </a:r>
                    </a:p>
                  </a:txBody>
                  <a:tcPr marL="73152" marR="73152" marT="36576" marB="36576">
                    <a:solidFill>
                      <a:srgbClr val="0B1F3A"/>
                    </a:solidFill>
                  </a:tcPr>
                </a:tc>
                <a:tc>
                  <a:txBody>
                    <a:bodyPr/>
                    <a:lstStyle/>
                    <a:p>
                      <a:r>
                        <a:rPr sz="1300" b="1">
                          <a:solidFill>
                            <a:srgbClr val="FFFFFF"/>
                          </a:solidFill>
                        </a:rPr>
                        <a:t>Yara belgisi</a:t>
                      </a:r>
                    </a:p>
                  </a:txBody>
                  <a:tcPr marL="73152" marR="73152" marT="36576" marB="36576">
                    <a:solidFill>
                      <a:srgbClr val="0B1F3A"/>
                    </a:solidFill>
                  </a:tcPr>
                </a:tc>
              </a:tr>
              <a:tr h="411480">
                <a:tc>
                  <a:txBody>
                    <a:bodyPr/>
                    <a:lstStyle/>
                    <a:p>
                      <a:r>
                        <a:rPr sz="1200" b="0">
                          <a:solidFill>
                            <a:srgbClr val="1F2937"/>
                          </a:solidFill>
                        </a:rPr>
                        <a:t>Yorma</a:t>
                      </a:r>
                    </a:p>
                  </a:txBody>
                  <a:tcPr marL="73152" marR="73152" marT="36576" marB="36576">
                    <a:solidFill>
                      <a:srgbClr val="E8EEF6"/>
                    </a:solidFill>
                  </a:tcPr>
                </a:tc>
                <a:tc>
                  <a:txBody>
                    <a:bodyPr/>
                    <a:lstStyle/>
                    <a:p>
                      <a:r>
                        <a:rPr sz="1200" b="0">
                          <a:solidFill>
                            <a:srgbClr val="1F2937"/>
                          </a:solidFill>
                        </a:rPr>
                        <a:t>bir necha ming joul</a:t>
                      </a:r>
                    </a:p>
                  </a:txBody>
                  <a:tcPr marL="73152" marR="73152" marT="36576" marB="36576">
                    <a:solidFill>
                      <a:srgbClr val="E8EEF6"/>
                    </a:solidFill>
                  </a:tcPr>
                </a:tc>
                <a:tc>
                  <a:txBody>
                    <a:bodyPr/>
                    <a:lstStyle/>
                    <a:p>
                      <a:r>
                        <a:rPr sz="1200" b="0">
                          <a:solidFill>
                            <a:srgbClr val="1F2937"/>
                          </a:solidFill>
                        </a:rPr>
                        <a:t>o‘q diametridan ancha katta, yoriqli</a:t>
                      </a:r>
                    </a:p>
                  </a:txBody>
                  <a:tcPr marL="73152" marR="73152" marT="36576" marB="36576">
                    <a:solidFill>
                      <a:srgbClr val="E8EEF6"/>
                    </a:solidFill>
                  </a:tcPr>
                </a:tc>
              </a:tr>
              <a:tr h="411480">
                <a:tc>
                  <a:txBody>
                    <a:bodyPr/>
                    <a:lstStyle/>
                    <a:p>
                      <a:r>
                        <a:rPr sz="1200" b="0">
                          <a:solidFill>
                            <a:srgbClr val="1F2937"/>
                          </a:solidFill>
                        </a:rPr>
                        <a:t>Yulma</a:t>
                      </a:r>
                    </a:p>
                  </a:txBody>
                  <a:tcPr marL="73152" marR="73152" marT="36576" marB="36576">
                    <a:solidFill>
                      <a:srgbClr val="FFFFFF"/>
                    </a:solidFill>
                  </a:tcPr>
                </a:tc>
                <a:tc>
                  <a:txBody>
                    <a:bodyPr/>
                    <a:lstStyle/>
                    <a:p>
                      <a:r>
                        <a:rPr sz="1200" b="0">
                          <a:solidFill>
                            <a:srgbClr val="1F2937"/>
                          </a:solidFill>
                        </a:rPr>
                        <a:t>bir necha yuz joul</a:t>
                      </a:r>
                    </a:p>
                  </a:txBody>
                  <a:tcPr marL="73152" marR="73152" marT="36576" marB="36576">
                    <a:solidFill>
                      <a:srgbClr val="FFFFFF"/>
                    </a:solidFill>
                  </a:tcPr>
                </a:tc>
                <a:tc>
                  <a:txBody>
                    <a:bodyPr/>
                    <a:lstStyle/>
                    <a:p>
                      <a:r>
                        <a:rPr sz="1200" b="0">
                          <a:solidFill>
                            <a:srgbClr val="1F2937"/>
                          </a:solidFill>
                        </a:rPr>
                        <a:t>defekt o‘qdan kichik, chetlari tekis</a:t>
                      </a:r>
                    </a:p>
                  </a:txBody>
                  <a:tcPr marL="73152" marR="73152" marT="36576" marB="36576">
                    <a:solidFill>
                      <a:srgbClr val="FFFFFF"/>
                    </a:solidFill>
                  </a:tcPr>
                </a:tc>
              </a:tr>
              <a:tr h="411480">
                <a:tc>
                  <a:txBody>
                    <a:bodyPr/>
                    <a:lstStyle/>
                    <a:p>
                      <a:r>
                        <a:rPr sz="1200" b="0">
                          <a:solidFill>
                            <a:srgbClr val="1F2937"/>
                          </a:solidFill>
                        </a:rPr>
                        <a:t>Ponasimon</a:t>
                      </a:r>
                    </a:p>
                  </a:txBody>
                  <a:tcPr marL="73152" marR="73152" marT="36576" marB="36576">
                    <a:solidFill>
                      <a:srgbClr val="E8EEF6"/>
                    </a:solidFill>
                  </a:tcPr>
                </a:tc>
                <a:tc>
                  <a:txBody>
                    <a:bodyPr/>
                    <a:lstStyle/>
                    <a:p>
                      <a:r>
                        <a:rPr sz="1200" b="0">
                          <a:solidFill>
                            <a:srgbClr val="1F2937"/>
                          </a:solidFill>
                        </a:rPr>
                        <a:t>bir necha o‘n joul</a:t>
                      </a:r>
                    </a:p>
                  </a:txBody>
                  <a:tcPr marL="73152" marR="73152" marT="36576" marB="36576">
                    <a:solidFill>
                      <a:srgbClr val="E8EEF6"/>
                    </a:solidFill>
                  </a:tcPr>
                </a:tc>
                <a:tc>
                  <a:txBody>
                    <a:bodyPr/>
                    <a:lstStyle/>
                    <a:p>
                      <a:r>
                        <a:rPr sz="1200" b="0">
                          <a:solidFill>
                            <a:srgbClr val="1F2937"/>
                          </a:solidFill>
                        </a:rPr>
                        <a:t>defektsiz yoriqsimon, yulduzsimon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Energiya va yara belgisi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84, 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omillarning mexanik, termik, kimyoviy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O‘qoldi havo 3–5 sm masofada to‘qima defekti, shilinish hoshiyasi va terining laxtaksimon yorilishini keltirib chiqarishi mumkin.</a:t>
            </a:r>
          </a:p>
          <a:p>
            <a:pPr>
              <a:spcAft>
                <a:spcPts val="1200"/>
              </a:spcAft>
            </a:pPr>
            <a:r>
              <a:rPr sz="2200">
                <a:solidFill>
                  <a:srgbClr val="1F2937"/>
                </a:solidFill>
                <a:latin typeface="Calibri"/>
              </a:rPr>
              <a:t>▸  Porox gazlari 10–15 sm masofada shilinish, qontalash, yumshoq to‘qimalar yorilishini beradi; qurum va zarralar yuzaki engil kontuzion ta’sir qiladi.</a:t>
            </a:r>
          </a:p>
          <a:p>
            <a:pPr>
              <a:spcAft>
                <a:spcPts val="1200"/>
              </a:spcAft>
            </a:pPr>
            <a:r>
              <a:rPr sz="2200">
                <a:solidFill>
                  <a:srgbClr val="1F2937"/>
                </a:solidFill>
                <a:latin typeface="Calibri"/>
              </a:rPr>
              <a:t>▸  Termik ta’sir: o‘q otish alangasi 3–10 sm masofada ta’sir etadi; kiyim, teri va sochlar kuyadi, kiyim ikkilamchi alangalanishi mumkin.</a:t>
            </a:r>
          </a:p>
          <a:p>
            <a:pPr>
              <a:spcAft>
                <a:spcPts val="1200"/>
              </a:spcAft>
            </a:pPr>
            <a:r>
              <a:rPr sz="2200">
                <a:solidFill>
                  <a:srgbClr val="1F2937"/>
                </a:solidFill>
                <a:latin typeface="Calibri"/>
              </a:rPr>
              <a:t>▸  Kimyoviy ta’sir: kirish teshigi atrofida qonda karboksigemoglobin, mushakda karboksimioglobin hosil bo‘lib, soha pushti tus 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85, 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patron va shikastlovchi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standart jangovar patron qanday qismlardan iborat? Javob: snaryad (o‘q), porox zaryadi va kapsyul bir butun holda gilza ichiga jamlangan.</a:t>
            </a:r>
          </a:p>
          <a:p>
            <a:pPr>
              <a:spcAft>
                <a:spcPts val="1200"/>
              </a:spcAft>
            </a:pPr>
            <a:r>
              <a:rPr sz="2200">
                <a:solidFill>
                  <a:srgbClr val="1F2937"/>
                </a:solidFill>
                <a:latin typeface="Calibri"/>
              </a:rPr>
              <a:t>▸  Savol: yorma ta’sir qachon bo‘ladi? Javob: snaryad energiyasi bir necha ming joul bo‘lganda; yara o‘lchami o‘q diametridan bir necha barobar katta bo‘ladi.</a:t>
            </a:r>
          </a:p>
          <a:p>
            <a:pPr>
              <a:spcAft>
                <a:spcPts val="1200"/>
              </a:spcAft>
            </a:pPr>
            <a:r>
              <a:rPr sz="2200">
                <a:solidFill>
                  <a:srgbClr val="1F2937"/>
                </a:solidFill>
                <a:latin typeface="Calibri"/>
              </a:rPr>
              <a:t>▸  Savol: yulma va ponasimon ta’sir qanday farqlanadi? Javob: yulmada to‘qima defekti qoladi, ponasimonda defekt bo‘lmaydi. Diqqat: yulma ≠ yorma.</a:t>
            </a:r>
          </a:p>
          <a:p>
            <a:pPr>
              <a:spcAft>
                <a:spcPts val="1200"/>
              </a:spcAft>
            </a:pPr>
            <a:r>
              <a:rPr sz="2200">
                <a:solidFill>
                  <a:srgbClr val="1F2937"/>
                </a:solidFill>
                <a:latin typeface="Calibri"/>
              </a:rPr>
              <a:t>▸  Savol: qo‘shimcha omillarga nimalar kiradi? Javob: o‘qoldi havo, otish alangasi, porox gazlari, qurum, porox va metall zarrachalari, moy tomchilari.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82, 85, 84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Otish distansiyasi va masofasi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Distansiya – belgilar majmui, masofa – stvol uchi va nishon oralig‘i. Diqqat: distansiya ≠ masofa.</a:t>
            </a:r>
          </a:p>
          <a:p>
            <a:pPr>
              <a:spcAft>
                <a:spcPts val="800"/>
              </a:spcAft>
            </a:pPr>
            <a:r>
              <a:rPr sz="1800">
                <a:solidFill>
                  <a:srgbClr val="1F2937"/>
                </a:solidFill>
                <a:latin typeface="Calibri"/>
              </a:rPr>
              <a:t>▸  Distansiya kiyim va tanadagi xos jarohat hamda o‘zgarishlar bo‘yicha aniqlanadi.</a:t>
            </a:r>
          </a:p>
          <a:p>
            <a:pPr>
              <a:spcAft>
                <a:spcPts val="800"/>
              </a:spcAft>
            </a:pPr>
            <a:r>
              <a:rPr sz="1800">
                <a:solidFill>
                  <a:srgbClr val="1F2937"/>
                </a:solidFill>
                <a:latin typeface="Calibri"/>
              </a:rPr>
              <a:t>▸  Masofa shu qurol va patron bilan o‘tkazilgan eksperiment natijalarini taqqoslab aniqlanadi.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71791"/>
                <a:gridCol w="1941155"/>
                <a:gridCol w="207502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Distansiya</a:t>
                      </a:r>
                    </a:p>
                  </a:txBody>
                  <a:tcPr marL="73152" marR="73152" marT="36576" marB="36576">
                    <a:solidFill>
                      <a:srgbClr val="0B1F3A"/>
                    </a:solidFill>
                  </a:tcPr>
                </a:tc>
                <a:tc>
                  <a:txBody>
                    <a:bodyPr/>
                    <a:lstStyle/>
                    <a:p>
                      <a:r>
                        <a:rPr sz="1300" b="1">
                          <a:solidFill>
                            <a:srgbClr val="FFFFFF"/>
                          </a:solidFill>
                        </a:rPr>
                        <a:t>Masofa</a:t>
                      </a:r>
                    </a:p>
                  </a:txBody>
                  <a:tcPr marL="73152" marR="73152" marT="36576" marB="36576">
                    <a:solidFill>
                      <a:srgbClr val="0B1F3A"/>
                    </a:solidFill>
                  </a:tcPr>
                </a:tc>
              </a:tr>
              <a:tr h="411480">
                <a:tc>
                  <a:txBody>
                    <a:bodyPr/>
                    <a:lstStyle/>
                    <a:p>
                      <a:r>
                        <a:rPr sz="1200" b="0">
                          <a:solidFill>
                            <a:srgbClr val="1F2937"/>
                          </a:solidFill>
                        </a:rPr>
                        <a:t>Mohiyati</a:t>
                      </a:r>
                    </a:p>
                  </a:txBody>
                  <a:tcPr marL="73152" marR="73152" marT="36576" marB="36576">
                    <a:solidFill>
                      <a:srgbClr val="E8EEF6"/>
                    </a:solidFill>
                  </a:tcPr>
                </a:tc>
                <a:tc>
                  <a:txBody>
                    <a:bodyPr/>
                    <a:lstStyle/>
                    <a:p>
                      <a:r>
                        <a:rPr sz="1200" b="0">
                          <a:solidFill>
                            <a:srgbClr val="1F2937"/>
                          </a:solidFill>
                        </a:rPr>
                        <a:t>Belgilar majmui</a:t>
                      </a:r>
                    </a:p>
                  </a:txBody>
                  <a:tcPr marL="73152" marR="73152" marT="36576" marB="36576">
                    <a:solidFill>
                      <a:srgbClr val="E8EEF6"/>
                    </a:solidFill>
                  </a:tcPr>
                </a:tc>
                <a:tc>
                  <a:txBody>
                    <a:bodyPr/>
                    <a:lstStyle/>
                    <a:p>
                      <a:r>
                        <a:rPr sz="1200" b="0">
                          <a:solidFill>
                            <a:srgbClr val="1F2937"/>
                          </a:solidFill>
                        </a:rPr>
                        <a:t>Stvol uchi–nishon oralig‘i</a:t>
                      </a:r>
                    </a:p>
                  </a:txBody>
                  <a:tcPr marL="73152" marR="73152" marT="36576" marB="36576">
                    <a:solidFill>
                      <a:srgbClr val="E8EEF6"/>
                    </a:solidFill>
                  </a:tcPr>
                </a:tc>
              </a:tr>
              <a:tr h="411480">
                <a:tc>
                  <a:txBody>
                    <a:bodyPr/>
                    <a:lstStyle/>
                    <a:p>
                      <a:r>
                        <a:rPr sz="1200" b="0">
                          <a:solidFill>
                            <a:srgbClr val="1F2937"/>
                          </a:solidFill>
                        </a:rPr>
                        <a:t>Turlari</a:t>
                      </a:r>
                    </a:p>
                  </a:txBody>
                  <a:tcPr marL="73152" marR="73152" marT="36576" marB="36576">
                    <a:solidFill>
                      <a:srgbClr val="FFFFFF"/>
                    </a:solidFill>
                  </a:tcPr>
                </a:tc>
                <a:tc>
                  <a:txBody>
                    <a:bodyPr/>
                    <a:lstStyle/>
                    <a:p>
                      <a:r>
                        <a:rPr sz="1200" b="0">
                          <a:solidFill>
                            <a:srgbClr val="1F2937"/>
                          </a:solidFill>
                        </a:rPr>
                        <a:t>Tirab, yaqin, yaqin bo‘lmagan</a:t>
                      </a:r>
                    </a:p>
                  </a:txBody>
                  <a:tcPr marL="73152" marR="73152" marT="36576" marB="36576">
                    <a:solidFill>
                      <a:srgbClr val="FFFFFF"/>
                    </a:solidFill>
                  </a:tcPr>
                </a:tc>
                <a:tc>
                  <a:txBody>
                    <a:bodyPr/>
                    <a:lstStyle/>
                    <a:p>
                      <a:r>
                        <a:rPr sz="1200" b="0">
                          <a:solidFill>
                            <a:srgbClr val="1F2937"/>
                          </a:solidFill>
                        </a:rPr>
                        <a:t>Uzunlik birligida o‘lchanadi</a:t>
                      </a:r>
                    </a:p>
                  </a:txBody>
                  <a:tcPr marL="73152" marR="73152" marT="36576" marB="36576">
                    <a:solidFill>
                      <a:srgbClr val="FFFFFF"/>
                    </a:solidFill>
                  </a:tcPr>
                </a:tc>
              </a:tr>
              <a:tr h="411480">
                <a:tc>
                  <a:txBody>
                    <a:bodyPr/>
                    <a:lstStyle/>
                    <a:p>
                      <a:r>
                        <a:rPr sz="1200" b="0">
                          <a:solidFill>
                            <a:srgbClr val="1F2937"/>
                          </a:solidFill>
                        </a:rPr>
                        <a:t>Aniqlash usuli</a:t>
                      </a:r>
                    </a:p>
                  </a:txBody>
                  <a:tcPr marL="73152" marR="73152" marT="36576" marB="36576">
                    <a:solidFill>
                      <a:srgbClr val="E8EEF6"/>
                    </a:solidFill>
                  </a:tcPr>
                </a:tc>
                <a:tc>
                  <a:txBody>
                    <a:bodyPr/>
                    <a:lstStyle/>
                    <a:p>
                      <a:r>
                        <a:rPr sz="1200" b="0">
                          <a:solidFill>
                            <a:srgbClr val="1F2937"/>
                          </a:solidFill>
                        </a:rPr>
                        <a:t>Kiyim va tanadagi belgilar</a:t>
                      </a:r>
                    </a:p>
                  </a:txBody>
                  <a:tcPr marL="73152" marR="73152" marT="36576" marB="36576">
                    <a:solidFill>
                      <a:srgbClr val="E8EEF6"/>
                    </a:solidFill>
                  </a:tcPr>
                </a:tc>
                <a:tc>
                  <a:txBody>
                    <a:bodyPr/>
                    <a:lstStyle/>
                    <a:p>
                      <a:r>
                        <a:rPr sz="1200" b="0">
                          <a:solidFill>
                            <a:srgbClr val="1F2937"/>
                          </a:solidFill>
                        </a:rPr>
                        <a:t>Eksperiment (shu qurol, patron)</a:t>
                      </a:r>
                    </a:p>
                  </a:txBody>
                  <a:tcPr marL="73152" marR="73152" marT="36576" marB="36576">
                    <a:solidFill>
                      <a:srgbClr val="E8EEF6"/>
                    </a:solidFill>
                  </a:tcPr>
                </a:tc>
              </a:tr>
              <a:tr h="411480">
                <a:tc>
                  <a:txBody>
                    <a:bodyPr/>
                    <a:lstStyle/>
                    <a:p>
                      <a:r>
                        <a:rPr sz="1200" b="0">
                          <a:solidFill>
                            <a:srgbClr val="1F2937"/>
                          </a:solidFill>
                        </a:rPr>
                        <a:t>Qurolga bog‘liqligi</a:t>
                      </a:r>
                    </a:p>
                  </a:txBody>
                  <a:tcPr marL="73152" marR="73152" marT="36576" marB="36576">
                    <a:solidFill>
                      <a:srgbClr val="FFFFFF"/>
                    </a:solidFill>
                  </a:tcPr>
                </a:tc>
                <a:tc>
                  <a:txBody>
                    <a:bodyPr/>
                    <a:lstStyle/>
                    <a:p>
                      <a:r>
                        <a:rPr sz="1200" b="0">
                          <a:solidFill>
                            <a:srgbClr val="1F2937"/>
                          </a:solidFill>
                        </a:rPr>
                        <a:t>Bir xil distansiya</a:t>
                      </a:r>
                    </a:p>
                  </a:txBody>
                  <a:tcPr marL="73152" marR="73152" marT="36576" marB="36576">
                    <a:solidFill>
                      <a:srgbClr val="FFFFFF"/>
                    </a:solidFill>
                  </a:tcPr>
                </a:tc>
                <a:tc>
                  <a:txBody>
                    <a:bodyPr/>
                    <a:lstStyle/>
                    <a:p>
                      <a:r>
                        <a:rPr sz="1200" b="0">
                          <a:solidFill>
                            <a:srgbClr val="1F2937"/>
                          </a:solidFill>
                        </a:rPr>
                        <a:t>Qurolga qarab har xil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Distansiya va masofa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86, 86-87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distansiya: uch zona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zonada porox gazi, qurum, porox va metall zarrachalari, moy sachrashi belgilari birga uchraydi.</a:t>
            </a:r>
          </a:p>
          <a:p>
            <a:pPr>
              <a:spcAft>
                <a:spcPts val="800"/>
              </a:spcAft>
            </a:pPr>
            <a:r>
              <a:rPr sz="1800">
                <a:solidFill>
                  <a:srgbClr val="1F2937"/>
                </a:solidFill>
                <a:latin typeface="Calibri"/>
              </a:rPr>
              <a:t>▸  Ikkinchi zonada porox gazi izi yo‘q; kirish teshigi faqat o‘q ta’sirida hosil bo‘ladi.</a:t>
            </a:r>
          </a:p>
          <a:p>
            <a:pPr>
              <a:spcAft>
                <a:spcPts val="800"/>
              </a:spcAft>
            </a:pPr>
            <a:r>
              <a:rPr sz="1800">
                <a:solidFill>
                  <a:srgbClr val="1F2937"/>
                </a:solidFill>
                <a:latin typeface="Calibri"/>
              </a:rPr>
              <a:t>▸  Uchinchi zonada faqat porox va metall zarrachalari qoladi; masofa ortsa, ular kamayadi.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57595"/>
                <a:gridCol w="1586392"/>
                <a:gridCol w="2643987"/>
              </a:tblGrid>
              <a:tr h="411480">
                <a:tc>
                  <a:txBody>
                    <a:bodyPr/>
                    <a:lstStyle/>
                    <a:p>
                      <a:r>
                        <a:rPr sz="1300" b="1">
                          <a:solidFill>
                            <a:srgbClr val="FFFFFF"/>
                          </a:solidFill>
                        </a:rPr>
                        <a:t>Zona</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Uzunlik</a:t>
                      </a:r>
                    </a:p>
                  </a:txBody>
                  <a:tcPr marL="73152" marR="73152" marT="36576" marB="36576">
                    <a:solidFill>
                      <a:srgbClr val="0B1F3A"/>
                    </a:solidFill>
                  </a:tcPr>
                </a:tc>
              </a:tr>
              <a:tr h="411480">
                <a:tc>
                  <a:txBody>
                    <a:bodyPr/>
                    <a:lstStyle/>
                    <a:p>
                      <a:r>
                        <a:rPr sz="1200" b="0">
                          <a:solidFill>
                            <a:srgbClr val="1F2937"/>
                          </a:solidFill>
                        </a:rPr>
                        <a:t>1-zona</a:t>
                      </a:r>
                    </a:p>
                  </a:txBody>
                  <a:tcPr marL="73152" marR="73152" marT="36576" marB="36576">
                    <a:solidFill>
                      <a:srgbClr val="E8EEF6"/>
                    </a:solidFill>
                  </a:tcPr>
                </a:tc>
                <a:tc>
                  <a:txBody>
                    <a:bodyPr/>
                    <a:lstStyle/>
                    <a:p>
                      <a:r>
                        <a:rPr sz="1200" b="0">
                          <a:solidFill>
                            <a:srgbClr val="1F2937"/>
                          </a:solidFill>
                        </a:rPr>
                        <a:t>Hamma qo‘shimcha omillar</a:t>
                      </a:r>
                    </a:p>
                  </a:txBody>
                  <a:tcPr marL="73152" marR="73152" marT="36576" marB="36576">
                    <a:solidFill>
                      <a:srgbClr val="E8EEF6"/>
                    </a:solidFill>
                  </a:tcPr>
                </a:tc>
                <a:tc>
                  <a:txBody>
                    <a:bodyPr/>
                    <a:lstStyle/>
                    <a:p>
                      <a:r>
                        <a:rPr sz="1200" b="0">
                          <a:solidFill>
                            <a:srgbClr val="1F2937"/>
                          </a:solidFill>
                        </a:rPr>
                        <a:t>Makarov ~1 sm; AK 3 sm gacha; miltiq ~5 sm</a:t>
                      </a:r>
                    </a:p>
                  </a:txBody>
                  <a:tcPr marL="73152" marR="73152" marT="36576" marB="36576">
                    <a:solidFill>
                      <a:srgbClr val="E8EEF6"/>
                    </a:solidFill>
                  </a:tcPr>
                </a:tc>
              </a:tr>
              <a:tr h="411480">
                <a:tc>
                  <a:txBody>
                    <a:bodyPr/>
                    <a:lstStyle/>
                    <a:p>
                      <a:r>
                        <a:rPr sz="1200" b="0">
                          <a:solidFill>
                            <a:srgbClr val="1F2937"/>
                          </a:solidFill>
                        </a:rPr>
                        <a:t>2-zona</a:t>
                      </a:r>
                    </a:p>
                  </a:txBody>
                  <a:tcPr marL="73152" marR="73152" marT="36576" marB="36576">
                    <a:solidFill>
                      <a:srgbClr val="FFFFFF"/>
                    </a:solidFill>
                  </a:tcPr>
                </a:tc>
                <a:tc>
                  <a:txBody>
                    <a:bodyPr/>
                    <a:lstStyle/>
                    <a:p>
                      <a:r>
                        <a:rPr sz="1200" b="0">
                          <a:solidFill>
                            <a:srgbClr val="1F2937"/>
                          </a:solidFill>
                        </a:rPr>
                        <a:t>Porox gazi yo‘q</a:t>
                      </a:r>
                    </a:p>
                  </a:txBody>
                  <a:tcPr marL="73152" marR="73152" marT="36576" marB="36576">
                    <a:solidFill>
                      <a:srgbClr val="FFFFFF"/>
                    </a:solidFill>
                  </a:tcPr>
                </a:tc>
                <a:tc>
                  <a:txBody>
                    <a:bodyPr/>
                    <a:lstStyle/>
                    <a:p>
                      <a:r>
                        <a:rPr sz="1200" b="0">
                          <a:solidFill>
                            <a:srgbClr val="1F2937"/>
                          </a:solidFill>
                        </a:rPr>
                        <a:t>Jangovor qurollarda 25–35 sm</a:t>
                      </a:r>
                    </a:p>
                  </a:txBody>
                  <a:tcPr marL="73152" marR="73152" marT="36576" marB="36576">
                    <a:solidFill>
                      <a:srgbClr val="FFFFFF"/>
                    </a:solidFill>
                  </a:tcPr>
                </a:tc>
              </a:tr>
              <a:tr h="411480">
                <a:tc>
                  <a:txBody>
                    <a:bodyPr/>
                    <a:lstStyle/>
                    <a:p>
                      <a:r>
                        <a:rPr sz="1200" b="0">
                          <a:solidFill>
                            <a:srgbClr val="1F2937"/>
                          </a:solidFill>
                        </a:rPr>
                        <a:t>3-zona</a:t>
                      </a:r>
                    </a:p>
                  </a:txBody>
                  <a:tcPr marL="73152" marR="73152" marT="36576" marB="36576">
                    <a:solidFill>
                      <a:srgbClr val="E8EEF6"/>
                    </a:solidFill>
                  </a:tcPr>
                </a:tc>
                <a:tc>
                  <a:txBody>
                    <a:bodyPr/>
                    <a:lstStyle/>
                    <a:p>
                      <a:r>
                        <a:rPr sz="1200" b="0">
                          <a:solidFill>
                            <a:srgbClr val="1F2937"/>
                          </a:solidFill>
                        </a:rPr>
                        <a:t>Faqat porox va metall</a:t>
                      </a:r>
                    </a:p>
                  </a:txBody>
                  <a:tcPr marL="73152" marR="73152" marT="36576" marB="36576">
                    <a:solidFill>
                      <a:srgbClr val="E8EEF6"/>
                    </a:solidFill>
                  </a:tcPr>
                </a:tc>
                <a:tc>
                  <a:txBody>
                    <a:bodyPr/>
                    <a:lstStyle/>
                    <a:p>
                      <a:r>
                        <a:rPr sz="1200" b="0">
                          <a:solidFill>
                            <a:srgbClr val="1F2937"/>
                          </a:solidFill>
                        </a:rPr>
                        <a:t>Makarov 150; AK 200; miltiq 250 sm gacha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Yaqin distansiya zonalari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Yaqin bo‘lmagan distansiya va Vinogradov fenomeni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Yaqin bo‘lmagan distansiyada kirish teshigi atrofida qo‘shimcha omillar belgisi aniqlanmaydi.</a:t>
            </a:r>
          </a:p>
          <a:p>
            <a:pPr>
              <a:spcAft>
                <a:spcPts val="800"/>
              </a:spcAft>
            </a:pPr>
            <a:r>
              <a:rPr sz="1800">
                <a:solidFill>
                  <a:srgbClr val="1F2937"/>
                </a:solidFill>
                <a:latin typeface="Calibri"/>
              </a:rPr>
              <a:t>▸  Vinogradov fenomeni: tezlik 500 m/s dan kam emas, kiyim tanaga zich yopishmagan, kuchli shamol yo‘q.</a:t>
            </a:r>
          </a:p>
          <a:p>
            <a:pPr>
              <a:spcAft>
                <a:spcPts val="800"/>
              </a:spcAft>
            </a:pPr>
            <a:r>
              <a:rPr sz="1800">
                <a:solidFill>
                  <a:srgbClr val="1F2937"/>
                </a:solidFill>
                <a:latin typeface="Calibri"/>
              </a:rPr>
              <a:t>▸  Diqqat: birinchi qavat kiyimning tashqi yuzasida qurum yo‘q; yaqin distansiyada u bor.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Tezlik ≥500 m/s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orqasida past bosim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o‘q ortidan boradi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To‘siqdan o‘tganda qurum qoladi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Qurum oz; chetga qarab ortadi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Vinogradov fenomeni mexanizmi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88-89, 89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distansiyani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kirish teshigi atrofida qurum aniqlandi, lekin porox gazi ta’sirining belgisi topilmadi.</a:t>
            </a:r>
          </a:p>
          <a:p>
            <a:pPr>
              <a:spcAft>
                <a:spcPts val="1200"/>
              </a:spcAft>
            </a:pPr>
            <a:r>
              <a:rPr sz="2200">
                <a:solidFill>
                  <a:srgbClr val="1F2937"/>
                </a:solidFill>
                <a:latin typeface="Calibri"/>
              </a:rPr>
              <a:t>▸  Tahlil: porox gazi izi yo‘q, qurum bor, demak ikkinchi zona, ya’ni yaqin distansiya.</a:t>
            </a:r>
          </a:p>
          <a:p>
            <a:pPr>
              <a:spcAft>
                <a:spcPts val="1200"/>
              </a:spcAft>
            </a:pPr>
            <a:r>
              <a:rPr sz="2200">
                <a:solidFill>
                  <a:srgbClr val="1F2937"/>
                </a:solidFill>
                <a:latin typeface="Calibri"/>
              </a:rPr>
              <a:t>▸  Aksariyat jangovor qurollardan shikastlanishda ikkinchi zona 25–35 sm masofani tashkil etadi.</a:t>
            </a:r>
          </a:p>
          <a:p>
            <a:pPr>
              <a:spcAft>
                <a:spcPts val="1200"/>
              </a:spcAft>
            </a:pPr>
            <a:r>
              <a:rPr sz="2200">
                <a:solidFill>
                  <a:srgbClr val="1F2937"/>
                </a:solidFill>
                <a:latin typeface="Calibri"/>
              </a:rPr>
              <a:t>▸  Savol: masofa qanday aniqlanadi? Distansiya belgilar majmui bilan, masofa esa ayni qurol va patron bilan eksperiment o‘tkazib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88,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Jarohatlanish mexanizmi: zarb ta’siri nazariyasi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uch guruh omilga bog‘liq: snaryad xususiyati, uning ballistikasi va shikastlangan soha tuzilishi.</a:t>
            </a:r>
          </a:p>
          <a:p>
            <a:pPr>
              <a:spcAft>
                <a:spcPts val="800"/>
              </a:spcAft>
            </a:pPr>
            <a:r>
              <a:rPr sz="1800">
                <a:solidFill>
                  <a:srgbClr val="1F2937"/>
                </a:solidFill>
                <a:latin typeface="Calibri"/>
              </a:rPr>
              <a:t>▸  Zarb nazariyasi: snaryad kichik yuzaga kuchli zarb beradi, kuch yon va orqa tomonga ham tarqaladi.</a:t>
            </a:r>
          </a:p>
          <a:p>
            <a:pPr>
              <a:spcAft>
                <a:spcPts val="800"/>
              </a:spcAft>
            </a:pPr>
            <a:r>
              <a:rPr sz="1800">
                <a:solidFill>
                  <a:srgbClr val="1F2937"/>
                </a:solidFill>
                <a:latin typeface="Calibri"/>
              </a:rPr>
              <a:t>▸  Musbat va manfiy bosim fazalari o‘qning to‘qimaga chuqurroq kirishiga sharoit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Kichik yuzaga kuchli zarb</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Siqilish to‘lqini yon tomonga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Musbat va manfiy bosim fazalari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Vaqtincha bo‘shliq pulsatsiyasi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to‘qima parchasi chiqadi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Zarb ta’siri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89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Yara zonalari va yara kanali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Yara devorida uch zona ajratiladi: bevosita yara kanali, to‘qimalarning lat yeyish zonasi va chayqalish zonasi.</a:t>
            </a:r>
          </a:p>
          <a:p>
            <a:pPr>
              <a:spcAft>
                <a:spcPts val="1200"/>
              </a:spcAft>
            </a:pPr>
            <a:r>
              <a:rPr sz="2200">
                <a:solidFill>
                  <a:srgbClr val="1F2937"/>
                </a:solidFill>
                <a:latin typeface="Calibri"/>
              </a:rPr>
              <a:t>▸  Lat yeyish zonasi kengligi 0,3 sm dan 1-2 sm gacha; chayqalish zonasi kengligi 4-5 sm va undan ortiq.</a:t>
            </a:r>
          </a:p>
          <a:p>
            <a:pPr>
              <a:spcAft>
                <a:spcPts val="1200"/>
              </a:spcAft>
            </a:pPr>
            <a:r>
              <a:rPr sz="2200">
                <a:solidFill>
                  <a:srgbClr val="1F2937"/>
                </a:solidFill>
                <a:latin typeface="Calibri"/>
              </a:rPr>
              <a:t>▸  Teshib o‘tar jarohatda kirish, kanal, chiqish bor. Diqqat: ko‘r yarada o‘q kanal oxirida qoladi, yalama jarohatda tanaga to‘liq kirmaydi.</a:t>
            </a:r>
          </a:p>
          <a:p>
            <a:pPr>
              <a:spcAft>
                <a:spcPts val="1200"/>
              </a:spcAft>
            </a:pPr>
            <a:r>
              <a:rPr sz="2200">
                <a:solidFill>
                  <a:srgbClr val="1F2937"/>
                </a:solidFill>
                <a:latin typeface="Calibri"/>
              </a:rPr>
              <a:t>▸  Ayrim to‘qimalar qisqarishidan uzlukli yara kanali hosil bo‘ladi; bu odatda shikastlanishning hayotiyligidan dalolat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va chiqish teshigi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Kirishda ko‘pincha to‘qima defekti bor: konus, uchi ichkariga; chiqishda kamdan kam, uchi tashqariga.</a:t>
            </a:r>
          </a:p>
          <a:p>
            <a:pPr>
              <a:spcAft>
                <a:spcPts val="800"/>
              </a:spcAft>
            </a:pPr>
            <a:r>
              <a:rPr sz="1800">
                <a:solidFill>
                  <a:srgbClr val="1F2937"/>
                </a:solidFill>
                <a:latin typeface="Calibri"/>
              </a:rPr>
              <a:t>▸  Yassi suyakda kirish tomoni kesik konusli defekt; naysimon suyakda chiqish defekti kirishdan katta.</a:t>
            </a:r>
          </a:p>
          <a:p>
            <a:pPr>
              <a:spcAft>
                <a:spcPts val="800"/>
              </a:spcAft>
            </a:pPr>
            <a:r>
              <a:rPr sz="1800">
                <a:solidFill>
                  <a:srgbClr val="1F2937"/>
                </a:solidFill>
                <a:latin typeface="Calibri"/>
              </a:rPr>
              <a:t>▸  Diqqat: chiqishda hoshiya odatda yo‘q, ammo tana qattiq jismga tiralsa shilinish hosil bo‘lishi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07233"/>
                <a:gridCol w="2203322"/>
                <a:gridCol w="207741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Kirish</a:t>
                      </a:r>
                    </a:p>
                  </a:txBody>
                  <a:tcPr marL="73152" marR="73152" marT="36576" marB="36576">
                    <a:solidFill>
                      <a:srgbClr val="0B1F3A"/>
                    </a:solidFill>
                  </a:tcPr>
                </a:tc>
                <a:tc>
                  <a:txBody>
                    <a:bodyPr/>
                    <a:lstStyle/>
                    <a:p>
                      <a:r>
                        <a:rPr sz="1300" b="1">
                          <a:solidFill>
                            <a:srgbClr val="FFFFFF"/>
                          </a:solidFill>
                        </a:rPr>
                        <a:t>Chiqish</a:t>
                      </a:r>
                    </a:p>
                  </a:txBody>
                  <a:tcPr marL="73152" marR="73152" marT="36576" marB="36576">
                    <a:solidFill>
                      <a:srgbClr val="0B1F3A"/>
                    </a:solidFill>
                  </a:tcPr>
                </a:tc>
              </a:tr>
              <a:tr h="411480">
                <a:tc>
                  <a:txBody>
                    <a:bodyPr/>
                    <a:lstStyle/>
                    <a:p>
                      <a:r>
                        <a:rPr sz="1200" b="0">
                          <a:solidFill>
                            <a:srgbClr val="1F2937"/>
                          </a:solidFill>
                        </a:rPr>
                        <a:t>Shakli</a:t>
                      </a:r>
                    </a:p>
                  </a:txBody>
                  <a:tcPr marL="73152" marR="73152" marT="36576" marB="36576">
                    <a:solidFill>
                      <a:srgbClr val="E8EEF6"/>
                    </a:solidFill>
                  </a:tcPr>
                </a:tc>
                <a:tc>
                  <a:txBody>
                    <a:bodyPr/>
                    <a:lstStyle/>
                    <a:p>
                      <a:r>
                        <a:rPr sz="1200" b="0">
                          <a:solidFill>
                            <a:srgbClr val="1F2937"/>
                          </a:solidFill>
                        </a:rPr>
                        <a:t>dumaloq, oval</a:t>
                      </a:r>
                    </a:p>
                  </a:txBody>
                  <a:tcPr marL="73152" marR="73152" marT="36576" marB="36576">
                    <a:solidFill>
                      <a:srgbClr val="E8EEF6"/>
                    </a:solidFill>
                  </a:tcPr>
                </a:tc>
                <a:tc>
                  <a:txBody>
                    <a:bodyPr/>
                    <a:lstStyle/>
                    <a:p>
                      <a:r>
                        <a:rPr sz="1200" b="0">
                          <a:solidFill>
                            <a:srgbClr val="1F2937"/>
                          </a:solidFill>
                        </a:rPr>
                        <a:t>yoriqsimon, yoysimon, yulduzsimon</a:t>
                      </a:r>
                    </a:p>
                  </a:txBody>
                  <a:tcPr marL="73152" marR="73152" marT="36576" marB="36576">
                    <a:solidFill>
                      <a:srgbClr val="E8EEF6"/>
                    </a:solidFill>
                  </a:tcPr>
                </a:tc>
              </a:tr>
              <a:tr h="411480">
                <a:tc>
                  <a:txBody>
                    <a:bodyPr/>
                    <a:lstStyle/>
                    <a:p>
                      <a:r>
                        <a:rPr sz="1200" b="0">
                          <a:solidFill>
                            <a:srgbClr val="1F2937"/>
                          </a:solidFill>
                        </a:rPr>
                        <a:t>Chetlari</a:t>
                      </a:r>
                    </a:p>
                  </a:txBody>
                  <a:tcPr marL="73152" marR="73152" marT="36576" marB="36576">
                    <a:solidFill>
                      <a:srgbClr val="FFFFFF"/>
                    </a:solidFill>
                  </a:tcPr>
                </a:tc>
                <a:tc>
                  <a:txBody>
                    <a:bodyPr/>
                    <a:lstStyle/>
                    <a:p>
                      <a:r>
                        <a:rPr sz="1200" b="0">
                          <a:solidFill>
                            <a:srgbClr val="1F2937"/>
                          </a:solidFill>
                        </a:rPr>
                        <a:t>nisbatan tekis, ichkariga qayrilgan</a:t>
                      </a:r>
                    </a:p>
                  </a:txBody>
                  <a:tcPr marL="73152" marR="73152" marT="36576" marB="36576">
                    <a:solidFill>
                      <a:srgbClr val="FFFFFF"/>
                    </a:solidFill>
                  </a:tcPr>
                </a:tc>
                <a:tc>
                  <a:txBody>
                    <a:bodyPr/>
                    <a:lstStyle/>
                    <a:p>
                      <a:r>
                        <a:rPr sz="1200" b="0">
                          <a:solidFill>
                            <a:srgbClr val="1F2937"/>
                          </a:solidFill>
                        </a:rPr>
                        <a:t>notekis, tashqariga qayrilgan</a:t>
                      </a:r>
                    </a:p>
                  </a:txBody>
                  <a:tcPr marL="73152" marR="73152" marT="36576" marB="36576">
                    <a:solidFill>
                      <a:srgbClr val="FFFFFF"/>
                    </a:solidFill>
                  </a:tcPr>
                </a:tc>
              </a:tr>
              <a:tr h="411480">
                <a:tc>
                  <a:txBody>
                    <a:bodyPr/>
                    <a:lstStyle/>
                    <a:p>
                      <a:r>
                        <a:rPr sz="1200" b="0">
                          <a:solidFill>
                            <a:srgbClr val="1F2937"/>
                          </a:solidFill>
                        </a:rPr>
                        <a:t>Hoshiya, omil</a:t>
                      </a:r>
                    </a:p>
                  </a:txBody>
                  <a:tcPr marL="73152" marR="73152" marT="36576" marB="36576">
                    <a:solidFill>
                      <a:srgbClr val="E8EEF6"/>
                    </a:solidFill>
                  </a:tcPr>
                </a:tc>
                <a:tc>
                  <a:txBody>
                    <a:bodyPr/>
                    <a:lstStyle/>
                    <a:p>
                      <a:r>
                        <a:rPr sz="1200" b="0">
                          <a:solidFill>
                            <a:srgbClr val="1F2937"/>
                          </a:solidFill>
                        </a:rPr>
                        <a:t>shilinish 1-3 mm, ifloslanish bor</a:t>
                      </a:r>
                    </a:p>
                  </a:txBody>
                  <a:tcPr marL="73152" marR="73152" marT="36576" marB="36576">
                    <a:solidFill>
                      <a:srgbClr val="E8EEF6"/>
                    </a:solidFill>
                  </a:tcPr>
                </a:tc>
                <a:tc>
                  <a:txBody>
                    <a:bodyPr/>
                    <a:lstStyle/>
                    <a:p>
                      <a:r>
                        <a:rPr sz="1200" b="0">
                          <a:solidFill>
                            <a:srgbClr val="1F2937"/>
                          </a:solidFill>
                        </a:rPr>
                        <a:t>ko‘pincha bo‘lmaydi</a:t>
                      </a:r>
                    </a:p>
                  </a:txBody>
                  <a:tcPr marL="73152" marR="73152" marT="36576" marB="36576">
                    <a:solidFill>
                      <a:srgbClr val="E8EEF6"/>
                    </a:solidFill>
                  </a:tcPr>
                </a:tc>
              </a:tr>
              <a:tr h="411480">
                <a:tc>
                  <a:txBody>
                    <a:bodyPr/>
                    <a:lstStyle/>
                    <a:p>
                      <a:r>
                        <a:rPr sz="1200" b="0">
                          <a:solidFill>
                            <a:srgbClr val="1F2937"/>
                          </a:solidFill>
                        </a:rPr>
                        <a:t>Qon quyilishi</a:t>
                      </a:r>
                    </a:p>
                  </a:txBody>
                  <a:tcPr marL="73152" marR="73152" marT="36576" marB="36576">
                    <a:solidFill>
                      <a:srgbClr val="FFFFFF"/>
                    </a:solidFill>
                  </a:tcPr>
                </a:tc>
                <a:tc>
                  <a:txBody>
                    <a:bodyPr/>
                    <a:lstStyle/>
                    <a:p>
                      <a:r>
                        <a:rPr sz="1200" b="0">
                          <a:solidFill>
                            <a:srgbClr val="1F2937"/>
                          </a:solidFill>
                        </a:rPr>
                        <a:t>muftasimon, qatlamlarga ajralish</a:t>
                      </a:r>
                    </a:p>
                  </a:txBody>
                  <a:tcPr marL="73152" marR="73152" marT="36576" marB="36576">
                    <a:solidFill>
                      <a:srgbClr val="FFFFFF"/>
                    </a:solidFill>
                  </a:tcPr>
                </a:tc>
                <a:tc>
                  <a:txBody>
                    <a:bodyPr/>
                    <a:lstStyle/>
                    <a:p>
                      <a:r>
                        <a:rPr sz="1200" b="0">
                          <a:solidFill>
                            <a:srgbClr val="1F2937"/>
                          </a:solidFill>
                        </a:rPr>
                        <a:t>assimetrik, ajralish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Kirish va chiqish teshigi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90, 92-93, 92,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va tezkor savol: mexanizm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murdada dumaloq teshik topildi. Chetlari ichkariga qayrilgan, atrofida 1-3 mm shilinish hoshiyasi va ifloslanish hoshiyasi bor. Bu kirish teshigimi yoki chiqishmi?</a:t>
            </a:r>
          </a:p>
          <a:p>
            <a:pPr>
              <a:spcAft>
                <a:spcPts val="1200"/>
              </a:spcAft>
            </a:pPr>
            <a:r>
              <a:rPr sz="2000">
                <a:solidFill>
                  <a:srgbClr val="1F2937"/>
                </a:solidFill>
                <a:latin typeface="Calibri"/>
              </a:rPr>
              <a:t>▸  Kirish teshigi odatda dumaloq yoki oval bo‘ladi. Chetlari nisbatan tekis va ichkariga qayrilgan, shilinish hoshiyasi yaqqol ko‘rinadi, ko‘pincha to‘qima defekti ham bo‘ladi.</a:t>
            </a:r>
          </a:p>
          <a:p>
            <a:pPr>
              <a:spcAft>
                <a:spcPts val="1200"/>
              </a:spcAft>
            </a:pPr>
            <a:r>
              <a:rPr sz="2000">
                <a:solidFill>
                  <a:srgbClr val="1F2937"/>
                </a:solidFill>
                <a:latin typeface="Calibri"/>
              </a:rPr>
              <a:t>▸  Diqqat: chiqish teshigi ≠ kirish teshigi. Chiqishda shakl yoriqsimon yoki yulduzsimon, chetlari tashqariga qayrilgan, ifloslanish hoshiyasi bo‘lmaydi.</a:t>
            </a:r>
          </a:p>
          <a:p>
            <a:pPr>
              <a:spcAft>
                <a:spcPts val="1200"/>
              </a:spcAft>
            </a:pPr>
            <a:r>
              <a:rPr sz="2000">
                <a:solidFill>
                  <a:srgbClr val="1F2937"/>
                </a:solidFill>
                <a:latin typeface="Calibri"/>
              </a:rPr>
              <a:t>▸  Tezkor savol: zarb ta’siri nazariyasida siqilish to‘lqini yara kanaliga qanday ta’sir qiladi? Ko‘r yara bilan teshib o‘tar yaraning farqi nimada?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91-92, 91, 92-93, 89-90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Sochmali, snaryadsiz, gaz va pnevmatik qurollar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Sochmada kompakt ta’sirda bitta teshik patron diametriga teng; uzoqroqda mayda yaralar tarqaladi.</a:t>
            </a:r>
          </a:p>
          <a:p>
            <a:pPr>
              <a:spcAft>
                <a:spcPts val="800"/>
              </a:spcAft>
            </a:pPr>
            <a:r>
              <a:rPr sz="1800">
                <a:solidFill>
                  <a:srgbClr val="1F2937"/>
                </a:solidFill>
                <a:latin typeface="Calibri"/>
              </a:rPr>
              <a:t>▸  Gaz qurolida irritant izi sud-kimyoviy usulda aniqlanadi; teri yuvmasi etil spirtli doka bilan olinadi.</a:t>
            </a:r>
          </a:p>
          <a:p>
            <a:pPr>
              <a:spcAft>
                <a:spcPts val="800"/>
              </a:spcAft>
            </a:pPr>
            <a:r>
              <a:rPr sz="1800">
                <a:solidFill>
                  <a:srgbClr val="1F2937"/>
                </a:solidFill>
                <a:latin typeface="Calibri"/>
              </a:rPr>
              <a:t>▸  Diqqat: pnevmatik qurolda qo‘shimcha omil izi yo‘q — jarohat yaqin bo‘lmagan masofadan otishga o‘xshaydi.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26758"/>
                <a:gridCol w="2180608"/>
                <a:gridCol w="2180608"/>
              </a:tblGrid>
              <a:tr h="411480">
                <a:tc>
                  <a:txBody>
                    <a:bodyPr/>
                    <a:lstStyle/>
                    <a:p>
                      <a:r>
                        <a:rPr sz="1300" b="1">
                          <a:solidFill>
                            <a:srgbClr val="FFFFFF"/>
                          </a:solidFill>
                        </a:rPr>
                        <a:t>Qurol turi</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r>
              <a:tr h="411480">
                <a:tc>
                  <a:txBody>
                    <a:bodyPr/>
                    <a:lstStyle/>
                    <a:p>
                      <a:r>
                        <a:rPr sz="1200" b="0">
                          <a:solidFill>
                            <a:srgbClr val="1F2937"/>
                          </a:solidFill>
                        </a:rPr>
                        <a:t>Sochmali patron</a:t>
                      </a:r>
                    </a:p>
                  </a:txBody>
                  <a:tcPr marL="73152" marR="73152" marT="36576" marB="36576">
                    <a:solidFill>
                      <a:srgbClr val="E8EEF6"/>
                    </a:solidFill>
                  </a:tcPr>
                </a:tc>
                <a:tc>
                  <a:txBody>
                    <a:bodyPr/>
                    <a:lstStyle/>
                    <a:p>
                      <a:r>
                        <a:rPr sz="1200" b="0">
                          <a:solidFill>
                            <a:srgbClr val="1F2937"/>
                          </a:solidFill>
                        </a:rPr>
                        <a:t>Silliq stvolli ov miltig‘i; ko‘r yaralar</a:t>
                      </a:r>
                    </a:p>
                  </a:txBody>
                  <a:tcPr marL="73152" marR="73152" marT="36576" marB="36576">
                    <a:solidFill>
                      <a:srgbClr val="E8EEF6"/>
                    </a:solidFill>
                  </a:tcPr>
                </a:tc>
                <a:tc>
                  <a:txBody>
                    <a:bodyPr/>
                    <a:lstStyle/>
                    <a:p>
                      <a:r>
                        <a:rPr sz="1200" b="0">
                          <a:solidFill>
                            <a:srgbClr val="1F2937"/>
                          </a:solidFill>
                        </a:rPr>
                        <a:t>1 m gacha kompakt; 5 m gacha nisbiy tarqalma</a:t>
                      </a:r>
                    </a:p>
                  </a:txBody>
                  <a:tcPr marL="73152" marR="73152" marT="36576" marB="36576">
                    <a:solidFill>
                      <a:srgbClr val="E8EEF6"/>
                    </a:solidFill>
                  </a:tcPr>
                </a:tc>
              </a:tr>
              <a:tr h="411480">
                <a:tc>
                  <a:txBody>
                    <a:bodyPr/>
                    <a:lstStyle/>
                    <a:p>
                      <a:r>
                        <a:rPr sz="1200" b="0">
                          <a:solidFill>
                            <a:srgbClr val="1F2937"/>
                          </a:solidFill>
                        </a:rPr>
                        <a:t>Snaryadsiz patron</a:t>
                      </a:r>
                    </a:p>
                  </a:txBody>
                  <a:tcPr marL="73152" marR="73152" marT="36576" marB="36576">
                    <a:solidFill>
                      <a:srgbClr val="FFFFFF"/>
                    </a:solidFill>
                  </a:tcPr>
                </a:tc>
                <a:tc>
                  <a:txBody>
                    <a:bodyPr/>
                    <a:lstStyle/>
                    <a:p>
                      <a:r>
                        <a:rPr sz="1200" b="0">
                          <a:solidFill>
                            <a:srgbClr val="1F2937"/>
                          </a:solidFill>
                        </a:rPr>
                        <a:t>Porox gazlari ta’siri; o‘q-sochma yo‘q</a:t>
                      </a:r>
                    </a:p>
                  </a:txBody>
                  <a:tcPr marL="73152" marR="73152" marT="36576" marB="36576">
                    <a:solidFill>
                      <a:srgbClr val="FFFFFF"/>
                    </a:solidFill>
                  </a:tcPr>
                </a:tc>
                <a:tc>
                  <a:txBody>
                    <a:bodyPr/>
                    <a:lstStyle/>
                    <a:p>
                      <a:r>
                        <a:rPr sz="1200" b="0">
                          <a:solidFill>
                            <a:srgbClr val="1F2937"/>
                          </a:solidFill>
                        </a:rPr>
                        <a:t>Tirab otilsa: katta defekt, ko‘r yara</a:t>
                      </a:r>
                    </a:p>
                  </a:txBody>
                  <a:tcPr marL="73152" marR="73152" marT="36576" marB="36576">
                    <a:solidFill>
                      <a:srgbClr val="FFFFFF"/>
                    </a:solidFill>
                  </a:tcPr>
                </a:tc>
              </a:tr>
              <a:tr h="411480">
                <a:tc>
                  <a:txBody>
                    <a:bodyPr/>
                    <a:lstStyle/>
                    <a:p>
                      <a:r>
                        <a:rPr sz="1200" b="0">
                          <a:solidFill>
                            <a:srgbClr val="1F2937"/>
                          </a:solidFill>
                        </a:rPr>
                        <a:t>Gaz quroli</a:t>
                      </a:r>
                    </a:p>
                  </a:txBody>
                  <a:tcPr marL="73152" marR="73152" marT="36576" marB="36576">
                    <a:solidFill>
                      <a:srgbClr val="E8EEF6"/>
                    </a:solidFill>
                  </a:tcPr>
                </a:tc>
                <a:tc>
                  <a:txBody>
                    <a:bodyPr/>
                    <a:lstStyle/>
                    <a:p>
                      <a:r>
                        <a:rPr sz="1200" b="0">
                          <a:solidFill>
                            <a:srgbClr val="1F2937"/>
                          </a:solidFill>
                        </a:rPr>
                        <a:t>Irritantlar (ko‘z, nafas yo‘llari)</a:t>
                      </a:r>
                    </a:p>
                  </a:txBody>
                  <a:tcPr marL="73152" marR="73152" marT="36576" marB="36576">
                    <a:solidFill>
                      <a:srgbClr val="E8EEF6"/>
                    </a:solidFill>
                  </a:tcPr>
                </a:tc>
                <a:tc>
                  <a:txBody>
                    <a:bodyPr/>
                    <a:lstStyle/>
                    <a:p>
                      <a:r>
                        <a:rPr sz="1200" b="0">
                          <a:solidFill>
                            <a:srgbClr val="1F2937"/>
                          </a:solidFill>
                        </a:rPr>
                        <a:t>2-3 m masofada; ta’sir ~1 soat</a:t>
                      </a:r>
                    </a:p>
                  </a:txBody>
                  <a:tcPr marL="73152" marR="73152" marT="36576" marB="36576">
                    <a:solidFill>
                      <a:srgbClr val="E8EEF6"/>
                    </a:solidFill>
                  </a:tcPr>
                </a:tc>
              </a:tr>
              <a:tr h="411480">
                <a:tc>
                  <a:txBody>
                    <a:bodyPr/>
                    <a:lstStyle/>
                    <a:p>
                      <a:r>
                        <a:rPr sz="1200" b="0">
                          <a:solidFill>
                            <a:srgbClr val="1F2937"/>
                          </a:solidFill>
                        </a:rPr>
                        <a:t>Pnevmatik qurol</a:t>
                      </a:r>
                    </a:p>
                  </a:txBody>
                  <a:tcPr marL="73152" marR="73152" marT="36576" marB="36576">
                    <a:solidFill>
                      <a:srgbClr val="FFFFFF"/>
                    </a:solidFill>
                  </a:tcPr>
                </a:tc>
                <a:tc>
                  <a:txBody>
                    <a:bodyPr/>
                    <a:lstStyle/>
                    <a:p>
                      <a:r>
                        <a:rPr sz="1200" b="0">
                          <a:solidFill>
                            <a:srgbClr val="1F2937"/>
                          </a:solidFill>
                        </a:rPr>
                        <a:t>Siqilgan havo hisobiga otiladi</a:t>
                      </a:r>
                    </a:p>
                  </a:txBody>
                  <a:tcPr marL="73152" marR="73152" marT="36576" marB="36576">
                    <a:solidFill>
                      <a:srgbClr val="FFFFFF"/>
                    </a:solidFill>
                  </a:tcPr>
                </a:tc>
                <a:tc>
                  <a:txBody>
                    <a:bodyPr/>
                    <a:lstStyle/>
                    <a:p>
                      <a:r>
                        <a:rPr sz="1200" b="0">
                          <a:solidFill>
                            <a:srgbClr val="1F2937"/>
                          </a:solidFill>
                        </a:rPr>
                        <a:t>30-50 m; qo‘shimcha omil belgisi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Qurol turlarini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93, 95, 96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O‘q otar jarohatlarda ekspertiza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 qurol va snaryad turi, otish distansiyasi hamda masofasi haqidagi savollarga javob beradi.</a:t>
            </a:r>
          </a:p>
          <a:p>
            <a:pPr>
              <a:spcAft>
                <a:spcPts val="800"/>
              </a:spcAft>
            </a:pPr>
            <a:r>
              <a:rPr sz="1800">
                <a:solidFill>
                  <a:srgbClr val="1F2937"/>
                </a:solidFill>
                <a:latin typeface="Calibri"/>
              </a:rPr>
              <a:t>▸  Otish masofasi faqat tegishli shartlarda eksperiment bilan, distansiya esa belgilar majmuidan aniqlanadi.</a:t>
            </a:r>
          </a:p>
          <a:p>
            <a:pPr>
              <a:spcAft>
                <a:spcPts val="800"/>
              </a:spcAft>
            </a:pPr>
            <a:r>
              <a:rPr sz="1800">
                <a:solidFill>
                  <a:srgbClr val="1F2937"/>
                </a:solidFill>
                <a:latin typeface="Calibri"/>
              </a:rPr>
              <a:t>▸  Avtomatik qurolda bir tomonda ko‘p, o‘xshash jarohatlar bo‘ladi; rentgen, ultrabinafsha nurda tekshiriladi.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 otar quroldan etkazilganmi?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Qurol va snaryad turi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Distansiya va masofa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Teshiklar va kanal yo‘nalishi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Ketma-ketlik; o‘zi yetkazganmi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savollari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96, 97, 97-98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Portlash travmasi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Portlash tabiiy, qasddan, tasodifiy; moddalar birlamchi, ikkilamchi, tarqatuvchi guruhlarga bo‘linadi.</a:t>
            </a:r>
          </a:p>
          <a:p>
            <a:pPr>
              <a:spcAft>
                <a:spcPts val="800"/>
              </a:spcAft>
            </a:pPr>
            <a:r>
              <a:rPr sz="1800">
                <a:solidFill>
                  <a:srgbClr val="1F2937"/>
                </a:solidFill>
                <a:latin typeface="Calibri"/>
              </a:rPr>
              <a:t>▸  Besh omil (gaz, zarb to‘lqini, bo‘laklar, maxsus vositalar, ikkilamchi snaryad) to‘rt xil ta’sir beradi.</a:t>
            </a:r>
          </a:p>
          <a:p>
            <a:pPr>
              <a:spcAft>
                <a:spcPts val="800"/>
              </a:spcAft>
            </a:pPr>
            <a:r>
              <a:rPr sz="1800">
                <a:solidFill>
                  <a:srgbClr val="1F2937"/>
                </a:solidFill>
                <a:latin typeface="Calibri"/>
              </a:rPr>
              <a:t>▸  Vrachlar jarohatlarni to‘liq yozadi; kiyim va yot jismlar tezda huquqni muhofaza organlariga topshiriladi.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Distansiya</a:t>
                      </a:r>
                    </a:p>
                  </a:txBody>
                  <a:tcPr marL="73152" marR="73152" marT="36576" marB="36576">
                    <a:solidFill>
                      <a:srgbClr val="0B1F3A"/>
                    </a:solidFill>
                  </a:tcPr>
                </a:tc>
                <a:tc>
                  <a:txBody>
                    <a:bodyPr/>
                    <a:lstStyle/>
                    <a:p>
                      <a:r>
                        <a:rPr sz="1400" b="1">
                          <a:solidFill>
                            <a:srgbClr val="FFFFFF"/>
                          </a:solidFill>
                        </a:rPr>
                        <a:t>Asosiy omillar</a:t>
                      </a:r>
                    </a:p>
                  </a:txBody>
                  <a:tcPr marL="73152" marR="73152" marT="36576" marB="36576">
                    <a:solidFill>
                      <a:srgbClr val="0B1F3A"/>
                    </a:solidFill>
                  </a:tcPr>
                </a:tc>
              </a:tr>
              <a:tr h="411480">
                <a:tc>
                  <a:txBody>
                    <a:bodyPr/>
                    <a:lstStyle/>
                    <a:p>
                      <a:r>
                        <a:rPr sz="1300" b="0">
                          <a:solidFill>
                            <a:srgbClr val="1F2937"/>
                          </a:solidFill>
                        </a:rPr>
                        <a:t>Kontakt</a:t>
                      </a:r>
                    </a:p>
                  </a:txBody>
                  <a:tcPr marL="73152" marR="73152" marT="36576" marB="36576">
                    <a:solidFill>
                      <a:srgbClr val="E8EEF6"/>
                    </a:solidFill>
                  </a:tcPr>
                </a:tc>
                <a:tc>
                  <a:txBody>
                    <a:bodyPr/>
                    <a:lstStyle/>
                    <a:p>
                      <a:r>
                        <a:rPr sz="1300" b="0">
                          <a:solidFill>
                            <a:srgbClr val="1F2937"/>
                          </a:solidFill>
                        </a:rPr>
                        <a:t>Detonatsiya mahsuloti, moslama bo‘laklari</a:t>
                      </a:r>
                    </a:p>
                  </a:txBody>
                  <a:tcPr marL="73152" marR="73152" marT="36576" marB="36576">
                    <a:solidFill>
                      <a:srgbClr val="E8EEF6"/>
                    </a:solidFill>
                  </a:tcPr>
                </a:tc>
              </a:tr>
              <a:tr h="411480">
                <a:tc>
                  <a:txBody>
                    <a:bodyPr/>
                    <a:lstStyle/>
                    <a:p>
                      <a:r>
                        <a:rPr sz="1300" b="0">
                          <a:solidFill>
                            <a:srgbClr val="1F2937"/>
                          </a:solidFill>
                        </a:rPr>
                        <a:t>Yaqin</a:t>
                      </a:r>
                    </a:p>
                  </a:txBody>
                  <a:tcPr marL="73152" marR="73152" marT="36576" marB="36576">
                    <a:solidFill>
                      <a:srgbClr val="FFFFFF"/>
                    </a:solidFill>
                  </a:tcPr>
                </a:tc>
                <a:tc>
                  <a:txBody>
                    <a:bodyPr/>
                    <a:lstStyle/>
                    <a:p>
                      <a:r>
                        <a:rPr sz="1300" b="0">
                          <a:solidFill>
                            <a:srgbClr val="1F2937"/>
                          </a:solidFill>
                        </a:rPr>
                        <a:t>Mahsulot, bo‘laklar, zarb to‘lqini</a:t>
                      </a:r>
                    </a:p>
                  </a:txBody>
                  <a:tcPr marL="73152" marR="73152" marT="36576" marB="36576">
                    <a:solidFill>
                      <a:srgbClr val="FFFFFF"/>
                    </a:solidFill>
                  </a:tcPr>
                </a:tc>
              </a:tr>
              <a:tr h="411480">
                <a:tc>
                  <a:txBody>
                    <a:bodyPr/>
                    <a:lstStyle/>
                    <a:p>
                      <a:r>
                        <a:rPr sz="1300" b="0">
                          <a:solidFill>
                            <a:srgbClr val="1F2937"/>
                          </a:solidFill>
                        </a:rPr>
                        <a:t>Nisbatan yaqin</a:t>
                      </a:r>
                    </a:p>
                  </a:txBody>
                  <a:tcPr marL="73152" marR="73152" marT="36576" marB="36576">
                    <a:solidFill>
                      <a:srgbClr val="E8EEF6"/>
                    </a:solidFill>
                  </a:tcPr>
                </a:tc>
                <a:tc>
                  <a:txBody>
                    <a:bodyPr/>
                    <a:lstStyle/>
                    <a:p>
                      <a:r>
                        <a:rPr sz="1300" b="0">
                          <a:solidFill>
                            <a:srgbClr val="1F2937"/>
                          </a:solidFill>
                        </a:rPr>
                        <a:t>Zarb to‘lqini, bo‘laklar, ikkilamchi snaryad</a:t>
                      </a:r>
                    </a:p>
                  </a:txBody>
                  <a:tcPr marL="73152" marR="73152" marT="36576" marB="36576">
                    <a:solidFill>
                      <a:srgbClr val="E8EEF6"/>
                    </a:solidFill>
                  </a:tcPr>
                </a:tc>
              </a:tr>
              <a:tr h="411480">
                <a:tc>
                  <a:txBody>
                    <a:bodyPr/>
                    <a:lstStyle/>
                    <a:p>
                      <a:r>
                        <a:rPr sz="1300" b="0">
                          <a:solidFill>
                            <a:srgbClr val="1F2937"/>
                          </a:solidFill>
                        </a:rPr>
                        <a:t>Yaqin emas</a:t>
                      </a:r>
                    </a:p>
                  </a:txBody>
                  <a:tcPr marL="73152" marR="73152" marT="36576" marB="36576">
                    <a:solidFill>
                      <a:srgbClr val="FFFFFF"/>
                    </a:solidFill>
                  </a:tcPr>
                </a:tc>
                <a:tc>
                  <a:txBody>
                    <a:bodyPr/>
                    <a:lstStyle/>
                    <a:p>
                      <a:r>
                        <a:rPr sz="1300" b="0">
                          <a:solidFill>
                            <a:srgbClr val="1F2937"/>
                          </a:solidFill>
                        </a:rPr>
                        <a:t>Bo‘laklar, ikkilamchi snaryadlar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Portlash distansiyalari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98-99, 99-100, 102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ketma-ketlik va hayotiylik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Murdada ikki o‘q otar kirish yarasi bor. A atrofida qon quyilishi ko‘lamli, moy zarralari ko‘p; B atrofida qurum va metall ko‘p.</a:t>
            </a:r>
          </a:p>
          <a:p>
            <a:pPr>
              <a:spcAft>
                <a:spcPts val="1200"/>
              </a:spcAft>
            </a:pPr>
            <a:r>
              <a:rPr sz="2200">
                <a:solidFill>
                  <a:srgbClr val="1F2937"/>
                </a:solidFill>
                <a:latin typeface="Calibri"/>
              </a:rPr>
              <a:t>▸  Savol: qaysi jarohat avval yetkazilgan? Yassi suyakda ikkala defektdan chiqqan darz chiziqlari bir-birini kesib o‘tadimi?</a:t>
            </a:r>
          </a:p>
          <a:p>
            <a:pPr>
              <a:spcAft>
                <a:spcPts val="1200"/>
              </a:spcAft>
            </a:pPr>
            <a:r>
              <a:rPr sz="2200">
                <a:solidFill>
                  <a:srgbClr val="1F2937"/>
                </a:solidFill>
                <a:latin typeface="Calibri"/>
              </a:rPr>
              <a:t>▸  Dastlabki jarohatda qon quyilishi va moy ko‘proq, qurum bilan metall keyingisida ko‘proq. Demak, A avvalroq yetkazilgan. Keyingi darz oldingisini kesmaydi.</a:t>
            </a:r>
          </a:p>
          <a:p>
            <a:pPr>
              <a:spcAft>
                <a:spcPts val="1200"/>
              </a:spcAft>
            </a:pPr>
            <a:r>
              <a:rPr sz="2200">
                <a:solidFill>
                  <a:srgbClr val="1F2937"/>
                </a:solidFill>
                <a:latin typeface="Calibri"/>
              </a:rPr>
              <a:t>▸  Hayotiylik uchun jarohatda qon quyilishi, tromb, reaktiv shish, yallig‘lanish, nekroz kabi mahalliy belgilar izlanadi.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97, 28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Hayotiylik shikastga javob reaksiyasi bilan aniqlanadi: qon quyilishi, tromb, reaktiv shish, yallig‘lanish, nekroz; umumiy belgilarda qon ketishi, aspiratsiya, emboliya.</a:t>
            </a:r>
          </a:p>
          <a:p>
            <a:pPr>
              <a:spcAft>
                <a:spcPts val="1200"/>
              </a:spcAft>
            </a:pPr>
            <a:r>
              <a:rPr sz="2200">
                <a:solidFill>
                  <a:srgbClr val="1F2937"/>
                </a:solidFill>
                <a:latin typeface="Calibri"/>
              </a:rPr>
              <a:t>▸  Mexanizm: zarb ta’siri nazariyasi. O‘q kichik yuzaga kuchli zarb beradi, to‘lqin yon va orqaga tarqaladi; yara devorida uchta zona bo‘ladi.</a:t>
            </a:r>
          </a:p>
          <a:p>
            <a:pPr>
              <a:spcAft>
                <a:spcPts val="1200"/>
              </a:spcAft>
            </a:pPr>
            <a:r>
              <a:rPr sz="2200">
                <a:solidFill>
                  <a:srgbClr val="1F2937"/>
                </a:solidFill>
                <a:latin typeface="Calibri"/>
              </a:rPr>
              <a:t>▸  Diqqat: distansiya ≠ masofa. Distansiya — belgilar majmui (tirab, yaqin, yaqin emas); masofa — stvol uchi va nishon orasidagi uzunlik.</a:t>
            </a:r>
          </a:p>
          <a:p>
            <a:pPr>
              <a:spcAft>
                <a:spcPts val="1200"/>
              </a:spcAft>
            </a:pPr>
            <a:r>
              <a:rPr sz="2200">
                <a:solidFill>
                  <a:srgbClr val="1F2937"/>
                </a:solidFill>
                <a:latin typeface="Calibri"/>
              </a:rPr>
              <a:t>▸  Kirish teshigida to‘qima defekti, shilinish va ifloslanish hoshiyasi bo‘ladi; chiqish teshigi notekis, tashqariga qayrilgan, hoshiyasiz.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 89-90, 86, 92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N.I.Pirogov 1849 yilda o‘q yulib olgan to‘qima defektini (minus-to‘qima) tasvirlagan. 1865 yilda esa shilinish va ifloslanish hoshiyalarini yozgan. Bu belgilar bugun ham kirish teshigini aniqlashda ishlatiladi.</a:t>
            </a:r>
          </a:p>
          <a:p>
            <a:pPr>
              <a:spcAft>
                <a:spcPts val="1200"/>
              </a:spcAft>
            </a:pPr>
            <a:r>
              <a:rPr sz="1800">
                <a:solidFill>
                  <a:srgbClr val="1F2937"/>
                </a:solidFill>
                <a:latin typeface="Calibri"/>
              </a:rPr>
              <a:t>▸  Hodisa tahlili (Vinogradov fenomeni): yaqin bo‘lmagan masofadan otilganda ham ichki kiyimda yoki tanada qurum topilishi mumkin. Buning uchun o‘q tezligi 500 m/sek dan kam bo‘lmasligi, kiyim tanaga yopishmagan bo‘lishi va kuchli shamol bo‘lmasligi kerak. Birinchi qavat kiyimning tashqi yuzasida qurum bo‘lmaydi, qurum miqdori oz bo‘ladi va chekkaga qarab ortadi.</a:t>
            </a:r>
          </a:p>
          <a:p>
            <a:pPr>
              <a:spcAft>
                <a:spcPts val="1200"/>
              </a:spcAft>
            </a:pPr>
            <a:r>
              <a:rPr sz="1800">
                <a:solidFill>
                  <a:srgbClr val="1F2937"/>
                </a:solidFill>
                <a:latin typeface="Calibri"/>
              </a:rPr>
              <a:t>▸  Hayotiylik bilan bog‘liq fakt: o‘q otar yara kanalida ayrim to‘qimalar qisqarishi natijasida uzlukli kanal hosil bo‘ladi. Bu odatda jarohat hayotlik vaqtida yetkazilganidan dalolat beradi. Tirik organizmning reaksiyasi (to‘qimaning qisqarishi) o‘limdan keyin bunday ko‘rinmaydi.</a:t>
            </a:r>
          </a:p>
          <a:p>
            <a:pPr>
              <a:spcAft>
                <a:spcPts val="1200"/>
              </a:spcAft>
            </a:pPr>
            <a:r>
              <a:rPr sz="1800">
                <a:solidFill>
                  <a:srgbClr val="1F2937"/>
                </a:solidFill>
                <a:latin typeface="Calibri"/>
              </a:rPr>
              <a:t>▸  Eslab qolish usuli (mualliflik taklifi): kirish teshigi “kichik, tekis, ichkariga”, chiqish teshigi “katta, notekis, tashqariga”. Jadvaldagi belgilar: kirishda shilinish va ifloslanish hoshiyasi bor, chiqishda ko‘pincha yo‘q. Kirishda to‘qima defekti ko‘pincha bo‘ladi, chiqishda kamdan kam.</a:t>
            </a:r>
          </a:p>
          <a:p>
            <a:pPr>
              <a:spcAft>
                <a:spcPts val="1200"/>
              </a:spcAft>
            </a:pPr>
            <a:r>
              <a:rPr sz="1800">
                <a:solidFill>
                  <a:srgbClr val="1F2937"/>
                </a:solidFill>
                <a:latin typeface="Calibri"/>
              </a:rPr>
              <a:t>▸  Diqqat, o‘limdan keyingi o‘zgarish: ayrim filogenetik jihatdan qadimiy to‘qimalarda hayotiy jarayonlar o‘limdan keyin uzoqroq saqlanadi. Shu sababli o‘limdan keyingi jarohatlar hayotiy jarohatga o‘xshab ko‘rinishi mumkin. Hayotiylik masalasida bitta belgiga emas, umumiy va mahalliy belgilar majmuiga tayaniladi.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ekspertizasida nafas yo‘llarida qon va boshqa yot moddalar aspiratsiyasi topildi. Bu topilma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o‘limdan keyin yetkazilganini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hayotiyligining umumiy belgisini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dog‘lari hosil bo‘lganini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hayotiyligining mahalliy belgisini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shikastlangan sohadagi qon tomirlarida tromblarni aniqladi. Bu hayotiylikning qaysi belgisi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Umumiy belgi: nafas yo‘llaridagi aspiratsiya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Umumiy belgi: limfa tugunlaridagi eritrofagiya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o‘limdan keyin paydo bo‘ladigan o‘zgarish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Mahalliy belgi: jarohat sohasidagi tromblar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Yog‘ to‘qimasi bor sohada jarohat aniqlandi va limfada eritrotsitlar hamda yog‘ topildi. Bu topilma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hayotiyligining umumiy belgisidan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 o‘limdan keyin yetkazilganidan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dog‘lari rivojlanayotganidan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mahalliy yallig‘lanish alomatidan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jarohat hayotiyligi baholanmoqda. Qaysi omil o‘limdan keyingi jarohatni hayotiyga o‘xshatib yuborishi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Jarohatlar sonining juda kamligi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Shaxsning yoshi va jinsi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To‘qimalarning filogenetik yoshi kattaligi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 ustida kiyim bo‘lishi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jarohatning hayotiyligi va yetkazilish muddatini aniqlashi kerak. Qaysi tekshiruv usuli shu maqsadda qo‘llaniladi?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Rentgenografik tekshiruv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Gistologik tekshiruv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Trasologik tekshiruv</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Stereomikroskopiya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havo emboliyasiga shubha bor. Ekspert to‘sh suyagini ajratib, perikard bo‘shlig‘iga suv quydi va o‘ng qorincha devorini teshdi. Suvdan havo pufaklari chiqdi. Bu natija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Yog‘ emboliyasining musbat natijasi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Havo emboliyasi uchun musbat natija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Aspiratsion asfiksiyaning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Murda dog‘larining ko‘rinishi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Uzun naysimon suyak singanidan 2-3 kun o‘tib o‘lim yuz berdi. Yog‘ emboliyasini aniqlash uchun o‘pkaning muzlatilgan kesmalari bo‘yaldi va tomirlardagi yog‘ tomchilari olovrang qizil ko‘rindi. Qaysi bo‘yoq ishlatilgan?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Sudan III bo‘yog‘i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Sudan IV bo‘yog‘i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Gematoksilin bo‘yog‘i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Eozin bo‘yog‘i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Shilinmada qoplama qattiqlashgan, qalinlashgan va sog‘lom teri sathidan ko‘tarilgan. U chetlaridan ko‘cha boshlagan. Bu epitelizatsiya bosqichi bo‘lsa, u odatda qancha davom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 soatgacha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2-3 sutkagacha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10-15 sutkagacha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7-9 sutkagacha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ekspertizasida teri sathida sariq, jigar rangli dog‘ topildi. U atrofdagi teri sathida yoki undan pastroq. Unda qoplama yo‘q va hayotiy jarohatlarga xos o‘zgarishlar aniqlanmadi. Bu qanday o‘zgarish?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Yangi yuzaki shilinma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Chuqur shilinma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Pergament dog‘i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Chiziqsimon timalma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jangovor qurol stvolining ichki yuzasida vintsimon o‘yiqlarni aniqladi. Bu o‘yiqlar snaryadga nimani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Snaryadga o‘qi atrofida aylanma harakat beradi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Snaryadning massasini ancha oshirib yuboradi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Gilzani stvoldan tezroq chiqarib tashlaydi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Porox yonish tezligini sezilarli oshiradi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jangovor qurol patronini tekshirdi: undagi porox nitrotsellyulozadan tayyorlangan. Bu qaysi porox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Qora (tutunli) porox</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Kaliy selitrali porox</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Oltingugurtli porox</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Tutunsiz porox turi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Silliq stvolli ov miltig‘idan otilgan patrondan chiqqan sharchalarning diametri 3 mm. Ular nima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Katta sochma — kartech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Sochma (mayda sharcha)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Yakan turidagi 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Brenneke turidagi o‘q</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Jarohat atrofida qurum va yonib ulgurmagan porox zarrachalari topildi. Ular o‘q otishning qaysi omillar guruhiga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Asosiy snaryad guruhi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Ikkilamchi snaryad guruhi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Qo‘shimcha omillar guruhi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O‘q otar qurol guruhi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O‘q bir necha yuz joul energiya bilan tegib, to‘qimaning bir qismini yulib oldi. Defekt dumaloq, chetlari tekis, o‘lchami o‘qdan kichik. Bu qanday ta’sir?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Yulma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Yorma ta’sir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Ponasimon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Termik ta’sir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Makarov pistoletidan otilgan o‘q kirish teshigi atrofida porox gazlari belgilari yo‘q, lekin qurum, porox va metall zarrachalari bor. Bu qaysi zona?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Birinchi zona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Ikkinchi zona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Uchinchi zona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Uchala zonaga ham xos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Yaqin bo‘lmagan distansiyadan otilgan jarohatda ichki qavat kiyimda oz qurum topildi, birinchi qavat kiyimning tashqi yuzasida esa qurum yo‘q.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Vinogradov fenomeni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Tirab otishning germetik turi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Yaqin distansiyaning birinchi zonasi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Pirogovning to‘qima defekti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O‘q otar yara devorida ajratiladigan uchta zonadan qaysi biri eng keng bo‘lib, kengligi 4–5 sm va undan ortiq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Bevosita yara kanali zonasi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To‘qimalarning chayqalish zonasi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To‘qimalarning lat eyish zonasi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Kirish teshigi atrofidagi shilinish zonasi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Teshik chetlari notekis va tashqariga qayrilgan, shakli yulduzsimon, shilinish va ifloslanish hoshiyasi yo‘q, qon quyilishlari assimetrik. Bu qaysi teshik?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Dermada defekti bor kirish teshigi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Tirab otishdagi kirish teshigi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Chiqish teshigi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Yalama jarohatning boshlang‘ich qismi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Silliq stvolli ov miltig‘idan 5 metrgacha masofadan otilganda bitta asosiy kirish teshigi va uning atrofida mayda dumaloq yaralar hosil bo‘ldi. Sochmalarning qaysi ta’siri kuzatilgan?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Kompakt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Tarqalma ta’sir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Yorma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Nisbiy tarqalma ta’sir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Portlash holatida jabrlanuvchi portlash markazidan yaqin bo‘lmagan distansiyada edi. Qaysi omillar asosiy shikastlovchi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Detonatsiya mahsulotlari va zarb to‘lqini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Portlovchi moslama bo‘laklari va ikkilamchi snaryadlar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atrof-muhit zarb to‘lqini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Maxsus termik shikastlovchi moddalar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Jarohat hayotiyligining umumiy belgisini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yo‘llarida qon va yot moddalar aspiratsiyasi jarohat hayotiyligining umumiy belgilari qatoriga kiradi. Mahalliy belgilar esa jarohat sohasining o‘zida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Mahalliy belgi: jarohat sohasidagi tromblar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Shikastlangan sohadagi qon tomirlarida tromblarning topilishi hayotiylikni tasdiqlovchi mahalliy belgilar qatoriga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Jarohat hayotiyligining umumiy belgisidan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 to‘qimasi bor sohalar shikastlanganda limfada eritrotsitlar va yog‘ning topilishi hayotiylikning umumiy belgilari ro‘yxatida keltirilgan.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28-bet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To‘qimalarning filogenetik yoshi kattaligi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Biologik o‘limdan keyin turli to‘qimalarda hayotiy jarayonlarning to‘xtashi ularning filogenetik yoshiga bog‘liq. Filogenetik katta yoshli to‘qimalarda o‘limdan keyingi jarohatlar hayotiylarga o‘xshash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Gistologik tekshiruv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Jarohatlarning hayotiyligi va yetkazilish muddati gistologik tekshiruvlar yordamida aniqlanadi. Rentgenografiya yot jism va suyak shikastini, trasologiya shikastlovchi jismni aniqlashga xizmat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29-bet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Havo emboliyasi uchun musbat natija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Suvdan havo pufaklarining chiqishi musbat natija hisoblanadi va u Sunsov sinamasi deb ataladi. Bu sinama havo emboliyasini tasdiqlaydi.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Sudan III bo‘yog‘i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Sudan III yog‘ tomchilarini olovrang qizil rangga bo‘yaydi. Sudan IV esa ularni qora rangga bo‘yaydi.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7-9 sutkagacha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Taykov bo‘yicha epitelizatsiya bosqichi 7-9 sutkagacha davom etadi. Bu muddatlar shartli bo‘lib, yosh va teri xususiyatlariga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36-bet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Pergament dog‘i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Pergament dog‘i o‘limdan so‘ng teri qurishining alomati. U sariq, jigar rangda bo‘ladi, qoplama hosil bo‘lmaydi va hayotiy o‘zgarishlar aniqlanmaydi. Shu bilan shilinmadan farqlanadi.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37-bet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Snaryadga o‘qi atrofida aylanma harakat beradi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Jangovor va sport qurollari stvolidagi 4-6 vintsimon o‘yiq snaryadga o‘qi atrofida aylanma harakat beradi. Natijada o‘qning tezligi kattaroq, uchishi uzoqroq va aniqroq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Tutunsiz porox turi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Jangovor va sport qurollarida energiya manbai sifatida nitrotsellyulozadan tayyorlangan tutunsiz porox ishlatiladi. Qora porox tarkibida esa kaliy selitrasi, pista ko‘mir va oltingugurt bo‘ladi. Uni asosan ov qurollari, signal pistoletlari va ayrim gaz qurollarining patronlarida qo‘llashadi.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82-83-bet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Sochma (mayda sharcha)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Diametri 1 mm dan 5,5 mm gacha bo‘lgan mayda sharchalar sochma deyiladi. Bundan katta sharchalar katta sochma (kartech) hisoblanadi. Yakan va Brenneke esa o‘qli patronlarda qo‘llanadigan o‘qlardir.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Qo‘shimcha omillar guruhi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O‘q otishning qo‘shimcha omillariga stvoldagi o‘q oldi havo, o‘q otish alangasi, porox gazlari, qurum, yonib ulgurmagan porox zarrachalari, metall zarrachalari va moy tomchilari kiradi. Asosiy snaryad o‘q va sochmalardir. Ikkilamchi snaryadlar esa kiyim-bosh, to‘siq va suyak bo‘laklaridir.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Yulma ta’sir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necha yuz joul energiyali o‘q to‘qimaning bir qismini yulib, o‘lchami snaryad diametridan kichik, chetlari tekis defekt qoldiradi. Yorma ta’sir bir necha ming joul energiyada bo‘ladi. Ponasimon ta’sir bir necha o‘n joulda bo‘lib, to‘qima defektini qoldirmaydi.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85-bet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Ikkinchi zona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Yaqin distansiyada birinchi zonada barcha qo‘shimcha omillar, shu jumladan porox gazlari ta’siri bo‘ladi. Ikkinchi zonada porox gazlari belgisi yo‘q, qurum, porox, metall va moy zarralari bor. Uchinchi zonada faqat porox va metall zarrachalari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Vinogradov fenomeni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Yaqin bo‘lmagan distansiyada qo‘shimcha omillar odatda aniqlanmaydi. Ba’zan o‘q ortidagi past bosimli bo‘shliq qurumni olib keladi va qurum faqat ichki qavatda qoladi. Yaqin distansiyada esa birinchi qavatning tashqi yuzasida ham qurum bo‘ladi. Fenomen uchun o‘q tezligi kamida 500 m/sek bo‘lishi, kiyim tanaga zich yopishmagan bo‘lishi va kuchli shamol bo‘lmasligi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89-bet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To‘qimalarning chayqalish zonasi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Zarb ta’siri nazariyasiga ko‘ra siqilish to‘lqini kanal devorlariga tarqaladi. Yara devorida uch zona bor: bevosita kanal, lat eyish zonasi (0,3 dan 1–2 sm gacha) va chayqalish zonasi (4–5 sm va undan ortiq). Eng keng zona — chayqalish zonasi.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Chiqish teshigi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Chiqish teshigi yoriqsimon, yoysimon yoki yulduzsimon bo‘ladi. Chetlari notekis va tashqariga qayrilgan, odatda shilinish va ifloslanish hoshiyasi bo‘lmaydi. Qon quyilishlari assimetrik, to‘qimalar qatlamlarga ajralmaydi. Kirish teshigida esa chetlar nisbatan tekis va ichkariga qayrilgan, shilinish va ifloslanish hoshiyalari bor.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Nisbiy tarqalma ta’sir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Tanaga tiralganda yoki 1 metrgacha masofada sochmalar kompakt ta’sir ko‘rsatib, bitta kirish teshigi hosil qiladi. 5 metrgacha masofada nisbiy tarqalma ta’sir bo‘ladi: bitta asosiy teshik va atrofida alohida sochmalardan mayda yaralar. Undan uzoqroqda sochmalar to‘liq yoyilib, tarqalma ta’sir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93-bet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Portlovchi moslama bo‘laklari va ikkilamchi snaryadlar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Portlashning to‘rtta distansiyasi farqlanadi. Yaqin bo‘lmagan distansiyada asosiy shikastlovchi omillar portlovchi moslamaning bo‘laklari va ikkilamchi snaryadlar (kiyim-bosh, poyafzal, atrofdagi jismlarning parchalari) bo‘ladi. Detonatsiya mahsulotlari kontakt va yaqin distansiyaga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101-bet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Jarohatning hayotlik vaqtida yetkazilganligini aniqlash. O’q otar quroldan jarohatlanish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4. O‘q otar qurollardan jarohatlar</a:t>
            </a:r>
          </a:p>
          <a:p>
            <a:pPr>
              <a:spcAft>
                <a:spcPts val="1200"/>
              </a:spcAft>
            </a:pPr>
            <a:r>
              <a:rPr sz="2000">
                <a:solidFill>
                  <a:srgbClr val="1F2937"/>
                </a:solidFill>
                <a:latin typeface="Calibri"/>
              </a:rPr>
              <a:t>▸  G‘iyosov Z.A. Sud tibbiyoti: darslik, Toshkent: Global Books nashriyoti. 2018. Bob 2. Sud-tibbiy travmatologiya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