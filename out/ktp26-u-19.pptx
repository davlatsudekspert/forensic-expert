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5 daq. Muhokama: 1) Nima uchun o‘lim vaqtini aniqlash sud-tibbiy ekspertizaning asosiy masalalaridan biri? 2) Evtanaziya va transplantatsiya mavzulari o‘lim tushunchasi bilan qanday bog‘lanadi? Doskada: dars rejasining uch shoxli sxemasini chizing (o‘lim vaqti – evtanaziya – transplantatsiya). Tipik xato: talabalar o‘lim bir lahzalik hodisa deb o‘ylaydi, aslida u bosqichma-bosqich jarayon.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5 daq. Muhokama: 1) Umumiy va xususiy tanatologiya farqi nimada? 2) Sud-tibbiy tanatologiyaga nega aynan tergov va sud ehtiyoji xos? Doskada: uch pog‘onali sxema chizing (umumiy – xususiy – sud-tibbiy tanatologiya). Tipik xato: tanatologiyani faqat murda o‘zgarishlari fani deb tushunish; u o‘lish jarayoni va o‘lim sabablarini ham qamraydi.</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Nima uchun klinik o‘lim holati reanimatologiya fanining paydo bo‘lishiga asos bo‘ldi? 2) Past harorat klinik o‘lim davomiyligiga qanday ta’sir qiladi? Doskada: beshta bosqichni o‘q bilan bog‘lab chizing va har biriga asosiy belgisini yozing. Tipik xato: klinik o‘limni qaytmas holat deb o‘ylash yoki uni agoniya bilan adashtirish.</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Preagoniyada gipoksiya va atsidoz nega paydo bo‘ladi? 2) Terminal pauzani qaysi belgilar bilan preagoniyadan ajratasiz? Doskada chizing: ikki bosqichning davomiyligini taqqoslovchi vaqt o‘qi. Tipik xato: terminal pauzani agoniya yoki klinik o‘lim bilan aralashtirish; terminal pauza juda qisqa (soniyalardan 3-4 daqiqagacha).</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Agoniyada nafas va pulsning vaqtincha tiklanishi nimaga bog‘liq? 2) Facies hippocratica sud-tibbiy ahamiyatga ega bo‘lishi mumkinmi? Doskada chizing: agoniyada miya markazlarining almashinuvi (oliy markazlar tormozlanadi - past markazlar faollashadi). Tipik xato: agoniyadagi tiklanishni sog‘ayish alomati deb o‘ylash; bu so‘nggi urinish xolos.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 Muhokama: 1) Nega past haroratda klinik o‘lim uzayadi? 2) Klinik o‘limda organizmning bir butunlik xususiyati yo‘qolsa-da, a’zolar faoliyati saqlanadi — bu nimani anglatadi? Doskada chizing: diagrammadagi zanjirni va har bosqichda qaytarish imkoniyatini belgilang. Diqqat: klinik o‘lim ≠ biologik o‘lim; klinik o‘limda faoliyatni tiklash mumkin, biologik o‘limda yo‘q. Tipik xato: 5-6 daqiqani doimiy muddat deb olish, holbuki u sharoitga bog‘liq.</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 Muhokama: 1) Nega bir zumdagi o‘limda agoniya bo‘lmaydi? 2) Sun’iy uzaytirilgan agoniya qanday holatlarda uchraydi? Doskada: to‘rt tipni davomiylik o‘qi (soniya → yillar) bo‘ylab chizing. Tipik xato: tez o‘limni faqat agoniyasiz o‘lim deb tushunish, aslida qisqa agoniyali o‘lim ham tez o‘limga kiradi.</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4 daq. Savollarni talabalarga tez-tez bering, javobni slaydni yopib so‘rang. Muhokama: nega past harorat klinik o‘lim muddatini uzaytiradi? Doskada: bosqichlar ketma-ketligini strelkalar bilan yozing (preagoniya → terminal pauza → agoniya → klinik o‘lim → biologik o‘lim). Tipik xato: terminal pauza bilan agoniyani aralashtirish.</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Qaysi belgilar terminal pauzani agoniyadan ajratadi? 2) Nega klinik o‘limda reanimatsiya imkoni bor? Doskada: ikki ustunli jadval chizing — terminal pauza va agoniya belgilari. Tipik xato: agoniyada nafas va pulsning tiklanishini hayotga qaytish deb baholash; bu faqat so‘nggi urinish.</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“Yaxshi o‘lim” iborasi nima uchun munozarali? 2) Atamaning tub maqsadi va tor ma’nosi qanday farqlanadi? Doskada: atamaning grekcha ildizlarini (eu + thanatos) yozdiring. Tipik xato: talabalar evtanaziyani faqat “o‘ldirish” deb tushunadi, aslida tub maqsad azobni yengillashtirishdir.</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 Muhokama: 1) Passiv evtanaziya va distanaziya o‘rtasidagi asosiy farq nima? 2) Medikotanaziyada asosiy maqsad nima? Doskada: to‘rt turni “harakat – cheklash – dori – uzaytirish” kalit so‘zlari bilan chizdiring. Tipik xato: ortotanaziya bilan distanaziyani aralashtirish; birida yordam cheklanadi, ikkinchisida hayot maksimal uzaytiriladi.</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 Muhokama: 1) Bir xil harakat maqsadga qarab qanday turlicha baholanadi? 2) Og‘riq qoldiruvchi katta doza misolida niyat qanday rol o‘ynaydi? Doskada: ikki ustunli “maqsad bor / maqsad yo‘q” sxemasini chizdiring. Tipik xato: katta doza yuborilgan har bir holatni avtomatik qotillik deb baholash.</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daqiqa. Muhokama: 1) Passiv evtanaziya va distanaziya o‘rtasidagi asosiy farq nimada? 2) Nega ortotanaziya jinoyat qonunchiligida alohida baholanadi? Doskada chizish: evtanaziyaning to‘rt turini (aktiv, passiv, medikotanaziya, distanaziya) to‘rt burchakli sxema ko‘rinishida chizdiring va har biriga bir jumlalik ta’rif yozdiring. Tipik xato: medikotanaziyani o‘limni tezlashtirish deb tushunish; aslida u hayot sifatini yaxshilashga qaratilgan.</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daqiqa. Muhokama: 1) Vrachning niyati (maqsadi) huquqiy bahoni qanday o‘zgartiradi? 2) Bemorga yordam to‘xtatilsa, bu qaysi turga kiradi va qanday baholanadi? Doskada chizish: ikki ustunli jadval – bevosita va bilvosita aktiv evtanaziya, qatorlar: maqsad va huquqiy baho. Tipik xato: katta dozada dori yuborilishi har doim qotillik deb o‘ylash; manbada maqsad bo‘lmasa, ehtiyotsizlik yoki baxtsiz hodisa deb baholanadi.</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daqiqa. Muhokama: 1) Nega bosh miya po‘stlog‘i boshqa to‘qimalardan oldin zararlanadi? 2) Po‘stloq o‘limidan keyingi oraliq davr transplantatsiya uchun nimani anglatadi? Doskada chizish: bosh miya po‘stlog‘idan boshlab, to‘qimalar o‘limining ketma-ketligini strelkali sxema ko‘rinishida chizdiring. Tipik xato: miya o‘limini barcha a’zolarning bir vaqtda o‘limi deb tushunish; aslida boshqa a’zolar faoliyati davom etishi mumkin.</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6-7 daqiqa. Muhokama: 1) Nega transplantatsiya uchun 20 soatga yaqin oraliq davr muhim? 2) Po‘stloq o‘limi nima uchun “shaxsning o‘limi” hisoblanadi? Doskada chizing: vaqt o‘qida po‘stloq o‘limi va boshqa a’zolar o‘limi, oralig‘ida taxminan 20 soat. Tipik xato: miya o‘limini barcha a’zolarning bir vaqtda o‘limi deb tushunish.</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daqiqa. Muhokama: 1) Kim miya o‘limini aniqlaydi va nega u jihozlarga bog‘liq? 2) Jihoz bo‘lmasa o‘limni qanday aniqlash mumkin? Doskada chizing: miya o‘limi aniqlanishidan reanimatsiyani to‘xtatish yoki a’zo olishgacha bo‘lgan zanjir. Tipik xato: miya o‘limini aniqlash vakolatini sud-tibbiy ekspertga berish; manbada reanimatolog va nevrologlar ko‘rsatilgan.</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daqiqa. Muhokama: 1) Nega harakatsizlik va oqarish ishonchli belgi emas? 2) Beloglazov simptomi qanday tekshiriladi? (Ko‘z olmasi yon tomonlardan siqilganda qorachiq ovalsimon bo‘ladi; 1,5-2,0 soatdan keyin qorachiq mushaklari qotishi tufayli aniqlanmasligi mumkin.) Doskada chizing: ehtimoliy va ishonchli belgilar ustunli jadval. Tipik xato: sovushni har doim ishonchli belgi deb hisoblash; ishonchli bo‘lishi uchun harorat 23°S gacha yoki undan past bo‘lishi kerak.</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5 daq. Muhokama: 1) Nima uchun nafas va yurak urishining yo‘qligi o‘limni isbotlamaydi? 2) Beloglazov simptomi nega 1,5-2 soatdan keyin aniqlanmasligi mumkin (qorachiq mushaklarining qotishi)? Doskada: ikki ustunli jadval chizdiring — “ehtimoliy” va “ishonchli” belgilar. Tipik xato: Beloglazov simptomini dastlabki belgi deb hisoblash yoki 23 °S ni “ehtimoliy” guruhga kiritish.</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 Muhokama: 1) Nega faqat yurak urishiga qarab o‘limni belgilash transplantatsiyada yetarli emas? 2) Apparatura bo‘lmasa o‘lim qanday aniqlanadi (murda o‘zgarishlari bo‘yicha)? Doskada: vaqt o‘qi chizdiring — po‘stloq o‘limi, taxminan 20 soat, boshqa a’zolar o‘limi. Tipik xato: miya o‘limini “vegetativ holat” bilan chalkashtirish; manbada po‘stloq o‘limi shaxs o‘limi deb hisoblanishi aytilgan.</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Nega xilni ekspert emas, huquqni muhofaza organi aniqlaydi? 2) Zo‘raki o‘limning qanday turlari bor (mexanik jarohat, asfiksiya, zaharlanish, harorat, elektr toki)? Doskada: toifa-xil-tur daraxtini chizdiring. Tipik xato: “xil” va “tur” tushunchalarini aralashtirish, masalan, zaharlanishni xil deb atash.</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 Muhokama: 1) Nega mexanik ta’sirda avval mushak qisqaradi, keyin faqat o‘sma hosil bo‘ladi? 2) Bu reaksiyalar o‘lim muddatini aniqlashda nimaga yordam beradi? Doskada chizish: vaqt o‘qida (0-12 soat) mexanik va elektr reaksiyalarning ketma-ketligini chizing. Tipik xato: idiomuskulyar o‘smani mushak qisqarishi bilan adashtirish; qorachiq reaksiyasini kimyoviy sinama bilan aralashtirish. Qo‘shimcha: 10-11 soatda ta’sir joyida chuqurcha hosil bo‘lishini ayting.</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Atropin va pilokarpin qorachiqqa qanday qarama-qarshi ta’sir qiladi? 2) Nima uchun o‘lim muddati oshgan sari qorachiq o‘zgarishi davomiyligi uzayadi? Doskada chizish: yod-kraxmal sinamasi bosqichlarini (yod, kraxmal+kastor moyi, inyeksiya, ko‘k dog‘) ketma-ket yozing. Tipik xato: konsentratsiyalarni aralashtirish (qorachiq uchun 1% atropin/pilokarpin, ter sinamasida 2% yod va 2% pilokarpin yoki 1% adrenalin) va muddatlarni (5-6 soat, 24 soat, 30 soat) adashtirish.</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 Muhokama: 1) Yemiruvchi va saqlovchi o‘zgarishlarning asosiy farqi nima? 2) Nega sun’iy o‘zgarishlar o‘lim muddatini aniqlashda ishonchli emas? Doskada chizish: tasnif daraxtini chizing (tabiiy: ilk/kech; kech: yemiruvchi/saqlovchi; sun’iy: yemiruvchi/saqlovchi). Tipik xato: autolizni chirish bilan aralashtirish; muzlashni faqat kech o‘zgarish deb o‘ylash (u ilk va kech muddatda ham bo‘lishi mumkin).</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nega tana qizdirilgan jism kabi soviydi? Nega termometriya ushlab ko‘rishdan aniqroq? Doskada: sovush ttenglashish jadvalini (qo‘ltiq, to‘g‘ri ichak, jigar) chizdiring. Qo‘shimcha: ushlab ko‘rishda ochiq va kiyim yopgan sohalar solishtiriladi; jigar, ko‘krak bo‘shlig‘i va to‘g‘ri ichakda pasayish nisbatan bir maromda. Tipik xato: o‘limdan keyin harorat doim darhol pasayadi deb o‘ylash — ba’zi yuqumli kasalliklar va bosh miya jarohatida dastlabki soatlarda harorat bir necha gradusga ko‘tarilishi mumkin.</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5 daq. Muhokama: nima uchun qurish belgilari avval ko‘z va lablarda paydo bo‘ladi? Pergament dog‘ini shilinmadan farqlashning oddiy usuli qanday? Doskada: ko‘z shox pardasi va kon’yunktivasini chizib, Lyarshe dog‘i joyini belgilang. Tipik xato: pergament dog‘ini hayotiy jarohat deb baholash yoki o‘limdan keyin soch, soqol o‘sadi deb o‘ylash.</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 Muhokama: AUF kamayishi nega mushaklarni qotiradi? Buzilgan qotish nimani ko‘rsatadi? Doskada: Nisten bo‘yicha pastga yo‘nalgan qotishni (chaynash mushaklari, bo‘yin, tana, qo‘l-oyoq) strelka bilan chizdiring. Qo‘shimcha: mushaklarda AUF o‘limdan 10–12 soatda to‘liq yo‘qoladi; ikkinchi kun o‘rtasidan qotish yo‘qola boshlaydi. Tez qotish: yuqori harorat, kuchli mushak, strixnin; sust: past harorat, bolalar, keksalar. Tipik xato: kataleptik qotishni oddiy qotish bilan adashtirish.</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nega gipostazda dog‘ ko‘chadi, imbibitsiyada esa ko‘chmaydi? Gemoliz nima beradi? Doskada: 3 bosqichli vaqt o‘qi chizing va har biriga bosilganda holatni yozing. Tipik xato: bosqich chegaralarini aniq soatga bog‘lab qo‘yish; manbada chegara astalik bilan o‘tadi deyilgan.</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oddiy fuqaro dog‘ni qontalash deb o‘ylasa, shifokor nima qilishi kerak? Eski qontalash rangi qanday bo‘ladi (yashil, sarg‘imtir)? Doskada: jadvalni talabalar bilan birga to‘ldiring. Tipik xato: bosilganda rang o‘zgarishini imbibitsiya bosqichida ham kutish.</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4 daq. Savollarni og‘zaki so‘rang, javobni slaydda yashirib turing. Muhokama: qaysi belgi o‘lim muddatini aniqlashda qulayroq va nega? Doskada: sovush, qotish, dog‘larning soatlarini bitta vaqt chizig‘iga joylashtiring. Tipik xato: qotish va dog‘lar muddatlarini aralashtirish.</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12 daqiqa. Muhokama: 1) Nega oshqozon shilliq qavatining autolizi zaharlanish deb xato baholanishi mumkin? 2) Nega suvdagi murda havodagiga qaraganda sekin chiriydi? Doskada chizish: chirish belgilarining vaqt chizig‘i (2-kun yashil, 3-4 kun venoz to‘r, 4-6 kun pufakchalar). Tipik xato: autoliz va chirishni aralashtirish — autoliz o‘z fermentlari, chirish mikroorganizmlar ishi.</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15 daqiqa. Muhokama: 1) Mumifikatsiya va yog‘-mo‘m sharoitlari nimasi bilan qarama-qarshi? 2) Defenziv va offenziv qismlashni qanday farqlaymiz? Doskada chizish: ikki ustunli sxema (quruq-issiq → mumifikatsiya; nam-havosiz → yog‘-mo‘m). Tipik xato: yog‘-mo‘mni mumifikatsiya bilan almashtirish; ikkalasida ham chirish to‘xtaydi, lekin sharoit va tashqi ko‘rinish boshqacha.</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15 daqiqa. Tezkor savol: Amaliyotda o‘lim muddati ko‘proq qaysi ikki belgiga tayanib aniqlanadi? Muhokama: nega vaqt o‘tgan sari aniqlik pasayadi? Doskada chizish: aniqlik oralig‘i (soatlar → kunlar → oy-yillar) ko‘rinishidagi chiziq. Tipik xato: bitta usul natijasiga tayanib qat’iy xulosa chiqarish.</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4 daqiqa. Muhokama: nega termometriya kamida ikki marta o‘tkaziladi? Doskada: muddat-harorat juftliklari. Tipik xato: jadvalni aniq vaqt beradi deb o‘ylash; manbada bitta ishonchli usul yo‘qligi ta’kidlanadi.</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4 daqiqa. Muhokama: nega o‘lim turi jadval qiymatiga ta’sir qiladi? Doskada: ikki qator qiymatlar. Tipik xato: bitta jadvalni barcha o‘lim turlariga qo‘llash.</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4 daqiqa. Muhokama: nega ko‘p usul birga qo‘llanadi? Doskada: guruhlangan daraxt. Tipik xato: bitta laboratoriya ko‘rsatkichiga tayanib aniq soat aytish.</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Nima uchun harorat kamida ikki marta o‘lchanadi? 2) Nima uchun bitta usulga tayanib bo‘lmaydi (manbada ishonchli yagona usul yo‘qligi aytilgan)? Doskada: jadvaldagi ikki o‘lchovdan sovush tezligini hisoblang. Tipik xato: manbadagi ‘bir gradusda 0,9°S’ iborasi noaniq (OCR belgisi bor), shuning uchun 1,8°S ni 2 soatga bo‘lib, soatiga 0,9°S deb tushuntiring. Rektal harorat atrof-muhit bilan o‘limdan 30-31 soatdan so‘ng tenglashishini eslating.</a:t>
            </a:r>
          </a:p>
          <a:p/>
          <a:p>
            <a:r>
              <a:t>Tekshirish kerak (manbada noaniq):</a:t>
            </a:r>
          </a:p>
          <a:p>
            <a:r>
              <a:t>- Ikki soatda murda 1,8°S ga sovugan, ya’ni soatiga taxminan 0,9°S.</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 Muhokama: 1) Nima uchun laboratoriya natijalari qat’iy kuchga ega emas, ekspert ularni tanqidiy baholaydi? 2) Murda qarindoshlari tekshiruvda kimning ruxsati bilan qatnasha oladi? Doskada: 6 bosqichni zanjir shaklida chizing (5-6 bosqich birga ko‘rsatilgan). Tipik xato: sud-tibbiy ekspertiza (qaror yoki ajrim bilan, tilxat bilan) va patologo-anatomik tekshiruv (muassasa rahbari ko‘rsatmasi bilan) bir deb o‘ylanadi; diagnoz va to‘xtamni faqat ekspert imzolashini, bayon qismini esa hozir bo‘lganlar ham imzolashini ajrating.</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4 daqiqa. Muhokama: nega sud-tibbiy ekspertizada begona shaxslar faqat tayinlovchi ruxsati bilan qatnashadi? Doskada: ikki ustunli taqqoslash. Tipik xato: ikki autopsiyani bir xil deb hisoblash.</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4 daq. Muhokama: 1) Miya o‘limi va klinik o‘lim farqi nimada? 2) Nima uchun evtanaziyaning aktiv va passiv turlari jinoyat qonunchiligida turlicha baholanadi? Doskada: o‘lim bosqichlari (preagoniya, terminal pauza, agoniya, klinik, biologik o‘lim) ketma-ketligini eslab chizing. Tipik xato: bilvosita aktiv evtanaziyani qasddan o‘ldirish bilan, ortotanaziyani esa aktiv evtanaziya bilan adashtirish.</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40080" y="4069080"/>
            <a:ext cx="2743200" cy="73152"/>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737360"/>
            <a:ext cx="10911535" cy="2194560"/>
          </a:xfrm>
          <a:prstGeom prst="rect">
            <a:avLst/>
          </a:prstGeom>
          <a:noFill/>
        </p:spPr>
        <p:txBody>
          <a:bodyPr wrap="square" anchor="b">
            <a:spAutoFit/>
          </a:bodyPr>
          <a:lstStyle/>
          <a:p>
            <a:r>
              <a:rPr sz="4000" b="1">
                <a:solidFill>
                  <a:srgbClr val="FFFFFF"/>
                </a:solidFill>
                <a:latin typeface="Georgia"/>
              </a:rPr>
              <a:t>O’lim vaqtini aniqlash. Evtanaziya turlari. Murda a’zo va to’qimalarning transplantatsiya maqsadida qo’llanilishi.</a:t>
            </a:r>
          </a:p>
        </p:txBody>
      </p:sp>
      <p:sp>
        <p:nvSpPr>
          <p:cNvPr id="5" name="TextBox 4"/>
          <p:cNvSpPr txBox="1"/>
          <p:nvPr/>
        </p:nvSpPr>
        <p:spPr>
          <a:xfrm>
            <a:off x="640080" y="4343400"/>
            <a:ext cx="10911535" cy="548640"/>
          </a:xfrm>
          <a:prstGeom prst="rect">
            <a:avLst/>
          </a:prstGeom>
          <a:noFill/>
        </p:spPr>
        <p:txBody>
          <a:bodyPr wrap="square">
            <a:spAutoFit/>
          </a:bodyPr>
          <a:lstStyle/>
          <a:p>
            <a:r>
              <a:rPr sz="2000" b="0">
                <a:solidFill>
                  <a:srgbClr val="C9A227"/>
                </a:solidFill>
                <a:latin typeface="Calibri"/>
              </a:rPr>
              <a:t>Sud tibbiyoti · ma’ruza taqdimoti</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Kirish: mavzu va o‘quv maqsadlari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O’lim vaqtini aniqlash. Evtanaziya turlari. Murda a’zo va to’qimalarning transplantatsiya </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 / 43</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Hayot va o‘lim uzviy bog‘liq: o‘lim hayotning mantiqiy yakuni. O‘limsiz hayot bo‘lmagani kabi, hayotsiz o‘lim ham bo‘lmaydi.</a:t>
            </a:r>
          </a:p>
          <a:p>
            <a:pPr>
              <a:spcAft>
                <a:spcPts val="1200"/>
              </a:spcAft>
            </a:pPr>
            <a:r>
              <a:rPr sz="2200">
                <a:solidFill>
                  <a:srgbClr val="1F2937"/>
                </a:solidFill>
                <a:latin typeface="Calibri"/>
              </a:rPr>
              <a:t>▸  Birinchi yo‘nalish: o‘lim vaqtini aniqlash. U murda o‘zgarishlari, to‘qimalarning supravital reaksiyalari va laboratoriya tekshiruvlariga asoslanadi.</a:t>
            </a:r>
          </a:p>
          <a:p>
            <a:pPr>
              <a:spcAft>
                <a:spcPts val="1200"/>
              </a:spcAft>
            </a:pPr>
            <a:r>
              <a:rPr sz="2200">
                <a:solidFill>
                  <a:srgbClr val="1F2937"/>
                </a:solidFill>
                <a:latin typeface="Calibri"/>
              </a:rPr>
              <a:t>▸  Ikkinchi yo‘nalish: evtanaziya. Uning tub ma’nosi o‘limga mahkum bemorlarning azob-uqubatini yengillashtirish bo‘lib, to‘rt turi farqlanadi.</a:t>
            </a:r>
          </a:p>
          <a:p>
            <a:pPr>
              <a:spcAft>
                <a:spcPts val="1200"/>
              </a:spcAft>
            </a:pPr>
            <a:r>
              <a:rPr sz="2200">
                <a:solidFill>
                  <a:srgbClr val="1F2937"/>
                </a:solidFill>
                <a:latin typeface="Calibri"/>
              </a:rPr>
              <a:t>▸  Uchinchi yo‘nalish: transplantatsiya asosi. Bosh miya po‘stlog‘i o‘limi bilan boshqa a’zolar o‘limi orasida taxminan 20 soatlik oraliq davr bor.</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betlar: 217, 236, 218, 220</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Tanatologiya: tushuncha va bo‘limlari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O’lim vaqtini aniqlash. Evtanaziya turlari. Murda a’zo va to’qimalarning transplantatsiya </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 / 43</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000">
                <a:solidFill>
                  <a:srgbClr val="1F2937"/>
                </a:solidFill>
                <a:latin typeface="Calibri"/>
              </a:rPr>
              <a:t>▸  “Tanatologiya” atamasini tibbiyotga I.I.Mechnikov kiritgan. Grekcha thanatos — o‘lim xudosining nomi, logos — ta’limot; ya’ni o‘lim haqidagi ta’limot.</a:t>
            </a:r>
          </a:p>
          <a:p>
            <a:pPr>
              <a:spcAft>
                <a:spcPts val="1200"/>
              </a:spcAft>
            </a:pPr>
            <a:r>
              <a:rPr sz="2000">
                <a:solidFill>
                  <a:srgbClr val="1F2937"/>
                </a:solidFill>
                <a:latin typeface="Calibri"/>
              </a:rPr>
              <a:t>▸  Biologiyaning tarkibiy qismi sifatida o‘lish jarayonini, o‘lim faktini aniqlashni, o‘lim sabablarini, murda o‘zgarishlarini, dafn va konservatsiyani o‘rganadi.</a:t>
            </a:r>
          </a:p>
          <a:p>
            <a:pPr>
              <a:spcAft>
                <a:spcPts val="1200"/>
              </a:spcAft>
            </a:pPr>
            <a:r>
              <a:rPr sz="2000">
                <a:solidFill>
                  <a:srgbClr val="1F2937"/>
                </a:solidFill>
                <a:latin typeface="Calibri"/>
              </a:rPr>
              <a:t>▸  Umumiy tanatologiya masalalarning umumiy jihatlarini, xususiy tanatologiya esa ularni o‘limning muayyan turlari nuqtai nazaridan ko‘rib chiqadi.</a:t>
            </a:r>
          </a:p>
          <a:p>
            <a:pPr>
              <a:spcAft>
                <a:spcPts val="1200"/>
              </a:spcAft>
            </a:pPr>
            <a:r>
              <a:rPr sz="2000">
                <a:solidFill>
                  <a:srgbClr val="1F2937"/>
                </a:solidFill>
                <a:latin typeface="Calibri"/>
              </a:rPr>
              <a:t>▸  Sud-tibbiy tanatologiya shu masalalarni surishtiruv, tergov va sud idoralari faoliyatida vujudga keladigan savollarni hal etish maqsadida o‘rganadi.</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betlar: 217</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O‘lish jarayoni: terminal holatlar zanjiri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O’lim vaqtini aniqlash. Evtanaziya turlari. Murda a’zo va to’qimalarning transplantatsiya </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 / 43</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Agoniya — hayotga qaytish uchun so‘nggi urinish; oxirida avval nafas, keyin yurak urishi to‘xtaydi.</a:t>
            </a:r>
          </a:p>
          <a:p>
            <a:pPr>
              <a:spcAft>
                <a:spcPts val="800"/>
              </a:spcAft>
            </a:pPr>
            <a:r>
              <a:rPr sz="1800">
                <a:solidFill>
                  <a:srgbClr val="1F2937"/>
                </a:solidFill>
                <a:latin typeface="Calibri"/>
              </a:rPr>
              <a:t>▸  Klinik o‘lim odatda 5-6 daqiqa davom etadi; past haroratda 30 daqiqagacha cho‘zilishi mumkin.</a:t>
            </a:r>
          </a:p>
          <a:p>
            <a:pPr>
              <a:spcAft>
                <a:spcPts val="800"/>
              </a:spcAft>
            </a:pPr>
            <a:r>
              <a:rPr sz="1800">
                <a:solidFill>
                  <a:srgbClr val="1F2937"/>
                </a:solidFill>
                <a:latin typeface="Calibri"/>
              </a:rPr>
              <a:t>▸  Diqqat: klinik o‘lim ≠ biologik o‘lim — birinchisida faoliyatni tiklash mumkin, ikkinchisida yo‘q.</a:t>
            </a:r>
          </a:p>
        </p:txBody>
      </p:sp>
      <p:sp>
        <p:nvSpPr>
          <p:cNvPr id="9" name="Rounded Rectangle 8"/>
          <p:cNvSpPr/>
          <p:nvPr/>
        </p:nvSpPr>
        <p:spPr>
          <a:xfrm>
            <a:off x="6263640" y="1463040"/>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Preagoniya</a:t>
            </a:r>
          </a:p>
        </p:txBody>
      </p:sp>
      <p:sp>
        <p:nvSpPr>
          <p:cNvPr id="10" name="Down Arrow 9"/>
          <p:cNvSpPr/>
          <p:nvPr/>
        </p:nvSpPr>
        <p:spPr>
          <a:xfrm>
            <a:off x="8770467" y="2015337"/>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63640" y="2289657"/>
            <a:ext cx="5287975" cy="534009"/>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Terminal pauza</a:t>
            </a:r>
          </a:p>
        </p:txBody>
      </p:sp>
      <p:sp>
        <p:nvSpPr>
          <p:cNvPr id="12" name="Down Arrow 11"/>
          <p:cNvSpPr/>
          <p:nvPr/>
        </p:nvSpPr>
        <p:spPr>
          <a:xfrm>
            <a:off x="8770467" y="2841955"/>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263640" y="3116275"/>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Agoniya</a:t>
            </a:r>
          </a:p>
        </p:txBody>
      </p:sp>
      <p:sp>
        <p:nvSpPr>
          <p:cNvPr id="14" name="Down Arrow 13"/>
          <p:cNvSpPr/>
          <p:nvPr/>
        </p:nvSpPr>
        <p:spPr>
          <a:xfrm>
            <a:off x="8770467" y="3668572"/>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263640" y="3942892"/>
            <a:ext cx="5287975" cy="534009"/>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Klinik o‘lim</a:t>
            </a:r>
          </a:p>
        </p:txBody>
      </p:sp>
      <p:sp>
        <p:nvSpPr>
          <p:cNvPr id="16" name="Down Arrow 15"/>
          <p:cNvSpPr/>
          <p:nvPr/>
        </p:nvSpPr>
        <p:spPr>
          <a:xfrm>
            <a:off x="8770467" y="4495190"/>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263640" y="4769510"/>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Biologik o‘lim</a:t>
            </a:r>
          </a:p>
        </p:txBody>
      </p:sp>
      <p:sp>
        <p:nvSpPr>
          <p:cNvPr id="18" name="TextBox 17"/>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Terminal holatlar ketma-ketligi</a:t>
            </a:r>
          </a:p>
        </p:txBody>
      </p:sp>
      <p:sp>
        <p:nvSpPr>
          <p:cNvPr id="19" name="TextBox 1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betlar: 217, 218</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Preagoniya va terminal pauza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O’lim vaqtini aniqlash. Evtanaziya turlari. Murda a’zo va to’qimalarning transplantatsiya </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 / 43</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Preagoniyada markaziy nerv tizimi (MNT) oliy bo‘limlari tormozlanadi, qon aylanishi va nafas keskin buziladi. Hush xiralashadi yoki yo‘qoladi.</a:t>
            </a:r>
          </a:p>
          <a:p>
            <a:pPr>
              <a:spcAft>
                <a:spcPts val="1200"/>
              </a:spcAft>
            </a:pPr>
            <a:r>
              <a:rPr sz="2200">
                <a:solidFill>
                  <a:srgbClr val="1F2937"/>
                </a:solidFill>
                <a:latin typeface="Calibri"/>
              </a:rPr>
              <a:t>▸  To‘qimalarda atsidoz va gipoksiya rivojlanadi, bosim tushadi. Puls faqat uyqu va son arteriyalarida topiladi; teri oqaradi, hansirash bo‘ladi.</a:t>
            </a:r>
          </a:p>
          <a:p>
            <a:pPr>
              <a:spcAft>
                <a:spcPts val="1200"/>
              </a:spcAft>
            </a:pPr>
            <a:r>
              <a:rPr sz="2200">
                <a:solidFill>
                  <a:srgbClr val="1F2937"/>
                </a:solidFill>
                <a:latin typeface="Calibri"/>
              </a:rPr>
              <a:t>▸  Preagoniya bir necha daqiqadan bir necha kungacha davom etishi mumkin.</a:t>
            </a:r>
          </a:p>
          <a:p>
            <a:pPr>
              <a:spcAft>
                <a:spcPts val="1200"/>
              </a:spcAft>
            </a:pPr>
            <a:r>
              <a:rPr sz="2200">
                <a:solidFill>
                  <a:srgbClr val="1F2937"/>
                </a:solidFill>
                <a:latin typeface="Calibri"/>
              </a:rPr>
              <a:t>▸  Terminal pauzada nafas to‘satdan to‘xtaydi, yurak faoliyati keskin buziladi, qorachiq kengayib nurga javob bermaydi; bir necha soniyadan 3-4 daqiqagacha.</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betlar: 217</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Agoniya va facies hippocratica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O’lim vaqtini aniqlash. Evtanaziya turlari. Murda a’zo va to’qimalarning transplantatsiya </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 / 43</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Agoniya bir necha daqiqadan bir necha kungacha davom etadi. Uning oxirida avval nafas, keyin yurak urishi to‘xtaydi.</a:t>
            </a:r>
          </a:p>
          <a:p>
            <a:pPr>
              <a:spcAft>
                <a:spcPts val="1200"/>
              </a:spcAft>
            </a:pPr>
            <a:r>
              <a:rPr sz="2200">
                <a:solidFill>
                  <a:srgbClr val="1F2937"/>
                </a:solidFill>
                <a:latin typeface="Calibri"/>
              </a:rPr>
              <a:t>▸  Bosh miya oliy markazlari tormozlanib, nazorat yo‘qoladi. Ularning vazifasini miyaning pastda joylashgan nomukammal markazlari o‘z zimmasiga oladi.</a:t>
            </a:r>
          </a:p>
          <a:p>
            <a:pPr>
              <a:spcAft>
                <a:spcPts val="1200"/>
              </a:spcAft>
            </a:pPr>
            <a:r>
              <a:rPr sz="2200">
                <a:solidFill>
                  <a:srgbClr val="1F2937"/>
                </a:solidFill>
                <a:latin typeface="Calibri"/>
              </a:rPr>
              <a:t>▸  Nafas tiklanadi, bosim biroz (ba’zan subnormalgacha) ko‘tariladi, puls aniqlana boshlaydi. Bu hayotga qaytish uchun so‘nggi urinish deb qaraladi.</a:t>
            </a:r>
          </a:p>
          <a:p>
            <a:pPr>
              <a:spcAft>
                <a:spcPts val="1200"/>
              </a:spcAft>
            </a:pPr>
            <a:r>
              <a:rPr sz="2200">
                <a:solidFill>
                  <a:srgbClr val="1F2937"/>
                </a:solidFill>
                <a:latin typeface="Calibri"/>
              </a:rPr>
              <a:t>▸  Facies hippocratica: yuz oqarib tuproqsimon tus oladi, ko‘z olmalari chuqurlashadi, pastki jag‘ osilib og‘iz ochilib qoladi.</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betlar: 217, 218</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Klinik o‘lim va biologik o‘lim</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O’lim vaqtini aniqlash. Evtanaziya turlari. Murda a’zo va to’qimalarning transplantatsiya </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7 / 43</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Klinik o‘lim yurak urishi to‘xtagach boshlanadi, odatda 5-6 daqiqagacha davom etadi.</a:t>
            </a:r>
          </a:p>
          <a:p>
            <a:pPr>
              <a:spcAft>
                <a:spcPts val="800"/>
              </a:spcAft>
            </a:pPr>
            <a:r>
              <a:rPr sz="1800">
                <a:solidFill>
                  <a:srgbClr val="1F2937"/>
                </a:solidFill>
                <a:latin typeface="Calibri"/>
              </a:rPr>
              <a:t>▸  Past haroratda u 30 daqiqagacha cho‘zilishi mumkin; kasallik, yosh va salomatlik ham ta’sir qiladi.</a:t>
            </a:r>
          </a:p>
          <a:p>
            <a:pPr>
              <a:spcAft>
                <a:spcPts val="800"/>
              </a:spcAft>
            </a:pPr>
            <a:r>
              <a:rPr sz="1800">
                <a:solidFill>
                  <a:srgbClr val="1F2937"/>
                </a:solidFill>
                <a:latin typeface="Calibri"/>
              </a:rPr>
              <a:t>▸  Qaytarish mumkinligi reanimatologiyaga asos bo‘ldi; biologik o‘limda miyada qaytmas o‘zgarish bo‘ladi.</a:t>
            </a:r>
          </a:p>
        </p:txBody>
      </p:sp>
      <p:sp>
        <p:nvSpPr>
          <p:cNvPr id="9" name="Rounded Rectangle 8"/>
          <p:cNvSpPr/>
          <p:nvPr/>
        </p:nvSpPr>
        <p:spPr>
          <a:xfrm>
            <a:off x="6263640" y="1463040"/>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Agoniya</a:t>
            </a:r>
          </a:p>
        </p:txBody>
      </p:sp>
      <p:sp>
        <p:nvSpPr>
          <p:cNvPr id="10" name="Down Arrow 9"/>
          <p:cNvSpPr/>
          <p:nvPr/>
        </p:nvSpPr>
        <p:spPr>
          <a:xfrm>
            <a:off x="8770467" y="2015337"/>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63640" y="2289657"/>
            <a:ext cx="5287975" cy="534009"/>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Yurak urishi to‘xtaydi</a:t>
            </a:r>
          </a:p>
        </p:txBody>
      </p:sp>
      <p:sp>
        <p:nvSpPr>
          <p:cNvPr id="12" name="Down Arrow 11"/>
          <p:cNvSpPr/>
          <p:nvPr/>
        </p:nvSpPr>
        <p:spPr>
          <a:xfrm>
            <a:off x="8770467" y="2841955"/>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263640" y="3116275"/>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Klinik o‘lim (5-6 daq)</a:t>
            </a:r>
          </a:p>
        </p:txBody>
      </p:sp>
      <p:sp>
        <p:nvSpPr>
          <p:cNvPr id="14" name="Down Arrow 13"/>
          <p:cNvSpPr/>
          <p:nvPr/>
        </p:nvSpPr>
        <p:spPr>
          <a:xfrm>
            <a:off x="8770467" y="3668572"/>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263640" y="3942892"/>
            <a:ext cx="5287975" cy="534009"/>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Po‘stloqda qaytmas o‘zgarish</a:t>
            </a:r>
          </a:p>
        </p:txBody>
      </p:sp>
      <p:sp>
        <p:nvSpPr>
          <p:cNvPr id="16" name="Down Arrow 15"/>
          <p:cNvSpPr/>
          <p:nvPr/>
        </p:nvSpPr>
        <p:spPr>
          <a:xfrm>
            <a:off x="8770467" y="4495190"/>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263640" y="4769510"/>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Biologik o‘lim</a:t>
            </a:r>
          </a:p>
        </p:txBody>
      </p:sp>
      <p:sp>
        <p:nvSpPr>
          <p:cNvPr id="18" name="TextBox 17"/>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O‘lish bosqichlari zanjiri</a:t>
            </a:r>
          </a:p>
        </p:txBody>
      </p:sp>
      <p:sp>
        <p:nvSpPr>
          <p:cNvPr id="19" name="TextBox 1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betlar: 218</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Tez va sekin o‘lim; agoniyaning to‘rt tipi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O’lim vaqtini aniqlash. Evtanaziya turlari. Murda a’zo va to’qimalarning transplantatsiya </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8 / 43</a:t>
            </a:r>
          </a:p>
        </p:txBody>
      </p:sp>
      <p:sp>
        <p:nvSpPr>
          <p:cNvPr id="8" name="TextBox 7"/>
          <p:cNvSpPr txBox="1"/>
          <p:nvPr/>
        </p:nvSpPr>
        <p:spPr>
          <a:xfrm>
            <a:off x="640080" y="1417320"/>
            <a:ext cx="4572000" cy="4480560"/>
          </a:xfrm>
          <a:prstGeom prst="rect">
            <a:avLst/>
          </a:prstGeom>
          <a:noFill/>
        </p:spPr>
        <p:txBody>
          <a:bodyPr wrap="square">
            <a:spAutoFit/>
          </a:bodyPr>
          <a:lstStyle/>
          <a:p>
            <a:pPr>
              <a:spcAft>
                <a:spcPts val="800"/>
              </a:spcAft>
            </a:pPr>
            <a:r>
              <a:rPr sz="1800">
                <a:solidFill>
                  <a:srgbClr val="1F2937"/>
                </a:solidFill>
                <a:latin typeface="Calibri"/>
              </a:rPr>
              <a:t>▸  Tez o‘lim: elektrotravma, mexanik asfiksiya, anafilaktik shok. Sekin o‘lim: turli kasalliklar bilan bog‘liq holatlar.</a:t>
            </a:r>
          </a:p>
          <a:p>
            <a:pPr>
              <a:spcAft>
                <a:spcPts val="800"/>
              </a:spcAft>
            </a:pPr>
            <a:r>
              <a:rPr sz="1800">
                <a:solidFill>
                  <a:srgbClr val="1F2937"/>
                </a:solidFill>
                <a:latin typeface="Calibri"/>
              </a:rPr>
              <a:t>▸  W. Lawes va S. Berg (1965) agoniyani davomiyligi bo‘yicha to‘rt tipga ajratgan.</a:t>
            </a:r>
          </a:p>
          <a:p>
            <a:pPr>
              <a:spcAft>
                <a:spcPts val="800"/>
              </a:spcAft>
            </a:pPr>
            <a:r>
              <a:rPr sz="1800">
                <a:solidFill>
                  <a:srgbClr val="1F2937"/>
                </a:solidFill>
                <a:latin typeface="Calibri"/>
              </a:rPr>
              <a:t>▸  Diqqat: agoniyasiz o‘lim ≠ qisqa agoniyali o‘lim (agoniya 4-5 daqiqa).</a:t>
            </a:r>
          </a:p>
        </p:txBody>
      </p:sp>
      <p:sp>
        <p:nvSpPr>
          <p:cNvPr id="9" name="Rounded Rectangle 8"/>
          <p:cNvSpPr/>
          <p:nvPr/>
        </p:nvSpPr>
        <p:spPr>
          <a:xfrm>
            <a:off x="5440680" y="2788920"/>
            <a:ext cx="2011680" cy="1280160"/>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spcAft>
                <a:spcPts val="200"/>
              </a:spcAft>
            </a:pPr>
            <a:r>
              <a:rPr sz="1800" b="1">
                <a:solidFill>
                  <a:srgbClr val="FFFFFF"/>
                </a:solidFill>
                <a:latin typeface="Calibri"/>
              </a:rPr>
              <a:t>Agoniya tiplari</a:t>
            </a:r>
          </a:p>
        </p:txBody>
      </p:sp>
      <p:cxnSp>
        <p:nvCxnSpPr>
          <p:cNvPr id="10" name="Connector 9"/>
          <p:cNvCxnSpPr/>
          <p:nvPr/>
        </p:nvCxnSpPr>
        <p:spPr>
          <a:xfrm>
            <a:off x="7452360" y="3429000"/>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612380" y="1892808"/>
            <a:ext cx="0" cy="3072384"/>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7612380" y="1892808"/>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7772400" y="1417320"/>
            <a:ext cx="3779215" cy="950976"/>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0" y="1417320"/>
            <a:ext cx="3779215" cy="950976"/>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Agoniyasiz</a:t>
            </a:r>
          </a:p>
          <a:p>
            <a:pPr algn="l">
              <a:spcAft>
                <a:spcPts val="0"/>
              </a:spcAft>
            </a:pPr>
            <a:r>
              <a:rPr sz="1200" b="0">
                <a:solidFill>
                  <a:srgbClr val="1F2937"/>
                </a:solidFill>
                <a:latin typeface="Calibri"/>
              </a:rPr>
              <a:t>Bir zumda  ·  Tananing parchalanishi</a:t>
            </a:r>
          </a:p>
        </p:txBody>
      </p:sp>
      <p:cxnSp>
        <p:nvCxnSpPr>
          <p:cNvPr id="15" name="Connector 14"/>
          <p:cNvCxnSpPr/>
          <p:nvPr/>
        </p:nvCxnSpPr>
        <p:spPr>
          <a:xfrm>
            <a:off x="7612380" y="2916936"/>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7772400" y="2441448"/>
            <a:ext cx="3779215" cy="950976"/>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0" y="2441448"/>
            <a:ext cx="3779215" cy="950976"/>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Qisqa agoniyali</a:t>
            </a:r>
          </a:p>
          <a:p>
            <a:pPr algn="l">
              <a:spcAft>
                <a:spcPts val="0"/>
              </a:spcAft>
            </a:pPr>
            <a:r>
              <a:rPr sz="1200" b="0">
                <a:solidFill>
                  <a:srgbClr val="1F2937"/>
                </a:solidFill>
                <a:latin typeface="Calibri"/>
              </a:rPr>
              <a:t>4-5 daqiqa  ·  Asfiksiya, elektrotravma</a:t>
            </a:r>
          </a:p>
        </p:txBody>
      </p:sp>
      <p:cxnSp>
        <p:nvCxnSpPr>
          <p:cNvPr id="18" name="Connector 17"/>
          <p:cNvCxnSpPr/>
          <p:nvPr/>
        </p:nvCxnSpPr>
        <p:spPr>
          <a:xfrm>
            <a:off x="7612380" y="3941064"/>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7772400" y="3465576"/>
            <a:ext cx="3779215" cy="950976"/>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72400" y="3465576"/>
            <a:ext cx="3779215" cy="950976"/>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Uzoq agoniyali</a:t>
            </a:r>
          </a:p>
          <a:p>
            <a:pPr algn="l">
              <a:spcAft>
                <a:spcPts val="0"/>
              </a:spcAft>
            </a:pPr>
            <a:r>
              <a:rPr sz="1200" b="0">
                <a:solidFill>
                  <a:srgbClr val="1F2937"/>
                </a:solidFill>
                <a:latin typeface="Calibri"/>
              </a:rPr>
              <a:t>Bir necha soat, kun  ·  Kasallik yoki shikastlanish</a:t>
            </a:r>
          </a:p>
        </p:txBody>
      </p:sp>
      <p:cxnSp>
        <p:nvCxnSpPr>
          <p:cNvPr id="21" name="Connector 20"/>
          <p:cNvCxnSpPr/>
          <p:nvPr/>
        </p:nvCxnSpPr>
        <p:spPr>
          <a:xfrm>
            <a:off x="7612380" y="4965192"/>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7772400" y="4489704"/>
            <a:ext cx="3779215" cy="950976"/>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772400" y="4489704"/>
            <a:ext cx="3779215" cy="950976"/>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Sun’iy uzaytirilgan</a:t>
            </a:r>
          </a:p>
          <a:p>
            <a:pPr algn="l">
              <a:spcAft>
                <a:spcPts val="0"/>
              </a:spcAft>
            </a:pPr>
            <a:r>
              <a:rPr sz="1200" b="0">
                <a:solidFill>
                  <a:srgbClr val="1F2937"/>
                </a:solidFill>
                <a:latin typeface="Calibri"/>
              </a:rPr>
              <a:t>Hafta, oy, yillar  ·  Tibbiy muolajalar yordamida</a:t>
            </a:r>
          </a:p>
        </p:txBody>
      </p:sp>
      <p:sp>
        <p:nvSpPr>
          <p:cNvPr id="24" name="TextBox 23"/>
          <p:cNvSpPr txBox="1"/>
          <p:nvPr/>
        </p:nvSpPr>
        <p:spPr>
          <a:xfrm>
            <a:off x="5440680" y="5486400"/>
            <a:ext cx="6110935" cy="365760"/>
          </a:xfrm>
          <a:prstGeom prst="rect">
            <a:avLst/>
          </a:prstGeom>
          <a:noFill/>
        </p:spPr>
        <p:txBody>
          <a:bodyPr wrap="square">
            <a:spAutoFit/>
          </a:bodyPr>
          <a:lstStyle/>
          <a:p>
            <a:r>
              <a:rPr sz="1200" b="0">
                <a:solidFill>
                  <a:srgbClr val="6B7280"/>
                </a:solidFill>
                <a:latin typeface="Calibri"/>
              </a:rPr>
              <a:t>Lawes va Berg (1965) tiplari</a:t>
            </a:r>
          </a:p>
        </p:txBody>
      </p:sp>
      <p:sp>
        <p:nvSpPr>
          <p:cNvPr id="25" name="TextBox 24"/>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betlar: 218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Tezkor savol: terminal holatlar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O’lim vaqtini aniqlash. Evtanaziya turlari. Murda a’zo va to’qimalarning transplantatsiya </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9 / 43</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1-savol: preagoniya qancha davom etadi? Javob: bir necha daqiqadan bir necha kungacha.</a:t>
            </a:r>
          </a:p>
          <a:p>
            <a:pPr>
              <a:spcAft>
                <a:spcPts val="1200"/>
              </a:spcAft>
            </a:pPr>
            <a:r>
              <a:rPr sz="2200">
                <a:solidFill>
                  <a:srgbClr val="1F2937"/>
                </a:solidFill>
                <a:latin typeface="Calibri"/>
              </a:rPr>
              <a:t>▸  2-savol: terminal pauzada nima to‘xtaydi va u qancha davom etadi? Javob: nafas to‘satdan to‘xtaydi; bir necha soniyadan 3-4 daqiqagacha.</a:t>
            </a:r>
          </a:p>
          <a:p>
            <a:pPr>
              <a:spcAft>
                <a:spcPts val="1200"/>
              </a:spcAft>
            </a:pPr>
            <a:r>
              <a:rPr sz="2200">
                <a:solidFill>
                  <a:srgbClr val="1F2937"/>
                </a:solidFill>
                <a:latin typeface="Calibri"/>
              </a:rPr>
              <a:t>▸  3-savol: klinik o‘lim qachon boshlanadi va odatda necha daqiqa davom etadi? Javob: yurak to‘xtagach; 5-6 daqiqagacha.</a:t>
            </a:r>
          </a:p>
          <a:p>
            <a:pPr>
              <a:spcAft>
                <a:spcPts val="1200"/>
              </a:spcAft>
            </a:pPr>
            <a:r>
              <a:rPr sz="2200">
                <a:solidFill>
                  <a:srgbClr val="1F2937"/>
                </a:solidFill>
                <a:latin typeface="Calibri"/>
              </a:rPr>
              <a:t>▸  4-savol: past haroratda klinik o‘lim qancha cho‘zilishi mumkin? Javob: 30 daqiqagacha.</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betlar: 217, 218</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Voqea tahlili: terminal holat bosqichini aniqlash</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O’lim vaqtini aniqlash. Evtanaziya turlari. Murda a’zo va to’qimalarning transplantatsiya </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10 / 43</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Vaziyat: bemorda nafas to‘satdan to‘xtagan, yurak faoliyati keskin buzilgan, qorachiqlar kengaygan va nurga reaksiya bermaydi.</a:t>
            </a:r>
          </a:p>
          <a:p>
            <a:pPr>
              <a:spcAft>
                <a:spcPts val="1200"/>
              </a:spcAft>
            </a:pPr>
            <a:r>
              <a:rPr sz="2200">
                <a:solidFill>
                  <a:srgbClr val="1F2937"/>
                </a:solidFill>
                <a:latin typeface="Calibri"/>
              </a:rPr>
              <a:t>▸  Savol: bu qaysi bosqich? Javob: terminal pauza; u bir necha soniyadan 3-4 daqiqagacha davom etadi.</a:t>
            </a:r>
          </a:p>
          <a:p>
            <a:pPr>
              <a:spcAft>
                <a:spcPts val="1200"/>
              </a:spcAft>
            </a:pPr>
            <a:r>
              <a:rPr sz="2200">
                <a:solidFill>
                  <a:srgbClr val="1F2937"/>
                </a:solidFill>
                <a:latin typeface="Calibri"/>
              </a:rPr>
              <a:t>▸  Keyingi bosqich agoniya: nafas tiklanadi, bosim biroz ko‘tariladi, puls aniqlanadi. Bu hayotga qaytish uchun so‘nggi urinish.</a:t>
            </a:r>
          </a:p>
          <a:p>
            <a:pPr>
              <a:spcAft>
                <a:spcPts val="1200"/>
              </a:spcAft>
            </a:pPr>
            <a:r>
              <a:rPr sz="2200">
                <a:solidFill>
                  <a:srgbClr val="1F2937"/>
                </a:solidFill>
                <a:latin typeface="Calibri"/>
              </a:rPr>
              <a:t>▸  Savol: yurak to‘xtagach hayotga qaytarish mumkinmi? Klinik o‘limda mumkin, odatda 5-6 daqiqagacha, chunki keyin po‘stloqda o‘zgarishlar qaytmaydi.</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betlar: 217, 218</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Evtanaziya: atama va mohiyati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O’lim vaqtini aniqlash. Evtanaziya turlari. Murda a’zo va to’qimalarning transplantatsiya </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11 / 43</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Evtanaziya atamasini XVI asrda ingliz faylasufi F.Bekon kiritgan.</a:t>
            </a:r>
          </a:p>
          <a:p>
            <a:pPr>
              <a:spcAft>
                <a:spcPts val="1200"/>
              </a:spcAft>
            </a:pPr>
            <a:r>
              <a:rPr sz="2200">
                <a:solidFill>
                  <a:srgbClr val="1F2937"/>
                </a:solidFill>
                <a:latin typeface="Calibri"/>
              </a:rPr>
              <a:t>▸  Grek tilida eu — yaxshi, thanatos — o‘lim. Atama “yaxshi o‘lim” degan ma’noni beradi.</a:t>
            </a:r>
          </a:p>
          <a:p>
            <a:pPr>
              <a:spcAft>
                <a:spcPts val="1200"/>
              </a:spcAft>
            </a:pPr>
            <a:r>
              <a:rPr sz="2200">
                <a:solidFill>
                  <a:srgbClr val="1F2937"/>
                </a:solidFill>
                <a:latin typeface="Calibri"/>
              </a:rPr>
              <a:t>▸  Evtanaziyaning tub ma’nosi — o‘limga mahkum bemorlarning azob-uqubatlarini yengillashtirish.</a:t>
            </a:r>
          </a:p>
          <a:p>
            <a:pPr>
              <a:spcAft>
                <a:spcPts val="1200"/>
              </a:spcAft>
            </a:pPr>
            <a:r>
              <a:rPr sz="2200">
                <a:solidFill>
                  <a:srgbClr val="1F2937"/>
                </a:solidFill>
                <a:latin typeface="Calibri"/>
              </a:rPr>
              <a:t>▸  Ko‘pchilik bu tushunchani tor ma’noda tushunadi va unga faqat aktiv hamda passiv evtanaziyani kiritadi.</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betlar: 218, 219</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Evtanaziyaning to‘rt turi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O’lim vaqtini aniqlash. Evtanaziya turlari. Murda a’zo va to’qimalarning transplantatsiya </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12 / 43</a:t>
            </a:r>
          </a:p>
        </p:txBody>
      </p:sp>
      <p:sp>
        <p:nvSpPr>
          <p:cNvPr id="8" name="TextBox 7"/>
          <p:cNvSpPr txBox="1"/>
          <p:nvPr/>
        </p:nvSpPr>
        <p:spPr>
          <a:xfrm>
            <a:off x="640080" y="1417320"/>
            <a:ext cx="4572000" cy="4480560"/>
          </a:xfrm>
          <a:prstGeom prst="rect">
            <a:avLst/>
          </a:prstGeom>
          <a:noFill/>
        </p:spPr>
        <p:txBody>
          <a:bodyPr wrap="square">
            <a:spAutoFit/>
          </a:bodyPr>
          <a:lstStyle/>
          <a:p>
            <a:pPr>
              <a:spcAft>
                <a:spcPts val="800"/>
              </a:spcAft>
            </a:pPr>
            <a:r>
              <a:rPr sz="1800">
                <a:solidFill>
                  <a:srgbClr val="1F2937"/>
                </a:solidFill>
                <a:latin typeface="Calibri"/>
              </a:rPr>
              <a:t>▸  Evtanaziyaning to‘rt turi farqlanadi: aktiv, passiv, medikotanaziya va distanaziya.</a:t>
            </a:r>
          </a:p>
          <a:p>
            <a:pPr>
              <a:spcAft>
                <a:spcPts val="800"/>
              </a:spcAft>
            </a:pPr>
            <a:r>
              <a:rPr sz="1800">
                <a:solidFill>
                  <a:srgbClr val="1F2937"/>
                </a:solidFill>
                <a:latin typeface="Calibri"/>
              </a:rPr>
              <a:t>▸  Passiv evtanaziya jinoyat qonunchiligida xizmat vazifasini lozim darajada bajarmaslik sifatida baholanadi.</a:t>
            </a:r>
          </a:p>
          <a:p>
            <a:pPr>
              <a:spcAft>
                <a:spcPts val="800"/>
              </a:spcAft>
            </a:pPr>
            <a:r>
              <a:rPr sz="1800">
                <a:solidFill>
                  <a:srgbClr val="1F2937"/>
                </a:solidFill>
                <a:latin typeface="Calibri"/>
              </a:rPr>
              <a:t>▸  Diqqat: ortotanaziya (passiv evtanaziya) ≠ distanaziya (hayotni maksimal uzaytirish).</a:t>
            </a:r>
          </a:p>
        </p:txBody>
      </p:sp>
      <p:sp>
        <p:nvSpPr>
          <p:cNvPr id="9" name="Rounded Rectangle 8"/>
          <p:cNvSpPr/>
          <p:nvPr/>
        </p:nvSpPr>
        <p:spPr>
          <a:xfrm>
            <a:off x="5440680" y="2788920"/>
            <a:ext cx="2011680" cy="1280160"/>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spcAft>
                <a:spcPts val="200"/>
              </a:spcAft>
            </a:pPr>
            <a:r>
              <a:rPr sz="1800" b="1">
                <a:solidFill>
                  <a:srgbClr val="FFFFFF"/>
                </a:solidFill>
                <a:latin typeface="Calibri"/>
              </a:rPr>
              <a:t>Evtanaziya turlari</a:t>
            </a:r>
          </a:p>
        </p:txBody>
      </p:sp>
      <p:cxnSp>
        <p:nvCxnSpPr>
          <p:cNvPr id="10" name="Connector 9"/>
          <p:cNvCxnSpPr/>
          <p:nvPr/>
        </p:nvCxnSpPr>
        <p:spPr>
          <a:xfrm>
            <a:off x="7452360" y="3429000"/>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612380" y="1892808"/>
            <a:ext cx="0" cy="3072384"/>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7612380" y="1892808"/>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7772400" y="1417320"/>
            <a:ext cx="3779215" cy="950976"/>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0" y="1417320"/>
            <a:ext cx="3779215" cy="950976"/>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Aktiv</a:t>
            </a:r>
          </a:p>
          <a:p>
            <a:pPr algn="l">
              <a:spcAft>
                <a:spcPts val="0"/>
              </a:spcAft>
            </a:pPr>
            <a:r>
              <a:rPr sz="1200" b="0">
                <a:solidFill>
                  <a:srgbClr val="1F2937"/>
                </a:solidFill>
                <a:latin typeface="Calibri"/>
              </a:rPr>
              <a:t>Harakat bilan o‘limni tezlashtirish  ·  Bevosita va bilvosita turlari</a:t>
            </a:r>
          </a:p>
        </p:txBody>
      </p:sp>
      <p:cxnSp>
        <p:nvCxnSpPr>
          <p:cNvPr id="15" name="Connector 14"/>
          <p:cNvCxnSpPr/>
          <p:nvPr/>
        </p:nvCxnSpPr>
        <p:spPr>
          <a:xfrm>
            <a:off x="7612380" y="2916936"/>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7772400" y="2441448"/>
            <a:ext cx="3779215" cy="950976"/>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0" y="2441448"/>
            <a:ext cx="3779215" cy="950976"/>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Passiv (ortotanaziya)</a:t>
            </a:r>
          </a:p>
          <a:p>
            <a:pPr algn="l">
              <a:spcAft>
                <a:spcPts val="0"/>
              </a:spcAft>
            </a:pPr>
            <a:r>
              <a:rPr sz="1200" b="0">
                <a:solidFill>
                  <a:srgbClr val="1F2937"/>
                </a:solidFill>
                <a:latin typeface="Calibri"/>
              </a:rPr>
              <a:t>Tibbiy yordamni cheklash yoki to‘xtatish</a:t>
            </a:r>
          </a:p>
        </p:txBody>
      </p:sp>
      <p:cxnSp>
        <p:nvCxnSpPr>
          <p:cNvPr id="18" name="Connector 17"/>
          <p:cNvCxnSpPr/>
          <p:nvPr/>
        </p:nvCxnSpPr>
        <p:spPr>
          <a:xfrm>
            <a:off x="7612380" y="3941064"/>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7772400" y="3465576"/>
            <a:ext cx="3779215" cy="950976"/>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72400" y="3465576"/>
            <a:ext cx="3779215" cy="950976"/>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Medikotanaziya</a:t>
            </a:r>
          </a:p>
          <a:p>
            <a:pPr algn="l">
              <a:spcAft>
                <a:spcPts val="0"/>
              </a:spcAft>
            </a:pPr>
            <a:r>
              <a:rPr sz="1200" b="0">
                <a:solidFill>
                  <a:srgbClr val="1F2937"/>
                </a:solidFill>
                <a:latin typeface="Calibri"/>
              </a:rPr>
              <a:t>Dori bilan azobni yengillashtirish  ·  Maqsad — hayot sifati</a:t>
            </a:r>
          </a:p>
        </p:txBody>
      </p:sp>
      <p:cxnSp>
        <p:nvCxnSpPr>
          <p:cNvPr id="21" name="Connector 20"/>
          <p:cNvCxnSpPr/>
          <p:nvPr/>
        </p:nvCxnSpPr>
        <p:spPr>
          <a:xfrm>
            <a:off x="7612380" y="4965192"/>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7772400" y="4489704"/>
            <a:ext cx="3779215" cy="950976"/>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772400" y="4489704"/>
            <a:ext cx="3779215" cy="950976"/>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Distanaziya</a:t>
            </a:r>
          </a:p>
          <a:p>
            <a:pPr algn="l">
              <a:spcAft>
                <a:spcPts val="0"/>
              </a:spcAft>
            </a:pPr>
            <a:r>
              <a:rPr sz="1200" b="0">
                <a:solidFill>
                  <a:srgbClr val="1F2937"/>
                </a:solidFill>
                <a:latin typeface="Calibri"/>
              </a:rPr>
              <a:t>Hayotni maksimal uzaytirish  ·  Palliativ va radikal muolajalar</a:t>
            </a:r>
          </a:p>
        </p:txBody>
      </p:sp>
      <p:sp>
        <p:nvSpPr>
          <p:cNvPr id="24" name="TextBox 23"/>
          <p:cNvSpPr txBox="1"/>
          <p:nvPr/>
        </p:nvSpPr>
        <p:spPr>
          <a:xfrm>
            <a:off x="5440680" y="5486400"/>
            <a:ext cx="6110935" cy="365760"/>
          </a:xfrm>
          <a:prstGeom prst="rect">
            <a:avLst/>
          </a:prstGeom>
          <a:noFill/>
        </p:spPr>
        <p:txBody>
          <a:bodyPr wrap="square">
            <a:spAutoFit/>
          </a:bodyPr>
          <a:lstStyle/>
          <a:p>
            <a:r>
              <a:rPr sz="1200" b="0">
                <a:solidFill>
                  <a:srgbClr val="6B7280"/>
                </a:solidFill>
                <a:latin typeface="Calibri"/>
              </a:rPr>
              <a:t>To‘rt tur</a:t>
            </a:r>
          </a:p>
        </p:txBody>
      </p:sp>
      <p:sp>
        <p:nvSpPr>
          <p:cNvPr id="25" name="TextBox 24"/>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betlar: 218, 219</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Aktiv evtanaziya: bevosita va bilvosita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O’lim vaqtini aniqlash. Evtanaziya turlari. Murda a’zo va to’qimalarning transplantatsiya </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13 / 43</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Aktiv evtanaziya — ma’lum bir harakat orqali o‘limni tezlashtirish.</a:t>
            </a:r>
          </a:p>
          <a:p>
            <a:pPr>
              <a:spcAft>
                <a:spcPts val="800"/>
              </a:spcAft>
            </a:pPr>
            <a:r>
              <a:rPr sz="1800">
                <a:solidFill>
                  <a:srgbClr val="1F2937"/>
                </a:solidFill>
                <a:latin typeface="Calibri"/>
              </a:rPr>
              <a:t>▸  Farq maqsadda: bevosita turda o‘limni tezlashtirish niyati bor, bilvosita turda bunday maqsad yo‘q.</a:t>
            </a:r>
          </a:p>
          <a:p>
            <a:pPr>
              <a:spcAft>
                <a:spcPts val="800"/>
              </a:spcAft>
            </a:pPr>
            <a:r>
              <a:rPr sz="1800">
                <a:solidFill>
                  <a:srgbClr val="1F2937"/>
                </a:solidFill>
                <a:latin typeface="Calibri"/>
              </a:rPr>
              <a:t>▸  Misol: og‘riqni kamaytirish uchun preparat katta dozada vrach tomonidan yuboriladi yoki bemor qabul qiladi.</a:t>
            </a:r>
          </a:p>
        </p:txBody>
      </p:sp>
      <p:graphicFrame>
        <p:nvGraphicFramePr>
          <p:cNvPr id="9" name="Table 8"/>
          <p:cNvGraphicFramePr>
            <a:graphicFrameLocks noGrp="1"/>
          </p:cNvGraphicFramePr>
          <p:nvPr/>
        </p:nvGraphicFramePr>
        <p:xfrm>
          <a:off x="6263640" y="1463040"/>
          <a:ext cx="5287973" cy="3072384"/>
        </p:xfrm>
        <a:graphic>
          <a:graphicData uri="http://schemas.openxmlformats.org/drawingml/2006/table">
            <a:tbl>
              <a:tblPr firstRow="1" bandRow="1">
                <a:tableStyleId>{5C22544A-7EE6-4342-B048-85BDC9FD1C3A}</a:tableStyleId>
              </a:tblPr>
              <a:tblGrid>
                <a:gridCol w="1019368"/>
                <a:gridCol w="2166158"/>
                <a:gridCol w="2102447"/>
              </a:tblGrid>
              <a:tr h="768096">
                <a:tc>
                  <a:txBody>
                    <a:bodyPr/>
                    <a:lstStyle/>
                    <a:p>
                      <a:r>
                        <a:rPr sz="1600" b="1">
                          <a:solidFill>
                            <a:srgbClr val="FFFFFF"/>
                          </a:solidFill>
                        </a:rPr>
                        <a:t>Belgi</a:t>
                      </a:r>
                    </a:p>
                  </a:txBody>
                  <a:tcPr marL="73152" marR="73152" marT="36576" marB="36576">
                    <a:solidFill>
                      <a:srgbClr val="0B1F3A"/>
                    </a:solidFill>
                  </a:tcPr>
                </a:tc>
                <a:tc>
                  <a:txBody>
                    <a:bodyPr/>
                    <a:lstStyle/>
                    <a:p>
                      <a:r>
                        <a:rPr sz="1600" b="1">
                          <a:solidFill>
                            <a:srgbClr val="FFFFFF"/>
                          </a:solidFill>
                        </a:rPr>
                        <a:t>Bevosita</a:t>
                      </a:r>
                    </a:p>
                  </a:txBody>
                  <a:tcPr marL="73152" marR="73152" marT="36576" marB="36576">
                    <a:solidFill>
                      <a:srgbClr val="0B1F3A"/>
                    </a:solidFill>
                  </a:tcPr>
                </a:tc>
                <a:tc>
                  <a:txBody>
                    <a:bodyPr/>
                    <a:lstStyle/>
                    <a:p>
                      <a:r>
                        <a:rPr sz="1600" b="1">
                          <a:solidFill>
                            <a:srgbClr val="FFFFFF"/>
                          </a:solidFill>
                        </a:rPr>
                        <a:t>Bilvosita</a:t>
                      </a:r>
                    </a:p>
                  </a:txBody>
                  <a:tcPr marL="73152" marR="73152" marT="36576" marB="36576">
                    <a:solidFill>
                      <a:srgbClr val="0B1F3A"/>
                    </a:solidFill>
                  </a:tcPr>
                </a:tc>
              </a:tr>
              <a:tr h="768096">
                <a:tc>
                  <a:txBody>
                    <a:bodyPr/>
                    <a:lstStyle/>
                    <a:p>
                      <a:r>
                        <a:rPr sz="1500" b="0">
                          <a:solidFill>
                            <a:srgbClr val="1F2937"/>
                          </a:solidFill>
                        </a:rPr>
                        <a:t>Maqsad</a:t>
                      </a:r>
                    </a:p>
                  </a:txBody>
                  <a:tcPr marL="73152" marR="73152" marT="36576" marB="36576">
                    <a:solidFill>
                      <a:srgbClr val="E8EEF6"/>
                    </a:solidFill>
                  </a:tcPr>
                </a:tc>
                <a:tc>
                  <a:txBody>
                    <a:bodyPr/>
                    <a:lstStyle/>
                    <a:p>
                      <a:r>
                        <a:rPr sz="1500" b="0">
                          <a:solidFill>
                            <a:srgbClr val="1F2937"/>
                          </a:solidFill>
                        </a:rPr>
                        <a:t>O‘limni tezlashtirish maqsadi bor</a:t>
                      </a:r>
                    </a:p>
                  </a:txBody>
                  <a:tcPr marL="73152" marR="73152" marT="36576" marB="36576">
                    <a:solidFill>
                      <a:srgbClr val="E8EEF6"/>
                    </a:solidFill>
                  </a:tcPr>
                </a:tc>
                <a:tc>
                  <a:txBody>
                    <a:bodyPr/>
                    <a:lstStyle/>
                    <a:p>
                      <a:r>
                        <a:rPr sz="1500" b="0">
                          <a:solidFill>
                            <a:srgbClr val="1F2937"/>
                          </a:solidFill>
                        </a:rPr>
                        <a:t>Bunday maqsad yo‘q</a:t>
                      </a:r>
                    </a:p>
                  </a:txBody>
                  <a:tcPr marL="73152" marR="73152" marT="36576" marB="36576">
                    <a:solidFill>
                      <a:srgbClr val="E8EEF6"/>
                    </a:solidFill>
                  </a:tcPr>
                </a:tc>
              </a:tr>
              <a:tr h="768096">
                <a:tc>
                  <a:txBody>
                    <a:bodyPr/>
                    <a:lstStyle/>
                    <a:p>
                      <a:r>
                        <a:rPr sz="1500" b="0">
                          <a:solidFill>
                            <a:srgbClr val="1F2937"/>
                          </a:solidFill>
                        </a:rPr>
                        <a:t>Baho</a:t>
                      </a:r>
                    </a:p>
                  </a:txBody>
                  <a:tcPr marL="73152" marR="73152" marT="36576" marB="36576">
                    <a:solidFill>
                      <a:srgbClr val="FFFFFF"/>
                    </a:solidFill>
                  </a:tcPr>
                </a:tc>
                <a:tc>
                  <a:txBody>
                    <a:bodyPr/>
                    <a:lstStyle/>
                    <a:p>
                      <a:r>
                        <a:rPr sz="1500" b="0">
                          <a:solidFill>
                            <a:srgbClr val="1F2937"/>
                          </a:solidFill>
                        </a:rPr>
                        <a:t>Qotillik yoki o‘z-o‘zini o‘ldirish</a:t>
                      </a:r>
                    </a:p>
                  </a:txBody>
                  <a:tcPr marL="73152" marR="73152" marT="36576" marB="36576">
                    <a:solidFill>
                      <a:srgbClr val="FFFFFF"/>
                    </a:solidFill>
                  </a:tcPr>
                </a:tc>
                <a:tc>
                  <a:txBody>
                    <a:bodyPr/>
                    <a:lstStyle/>
                    <a:p>
                      <a:r>
                        <a:rPr sz="1500" b="0">
                          <a:solidFill>
                            <a:srgbClr val="1F2937"/>
                          </a:solidFill>
                        </a:rPr>
                        <a:t>Ehtiyotsizlik yoki baxtsiz hodisa</a:t>
                      </a:r>
                    </a:p>
                  </a:txBody>
                  <a:tcPr marL="73152" marR="73152" marT="36576" marB="36576">
                    <a:solidFill>
                      <a:srgbClr val="FFFFFF"/>
                    </a:solidFill>
                  </a:tcPr>
                </a:tc>
              </a:tr>
              <a:tr h="768096">
                <a:tc>
                  <a:txBody>
                    <a:bodyPr/>
                    <a:lstStyle/>
                    <a:p>
                      <a:r>
                        <a:rPr sz="1500" b="0">
                          <a:solidFill>
                            <a:srgbClr val="1F2937"/>
                          </a:solidFill>
                        </a:rPr>
                        <a:t>Misol</a:t>
                      </a:r>
                    </a:p>
                  </a:txBody>
                  <a:tcPr marL="73152" marR="73152" marT="36576" marB="36576">
                    <a:solidFill>
                      <a:srgbClr val="E8EEF6"/>
                    </a:solidFill>
                  </a:tcPr>
                </a:tc>
                <a:tc>
                  <a:txBody>
                    <a:bodyPr/>
                    <a:lstStyle/>
                    <a:p>
                      <a:r>
                        <a:rPr sz="1500" b="0">
                          <a:solidFill>
                            <a:srgbClr val="1F2937"/>
                          </a:solidFill>
                        </a:rPr>
                        <a:t>Manbada misol berilmagan</a:t>
                      </a:r>
                    </a:p>
                  </a:txBody>
                  <a:tcPr marL="73152" marR="73152" marT="36576" marB="36576">
                    <a:solidFill>
                      <a:srgbClr val="E8EEF6"/>
                    </a:solidFill>
                  </a:tcPr>
                </a:tc>
                <a:tc>
                  <a:txBody>
                    <a:bodyPr/>
                    <a:lstStyle/>
                    <a:p>
                      <a:r>
                        <a:rPr sz="1500" b="0">
                          <a:solidFill>
                            <a:srgbClr val="1F2937"/>
                          </a:solidFill>
                        </a:rPr>
                        <a:t>Og‘riq qoldiruvchi katta doza</a:t>
                      </a:r>
                    </a:p>
                  </a:txBody>
                  <a:tcPr marL="73152" marR="73152" marT="36576" marB="36576">
                    <a:solidFill>
                      <a:srgbClr val="E8EEF6"/>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Bevosita va bilvosita aktiv evtanaziya</a:t>
            </a:r>
          </a:p>
        </p:txBody>
      </p:sp>
      <p:sp>
        <p:nvSpPr>
          <p:cNvPr id="11" name="TextBox 10"/>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betlar: 218, 218-219, 219</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Passiv evtanaziya, medikotanaziya, distanaziya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O’lim vaqtini aniqlash. Evtanaziya turlari. Murda a’zo va to’qimalarning transplantatsiya </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14 / 43</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Passiv evtanaziya (ortotanaziya) – o‘limga mahkum bemorga yordamni cheklash yoki to‘xtatish; jinoyat qonunchiligida xizmat vazifasini bajarmaslik sanaladi.</a:t>
            </a:r>
          </a:p>
          <a:p>
            <a:pPr>
              <a:spcAft>
                <a:spcPts val="1200"/>
              </a:spcAft>
            </a:pPr>
            <a:r>
              <a:rPr sz="2200">
                <a:solidFill>
                  <a:srgbClr val="1F2937"/>
                </a:solidFill>
                <a:latin typeface="Calibri"/>
              </a:rPr>
              <a:t>▸  Medikotanaziya – dori-darmonlar bilan o‘limga mahkum bemorning azobini yengillashtirib, hayot sifatini imkon qadar yaxshilash.</a:t>
            </a:r>
          </a:p>
          <a:p>
            <a:pPr>
              <a:spcAft>
                <a:spcPts val="1200"/>
              </a:spcAft>
            </a:pPr>
            <a:r>
              <a:rPr sz="2200">
                <a:solidFill>
                  <a:srgbClr val="1F2937"/>
                </a:solidFill>
                <a:latin typeface="Calibri"/>
              </a:rPr>
              <a:t>▸  Distanaziya – azobni yengillashtirgan holda bemor hayotini nafaqat palliativ, balki radikal muolajalar bilan maksimal uzaytirish.</a:t>
            </a:r>
          </a:p>
          <a:p>
            <a:pPr>
              <a:spcAft>
                <a:spcPts val="1200"/>
              </a:spcAft>
            </a:pPr>
            <a:r>
              <a:rPr sz="2200">
                <a:solidFill>
                  <a:srgbClr val="1F2937"/>
                </a:solidFill>
                <a:latin typeface="Calibri"/>
              </a:rPr>
              <a:t>▸  Ko‘pchilik evtanaziyani tor ma’noda tushunadi: unga faqat aktiv va passiv turlar kiritiladi, ya’ni o‘limni aktiv yoki passiv tezlashtirish.</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betlar: 219</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Voqea tahlili: evtanaziya turini farqlash</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O’lim vaqtini aniqlash. Evtanaziya turlari. Murda a’zo va to’qimalarning transplantatsiya </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15 / 43</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Vaziyat: o‘limga mahkum bemorning og‘rig‘ini kamaytirish uchun vrach og‘riq qoldiruvchini katta dozada yubordi. O‘limni tezlashtirish maqsadi bo‘lmagan.</a:t>
            </a:r>
          </a:p>
          <a:p>
            <a:pPr>
              <a:spcAft>
                <a:spcPts val="1200"/>
              </a:spcAft>
            </a:pPr>
            <a:r>
              <a:rPr sz="2200">
                <a:solidFill>
                  <a:srgbClr val="1F2937"/>
                </a:solidFill>
                <a:latin typeface="Calibri"/>
              </a:rPr>
              <a:t>▸  Savol: bu qaysi tur? Bu bilvosita aktiv evtanaziya; o‘lim sodir bo‘lsa, ehtiyotsizlik orqasida odam o‘ldirish yoki baxtsiz hodisa deb baholanadi.</a:t>
            </a:r>
          </a:p>
          <a:p>
            <a:pPr>
              <a:spcAft>
                <a:spcPts val="1200"/>
              </a:spcAft>
            </a:pPr>
            <a:r>
              <a:rPr sz="2200">
                <a:solidFill>
                  <a:srgbClr val="1F2937"/>
                </a:solidFill>
                <a:latin typeface="Calibri"/>
              </a:rPr>
              <a:t>▸  Solishtiring: bevosita aktiv evtanaziyada o‘limni tezlashtirish maqsadi bor va u qotillik yoki o‘z-o‘zini o‘ldirish ko‘rinishida bo‘ladi.</a:t>
            </a:r>
          </a:p>
          <a:p>
            <a:pPr>
              <a:spcAft>
                <a:spcPts val="1200"/>
              </a:spcAft>
            </a:pPr>
            <a:r>
              <a:rPr sz="2200">
                <a:solidFill>
                  <a:srgbClr val="1F2937"/>
                </a:solidFill>
                <a:latin typeface="Calibri"/>
              </a:rPr>
              <a:t>▸  Diqqat: bilvosita aktiv ≠ bevosita aktiv evtanaziya; farq o‘limni tezlashtirish maqsadining bor-yo‘qligida. Yordamni to‘xtatish esa passiv tur.</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betlar: 219, 218-219, 218</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O‘lim yuz berganligini aniqlash: filogenetik yosh</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O’lim vaqtini aniqlash. Evtanaziya turlari. Murda a’zo va to’qimalarning transplantatsiya </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16 / 43</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A’zo va to‘qimalarning filogenetik yoshi turlicha, shu sababli ularda tiklanmas o‘zgarishlar bir vaqtda yuz bermaydi.</a:t>
            </a:r>
          </a:p>
          <a:p>
            <a:pPr>
              <a:spcAft>
                <a:spcPts val="800"/>
              </a:spcAft>
            </a:pPr>
            <a:r>
              <a:rPr sz="1800">
                <a:solidFill>
                  <a:srgbClr val="1F2937"/>
                </a:solidFill>
                <a:latin typeface="Calibri"/>
              </a:rPr>
              <a:t>▸  Filogenetik yosh to‘qima sezgir bo‘ladi; shu sababli avvalo bosh miya po‘stlog‘ida tiklanmas o‘zgarish yuz beradi.</a:t>
            </a:r>
          </a:p>
          <a:p>
            <a:pPr>
              <a:spcAft>
                <a:spcPts val="800"/>
              </a:spcAft>
            </a:pPr>
            <a:r>
              <a:rPr sz="1800">
                <a:solidFill>
                  <a:srgbClr val="1F2937"/>
                </a:solidFill>
                <a:latin typeface="Calibri"/>
              </a:rPr>
              <a:t>▸  Po‘stloq o‘limi Durwald (1981) bo‘yicha “individual o‘lim”; organizm bir butunlik xususiyatini yo‘qotadi.</a:t>
            </a:r>
          </a:p>
        </p:txBody>
      </p:sp>
      <p:sp>
        <p:nvSpPr>
          <p:cNvPr id="9" name="Rounded Rectangle 8"/>
          <p:cNvSpPr/>
          <p:nvPr/>
        </p:nvSpPr>
        <p:spPr>
          <a:xfrm>
            <a:off x="6263640" y="1463040"/>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Po‘stloqda tiklanmas o‘zgarish</a:t>
            </a:r>
          </a:p>
        </p:txBody>
      </p:sp>
      <p:sp>
        <p:nvSpPr>
          <p:cNvPr id="10" name="Down Arrow 9"/>
          <p:cNvSpPr/>
          <p:nvPr/>
        </p:nvSpPr>
        <p:spPr>
          <a:xfrm>
            <a:off x="8770467" y="2015337"/>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63640" y="2289657"/>
            <a:ext cx="5287975" cy="534009"/>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Integratsion faoliyat buziladi</a:t>
            </a:r>
          </a:p>
        </p:txBody>
      </p:sp>
      <p:sp>
        <p:nvSpPr>
          <p:cNvPr id="12" name="Down Arrow 11"/>
          <p:cNvSpPr/>
          <p:nvPr/>
        </p:nvSpPr>
        <p:spPr>
          <a:xfrm>
            <a:off x="8770467" y="2841955"/>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263640" y="3116275"/>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Miya o‘limi = biologik o‘lim</a:t>
            </a:r>
          </a:p>
        </p:txBody>
      </p:sp>
      <p:sp>
        <p:nvSpPr>
          <p:cNvPr id="14" name="Down Arrow 13"/>
          <p:cNvSpPr/>
          <p:nvPr/>
        </p:nvSpPr>
        <p:spPr>
          <a:xfrm>
            <a:off x="8770467" y="3668572"/>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263640" y="3942892"/>
            <a:ext cx="5287975" cy="534009"/>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Oraliq davr: ~20 soat</a:t>
            </a:r>
          </a:p>
        </p:txBody>
      </p:sp>
      <p:sp>
        <p:nvSpPr>
          <p:cNvPr id="16" name="Down Arrow 15"/>
          <p:cNvSpPr/>
          <p:nvPr/>
        </p:nvSpPr>
        <p:spPr>
          <a:xfrm>
            <a:off x="8770467" y="4495190"/>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263640" y="4769510"/>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Transplantatsiya imkoniyati</a:t>
            </a:r>
          </a:p>
        </p:txBody>
      </p:sp>
      <p:sp>
        <p:nvSpPr>
          <p:cNvPr id="18" name="TextBox 17"/>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Po‘stloq o‘limidan keyingi zanjir</a:t>
            </a:r>
          </a:p>
        </p:txBody>
      </p:sp>
      <p:sp>
        <p:nvSpPr>
          <p:cNvPr id="19" name="TextBox 1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betlar: 219, 219-220, 220</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Miya o‘limi va transplantatsiya asosi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O’lim vaqtini aniqlash. Evtanaziya turlari. Murda a’zo va to’qimalarning transplantatsiya </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17 / 43</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Bosh miya po‘stlog‘ining o‘limi biologik o‘limning boshlanishi bo‘lib, “miya o‘limi” deb qabul qilinadi. Bunda organizm bir butunlik xususiyatini yo‘qotadi.</a:t>
            </a:r>
          </a:p>
          <a:p>
            <a:pPr>
              <a:spcAft>
                <a:spcPts val="1200"/>
              </a:spcAft>
            </a:pPr>
            <a:r>
              <a:rPr sz="2200">
                <a:solidFill>
                  <a:srgbClr val="1F2937"/>
                </a:solidFill>
                <a:latin typeface="Calibri"/>
              </a:rPr>
              <a:t>▸  Po‘stloq o‘limi bilan boshqa a’zo va to‘qimalar o‘limi orasidagi oraliq davr 20 soatga yaqin. Bu vaqtda ularning faoliyati davom etishi yoki tiklanishi mumkin.</a:t>
            </a:r>
          </a:p>
          <a:p>
            <a:pPr>
              <a:spcAft>
                <a:spcPts val="1200"/>
              </a:spcAft>
            </a:pPr>
            <a:r>
              <a:rPr sz="2200">
                <a:solidFill>
                  <a:srgbClr val="1F2937"/>
                </a:solidFill>
                <a:latin typeface="Calibri"/>
              </a:rPr>
              <a:t>▸  Transplantatsiya uchun murdadan a’zo va to‘qima olish ayni shu xususiyatga asoslangan.</a:t>
            </a:r>
          </a:p>
          <a:p>
            <a:pPr>
              <a:spcAft>
                <a:spcPts val="1200"/>
              </a:spcAft>
            </a:pPr>
            <a:r>
              <a:rPr sz="2200">
                <a:solidFill>
                  <a:srgbClr val="1F2937"/>
                </a:solidFill>
                <a:latin typeface="Calibri"/>
              </a:rPr>
              <a:t>▸  Biologik o‘limdan keyin a’zo va to‘qimalar qanchalik erta olinsa, ko‘chirib o‘tkazish natijasi shunchalik samarali bo‘ladi.</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betlar: 220</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Miya o‘limini aniqlash tartibi va qonuniy oqibatlari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O’lim vaqtini aniqlash. Evtanaziya turlari. Murda a’zo va to’qimalarning transplantatsiya </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18 / 43</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Miya o‘limi belgilangan tartibda aniqlanadi. Bu tartibni Sog‘liqni saqlash vazirligi ishlab chiqadi.</a:t>
            </a:r>
          </a:p>
          <a:p>
            <a:pPr>
              <a:spcAft>
                <a:spcPts val="1200"/>
              </a:spcAft>
            </a:pPr>
            <a:r>
              <a:rPr sz="2200">
                <a:solidFill>
                  <a:srgbClr val="1F2937"/>
                </a:solidFill>
                <a:latin typeface="Calibri"/>
              </a:rPr>
              <a:t>▸  Davolash muassasalarida miya o‘limini odatda tegishli malakali reanimatolog va nevrologlar aniqlaydi.</a:t>
            </a:r>
          </a:p>
          <a:p>
            <a:pPr>
              <a:spcAft>
                <a:spcPts val="1200"/>
              </a:spcAft>
            </a:pPr>
            <a:r>
              <a:rPr sz="2200">
                <a:solidFill>
                  <a:srgbClr val="1F2937"/>
                </a:solidFill>
                <a:latin typeface="Calibri"/>
              </a:rPr>
              <a:t>▸  Jarayon ma’lum apparatura va asbob-uskuna talab qiladi. Ular bo‘lmasa, biologik o‘lim asosan murda o‘zgarishlari bo‘yicha aniqlanadi.</a:t>
            </a:r>
          </a:p>
          <a:p>
            <a:pPr>
              <a:spcAft>
                <a:spcPts val="1200"/>
              </a:spcAft>
            </a:pPr>
            <a:r>
              <a:rPr sz="2200">
                <a:solidFill>
                  <a:srgbClr val="1F2937"/>
                </a:solidFill>
                <a:latin typeface="Calibri"/>
              </a:rPr>
              <a:t>▸  Aksariyat mamlakatlarda qonunga binoan shunda reanimatsiyani to‘xtatish va murdadan a’zo hamda to‘qima olishga ruxsat etiladi.</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betlar: 220</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O‘limning dastlabki va ishonchli belgilari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O’lim vaqtini aniqlash. Evtanaziya turlari. Murda a’zo va to’qimalarning transplantatsiya </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19 / 43</a:t>
            </a:r>
          </a:p>
        </p:txBody>
      </p:sp>
      <p:sp>
        <p:nvSpPr>
          <p:cNvPr id="8" name="TextBox 7"/>
          <p:cNvSpPr txBox="1"/>
          <p:nvPr/>
        </p:nvSpPr>
        <p:spPr>
          <a:xfrm>
            <a:off x="640080" y="1417320"/>
            <a:ext cx="4572000" cy="4480560"/>
          </a:xfrm>
          <a:prstGeom prst="rect">
            <a:avLst/>
          </a:prstGeom>
          <a:noFill/>
        </p:spPr>
        <p:txBody>
          <a:bodyPr wrap="square">
            <a:spAutoFit/>
          </a:bodyPr>
          <a:lstStyle/>
          <a:p>
            <a:pPr>
              <a:spcAft>
                <a:spcPts val="800"/>
              </a:spcAft>
            </a:pPr>
            <a:r>
              <a:rPr sz="1800">
                <a:solidFill>
                  <a:srgbClr val="1F2937"/>
                </a:solidFill>
                <a:latin typeface="Calibri"/>
              </a:rPr>
              <a:t>▸  Dastlabki belgilar o‘limdan so‘ng darhol aniqlansa-da, faqat ehtimoliy hisoblanadi.</a:t>
            </a:r>
          </a:p>
          <a:p>
            <a:pPr>
              <a:spcAft>
                <a:spcPts val="800"/>
              </a:spcAft>
            </a:pPr>
            <a:r>
              <a:rPr sz="1800">
                <a:solidFill>
                  <a:srgbClr val="1F2937"/>
                </a:solidFill>
                <a:latin typeface="Calibri"/>
              </a:rPr>
              <a:t>▸  Eng erta ishonchli belgi — Beloglazov simptomi (“mushuk ko‘zi”), 15-20 daqiqadan so‘ng aniqlanadi.</a:t>
            </a:r>
          </a:p>
          <a:p>
            <a:pPr>
              <a:spcAft>
                <a:spcPts val="800"/>
              </a:spcAft>
            </a:pPr>
            <a:r>
              <a:rPr sz="1800">
                <a:solidFill>
                  <a:srgbClr val="1F2937"/>
                </a:solidFill>
                <a:latin typeface="Calibri"/>
              </a:rPr>
              <a:t>▸  Diqqat: tananing biroz sovushi ehtimoliy belgi, 23°S gacha va undan past sovush esa ishonchli belgi.</a:t>
            </a:r>
          </a:p>
        </p:txBody>
      </p:sp>
      <p:sp>
        <p:nvSpPr>
          <p:cNvPr id="9" name="Rounded Rectangle 8"/>
          <p:cNvSpPr/>
          <p:nvPr/>
        </p:nvSpPr>
        <p:spPr>
          <a:xfrm>
            <a:off x="5440680" y="1417320"/>
            <a:ext cx="2986887" cy="548640"/>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spcAft>
                <a:spcPts val="200"/>
              </a:spcAft>
            </a:pPr>
            <a:r>
              <a:rPr sz="1600" b="1">
                <a:solidFill>
                  <a:srgbClr val="FFFFFF"/>
                </a:solidFill>
                <a:latin typeface="Calibri"/>
              </a:rPr>
              <a:t>Ehtimoliy (dastlabki)</a:t>
            </a:r>
          </a:p>
        </p:txBody>
      </p:sp>
      <p:sp>
        <p:nvSpPr>
          <p:cNvPr id="10" name="Rectangle 9"/>
          <p:cNvSpPr/>
          <p:nvPr/>
        </p:nvSpPr>
        <p:spPr>
          <a:xfrm>
            <a:off x="5440680" y="2020824"/>
            <a:ext cx="2986887" cy="3419856"/>
          </a:xfrm>
          <a:prstGeom prst="rect">
            <a:avLst/>
          </a:prstGeom>
          <a:solidFill>
            <a:srgbClr val="E8EEF6"/>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t" wrap="square" tIns="36576" bIns="36576"/>
          <a:lstStyle/>
          <a:p>
            <a:pPr algn="l">
              <a:spcAft>
                <a:spcPts val="700"/>
              </a:spcAft>
            </a:pPr>
            <a:r>
              <a:rPr sz="1500" b="1">
                <a:solidFill>
                  <a:srgbClr val="C9A227"/>
                </a:solidFill>
                <a:latin typeface="Calibri"/>
              </a:rPr>
              <a:t>●  </a:t>
            </a:r>
            <a:r>
              <a:rPr sz="1500" b="0">
                <a:solidFill>
                  <a:srgbClr val="1F2937"/>
                </a:solidFill>
                <a:latin typeface="Calibri"/>
              </a:rPr>
              <a:t>Harakatsizlik, teri oqarishi</a:t>
            </a:r>
          </a:p>
          <a:p>
            <a:pPr algn="l">
              <a:spcAft>
                <a:spcPts val="700"/>
              </a:spcAft>
            </a:pPr>
            <a:r>
              <a:rPr sz="1500" b="1">
                <a:solidFill>
                  <a:srgbClr val="C9A227"/>
                </a:solidFill>
                <a:latin typeface="Calibri"/>
              </a:rPr>
              <a:t>●  </a:t>
            </a:r>
            <a:r>
              <a:rPr sz="1500" b="0">
                <a:solidFill>
                  <a:srgbClr val="1F2937"/>
                </a:solidFill>
                <a:latin typeface="Calibri"/>
              </a:rPr>
              <a:t>Nafas, yurak urishi yo‘q</a:t>
            </a:r>
          </a:p>
          <a:p>
            <a:pPr algn="l">
              <a:spcAft>
                <a:spcPts val="700"/>
              </a:spcAft>
            </a:pPr>
            <a:r>
              <a:rPr sz="1500" b="1">
                <a:solidFill>
                  <a:srgbClr val="C9A227"/>
                </a:solidFill>
                <a:latin typeface="Calibri"/>
              </a:rPr>
              <a:t>●  </a:t>
            </a:r>
            <a:r>
              <a:rPr sz="1500" b="0">
                <a:solidFill>
                  <a:srgbClr val="1F2937"/>
                </a:solidFill>
                <a:latin typeface="Calibri"/>
              </a:rPr>
              <a:t>Darhol aniqlanadi</a:t>
            </a:r>
          </a:p>
        </p:txBody>
      </p:sp>
      <p:sp>
        <p:nvSpPr>
          <p:cNvPr id="11" name="Rounded Rectangle 10"/>
          <p:cNvSpPr/>
          <p:nvPr/>
        </p:nvSpPr>
        <p:spPr>
          <a:xfrm>
            <a:off x="8564727" y="1417320"/>
            <a:ext cx="2986887" cy="548640"/>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spcAft>
                <a:spcPts val="200"/>
              </a:spcAft>
            </a:pPr>
            <a:r>
              <a:rPr sz="1600" b="1">
                <a:solidFill>
                  <a:srgbClr val="FFFFFF"/>
                </a:solidFill>
                <a:latin typeface="Calibri"/>
              </a:rPr>
              <a:t>Ishonchli</a:t>
            </a:r>
          </a:p>
        </p:txBody>
      </p:sp>
      <p:sp>
        <p:nvSpPr>
          <p:cNvPr id="12" name="Rectangle 11"/>
          <p:cNvSpPr/>
          <p:nvPr/>
        </p:nvSpPr>
        <p:spPr>
          <a:xfrm>
            <a:off x="8564727" y="2020824"/>
            <a:ext cx="2986887" cy="3419856"/>
          </a:xfrm>
          <a:prstGeom prst="rect">
            <a:avLst/>
          </a:prstGeom>
          <a:solidFill>
            <a:srgbClr val="E8EEF6"/>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t" wrap="square" tIns="36576" bIns="36576"/>
          <a:lstStyle/>
          <a:p>
            <a:pPr algn="l">
              <a:spcAft>
                <a:spcPts val="700"/>
              </a:spcAft>
            </a:pPr>
            <a:r>
              <a:rPr sz="1500" b="1">
                <a:solidFill>
                  <a:srgbClr val="C9A227"/>
                </a:solidFill>
                <a:latin typeface="Calibri"/>
              </a:rPr>
              <a:t>●  </a:t>
            </a:r>
            <a:r>
              <a:rPr sz="1500" b="0">
                <a:solidFill>
                  <a:srgbClr val="1F2937"/>
                </a:solidFill>
                <a:latin typeface="Calibri"/>
              </a:rPr>
              <a:t>Beloglazov: 15-20 daqiqadan so‘ng</a:t>
            </a:r>
          </a:p>
          <a:p>
            <a:pPr algn="l">
              <a:spcAft>
                <a:spcPts val="700"/>
              </a:spcAft>
            </a:pPr>
            <a:r>
              <a:rPr sz="1500" b="1">
                <a:solidFill>
                  <a:srgbClr val="C9A227"/>
                </a:solidFill>
                <a:latin typeface="Calibri"/>
              </a:rPr>
              <a:t>●  </a:t>
            </a:r>
            <a:r>
              <a:rPr sz="1500" b="0">
                <a:solidFill>
                  <a:srgbClr val="1F2937"/>
                </a:solidFill>
                <a:latin typeface="Calibri"/>
              </a:rPr>
              <a:t>Tana harorati 23°S gacha va past</a:t>
            </a:r>
          </a:p>
          <a:p>
            <a:pPr algn="l">
              <a:spcAft>
                <a:spcPts val="700"/>
              </a:spcAft>
            </a:pPr>
            <a:r>
              <a:rPr sz="1500" b="1">
                <a:solidFill>
                  <a:srgbClr val="C9A227"/>
                </a:solidFill>
                <a:latin typeface="Calibri"/>
              </a:rPr>
              <a:t>●  </a:t>
            </a:r>
            <a:r>
              <a:rPr sz="1500" b="0">
                <a:solidFill>
                  <a:srgbClr val="1F2937"/>
                </a:solidFill>
                <a:latin typeface="Calibri"/>
              </a:rPr>
              <a:t>Murda dog‘lari, qotishi, qurishi</a:t>
            </a:r>
          </a:p>
        </p:txBody>
      </p:sp>
      <p:sp>
        <p:nvSpPr>
          <p:cNvPr id="13" name="TextBox 12"/>
          <p:cNvSpPr txBox="1"/>
          <p:nvPr/>
        </p:nvSpPr>
        <p:spPr>
          <a:xfrm>
            <a:off x="5440680" y="5486400"/>
            <a:ext cx="6110935" cy="365760"/>
          </a:xfrm>
          <a:prstGeom prst="rect">
            <a:avLst/>
          </a:prstGeom>
          <a:noFill/>
        </p:spPr>
        <p:txBody>
          <a:bodyPr wrap="square">
            <a:spAutoFit/>
          </a:bodyPr>
          <a:lstStyle/>
          <a:p>
            <a:r>
              <a:rPr sz="1200" b="0">
                <a:solidFill>
                  <a:srgbClr val="6B7280"/>
                </a:solidFill>
                <a:latin typeface="Calibri"/>
              </a:rPr>
              <a:t>Belgilar guruhlari</a:t>
            </a:r>
          </a:p>
        </p:txBody>
      </p:sp>
      <p:sp>
        <p:nvSpPr>
          <p:cNvPr id="14" name="TextBox 13"/>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betlar: 220, 220-221</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Tezkor savol: o‘limni aniqlash belgilari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O’lim vaqtini aniqlash. Evtanaziya turlari. Murda a’zo va to’qimalarning transplantatsiya </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20 / 43</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1-savol: tananing harakatsizligi, teri oqarishi, nafas va yurak urishining yo‘qligi qaysi guruh belgilari? Javob: dastlabki, ya’ni ehtimoliy belgilar.</a:t>
            </a:r>
          </a:p>
          <a:p>
            <a:pPr>
              <a:spcAft>
                <a:spcPts val="1200"/>
              </a:spcAft>
            </a:pPr>
            <a:r>
              <a:rPr sz="2200">
                <a:solidFill>
                  <a:srgbClr val="1F2937"/>
                </a:solidFill>
                <a:latin typeface="Calibri"/>
              </a:rPr>
              <a:t>▸  2-savol: eng erta ishonchli belgi nima va qachon aniqlanadi? Javob: Beloglazov simptomi (“mushuk ko‘zi”), 15-20 daqiqadan so‘ng.</a:t>
            </a:r>
          </a:p>
          <a:p>
            <a:pPr>
              <a:spcAft>
                <a:spcPts val="1200"/>
              </a:spcAft>
            </a:pPr>
            <a:r>
              <a:rPr sz="2200">
                <a:solidFill>
                  <a:srgbClr val="1F2937"/>
                </a:solidFill>
                <a:latin typeface="Calibri"/>
              </a:rPr>
              <a:t>▸  3-savol: Beloglazov simptomida ko‘z olmasi yon tomondan siqilganda qorachiq qanday shaklga kiradi? Javob: ovalsimon shaklga.</a:t>
            </a:r>
          </a:p>
          <a:p>
            <a:pPr>
              <a:spcAft>
                <a:spcPts val="1200"/>
              </a:spcAft>
            </a:pPr>
            <a:r>
              <a:rPr sz="2200">
                <a:solidFill>
                  <a:srgbClr val="1F2937"/>
                </a:solidFill>
                <a:latin typeface="Calibri"/>
              </a:rPr>
              <a:t>▸  Diqqat: dastlabki (ehtimoliy) belgi ≠ ishonchli belgi. Tana 23°S gacha va past sovishi, murda dog‘lari, qotishi, qurishi — ishonchli belgilar.</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betlar: 220, 221</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Voqea tahlili: miya o‘limi va a’zo olish</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O’lim vaqtini aniqlash. Evtanaziya turlari. Murda a’zo va to’qimalarning transplantatsiya </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21 / 43</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Vaziyat: reanimatsiya bo‘limidagi bemorda bosh miya po‘stlog‘ining o‘limi aniqlandi, boshqa a’zolar faoliyati hozircha davom etmoqda.</a:t>
            </a:r>
          </a:p>
          <a:p>
            <a:pPr>
              <a:spcAft>
                <a:spcPts val="1200"/>
              </a:spcAft>
            </a:pPr>
            <a:r>
              <a:rPr sz="2200">
                <a:solidFill>
                  <a:srgbClr val="1F2937"/>
                </a:solidFill>
                <a:latin typeface="Calibri"/>
              </a:rPr>
              <a:t>▸  Po‘stloq o‘limi bilan boshqa a’zolar o‘limi orasida taxminan 20 soat oraliq bor. Transplantatsiya aynan shu xususiyatga asoslanadi.</a:t>
            </a:r>
          </a:p>
          <a:p>
            <a:pPr>
              <a:spcAft>
                <a:spcPts val="1200"/>
              </a:spcAft>
            </a:pPr>
            <a:r>
              <a:rPr sz="2200">
                <a:solidFill>
                  <a:srgbClr val="1F2937"/>
                </a:solidFill>
                <a:latin typeface="Calibri"/>
              </a:rPr>
              <a:t>▸  Aksariyat mamlakatlarda bunday holat biologik o‘lim sanaladi; qonunga ko‘ra reanimatsiyani to‘xtatish va a’zo olishga ruxsat etiladi.</a:t>
            </a:r>
          </a:p>
          <a:p>
            <a:pPr>
              <a:spcAft>
                <a:spcPts val="1200"/>
              </a:spcAft>
            </a:pPr>
            <a:r>
              <a:rPr sz="2200">
                <a:solidFill>
                  <a:srgbClr val="1F2937"/>
                </a:solidFill>
                <a:latin typeface="Calibri"/>
              </a:rPr>
              <a:t>▸  Savol: nega a’zo erta olinadi va miya o‘limini kim aniqlaydi? Javob: erta olinsa natija samarali; reanimatolog va nevrolog, vazirlik tartibida.</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betlar: 220</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O‘limning sud-tibbiy tasnifi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O’lim vaqtini aniqlash. Evtanaziya turlari. Murda a’zo va to’qimalarning transplantatsiya </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22 / 43</a:t>
            </a:r>
          </a:p>
        </p:txBody>
      </p:sp>
      <p:sp>
        <p:nvSpPr>
          <p:cNvPr id="8" name="TextBox 7"/>
          <p:cNvSpPr txBox="1"/>
          <p:nvPr/>
        </p:nvSpPr>
        <p:spPr>
          <a:xfrm>
            <a:off x="640080" y="1417320"/>
            <a:ext cx="4572000" cy="4480560"/>
          </a:xfrm>
          <a:prstGeom prst="rect">
            <a:avLst/>
          </a:prstGeom>
          <a:noFill/>
        </p:spPr>
        <p:txBody>
          <a:bodyPr wrap="square">
            <a:spAutoFit/>
          </a:bodyPr>
          <a:lstStyle/>
          <a:p>
            <a:pPr>
              <a:spcAft>
                <a:spcPts val="800"/>
              </a:spcAft>
            </a:pPr>
            <a:r>
              <a:rPr sz="1800">
                <a:solidFill>
                  <a:srgbClr val="1F2937"/>
                </a:solidFill>
                <a:latin typeface="Calibri"/>
              </a:rPr>
              <a:t>▸  Zo‘raki o‘lim tashqi ta’sirdan, nozo‘raki o‘lim kasalliklardan yuz beradi.</a:t>
            </a:r>
          </a:p>
          <a:p>
            <a:pPr>
              <a:spcAft>
                <a:spcPts val="800"/>
              </a:spcAft>
            </a:pPr>
            <a:r>
              <a:rPr sz="1800">
                <a:solidFill>
                  <a:srgbClr val="1F2937"/>
                </a:solidFill>
                <a:latin typeface="Calibri"/>
              </a:rPr>
              <a:t>▸  Zo‘raki o‘lim xillari: qotillik, o‘z-o‘zini o‘ldirish, baxtsiz hodisa.</a:t>
            </a:r>
          </a:p>
          <a:p>
            <a:pPr>
              <a:spcAft>
                <a:spcPts val="800"/>
              </a:spcAft>
            </a:pPr>
            <a:r>
              <a:rPr sz="1800">
                <a:solidFill>
                  <a:srgbClr val="1F2937"/>
                </a:solidFill>
                <a:latin typeface="Calibri"/>
              </a:rPr>
              <a:t>▸  Xilni aniqlash qasdni aniqlashga asoslangani uchun huquqni muhofaza organlari vakolatida.</a:t>
            </a:r>
          </a:p>
        </p:txBody>
      </p:sp>
      <p:sp>
        <p:nvSpPr>
          <p:cNvPr id="9" name="Rounded Rectangle 8"/>
          <p:cNvSpPr/>
          <p:nvPr/>
        </p:nvSpPr>
        <p:spPr>
          <a:xfrm>
            <a:off x="5440680" y="1417320"/>
            <a:ext cx="6110935" cy="1255776"/>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5550408" y="1816608"/>
            <a:ext cx="457200" cy="457200"/>
          </a:xfrm>
          <a:prstGeom prst="ellipse">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spcAft>
                <a:spcPts val="200"/>
              </a:spcAft>
            </a:pPr>
            <a:r>
              <a:rPr sz="1600" b="1">
                <a:solidFill>
                  <a:srgbClr val="FFFFFF"/>
                </a:solidFill>
                <a:latin typeface="Calibri"/>
              </a:rPr>
              <a:t>1</a:t>
            </a:r>
          </a:p>
        </p:txBody>
      </p:sp>
      <p:sp>
        <p:nvSpPr>
          <p:cNvPr id="11" name="TextBox 10"/>
          <p:cNvSpPr txBox="1"/>
          <p:nvPr/>
        </p:nvSpPr>
        <p:spPr>
          <a:xfrm>
            <a:off x="6080760" y="1417320"/>
            <a:ext cx="5397703" cy="1255776"/>
          </a:xfrm>
          <a:prstGeom prst="rect">
            <a:avLst/>
          </a:prstGeom>
          <a:noFill/>
        </p:spPr>
        <p:txBody>
          <a:bodyPr wrap="square" anchor="ctr" lIns="18288" rIns="18288" tIns="36576" bIns="36576">
            <a:spAutoFit/>
          </a:bodyPr>
          <a:lstStyle/>
          <a:p>
            <a:pPr algn="l">
              <a:spcAft>
                <a:spcPts val="200"/>
              </a:spcAft>
            </a:pPr>
            <a:r>
              <a:rPr sz="1600" b="1">
                <a:solidFill>
                  <a:srgbClr val="0B1F3A"/>
                </a:solidFill>
                <a:latin typeface="Calibri"/>
              </a:rPr>
              <a:t>Toifa</a:t>
            </a:r>
          </a:p>
          <a:p>
            <a:pPr algn="l">
              <a:spcAft>
                <a:spcPts val="200"/>
              </a:spcAft>
            </a:pPr>
            <a:r>
              <a:rPr sz="1400" b="0">
                <a:solidFill>
                  <a:srgbClr val="1F2937"/>
                </a:solidFill>
                <a:latin typeface="Calibri"/>
              </a:rPr>
              <a:t>Zo‘raki yoki nozo‘raki — sud-tibbiy ekspert aniqlaydi</a:t>
            </a:r>
          </a:p>
        </p:txBody>
      </p:sp>
      <p:sp>
        <p:nvSpPr>
          <p:cNvPr id="12" name="Rounded Rectangle 11"/>
          <p:cNvSpPr/>
          <p:nvPr/>
        </p:nvSpPr>
        <p:spPr>
          <a:xfrm>
            <a:off x="5440680" y="2801112"/>
            <a:ext cx="6110935" cy="1255776"/>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550408" y="3200400"/>
            <a:ext cx="457200" cy="457200"/>
          </a:xfrm>
          <a:prstGeom prst="ellipse">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spcAft>
                <a:spcPts val="200"/>
              </a:spcAft>
            </a:pPr>
            <a:r>
              <a:rPr sz="1600" b="1">
                <a:solidFill>
                  <a:srgbClr val="FFFFFF"/>
                </a:solidFill>
                <a:latin typeface="Calibri"/>
              </a:rPr>
              <a:t>2</a:t>
            </a:r>
          </a:p>
        </p:txBody>
      </p:sp>
      <p:sp>
        <p:nvSpPr>
          <p:cNvPr id="14" name="TextBox 13"/>
          <p:cNvSpPr txBox="1"/>
          <p:nvPr/>
        </p:nvSpPr>
        <p:spPr>
          <a:xfrm>
            <a:off x="6080760" y="2801112"/>
            <a:ext cx="5397703" cy="1255776"/>
          </a:xfrm>
          <a:prstGeom prst="rect">
            <a:avLst/>
          </a:prstGeom>
          <a:noFill/>
        </p:spPr>
        <p:txBody>
          <a:bodyPr wrap="square" anchor="ctr" lIns="18288" rIns="18288" tIns="36576" bIns="36576">
            <a:spAutoFit/>
          </a:bodyPr>
          <a:lstStyle/>
          <a:p>
            <a:pPr algn="l">
              <a:spcAft>
                <a:spcPts val="200"/>
              </a:spcAft>
            </a:pPr>
            <a:r>
              <a:rPr sz="1600" b="1">
                <a:solidFill>
                  <a:srgbClr val="0B1F3A"/>
                </a:solidFill>
                <a:latin typeface="Calibri"/>
              </a:rPr>
              <a:t>Xil</a:t>
            </a:r>
          </a:p>
          <a:p>
            <a:pPr algn="l">
              <a:spcAft>
                <a:spcPts val="200"/>
              </a:spcAft>
            </a:pPr>
            <a:r>
              <a:rPr sz="1400" b="0">
                <a:solidFill>
                  <a:srgbClr val="1F2937"/>
                </a:solidFill>
                <a:latin typeface="Calibri"/>
              </a:rPr>
              <a:t>Qasd mavjudligi asosida — huquqni muhofaza organi aniqlaydi</a:t>
            </a:r>
          </a:p>
        </p:txBody>
      </p:sp>
      <p:sp>
        <p:nvSpPr>
          <p:cNvPr id="15" name="Rounded Rectangle 14"/>
          <p:cNvSpPr/>
          <p:nvPr/>
        </p:nvSpPr>
        <p:spPr>
          <a:xfrm>
            <a:off x="5440680" y="4184904"/>
            <a:ext cx="6110935" cy="1255776"/>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5550408" y="4584192"/>
            <a:ext cx="457200" cy="457200"/>
          </a:xfrm>
          <a:prstGeom prst="ellipse">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spcAft>
                <a:spcPts val="200"/>
              </a:spcAft>
            </a:pPr>
            <a:r>
              <a:rPr sz="1600" b="1">
                <a:solidFill>
                  <a:srgbClr val="FFFFFF"/>
                </a:solidFill>
                <a:latin typeface="Calibri"/>
              </a:rPr>
              <a:t>3</a:t>
            </a:r>
          </a:p>
        </p:txBody>
      </p:sp>
      <p:sp>
        <p:nvSpPr>
          <p:cNvPr id="17" name="TextBox 16"/>
          <p:cNvSpPr txBox="1"/>
          <p:nvPr/>
        </p:nvSpPr>
        <p:spPr>
          <a:xfrm>
            <a:off x="6080760" y="4184904"/>
            <a:ext cx="5397703" cy="1255776"/>
          </a:xfrm>
          <a:prstGeom prst="rect">
            <a:avLst/>
          </a:prstGeom>
          <a:noFill/>
        </p:spPr>
        <p:txBody>
          <a:bodyPr wrap="square" anchor="ctr" lIns="18288" rIns="18288" tIns="36576" bIns="36576">
            <a:spAutoFit/>
          </a:bodyPr>
          <a:lstStyle/>
          <a:p>
            <a:pPr algn="l">
              <a:spcAft>
                <a:spcPts val="200"/>
              </a:spcAft>
            </a:pPr>
            <a:r>
              <a:rPr sz="1600" b="1">
                <a:solidFill>
                  <a:srgbClr val="0B1F3A"/>
                </a:solidFill>
                <a:latin typeface="Calibri"/>
              </a:rPr>
              <a:t>Tur</a:t>
            </a:r>
          </a:p>
          <a:p>
            <a:pPr algn="l">
              <a:spcAft>
                <a:spcPts val="200"/>
              </a:spcAft>
            </a:pPr>
            <a:r>
              <a:rPr sz="1400" b="0">
                <a:solidFill>
                  <a:srgbClr val="1F2937"/>
                </a:solidFill>
                <a:latin typeface="Calibri"/>
              </a:rPr>
              <a:t>Tashqi ta’sir yoki kasallik turi — sud-tibbiy ekspert aniqlaydi</a:t>
            </a:r>
          </a:p>
        </p:txBody>
      </p:sp>
      <p:sp>
        <p:nvSpPr>
          <p:cNvPr id="18" name="TextBox 17"/>
          <p:cNvSpPr txBox="1"/>
          <p:nvPr/>
        </p:nvSpPr>
        <p:spPr>
          <a:xfrm>
            <a:off x="5440680" y="5486400"/>
            <a:ext cx="6110935" cy="365760"/>
          </a:xfrm>
          <a:prstGeom prst="rect">
            <a:avLst/>
          </a:prstGeom>
          <a:noFill/>
        </p:spPr>
        <p:txBody>
          <a:bodyPr wrap="square">
            <a:spAutoFit/>
          </a:bodyPr>
          <a:lstStyle/>
          <a:p>
            <a:r>
              <a:rPr sz="1200" b="0">
                <a:solidFill>
                  <a:srgbClr val="6B7280"/>
                </a:solidFill>
                <a:latin typeface="Calibri"/>
              </a:rPr>
              <a:t>Tasnif darajalari va ularni kim aniqlaydi</a:t>
            </a:r>
          </a:p>
        </p:txBody>
      </p:sp>
      <p:sp>
        <p:nvSpPr>
          <p:cNvPr id="19" name="TextBox 1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betlar: 221</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Supravital reaksiyalar: mexanik va elektr ta’sir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O’lim vaqtini aniqlash. Evtanaziya turlari. Murda a’zo va to’qimalarning transplantatsiya </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23 / 43</a:t>
            </a:r>
          </a:p>
        </p:txBody>
      </p:sp>
      <p:sp>
        <p:nvSpPr>
          <p:cNvPr id="8" name="TextBox 7"/>
          <p:cNvSpPr txBox="1"/>
          <p:nvPr/>
        </p:nvSpPr>
        <p:spPr>
          <a:xfrm>
            <a:off x="640080" y="1417320"/>
            <a:ext cx="4572000" cy="4480560"/>
          </a:xfrm>
          <a:prstGeom prst="rect">
            <a:avLst/>
          </a:prstGeom>
          <a:noFill/>
        </p:spPr>
        <p:txBody>
          <a:bodyPr wrap="square">
            <a:spAutoFit/>
          </a:bodyPr>
          <a:lstStyle/>
          <a:p>
            <a:pPr>
              <a:spcAft>
                <a:spcPts val="800"/>
              </a:spcAft>
            </a:pPr>
            <a:r>
              <a:rPr sz="1800">
                <a:solidFill>
                  <a:srgbClr val="1F2937"/>
                </a:solidFill>
                <a:latin typeface="Calibri"/>
              </a:rPr>
              <a:t>▸  Mexanik ta’sir odatda yelka mushagiga nevrologik bolg‘acha bandi yoki metall chizg‘ich bilan beriladi.</a:t>
            </a:r>
          </a:p>
          <a:p>
            <a:pPr>
              <a:spcAft>
                <a:spcPts val="800"/>
              </a:spcAft>
            </a:pPr>
            <a:r>
              <a:rPr sz="1800">
                <a:solidFill>
                  <a:srgbClr val="1F2937"/>
                </a:solidFill>
                <a:latin typeface="Calibri"/>
              </a:rPr>
              <a:t>▸  Diqqat: idiomuskulyar o‘sma mushak qisqarishi emas, ta’sir joyidagi burma shaklidagi shishdir.</a:t>
            </a:r>
          </a:p>
          <a:p>
            <a:pPr>
              <a:spcAft>
                <a:spcPts val="800"/>
              </a:spcAft>
            </a:pPr>
            <a:r>
              <a:rPr sz="1800">
                <a:solidFill>
                  <a:srgbClr val="1F2937"/>
                </a:solidFill>
                <a:latin typeface="Calibri"/>
              </a:rPr>
              <a:t>▸  Ignali elektrodda qorachiq: 0-6 soat torayish; 7-12 soat torayish va deformatsiya; 30 soatgacha deformatsiya.</a:t>
            </a:r>
          </a:p>
        </p:txBody>
      </p:sp>
      <p:sp>
        <p:nvSpPr>
          <p:cNvPr id="9" name="Rounded Rectangle 8"/>
          <p:cNvSpPr/>
          <p:nvPr/>
        </p:nvSpPr>
        <p:spPr>
          <a:xfrm>
            <a:off x="5440680" y="1417320"/>
            <a:ext cx="2973171" cy="1243584"/>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40680" y="1508760"/>
            <a:ext cx="64008" cy="106070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550408" y="1417320"/>
            <a:ext cx="2863443" cy="1243584"/>
          </a:xfrm>
          <a:prstGeom prst="rect">
            <a:avLst/>
          </a:prstGeom>
          <a:noFill/>
        </p:spPr>
        <p:txBody>
          <a:bodyPr wrap="square" anchor="ctr" tIns="36576" bIns="36576">
            <a:spAutoFit/>
          </a:bodyPr>
          <a:lstStyle/>
          <a:p>
            <a:pPr algn="l">
              <a:spcAft>
                <a:spcPts val="100"/>
              </a:spcAft>
            </a:pPr>
            <a:r>
              <a:rPr sz="1300" b="0">
                <a:solidFill>
                  <a:srgbClr val="6B7280"/>
                </a:solidFill>
                <a:latin typeface="Calibri"/>
              </a:rPr>
              <a:t>Mexanik: qisqarish</a:t>
            </a:r>
          </a:p>
          <a:p>
            <a:pPr algn="l">
              <a:spcAft>
                <a:spcPts val="100"/>
              </a:spcAft>
            </a:pPr>
            <a:r>
              <a:rPr sz="3000" b="1">
                <a:solidFill>
                  <a:srgbClr val="0B1F3A"/>
                </a:solidFill>
                <a:latin typeface="Calibri"/>
              </a:rPr>
              <a:t>1–2</a:t>
            </a:r>
            <a:r>
              <a:rPr sz="1500" b="0">
                <a:solidFill>
                  <a:srgbClr val="6B7280"/>
                </a:solidFill>
                <a:latin typeface="Calibri"/>
              </a:rPr>
              <a:t>  soat</a:t>
            </a:r>
          </a:p>
        </p:txBody>
      </p:sp>
      <p:sp>
        <p:nvSpPr>
          <p:cNvPr id="12" name="Rounded Rectangle 11"/>
          <p:cNvSpPr/>
          <p:nvPr/>
        </p:nvSpPr>
        <p:spPr>
          <a:xfrm>
            <a:off x="8578443" y="1417320"/>
            <a:ext cx="2973171" cy="1243584"/>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578443" y="1508760"/>
            <a:ext cx="64008" cy="106070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88171" y="1417320"/>
            <a:ext cx="2863443" cy="1243584"/>
          </a:xfrm>
          <a:prstGeom prst="rect">
            <a:avLst/>
          </a:prstGeom>
          <a:noFill/>
        </p:spPr>
        <p:txBody>
          <a:bodyPr wrap="square" anchor="ctr" tIns="36576" bIns="36576">
            <a:spAutoFit/>
          </a:bodyPr>
          <a:lstStyle/>
          <a:p>
            <a:pPr algn="l">
              <a:spcAft>
                <a:spcPts val="100"/>
              </a:spcAft>
            </a:pPr>
            <a:r>
              <a:rPr sz="1300" b="0">
                <a:solidFill>
                  <a:srgbClr val="6B7280"/>
                </a:solidFill>
                <a:latin typeface="Calibri"/>
              </a:rPr>
              <a:t>Mexanik: burma o‘sma</a:t>
            </a:r>
          </a:p>
          <a:p>
            <a:pPr algn="l">
              <a:spcAft>
                <a:spcPts val="100"/>
              </a:spcAft>
            </a:pPr>
            <a:r>
              <a:rPr sz="2900" b="1">
                <a:solidFill>
                  <a:srgbClr val="0B1F3A"/>
                </a:solidFill>
                <a:latin typeface="Calibri"/>
              </a:rPr>
              <a:t>10 gacha</a:t>
            </a:r>
            <a:r>
              <a:rPr sz="1400" b="0">
                <a:solidFill>
                  <a:srgbClr val="6B7280"/>
                </a:solidFill>
                <a:latin typeface="Calibri"/>
              </a:rPr>
              <a:t>  soat</a:t>
            </a:r>
          </a:p>
        </p:txBody>
      </p:sp>
      <p:sp>
        <p:nvSpPr>
          <p:cNvPr id="15" name="Rounded Rectangle 14"/>
          <p:cNvSpPr/>
          <p:nvPr/>
        </p:nvSpPr>
        <p:spPr>
          <a:xfrm>
            <a:off x="5440680" y="2807208"/>
            <a:ext cx="2973171" cy="1243584"/>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40680" y="2898648"/>
            <a:ext cx="64008" cy="106070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550408" y="2807208"/>
            <a:ext cx="2863443" cy="1243584"/>
          </a:xfrm>
          <a:prstGeom prst="rect">
            <a:avLst/>
          </a:prstGeom>
          <a:noFill/>
        </p:spPr>
        <p:txBody>
          <a:bodyPr wrap="square" anchor="ctr" tIns="36576" bIns="36576">
            <a:spAutoFit/>
          </a:bodyPr>
          <a:lstStyle/>
          <a:p>
            <a:pPr algn="l">
              <a:spcAft>
                <a:spcPts val="100"/>
              </a:spcAft>
            </a:pPr>
            <a:r>
              <a:rPr sz="1300" b="0">
                <a:solidFill>
                  <a:srgbClr val="6B7280"/>
                </a:solidFill>
                <a:latin typeface="Calibri"/>
              </a:rPr>
              <a:t>Elektr: yuz, qo‘l-oyoq</a:t>
            </a:r>
          </a:p>
          <a:p>
            <a:pPr algn="l">
              <a:spcAft>
                <a:spcPts val="100"/>
              </a:spcAft>
            </a:pPr>
            <a:r>
              <a:rPr sz="3000" b="1">
                <a:solidFill>
                  <a:srgbClr val="0B1F3A"/>
                </a:solidFill>
                <a:latin typeface="Calibri"/>
              </a:rPr>
              <a:t>2–3</a:t>
            </a:r>
            <a:r>
              <a:rPr sz="1500" b="0">
                <a:solidFill>
                  <a:srgbClr val="6B7280"/>
                </a:solidFill>
                <a:latin typeface="Calibri"/>
              </a:rPr>
              <a:t>  soat</a:t>
            </a:r>
          </a:p>
        </p:txBody>
      </p:sp>
      <p:sp>
        <p:nvSpPr>
          <p:cNvPr id="18" name="Rounded Rectangle 17"/>
          <p:cNvSpPr/>
          <p:nvPr/>
        </p:nvSpPr>
        <p:spPr>
          <a:xfrm>
            <a:off x="8578443" y="2807208"/>
            <a:ext cx="2973171" cy="1243584"/>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578443" y="2898648"/>
            <a:ext cx="64008" cy="106070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688171" y="2807208"/>
            <a:ext cx="2863443" cy="1243584"/>
          </a:xfrm>
          <a:prstGeom prst="rect">
            <a:avLst/>
          </a:prstGeom>
          <a:noFill/>
        </p:spPr>
        <p:txBody>
          <a:bodyPr wrap="square" anchor="ctr" tIns="36576" bIns="36576">
            <a:spAutoFit/>
          </a:bodyPr>
          <a:lstStyle/>
          <a:p>
            <a:pPr algn="l">
              <a:spcAft>
                <a:spcPts val="100"/>
              </a:spcAft>
            </a:pPr>
            <a:r>
              <a:rPr sz="1300" b="0">
                <a:solidFill>
                  <a:srgbClr val="6B7280"/>
                </a:solidFill>
                <a:latin typeface="Calibri"/>
              </a:rPr>
              <a:t>Elektr: og‘iz aylana</a:t>
            </a:r>
          </a:p>
          <a:p>
            <a:pPr algn="l">
              <a:spcAft>
                <a:spcPts val="100"/>
              </a:spcAft>
            </a:pPr>
            <a:r>
              <a:rPr sz="3000" b="1">
                <a:solidFill>
                  <a:srgbClr val="0B1F3A"/>
                </a:solidFill>
                <a:latin typeface="Calibri"/>
              </a:rPr>
              <a:t>3–5</a:t>
            </a:r>
            <a:r>
              <a:rPr sz="1500" b="0">
                <a:solidFill>
                  <a:srgbClr val="6B7280"/>
                </a:solidFill>
                <a:latin typeface="Calibri"/>
              </a:rPr>
              <a:t>  soat</a:t>
            </a:r>
          </a:p>
        </p:txBody>
      </p:sp>
      <p:sp>
        <p:nvSpPr>
          <p:cNvPr id="21" name="Rounded Rectangle 20"/>
          <p:cNvSpPr/>
          <p:nvPr/>
        </p:nvSpPr>
        <p:spPr>
          <a:xfrm>
            <a:off x="5440680" y="4197096"/>
            <a:ext cx="2973171" cy="1243584"/>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440680" y="4288536"/>
            <a:ext cx="64008" cy="106070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550408" y="4197096"/>
            <a:ext cx="2863443" cy="1243584"/>
          </a:xfrm>
          <a:prstGeom prst="rect">
            <a:avLst/>
          </a:prstGeom>
          <a:noFill/>
        </p:spPr>
        <p:txBody>
          <a:bodyPr wrap="square" anchor="ctr" tIns="36576" bIns="36576">
            <a:spAutoFit/>
          </a:bodyPr>
          <a:lstStyle/>
          <a:p>
            <a:pPr algn="l">
              <a:spcAft>
                <a:spcPts val="100"/>
              </a:spcAft>
            </a:pPr>
            <a:r>
              <a:rPr sz="1300" b="0">
                <a:solidFill>
                  <a:srgbClr val="6B7280"/>
                </a:solidFill>
                <a:latin typeface="Calibri"/>
              </a:rPr>
              <a:t>Elektr: faqat ko‘z</a:t>
            </a:r>
          </a:p>
          <a:p>
            <a:pPr algn="l">
              <a:spcAft>
                <a:spcPts val="100"/>
              </a:spcAft>
            </a:pPr>
            <a:r>
              <a:rPr sz="2300" b="1">
                <a:solidFill>
                  <a:srgbClr val="0B1F3A"/>
                </a:solidFill>
                <a:latin typeface="Calibri"/>
              </a:rPr>
              <a:t>11–12 gacha</a:t>
            </a:r>
            <a:r>
              <a:rPr sz="1100" b="0">
                <a:solidFill>
                  <a:srgbClr val="6B7280"/>
                </a:solidFill>
                <a:latin typeface="Calibri"/>
              </a:rPr>
              <a:t>  soat</a:t>
            </a:r>
          </a:p>
        </p:txBody>
      </p:sp>
      <p:sp>
        <p:nvSpPr>
          <p:cNvPr id="24" name="TextBox 23"/>
          <p:cNvSpPr txBox="1"/>
          <p:nvPr/>
        </p:nvSpPr>
        <p:spPr>
          <a:xfrm>
            <a:off x="5440680" y="5486400"/>
            <a:ext cx="6110935" cy="365760"/>
          </a:xfrm>
          <a:prstGeom prst="rect">
            <a:avLst/>
          </a:prstGeom>
          <a:noFill/>
        </p:spPr>
        <p:txBody>
          <a:bodyPr wrap="square">
            <a:spAutoFit/>
          </a:bodyPr>
          <a:lstStyle/>
          <a:p>
            <a:r>
              <a:rPr sz="1200" b="0">
                <a:solidFill>
                  <a:srgbClr val="6B7280"/>
                </a:solidFill>
                <a:latin typeface="Calibri"/>
              </a:rPr>
              <a:t>Mushak reaksiyasi muddatlari</a:t>
            </a:r>
          </a:p>
        </p:txBody>
      </p:sp>
      <p:sp>
        <p:nvSpPr>
          <p:cNvPr id="25" name="TextBox 24"/>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betlar: 222</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Supravital reaksiyalar: kimyoviy ta’sir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O’lim vaqtini aniqlash. Evtanaziya turlari. Murda a’zo va to’qimalarning transplantatsiya </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24 / 43</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O‘limdan keyingi dastlabki 5-6 soatda ko‘zga 1% atropin tomizilsa, qorachiq kengayadi; 1% pilokarpin ta’sirida toraya­di.</a:t>
            </a:r>
          </a:p>
          <a:p>
            <a:pPr>
              <a:spcAft>
                <a:spcPts val="1200"/>
              </a:spcAft>
            </a:pPr>
            <a:r>
              <a:rPr sz="2200">
                <a:solidFill>
                  <a:srgbClr val="1F2937"/>
                </a:solidFill>
                <a:latin typeface="Calibri"/>
              </a:rPr>
              <a:t>▸  Eritma (0,1 ml) ko‘zning old kamerasiga ingichka igna bilan yuborilsa, reaksiya 24 soatgacha aniqlanadi. Qorachiq diametri va o‘zgarish davomiyligi o‘lchanadi.</a:t>
            </a:r>
          </a:p>
          <a:p>
            <a:pPr>
              <a:spcAft>
                <a:spcPts val="1200"/>
              </a:spcAft>
            </a:pPr>
            <a:r>
              <a:rPr sz="2200">
                <a:solidFill>
                  <a:srgbClr val="1F2937"/>
                </a:solidFill>
                <a:latin typeface="Calibri"/>
              </a:rPr>
              <a:t>▸  Ter bezlari sinamasi: teriga yodning 2% spirtli eritmasi, kraxmal va kastor moyi surilib, teri ostiga 1% adrenalin yoki 2% pilokarpin (1 ml) yuboriladi.</a:t>
            </a:r>
          </a:p>
          <a:p>
            <a:pPr>
              <a:spcAft>
                <a:spcPts val="1200"/>
              </a:spcAft>
            </a:pPr>
            <a:r>
              <a:rPr sz="2200">
                <a:solidFill>
                  <a:srgbClr val="1F2937"/>
                </a:solidFill>
                <a:latin typeface="Calibri"/>
              </a:rPr>
              <a:t>▸  0,5-1,0 soatdan so‘ng ter ajralishi hisobiga ko‘k dog‘ paydo bo‘ladi; usul o‘limdan 30 soat oralig‘ida qo‘llanadi.</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betlar: 222</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Murda o‘zgarishlari tasnifi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O’lim vaqtini aniqlash. Evtanaziya turlari. Murda a’zo va to’qimalarning transplantatsiya </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25 / 43</a:t>
            </a:r>
          </a:p>
        </p:txBody>
      </p:sp>
      <p:sp>
        <p:nvSpPr>
          <p:cNvPr id="8" name="TextBox 7"/>
          <p:cNvSpPr txBox="1"/>
          <p:nvPr/>
        </p:nvSpPr>
        <p:spPr>
          <a:xfrm>
            <a:off x="640080" y="1417320"/>
            <a:ext cx="4572000" cy="4480560"/>
          </a:xfrm>
          <a:prstGeom prst="rect">
            <a:avLst/>
          </a:prstGeom>
          <a:noFill/>
        </p:spPr>
        <p:txBody>
          <a:bodyPr wrap="square">
            <a:spAutoFit/>
          </a:bodyPr>
          <a:lstStyle/>
          <a:p>
            <a:pPr>
              <a:spcAft>
                <a:spcPts val="800"/>
              </a:spcAft>
            </a:pPr>
            <a:r>
              <a:rPr sz="1800">
                <a:solidFill>
                  <a:srgbClr val="1F2937"/>
                </a:solidFill>
                <a:latin typeface="Calibri"/>
              </a:rPr>
              <a:t>▸  Ilk o‘zgarishlar birinchi kunda, kech o‘zgarishlar ikkinchi kundan boshlab paydo bo‘ladi.</a:t>
            </a:r>
          </a:p>
          <a:p>
            <a:pPr>
              <a:spcAft>
                <a:spcPts val="800"/>
              </a:spcAft>
            </a:pPr>
            <a:r>
              <a:rPr sz="1800">
                <a:solidFill>
                  <a:srgbClr val="1F2937"/>
                </a:solidFill>
                <a:latin typeface="Calibri"/>
              </a:rPr>
              <a:t>▸  Sun’iy: qismlash, yoqish, eritish (yemiruvchi); balzamlash, muzlatish (saqlovchi). O‘lim muddatiga bog‘liq emas.</a:t>
            </a:r>
          </a:p>
          <a:p>
            <a:pPr>
              <a:spcAft>
                <a:spcPts val="800"/>
              </a:spcAft>
            </a:pPr>
            <a:r>
              <a:rPr sz="1800">
                <a:solidFill>
                  <a:srgbClr val="1F2937"/>
                </a:solidFill>
                <a:latin typeface="Calibri"/>
              </a:rPr>
              <a:t>▸  Diqqat: autoliz — ilk o‘zgarish, chirish — kech yemiruvchi o‘zgarish; ularni aralashtirmang.</a:t>
            </a:r>
          </a:p>
        </p:txBody>
      </p:sp>
      <p:sp>
        <p:nvSpPr>
          <p:cNvPr id="9" name="Rounded Rectangle 8"/>
          <p:cNvSpPr/>
          <p:nvPr/>
        </p:nvSpPr>
        <p:spPr>
          <a:xfrm>
            <a:off x="5440680" y="2788920"/>
            <a:ext cx="2011680" cy="1280160"/>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spcAft>
                <a:spcPts val="200"/>
              </a:spcAft>
            </a:pPr>
            <a:r>
              <a:rPr sz="1800" b="1">
                <a:solidFill>
                  <a:srgbClr val="FFFFFF"/>
                </a:solidFill>
                <a:latin typeface="Calibri"/>
              </a:rPr>
              <a:t>Tabiiy o‘zgarishlar</a:t>
            </a:r>
          </a:p>
        </p:txBody>
      </p:sp>
      <p:cxnSp>
        <p:nvCxnSpPr>
          <p:cNvPr id="10" name="Connector 9"/>
          <p:cNvCxnSpPr/>
          <p:nvPr/>
        </p:nvCxnSpPr>
        <p:spPr>
          <a:xfrm>
            <a:off x="7452360" y="3429000"/>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612380" y="1892808"/>
            <a:ext cx="0" cy="3072384"/>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7612380" y="1892808"/>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7772400" y="1417320"/>
            <a:ext cx="3779215" cy="950976"/>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0" y="1417320"/>
            <a:ext cx="3779215" cy="950976"/>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Ilk (1-kun)</a:t>
            </a:r>
          </a:p>
          <a:p>
            <a:pPr algn="l">
              <a:spcAft>
                <a:spcPts val="0"/>
              </a:spcAft>
            </a:pPr>
            <a:r>
              <a:rPr sz="1200" b="0">
                <a:solidFill>
                  <a:srgbClr val="1F2937"/>
                </a:solidFill>
                <a:latin typeface="Calibri"/>
              </a:rPr>
              <a:t>Sovush, qurish, dog‘  ·  Qotish, autoliz</a:t>
            </a:r>
          </a:p>
        </p:txBody>
      </p:sp>
      <p:cxnSp>
        <p:nvCxnSpPr>
          <p:cNvPr id="15" name="Connector 14"/>
          <p:cNvCxnSpPr/>
          <p:nvPr/>
        </p:nvCxnSpPr>
        <p:spPr>
          <a:xfrm>
            <a:off x="7612380" y="2916936"/>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7772400" y="2441448"/>
            <a:ext cx="3779215" cy="950976"/>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0" y="2441448"/>
            <a:ext cx="3779215" cy="950976"/>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Kech yemiruvchi (2-kundan)</a:t>
            </a:r>
          </a:p>
          <a:p>
            <a:pPr algn="l">
              <a:spcAft>
                <a:spcPts val="0"/>
              </a:spcAft>
            </a:pPr>
            <a:r>
              <a:rPr sz="1200" b="0">
                <a:solidFill>
                  <a:srgbClr val="1F2937"/>
                </a:solidFill>
                <a:latin typeface="Calibri"/>
              </a:rPr>
              <a:t>Chirish  ·  Hasharot, hayvon, qush, baliq</a:t>
            </a:r>
          </a:p>
        </p:txBody>
      </p:sp>
      <p:cxnSp>
        <p:nvCxnSpPr>
          <p:cNvPr id="18" name="Connector 17"/>
          <p:cNvCxnSpPr/>
          <p:nvPr/>
        </p:nvCxnSpPr>
        <p:spPr>
          <a:xfrm>
            <a:off x="7612380" y="3941064"/>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7772400" y="3465576"/>
            <a:ext cx="3779215" cy="950976"/>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72400" y="3465576"/>
            <a:ext cx="3779215" cy="950976"/>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Kech saqlovchi (2-kundan)</a:t>
            </a:r>
          </a:p>
          <a:p>
            <a:pPr algn="l">
              <a:spcAft>
                <a:spcPts val="0"/>
              </a:spcAft>
            </a:pPr>
            <a:r>
              <a:rPr sz="1200" b="0">
                <a:solidFill>
                  <a:srgbClr val="1F2937"/>
                </a:solidFill>
                <a:latin typeface="Calibri"/>
              </a:rPr>
              <a:t>Mumifikatsiya  ·  Yog‘-mo‘m, torfli oshlash</a:t>
            </a:r>
          </a:p>
        </p:txBody>
      </p:sp>
      <p:cxnSp>
        <p:nvCxnSpPr>
          <p:cNvPr id="21" name="Connector 20"/>
          <p:cNvCxnSpPr/>
          <p:nvPr/>
        </p:nvCxnSpPr>
        <p:spPr>
          <a:xfrm>
            <a:off x="7612380" y="4965192"/>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7772400" y="4489704"/>
            <a:ext cx="3779215" cy="950976"/>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772400" y="4489704"/>
            <a:ext cx="3779215" cy="950976"/>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Muzlash</a:t>
            </a:r>
          </a:p>
          <a:p>
            <a:pPr algn="l">
              <a:spcAft>
                <a:spcPts val="0"/>
              </a:spcAft>
            </a:pPr>
            <a:r>
              <a:rPr sz="1200" b="0">
                <a:solidFill>
                  <a:srgbClr val="1F2937"/>
                </a:solidFill>
                <a:latin typeface="Calibri"/>
              </a:rPr>
              <a:t>Tabiiy sharoitda mumkin</a:t>
            </a:r>
          </a:p>
        </p:txBody>
      </p:sp>
      <p:sp>
        <p:nvSpPr>
          <p:cNvPr id="24" name="TextBox 23"/>
          <p:cNvSpPr txBox="1"/>
          <p:nvPr/>
        </p:nvSpPr>
        <p:spPr>
          <a:xfrm>
            <a:off x="5440680" y="5486400"/>
            <a:ext cx="6110935" cy="365760"/>
          </a:xfrm>
          <a:prstGeom prst="rect">
            <a:avLst/>
          </a:prstGeom>
          <a:noFill/>
        </p:spPr>
        <p:txBody>
          <a:bodyPr wrap="square">
            <a:spAutoFit/>
          </a:bodyPr>
          <a:lstStyle/>
          <a:p>
            <a:r>
              <a:rPr sz="1200" b="0">
                <a:solidFill>
                  <a:srgbClr val="6B7280"/>
                </a:solidFill>
                <a:latin typeface="Calibri"/>
              </a:rPr>
              <a:t>Murda o‘zgarishlari sxemasi</a:t>
            </a:r>
          </a:p>
        </p:txBody>
      </p:sp>
      <p:sp>
        <p:nvSpPr>
          <p:cNvPr id="25" name="TextBox 24"/>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betlar: 222-223, 224</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Murdaning sovushi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O’lim vaqtini aniqlash. Evtanaziya turlari. Murda a’zo va to’qimalarning transplantatsiya </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26 / 43</a:t>
            </a:r>
          </a:p>
        </p:txBody>
      </p:sp>
      <p:sp>
        <p:nvSpPr>
          <p:cNvPr id="8" name="TextBox 7"/>
          <p:cNvSpPr txBox="1"/>
          <p:nvPr/>
        </p:nvSpPr>
        <p:spPr>
          <a:xfrm>
            <a:off x="640080" y="1417320"/>
            <a:ext cx="4572000" cy="4480560"/>
          </a:xfrm>
          <a:prstGeom prst="rect">
            <a:avLst/>
          </a:prstGeom>
          <a:noFill/>
        </p:spPr>
        <p:txBody>
          <a:bodyPr wrap="square">
            <a:spAutoFit/>
          </a:bodyPr>
          <a:lstStyle/>
          <a:p>
            <a:pPr>
              <a:spcAft>
                <a:spcPts val="800"/>
              </a:spcAft>
            </a:pPr>
            <a:r>
              <a:rPr sz="1800">
                <a:solidFill>
                  <a:srgbClr val="1F2937"/>
                </a:solidFill>
                <a:latin typeface="Calibri"/>
              </a:rPr>
              <a:t>▸  Termoregulyatsiya buziladi: issiqlik ishlab chiqarilmaydi, ajralishi davom etadi — tana soviydi.</a:t>
            </a:r>
          </a:p>
          <a:p>
            <a:pPr>
              <a:spcAft>
                <a:spcPts val="800"/>
              </a:spcAft>
            </a:pPr>
            <a:r>
              <a:rPr sz="1800">
                <a:solidFill>
                  <a:srgbClr val="1F2937"/>
                </a:solidFill>
                <a:latin typeface="Calibri"/>
              </a:rPr>
              <a:t>▸  Tashqi omillar: havo harorati, namlik, shamol, kiyim. Ichki: yosh, oziqlanish, o‘lim sababi va jadalligi.</a:t>
            </a:r>
          </a:p>
          <a:p>
            <a:pPr>
              <a:spcAft>
                <a:spcPts val="800"/>
              </a:spcAft>
            </a:pPr>
            <a:r>
              <a:rPr sz="1800">
                <a:solidFill>
                  <a:srgbClr val="1F2937"/>
                </a:solidFill>
                <a:latin typeface="Calibri"/>
              </a:rPr>
              <a:t>▸  Xona sharoitida taxminan 1 soatda 1°S pasayadi. Termometriya: og‘iz, qo‘ltiq, to‘g‘ri ichak, jigar.</a:t>
            </a:r>
          </a:p>
        </p:txBody>
      </p:sp>
      <p:sp>
        <p:nvSpPr>
          <p:cNvPr id="9" name="Rounded Rectangle 8"/>
          <p:cNvSpPr/>
          <p:nvPr/>
        </p:nvSpPr>
        <p:spPr>
          <a:xfrm>
            <a:off x="5440680" y="1417320"/>
            <a:ext cx="2973171" cy="1554480"/>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40680" y="1508760"/>
            <a:ext cx="64008" cy="137160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550408" y="1417320"/>
            <a:ext cx="2863443" cy="1554480"/>
          </a:xfrm>
          <a:prstGeom prst="rect">
            <a:avLst/>
          </a:prstGeom>
          <a:noFill/>
        </p:spPr>
        <p:txBody>
          <a:bodyPr wrap="square" anchor="ctr" tIns="36576" bIns="36576">
            <a:spAutoFit/>
          </a:bodyPr>
          <a:lstStyle/>
          <a:p>
            <a:pPr algn="l">
              <a:spcAft>
                <a:spcPts val="100"/>
              </a:spcAft>
            </a:pPr>
            <a:r>
              <a:rPr sz="1300" b="0">
                <a:solidFill>
                  <a:srgbClr val="6B7280"/>
                </a:solidFill>
                <a:latin typeface="Calibri"/>
              </a:rPr>
              <a:t>Qo‘ltiq osti</a:t>
            </a:r>
          </a:p>
          <a:p>
            <a:pPr algn="l">
              <a:spcAft>
                <a:spcPts val="100"/>
              </a:spcAft>
            </a:pPr>
            <a:r>
              <a:rPr sz="2300" b="1">
                <a:solidFill>
                  <a:srgbClr val="0B1F3A"/>
                </a:solidFill>
                <a:latin typeface="Calibri"/>
              </a:rPr>
              <a:t>16 soatdan keyin</a:t>
            </a:r>
          </a:p>
        </p:txBody>
      </p:sp>
      <p:sp>
        <p:nvSpPr>
          <p:cNvPr id="12" name="Rounded Rectangle 11"/>
          <p:cNvSpPr/>
          <p:nvPr/>
        </p:nvSpPr>
        <p:spPr>
          <a:xfrm>
            <a:off x="8578443" y="1417320"/>
            <a:ext cx="2973171" cy="1554480"/>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578443" y="1508760"/>
            <a:ext cx="64008" cy="137160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88171" y="1417320"/>
            <a:ext cx="2863443" cy="1554480"/>
          </a:xfrm>
          <a:prstGeom prst="rect">
            <a:avLst/>
          </a:prstGeom>
          <a:noFill/>
        </p:spPr>
        <p:txBody>
          <a:bodyPr wrap="square" anchor="ctr" tIns="36576" bIns="36576">
            <a:spAutoFit/>
          </a:bodyPr>
          <a:lstStyle/>
          <a:p>
            <a:pPr algn="l">
              <a:spcAft>
                <a:spcPts val="100"/>
              </a:spcAft>
            </a:pPr>
            <a:r>
              <a:rPr sz="1300" b="0">
                <a:solidFill>
                  <a:srgbClr val="6B7280"/>
                </a:solidFill>
                <a:latin typeface="Calibri"/>
              </a:rPr>
              <a:t>To‘g‘ri ichak</a:t>
            </a:r>
          </a:p>
          <a:p>
            <a:pPr algn="l">
              <a:spcAft>
                <a:spcPts val="100"/>
              </a:spcAft>
            </a:pPr>
            <a:r>
              <a:rPr sz="2300" b="1">
                <a:solidFill>
                  <a:srgbClr val="0B1F3A"/>
                </a:solidFill>
                <a:latin typeface="Calibri"/>
              </a:rPr>
              <a:t>19 soatdan keyin</a:t>
            </a:r>
          </a:p>
        </p:txBody>
      </p:sp>
      <p:sp>
        <p:nvSpPr>
          <p:cNvPr id="15" name="Rounded Rectangle 14"/>
          <p:cNvSpPr/>
          <p:nvPr/>
        </p:nvSpPr>
        <p:spPr>
          <a:xfrm>
            <a:off x="5440680" y="3118104"/>
            <a:ext cx="2973171" cy="1554480"/>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40680" y="3209544"/>
            <a:ext cx="64008" cy="137160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550408" y="3118104"/>
            <a:ext cx="2863443" cy="1554480"/>
          </a:xfrm>
          <a:prstGeom prst="rect">
            <a:avLst/>
          </a:prstGeom>
          <a:noFill/>
        </p:spPr>
        <p:txBody>
          <a:bodyPr wrap="square" anchor="ctr" tIns="36576" bIns="36576">
            <a:spAutoFit/>
          </a:bodyPr>
          <a:lstStyle/>
          <a:p>
            <a:pPr algn="l">
              <a:spcAft>
                <a:spcPts val="100"/>
              </a:spcAft>
            </a:pPr>
            <a:r>
              <a:rPr sz="1300" b="0">
                <a:solidFill>
                  <a:srgbClr val="6B7280"/>
                </a:solidFill>
                <a:latin typeface="Calibri"/>
              </a:rPr>
              <a:t>Jigar</a:t>
            </a:r>
          </a:p>
          <a:p>
            <a:pPr algn="l">
              <a:spcAft>
                <a:spcPts val="100"/>
              </a:spcAft>
            </a:pPr>
            <a:r>
              <a:rPr sz="2300" b="1">
                <a:solidFill>
                  <a:srgbClr val="0B1F3A"/>
                </a:solidFill>
                <a:latin typeface="Calibri"/>
              </a:rPr>
              <a:t>25 soatdan keyin</a:t>
            </a:r>
          </a:p>
        </p:txBody>
      </p:sp>
      <p:sp>
        <p:nvSpPr>
          <p:cNvPr id="18" name="Rounded Rectangle 17"/>
          <p:cNvSpPr/>
          <p:nvPr/>
        </p:nvSpPr>
        <p:spPr>
          <a:xfrm>
            <a:off x="8578443" y="3118104"/>
            <a:ext cx="2973171" cy="1554480"/>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578443" y="3209544"/>
            <a:ext cx="64008" cy="137160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688171" y="3118104"/>
            <a:ext cx="2863443" cy="1554480"/>
          </a:xfrm>
          <a:prstGeom prst="rect">
            <a:avLst/>
          </a:prstGeom>
          <a:noFill/>
        </p:spPr>
        <p:txBody>
          <a:bodyPr wrap="square" anchor="ctr" tIns="36576" bIns="36576">
            <a:spAutoFit/>
          </a:bodyPr>
          <a:lstStyle/>
          <a:p>
            <a:pPr algn="l">
              <a:spcAft>
                <a:spcPts val="100"/>
              </a:spcAft>
            </a:pPr>
            <a:r>
              <a:rPr sz="1300" b="0">
                <a:solidFill>
                  <a:srgbClr val="6B7280"/>
                </a:solidFill>
                <a:latin typeface="Calibri"/>
              </a:rPr>
              <a:t>Xonada sovish</a:t>
            </a:r>
          </a:p>
          <a:p>
            <a:pPr algn="l">
              <a:spcAft>
                <a:spcPts val="100"/>
              </a:spcAft>
            </a:pPr>
            <a:r>
              <a:rPr sz="3000" b="1">
                <a:solidFill>
                  <a:srgbClr val="0B1F3A"/>
                </a:solidFill>
                <a:latin typeface="Calibri"/>
              </a:rPr>
              <a:t>≈1</a:t>
            </a:r>
            <a:r>
              <a:rPr sz="1500" b="0">
                <a:solidFill>
                  <a:srgbClr val="6B7280"/>
                </a:solidFill>
                <a:latin typeface="Calibri"/>
              </a:rPr>
              <a:t>  °S/soat</a:t>
            </a:r>
          </a:p>
        </p:txBody>
      </p:sp>
      <p:sp>
        <p:nvSpPr>
          <p:cNvPr id="21" name="TextBox 20"/>
          <p:cNvSpPr txBox="1"/>
          <p:nvPr/>
        </p:nvSpPr>
        <p:spPr>
          <a:xfrm>
            <a:off x="5440680" y="5486400"/>
            <a:ext cx="6110935" cy="365760"/>
          </a:xfrm>
          <a:prstGeom prst="rect">
            <a:avLst/>
          </a:prstGeom>
          <a:noFill/>
        </p:spPr>
        <p:txBody>
          <a:bodyPr wrap="square">
            <a:spAutoFit/>
          </a:bodyPr>
          <a:lstStyle/>
          <a:p>
            <a:r>
              <a:rPr sz="1200" b="0">
                <a:solidFill>
                  <a:srgbClr val="6B7280"/>
                </a:solidFill>
                <a:latin typeface="Calibri"/>
              </a:rPr>
              <a:t>Harorat atrof-muhit bilan tenglashishi</a:t>
            </a:r>
          </a:p>
        </p:txBody>
      </p:sp>
      <p:sp>
        <p:nvSpPr>
          <p:cNvPr id="22" name="TextBox 21"/>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betlar: 224</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Murdaning qurishi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O’lim vaqtini aniqlash. Evtanaziya turlari. Murda a’zo va to’qimalarning transplantatsiya </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27 / 43</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Qurish bezlar ajratmasi to‘xtashi va namlik bug‘lanishi bilan bog‘liq. Avval nam joylar (lab hoshiyasi, shilliq qavat, shox parda) quriydi.</a:t>
            </a:r>
          </a:p>
          <a:p>
            <a:pPr>
              <a:spcAft>
                <a:spcPts val="1200"/>
              </a:spcAft>
            </a:pPr>
            <a:r>
              <a:rPr sz="2200">
                <a:solidFill>
                  <a:srgbClr val="1F2937"/>
                </a:solidFill>
                <a:latin typeface="Calibri"/>
              </a:rPr>
              <a:t>▸  Ko‘z ochiq bo‘lsa: 1–3 soatda shox parda xiralashadi, 4–5 soatda kon’yunktivada uchburchak qo‘ng‘ir-jigar rang Lyarshe dog‘i paydo bo‘ladi.</a:t>
            </a:r>
          </a:p>
          <a:p>
            <a:pPr>
              <a:spcAft>
                <a:spcPts val="1200"/>
              </a:spcAft>
            </a:pPr>
            <a:r>
              <a:rPr sz="2200">
                <a:solidFill>
                  <a:srgbClr val="1F2937"/>
                </a:solidFill>
                <a:latin typeface="Calibri"/>
              </a:rPr>
              <a:t>▸  Shikastlangan sohalar qurib, atrofdagi teridan qattiqroq, sarg‘ish-qo‘ng‘ir bo‘ladi (pergament dog‘lari). Terining tortilishi soch, timoq o‘sganday ko‘rinadi.</a:t>
            </a:r>
          </a:p>
          <a:p>
            <a:pPr>
              <a:spcAft>
                <a:spcPts val="1200"/>
              </a:spcAft>
            </a:pPr>
            <a:r>
              <a:rPr sz="2200">
                <a:solidFill>
                  <a:srgbClr val="1F2937"/>
                </a:solidFill>
                <a:latin typeface="Calibri"/>
              </a:rPr>
              <a:t>▸  Diqqat: pergament dog‘i ≠ hayotiy shilinma. Iliq fiziologik eritmali doka 5–10 daqiqa qo‘yilsa, pergament yumshab oqaradi, shilinma o‘zgarmaydi.</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betlar: 224, 225</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Murda qotishi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O’lim vaqtini aniqlash. Evtanaziya turlari. Murda a’zo va to’qimalarning transplantatsiya </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28 / 43</a:t>
            </a:r>
          </a:p>
        </p:txBody>
      </p:sp>
      <p:sp>
        <p:nvSpPr>
          <p:cNvPr id="8" name="TextBox 7"/>
          <p:cNvSpPr txBox="1"/>
          <p:nvPr/>
        </p:nvSpPr>
        <p:spPr>
          <a:xfrm>
            <a:off x="640080" y="1417320"/>
            <a:ext cx="4572000" cy="4480560"/>
          </a:xfrm>
          <a:prstGeom prst="rect">
            <a:avLst/>
          </a:prstGeom>
          <a:noFill/>
        </p:spPr>
        <p:txBody>
          <a:bodyPr wrap="square">
            <a:spAutoFit/>
          </a:bodyPr>
          <a:lstStyle/>
          <a:p>
            <a:pPr>
              <a:spcAft>
                <a:spcPts val="800"/>
              </a:spcAft>
            </a:pPr>
            <a:r>
              <a:rPr sz="1800">
                <a:solidFill>
                  <a:srgbClr val="1F2937"/>
                </a:solidFill>
                <a:latin typeface="Calibri"/>
              </a:rPr>
              <a:t>▸  AUF (adenozinuchfosfat kislota) kamayishi qotishga olib keladi; kalsiy ortishi ham muhim.</a:t>
            </a:r>
          </a:p>
          <a:p>
            <a:pPr>
              <a:spcAft>
                <a:spcPts val="800"/>
              </a:spcAft>
            </a:pPr>
            <a:r>
              <a:rPr sz="1800">
                <a:solidFill>
                  <a:srgbClr val="1F2937"/>
                </a:solidFill>
                <a:latin typeface="Calibri"/>
              </a:rPr>
              <a:t>▸  Erta buzilgan qotish kuchsizroq tiklanadi, keyin tiklanmaydi: murda holati o‘zgartirilganini ko‘rsatadi.</a:t>
            </a:r>
          </a:p>
          <a:p>
            <a:pPr>
              <a:spcAft>
                <a:spcPts val="800"/>
              </a:spcAft>
            </a:pPr>
            <a:r>
              <a:rPr sz="1800">
                <a:solidFill>
                  <a:srgbClr val="1F2937"/>
                </a:solidFill>
                <a:latin typeface="Calibri"/>
              </a:rPr>
              <a:t>▸  Kataleptik qotish darhol, barcha mushaklarda: uzunchoq miya shikasti, talvasali zaharlanish yoki kasallik.</a:t>
            </a:r>
          </a:p>
        </p:txBody>
      </p:sp>
      <p:sp>
        <p:nvSpPr>
          <p:cNvPr id="9" name="Rounded Rectangle 8"/>
          <p:cNvSpPr/>
          <p:nvPr/>
        </p:nvSpPr>
        <p:spPr>
          <a:xfrm>
            <a:off x="5440680" y="1417320"/>
            <a:ext cx="2973171" cy="1947672"/>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5550408" y="2162556"/>
            <a:ext cx="457200" cy="457200"/>
          </a:xfrm>
          <a:prstGeom prst="ellipse">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spcAft>
                <a:spcPts val="200"/>
              </a:spcAft>
            </a:pPr>
            <a:r>
              <a:rPr sz="1600" b="1">
                <a:solidFill>
                  <a:srgbClr val="FFFFFF"/>
                </a:solidFill>
                <a:latin typeface="Calibri"/>
              </a:rPr>
              <a:t>1</a:t>
            </a:r>
          </a:p>
        </p:txBody>
      </p:sp>
      <p:sp>
        <p:nvSpPr>
          <p:cNvPr id="11" name="TextBox 10"/>
          <p:cNvSpPr txBox="1"/>
          <p:nvPr/>
        </p:nvSpPr>
        <p:spPr>
          <a:xfrm>
            <a:off x="6080760" y="1417320"/>
            <a:ext cx="2259939" cy="1947672"/>
          </a:xfrm>
          <a:prstGeom prst="rect">
            <a:avLst/>
          </a:prstGeom>
          <a:noFill/>
        </p:spPr>
        <p:txBody>
          <a:bodyPr wrap="square" anchor="ctr" lIns="18288" rIns="18288" tIns="36576" bIns="36576">
            <a:spAutoFit/>
          </a:bodyPr>
          <a:lstStyle/>
          <a:p>
            <a:pPr algn="l">
              <a:spcAft>
                <a:spcPts val="200"/>
              </a:spcAft>
            </a:pPr>
            <a:r>
              <a:rPr sz="1600" b="1">
                <a:solidFill>
                  <a:srgbClr val="0B1F3A"/>
                </a:solidFill>
                <a:latin typeface="Calibri"/>
              </a:rPr>
              <a:t>1–3 soat</a:t>
            </a:r>
          </a:p>
          <a:p>
            <a:pPr algn="l">
              <a:spcAft>
                <a:spcPts val="200"/>
              </a:spcAft>
            </a:pPr>
            <a:r>
              <a:rPr sz="1400" b="0">
                <a:solidFill>
                  <a:srgbClr val="1F2937"/>
                </a:solidFill>
                <a:latin typeface="Calibri"/>
              </a:rPr>
              <a:t>Avval chaynash mushaklarida aniqlanadi</a:t>
            </a:r>
          </a:p>
        </p:txBody>
      </p:sp>
      <p:sp>
        <p:nvSpPr>
          <p:cNvPr id="12" name="Rounded Rectangle 11"/>
          <p:cNvSpPr/>
          <p:nvPr/>
        </p:nvSpPr>
        <p:spPr>
          <a:xfrm>
            <a:off x="8578443" y="1417320"/>
            <a:ext cx="2973171" cy="1947672"/>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8688171" y="2162556"/>
            <a:ext cx="457200" cy="457200"/>
          </a:xfrm>
          <a:prstGeom prst="ellipse">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spcAft>
                <a:spcPts val="200"/>
              </a:spcAft>
            </a:pPr>
            <a:r>
              <a:rPr sz="1600" b="1">
                <a:solidFill>
                  <a:srgbClr val="FFFFFF"/>
                </a:solidFill>
                <a:latin typeface="Calibri"/>
              </a:rPr>
              <a:t>2</a:t>
            </a:r>
          </a:p>
        </p:txBody>
      </p:sp>
      <p:sp>
        <p:nvSpPr>
          <p:cNvPr id="14" name="TextBox 13"/>
          <p:cNvSpPr txBox="1"/>
          <p:nvPr/>
        </p:nvSpPr>
        <p:spPr>
          <a:xfrm>
            <a:off x="9218523" y="1417320"/>
            <a:ext cx="2259939" cy="1947672"/>
          </a:xfrm>
          <a:prstGeom prst="rect">
            <a:avLst/>
          </a:prstGeom>
          <a:noFill/>
        </p:spPr>
        <p:txBody>
          <a:bodyPr wrap="square" anchor="ctr" lIns="18288" rIns="18288" tIns="36576" bIns="36576">
            <a:spAutoFit/>
          </a:bodyPr>
          <a:lstStyle/>
          <a:p>
            <a:pPr algn="l">
              <a:spcAft>
                <a:spcPts val="200"/>
              </a:spcAft>
            </a:pPr>
            <a:r>
              <a:rPr sz="1600" b="1">
                <a:solidFill>
                  <a:srgbClr val="0B1F3A"/>
                </a:solidFill>
                <a:latin typeface="Calibri"/>
              </a:rPr>
              <a:t>12–16 soat</a:t>
            </a:r>
          </a:p>
          <a:p>
            <a:pPr algn="l">
              <a:spcAft>
                <a:spcPts val="200"/>
              </a:spcAft>
            </a:pPr>
            <a:r>
              <a:rPr sz="1400" b="0">
                <a:solidFill>
                  <a:srgbClr val="1F2937"/>
                </a:solidFill>
                <a:latin typeface="Calibri"/>
              </a:rPr>
              <a:t>Barcha mushaklarda qotish</a:t>
            </a:r>
          </a:p>
        </p:txBody>
      </p:sp>
      <p:sp>
        <p:nvSpPr>
          <p:cNvPr id="15" name="Rounded Rectangle 14"/>
          <p:cNvSpPr/>
          <p:nvPr/>
        </p:nvSpPr>
        <p:spPr>
          <a:xfrm>
            <a:off x="5440680" y="3493008"/>
            <a:ext cx="2973171" cy="1947672"/>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5550408" y="4238244"/>
            <a:ext cx="457200" cy="457200"/>
          </a:xfrm>
          <a:prstGeom prst="ellipse">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spcAft>
                <a:spcPts val="200"/>
              </a:spcAft>
            </a:pPr>
            <a:r>
              <a:rPr sz="1600" b="1">
                <a:solidFill>
                  <a:srgbClr val="FFFFFF"/>
                </a:solidFill>
                <a:latin typeface="Calibri"/>
              </a:rPr>
              <a:t>3</a:t>
            </a:r>
          </a:p>
        </p:txBody>
      </p:sp>
      <p:sp>
        <p:nvSpPr>
          <p:cNvPr id="17" name="TextBox 16"/>
          <p:cNvSpPr txBox="1"/>
          <p:nvPr/>
        </p:nvSpPr>
        <p:spPr>
          <a:xfrm>
            <a:off x="6080760" y="3493008"/>
            <a:ext cx="2259939" cy="1947672"/>
          </a:xfrm>
          <a:prstGeom prst="rect">
            <a:avLst/>
          </a:prstGeom>
          <a:noFill/>
        </p:spPr>
        <p:txBody>
          <a:bodyPr wrap="square" anchor="ctr" lIns="18288" rIns="18288" tIns="36576" bIns="36576">
            <a:spAutoFit/>
          </a:bodyPr>
          <a:lstStyle/>
          <a:p>
            <a:pPr algn="l">
              <a:spcAft>
                <a:spcPts val="200"/>
              </a:spcAft>
            </a:pPr>
            <a:r>
              <a:rPr sz="1600" b="1">
                <a:solidFill>
                  <a:srgbClr val="0B1F3A"/>
                </a:solidFill>
                <a:latin typeface="Calibri"/>
              </a:rPr>
              <a:t>24 soat</a:t>
            </a:r>
          </a:p>
          <a:p>
            <a:pPr algn="l">
              <a:spcAft>
                <a:spcPts val="200"/>
              </a:spcAft>
            </a:pPr>
            <a:r>
              <a:rPr sz="1400" b="0">
                <a:solidFill>
                  <a:srgbClr val="1F2937"/>
                </a:solidFill>
                <a:latin typeface="Calibri"/>
              </a:rPr>
              <a:t>Maksimal daraja</a:t>
            </a:r>
          </a:p>
        </p:txBody>
      </p:sp>
      <p:sp>
        <p:nvSpPr>
          <p:cNvPr id="18" name="Rounded Rectangle 17"/>
          <p:cNvSpPr/>
          <p:nvPr/>
        </p:nvSpPr>
        <p:spPr>
          <a:xfrm>
            <a:off x="8578443" y="3493008"/>
            <a:ext cx="2973171" cy="1947672"/>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688171" y="4238244"/>
            <a:ext cx="457200" cy="457200"/>
          </a:xfrm>
          <a:prstGeom prst="ellipse">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spcAft>
                <a:spcPts val="200"/>
              </a:spcAft>
            </a:pPr>
            <a:r>
              <a:rPr sz="1600" b="1">
                <a:solidFill>
                  <a:srgbClr val="FFFFFF"/>
                </a:solidFill>
                <a:latin typeface="Calibri"/>
              </a:rPr>
              <a:t>4</a:t>
            </a:r>
          </a:p>
        </p:txBody>
      </p:sp>
      <p:sp>
        <p:nvSpPr>
          <p:cNvPr id="20" name="TextBox 19"/>
          <p:cNvSpPr txBox="1"/>
          <p:nvPr/>
        </p:nvSpPr>
        <p:spPr>
          <a:xfrm>
            <a:off x="9218523" y="3493008"/>
            <a:ext cx="2259939" cy="1947672"/>
          </a:xfrm>
          <a:prstGeom prst="rect">
            <a:avLst/>
          </a:prstGeom>
          <a:noFill/>
        </p:spPr>
        <p:txBody>
          <a:bodyPr wrap="square" anchor="ctr" lIns="18288" rIns="18288" tIns="36576" bIns="36576">
            <a:spAutoFit/>
          </a:bodyPr>
          <a:lstStyle/>
          <a:p>
            <a:pPr algn="l">
              <a:spcAft>
                <a:spcPts val="200"/>
              </a:spcAft>
            </a:pPr>
            <a:r>
              <a:rPr sz="1600" b="1">
                <a:solidFill>
                  <a:srgbClr val="0B1F3A"/>
                </a:solidFill>
                <a:latin typeface="Calibri"/>
              </a:rPr>
              <a:t>3–7 kun</a:t>
            </a:r>
          </a:p>
          <a:p>
            <a:pPr algn="l">
              <a:spcAft>
                <a:spcPts val="200"/>
              </a:spcAft>
            </a:pPr>
            <a:r>
              <a:rPr sz="1400" b="0">
                <a:solidFill>
                  <a:srgbClr val="1F2937"/>
                </a:solidFill>
                <a:latin typeface="Calibri"/>
              </a:rPr>
              <a:t>To‘liq yo‘qoladi</a:t>
            </a:r>
          </a:p>
        </p:txBody>
      </p:sp>
      <p:sp>
        <p:nvSpPr>
          <p:cNvPr id="21" name="TextBox 20"/>
          <p:cNvSpPr txBox="1"/>
          <p:nvPr/>
        </p:nvSpPr>
        <p:spPr>
          <a:xfrm>
            <a:off x="5440680" y="5486400"/>
            <a:ext cx="6110935" cy="365760"/>
          </a:xfrm>
          <a:prstGeom prst="rect">
            <a:avLst/>
          </a:prstGeom>
          <a:noFill/>
        </p:spPr>
        <p:txBody>
          <a:bodyPr wrap="square">
            <a:spAutoFit/>
          </a:bodyPr>
          <a:lstStyle/>
          <a:p>
            <a:r>
              <a:rPr sz="1200" b="0">
                <a:solidFill>
                  <a:srgbClr val="6B7280"/>
                </a:solidFill>
                <a:latin typeface="Calibri"/>
              </a:rPr>
              <a:t>Qotish dinamikasi</a:t>
            </a:r>
          </a:p>
        </p:txBody>
      </p:sp>
      <p:sp>
        <p:nvSpPr>
          <p:cNvPr id="22" name="TextBox 21"/>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betlar: 225-226, 226</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Murda dog‘lari: uch bosqich</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O’lim vaqtini aniqlash. Evtanaziya turlari. Murda a’zo va to’qimalarning transplantatsiya </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29 / 43</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Yurak to‘xtagach, qon og‘irlik kuchi bilan tananing past sohalaridagi tomirlarga oqib tushadi.</a:t>
            </a:r>
          </a:p>
          <a:p>
            <a:pPr>
              <a:spcAft>
                <a:spcPts val="800"/>
              </a:spcAft>
            </a:pPr>
            <a:r>
              <a:rPr sz="1800">
                <a:solidFill>
                  <a:srgbClr val="1F2937"/>
                </a:solidFill>
                <a:latin typeface="Calibri"/>
              </a:rPr>
              <a:t>▸  Gipostaz 8-12 soatgacha davom etadi; eritrotsitlar 6-7 mln/kub mm, staz bosqichida 8-10 mln gacha.</a:t>
            </a:r>
          </a:p>
          <a:p>
            <a:pPr>
              <a:spcAft>
                <a:spcPts val="800"/>
              </a:spcAft>
            </a:pPr>
            <a:r>
              <a:rPr sz="1800">
                <a:solidFill>
                  <a:srgbClr val="1F2937"/>
                </a:solidFill>
                <a:latin typeface="Calibri"/>
              </a:rPr>
              <a:t>▸  Bosqichlar o‘rtasida aniq vaqt chegarasi yo‘q, ular astalik bilan bir-biriga o‘tadi.</a:t>
            </a:r>
          </a:p>
        </p:txBody>
      </p:sp>
      <p:graphicFrame>
        <p:nvGraphicFramePr>
          <p:cNvPr id="9" name="Table 8"/>
          <p:cNvGraphicFramePr>
            <a:graphicFrameLocks noGrp="1"/>
          </p:cNvGraphicFramePr>
          <p:nvPr/>
        </p:nvGraphicFramePr>
        <p:xfrm>
          <a:off x="6263640" y="1463040"/>
          <a:ext cx="5287974" cy="3072384"/>
        </p:xfrm>
        <a:graphic>
          <a:graphicData uri="http://schemas.openxmlformats.org/drawingml/2006/table">
            <a:tbl>
              <a:tblPr firstRow="1" bandRow="1">
                <a:tableStyleId>{5C22544A-7EE6-4342-B048-85BDC9FD1C3A}</a:tableStyleId>
              </a:tblPr>
              <a:tblGrid>
                <a:gridCol w="1771726"/>
                <a:gridCol w="1573530"/>
                <a:gridCol w="1942718"/>
              </a:tblGrid>
              <a:tr h="768096">
                <a:tc>
                  <a:txBody>
                    <a:bodyPr/>
                    <a:lstStyle/>
                    <a:p>
                      <a:r>
                        <a:rPr sz="1600" b="1">
                          <a:solidFill>
                            <a:srgbClr val="FFFFFF"/>
                          </a:solidFill>
                        </a:rPr>
                        <a:t>Bosqich</a:t>
                      </a:r>
                    </a:p>
                  </a:txBody>
                  <a:tcPr marL="73152" marR="73152" marT="36576" marB="36576">
                    <a:solidFill>
                      <a:srgbClr val="0B1F3A"/>
                    </a:solidFill>
                  </a:tcPr>
                </a:tc>
                <a:tc>
                  <a:txBody>
                    <a:bodyPr/>
                    <a:lstStyle/>
                    <a:p>
                      <a:r>
                        <a:rPr sz="1600" b="1">
                          <a:solidFill>
                            <a:srgbClr val="FFFFFF"/>
                          </a:solidFill>
                        </a:rPr>
                        <a:t>Bosilganda</a:t>
                      </a:r>
                    </a:p>
                  </a:txBody>
                  <a:tcPr marL="73152" marR="73152" marT="36576" marB="36576">
                    <a:solidFill>
                      <a:srgbClr val="0B1F3A"/>
                    </a:solidFill>
                  </a:tcPr>
                </a:tc>
                <a:tc>
                  <a:txBody>
                    <a:bodyPr/>
                    <a:lstStyle/>
                    <a:p>
                      <a:r>
                        <a:rPr sz="1600" b="1">
                          <a:solidFill>
                            <a:srgbClr val="FFFFFF"/>
                          </a:solidFill>
                        </a:rPr>
                        <a:t>Holat o‘zgarsa</a:t>
                      </a:r>
                    </a:p>
                  </a:txBody>
                  <a:tcPr marL="73152" marR="73152" marT="36576" marB="36576">
                    <a:solidFill>
                      <a:srgbClr val="0B1F3A"/>
                    </a:solidFill>
                  </a:tcPr>
                </a:tc>
              </a:tr>
              <a:tr h="768096">
                <a:tc>
                  <a:txBody>
                    <a:bodyPr/>
                    <a:lstStyle/>
                    <a:p>
                      <a:r>
                        <a:rPr sz="1500" b="0">
                          <a:solidFill>
                            <a:srgbClr val="1F2937"/>
                          </a:solidFill>
                        </a:rPr>
                        <a:t>Gipostaz, 1,5-2 soatdan</a:t>
                      </a:r>
                    </a:p>
                  </a:txBody>
                  <a:tcPr marL="73152" marR="73152" marT="36576" marB="36576">
                    <a:solidFill>
                      <a:srgbClr val="E8EEF6"/>
                    </a:solidFill>
                  </a:tcPr>
                </a:tc>
                <a:tc>
                  <a:txBody>
                    <a:bodyPr/>
                    <a:lstStyle/>
                    <a:p>
                      <a:r>
                        <a:rPr sz="1500" b="0">
                          <a:solidFill>
                            <a:srgbClr val="1F2937"/>
                          </a:solidFill>
                        </a:rPr>
                        <a:t>Yo‘qoladi, tez tiklanadi</a:t>
                      </a:r>
                    </a:p>
                  </a:txBody>
                  <a:tcPr marL="73152" marR="73152" marT="36576" marB="36576">
                    <a:solidFill>
                      <a:srgbClr val="E8EEF6"/>
                    </a:solidFill>
                  </a:tcPr>
                </a:tc>
                <a:tc>
                  <a:txBody>
                    <a:bodyPr/>
                    <a:lstStyle/>
                    <a:p>
                      <a:r>
                        <a:rPr sz="1500" b="0">
                          <a:solidFill>
                            <a:srgbClr val="1F2937"/>
                          </a:solidFill>
                        </a:rPr>
                        <a:t>Yangi past sohada paydo bo‘ladi</a:t>
                      </a:r>
                    </a:p>
                  </a:txBody>
                  <a:tcPr marL="73152" marR="73152" marT="36576" marB="36576">
                    <a:solidFill>
                      <a:srgbClr val="E8EEF6"/>
                    </a:solidFill>
                  </a:tcPr>
                </a:tc>
              </a:tr>
              <a:tr h="768096">
                <a:tc>
                  <a:txBody>
                    <a:bodyPr/>
                    <a:lstStyle/>
                    <a:p>
                      <a:r>
                        <a:rPr sz="1500" b="0">
                          <a:solidFill>
                            <a:srgbClr val="1F2937"/>
                          </a:solidFill>
                        </a:rPr>
                        <a:t>Staz, 12-24 soat</a:t>
                      </a:r>
                    </a:p>
                  </a:txBody>
                  <a:tcPr marL="73152" marR="73152" marT="36576" marB="36576">
                    <a:solidFill>
                      <a:srgbClr val="FFFFFF"/>
                    </a:solidFill>
                  </a:tcPr>
                </a:tc>
                <a:tc>
                  <a:txBody>
                    <a:bodyPr/>
                    <a:lstStyle/>
                    <a:p>
                      <a:r>
                        <a:rPr sz="1500" b="0">
                          <a:solidFill>
                            <a:srgbClr val="1F2937"/>
                          </a:solidFill>
                        </a:rPr>
                        <a:t>Oqaradi, sekin tiklanadi</a:t>
                      </a:r>
                    </a:p>
                  </a:txBody>
                  <a:tcPr marL="73152" marR="73152" marT="36576" marB="36576">
                    <a:solidFill>
                      <a:srgbClr val="FFFFFF"/>
                    </a:solidFill>
                  </a:tcPr>
                </a:tc>
                <a:tc>
                  <a:txBody>
                    <a:bodyPr/>
                    <a:lstStyle/>
                    <a:p>
                      <a:r>
                        <a:rPr sz="1500" b="0">
                          <a:solidFill>
                            <a:srgbClr val="1F2937"/>
                          </a:solidFill>
                        </a:rPr>
                        <a:t>Qisman yangi sohada paydo bo‘ladi</a:t>
                      </a:r>
                    </a:p>
                  </a:txBody>
                  <a:tcPr marL="73152" marR="73152" marT="36576" marB="36576">
                    <a:solidFill>
                      <a:srgbClr val="FFFFFF"/>
                    </a:solidFill>
                  </a:tcPr>
                </a:tc>
              </a:tr>
              <a:tr h="768096">
                <a:tc>
                  <a:txBody>
                    <a:bodyPr/>
                    <a:lstStyle/>
                    <a:p>
                      <a:r>
                        <a:rPr sz="1500" b="0">
                          <a:solidFill>
                            <a:srgbClr val="1F2937"/>
                          </a:solidFill>
                        </a:rPr>
                        <a:t>Imbibitsiya, chirish hisobiga</a:t>
                      </a:r>
                    </a:p>
                  </a:txBody>
                  <a:tcPr marL="73152" marR="73152" marT="36576" marB="36576">
                    <a:solidFill>
                      <a:srgbClr val="E8EEF6"/>
                    </a:solidFill>
                  </a:tcPr>
                </a:tc>
                <a:tc>
                  <a:txBody>
                    <a:bodyPr/>
                    <a:lstStyle/>
                    <a:p>
                      <a:r>
                        <a:rPr sz="1500" b="0">
                          <a:solidFill>
                            <a:srgbClr val="1F2937"/>
                          </a:solidFill>
                        </a:rPr>
                        <a:t>Rangi o‘zgarmaydi</a:t>
                      </a:r>
                    </a:p>
                  </a:txBody>
                  <a:tcPr marL="73152" marR="73152" marT="36576" marB="36576">
                    <a:solidFill>
                      <a:srgbClr val="E8EEF6"/>
                    </a:solidFill>
                  </a:tcPr>
                </a:tc>
                <a:tc>
                  <a:txBody>
                    <a:bodyPr/>
                    <a:lstStyle/>
                    <a:p>
                      <a:r>
                        <a:rPr sz="1500" b="0">
                          <a:solidFill>
                            <a:srgbClr val="1F2937"/>
                          </a:solidFill>
                        </a:rPr>
                        <a:t>Yangi joyda paydo bo‘lmaydi</a:t>
                      </a:r>
                    </a:p>
                  </a:txBody>
                  <a:tcPr marL="73152" marR="73152" marT="36576" marB="36576">
                    <a:solidFill>
                      <a:srgbClr val="E8EEF6"/>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Dog‘ bosqichlari</a:t>
            </a:r>
          </a:p>
        </p:txBody>
      </p:sp>
      <p:sp>
        <p:nvSpPr>
          <p:cNvPr id="11" name="TextBox 10"/>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betlar: 227</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Murda dog‘lari va qontalash: farqlash</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O’lim vaqtini aniqlash. Evtanaziya turlari. Murda a’zo va to’qimalarning transplantatsiya </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30 / 43</a:t>
            </a:r>
          </a:p>
        </p:txBody>
      </p:sp>
      <p:sp>
        <p:nvSpPr>
          <p:cNvPr id="8" name="TextBox 7"/>
          <p:cNvSpPr txBox="1"/>
          <p:nvPr/>
        </p:nvSpPr>
        <p:spPr>
          <a:xfrm>
            <a:off x="640080" y="1417320"/>
            <a:ext cx="4572000" cy="4480560"/>
          </a:xfrm>
          <a:prstGeom prst="rect">
            <a:avLst/>
          </a:prstGeom>
          <a:noFill/>
        </p:spPr>
        <p:txBody>
          <a:bodyPr wrap="square">
            <a:spAutoFit/>
          </a:bodyPr>
          <a:lstStyle/>
          <a:p>
            <a:pPr>
              <a:spcAft>
                <a:spcPts val="800"/>
              </a:spcAft>
            </a:pPr>
            <a:r>
              <a:rPr sz="1800">
                <a:solidFill>
                  <a:srgbClr val="1F2937"/>
                </a:solidFill>
                <a:latin typeface="Calibri"/>
              </a:rPr>
              <a:t>▸  Xochsimon kesma: dog‘da qon tomchilari yoki imbibitsiyada qon singgan yog‘, qontalashda ivigan qon topiladi.</a:t>
            </a:r>
          </a:p>
          <a:p>
            <a:pPr>
              <a:spcAft>
                <a:spcPts val="800"/>
              </a:spcAft>
            </a:pPr>
            <a:r>
              <a:rPr sz="1800">
                <a:solidFill>
                  <a:srgbClr val="1F2937"/>
                </a:solidFill>
                <a:latin typeface="Calibri"/>
              </a:rPr>
              <a:t>▸  Rang o‘limga bog‘liq: tez o‘limda to‘q qizg‘ish-ko‘kimtir, is gazida pushti-qizil, sianidda olcha rang.</a:t>
            </a:r>
          </a:p>
          <a:p>
            <a:pPr>
              <a:spcAft>
                <a:spcPts val="800"/>
              </a:spcAft>
            </a:pPr>
            <a:r>
              <a:rPr sz="1800">
                <a:solidFill>
                  <a:srgbClr val="1F2937"/>
                </a:solidFill>
                <a:latin typeface="Calibri"/>
              </a:rPr>
              <a:t>▸  Diqqat: murda dog‘i ≠ qontalash. Xato baholansa, asossiz ekspertiza va eksgumatsiyaga olib kelishi mumkin.</a:t>
            </a:r>
          </a:p>
        </p:txBody>
      </p:sp>
      <p:sp>
        <p:nvSpPr>
          <p:cNvPr id="9" name="Rounded Rectangle 8"/>
          <p:cNvSpPr/>
          <p:nvPr/>
        </p:nvSpPr>
        <p:spPr>
          <a:xfrm>
            <a:off x="5440680" y="1417320"/>
            <a:ext cx="2986887" cy="548640"/>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spcAft>
                <a:spcPts val="200"/>
              </a:spcAft>
            </a:pPr>
            <a:r>
              <a:rPr sz="1600" b="1">
                <a:solidFill>
                  <a:srgbClr val="FFFFFF"/>
                </a:solidFill>
                <a:latin typeface="Calibri"/>
              </a:rPr>
              <a:t>Murda dog‘i</a:t>
            </a:r>
          </a:p>
        </p:txBody>
      </p:sp>
      <p:sp>
        <p:nvSpPr>
          <p:cNvPr id="10" name="Rectangle 9"/>
          <p:cNvSpPr/>
          <p:nvPr/>
        </p:nvSpPr>
        <p:spPr>
          <a:xfrm>
            <a:off x="5440680" y="2020824"/>
            <a:ext cx="2986887" cy="3419856"/>
          </a:xfrm>
          <a:prstGeom prst="rect">
            <a:avLst/>
          </a:prstGeom>
          <a:solidFill>
            <a:srgbClr val="E8EEF6"/>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t" wrap="square" tIns="36576" bIns="36576"/>
          <a:lstStyle/>
          <a:p>
            <a:pPr algn="l">
              <a:spcAft>
                <a:spcPts val="700"/>
              </a:spcAft>
            </a:pPr>
            <a:r>
              <a:rPr sz="1500" b="1">
                <a:solidFill>
                  <a:srgbClr val="C9A227"/>
                </a:solidFill>
                <a:latin typeface="Calibri"/>
              </a:rPr>
              <a:t>●  </a:t>
            </a:r>
            <a:r>
              <a:rPr sz="1500" b="0">
                <a:solidFill>
                  <a:srgbClr val="1F2937"/>
                </a:solidFill>
                <a:latin typeface="Calibri"/>
              </a:rPr>
              <a:t>Tananing past sohalarida</a:t>
            </a:r>
          </a:p>
          <a:p>
            <a:pPr algn="l">
              <a:spcAft>
                <a:spcPts val="700"/>
              </a:spcAft>
            </a:pPr>
            <a:r>
              <a:rPr sz="1500" b="1">
                <a:solidFill>
                  <a:srgbClr val="C9A227"/>
                </a:solidFill>
                <a:latin typeface="Calibri"/>
              </a:rPr>
              <a:t>●  </a:t>
            </a:r>
            <a:r>
              <a:rPr sz="1500" b="0">
                <a:solidFill>
                  <a:srgbClr val="1F2937"/>
                </a:solidFill>
                <a:latin typeface="Calibri"/>
              </a:rPr>
              <a:t>Chegarasi noaniq, qo‘shilib ketadi</a:t>
            </a:r>
          </a:p>
          <a:p>
            <a:pPr algn="l">
              <a:spcAft>
                <a:spcPts val="700"/>
              </a:spcAft>
            </a:pPr>
            <a:r>
              <a:rPr sz="1500" b="1">
                <a:solidFill>
                  <a:srgbClr val="C9A227"/>
                </a:solidFill>
                <a:latin typeface="Calibri"/>
              </a:rPr>
              <a:t>●  </a:t>
            </a:r>
            <a:r>
              <a:rPr sz="1500" b="0">
                <a:solidFill>
                  <a:srgbClr val="1F2937"/>
                </a:solidFill>
                <a:latin typeface="Calibri"/>
              </a:rPr>
              <a:t>Bosilganda yo‘qoladi yoki oqaradi</a:t>
            </a:r>
          </a:p>
          <a:p>
            <a:pPr algn="l">
              <a:spcAft>
                <a:spcPts val="700"/>
              </a:spcAft>
            </a:pPr>
            <a:r>
              <a:rPr sz="1500" b="1">
                <a:solidFill>
                  <a:srgbClr val="C9A227"/>
                </a:solidFill>
                <a:latin typeface="Calibri"/>
              </a:rPr>
              <a:t>●  </a:t>
            </a:r>
            <a:r>
              <a:rPr sz="1500" b="0">
                <a:solidFill>
                  <a:srgbClr val="1F2937"/>
                </a:solidFill>
                <a:latin typeface="Calibri"/>
              </a:rPr>
              <a:t>Kesmada: qon tomchilari yoki singgan yog‘</a:t>
            </a:r>
          </a:p>
        </p:txBody>
      </p:sp>
      <p:sp>
        <p:nvSpPr>
          <p:cNvPr id="11" name="Rounded Rectangle 10"/>
          <p:cNvSpPr/>
          <p:nvPr/>
        </p:nvSpPr>
        <p:spPr>
          <a:xfrm>
            <a:off x="8564727" y="1417320"/>
            <a:ext cx="2986887" cy="548640"/>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spcAft>
                <a:spcPts val="200"/>
              </a:spcAft>
            </a:pPr>
            <a:r>
              <a:rPr sz="1600" b="1">
                <a:solidFill>
                  <a:srgbClr val="FFFFFF"/>
                </a:solidFill>
                <a:latin typeface="Calibri"/>
              </a:rPr>
              <a:t>Qontalash</a:t>
            </a:r>
          </a:p>
        </p:txBody>
      </p:sp>
      <p:sp>
        <p:nvSpPr>
          <p:cNvPr id="12" name="Rectangle 11"/>
          <p:cNvSpPr/>
          <p:nvPr/>
        </p:nvSpPr>
        <p:spPr>
          <a:xfrm>
            <a:off x="8564727" y="2020824"/>
            <a:ext cx="2986887" cy="3419856"/>
          </a:xfrm>
          <a:prstGeom prst="rect">
            <a:avLst/>
          </a:prstGeom>
          <a:solidFill>
            <a:srgbClr val="E8EEF6"/>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t" wrap="square" tIns="36576" bIns="36576"/>
          <a:lstStyle/>
          <a:p>
            <a:pPr algn="l">
              <a:spcAft>
                <a:spcPts val="700"/>
              </a:spcAft>
            </a:pPr>
            <a:r>
              <a:rPr sz="1500" b="1">
                <a:solidFill>
                  <a:srgbClr val="C9A227"/>
                </a:solidFill>
                <a:latin typeface="Calibri"/>
              </a:rPr>
              <a:t>●  </a:t>
            </a:r>
            <a:r>
              <a:rPr sz="1500" b="0">
                <a:solidFill>
                  <a:srgbClr val="1F2937"/>
                </a:solidFill>
                <a:latin typeface="Calibri"/>
              </a:rPr>
              <a:t>Tananing turli sohalarida</a:t>
            </a:r>
          </a:p>
          <a:p>
            <a:pPr algn="l">
              <a:spcAft>
                <a:spcPts val="700"/>
              </a:spcAft>
            </a:pPr>
            <a:r>
              <a:rPr sz="1500" b="1">
                <a:solidFill>
                  <a:srgbClr val="C9A227"/>
                </a:solidFill>
                <a:latin typeface="Calibri"/>
              </a:rPr>
              <a:t>●  </a:t>
            </a:r>
            <a:r>
              <a:rPr sz="1500" b="0">
                <a:solidFill>
                  <a:srgbClr val="1F2937"/>
                </a:solidFill>
                <a:latin typeface="Calibri"/>
              </a:rPr>
              <a:t>Aniq shakl, qo‘shilmaydi</a:t>
            </a:r>
          </a:p>
          <a:p>
            <a:pPr algn="l">
              <a:spcAft>
                <a:spcPts val="700"/>
              </a:spcAft>
            </a:pPr>
            <a:r>
              <a:rPr sz="1500" b="1">
                <a:solidFill>
                  <a:srgbClr val="C9A227"/>
                </a:solidFill>
                <a:latin typeface="Calibri"/>
              </a:rPr>
              <a:t>●  </a:t>
            </a:r>
            <a:r>
              <a:rPr sz="1500" b="0">
                <a:solidFill>
                  <a:srgbClr val="1F2937"/>
                </a:solidFill>
                <a:latin typeface="Calibri"/>
              </a:rPr>
              <a:t>Bosilganda rangi o‘zgarmaydi</a:t>
            </a:r>
          </a:p>
          <a:p>
            <a:pPr algn="l">
              <a:spcAft>
                <a:spcPts val="700"/>
              </a:spcAft>
            </a:pPr>
            <a:r>
              <a:rPr sz="1500" b="1">
                <a:solidFill>
                  <a:srgbClr val="C9A227"/>
                </a:solidFill>
                <a:latin typeface="Calibri"/>
              </a:rPr>
              <a:t>●  </a:t>
            </a:r>
            <a:r>
              <a:rPr sz="1500" b="0">
                <a:solidFill>
                  <a:srgbClr val="1F2937"/>
                </a:solidFill>
                <a:latin typeface="Calibri"/>
              </a:rPr>
              <a:t>Kesmada: to‘qimaga quyilgan, ivigan qon</a:t>
            </a:r>
          </a:p>
        </p:txBody>
      </p:sp>
      <p:sp>
        <p:nvSpPr>
          <p:cNvPr id="13" name="TextBox 12"/>
          <p:cNvSpPr txBox="1"/>
          <p:nvPr/>
        </p:nvSpPr>
        <p:spPr>
          <a:xfrm>
            <a:off x="5440680" y="5486400"/>
            <a:ext cx="6110935" cy="365760"/>
          </a:xfrm>
          <a:prstGeom prst="rect">
            <a:avLst/>
          </a:prstGeom>
          <a:noFill/>
        </p:spPr>
        <p:txBody>
          <a:bodyPr wrap="square">
            <a:spAutoFit/>
          </a:bodyPr>
          <a:lstStyle/>
          <a:p>
            <a:r>
              <a:rPr sz="1200" b="0">
                <a:solidFill>
                  <a:srgbClr val="6B7280"/>
                </a:solidFill>
                <a:latin typeface="Calibri"/>
              </a:rPr>
              <a:t>Dog‘ va qontalash</a:t>
            </a:r>
          </a:p>
        </p:txBody>
      </p:sp>
      <p:sp>
        <p:nvSpPr>
          <p:cNvPr id="14" name="TextBox 13"/>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betlar: 228-229, 228</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Tezkor savol: ilk murda o‘zgarishlari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O’lim vaqtini aniqlash. Evtanaziya turlari. Murda a’zo va to’qimalarning transplantatsiya </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31 / 43</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Savol: murda qotishi qachon aniqlana boshlaydi va qaysi mushaklardan boshlanadi? Javob: 1-3 soatdan keyin, avval chaynash mushaklaridan.</a:t>
            </a:r>
          </a:p>
          <a:p>
            <a:pPr>
              <a:spcAft>
                <a:spcPts val="1200"/>
              </a:spcAft>
            </a:pPr>
            <a:r>
              <a:rPr sz="2200">
                <a:solidFill>
                  <a:srgbClr val="1F2937"/>
                </a:solidFill>
                <a:latin typeface="Calibri"/>
              </a:rPr>
              <a:t>▸  Savol: qotish qachon maksimal bo‘ladi va qachon to‘liq yo‘qoladi? Javob: 24 soatdan so‘ng maksimal; 3-7 kunda to‘liq yo‘qoladi.</a:t>
            </a:r>
          </a:p>
          <a:p>
            <a:pPr>
              <a:spcAft>
                <a:spcPts val="1200"/>
              </a:spcAft>
            </a:pPr>
            <a:r>
              <a:rPr sz="2200">
                <a:solidFill>
                  <a:srgbClr val="1F2937"/>
                </a:solidFill>
                <a:latin typeface="Calibri"/>
              </a:rPr>
              <a:t>▸  Savol: xona sharoitida murda harorati soatiga qancha pasayadi? Javob: taxminan bir gradusga.</a:t>
            </a:r>
          </a:p>
          <a:p>
            <a:pPr>
              <a:spcAft>
                <a:spcPts val="1200"/>
              </a:spcAft>
            </a:pPr>
            <a:r>
              <a:rPr sz="2200">
                <a:solidFill>
                  <a:srgbClr val="1F2937"/>
                </a:solidFill>
                <a:latin typeface="Calibri"/>
              </a:rPr>
              <a:t>▸  Savol: murda dog‘lari qachon paydo bo‘ladi va staz qancha davom etadi? Javob: 1,5-2 soatdan so‘ng; staz 12-24 soat.</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betlar: 226, 224, 227</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Autoliz va chirish; murdaning yemirilishi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O’lim vaqtini aniqlash. Evtanaziya turlari. Murda a’zo va to’qimalarning transplantatsiya </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32 / 43</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Autoliz — o‘limdan so‘ng hujayra fermentlarining to‘qimani o‘z-o‘zini hazm qilishi, birinchi kunda boshlanadi; o‘yuvchi zahar ta’siriga o‘xshashi mumkin.</a:t>
            </a:r>
          </a:p>
          <a:p>
            <a:pPr>
              <a:spcAft>
                <a:spcPts val="1200"/>
              </a:spcAft>
            </a:pPr>
            <a:r>
              <a:rPr sz="2200">
                <a:solidFill>
                  <a:srgbClr val="1F2937"/>
                </a:solidFill>
                <a:latin typeface="Calibri"/>
              </a:rPr>
              <a:t>▸  Chirish +20°S dan +40°S gacha yaxshi kechadi, minus va +55°S dan yuqorida to‘xtaydi. Kasper indeksi 1:2:8: havoga nisbatan suvda 2, yerda 8 barobar sekin.</a:t>
            </a:r>
          </a:p>
          <a:p>
            <a:pPr>
              <a:spcAft>
                <a:spcPts val="1200"/>
              </a:spcAft>
            </a:pPr>
            <a:r>
              <a:rPr sz="2200">
                <a:solidFill>
                  <a:srgbClr val="1F2937"/>
                </a:solidFill>
                <a:latin typeface="Calibri"/>
              </a:rPr>
              <a:t>▸  Belgilari: murda yashili (2-kun), chirish venoz to‘ri (3-4 kun), emfizema, pufakchalar (4-6 kun). Tiplari: gazli, nam va quruq.</a:t>
            </a:r>
          </a:p>
          <a:p>
            <a:pPr>
              <a:spcAft>
                <a:spcPts val="1200"/>
              </a:spcAft>
            </a:pPr>
            <a:r>
              <a:rPr sz="2200">
                <a:solidFill>
                  <a:srgbClr val="1F2937"/>
                </a:solidFill>
                <a:latin typeface="Calibri"/>
              </a:rPr>
              <a:t>▸  Pashsha lichinkalari xona haroratida 24-30 soatdan so‘ng paydo bo‘ladi. Hasharotlar muddatni aniqlashga yordam beradi, hayvon va qush yemirishi esa yaramaydi.</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betlar: 229, 230-231, 232-233</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Saqlovchi kech va sun’iy o‘zgarishlar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O’lim vaqtini aniqlash. Evtanaziya turlari. Murda a’zo va to’qimalarning transplantatsiya </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33 / 43</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Bu holatlarda chirish to‘xtaydi, jarohat izlari va tashqi qiyofa saqlanib qolishi mumkin.</a:t>
            </a:r>
          </a:p>
          <a:p>
            <a:pPr>
              <a:spcAft>
                <a:spcPts val="800"/>
              </a:spcAft>
            </a:pPr>
            <a:r>
              <a:rPr sz="1800">
                <a:solidFill>
                  <a:srgbClr val="1F2937"/>
                </a:solidFill>
                <a:latin typeface="Calibri"/>
              </a:rPr>
              <a:t>▸  Balzamlash: son arteriyasi va bo‘shliqlarga etil spirti bilan formalin (teng ulushda) yuboriladi.</a:t>
            </a:r>
          </a:p>
          <a:p>
            <a:pPr>
              <a:spcAft>
                <a:spcPts val="800"/>
              </a:spcAft>
            </a:pPr>
            <a:r>
              <a:rPr sz="1800">
                <a:solidFill>
                  <a:srgbClr val="1F2937"/>
                </a:solidFill>
                <a:latin typeface="Calibri"/>
              </a:rPr>
              <a:t>▸  Qismlash: defenziv (yashirish) va offenziv (qasos); to‘liq yoqish kattada 20 soat, bolada 2-3 soat.</a:t>
            </a:r>
          </a:p>
        </p:txBody>
      </p:sp>
      <p:graphicFrame>
        <p:nvGraphicFramePr>
          <p:cNvPr id="9" name="Table 8"/>
          <p:cNvGraphicFramePr>
            <a:graphicFrameLocks noGrp="1"/>
          </p:cNvGraphicFramePr>
          <p:nvPr/>
        </p:nvGraphicFramePr>
        <p:xfrm>
          <a:off x="6263640" y="1463040"/>
          <a:ext cx="5287975" cy="3072380"/>
        </p:xfrm>
        <a:graphic>
          <a:graphicData uri="http://schemas.openxmlformats.org/drawingml/2006/table">
            <a:tbl>
              <a:tblPr firstRow="1" bandRow="1">
                <a:tableStyleId>{5C22544A-7EE6-4342-B048-85BDC9FD1C3A}</a:tableStyleId>
              </a:tblPr>
              <a:tblGrid>
                <a:gridCol w="1809750"/>
                <a:gridCol w="2282190"/>
                <a:gridCol w="1196035"/>
              </a:tblGrid>
              <a:tr h="614476">
                <a:tc>
                  <a:txBody>
                    <a:bodyPr/>
                    <a:lstStyle/>
                    <a:p>
                      <a:r>
                        <a:rPr sz="1600" b="1">
                          <a:solidFill>
                            <a:srgbClr val="FFFFFF"/>
                          </a:solidFill>
                        </a:rPr>
                        <a:t>Turi</a:t>
                      </a:r>
                    </a:p>
                  </a:txBody>
                  <a:tcPr marL="73152" marR="73152" marT="36576" marB="36576">
                    <a:solidFill>
                      <a:srgbClr val="0B1F3A"/>
                    </a:solidFill>
                  </a:tcPr>
                </a:tc>
                <a:tc>
                  <a:txBody>
                    <a:bodyPr/>
                    <a:lstStyle/>
                    <a:p>
                      <a:r>
                        <a:rPr sz="1600" b="1">
                          <a:solidFill>
                            <a:srgbClr val="FFFFFF"/>
                          </a:solidFill>
                        </a:rPr>
                        <a:t>Sharoit</a:t>
                      </a:r>
                    </a:p>
                  </a:txBody>
                  <a:tcPr marL="73152" marR="73152" marT="36576" marB="36576">
                    <a:solidFill>
                      <a:srgbClr val="0B1F3A"/>
                    </a:solidFill>
                  </a:tcPr>
                </a:tc>
                <a:tc>
                  <a:txBody>
                    <a:bodyPr/>
                    <a:lstStyle/>
                    <a:p>
                      <a:r>
                        <a:rPr sz="1600" b="1">
                          <a:solidFill>
                            <a:srgbClr val="FFFFFF"/>
                          </a:solidFill>
                        </a:rPr>
                        <a:t>Muddat</a:t>
                      </a:r>
                    </a:p>
                  </a:txBody>
                  <a:tcPr marL="73152" marR="73152" marT="36576" marB="36576">
                    <a:solidFill>
                      <a:srgbClr val="0B1F3A"/>
                    </a:solidFill>
                  </a:tcPr>
                </a:tc>
              </a:tr>
              <a:tr h="614476">
                <a:tc>
                  <a:txBody>
                    <a:bodyPr/>
                    <a:lstStyle/>
                    <a:p>
                      <a:r>
                        <a:rPr sz="1500" b="0">
                          <a:solidFill>
                            <a:srgbClr val="1F2937"/>
                          </a:solidFill>
                        </a:rPr>
                        <a:t>Mumifikatsiya</a:t>
                      </a:r>
                    </a:p>
                  </a:txBody>
                  <a:tcPr marL="73152" marR="73152" marT="36576" marB="36576">
                    <a:solidFill>
                      <a:srgbClr val="E8EEF6"/>
                    </a:solidFill>
                  </a:tcPr>
                </a:tc>
                <a:tc>
                  <a:txBody>
                    <a:bodyPr/>
                    <a:lstStyle/>
                    <a:p>
                      <a:r>
                        <a:rPr sz="1500" b="0">
                          <a:solidFill>
                            <a:srgbClr val="1F2937"/>
                          </a:solidFill>
                        </a:rPr>
                        <a:t>Issiq, quruq, shamollatiladigan joy</a:t>
                      </a:r>
                    </a:p>
                  </a:txBody>
                  <a:tcPr marL="73152" marR="73152" marT="36576" marB="36576">
                    <a:solidFill>
                      <a:srgbClr val="E8EEF6"/>
                    </a:solidFill>
                  </a:tcPr>
                </a:tc>
                <a:tc>
                  <a:txBody>
                    <a:bodyPr/>
                    <a:lstStyle/>
                    <a:p>
                      <a:r>
                        <a:rPr sz="1500" b="0">
                          <a:solidFill>
                            <a:srgbClr val="1F2937"/>
                          </a:solidFill>
                        </a:rPr>
                        <a:t>6-12 oy; bolada 4-6 oy</a:t>
                      </a:r>
                    </a:p>
                  </a:txBody>
                  <a:tcPr marL="73152" marR="73152" marT="36576" marB="36576">
                    <a:solidFill>
                      <a:srgbClr val="E8EEF6"/>
                    </a:solidFill>
                  </a:tcPr>
                </a:tc>
              </a:tr>
              <a:tr h="614476">
                <a:tc>
                  <a:txBody>
                    <a:bodyPr/>
                    <a:lstStyle/>
                    <a:p>
                      <a:r>
                        <a:rPr sz="1500" b="0">
                          <a:solidFill>
                            <a:srgbClr val="1F2937"/>
                          </a:solidFill>
                        </a:rPr>
                        <a:t>Yog‘-mo‘m</a:t>
                      </a:r>
                    </a:p>
                  </a:txBody>
                  <a:tcPr marL="73152" marR="73152" marT="36576" marB="36576">
                    <a:solidFill>
                      <a:srgbClr val="FFFFFF"/>
                    </a:solidFill>
                  </a:tcPr>
                </a:tc>
                <a:tc>
                  <a:txBody>
                    <a:bodyPr/>
                    <a:lstStyle/>
                    <a:p>
                      <a:r>
                        <a:rPr sz="1500" b="0">
                          <a:solidFill>
                            <a:srgbClr val="1F2937"/>
                          </a:solidFill>
                        </a:rPr>
                        <a:t>Nam yoki suv, havo kam, sovuqroq</a:t>
                      </a:r>
                    </a:p>
                  </a:txBody>
                  <a:tcPr marL="73152" marR="73152" marT="36576" marB="36576">
                    <a:solidFill>
                      <a:srgbClr val="FFFFFF"/>
                    </a:solidFill>
                  </a:tcPr>
                </a:tc>
                <a:tc>
                  <a:txBody>
                    <a:bodyPr/>
                    <a:lstStyle/>
                    <a:p>
                      <a:r>
                        <a:rPr sz="1500" b="0">
                          <a:solidFill>
                            <a:srgbClr val="1F2937"/>
                          </a:solidFill>
                        </a:rPr>
                        <a:t>10-12 oy; bolada 4-5 oy</a:t>
                      </a:r>
                    </a:p>
                  </a:txBody>
                  <a:tcPr marL="73152" marR="73152" marT="36576" marB="36576">
                    <a:solidFill>
                      <a:srgbClr val="FFFFFF"/>
                    </a:solidFill>
                  </a:tcPr>
                </a:tc>
              </a:tr>
              <a:tr h="614476">
                <a:tc>
                  <a:txBody>
                    <a:bodyPr/>
                    <a:lstStyle/>
                    <a:p>
                      <a:r>
                        <a:rPr sz="1500" b="0">
                          <a:solidFill>
                            <a:srgbClr val="1F2937"/>
                          </a:solidFill>
                        </a:rPr>
                        <a:t>Torfli oshlash</a:t>
                      </a:r>
                    </a:p>
                  </a:txBody>
                  <a:tcPr marL="73152" marR="73152" marT="36576" marB="36576">
                    <a:solidFill>
                      <a:srgbClr val="E8EEF6"/>
                    </a:solidFill>
                  </a:tcPr>
                </a:tc>
                <a:tc>
                  <a:txBody>
                    <a:bodyPr/>
                    <a:lstStyle/>
                    <a:p>
                      <a:r>
                        <a:rPr sz="1500" b="0">
                          <a:solidFill>
                            <a:srgbClr val="1F2937"/>
                          </a:solidFill>
                        </a:rPr>
                        <a:t>Torfli botqoq, gumus kislotalari</a:t>
                      </a:r>
                    </a:p>
                  </a:txBody>
                  <a:tcPr marL="73152" marR="73152" marT="36576" marB="36576">
                    <a:solidFill>
                      <a:srgbClr val="E8EEF6"/>
                    </a:solidFill>
                  </a:tcPr>
                </a:tc>
                <a:tc>
                  <a:txBody>
                    <a:bodyPr/>
                    <a:lstStyle/>
                    <a:p>
                      <a:r>
                        <a:rPr sz="1500" b="0">
                          <a:solidFill>
                            <a:srgbClr val="1F2937"/>
                          </a:solidFill>
                        </a:rPr>
                        <a:t>Ko‘p yillar saqlanadi</a:t>
                      </a:r>
                    </a:p>
                  </a:txBody>
                  <a:tcPr marL="73152" marR="73152" marT="36576" marB="36576">
                    <a:solidFill>
                      <a:srgbClr val="E8EEF6"/>
                    </a:solidFill>
                  </a:tcPr>
                </a:tc>
              </a:tr>
              <a:tr h="614476">
                <a:tc>
                  <a:txBody>
                    <a:bodyPr/>
                    <a:lstStyle/>
                    <a:p>
                      <a:r>
                        <a:rPr sz="1500" b="0">
                          <a:solidFill>
                            <a:srgbClr val="1F2937"/>
                          </a:solidFill>
                        </a:rPr>
                        <a:t>Muzlash</a:t>
                      </a:r>
                    </a:p>
                  </a:txBody>
                  <a:tcPr marL="73152" marR="73152" marT="36576" marB="36576">
                    <a:solidFill>
                      <a:srgbClr val="FFFFFF"/>
                    </a:solidFill>
                  </a:tcPr>
                </a:tc>
                <a:tc>
                  <a:txBody>
                    <a:bodyPr/>
                    <a:lstStyle/>
                    <a:p>
                      <a:r>
                        <a:rPr sz="1500" b="0">
                          <a:solidFill>
                            <a:srgbClr val="1F2937"/>
                          </a:solidFill>
                        </a:rPr>
                        <a:t>Tabiiy past harorat</a:t>
                      </a:r>
                    </a:p>
                  </a:txBody>
                  <a:tcPr marL="73152" marR="73152" marT="36576" marB="36576">
                    <a:solidFill>
                      <a:srgbClr val="FFFFFF"/>
                    </a:solidFill>
                  </a:tcPr>
                </a:tc>
                <a:tc>
                  <a:txBody>
                    <a:bodyPr/>
                    <a:lstStyle/>
                    <a:p>
                      <a:r>
                        <a:rPr sz="1500" b="0">
                          <a:solidFill>
                            <a:srgbClr val="1F2937"/>
                          </a:solidFill>
                        </a:rPr>
                        <a:t>Yillar davomida saqlanishi mumkin</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Saqlovchi o‘zgarishlar solishtirmasi</a:t>
            </a:r>
          </a:p>
        </p:txBody>
      </p:sp>
      <p:sp>
        <p:nvSpPr>
          <p:cNvPr id="11" name="TextBox 10"/>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betlar: 233-234, 235</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O‘lim muddatini aniqlash usullari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O’lim vaqtini aniqlash. Evtanaziya turlari. Murda a’zo va to’qimalarning transplantatsiya </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34 / 43</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Xona sharoitida harorat taxminan soatiga 1°S tushadi. Rektal termometriya kamida ikki marta o‘tkaziladi; formulalar va jadvallar ham bor.</a:t>
            </a:r>
          </a:p>
          <a:p>
            <a:pPr>
              <a:spcAft>
                <a:spcPts val="1200"/>
              </a:spcAft>
            </a:pPr>
            <a:r>
              <a:rPr sz="2200">
                <a:solidFill>
                  <a:srgbClr val="1F2937"/>
                </a:solidFill>
                <a:latin typeface="Calibri"/>
              </a:rPr>
              <a:t>▸  Murda dog‘i 196 kPa kuch bilan 3 soniya bosiladi va rangi tiklanish vaqti o‘lchanadi; jadval o‘lim turiga qarab farq qiladi.</a:t>
            </a:r>
          </a:p>
          <a:p>
            <a:pPr>
              <a:spcAft>
                <a:spcPts val="1200"/>
              </a:spcAft>
            </a:pPr>
            <a:r>
              <a:rPr sz="2200">
                <a:solidFill>
                  <a:srgbClr val="1F2937"/>
                </a:solidFill>
                <a:latin typeface="Calibri"/>
              </a:rPr>
              <a:t>▸  Supravital reaksiyalar (mushak, qorachiq, ter bezi), kaliy miqdori kabi laboratoriya ko‘rsatkichlari va hasharotlar tahlili ham qo‘llanadi.</a:t>
            </a:r>
          </a:p>
          <a:p>
            <a:pPr>
              <a:spcAft>
                <a:spcPts val="1200"/>
              </a:spcAft>
            </a:pPr>
            <a:r>
              <a:rPr sz="2200">
                <a:solidFill>
                  <a:srgbClr val="1F2937"/>
                </a:solidFill>
                <a:latin typeface="Calibri"/>
              </a:rPr>
              <a:t>▸  Hozircha yagona ishonchli usul yo‘q, shuning uchun ko‘p usul qo‘llanadi. Dastlabki 1-2 kunda aniqlik bir necha soat, keyin kunlar, skeletda oy-yillar.</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betlar: 224, 236-237, 237, 222, 237-238, 238</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Rektal termometriya jadvali (Bilkun, 1985)</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O’lim vaqtini aniqlash. Evtanaziya turlari. Murda a’zo va to’qimalarning transplantatsiya </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35 / 43</a:t>
            </a:r>
          </a:p>
        </p:txBody>
      </p:sp>
      <p:sp>
        <p:nvSpPr>
          <p:cNvPr id="8" name="TextBox 7"/>
          <p:cNvSpPr txBox="1"/>
          <p:nvPr/>
        </p:nvSpPr>
        <p:spPr>
          <a:xfrm>
            <a:off x="640080" y="1417320"/>
            <a:ext cx="4572000" cy="4480560"/>
          </a:xfrm>
          <a:prstGeom prst="rect">
            <a:avLst/>
          </a:prstGeom>
          <a:noFill/>
        </p:spPr>
        <p:txBody>
          <a:bodyPr wrap="square">
            <a:spAutoFit/>
          </a:bodyPr>
          <a:lstStyle/>
          <a:p>
            <a:pPr>
              <a:spcAft>
                <a:spcPts val="800"/>
              </a:spcAft>
            </a:pPr>
            <a:r>
              <a:rPr sz="1800">
                <a:solidFill>
                  <a:srgbClr val="1F2937"/>
                </a:solidFill>
                <a:latin typeface="Calibri"/>
              </a:rPr>
              <a:t>▸  Murda rektal harorati o‘lim muddatiga mos pasayadi: jadvalga ko‘ra 2 soatda 38,5°S, 12 soatda 29,2°S, 24 soatda 23,2°S.</a:t>
            </a:r>
          </a:p>
          <a:p>
            <a:pPr>
              <a:spcAft>
                <a:spcPts val="800"/>
              </a:spcAft>
            </a:pPr>
            <a:r>
              <a:rPr sz="1800">
                <a:solidFill>
                  <a:srgbClr val="1F2937"/>
                </a:solidFill>
                <a:latin typeface="Calibri"/>
              </a:rPr>
              <a:t>▸  Harorat to‘g‘ri ichakda o‘lchanadi; termometriya kamida ikki marta, ma’lum vaqt oralig‘ida o‘tkaziladi.</a:t>
            </a:r>
          </a:p>
          <a:p>
            <a:pPr>
              <a:spcAft>
                <a:spcPts val="800"/>
              </a:spcAft>
            </a:pPr>
            <a:r>
              <a:rPr sz="1800">
                <a:solidFill>
                  <a:srgbClr val="1F2937"/>
                </a:solidFill>
                <a:latin typeface="Calibri"/>
              </a:rPr>
              <a:t>▸  Sovushga asoslangan formulalar (Fiddes-Patten, Burmann) va nomogrammalar ham ishlab chiqilgan.</a:t>
            </a:r>
          </a:p>
          <a:p>
            <a:pPr>
              <a:spcAft>
                <a:spcPts val="800"/>
              </a:spcAft>
            </a:pPr>
            <a:r>
              <a:rPr sz="1800">
                <a:solidFill>
                  <a:srgbClr val="1F2937"/>
                </a:solidFill>
                <a:latin typeface="Calibri"/>
              </a:rPr>
              <a:t>▸  Rektal harorat atrof-muhit harorati bilan o‘limdan 30-31 soatdan so‘ng tenglashadi.</a:t>
            </a:r>
          </a:p>
        </p:txBody>
      </p:sp>
      <p:sp>
        <p:nvSpPr>
          <p:cNvPr id="9" name="Rounded Rectangle 8"/>
          <p:cNvSpPr/>
          <p:nvPr/>
        </p:nvSpPr>
        <p:spPr>
          <a:xfrm>
            <a:off x="5440680" y="1417320"/>
            <a:ext cx="2973171" cy="1243584"/>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40680" y="1508760"/>
            <a:ext cx="64008" cy="106070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550408" y="1417320"/>
            <a:ext cx="2863443" cy="1243584"/>
          </a:xfrm>
          <a:prstGeom prst="rect">
            <a:avLst/>
          </a:prstGeom>
          <a:noFill/>
        </p:spPr>
        <p:txBody>
          <a:bodyPr wrap="square" anchor="ctr" tIns="36576" bIns="36576">
            <a:spAutoFit/>
          </a:bodyPr>
          <a:lstStyle/>
          <a:p>
            <a:pPr algn="l">
              <a:spcAft>
                <a:spcPts val="100"/>
              </a:spcAft>
            </a:pPr>
            <a:r>
              <a:rPr sz="1300" b="0">
                <a:solidFill>
                  <a:srgbClr val="6B7280"/>
                </a:solidFill>
                <a:latin typeface="Calibri"/>
              </a:rPr>
              <a:t>2 soat</a:t>
            </a:r>
          </a:p>
          <a:p>
            <a:pPr algn="l">
              <a:spcAft>
                <a:spcPts val="100"/>
              </a:spcAft>
            </a:pPr>
            <a:r>
              <a:rPr sz="3000" b="1">
                <a:solidFill>
                  <a:srgbClr val="0B1F3A"/>
                </a:solidFill>
                <a:latin typeface="Calibri"/>
              </a:rPr>
              <a:t>38,5</a:t>
            </a:r>
            <a:r>
              <a:rPr sz="1500" b="0">
                <a:solidFill>
                  <a:srgbClr val="6B7280"/>
                </a:solidFill>
                <a:latin typeface="Calibri"/>
              </a:rPr>
              <a:t>  °S</a:t>
            </a:r>
          </a:p>
        </p:txBody>
      </p:sp>
      <p:sp>
        <p:nvSpPr>
          <p:cNvPr id="12" name="Rounded Rectangle 11"/>
          <p:cNvSpPr/>
          <p:nvPr/>
        </p:nvSpPr>
        <p:spPr>
          <a:xfrm>
            <a:off x="8578443" y="1417320"/>
            <a:ext cx="2973171" cy="1243584"/>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578443" y="1508760"/>
            <a:ext cx="64008" cy="106070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88171" y="1417320"/>
            <a:ext cx="2863443" cy="1243584"/>
          </a:xfrm>
          <a:prstGeom prst="rect">
            <a:avLst/>
          </a:prstGeom>
          <a:noFill/>
        </p:spPr>
        <p:txBody>
          <a:bodyPr wrap="square" anchor="ctr" tIns="36576" bIns="36576">
            <a:spAutoFit/>
          </a:bodyPr>
          <a:lstStyle/>
          <a:p>
            <a:pPr algn="l">
              <a:spcAft>
                <a:spcPts val="100"/>
              </a:spcAft>
            </a:pPr>
            <a:r>
              <a:rPr sz="1300" b="0">
                <a:solidFill>
                  <a:srgbClr val="6B7280"/>
                </a:solidFill>
                <a:latin typeface="Calibri"/>
              </a:rPr>
              <a:t>6 soat</a:t>
            </a:r>
          </a:p>
          <a:p>
            <a:pPr algn="l">
              <a:spcAft>
                <a:spcPts val="100"/>
              </a:spcAft>
            </a:pPr>
            <a:r>
              <a:rPr sz="3000" b="1">
                <a:solidFill>
                  <a:srgbClr val="0B1F3A"/>
                </a:solidFill>
                <a:latin typeface="Calibri"/>
              </a:rPr>
              <a:t>32,8</a:t>
            </a:r>
            <a:r>
              <a:rPr sz="1500" b="0">
                <a:solidFill>
                  <a:srgbClr val="6B7280"/>
                </a:solidFill>
                <a:latin typeface="Calibri"/>
              </a:rPr>
              <a:t>  °S</a:t>
            </a:r>
          </a:p>
        </p:txBody>
      </p:sp>
      <p:sp>
        <p:nvSpPr>
          <p:cNvPr id="15" name="Rounded Rectangle 14"/>
          <p:cNvSpPr/>
          <p:nvPr/>
        </p:nvSpPr>
        <p:spPr>
          <a:xfrm>
            <a:off x="5440680" y="2807208"/>
            <a:ext cx="2973171" cy="1243584"/>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40680" y="2898648"/>
            <a:ext cx="64008" cy="106070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550408" y="2807208"/>
            <a:ext cx="2863443" cy="1243584"/>
          </a:xfrm>
          <a:prstGeom prst="rect">
            <a:avLst/>
          </a:prstGeom>
          <a:noFill/>
        </p:spPr>
        <p:txBody>
          <a:bodyPr wrap="square" anchor="ctr" tIns="36576" bIns="36576">
            <a:spAutoFit/>
          </a:bodyPr>
          <a:lstStyle/>
          <a:p>
            <a:pPr algn="l">
              <a:spcAft>
                <a:spcPts val="100"/>
              </a:spcAft>
            </a:pPr>
            <a:r>
              <a:rPr sz="1300" b="0">
                <a:solidFill>
                  <a:srgbClr val="6B7280"/>
                </a:solidFill>
                <a:latin typeface="Calibri"/>
              </a:rPr>
              <a:t>12 soat</a:t>
            </a:r>
          </a:p>
          <a:p>
            <a:pPr algn="l">
              <a:spcAft>
                <a:spcPts val="100"/>
              </a:spcAft>
            </a:pPr>
            <a:r>
              <a:rPr sz="3000" b="1">
                <a:solidFill>
                  <a:srgbClr val="0B1F3A"/>
                </a:solidFill>
                <a:latin typeface="Calibri"/>
              </a:rPr>
              <a:t>29,2</a:t>
            </a:r>
            <a:r>
              <a:rPr sz="1500" b="0">
                <a:solidFill>
                  <a:srgbClr val="6B7280"/>
                </a:solidFill>
                <a:latin typeface="Calibri"/>
              </a:rPr>
              <a:t>  °S</a:t>
            </a:r>
          </a:p>
        </p:txBody>
      </p:sp>
      <p:sp>
        <p:nvSpPr>
          <p:cNvPr id="18" name="Rounded Rectangle 17"/>
          <p:cNvSpPr/>
          <p:nvPr/>
        </p:nvSpPr>
        <p:spPr>
          <a:xfrm>
            <a:off x="8578443" y="2807208"/>
            <a:ext cx="2973171" cy="1243584"/>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578443" y="2898648"/>
            <a:ext cx="64008" cy="106070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688171" y="2807208"/>
            <a:ext cx="2863443" cy="1243584"/>
          </a:xfrm>
          <a:prstGeom prst="rect">
            <a:avLst/>
          </a:prstGeom>
          <a:noFill/>
        </p:spPr>
        <p:txBody>
          <a:bodyPr wrap="square" anchor="ctr" tIns="36576" bIns="36576">
            <a:spAutoFit/>
          </a:bodyPr>
          <a:lstStyle/>
          <a:p>
            <a:pPr algn="l">
              <a:spcAft>
                <a:spcPts val="100"/>
              </a:spcAft>
            </a:pPr>
            <a:r>
              <a:rPr sz="1300" b="0">
                <a:solidFill>
                  <a:srgbClr val="6B7280"/>
                </a:solidFill>
                <a:latin typeface="Calibri"/>
              </a:rPr>
              <a:t>18 soat</a:t>
            </a:r>
          </a:p>
          <a:p>
            <a:pPr algn="l">
              <a:spcAft>
                <a:spcPts val="100"/>
              </a:spcAft>
            </a:pPr>
            <a:r>
              <a:rPr sz="3000" b="1">
                <a:solidFill>
                  <a:srgbClr val="0B1F3A"/>
                </a:solidFill>
                <a:latin typeface="Calibri"/>
              </a:rPr>
              <a:t>26,2</a:t>
            </a:r>
            <a:r>
              <a:rPr sz="1500" b="0">
                <a:solidFill>
                  <a:srgbClr val="6B7280"/>
                </a:solidFill>
                <a:latin typeface="Calibri"/>
              </a:rPr>
              <a:t>  °S</a:t>
            </a:r>
          </a:p>
        </p:txBody>
      </p:sp>
      <p:sp>
        <p:nvSpPr>
          <p:cNvPr id="21" name="Rounded Rectangle 20"/>
          <p:cNvSpPr/>
          <p:nvPr/>
        </p:nvSpPr>
        <p:spPr>
          <a:xfrm>
            <a:off x="5440680" y="4197096"/>
            <a:ext cx="2973171" cy="1243584"/>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440680" y="4288536"/>
            <a:ext cx="64008" cy="106070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550408" y="4197096"/>
            <a:ext cx="2863443" cy="1243584"/>
          </a:xfrm>
          <a:prstGeom prst="rect">
            <a:avLst/>
          </a:prstGeom>
          <a:noFill/>
        </p:spPr>
        <p:txBody>
          <a:bodyPr wrap="square" anchor="ctr" tIns="36576" bIns="36576">
            <a:spAutoFit/>
          </a:bodyPr>
          <a:lstStyle/>
          <a:p>
            <a:pPr algn="l">
              <a:spcAft>
                <a:spcPts val="100"/>
              </a:spcAft>
            </a:pPr>
            <a:r>
              <a:rPr sz="1300" b="0">
                <a:solidFill>
                  <a:srgbClr val="6B7280"/>
                </a:solidFill>
                <a:latin typeface="Calibri"/>
              </a:rPr>
              <a:t>24 soat</a:t>
            </a:r>
          </a:p>
          <a:p>
            <a:pPr algn="l">
              <a:spcAft>
                <a:spcPts val="100"/>
              </a:spcAft>
            </a:pPr>
            <a:r>
              <a:rPr sz="3000" b="1">
                <a:solidFill>
                  <a:srgbClr val="0B1F3A"/>
                </a:solidFill>
                <a:latin typeface="Calibri"/>
              </a:rPr>
              <a:t>23,2</a:t>
            </a:r>
            <a:r>
              <a:rPr sz="1500" b="0">
                <a:solidFill>
                  <a:srgbClr val="6B7280"/>
                </a:solidFill>
                <a:latin typeface="Calibri"/>
              </a:rPr>
              <a:t>  °S</a:t>
            </a:r>
          </a:p>
        </p:txBody>
      </p:sp>
      <p:sp>
        <p:nvSpPr>
          <p:cNvPr id="24" name="Rounded Rectangle 23"/>
          <p:cNvSpPr/>
          <p:nvPr/>
        </p:nvSpPr>
        <p:spPr>
          <a:xfrm>
            <a:off x="8578443" y="4197096"/>
            <a:ext cx="2973171" cy="1243584"/>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578443" y="4288536"/>
            <a:ext cx="64008" cy="106070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688171" y="4197096"/>
            <a:ext cx="2863443" cy="1243584"/>
          </a:xfrm>
          <a:prstGeom prst="rect">
            <a:avLst/>
          </a:prstGeom>
          <a:noFill/>
        </p:spPr>
        <p:txBody>
          <a:bodyPr wrap="square" anchor="ctr" tIns="36576" bIns="36576">
            <a:spAutoFit/>
          </a:bodyPr>
          <a:lstStyle/>
          <a:p>
            <a:pPr algn="l">
              <a:spcAft>
                <a:spcPts val="100"/>
              </a:spcAft>
            </a:pPr>
            <a:r>
              <a:rPr sz="1300" b="0">
                <a:solidFill>
                  <a:srgbClr val="6B7280"/>
                </a:solidFill>
                <a:latin typeface="Calibri"/>
              </a:rPr>
              <a:t>29 soat</a:t>
            </a:r>
          </a:p>
          <a:p>
            <a:pPr algn="l">
              <a:spcAft>
                <a:spcPts val="100"/>
              </a:spcAft>
            </a:pPr>
            <a:r>
              <a:rPr sz="3000" b="1">
                <a:solidFill>
                  <a:srgbClr val="0B1F3A"/>
                </a:solidFill>
                <a:latin typeface="Calibri"/>
              </a:rPr>
              <a:t>20,9</a:t>
            </a:r>
            <a:r>
              <a:rPr sz="1500" b="0">
                <a:solidFill>
                  <a:srgbClr val="6B7280"/>
                </a:solidFill>
                <a:latin typeface="Calibri"/>
              </a:rPr>
              <a:t>  °S</a:t>
            </a:r>
          </a:p>
        </p:txBody>
      </p:sp>
      <p:sp>
        <p:nvSpPr>
          <p:cNvPr id="27" name="TextBox 26"/>
          <p:cNvSpPr txBox="1"/>
          <p:nvPr/>
        </p:nvSpPr>
        <p:spPr>
          <a:xfrm>
            <a:off x="5440680" y="5486400"/>
            <a:ext cx="6110935" cy="365760"/>
          </a:xfrm>
          <a:prstGeom prst="rect">
            <a:avLst/>
          </a:prstGeom>
          <a:noFill/>
        </p:spPr>
        <p:txBody>
          <a:bodyPr wrap="square">
            <a:spAutoFit/>
          </a:bodyPr>
          <a:lstStyle/>
          <a:p>
            <a:r>
              <a:rPr sz="1200" b="0">
                <a:solidFill>
                  <a:srgbClr val="6B7280"/>
                </a:solidFill>
                <a:latin typeface="Calibri"/>
              </a:rPr>
              <a:t>Rektal harorat va o‘lim muddati</a:t>
            </a:r>
          </a:p>
        </p:txBody>
      </p:sp>
      <p:sp>
        <p:nvSpPr>
          <p:cNvPr id="28" name="TextBox 27"/>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betlar: 236, 237</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Murda dog‘lari rangi tiklanish vaqti (Kononenko)</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O’lim vaqtini aniqlash. Evtanaziya turlari. Murda a’zo va to’qimalarning transplantatsiya </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36 / 43</a:t>
            </a:r>
          </a:p>
        </p:txBody>
      </p:sp>
      <p:sp>
        <p:nvSpPr>
          <p:cNvPr id="8" name="TextBox 7"/>
          <p:cNvSpPr txBox="1"/>
          <p:nvPr/>
        </p:nvSpPr>
        <p:spPr>
          <a:xfrm>
            <a:off x="640080" y="1417320"/>
            <a:ext cx="4572000" cy="4480560"/>
          </a:xfrm>
          <a:prstGeom prst="rect">
            <a:avLst/>
          </a:prstGeom>
          <a:noFill/>
        </p:spPr>
        <p:txBody>
          <a:bodyPr wrap="square">
            <a:spAutoFit/>
          </a:bodyPr>
          <a:lstStyle/>
          <a:p>
            <a:pPr>
              <a:spcAft>
                <a:spcPts val="800"/>
              </a:spcAft>
            </a:pPr>
            <a:r>
              <a:rPr sz="1800">
                <a:solidFill>
                  <a:srgbClr val="1F2937"/>
                </a:solidFill>
                <a:latin typeface="Calibri"/>
              </a:rPr>
              <a:t>▸  Murda dog‘i 196 kPa kuch bilan 3 soniya bosiladi va rangi tiklanish vaqti o‘lchanadi.</a:t>
            </a:r>
          </a:p>
          <a:p>
            <a:pPr>
              <a:spcAft>
                <a:spcPts val="800"/>
              </a:spcAft>
            </a:pPr>
            <a:r>
              <a:rPr sz="1800">
                <a:solidFill>
                  <a:srgbClr val="1F2937"/>
                </a:solidFill>
                <a:latin typeface="Calibri"/>
              </a:rPr>
              <a:t>▸  Tez sodir bo‘lgan o‘limda 2 soatda rang 9-10 soniyada, 12 soatda 55-62 soniyada tiklanadi.</a:t>
            </a:r>
          </a:p>
          <a:p>
            <a:pPr>
              <a:spcAft>
                <a:spcPts val="800"/>
              </a:spcAft>
            </a:pPr>
            <a:r>
              <a:rPr sz="1800">
                <a:solidFill>
                  <a:srgbClr val="1F2937"/>
                </a:solidFill>
                <a:latin typeface="Calibri"/>
              </a:rPr>
              <a:t>▸  Agonal o‘limda 2 soatda 5-6 soniya, 12 soatda 46-58 soniya.</a:t>
            </a:r>
          </a:p>
          <a:p>
            <a:pPr>
              <a:spcAft>
                <a:spcPts val="800"/>
              </a:spcAft>
            </a:pPr>
            <a:r>
              <a:rPr sz="1800">
                <a:solidFill>
                  <a:srgbClr val="1F2937"/>
                </a:solidFill>
                <a:latin typeface="Calibri"/>
              </a:rPr>
              <a:t>▸  Jadval o‘lim turi va sababiga qarab farq qiladi: mexanik asfiksiya, alkogol zaharlanishi, qon yo‘qotish bilan.</a:t>
            </a:r>
          </a:p>
        </p:txBody>
      </p:sp>
      <p:sp>
        <p:nvSpPr>
          <p:cNvPr id="9" name="Rounded Rectangle 8"/>
          <p:cNvSpPr/>
          <p:nvPr/>
        </p:nvSpPr>
        <p:spPr>
          <a:xfrm>
            <a:off x="5440680" y="1417320"/>
            <a:ext cx="2973171" cy="1243584"/>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40680" y="1508760"/>
            <a:ext cx="64008" cy="106070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550408" y="1417320"/>
            <a:ext cx="2863443" cy="1243584"/>
          </a:xfrm>
          <a:prstGeom prst="rect">
            <a:avLst/>
          </a:prstGeom>
          <a:noFill/>
        </p:spPr>
        <p:txBody>
          <a:bodyPr wrap="square" anchor="ctr" tIns="36576" bIns="36576">
            <a:spAutoFit/>
          </a:bodyPr>
          <a:lstStyle/>
          <a:p>
            <a:pPr algn="l">
              <a:spcAft>
                <a:spcPts val="100"/>
              </a:spcAft>
            </a:pPr>
            <a:r>
              <a:rPr sz="1300" b="0">
                <a:solidFill>
                  <a:srgbClr val="6B7280"/>
                </a:solidFill>
                <a:latin typeface="Calibri"/>
              </a:rPr>
              <a:t>Tez o‘lim, 2 soat</a:t>
            </a:r>
          </a:p>
          <a:p>
            <a:pPr algn="l">
              <a:spcAft>
                <a:spcPts val="100"/>
              </a:spcAft>
            </a:pPr>
            <a:r>
              <a:rPr sz="3000" b="1">
                <a:solidFill>
                  <a:srgbClr val="0B1F3A"/>
                </a:solidFill>
                <a:latin typeface="Calibri"/>
              </a:rPr>
              <a:t>9–10</a:t>
            </a:r>
            <a:r>
              <a:rPr sz="1500" b="0">
                <a:solidFill>
                  <a:srgbClr val="6B7280"/>
                </a:solidFill>
                <a:latin typeface="Calibri"/>
              </a:rPr>
              <a:t>  sek</a:t>
            </a:r>
          </a:p>
        </p:txBody>
      </p:sp>
      <p:sp>
        <p:nvSpPr>
          <p:cNvPr id="12" name="Rounded Rectangle 11"/>
          <p:cNvSpPr/>
          <p:nvPr/>
        </p:nvSpPr>
        <p:spPr>
          <a:xfrm>
            <a:off x="8578443" y="1417320"/>
            <a:ext cx="2973171" cy="1243584"/>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578443" y="1508760"/>
            <a:ext cx="64008" cy="106070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88171" y="1417320"/>
            <a:ext cx="2863443" cy="1243584"/>
          </a:xfrm>
          <a:prstGeom prst="rect">
            <a:avLst/>
          </a:prstGeom>
          <a:noFill/>
        </p:spPr>
        <p:txBody>
          <a:bodyPr wrap="square" anchor="ctr" tIns="36576" bIns="36576">
            <a:spAutoFit/>
          </a:bodyPr>
          <a:lstStyle/>
          <a:p>
            <a:pPr algn="l">
              <a:spcAft>
                <a:spcPts val="100"/>
              </a:spcAft>
            </a:pPr>
            <a:r>
              <a:rPr sz="1300" b="0">
                <a:solidFill>
                  <a:srgbClr val="6B7280"/>
                </a:solidFill>
                <a:latin typeface="Calibri"/>
              </a:rPr>
              <a:t>Tez o‘lim, 6 soat</a:t>
            </a:r>
          </a:p>
          <a:p>
            <a:pPr algn="l">
              <a:spcAft>
                <a:spcPts val="100"/>
              </a:spcAft>
            </a:pPr>
            <a:r>
              <a:rPr sz="3000" b="1">
                <a:solidFill>
                  <a:srgbClr val="0B1F3A"/>
                </a:solidFill>
                <a:latin typeface="Calibri"/>
              </a:rPr>
              <a:t>20–28</a:t>
            </a:r>
            <a:r>
              <a:rPr sz="1500" b="0">
                <a:solidFill>
                  <a:srgbClr val="6B7280"/>
                </a:solidFill>
                <a:latin typeface="Calibri"/>
              </a:rPr>
              <a:t>  sek</a:t>
            </a:r>
          </a:p>
        </p:txBody>
      </p:sp>
      <p:sp>
        <p:nvSpPr>
          <p:cNvPr id="15" name="Rounded Rectangle 14"/>
          <p:cNvSpPr/>
          <p:nvPr/>
        </p:nvSpPr>
        <p:spPr>
          <a:xfrm>
            <a:off x="5440680" y="2807208"/>
            <a:ext cx="2973171" cy="1243584"/>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40680" y="2898648"/>
            <a:ext cx="64008" cy="106070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550408" y="2807208"/>
            <a:ext cx="2863443" cy="1243584"/>
          </a:xfrm>
          <a:prstGeom prst="rect">
            <a:avLst/>
          </a:prstGeom>
          <a:noFill/>
        </p:spPr>
        <p:txBody>
          <a:bodyPr wrap="square" anchor="ctr" tIns="36576" bIns="36576">
            <a:spAutoFit/>
          </a:bodyPr>
          <a:lstStyle/>
          <a:p>
            <a:pPr algn="l">
              <a:spcAft>
                <a:spcPts val="100"/>
              </a:spcAft>
            </a:pPr>
            <a:r>
              <a:rPr sz="1300" b="0">
                <a:solidFill>
                  <a:srgbClr val="6B7280"/>
                </a:solidFill>
                <a:latin typeface="Calibri"/>
              </a:rPr>
              <a:t>Tez o‘lim, 12 soat</a:t>
            </a:r>
          </a:p>
          <a:p>
            <a:pPr algn="l">
              <a:spcAft>
                <a:spcPts val="100"/>
              </a:spcAft>
            </a:pPr>
            <a:r>
              <a:rPr sz="3000" b="1">
                <a:solidFill>
                  <a:srgbClr val="0B1F3A"/>
                </a:solidFill>
                <a:latin typeface="Calibri"/>
              </a:rPr>
              <a:t>55–62</a:t>
            </a:r>
            <a:r>
              <a:rPr sz="1500" b="0">
                <a:solidFill>
                  <a:srgbClr val="6B7280"/>
                </a:solidFill>
                <a:latin typeface="Calibri"/>
              </a:rPr>
              <a:t>  sek</a:t>
            </a:r>
          </a:p>
        </p:txBody>
      </p:sp>
      <p:sp>
        <p:nvSpPr>
          <p:cNvPr id="18" name="Rounded Rectangle 17"/>
          <p:cNvSpPr/>
          <p:nvPr/>
        </p:nvSpPr>
        <p:spPr>
          <a:xfrm>
            <a:off x="8578443" y="2807208"/>
            <a:ext cx="2973171" cy="1243584"/>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578443" y="2898648"/>
            <a:ext cx="64008" cy="106070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688171" y="2807208"/>
            <a:ext cx="2863443" cy="1243584"/>
          </a:xfrm>
          <a:prstGeom prst="rect">
            <a:avLst/>
          </a:prstGeom>
          <a:noFill/>
        </p:spPr>
        <p:txBody>
          <a:bodyPr wrap="square" anchor="ctr" tIns="36576" bIns="36576">
            <a:spAutoFit/>
          </a:bodyPr>
          <a:lstStyle/>
          <a:p>
            <a:pPr algn="l">
              <a:spcAft>
                <a:spcPts val="100"/>
              </a:spcAft>
            </a:pPr>
            <a:r>
              <a:rPr sz="1300" b="0">
                <a:solidFill>
                  <a:srgbClr val="6B7280"/>
                </a:solidFill>
                <a:latin typeface="Calibri"/>
              </a:rPr>
              <a:t>Agonal o‘lim, 2 soat</a:t>
            </a:r>
          </a:p>
          <a:p>
            <a:pPr algn="l">
              <a:spcAft>
                <a:spcPts val="100"/>
              </a:spcAft>
            </a:pPr>
            <a:r>
              <a:rPr sz="3000" b="1">
                <a:solidFill>
                  <a:srgbClr val="0B1F3A"/>
                </a:solidFill>
                <a:latin typeface="Calibri"/>
              </a:rPr>
              <a:t>5–6</a:t>
            </a:r>
            <a:r>
              <a:rPr sz="1500" b="0">
                <a:solidFill>
                  <a:srgbClr val="6B7280"/>
                </a:solidFill>
                <a:latin typeface="Calibri"/>
              </a:rPr>
              <a:t>  sek</a:t>
            </a:r>
          </a:p>
        </p:txBody>
      </p:sp>
      <p:sp>
        <p:nvSpPr>
          <p:cNvPr id="21" name="Rounded Rectangle 20"/>
          <p:cNvSpPr/>
          <p:nvPr/>
        </p:nvSpPr>
        <p:spPr>
          <a:xfrm>
            <a:off x="5440680" y="4197096"/>
            <a:ext cx="2973171" cy="1243584"/>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440680" y="4288536"/>
            <a:ext cx="64008" cy="106070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550408" y="4197096"/>
            <a:ext cx="2863443" cy="1243584"/>
          </a:xfrm>
          <a:prstGeom prst="rect">
            <a:avLst/>
          </a:prstGeom>
          <a:noFill/>
        </p:spPr>
        <p:txBody>
          <a:bodyPr wrap="square" anchor="ctr" tIns="36576" bIns="36576">
            <a:spAutoFit/>
          </a:bodyPr>
          <a:lstStyle/>
          <a:p>
            <a:pPr algn="l">
              <a:spcAft>
                <a:spcPts val="100"/>
              </a:spcAft>
            </a:pPr>
            <a:r>
              <a:rPr sz="1300" b="0">
                <a:solidFill>
                  <a:srgbClr val="6B7280"/>
                </a:solidFill>
                <a:latin typeface="Calibri"/>
              </a:rPr>
              <a:t>Agonal o‘lim, 6 soat</a:t>
            </a:r>
          </a:p>
          <a:p>
            <a:pPr algn="l">
              <a:spcAft>
                <a:spcPts val="100"/>
              </a:spcAft>
            </a:pPr>
            <a:r>
              <a:rPr sz="3000" b="1">
                <a:solidFill>
                  <a:srgbClr val="0B1F3A"/>
                </a:solidFill>
                <a:latin typeface="Calibri"/>
              </a:rPr>
              <a:t>21–33</a:t>
            </a:r>
            <a:r>
              <a:rPr sz="1500" b="0">
                <a:solidFill>
                  <a:srgbClr val="6B7280"/>
                </a:solidFill>
                <a:latin typeface="Calibri"/>
              </a:rPr>
              <a:t>  sek</a:t>
            </a:r>
          </a:p>
        </p:txBody>
      </p:sp>
      <p:sp>
        <p:nvSpPr>
          <p:cNvPr id="24" name="Rounded Rectangle 23"/>
          <p:cNvSpPr/>
          <p:nvPr/>
        </p:nvSpPr>
        <p:spPr>
          <a:xfrm>
            <a:off x="8578443" y="4197096"/>
            <a:ext cx="2973171" cy="1243584"/>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578443" y="4288536"/>
            <a:ext cx="64008" cy="106070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688171" y="4197096"/>
            <a:ext cx="2863443" cy="1243584"/>
          </a:xfrm>
          <a:prstGeom prst="rect">
            <a:avLst/>
          </a:prstGeom>
          <a:noFill/>
        </p:spPr>
        <p:txBody>
          <a:bodyPr wrap="square" anchor="ctr" tIns="36576" bIns="36576">
            <a:spAutoFit/>
          </a:bodyPr>
          <a:lstStyle/>
          <a:p>
            <a:pPr algn="l">
              <a:spcAft>
                <a:spcPts val="100"/>
              </a:spcAft>
            </a:pPr>
            <a:r>
              <a:rPr sz="1300" b="0">
                <a:solidFill>
                  <a:srgbClr val="6B7280"/>
                </a:solidFill>
                <a:latin typeface="Calibri"/>
              </a:rPr>
              <a:t>Agonal o‘lim, 12 soat</a:t>
            </a:r>
          </a:p>
          <a:p>
            <a:pPr algn="l">
              <a:spcAft>
                <a:spcPts val="100"/>
              </a:spcAft>
            </a:pPr>
            <a:r>
              <a:rPr sz="3000" b="1">
                <a:solidFill>
                  <a:srgbClr val="0B1F3A"/>
                </a:solidFill>
                <a:latin typeface="Calibri"/>
              </a:rPr>
              <a:t>46–58</a:t>
            </a:r>
            <a:r>
              <a:rPr sz="1500" b="0">
                <a:solidFill>
                  <a:srgbClr val="6B7280"/>
                </a:solidFill>
                <a:latin typeface="Calibri"/>
              </a:rPr>
              <a:t>  sek</a:t>
            </a:r>
          </a:p>
        </p:txBody>
      </p:sp>
      <p:sp>
        <p:nvSpPr>
          <p:cNvPr id="27" name="TextBox 26"/>
          <p:cNvSpPr txBox="1"/>
          <p:nvPr/>
        </p:nvSpPr>
        <p:spPr>
          <a:xfrm>
            <a:off x="5440680" y="5486400"/>
            <a:ext cx="6110935" cy="365760"/>
          </a:xfrm>
          <a:prstGeom prst="rect">
            <a:avLst/>
          </a:prstGeom>
          <a:noFill/>
        </p:spPr>
        <p:txBody>
          <a:bodyPr wrap="square">
            <a:spAutoFit/>
          </a:bodyPr>
          <a:lstStyle/>
          <a:p>
            <a:r>
              <a:rPr sz="1200" b="0">
                <a:solidFill>
                  <a:srgbClr val="6B7280"/>
                </a:solidFill>
                <a:latin typeface="Calibri"/>
              </a:rPr>
              <a:t>Rang tiklanish vaqti</a:t>
            </a:r>
          </a:p>
        </p:txBody>
      </p:sp>
      <p:sp>
        <p:nvSpPr>
          <p:cNvPr id="28" name="TextBox 27"/>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betlar: 237</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Laboratoriya va boshqa belgilar bo‘yicha muddat</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O’lim vaqtini aniqlash. Evtanaziya turlari. Murda a’zo va to’qimalarning transplantatsiya </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37 / 43</a:t>
            </a:r>
          </a:p>
        </p:txBody>
      </p:sp>
      <p:sp>
        <p:nvSpPr>
          <p:cNvPr id="8" name="TextBox 7"/>
          <p:cNvSpPr txBox="1"/>
          <p:nvPr/>
        </p:nvSpPr>
        <p:spPr>
          <a:xfrm>
            <a:off x="640080" y="1417320"/>
            <a:ext cx="4572000" cy="4480560"/>
          </a:xfrm>
          <a:prstGeom prst="rect">
            <a:avLst/>
          </a:prstGeom>
          <a:noFill/>
        </p:spPr>
        <p:txBody>
          <a:bodyPr wrap="square">
            <a:spAutoFit/>
          </a:bodyPr>
          <a:lstStyle/>
          <a:p>
            <a:pPr>
              <a:spcAft>
                <a:spcPts val="800"/>
              </a:spcAft>
            </a:pPr>
            <a:r>
              <a:rPr sz="1800">
                <a:solidFill>
                  <a:srgbClr val="1F2937"/>
                </a:solidFill>
                <a:latin typeface="Calibri"/>
              </a:rPr>
              <a:t>▸  Orqa miya suyuqligi va ko‘zning shishasimon tanasida kaliy miqdori ortadi, natriy miqdori esa pasayadi.</a:t>
            </a:r>
          </a:p>
          <a:p>
            <a:pPr>
              <a:spcAft>
                <a:spcPts val="800"/>
              </a:spcAft>
            </a:pPr>
            <a:r>
              <a:rPr sz="1800">
                <a:solidFill>
                  <a:srgbClr val="1F2937"/>
                </a:solidFill>
                <a:latin typeface="Calibri"/>
              </a:rPr>
              <a:t>▸  Birinchi kun oxirida jigarda glikogen, 12 soatdan so‘ng to‘qimalarda AUF aktivligi yo‘qoladi.</a:t>
            </a:r>
          </a:p>
          <a:p>
            <a:pPr>
              <a:spcAft>
                <a:spcPts val="800"/>
              </a:spcAft>
            </a:pPr>
            <a:r>
              <a:rPr sz="1800">
                <a:solidFill>
                  <a:srgbClr val="1F2937"/>
                </a:solidFill>
                <a:latin typeface="Calibri"/>
              </a:rPr>
              <a:t>▸  Ichki a’zolarda autoliz 12-18 soatdan keyin aniqlana boshlaydi, 36-48 soatdan so‘ng o‘ta yaqqol bo‘ladi.</a:t>
            </a:r>
          </a:p>
          <a:p>
            <a:pPr>
              <a:spcAft>
                <a:spcPts val="800"/>
              </a:spcAft>
            </a:pPr>
            <a:r>
              <a:rPr sz="1800">
                <a:solidFill>
                  <a:srgbClr val="1F2937"/>
                </a:solidFill>
                <a:latin typeface="Calibri"/>
              </a:rPr>
              <a:t>▸  Hasharotlar turi va rivojlanish bosqichi tekshiriladi; ular etil efiri yoki formalinda konservatsiya qilinib, entomologik tekshiruvga yuboriladi.</a:t>
            </a:r>
          </a:p>
        </p:txBody>
      </p:sp>
      <p:sp>
        <p:nvSpPr>
          <p:cNvPr id="9" name="Rounded Rectangle 8"/>
          <p:cNvSpPr/>
          <p:nvPr/>
        </p:nvSpPr>
        <p:spPr>
          <a:xfrm>
            <a:off x="5440680" y="2788920"/>
            <a:ext cx="2011680" cy="1280160"/>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spcAft>
                <a:spcPts val="200"/>
              </a:spcAft>
            </a:pPr>
            <a:r>
              <a:rPr sz="1800" b="1">
                <a:solidFill>
                  <a:srgbClr val="FFFFFF"/>
                </a:solidFill>
                <a:latin typeface="Calibri"/>
              </a:rPr>
              <a:t>Qo‘shimcha belgilar</a:t>
            </a:r>
          </a:p>
        </p:txBody>
      </p:sp>
      <p:cxnSp>
        <p:nvCxnSpPr>
          <p:cNvPr id="10" name="Connector 9"/>
          <p:cNvCxnSpPr/>
          <p:nvPr/>
        </p:nvCxnSpPr>
        <p:spPr>
          <a:xfrm>
            <a:off x="7452360" y="3429000"/>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612380" y="1790395"/>
            <a:ext cx="0" cy="3277209"/>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7612380" y="1790395"/>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7772400" y="1417320"/>
            <a:ext cx="3779215" cy="746150"/>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0" y="1417320"/>
            <a:ext cx="3779215" cy="746150"/>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Biokimyoviy</a:t>
            </a:r>
          </a:p>
          <a:p>
            <a:pPr algn="l">
              <a:spcAft>
                <a:spcPts val="0"/>
              </a:spcAft>
            </a:pPr>
            <a:r>
              <a:rPr sz="1200" b="0">
                <a:solidFill>
                  <a:srgbClr val="1F2937"/>
                </a:solidFill>
                <a:latin typeface="Calibri"/>
              </a:rPr>
              <a:t>Kaliy ortadi  ·  Natriy kamayadi</a:t>
            </a:r>
          </a:p>
        </p:txBody>
      </p:sp>
      <p:cxnSp>
        <p:nvCxnSpPr>
          <p:cNvPr id="15" name="Connector 14"/>
          <p:cNvCxnSpPr/>
          <p:nvPr/>
        </p:nvCxnSpPr>
        <p:spPr>
          <a:xfrm>
            <a:off x="7612380" y="2609697"/>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7772400" y="2236622"/>
            <a:ext cx="3779215" cy="746150"/>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0" y="2236622"/>
            <a:ext cx="3779215" cy="746150"/>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Jigar va to‘qimalar</a:t>
            </a:r>
          </a:p>
          <a:p>
            <a:pPr algn="l">
              <a:spcAft>
                <a:spcPts val="0"/>
              </a:spcAft>
            </a:pPr>
            <a:r>
              <a:rPr sz="1200" b="0">
                <a:solidFill>
                  <a:srgbClr val="1F2937"/>
                </a:solidFill>
                <a:latin typeface="Calibri"/>
              </a:rPr>
              <a:t>Glikogen: 1-kun oxirida yo‘q  ·  AUF: 12 soatdan so‘ng yo‘q</a:t>
            </a:r>
          </a:p>
        </p:txBody>
      </p:sp>
      <p:cxnSp>
        <p:nvCxnSpPr>
          <p:cNvPr id="18" name="Connector 17"/>
          <p:cNvCxnSpPr/>
          <p:nvPr/>
        </p:nvCxnSpPr>
        <p:spPr>
          <a:xfrm>
            <a:off x="7612380" y="3429000"/>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7772400" y="3055924"/>
            <a:ext cx="3779215" cy="746150"/>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72400" y="3055924"/>
            <a:ext cx="3779215" cy="746150"/>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Sperma</a:t>
            </a:r>
          </a:p>
          <a:p>
            <a:pPr algn="l">
              <a:spcAft>
                <a:spcPts val="0"/>
              </a:spcAft>
            </a:pPr>
            <a:r>
              <a:rPr sz="1200" b="0">
                <a:solidFill>
                  <a:srgbClr val="1F2937"/>
                </a:solidFill>
                <a:latin typeface="Calibri"/>
              </a:rPr>
              <a:t>10 soatgacha harakatchan  ·  24 soatgacha sust harakatli</a:t>
            </a:r>
          </a:p>
        </p:txBody>
      </p:sp>
      <p:cxnSp>
        <p:nvCxnSpPr>
          <p:cNvPr id="21" name="Connector 20"/>
          <p:cNvCxnSpPr/>
          <p:nvPr/>
        </p:nvCxnSpPr>
        <p:spPr>
          <a:xfrm>
            <a:off x="7612380" y="4248302"/>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7772400" y="3875227"/>
            <a:ext cx="3779215" cy="746150"/>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772400" y="3875227"/>
            <a:ext cx="3779215" cy="746150"/>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Autoliz</a:t>
            </a:r>
          </a:p>
          <a:p>
            <a:pPr algn="l">
              <a:spcAft>
                <a:spcPts val="0"/>
              </a:spcAft>
            </a:pPr>
            <a:r>
              <a:rPr sz="1200" b="0">
                <a:solidFill>
                  <a:srgbClr val="1F2937"/>
                </a:solidFill>
                <a:latin typeface="Calibri"/>
              </a:rPr>
              <a:t>12-18 soatdan boshlanadi  ·  36-48 soatda yaqqol</a:t>
            </a:r>
          </a:p>
        </p:txBody>
      </p:sp>
      <p:cxnSp>
        <p:nvCxnSpPr>
          <p:cNvPr id="24" name="Connector 23"/>
          <p:cNvCxnSpPr/>
          <p:nvPr/>
        </p:nvCxnSpPr>
        <p:spPr>
          <a:xfrm>
            <a:off x="7612380" y="5067604"/>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7772400" y="4694529"/>
            <a:ext cx="3779215" cy="746150"/>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772400" y="4694529"/>
            <a:ext cx="3779215" cy="746150"/>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Tashqi belgilar</a:t>
            </a:r>
          </a:p>
          <a:p>
            <a:pPr algn="l">
              <a:spcAft>
                <a:spcPts val="0"/>
              </a:spcAft>
            </a:pPr>
            <a:r>
              <a:rPr sz="1200" b="0">
                <a:solidFill>
                  <a:srgbClr val="1F2937"/>
                </a:solidFill>
                <a:latin typeface="Calibri"/>
              </a:rPr>
              <a:t>Entomofauna tahlili  ·  6-8 kundan o‘simlik oqaradi</a:t>
            </a:r>
          </a:p>
        </p:txBody>
      </p:sp>
      <p:sp>
        <p:nvSpPr>
          <p:cNvPr id="27" name="TextBox 26"/>
          <p:cNvSpPr txBox="1"/>
          <p:nvPr/>
        </p:nvSpPr>
        <p:spPr>
          <a:xfrm>
            <a:off x="5440680" y="5486400"/>
            <a:ext cx="6110935" cy="365760"/>
          </a:xfrm>
          <a:prstGeom prst="rect">
            <a:avLst/>
          </a:prstGeom>
          <a:noFill/>
        </p:spPr>
        <p:txBody>
          <a:bodyPr wrap="square">
            <a:spAutoFit/>
          </a:bodyPr>
          <a:lstStyle/>
          <a:p>
            <a:r>
              <a:rPr sz="1200" b="0">
                <a:solidFill>
                  <a:srgbClr val="6B7280"/>
                </a:solidFill>
                <a:latin typeface="Calibri"/>
              </a:rPr>
              <a:t>Laboratoriya va boshqa belgilar</a:t>
            </a:r>
          </a:p>
        </p:txBody>
      </p:sp>
      <p:sp>
        <p:nvSpPr>
          <p:cNvPr id="28" name="TextBox 27"/>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betlar: 237, 237-238, 238</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Voqea tahlili: rektal harorat bo‘yicha muddat</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O’lim vaqtini aniqlash. Evtanaziya turlari. Murda a’zo va to’qimalarning transplantatsiya </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38 / 43</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Rektal harorat soat 10 da +30°S, soat 12 da +28,2°S o‘lchangan.</a:t>
            </a:r>
          </a:p>
          <a:p>
            <a:pPr>
              <a:spcAft>
                <a:spcPts val="800"/>
              </a:spcAft>
            </a:pPr>
            <a:r>
              <a:rPr sz="1800">
                <a:solidFill>
                  <a:srgbClr val="1F2937"/>
                </a:solidFill>
                <a:latin typeface="Calibri"/>
              </a:rPr>
              <a:t>▸  Ikki soatda murda 1,8°S ga sovugan, ya’ni soatiga taxminan 0,9°S.</a:t>
            </a:r>
          </a:p>
          <a:p>
            <a:pPr>
              <a:spcAft>
                <a:spcPts val="800"/>
              </a:spcAft>
            </a:pPr>
            <a:r>
              <a:rPr sz="1800">
                <a:solidFill>
                  <a:srgbClr val="1F2937"/>
                </a:solidFill>
                <a:latin typeface="Calibri"/>
              </a:rPr>
              <a:t>▸  Misolda o‘lim soat 10 dan 7-7,5 soat oldin sodir bo‘lgan. Termometriya kamida ikki marta o‘tkaziladi.</a:t>
            </a:r>
          </a:p>
        </p:txBody>
      </p:sp>
      <p:graphicFrame>
        <p:nvGraphicFramePr>
          <p:cNvPr id="9" name="Table 8"/>
          <p:cNvGraphicFramePr>
            <a:graphicFrameLocks noGrp="1"/>
          </p:cNvGraphicFramePr>
          <p:nvPr/>
        </p:nvGraphicFramePr>
        <p:xfrm>
          <a:off x="6263640" y="1463040"/>
          <a:ext cx="5287974" cy="3072380"/>
        </p:xfrm>
        <a:graphic>
          <a:graphicData uri="http://schemas.openxmlformats.org/drawingml/2006/table">
            <a:tbl>
              <a:tblPr firstRow="1" bandRow="1">
                <a:tableStyleId>{5C22544A-7EE6-4342-B048-85BDC9FD1C3A}</a:tableStyleId>
              </a:tblPr>
              <a:tblGrid>
                <a:gridCol w="1797911"/>
                <a:gridCol w="1692152"/>
                <a:gridCol w="1797911"/>
              </a:tblGrid>
              <a:tr h="614476">
                <a:tc>
                  <a:txBody>
                    <a:bodyPr/>
                    <a:lstStyle/>
                    <a:p>
                      <a:r>
                        <a:rPr sz="1600" b="1">
                          <a:solidFill>
                            <a:srgbClr val="FFFFFF"/>
                          </a:solidFill>
                        </a:rPr>
                        <a:t>Ko‘rsatkich</a:t>
                      </a:r>
                    </a:p>
                  </a:txBody>
                  <a:tcPr marL="73152" marR="73152" marT="36576" marB="36576">
                    <a:solidFill>
                      <a:srgbClr val="0B1F3A"/>
                    </a:solidFill>
                  </a:tcPr>
                </a:tc>
                <a:tc>
                  <a:txBody>
                    <a:bodyPr/>
                    <a:lstStyle/>
                    <a:p>
                      <a:r>
                        <a:rPr sz="1600" b="1">
                          <a:solidFill>
                            <a:srgbClr val="FFFFFF"/>
                          </a:solidFill>
                        </a:rPr>
                        <a:t>Qiymat</a:t>
                      </a:r>
                    </a:p>
                  </a:txBody>
                  <a:tcPr marL="73152" marR="73152" marT="36576" marB="36576">
                    <a:solidFill>
                      <a:srgbClr val="0B1F3A"/>
                    </a:solidFill>
                  </a:tcPr>
                </a:tc>
                <a:tc>
                  <a:txBody>
                    <a:bodyPr/>
                    <a:lstStyle/>
                    <a:p>
                      <a:r>
                        <a:rPr sz="1600" b="1">
                          <a:solidFill>
                            <a:srgbClr val="FFFFFF"/>
                          </a:solidFill>
                        </a:rPr>
                        <a:t>Natija</a:t>
                      </a:r>
                    </a:p>
                  </a:txBody>
                  <a:tcPr marL="73152" marR="73152" marT="36576" marB="36576">
                    <a:solidFill>
                      <a:srgbClr val="0B1F3A"/>
                    </a:solidFill>
                  </a:tcPr>
                </a:tc>
              </a:tr>
              <a:tr h="614476">
                <a:tc>
                  <a:txBody>
                    <a:bodyPr/>
                    <a:lstStyle/>
                    <a:p>
                      <a:r>
                        <a:rPr sz="1500" b="0">
                          <a:solidFill>
                            <a:srgbClr val="1F2937"/>
                          </a:solidFill>
                        </a:rPr>
                        <a:t>Soat 10:00</a:t>
                      </a:r>
                    </a:p>
                  </a:txBody>
                  <a:tcPr marL="73152" marR="73152" marT="36576" marB="36576">
                    <a:solidFill>
                      <a:srgbClr val="E8EEF6"/>
                    </a:solidFill>
                  </a:tcPr>
                </a:tc>
                <a:tc>
                  <a:txBody>
                    <a:bodyPr/>
                    <a:lstStyle/>
                    <a:p>
                      <a:r>
                        <a:rPr sz="1500" b="0">
                          <a:solidFill>
                            <a:srgbClr val="1F2937"/>
                          </a:solidFill>
                        </a:rPr>
                        <a:t>+30°S</a:t>
                      </a:r>
                    </a:p>
                  </a:txBody>
                  <a:tcPr marL="73152" marR="73152" marT="36576" marB="36576">
                    <a:solidFill>
                      <a:srgbClr val="E8EEF6"/>
                    </a:solidFill>
                  </a:tcPr>
                </a:tc>
                <a:tc>
                  <a:txBody>
                    <a:bodyPr/>
                    <a:lstStyle/>
                    <a:p>
                      <a:r>
                        <a:rPr sz="1500" b="0">
                          <a:solidFill>
                            <a:srgbClr val="1F2937"/>
                          </a:solidFill>
                        </a:rPr>
                        <a:t>Birinchi o‘lchash</a:t>
                      </a:r>
                    </a:p>
                  </a:txBody>
                  <a:tcPr marL="73152" marR="73152" marT="36576" marB="36576">
                    <a:solidFill>
                      <a:srgbClr val="E8EEF6"/>
                    </a:solidFill>
                  </a:tcPr>
                </a:tc>
              </a:tr>
              <a:tr h="614476">
                <a:tc>
                  <a:txBody>
                    <a:bodyPr/>
                    <a:lstStyle/>
                    <a:p>
                      <a:r>
                        <a:rPr sz="1500" b="0">
                          <a:solidFill>
                            <a:srgbClr val="1F2937"/>
                          </a:solidFill>
                        </a:rPr>
                        <a:t>Soat 12:00</a:t>
                      </a:r>
                    </a:p>
                  </a:txBody>
                  <a:tcPr marL="73152" marR="73152" marT="36576" marB="36576">
                    <a:solidFill>
                      <a:srgbClr val="FFFFFF"/>
                    </a:solidFill>
                  </a:tcPr>
                </a:tc>
                <a:tc>
                  <a:txBody>
                    <a:bodyPr/>
                    <a:lstStyle/>
                    <a:p>
                      <a:r>
                        <a:rPr sz="1500" b="0">
                          <a:solidFill>
                            <a:srgbClr val="1F2937"/>
                          </a:solidFill>
                        </a:rPr>
                        <a:t>+28,2°S</a:t>
                      </a:r>
                    </a:p>
                  </a:txBody>
                  <a:tcPr marL="73152" marR="73152" marT="36576" marB="36576">
                    <a:solidFill>
                      <a:srgbClr val="FFFFFF"/>
                    </a:solidFill>
                  </a:tcPr>
                </a:tc>
                <a:tc>
                  <a:txBody>
                    <a:bodyPr/>
                    <a:lstStyle/>
                    <a:p>
                      <a:r>
                        <a:rPr sz="1500" b="0">
                          <a:solidFill>
                            <a:srgbClr val="1F2937"/>
                          </a:solidFill>
                        </a:rPr>
                        <a:t>Ikkinchi o‘lchash</a:t>
                      </a:r>
                    </a:p>
                  </a:txBody>
                  <a:tcPr marL="73152" marR="73152" marT="36576" marB="36576">
                    <a:solidFill>
                      <a:srgbClr val="FFFFFF"/>
                    </a:solidFill>
                  </a:tcPr>
                </a:tc>
              </a:tr>
              <a:tr h="614476">
                <a:tc>
                  <a:txBody>
                    <a:bodyPr/>
                    <a:lstStyle/>
                    <a:p>
                      <a:r>
                        <a:rPr sz="1500" b="0">
                          <a:solidFill>
                            <a:srgbClr val="1F2937"/>
                          </a:solidFill>
                        </a:rPr>
                        <a:t>Farq (2 soat)</a:t>
                      </a:r>
                    </a:p>
                  </a:txBody>
                  <a:tcPr marL="73152" marR="73152" marT="36576" marB="36576">
                    <a:solidFill>
                      <a:srgbClr val="E8EEF6"/>
                    </a:solidFill>
                  </a:tcPr>
                </a:tc>
                <a:tc>
                  <a:txBody>
                    <a:bodyPr/>
                    <a:lstStyle/>
                    <a:p>
                      <a:r>
                        <a:rPr sz="1500" b="0">
                          <a:solidFill>
                            <a:srgbClr val="1F2937"/>
                          </a:solidFill>
                        </a:rPr>
                        <a:t>1,8°S</a:t>
                      </a:r>
                    </a:p>
                  </a:txBody>
                  <a:tcPr marL="73152" marR="73152" marT="36576" marB="36576">
                    <a:solidFill>
                      <a:srgbClr val="E8EEF6"/>
                    </a:solidFill>
                  </a:tcPr>
                </a:tc>
                <a:tc>
                  <a:txBody>
                    <a:bodyPr/>
                    <a:lstStyle/>
                    <a:p>
                      <a:r>
                        <a:rPr sz="1500" b="0">
                          <a:solidFill>
                            <a:srgbClr val="1F2937"/>
                          </a:solidFill>
                        </a:rPr>
                        <a:t>Soatiga ≈0,9°S</a:t>
                      </a:r>
                    </a:p>
                  </a:txBody>
                  <a:tcPr marL="73152" marR="73152" marT="36576" marB="36576">
                    <a:solidFill>
                      <a:srgbClr val="E8EEF6"/>
                    </a:solidFill>
                  </a:tcPr>
                </a:tc>
              </a:tr>
              <a:tr h="614476">
                <a:tc>
                  <a:txBody>
                    <a:bodyPr/>
                    <a:lstStyle/>
                    <a:p>
                      <a:r>
                        <a:rPr sz="1500" b="0">
                          <a:solidFill>
                            <a:srgbClr val="1F2937"/>
                          </a:solidFill>
                        </a:rPr>
                        <a:t>Xulosa</a:t>
                      </a:r>
                    </a:p>
                  </a:txBody>
                  <a:tcPr marL="73152" marR="73152" marT="36576" marB="36576">
                    <a:solidFill>
                      <a:srgbClr val="FFFFFF"/>
                    </a:solidFill>
                  </a:tcPr>
                </a:tc>
                <a:tc>
                  <a:txBody>
                    <a:bodyPr/>
                    <a:lstStyle/>
                    <a:p>
                      <a:r>
                        <a:rPr sz="1500" b="0">
                          <a:solidFill>
                            <a:srgbClr val="1F2937"/>
                          </a:solidFill>
                        </a:rPr>
                        <a:t>—</a:t>
                      </a:r>
                    </a:p>
                  </a:txBody>
                  <a:tcPr marL="73152" marR="73152" marT="36576" marB="36576">
                    <a:solidFill>
                      <a:srgbClr val="FFFFFF"/>
                    </a:solidFill>
                  </a:tcPr>
                </a:tc>
                <a:tc>
                  <a:txBody>
                    <a:bodyPr/>
                    <a:lstStyle/>
                    <a:p>
                      <a:r>
                        <a:rPr sz="1500" b="0">
                          <a:solidFill>
                            <a:srgbClr val="1F2937"/>
                          </a:solidFill>
                        </a:rPr>
                        <a:t>7-7,5 soat oldin</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Hisoblash misoli</a:t>
            </a:r>
          </a:p>
        </p:txBody>
      </p:sp>
      <p:sp>
        <p:nvSpPr>
          <p:cNvPr id="11" name="TextBox 10"/>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betlar: 236</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Murda sud-tibbiy ekspertizasi bosqichlari va hujjati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O’lim vaqtini aniqlash. Evtanaziya turlari. Murda a’zo va to’qimalarning transplantatsiya </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39 / 43</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Ekspertiza zo‘raki o‘lim yoki shubha, noma’lum shaxs, tibbiy yordamga e’tiroz bo‘lganda tayinlanadi.</a:t>
            </a:r>
          </a:p>
          <a:p>
            <a:pPr>
              <a:spcAft>
                <a:spcPts val="800"/>
              </a:spcAft>
            </a:pPr>
            <a:r>
              <a:rPr sz="1800">
                <a:solidFill>
                  <a:srgbClr val="1F2937"/>
                </a:solidFill>
                <a:latin typeface="Calibri"/>
              </a:rPr>
              <a:t>▸  Ekspert xulosasi: kirish, tekshiruv va to‘xtam. Diagnoz va to‘xtamni faqat ekspert imzolaydi.</a:t>
            </a:r>
          </a:p>
          <a:p>
            <a:pPr>
              <a:spcAft>
                <a:spcPts val="800"/>
              </a:spcAft>
            </a:pPr>
            <a:r>
              <a:rPr sz="1800">
                <a:solidFill>
                  <a:srgbClr val="1F2937"/>
                </a:solidFill>
                <a:latin typeface="Calibri"/>
              </a:rPr>
              <a:t>▸  Murda 1 sutkadan kechiktirmay beriladi; qiyin holda murdaxonada 3 sutkagacha saqlanishi kafolatlangan.</a:t>
            </a:r>
          </a:p>
        </p:txBody>
      </p:sp>
      <p:sp>
        <p:nvSpPr>
          <p:cNvPr id="9" name="Rounded Rectangle 8"/>
          <p:cNvSpPr/>
          <p:nvPr/>
        </p:nvSpPr>
        <p:spPr>
          <a:xfrm>
            <a:off x="6263640" y="1463040"/>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1. Materiallar bilan tanishish</a:t>
            </a:r>
          </a:p>
        </p:txBody>
      </p:sp>
      <p:sp>
        <p:nvSpPr>
          <p:cNvPr id="10" name="Down Arrow 9"/>
          <p:cNvSpPr/>
          <p:nvPr/>
        </p:nvSpPr>
        <p:spPr>
          <a:xfrm>
            <a:off x="8770467" y="2015337"/>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63640" y="2289657"/>
            <a:ext cx="5287975" cy="534009"/>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2. Tashqi tekshiruv</a:t>
            </a:r>
          </a:p>
        </p:txBody>
      </p:sp>
      <p:sp>
        <p:nvSpPr>
          <p:cNvPr id="12" name="Down Arrow 11"/>
          <p:cNvSpPr/>
          <p:nvPr/>
        </p:nvSpPr>
        <p:spPr>
          <a:xfrm>
            <a:off x="8770467" y="2841955"/>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263640" y="3116275"/>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3. Ichki tekshiruv (3 bo‘shliq)</a:t>
            </a:r>
          </a:p>
        </p:txBody>
      </p:sp>
      <p:sp>
        <p:nvSpPr>
          <p:cNvPr id="14" name="Down Arrow 13"/>
          <p:cNvSpPr/>
          <p:nvPr/>
        </p:nvSpPr>
        <p:spPr>
          <a:xfrm>
            <a:off x="8770467" y="3668572"/>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263640" y="3942892"/>
            <a:ext cx="5287975" cy="534009"/>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4. Diagnoz va o‘lim guvohnomasi</a:t>
            </a:r>
          </a:p>
        </p:txBody>
      </p:sp>
      <p:sp>
        <p:nvSpPr>
          <p:cNvPr id="16" name="Down Arrow 15"/>
          <p:cNvSpPr/>
          <p:nvPr/>
        </p:nvSpPr>
        <p:spPr>
          <a:xfrm>
            <a:off x="8770467" y="4495190"/>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263640" y="4769510"/>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5-6. Laboratoriya va to‘xtam</a:t>
            </a:r>
          </a:p>
        </p:txBody>
      </p:sp>
      <p:sp>
        <p:nvSpPr>
          <p:cNvPr id="18" name="TextBox 17"/>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Ekspertiza bosqichlari (6 ta, 5 tugunda)</a:t>
            </a:r>
          </a:p>
        </p:txBody>
      </p:sp>
      <p:sp>
        <p:nvSpPr>
          <p:cNvPr id="19" name="TextBox 1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betlar: 238, 240-241, 246</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Sud-tibbiy va patologo-anatomik autopsiya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O’lim vaqtini aniqlash. Evtanaziya turlari. Murda a’zo va to’qimalarning transplantatsiya </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40 / 43</a:t>
            </a:r>
          </a:p>
        </p:txBody>
      </p:sp>
      <p:sp>
        <p:nvSpPr>
          <p:cNvPr id="8" name="TextBox 7"/>
          <p:cNvSpPr txBox="1"/>
          <p:nvPr/>
        </p:nvSpPr>
        <p:spPr>
          <a:xfrm>
            <a:off x="640080" y="1417320"/>
            <a:ext cx="4572000" cy="4480560"/>
          </a:xfrm>
          <a:prstGeom prst="rect">
            <a:avLst/>
          </a:prstGeom>
          <a:noFill/>
        </p:spPr>
        <p:txBody>
          <a:bodyPr wrap="square">
            <a:spAutoFit/>
          </a:bodyPr>
          <a:lstStyle/>
          <a:p>
            <a:pPr>
              <a:spcAft>
                <a:spcPts val="800"/>
              </a:spcAft>
            </a:pPr>
            <a:r>
              <a:rPr sz="1600">
                <a:solidFill>
                  <a:srgbClr val="1F2937"/>
                </a:solidFill>
                <a:latin typeface="Calibri"/>
              </a:rPr>
              <a:t>▸  Real autopsiyaning sud-tibbiy va patologo-anatomik turlari prinsipial farqlanadi; verbal va virtual autopsiya ham bor.</a:t>
            </a:r>
          </a:p>
          <a:p>
            <a:pPr>
              <a:spcAft>
                <a:spcPts val="800"/>
              </a:spcAft>
            </a:pPr>
            <a:r>
              <a:rPr sz="1600">
                <a:solidFill>
                  <a:srgbClr val="1F2937"/>
                </a:solidFill>
                <a:latin typeface="Calibri"/>
              </a:rPr>
              <a:t>▸  Sud-tibbiy ekspertiza zo‘rakilik alomatlarini tasdiqlash yoki inkor etish uchun, patologo-anatomik tekshiruv davolash to‘g‘riligini nazorat qilish uchun.</a:t>
            </a:r>
          </a:p>
          <a:p>
            <a:pPr>
              <a:spcAft>
                <a:spcPts val="800"/>
              </a:spcAft>
            </a:pPr>
            <a:r>
              <a:rPr sz="1600">
                <a:solidFill>
                  <a:srgbClr val="1F2937"/>
                </a:solidFill>
                <a:latin typeface="Calibri"/>
              </a:rPr>
              <a:t>▸  Sud-tibbiy ekspertiza qaror yoki ajrim bilan o‘tadi va tilxat talab etadi; patologo-anatomik tekshiruv muassasa rahbari ko‘rsatmasi bilan.</a:t>
            </a:r>
          </a:p>
          <a:p>
            <a:pPr>
              <a:spcAft>
                <a:spcPts val="800"/>
              </a:spcAft>
            </a:pPr>
            <a:r>
              <a:rPr sz="1600">
                <a:solidFill>
                  <a:srgbClr val="1F2937"/>
                </a:solidFill>
                <a:latin typeface="Calibri"/>
              </a:rPr>
              <a:t>▸  Verbal autopsiyada murda ochilmaydi; virtual autopsiya tomografiyaga asoslanadi va hozircha faqat ilmiy muassasalarda o‘tkaziladi.</a:t>
            </a:r>
          </a:p>
        </p:txBody>
      </p:sp>
      <p:sp>
        <p:nvSpPr>
          <p:cNvPr id="9" name="Rounded Rectangle 8"/>
          <p:cNvSpPr/>
          <p:nvPr/>
        </p:nvSpPr>
        <p:spPr>
          <a:xfrm>
            <a:off x="5440680" y="1417320"/>
            <a:ext cx="2986887" cy="548640"/>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spcAft>
                <a:spcPts val="200"/>
              </a:spcAft>
            </a:pPr>
            <a:r>
              <a:rPr sz="1600" b="1">
                <a:solidFill>
                  <a:srgbClr val="FFFFFF"/>
                </a:solidFill>
                <a:latin typeface="Calibri"/>
              </a:rPr>
              <a:t>Sud-tibbiy ekspertiza</a:t>
            </a:r>
          </a:p>
        </p:txBody>
      </p:sp>
      <p:sp>
        <p:nvSpPr>
          <p:cNvPr id="10" name="Rectangle 9"/>
          <p:cNvSpPr/>
          <p:nvPr/>
        </p:nvSpPr>
        <p:spPr>
          <a:xfrm>
            <a:off x="5440680" y="2020824"/>
            <a:ext cx="2986887" cy="3419856"/>
          </a:xfrm>
          <a:prstGeom prst="rect">
            <a:avLst/>
          </a:prstGeom>
          <a:solidFill>
            <a:srgbClr val="E8EEF6"/>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t" wrap="square" tIns="36576" bIns="36576"/>
          <a:lstStyle/>
          <a:p>
            <a:pPr algn="l">
              <a:spcAft>
                <a:spcPts val="700"/>
              </a:spcAft>
            </a:pPr>
            <a:r>
              <a:rPr sz="1500" b="1">
                <a:solidFill>
                  <a:srgbClr val="C9A227"/>
                </a:solidFill>
                <a:latin typeface="Calibri"/>
              </a:rPr>
              <a:t>●  </a:t>
            </a:r>
            <a:r>
              <a:rPr sz="1500" b="0">
                <a:solidFill>
                  <a:srgbClr val="1F2937"/>
                </a:solidFill>
                <a:latin typeface="Calibri"/>
              </a:rPr>
              <a:t>Zo‘rakilikni tasdiqlash yoki inkor etish</a:t>
            </a:r>
          </a:p>
          <a:p>
            <a:pPr algn="l">
              <a:spcAft>
                <a:spcPts val="700"/>
              </a:spcAft>
            </a:pPr>
            <a:r>
              <a:rPr sz="1500" b="1">
                <a:solidFill>
                  <a:srgbClr val="C9A227"/>
                </a:solidFill>
                <a:latin typeface="Calibri"/>
              </a:rPr>
              <a:t>●  </a:t>
            </a:r>
            <a:r>
              <a:rPr sz="1500" b="0">
                <a:solidFill>
                  <a:srgbClr val="1F2937"/>
                </a:solidFill>
                <a:latin typeface="Calibri"/>
              </a:rPr>
              <a:t>Qaror yoki ajrim asosida</a:t>
            </a:r>
          </a:p>
          <a:p>
            <a:pPr algn="l">
              <a:spcAft>
                <a:spcPts val="700"/>
              </a:spcAft>
            </a:pPr>
            <a:r>
              <a:rPr sz="1500" b="1">
                <a:solidFill>
                  <a:srgbClr val="C9A227"/>
                </a:solidFill>
                <a:latin typeface="Calibri"/>
              </a:rPr>
              <a:t>●  </a:t>
            </a:r>
            <a:r>
              <a:rPr sz="1500" b="0">
                <a:solidFill>
                  <a:srgbClr val="1F2937"/>
                </a:solidFill>
                <a:latin typeface="Calibri"/>
              </a:rPr>
              <a:t>Ekspert tilxat beradi</a:t>
            </a:r>
          </a:p>
          <a:p>
            <a:pPr algn="l">
              <a:spcAft>
                <a:spcPts val="700"/>
              </a:spcAft>
            </a:pPr>
            <a:r>
              <a:rPr sz="1500" b="1">
                <a:solidFill>
                  <a:srgbClr val="C9A227"/>
                </a:solidFill>
                <a:latin typeface="Calibri"/>
              </a:rPr>
              <a:t>●  </a:t>
            </a:r>
            <a:r>
              <a:rPr sz="1500" b="0">
                <a:solidFill>
                  <a:srgbClr val="1F2937"/>
                </a:solidFill>
                <a:latin typeface="Calibri"/>
              </a:rPr>
              <a:t>O‘lim muddati aniqlanadi</a:t>
            </a:r>
          </a:p>
          <a:p>
            <a:pPr algn="l">
              <a:spcAft>
                <a:spcPts val="700"/>
              </a:spcAft>
            </a:pPr>
            <a:r>
              <a:rPr sz="1500" b="1">
                <a:solidFill>
                  <a:srgbClr val="C9A227"/>
                </a:solidFill>
                <a:latin typeface="Calibri"/>
              </a:rPr>
              <a:t>●  </a:t>
            </a:r>
            <a:r>
              <a:rPr sz="1500" b="0">
                <a:solidFill>
                  <a:srgbClr val="1F2937"/>
                </a:solidFill>
                <a:latin typeface="Calibri"/>
              </a:rPr>
              <a:t>Xulosa tayinlovchiga beriladi</a:t>
            </a:r>
          </a:p>
        </p:txBody>
      </p:sp>
      <p:sp>
        <p:nvSpPr>
          <p:cNvPr id="11" name="Rounded Rectangle 10"/>
          <p:cNvSpPr/>
          <p:nvPr/>
        </p:nvSpPr>
        <p:spPr>
          <a:xfrm>
            <a:off x="8564727" y="1417320"/>
            <a:ext cx="2986887" cy="548640"/>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spcAft>
                <a:spcPts val="200"/>
              </a:spcAft>
            </a:pPr>
            <a:r>
              <a:rPr sz="1600" b="1">
                <a:solidFill>
                  <a:srgbClr val="FFFFFF"/>
                </a:solidFill>
                <a:latin typeface="Calibri"/>
              </a:rPr>
              <a:t>Patologo-anatomik</a:t>
            </a:r>
          </a:p>
        </p:txBody>
      </p:sp>
      <p:sp>
        <p:nvSpPr>
          <p:cNvPr id="12" name="Rectangle 11"/>
          <p:cNvSpPr/>
          <p:nvPr/>
        </p:nvSpPr>
        <p:spPr>
          <a:xfrm>
            <a:off x="8564727" y="2020824"/>
            <a:ext cx="2986887" cy="3419856"/>
          </a:xfrm>
          <a:prstGeom prst="rect">
            <a:avLst/>
          </a:prstGeom>
          <a:solidFill>
            <a:srgbClr val="E8EEF6"/>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t" wrap="square" tIns="36576" bIns="36576"/>
          <a:lstStyle/>
          <a:p>
            <a:pPr algn="l">
              <a:spcAft>
                <a:spcPts val="700"/>
              </a:spcAft>
            </a:pPr>
            <a:r>
              <a:rPr sz="1500" b="1">
                <a:solidFill>
                  <a:srgbClr val="C9A227"/>
                </a:solidFill>
                <a:latin typeface="Calibri"/>
              </a:rPr>
              <a:t>●  </a:t>
            </a:r>
            <a:r>
              <a:rPr sz="1500" b="0">
                <a:solidFill>
                  <a:srgbClr val="1F2937"/>
                </a:solidFill>
                <a:latin typeface="Calibri"/>
              </a:rPr>
              <a:t>Davolash to‘g‘riligini nazorat qilish</a:t>
            </a:r>
          </a:p>
          <a:p>
            <a:pPr algn="l">
              <a:spcAft>
                <a:spcPts val="700"/>
              </a:spcAft>
            </a:pPr>
            <a:r>
              <a:rPr sz="1500" b="1">
                <a:solidFill>
                  <a:srgbClr val="C9A227"/>
                </a:solidFill>
                <a:latin typeface="Calibri"/>
              </a:rPr>
              <a:t>●  </a:t>
            </a:r>
            <a:r>
              <a:rPr sz="1500" b="0">
                <a:solidFill>
                  <a:srgbClr val="1F2937"/>
                </a:solidFill>
                <a:latin typeface="Calibri"/>
              </a:rPr>
              <a:t>Muassasa rahbari ko‘rsatmasi bilan</a:t>
            </a:r>
          </a:p>
          <a:p>
            <a:pPr algn="l">
              <a:spcAft>
                <a:spcPts val="700"/>
              </a:spcAft>
            </a:pPr>
            <a:r>
              <a:rPr sz="1500" b="1">
                <a:solidFill>
                  <a:srgbClr val="C9A227"/>
                </a:solidFill>
                <a:latin typeface="Calibri"/>
              </a:rPr>
              <a:t>●  </a:t>
            </a:r>
            <a:r>
              <a:rPr sz="1500" b="0">
                <a:solidFill>
                  <a:srgbClr val="1F2937"/>
                </a:solidFill>
                <a:latin typeface="Calibri"/>
              </a:rPr>
              <a:t>Tilxat talab etilmaydi</a:t>
            </a:r>
          </a:p>
          <a:p>
            <a:pPr algn="l">
              <a:spcAft>
                <a:spcPts val="700"/>
              </a:spcAft>
            </a:pPr>
            <a:r>
              <a:rPr sz="1500" b="1">
                <a:solidFill>
                  <a:srgbClr val="C9A227"/>
                </a:solidFill>
                <a:latin typeface="Calibri"/>
              </a:rPr>
              <a:t>●  </a:t>
            </a:r>
            <a:r>
              <a:rPr sz="1500" b="0">
                <a:solidFill>
                  <a:srgbClr val="1F2937"/>
                </a:solidFill>
                <a:latin typeface="Calibri"/>
              </a:rPr>
              <a:t>O‘lim muddati kasallik tarixida</a:t>
            </a:r>
          </a:p>
          <a:p>
            <a:pPr algn="l">
              <a:spcAft>
                <a:spcPts val="700"/>
              </a:spcAft>
            </a:pPr>
            <a:r>
              <a:rPr sz="1500" b="1">
                <a:solidFill>
                  <a:srgbClr val="C9A227"/>
                </a:solidFill>
                <a:latin typeface="Calibri"/>
              </a:rPr>
              <a:t>●  </a:t>
            </a:r>
            <a:r>
              <a:rPr sz="1500" b="0">
                <a:solidFill>
                  <a:srgbClr val="1F2937"/>
                </a:solidFill>
                <a:latin typeface="Calibri"/>
              </a:rPr>
              <a:t>Bayonnoma kasallik tarixiga biriktiriladi</a:t>
            </a:r>
          </a:p>
        </p:txBody>
      </p:sp>
      <p:sp>
        <p:nvSpPr>
          <p:cNvPr id="13" name="TextBox 12"/>
          <p:cNvSpPr txBox="1"/>
          <p:nvPr/>
        </p:nvSpPr>
        <p:spPr>
          <a:xfrm>
            <a:off x="5440680" y="5486400"/>
            <a:ext cx="6110935" cy="365760"/>
          </a:xfrm>
          <a:prstGeom prst="rect">
            <a:avLst/>
          </a:prstGeom>
          <a:noFill/>
        </p:spPr>
        <p:txBody>
          <a:bodyPr wrap="square">
            <a:spAutoFit/>
          </a:bodyPr>
          <a:lstStyle/>
          <a:p>
            <a:r>
              <a:rPr sz="1200" b="0">
                <a:solidFill>
                  <a:srgbClr val="6B7280"/>
                </a:solidFill>
                <a:latin typeface="Calibri"/>
              </a:rPr>
              <a:t>Ikki real autopsiya</a:t>
            </a:r>
          </a:p>
        </p:txBody>
      </p:sp>
      <p:sp>
        <p:nvSpPr>
          <p:cNvPr id="14" name="TextBox 13"/>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betlar: 245-246, 245</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Xulosa va asosiy tezislar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O’lim vaqtini aniqlash. Evtanaziya turlari. Murda a’zo va to’qimalarning transplantatsiya </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41 / 43</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O‘lim muddati asosan murdaning sovushi va murda dog‘lariga qarab belgilanadi. Bitta ishonchli usul yo‘q, shuning uchun ko‘p usul qo‘llanadi.</a:t>
            </a:r>
          </a:p>
          <a:p>
            <a:pPr>
              <a:spcAft>
                <a:spcPts val="1200"/>
              </a:spcAft>
            </a:pPr>
            <a:r>
              <a:rPr sz="2200">
                <a:solidFill>
                  <a:srgbClr val="1F2937"/>
                </a:solidFill>
                <a:latin typeface="Calibri"/>
              </a:rPr>
              <a:t>▸  Evtanaziya: aktiv (bevosita, bilvosita) va passiv (ortotanaziya); medikotanaziya, distanaziya ham farqlanadi. Tor ma’noda faqat aktiv va passiv.</a:t>
            </a:r>
          </a:p>
          <a:p>
            <a:pPr>
              <a:spcAft>
                <a:spcPts val="1200"/>
              </a:spcAft>
            </a:pPr>
            <a:r>
              <a:rPr sz="2200">
                <a:solidFill>
                  <a:srgbClr val="1F2937"/>
                </a:solidFill>
                <a:latin typeface="Calibri"/>
              </a:rPr>
              <a:t>▸  Bosh miya po‘stlog‘ining o‘limi biologik o‘limning boshlanishi hisoblanadi. Boshqa a’zolar o‘limigacha oraliq taxminan 20 soat bo‘ladi.</a:t>
            </a:r>
          </a:p>
          <a:p>
            <a:pPr>
              <a:spcAft>
                <a:spcPts val="1200"/>
              </a:spcAft>
            </a:pPr>
            <a:r>
              <a:rPr sz="2200">
                <a:solidFill>
                  <a:srgbClr val="1F2937"/>
                </a:solidFill>
                <a:latin typeface="Calibri"/>
              </a:rPr>
              <a:t>▸  Qonun ruxsat etsa, miya o‘limidan so‘ng a’zo va to‘qimalar ko‘chirib o‘tkazish uchun olinadi. Qancha erta olinsa, natija shuncha samarali.</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betlar: 236-238, 218-219, 220</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Qiziqarli ma’lumotlar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O’lim vaqtini aniqlash. Evtanaziya turlari. Murda a’zo va to’qimalarning transplantatsiya </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42 / 43</a:t>
            </a:r>
          </a:p>
        </p:txBody>
      </p:sp>
      <p:sp>
        <p:nvSpPr>
          <p:cNvPr id="8" name="TextBox 7"/>
          <p:cNvSpPr txBox="1"/>
          <p:nvPr/>
        </p:nvSpPr>
        <p:spPr>
          <a:xfrm>
            <a:off x="640080" y="1463040"/>
            <a:ext cx="10911535" cy="4754880"/>
          </a:xfrm>
          <a:prstGeom prst="rect">
            <a:avLst/>
          </a:prstGeom>
          <a:noFill/>
        </p:spPr>
        <p:txBody>
          <a:bodyPr wrap="square">
            <a:spAutoFit/>
          </a:bodyPr>
          <a:lstStyle/>
          <a:p>
            <a:pPr>
              <a:spcAft>
                <a:spcPts val="1200"/>
              </a:spcAft>
            </a:pPr>
            <a:r>
              <a:rPr sz="1800">
                <a:solidFill>
                  <a:srgbClr val="1F2937"/>
                </a:solidFill>
                <a:latin typeface="Calibri"/>
              </a:rPr>
              <a:t>▸  Transplantatsiya asosida muhim biologik qonuniyat yotadi. Bosh miya po‘stlog‘i o‘lgach, boshqa a’zolar to‘liq o‘lguncha taxminan 20 soatga yaqin oraliq davr bo‘ladi. Shu davrda a’zo va to‘qimalarni olish mumkin. Biologik o‘limdan keyin a’zo qanchalik erta olinsa, ko‘chirib o‘tkazish natijasi shunchalik yaxshi bo‘ladi.</a:t>
            </a:r>
          </a:p>
          <a:p>
            <a:pPr>
              <a:spcAft>
                <a:spcPts val="1200"/>
              </a:spcAft>
            </a:pPr>
            <a:r>
              <a:rPr sz="1800">
                <a:solidFill>
                  <a:srgbClr val="1F2937"/>
                </a:solidFill>
                <a:latin typeface="Calibri"/>
              </a:rPr>
              <a:t>▸  Eslab qolish usuli: chirish tezligi indeksi 1:2:8 deb yoziladi, ya’ni havo : suv : yer. Murda suvda havodagiga qaraganda 2 barobar, yerda 8 barobar sekin chiriydi. Sababi suv va yerda kislorod kam, harorat ham pastroq.</a:t>
            </a:r>
          </a:p>
          <a:p>
            <a:pPr>
              <a:spcAft>
                <a:spcPts val="1200"/>
              </a:spcAft>
            </a:pPr>
            <a:r>
              <a:rPr sz="1800">
                <a:solidFill>
                  <a:srgbClr val="1F2937"/>
                </a:solidFill>
                <a:latin typeface="Calibri"/>
              </a:rPr>
              <a:t>▸  Murda dog‘lari bosqichlarini bosib ko‘rish bilan eslab qoling. Gipostazda dog‘ bosilganda yo‘qoladi va tez tiklanadi. Stazda faqat oqaradi va sekin tiklanadi. Imbibitsiyada rangi umuman o‘zgarmaydi.</a:t>
            </a:r>
          </a:p>
          <a:p>
            <a:pPr>
              <a:spcAft>
                <a:spcPts val="1200"/>
              </a:spcAft>
            </a:pPr>
            <a:r>
              <a:rPr sz="1800">
                <a:solidFill>
                  <a:srgbClr val="1F2937"/>
                </a:solidFill>
                <a:latin typeface="Calibri"/>
              </a:rPr>
              <a:t>▸  Hodisa tahlili: murda terisi qurib tortilgach, soch, soqol va tirnoqlar go‘yo o‘sganday ko‘rinadi. Aslida ular o‘smagan, bu faqat terining tortilishidan hosil bo‘lgan soxta tasavvur.</a:t>
            </a:r>
          </a:p>
          <a:p>
            <a:pPr>
              <a:spcAft>
                <a:spcPts val="1200"/>
              </a:spcAft>
            </a:pPr>
            <a:r>
              <a:rPr sz="1800">
                <a:solidFill>
                  <a:srgbClr val="1F2937"/>
                </a:solidFill>
                <a:latin typeface="Calibri"/>
              </a:rPr>
              <a:t>▸  Diqqat: bilvosita aktiv evtanaziya passiv evtanaziyadan (ortotanaziyadan) farq qiladi. Birinchisida og‘riq qoldiruvchi preparat katta dozada yuboriladi, o‘limni tezlashtirish maqsadi bo‘lmaydi. Ikkinchisida o‘limga mahkum bemorga tibbiy yordam cheklanadi yoki to‘xtatiladi.</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Adabiyotlar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O’lim vaqtini aniqlash. Evtanaziya turlari. Murda a’zo va to’qimalarning transplantatsiya </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43 / 43</a:t>
            </a:r>
          </a:p>
        </p:txBody>
      </p:sp>
      <p:sp>
        <p:nvSpPr>
          <p:cNvPr id="8" name="TextBox 7"/>
          <p:cNvSpPr txBox="1"/>
          <p:nvPr/>
        </p:nvSpPr>
        <p:spPr>
          <a:xfrm>
            <a:off x="640080" y="1463040"/>
            <a:ext cx="10911535" cy="4754880"/>
          </a:xfrm>
          <a:prstGeom prst="rect">
            <a:avLst/>
          </a:prstGeom>
          <a:noFill/>
        </p:spPr>
        <p:txBody>
          <a:bodyPr wrap="square">
            <a:spAutoFit/>
          </a:bodyPr>
          <a:lstStyle/>
          <a:p>
            <a:pPr>
              <a:spcAft>
                <a:spcPts val="800"/>
              </a:spcAft>
            </a:pPr>
            <a:r>
              <a:rPr sz="2000">
                <a:solidFill>
                  <a:srgbClr val="1F2937"/>
                </a:solidFill>
                <a:latin typeface="Calibri"/>
              </a:rPr>
              <a:t>▸  G‘iyosov Z.A. Sud tibbiyoti (Tibbiyot oliy o‘quv yurtlari talabalari uchun darslik), Toshkent: Global Books nashriyoti. 2018. Bob 8 «Sud-tibbiy tanatologiya», 8.1-8.13-bo‘limlar, kitob beti 217-246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