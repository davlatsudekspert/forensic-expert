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savollari: 1) Nima uchun tirik shaxslar ekspertizasi eng ko‘p o‘tkaziladigan turdir? 2) Jinsiy holat va jinsiy jinoyat ekspertizasi bir-biridan nimasi bilan farq qiladi? Doskada chizish: ikki ustun (jinsiy holatlar | jinsiy jinoyatlar) va ostiga dars rejasi. Tipik xato: talabalar jinsiy holatni (masalan, bokiralik, homiladorlik) jinsiy jinoyat bilan aralashtiradi. Holat ekspertiza mavzusi, jinoyat esa huquqiy tushuncha ekanini ta’kidlang.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savollari: 1) Jadvaldagi har bir tur uchun bittadan amaliy misol keltiring. 2) Ekspertiza faqat sud-tibbiy muassasada o‘tadimi? Doskada chizish: jadvalni o‘z so‘zingiz bilan qayta chizing. Tipik xato: ekspertiza faqat sud-tibbiy muassasada o‘tadi deb o‘ylash. Darslikda zarur sharoit bo‘lsa davolash muassasalari va boshqa joylarda ham o‘tkazilishi mumkinligi aytilgan.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Darslikda algoritm olti bosqichli: hodisa tafsilotlari, tibbiy hujjatlar, so‘rov, ko‘rik, zarur bo‘lsa qo‘shimcha maxsus tekshiruv va mutaxassis maslahati, xulosa. Sxemada 4-5-bosqichlar birlashtirilgan, shuni izohlang. Muhokama savollari: 1) Nima uchun tibbiy hujjatlar ko‘rikdan oldin o‘rganiladi? 2) Nima uchun hujjatlarning asl nusxasi talab qilinadi? Doskada chizish: bosqichlar zanjirini strelkalar bilan chizing. Tipik xato: ko‘rikni so‘rov va hujjatlarni o‘rganishdan oldin o‘tkazish; tartib saqlanishi kerak. Tezkor savol: jinsiy holat ekspertizasida shaxsni tasdiqlovchi hujjatdan tashqari yana nima taqdim etiladi?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tibbiy hujjatlarning aynan asl nusxalari talab qilinadi? 2) Jinsiy holat ekspertizalarida qo‘shimcha fotosurat nima uchun kerak bo‘lishi mumkin? Doskada: shaxsni tasdiqlash hujjatlari ro‘yxatini va jinsiy holat ekspertizasiga qo‘shimcha talabni chizing. Tipik xato: talabalar nusxa yoki ko‘chirma ham yetarli deb o‘ylaydi; manbada asl nusxa talab qilinadi. Shuningdek ikkita fotosurat faqat jinsiy holat va jinoyatlar ekspertizalariga tegishli ekanini qayd eting.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Tergovchi qaysi holatda ko‘rik xonasidan chiqadi va nima uchun? 2) Voyaga yetmagan va muomalaga layoqatsiz shaxslar ko‘rigida kim qatnashadi? Doskada: ko‘rikda qatnashuvchilar sxemasini (shaxs turiga qarab kim ishtirok etishi) chizing. Tipik xato: tergovchi ko‘rikda umuman qatnasha olmaydi deb o‘ylash; aslida u faqat o‘zga jinsdagi shaxs yalang‘ochlanganda chiqib turadi. Yana: rasmga olish uchun shaxsning ruxsati shart.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 javobni avval yozma, so‘ng og‘zaki aytsin. Muhokama: 1) Bosqichlar tartibi nima uchun muhim — hujjatni o‘rganmasdan so‘rovga o‘tish mumkinmi? 2) Qo‘shimcha tekshiruv har doim shartmi? Doskada: 6 bosqichni bitta zanjir ko‘rinishida chizdiring. Tipik xato: so‘rov va ko‘rikning o‘rnini almashtirish yoki ekspert xulosasini oxirgi bosqich deb ko‘rsatmaslik.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bunday ekspertizalar ham jinoiy, ham fuqarolik ishlarida kerak bo‘ladi? 2) Besh yo‘nalishdan qaysi biri sizga amaliyotda ko‘proq uchraydigandek tuyuladi? Doskada: bo‘lim tarkibini besh bosqichli zanjir ko‘rinishida chizdiring. Tipik xato: talabalar jinsiy holatlar ekspertizasini jinsiy jinoyatlar ekspertizasi bilan aralashtiradi (ular alohida bo‘limlar).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jinsga shubha nikoh va aliment ishlarida muhim? 2) Jinsni tekshirishda qanday ma’lumotlar yig‘iladi (anamnez, hujjatlar, ko‘rik, laboratoriya)? Doskada: ’bez – tashqi belgi’ juftligini chizing va nuqson qayerda yuzaga kelishini ko‘rsating. Tipik xato: jinsni faqat tashqi ko‘rinishga qarab belgilash; bez va genetik jinsni ham hisobga olish kerak.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Soxta erkak germafroditda bez va tashqi belgi nega mos kelmaydi? 2) Bunday holatda jinsni aniqlash uchun qanday tekshiruvlar kerak? Doskada: uch qatorli jadvalni talabalar bilan birga to‘ldiring. Tipik xato: soxta erkak va soxta ayol turlarini aralashtirish; jins bezga qarab nomlanadi.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Jinsni aniqlash qachon kerak bo‘ladi (hujjat berish, nikoh, alimentlar, jinsiy jinoyatlar)? 2) Nega faqat tashqi ko‘rik yetarli emas? Doskada chizish: ikki ustunli sxema — bez (tuxumdon/yorg‘oq) va tashqi belgilar, mos kelmaslik holatlari. Tipik xato: chin va soxta germafroditizmni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Ayol va erkakda yetuklik mazmuni nimasi bilan farq qiladi? 2) Nega Jinoyat kodeksi yosh chegarasini aniq belgilagan? Doskada chizish: 14 yoshdan nikoh yoshigacha bo‘lgan vaqt chizig‘i va yetuklik masalasi ko‘tariladigan oraliq. Tipik xato: jinsiy yetuklikni faqat menstruatsiya bor-yo‘qligiga tenglashtirish.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antropometrik o‘lchamlar mutlaq mezon emas? 2) Akseleratsiya xulosaga qanday ta’sir qiladi? Doskada chizish: jadvalni ko‘chirib, har ko‘rsatkichga ‘kamida’ qiymatini yozdiring. Tipik xato: kichik o‘lchamni avtomatik ‘yetilmagan’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Jinoyat kodeksida aniq yosh belgilanishi yetuklikni aniqlash zaruratini kamaytirgan? 2) Yetuklik tushunchasi ayol va erkakda nimasi bilan farq qiladi? Doskada chizish: yosh o‘qi (14 – 16 – 18) va moddalarni shu o‘qqa joylashtiring. Tipik xato: «14 yoshgacha yetilmagan» qoidasini Jinoyat kodeksidagi javobgarlik yoshi bilan aralashtirish. Modda–yosh juftliklarini darslikdagi matn bilan solishtirib tekshiring.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Yetuklikni baholashda qaysi belgilar majmui hisobga olinadi? 2) Nega tos ko‘rsatkichlari nisbiy ahamiyatga ega? Javob: ba’zan kichikroq ko‘rsatkichda ham ayol organizmga zarar yetkazmay farzand ko‘radi, 14 yoshgacha akseleratsiya tufayli kattaroq ko‘rsatkich ham uchraydi (289-bet). Doskada chizish: yetuklik belgilari bo‘yicha ro‘yxat (rivojlanish, tashqi va ichki a’zolar, ikkilamchi belgilar, tos, menstruatsiya). Tipik xato: bitta ko‘rsatkichga tayanib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Qizlik pardasining tuzilish elementlari qaysilar? 2) Nega tavsifda soat siferblatidan foydalaniladi? Doskada chizish: qizlik pardasi sxemasi — asos, erkin chet, teshik va soat siferblati bo‘yicha raqamlash. Tipik xato: bokiralikni faqat «parda bor yoki yo‘q» deb tushunish; parda shakli, balandligi, qalinligi, cho‘ziluvchanligi turlicha bo‘lishi mumkin. Eslatma: parda butunligi boshqa holatlarda ham buzilishi mumkin (291-bet), keyingi slaydlarda ko‘riladi.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shaklni tasniflash ekspert uchun nega muhim? Pardaning tuzilish elementlari (asos, erkin chet, teshik) nima beradi? Doskada: pardaning sodda sxemasini chizib, asos, erkin chet va teshikni belgilang. Tipik xato: uch guruhni (odatdagi, g‘ayrioddiy, juda kam uchraydigan) bir-biri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nega jinsiy aloqa bo‘lgan holda ham parda butun qolishi mumkin? Butunlik buzilishining jinsiy aloqadan boshqa sabablari qaysilar? Doskada: asosga yetgan va yetmagan yoriqni ikki sxemada chizing. Tipik xato: «parda butun emas» degan topilmani darhol jinsiy aloqa bo‘lgan deb xulosa qilish. Diqqat: parda butunligining buzilishi ≠ jinsiy aloqa; manbada boshqa sabablar ham ko‘rsatilgan.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bokiralikka shubha bo‘lsa, imkon qadar tezroq sud-tibbiy ekspertga murojaat qilish kerak? Yupqa, elastik va qalin pardalarda bitish tezligi qanday farq qiladi? Doskada: vaqt chizig‘ini (dastlabki kunlar, 1-hafta, 2–3-hafta, 3 haftadan keyin) chizing. Tipik xato: uch haftadan keyin ham yoriq muddatini aniq aytish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yoriqlar asosan 5-7 soat oralig‘ida uchraydi, deb o‘ylaysiz? 2) Chetlarning qalinligi yoriq muddati haqida nima deydi? Doskada chizish: qizlik pardasini soat siferblati ko‘rinishida chizib, 5-7 oralig‘ini belgilang. Tipik xato: har qanday o‘yiqni yoriq deb baholash yoki aksincha; tabiiy o‘yiq asosga yetmasligini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Talabalardan javobni yopiq kitob bilan so‘rang. Muhokama: nega namuna olishda shoshilish kerak? Doskada chizish: uchta belgini (maniy, homiladorlik, tanosil kasalligi) va 3-5 kunlik vaqt o‘qini yozing. Tipik xato: maniy topilmasa, aloqa bo‘lmagan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Fuqaroga qanday tushuntirish berasiz? 2) Nega muddat faqat dastlabki haftalarda aniqlanadi? Doskada chizish: yoriq bitishining 1-, 2-, 3-hafta bosqichlari bo‘yicha qisqa vaqt chizig‘i. Tipik xato: qizlarni darhol akusher-ginekologga yo‘naltirish va 3 haftadan keyin ham muddatni aniqlash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erkak va ayolda nasl qoldirish qobiliyati nimalardan iborat? Nega ekspertiza klinitsist-mutaxassislar bilan o‘tkaziladi? Doskada jadvalni chizdiring va har ustunga bittadan misol yozdiring. Tipik xato: impotensiya (jinsiy aloqaga to‘siq) bilan bepushtlik (urug‘lantirish qobiliyatining yo‘qligi)ni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qaysi belgilar taxminiy, qaysilari ishonchli? Xorial gonadotropin qachondan ishlab chiqariladi? Doskada belgilarni erta va kech davrlar bo‘yicha ustunlarga ajratib chizdiring. Tipik xato: hayz to‘xtashini yagona va mutlaq belgi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nega tug‘ruqning muddatini dastlabki kunlarda aniqlash oson, keyin esa qiyin? Bachadon involyusiyasi nimani bildiradi? Doskada tug‘gan va tug‘magan ayolning bachadon bo‘yinchasi tashqi teshigi shaklini chizdiring. Tipik xato: kech davrda aniq kun muddatini belgilashga urinish.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Tibbiy va jinoiy abortni nima farqlaydi? 2) Nega jinoiy abort o‘limga olib kelishi mumkin? Doskada chizing: abort turlari daraxti (o‘z-o‘zidan / sun’iy -&gt; tibbiy, jinoiy). Diqqat: tibbiy abort ≠ jinoiy abort; farq ijrochining tayyorgarligi, joy va tartibga rioya qilishda. Tipik xato: abortning 22 haftalik chegarasini 12 haftalik tibbiy abort muddati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Usulga qarab qanday jarohat izlari kutiladi? 2) Ekspertizaga qaysi mutaxassis jalb qilinadi? Doskada chizing: usul -&gt; topilma jadvali (mexanik, kimyoviy, termik). Tipik xato: talabalar termik usulni ham mexanik jarohat belgilari bilan izohlaydi; usulga mos o‘zgarishni qidirishni eslatib turing.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OIV — odam immunitet tanqisligi virusi, OITS — orttirilgan immunitet tanqisligi sindromi (talabalarga ochib bering). Muhokama: 1) Nega tanosil kasalligi va OIV tarqatish jinsiy erkinlikka qarshi emas, hayot va sog‘liqqa qarshi guruhda? 2) Besoqolbozlikda zo‘rlik bo‘lsa, kim javobgar? Doskada chizing: moddalar bo‘yicha guruhlar sxemasi. Tipik xato: 118, 119, 120, 129-moddalarni aralashtirish va besoqolbozlikning zo‘rliksiz ekanini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“nomusga tegish” tibbiy emas, huquqiy tushuncha? 2) Qo‘rqitish holatida ekspert nimaga tayanadi? Doskada: ekspertiza bosqichlarini (hujjat → so‘rov → anamnez → ko‘rik) zanjir qilib chizdiring. Tipik xato: talabalar tibbiy xulosada “zo‘rlangan” deb huquqiy baho beradi; ekspert faqat ob’ektiv belgilarni yozadi.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namuna olishda vaqt hal qiluvchi? 2) Qin shikasti bo‘lmasa, nomusga tegish bo‘lmagan deb aytish mumkinmi? Doskada: tananing old tomonini chizib, qontalash joylarini belgilang. Tipik xato: qin yoki oraliq shikastini faqat zo‘rlik belgisi deb hisoblash. Eslatma: gumondor ham ko‘rikdan o‘tkaziladi, uning tanasida kurash izlari va ayolga tegishli qon, soch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119-moddada passiv qatnashchi jabrlanuvchi hisoblanadi? 2) Izlar qaysi sohalardan laboratoriyaga olinadi? Doskada: 119 va 120 uchun ikki ustunli solishtirma jadval chizdiring. Tipik xato: moddalarni aralashtirish va passiv qatnashchini har doim jinoyat sub’ekti deb hisoblash. Eslatma: 119-modda bo‘yicha passiv qatnashchida tan jarohatlari ham topilishi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Passiv qatnashchida jarohat yo‘qligi aloqa bo‘lmaganini isbotlaydimi? 2) Qaysi kasalliklar belgilarni taqlid qilishi mumkin? Doskada: ikki ustunli jadval chizing: ‘haqiqiy belgi’ va ‘o‘xshash kasallik’. Tipik xato: orqa teshik sohasidagi o‘zgarishni har doim besoqolbozlik belgisi deb baholash; 120-modda (zo‘rliksiz) bilan 119-moddani (zo‘rlik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izlar bo‘lmasligi ekspertiza xulosasiga ta’sir qilishi mumkin? 2) Maniy izlari qaysi joylardan olinadi? Doskada: jabrlanuvchida kutiladigan o‘zgarishlar ro‘yxatini tananing sohalari bo‘yicha chizing. Tipik xato: ‘iz yo‘q – harakat bo‘lmagan’ deb xulosa qilish; fahsh harakatlarini nomusga tegish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bu jinoyat jinsiy erkinlikka qarshi guruhga kiritilmagan? 2) Tibbiyot xodimi javobgarligi qachon yuzaga keladi? Doskada: jadvaldagi to‘rt jinoyatni modda raqami bilan guruhlarga bo‘lib chizing. Tipik xato: 113-modda guruhini 118-modda guruhi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namunani birinchi navbatda olish kerak? 2) Qo‘rqitish holatida nega ob’ektiv belgi bo‘lmasligi mumkin? Doskada ekspert harakatlari ketma-ketligini chizdiring. Javob: gumondor ham ko‘rikdan o‘tkaziladi; unda qontalash, shilinma, tishlanma izlari, jinsiy a’zo va qovda ayolga tegishli qon va soch qidiriladi. Tipik xato: ko‘rikdan oldin hujjatlarni o‘rganishni o‘tkazib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Tezkor savollar: 3-5 kun nimani bildiradi? Uch haftadan keyin nima aniqlanmaydi? Doskada 118, 119, 120 va 129-moddalarni qisqa jadvalga yozdiring. Tipik xato: 119 va 120-moddalarni aralashtirish va passiv qatnashchining huquqiy holatini noto‘g‘ri aytish.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Passiv qatnashchida jarohat bo‘lmasligi mumkinmi? 2) Ekspert qachon proktolog maslahatini oladi? Doskada 6 bosqichli algoritmni yozdiring: hodisa tafsiloti, tibbiy hujjat, so‘rov, ko‘rik, qo‘shimcha tekshiruv, xulosa. Tipik xato: kasallik izlarini jinsiy aloqa belgisi deb xulosa qilish.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Jinsiy holat va jinsiy jinoyatlarda tirik shaxslar sud-tibbiy ekspertizasi.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Tirik shaxslarning sud-tibbiy ekspertizasi amaliyotda eng ko‘p o‘tkaziladigan ekspertiza turi. U jinoiy, fuqarolik va ma’muriy ishlar bo‘yicha tayinlanadi.</a:t>
            </a:r>
          </a:p>
          <a:p>
            <a:pPr>
              <a:spcAft>
                <a:spcPts val="1200"/>
              </a:spcAft>
            </a:pPr>
            <a:r>
              <a:rPr sz="2000">
                <a:solidFill>
                  <a:srgbClr val="1F2937"/>
                </a:solidFill>
                <a:latin typeface="Calibri"/>
              </a:rPr>
              <a:t>▸  Jinsiy holatlarda jins, bokiralik, jinsiy yetuklik, nasl qoldirish qobiliyati, homiladorlik, tug‘ruq, abort hamda tanosil kasalliklari va OIV (odam immunitet tanqisligi virusi) yuqtirilganligi aniqlanadi.</a:t>
            </a:r>
          </a:p>
          <a:p>
            <a:pPr>
              <a:spcAft>
                <a:spcPts val="1200"/>
              </a:spcAft>
            </a:pPr>
            <a:r>
              <a:rPr sz="2000">
                <a:solidFill>
                  <a:srgbClr val="1F2937"/>
                </a:solidFill>
                <a:latin typeface="Calibri"/>
              </a:rPr>
              <a:t>▸  Jinsiy jinoyatlar qatoriga nomusga tegish (zo‘rlash), besoqolbozlik va fahsh harakatlari kiradi. Tanosil kasalliklari yoki OIVni tarqatish ham shu guruhda o‘rganiladi.</a:t>
            </a:r>
          </a:p>
          <a:p>
            <a:pPr>
              <a:spcAft>
                <a:spcPts val="1200"/>
              </a:spcAft>
            </a:pPr>
            <a:r>
              <a:rPr sz="2000">
                <a:solidFill>
                  <a:srgbClr val="1F2937"/>
                </a:solidFill>
                <a:latin typeface="Calibri"/>
              </a:rPr>
              <a:t>▸  Dars rejasi: 12.3 jinsiy holatlar, 12.4 jinsiy jinoyatlar va 12.5 tirik shaxslar ekspertizasini o‘tkazish tartibi.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275-276, 275-276; 295, 288; 295; 299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Tirik shaxslar ekspertizasi: qachon tayinlanadi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Tirik shaxslar ekspertizasi amaliyotda eng ko‘p o‘tkaziladigan ekspertizalar hisoblanadi.</a:t>
            </a:r>
          </a:p>
          <a:p>
            <a:pPr>
              <a:spcAft>
                <a:spcPts val="800"/>
              </a:spcAft>
            </a:pPr>
            <a:r>
              <a:rPr sz="1800">
                <a:solidFill>
                  <a:srgbClr val="1F2937"/>
                </a:solidFill>
                <a:latin typeface="Calibri"/>
              </a:rPr>
              <a:t>▸  Ular jinoiy, fuqarolik va ma’muriy ishlar bo‘yicha turli holatlarda tayinlanadi.</a:t>
            </a:r>
          </a:p>
          <a:p>
            <a:pPr>
              <a:spcAft>
                <a:spcPts val="800"/>
              </a:spcAft>
            </a:pPr>
            <a:r>
              <a:rPr sz="1800">
                <a:solidFill>
                  <a:srgbClr val="1F2937"/>
                </a:solidFill>
                <a:latin typeface="Calibri"/>
              </a:rPr>
              <a:t>▸  Ekspertiza sud-tibbiy muassasalar bo‘limlarida, ayrim hollarda davolash muassasalarida ham o‘tkaziladi.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77115"/>
                <a:gridCol w="3710859"/>
              </a:tblGrid>
              <a:tr h="411480">
                <a:tc>
                  <a:txBody>
                    <a:bodyPr/>
                    <a:lstStyle/>
                    <a:p>
                      <a:r>
                        <a:rPr sz="1400" b="1">
                          <a:solidFill>
                            <a:srgbClr val="FFFFFF"/>
                          </a:solidFill>
                        </a:rPr>
                        <a:t>Turi</a:t>
                      </a:r>
                    </a:p>
                  </a:txBody>
                  <a:tcPr marL="73152" marR="73152" marT="36576" marB="36576">
                    <a:solidFill>
                      <a:srgbClr val="0B1F3A"/>
                    </a:solidFill>
                  </a:tcPr>
                </a:tc>
                <a:tc>
                  <a:txBody>
                    <a:bodyPr/>
                    <a:lstStyle/>
                    <a:p>
                      <a:r>
                        <a:rPr sz="1400" b="1">
                          <a:solidFill>
                            <a:srgbClr val="FFFFFF"/>
                          </a:solidFill>
                        </a:rPr>
                        <a:t>Maqsadi</a:t>
                      </a:r>
                    </a:p>
                  </a:txBody>
                  <a:tcPr marL="73152" marR="73152" marT="36576" marB="36576">
                    <a:solidFill>
                      <a:srgbClr val="0B1F3A"/>
                    </a:solidFill>
                  </a:tcPr>
                </a:tc>
              </a:tr>
              <a:tr h="411480">
                <a:tc>
                  <a:txBody>
                    <a:bodyPr/>
                    <a:lstStyle/>
                    <a:p>
                      <a:r>
                        <a:rPr sz="1300" b="0">
                          <a:solidFill>
                            <a:srgbClr val="1F2937"/>
                          </a:solidFill>
                        </a:rPr>
                        <a:t>Tan jarohatlari</a:t>
                      </a:r>
                    </a:p>
                  </a:txBody>
                  <a:tcPr marL="73152" marR="73152" marT="36576" marB="36576">
                    <a:solidFill>
                      <a:srgbClr val="E8EEF6"/>
                    </a:solidFill>
                  </a:tcPr>
                </a:tc>
                <a:tc>
                  <a:txBody>
                    <a:bodyPr/>
                    <a:lstStyle/>
                    <a:p>
                      <a:r>
                        <a:rPr sz="1300" b="0">
                          <a:solidFill>
                            <a:srgbClr val="1F2937"/>
                          </a:solidFill>
                        </a:rPr>
                        <a:t>xarakteri va og‘irlik darajasi</a:t>
                      </a:r>
                    </a:p>
                  </a:txBody>
                  <a:tcPr marL="73152" marR="73152" marT="36576" marB="36576">
                    <a:solidFill>
                      <a:srgbClr val="E8EEF6"/>
                    </a:solidFill>
                  </a:tcPr>
                </a:tc>
              </a:tr>
              <a:tr h="411480">
                <a:tc>
                  <a:txBody>
                    <a:bodyPr/>
                    <a:lstStyle/>
                    <a:p>
                      <a:r>
                        <a:rPr sz="1300" b="0">
                          <a:solidFill>
                            <a:srgbClr val="1F2937"/>
                          </a:solidFill>
                        </a:rPr>
                        <a:t>Jinsiy holatlar</a:t>
                      </a:r>
                    </a:p>
                  </a:txBody>
                  <a:tcPr marL="73152" marR="73152" marT="36576" marB="36576">
                    <a:solidFill>
                      <a:srgbClr val="FFFFFF"/>
                    </a:solidFill>
                  </a:tcPr>
                </a:tc>
                <a:tc>
                  <a:txBody>
                    <a:bodyPr/>
                    <a:lstStyle/>
                    <a:p>
                      <a:r>
                        <a:rPr sz="1300" b="0">
                          <a:solidFill>
                            <a:srgbClr val="1F2937"/>
                          </a:solidFill>
                        </a:rPr>
                        <a:t>jins, bokiralik, yetuklik, homiladorlik</a:t>
                      </a:r>
                    </a:p>
                  </a:txBody>
                  <a:tcPr marL="73152" marR="73152" marT="36576" marB="36576">
                    <a:solidFill>
                      <a:srgbClr val="FFFFFF"/>
                    </a:solidFill>
                  </a:tcPr>
                </a:tc>
              </a:tr>
              <a:tr h="411480">
                <a:tc>
                  <a:txBody>
                    <a:bodyPr/>
                    <a:lstStyle/>
                    <a:p>
                      <a:r>
                        <a:rPr sz="1300" b="0">
                          <a:solidFill>
                            <a:srgbClr val="1F2937"/>
                          </a:solidFill>
                        </a:rPr>
                        <a:t>Jinsiy jinoyatlar</a:t>
                      </a:r>
                    </a:p>
                  </a:txBody>
                  <a:tcPr marL="73152" marR="73152" marT="36576" marB="36576">
                    <a:solidFill>
                      <a:srgbClr val="E8EEF6"/>
                    </a:solidFill>
                  </a:tcPr>
                </a:tc>
                <a:tc>
                  <a:txBody>
                    <a:bodyPr/>
                    <a:lstStyle/>
                    <a:p>
                      <a:r>
                        <a:rPr sz="1300" b="0">
                          <a:solidFill>
                            <a:srgbClr val="1F2937"/>
                          </a:solidFill>
                        </a:rPr>
                        <a:t>zo‘rlash, besoqolbozlik, fahsh harakatlari</a:t>
                      </a:r>
                    </a:p>
                  </a:txBody>
                  <a:tcPr marL="73152" marR="73152" marT="36576" marB="36576">
                    <a:solidFill>
                      <a:srgbClr val="E8EEF6"/>
                    </a:solidFill>
                  </a:tcPr>
                </a:tc>
              </a:tr>
              <a:tr h="411480">
                <a:tc>
                  <a:txBody>
                    <a:bodyPr/>
                    <a:lstStyle/>
                    <a:p>
                      <a:r>
                        <a:rPr sz="1300" b="0">
                          <a:solidFill>
                            <a:srgbClr val="1F2937"/>
                          </a:solidFill>
                        </a:rPr>
                        <a:t>Salomatlik, yosh</a:t>
                      </a:r>
                    </a:p>
                  </a:txBody>
                  <a:tcPr marL="73152" marR="73152" marT="36576" marB="36576">
                    <a:solidFill>
                      <a:srgbClr val="FFFFFF"/>
                    </a:solidFill>
                  </a:tcPr>
                </a:tc>
                <a:tc>
                  <a:txBody>
                    <a:bodyPr/>
                    <a:lstStyle/>
                    <a:p>
                      <a:r>
                        <a:rPr sz="1300" b="0">
                          <a:solidFill>
                            <a:srgbClr val="1F2937"/>
                          </a:solidFill>
                        </a:rPr>
                        <a:t>salomatlik holati, simulyasiya, yosh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275-276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Ekspertizaning umumiy algoritmi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Hodisa tafsilotlari birinchi navbatda ekspertiza tayinlash qarori yoki ajrimidagi ma’lumotlardan o‘rganiladi.</a:t>
            </a:r>
          </a:p>
          <a:p>
            <a:pPr>
              <a:spcAft>
                <a:spcPts val="800"/>
              </a:spcAft>
            </a:pPr>
            <a:r>
              <a:rPr sz="1800">
                <a:solidFill>
                  <a:srgbClr val="1F2937"/>
                </a:solidFill>
                <a:latin typeface="Calibri"/>
              </a:rPr>
              <a:t>▸  Tibbiy hujjatlarning asl nusxalari taqdim etilishi lozim; shaxs pasport kabi hujjat bilan tasdiqlanadi.</a:t>
            </a:r>
          </a:p>
          <a:p>
            <a:pPr>
              <a:spcAft>
                <a:spcPts val="800"/>
              </a:spcAft>
            </a:pPr>
            <a:r>
              <a:rPr sz="1800">
                <a:solidFill>
                  <a:srgbClr val="1F2937"/>
                </a:solidFill>
                <a:latin typeface="Calibri"/>
              </a:rPr>
              <a:t>▸  Jinsiy holat va jinoyatlarda hujjatdan tashqari shaxsning ikkita fotosurati ham taqdim etiladi.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Hodisa tafsilotlari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Tibbiy hujjatlar</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Shaxsning so‘rovi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Ko‘rik, qo‘shimcha tekshiruv</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 Ekspert xulosasi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Algoritm bosqichlari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300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Hujjatlar va shaxsni tasdiqlash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Tibbiy hujjatlarning asl nusxalari berilishi lozim. Ularning ishonchliligi uchun ekspertiza tayinlagan shaxs javob beradi.</a:t>
            </a:r>
          </a:p>
          <a:p>
            <a:pPr>
              <a:spcAft>
                <a:spcPts val="1200"/>
              </a:spcAft>
            </a:pPr>
            <a:r>
              <a:rPr sz="2200">
                <a:solidFill>
                  <a:srgbClr val="1F2937"/>
                </a:solidFill>
                <a:latin typeface="Calibri"/>
              </a:rPr>
              <a:t>▸  Hujjatlarni ko‘rikdan oldin o‘rganish so‘rov va ko‘rikda nimaga e’tibor berishni belgilaydi. Jarohatning ilk holatini aniqlashda bu ayniqsa muhim.</a:t>
            </a:r>
          </a:p>
          <a:p>
            <a:pPr>
              <a:spcAft>
                <a:spcPts val="1200"/>
              </a:spcAft>
            </a:pPr>
            <a:r>
              <a:rPr sz="2200">
                <a:solidFill>
                  <a:srgbClr val="1F2937"/>
                </a:solidFill>
                <a:latin typeface="Calibri"/>
              </a:rPr>
              <a:t>▸  Shaxs pasport, harbiy bilet yoki tug‘ilganlik haqidagi guvohnoma bilan tasdiqlanadi. Istisno holatda uni ekspertiza tayinlagan shaxs tasdiqlashi mumkin.</a:t>
            </a:r>
          </a:p>
          <a:p>
            <a:pPr>
              <a:spcAft>
                <a:spcPts val="1200"/>
              </a:spcAft>
            </a:pPr>
            <a:r>
              <a:rPr sz="2200">
                <a:solidFill>
                  <a:srgbClr val="1F2937"/>
                </a:solidFill>
                <a:latin typeface="Calibri"/>
              </a:rPr>
              <a:t>▸  Jinsiy holat va jinoyatlar ekspertizasida shaxsni tasdiqlovchi hujjatdan tashqari ko‘rikdan o‘tuvchining ikkita fotosurati ham taqdim etiladi.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300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Ko‘rikni o‘tkazish qoidalari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Ekspertiza tayinlagan shaxs ko‘rikda qatnashishi mumkin. Faqat o‘zga jinsdagi shaxs yalang‘ochlanib ko‘rilganda tergovchi yoki surishtiruvchi xonadan chiqib turadi.</a:t>
            </a:r>
          </a:p>
          <a:p>
            <a:pPr>
              <a:spcAft>
                <a:spcPts val="1200"/>
              </a:spcAft>
            </a:pPr>
            <a:r>
              <a:rPr sz="2200">
                <a:solidFill>
                  <a:srgbClr val="1F2937"/>
                </a:solidFill>
                <a:latin typeface="Calibri"/>
              </a:rPr>
              <a:t>▸  Balog‘atga yetmaganlar ota-onasi yoki pedagoglari ishtirokida ko‘riladi. Muomalaga layoqatsizlar esa qonuniy vakili ishtirokida ko‘riladi.</a:t>
            </a:r>
          </a:p>
          <a:p>
            <a:pPr>
              <a:spcAft>
                <a:spcPts val="1200"/>
              </a:spcAft>
            </a:pPr>
            <a:r>
              <a:rPr sz="2200">
                <a:solidFill>
                  <a:srgbClr val="1F2937"/>
                </a:solidFill>
                <a:latin typeface="Calibri"/>
              </a:rPr>
              <a:t>▸  Ko‘rikda aniqlangan jarohat va boshqa holatlar faqat shaxsning ruxsati bilangina rasmga olinishi mumkin.</a:t>
            </a:r>
          </a:p>
          <a:p>
            <a:pPr>
              <a:spcAft>
                <a:spcPts val="1200"/>
              </a:spcAft>
            </a:pPr>
            <a:r>
              <a:rPr sz="2200">
                <a:solidFill>
                  <a:srgbClr val="1F2937"/>
                </a:solidFill>
                <a:latin typeface="Calibri"/>
              </a:rPr>
              <a:t>▸  Davolanayotgan bemor ko‘rigi uning sog‘lig‘i imkon bergandagina o‘tkaziladi. Ko‘rik haqidagi ma’lumot kasallik tarixiga yoziladi.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301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algoritm va qoidalar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tirik shaxslar ekspertizasi umumiy algoritmining 6 bosqichini tartib bilan sanang.</a:t>
            </a:r>
          </a:p>
          <a:p>
            <a:pPr>
              <a:spcAft>
                <a:spcPts val="1200"/>
              </a:spcAft>
            </a:pPr>
            <a:r>
              <a:rPr sz="2200">
                <a:solidFill>
                  <a:srgbClr val="1F2937"/>
                </a:solidFill>
                <a:latin typeface="Calibri"/>
              </a:rPr>
              <a:t>▸  Javob: hodisa tafsiloti, tibbiy hujjatlar, shaxs so‘rovi, ko‘rik, qo‘shimcha tekshiruv yoki maslahat, ekspert xulosasi.</a:t>
            </a:r>
          </a:p>
          <a:p>
            <a:pPr>
              <a:spcAft>
                <a:spcPts val="1200"/>
              </a:spcAft>
            </a:pPr>
            <a:r>
              <a:rPr sz="2200">
                <a:solidFill>
                  <a:srgbClr val="1F2937"/>
                </a:solidFill>
                <a:latin typeface="Calibri"/>
              </a:rPr>
              <a:t>▸  2-savol: tergovchi qachon ko‘rik xonasidan chiqib turadi? Javob: o‘zga jinsdagi shaxs yalang‘ochlanib ko‘rilganda.</a:t>
            </a:r>
          </a:p>
          <a:p>
            <a:pPr>
              <a:spcAft>
                <a:spcPts val="1200"/>
              </a:spcAft>
            </a:pPr>
            <a:r>
              <a:rPr sz="2200">
                <a:solidFill>
                  <a:srgbClr val="1F2937"/>
                </a:solidFill>
                <a:latin typeface="Calibri"/>
              </a:rPr>
              <a:t>▸  3-savol: jinsiy holat ekspertizasida shaxsni tasdiqlovchi hujjatdan tashqari yana nima kerak? Javob: ikkita fotosurat.</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299-300, 301, 300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Jinsiy holatlar yuzasidan ekspertiza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Jinsiy holatlar bo‘yicha ekspertiza jinoiy ishlarni tergov qilishda va fuqarolik ishlarini ko‘rishda zarur bo‘ladi.</a:t>
            </a:r>
          </a:p>
          <a:p>
            <a:pPr>
              <a:spcAft>
                <a:spcPts val="800"/>
              </a:spcAft>
            </a:pPr>
            <a:r>
              <a:rPr sz="1800">
                <a:solidFill>
                  <a:srgbClr val="1F2937"/>
                </a:solidFill>
                <a:latin typeface="Calibri"/>
              </a:rPr>
              <a:t>▸  Aniqlanadigan holatlar: jins, jinsiy yetuklik, bokiralik va nasl qoldirish qobiliyati.</a:t>
            </a:r>
          </a:p>
          <a:p>
            <a:pPr>
              <a:spcAft>
                <a:spcPts val="800"/>
              </a:spcAft>
            </a:pPr>
            <a:r>
              <a:rPr sz="1800">
                <a:solidFill>
                  <a:srgbClr val="1F2937"/>
                </a:solidFill>
                <a:latin typeface="Calibri"/>
              </a:rPr>
              <a:t>▸  Yana kechayotgan yoki bo‘lib o‘tgan homiladorlik, tug‘ruq va abort ham aniqlanadi.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Jinsni aniqlash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Jinsiy yetuklik</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Bokiralik</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Nasl qoldirish qobiliyati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Homiladorlik, tug‘ruq, abort</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Bo‘lim tarkibi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Jinsni aniqlash: qachon zarur bo‘ladi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Jins noto‘g‘ri aniqlangan bo‘lsa yoki qayd etilgan jinsga gumon tug‘ilsa, ekspertiza tayinlanadi.</a:t>
            </a:r>
          </a:p>
          <a:p>
            <a:pPr>
              <a:spcAft>
                <a:spcPts val="800"/>
              </a:spcAft>
            </a:pPr>
            <a:r>
              <a:rPr sz="1800">
                <a:solidFill>
                  <a:srgbClr val="1F2937"/>
                </a:solidFill>
                <a:latin typeface="Calibri"/>
              </a:rPr>
              <a:t>▸  Odatda tashqi jinsiy belgilar mavjud jinsiy bezga (tuxumdon yoki yorg‘oq) mos shakllanadi.</a:t>
            </a:r>
          </a:p>
          <a:p>
            <a:pPr>
              <a:spcAft>
                <a:spcPts val="800"/>
              </a:spcAft>
            </a:pPr>
            <a:r>
              <a:rPr sz="1800">
                <a:solidFill>
                  <a:srgbClr val="1F2937"/>
                </a:solidFill>
                <a:latin typeface="Calibri"/>
              </a:rPr>
              <a:t>▸  Embrional davrdagi nuqsonlar tufayli tashqi jinsiy a’zolar jinsga to‘liq mos kelmasligi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627069"/>
                <a:gridCol w="3660905"/>
              </a:tblGrid>
              <a:tr h="411480">
                <a:tc>
                  <a:txBody>
                    <a:bodyPr/>
                    <a:lstStyle/>
                    <a:p>
                      <a:r>
                        <a:rPr sz="1400" b="1">
                          <a:solidFill>
                            <a:srgbClr val="FFFFFF"/>
                          </a:solidFill>
                        </a:rPr>
                        <a:t>Soha</a:t>
                      </a:r>
                    </a:p>
                  </a:txBody>
                  <a:tcPr marL="73152" marR="73152" marT="36576" marB="36576">
                    <a:solidFill>
                      <a:srgbClr val="0B1F3A"/>
                    </a:solidFill>
                  </a:tcPr>
                </a:tc>
                <a:tc>
                  <a:txBody>
                    <a:bodyPr/>
                    <a:lstStyle/>
                    <a:p>
                      <a:r>
                        <a:rPr sz="1400" b="1">
                          <a:solidFill>
                            <a:srgbClr val="FFFFFF"/>
                          </a:solidFill>
                        </a:rPr>
                        <a:t>Holat</a:t>
                      </a:r>
                    </a:p>
                  </a:txBody>
                  <a:tcPr marL="73152" marR="73152" marT="36576" marB="36576">
                    <a:solidFill>
                      <a:srgbClr val="0B1F3A"/>
                    </a:solidFill>
                  </a:tcPr>
                </a:tc>
              </a:tr>
              <a:tr h="411480">
                <a:tc>
                  <a:txBody>
                    <a:bodyPr/>
                    <a:lstStyle/>
                    <a:p>
                      <a:r>
                        <a:rPr sz="1300" b="0">
                          <a:solidFill>
                            <a:srgbClr val="1F2937"/>
                          </a:solidFill>
                        </a:rPr>
                        <a:t>Hujjatlar</a:t>
                      </a:r>
                    </a:p>
                  </a:txBody>
                  <a:tcPr marL="73152" marR="73152" marT="36576" marB="36576">
                    <a:solidFill>
                      <a:srgbClr val="E8EEF6"/>
                    </a:solidFill>
                  </a:tcPr>
                </a:tc>
                <a:tc>
                  <a:txBody>
                    <a:bodyPr/>
                    <a:lstStyle/>
                    <a:p>
                      <a:r>
                        <a:rPr sz="1300" b="0">
                          <a:solidFill>
                            <a:srgbClr val="1F2937"/>
                          </a:solidFill>
                        </a:rPr>
                        <a:t>Shaxsni tasdiqlovchi hujjat berish</a:t>
                      </a:r>
                    </a:p>
                  </a:txBody>
                  <a:tcPr marL="73152" marR="73152" marT="36576" marB="36576">
                    <a:solidFill>
                      <a:srgbClr val="E8EEF6"/>
                    </a:solidFill>
                  </a:tcPr>
                </a:tc>
              </a:tr>
              <a:tr h="411480">
                <a:tc>
                  <a:txBody>
                    <a:bodyPr/>
                    <a:lstStyle/>
                    <a:p>
                      <a:r>
                        <a:rPr sz="1300" b="0">
                          <a:solidFill>
                            <a:srgbClr val="1F2937"/>
                          </a:solidFill>
                        </a:rPr>
                        <a:t>Ta’lim</a:t>
                      </a:r>
                    </a:p>
                  </a:txBody>
                  <a:tcPr marL="73152" marR="73152" marT="36576" marB="36576">
                    <a:solidFill>
                      <a:srgbClr val="FFFFFF"/>
                    </a:solidFill>
                  </a:tcPr>
                </a:tc>
                <a:tc>
                  <a:txBody>
                    <a:bodyPr/>
                    <a:lstStyle/>
                    <a:p>
                      <a:r>
                        <a:rPr sz="1300" b="0">
                          <a:solidFill>
                            <a:srgbClr val="1F2937"/>
                          </a:solidFill>
                        </a:rPr>
                        <a:t>Maxsus o‘quv yurtiga kirish</a:t>
                      </a:r>
                    </a:p>
                  </a:txBody>
                  <a:tcPr marL="73152" marR="73152" marT="36576" marB="36576">
                    <a:solidFill>
                      <a:srgbClr val="FFFFFF"/>
                    </a:solidFill>
                  </a:tcPr>
                </a:tc>
              </a:tr>
              <a:tr h="411480">
                <a:tc>
                  <a:txBody>
                    <a:bodyPr/>
                    <a:lstStyle/>
                    <a:p>
                      <a:r>
                        <a:rPr sz="1300" b="0">
                          <a:solidFill>
                            <a:srgbClr val="1F2937"/>
                          </a:solidFill>
                        </a:rPr>
                        <a:t>Oila ishlari</a:t>
                      </a:r>
                    </a:p>
                  </a:txBody>
                  <a:tcPr marL="73152" marR="73152" marT="36576" marB="36576">
                    <a:solidFill>
                      <a:srgbClr val="E8EEF6"/>
                    </a:solidFill>
                  </a:tcPr>
                </a:tc>
                <a:tc>
                  <a:txBody>
                    <a:bodyPr/>
                    <a:lstStyle/>
                    <a:p>
                      <a:r>
                        <a:rPr sz="1300" b="0">
                          <a:solidFill>
                            <a:srgbClr val="1F2937"/>
                          </a:solidFill>
                        </a:rPr>
                        <a:t>Nikohni bekor qilish, alimentlar</a:t>
                      </a:r>
                    </a:p>
                  </a:txBody>
                  <a:tcPr marL="73152" marR="73152" marT="36576" marB="36576">
                    <a:solidFill>
                      <a:srgbClr val="E8EEF6"/>
                    </a:solidFill>
                  </a:tcPr>
                </a:tc>
              </a:tr>
              <a:tr h="411480">
                <a:tc>
                  <a:txBody>
                    <a:bodyPr/>
                    <a:lstStyle/>
                    <a:p>
                      <a:r>
                        <a:rPr sz="1300" b="0">
                          <a:solidFill>
                            <a:srgbClr val="1F2937"/>
                          </a:solidFill>
                        </a:rPr>
                        <a:t>Tergov</a:t>
                      </a:r>
                    </a:p>
                  </a:txBody>
                  <a:tcPr marL="73152" marR="73152" marT="36576" marB="36576">
                    <a:solidFill>
                      <a:srgbClr val="FFFFFF"/>
                    </a:solidFill>
                  </a:tcPr>
                </a:tc>
                <a:tc>
                  <a:txBody>
                    <a:bodyPr/>
                    <a:lstStyle/>
                    <a:p>
                      <a:r>
                        <a:rPr sz="1300" b="0">
                          <a:solidFill>
                            <a:srgbClr val="1F2937"/>
                          </a:solidFill>
                        </a:rPr>
                        <a:t>Jinsiy jinoyatlar bo‘yicha tekshiruv</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Jins aniqlash holatlari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Germafroditizm: chin va soxta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 vaqtda ikki jinsga xos jinsiy a’zolar bo‘lishi germafroditizm deyiladi; uning chin va soxta turlari bor.</a:t>
            </a:r>
          </a:p>
          <a:p>
            <a:pPr>
              <a:spcAft>
                <a:spcPts val="800"/>
              </a:spcAft>
            </a:pPr>
            <a:r>
              <a:rPr sz="1800">
                <a:solidFill>
                  <a:srgbClr val="1F2937"/>
                </a:solidFill>
                <a:latin typeface="Calibri"/>
              </a:rPr>
              <a:t>▸  Chin turi juda kam uchraydi; amaliyotda soxta germafroditizm ko‘proq uchraydi.</a:t>
            </a:r>
          </a:p>
          <a:p>
            <a:pPr>
              <a:spcAft>
                <a:spcPts val="800"/>
              </a:spcAft>
            </a:pPr>
            <a:r>
              <a:rPr sz="1800">
                <a:solidFill>
                  <a:srgbClr val="1F2937"/>
                </a:solidFill>
                <a:latin typeface="Calibri"/>
              </a:rPr>
              <a:t>▸  Diqqat: soxta turda tashqi belgilar bezning jinsiga emas, boshqa jinsga o‘xshaydi.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084712"/>
                <a:gridCol w="1559274"/>
                <a:gridCol w="2643987"/>
              </a:tblGrid>
              <a:tr h="411480">
                <a:tc>
                  <a:txBody>
                    <a:bodyPr/>
                    <a:lstStyle/>
                    <a:p>
                      <a:r>
                        <a:rPr sz="1300" b="1">
                          <a:solidFill>
                            <a:srgbClr val="FFFFFF"/>
                          </a:solidFill>
                        </a:rPr>
                        <a:t>Turi</a:t>
                      </a:r>
                    </a:p>
                  </a:txBody>
                  <a:tcPr marL="73152" marR="73152" marT="36576" marB="36576">
                    <a:solidFill>
                      <a:srgbClr val="0B1F3A"/>
                    </a:solidFill>
                  </a:tcPr>
                </a:tc>
                <a:tc>
                  <a:txBody>
                    <a:bodyPr/>
                    <a:lstStyle/>
                    <a:p>
                      <a:r>
                        <a:rPr sz="1300" b="1">
                          <a:solidFill>
                            <a:srgbClr val="FFFFFF"/>
                          </a:solidFill>
                        </a:rPr>
                        <a:t>Jinsiy bez</a:t>
                      </a:r>
                    </a:p>
                  </a:txBody>
                  <a:tcPr marL="73152" marR="73152" marT="36576" marB="36576">
                    <a:solidFill>
                      <a:srgbClr val="0B1F3A"/>
                    </a:solidFill>
                  </a:tcPr>
                </a:tc>
                <a:tc>
                  <a:txBody>
                    <a:bodyPr/>
                    <a:lstStyle/>
                    <a:p>
                      <a:r>
                        <a:rPr sz="1300" b="1">
                          <a:solidFill>
                            <a:srgbClr val="FFFFFF"/>
                          </a:solidFill>
                        </a:rPr>
                        <a:t>Tashqi belgi</a:t>
                      </a:r>
                    </a:p>
                  </a:txBody>
                  <a:tcPr marL="73152" marR="73152" marT="36576" marB="36576">
                    <a:solidFill>
                      <a:srgbClr val="0B1F3A"/>
                    </a:solidFill>
                  </a:tcPr>
                </a:tc>
              </a:tr>
              <a:tr h="411480">
                <a:tc>
                  <a:txBody>
                    <a:bodyPr/>
                    <a:lstStyle/>
                    <a:p>
                      <a:r>
                        <a:rPr sz="1200" b="0">
                          <a:solidFill>
                            <a:srgbClr val="1F2937"/>
                          </a:solidFill>
                        </a:rPr>
                        <a:t>Chin</a:t>
                      </a:r>
                    </a:p>
                  </a:txBody>
                  <a:tcPr marL="73152" marR="73152" marT="36576" marB="36576">
                    <a:solidFill>
                      <a:srgbClr val="E8EEF6"/>
                    </a:solidFill>
                  </a:tcPr>
                </a:tc>
                <a:tc>
                  <a:txBody>
                    <a:bodyPr/>
                    <a:lstStyle/>
                    <a:p>
                      <a:r>
                        <a:rPr sz="1200" b="0">
                          <a:solidFill>
                            <a:srgbClr val="1F2937"/>
                          </a:solidFill>
                        </a:rPr>
                        <a:t>Erkak va ayol bezlari</a:t>
                      </a:r>
                    </a:p>
                  </a:txBody>
                  <a:tcPr marL="73152" marR="73152" marT="36576" marB="36576">
                    <a:solidFill>
                      <a:srgbClr val="E8EEF6"/>
                    </a:solidFill>
                  </a:tcPr>
                </a:tc>
                <a:tc>
                  <a:txBody>
                    <a:bodyPr/>
                    <a:lstStyle/>
                    <a:p>
                      <a:r>
                        <a:rPr sz="1200" b="0">
                          <a:solidFill>
                            <a:srgbClr val="1F2937"/>
                          </a:solidFill>
                        </a:rPr>
                        <a:t>Erkak yoki ayolga o‘xshash</a:t>
                      </a:r>
                    </a:p>
                  </a:txBody>
                  <a:tcPr marL="73152" marR="73152" marT="36576" marB="36576">
                    <a:solidFill>
                      <a:srgbClr val="E8EEF6"/>
                    </a:solidFill>
                  </a:tcPr>
                </a:tc>
              </a:tr>
              <a:tr h="411480">
                <a:tc>
                  <a:txBody>
                    <a:bodyPr/>
                    <a:lstStyle/>
                    <a:p>
                      <a:r>
                        <a:rPr sz="1200" b="0">
                          <a:solidFill>
                            <a:srgbClr val="1F2937"/>
                          </a:solidFill>
                        </a:rPr>
                        <a:t>Soxta erkak</a:t>
                      </a:r>
                    </a:p>
                  </a:txBody>
                  <a:tcPr marL="73152" marR="73152" marT="36576" marB="36576">
                    <a:solidFill>
                      <a:srgbClr val="FFFFFF"/>
                    </a:solidFill>
                  </a:tcPr>
                </a:tc>
                <a:tc>
                  <a:txBody>
                    <a:bodyPr/>
                    <a:lstStyle/>
                    <a:p>
                      <a:r>
                        <a:rPr sz="1200" b="0">
                          <a:solidFill>
                            <a:srgbClr val="1F2937"/>
                          </a:solidFill>
                        </a:rPr>
                        <a:t>Yorg‘oq (spermatogenez)</a:t>
                      </a:r>
                    </a:p>
                  </a:txBody>
                  <a:tcPr marL="73152" marR="73152" marT="36576" marB="36576">
                    <a:solidFill>
                      <a:srgbClr val="FFFFFF"/>
                    </a:solidFill>
                  </a:tcPr>
                </a:tc>
                <a:tc>
                  <a:txBody>
                    <a:bodyPr/>
                    <a:lstStyle/>
                    <a:p>
                      <a:r>
                        <a:rPr sz="1200" b="0">
                          <a:solidFill>
                            <a:srgbClr val="1F2937"/>
                          </a:solidFill>
                        </a:rPr>
                        <a:t>Kichik olat, ko‘krak bezi kattalashgan</a:t>
                      </a:r>
                    </a:p>
                  </a:txBody>
                  <a:tcPr marL="73152" marR="73152" marT="36576" marB="36576">
                    <a:solidFill>
                      <a:srgbClr val="FFFFFF"/>
                    </a:solidFill>
                  </a:tcPr>
                </a:tc>
              </a:tr>
              <a:tr h="411480">
                <a:tc>
                  <a:txBody>
                    <a:bodyPr/>
                    <a:lstStyle/>
                    <a:p>
                      <a:r>
                        <a:rPr sz="1200" b="0">
                          <a:solidFill>
                            <a:srgbClr val="1F2937"/>
                          </a:solidFill>
                        </a:rPr>
                        <a:t>Soxta ayol</a:t>
                      </a:r>
                    </a:p>
                  </a:txBody>
                  <a:tcPr marL="73152" marR="73152" marT="36576" marB="36576">
                    <a:solidFill>
                      <a:srgbClr val="E8EEF6"/>
                    </a:solidFill>
                  </a:tcPr>
                </a:tc>
                <a:tc>
                  <a:txBody>
                    <a:bodyPr/>
                    <a:lstStyle/>
                    <a:p>
                      <a:r>
                        <a:rPr sz="1200" b="0">
                          <a:solidFill>
                            <a:srgbClr val="1F2937"/>
                          </a:solidFill>
                        </a:rPr>
                        <a:t>Tuxumdon (ovogenez)</a:t>
                      </a:r>
                    </a:p>
                  </a:txBody>
                  <a:tcPr marL="73152" marR="73152" marT="36576" marB="36576">
                    <a:solidFill>
                      <a:srgbClr val="E8EEF6"/>
                    </a:solidFill>
                  </a:tcPr>
                </a:tc>
                <a:tc>
                  <a:txBody>
                    <a:bodyPr/>
                    <a:lstStyle/>
                    <a:p>
                      <a:r>
                        <a:rPr sz="1200" b="0">
                          <a:solidFill>
                            <a:srgbClr val="1F2937"/>
                          </a:solidFill>
                        </a:rPr>
                        <a:t>Klitor kattaligi, ko‘krak rivojlanmagan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Germafroditizm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jinsni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shaxsning tashqi jinsiy belgilari bir jinsga o‘xshaydi, jinsiy bezi esa boshqa jinsga xos. Bu soxta germafroditizm bo‘lishi mumkin.</a:t>
            </a:r>
          </a:p>
          <a:p>
            <a:pPr>
              <a:spcAft>
                <a:spcPts val="1200"/>
              </a:spcAft>
            </a:pPr>
            <a:r>
              <a:rPr sz="2200">
                <a:solidFill>
                  <a:srgbClr val="1F2937"/>
                </a:solidFill>
                <a:latin typeface="Calibri"/>
              </a:rPr>
              <a:t>▸  Diqqat: chin germafroditizmda ikkala jinsning bezi bo‘ladi; soxtasida bez bitta jinsniki. Masalan, soxta erkakda yorg‘oq ishlaydi, belgilar ayolga o‘xshaydi.</a:t>
            </a:r>
          </a:p>
          <a:p>
            <a:pPr>
              <a:spcAft>
                <a:spcPts val="1200"/>
              </a:spcAft>
            </a:pPr>
            <a:r>
              <a:rPr sz="2200">
                <a:solidFill>
                  <a:srgbClr val="1F2937"/>
                </a:solidFill>
                <a:latin typeface="Calibri"/>
              </a:rPr>
              <a:t>▸  Tekshiruv: menstruatsiya, pollyusiya, jinsiy intilish anamnezi, mutaxassislar hujjatlari, antropometriya, tashqi a’zolar va ikkilamchi belgilar o‘rganiladi.</a:t>
            </a:r>
          </a:p>
          <a:p>
            <a:pPr>
              <a:spcAft>
                <a:spcPts val="1200"/>
              </a:spcAft>
            </a:pPr>
            <a:r>
              <a:rPr sz="2200">
                <a:solidFill>
                  <a:srgbClr val="1F2937"/>
                </a:solidFill>
                <a:latin typeface="Calibri"/>
              </a:rPr>
              <a:t>▸  Savol: bez va belgilar mos kelmasa, genetik jinsni qaysi tekshiruv aniqlaydi? Javob: qondagi leykotsitlarda xromosomalarni tekshirish.</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Jinsiy yetuklik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Jinsiy yetuklik — salomatlik va keyingi rivojlanishga ziyon yetkazmasdan jinsiy hayot olib borishga imkon beradigan rivojlanish darajasi.</a:t>
            </a:r>
          </a:p>
          <a:p>
            <a:pPr>
              <a:spcAft>
                <a:spcPts val="1200"/>
              </a:spcAft>
            </a:pPr>
            <a:r>
              <a:rPr sz="2000">
                <a:solidFill>
                  <a:srgbClr val="1F2937"/>
                </a:solidFill>
                <a:latin typeface="Calibri"/>
              </a:rPr>
              <a:t>▸  Ayollarda: jinsiy aloqa, homilador bo‘lish, homilani saqlash, tug‘ish, emizish. Erkaklarda: jinsiy aloqa qilish va urug‘lantirish qobiliyati.</a:t>
            </a:r>
          </a:p>
          <a:p>
            <a:pPr>
              <a:spcAft>
                <a:spcPts val="1200"/>
              </a:spcAft>
            </a:pPr>
            <a:r>
              <a:rPr sz="2000">
                <a:solidFill>
                  <a:srgbClr val="1F2937"/>
                </a:solidFill>
                <a:latin typeface="Calibri"/>
              </a:rPr>
              <a:t>▸  Odatda 14 yoshga to‘lmaganlar yetilmagan hisoblanadi. Yetuklik masalasi 14 yoshdan nikoh yoshigacha bo‘lgan davrda ko‘tariladi; irsiy, ijtimoiy, geografik omillar ta’sir qiladi.</a:t>
            </a:r>
          </a:p>
          <a:p>
            <a:pPr>
              <a:spcAft>
                <a:spcPts val="1200"/>
              </a:spcAft>
            </a:pPr>
            <a:r>
              <a:rPr sz="2000">
                <a:solidFill>
                  <a:srgbClr val="1F2937"/>
                </a:solidFill>
                <a:latin typeface="Calibri"/>
              </a:rPr>
              <a:t>▸  Hozir jinsiy jinoyatlarda bu masala avvalgidek ahamiyatli emas: Jinoyat kodeksida javobgarlik aniq yoshga bog‘langan (118, 119, 128, 129-moddalar).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Qizlarda yetuklik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Ko‘rsatkichlar nisbiy ahamiyatga ega: kichikroq o‘lchamda ham ayol zararsiz farzand ko‘rishi mumkin.</a:t>
            </a:r>
          </a:p>
          <a:p>
            <a:pPr>
              <a:spcAft>
                <a:spcPts val="800"/>
              </a:spcAft>
            </a:pPr>
            <a:r>
              <a:rPr sz="1800">
                <a:solidFill>
                  <a:srgbClr val="1F2937"/>
                </a:solidFill>
                <a:latin typeface="Calibri"/>
              </a:rPr>
              <a:t>▸  14 yoshga to‘lmagan qizlarda akseleratsiya tufayli kattaroq ko‘rsatkichlar aniqlanishi mumkin.</a:t>
            </a:r>
          </a:p>
          <a:p>
            <a:pPr>
              <a:spcAft>
                <a:spcPts val="800"/>
              </a:spcAft>
            </a:pPr>
            <a:r>
              <a:rPr sz="1800">
                <a:solidFill>
                  <a:srgbClr val="1F2937"/>
                </a:solidFill>
                <a:latin typeface="Calibri"/>
              </a:rPr>
              <a:t>▸  16–17 yoshga kelib tos tug‘ruqning normal o‘tishiga imkon beradi; ekspertiza akusher-ginekolog ishtirokida.</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860707"/>
                <a:gridCol w="2427267"/>
              </a:tblGrid>
              <a:tr h="411480">
                <a:tc>
                  <a:txBody>
                    <a:bodyPr/>
                    <a:lstStyle/>
                    <a:p>
                      <a:r>
                        <a:rPr sz="1400" b="1">
                          <a:solidFill>
                            <a:srgbClr val="FFFFFF"/>
                          </a:solidFill>
                        </a:rPr>
                        <a:t>Ko‘rsatkich</a:t>
                      </a:r>
                    </a:p>
                  </a:txBody>
                  <a:tcPr marL="73152" marR="73152" marT="36576" marB="36576">
                    <a:solidFill>
                      <a:srgbClr val="0B1F3A"/>
                    </a:solidFill>
                  </a:tcPr>
                </a:tc>
                <a:tc>
                  <a:txBody>
                    <a:bodyPr/>
                    <a:lstStyle/>
                    <a:p>
                      <a:r>
                        <a:rPr sz="1400" b="1">
                          <a:solidFill>
                            <a:srgbClr val="FFFFFF"/>
                          </a:solidFill>
                        </a:rPr>
                        <a:t>Kamida</a:t>
                      </a:r>
                    </a:p>
                  </a:txBody>
                  <a:tcPr marL="73152" marR="73152" marT="36576" marB="36576">
                    <a:solidFill>
                      <a:srgbClr val="0B1F3A"/>
                    </a:solidFill>
                  </a:tcPr>
                </a:tc>
              </a:tr>
              <a:tr h="411480">
                <a:tc>
                  <a:txBody>
                    <a:bodyPr/>
                    <a:lstStyle/>
                    <a:p>
                      <a:r>
                        <a:rPr sz="1300" b="0">
                          <a:solidFill>
                            <a:srgbClr val="1F2937"/>
                          </a:solidFill>
                        </a:rPr>
                        <a:t>Tana uzunligi</a:t>
                      </a:r>
                    </a:p>
                  </a:txBody>
                  <a:tcPr marL="73152" marR="73152" marT="36576" marB="36576">
                    <a:solidFill>
                      <a:srgbClr val="E8EEF6"/>
                    </a:solidFill>
                  </a:tcPr>
                </a:tc>
                <a:tc>
                  <a:txBody>
                    <a:bodyPr/>
                    <a:lstStyle/>
                    <a:p>
                      <a:r>
                        <a:rPr sz="1300" b="0">
                          <a:solidFill>
                            <a:srgbClr val="1F2937"/>
                          </a:solidFill>
                        </a:rPr>
                        <a:t>Tik 150 sm; o‘tirganda 80 sm</a:t>
                      </a:r>
                    </a:p>
                  </a:txBody>
                  <a:tcPr marL="73152" marR="73152" marT="36576" marB="36576">
                    <a:solidFill>
                      <a:srgbClr val="E8EEF6"/>
                    </a:solidFill>
                  </a:tcPr>
                </a:tc>
              </a:tr>
              <a:tr h="411480">
                <a:tc>
                  <a:txBody>
                    <a:bodyPr/>
                    <a:lstStyle/>
                    <a:p>
                      <a:r>
                        <a:rPr sz="1300" b="0">
                          <a:solidFill>
                            <a:srgbClr val="1F2937"/>
                          </a:solidFill>
                        </a:rPr>
                        <a:t>Ko‘krak aylanasi</a:t>
                      </a:r>
                    </a:p>
                  </a:txBody>
                  <a:tcPr marL="73152" marR="73152" marT="36576" marB="36576">
                    <a:solidFill>
                      <a:srgbClr val="FFFFFF"/>
                    </a:solidFill>
                  </a:tcPr>
                </a:tc>
                <a:tc>
                  <a:txBody>
                    <a:bodyPr/>
                    <a:lstStyle/>
                    <a:p>
                      <a:r>
                        <a:rPr sz="1300" b="0">
                          <a:solidFill>
                            <a:srgbClr val="1F2937"/>
                          </a:solidFill>
                        </a:rPr>
                        <a:t>Tinch holatda 78–80 sm</a:t>
                      </a:r>
                    </a:p>
                  </a:txBody>
                  <a:tcPr marL="73152" marR="73152" marT="36576" marB="36576">
                    <a:solidFill>
                      <a:srgbClr val="FFFFFF"/>
                    </a:solidFill>
                  </a:tcPr>
                </a:tc>
              </a:tr>
              <a:tr h="411480">
                <a:tc>
                  <a:txBody>
                    <a:bodyPr/>
                    <a:lstStyle/>
                    <a:p>
                      <a:r>
                        <a:rPr sz="1300" b="0">
                          <a:solidFill>
                            <a:srgbClr val="1F2937"/>
                          </a:solidFill>
                        </a:rPr>
                        <a:t>Tos: o‘siqlar / ko‘stlar oralig‘i</a:t>
                      </a:r>
                    </a:p>
                  </a:txBody>
                  <a:tcPr marL="73152" marR="73152" marT="36576" marB="36576">
                    <a:solidFill>
                      <a:srgbClr val="E8EEF6"/>
                    </a:solidFill>
                  </a:tcPr>
                </a:tc>
                <a:tc>
                  <a:txBody>
                    <a:bodyPr/>
                    <a:lstStyle/>
                    <a:p>
                      <a:r>
                        <a:rPr sz="1300" b="0">
                          <a:solidFill>
                            <a:srgbClr val="1F2937"/>
                          </a:solidFill>
                        </a:rPr>
                        <a:t>26–27 sm / 29 sm</a:t>
                      </a:r>
                    </a:p>
                  </a:txBody>
                  <a:tcPr marL="73152" marR="73152" marT="36576" marB="36576">
                    <a:solidFill>
                      <a:srgbClr val="E8EEF6"/>
                    </a:solidFill>
                  </a:tcPr>
                </a:tc>
              </a:tr>
              <a:tr h="411480">
                <a:tc>
                  <a:txBody>
                    <a:bodyPr/>
                    <a:lstStyle/>
                    <a:p>
                      <a:r>
                        <a:rPr sz="1300" b="0">
                          <a:solidFill>
                            <a:srgbClr val="1F2937"/>
                          </a:solidFill>
                        </a:rPr>
                        <a:t>Tashqi konyugata</a:t>
                      </a:r>
                    </a:p>
                  </a:txBody>
                  <a:tcPr marL="73152" marR="73152" marT="36576" marB="36576">
                    <a:solidFill>
                      <a:srgbClr val="FFFFFF"/>
                    </a:solidFill>
                  </a:tcPr>
                </a:tc>
                <a:tc>
                  <a:txBody>
                    <a:bodyPr/>
                    <a:lstStyle/>
                    <a:p>
                      <a:r>
                        <a:rPr sz="1300" b="0">
                          <a:solidFill>
                            <a:srgbClr val="1F2937"/>
                          </a:solidFill>
                        </a:rPr>
                        <a:t>17–18 sm</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Antropometrik me’yorlar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Yetuklik va jinoyat kodeksidagi yosh chegaralari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14 yoshgacha shaxs odatda jinsiy yetilmagan hisoblanadi; masala 14 yoshdan nikoh yoshigacha tug‘iladi.</a:t>
            </a:r>
          </a:p>
          <a:p>
            <a:pPr>
              <a:spcAft>
                <a:spcPts val="800"/>
              </a:spcAft>
            </a:pPr>
            <a:r>
              <a:rPr sz="1800">
                <a:solidFill>
                  <a:srgbClr val="1F2937"/>
                </a:solidFill>
                <a:latin typeface="Calibri"/>
              </a:rPr>
              <a:t>▸  Ilgari yetuklik jinsiy jinoyatlarda zarur bo‘lgan; hozir uning amaliy ahamiyati ilgaridek emas.</a:t>
            </a:r>
          </a:p>
          <a:p>
            <a:pPr>
              <a:spcAft>
                <a:spcPts val="800"/>
              </a:spcAft>
            </a:pPr>
            <a:r>
              <a:rPr sz="1800">
                <a:solidFill>
                  <a:srgbClr val="1F2937"/>
                </a:solidFill>
                <a:latin typeface="Calibri"/>
              </a:rPr>
              <a:t>▸  Sababi: Jinoyat kodeksida javobgarlik aniq yoshga nisbatan belgilangan.</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2692060"/>
                <a:gridCol w="2595915"/>
              </a:tblGrid>
              <a:tr h="411480">
                <a:tc>
                  <a:txBody>
                    <a:bodyPr/>
                    <a:lstStyle/>
                    <a:p>
                      <a:r>
                        <a:rPr sz="1400" b="1">
                          <a:solidFill>
                            <a:srgbClr val="FFFFFF"/>
                          </a:solidFill>
                        </a:rPr>
                        <a:t>Modda / masala</a:t>
                      </a:r>
                    </a:p>
                  </a:txBody>
                  <a:tcPr marL="73152" marR="73152" marT="36576" marB="36576">
                    <a:solidFill>
                      <a:srgbClr val="0B1F3A"/>
                    </a:solidFill>
                  </a:tcPr>
                </a:tc>
                <a:tc>
                  <a:txBody>
                    <a:bodyPr/>
                    <a:lstStyle/>
                    <a:p>
                      <a:r>
                        <a:rPr sz="1400" b="1">
                          <a:solidFill>
                            <a:srgbClr val="FFFFFF"/>
                          </a:solidFill>
                        </a:rPr>
                        <a:t>Yosh</a:t>
                      </a:r>
                    </a:p>
                  </a:txBody>
                  <a:tcPr marL="73152" marR="73152" marT="36576" marB="36576">
                    <a:solidFill>
                      <a:srgbClr val="0B1F3A"/>
                    </a:solidFill>
                  </a:tcPr>
                </a:tc>
              </a:tr>
              <a:tr h="411480">
                <a:tc>
                  <a:txBody>
                    <a:bodyPr/>
                    <a:lstStyle/>
                    <a:p>
                      <a:r>
                        <a:rPr sz="1300" b="0">
                          <a:solidFill>
                            <a:srgbClr val="1F2937"/>
                          </a:solidFill>
                        </a:rPr>
                        <a:t>118, 119-moddalar</a:t>
                      </a:r>
                    </a:p>
                  </a:txBody>
                  <a:tcPr marL="73152" marR="73152" marT="36576" marB="36576">
                    <a:solidFill>
                      <a:srgbClr val="E8EEF6"/>
                    </a:solidFill>
                  </a:tcPr>
                </a:tc>
                <a:tc>
                  <a:txBody>
                    <a:bodyPr/>
                    <a:lstStyle/>
                    <a:p>
                      <a:r>
                        <a:rPr sz="1300" b="0">
                          <a:solidFill>
                            <a:srgbClr val="1F2937"/>
                          </a:solidFill>
                        </a:rPr>
                        <a:t>18 yosh va 14 yosh</a:t>
                      </a:r>
                    </a:p>
                  </a:txBody>
                  <a:tcPr marL="73152" marR="73152" marT="36576" marB="36576">
                    <a:solidFill>
                      <a:srgbClr val="E8EEF6"/>
                    </a:solidFill>
                  </a:tcPr>
                </a:tc>
              </a:tr>
              <a:tr h="411480">
                <a:tc>
                  <a:txBody>
                    <a:bodyPr/>
                    <a:lstStyle/>
                    <a:p>
                      <a:r>
                        <a:rPr sz="1300" b="0">
                          <a:solidFill>
                            <a:srgbClr val="1F2937"/>
                          </a:solidFill>
                        </a:rPr>
                        <a:t>128, 129-moddalar</a:t>
                      </a:r>
                    </a:p>
                  </a:txBody>
                  <a:tcPr marL="73152" marR="73152" marT="36576" marB="36576">
                    <a:solidFill>
                      <a:srgbClr val="FFFFFF"/>
                    </a:solidFill>
                  </a:tcPr>
                </a:tc>
                <a:tc>
                  <a:txBody>
                    <a:bodyPr/>
                    <a:lstStyle/>
                    <a:p>
                      <a:r>
                        <a:rPr sz="1300" b="0">
                          <a:solidFill>
                            <a:srgbClr val="1F2937"/>
                          </a:solidFill>
                        </a:rPr>
                        <a:t>16 yosh</a:t>
                      </a:r>
                    </a:p>
                  </a:txBody>
                  <a:tcPr marL="73152" marR="73152" marT="36576" marB="36576">
                    <a:solidFill>
                      <a:srgbClr val="FFFFFF"/>
                    </a:solidFill>
                  </a:tcPr>
                </a:tc>
              </a:tr>
              <a:tr h="411480">
                <a:tc>
                  <a:txBody>
                    <a:bodyPr/>
                    <a:lstStyle/>
                    <a:p>
                      <a:r>
                        <a:rPr sz="1300" b="0">
                          <a:solidFill>
                            <a:srgbClr val="1F2937"/>
                          </a:solidFill>
                        </a:rPr>
                        <a:t>Yetuklikni aniqlash masalasi</a:t>
                      </a:r>
                    </a:p>
                  </a:txBody>
                  <a:tcPr marL="73152" marR="73152" marT="36576" marB="36576">
                    <a:solidFill>
                      <a:srgbClr val="E8EEF6"/>
                    </a:solidFill>
                  </a:tcPr>
                </a:tc>
                <a:tc>
                  <a:txBody>
                    <a:bodyPr/>
                    <a:lstStyle/>
                    <a:p>
                      <a:r>
                        <a:rPr sz="1300" b="0">
                          <a:solidFill>
                            <a:srgbClr val="1F2937"/>
                          </a:solidFill>
                        </a:rPr>
                        <a:t>14 yoshdan nikoh yoshigacha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Yosh chegaralari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jinsiy yetuklik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14 yoshdan oshgan qizda yetuklik masalasi qo‘yilgan. Ekspertiza akusher-ginekolog ishtirokida, klinik va laboratoriya tekshiruvlari bilan o‘tadi.</a:t>
            </a:r>
          </a:p>
          <a:p>
            <a:pPr>
              <a:spcAft>
                <a:spcPts val="1200"/>
              </a:spcAft>
            </a:pPr>
            <a:r>
              <a:rPr sz="2200">
                <a:solidFill>
                  <a:srgbClr val="1F2937"/>
                </a:solidFill>
                <a:latin typeface="Calibri"/>
              </a:rPr>
              <a:t>▸  Ovulyasiyadan keyin homilador bo‘lish mumkin; u to‘g‘ri menstrual sikl bilan bog‘liq. Yetuklikda bachadon tanasi uchdan ikki, bo‘yinchasi uchdan bir qism.</a:t>
            </a:r>
          </a:p>
          <a:p>
            <a:pPr>
              <a:spcAft>
                <a:spcPts val="1200"/>
              </a:spcAft>
            </a:pPr>
            <a:r>
              <a:rPr sz="2200">
                <a:solidFill>
                  <a:srgbClr val="1F2937"/>
                </a:solidFill>
                <a:latin typeface="Calibri"/>
              </a:rPr>
              <a:t>▸  O‘g‘il bolalarda tekshiruv urolog yoki androlog bilan o‘tadi: umumiy rivojlanish, tashqi jinsiy a’zolar, ikkilamchi belgilar, jinsiy bez funksiyasi.</a:t>
            </a:r>
          </a:p>
          <a:p>
            <a:pPr>
              <a:spcAft>
                <a:spcPts val="1200"/>
              </a:spcAft>
            </a:pPr>
            <a:r>
              <a:rPr sz="2200">
                <a:solidFill>
                  <a:srgbClr val="1F2937"/>
                </a:solidFill>
                <a:latin typeface="Calibri"/>
              </a:rPr>
              <a:t>▸  Savol: tos o‘lchamlari biroz kichik, lekin boshqa belgilar yetarli. Yetuklikni faqat tos o‘lchamiga qarab rad etish to‘g‘rimi?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289, 289-290, 290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Bokiralik va qizlik pardasi tuzilishi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Bokiralik (virginitas) asosan qizlik pardasi (hymen) anatomik butunligi bilan belgilanadi.</a:t>
            </a:r>
          </a:p>
          <a:p>
            <a:pPr>
              <a:spcAft>
                <a:spcPts val="1200"/>
              </a:spcAft>
            </a:pPr>
            <a:r>
              <a:rPr sz="2200">
                <a:solidFill>
                  <a:srgbClr val="1F2937"/>
                </a:solidFill>
                <a:latin typeface="Calibri"/>
              </a:rPr>
              <a:t>▸  Qizlik pardasi — qin shilliq qavati duplikaturasi: biriktiruvchi va mushak tolalari, qon tomir, nerv bor. U dahliz bilan qin oralig‘ida, qin o‘qiga perpendikulyar turadi.</a:t>
            </a:r>
          </a:p>
          <a:p>
            <a:pPr>
              <a:spcAft>
                <a:spcPts val="1200"/>
              </a:spcAft>
            </a:pPr>
            <a:r>
              <a:rPr sz="2200">
                <a:solidFill>
                  <a:srgbClr val="1F2937"/>
                </a:solidFill>
                <a:latin typeface="Calibri"/>
              </a:rPr>
              <a:t>▸  Pardada asos, erkin chet va teshik farqlanadi. Teshik bir nechta bo‘lishi yoki bo‘lmasligi mumkin; shakl, balandlik, qalinlik, zichlik turlicha.</a:t>
            </a:r>
          </a:p>
          <a:p>
            <a:pPr>
              <a:spcAft>
                <a:spcPts val="1200"/>
              </a:spcAft>
            </a:pPr>
            <a:r>
              <a:rPr sz="2200">
                <a:solidFill>
                  <a:srgbClr val="1F2937"/>
                </a:solidFill>
                <a:latin typeface="Calibri"/>
              </a:rPr>
              <a:t>▸  Bokiralikda teshikka barmoq uchi ehtiyotkorlik bilan kiritilganda qisqarish halqasi seziladi. Parda tavsifida soat siferblati bilan taqqoslanadi.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Qizlik pardasi shakllari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Tasnif M.D. Nikitin va M.G. Serdyukov bo‘yicha: parda shakllari uch guruhga bo‘linadi.</a:t>
            </a:r>
          </a:p>
          <a:p>
            <a:pPr>
              <a:spcAft>
                <a:spcPts val="800"/>
              </a:spcAft>
            </a:pPr>
            <a:r>
              <a:rPr sz="1800">
                <a:solidFill>
                  <a:srgbClr val="1F2937"/>
                </a:solidFill>
                <a:latin typeface="Calibri"/>
              </a:rPr>
              <a:t>▸  Pardada asos, erkin chet va teshik farqlanadi; shakl shularga qarab belgilanadi.</a:t>
            </a:r>
          </a:p>
          <a:p>
            <a:pPr>
              <a:spcAft>
                <a:spcPts val="800"/>
              </a:spcAft>
            </a:pPr>
            <a:r>
              <a:rPr sz="1800">
                <a:solidFill>
                  <a:srgbClr val="1F2937"/>
                </a:solidFill>
                <a:latin typeface="Calibri"/>
              </a:rPr>
              <a:t>▸  Teshik bir nechta bo‘lishi yoki umuman bo‘lmasligi mumkin; ta’rifda soat siferblati bilan taqqoslanadi.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2083141"/>
                <a:gridCol w="3204833"/>
              </a:tblGrid>
              <a:tr h="411480">
                <a:tc>
                  <a:txBody>
                    <a:bodyPr/>
                    <a:lstStyle/>
                    <a:p>
                      <a:r>
                        <a:rPr sz="1400" b="1">
                          <a:solidFill>
                            <a:srgbClr val="FFFFFF"/>
                          </a:solidFill>
                        </a:rPr>
                        <a:t>Guruh</a:t>
                      </a:r>
                    </a:p>
                  </a:txBody>
                  <a:tcPr marL="73152" marR="73152" marT="36576" marB="36576">
                    <a:solidFill>
                      <a:srgbClr val="0B1F3A"/>
                    </a:solidFill>
                  </a:tcPr>
                </a:tc>
                <a:tc>
                  <a:txBody>
                    <a:bodyPr/>
                    <a:lstStyle/>
                    <a:p>
                      <a:r>
                        <a:rPr sz="1400" b="1">
                          <a:solidFill>
                            <a:srgbClr val="FFFFFF"/>
                          </a:solidFill>
                        </a:rPr>
                        <a:t>Shakllari</a:t>
                      </a:r>
                    </a:p>
                  </a:txBody>
                  <a:tcPr marL="73152" marR="73152" marT="36576" marB="36576">
                    <a:solidFill>
                      <a:srgbClr val="0B1F3A"/>
                    </a:solidFill>
                  </a:tcPr>
                </a:tc>
              </a:tr>
              <a:tr h="411480">
                <a:tc>
                  <a:txBody>
                    <a:bodyPr/>
                    <a:lstStyle/>
                    <a:p>
                      <a:r>
                        <a:rPr sz="1300" b="0">
                          <a:solidFill>
                            <a:srgbClr val="1F2937"/>
                          </a:solidFill>
                        </a:rPr>
                        <a:t>Odatdagi (ko‘p uchraydi)</a:t>
                      </a:r>
                    </a:p>
                  </a:txBody>
                  <a:tcPr marL="73152" marR="73152" marT="36576" marB="36576">
                    <a:solidFill>
                      <a:srgbClr val="E8EEF6"/>
                    </a:solidFill>
                  </a:tcPr>
                </a:tc>
                <a:tc>
                  <a:txBody>
                    <a:bodyPr/>
                    <a:lstStyle/>
                    <a:p>
                      <a:r>
                        <a:rPr sz="1300" b="0">
                          <a:solidFill>
                            <a:srgbClr val="1F2937"/>
                          </a:solidFill>
                        </a:rPr>
                        <a:t>Halqasimon, yarim oysimon, naysimon va b.</a:t>
                      </a:r>
                    </a:p>
                  </a:txBody>
                  <a:tcPr marL="73152" marR="73152" marT="36576" marB="36576">
                    <a:solidFill>
                      <a:srgbClr val="E8EEF6"/>
                    </a:solidFill>
                  </a:tcPr>
                </a:tc>
              </a:tr>
              <a:tr h="411480">
                <a:tc>
                  <a:txBody>
                    <a:bodyPr/>
                    <a:lstStyle/>
                    <a:p>
                      <a:r>
                        <a:rPr sz="1300" b="0">
                          <a:solidFill>
                            <a:srgbClr val="1F2937"/>
                          </a:solidFill>
                        </a:rPr>
                        <a:t>G‘ayrioddiy (chet notekis)</a:t>
                      </a:r>
                    </a:p>
                  </a:txBody>
                  <a:tcPr marL="73152" marR="73152" marT="36576" marB="36576">
                    <a:solidFill>
                      <a:srgbClr val="FFFFFF"/>
                    </a:solidFill>
                  </a:tcPr>
                </a:tc>
                <a:tc>
                  <a:txBody>
                    <a:bodyPr/>
                    <a:lstStyle/>
                    <a:p>
                      <a:r>
                        <a:rPr sz="1300" b="0">
                          <a:solidFill>
                            <a:srgbClr val="1F2937"/>
                          </a:solidFill>
                        </a:rPr>
                        <a:t>Bo‘lakchali, spiralsimon, tishsimon va b.</a:t>
                      </a:r>
                    </a:p>
                  </a:txBody>
                  <a:tcPr marL="73152" marR="73152" marT="36576" marB="36576">
                    <a:solidFill>
                      <a:srgbClr val="FFFFFF"/>
                    </a:solidFill>
                  </a:tcPr>
                </a:tc>
              </a:tr>
              <a:tr h="411480">
                <a:tc>
                  <a:txBody>
                    <a:bodyPr/>
                    <a:lstStyle/>
                    <a:p>
                      <a:r>
                        <a:rPr sz="1300" b="0">
                          <a:solidFill>
                            <a:srgbClr val="1F2937"/>
                          </a:solidFill>
                        </a:rPr>
                        <a:t>Juda kam uchraydigan</a:t>
                      </a:r>
                    </a:p>
                  </a:txBody>
                  <a:tcPr marL="73152" marR="73152" marT="36576" marB="36576">
                    <a:solidFill>
                      <a:srgbClr val="E8EEF6"/>
                    </a:solidFill>
                  </a:tcPr>
                </a:tc>
                <a:tc>
                  <a:txBody>
                    <a:bodyPr/>
                    <a:lstStyle/>
                    <a:p>
                      <a:r>
                        <a:rPr sz="1300" b="0">
                          <a:solidFill>
                            <a:srgbClr val="1F2937"/>
                          </a:solidFill>
                        </a:rPr>
                        <a:t>Ikki oynali, to‘siqli, panjarasimon va b.</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Qizlik pardasi guruhlari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Defloratsiya: to‘liq va noto‘liq yoriq</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Birinchi jinsiy aloqada parda butunligi buzilishi (defloratsiya) odatda bokiralik yo‘qolishiga olib keladi.</a:t>
            </a:r>
          </a:p>
          <a:p>
            <a:pPr>
              <a:spcAft>
                <a:spcPts val="800"/>
              </a:spcAft>
            </a:pPr>
            <a:r>
              <a:rPr sz="1800">
                <a:solidFill>
                  <a:srgbClr val="1F2937"/>
                </a:solidFill>
                <a:latin typeface="Calibri"/>
              </a:rPr>
              <a:t>▸  Aloqada olat boshchasi ta’sirida to‘liq yoki noto‘liq yoriqlar paydo bo‘ladi.</a:t>
            </a:r>
          </a:p>
          <a:p>
            <a:pPr>
              <a:spcAft>
                <a:spcPts val="800"/>
              </a:spcAft>
            </a:pPr>
            <a:r>
              <a:rPr sz="1800">
                <a:solidFill>
                  <a:srgbClr val="1F2937"/>
                </a:solidFill>
                <a:latin typeface="Calibri"/>
              </a:rPr>
              <a:t>▸  Butunlik boshqa sabablardan ham buzilishi mumkin: barmoq, turli jismlar, jarrohlik operatsiyasi.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982990"/>
                <a:gridCol w="3304984"/>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Mohiyati</a:t>
                      </a:r>
                    </a:p>
                  </a:txBody>
                  <a:tcPr marL="73152" marR="73152" marT="36576" marB="36576">
                    <a:solidFill>
                      <a:srgbClr val="0B1F3A"/>
                    </a:solidFill>
                  </a:tcPr>
                </a:tc>
              </a:tr>
              <a:tr h="411480">
                <a:tc>
                  <a:txBody>
                    <a:bodyPr/>
                    <a:lstStyle/>
                    <a:p>
                      <a:r>
                        <a:rPr sz="1300" b="0">
                          <a:solidFill>
                            <a:srgbClr val="1F2937"/>
                          </a:solidFill>
                        </a:rPr>
                        <a:t>To‘liq yoriq</a:t>
                      </a:r>
                    </a:p>
                  </a:txBody>
                  <a:tcPr marL="73152" marR="73152" marT="36576" marB="36576">
                    <a:solidFill>
                      <a:srgbClr val="E8EEF6"/>
                    </a:solidFill>
                  </a:tcPr>
                </a:tc>
                <a:tc>
                  <a:txBody>
                    <a:bodyPr/>
                    <a:lstStyle/>
                    <a:p>
                      <a:r>
                        <a:rPr sz="1300" b="0">
                          <a:solidFill>
                            <a:srgbClr val="1F2937"/>
                          </a:solidFill>
                        </a:rPr>
                        <a:t>Jarohat pardaning asosigacha yetib boradi</a:t>
                      </a:r>
                    </a:p>
                  </a:txBody>
                  <a:tcPr marL="73152" marR="73152" marT="36576" marB="36576">
                    <a:solidFill>
                      <a:srgbClr val="E8EEF6"/>
                    </a:solidFill>
                  </a:tcPr>
                </a:tc>
              </a:tr>
              <a:tr h="411480">
                <a:tc>
                  <a:txBody>
                    <a:bodyPr/>
                    <a:lstStyle/>
                    <a:p>
                      <a:r>
                        <a:rPr sz="1300" b="0">
                          <a:solidFill>
                            <a:srgbClr val="1F2937"/>
                          </a:solidFill>
                        </a:rPr>
                        <a:t>Noto‘liq yoriq</a:t>
                      </a:r>
                    </a:p>
                  </a:txBody>
                  <a:tcPr marL="73152" marR="73152" marT="36576" marB="36576">
                    <a:solidFill>
                      <a:srgbClr val="FFFFFF"/>
                    </a:solidFill>
                  </a:tcPr>
                </a:tc>
                <a:tc>
                  <a:txBody>
                    <a:bodyPr/>
                    <a:lstStyle/>
                    <a:p>
                      <a:r>
                        <a:rPr sz="1300" b="0">
                          <a:solidFill>
                            <a:srgbClr val="1F2937"/>
                          </a:solidFill>
                        </a:rPr>
                        <a:t>Jarohat pardaning asosiga yetmaydi</a:t>
                      </a:r>
                    </a:p>
                  </a:txBody>
                  <a:tcPr marL="73152" marR="73152" marT="36576" marB="36576">
                    <a:solidFill>
                      <a:srgbClr val="FFFFFF"/>
                    </a:solidFill>
                  </a:tcPr>
                </a:tc>
              </a:tr>
              <a:tr h="411480">
                <a:tc>
                  <a:txBody>
                    <a:bodyPr/>
                    <a:lstStyle/>
                    <a:p>
                      <a:r>
                        <a:rPr sz="1300" b="0">
                          <a:solidFill>
                            <a:srgbClr val="1F2937"/>
                          </a:solidFill>
                        </a:rPr>
                        <a:t>Defloratsiya bo‘lmasligi</a:t>
                      </a:r>
                    </a:p>
                  </a:txBody>
                  <a:tcPr marL="73152" marR="73152" marT="36576" marB="36576">
                    <a:solidFill>
                      <a:srgbClr val="E8EEF6"/>
                    </a:solidFill>
                  </a:tcPr>
                </a:tc>
                <a:tc>
                  <a:txBody>
                    <a:bodyPr/>
                    <a:lstStyle/>
                    <a:p>
                      <a:r>
                        <a:rPr sz="1300" b="0">
                          <a:solidFill>
                            <a:srgbClr val="1F2937"/>
                          </a:solidFill>
                        </a:rPr>
                        <a:t>Elastik, past, o‘yiqlari ko‘p pardalarda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Yoriq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Yoriq bitishi dinamikasi (vaqt chizig‘i)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Yoriq chetlari bir necha kun qonaydi, soha shishgan va qon laxtalari bilan qoplangan bo‘ladi.</a:t>
            </a:r>
          </a:p>
          <a:p>
            <a:pPr>
              <a:spcAft>
                <a:spcPts val="800"/>
              </a:spcAft>
            </a:pPr>
            <a:r>
              <a:rPr sz="1800">
                <a:solidFill>
                  <a:srgbClr val="1F2937"/>
                </a:solidFill>
                <a:latin typeface="Calibri"/>
              </a:rPr>
              <a:t>▸  Birinchi hafta oxirida yallig‘lanish kamayadi, 2–3-haftada chandiq hosil bo‘ladi.</a:t>
            </a:r>
          </a:p>
          <a:p>
            <a:pPr>
              <a:spcAft>
                <a:spcPts val="800"/>
              </a:spcAft>
            </a:pPr>
            <a:r>
              <a:rPr sz="1800">
                <a:solidFill>
                  <a:srgbClr val="1F2937"/>
                </a:solidFill>
                <a:latin typeface="Calibri"/>
              </a:rPr>
              <a:t>▸  Uch haftadan so‘ng butunlik buzilgan muddatni aniqlash imkoni bo‘lmaydi; tezroq murojaat kerak.</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Dastlab: qon, shish, laxtalar</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Keyin: oqimtir qoplama paydo</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1-hafta oxiri: granulyasiya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2-hafta oxiri-3-hafta: chandiq</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haftadan so‘ng: muddat noaniq</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Bitish bosqichlari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Yoriq va tabiiy o‘yiqni farqlash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Ba’zan qizlik pardasidagi yoriqni tabiiy o‘yiqdan ajratish kerak bo‘ladi.</a:t>
            </a:r>
          </a:p>
          <a:p>
            <a:pPr>
              <a:spcAft>
                <a:spcPts val="800"/>
              </a:spcAft>
            </a:pPr>
            <a:r>
              <a:rPr sz="1800">
                <a:solidFill>
                  <a:srgbClr val="1F2937"/>
                </a:solidFill>
                <a:latin typeface="Calibri"/>
              </a:rPr>
              <a:t>▸  Diqqat: yoriq ≠ o‘yiq. Yoriq ko‘pincha pastki segmentda, soat siferblati bo‘yicha 5-7 oralig‘ida topiladi.</a:t>
            </a:r>
          </a:p>
          <a:p>
            <a:pPr>
              <a:spcAft>
                <a:spcPts val="800"/>
              </a:spcAft>
            </a:pPr>
            <a:r>
              <a:rPr sz="1800">
                <a:solidFill>
                  <a:srgbClr val="1F2937"/>
                </a:solidFill>
                <a:latin typeface="Calibri"/>
              </a:rPr>
              <a:t>▸  Yoriq chetlarining holati uning muddatiga bog‘liq: eski yoriq chetlari qalin va chandiqlangan.</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940084"/>
                <a:gridCol w="1997679"/>
                <a:gridCol w="2350211"/>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Yoriq</a:t>
                      </a:r>
                    </a:p>
                  </a:txBody>
                  <a:tcPr marL="73152" marR="73152" marT="36576" marB="36576">
                    <a:solidFill>
                      <a:srgbClr val="0B1F3A"/>
                    </a:solidFill>
                  </a:tcPr>
                </a:tc>
                <a:tc>
                  <a:txBody>
                    <a:bodyPr/>
                    <a:lstStyle/>
                    <a:p>
                      <a:r>
                        <a:rPr sz="1300" b="1">
                          <a:solidFill>
                            <a:srgbClr val="FFFFFF"/>
                          </a:solidFill>
                        </a:rPr>
                        <a:t>Tabiiy o‘yiq</a:t>
                      </a:r>
                    </a:p>
                  </a:txBody>
                  <a:tcPr marL="73152" marR="73152" marT="36576" marB="36576">
                    <a:solidFill>
                      <a:srgbClr val="0B1F3A"/>
                    </a:solidFill>
                  </a:tcPr>
                </a:tc>
              </a:tr>
              <a:tr h="411480">
                <a:tc>
                  <a:txBody>
                    <a:bodyPr/>
                    <a:lstStyle/>
                    <a:p>
                      <a:r>
                        <a:rPr sz="1200" b="0">
                          <a:solidFill>
                            <a:srgbClr val="1F2937"/>
                          </a:solidFill>
                        </a:rPr>
                        <a:t>Joylashuvi</a:t>
                      </a:r>
                    </a:p>
                  </a:txBody>
                  <a:tcPr marL="73152" marR="73152" marT="36576" marB="36576">
                    <a:solidFill>
                      <a:srgbClr val="E8EEF6"/>
                    </a:solidFill>
                  </a:tcPr>
                </a:tc>
                <a:tc>
                  <a:txBody>
                    <a:bodyPr/>
                    <a:lstStyle/>
                    <a:p>
                      <a:r>
                        <a:rPr sz="1200" b="0">
                          <a:solidFill>
                            <a:srgbClr val="1F2937"/>
                          </a:solidFill>
                        </a:rPr>
                        <a:t>Ko‘pincha pastki segment, soat 5-7</a:t>
                      </a:r>
                    </a:p>
                  </a:txBody>
                  <a:tcPr marL="73152" marR="73152" marT="36576" marB="36576">
                    <a:solidFill>
                      <a:srgbClr val="E8EEF6"/>
                    </a:solidFill>
                  </a:tcPr>
                </a:tc>
                <a:tc>
                  <a:txBody>
                    <a:bodyPr/>
                    <a:lstStyle/>
                    <a:p>
                      <a:r>
                        <a:rPr sz="1200" b="0">
                          <a:solidFill>
                            <a:srgbClr val="1F2937"/>
                          </a:solidFill>
                        </a:rPr>
                        <a:t>Pardaning turli segmentlarida bo‘lishi mumkin</a:t>
                      </a:r>
                    </a:p>
                  </a:txBody>
                  <a:tcPr marL="73152" marR="73152" marT="36576" marB="36576">
                    <a:solidFill>
                      <a:srgbClr val="E8EEF6"/>
                    </a:solidFill>
                  </a:tcPr>
                </a:tc>
              </a:tr>
              <a:tr h="411480">
                <a:tc>
                  <a:txBody>
                    <a:bodyPr/>
                    <a:lstStyle/>
                    <a:p>
                      <a:r>
                        <a:rPr sz="1200" b="0">
                          <a:solidFill>
                            <a:srgbClr val="1F2937"/>
                          </a:solidFill>
                        </a:rPr>
                        <a:t>Asosga yetishi</a:t>
                      </a:r>
                    </a:p>
                  </a:txBody>
                  <a:tcPr marL="73152" marR="73152" marT="36576" marB="36576">
                    <a:solidFill>
                      <a:srgbClr val="FFFFFF"/>
                    </a:solidFill>
                  </a:tcPr>
                </a:tc>
                <a:tc>
                  <a:txBody>
                    <a:bodyPr/>
                    <a:lstStyle/>
                    <a:p>
                      <a:r>
                        <a:rPr sz="1200" b="0">
                          <a:solidFill>
                            <a:srgbClr val="1F2937"/>
                          </a:solidFill>
                        </a:rPr>
                        <a:t>To‘liq yoriq asosigacha yetadi</a:t>
                      </a:r>
                    </a:p>
                  </a:txBody>
                  <a:tcPr marL="73152" marR="73152" marT="36576" marB="36576">
                    <a:solidFill>
                      <a:srgbClr val="FFFFFF"/>
                    </a:solidFill>
                  </a:tcPr>
                </a:tc>
                <a:tc>
                  <a:txBody>
                    <a:bodyPr/>
                    <a:lstStyle/>
                    <a:p>
                      <a:r>
                        <a:rPr sz="1200" b="0">
                          <a:solidFill>
                            <a:srgbClr val="1F2937"/>
                          </a:solidFill>
                        </a:rPr>
                        <a:t>Aksariyati asosigacha yetmaydi</a:t>
                      </a:r>
                    </a:p>
                  </a:txBody>
                  <a:tcPr marL="73152" marR="73152" marT="36576" marB="36576">
                    <a:solidFill>
                      <a:srgbClr val="FFFFFF"/>
                    </a:solidFill>
                  </a:tcPr>
                </a:tc>
              </a:tr>
              <a:tr h="411480">
                <a:tc>
                  <a:txBody>
                    <a:bodyPr/>
                    <a:lstStyle/>
                    <a:p>
                      <a:r>
                        <a:rPr sz="1200" b="0">
                          <a:solidFill>
                            <a:srgbClr val="1F2937"/>
                          </a:solidFill>
                        </a:rPr>
                        <a:t>Chet to‘qimasi</a:t>
                      </a:r>
                    </a:p>
                  </a:txBody>
                  <a:tcPr marL="73152" marR="73152" marT="36576" marB="36576">
                    <a:solidFill>
                      <a:srgbClr val="E8EEF6"/>
                    </a:solidFill>
                  </a:tcPr>
                </a:tc>
                <a:tc>
                  <a:txBody>
                    <a:bodyPr/>
                    <a:lstStyle/>
                    <a:p>
                      <a:r>
                        <a:rPr sz="1200" b="0">
                          <a:solidFill>
                            <a:srgbClr val="1F2937"/>
                          </a:solidFill>
                        </a:rPr>
                        <a:t>Eskisida qalin, chandiqlangan</a:t>
                      </a:r>
                    </a:p>
                  </a:txBody>
                  <a:tcPr marL="73152" marR="73152" marT="36576" marB="36576">
                    <a:solidFill>
                      <a:srgbClr val="E8EEF6"/>
                    </a:solidFill>
                  </a:tcPr>
                </a:tc>
                <a:tc>
                  <a:txBody>
                    <a:bodyPr/>
                    <a:lstStyle/>
                    <a:p>
                      <a:r>
                        <a:rPr sz="1200" b="0">
                          <a:solidFill>
                            <a:srgbClr val="1F2937"/>
                          </a:solidFill>
                        </a:rPr>
                        <a:t>Pardaning boshqa joyidan farq qilmaydi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Yoriq va tabiiy o‘yiq</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jinsiy aloqa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jinsiy aloqa bo‘lganini qaysi belgilar tasdiqlaydi? Qinda maniy topilishi, homiladorlik rivoji va tanosil kasalliklarining yuqishi.</a:t>
            </a:r>
          </a:p>
          <a:p>
            <a:pPr>
              <a:spcAft>
                <a:spcPts val="1200"/>
              </a:spcAft>
            </a:pPr>
            <a:r>
              <a:rPr sz="2200">
                <a:solidFill>
                  <a:srgbClr val="1F2937"/>
                </a:solidFill>
                <a:latin typeface="Calibri"/>
              </a:rPr>
              <a:t>▸  Maniy odatda qinda 3-5 kungacha saqlanadi, shu sababli namuna qancha tez olinsa, natija shuncha ishonchli bo‘ladi.</a:t>
            </a:r>
          </a:p>
          <a:p>
            <a:pPr>
              <a:spcAft>
                <a:spcPts val="1200"/>
              </a:spcAft>
            </a:pPr>
            <a:r>
              <a:rPr sz="2200">
                <a:solidFill>
                  <a:srgbClr val="1F2937"/>
                </a:solidFill>
                <a:latin typeface="Calibri"/>
              </a:rPr>
              <a:t>▸  Eslab qoling: laboratoriya uchun namunani imkon qadar tezroq olish kerak, vaqt o‘tishi bilan ishonchlilik kamayadi.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bokiralik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qizlik pardasi butunligiga shubha bor. Parda barmoq, jismlar yoki operatsiya ta’sirida ham buzilishi mumkin.</a:t>
            </a:r>
          </a:p>
          <a:p>
            <a:pPr>
              <a:spcAft>
                <a:spcPts val="1200"/>
              </a:spcAft>
            </a:pPr>
            <a:r>
              <a:rPr sz="2200">
                <a:solidFill>
                  <a:srgbClr val="1F2937"/>
                </a:solidFill>
                <a:latin typeface="Calibri"/>
              </a:rPr>
              <a:t>▸  Yoriq bir necha kun qonaydi, 2-haftaning oxiri – 3-haftada chandiqlanadi. Uch haftadan so‘ng muddatni hal etib bo‘lmaydi.</a:t>
            </a:r>
          </a:p>
          <a:p>
            <a:pPr>
              <a:spcAft>
                <a:spcPts val="1200"/>
              </a:spcAft>
            </a:pPr>
            <a:r>
              <a:rPr sz="2200">
                <a:solidFill>
                  <a:srgbClr val="1F2937"/>
                </a:solidFill>
                <a:latin typeface="Calibri"/>
              </a:rPr>
              <a:t>▸  Savol: qachon va kimga murojaat qilinadi? Javob: imkon qadar qisqa muddatda sud-tibbiy ekspertga, akusher-ginekologga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291, 291-292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Nasl qoldirish qobiliyatini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Impotensiya markaziy nerv tizimi, endokrin kasalliklar, jinsiy a’zo nuqsonlari yoki nevrozdan kelib chiqishi mumkin.</a:t>
            </a:r>
          </a:p>
          <a:p>
            <a:pPr>
              <a:spcAft>
                <a:spcPts val="800"/>
              </a:spcAft>
            </a:pPr>
            <a:r>
              <a:rPr sz="1800">
                <a:solidFill>
                  <a:srgbClr val="1F2937"/>
                </a:solidFill>
                <a:latin typeface="Calibri"/>
              </a:rPr>
              <a:t>▸  Urug‘lantirish qobiliyati eyakulyatni laboratoriyada tekshirib aniqlanadi.</a:t>
            </a:r>
          </a:p>
          <a:p>
            <a:pPr>
              <a:spcAft>
                <a:spcPts val="800"/>
              </a:spcAft>
            </a:pPr>
            <a:r>
              <a:rPr sz="1800">
                <a:solidFill>
                  <a:srgbClr val="1F2937"/>
                </a:solidFill>
                <a:latin typeface="Calibri"/>
              </a:rPr>
              <a:t>▸  Ayolda homilador bo‘lishga yosh, kasallik, nuqson, o‘sma va operatsiyalar to‘sqinlik qiladi.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338727"/>
                <a:gridCol w="2208900"/>
                <a:gridCol w="1740346"/>
              </a:tblGrid>
              <a:tr h="411480">
                <a:tc>
                  <a:txBody>
                    <a:bodyPr/>
                    <a:lstStyle/>
                    <a:p>
                      <a:r>
                        <a:rPr sz="1300" b="1">
                          <a:solidFill>
                            <a:srgbClr val="FFFFFF"/>
                          </a:solidFill>
                        </a:rPr>
                        <a:t>Jins</a:t>
                      </a:r>
                    </a:p>
                  </a:txBody>
                  <a:tcPr marL="73152" marR="73152" marT="36576" marB="36576">
                    <a:solidFill>
                      <a:srgbClr val="0B1F3A"/>
                    </a:solidFill>
                  </a:tcPr>
                </a:tc>
                <a:tc>
                  <a:txBody>
                    <a:bodyPr/>
                    <a:lstStyle/>
                    <a:p>
                      <a:r>
                        <a:rPr sz="1300" b="1">
                          <a:solidFill>
                            <a:srgbClr val="FFFFFF"/>
                          </a:solidFill>
                        </a:rPr>
                        <a:t>Qobiliyat</a:t>
                      </a:r>
                    </a:p>
                  </a:txBody>
                  <a:tcPr marL="73152" marR="73152" marT="36576" marB="36576">
                    <a:solidFill>
                      <a:srgbClr val="0B1F3A"/>
                    </a:solidFill>
                  </a:tcPr>
                </a:tc>
                <a:tc>
                  <a:txBody>
                    <a:bodyPr/>
                    <a:lstStyle/>
                    <a:p>
                      <a:r>
                        <a:rPr sz="1300" b="1">
                          <a:solidFill>
                            <a:srgbClr val="FFFFFF"/>
                          </a:solidFill>
                        </a:rPr>
                        <a:t>To‘siq</a:t>
                      </a:r>
                    </a:p>
                  </a:txBody>
                  <a:tcPr marL="73152" marR="73152" marT="36576" marB="36576">
                    <a:solidFill>
                      <a:srgbClr val="0B1F3A"/>
                    </a:solidFill>
                  </a:tcPr>
                </a:tc>
              </a:tr>
              <a:tr h="411480">
                <a:tc>
                  <a:txBody>
                    <a:bodyPr/>
                    <a:lstStyle/>
                    <a:p>
                      <a:r>
                        <a:rPr sz="1200" b="0">
                          <a:solidFill>
                            <a:srgbClr val="1F2937"/>
                          </a:solidFill>
                        </a:rPr>
                        <a:t>Erkak</a:t>
                      </a:r>
                    </a:p>
                  </a:txBody>
                  <a:tcPr marL="73152" marR="73152" marT="36576" marB="36576">
                    <a:solidFill>
                      <a:srgbClr val="E8EEF6"/>
                    </a:solidFill>
                  </a:tcPr>
                </a:tc>
                <a:tc>
                  <a:txBody>
                    <a:bodyPr/>
                    <a:lstStyle/>
                    <a:p>
                      <a:r>
                        <a:rPr sz="1200" b="0">
                          <a:solidFill>
                            <a:srgbClr val="1F2937"/>
                          </a:solidFill>
                        </a:rPr>
                        <a:t>Jinsiy aloqa, urug‘lantirish</a:t>
                      </a:r>
                    </a:p>
                  </a:txBody>
                  <a:tcPr marL="73152" marR="73152" marT="36576" marB="36576">
                    <a:solidFill>
                      <a:srgbClr val="E8EEF6"/>
                    </a:solidFill>
                  </a:tcPr>
                </a:tc>
                <a:tc>
                  <a:txBody>
                    <a:bodyPr/>
                    <a:lstStyle/>
                    <a:p>
                      <a:r>
                        <a:rPr sz="1200" b="0">
                          <a:solidFill>
                            <a:srgbClr val="1F2937"/>
                          </a:solidFill>
                        </a:rPr>
                        <a:t>Impotensiya</a:t>
                      </a:r>
                    </a:p>
                  </a:txBody>
                  <a:tcPr marL="73152" marR="73152" marT="36576" marB="36576">
                    <a:solidFill>
                      <a:srgbClr val="E8EEF6"/>
                    </a:solidFill>
                  </a:tcPr>
                </a:tc>
              </a:tr>
              <a:tr h="411480">
                <a:tc>
                  <a:txBody>
                    <a:bodyPr/>
                    <a:lstStyle/>
                    <a:p>
                      <a:r>
                        <a:rPr sz="1200" b="0">
                          <a:solidFill>
                            <a:srgbClr val="1F2937"/>
                          </a:solidFill>
                        </a:rPr>
                        <a:t>Erkak (laboratoriya)</a:t>
                      </a:r>
                    </a:p>
                  </a:txBody>
                  <a:tcPr marL="73152" marR="73152" marT="36576" marB="36576">
                    <a:solidFill>
                      <a:srgbClr val="FFFFFF"/>
                    </a:solidFill>
                  </a:tcPr>
                </a:tc>
                <a:tc>
                  <a:txBody>
                    <a:bodyPr/>
                    <a:lstStyle/>
                    <a:p>
                      <a:r>
                        <a:rPr sz="1200" b="0">
                          <a:solidFill>
                            <a:srgbClr val="1F2937"/>
                          </a:solidFill>
                        </a:rPr>
                        <a:t>Harakatchan spermatozoid bor</a:t>
                      </a:r>
                    </a:p>
                  </a:txBody>
                  <a:tcPr marL="73152" marR="73152" marT="36576" marB="36576">
                    <a:solidFill>
                      <a:srgbClr val="FFFFFF"/>
                    </a:solidFill>
                  </a:tcPr>
                </a:tc>
                <a:tc>
                  <a:txBody>
                    <a:bodyPr/>
                    <a:lstStyle/>
                    <a:p>
                      <a:r>
                        <a:rPr sz="1200" b="0">
                          <a:solidFill>
                            <a:srgbClr val="1F2937"/>
                          </a:solidFill>
                        </a:rPr>
                        <a:t>Azospermiya, nekrospermiya</a:t>
                      </a:r>
                    </a:p>
                  </a:txBody>
                  <a:tcPr marL="73152" marR="73152" marT="36576" marB="36576">
                    <a:solidFill>
                      <a:srgbClr val="FFFFFF"/>
                    </a:solidFill>
                  </a:tcPr>
                </a:tc>
              </a:tr>
              <a:tr h="411480">
                <a:tc>
                  <a:txBody>
                    <a:bodyPr/>
                    <a:lstStyle/>
                    <a:p>
                      <a:r>
                        <a:rPr sz="1200" b="0">
                          <a:solidFill>
                            <a:srgbClr val="1F2937"/>
                          </a:solidFill>
                        </a:rPr>
                        <a:t>Ayol</a:t>
                      </a:r>
                    </a:p>
                  </a:txBody>
                  <a:tcPr marL="73152" marR="73152" marT="36576" marB="36576">
                    <a:solidFill>
                      <a:srgbClr val="E8EEF6"/>
                    </a:solidFill>
                  </a:tcPr>
                </a:tc>
                <a:tc>
                  <a:txBody>
                    <a:bodyPr/>
                    <a:lstStyle/>
                    <a:p>
                      <a:r>
                        <a:rPr sz="1200" b="0">
                          <a:solidFill>
                            <a:srgbClr val="1F2937"/>
                          </a:solidFill>
                        </a:rPr>
                        <a:t>Aloqa, homilador bo‘lish, tug‘ish</a:t>
                      </a:r>
                    </a:p>
                  </a:txBody>
                  <a:tcPr marL="73152" marR="73152" marT="36576" marB="36576">
                    <a:solidFill>
                      <a:srgbClr val="E8EEF6"/>
                    </a:solidFill>
                  </a:tcPr>
                </a:tc>
                <a:tc>
                  <a:txBody>
                    <a:bodyPr/>
                    <a:lstStyle/>
                    <a:p>
                      <a:r>
                        <a:rPr sz="1200" b="0">
                          <a:solidFill>
                            <a:srgbClr val="1F2937"/>
                          </a:solidFill>
                        </a:rPr>
                        <a:t>Qin atreziyasi, vaginizm</a:t>
                      </a:r>
                    </a:p>
                  </a:txBody>
                  <a:tcPr marL="73152" marR="73152" marT="36576" marB="36576">
                    <a:solidFill>
                      <a:srgbClr val="E8EEF6"/>
                    </a:solidFill>
                  </a:tcPr>
                </a:tc>
              </a:tr>
              <a:tr h="411480">
                <a:tc>
                  <a:txBody>
                    <a:bodyPr/>
                    <a:lstStyle/>
                    <a:p>
                      <a:r>
                        <a:rPr sz="1200" b="0">
                          <a:solidFill>
                            <a:srgbClr val="1F2937"/>
                          </a:solidFill>
                        </a:rPr>
                        <a:t>Ayol (tug‘ish)</a:t>
                      </a:r>
                    </a:p>
                  </a:txBody>
                  <a:tcPr marL="73152" marR="73152" marT="36576" marB="36576">
                    <a:solidFill>
                      <a:srgbClr val="FFFFFF"/>
                    </a:solidFill>
                  </a:tcPr>
                </a:tc>
                <a:tc>
                  <a:txBody>
                    <a:bodyPr/>
                    <a:lstStyle/>
                    <a:p>
                      <a:r>
                        <a:rPr sz="1200" b="0">
                          <a:solidFill>
                            <a:srgbClr val="1F2937"/>
                          </a:solidFill>
                        </a:rPr>
                        <a:t>Tabiiy tug‘ish imkoni</a:t>
                      </a:r>
                    </a:p>
                  </a:txBody>
                  <a:tcPr marL="73152" marR="73152" marT="36576" marB="36576">
                    <a:solidFill>
                      <a:srgbClr val="FFFFFF"/>
                    </a:solidFill>
                  </a:tcPr>
                </a:tc>
                <a:tc>
                  <a:txBody>
                    <a:bodyPr/>
                    <a:lstStyle/>
                    <a:p>
                      <a:r>
                        <a:rPr sz="1200" b="0">
                          <a:solidFill>
                            <a:srgbClr val="1F2937"/>
                          </a:solidFill>
                        </a:rPr>
                        <a:t>Tor tos, chandiq, o‘sma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Nasl qoldirish: erkak va ayol</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292, 292-293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Kechayotgan homiladorlik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Homiladorlikda hayz to‘xtaydi, ammo ba’zan qonli ajralma bo‘lishi mumkin.</a:t>
            </a:r>
          </a:p>
          <a:p>
            <a:pPr>
              <a:spcAft>
                <a:spcPts val="800"/>
              </a:spcAft>
            </a:pPr>
            <a:r>
              <a:rPr sz="1800">
                <a:solidFill>
                  <a:srgbClr val="1F2937"/>
                </a:solidFill>
                <a:latin typeface="Calibri"/>
              </a:rPr>
              <a:t>▸  Sut bezi, so‘rg‘ich atrofi kattalashadi va pigmentlanadi; 2-oydan yaqqol seziladi.</a:t>
            </a:r>
          </a:p>
          <a:p>
            <a:pPr>
              <a:spcAft>
                <a:spcPts val="800"/>
              </a:spcAft>
            </a:pPr>
            <a:r>
              <a:rPr sz="1800">
                <a:solidFill>
                  <a:srgbClr val="1F2937"/>
                </a:solidFill>
                <a:latin typeface="Calibri"/>
              </a:rPr>
              <a:t>▸  Homila yuragi urishi, tana qismlari va qimirlashi aniqlansa, homiladorlik ishonchli tasdiqlanadi.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Hayz to‘xtashi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Sut bezlari: 2-oydan</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Xorial gonadotropin testi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Bachadon o‘lchami o‘zgarishi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Ishonchli belgilar (homila)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Homiladorlik belgilari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Bo‘lib o‘tgan tug‘ruq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Dastlabki kunlarda sut bezlari shishgan, so‘rg‘ich atrofi to‘qroq, ajralma chiqadi. Sut sekretining sitologik tekshiruvi muddatni aniqlashga yordam beradi.</a:t>
            </a:r>
          </a:p>
          <a:p>
            <a:pPr>
              <a:spcAft>
                <a:spcPts val="1200"/>
              </a:spcAft>
            </a:pPr>
            <a:r>
              <a:rPr sz="2200">
                <a:solidFill>
                  <a:srgbClr val="1F2937"/>
                </a:solidFill>
                <a:latin typeface="Calibri"/>
              </a:rPr>
              <a:t>▸  Jinsiy oraliq keng, qinga kirish ochiq, uyat lablari shishgan. Qizlik pardasi o‘rnida qon quyilishli mirtasimon so‘rg‘ichlar topiladi.</a:t>
            </a:r>
          </a:p>
          <a:p>
            <a:pPr>
              <a:spcAft>
                <a:spcPts val="1200"/>
              </a:spcAft>
            </a:pPr>
            <a:r>
              <a:rPr sz="2200">
                <a:solidFill>
                  <a:srgbClr val="1F2937"/>
                </a:solidFill>
                <a:latin typeface="Calibri"/>
              </a:rPr>
              <a:t>▸  Bachadon bo‘yinchasi avval silliq, tashqi teshigi ochiq; keyin zichlashadi. Tug‘gan ayolda teshik yoriqsimon, tug‘magan ayolda odatda dumaloq.</a:t>
            </a:r>
          </a:p>
          <a:p>
            <a:pPr>
              <a:spcAft>
                <a:spcPts val="1200"/>
              </a:spcAft>
            </a:pPr>
            <a:r>
              <a:rPr sz="2200">
                <a:solidFill>
                  <a:srgbClr val="1F2937"/>
                </a:solidFill>
                <a:latin typeface="Calibri"/>
              </a:rPr>
              <a:t>▸  Keyingi davrda muddatni aniqlash qiyin, faqat tug‘ruq bo‘lganini aytish mumkin: yoriqsimon teshik, mirtasimon so‘rg‘ichlar, qorin terisida mayda chandiqlar.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293-294, 294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Abort: turlari va jinoiy abort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Abort — homiladorlikning 22 haftasigacha uzilishi. U o‘z-o‘zidan yoki sun’iy yo‘l bilan bo‘lishi mumkin.</a:t>
            </a:r>
          </a:p>
          <a:p>
            <a:pPr>
              <a:spcAft>
                <a:spcPts val="800"/>
              </a:spcAft>
            </a:pPr>
            <a:r>
              <a:rPr sz="1800">
                <a:solidFill>
                  <a:srgbClr val="1F2937"/>
                </a:solidFill>
                <a:latin typeface="Calibri"/>
              </a:rPr>
              <a:t>▸  Jinoiy abort mexanik, kimyoviy, ba’zan termik, juda kam hollarda elektr toki yordamida o‘tkaziladi.</a:t>
            </a:r>
          </a:p>
          <a:p>
            <a:pPr>
              <a:spcAft>
                <a:spcPts val="800"/>
              </a:spcAft>
            </a:pPr>
            <a:r>
              <a:rPr sz="1800">
                <a:solidFill>
                  <a:srgbClr val="1F2937"/>
                </a:solidFill>
                <a:latin typeface="Calibri"/>
              </a:rPr>
              <a:t>▸  Asoratlar: havo emboliyasi, travmatik shok, o‘tkir qon ketish, perforatsiya, zaharlanish, infeksiya.</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983809"/>
                <a:gridCol w="2213570"/>
                <a:gridCol w="2090594"/>
              </a:tblGrid>
              <a:tr h="411480">
                <a:tc>
                  <a:txBody>
                    <a:bodyPr/>
                    <a:lstStyle/>
                    <a:p>
                      <a:r>
                        <a:rPr sz="1300" b="1">
                          <a:solidFill>
                            <a:srgbClr val="FFFFFF"/>
                          </a:solidFill>
                        </a:rPr>
                        <a:t>Abort turi</a:t>
                      </a:r>
                    </a:p>
                  </a:txBody>
                  <a:tcPr marL="73152" marR="73152" marT="36576" marB="36576">
                    <a:solidFill>
                      <a:srgbClr val="0B1F3A"/>
                    </a:solidFill>
                  </a:tcPr>
                </a:tc>
                <a:tc>
                  <a:txBody>
                    <a:bodyPr/>
                    <a:lstStyle/>
                    <a:p>
                      <a:r>
                        <a:rPr sz="1300" b="1">
                          <a:solidFill>
                            <a:srgbClr val="FFFFFF"/>
                          </a:solidFill>
                        </a:rPr>
                        <a:t>Kim o‘tkazadi</a:t>
                      </a:r>
                    </a:p>
                  </a:txBody>
                  <a:tcPr marL="73152" marR="73152" marT="36576" marB="36576">
                    <a:solidFill>
                      <a:srgbClr val="0B1F3A"/>
                    </a:solidFill>
                  </a:tcPr>
                </a:tc>
                <a:tc>
                  <a:txBody>
                    <a:bodyPr/>
                    <a:lstStyle/>
                    <a:p>
                      <a:r>
                        <a:rPr sz="1300" b="1">
                          <a:solidFill>
                            <a:srgbClr val="FFFFFF"/>
                          </a:solidFill>
                        </a:rPr>
                        <a:t>Muddat / modda</a:t>
                      </a:r>
                    </a:p>
                  </a:txBody>
                  <a:tcPr marL="73152" marR="73152" marT="36576" marB="36576">
                    <a:solidFill>
                      <a:srgbClr val="0B1F3A"/>
                    </a:solidFill>
                  </a:tcPr>
                </a:tc>
              </a:tr>
              <a:tr h="411480">
                <a:tc>
                  <a:txBody>
                    <a:bodyPr/>
                    <a:lstStyle/>
                    <a:p>
                      <a:r>
                        <a:rPr sz="1200" b="0">
                          <a:solidFill>
                            <a:srgbClr val="1F2937"/>
                          </a:solidFill>
                        </a:rPr>
                        <a:t>O‘z-o‘zidan</a:t>
                      </a:r>
                    </a:p>
                  </a:txBody>
                  <a:tcPr marL="73152" marR="73152" marT="36576" marB="36576">
                    <a:solidFill>
                      <a:srgbClr val="E8EEF6"/>
                    </a:solidFill>
                  </a:tcPr>
                </a:tc>
                <a:tc>
                  <a:txBody>
                    <a:bodyPr/>
                    <a:lstStyle/>
                    <a:p>
                      <a:r>
                        <a:rPr sz="1200" b="0">
                          <a:solidFill>
                            <a:srgbClr val="1F2937"/>
                          </a:solidFill>
                        </a:rPr>
                        <a:t>Kasallik yoki zaharlanish sabab</a:t>
                      </a:r>
                    </a:p>
                  </a:txBody>
                  <a:tcPr marL="73152" marR="73152" marT="36576" marB="36576">
                    <a:solidFill>
                      <a:srgbClr val="E8EEF6"/>
                    </a:solidFill>
                  </a:tcPr>
                </a:tc>
                <a:tc>
                  <a:txBody>
                    <a:bodyPr/>
                    <a:lstStyle/>
                    <a:p>
                      <a:r>
                        <a:rPr sz="1200" b="0">
                          <a:solidFill>
                            <a:srgbClr val="1F2937"/>
                          </a:solidFill>
                        </a:rPr>
                        <a:t>22 haftagacha</a:t>
                      </a:r>
                    </a:p>
                  </a:txBody>
                  <a:tcPr marL="73152" marR="73152" marT="36576" marB="36576">
                    <a:solidFill>
                      <a:srgbClr val="E8EEF6"/>
                    </a:solidFill>
                  </a:tcPr>
                </a:tc>
              </a:tr>
              <a:tr h="411480">
                <a:tc>
                  <a:txBody>
                    <a:bodyPr/>
                    <a:lstStyle/>
                    <a:p>
                      <a:r>
                        <a:rPr sz="1200" b="0">
                          <a:solidFill>
                            <a:srgbClr val="1F2937"/>
                          </a:solidFill>
                        </a:rPr>
                        <a:t>Tibbiy</a:t>
                      </a:r>
                    </a:p>
                  </a:txBody>
                  <a:tcPr marL="73152" marR="73152" marT="36576" marB="36576">
                    <a:solidFill>
                      <a:srgbClr val="FFFFFF"/>
                    </a:solidFill>
                  </a:tcPr>
                </a:tc>
                <a:tc>
                  <a:txBody>
                    <a:bodyPr/>
                    <a:lstStyle/>
                    <a:p>
                      <a:r>
                        <a:rPr sz="1200" b="0">
                          <a:solidFill>
                            <a:srgbClr val="1F2937"/>
                          </a:solidFill>
                        </a:rPr>
                        <a:t>Akusher-ginekolog, tibbiy muassasada</a:t>
                      </a:r>
                    </a:p>
                  </a:txBody>
                  <a:tcPr marL="73152" marR="73152" marT="36576" marB="36576">
                    <a:solidFill>
                      <a:srgbClr val="FFFFFF"/>
                    </a:solidFill>
                  </a:tcPr>
                </a:tc>
                <a:tc>
                  <a:txBody>
                    <a:bodyPr/>
                    <a:lstStyle/>
                    <a:p>
                      <a:r>
                        <a:rPr sz="1200" b="0">
                          <a:solidFill>
                            <a:srgbClr val="1F2937"/>
                          </a:solidFill>
                        </a:rPr>
                        <a:t>12 hafta: xohish; keyin: ko‘rsatma</a:t>
                      </a:r>
                    </a:p>
                  </a:txBody>
                  <a:tcPr marL="73152" marR="73152" marT="36576" marB="36576">
                    <a:solidFill>
                      <a:srgbClr val="FFFFFF"/>
                    </a:solidFill>
                  </a:tcPr>
                </a:tc>
              </a:tr>
              <a:tr h="411480">
                <a:tc>
                  <a:txBody>
                    <a:bodyPr/>
                    <a:lstStyle/>
                    <a:p>
                      <a:r>
                        <a:rPr sz="1200" b="0">
                          <a:solidFill>
                            <a:srgbClr val="1F2937"/>
                          </a:solidFill>
                        </a:rPr>
                        <a:t>Jinoiy</a:t>
                      </a:r>
                    </a:p>
                  </a:txBody>
                  <a:tcPr marL="73152" marR="73152" marT="36576" marB="36576">
                    <a:solidFill>
                      <a:srgbClr val="E8EEF6"/>
                    </a:solidFill>
                  </a:tcPr>
                </a:tc>
                <a:tc>
                  <a:txBody>
                    <a:bodyPr/>
                    <a:lstStyle/>
                    <a:p>
                      <a:r>
                        <a:rPr sz="1200" b="0">
                          <a:solidFill>
                            <a:srgbClr val="1F2937"/>
                          </a:solidFill>
                        </a:rPr>
                        <a:t>Tayyorgarligi yo‘q shaxslar</a:t>
                      </a:r>
                    </a:p>
                  </a:txBody>
                  <a:tcPr marL="73152" marR="73152" marT="36576" marB="36576">
                    <a:solidFill>
                      <a:srgbClr val="E8EEF6"/>
                    </a:solidFill>
                  </a:tcPr>
                </a:tc>
                <a:tc>
                  <a:txBody>
                    <a:bodyPr/>
                    <a:lstStyle/>
                    <a:p>
                      <a:r>
                        <a:rPr sz="1200" b="0">
                          <a:solidFill>
                            <a:srgbClr val="1F2937"/>
                          </a:solidFill>
                        </a:rPr>
                        <a:t>Jinoyat kodeksi 114-modda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Abort turlarini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294, 294-295, 295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homiladorlik va abort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ayolda jinoiy abortga shubha bor. Ekspertiza akusher-ginekolog ishtirokida klinik-laborator va instrumental tekshiruvlar bilan o‘tkaziladi.</a:t>
            </a:r>
          </a:p>
          <a:p>
            <a:pPr>
              <a:spcAft>
                <a:spcPts val="1200"/>
              </a:spcAft>
            </a:pPr>
            <a:r>
              <a:rPr sz="2200">
                <a:solidFill>
                  <a:srgbClr val="1F2937"/>
                </a:solidFill>
                <a:latin typeface="Calibri"/>
              </a:rPr>
              <a:t>▸  Ekspert homiladorlik va uning uzilishi bo‘lganmi, homila qaysi usulda tushirilgan, oqibatlari qanday ekanini aniqlaydi.</a:t>
            </a:r>
          </a:p>
          <a:p>
            <a:pPr>
              <a:spcAft>
                <a:spcPts val="1200"/>
              </a:spcAft>
            </a:pPr>
            <a:r>
              <a:rPr sz="2200">
                <a:solidFill>
                  <a:srgbClr val="1F2937"/>
                </a:solidFill>
                <a:latin typeface="Calibri"/>
              </a:rPr>
              <a:t>▸  Mexanik usulda qin va bachadonda shilinma, qontalash, yara topiladi. Kimyoviy usulda zaharlanish va kimyoviy kuyish izlari bo‘ladi.</a:t>
            </a:r>
          </a:p>
          <a:p>
            <a:pPr>
              <a:spcAft>
                <a:spcPts val="1200"/>
              </a:spcAft>
            </a:pPr>
            <a:r>
              <a:rPr sz="2200">
                <a:solidFill>
                  <a:srgbClr val="1F2937"/>
                </a:solidFill>
                <a:latin typeface="Calibri"/>
              </a:rPr>
              <a:t>▸  Savol: ayolda termik kuyish izlari va o‘tkir qon ketish topildi. Qaysi usul va qaysi xavfli asoratlar haqida fikr yuritasiz?</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293, 294, 295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Jinsiy jinoyatlar: umumiy tasnif</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Nomusga tegish — zo‘rlik, qo‘rqitish yoki ojizlikdan foydalanib jinsiy aloqa qilish (118-modda).</a:t>
            </a:r>
          </a:p>
          <a:p>
            <a:pPr>
              <a:spcAft>
                <a:spcPts val="800"/>
              </a:spcAft>
            </a:pPr>
            <a:r>
              <a:rPr sz="1800">
                <a:solidFill>
                  <a:srgbClr val="1F2937"/>
                </a:solidFill>
                <a:latin typeface="Calibri"/>
              </a:rPr>
              <a:t>▸  Besoqolbozlik — erkakning erkak bilan zo‘rliksiz jinsiy aloqasi. Zo‘rlik bo‘lsa, 119-modda qo‘llanadi.</a:t>
            </a:r>
          </a:p>
          <a:p>
            <a:pPr>
              <a:spcAft>
                <a:spcPts val="800"/>
              </a:spcAft>
            </a:pPr>
            <a:r>
              <a:rPr sz="1800">
                <a:solidFill>
                  <a:srgbClr val="1F2937"/>
                </a:solidFill>
                <a:latin typeface="Calibri"/>
              </a:rPr>
              <a:t>▸  Fahsh harakatlari — 16 yoshga to‘lmaganlarga nisbatan uyatsiz-buzuq, shahvoniy harakatlar (129-modda).</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737477"/>
                <a:gridCol w="1208680"/>
                <a:gridCol w="2341817"/>
              </a:tblGrid>
              <a:tr h="411480">
                <a:tc>
                  <a:txBody>
                    <a:bodyPr/>
                    <a:lstStyle/>
                    <a:p>
                      <a:r>
                        <a:rPr sz="1300" b="1">
                          <a:solidFill>
                            <a:srgbClr val="FFFFFF"/>
                          </a:solidFill>
                        </a:rPr>
                        <a:t>Jinoyat</a:t>
                      </a:r>
                    </a:p>
                  </a:txBody>
                  <a:tcPr marL="73152" marR="73152" marT="36576" marB="36576">
                    <a:solidFill>
                      <a:srgbClr val="0B1F3A"/>
                    </a:solidFill>
                  </a:tcPr>
                </a:tc>
                <a:tc>
                  <a:txBody>
                    <a:bodyPr/>
                    <a:lstStyle/>
                    <a:p>
                      <a:r>
                        <a:rPr sz="1300" b="1">
                          <a:solidFill>
                            <a:srgbClr val="FFFFFF"/>
                          </a:solidFill>
                        </a:rPr>
                        <a:t>Modda</a:t>
                      </a:r>
                    </a:p>
                  </a:txBody>
                  <a:tcPr marL="73152" marR="73152" marT="36576" marB="36576">
                    <a:solidFill>
                      <a:srgbClr val="0B1F3A"/>
                    </a:solidFill>
                  </a:tcPr>
                </a:tc>
                <a:tc>
                  <a:txBody>
                    <a:bodyPr/>
                    <a:lstStyle/>
                    <a:p>
                      <a:r>
                        <a:rPr sz="1300" b="1">
                          <a:solidFill>
                            <a:srgbClr val="FFFFFF"/>
                          </a:solidFill>
                        </a:rPr>
                        <a:t>Guruh</a:t>
                      </a:r>
                    </a:p>
                  </a:txBody>
                  <a:tcPr marL="73152" marR="73152" marT="36576" marB="36576">
                    <a:solidFill>
                      <a:srgbClr val="0B1F3A"/>
                    </a:solidFill>
                  </a:tcPr>
                </a:tc>
              </a:tr>
              <a:tr h="411480">
                <a:tc>
                  <a:txBody>
                    <a:bodyPr/>
                    <a:lstStyle/>
                    <a:p>
                      <a:r>
                        <a:rPr sz="1200" b="0">
                          <a:solidFill>
                            <a:srgbClr val="1F2937"/>
                          </a:solidFill>
                        </a:rPr>
                        <a:t>Nomusga tegish</a:t>
                      </a:r>
                    </a:p>
                  </a:txBody>
                  <a:tcPr marL="73152" marR="73152" marT="36576" marB="36576">
                    <a:solidFill>
                      <a:srgbClr val="E8EEF6"/>
                    </a:solidFill>
                  </a:tcPr>
                </a:tc>
                <a:tc>
                  <a:txBody>
                    <a:bodyPr/>
                    <a:lstStyle/>
                    <a:p>
                      <a:r>
                        <a:rPr sz="1200" b="0">
                          <a:solidFill>
                            <a:srgbClr val="1F2937"/>
                          </a:solidFill>
                        </a:rPr>
                        <a:t>118-modda</a:t>
                      </a:r>
                    </a:p>
                  </a:txBody>
                  <a:tcPr marL="73152" marR="73152" marT="36576" marB="36576">
                    <a:solidFill>
                      <a:srgbClr val="E8EEF6"/>
                    </a:solidFill>
                  </a:tcPr>
                </a:tc>
                <a:tc>
                  <a:txBody>
                    <a:bodyPr/>
                    <a:lstStyle/>
                    <a:p>
                      <a:r>
                        <a:rPr sz="1200" b="0">
                          <a:solidFill>
                            <a:srgbClr val="1F2937"/>
                          </a:solidFill>
                        </a:rPr>
                        <a:t>Jinsiy erkinlikka qarshi</a:t>
                      </a:r>
                    </a:p>
                  </a:txBody>
                  <a:tcPr marL="73152" marR="73152" marT="36576" marB="36576">
                    <a:solidFill>
                      <a:srgbClr val="E8EEF6"/>
                    </a:solidFill>
                  </a:tcPr>
                </a:tc>
              </a:tr>
              <a:tr h="411480">
                <a:tc>
                  <a:txBody>
                    <a:bodyPr/>
                    <a:lstStyle/>
                    <a:p>
                      <a:r>
                        <a:rPr sz="1200" b="0">
                          <a:solidFill>
                            <a:srgbClr val="1F2937"/>
                          </a:solidFill>
                        </a:rPr>
                        <a:t>Besoqolbozlik</a:t>
                      </a:r>
                    </a:p>
                  </a:txBody>
                  <a:tcPr marL="73152" marR="73152" marT="36576" marB="36576">
                    <a:solidFill>
                      <a:srgbClr val="FFFFFF"/>
                    </a:solidFill>
                  </a:tcPr>
                </a:tc>
                <a:tc>
                  <a:txBody>
                    <a:bodyPr/>
                    <a:lstStyle/>
                    <a:p>
                      <a:r>
                        <a:rPr sz="1200" b="0">
                          <a:solidFill>
                            <a:srgbClr val="1F2937"/>
                          </a:solidFill>
                        </a:rPr>
                        <a:t>120-modda</a:t>
                      </a:r>
                    </a:p>
                  </a:txBody>
                  <a:tcPr marL="73152" marR="73152" marT="36576" marB="36576">
                    <a:solidFill>
                      <a:srgbClr val="FFFFFF"/>
                    </a:solidFill>
                  </a:tcPr>
                </a:tc>
                <a:tc>
                  <a:txBody>
                    <a:bodyPr/>
                    <a:lstStyle/>
                    <a:p>
                      <a:r>
                        <a:rPr sz="1200" b="0">
                          <a:solidFill>
                            <a:srgbClr val="1F2937"/>
                          </a:solidFill>
                        </a:rPr>
                        <a:t>Jinsiy erkinlikka qarshi</a:t>
                      </a:r>
                    </a:p>
                  </a:txBody>
                  <a:tcPr marL="73152" marR="73152" marT="36576" marB="36576">
                    <a:solidFill>
                      <a:srgbClr val="FFFFFF"/>
                    </a:solidFill>
                  </a:tcPr>
                </a:tc>
              </a:tr>
              <a:tr h="411480">
                <a:tc>
                  <a:txBody>
                    <a:bodyPr/>
                    <a:lstStyle/>
                    <a:p>
                      <a:r>
                        <a:rPr sz="1200" b="0">
                          <a:solidFill>
                            <a:srgbClr val="1F2937"/>
                          </a:solidFill>
                        </a:rPr>
                        <a:t>Fahsh harakatlari</a:t>
                      </a:r>
                    </a:p>
                  </a:txBody>
                  <a:tcPr marL="73152" marR="73152" marT="36576" marB="36576">
                    <a:solidFill>
                      <a:srgbClr val="E8EEF6"/>
                    </a:solidFill>
                  </a:tcPr>
                </a:tc>
                <a:tc>
                  <a:txBody>
                    <a:bodyPr/>
                    <a:lstStyle/>
                    <a:p>
                      <a:r>
                        <a:rPr sz="1200" b="0">
                          <a:solidFill>
                            <a:srgbClr val="1F2937"/>
                          </a:solidFill>
                        </a:rPr>
                        <a:t>129-modda</a:t>
                      </a:r>
                    </a:p>
                  </a:txBody>
                  <a:tcPr marL="73152" marR="73152" marT="36576" marB="36576">
                    <a:solidFill>
                      <a:srgbClr val="E8EEF6"/>
                    </a:solidFill>
                  </a:tcPr>
                </a:tc>
                <a:tc>
                  <a:txBody>
                    <a:bodyPr/>
                    <a:lstStyle/>
                    <a:p>
                      <a:r>
                        <a:rPr sz="1200" b="0">
                          <a:solidFill>
                            <a:srgbClr val="1F2937"/>
                          </a:solidFill>
                        </a:rPr>
                        <a:t>Oila, yoshlar, axloqqa qarshi</a:t>
                      </a:r>
                    </a:p>
                  </a:txBody>
                  <a:tcPr marL="73152" marR="73152" marT="36576" marB="36576">
                    <a:solidFill>
                      <a:srgbClr val="E8EEF6"/>
                    </a:solidFill>
                  </a:tcPr>
                </a:tc>
              </a:tr>
              <a:tr h="411480">
                <a:tc>
                  <a:txBody>
                    <a:bodyPr/>
                    <a:lstStyle/>
                    <a:p>
                      <a:r>
                        <a:rPr sz="1200" b="0">
                          <a:solidFill>
                            <a:srgbClr val="1F2937"/>
                          </a:solidFill>
                        </a:rPr>
                        <a:t>Tanosil kasalligi / OIV</a:t>
                      </a:r>
                    </a:p>
                  </a:txBody>
                  <a:tcPr marL="73152" marR="73152" marT="36576" marB="36576">
                    <a:solidFill>
                      <a:srgbClr val="FFFFFF"/>
                    </a:solidFill>
                  </a:tcPr>
                </a:tc>
                <a:tc>
                  <a:txBody>
                    <a:bodyPr/>
                    <a:lstStyle/>
                    <a:p>
                      <a:r>
                        <a:rPr sz="1200" b="0">
                          <a:solidFill>
                            <a:srgbClr val="1F2937"/>
                          </a:solidFill>
                        </a:rPr>
                        <a:t>113-modda</a:t>
                      </a:r>
                    </a:p>
                  </a:txBody>
                  <a:tcPr marL="73152" marR="73152" marT="36576" marB="36576">
                    <a:solidFill>
                      <a:srgbClr val="FFFFFF"/>
                    </a:solidFill>
                  </a:tcPr>
                </a:tc>
                <a:tc>
                  <a:txBody>
                    <a:bodyPr/>
                    <a:lstStyle/>
                    <a:p>
                      <a:r>
                        <a:rPr sz="1200" b="0">
                          <a:solidFill>
                            <a:srgbClr val="1F2937"/>
                          </a:solidFill>
                        </a:rPr>
                        <a:t>Hayot yoki sog‘liq uchun xavfli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Jinsiy jinoyatlar guruhlari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295, 297-298, 298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Nomusga tegish: jabrlanuvchi ko‘rigi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118-modda bo‘yicha nomusga tegish — jabrlanuvchining xohishiga qarshi zo‘rlik ishlatib, qo‘rqitib yoki ojizligidan foydalanib jinsiy aloqa qilish.</a:t>
            </a:r>
          </a:p>
          <a:p>
            <a:pPr>
              <a:spcAft>
                <a:spcPts val="1200"/>
              </a:spcAft>
            </a:pPr>
            <a:r>
              <a:rPr sz="2000">
                <a:solidFill>
                  <a:srgbClr val="1F2937"/>
                </a:solidFill>
                <a:latin typeface="Calibri"/>
              </a:rPr>
              <a:t>▸  Nazariy jihatdan erkaklar ham jabrlanishi mumkin, ammo amaliyotda bu jinoyat asosan ayollarga nisbatan kuzatiladi.</a:t>
            </a:r>
          </a:p>
          <a:p>
            <a:pPr>
              <a:spcAft>
                <a:spcPts val="1200"/>
              </a:spcAft>
            </a:pPr>
            <a:r>
              <a:rPr sz="2000">
                <a:solidFill>
                  <a:srgbClr val="1F2937"/>
                </a:solidFill>
                <a:latin typeface="Calibri"/>
              </a:rPr>
              <a:t>▸  Ko‘rikdan oldin ekspertiza qarori, hodisa joyi bayonnomasi va tibbiy hujjatlar o‘rganiladi, so‘ng so‘rov o‘tkaziladi va ginekologik anamnez (hayz, oxirgi aloqa, tug‘ruq, abort) yig‘iladi.</a:t>
            </a:r>
          </a:p>
          <a:p>
            <a:pPr>
              <a:spcAft>
                <a:spcPts val="1200"/>
              </a:spcAft>
            </a:pPr>
            <a:r>
              <a:rPr sz="2000">
                <a:solidFill>
                  <a:srgbClr val="1F2937"/>
                </a:solidFill>
                <a:latin typeface="Calibri"/>
              </a:rPr>
              <a:t>▸  “Nomusga tegish” huquqiy tushuncha. Ekspert aloqa yoki unga urinish, zo‘rlik va ojizlikni tasdiqlovchi ob’ektiv belgilarni izlaydi. Qo‘rqitish esa ob’ektiv belgi qoldirmaydi.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295, 295–296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Nomusga tegish: jarohatlar va namunalar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Zo‘rlikda qontalash va shilinmalar odatda jinoyatchining qo‘l-oyoqlari bilan yetkaziladi.</a:t>
            </a:r>
          </a:p>
          <a:p>
            <a:pPr>
              <a:spcAft>
                <a:spcPts val="800"/>
              </a:spcAft>
            </a:pPr>
            <a:r>
              <a:rPr sz="1800">
                <a:solidFill>
                  <a:srgbClr val="1F2937"/>
                </a:solidFill>
                <a:latin typeface="Calibri"/>
              </a:rPr>
              <a:t>▸  Qin va oraliq shikasti jinsiy hayot olib borgan ayollarda ham bo‘lishi mumkin.</a:t>
            </a:r>
          </a:p>
          <a:p>
            <a:pPr>
              <a:spcAft>
                <a:spcPts val="800"/>
              </a:spcAft>
            </a:pPr>
            <a:r>
              <a:rPr sz="1800">
                <a:solidFill>
                  <a:srgbClr val="1F2937"/>
                </a:solidFill>
                <a:latin typeface="Calibri"/>
              </a:rPr>
              <a:t>▸  Namuna voqeadan so‘ng imkon qadar tez olinadi: vaqt o‘tsa spermatozoid topilishi kamayadi.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76378"/>
                <a:gridCol w="3411596"/>
              </a:tblGrid>
              <a:tr h="411480">
                <a:tc>
                  <a:txBody>
                    <a:bodyPr/>
                    <a:lstStyle/>
                    <a:p>
                      <a:r>
                        <a:rPr sz="1400" b="1">
                          <a:solidFill>
                            <a:srgbClr val="FFFFFF"/>
                          </a:solidFill>
                        </a:rPr>
                        <a:t>Topilma</a:t>
                      </a:r>
                    </a:p>
                  </a:txBody>
                  <a:tcPr marL="73152" marR="73152" marT="36576" marB="36576">
                    <a:solidFill>
                      <a:srgbClr val="0B1F3A"/>
                    </a:solidFill>
                  </a:tcPr>
                </a:tc>
                <a:tc>
                  <a:txBody>
                    <a:bodyPr/>
                    <a:lstStyle/>
                    <a:p>
                      <a:r>
                        <a:rPr sz="1400" b="1">
                          <a:solidFill>
                            <a:srgbClr val="FFFFFF"/>
                          </a:solidFill>
                        </a:rPr>
                        <a:t>Joyi / izoh</a:t>
                      </a:r>
                    </a:p>
                  </a:txBody>
                  <a:tcPr marL="73152" marR="73152" marT="36576" marB="36576">
                    <a:solidFill>
                      <a:srgbClr val="0B1F3A"/>
                    </a:solidFill>
                  </a:tcPr>
                </a:tc>
              </a:tr>
              <a:tr h="411480">
                <a:tc>
                  <a:txBody>
                    <a:bodyPr/>
                    <a:lstStyle/>
                    <a:p>
                      <a:r>
                        <a:rPr sz="1300" b="0">
                          <a:solidFill>
                            <a:srgbClr val="1F2937"/>
                          </a:solidFill>
                        </a:rPr>
                        <a:t>Qontalash, shilinma</a:t>
                      </a:r>
                    </a:p>
                  </a:txBody>
                  <a:tcPr marL="73152" marR="73152" marT="36576" marB="36576">
                    <a:solidFill>
                      <a:srgbClr val="E8EEF6"/>
                    </a:solidFill>
                  </a:tcPr>
                </a:tc>
                <a:tc>
                  <a:txBody>
                    <a:bodyPr/>
                    <a:lstStyle/>
                    <a:p>
                      <a:r>
                        <a:rPr sz="1300" b="0">
                          <a:solidFill>
                            <a:srgbClr val="1F2937"/>
                          </a:solidFill>
                        </a:rPr>
                        <a:t>Son ichki yuzasi, jinsiy a’zolar, bo‘yin</a:t>
                      </a:r>
                    </a:p>
                  </a:txBody>
                  <a:tcPr marL="73152" marR="73152" marT="36576" marB="36576">
                    <a:solidFill>
                      <a:srgbClr val="E8EEF6"/>
                    </a:solidFill>
                  </a:tcPr>
                </a:tc>
              </a:tr>
              <a:tr h="411480">
                <a:tc>
                  <a:txBody>
                    <a:bodyPr/>
                    <a:lstStyle/>
                    <a:p>
                      <a:r>
                        <a:rPr sz="1300" b="0">
                          <a:solidFill>
                            <a:srgbClr val="1F2937"/>
                          </a:solidFill>
                        </a:rPr>
                        <a:t>Qizlik pardasi yorig‘i</a:t>
                      </a:r>
                    </a:p>
                  </a:txBody>
                  <a:tcPr marL="73152" marR="73152" marT="36576" marB="36576">
                    <a:solidFill>
                      <a:srgbClr val="FFFFFF"/>
                    </a:solidFill>
                  </a:tcPr>
                </a:tc>
                <a:tc>
                  <a:txBody>
                    <a:bodyPr/>
                    <a:lstStyle/>
                    <a:p>
                      <a:r>
                        <a:rPr sz="1300" b="0">
                          <a:solidFill>
                            <a:srgbClr val="1F2937"/>
                          </a:solidFill>
                        </a:rPr>
                        <a:t>Ba’zan qin devori, oraliqda yorilish</a:t>
                      </a:r>
                    </a:p>
                  </a:txBody>
                  <a:tcPr marL="73152" marR="73152" marT="36576" marB="36576">
                    <a:solidFill>
                      <a:srgbClr val="FFFFFF"/>
                    </a:solidFill>
                  </a:tcPr>
                </a:tc>
              </a:tr>
              <a:tr h="411480">
                <a:tc>
                  <a:txBody>
                    <a:bodyPr/>
                    <a:lstStyle/>
                    <a:p>
                      <a:r>
                        <a:rPr sz="1300" b="0">
                          <a:solidFill>
                            <a:srgbClr val="1F2937"/>
                          </a:solidFill>
                        </a:rPr>
                        <a:t>Maniy</a:t>
                      </a:r>
                    </a:p>
                  </a:txBody>
                  <a:tcPr marL="73152" marR="73152" marT="36576" marB="36576">
                    <a:solidFill>
                      <a:srgbClr val="E8EEF6"/>
                    </a:solidFill>
                  </a:tcPr>
                </a:tc>
                <a:tc>
                  <a:txBody>
                    <a:bodyPr/>
                    <a:lstStyle/>
                    <a:p>
                      <a:r>
                        <a:rPr sz="1300" b="0">
                          <a:solidFill>
                            <a:srgbClr val="1F2937"/>
                          </a:solidFill>
                        </a:rPr>
                        <a:t>Qin ichi, qov, oraliq, son</a:t>
                      </a:r>
                    </a:p>
                  </a:txBody>
                  <a:tcPr marL="73152" marR="73152" marT="36576" marB="36576">
                    <a:solidFill>
                      <a:srgbClr val="E8EEF6"/>
                    </a:solidFill>
                  </a:tcPr>
                </a:tc>
              </a:tr>
              <a:tr h="411480">
                <a:tc>
                  <a:txBody>
                    <a:bodyPr/>
                    <a:lstStyle/>
                    <a:p>
                      <a:r>
                        <a:rPr sz="1300" b="0">
                          <a:solidFill>
                            <a:srgbClr val="1F2937"/>
                          </a:solidFill>
                        </a:rPr>
                        <a:t>Surtma va bosma</a:t>
                      </a:r>
                    </a:p>
                  </a:txBody>
                  <a:tcPr marL="73152" marR="73152" marT="36576" marB="36576">
                    <a:solidFill>
                      <a:srgbClr val="FFFFFF"/>
                    </a:solidFill>
                  </a:tcPr>
                </a:tc>
                <a:tc>
                  <a:txBody>
                    <a:bodyPr/>
                    <a:lstStyle/>
                    <a:p>
                      <a:r>
                        <a:rPr sz="1300" b="0">
                          <a:solidFill>
                            <a:srgbClr val="1F2937"/>
                          </a:solidFill>
                        </a:rPr>
                        <a:t>Qindan surtma; qov, oraliq, sondan bosma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Topilmalar va namuna olish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G‘ayritabiiy usul va besoqolbozlik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Diqqat: 119-modda ≠ 120-modda. Birida zo‘rlik, qo‘rqitish yoki ojizlik bor, ikkinchisida zo‘rliksiz kelishuv.</a:t>
            </a:r>
          </a:p>
          <a:p>
            <a:pPr>
              <a:spcAft>
                <a:spcPts val="800"/>
              </a:spcAft>
            </a:pPr>
            <a:r>
              <a:rPr sz="1800">
                <a:solidFill>
                  <a:srgbClr val="1F2937"/>
                </a:solidFill>
                <a:latin typeface="Calibri"/>
              </a:rPr>
              <a:t>▸  Aktiv qatnashchida qon, soch, axlat zarralari va moysimon modda jinsiy olat toj egatchasida uzoq saqlanadi.</a:t>
            </a:r>
          </a:p>
          <a:p>
            <a:pPr>
              <a:spcAft>
                <a:spcPts val="800"/>
              </a:spcAft>
            </a:pPr>
            <a:r>
              <a:rPr sz="1800">
                <a:solidFill>
                  <a:srgbClr val="1F2937"/>
                </a:solidFill>
                <a:latin typeface="Calibri"/>
              </a:rPr>
              <a:t>▸  Passiv qatnashchida shilinma, qon quyilish, yoriq; kam aloqada o‘zgarish topilmasligi ham mumkin.</a:t>
            </a:r>
          </a:p>
        </p:txBody>
      </p:sp>
      <p:graphicFrame>
        <p:nvGraphicFramePr>
          <p:cNvPr id="9" name="Table 8"/>
          <p:cNvGraphicFramePr>
            <a:graphicFrameLocks noGrp="1"/>
          </p:cNvGraphicFramePr>
          <p:nvPr/>
        </p:nvGraphicFramePr>
        <p:xfrm>
          <a:off x="6263640" y="1463040"/>
          <a:ext cx="5287973" cy="1234440"/>
        </p:xfrm>
        <a:graphic>
          <a:graphicData uri="http://schemas.openxmlformats.org/drawingml/2006/table">
            <a:tbl>
              <a:tblPr firstRow="1" bandRow="1">
                <a:tableStyleId>{5C22544A-7EE6-4342-B048-85BDC9FD1C3A}</a:tableStyleId>
              </a:tblPr>
              <a:tblGrid>
                <a:gridCol w="1113257"/>
                <a:gridCol w="2643987"/>
                <a:gridCol w="1530729"/>
              </a:tblGrid>
              <a:tr h="411480">
                <a:tc>
                  <a:txBody>
                    <a:bodyPr/>
                    <a:lstStyle/>
                    <a:p>
                      <a:r>
                        <a:rPr sz="1300" b="1">
                          <a:solidFill>
                            <a:srgbClr val="FFFFFF"/>
                          </a:solidFill>
                        </a:rPr>
                        <a:t>Modda</a:t>
                      </a:r>
                    </a:p>
                  </a:txBody>
                  <a:tcPr marL="73152" marR="73152" marT="36576" marB="36576">
                    <a:solidFill>
                      <a:srgbClr val="0B1F3A"/>
                    </a:solidFill>
                  </a:tcPr>
                </a:tc>
                <a:tc>
                  <a:txBody>
                    <a:bodyPr/>
                    <a:lstStyle/>
                    <a:p>
                      <a:r>
                        <a:rPr sz="1300" b="1">
                          <a:solidFill>
                            <a:srgbClr val="FFFFFF"/>
                          </a:solidFill>
                        </a:rPr>
                        <a:t>Holat</a:t>
                      </a:r>
                    </a:p>
                  </a:txBody>
                  <a:tcPr marL="73152" marR="73152" marT="36576" marB="36576">
                    <a:solidFill>
                      <a:srgbClr val="0B1F3A"/>
                    </a:solidFill>
                  </a:tcPr>
                </a:tc>
                <a:tc>
                  <a:txBody>
                    <a:bodyPr/>
                    <a:lstStyle/>
                    <a:p>
                      <a:r>
                        <a:rPr sz="1300" b="1">
                          <a:solidFill>
                            <a:srgbClr val="FFFFFF"/>
                          </a:solidFill>
                        </a:rPr>
                        <a:t>Javobgar</a:t>
                      </a:r>
                    </a:p>
                  </a:txBody>
                  <a:tcPr marL="73152" marR="73152" marT="36576" marB="36576">
                    <a:solidFill>
                      <a:srgbClr val="0B1F3A"/>
                    </a:solidFill>
                  </a:tcPr>
                </a:tc>
              </a:tr>
              <a:tr h="411480">
                <a:tc>
                  <a:txBody>
                    <a:bodyPr/>
                    <a:lstStyle/>
                    <a:p>
                      <a:r>
                        <a:rPr sz="1200" b="0">
                          <a:solidFill>
                            <a:srgbClr val="1F2937"/>
                          </a:solidFill>
                        </a:rPr>
                        <a:t>119</a:t>
                      </a:r>
                    </a:p>
                  </a:txBody>
                  <a:tcPr marL="73152" marR="73152" marT="36576" marB="36576">
                    <a:solidFill>
                      <a:srgbClr val="E8EEF6"/>
                    </a:solidFill>
                  </a:tcPr>
                </a:tc>
                <a:tc>
                  <a:txBody>
                    <a:bodyPr/>
                    <a:lstStyle/>
                    <a:p>
                      <a:r>
                        <a:rPr sz="1200" b="0">
                          <a:solidFill>
                            <a:srgbClr val="1F2937"/>
                          </a:solidFill>
                        </a:rPr>
                        <a:t>Zo‘rlik, qo‘rqitish yoki ojizlik bilan</a:t>
                      </a:r>
                    </a:p>
                  </a:txBody>
                  <a:tcPr marL="73152" marR="73152" marT="36576" marB="36576">
                    <a:solidFill>
                      <a:srgbClr val="E8EEF6"/>
                    </a:solidFill>
                  </a:tcPr>
                </a:tc>
                <a:tc>
                  <a:txBody>
                    <a:bodyPr/>
                    <a:lstStyle/>
                    <a:p>
                      <a:r>
                        <a:rPr sz="1200" b="0">
                          <a:solidFill>
                            <a:srgbClr val="1F2937"/>
                          </a:solidFill>
                        </a:rPr>
                        <a:t>Faqat aktiv qatnashchi</a:t>
                      </a:r>
                    </a:p>
                  </a:txBody>
                  <a:tcPr marL="73152" marR="73152" marT="36576" marB="36576">
                    <a:solidFill>
                      <a:srgbClr val="E8EEF6"/>
                    </a:solidFill>
                  </a:tcPr>
                </a:tc>
              </a:tr>
              <a:tr h="411480">
                <a:tc>
                  <a:txBody>
                    <a:bodyPr/>
                    <a:lstStyle/>
                    <a:p>
                      <a:r>
                        <a:rPr sz="1200" b="0">
                          <a:solidFill>
                            <a:srgbClr val="1F2937"/>
                          </a:solidFill>
                        </a:rPr>
                        <a:t>120</a:t>
                      </a:r>
                    </a:p>
                  </a:txBody>
                  <a:tcPr marL="73152" marR="73152" marT="36576" marB="36576">
                    <a:solidFill>
                      <a:srgbClr val="FFFFFF"/>
                    </a:solidFill>
                  </a:tcPr>
                </a:tc>
                <a:tc>
                  <a:txBody>
                    <a:bodyPr/>
                    <a:lstStyle/>
                    <a:p>
                      <a:r>
                        <a:rPr sz="1200" b="0">
                          <a:solidFill>
                            <a:srgbClr val="1F2937"/>
                          </a:solidFill>
                        </a:rPr>
                        <a:t>Zo‘rliksiz, erkak bilan erkak</a:t>
                      </a:r>
                    </a:p>
                  </a:txBody>
                  <a:tcPr marL="73152" marR="73152" marT="36576" marB="36576">
                    <a:solidFill>
                      <a:srgbClr val="FFFFFF"/>
                    </a:solidFill>
                  </a:tcPr>
                </a:tc>
                <a:tc>
                  <a:txBody>
                    <a:bodyPr/>
                    <a:lstStyle/>
                    <a:p>
                      <a:r>
                        <a:rPr sz="1200" b="0">
                          <a:solidFill>
                            <a:srgbClr val="1F2937"/>
                          </a:solidFill>
                        </a:rPr>
                        <a:t>Aktiv ham, passiv ham</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119 va 120-moddalar farqi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297–298, 297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Besoqolbozlikda xato talqin xavfi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Kam sonli jinsiy aloqada katta yoshdagi passiv qatnashchida orqa teshik va to‘g‘ri ichak sohasida jarohat yoki o‘zgarish topilmasligi ham mumkin.</a:t>
            </a:r>
          </a:p>
          <a:p>
            <a:pPr>
              <a:spcAft>
                <a:spcPts val="1200"/>
              </a:spcAft>
            </a:pPr>
            <a:r>
              <a:rPr sz="2200">
                <a:solidFill>
                  <a:srgbClr val="1F2937"/>
                </a:solidFill>
                <a:latin typeface="Calibri"/>
              </a:rPr>
              <a:t>▸  Qabziyat, ich ketishi, proktit, paraproktit, bavosil, to‘g‘ri ichak tushishi yoki o‘tgan jarrohlik izlari noto‘g‘ri talqin etilishi mumkin.</a:t>
            </a:r>
          </a:p>
          <a:p>
            <a:pPr>
              <a:spcAft>
                <a:spcPts val="1200"/>
              </a:spcAft>
            </a:pPr>
            <a:r>
              <a:rPr sz="2200">
                <a:solidFill>
                  <a:srgbClr val="1F2937"/>
                </a:solidFill>
                <a:latin typeface="Calibri"/>
              </a:rPr>
              <a:t>▸  Shu sababli so‘rovda bu holatlarga e’tibor beriladi, kerak bo‘lsa mutaxassis-proktologning maslahati olinadi.</a:t>
            </a:r>
          </a:p>
          <a:p>
            <a:pPr>
              <a:spcAft>
                <a:spcPts val="1200"/>
              </a:spcAft>
            </a:pPr>
            <a:r>
              <a:rPr sz="2200">
                <a:solidFill>
                  <a:srgbClr val="1F2937"/>
                </a:solidFill>
                <a:latin typeface="Calibri"/>
              </a:rPr>
              <a:t>▸  Diqqat: zo‘rlik, qo‘rqitish yoki ojizlikdan foydalanilsa, faqat aktiv qatnashchi 119-modda bo‘yicha javobgar; passiv qatnashchi jabrlanuvchi.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297, 298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Fahsh harakatlari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Bu o‘n olti yoshga to‘lmagan shaxsga qaratilgan, shahvoniy xususiyatli uyatsiz-buzuq harakatlardir. Maqsad – o‘z ehtiyojini qondirish yoki bolada hissiyotni qo‘zg‘atish.</a:t>
            </a:r>
          </a:p>
          <a:p>
            <a:pPr>
              <a:spcAft>
                <a:spcPts val="1200"/>
              </a:spcAft>
            </a:pPr>
            <a:r>
              <a:rPr sz="2200">
                <a:solidFill>
                  <a:srgbClr val="1F2937"/>
                </a:solidFill>
                <a:latin typeface="Calibri"/>
              </a:rPr>
              <a:t>▸  Misollar: jinsiy a’zolarga qo‘l yoki olat tegizish, ularning oldida yalang‘ochlanish, pornografik tasvir va filmlar ko‘rsatish.</a:t>
            </a:r>
          </a:p>
          <a:p>
            <a:pPr>
              <a:spcAft>
                <a:spcPts val="1200"/>
              </a:spcAft>
            </a:pPr>
            <a:r>
              <a:rPr sz="2200">
                <a:solidFill>
                  <a:srgbClr val="1F2937"/>
                </a:solidFill>
                <a:latin typeface="Calibri"/>
              </a:rPr>
              <a:t>▸  Jinoyat kodeksida oilaga, yoshlarga va axloqqa qarshi jinoyatlar guruhiga kiradi; javobgarlik 129-moddada belgilangan.</a:t>
            </a:r>
          </a:p>
          <a:p>
            <a:pPr>
              <a:spcAft>
                <a:spcPts val="1200"/>
              </a:spcAft>
            </a:pPr>
            <a:r>
              <a:rPr sz="2200">
                <a:solidFill>
                  <a:srgbClr val="1F2937"/>
                </a:solidFill>
                <a:latin typeface="Calibri"/>
              </a:rPr>
              <a:t>▸  Qizarish, shilinma, qontalash, qizlik pardasida qon quyilishi yoki noto‘liq yorilish bo‘lishi mumkin; ayrim hollarda hech qanday iz qolmaydi.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Tanosil kasalliklari va OIV/OITSni tarqatish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OIV – odam immunitet tanqisligi virusi, OITS – orttirilgan immun tanqisligi sindromi. (?)</a:t>
            </a:r>
          </a:p>
          <a:p>
            <a:pPr>
              <a:spcAft>
                <a:spcPts val="800"/>
              </a:spcAft>
            </a:pPr>
            <a:r>
              <a:rPr sz="1800">
                <a:solidFill>
                  <a:srgbClr val="1F2937"/>
                </a:solidFill>
                <a:latin typeface="Calibri"/>
              </a:rPr>
              <a:t>▸  Ekspertizada dermatovenerolog va OITS mutaxassisi ishtirok etadi; kech bosqichdagi shaxs jinoyat sub’ekti.</a:t>
            </a:r>
          </a:p>
          <a:p>
            <a:pPr>
              <a:spcAft>
                <a:spcPts val="800"/>
              </a:spcAft>
            </a:pPr>
            <a:r>
              <a:rPr sz="1800">
                <a:solidFill>
                  <a:srgbClr val="1F2937"/>
                </a:solidFill>
                <a:latin typeface="Calibri"/>
              </a:rPr>
              <a:t>▸  Xizmat vazifasini lozim bajarmay OIV/OITS yuqtirish ham javobgarlik; bu tibbiyot xodimlariga taalluqli.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929396"/>
                <a:gridCol w="1143345"/>
                <a:gridCol w="2215232"/>
              </a:tblGrid>
              <a:tr h="411480">
                <a:tc>
                  <a:txBody>
                    <a:bodyPr/>
                    <a:lstStyle/>
                    <a:p>
                      <a:r>
                        <a:rPr sz="1300" b="1">
                          <a:solidFill>
                            <a:srgbClr val="FFFFFF"/>
                          </a:solidFill>
                        </a:rPr>
                        <a:t>Jinoyat</a:t>
                      </a:r>
                    </a:p>
                  </a:txBody>
                  <a:tcPr marL="73152" marR="73152" marT="36576" marB="36576">
                    <a:solidFill>
                      <a:srgbClr val="0B1F3A"/>
                    </a:solidFill>
                  </a:tcPr>
                </a:tc>
                <a:tc>
                  <a:txBody>
                    <a:bodyPr/>
                    <a:lstStyle/>
                    <a:p>
                      <a:r>
                        <a:rPr sz="1300" b="1">
                          <a:solidFill>
                            <a:srgbClr val="FFFFFF"/>
                          </a:solidFill>
                        </a:rPr>
                        <a:t>Modda</a:t>
                      </a:r>
                    </a:p>
                  </a:txBody>
                  <a:tcPr marL="73152" marR="73152" marT="36576" marB="36576">
                    <a:solidFill>
                      <a:srgbClr val="0B1F3A"/>
                    </a:solidFill>
                  </a:tcPr>
                </a:tc>
                <a:tc>
                  <a:txBody>
                    <a:bodyPr/>
                    <a:lstStyle/>
                    <a:p>
                      <a:r>
                        <a:rPr sz="1300" b="1">
                          <a:solidFill>
                            <a:srgbClr val="FFFFFF"/>
                          </a:solidFill>
                        </a:rPr>
                        <a:t>Guruh</a:t>
                      </a:r>
                    </a:p>
                  </a:txBody>
                  <a:tcPr marL="73152" marR="73152" marT="36576" marB="36576">
                    <a:solidFill>
                      <a:srgbClr val="0B1F3A"/>
                    </a:solidFill>
                  </a:tcPr>
                </a:tc>
              </a:tr>
              <a:tr h="411480">
                <a:tc>
                  <a:txBody>
                    <a:bodyPr/>
                    <a:lstStyle/>
                    <a:p>
                      <a:r>
                        <a:rPr sz="1200" b="0">
                          <a:solidFill>
                            <a:srgbClr val="1F2937"/>
                          </a:solidFill>
                        </a:rPr>
                        <a:t>Nomusga tegish</a:t>
                      </a:r>
                    </a:p>
                  </a:txBody>
                  <a:tcPr marL="73152" marR="73152" marT="36576" marB="36576">
                    <a:solidFill>
                      <a:srgbClr val="E8EEF6"/>
                    </a:solidFill>
                  </a:tcPr>
                </a:tc>
                <a:tc>
                  <a:txBody>
                    <a:bodyPr/>
                    <a:lstStyle/>
                    <a:p>
                      <a:r>
                        <a:rPr sz="1200" b="0">
                          <a:solidFill>
                            <a:srgbClr val="1F2937"/>
                          </a:solidFill>
                        </a:rPr>
                        <a:t>118-modda</a:t>
                      </a:r>
                    </a:p>
                  </a:txBody>
                  <a:tcPr marL="73152" marR="73152" marT="36576" marB="36576">
                    <a:solidFill>
                      <a:srgbClr val="E8EEF6"/>
                    </a:solidFill>
                  </a:tcPr>
                </a:tc>
                <a:tc>
                  <a:txBody>
                    <a:bodyPr/>
                    <a:lstStyle/>
                    <a:p>
                      <a:r>
                        <a:rPr sz="1200" b="0">
                          <a:solidFill>
                            <a:srgbClr val="1F2937"/>
                          </a:solidFill>
                        </a:rPr>
                        <a:t>Jinsiy erkinlikka qarshi</a:t>
                      </a:r>
                    </a:p>
                  </a:txBody>
                  <a:tcPr marL="73152" marR="73152" marT="36576" marB="36576">
                    <a:solidFill>
                      <a:srgbClr val="E8EEF6"/>
                    </a:solidFill>
                  </a:tcPr>
                </a:tc>
              </a:tr>
              <a:tr h="411480">
                <a:tc>
                  <a:txBody>
                    <a:bodyPr/>
                    <a:lstStyle/>
                    <a:p>
                      <a:r>
                        <a:rPr sz="1200" b="0">
                          <a:solidFill>
                            <a:srgbClr val="1F2937"/>
                          </a:solidFill>
                        </a:rPr>
                        <a:t>Besoqolbozlik</a:t>
                      </a:r>
                    </a:p>
                  </a:txBody>
                  <a:tcPr marL="73152" marR="73152" marT="36576" marB="36576">
                    <a:solidFill>
                      <a:srgbClr val="FFFFFF"/>
                    </a:solidFill>
                  </a:tcPr>
                </a:tc>
                <a:tc>
                  <a:txBody>
                    <a:bodyPr/>
                    <a:lstStyle/>
                    <a:p>
                      <a:r>
                        <a:rPr sz="1200" b="0">
                          <a:solidFill>
                            <a:srgbClr val="1F2937"/>
                          </a:solidFill>
                        </a:rPr>
                        <a:t>120-modda</a:t>
                      </a:r>
                    </a:p>
                  </a:txBody>
                  <a:tcPr marL="73152" marR="73152" marT="36576" marB="36576">
                    <a:solidFill>
                      <a:srgbClr val="FFFFFF"/>
                    </a:solidFill>
                  </a:tcPr>
                </a:tc>
                <a:tc>
                  <a:txBody>
                    <a:bodyPr/>
                    <a:lstStyle/>
                    <a:p>
                      <a:r>
                        <a:rPr sz="1200" b="0">
                          <a:solidFill>
                            <a:srgbClr val="1F2937"/>
                          </a:solidFill>
                        </a:rPr>
                        <a:t>Jinsiy erkinlikka qarshi</a:t>
                      </a:r>
                    </a:p>
                  </a:txBody>
                  <a:tcPr marL="73152" marR="73152" marT="36576" marB="36576">
                    <a:solidFill>
                      <a:srgbClr val="FFFFFF"/>
                    </a:solidFill>
                  </a:tcPr>
                </a:tc>
              </a:tr>
              <a:tr h="411480">
                <a:tc>
                  <a:txBody>
                    <a:bodyPr/>
                    <a:lstStyle/>
                    <a:p>
                      <a:r>
                        <a:rPr sz="1200" b="0">
                          <a:solidFill>
                            <a:srgbClr val="1F2937"/>
                          </a:solidFill>
                        </a:rPr>
                        <a:t>Fahsh harakatlari</a:t>
                      </a:r>
                    </a:p>
                  </a:txBody>
                  <a:tcPr marL="73152" marR="73152" marT="36576" marB="36576">
                    <a:solidFill>
                      <a:srgbClr val="E8EEF6"/>
                    </a:solidFill>
                  </a:tcPr>
                </a:tc>
                <a:tc>
                  <a:txBody>
                    <a:bodyPr/>
                    <a:lstStyle/>
                    <a:p>
                      <a:r>
                        <a:rPr sz="1200" b="0">
                          <a:solidFill>
                            <a:srgbClr val="1F2937"/>
                          </a:solidFill>
                        </a:rPr>
                        <a:t>129-modda</a:t>
                      </a:r>
                    </a:p>
                  </a:txBody>
                  <a:tcPr marL="73152" marR="73152" marT="36576" marB="36576">
                    <a:solidFill>
                      <a:srgbClr val="E8EEF6"/>
                    </a:solidFill>
                  </a:tcPr>
                </a:tc>
                <a:tc>
                  <a:txBody>
                    <a:bodyPr/>
                    <a:lstStyle/>
                    <a:p>
                      <a:r>
                        <a:rPr sz="1200" b="0">
                          <a:solidFill>
                            <a:srgbClr val="1F2937"/>
                          </a:solidFill>
                        </a:rPr>
                        <a:t>Oila, yoshlar, axloqqa qarshi</a:t>
                      </a:r>
                    </a:p>
                  </a:txBody>
                  <a:tcPr marL="73152" marR="73152" marT="36576" marB="36576">
                    <a:solidFill>
                      <a:srgbClr val="E8EEF6"/>
                    </a:solidFill>
                  </a:tcPr>
                </a:tc>
              </a:tr>
              <a:tr h="411480">
                <a:tc>
                  <a:txBody>
                    <a:bodyPr/>
                    <a:lstStyle/>
                    <a:p>
                      <a:r>
                        <a:rPr sz="1200" b="0">
                          <a:solidFill>
                            <a:srgbClr val="1F2937"/>
                          </a:solidFill>
                        </a:rPr>
                        <a:t>Tanosil, OIV/OITS tarqatish</a:t>
                      </a:r>
                    </a:p>
                  </a:txBody>
                  <a:tcPr marL="73152" marR="73152" marT="36576" marB="36576">
                    <a:solidFill>
                      <a:srgbClr val="FFFFFF"/>
                    </a:solidFill>
                  </a:tcPr>
                </a:tc>
                <a:tc>
                  <a:txBody>
                    <a:bodyPr/>
                    <a:lstStyle/>
                    <a:p>
                      <a:r>
                        <a:rPr sz="1200" b="0">
                          <a:solidFill>
                            <a:srgbClr val="1F2937"/>
                          </a:solidFill>
                        </a:rPr>
                        <a:t>113-modda</a:t>
                      </a:r>
                    </a:p>
                  </a:txBody>
                  <a:tcPr marL="73152" marR="73152" marT="36576" marB="36576">
                    <a:solidFill>
                      <a:srgbClr val="FFFFFF"/>
                    </a:solidFill>
                  </a:tcPr>
                </a:tc>
                <a:tc>
                  <a:txBody>
                    <a:bodyPr/>
                    <a:lstStyle/>
                    <a:p>
                      <a:r>
                        <a:rPr sz="1200" b="0">
                          <a:solidFill>
                            <a:srgbClr val="1F2937"/>
                          </a:solidFill>
                        </a:rPr>
                        <a:t>Hayot yoki sog‘liq uchun xavfli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Jinsiy jinoyatlar va modda guruhlari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jinsiy jinoyatlar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ayol nomusga tegish gumoni bilan ko‘rikka keltirildi. Voqeadan keyin qisqa vaqt o‘tgan, sonlarida qontalash va qin ichida maniy bo‘lishi mumkin.</a:t>
            </a:r>
          </a:p>
          <a:p>
            <a:pPr>
              <a:spcAft>
                <a:spcPts val="1200"/>
              </a:spcAft>
            </a:pPr>
            <a:r>
              <a:rPr sz="2200">
                <a:solidFill>
                  <a:srgbClr val="1F2937"/>
                </a:solidFill>
                <a:latin typeface="Calibri"/>
              </a:rPr>
              <a:t>▸  Ekspert avval qaror, hodisa joyi bayonnomasi va tibbiy hujjatlarni o‘rganadi. Keyin so‘rov o‘tkazadi va ginekologik anamnez yig‘adi.</a:t>
            </a:r>
          </a:p>
          <a:p>
            <a:pPr>
              <a:spcAft>
                <a:spcPts val="1200"/>
              </a:spcAft>
            </a:pPr>
            <a:r>
              <a:rPr sz="2200">
                <a:solidFill>
                  <a:srgbClr val="1F2937"/>
                </a:solidFill>
                <a:latin typeface="Calibri"/>
              </a:rPr>
              <a:t>▸  Qin ichidan surtma, qov, oraliq va sondan bosmalar imkon qadar tez olinadi. Vaqt o‘tgan sari spermatozoid topilish ehtimoli kamayadi.</a:t>
            </a:r>
          </a:p>
          <a:p>
            <a:pPr>
              <a:spcAft>
                <a:spcPts val="1200"/>
              </a:spcAft>
            </a:pPr>
            <a:r>
              <a:rPr sz="2200">
                <a:solidFill>
                  <a:srgbClr val="1F2937"/>
                </a:solidFill>
                <a:latin typeface="Calibri"/>
              </a:rPr>
              <a:t>▸  Savol: gumondor ham ko‘rikdan o‘tkazilishi kerakmi va unda nimalar izlanadi?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296, 295, 297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Eslab qolish: takrorlash va xatolar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Maniy qinda odatda 3-5 kun saqlanadi. Namuna qancha tez olinsa, natija shunchalik ishonchli bo‘ladi.</a:t>
            </a:r>
          </a:p>
          <a:p>
            <a:pPr>
              <a:spcAft>
                <a:spcPts val="1200"/>
              </a:spcAft>
            </a:pPr>
            <a:r>
              <a:rPr sz="2200">
                <a:solidFill>
                  <a:srgbClr val="1F2937"/>
                </a:solidFill>
                <a:latin typeface="Calibri"/>
              </a:rPr>
              <a:t>▸  Qizlik pardasi butunligi buzilgan muddatni faqat dastlabki haftalarda aniqlash mumkin. Uch haftadan so‘ng bu masalani hal etib bo‘lmaydi.</a:t>
            </a:r>
          </a:p>
          <a:p>
            <a:pPr>
              <a:spcAft>
                <a:spcPts val="1200"/>
              </a:spcAft>
            </a:pPr>
            <a:r>
              <a:rPr sz="2200">
                <a:solidFill>
                  <a:srgbClr val="1F2937"/>
                </a:solidFill>
                <a:latin typeface="Calibri"/>
              </a:rPr>
              <a:t>▸  Fahsh harakatlari 16 yoshga to‘lmagan shaxslarga nisbatan uyatsiz-buzuq harakatlar qilishni anglatadi (129-modda).</a:t>
            </a:r>
          </a:p>
          <a:p>
            <a:pPr>
              <a:spcAft>
                <a:spcPts val="1200"/>
              </a:spcAft>
            </a:pPr>
            <a:r>
              <a:rPr sz="2200">
                <a:solidFill>
                  <a:srgbClr val="1F2937"/>
                </a:solidFill>
                <a:latin typeface="Calibri"/>
              </a:rPr>
              <a:t>▸  Diqqat: 119-modda ≠ 120-modda. 119-moddada zo‘rlik bor va faqat aktiv qatnashchi javobgar. 120-moddada zo‘rlik yo‘q va ikkovi ham javobgar.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292, 291, 298, 297-298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Jinsiy holatlar ekspertizasi jins, jinsiy yetuklik, bokiralik, nasl qoldirish qobiliyati, homiladorlik, tug‘ruq va abortni aniqlash uchun tayinlanadi.</a:t>
            </a:r>
          </a:p>
          <a:p>
            <a:pPr>
              <a:spcAft>
                <a:spcPts val="1200"/>
              </a:spcAft>
            </a:pPr>
            <a:r>
              <a:rPr sz="2200">
                <a:solidFill>
                  <a:srgbClr val="1F2937"/>
                </a:solidFill>
                <a:latin typeface="Calibri"/>
              </a:rPr>
              <a:t>▸  Jinsiy jinoyatlar qatoriga nomusga tegish, besoqolbozlik va fahsh harakatlari kiradi. Ekspert ularda ob’ektiv tibbiy-biologik belgilarni izlaydi.</a:t>
            </a:r>
          </a:p>
          <a:p>
            <a:pPr>
              <a:spcAft>
                <a:spcPts val="1200"/>
              </a:spcAft>
            </a:pPr>
            <a:r>
              <a:rPr sz="2200">
                <a:solidFill>
                  <a:srgbClr val="1F2937"/>
                </a:solidFill>
                <a:latin typeface="Calibri"/>
              </a:rPr>
              <a:t>▸  Ekspert xatosi xavfi: proktit, bavosil yoki jarrohlik izlari passiv besoqolbozlik belgisi deb noto‘g‘ri talqin qilinishi mumkin.</a:t>
            </a:r>
          </a:p>
          <a:p>
            <a:pPr>
              <a:spcAft>
                <a:spcPts val="1200"/>
              </a:spcAft>
            </a:pPr>
            <a:r>
              <a:rPr sz="2200">
                <a:solidFill>
                  <a:srgbClr val="1F2937"/>
                </a:solidFill>
                <a:latin typeface="Calibri"/>
              </a:rPr>
              <a:t>▸  Nazorat: 1) ekspertiza algoritmi bosqichlari; 2) 118, 119, 120-moddalar farqi; 3) namunani nega tez olish kerak?</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288, 295, 298, 300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qolish usuli (uchlik): simulyasiya — yo‘q kasallikni bor deb ko‘rsatish; aggravatsiya — bor kasallikni og‘irroq ko‘rsatish; dissimulyasiya — bor kasallikni yashirish. Birinchi ikkisi “ko‘rsatish”, uchinchisi “yashirish”. Dissimulyasiya asosan sog‘liqqa alohida talab qo‘yiladigan kasblarda uchraydi: uchuvchi, g‘avvos, haydovchi.</a:t>
            </a:r>
          </a:p>
          <a:p>
            <a:pPr>
              <a:spcAft>
                <a:spcPts val="1200"/>
              </a:spcAft>
            </a:pPr>
            <a:r>
              <a:rPr sz="1800">
                <a:solidFill>
                  <a:srgbClr val="1F2937"/>
                </a:solidFill>
                <a:latin typeface="Calibri"/>
              </a:rPr>
              <a:t>▸  Hodisa tahlili: sog‘liq buzilishi 6 kungacha bo‘lsa jarohat yengil, 6 kundan ortiq, lekin 21 kundan oshmasa qisqa muddatli buzilishga olib kelgan yengil, 21 kundan ortiq bo‘lsa o‘rtacha og‘ir hisoblanadi. Bunda davolanishga kech murojaat yoki davolashdagi kamchilik muddatga hisoblanmaydi.</a:t>
            </a:r>
          </a:p>
          <a:p>
            <a:pPr>
              <a:spcAft>
                <a:spcPts val="1200"/>
              </a:spcAft>
            </a:pPr>
            <a:r>
              <a:rPr sz="1800">
                <a:solidFill>
                  <a:srgbClr val="1F2937"/>
                </a:solidFill>
                <a:latin typeface="Calibri"/>
              </a:rPr>
              <a:t>▸  Diqqat, taqqoslang: bir ko‘zda ko‘rishning to‘liq yo‘qolishi umumiy mehnat qobiliyatining uchdan biridan ortig‘ini yo‘qotadi va og‘ir jarohat hisoblanadi. Bir quloqda eshitishning yo‘qolishi esa uchdan biridan kamrog‘ini yo‘qotadi va o‘rtacha og‘ir deb baholanadi.</a:t>
            </a:r>
          </a:p>
          <a:p>
            <a:pPr>
              <a:spcAft>
                <a:spcPts val="1200"/>
              </a:spcAft>
            </a:pPr>
            <a:r>
              <a:rPr sz="1800">
                <a:solidFill>
                  <a:srgbClr val="1F2937"/>
                </a:solidFill>
                <a:latin typeface="Calibri"/>
              </a:rPr>
              <a:t>▸  Vaqt omili (qizlik pardasi): jarohat chetlari birinchi haftada qonaydi va shishadi, ikkinchi haftaning oxiri — uchinchi haftada chandiq hosil bo‘ladi. Shuning uchun yorilish muddati faqat dastlabki haftalarda aniqlanadi, uch haftadan so‘ng bu masalani hal etib bo‘lmaydi.</a:t>
            </a:r>
          </a:p>
          <a:p>
            <a:pPr>
              <a:spcAft>
                <a:spcPts val="1200"/>
              </a:spcAft>
            </a:pPr>
            <a:r>
              <a:rPr sz="1800">
                <a:solidFill>
                  <a:srgbClr val="1F2937"/>
                </a:solidFill>
                <a:latin typeface="Calibri"/>
              </a:rPr>
              <a:t>▸  Dalil tez yo‘qoladi: maniy qinda odatda 3-5 kungacha saqlanadi, shuning uchun namuna qancha tez olinsa, natija shuncha ishonchli bo‘ladi. Yoriqlar ko‘pincha pastki segmentda, soat siferblati bo‘yicha 5-7 oralig‘ida bo‘ladi. Tabiiy o‘yiqlar esa har xil segmentda joylashishi mumkin.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Tirik shaxslar sud-tibbiy ekspertizasining umumiy algoritmida birinchi bosqich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Hodisa tafsilotlari bilan tanishish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Shaxsni ko‘rikdan o‘tkazish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Shaxsdan so‘rov o‘tkazish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Ekspert xulosasini tuzish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Jinsiy holat bo‘yicha ekspertizaga 17 yoshli qiz pasporti bilan keldi. Qo‘shimcha ravishda nima taqdim etilishi shart?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Davolovchi vrachning yozma ruxsatnomasi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Ota-onasining ish joyidan ma’lumotnoma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Ikkita fotosurat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Maktabdan olingan tavsifnoma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Erkak surishtiruvchi ishtirok etayotgan ko‘rikda ayol tanasi yalang‘ochlanishi kerak bo‘ldi. Qonun talabiga ko‘ra u nima qilishi lozim?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Ko‘rik jarayonini yozib borishi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Ko‘rik xonasida ekspert yonida turishi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Ko‘rikni boshqa kunga qoldirishi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Ko‘rik xonasidan chiqib turishi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Tekshiruvda bitta shaxsda spermatogenez va ovogenez alomatlari birga aniqlandi. Bu qaysi holatga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Soxta erkak germafroditizmi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Chin germafroditizm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Soxta ayol germafroditizmi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Kriptorxizm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Jinsi shubhali shaxsda genetik jins qaysi tekshiruv orqali aniqlanishi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Antropometrik o‘lchovlarni olish orqali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Qondagi leykotsitlarda xromosomalarni tekshirish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Tashqi jinsiy a’zolarni ko‘zdan kechirish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Anamnezda hayz ko‘rishni so‘rab bilish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Ekspertizadan o‘tgan shaxsning tashqi belgilari ayolga o‘xshash (ko‘krak bezlari kattalashgan, jinsiy olat kichik). Yorg‘og‘ida esa spermatogenez aniqlangan. Bu qaysi holat?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Chin germafroditizm holati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Soxta erkak germafroditizm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Soxta ayol germafroditizm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Me’yordagi jinsiy rivojlanish</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qizning jinsiy yetukligini baholash uchun antropometriya o‘tkazmoqda. Tik holatdagi tana uzunligi kamida qancha bo‘lishi lozim?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Kamida 130 sm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Kamida 140 sm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Kamida 150 sm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Kamida 160 sm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Qizlik pardasi shakllari tasnifida qaysi biri odatdagi, ko‘p uchraydigan shakllar qatoriga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Yarim oysimon shakl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Bo‘lakchali shakl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Spiralsimon shakl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Panjarasimon shakl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Ko‘rikda qizlik pardasidagi jarohat pardaning asosigacha yetib borganligi aniqlandi. Bu qanday jarohat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Noto‘liq yoriq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Tabiiy o‘yiq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Chandiqli yoriq</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To‘liq yoriq</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Qizlik pardasi butunligi buzilganligi haqidagi shubha bo‘yicha qiz kech murojaat qildi. Qaysi muddatdan so‘ng butunlik buzilish muddatini hal etish imkoni bo‘lmaydi?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 haftadan so‘ng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Ikki haftadan so‘ng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Uch haftadan so‘ng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To‘rt haftadan so‘ng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qizlik pardasida soat siferblati bo‘yicha 5–7 oralig‘ida, asosigacha yetgan, chetlari qalin va chandiqlangan nuqsonni topdi. Bu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Tabiiy o‘yiq, chunki chetlari qalin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Yangi yoriq, chunki asosigacha yetib borgan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Eski yoriq, chunki chetlari chandiqlangan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Tabiiy o‘yiq, chunki pastki segmentda joylashgan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Nomusga tegish gumon qilingan jabrlanuvchidan laboratoriya namunasi imkon qadar tez olinishi lozim. Qinda maniy odatda qancha vaqt saqlanadi?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3–5 kungacha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1–2 kungacha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7–10 kungacha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2–3 haftagacha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Erkakning nasl qoldirish qobiliyati tekshirilganda eyakulyatda spermatozoidlar umuman topilmadi. Bu holat qanday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Nekrospermiya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Astenospermiya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Impotensiya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Azospermiya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ayolda kechayotgan homiladorlikni isbotlamoqchi. Qaysi topilma homiladorlikning ishonchli belgisi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Hayz ko‘rilmasligi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Auskultatsiyada homila yuragi urishi eshitilishi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So‘rg‘ich atrofi doirasining pigmentatsiyasi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Qorinda oqimtir vertikal yoy shaklidagi chiziqlar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Ayolda bachadon bo‘yinchasining tashqi teshigi yoriqsimon, qizlik pardasi o‘rnida mirtasimon so‘rg‘ichlar topildi. Bu nimani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Jinsiy yetuklikni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tibbiy abort bo‘lganini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Bo‘lib o‘tgan tug‘ruqni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Kechayotgan homiladorlikni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Nomusga tegish gumon qilingan jabrlanuvchidan qin surtmasi va tashqi sohalardan bosmalar qachon olinishi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Voqeadan bir oy o‘tgach, jabrlanuvchi tinchlanganda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Voqeadan so‘ng imkon qadar qisqa vaqt ichida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bir necha haftadan keyin, ginekolog ko‘rigidan so‘ng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Sud majlisi boshlanishidan oldin, ish ko‘riladigan kuni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Ikki katta yoshli erkak o‘rtasida zo‘rliksiz jinsiy aloqa aniqlandi. Jinoyat kodeksining 120-moddasiga ko‘ra kim javobgar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aktiv qatnashchi jinoiy javobgarlikka tortiladi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passiv qatnashchi jinoiy javobgarlikka tortiladi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Ikkala qatnashchi ham jinoiy javobgarlikka tortilmaydi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Aktiv ham, passiv ham jinoiy javobgarlikka tortiladi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Passiv besoqolbozlikda gumon qilingan erkakda surunkali bavosil va to‘g‘ri ichak kasalligi aniqlandi. Ekspert qaysi mutaxassis maslahatini 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Proktolog mutaxassisning maslahatini 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Urolog mutaxassisning maslahatini 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Nevropatolog mutaxassisning maslahatini 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Androlog mutaxassisning maslahatini oladi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Katta yoshli shaxs 14 yoshli qizga pornografik film ko‘rsatdi, jismoniy aloqa bo‘lmadi. Bu harakat qaysi jinoyatga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Nomusga tegish, Jinoyat kodeksining 118-moddasi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Besoqolbozlik, Jinoyat kodeksining 120-moddasi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Fahsh harakatlari, Jinoyat kodeksining 129-moddasi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G‘ayritabiiy usulda qondirish, 119-modda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Shaxs o‘zida OIV-infeksiyasi borligini bila turib, boshqa kishini yuqtirish xavfi ostida qoldirdi. Bu jinoyat Jinoyat kodeksida qaysi guruhga kiritilgan?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Jinsiy erkinlikka qarshi jinoyatlar guruhiga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Hayot yoki sog‘liq uchun xavfli jinoyatlar guruhiga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Oilaga, yoshlarga va ahloqqa qarshi jinoyatlar guruhiga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Shaxsning sha’ni va qadr-qimmatiga qarshi jinoyatlar guruhiga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Hodisa tafsilotlari bilan tanishish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Algoritm tartibi: hodisa tafsilotlari bilan tanishish, tibbiy hujjatlarni o‘rganish, shaxsdan so‘rov, ko‘rik, qo‘shimcha tekshiruvlar va oxirida ekspert xulosasi. Birinchi bosqich hodisa tafsilotlari bilan tanishishdir.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299-bet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Ikkita fotosurat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Jinsiy holat va jinoyatlar bo‘yicha ekspertizalarda shaxsni tasdiqlovchi hujjatdan tashqari ko‘rikdan o‘tayotgan shaxsning ikkita fotosurati taqdim etilishi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300-bet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Ko‘rik xonasidan chiqib turishi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Faqat o‘zga jinsga mansub shaxsning ko‘rigi tanani yalang‘ochlash bilan o‘tkazilganda tergovchi yoki surishtiruvchi ko‘rik xonasidan chiqib turishi lozim.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301-bet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Chin germafroditizm</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Chin germafroditizmda shaxsda ham erkak, ham ayol jinsiy bezlari bo‘ladi, ya’ni spermatogenez va ovogenez alomatlari aniqlanadi. Bu holat juda kam uchraydi.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288-bet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Qondagi leykotsitlarda xromosomalarni tekshirish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Qondagi leykotsitlarda xromosomalarni tekshirish orqali genetik jins aniqlanishi mumkin. Anamnez va tashqi belgilar esa haqiqiy jinsni baholashda yordamchi ma’lumot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288-bet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Soxta erkak germafroditizm</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Soxta erkak germafroditizmda faoliyat ko‘rsatayotgan yorg‘oq (spermatogenez) bor, tashqi belgilar esa ayolga o‘xshaydi. Chin germafroditizmda ham erkak, ham ayol jinsiy bezlari bo‘ladi. Soxta ayol germafroditizmda tuxumdon (ovogenez) bor, tashqi belgilar erkakniki kabi.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288-bet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Kamida 150 sm</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Yetuklik holatida tana uzunligi tik holatda 150 smdan, o‘tirganda 80 smdan kam bo‘lmasligi lozim. Bu ko‘rsatkichlar nisbiy ahamiyatga ega.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289-bet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Yarim oysimon shakl</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Halqasimon, yarim oysimon, naysimon, voronkasimon, labsimon va burmasimon shakllar odatdagi hisoblanadi. Bo‘lakchali va spiralsimon shakllar g‘ayrioddiy, panjarasimon shakl juda kamdan-kam uchraydi.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290-bet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To‘liq yoriq</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To‘liq yoriqda jarohat pardaning asosigacha yetib boradi. Noto‘liq yoriq asosga yetmaydi. Aksariyat tabiiy o‘yiqlar ham asosgacha yetib bormaydi.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291-bet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Uch haftadan so‘ng</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Ikkinchi haftaning oxiri va uchinchi haftada yoriq chetida chandiq hosil bo‘ladi, yallig‘lanish yo‘qoladi. Shu sababli muddat faqat dastlabki haftalarda aniqlanadi, uch haftadan so‘ng uni hal etib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291-bet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Eski yoriq, chunki chetlari chandiqlangan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Yoriqlar ko‘pincha pastki segmentlarda, soat siferblati bo‘yicha 5–7 oralig‘ida bo‘ladi. Tabiiy o‘yiqlar aksariyat hollarda pardaning asosigacha yetmaydi va chetlari pardaning boshqa joylaridan farq qilmaydi. Eski yoriqlarning chetlari qalin va chandiqlangan bo‘ladi, shuning uchun bu nuqson eski yoriqdir.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292-bet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3–5 kungacha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Maniy qinda odatda 3–5 kungacha saqlanadi. Namuna qancha erta olinsa, tekshiruv natijasi shuncha ishonchli bo‘ladi, vaqt o‘tgan sari spermatozoid topilish ehtimoli kamayadi.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292-bet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Azospermiya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Eyakulyatda spermatozoidlarning umuman bo‘lmasligi azospermiya deb ataladi va urug‘lantirish qobiliyatini inkor etadi. Nekrospermiya – harakatchan spermatozoidlarning bo‘lmasligi, impotensiya esa jinsiy aloqa qilishga monelikdir.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292-bet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Auskultatsiyada homila yuragi urishi eshitilishi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Auskultatsiyada homila yuragi urishini eshitish, palpatsiya va ultratovushda homila qismlari va qimirlashini aniqlash homiladorlikning ishonchli belgilaridir. Hayz yo‘qligi, sut bezlari va qorin terisidagi o‘zgarishlar esa boshqa sabablarga ham bog‘liq bo‘lishi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293-bet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Bo‘lib o‘tgan tug‘ruqni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Tug‘gan ayollarda bachadon bo‘yinchasining tashqi teshigi yoriqsimon bo‘ladi (tug‘magan ayollarda odatda dumaloq). Qizlik pardasi o‘rnida mirtasimon so‘rg‘ichlar ham bo‘lib o‘tgan tug‘ruqni ko‘rsatadi. Kechroq davrda bu belgilar faqat tug‘ruq bo‘lganini qayd etishga imkon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294-bet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Voqeadan so‘ng imkon qadar qisqa vaqt ichida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Vaqt o‘tgan sari laboratoriya tekshiruvlarining samaradorligi, xususan spermatozoidlarning topilish ehtimoli kamayadi. Shu sababli surtma va bosmalar imkon qadar tez olinadi.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296-bet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Aktiv ham, passiv ham jinoiy javobgarlikka tortiladi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120-moddaga ko‘ra besoqolbozlikning aktiv va passiv qatnashchilari jinoyat sub’ekti hisoblanadi. Ikkovi ham javobgar bo‘ladi. Zo‘rlik ishlatilsa, faqat aktiv qatnashchi 119-modda bo‘yicha javob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297-bet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Proktolog mutaxassisning maslahatini 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To‘g‘ri ichak kasalliklari va shu sohadagi operatsiya izlari muntazam passiv besoqolbozlik belgilari deb noto‘g‘ri talqin qilinishi mumkin. Shuning uchun tegishli holatlarda proktolog maslahati olinadi.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298-bet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Fahsh harakatlari, Jinoyat kodeksining 129-moddasi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O‘n olti yoshga to‘lmagan shaxsga pornografik tasvir yoki filmlarni namoyish qilish fahsh harakatlariga kiradi. Javobgarlik 129-moddada belgilangan. Bunda jabrlanuvchida iz qolmasligi ham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298-bet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Hayot yoki sog‘liq uchun xavfli jinoyatlar guruhiga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Tanosil kasalliklari va OIV/OITSni tarqatish 113-moddada hayot yoki sog‘liq uchun xavfli jinoyatlar guruhiga kiritilgan. Nomusga tegish va besoqolbozlik esa jinsiy erkinlikka qarshi jinoyatlardir.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299-bet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12. Tirik shaxslar sud-tibbiy ekspertizasi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