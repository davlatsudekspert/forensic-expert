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daqiqa. Muhokama: nima uchun cho‘kish hodisalarida ekspertning asosiy savoli “suvga tirik tushganmi?” bo‘ladi? Doskada reja sxemasini (6 band) chizdiring. Tipik xato: talabalar cho‘kishni faqat baxtsiz hodisa deb o‘ylaydi; manbada o‘z-o‘zini o‘ldirish va qotillik ham ko‘rsatilgan.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nima uchun asfiksiyani gipoksiyaning o‘zi deb bo‘lmaydi? Nima uchun markaziy nerv tizimi kislorod tanqisligiga eng sezgir? Doskada ikki doira chizdiring: “gipoksiya” katta, “asfiksiya = gipoksiya + giperkapniya” ichida. Tipik xato: ikki atamani sinonim sifatida ishlatish.</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sianid bilan zaharlanish qaysi turga kiradi, bo‘yin qisilishi-chi? Doskada jadvalni daftarga ko‘chirib, har turga bittadan misol yozdiring. Tipik xato: gemik va sitotoksik turni aralashtirish (biri gemoglobin, ikkinchisi to‘qima nafasi bilan bog‘liq).</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Asfiksiya va gipoksiya o‘rtasida qanday farq bor? 2) Nega cho‘kish yopilish guruhiga kiradi? Doskada: tasnif daraxtini (3 ta asosiy shox) chizdiring. Tipik xato: talabalar cho‘kishni qisilishdan asfiksiya deb yozadi.</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Hodisa joyini sinchiklab ko‘zdan kechirish nega muhim? 2) Bunday o‘lim nega qotillikdan farqlanishi kerak? Doskada: hodisa joyidagi belgilar ro‘yxatini yozdiring. Tipik xato: bunday o‘limni avtomatik o‘z-o‘zini o‘ldirish deb baholash.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3 daq. Muhokama: giperkapnik gipoksiya qaysi muhitda rivojlanadi? Doskada: 3 ta savolga javoblarni talabalar chizsin. Tipik xato: gipoksiya va asfiksiyani bir xil tushuncha deb hisoblash (asfiksiyada gipoksiya giperkapniya bilan birga bo‘ladi).</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Nega preasfiktik davrda asfiksiya belgilari hali rivojlanmaydi? Tugallanmagan asfiksiya kuzatuvlari nima uchun davr vaqtlarini shartli qiladi? Doskada: ikki davrli zanjirni chizing va har bosqich yoniga vaqtini yozing. Tipik xato: talabalar preasfiktik davrni asfiktik davrning bosqichi deb adashtiradi; ular alohida davrlardir.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Ekspirator bosqichdagi talvasa jarohatini boshqa shaxs yetkazgan jarohatdan qanday farqlaymiz? Nafas to‘liq to‘xtagach yurak nega bir muddat urishi mumkin? Doskada: jadvalni ko‘chirib, har bosqichda bosim o‘zgarishini (arterial/venoz) strelka bilan belgilang. Tipik xato: inspirator va ekspirator bosqichlardagi bosim va puls o‘zgarishlarini almashtirib yuborish.</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Nima uchun dastlabki soatlarda o‘pka shishining rivojlanishi noxush prognostik belgi hisoblanadi? Postasfiktik holatni bilish klinitsist vrach uchun nega muhim? Doskada: to‘rt davrni zanjir qilib chizing va har biriga bittadan asosiy belgi yozing. Tipik xato: konfabulyatsiyani oddiy yolg‘on deb tushunish; bu xotira bo‘shliqlarini anglamagan holda soxta xotira bilan to‘ldirishdir.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10 daq. Muhokama: nega bitta belgi tashxis uchun yetarli emas? Tarde dog‘lari qayerda joylashadi? Doskada: jadvalni tashqi va ichki belgilar ustunlariga bo‘lib chizdiring. Tipik xato: sianozni asfiksiyaning turg‘un va spetsifik belgisi deb o‘ylash.</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ko‘kimtirlik qanday holatlarda asfiksiyaga aloqador emas? Talvasa jarohatini begona jarohatdan ajratishda nimaga e’tibor beramiz? Doskada: murda holati (chalqancha va yuz bilan pastga) bo‘yicha sianoz farqini chizdiring. Tipik xato: talvasa jarohatlarini avtomatik tarzda qotillik belgisi deb baholash.</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nega osilish asosan o‘z-o‘zini o‘ldirish usuli hisoblanadi? Sirtmoq tuguni nima uchun kriminalistik ahamiyatga ega? Doskada: bo‘yin sxemasida tugunning tipik va atipik joylarini belgilang. Tipik xato: osilishda o‘limni faqat havo yo‘lining to‘liq yopilishi bilan tushuntirish.</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osilishda egat qiyshiq, bo‘g‘ishda gorizontal bo‘ladi? 2) Egat hayotiyligini qaysi belgilar tasdiqlaydi? Doskada: bo‘yinning old ko‘rinishini chizib, ikki egat yo‘nalishini rangli bo‘r bilan ko‘rsating. Tipik xato: Amyuss, Valxer, Simon belgilarini bo‘g‘ishga xos deb hisoblash; ular faqat bo‘yin cho‘zilishi bilan bog‘liq. Diqqat: osilishda til osti suyagi va qalqonsimon tog‘ay jarohati xos emas (sirtmoq pastroq bo‘lsa mumkin).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qo‘l bilan bo‘g‘ishda ichki jarohat tashqidan yaqqol? 2) Yumshoq jism ustidan bo‘g‘ishda ekspert nimalarga e’tibor beradi? Doskada: old tomondan ikki qo‘l bilan bo‘g‘ishda bo‘yin ikki yonida barmoq izlari joylashuvini chizing. Tipik xato: tashqi iz yo‘qligidan bo‘g‘ish bo‘lmagan deb xulosa qilish; ichki tekshiruv shart.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Qaysi sharoitlarda tana cheklangan bo‘shliqqa tushib qolishi mumkin? 2) Nega diagnoz istisno qilish usuliga tayanadi? Doskada: bukilgan bo‘yin va burmaning kesim sxemasini chizing. Tipik xato: bo‘yin burmasini haqiqiy strangulyatsion egat deb qabul qilish. Diqqat: burma ≠ egat; ichki tekshiruv va hodisa tafsiloti hal qiladi.</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pozitsion asfiksiyada tashxis asosan istisno usuli bilan qo‘yiladi? 2) Burma bilan egatni ichki tekshiruvda qanday farqlash mumkin? Doskada chizing: bo‘yin kesimi va burma proeksiyasidagi oqimtir yo‘lka. Tipik xato: bo‘yindagi burmani strangulyatsion egat deb baholash va qotillikka shubha qilish.</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Qanday boshqa sabablar istisno qilinishi kerak? 2) Hodisa joyini ko‘zdan kechirish qanday rol o‘ynaydi? Doskada chizing: istisno bosqichlari ketma-ketligi (tafsilotlar, murda tekshiruvi, boshqa sabablar). Tipik xato: burmani egat deb olib, voqea tafsilotlarini hisobga olmaslik.</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Savollarni og‘zaki so‘rang, 2-3 talabadan javob oling. Muhokama: egat yo‘nalishi mexanizmga qanday bog‘liq? Doskada chizing: tipik osilish va sirtmoq bilan bo‘g‘ishdagi egat joylashuvi. Tipik xato: osilish va sirtmoq bilan bo‘g‘ishdagi egat yo‘nalishini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Nega qarshilik bo‘lmaganda o‘limning xos belgisi topilmaydi? 2) Hodisa joyini o‘rganish nima uchun muhim? Doskada: ikki ustunli sxema chizing – «qarshilik yo‘q» va «qarshilik bor» belgilari. Tipik xato: umumasfiktik belgilarni shu turning xos belgisi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Nordon qusuq moddasi qonga nisbatan nega xavfliroq? 2) Reanimatsiyadan keyin topilgan qusuqni qanday baholaysiz? Doskada: o‘lim mexanizmi zanjirini chizing (yopilish – havo o‘tmaydi – asfiksiya yoki reflektor to‘xtash). Tipik xato: murdada qusuq borligini darhol obturatsion asfiksiya deb xulosa qilish; kichik bronx va alveolalardagi massa hal qiluvchi.</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Hiqildoq spazmi nima uchun asfiktik cho‘kishda suvni o‘tkazmaydi? 2) Havza xususiyatlari (oqar-oqmas, chuchuk-sho‘r, harorat) o‘limga qanday ta’sir qiladi? Doskada: chin va asfiktik cho‘kish uchun suv yo‘lini ikki strelka bilan chizing. Tipik xato: umumasfiktik belgilar faqat bitta turda bo‘ladi deb o‘ylash; manbaga ko‘ra ular barcha turlarda uchrashi mumkin.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chin cho‘kishda qon suyuladi? 2) Krushevskiy ko‘pigi vaqt o‘tishi bilan nega pushti tusga kiradi? Doskada: jadvalni chizib, har belgini suv yo‘li (alveola, qon, oshqozon) bilan bog‘lang. Tipik xato: Rasskazov–Lukomskiy–Paltauf dog‘larini Tarde dog‘lari bilan adashtirish. Rasskazov–Lukomskiy–Paltauf dog‘lari epikard ostida bo‘lmaydi.</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Laringospazm qaysi belgilarni tushuntiradi? 2) Sunsov sinamasi oddiy mexanik jarohatdagi teshishdan nimasi bilan farq qiladi? Doskada: ikki ustunli chizma, chapda suv alveolaga yetadi, o‘ngda laringospazm. Tipik xato: Sunsov sinamasida o‘ng qorinchani teshish. Havo emboliyasi uchun chap qorincha teshiladi. Diqqat: umumasfiktik belgilar cho‘kishning barcha turlarida bo‘lishi mumkin.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Osmos yo‘nalishi dengiz suvida nega teskari? 2) Suvdagi to‘satdan o‘lim cho‘kishdan nimasi bilan farq qiladi? Doskada: semipermeabel to‘siq (alveola) chizib, suv va elektrolit oqimini strelkalar bilan ko‘rsating. Tipik xato: reflektor to‘xtashni chin cho‘kish deb baholash. Darslik buni suvdagi to‘satdan o‘lim deyish to‘g‘riroq deydi. Odatdagi suv ustuni shu manbada dengiz suviga qarama-qarshi qo‘yilgan.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daqiqa. Muhokama: nega sinkopal turni cho‘kishdan ajratish kerak? Doskada: ikki ustun. Tipik xato: suvdan chiqqan har bir murdani cho‘kish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6-7 daq. Muhokama: 1) A va B ni qaysi belgilar ajratadi? 2) Nega oshqozondagi suv miqdori ikkala holda farq qiladi? Doskada A va B uchun ikki ustunli belgilar ro‘yxatini chizdiring. To‘g‘ri javob: A chin (aspiratsion), B asfiktik (spastik). Tipik xato: oshqozondagi suvga tayanib, uni yagona hal qiluvchi belgi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faqat makroskopik tekshiruv yetarli emas? 2) Bakteriyalardan qaysilari (Pseudomonas putida, Pseudomonas fluorescens) suv bilan o‘tadi? Doskada sxemani ketma-ketlikda chizdiring. Eslatma: tartib o‘quv maqsadida shartli berilgan. Tipik xato: krioskopik va refraktometrik usullarning yurak qoni kameralarini solishtirishga asoslanganini unutish.</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o‘pkadagi diatom hayotiylikni isbotlamaydi (o‘limdan so‘ng suv nafas yo‘llariga o‘tishi mumkin)? 2) Nega asfiktik cho‘kishda kalla asosi suyuqligi olinadi? Doskada jadvalni o‘zingiz qayta chizdiring. Tipik xato: o‘pkadagi diatomni hayotiylik belgisi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3 daqiqa. Muhokama: nega o‘pkadagi diatom topilmasi ahamiyatsiz? Doskada: raqamlar ro‘yxati. Tipik xato: istalgan diatom topilmasini cho‘kish isboti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Psevdoplankton diatomdan nimasi bilan farq qiladi? 2) Nima uchun chap va o‘ng yurak qoni solishtiriladi? Doskada: to‘rt usulning jadvalini chizdiring. Tipik xato: psevdoplanktonni haqiqiy plankton deb olish va uni cho‘kishning hayotiylik belgisi hisoblash.</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asfiktik cho‘kishda oshqozonda suv ko‘proq? 2) Diatom qaysi a’zolarda topilsa, hayotiylikni bildiradi? Doskada: tana sxemasi chizib, uchta belgining joyini belgilang. Tipik xato: o‘pkadagi diatomni hayotiylik belgisi deb olish va Moro bilan Fegerlundni almashtirib yuborish. Eslatma: mnemonika (pastdan yuqoriga) darslikda yo‘q, o‘qituvchi o‘zi tuzgan tartib.</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Jarohat hayotiymi yoki o‘limdan keyingimi – nimaga qarab fikr yuritiladi? 2) Reanimatsiya jarohatini qanday ajratamiz? Doskada: jarohat manbalari jadvalini chizdiring. Tipik xato: suvdan chiqarilgan murdadagi har bir jarohatni qotillik izi deb baholash. Eslatma: darslikda hayotiylikni ajratuvchi batafsil belgilar berilmagan.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suv harorati o‘zgarishlar tezligiga ta’sir qiladi? 2) Kiyim, qo‘lqop va poyafzal teri o‘zgarishiga qanday ta’sir qiladi? Doskada vaqt chizig‘ini (soatlar → 2–3 hafta) chizdirib, har bosqichga belgisini yozdiring. Tipik xato: bu belgilarni cho‘kishning hayotiyligi yoki o‘lim sababining dalili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Jarohat suvga tushishdan oldin yetkazilgan bo‘lishi mumkinmi? 2) Reanimatsiya jarohatlari ekspertiza xulosasiga qanday ta’sir qiladi? Doskada jarohat manbalari bo‘yicha uch ustunli ro‘yxat tuzdiring: suvgacha / suvda / o‘limdan keyin. Eslatma: darslik bu yerda aniq farqlash mezonlarini bermaydi, kerak bo‘lsa qo‘shimcha manba ishlating. Tipik xato: suvdagi barcha jarohatni o‘limdan keyingi deb qabul qilish.</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Nega frontal qisilish yonlamadan xavfliroq? 2) Olomonda qisilgan shaxsda qaysi belgilar kompression asfiksiyani ko‘rsatadi? Doskada ko‘krak qafasi va qorin ekskursiyasi cheklanishining oqibatlar zanjirini chizdiring. Tipik xato: Olive-Danjer (ekximotik niqob) va Lakkasan (o‘pkaning karmin shishishi) belgilarini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bolalarda CO2 xavfli chegarasi kattalarnikidan past? 2) Notoliq yopiq muhitda gipoksiyadan tashqari qaysi omil qo‘shiladi? Doskada: kislorod ↓ va CO2 ↑ strelkali sxema chizdiring. Diqqat: kattalar (8-10%) va bolalar (2,0-2,5%) chegarasini aralashtirmang. Tipik xato: bu turga xos maxsus belgi bor deb o‘ylash; aslida faqat umumiy asfiktik belgilar topiladi.</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3 daqiqa. Muhokama: nega bolalar uchun xavfli chegara pastroq? Doskada: uch pog‘onali chegara. Tipik xato: o‘limni faqat kislorod kamayishiga bog‘lash; yetakchi omil karbonat angidrid.</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daqiqa. Muhokama: nega bunday o‘lim sababi istisno usuli bilan aniqlanadi? Doskada: muhit turlari daraxti. Tipik xato: yopiq muhitga xos maxsus morfologik belgi bor deb o‘ylash.</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Javob: kislorod asta kamayib, CO2 ortishi (giperkapniya) natijasida cheklangan yopiq muhitdagi asfiksiya; bolalarda CO2 2,0-2,5% ga yetishi xavfli. Murdada umumasfiktik va tez o‘lim belgilari, xos belgi yo‘q. Muhokama: hodisa joyi va voqea tafsilotlari nega muhim? Doskada: sabab-oqibat zanjirini chizdiring. Tipik xato: xos belgi izlash va jarohat bor deb faraz qilish.</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Pozitsion asfiksiya strangulyatsiyadan nimasi bilan farq qiladi? 2) Cho‘kishning hayotiyligini qaysi usullar ko‘rsatadi? Doskada: to‘rt bo‘lim bo‘yicha xulosa chizmasini (asfiksiya turlari, pozitsion, laboratoriya, jarohatlar) tuzdiring. Tipik xato: o‘pkada diatom topilsa cho‘kish hayotiy deb xulosa qilish; bu o‘limdan keyin ham bo‘lishi mumkin.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4069080"/>
            <a:ext cx="2743200" cy="7315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737360"/>
            <a:ext cx="10911535" cy="2194560"/>
          </a:xfrm>
          <a:prstGeom prst="rect">
            <a:avLst/>
          </a:prstGeom>
          <a:noFill/>
        </p:spPr>
        <p:txBody>
          <a:bodyPr wrap="square" anchor="b">
            <a:spAutoFit/>
          </a:bodyPr>
          <a:lstStyle/>
          <a:p>
            <a:r>
              <a:rPr sz="4000" b="1">
                <a:solidFill>
                  <a:srgbClr val="FFFFFF"/>
                </a:solidFill>
                <a:latin typeface="Georgia"/>
              </a:rPr>
              <a:t>Yоpiq muhitdagi asfiksiya. Pozitsion asfiksiya Cho’kishda laboratoriya tekshiruvi usullari. Suvdan chiqarib olingan murdadagi jarohatlarning differensial diagnostikasi.</a:t>
            </a:r>
          </a:p>
        </p:txBody>
      </p:sp>
      <p:sp>
        <p:nvSpPr>
          <p:cNvPr id="5" name="TextBox 4"/>
          <p:cNvSpPr txBox="1"/>
          <p:nvPr/>
        </p:nvSpPr>
        <p:spPr>
          <a:xfrm>
            <a:off x="640080" y="4343400"/>
            <a:ext cx="10911535" cy="548640"/>
          </a:xfrm>
          <a:prstGeom prst="rect">
            <a:avLst/>
          </a:prstGeom>
          <a:noFill/>
        </p:spPr>
        <p:txBody>
          <a:bodyPr wrap="square">
            <a:spAutoFit/>
          </a:bodyPr>
          <a:lstStyle/>
          <a:p>
            <a:r>
              <a:rPr sz="2000" b="0">
                <a:solidFill>
                  <a:srgbClr val="C9A227"/>
                </a:solidFill>
                <a:latin typeface="Calibri"/>
              </a:rPr>
              <a:t>Sud tibbiyoti · ma’ruza taqdimoti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Kirish: mavzu, maqsad va reja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Yоpiq muhitdagi asfiksiya. Pozitsion asfiksiya Cho’kishda laboratoriya tekshiruvi usullari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Hayot uchun kislorod zarur. Uning tashqi ta’sirdan kelib chiqqan o‘tkir tanqisligi sud-tibbiy ekspertizada ko‘p uchraydigan obyektdir.</a:t>
            </a:r>
          </a:p>
          <a:p>
            <a:pPr>
              <a:spcAft>
                <a:spcPts val="1200"/>
              </a:spcAft>
            </a:pPr>
            <a:r>
              <a:rPr sz="2200">
                <a:solidFill>
                  <a:srgbClr val="1F2937"/>
                </a:solidFill>
                <a:latin typeface="Calibri"/>
              </a:rPr>
              <a:t>▸  Cho‘kish mexanik asfiksiyadan o‘lim hollari ichida osilishdan keyin ikkinchi o‘rinda turadi. Dunyoda yiliga 300 mingdan ortiq o‘lim qayd etiladi.</a:t>
            </a:r>
          </a:p>
          <a:p>
            <a:pPr>
              <a:spcAft>
                <a:spcPts val="1200"/>
              </a:spcAft>
            </a:pPr>
            <a:r>
              <a:rPr sz="2200">
                <a:solidFill>
                  <a:srgbClr val="1F2937"/>
                </a:solidFill>
                <a:latin typeface="Calibri"/>
              </a:rPr>
              <a:t>▸  Reja: mexanik asfiksiya turlari, pozitsion asfiksiya, cho‘kish, laboratoriya usullari, suvdan chiqarilgan murda jarohatlari, yopiq muhit.</a:t>
            </a:r>
          </a:p>
          <a:p>
            <a:pPr>
              <a:spcAft>
                <a:spcPts val="1200"/>
              </a:spcAft>
            </a:pPr>
            <a:r>
              <a:rPr sz="2200">
                <a:solidFill>
                  <a:srgbClr val="1F2937"/>
                </a:solidFill>
                <a:latin typeface="Calibri"/>
              </a:rPr>
              <a:t>▸  Maqsad: suvga tushishning hayotiyligini aniqlash va suvdan chiqarilgan murdadagi jarohatlarni bir-biridan farqlash.</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103-104, 121, 105, 124-126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Gipoksiya va asfiksiya tushunchalari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Yоpiq muhitdagi asfiksiya. Pozitsion asfiksiya Cho’kishda laboratoriya tekshiruvi usullari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Gipoksiya — kislorod tanqisligi. U to‘qimalarda modda almashinuvini buzadi va turli oqibatlarga olib keladi.</a:t>
            </a:r>
          </a:p>
          <a:p>
            <a:pPr>
              <a:spcAft>
                <a:spcPts val="1200"/>
              </a:spcAft>
            </a:pPr>
            <a:r>
              <a:rPr sz="2200">
                <a:solidFill>
                  <a:srgbClr val="1F2937"/>
                </a:solidFill>
                <a:latin typeface="Calibri"/>
              </a:rPr>
              <a:t>▸  To‘qimalar sezgirligi turlicha. Markaziy nerv tizimida to‘qima nafasi 5-10 minut to‘xtasa, o‘zgarish tiklanmaydi; mushakda bu muddat uzoqroq.</a:t>
            </a:r>
          </a:p>
          <a:p>
            <a:pPr>
              <a:spcAft>
                <a:spcPts val="1200"/>
              </a:spcAft>
            </a:pPr>
            <a:r>
              <a:rPr sz="2200">
                <a:solidFill>
                  <a:srgbClr val="1F2937"/>
                </a:solidFill>
                <a:latin typeface="Calibri"/>
              </a:rPr>
              <a:t>▸  “Asfiksiya” grekcha so‘z: a — inkor, sphygmos — puls. Tub ma’nosi — pulsning yo‘qligi.</a:t>
            </a:r>
          </a:p>
          <a:p>
            <a:pPr>
              <a:spcAft>
                <a:spcPts val="1200"/>
              </a:spcAft>
            </a:pPr>
            <a:r>
              <a:rPr sz="2200">
                <a:solidFill>
                  <a:srgbClr val="1F2937"/>
                </a:solidFill>
                <a:latin typeface="Calibri"/>
              </a:rPr>
              <a:t>▸  Diqqat: gipoksiya ≠ asfiksiya. Asfiksiyada gipoksiya giperkapniya (karbonat angidrid ko‘payishi) bilan birga rivojlanadi.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103, 104, 104-105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Gipoksiya turlari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Yоpiq muhitdagi asfiksiya. Pozitsion asfiksiya Cho’kishda laboratoriya tekshiruvi usullari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Ekzogen gipoksiya: gipoksik, giperoksik va giperkapnik turlari; giperkapnik tur yopiq muhitda rivojlanadi.</a:t>
            </a:r>
          </a:p>
          <a:p>
            <a:pPr>
              <a:spcAft>
                <a:spcPts val="800"/>
              </a:spcAft>
            </a:pPr>
            <a:r>
              <a:rPr sz="1800">
                <a:solidFill>
                  <a:srgbClr val="1F2937"/>
                </a:solidFill>
                <a:latin typeface="Calibri"/>
              </a:rPr>
              <a:t>▸  Fiziologik gipoksiya vaqtincha: jismoniy zo‘riqishda, birdaniga ko‘p ovqat iste’mol qilganda.</a:t>
            </a:r>
          </a:p>
          <a:p>
            <a:pPr>
              <a:spcAft>
                <a:spcPts val="800"/>
              </a:spcAft>
            </a:pPr>
            <a:r>
              <a:rPr sz="1800">
                <a:solidFill>
                  <a:srgbClr val="1F2937"/>
                </a:solidFill>
                <a:latin typeface="Calibri"/>
              </a:rPr>
              <a:t>▸  Jadalligi: yashinsimon, o‘tkir, biroz o‘tkir, surunkali; sud tibbiyotida yashinsimon va o‘tkir muhim.</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Endogen gipoksiya turlari</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1892808"/>
            <a:ext cx="0" cy="3072384"/>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1892808"/>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Respirator</a:t>
            </a:r>
          </a:p>
          <a:p>
            <a:pPr algn="l">
              <a:spcAft>
                <a:spcPts val="0"/>
              </a:spcAft>
            </a:pPr>
            <a:r>
              <a:rPr sz="1200" b="0">
                <a:solidFill>
                  <a:srgbClr val="1F2937"/>
                </a:solidFill>
                <a:latin typeface="Calibri"/>
              </a:rPr>
              <a:t>O‘pka, nafas yo‘llari buzilishi</a:t>
            </a:r>
          </a:p>
        </p:txBody>
      </p:sp>
      <p:cxnSp>
        <p:nvCxnSpPr>
          <p:cNvPr id="15" name="Connector 14"/>
          <p:cNvCxnSpPr/>
          <p:nvPr/>
        </p:nvCxnSpPr>
        <p:spPr>
          <a:xfrm>
            <a:off x="7612380" y="2916936"/>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441448"/>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441448"/>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Sirkulyator</a:t>
            </a:r>
          </a:p>
          <a:p>
            <a:pPr algn="l">
              <a:spcAft>
                <a:spcPts val="0"/>
              </a:spcAft>
            </a:pPr>
            <a:r>
              <a:rPr sz="1200" b="0">
                <a:solidFill>
                  <a:srgbClr val="1F2937"/>
                </a:solidFill>
                <a:latin typeface="Calibri"/>
              </a:rPr>
              <a:t>Qon aylanishining buzilishi</a:t>
            </a:r>
          </a:p>
        </p:txBody>
      </p:sp>
      <p:cxnSp>
        <p:nvCxnSpPr>
          <p:cNvPr id="18" name="Connector 17"/>
          <p:cNvCxnSpPr/>
          <p:nvPr/>
        </p:nvCxnSpPr>
        <p:spPr>
          <a:xfrm>
            <a:off x="7612380" y="394106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3465576"/>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3465576"/>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Gemik</a:t>
            </a:r>
          </a:p>
          <a:p>
            <a:pPr algn="l">
              <a:spcAft>
                <a:spcPts val="0"/>
              </a:spcAft>
            </a:pPr>
            <a:r>
              <a:rPr sz="1200" b="0">
                <a:solidFill>
                  <a:srgbClr val="1F2937"/>
                </a:solidFill>
                <a:latin typeface="Calibri"/>
              </a:rPr>
              <a:t>Gemoglobin kamayishi yoki bog‘lamasligi</a:t>
            </a:r>
          </a:p>
        </p:txBody>
      </p:sp>
      <p:cxnSp>
        <p:nvCxnSpPr>
          <p:cNvPr id="21" name="Connector 20"/>
          <p:cNvCxnSpPr/>
          <p:nvPr/>
        </p:nvCxnSpPr>
        <p:spPr>
          <a:xfrm>
            <a:off x="7612380" y="4965192"/>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7772400" y="4489704"/>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0" y="4489704"/>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Sitotoksik</a:t>
            </a:r>
          </a:p>
          <a:p>
            <a:pPr algn="l">
              <a:spcAft>
                <a:spcPts val="0"/>
              </a:spcAft>
            </a:pPr>
            <a:r>
              <a:rPr sz="1200" b="0">
                <a:solidFill>
                  <a:srgbClr val="1F2937"/>
                </a:solidFill>
                <a:latin typeface="Calibri"/>
              </a:rPr>
              <a:t>Zaharlanishda to‘qima nafasi buzilishi</a:t>
            </a:r>
          </a:p>
        </p:txBody>
      </p:sp>
      <p:sp>
        <p:nvSpPr>
          <p:cNvPr id="24" name="TextBox 23"/>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Endogen gipoksiya turlari</a:t>
            </a:r>
          </a:p>
        </p:txBody>
      </p:sp>
      <p:sp>
        <p:nvSpPr>
          <p:cNvPr id="25" name="TextBox 2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103-104, 104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Mexanik asfiksiya tasnifi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Yоpiq muhitdagi asfiksiya. Pozitsion asfiksiya Cho’kishda laboratoriya tekshiruvi usullari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Asfiksiya – tashqi nafas buzilishidan kislorod kamayib, karbonat angidrid ko‘payishi.</a:t>
            </a:r>
          </a:p>
          <a:p>
            <a:pPr>
              <a:spcAft>
                <a:spcPts val="800"/>
              </a:spcAft>
            </a:pPr>
            <a:r>
              <a:rPr sz="1800">
                <a:solidFill>
                  <a:srgbClr val="1F2937"/>
                </a:solidFill>
                <a:latin typeface="Calibri"/>
              </a:rPr>
              <a:t>▸  Mexanik omil tashqi nafasni buzsa, bu holat mexanik asfiksiya deyiladi.</a:t>
            </a:r>
          </a:p>
          <a:p>
            <a:pPr>
              <a:spcAft>
                <a:spcPts val="800"/>
              </a:spcAft>
            </a:pPr>
            <a:r>
              <a:rPr sz="1800">
                <a:solidFill>
                  <a:srgbClr val="1F2937"/>
                </a:solidFill>
                <a:latin typeface="Calibri"/>
              </a:rPr>
              <a:t>▸  Diqqat: cho‘kish yopilish asfiksiyasining turi, uni qisilishdan asfiksiya bilan adashtirmang.</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Mexanik asfiksiya turlari</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2063496"/>
            <a:ext cx="0" cy="2731008"/>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2063496"/>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1292352"/>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1292352"/>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Qisilishdan</a:t>
            </a:r>
          </a:p>
          <a:p>
            <a:pPr algn="l">
              <a:spcAft>
                <a:spcPts val="0"/>
              </a:spcAft>
            </a:pPr>
            <a:r>
              <a:rPr sz="1200" b="0">
                <a:solidFill>
                  <a:srgbClr val="1F2937"/>
                </a:solidFill>
                <a:latin typeface="Calibri"/>
              </a:rPr>
              <a:t>Bo‘yin; ko‘krak va qorin qisilishi</a:t>
            </a:r>
          </a:p>
        </p:txBody>
      </p:sp>
      <p:cxnSp>
        <p:nvCxnSpPr>
          <p:cNvPr id="15" name="Connector 14"/>
          <p:cNvCxnSpPr/>
          <p:nvPr/>
        </p:nvCxnSpPr>
        <p:spPr>
          <a:xfrm>
            <a:off x="761238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782824"/>
            <a:ext cx="3779215" cy="1292352"/>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782824"/>
            <a:ext cx="3779215" cy="1292352"/>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Yopilishdan</a:t>
            </a:r>
          </a:p>
          <a:p>
            <a:pPr algn="l">
              <a:spcAft>
                <a:spcPts val="0"/>
              </a:spcAft>
            </a:pPr>
            <a:r>
              <a:rPr sz="1200" b="0">
                <a:solidFill>
                  <a:srgbClr val="1F2937"/>
                </a:solidFill>
                <a:latin typeface="Calibri"/>
              </a:rPr>
              <a:t>Nafas teshiklari, yo‘llari, cho‘kish</a:t>
            </a:r>
          </a:p>
        </p:txBody>
      </p:sp>
      <p:cxnSp>
        <p:nvCxnSpPr>
          <p:cNvPr id="18" name="Connector 17"/>
          <p:cNvCxnSpPr/>
          <p:nvPr/>
        </p:nvCxnSpPr>
        <p:spPr>
          <a:xfrm>
            <a:off x="7612380" y="479450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4148328"/>
            <a:ext cx="3779215" cy="1292352"/>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4148328"/>
            <a:ext cx="3779215" cy="1292352"/>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Cheklangan muhit</a:t>
            </a:r>
          </a:p>
          <a:p>
            <a:pPr algn="l">
              <a:spcAft>
                <a:spcPts val="0"/>
              </a:spcAft>
            </a:pPr>
            <a:r>
              <a:rPr sz="1200" b="0">
                <a:solidFill>
                  <a:srgbClr val="1F2937"/>
                </a:solidFill>
                <a:latin typeface="Calibri"/>
              </a:rPr>
              <a:t>Yopiq havoda kislorod kamayadi</a:t>
            </a:r>
          </a:p>
        </p:txBody>
      </p:sp>
      <p:sp>
        <p:nvSpPr>
          <p:cNvPr id="21" name="TextBox 20"/>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Mexanik asfiksiya turlari</a:t>
            </a:r>
          </a:p>
        </p:txBody>
      </p:sp>
      <p:sp>
        <p:nvSpPr>
          <p:cNvPr id="22" name="TextBox 21"/>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104-105, 105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Autoasfiksiofiliya (seksual asfiksiya)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Yоpiq muhitdagi asfiksiya. Pozitsion asfiksiya Cho’kishda laboratoriya tekshiruvi usullari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Autoasfiksiofiliya (seksual yoki autoerotik asfiksiya)da jinsiy qo‘zg‘alish gipoksiya va giperkapniya sharoitida sodir bo‘ladi.</a:t>
            </a:r>
          </a:p>
          <a:p>
            <a:pPr>
              <a:spcAft>
                <a:spcPts val="1200"/>
              </a:spcAft>
            </a:pPr>
            <a:r>
              <a:rPr sz="2200">
                <a:solidFill>
                  <a:srgbClr val="1F2937"/>
                </a:solidFill>
                <a:latin typeface="Calibri"/>
              </a:rPr>
              <a:t>▸  Ko‘pincha jinsiy chetlanishga moyil o‘rta yoshli yolg‘iz erkaklarda, ba’zan yosh erkaklarda uchraydi; orgazm asfiksiya holatida yuz beradi.</a:t>
            </a:r>
          </a:p>
          <a:p>
            <a:pPr>
              <a:spcAft>
                <a:spcPts val="1200"/>
              </a:spcAft>
            </a:pPr>
            <a:r>
              <a:rPr sz="2200">
                <a:solidFill>
                  <a:srgbClr val="1F2937"/>
                </a:solidFill>
                <a:latin typeface="Calibri"/>
              </a:rPr>
              <a:t>▸  Jarayonni shaxs qo‘l-oyoq va moslamalar bilan boshqaradi: odatda bo‘yin sirtmoq bilan qisiladi yoki boshga polietilen qopcha kiyiladi.</a:t>
            </a:r>
          </a:p>
          <a:p>
            <a:pPr>
              <a:spcAft>
                <a:spcPts val="1200"/>
              </a:spcAft>
            </a:pPr>
            <a:r>
              <a:rPr sz="2200">
                <a:solidFill>
                  <a:srgbClr val="1F2937"/>
                </a:solidFill>
                <a:latin typeface="Calibri"/>
              </a:rPr>
              <a:t>▸  O‘lim baxtsiz hodisa deb baholanadi; joyda pornografik rasm, jinsiy a’zo imitatorlari, boshqa jins kiyimi topiladi, murda yalang‘ochlangan bo‘lishi mumkin.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105, 105-106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asfiksiya tushunchasi va tasnifi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Yоpiq muhitdagi asfiksiya. Pozitsion asfiksiya Cho’kishda laboratoriya tekshiruvi usullari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1-savol: ekzogen gipoksiyaning turlari qaysilar? Javob: gipoksik, giperoksik va giperkapnik.</a:t>
            </a:r>
          </a:p>
          <a:p>
            <a:pPr>
              <a:spcAft>
                <a:spcPts val="1200"/>
              </a:spcAft>
            </a:pPr>
            <a:r>
              <a:rPr sz="2200">
                <a:solidFill>
                  <a:srgbClr val="1F2937"/>
                </a:solidFill>
                <a:latin typeface="Calibri"/>
              </a:rPr>
              <a:t>▸  2-savol: “asfiksiya” so‘zi grekchadan qanday ma’no beradi? Javob: pulsning yo‘qligi (a – inkor, sphygmos – puls).</a:t>
            </a:r>
          </a:p>
          <a:p>
            <a:pPr>
              <a:spcAft>
                <a:spcPts val="1200"/>
              </a:spcAft>
            </a:pPr>
            <a:r>
              <a:rPr sz="2200">
                <a:solidFill>
                  <a:srgbClr val="1F2937"/>
                </a:solidFill>
                <a:latin typeface="Calibri"/>
              </a:rPr>
              <a:t>▸  3-savol: mexanik asfiksiyaning uchta turini ayting. Javob: qisilishdan, yopilishdan va cheklangan muhitdagi asfiksiya.</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103, 104, 105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Asfiksiyaning hayotiy kechishi: davrlar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Yоpiq muhitdagi asfiksiya. Pozitsion asfiksiya Cho’kishda laboratoriya tekshiruvi usullari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 / 43</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Preasfiktik davr o‘rtacha 20-30 soniya davom etadi; nafas qisqa to‘xtab, so‘ng sekinlashadi.</a:t>
            </a:r>
          </a:p>
          <a:p>
            <a:pPr>
              <a:spcAft>
                <a:spcPts val="800"/>
              </a:spcAft>
            </a:pPr>
            <a:r>
              <a:rPr sz="1800">
                <a:solidFill>
                  <a:srgbClr val="1F2937"/>
                </a:solidFill>
                <a:latin typeface="Calibri"/>
              </a:rPr>
              <a:t>▸  Organizm moslashadi: qon miqdori ko‘payadi, suyuqlashadi, hayotiy a’zolarga qayta taqsimlanadi.</a:t>
            </a:r>
          </a:p>
          <a:p>
            <a:pPr>
              <a:spcAft>
                <a:spcPts val="800"/>
              </a:spcAft>
            </a:pPr>
            <a:r>
              <a:rPr sz="1800">
                <a:solidFill>
                  <a:srgbClr val="1F2937"/>
                </a:solidFill>
                <a:latin typeface="Calibri"/>
              </a:rPr>
              <a:t>▸  Davrlar va vaqtlar shartli, taxminiy; ular tugallanmagan asfiksiya kuzatuvlariga asoslangan.</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Preasfiktik davr: 20-30 sek.</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Inspirator hansirash</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Ekspirator hansirash</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Nafasning qisqa to‘xtashi</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Terminal nafas, to‘liq to‘xtash</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Asfiksiya davrlari ketma-ketligi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106, 107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Asfiktik davr bosqichlari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Yоpiq muhitdagi asfiksiya. Pozitsion asfiksiya Cho’kishda laboratoriya tekshiruvi usullari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9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Inspirator bosqichda hush odatda 40-60 soniyada yo‘qoladi; arterial bosim pasayadi, venoz ortadi.</a:t>
            </a:r>
          </a:p>
          <a:p>
            <a:pPr>
              <a:spcAft>
                <a:spcPts val="800"/>
              </a:spcAft>
            </a:pPr>
            <a:r>
              <a:rPr sz="1800">
                <a:solidFill>
                  <a:srgbClr val="1F2937"/>
                </a:solidFill>
                <a:latin typeface="Calibri"/>
              </a:rPr>
              <a:t>▸  Ekspiratorda talvasalardan jarohat chiqishi mumkin; uni o‘zga shaxs jarohatidan farqlash zarur.</a:t>
            </a:r>
          </a:p>
          <a:p>
            <a:pPr>
              <a:spcAft>
                <a:spcPts val="800"/>
              </a:spcAft>
            </a:pPr>
            <a:r>
              <a:rPr sz="1800">
                <a:solidFill>
                  <a:srgbClr val="1F2937"/>
                </a:solidFill>
                <a:latin typeface="Calibri"/>
              </a:rPr>
              <a:t>▸  Diqqat: reflektor yurak to‘xtashi 30 soniyagacha bo‘lsa, asfiksiya belgilari rivojlanib ulgurmaydi.</a:t>
            </a:r>
          </a:p>
        </p:txBody>
      </p:sp>
      <p:sp>
        <p:nvSpPr>
          <p:cNvPr id="9" name="Rounded Rectangle 8"/>
          <p:cNvSpPr/>
          <p:nvPr/>
        </p:nvSpPr>
        <p:spPr>
          <a:xfrm>
            <a:off x="5440680" y="1417320"/>
            <a:ext cx="2973171" cy="1947672"/>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550408" y="2162556"/>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1</a:t>
            </a:r>
          </a:p>
        </p:txBody>
      </p:sp>
      <p:sp>
        <p:nvSpPr>
          <p:cNvPr id="11" name="TextBox 10"/>
          <p:cNvSpPr txBox="1"/>
          <p:nvPr/>
        </p:nvSpPr>
        <p:spPr>
          <a:xfrm>
            <a:off x="6080760" y="1417320"/>
            <a:ext cx="2259939" cy="1947672"/>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Inspirator hansirash</a:t>
            </a:r>
          </a:p>
          <a:p>
            <a:pPr algn="l">
              <a:spcAft>
                <a:spcPts val="200"/>
              </a:spcAft>
            </a:pPr>
            <a:r>
              <a:rPr sz="1400" b="0">
                <a:solidFill>
                  <a:srgbClr val="1F2937"/>
                </a:solidFill>
                <a:latin typeface="Calibri"/>
              </a:rPr>
              <a:t>taxminan 1 daqiqa — Nafas olish tezlashadi, hush yo‘qoladi</a:t>
            </a:r>
          </a:p>
        </p:txBody>
      </p:sp>
      <p:sp>
        <p:nvSpPr>
          <p:cNvPr id="12" name="Rounded Rectangle 11"/>
          <p:cNvSpPr/>
          <p:nvPr/>
        </p:nvSpPr>
        <p:spPr>
          <a:xfrm>
            <a:off x="8578443" y="1417320"/>
            <a:ext cx="2973171" cy="1947672"/>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688171" y="2162556"/>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2</a:t>
            </a:r>
          </a:p>
        </p:txBody>
      </p:sp>
      <p:sp>
        <p:nvSpPr>
          <p:cNvPr id="14" name="TextBox 13"/>
          <p:cNvSpPr txBox="1"/>
          <p:nvPr/>
        </p:nvSpPr>
        <p:spPr>
          <a:xfrm>
            <a:off x="9218523" y="1417320"/>
            <a:ext cx="2259939" cy="1947672"/>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Ekspirator hansirash</a:t>
            </a:r>
          </a:p>
          <a:p>
            <a:pPr algn="l">
              <a:spcAft>
                <a:spcPts val="200"/>
              </a:spcAft>
            </a:pPr>
            <a:r>
              <a:rPr sz="1400" b="0">
                <a:solidFill>
                  <a:srgbClr val="1F2937"/>
                </a:solidFill>
                <a:latin typeface="Calibri"/>
              </a:rPr>
              <a:t>taxminan 1 daqiqa — Kuchli nafas chiqarish, klonik talvasa</a:t>
            </a:r>
          </a:p>
        </p:txBody>
      </p:sp>
      <p:sp>
        <p:nvSpPr>
          <p:cNvPr id="15" name="Rounded Rectangle 14"/>
          <p:cNvSpPr/>
          <p:nvPr/>
        </p:nvSpPr>
        <p:spPr>
          <a:xfrm>
            <a:off x="5440680" y="3493008"/>
            <a:ext cx="2973171" cy="1947672"/>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550408" y="4238244"/>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3</a:t>
            </a:r>
          </a:p>
        </p:txBody>
      </p:sp>
      <p:sp>
        <p:nvSpPr>
          <p:cNvPr id="17" name="TextBox 16"/>
          <p:cNvSpPr txBox="1"/>
          <p:nvPr/>
        </p:nvSpPr>
        <p:spPr>
          <a:xfrm>
            <a:off x="6080760" y="3493008"/>
            <a:ext cx="2259939" cy="1947672"/>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Nafasning qisqa to‘xtashi</a:t>
            </a:r>
          </a:p>
          <a:p>
            <a:pPr algn="l">
              <a:spcAft>
                <a:spcPts val="200"/>
              </a:spcAft>
            </a:pPr>
            <a:r>
              <a:rPr sz="1400" b="0">
                <a:solidFill>
                  <a:srgbClr val="1F2937"/>
                </a:solidFill>
                <a:latin typeface="Calibri"/>
              </a:rPr>
              <a:t>30-40 sek. — Nafas to‘xtaydi, reflekslar so‘na boshlaydi</a:t>
            </a:r>
          </a:p>
        </p:txBody>
      </p:sp>
      <p:sp>
        <p:nvSpPr>
          <p:cNvPr id="18" name="Rounded Rectangle 17"/>
          <p:cNvSpPr/>
          <p:nvPr/>
        </p:nvSpPr>
        <p:spPr>
          <a:xfrm>
            <a:off x="8578443" y="3493008"/>
            <a:ext cx="2973171" cy="1947672"/>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688171" y="4238244"/>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4</a:t>
            </a:r>
          </a:p>
        </p:txBody>
      </p:sp>
      <p:sp>
        <p:nvSpPr>
          <p:cNvPr id="20" name="TextBox 19"/>
          <p:cNvSpPr txBox="1"/>
          <p:nvPr/>
        </p:nvSpPr>
        <p:spPr>
          <a:xfrm>
            <a:off x="9218523" y="3493008"/>
            <a:ext cx="2259939" cy="1947672"/>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Terminal nafas</a:t>
            </a:r>
          </a:p>
          <a:p>
            <a:pPr algn="l">
              <a:spcAft>
                <a:spcPts val="200"/>
              </a:spcAft>
            </a:pPr>
            <a:r>
              <a:rPr sz="1400" b="0">
                <a:solidFill>
                  <a:srgbClr val="1F2937"/>
                </a:solidFill>
                <a:latin typeface="Calibri"/>
              </a:rPr>
              <a:t>Terminal ≤5 daq.; yurak 3-10 daq. — Noritmik nafas; markaz falaji</a:t>
            </a:r>
          </a:p>
        </p:txBody>
      </p:sp>
      <p:sp>
        <p:nvSpPr>
          <p:cNvPr id="21" name="TextBox 20"/>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Asfiktik davr bosqichlari</a:t>
            </a:r>
          </a:p>
        </p:txBody>
      </p:sp>
      <p:sp>
        <p:nvSpPr>
          <p:cNvPr id="22" name="TextBox 21"/>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106, 107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Postasfiktik holat</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Yоpiq muhitdagi asfiksiya. Pozitsion asfiksiya Cho’kishda laboratoriya tekshiruvi usullari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10 / 43</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Komada reflekslar so‘nadi, so‘ng detserebratsion rigidlik va talvasalar; karaxtlikda hush tiklanadi.</a:t>
            </a:r>
          </a:p>
          <a:p>
            <a:pPr>
              <a:spcAft>
                <a:spcPts val="800"/>
              </a:spcAft>
            </a:pPr>
            <a:r>
              <a:rPr sz="1800">
                <a:solidFill>
                  <a:srgbClr val="1F2937"/>
                </a:solidFill>
                <a:latin typeface="Calibri"/>
              </a:rPr>
              <a:t>▸  Dezorientatsiyada konfabulyatsiya va retrograd amneziya; yengil holatlar 1-2 haftada izsiz o‘tadi.</a:t>
            </a:r>
          </a:p>
          <a:p>
            <a:pPr>
              <a:spcAft>
                <a:spcPts val="800"/>
              </a:spcAft>
            </a:pPr>
            <a:r>
              <a:rPr sz="1800">
                <a:solidFill>
                  <a:srgbClr val="1F2937"/>
                </a:solidFill>
                <a:latin typeface="Calibri"/>
              </a:rPr>
              <a:t>▸  Dastlab o‘lim asfiktik komadan, keyin o‘pka va miya shishidan, kechroq gipostatik pnevmoniyadan.</a:t>
            </a:r>
          </a:p>
        </p:txBody>
      </p:sp>
      <p:sp>
        <p:nvSpPr>
          <p:cNvPr id="9" name="Rounded Rectangle 8"/>
          <p:cNvSpPr/>
          <p:nvPr/>
        </p:nvSpPr>
        <p:spPr>
          <a:xfrm>
            <a:off x="6263640" y="1463040"/>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Asfiktik koma</a:t>
            </a:r>
          </a:p>
        </p:txBody>
      </p:sp>
      <p:sp>
        <p:nvSpPr>
          <p:cNvPr id="10" name="Down Arrow 9"/>
          <p:cNvSpPr/>
          <p:nvPr/>
        </p:nvSpPr>
        <p:spPr>
          <a:xfrm>
            <a:off x="8770467" y="222199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496312"/>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Karaxtlik</a:t>
            </a:r>
          </a:p>
        </p:txBody>
      </p:sp>
      <p:sp>
        <p:nvSpPr>
          <p:cNvPr id="12" name="Down Arrow 11"/>
          <p:cNvSpPr/>
          <p:nvPr/>
        </p:nvSpPr>
        <p:spPr>
          <a:xfrm>
            <a:off x="8770467" y="3255264"/>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529584"/>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Dezorientatsiya, amneziya</a:t>
            </a:r>
          </a:p>
        </p:txBody>
      </p:sp>
      <p:sp>
        <p:nvSpPr>
          <p:cNvPr id="14" name="Down Arrow 13"/>
          <p:cNvSpPr/>
          <p:nvPr/>
        </p:nvSpPr>
        <p:spPr>
          <a:xfrm>
            <a:off x="8770467" y="4288536"/>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4562856"/>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Qoldiq oqibatlar</a:t>
            </a:r>
          </a:p>
        </p:txBody>
      </p:sp>
      <p:sp>
        <p:nvSpPr>
          <p:cNvPr id="16" name="TextBox 15"/>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Postasfiktik holat davrlari</a:t>
            </a:r>
          </a:p>
        </p:txBody>
      </p:sp>
      <p:sp>
        <p:nvSpPr>
          <p:cNvPr id="17" name="TextBox 16"/>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108, 108-109, 109</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Mexanik asfiksiyaning umumiy belgilari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Yоpiq muhitdagi asfiksiya. Pozitsion asfiksiya Cho’kishda laboratoriya tekshiruvi usullari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11 / 43</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Belgilar nospetsifik: tez o‘limning boshqa turlarida ham uchraydi, shu sabab ularning majmuasi baholanadi.</a:t>
            </a:r>
          </a:p>
          <a:p>
            <a:pPr>
              <a:spcAft>
                <a:spcPts val="800"/>
              </a:spcAft>
            </a:pPr>
            <a:r>
              <a:rPr sz="1800">
                <a:solidFill>
                  <a:srgbClr val="1F2937"/>
                </a:solidFill>
                <a:latin typeface="Calibri"/>
              </a:rPr>
              <a:t>▸  Asfiktik yurak, kamqonlik va qisqargan taloq (Sabinskiy belgisi) nisbatan patognomik hisoblanadi.</a:t>
            </a:r>
          </a:p>
          <a:p>
            <a:pPr>
              <a:spcAft>
                <a:spcPts val="800"/>
              </a:spcAft>
            </a:pPr>
            <a:r>
              <a:rPr sz="1800">
                <a:solidFill>
                  <a:srgbClr val="1F2937"/>
                </a:solidFill>
                <a:latin typeface="Calibri"/>
              </a:rPr>
              <a:t>▸  Murda dog‘lari ko‘lamli, ko‘kimtir-binafsha; qon suyuq va karbonat angidridga to‘yingan bo‘ladi.</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2045969"/>
                <a:gridCol w="1096240"/>
                <a:gridCol w="2145765"/>
              </a:tblGrid>
              <a:tr h="614476">
                <a:tc>
                  <a:txBody>
                    <a:bodyPr/>
                    <a:lstStyle/>
                    <a:p>
                      <a:r>
                        <a:rPr sz="1600" b="1">
                          <a:solidFill>
                            <a:srgbClr val="FFFFFF"/>
                          </a:solidFill>
                        </a:rPr>
                        <a:t>Belgi</a:t>
                      </a:r>
                    </a:p>
                  </a:txBody>
                  <a:tcPr marL="73152" marR="73152" marT="36576" marB="36576">
                    <a:solidFill>
                      <a:srgbClr val="0B1F3A"/>
                    </a:solidFill>
                  </a:tcPr>
                </a:tc>
                <a:tc>
                  <a:txBody>
                    <a:bodyPr/>
                    <a:lstStyle/>
                    <a:p>
                      <a:r>
                        <a:rPr sz="1600" b="1">
                          <a:solidFill>
                            <a:srgbClr val="FFFFFF"/>
                          </a:solidFill>
                        </a:rPr>
                        <a:t>Turi</a:t>
                      </a:r>
                    </a:p>
                  </a:txBody>
                  <a:tcPr marL="73152" marR="73152" marT="36576" marB="36576">
                    <a:solidFill>
                      <a:srgbClr val="0B1F3A"/>
                    </a:solidFill>
                  </a:tcPr>
                </a:tc>
                <a:tc>
                  <a:txBody>
                    <a:bodyPr/>
                    <a:lstStyle/>
                    <a:p>
                      <a:r>
                        <a:rPr sz="1600" b="1">
                          <a:solidFill>
                            <a:srgbClr val="FFFFFF"/>
                          </a:solidFill>
                        </a:rPr>
                        <a:t>Mohiyati</a:t>
                      </a:r>
                    </a:p>
                  </a:txBody>
                  <a:tcPr marL="73152" marR="73152" marT="36576" marB="36576">
                    <a:solidFill>
                      <a:srgbClr val="0B1F3A"/>
                    </a:solidFill>
                  </a:tcPr>
                </a:tc>
              </a:tr>
              <a:tr h="614476">
                <a:tc>
                  <a:txBody>
                    <a:bodyPr/>
                    <a:lstStyle/>
                    <a:p>
                      <a:r>
                        <a:rPr sz="1500" b="0">
                          <a:solidFill>
                            <a:srgbClr val="1F2937"/>
                          </a:solidFill>
                        </a:rPr>
                        <a:t>Yuz-bo‘yin sianozi</a:t>
                      </a:r>
                    </a:p>
                  </a:txBody>
                  <a:tcPr marL="73152" marR="73152" marT="36576" marB="36576">
                    <a:solidFill>
                      <a:srgbClr val="E8EEF6"/>
                    </a:solidFill>
                  </a:tcPr>
                </a:tc>
                <a:tc>
                  <a:txBody>
                    <a:bodyPr/>
                    <a:lstStyle/>
                    <a:p>
                      <a:r>
                        <a:rPr sz="1500" b="0">
                          <a:solidFill>
                            <a:srgbClr val="1F2937"/>
                          </a:solidFill>
                        </a:rPr>
                        <a:t>Tashqi</a:t>
                      </a:r>
                    </a:p>
                  </a:txBody>
                  <a:tcPr marL="73152" marR="73152" marT="36576" marB="36576">
                    <a:solidFill>
                      <a:srgbClr val="E8EEF6"/>
                    </a:solidFill>
                  </a:tcPr>
                </a:tc>
                <a:tc>
                  <a:txBody>
                    <a:bodyPr/>
                    <a:lstStyle/>
                    <a:p>
                      <a:r>
                        <a:rPr sz="1500" b="0">
                          <a:solidFill>
                            <a:srgbClr val="1F2937"/>
                          </a:solidFill>
                        </a:rPr>
                        <a:t>Turg‘un emas, yo‘qolishi mumkin</a:t>
                      </a:r>
                    </a:p>
                  </a:txBody>
                  <a:tcPr marL="73152" marR="73152" marT="36576" marB="36576">
                    <a:solidFill>
                      <a:srgbClr val="E8EEF6"/>
                    </a:solidFill>
                  </a:tcPr>
                </a:tc>
              </a:tr>
              <a:tr h="614476">
                <a:tc>
                  <a:txBody>
                    <a:bodyPr/>
                    <a:lstStyle/>
                    <a:p>
                      <a:r>
                        <a:rPr sz="1500" b="0">
                          <a:solidFill>
                            <a:srgbClr val="1F2937"/>
                          </a:solidFill>
                        </a:rPr>
                        <a:t>Subkonyunktival ekximoz</a:t>
                      </a:r>
                    </a:p>
                  </a:txBody>
                  <a:tcPr marL="73152" marR="73152" marT="36576" marB="36576">
                    <a:solidFill>
                      <a:srgbClr val="FFFFFF"/>
                    </a:solidFill>
                  </a:tcPr>
                </a:tc>
                <a:tc>
                  <a:txBody>
                    <a:bodyPr/>
                    <a:lstStyle/>
                    <a:p>
                      <a:r>
                        <a:rPr sz="1500" b="0">
                          <a:solidFill>
                            <a:srgbClr val="1F2937"/>
                          </a:solidFill>
                        </a:rPr>
                        <a:t>Tashqi</a:t>
                      </a:r>
                    </a:p>
                  </a:txBody>
                  <a:tcPr marL="73152" marR="73152" marT="36576" marB="36576">
                    <a:solidFill>
                      <a:srgbClr val="FFFFFF"/>
                    </a:solidFill>
                  </a:tcPr>
                </a:tc>
                <a:tc>
                  <a:txBody>
                    <a:bodyPr/>
                    <a:lstStyle/>
                    <a:p>
                      <a:r>
                        <a:rPr sz="1500" b="0">
                          <a:solidFill>
                            <a:srgbClr val="1F2937"/>
                          </a:solidFill>
                        </a:rPr>
                        <a:t>Hansirashda bosim keskin o‘zgaradi</a:t>
                      </a:r>
                    </a:p>
                  </a:txBody>
                  <a:tcPr marL="73152" marR="73152" marT="36576" marB="36576">
                    <a:solidFill>
                      <a:srgbClr val="FFFFFF"/>
                    </a:solidFill>
                  </a:tcPr>
                </a:tc>
              </a:tr>
              <a:tr h="614476">
                <a:tc>
                  <a:txBody>
                    <a:bodyPr/>
                    <a:lstStyle/>
                    <a:p>
                      <a:r>
                        <a:rPr sz="1500" b="0">
                          <a:solidFill>
                            <a:srgbClr val="1F2937"/>
                          </a:solidFill>
                        </a:rPr>
                        <a:t>Tarde dog‘lari</a:t>
                      </a:r>
                    </a:p>
                  </a:txBody>
                  <a:tcPr marL="73152" marR="73152" marT="36576" marB="36576">
                    <a:solidFill>
                      <a:srgbClr val="E8EEF6"/>
                    </a:solidFill>
                  </a:tcPr>
                </a:tc>
                <a:tc>
                  <a:txBody>
                    <a:bodyPr/>
                    <a:lstStyle/>
                    <a:p>
                      <a:r>
                        <a:rPr sz="1500" b="0">
                          <a:solidFill>
                            <a:srgbClr val="1F2937"/>
                          </a:solidFill>
                        </a:rPr>
                        <a:t>Ichki</a:t>
                      </a:r>
                    </a:p>
                  </a:txBody>
                  <a:tcPr marL="73152" marR="73152" marT="36576" marB="36576">
                    <a:solidFill>
                      <a:srgbClr val="E8EEF6"/>
                    </a:solidFill>
                  </a:tcPr>
                </a:tc>
                <a:tc>
                  <a:txBody>
                    <a:bodyPr/>
                    <a:lstStyle/>
                    <a:p>
                      <a:r>
                        <a:rPr sz="1500" b="0">
                          <a:solidFill>
                            <a:srgbClr val="1F2937"/>
                          </a:solidFill>
                        </a:rPr>
                        <a:t>Plevra, epikard ostida 2-3 mm qon</a:t>
                      </a:r>
                    </a:p>
                  </a:txBody>
                  <a:tcPr marL="73152" marR="73152" marT="36576" marB="36576">
                    <a:solidFill>
                      <a:srgbClr val="E8EEF6"/>
                    </a:solidFill>
                  </a:tcPr>
                </a:tc>
              </a:tr>
              <a:tr h="614476">
                <a:tc>
                  <a:txBody>
                    <a:bodyPr/>
                    <a:lstStyle/>
                    <a:p>
                      <a:r>
                        <a:rPr sz="1500" b="0">
                          <a:solidFill>
                            <a:srgbClr val="1F2937"/>
                          </a:solidFill>
                        </a:rPr>
                        <a:t>Asfiktik yurak</a:t>
                      </a:r>
                    </a:p>
                  </a:txBody>
                  <a:tcPr marL="73152" marR="73152" marT="36576" marB="36576">
                    <a:solidFill>
                      <a:srgbClr val="FFFFFF"/>
                    </a:solidFill>
                  </a:tcPr>
                </a:tc>
                <a:tc>
                  <a:txBody>
                    <a:bodyPr/>
                    <a:lstStyle/>
                    <a:p>
                      <a:r>
                        <a:rPr sz="1500" b="0">
                          <a:solidFill>
                            <a:srgbClr val="1F2937"/>
                          </a:solidFill>
                        </a:rPr>
                        <a:t>Ichki</a:t>
                      </a:r>
                    </a:p>
                  </a:txBody>
                  <a:tcPr marL="73152" marR="73152" marT="36576" marB="36576">
                    <a:solidFill>
                      <a:srgbClr val="FFFFFF"/>
                    </a:solidFill>
                  </a:tcPr>
                </a:tc>
                <a:tc>
                  <a:txBody>
                    <a:bodyPr/>
                    <a:lstStyle/>
                    <a:p>
                      <a:r>
                        <a:rPr sz="1500" b="0">
                          <a:solidFill>
                            <a:srgbClr val="1F2937"/>
                          </a:solidFill>
                        </a:rPr>
                        <a:t>O‘ng kameralar qonga to‘lgan</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Umumasfiktik belgilar</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110-111, 111, 110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1: umumasfiktik belgilar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Yоpiq muhitdagi asfiksiya. Pozitsion asfiksiya Cho’kishda laboratoriya tekshiruvi usullari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12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murda yuzi bilan pastga qarab yotgan holda topilgan; yuz va bo‘yin ko‘kimtir, ko‘z konyunktivasida mayda qon quyilishlar bor.</a:t>
            </a:r>
          </a:p>
          <a:p>
            <a:pPr>
              <a:spcAft>
                <a:spcPts val="1200"/>
              </a:spcAft>
            </a:pPr>
            <a:r>
              <a:rPr sz="2200">
                <a:solidFill>
                  <a:srgbClr val="1F2937"/>
                </a:solidFill>
                <a:latin typeface="Calibri"/>
              </a:rPr>
              <a:t>▸  Savol 1: ko‘kimtirlik yagona belgi bo‘lsa, asfiksiya deyish mumkinmi? Yuz pastga yotganda boshqa holatlarda ham shunday ko‘rinadi.</a:t>
            </a:r>
          </a:p>
          <a:p>
            <a:pPr>
              <a:spcAft>
                <a:spcPts val="1200"/>
              </a:spcAft>
            </a:pPr>
            <a:r>
              <a:rPr sz="2200">
                <a:solidFill>
                  <a:srgbClr val="1F2937"/>
                </a:solidFill>
                <a:latin typeface="Calibri"/>
              </a:rPr>
              <a:t>▸  Savol 2: ekspirator hansirashdagi talvasalarda tana jismlarga urilib jarohat hosil bo‘lsa, uni o‘zga shaxs jarohatidan qanday farqlaymiz?</a:t>
            </a:r>
          </a:p>
          <a:p>
            <a:pPr>
              <a:spcAft>
                <a:spcPts val="1200"/>
              </a:spcAft>
            </a:pPr>
            <a:r>
              <a:rPr sz="2200">
                <a:solidFill>
                  <a:srgbClr val="1F2937"/>
                </a:solidFill>
                <a:latin typeface="Calibri"/>
              </a:rPr>
              <a:t>▸  Diqqat: xato qilish xavfi! Bitta belgi ≠ asfiksiya isboti; belgilar majmuasi birgalikda baholanadi.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110, 106, 111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Strangulyatsion asfiksiya: osilish va sirtmoq</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Yоpiq muhitdagi asfiksiya. Pozitsion asfiksiya Cho’kishda laboratoriya tekshiruvi usullari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13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Bo‘yin a’zolari qisilishi bilan bog‘liq strangulyatsion asfiksiya mexanik asfiksiya o‘limlarining uchdan ikki qismidan ortig‘ini beradi.</a:t>
            </a:r>
          </a:p>
          <a:p>
            <a:pPr>
              <a:spcAft>
                <a:spcPts val="1200"/>
              </a:spcAft>
            </a:pPr>
            <a:r>
              <a:rPr sz="2200">
                <a:solidFill>
                  <a:srgbClr val="1F2937"/>
                </a:solidFill>
                <a:latin typeface="Calibri"/>
              </a:rPr>
              <a:t>▸  Osilish eng ko‘p uchraydi (65-70%), ko‘pincha o‘z-o‘zini o‘ldirish usuli. Tana og‘irligi sirtmoqni tortadi; to‘liq va to‘liqsiz osilish farqlanadi.</a:t>
            </a:r>
          </a:p>
          <a:p>
            <a:pPr>
              <a:spcAft>
                <a:spcPts val="1200"/>
              </a:spcAft>
            </a:pPr>
            <a:r>
              <a:rPr sz="2200">
                <a:solidFill>
                  <a:srgbClr val="1F2937"/>
                </a:solidFill>
                <a:latin typeface="Calibri"/>
              </a:rPr>
              <a:t>▸  O‘lim omillari: havo yo‘lining torayishi, bo‘yinturuq venalar qisilishi, adashgan nerv va sinokarotid tugun ta’sirlanishi (reflektor yurak to‘xtashi).</a:t>
            </a:r>
          </a:p>
          <a:p>
            <a:pPr>
              <a:spcAft>
                <a:spcPts val="1200"/>
              </a:spcAft>
            </a:pPr>
            <a:r>
              <a:rPr sz="2200">
                <a:solidFill>
                  <a:srgbClr val="1F2937"/>
                </a:solidFill>
                <a:latin typeface="Calibri"/>
              </a:rPr>
              <a:t>▸  Sirtmoq yumshoq, yarim qattiq yoki qattiq, sirpanuvchan yoki sirpanmas bo‘ladi; tugun tipik (orqada) yoki atipik (old, yon) joylashadi.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111, 111-112, 113, 112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Strangulyatsion egat: osilish va bo‘g‘ish farqi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Yоpiq muhitdagi asfiksiya. Pozitsion asfiksiya Cho’kishda laboratoriya tekshiruvi usullari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14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Egat shilinma ko‘rinishida; yarim qattiq sirtmoq izi tugallanmagan asfiksiyada 10-15 kun saqlanadi.</a:t>
            </a:r>
          </a:p>
          <a:p>
            <a:pPr>
              <a:spcAft>
                <a:spcPts val="800"/>
              </a:spcAft>
            </a:pPr>
            <a:r>
              <a:rPr sz="1800">
                <a:solidFill>
                  <a:srgbClr val="1F2937"/>
                </a:solidFill>
                <a:latin typeface="Calibri"/>
              </a:rPr>
              <a:t>▸  Yumshoq sirtmoqda teri egati ko‘rinmasligi mumkin; ichkarida oqimtir yo‘lka — Kasper belgisi bor.</a:t>
            </a:r>
          </a:p>
          <a:p>
            <a:pPr>
              <a:spcAft>
                <a:spcPts val="800"/>
              </a:spcAft>
            </a:pPr>
            <a:r>
              <a:rPr sz="1800">
                <a:solidFill>
                  <a:srgbClr val="1F2937"/>
                </a:solidFill>
                <a:latin typeface="Calibri"/>
              </a:rPr>
              <a:t>▸  Hayotiylik: burmachada to‘laqonlik, qon quyilish (Bokarius); mikroskopda Neyding, Kasyanov belgilari.</a:t>
            </a:r>
          </a:p>
        </p:txBody>
      </p:sp>
      <p:sp>
        <p:nvSpPr>
          <p:cNvPr id="9" name="Rounded Rectangle 8"/>
          <p:cNvSpPr/>
          <p:nvPr/>
        </p:nvSpPr>
        <p:spPr>
          <a:xfrm>
            <a:off x="5440680" y="1417320"/>
            <a:ext cx="2986887"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Osilish</a:t>
            </a:r>
          </a:p>
        </p:txBody>
      </p:sp>
      <p:sp>
        <p:nvSpPr>
          <p:cNvPr id="10" name="Rectangle 9"/>
          <p:cNvSpPr/>
          <p:nvPr/>
        </p:nvSpPr>
        <p:spPr>
          <a:xfrm>
            <a:off x="5440680"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Yo‘nalishi: Qiyshiq-vertikal</a:t>
            </a:r>
          </a:p>
          <a:p>
            <a:pPr algn="l">
              <a:spcAft>
                <a:spcPts val="700"/>
              </a:spcAft>
            </a:pPr>
            <a:r>
              <a:rPr sz="1500" b="1">
                <a:solidFill>
                  <a:srgbClr val="C9A227"/>
                </a:solidFill>
                <a:latin typeface="Calibri"/>
              </a:rPr>
              <a:t>●  </a:t>
            </a:r>
            <a:r>
              <a:rPr sz="1500" b="0">
                <a:solidFill>
                  <a:srgbClr val="1F2937"/>
                </a:solidFill>
                <a:latin typeface="Calibri"/>
              </a:rPr>
              <a:t>Joylashuvi: Til osti suyagidan yuqorida</a:t>
            </a:r>
          </a:p>
          <a:p>
            <a:pPr algn="l">
              <a:spcAft>
                <a:spcPts val="700"/>
              </a:spcAft>
            </a:pPr>
            <a:r>
              <a:rPr sz="1500" b="1">
                <a:solidFill>
                  <a:srgbClr val="C9A227"/>
                </a:solidFill>
                <a:latin typeface="Calibri"/>
              </a:rPr>
              <a:t>●  </a:t>
            </a:r>
            <a:r>
              <a:rPr sz="1500" b="0">
                <a:solidFill>
                  <a:srgbClr val="1F2937"/>
                </a:solidFill>
                <a:latin typeface="Calibri"/>
              </a:rPr>
              <a:t>Kenglik, chuqurlik: Tugunga qarama-qarshi tomonda yaqqolroq</a:t>
            </a:r>
          </a:p>
          <a:p>
            <a:pPr algn="l">
              <a:spcAft>
                <a:spcPts val="700"/>
              </a:spcAft>
            </a:pPr>
            <a:r>
              <a:rPr sz="1500" b="1">
                <a:solidFill>
                  <a:srgbClr val="C9A227"/>
                </a:solidFill>
                <a:latin typeface="Calibri"/>
              </a:rPr>
              <a:t>●  </a:t>
            </a:r>
            <a:r>
              <a:rPr sz="1500" b="0">
                <a:solidFill>
                  <a:srgbClr val="1F2937"/>
                </a:solidFill>
                <a:latin typeface="Calibri"/>
              </a:rPr>
              <a:t>Cho‘zilish belgilari: Amyuss, Valxer, Simon belgilari mumkin</a:t>
            </a:r>
          </a:p>
        </p:txBody>
      </p:sp>
      <p:sp>
        <p:nvSpPr>
          <p:cNvPr id="11" name="Rounded Rectangle 10"/>
          <p:cNvSpPr/>
          <p:nvPr/>
        </p:nvSpPr>
        <p:spPr>
          <a:xfrm>
            <a:off x="8564727" y="1417320"/>
            <a:ext cx="2986887" cy="5486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Bo‘g‘ish</a:t>
            </a:r>
          </a:p>
        </p:txBody>
      </p:sp>
      <p:sp>
        <p:nvSpPr>
          <p:cNvPr id="12" name="Rectangle 11"/>
          <p:cNvSpPr/>
          <p:nvPr/>
        </p:nvSpPr>
        <p:spPr>
          <a:xfrm>
            <a:off x="8564727"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Yo‘nalishi: Gorizontal</a:t>
            </a:r>
          </a:p>
          <a:p>
            <a:pPr algn="l">
              <a:spcAft>
                <a:spcPts val="700"/>
              </a:spcAft>
            </a:pPr>
            <a:r>
              <a:rPr sz="1500" b="1">
                <a:solidFill>
                  <a:srgbClr val="C9A227"/>
                </a:solidFill>
                <a:latin typeface="Calibri"/>
              </a:rPr>
              <a:t>●  </a:t>
            </a:r>
            <a:r>
              <a:rPr sz="1500" b="0">
                <a:solidFill>
                  <a:srgbClr val="1F2937"/>
                </a:solidFill>
                <a:latin typeface="Calibri"/>
              </a:rPr>
              <a:t>Joylashuvi: Qalqonsimon tog‘ay sathida va pastroq</a:t>
            </a:r>
          </a:p>
          <a:p>
            <a:pPr algn="l">
              <a:spcAft>
                <a:spcPts val="700"/>
              </a:spcAft>
            </a:pPr>
            <a:r>
              <a:rPr sz="1500" b="1">
                <a:solidFill>
                  <a:srgbClr val="C9A227"/>
                </a:solidFill>
                <a:latin typeface="Calibri"/>
              </a:rPr>
              <a:t>●  </a:t>
            </a:r>
            <a:r>
              <a:rPr sz="1500" b="0">
                <a:solidFill>
                  <a:srgbClr val="1F2937"/>
                </a:solidFill>
                <a:latin typeface="Calibri"/>
              </a:rPr>
              <a:t>Ko‘pincha bir tekis kenglik va chuqurlikda</a:t>
            </a:r>
          </a:p>
          <a:p>
            <a:pPr algn="l">
              <a:spcAft>
                <a:spcPts val="700"/>
              </a:spcAft>
            </a:pPr>
            <a:r>
              <a:rPr sz="1500" b="1">
                <a:solidFill>
                  <a:srgbClr val="C9A227"/>
                </a:solidFill>
                <a:latin typeface="Calibri"/>
              </a:rPr>
              <a:t>●  </a:t>
            </a:r>
            <a:r>
              <a:rPr sz="1500" b="0">
                <a:solidFill>
                  <a:srgbClr val="1F2937"/>
                </a:solidFill>
                <a:latin typeface="Calibri"/>
              </a:rPr>
              <a:t>Cho‘zilish belgilari: Bunday belgilar hosil bo‘lmaydi</a:t>
            </a:r>
          </a:p>
        </p:txBody>
      </p:sp>
      <p:sp>
        <p:nvSpPr>
          <p:cNvPr id="13" name="TextBox 12"/>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Egat: osilish va sirtmoq bilan bo‘g‘ish</a:t>
            </a:r>
          </a:p>
        </p:txBody>
      </p:sp>
      <p:sp>
        <p:nvSpPr>
          <p:cNvPr id="14" name="TextBox 13"/>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114, 115, 116-117</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Qo‘l va o‘tmas jism bilan bo‘g‘ish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Yоpiq muhitdagi asfiksiya. Pozitsion asfiksiya Cho’kishda laboratoriya tekshiruvi usullari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15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Qo‘l bilan bo‘g‘ish odatda qotillik alomati. Bo‘yinda barmoqlardan dumaloq yoki oval qontalashlar, ustida tirnoqdan yoysimon shilinmalar bo‘ladi.</a:t>
            </a:r>
          </a:p>
          <a:p>
            <a:pPr>
              <a:spcAft>
                <a:spcPts val="1200"/>
              </a:spcAft>
            </a:pPr>
            <a:r>
              <a:rPr sz="2000">
                <a:solidFill>
                  <a:srgbClr val="1F2937"/>
                </a:solidFill>
                <a:latin typeface="Calibri"/>
              </a:rPr>
              <a:t>▸  Izlar soni va joyi qotilning holatiga bog‘liq. Qarshilikda izlar tartibsiz va ko‘p; yumshoq jism ustidan bo‘g‘ilsa, tashqi izlar kam yoki yo‘q bo‘lishi mumkin.</a:t>
            </a:r>
          </a:p>
          <a:p>
            <a:pPr>
              <a:spcAft>
                <a:spcPts val="1200"/>
              </a:spcAft>
            </a:pPr>
            <a:r>
              <a:rPr sz="2000">
                <a:solidFill>
                  <a:srgbClr val="1F2937"/>
                </a:solidFill>
                <a:latin typeface="Calibri"/>
              </a:rPr>
              <a:t>▸  Ichki jarohatlar tashqidan yaqqolroq: til osti suyagi shoxchalari, tog‘aylar sinadi, to‘qimalarga qon quyiladi. Yurakning reflektor to‘xtashi ko‘proq uchraydi.</a:t>
            </a:r>
          </a:p>
          <a:p>
            <a:pPr>
              <a:spcAft>
                <a:spcPts val="1200"/>
              </a:spcAft>
            </a:pPr>
            <a:r>
              <a:rPr sz="2000">
                <a:solidFill>
                  <a:srgbClr val="1F2937"/>
                </a:solidFill>
                <a:latin typeface="Calibri"/>
              </a:rPr>
              <a:t>▸  O‘tmas jism (tayoq, stul suyanchig‘i) bilan bo‘g‘ishda izlar ta’sir yuzasi proyeksiyasida: qontalash, shilinma, ichki qon quyilish, til osti suyagi shikasti.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118, 119</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Pozitsion asfiksiya: mexanizm va sharoit</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Yоpiq muhitdagi asfiksiya. Pozitsion asfiksiya Cho’kishda laboratoriya tekshiruvi usullari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16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Boshning oldinga yoki yon tomonga bukilgan holatda uzoq qolishi pozitsion asfiksiyaga olib kelishi mumkin. U strangulyatsion asfiksiya turi.</a:t>
            </a:r>
          </a:p>
          <a:p>
            <a:pPr>
              <a:spcAft>
                <a:spcPts val="1200"/>
              </a:spcAft>
            </a:pPr>
            <a:r>
              <a:rPr sz="2200">
                <a:solidFill>
                  <a:srgbClr val="1F2937"/>
                </a:solidFill>
                <a:latin typeface="Calibri"/>
              </a:rPr>
              <a:t>▸  Odatda hushsiz yoki o‘zini idrok eta olmaydigan shaxslarda uchraydi: tana cheklangan bo‘shliqqa tushib qolgan paytda.</a:t>
            </a:r>
          </a:p>
          <a:p>
            <a:pPr>
              <a:spcAft>
                <a:spcPts val="1200"/>
              </a:spcAft>
            </a:pPr>
            <a:r>
              <a:rPr sz="2200">
                <a:solidFill>
                  <a:srgbClr val="1F2937"/>
                </a:solidFill>
                <a:latin typeface="Calibri"/>
              </a:rPr>
              <a:t>▸  Bo‘yinda strangulyatsion egat bo‘lmaydi. Bukilish burmasi egatga o‘xshashi mumkin; ichkarida shu joyda oqimtir yo‘lka va ayrim qon quyilishlar topiladi.</a:t>
            </a:r>
          </a:p>
          <a:p>
            <a:pPr>
              <a:spcAft>
                <a:spcPts val="1200"/>
              </a:spcAft>
            </a:pPr>
            <a:r>
              <a:rPr sz="2200">
                <a:solidFill>
                  <a:srgbClr val="1F2937"/>
                </a:solidFill>
                <a:latin typeface="Calibri"/>
              </a:rPr>
              <a:t>▸  Til osti suyagi va hiqildoq tog‘aylari shikastlanmaydi. Diagnoz hodisa tafsilotlariga va boshqa o‘lim sabablarini istisno qilishga asoslanadi.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119</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Pozitsion asfiksiya: morfologiya va diagnostika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Yоpiq muhitdagi asfiksiya. Pozitsion asfiksiya Cho’kishda laboratoriya tekshiruvi usullari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17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Pozitsion asfiksiya boshning uzoq vaqt oldinga yoki yon tomonga bukilib turishidan rivojlanadi.</a:t>
            </a:r>
          </a:p>
          <a:p>
            <a:pPr>
              <a:spcAft>
                <a:spcPts val="800"/>
              </a:spcAft>
            </a:pPr>
            <a:r>
              <a:rPr sz="1800">
                <a:solidFill>
                  <a:srgbClr val="1F2937"/>
                </a:solidFill>
                <a:latin typeface="Calibri"/>
              </a:rPr>
              <a:t>▸  Bo‘yinda egat bo‘lmaydi, burma esa unga o‘xshashi mumkin. Diqqat: burma ≠ strangulyatsion egat.</a:t>
            </a:r>
          </a:p>
          <a:p>
            <a:pPr>
              <a:spcAft>
                <a:spcPts val="800"/>
              </a:spcAft>
            </a:pPr>
            <a:r>
              <a:rPr sz="1800">
                <a:solidFill>
                  <a:srgbClr val="1F2937"/>
                </a:solidFill>
                <a:latin typeface="Calibri"/>
              </a:rPr>
              <a:t>▸  Ichki: burma ostida oqimtir yo‘lka, yonlarida ayrim qon quyilishlar; til osti suyagi va tog‘aylar butun.</a:t>
            </a:r>
          </a:p>
        </p:txBody>
      </p:sp>
      <p:sp>
        <p:nvSpPr>
          <p:cNvPr id="9" name="Rounded Rectangle 8"/>
          <p:cNvSpPr/>
          <p:nvPr/>
        </p:nvSpPr>
        <p:spPr>
          <a:xfrm>
            <a:off x="5440680" y="1417320"/>
            <a:ext cx="2986887"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Pozitsion</a:t>
            </a:r>
          </a:p>
        </p:txBody>
      </p:sp>
      <p:sp>
        <p:nvSpPr>
          <p:cNvPr id="10" name="Rectangle 9"/>
          <p:cNvSpPr/>
          <p:nvPr/>
        </p:nvSpPr>
        <p:spPr>
          <a:xfrm>
            <a:off x="5440680"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Tashqi egat: Yo‘q, faqat bukilish burmasi</a:t>
            </a:r>
          </a:p>
          <a:p>
            <a:pPr algn="l">
              <a:spcAft>
                <a:spcPts val="700"/>
              </a:spcAft>
            </a:pPr>
            <a:r>
              <a:rPr sz="1500" b="1">
                <a:solidFill>
                  <a:srgbClr val="C9A227"/>
                </a:solidFill>
                <a:latin typeface="Calibri"/>
              </a:rPr>
              <a:t>●  </a:t>
            </a:r>
            <a:r>
              <a:rPr sz="1500" b="0">
                <a:solidFill>
                  <a:srgbClr val="1F2937"/>
                </a:solidFill>
                <a:latin typeface="Calibri"/>
              </a:rPr>
              <a:t>Ichki o‘zgarish: Burma ostida oqimtir yo‘lka</a:t>
            </a:r>
          </a:p>
          <a:p>
            <a:pPr algn="l">
              <a:spcAft>
                <a:spcPts val="700"/>
              </a:spcAft>
            </a:pPr>
            <a:r>
              <a:rPr sz="1500" b="1">
                <a:solidFill>
                  <a:srgbClr val="C9A227"/>
                </a:solidFill>
                <a:latin typeface="Calibri"/>
              </a:rPr>
              <a:t>●  </a:t>
            </a:r>
            <a:r>
              <a:rPr sz="1500" b="0">
                <a:solidFill>
                  <a:srgbClr val="1F2937"/>
                </a:solidFill>
                <a:latin typeface="Calibri"/>
              </a:rPr>
              <a:t>Til osti suyagi: Shikastlanmaydi</a:t>
            </a:r>
          </a:p>
          <a:p>
            <a:pPr algn="l">
              <a:spcAft>
                <a:spcPts val="700"/>
              </a:spcAft>
            </a:pPr>
            <a:r>
              <a:rPr sz="1500" b="1">
                <a:solidFill>
                  <a:srgbClr val="C9A227"/>
                </a:solidFill>
                <a:latin typeface="Calibri"/>
              </a:rPr>
              <a:t>●  </a:t>
            </a:r>
            <a:r>
              <a:rPr sz="1500" b="0">
                <a:solidFill>
                  <a:srgbClr val="1F2937"/>
                </a:solidFill>
                <a:latin typeface="Calibri"/>
              </a:rPr>
              <a:t>Tashxis usuli: Boshqa sabablarni istisno qilish</a:t>
            </a:r>
          </a:p>
        </p:txBody>
      </p:sp>
      <p:sp>
        <p:nvSpPr>
          <p:cNvPr id="11" name="Rounded Rectangle 10"/>
          <p:cNvSpPr/>
          <p:nvPr/>
        </p:nvSpPr>
        <p:spPr>
          <a:xfrm>
            <a:off x="8564727" y="1417320"/>
            <a:ext cx="2986887" cy="5486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Sirtmoq/osilish</a:t>
            </a:r>
          </a:p>
        </p:txBody>
      </p:sp>
      <p:sp>
        <p:nvSpPr>
          <p:cNvPr id="12" name="Rectangle 11"/>
          <p:cNvSpPr/>
          <p:nvPr/>
        </p:nvSpPr>
        <p:spPr>
          <a:xfrm>
            <a:off x="8564727"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Tashqi egat: Strangulyatsion egat bor</a:t>
            </a:r>
          </a:p>
          <a:p>
            <a:pPr algn="l">
              <a:spcAft>
                <a:spcPts val="700"/>
              </a:spcAft>
            </a:pPr>
            <a:r>
              <a:rPr sz="1500" b="1">
                <a:solidFill>
                  <a:srgbClr val="C9A227"/>
                </a:solidFill>
                <a:latin typeface="Calibri"/>
              </a:rPr>
              <a:t>●  </a:t>
            </a:r>
            <a:r>
              <a:rPr sz="1500" b="0">
                <a:solidFill>
                  <a:srgbClr val="1F2937"/>
                </a:solidFill>
                <a:latin typeface="Calibri"/>
              </a:rPr>
              <a:t>Ichki o‘zgarish: Egat ostida (yumshoq sirtmoqda “mis sim”)</a:t>
            </a:r>
          </a:p>
          <a:p>
            <a:pPr algn="l">
              <a:spcAft>
                <a:spcPts val="700"/>
              </a:spcAft>
            </a:pPr>
            <a:r>
              <a:rPr sz="1500" b="1">
                <a:solidFill>
                  <a:srgbClr val="C9A227"/>
                </a:solidFill>
                <a:latin typeface="Calibri"/>
              </a:rPr>
              <a:t>●  </a:t>
            </a:r>
            <a:r>
              <a:rPr sz="1500" b="0">
                <a:solidFill>
                  <a:srgbClr val="1F2937"/>
                </a:solidFill>
                <a:latin typeface="Calibri"/>
              </a:rPr>
              <a:t>Til osti suyagi: Osilishda xos emas</a:t>
            </a:r>
          </a:p>
          <a:p>
            <a:pPr algn="l">
              <a:spcAft>
                <a:spcPts val="700"/>
              </a:spcAft>
            </a:pPr>
            <a:r>
              <a:rPr sz="1500" b="1">
                <a:solidFill>
                  <a:srgbClr val="C9A227"/>
                </a:solidFill>
                <a:latin typeface="Calibri"/>
              </a:rPr>
              <a:t>●  </a:t>
            </a:r>
            <a:r>
              <a:rPr sz="1500" b="0">
                <a:solidFill>
                  <a:srgbClr val="1F2937"/>
                </a:solidFill>
                <a:latin typeface="Calibri"/>
              </a:rPr>
              <a:t>Tashxis usuli: Egat sirtmoq bilan taqqoslanadi</a:t>
            </a:r>
          </a:p>
        </p:txBody>
      </p:sp>
      <p:sp>
        <p:nvSpPr>
          <p:cNvPr id="13" name="TextBox 12"/>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Pozitsion asfiksiya va sirtmoq bilan qisilish</a:t>
            </a:r>
          </a:p>
        </p:txBody>
      </p:sp>
      <p:sp>
        <p:nvSpPr>
          <p:cNvPr id="14" name="TextBox 13"/>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119</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2: pozitsion asfiksiya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Yоpiq muhitdagi asfiksiya. Pozitsion asfiksiya Cho’kishda laboratoriya tekshiruvi usullari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18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hushsiz holatdagi shaxs cheklangan bo‘shliqqa tushib qolgan, boshi oldinga bukilgan holda topilgan.</a:t>
            </a:r>
          </a:p>
          <a:p>
            <a:pPr>
              <a:spcAft>
                <a:spcPts val="1200"/>
              </a:spcAft>
            </a:pPr>
            <a:r>
              <a:rPr sz="2200">
                <a:solidFill>
                  <a:srgbClr val="1F2937"/>
                </a:solidFill>
                <a:latin typeface="Calibri"/>
              </a:rPr>
              <a:t>▸  Bo‘ynida strangulyatsion egat yo‘q, faqat bukilish burmasi bor. Ichkarida burma proeksiyasida oqimtir yo‘lka topilgan.</a:t>
            </a:r>
          </a:p>
          <a:p>
            <a:pPr>
              <a:spcAft>
                <a:spcPts val="1200"/>
              </a:spcAft>
            </a:pPr>
            <a:r>
              <a:rPr sz="2200">
                <a:solidFill>
                  <a:srgbClr val="1F2937"/>
                </a:solidFill>
                <a:latin typeface="Calibri"/>
              </a:rPr>
              <a:t>▸  Til osti suyagi va hiqildoq tog‘aylari shikastlanmagan.</a:t>
            </a:r>
          </a:p>
          <a:p>
            <a:pPr>
              <a:spcAft>
                <a:spcPts val="1200"/>
              </a:spcAft>
            </a:pPr>
            <a:r>
              <a:rPr sz="2200">
                <a:solidFill>
                  <a:srgbClr val="1F2937"/>
                </a:solidFill>
                <a:latin typeface="Calibri"/>
              </a:rPr>
              <a:t>▸  Savol: o‘lim sababini qanday aniqlaysiz? Hodisa tafsilotlari va boshqa sabablarni istisno qilish nimaga imkon beradi?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119</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strangulyatsion va pozitsion asfiksiya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Yоpiq muhitdagi asfiksiya. Pozitsion asfiksiya Cho’kishda laboratoriya tekshiruvi usullari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19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1-savol: tipik osilishda egat qayerda va qanday yo‘nalishda bo‘ladi? Javob: til osti suyagidan yuqorida, qiyshiq-vertikal.</a:t>
            </a:r>
          </a:p>
          <a:p>
            <a:pPr>
              <a:spcAft>
                <a:spcPts val="1200"/>
              </a:spcAft>
            </a:pPr>
            <a:r>
              <a:rPr sz="2200">
                <a:solidFill>
                  <a:srgbClr val="1F2937"/>
                </a:solidFill>
                <a:latin typeface="Calibri"/>
              </a:rPr>
              <a:t>▸  2-savol: sirtmoq bilan bo‘g‘ishda egat qanday? Javob: gorizontal, qalqonsimon tog‘ay sathida yoki pastroqda, ko‘pincha tutashgan.</a:t>
            </a:r>
          </a:p>
          <a:p>
            <a:pPr>
              <a:spcAft>
                <a:spcPts val="1200"/>
              </a:spcAft>
            </a:pPr>
            <a:r>
              <a:rPr sz="2200">
                <a:solidFill>
                  <a:srgbClr val="1F2937"/>
                </a:solidFill>
                <a:latin typeface="Calibri"/>
              </a:rPr>
              <a:t>▸  3-savol: yumshoq sirtmoqda terida egat ko‘rinmasa, ichkarida qaysi belgi topiladi? Javob: “mis sim” (Kasper belgisi).</a:t>
            </a:r>
          </a:p>
          <a:p>
            <a:pPr>
              <a:spcAft>
                <a:spcPts val="1200"/>
              </a:spcAft>
            </a:pPr>
            <a:r>
              <a:rPr sz="2200">
                <a:solidFill>
                  <a:srgbClr val="1F2937"/>
                </a:solidFill>
                <a:latin typeface="Calibri"/>
              </a:rPr>
              <a:t>▸  4-savol: pozitsion asfiksiyada egat bormi va tashxis qanday qo‘yiladi? Javob: egat yo‘q; boshqa sabablarni istisno qilish orqali.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114-115, 117, 115, 119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Obturatsion asfiksiya: nafas teshiklarining yopilishi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Yоpiq muhitdagi asfiksiya. Pozitsion asfiksiya Cho’kishda laboratoriya tekshiruvi usullari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20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Og‘iz va burunning yopilishi qotillik yoki baxtsiz hodisa bo‘lishi mumkin. Qotillikda asosan yosh bolalar va holsizlangan kattalar qurbon bo‘ladi.</a:t>
            </a:r>
          </a:p>
          <a:p>
            <a:pPr>
              <a:spcAft>
                <a:spcPts val="1200"/>
              </a:spcAft>
            </a:pPr>
            <a:r>
              <a:rPr sz="2200">
                <a:solidFill>
                  <a:srgbClr val="1F2937"/>
                </a:solidFill>
                <a:latin typeface="Calibri"/>
              </a:rPr>
              <a:t>▸  Yumshoq jism bilan tasodifan yopilib qolish ko‘pincha hushsiz (koma) holatdagi shaxslarda kuzatiladi.</a:t>
            </a:r>
          </a:p>
          <a:p>
            <a:pPr>
              <a:spcAft>
                <a:spcPts val="1200"/>
              </a:spcAft>
            </a:pPr>
            <a:r>
              <a:rPr sz="2200">
                <a:solidFill>
                  <a:srgbClr val="1F2937"/>
                </a:solidFill>
                <a:latin typeface="Calibri"/>
              </a:rPr>
              <a:t>▸  Qarshilik bo‘lmasa, murdada umumasfiktik belgilardan boshqa shu turga xos belgi aniqlanmaydi.</a:t>
            </a:r>
          </a:p>
          <a:p>
            <a:pPr>
              <a:spcAft>
                <a:spcPts val="1200"/>
              </a:spcAft>
            </a:pPr>
            <a:r>
              <a:rPr sz="2200">
                <a:solidFill>
                  <a:srgbClr val="1F2937"/>
                </a:solidFill>
                <a:latin typeface="Calibri"/>
              </a:rPr>
              <a:t>▸  Qarshilikda og‘iz-burun atrofida qontalash, shilinma, milkda qon quyilish; yumshoq jism tolalari topiladi. Tashxis boshqa sabablarni istisno qilishga tayanadi.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119, 119-120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Nafas yo‘llarining yopilishi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Yоpiq muhitdagi asfiksiya. Pozitsion asfiksiya Cho’kishda laboratoriya tekshiruvi usullari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21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O‘limda asosiy omil – o‘pkaga havo o‘tishining qiyinlashuvi. Reflektor spazm yoki yurak to‘xtashi ham bo‘lishi mumkin.</a:t>
            </a:r>
          </a:p>
          <a:p>
            <a:pPr>
              <a:spcAft>
                <a:spcPts val="800"/>
              </a:spcAft>
            </a:pPr>
            <a:r>
              <a:rPr sz="1800">
                <a:solidFill>
                  <a:srgbClr val="1F2937"/>
                </a:solidFill>
                <a:latin typeface="Calibri"/>
              </a:rPr>
              <a:t>▸  Mastlik va kalla-miya jarohati yutish hamda yo‘tal reflekslarini buzadi, bu aspiratsiyaga moyillik yaratadi.</a:t>
            </a:r>
          </a:p>
          <a:p>
            <a:pPr>
              <a:spcAft>
                <a:spcPts val="800"/>
              </a:spcAft>
            </a:pPr>
            <a:r>
              <a:rPr sz="1800">
                <a:solidFill>
                  <a:srgbClr val="1F2937"/>
                </a:solidFill>
                <a:latin typeface="Calibri"/>
              </a:rPr>
              <a:t>▸  Diqqat: qusuq topilishi har doim obturatsiya emas; reanimatsiya, tashish va chirishda ham tushadi.</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Yopuvchi omillar</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2063496"/>
            <a:ext cx="0" cy="2731008"/>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2063496"/>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1292352"/>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1292352"/>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Yot jismlar</a:t>
            </a:r>
          </a:p>
          <a:p>
            <a:pPr algn="l">
              <a:spcAft>
                <a:spcPts val="0"/>
              </a:spcAft>
            </a:pPr>
            <a:r>
              <a:rPr sz="1200" b="0">
                <a:solidFill>
                  <a:srgbClr val="1F2937"/>
                </a:solidFill>
                <a:latin typeface="Calibri"/>
              </a:rPr>
              <a:t>Danak, tugma, suyak, go‘sht, protez</a:t>
            </a:r>
          </a:p>
        </p:txBody>
      </p:sp>
      <p:cxnSp>
        <p:nvCxnSpPr>
          <p:cNvPr id="15" name="Connector 14"/>
          <p:cNvCxnSpPr/>
          <p:nvPr/>
        </p:nvCxnSpPr>
        <p:spPr>
          <a:xfrm>
            <a:off x="761238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782824"/>
            <a:ext cx="3779215" cy="1292352"/>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782824"/>
            <a:ext cx="3779215" cy="1292352"/>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Sochiluvchan moddalar</a:t>
            </a:r>
          </a:p>
          <a:p>
            <a:pPr algn="l">
              <a:spcAft>
                <a:spcPts val="0"/>
              </a:spcAft>
            </a:pPr>
            <a:r>
              <a:rPr sz="1200" b="0">
                <a:solidFill>
                  <a:srgbClr val="1F2937"/>
                </a:solidFill>
                <a:latin typeface="Calibri"/>
              </a:rPr>
              <a:t>Qum, tuproq, sement, don, un</a:t>
            </a:r>
          </a:p>
        </p:txBody>
      </p:sp>
      <p:cxnSp>
        <p:nvCxnSpPr>
          <p:cNvPr id="18" name="Connector 17"/>
          <p:cNvCxnSpPr/>
          <p:nvPr/>
        </p:nvCxnSpPr>
        <p:spPr>
          <a:xfrm>
            <a:off x="7612380" y="479450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4148328"/>
            <a:ext cx="3779215" cy="1292352"/>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4148328"/>
            <a:ext cx="3779215" cy="1292352"/>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Suyuqliklar</a:t>
            </a:r>
          </a:p>
          <a:p>
            <a:pPr algn="l">
              <a:spcAft>
                <a:spcPts val="0"/>
              </a:spcAft>
            </a:pPr>
            <a:r>
              <a:rPr sz="1200" b="0">
                <a:solidFill>
                  <a:srgbClr val="1F2937"/>
                </a:solidFill>
                <a:latin typeface="Calibri"/>
              </a:rPr>
              <a:t>Qon, qusuq moddalari</a:t>
            </a:r>
          </a:p>
        </p:txBody>
      </p:sp>
      <p:sp>
        <p:nvSpPr>
          <p:cNvPr id="21" name="TextBox 20"/>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Yopuvchi omillar</a:t>
            </a:r>
          </a:p>
        </p:txBody>
      </p:sp>
      <p:sp>
        <p:nvSpPr>
          <p:cNvPr id="22" name="TextBox 21"/>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120, 120-121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Cho‘kish: tushunchasi va turlari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Yоpiq muhitdagi asfiksiya. Pozitsion asfiksiya Cho’kishda laboratoriya tekshiruvi usullari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22 / 43</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Cho‘kish – tana to‘liq yoki qisman botganda nafas yo‘llarining suyuqlik, ko‘pincha suv bilan yopilishi.</a:t>
            </a:r>
          </a:p>
          <a:p>
            <a:pPr>
              <a:spcAft>
                <a:spcPts val="800"/>
              </a:spcAft>
            </a:pPr>
            <a:r>
              <a:rPr sz="1800">
                <a:solidFill>
                  <a:srgbClr val="1F2937"/>
                </a:solidFill>
                <a:latin typeface="Calibri"/>
              </a:rPr>
              <a:t>▸  Mexanik asfiksiyadan o‘limda osilishdan keyin ikkinchi o‘rinda; ko‘pincha baxtsiz hodisa.</a:t>
            </a:r>
          </a:p>
          <a:p>
            <a:pPr>
              <a:spcAft>
                <a:spcPts val="800"/>
              </a:spcAft>
            </a:pPr>
            <a:r>
              <a:rPr sz="1800">
                <a:solidFill>
                  <a:srgbClr val="1F2937"/>
                </a:solidFill>
                <a:latin typeface="Calibri"/>
              </a:rPr>
              <a:t>▸  Omillar: havza xususiyati, salomatlik holati va xavfli vaziyatlar (masalan, to‘lqin).</a:t>
            </a:r>
          </a:p>
        </p:txBody>
      </p:sp>
      <p:graphicFrame>
        <p:nvGraphicFramePr>
          <p:cNvPr id="9" name="Table 8"/>
          <p:cNvGraphicFramePr>
            <a:graphicFrameLocks noGrp="1"/>
          </p:cNvGraphicFramePr>
          <p:nvPr/>
        </p:nvGraphicFramePr>
        <p:xfrm>
          <a:off x="6263640" y="1463040"/>
          <a:ext cx="5287974" cy="3072384"/>
        </p:xfrm>
        <a:graphic>
          <a:graphicData uri="http://schemas.openxmlformats.org/drawingml/2006/table">
            <a:tbl>
              <a:tblPr firstRow="1" bandRow="1">
                <a:tableStyleId>{5C22544A-7EE6-4342-B048-85BDC9FD1C3A}</a:tableStyleId>
              </a:tblPr>
              <a:tblGrid>
                <a:gridCol w="1400745"/>
                <a:gridCol w="1691639"/>
                <a:gridCol w="2195590"/>
              </a:tblGrid>
              <a:tr h="768096">
                <a:tc>
                  <a:txBody>
                    <a:bodyPr/>
                    <a:lstStyle/>
                    <a:p>
                      <a:r>
                        <a:rPr sz="1600" b="1">
                          <a:solidFill>
                            <a:srgbClr val="FFFFFF"/>
                          </a:solidFill>
                        </a:rPr>
                        <a:t>Turi</a:t>
                      </a:r>
                    </a:p>
                  </a:txBody>
                  <a:tcPr marL="73152" marR="73152" marT="36576" marB="36576">
                    <a:solidFill>
                      <a:srgbClr val="0B1F3A"/>
                    </a:solidFill>
                  </a:tcPr>
                </a:tc>
                <a:tc>
                  <a:txBody>
                    <a:bodyPr/>
                    <a:lstStyle/>
                    <a:p>
                      <a:r>
                        <a:rPr sz="1600" b="1">
                          <a:solidFill>
                            <a:srgbClr val="FFFFFF"/>
                          </a:solidFill>
                        </a:rPr>
                        <a:t>Nomi</a:t>
                      </a:r>
                    </a:p>
                  </a:txBody>
                  <a:tcPr marL="73152" marR="73152" marT="36576" marB="36576">
                    <a:solidFill>
                      <a:srgbClr val="0B1F3A"/>
                    </a:solidFill>
                  </a:tcPr>
                </a:tc>
                <a:tc>
                  <a:txBody>
                    <a:bodyPr/>
                    <a:lstStyle/>
                    <a:p>
                      <a:r>
                        <a:rPr sz="1600" b="1">
                          <a:solidFill>
                            <a:srgbClr val="FFFFFF"/>
                          </a:solidFill>
                        </a:rPr>
                        <a:t>Suv yetgan joy</a:t>
                      </a:r>
                    </a:p>
                  </a:txBody>
                  <a:tcPr marL="73152" marR="73152" marT="36576" marB="36576">
                    <a:solidFill>
                      <a:srgbClr val="0B1F3A"/>
                    </a:solidFill>
                  </a:tcPr>
                </a:tc>
              </a:tr>
              <a:tr h="768096">
                <a:tc>
                  <a:txBody>
                    <a:bodyPr/>
                    <a:lstStyle/>
                    <a:p>
                      <a:r>
                        <a:rPr sz="1500" b="0">
                          <a:solidFill>
                            <a:srgbClr val="1F2937"/>
                          </a:solidFill>
                        </a:rPr>
                        <a:t>Chin</a:t>
                      </a:r>
                    </a:p>
                  </a:txBody>
                  <a:tcPr marL="73152" marR="73152" marT="36576" marB="36576">
                    <a:solidFill>
                      <a:srgbClr val="E8EEF6"/>
                    </a:solidFill>
                  </a:tcPr>
                </a:tc>
                <a:tc>
                  <a:txBody>
                    <a:bodyPr/>
                    <a:lstStyle/>
                    <a:p>
                      <a:r>
                        <a:rPr sz="1500" b="0">
                          <a:solidFill>
                            <a:srgbClr val="1F2937"/>
                          </a:solidFill>
                        </a:rPr>
                        <a:t>Aspiratsion, “ho‘l”</a:t>
                      </a:r>
                    </a:p>
                  </a:txBody>
                  <a:tcPr marL="73152" marR="73152" marT="36576" marB="36576">
                    <a:solidFill>
                      <a:srgbClr val="E8EEF6"/>
                    </a:solidFill>
                  </a:tcPr>
                </a:tc>
                <a:tc>
                  <a:txBody>
                    <a:bodyPr/>
                    <a:lstStyle/>
                    <a:p>
                      <a:r>
                        <a:rPr sz="1500" b="0">
                          <a:solidFill>
                            <a:srgbClr val="1F2937"/>
                          </a:solidFill>
                        </a:rPr>
                        <a:t>Alveolalargacha</a:t>
                      </a:r>
                    </a:p>
                  </a:txBody>
                  <a:tcPr marL="73152" marR="73152" marT="36576" marB="36576">
                    <a:solidFill>
                      <a:srgbClr val="E8EEF6"/>
                    </a:solidFill>
                  </a:tcPr>
                </a:tc>
              </a:tr>
              <a:tr h="768096">
                <a:tc>
                  <a:txBody>
                    <a:bodyPr/>
                    <a:lstStyle/>
                    <a:p>
                      <a:r>
                        <a:rPr sz="1500" b="0">
                          <a:solidFill>
                            <a:srgbClr val="1F2937"/>
                          </a:solidFill>
                        </a:rPr>
                        <a:t>Asfiktik</a:t>
                      </a:r>
                    </a:p>
                  </a:txBody>
                  <a:tcPr marL="73152" marR="73152" marT="36576" marB="36576">
                    <a:solidFill>
                      <a:srgbClr val="FFFFFF"/>
                    </a:solidFill>
                  </a:tcPr>
                </a:tc>
                <a:tc>
                  <a:txBody>
                    <a:bodyPr/>
                    <a:lstStyle/>
                    <a:p>
                      <a:r>
                        <a:rPr sz="1500" b="0">
                          <a:solidFill>
                            <a:srgbClr val="1F2937"/>
                          </a:solidFill>
                        </a:rPr>
                        <a:t>Spastik, “quruq”</a:t>
                      </a:r>
                    </a:p>
                  </a:txBody>
                  <a:tcPr marL="73152" marR="73152" marT="36576" marB="36576">
                    <a:solidFill>
                      <a:srgbClr val="FFFFFF"/>
                    </a:solidFill>
                  </a:tcPr>
                </a:tc>
                <a:tc>
                  <a:txBody>
                    <a:bodyPr/>
                    <a:lstStyle/>
                    <a:p>
                      <a:r>
                        <a:rPr sz="1500" b="0">
                          <a:solidFill>
                            <a:srgbClr val="1F2937"/>
                          </a:solidFill>
                        </a:rPr>
                        <a:t>Traxeya, bronxga o‘tmaydi</a:t>
                      </a:r>
                    </a:p>
                  </a:txBody>
                  <a:tcPr marL="73152" marR="73152" marT="36576" marB="36576">
                    <a:solidFill>
                      <a:srgbClr val="FFFFFF"/>
                    </a:solidFill>
                  </a:tcPr>
                </a:tc>
              </a:tr>
              <a:tr h="768096">
                <a:tc>
                  <a:txBody>
                    <a:bodyPr/>
                    <a:lstStyle/>
                    <a:p>
                      <a:r>
                        <a:rPr sz="1500" b="0">
                          <a:solidFill>
                            <a:srgbClr val="1F2937"/>
                          </a:solidFill>
                        </a:rPr>
                        <a:t>Aralash</a:t>
                      </a:r>
                    </a:p>
                  </a:txBody>
                  <a:tcPr marL="73152" marR="73152" marT="36576" marB="36576">
                    <a:solidFill>
                      <a:srgbClr val="E8EEF6"/>
                    </a:solidFill>
                  </a:tcPr>
                </a:tc>
                <a:tc>
                  <a:txBody>
                    <a:bodyPr/>
                    <a:lstStyle/>
                    <a:p>
                      <a:r>
                        <a:rPr sz="1500" b="0">
                          <a:solidFill>
                            <a:srgbClr val="1F2937"/>
                          </a:solidFill>
                        </a:rPr>
                        <a:t>—</a:t>
                      </a:r>
                    </a:p>
                  </a:txBody>
                  <a:tcPr marL="73152" marR="73152" marT="36576" marB="36576">
                    <a:solidFill>
                      <a:srgbClr val="E8EEF6"/>
                    </a:solidFill>
                  </a:tcPr>
                </a:tc>
                <a:tc>
                  <a:txBody>
                    <a:bodyPr/>
                    <a:lstStyle/>
                    <a:p>
                      <a:r>
                        <a:rPr sz="1500" b="0">
                          <a:solidFill>
                            <a:srgbClr val="1F2937"/>
                          </a:solidFill>
                        </a:rPr>
                        <a:t>Alohida tavsiflanmagan</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Cho‘kish turlari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121</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Chin cho‘kish belgilari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Yоpiq muhitdagi asfiksiya. Pozitsion asfiksiya Cho’kishda laboratoriya tekshiruvi usullari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23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Chin cho‘kishda suv alveolalargacha yetadi. O‘pka gipergidriya holatida: xamirsimon, hajmi ortgan.</a:t>
            </a:r>
          </a:p>
          <a:p>
            <a:pPr>
              <a:spcAft>
                <a:spcPts val="800"/>
              </a:spcAft>
            </a:pPr>
            <a:r>
              <a:rPr sz="1800">
                <a:solidFill>
                  <a:srgbClr val="1F2937"/>
                </a:solidFill>
                <a:latin typeface="Calibri"/>
              </a:rPr>
              <a:t>▸  Suv qonga o‘tgani uchun qon suyuladi (gemodilyusiya), osmotik gemoliz bo‘ladi. Murda dog‘lari pushti tusda.</a:t>
            </a:r>
          </a:p>
          <a:p>
            <a:pPr>
              <a:spcAft>
                <a:spcPts val="800"/>
              </a:spcAft>
            </a:pPr>
            <a:r>
              <a:rPr sz="1800">
                <a:solidFill>
                  <a:srgbClr val="1F2937"/>
                </a:solidFill>
                <a:latin typeface="Calibri"/>
              </a:rPr>
              <a:t>▸  Paltauf belgisi: qutulish harakatlari tufayli bo‘yin, ko‘krak va orqa mushaklarida qon quyilish.</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Chin cho‘kish belgilari</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1892808"/>
            <a:ext cx="0" cy="3072384"/>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1892808"/>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Krushevskiy ko‘pigi</a:t>
            </a:r>
          </a:p>
          <a:p>
            <a:pPr algn="l">
              <a:spcAft>
                <a:spcPts val="0"/>
              </a:spcAft>
            </a:pPr>
            <a:r>
              <a:rPr sz="1200" b="0">
                <a:solidFill>
                  <a:srgbClr val="1F2937"/>
                </a:solidFill>
                <a:latin typeface="Calibri"/>
              </a:rPr>
              <a:t>Mayda pufakli, turg‘un oq ko‘pik  ·  Og‘iz, burun, nafas yo‘llari</a:t>
            </a:r>
          </a:p>
        </p:txBody>
      </p:sp>
      <p:cxnSp>
        <p:nvCxnSpPr>
          <p:cNvPr id="15" name="Connector 14"/>
          <p:cNvCxnSpPr/>
          <p:nvPr/>
        </p:nvCxnSpPr>
        <p:spPr>
          <a:xfrm>
            <a:off x="7612380" y="2916936"/>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441448"/>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441448"/>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Rasskazov–Lukomskiy</a:t>
            </a:r>
          </a:p>
          <a:p>
            <a:pPr algn="l">
              <a:spcAft>
                <a:spcPts val="0"/>
              </a:spcAft>
            </a:pPr>
            <a:r>
              <a:rPr sz="1200" b="0">
                <a:solidFill>
                  <a:srgbClr val="1F2937"/>
                </a:solidFill>
                <a:latin typeface="Calibri"/>
              </a:rPr>
              <a:t>Tarde dog‘idan yirik pushti dog‘lar  ·  Visseral plevra ostida</a:t>
            </a:r>
          </a:p>
        </p:txBody>
      </p:sp>
      <p:cxnSp>
        <p:nvCxnSpPr>
          <p:cNvPr id="18" name="Connector 17"/>
          <p:cNvCxnSpPr/>
          <p:nvPr/>
        </p:nvCxnSpPr>
        <p:spPr>
          <a:xfrm>
            <a:off x="7612380" y="394106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3465576"/>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3465576"/>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Kasper belgisi</a:t>
            </a:r>
          </a:p>
          <a:p>
            <a:pPr algn="l">
              <a:spcAft>
                <a:spcPts val="0"/>
              </a:spcAft>
            </a:pPr>
            <a:r>
              <a:rPr sz="1200" b="0">
                <a:solidFill>
                  <a:srgbClr val="1F2937"/>
                </a:solidFill>
                <a:latin typeface="Calibri"/>
              </a:rPr>
              <a:t>Chap qorincha qoni ochroq  ·  Yurak kameralari</a:t>
            </a:r>
          </a:p>
        </p:txBody>
      </p:sp>
      <p:cxnSp>
        <p:nvCxnSpPr>
          <p:cNvPr id="21" name="Connector 20"/>
          <p:cNvCxnSpPr/>
          <p:nvPr/>
        </p:nvCxnSpPr>
        <p:spPr>
          <a:xfrm>
            <a:off x="7612380" y="4965192"/>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7772400" y="4489704"/>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0" y="4489704"/>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Moro; Fegerlund</a:t>
            </a:r>
          </a:p>
          <a:p>
            <a:pPr algn="l">
              <a:spcAft>
                <a:spcPts val="0"/>
              </a:spcAft>
            </a:pPr>
            <a:r>
              <a:rPr sz="1200" b="0">
                <a:solidFill>
                  <a:srgbClr val="1F2937"/>
                </a:solidFill>
                <a:latin typeface="Calibri"/>
              </a:rPr>
              <a:t>Qorinda 100 ml, oshqozonda 300 ml gacha  ·  Qorin bo‘shlig‘i, oshqozon</a:t>
            </a:r>
          </a:p>
        </p:txBody>
      </p:sp>
      <p:sp>
        <p:nvSpPr>
          <p:cNvPr id="24" name="TextBox 23"/>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Chin cho‘kish belgilari</a:t>
            </a:r>
          </a:p>
        </p:txBody>
      </p:sp>
      <p:sp>
        <p:nvSpPr>
          <p:cNvPr id="25" name="TextBox 2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121-122, 122, 123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Asfiktik cho‘kish belgilari va farqi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Yоpiq muhitdagi asfiksiya. Pozitsion asfiksiya Cho’kishda laboratoriya tekshiruvi usullari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24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Laringospazm suvni nafas yo‘llariga o‘tkazmaydi. Yuz ko‘kimtirligi va ko‘zdagi qon quyilishlar yaqqol bo‘ladi.</a:t>
            </a:r>
          </a:p>
          <a:p>
            <a:pPr>
              <a:spcAft>
                <a:spcPts val="800"/>
              </a:spcAft>
            </a:pPr>
            <a:r>
              <a:rPr sz="1800">
                <a:solidFill>
                  <a:srgbClr val="1F2937"/>
                </a:solidFill>
                <a:latin typeface="Calibri"/>
              </a:rPr>
              <a:t>▸  Havo emboliyasi uchun Sunsov sinamasi: chap qorincha teshiladi. Ko‘krak limfa yo‘lida limfogemiya topiladi.</a:t>
            </a:r>
          </a:p>
          <a:p>
            <a:pPr>
              <a:spcAft>
                <a:spcPts val="800"/>
              </a:spcAft>
            </a:pPr>
            <a:r>
              <a:rPr sz="1800">
                <a:solidFill>
                  <a:srgbClr val="1F2937"/>
                </a:solidFill>
                <a:latin typeface="Calibri"/>
              </a:rPr>
              <a:t>▸  Sveshnikov belgisi: kalla asosi bo‘shlig‘ida 5–15 ml suyuqlik topiladi.</a:t>
            </a:r>
          </a:p>
        </p:txBody>
      </p:sp>
      <p:sp>
        <p:nvSpPr>
          <p:cNvPr id="9" name="Rounded Rectangle 8"/>
          <p:cNvSpPr/>
          <p:nvPr/>
        </p:nvSpPr>
        <p:spPr>
          <a:xfrm>
            <a:off x="5440680" y="1417320"/>
            <a:ext cx="2986887"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Chin</a:t>
            </a:r>
          </a:p>
        </p:txBody>
      </p:sp>
      <p:sp>
        <p:nvSpPr>
          <p:cNvPr id="10" name="Rectangle 9"/>
          <p:cNvSpPr/>
          <p:nvPr/>
        </p:nvSpPr>
        <p:spPr>
          <a:xfrm>
            <a:off x="5440680"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Suv nafas yo‘llarida: Alveolagacha yetib boradi</a:t>
            </a:r>
          </a:p>
          <a:p>
            <a:pPr algn="l">
              <a:spcAft>
                <a:spcPts val="700"/>
              </a:spcAft>
            </a:pPr>
            <a:r>
              <a:rPr sz="1500" b="1">
                <a:solidFill>
                  <a:srgbClr val="C9A227"/>
                </a:solidFill>
                <a:latin typeface="Calibri"/>
              </a:rPr>
              <a:t>●  </a:t>
            </a:r>
            <a:r>
              <a:rPr sz="1500" b="0">
                <a:solidFill>
                  <a:srgbClr val="1F2937"/>
                </a:solidFill>
                <a:latin typeface="Calibri"/>
              </a:rPr>
              <a:t>O‘pka: Gipergidriya, xamirsimon</a:t>
            </a:r>
          </a:p>
          <a:p>
            <a:pPr algn="l">
              <a:spcAft>
                <a:spcPts val="700"/>
              </a:spcAft>
            </a:pPr>
            <a:r>
              <a:rPr sz="1500" b="1">
                <a:solidFill>
                  <a:srgbClr val="C9A227"/>
                </a:solidFill>
                <a:latin typeface="Calibri"/>
              </a:rPr>
              <a:t>●  </a:t>
            </a:r>
            <a:r>
              <a:rPr sz="1500" b="0">
                <a:solidFill>
                  <a:srgbClr val="1F2937"/>
                </a:solidFill>
                <a:latin typeface="Calibri"/>
              </a:rPr>
              <a:t>Plevra ostida: Tarde + Rasskazov–Lukomskiy–Paltauf</a:t>
            </a:r>
          </a:p>
          <a:p>
            <a:pPr algn="l">
              <a:spcAft>
                <a:spcPts val="700"/>
              </a:spcAft>
            </a:pPr>
            <a:r>
              <a:rPr sz="1500" b="1">
                <a:solidFill>
                  <a:srgbClr val="C9A227"/>
                </a:solidFill>
                <a:latin typeface="Calibri"/>
              </a:rPr>
              <a:t>●  </a:t>
            </a:r>
            <a:r>
              <a:rPr sz="1500" b="0">
                <a:solidFill>
                  <a:srgbClr val="1F2937"/>
                </a:solidFill>
                <a:latin typeface="Calibri"/>
              </a:rPr>
              <a:t>Oshqozondagi suv: 300 ml gacha</a:t>
            </a:r>
          </a:p>
        </p:txBody>
      </p:sp>
      <p:sp>
        <p:nvSpPr>
          <p:cNvPr id="11" name="Rounded Rectangle 10"/>
          <p:cNvSpPr/>
          <p:nvPr/>
        </p:nvSpPr>
        <p:spPr>
          <a:xfrm>
            <a:off x="8564727" y="1417320"/>
            <a:ext cx="2986887" cy="5486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Asfiktik</a:t>
            </a:r>
          </a:p>
        </p:txBody>
      </p:sp>
      <p:sp>
        <p:nvSpPr>
          <p:cNvPr id="12" name="Rectangle 11"/>
          <p:cNvSpPr/>
          <p:nvPr/>
        </p:nvSpPr>
        <p:spPr>
          <a:xfrm>
            <a:off x="8564727"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Suv nafas yo‘llarida: Traxeya, bronxlarga o‘tmaydi</a:t>
            </a:r>
          </a:p>
          <a:p>
            <a:pPr algn="l">
              <a:spcAft>
                <a:spcPts val="700"/>
              </a:spcAft>
            </a:pPr>
            <a:r>
              <a:rPr sz="1500" b="1">
                <a:solidFill>
                  <a:srgbClr val="C9A227"/>
                </a:solidFill>
                <a:latin typeface="Calibri"/>
              </a:rPr>
              <a:t>●  </a:t>
            </a:r>
            <a:r>
              <a:rPr sz="1500" b="0">
                <a:solidFill>
                  <a:srgbClr val="1F2937"/>
                </a:solidFill>
                <a:latin typeface="Calibri"/>
              </a:rPr>
              <a:t>O‘pka: Emfizema, giperaeriya, quruq</a:t>
            </a:r>
          </a:p>
          <a:p>
            <a:pPr algn="l">
              <a:spcAft>
                <a:spcPts val="700"/>
              </a:spcAft>
            </a:pPr>
            <a:r>
              <a:rPr sz="1500" b="1">
                <a:solidFill>
                  <a:srgbClr val="C9A227"/>
                </a:solidFill>
                <a:latin typeface="Calibri"/>
              </a:rPr>
              <a:t>●  </a:t>
            </a:r>
            <a:r>
              <a:rPr sz="1500" b="0">
                <a:solidFill>
                  <a:srgbClr val="1F2937"/>
                </a:solidFill>
                <a:latin typeface="Calibri"/>
              </a:rPr>
              <a:t>Plevra ostida: Faqat Tarde dog‘lari</a:t>
            </a:r>
          </a:p>
          <a:p>
            <a:pPr algn="l">
              <a:spcAft>
                <a:spcPts val="700"/>
              </a:spcAft>
            </a:pPr>
            <a:r>
              <a:rPr sz="1500" b="1">
                <a:solidFill>
                  <a:srgbClr val="C9A227"/>
                </a:solidFill>
                <a:latin typeface="Calibri"/>
              </a:rPr>
              <a:t>●  </a:t>
            </a:r>
            <a:r>
              <a:rPr sz="1500" b="0">
                <a:solidFill>
                  <a:srgbClr val="1F2937"/>
                </a:solidFill>
                <a:latin typeface="Calibri"/>
              </a:rPr>
              <a:t>Oshqozondagi suv: 1 l gacha</a:t>
            </a:r>
          </a:p>
        </p:txBody>
      </p:sp>
      <p:sp>
        <p:nvSpPr>
          <p:cNvPr id="13" name="TextBox 12"/>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Chin va asfiktik cho‘kish</a:t>
            </a:r>
          </a:p>
        </p:txBody>
      </p:sp>
      <p:sp>
        <p:nvSpPr>
          <p:cNvPr id="14" name="TextBox 13"/>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123, 124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Dengiz suvi va suvdagi to‘satdan o‘lim</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Yоpiq muhitdagi asfiksiya. Pozitsion asfiksiya Cho’kishda laboratoriya tekshiruvi usullari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25 / 43</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Sho‘r suvning osmotik bosimi qonnikidan baland, shuning uchun qonning suyuq qismi alveolaga o‘tadi.</a:t>
            </a:r>
          </a:p>
          <a:p>
            <a:pPr>
              <a:spcAft>
                <a:spcPts val="800"/>
              </a:spcAft>
            </a:pPr>
            <a:r>
              <a:rPr sz="1800">
                <a:solidFill>
                  <a:srgbClr val="1F2937"/>
                </a:solidFill>
                <a:latin typeface="Calibri"/>
              </a:rPr>
              <a:t>▸  Suvga tushgan zahoti yurak va nafas reflektor to‘xtashi mumkin; asfiksiya belgilari ulgurmaydi.</a:t>
            </a:r>
          </a:p>
          <a:p>
            <a:pPr>
              <a:spcAft>
                <a:spcPts val="800"/>
              </a:spcAft>
            </a:pPr>
            <a:r>
              <a:rPr sz="1800">
                <a:solidFill>
                  <a:srgbClr val="1F2937"/>
                </a:solidFill>
                <a:latin typeface="Calibri"/>
              </a:rPr>
              <a:t>▸  Moyillik omillari: issiq urish, o‘ta charchash, to‘la oshqozon, mastlik. Yurakda patologik o‘zgarish topiladi.</a:t>
            </a:r>
          </a:p>
        </p:txBody>
      </p:sp>
      <p:graphicFrame>
        <p:nvGraphicFramePr>
          <p:cNvPr id="9" name="Table 8"/>
          <p:cNvGraphicFramePr>
            <a:graphicFrameLocks noGrp="1"/>
          </p:cNvGraphicFramePr>
          <p:nvPr/>
        </p:nvGraphicFramePr>
        <p:xfrm>
          <a:off x="6263640" y="1463040"/>
          <a:ext cx="5287975" cy="3072380"/>
        </p:xfrm>
        <a:graphic>
          <a:graphicData uri="http://schemas.openxmlformats.org/drawingml/2006/table">
            <a:tbl>
              <a:tblPr firstRow="1" bandRow="1">
                <a:tableStyleId>{5C22544A-7EE6-4342-B048-85BDC9FD1C3A}</a:tableStyleId>
              </a:tblPr>
              <a:tblGrid>
                <a:gridCol w="2518410"/>
                <a:gridCol w="2045969"/>
                <a:gridCol w="723596"/>
              </a:tblGrid>
              <a:tr h="614476">
                <a:tc>
                  <a:txBody>
                    <a:bodyPr/>
                    <a:lstStyle/>
                    <a:p>
                      <a:r>
                        <a:rPr sz="1600" b="1">
                          <a:solidFill>
                            <a:srgbClr val="FFFFFF"/>
                          </a:solidFill>
                        </a:rPr>
                        <a:t>Belgi</a:t>
                      </a:r>
                    </a:p>
                  </a:txBody>
                  <a:tcPr marL="73152" marR="73152" marT="36576" marB="36576">
                    <a:solidFill>
                      <a:srgbClr val="0B1F3A"/>
                    </a:solidFill>
                  </a:tcPr>
                </a:tc>
                <a:tc>
                  <a:txBody>
                    <a:bodyPr/>
                    <a:lstStyle/>
                    <a:p>
                      <a:r>
                        <a:rPr sz="1600" b="1">
                          <a:solidFill>
                            <a:srgbClr val="FFFFFF"/>
                          </a:solidFill>
                        </a:rPr>
                        <a:t>Odatdagi suv</a:t>
                      </a:r>
                    </a:p>
                  </a:txBody>
                  <a:tcPr marL="73152" marR="73152" marT="36576" marB="36576">
                    <a:solidFill>
                      <a:srgbClr val="0B1F3A"/>
                    </a:solidFill>
                  </a:tcPr>
                </a:tc>
                <a:tc>
                  <a:txBody>
                    <a:bodyPr/>
                    <a:lstStyle/>
                    <a:p>
                      <a:r>
                        <a:rPr sz="1600" b="1">
                          <a:solidFill>
                            <a:srgbClr val="FFFFFF"/>
                          </a:solidFill>
                        </a:rPr>
                        <a:t>Dengiz suvi</a:t>
                      </a:r>
                    </a:p>
                  </a:txBody>
                  <a:tcPr marL="73152" marR="73152" marT="36576" marB="36576">
                    <a:solidFill>
                      <a:srgbClr val="0B1F3A"/>
                    </a:solidFill>
                  </a:tcPr>
                </a:tc>
              </a:tr>
              <a:tr h="614476">
                <a:tc>
                  <a:txBody>
                    <a:bodyPr/>
                    <a:lstStyle/>
                    <a:p>
                      <a:r>
                        <a:rPr sz="1500" b="0">
                          <a:solidFill>
                            <a:srgbClr val="1F2937"/>
                          </a:solidFill>
                        </a:rPr>
                        <a:t>Suv harakati</a:t>
                      </a:r>
                    </a:p>
                  </a:txBody>
                  <a:tcPr marL="73152" marR="73152" marT="36576" marB="36576">
                    <a:solidFill>
                      <a:srgbClr val="E8EEF6"/>
                    </a:solidFill>
                  </a:tcPr>
                </a:tc>
                <a:tc>
                  <a:txBody>
                    <a:bodyPr/>
                    <a:lstStyle/>
                    <a:p>
                      <a:r>
                        <a:rPr sz="1500" b="0">
                          <a:solidFill>
                            <a:srgbClr val="1F2937"/>
                          </a:solidFill>
                        </a:rPr>
                        <a:t>Alveoladan qonga o‘tadi</a:t>
                      </a:r>
                    </a:p>
                  </a:txBody>
                  <a:tcPr marL="73152" marR="73152" marT="36576" marB="36576">
                    <a:solidFill>
                      <a:srgbClr val="E8EEF6"/>
                    </a:solidFill>
                  </a:tcPr>
                </a:tc>
                <a:tc>
                  <a:txBody>
                    <a:bodyPr/>
                    <a:lstStyle/>
                    <a:p>
                      <a:r>
                        <a:rPr sz="1500" b="0">
                          <a:solidFill>
                            <a:srgbClr val="1F2937"/>
                          </a:solidFill>
                        </a:rPr>
                        <a:t>Qon suyuqligi alveolaga chiqadi</a:t>
                      </a:r>
                    </a:p>
                  </a:txBody>
                  <a:tcPr marL="73152" marR="73152" marT="36576" marB="36576">
                    <a:solidFill>
                      <a:srgbClr val="E8EEF6"/>
                    </a:solidFill>
                  </a:tcPr>
                </a:tc>
              </a:tr>
              <a:tr h="614476">
                <a:tc>
                  <a:txBody>
                    <a:bodyPr/>
                    <a:lstStyle/>
                    <a:p>
                      <a:r>
                        <a:rPr sz="1500" b="0">
                          <a:solidFill>
                            <a:srgbClr val="1F2937"/>
                          </a:solidFill>
                        </a:rPr>
                        <a:t>Qon holati</a:t>
                      </a:r>
                    </a:p>
                  </a:txBody>
                  <a:tcPr marL="73152" marR="73152" marT="36576" marB="36576">
                    <a:solidFill>
                      <a:srgbClr val="FFFFFF"/>
                    </a:solidFill>
                  </a:tcPr>
                </a:tc>
                <a:tc>
                  <a:txBody>
                    <a:bodyPr/>
                    <a:lstStyle/>
                    <a:p>
                      <a:r>
                        <a:rPr sz="1500" b="0">
                          <a:solidFill>
                            <a:srgbClr val="1F2937"/>
                          </a:solidFill>
                        </a:rPr>
                        <a:t>Suyuladi (gemodilyusiya)</a:t>
                      </a:r>
                    </a:p>
                  </a:txBody>
                  <a:tcPr marL="73152" marR="73152" marT="36576" marB="36576">
                    <a:solidFill>
                      <a:srgbClr val="FFFFFF"/>
                    </a:solidFill>
                  </a:tcPr>
                </a:tc>
                <a:tc>
                  <a:txBody>
                    <a:bodyPr/>
                    <a:lstStyle/>
                    <a:p>
                      <a:r>
                        <a:rPr sz="1500" b="0">
                          <a:solidFill>
                            <a:srgbClr val="1F2937"/>
                          </a:solidFill>
                        </a:rPr>
                        <a:t>Quyuqlashadi, gipovolemiya</a:t>
                      </a:r>
                    </a:p>
                  </a:txBody>
                  <a:tcPr marL="73152" marR="73152" marT="36576" marB="36576">
                    <a:solidFill>
                      <a:srgbClr val="FFFFFF"/>
                    </a:solidFill>
                  </a:tcPr>
                </a:tc>
              </a:tr>
              <a:tr h="614476">
                <a:tc>
                  <a:txBody>
                    <a:bodyPr/>
                    <a:lstStyle/>
                    <a:p>
                      <a:r>
                        <a:rPr sz="1500" b="0">
                          <a:solidFill>
                            <a:srgbClr val="1F2937"/>
                          </a:solidFill>
                        </a:rPr>
                        <a:t>Rasskazov–Lukomskiy</a:t>
                      </a:r>
                    </a:p>
                  </a:txBody>
                  <a:tcPr marL="73152" marR="73152" marT="36576" marB="36576">
                    <a:solidFill>
                      <a:srgbClr val="E8EEF6"/>
                    </a:solidFill>
                  </a:tcPr>
                </a:tc>
                <a:tc>
                  <a:txBody>
                    <a:bodyPr/>
                    <a:lstStyle/>
                    <a:p>
                      <a:r>
                        <a:rPr sz="1500" b="0">
                          <a:solidFill>
                            <a:srgbClr val="1F2937"/>
                          </a:solidFill>
                        </a:rPr>
                        <a:t>Plevra ostida bo‘ladi</a:t>
                      </a:r>
                    </a:p>
                  </a:txBody>
                  <a:tcPr marL="73152" marR="73152" marT="36576" marB="36576">
                    <a:solidFill>
                      <a:srgbClr val="E8EEF6"/>
                    </a:solidFill>
                  </a:tcPr>
                </a:tc>
                <a:tc>
                  <a:txBody>
                    <a:bodyPr/>
                    <a:lstStyle/>
                    <a:p>
                      <a:r>
                        <a:rPr sz="1500" b="0">
                          <a:solidFill>
                            <a:srgbClr val="1F2937"/>
                          </a:solidFill>
                        </a:rPr>
                        <a:t>Vujudga kelmaydi</a:t>
                      </a:r>
                    </a:p>
                  </a:txBody>
                  <a:tcPr marL="73152" marR="73152" marT="36576" marB="36576">
                    <a:solidFill>
                      <a:srgbClr val="E8EEF6"/>
                    </a:solidFill>
                  </a:tcPr>
                </a:tc>
              </a:tr>
              <a:tr h="614476">
                <a:tc>
                  <a:txBody>
                    <a:bodyPr/>
                    <a:lstStyle/>
                    <a:p>
                      <a:r>
                        <a:rPr sz="1500" b="0">
                          <a:solidFill>
                            <a:srgbClr val="1F2937"/>
                          </a:solidFill>
                        </a:rPr>
                        <a:t>O‘pka</a:t>
                      </a:r>
                    </a:p>
                  </a:txBody>
                  <a:tcPr marL="73152" marR="73152" marT="36576" marB="36576">
                    <a:solidFill>
                      <a:srgbClr val="FFFFFF"/>
                    </a:solidFill>
                  </a:tcPr>
                </a:tc>
                <a:tc>
                  <a:txBody>
                    <a:bodyPr/>
                    <a:lstStyle/>
                    <a:p>
                      <a:r>
                        <a:rPr sz="1500" b="0">
                          <a:solidFill>
                            <a:srgbClr val="1F2937"/>
                          </a:solidFill>
                        </a:rPr>
                        <a:t>Gipergidriya, xamirsimon</a:t>
                      </a:r>
                    </a:p>
                  </a:txBody>
                  <a:tcPr marL="73152" marR="73152" marT="36576" marB="36576">
                    <a:solidFill>
                      <a:srgbClr val="FFFFFF"/>
                    </a:solidFill>
                  </a:tcPr>
                </a:tc>
                <a:tc>
                  <a:txBody>
                    <a:bodyPr/>
                    <a:lstStyle/>
                    <a:p>
                      <a:r>
                        <a:rPr sz="1500" b="0">
                          <a:solidFill>
                            <a:srgbClr val="1F2937"/>
                          </a:solidFill>
                        </a:rPr>
                        <a:t>Ba’zan o‘pka shishishi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Odatdagi va dengiz suvida cho‘kish</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123, 124</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Suvdagi to‘satdan o‘lim va cho‘kish: farq</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Yоpiq muhitdagi asfiksiya. Pozitsion asfiksiya Cho’kishda laboratoriya tekshiruvi usullari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26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Ba’zan tana suvga tushishi bilanoq yurak va nafas reflektor to‘xtaydi; asfiksiya belgilari rivojlanib ulgurmaydi.</a:t>
            </a:r>
          </a:p>
          <a:p>
            <a:pPr>
              <a:spcAft>
                <a:spcPts val="800"/>
              </a:spcAft>
            </a:pPr>
            <a:r>
              <a:rPr sz="1800">
                <a:solidFill>
                  <a:srgbClr val="1F2937"/>
                </a:solidFill>
                <a:latin typeface="Calibri"/>
              </a:rPr>
              <a:t>▸  Bu holatni suvdagi to‘satdan o‘lim deb baholash to‘g‘riroq; yurakda to‘satdan o‘limga moyillik yaratuvchi o‘zgarishlar topiladi.</a:t>
            </a:r>
          </a:p>
          <a:p>
            <a:pPr>
              <a:spcAft>
                <a:spcPts val="800"/>
              </a:spcAft>
            </a:pPr>
            <a:r>
              <a:rPr sz="1800">
                <a:solidFill>
                  <a:srgbClr val="1F2937"/>
                </a:solidFill>
                <a:latin typeface="Calibri"/>
              </a:rPr>
              <a:t>▸  Moyillik omillari: issiq urish, o‘ta charchash, oshqozonning to‘laligi, mastlik.</a:t>
            </a:r>
          </a:p>
          <a:p>
            <a:pPr>
              <a:spcAft>
                <a:spcPts val="800"/>
              </a:spcAft>
            </a:pPr>
            <a:r>
              <a:rPr sz="1800">
                <a:solidFill>
                  <a:srgbClr val="1F2937"/>
                </a:solidFill>
                <a:latin typeface="Calibri"/>
              </a:rPr>
              <a:t>▸  Hansirash bosqichida o‘rta va ichki quloq bo‘shliqlarida qon quyilishi (Ulrix-Rostoshinskiy belgisi) kuzatilishi mumkin.</a:t>
            </a:r>
          </a:p>
        </p:txBody>
      </p:sp>
      <p:sp>
        <p:nvSpPr>
          <p:cNvPr id="9" name="Rounded Rectangle 8"/>
          <p:cNvSpPr/>
          <p:nvPr/>
        </p:nvSpPr>
        <p:spPr>
          <a:xfrm>
            <a:off x="5440680" y="1417320"/>
            <a:ext cx="2986887"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Cho‘kish (asfiksiya)</a:t>
            </a:r>
          </a:p>
        </p:txBody>
      </p:sp>
      <p:sp>
        <p:nvSpPr>
          <p:cNvPr id="10" name="Rectangle 9"/>
          <p:cNvSpPr/>
          <p:nvPr/>
        </p:nvSpPr>
        <p:spPr>
          <a:xfrm>
            <a:off x="5440680"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Umumasfiktik belgilar rivojlanadi</a:t>
            </a:r>
          </a:p>
          <a:p>
            <a:pPr algn="l">
              <a:spcAft>
                <a:spcPts val="700"/>
              </a:spcAft>
            </a:pPr>
            <a:r>
              <a:rPr sz="1500" b="1">
                <a:solidFill>
                  <a:srgbClr val="C9A227"/>
                </a:solidFill>
                <a:latin typeface="Calibri"/>
              </a:rPr>
              <a:t>●  </a:t>
            </a:r>
            <a:r>
              <a:rPr sz="1500" b="0">
                <a:solidFill>
                  <a:srgbClr val="1F2937"/>
                </a:solidFill>
                <a:latin typeface="Calibri"/>
              </a:rPr>
              <a:t>Quloqda qon quyilishi (Ulrix-Rostoshinskiy)</a:t>
            </a:r>
          </a:p>
          <a:p>
            <a:pPr algn="l">
              <a:spcAft>
                <a:spcPts val="700"/>
              </a:spcAft>
            </a:pPr>
            <a:r>
              <a:rPr sz="1500" b="1">
                <a:solidFill>
                  <a:srgbClr val="C9A227"/>
                </a:solidFill>
                <a:latin typeface="Calibri"/>
              </a:rPr>
              <a:t>●  </a:t>
            </a:r>
            <a:r>
              <a:rPr sz="1500" b="0">
                <a:solidFill>
                  <a:srgbClr val="1F2937"/>
                </a:solidFill>
                <a:latin typeface="Calibri"/>
              </a:rPr>
              <a:t>Sveshnikov: kalla asosida 5–15 ml suyuqlik</a:t>
            </a:r>
          </a:p>
        </p:txBody>
      </p:sp>
      <p:sp>
        <p:nvSpPr>
          <p:cNvPr id="11" name="Rounded Rectangle 10"/>
          <p:cNvSpPr/>
          <p:nvPr/>
        </p:nvSpPr>
        <p:spPr>
          <a:xfrm>
            <a:off x="8564727" y="1417320"/>
            <a:ext cx="2986887" cy="5486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Suvdagi to‘satdan o‘lim</a:t>
            </a:r>
          </a:p>
        </p:txBody>
      </p:sp>
      <p:sp>
        <p:nvSpPr>
          <p:cNvPr id="12" name="Rectangle 11"/>
          <p:cNvSpPr/>
          <p:nvPr/>
        </p:nvSpPr>
        <p:spPr>
          <a:xfrm>
            <a:off x="8564727"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Yurak va nafas reflektor to‘xtaydi</a:t>
            </a:r>
          </a:p>
          <a:p>
            <a:pPr algn="l">
              <a:spcAft>
                <a:spcPts val="700"/>
              </a:spcAft>
            </a:pPr>
            <a:r>
              <a:rPr sz="1500" b="1">
                <a:solidFill>
                  <a:srgbClr val="C9A227"/>
                </a:solidFill>
                <a:latin typeface="Calibri"/>
              </a:rPr>
              <a:t>●  </a:t>
            </a:r>
            <a:r>
              <a:rPr sz="1500" b="0">
                <a:solidFill>
                  <a:srgbClr val="1F2937"/>
                </a:solidFill>
                <a:latin typeface="Calibri"/>
              </a:rPr>
              <a:t>Faqat tez o‘limga xos belgilar</a:t>
            </a:r>
          </a:p>
          <a:p>
            <a:pPr algn="l">
              <a:spcAft>
                <a:spcPts val="700"/>
              </a:spcAft>
            </a:pPr>
            <a:r>
              <a:rPr sz="1500" b="1">
                <a:solidFill>
                  <a:srgbClr val="C9A227"/>
                </a:solidFill>
                <a:latin typeface="Calibri"/>
              </a:rPr>
              <a:t>●  </a:t>
            </a:r>
            <a:r>
              <a:rPr sz="1500" b="0">
                <a:solidFill>
                  <a:srgbClr val="1F2937"/>
                </a:solidFill>
                <a:latin typeface="Calibri"/>
              </a:rPr>
              <a:t>Yurakda patologik o‘zgarish topiladi</a:t>
            </a:r>
          </a:p>
          <a:p>
            <a:pPr algn="l">
              <a:spcAft>
                <a:spcPts val="700"/>
              </a:spcAft>
            </a:pPr>
            <a:r>
              <a:rPr sz="1500" b="1">
                <a:solidFill>
                  <a:srgbClr val="C9A227"/>
                </a:solidFill>
                <a:latin typeface="Calibri"/>
              </a:rPr>
              <a:t>●  </a:t>
            </a:r>
            <a:r>
              <a:rPr sz="1500" b="0">
                <a:solidFill>
                  <a:srgbClr val="1F2937"/>
                </a:solidFill>
                <a:latin typeface="Calibri"/>
              </a:rPr>
              <a:t>Issiq urish, charchash, mastlik</a:t>
            </a:r>
          </a:p>
        </p:txBody>
      </p:sp>
      <p:sp>
        <p:nvSpPr>
          <p:cNvPr id="13" name="TextBox 12"/>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Ikki mexanizm</a:t>
            </a:r>
          </a:p>
        </p:txBody>
      </p:sp>
      <p:sp>
        <p:nvSpPr>
          <p:cNvPr id="14" name="TextBox 13"/>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124</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3: cho‘kish turini aniqlash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Yоpiq muhitdagi asfiksiya. Pozitsion asfiksiya Cho’kishda laboratoriya tekshiruvi usullari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27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A: og‘iz-burun atrofida turg‘un mayda pufakli oq ko‘pik, o‘pkalar xamirsimon, hajmi ortgan, oshqozonda taxminan 300 ml suv.</a:t>
            </a:r>
          </a:p>
          <a:p>
            <a:pPr>
              <a:spcAft>
                <a:spcPts val="1200"/>
              </a:spcAft>
            </a:pPr>
            <a:r>
              <a:rPr sz="2200">
                <a:solidFill>
                  <a:srgbClr val="1F2937"/>
                </a:solidFill>
                <a:latin typeface="Calibri"/>
              </a:rPr>
              <a:t>▸  Vaziyat B: ko‘pik oz va noturg‘un, o‘pkalar quruq va emfizemali, nafas yo‘llarida suv yo‘q, oshqozonda 1 l gacha suv.</a:t>
            </a:r>
          </a:p>
          <a:p>
            <a:pPr>
              <a:spcAft>
                <a:spcPts val="1200"/>
              </a:spcAft>
            </a:pPr>
            <a:r>
              <a:rPr sz="2200">
                <a:solidFill>
                  <a:srgbClr val="1F2937"/>
                </a:solidFill>
                <a:latin typeface="Calibri"/>
              </a:rPr>
              <a:t>▸  Savol: har bir vaziyatda cho‘kishning qaysi turi (chin yoki asfiktik) haqida o‘ylaysiz? Kamida ikkita dalil keltiring.</a:t>
            </a:r>
          </a:p>
          <a:p>
            <a:pPr>
              <a:spcAft>
                <a:spcPts val="1200"/>
              </a:spcAft>
            </a:pPr>
            <a:r>
              <a:rPr sz="2200">
                <a:solidFill>
                  <a:srgbClr val="1F2937"/>
                </a:solidFill>
                <a:latin typeface="Calibri"/>
              </a:rPr>
              <a:t>▸  Diqqat: umumasfiktik belgilar cho‘kishning barcha turida uchrashi mumkin, shu sababli faqat ularga tayanib tur ajratib bo‘lmaydi.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122-123, 123, 121-123, 121</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Cho‘kish hayotiyligini aniqlash: laboratoriya usullari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Yоpiq muhitdagi asfiksiya. Pozitsion asfiksiya Cho’kishda laboratoriya tekshiruvi usullari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28 / 43</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Suvga tushishning hayotiyligini aniqlash suvdan chiqarilgan murda ekspertizasining asosiy masalalaridan biridir.</a:t>
            </a:r>
          </a:p>
          <a:p>
            <a:pPr>
              <a:spcAft>
                <a:spcPts val="800"/>
              </a:spcAft>
            </a:pPr>
            <a:r>
              <a:rPr sz="1800">
                <a:solidFill>
                  <a:srgbClr val="1F2937"/>
                </a:solidFill>
                <a:latin typeface="Calibri"/>
              </a:rPr>
              <a:t>▸  Mikroskopda chin cho‘kishda nafas yo‘llari va alveolalarda suv bilan kirgan yot moddalar topiladi.</a:t>
            </a:r>
          </a:p>
          <a:p>
            <a:pPr>
              <a:spcAft>
                <a:spcPts val="800"/>
              </a:spcAft>
            </a:pPr>
            <a:r>
              <a:rPr sz="1800">
                <a:solidFill>
                  <a:srgbClr val="1F2937"/>
                </a:solidFill>
                <a:latin typeface="Calibri"/>
              </a:rPr>
              <a:t>▸  Krioskopik, refraktometrik, quyushqoqlik va elektr o‘tkazuvchanlik: chap va o‘ng yurak qoni taqqoslanadi.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Makroskopik tekshiruv</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Ichki a’zolar gistologiyasi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Diatom, psevdoplankton</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Bakteriologik tekshiruv</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Krioskopiya, refraktometr.</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Usullar tartibi (o‘quv sxemasi)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124, 126</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Diatom planktoni tekshiruvi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Yоpiq muhitdagi asfiksiya. Pozitsion asfiksiya Cho’kishda laboratoriya tekshiruvi usullari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29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Diatom — kremniy qobiqli bir hujayrali suv o‘simligi; quyosh tushmaydigan suvlarda bo‘lmaydi.</a:t>
            </a:r>
          </a:p>
          <a:p>
            <a:pPr>
              <a:spcAft>
                <a:spcPts val="800"/>
              </a:spcAft>
            </a:pPr>
            <a:r>
              <a:rPr sz="1800">
                <a:solidFill>
                  <a:srgbClr val="1F2937"/>
                </a:solidFill>
                <a:latin typeface="Calibri"/>
              </a:rPr>
              <a:t>▸  Chin cho‘kishda diatom qonga o‘tib, katta qon doirasi orqali ichki a’zolarga tarqaladi; o‘lchami odatda 15-50 mk.</a:t>
            </a:r>
          </a:p>
          <a:p>
            <a:pPr>
              <a:spcAft>
                <a:spcPts val="800"/>
              </a:spcAft>
            </a:pPr>
            <a:r>
              <a:rPr sz="1800">
                <a:solidFill>
                  <a:srgbClr val="1F2937"/>
                </a:solidFill>
                <a:latin typeface="Calibri"/>
              </a:rPr>
              <a:t>▸  Topilgan diatom murda topilgan havza planktoniga mos bo‘lishi kerak; shu uchun havzadan 1 l suv olinadi.</a:t>
            </a:r>
          </a:p>
        </p:txBody>
      </p:sp>
      <p:sp>
        <p:nvSpPr>
          <p:cNvPr id="9" name="Rounded Rectangle 8"/>
          <p:cNvSpPr/>
          <p:nvPr/>
        </p:nvSpPr>
        <p:spPr>
          <a:xfrm>
            <a:off x="5440680" y="1417320"/>
            <a:ext cx="2986887"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Chin cho‘kish</a:t>
            </a:r>
          </a:p>
        </p:txBody>
      </p:sp>
      <p:sp>
        <p:nvSpPr>
          <p:cNvPr id="10" name="Rectangle 9"/>
          <p:cNvSpPr/>
          <p:nvPr/>
        </p:nvSpPr>
        <p:spPr>
          <a:xfrm>
            <a:off x="5440680"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A’zolarda diatom: Parenximatoz a’zo va suyak miyada topiladi</a:t>
            </a:r>
          </a:p>
          <a:p>
            <a:pPr algn="l">
              <a:spcAft>
                <a:spcPts val="700"/>
              </a:spcAft>
            </a:pPr>
            <a:r>
              <a:rPr sz="1500" b="1">
                <a:solidFill>
                  <a:srgbClr val="C9A227"/>
                </a:solidFill>
                <a:latin typeface="Calibri"/>
              </a:rPr>
              <a:t>●  </a:t>
            </a:r>
            <a:r>
              <a:rPr sz="1500" b="0">
                <a:solidFill>
                  <a:srgbClr val="1F2937"/>
                </a:solidFill>
                <a:latin typeface="Calibri"/>
              </a:rPr>
              <a:t>Namuna: A’zo bo‘lakchasi, suyak miya</a:t>
            </a:r>
          </a:p>
          <a:p>
            <a:pPr algn="l">
              <a:spcAft>
                <a:spcPts val="700"/>
              </a:spcAft>
            </a:pPr>
            <a:r>
              <a:rPr sz="1500" b="1">
                <a:solidFill>
                  <a:srgbClr val="C9A227"/>
                </a:solidFill>
                <a:latin typeface="Calibri"/>
              </a:rPr>
              <a:t>●  </a:t>
            </a:r>
            <a:r>
              <a:rPr sz="1500" b="0">
                <a:solidFill>
                  <a:srgbClr val="1F2937"/>
                </a:solidFill>
                <a:latin typeface="Calibri"/>
              </a:rPr>
              <a:t>O‘pkada topilishi: Diagnostik ahamiyati yo‘q</a:t>
            </a:r>
          </a:p>
        </p:txBody>
      </p:sp>
      <p:sp>
        <p:nvSpPr>
          <p:cNvPr id="11" name="Rounded Rectangle 10"/>
          <p:cNvSpPr/>
          <p:nvPr/>
        </p:nvSpPr>
        <p:spPr>
          <a:xfrm>
            <a:off x="8564727" y="1417320"/>
            <a:ext cx="2986887" cy="5486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Asfiktik</a:t>
            </a:r>
          </a:p>
        </p:txBody>
      </p:sp>
      <p:sp>
        <p:nvSpPr>
          <p:cNvPr id="12" name="Rectangle 11"/>
          <p:cNvSpPr/>
          <p:nvPr/>
        </p:nvSpPr>
        <p:spPr>
          <a:xfrm>
            <a:off x="8564727"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A’zolarda diatom: Bo‘lmasligi mumkin</a:t>
            </a:r>
          </a:p>
          <a:p>
            <a:pPr algn="l">
              <a:spcAft>
                <a:spcPts val="700"/>
              </a:spcAft>
            </a:pPr>
            <a:r>
              <a:rPr sz="1500" b="1">
                <a:solidFill>
                  <a:srgbClr val="C9A227"/>
                </a:solidFill>
                <a:latin typeface="Calibri"/>
              </a:rPr>
              <a:t>●  </a:t>
            </a:r>
            <a:r>
              <a:rPr sz="1500" b="0">
                <a:solidFill>
                  <a:srgbClr val="1F2937"/>
                </a:solidFill>
                <a:latin typeface="Calibri"/>
              </a:rPr>
              <a:t>Namuna: Kalla asosi bo‘shlig‘i suyuqligi</a:t>
            </a:r>
          </a:p>
          <a:p>
            <a:pPr algn="l">
              <a:spcAft>
                <a:spcPts val="700"/>
              </a:spcAft>
            </a:pPr>
            <a:r>
              <a:rPr sz="1500" b="1">
                <a:solidFill>
                  <a:srgbClr val="C9A227"/>
                </a:solidFill>
                <a:latin typeface="Calibri"/>
              </a:rPr>
              <a:t>●  </a:t>
            </a:r>
            <a:r>
              <a:rPr sz="1500" b="0">
                <a:solidFill>
                  <a:srgbClr val="1F2937"/>
                </a:solidFill>
                <a:latin typeface="Calibri"/>
              </a:rPr>
              <a:t>O‘pkada topilishi: Diagnostik ahamiyati yo‘q</a:t>
            </a:r>
          </a:p>
        </p:txBody>
      </p:sp>
      <p:sp>
        <p:nvSpPr>
          <p:cNvPr id="13" name="TextBox 12"/>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Diatom topilishi: ikki tur</a:t>
            </a:r>
          </a:p>
        </p:txBody>
      </p:sp>
      <p:sp>
        <p:nvSpPr>
          <p:cNvPr id="14" name="TextBox 13"/>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124, 125</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Diatom tekshiruvi: o‘lchamlar va namuna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Yоpiq muhitdagi asfiksiya. Pozitsion asfiksiya Cho’kishda laboratoriya tekshiruvi usullari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30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600">
                <a:solidFill>
                  <a:srgbClr val="1F2937"/>
                </a:solidFill>
                <a:latin typeface="Calibri"/>
              </a:rPr>
              <a:t>▸  Diatom planktoni quyosh nuri tushmaydigan suvlardan (yer osti suvi, chuqur quduq) tashqari barcha suv havzalarida, hatto vodoprovod suvida ham bo‘ladi.</a:t>
            </a:r>
          </a:p>
          <a:p>
            <a:pPr>
              <a:spcAft>
                <a:spcPts val="800"/>
              </a:spcAft>
            </a:pPr>
            <a:r>
              <a:rPr sz="1600">
                <a:solidFill>
                  <a:srgbClr val="1F2937"/>
                </a:solidFill>
                <a:latin typeface="Calibri"/>
              </a:rPr>
              <a:t>▸  Odatda 15-50 mk, ba’zan 200 mk gacha kattalikdagi plankton qonga o‘tishi mumkin.</a:t>
            </a:r>
          </a:p>
          <a:p>
            <a:pPr>
              <a:spcAft>
                <a:spcPts val="800"/>
              </a:spcAft>
            </a:pPr>
            <a:r>
              <a:rPr sz="1600">
                <a:solidFill>
                  <a:srgbClr val="1F2937"/>
                </a:solidFill>
                <a:latin typeface="Calibri"/>
              </a:rPr>
              <a:t>▸  Tekshiruv uchun tegishli havzadan 1 l suv namunasi olinadi; topilgan plankton havza suviga mos bo‘lishi lozim.</a:t>
            </a:r>
          </a:p>
          <a:p>
            <a:pPr>
              <a:spcAft>
                <a:spcPts val="800"/>
              </a:spcAft>
            </a:pPr>
            <a:r>
              <a:rPr sz="1600">
                <a:solidFill>
                  <a:srgbClr val="1F2937"/>
                </a:solidFill>
                <a:latin typeface="Calibri"/>
              </a:rPr>
              <a:t>▸  Asfiktik cho‘kishda kalla asosi bo‘shlig‘idan suyuqlik namunasi olinadi; o‘pka to‘qimasidagi diatom diagnostik ahamiyatga ega emas.</a:t>
            </a:r>
          </a:p>
        </p:txBody>
      </p:sp>
      <p:sp>
        <p:nvSpPr>
          <p:cNvPr id="9" name="Rounded Rectangle 8"/>
          <p:cNvSpPr/>
          <p:nvPr/>
        </p:nvSpPr>
        <p:spPr>
          <a:xfrm>
            <a:off x="5440680" y="1417320"/>
            <a:ext cx="2973171" cy="1554480"/>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40680" y="1508760"/>
            <a:ext cx="64008" cy="13716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550408" y="1417320"/>
            <a:ext cx="2863443" cy="1554480"/>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Qonga o‘tadigan o‘lcham</a:t>
            </a:r>
          </a:p>
          <a:p>
            <a:pPr algn="l">
              <a:spcAft>
                <a:spcPts val="100"/>
              </a:spcAft>
            </a:pPr>
            <a:r>
              <a:rPr sz="3000" b="1">
                <a:solidFill>
                  <a:srgbClr val="0B1F3A"/>
                </a:solidFill>
                <a:latin typeface="Calibri"/>
              </a:rPr>
              <a:t>15–50</a:t>
            </a:r>
            <a:r>
              <a:rPr sz="1500" b="0">
                <a:solidFill>
                  <a:srgbClr val="6B7280"/>
                </a:solidFill>
                <a:latin typeface="Calibri"/>
              </a:rPr>
              <a:t>  mk</a:t>
            </a:r>
          </a:p>
        </p:txBody>
      </p:sp>
      <p:sp>
        <p:nvSpPr>
          <p:cNvPr id="12" name="Rounded Rectangle 11"/>
          <p:cNvSpPr/>
          <p:nvPr/>
        </p:nvSpPr>
        <p:spPr>
          <a:xfrm>
            <a:off x="8578443" y="1417320"/>
            <a:ext cx="2973171" cy="1554480"/>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578443" y="1508760"/>
            <a:ext cx="64008" cy="13716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8171" y="1417320"/>
            <a:ext cx="2863443" cy="1554480"/>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Eng yirik o‘lcham</a:t>
            </a:r>
          </a:p>
          <a:p>
            <a:pPr algn="l">
              <a:spcAft>
                <a:spcPts val="100"/>
              </a:spcAft>
            </a:pPr>
            <a:r>
              <a:rPr sz="3000" b="1">
                <a:solidFill>
                  <a:srgbClr val="0B1F3A"/>
                </a:solidFill>
                <a:latin typeface="Calibri"/>
              </a:rPr>
              <a:t>200 gacha</a:t>
            </a:r>
            <a:r>
              <a:rPr sz="1500" b="0">
                <a:solidFill>
                  <a:srgbClr val="6B7280"/>
                </a:solidFill>
                <a:latin typeface="Calibri"/>
              </a:rPr>
              <a:t>  mk</a:t>
            </a:r>
          </a:p>
        </p:txBody>
      </p:sp>
      <p:sp>
        <p:nvSpPr>
          <p:cNvPr id="15" name="Rounded Rectangle 14"/>
          <p:cNvSpPr/>
          <p:nvPr/>
        </p:nvSpPr>
        <p:spPr>
          <a:xfrm>
            <a:off x="5440680" y="3118104"/>
            <a:ext cx="2973171" cy="1554480"/>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40680" y="3209544"/>
            <a:ext cx="64008" cy="13716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550408" y="3118104"/>
            <a:ext cx="2863443" cy="1554480"/>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Havzadan suv namunasi</a:t>
            </a:r>
          </a:p>
          <a:p>
            <a:pPr algn="l">
              <a:spcAft>
                <a:spcPts val="100"/>
              </a:spcAft>
            </a:pPr>
            <a:r>
              <a:rPr sz="3000" b="1">
                <a:solidFill>
                  <a:srgbClr val="0B1F3A"/>
                </a:solidFill>
                <a:latin typeface="Calibri"/>
              </a:rPr>
              <a:t>1</a:t>
            </a:r>
            <a:r>
              <a:rPr sz="1500" b="0">
                <a:solidFill>
                  <a:srgbClr val="6B7280"/>
                </a:solidFill>
                <a:latin typeface="Calibri"/>
              </a:rPr>
              <a:t>  l</a:t>
            </a:r>
          </a:p>
        </p:txBody>
      </p:sp>
      <p:sp>
        <p:nvSpPr>
          <p:cNvPr id="18" name="Rounded Rectangle 17"/>
          <p:cNvSpPr/>
          <p:nvPr/>
        </p:nvSpPr>
        <p:spPr>
          <a:xfrm>
            <a:off x="8578443" y="3118104"/>
            <a:ext cx="2973171" cy="1554480"/>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578443" y="3209544"/>
            <a:ext cx="64008" cy="13716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8171" y="3118104"/>
            <a:ext cx="2863443" cy="1554480"/>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Kalla asosi suyuqligi</a:t>
            </a:r>
          </a:p>
          <a:p>
            <a:pPr algn="l">
              <a:spcAft>
                <a:spcPts val="100"/>
              </a:spcAft>
            </a:pPr>
            <a:r>
              <a:rPr sz="3000" b="1">
                <a:solidFill>
                  <a:srgbClr val="0B1F3A"/>
                </a:solidFill>
                <a:latin typeface="Calibri"/>
              </a:rPr>
              <a:t>5–15</a:t>
            </a:r>
            <a:r>
              <a:rPr sz="1500" b="0">
                <a:solidFill>
                  <a:srgbClr val="6B7280"/>
                </a:solidFill>
                <a:latin typeface="Calibri"/>
              </a:rPr>
              <a:t>  ml</a:t>
            </a:r>
          </a:p>
        </p:txBody>
      </p:sp>
      <p:sp>
        <p:nvSpPr>
          <p:cNvPr id="21" name="TextBox 20"/>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Diatom tekshiruvi</a:t>
            </a:r>
          </a:p>
        </p:txBody>
      </p:sp>
      <p:sp>
        <p:nvSpPr>
          <p:cNvPr id="22" name="TextBox 21"/>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124, 125</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Psevdoplankton, bakteriologik va fizik usullar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Yоpiq muhitdagi asfiksiya. Pozitsion asfiksiya Cho’kishda laboratoriya tekshiruvi usullari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31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Psevdoplankton: mayda qum, o‘simlik changi, suv o‘simligi qismlari. Polyarizatsion mikroskopiyada aniqlanadi.</a:t>
            </a:r>
          </a:p>
          <a:p>
            <a:pPr>
              <a:spcAft>
                <a:spcPts val="800"/>
              </a:spcAft>
            </a:pPr>
            <a:r>
              <a:rPr sz="1800">
                <a:solidFill>
                  <a:srgbClr val="1F2937"/>
                </a:solidFill>
                <a:latin typeface="Calibri"/>
              </a:rPr>
              <a:t>▸  Ichki a’zolarda suvdagi bakteriyalar (Pseudomonas putida, P. fluorescens) topilsa, suvga hayotiy tushgan.</a:t>
            </a:r>
          </a:p>
          <a:p>
            <a:pPr>
              <a:spcAft>
                <a:spcPts val="800"/>
              </a:spcAft>
            </a:pPr>
            <a:r>
              <a:rPr sz="1800">
                <a:solidFill>
                  <a:srgbClr val="1F2937"/>
                </a:solidFill>
                <a:latin typeface="Calibri"/>
              </a:rPr>
              <a:t>▸  Krioskopiya, refraktometriya, quyushqoqlik, o‘tkazuvchanlik: yurakning chap va o‘ng qoni solishtiriladi.</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Qo‘shimcha lab. usullar</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1892808"/>
            <a:ext cx="0" cy="3072384"/>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1892808"/>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Psevdoplankton</a:t>
            </a:r>
          </a:p>
          <a:p>
            <a:pPr algn="l">
              <a:spcAft>
                <a:spcPts val="0"/>
              </a:spcAft>
            </a:pPr>
            <a:r>
              <a:rPr sz="1200" b="0">
                <a:solidFill>
                  <a:srgbClr val="1F2937"/>
                </a:solidFill>
                <a:latin typeface="Calibri"/>
              </a:rPr>
              <a:t>Qum, chang, o‘simlik qismlari  ·  Diatom kabi a’zolarga o‘tishi mumkin</a:t>
            </a:r>
          </a:p>
        </p:txBody>
      </p:sp>
      <p:cxnSp>
        <p:nvCxnSpPr>
          <p:cNvPr id="15" name="Connector 14"/>
          <p:cNvCxnSpPr/>
          <p:nvPr/>
        </p:nvCxnSpPr>
        <p:spPr>
          <a:xfrm>
            <a:off x="7612380" y="2916936"/>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441448"/>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441448"/>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Bakteriologik</a:t>
            </a:r>
          </a:p>
          <a:p>
            <a:pPr algn="l">
              <a:spcAft>
                <a:spcPts val="0"/>
              </a:spcAft>
            </a:pPr>
            <a:r>
              <a:rPr sz="1200" b="0">
                <a:solidFill>
                  <a:srgbClr val="1F2937"/>
                </a:solidFill>
                <a:latin typeface="Calibri"/>
              </a:rPr>
              <a:t>Pseudomonas putida, P. fluorescens  ·  A’zolarda topilsa – hayotiy tushgan</a:t>
            </a:r>
          </a:p>
        </p:txBody>
      </p:sp>
      <p:cxnSp>
        <p:nvCxnSpPr>
          <p:cNvPr id="18" name="Connector 17"/>
          <p:cNvCxnSpPr/>
          <p:nvPr/>
        </p:nvCxnSpPr>
        <p:spPr>
          <a:xfrm>
            <a:off x="7612380" y="394106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3465576"/>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3465576"/>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Krioskopiya, refraktometr.</a:t>
            </a:r>
          </a:p>
          <a:p>
            <a:pPr algn="l">
              <a:spcAft>
                <a:spcPts val="0"/>
              </a:spcAft>
            </a:pPr>
            <a:r>
              <a:rPr sz="1200" b="0">
                <a:solidFill>
                  <a:srgbClr val="1F2937"/>
                </a:solidFill>
                <a:latin typeface="Calibri"/>
              </a:rPr>
              <a:t>Muzlash harorati, nur sindirishi  ·  Chap va o‘ng yurak qoni taqqoslanadi</a:t>
            </a:r>
          </a:p>
        </p:txBody>
      </p:sp>
      <p:cxnSp>
        <p:nvCxnSpPr>
          <p:cNvPr id="21" name="Connector 20"/>
          <p:cNvCxnSpPr/>
          <p:nvPr/>
        </p:nvCxnSpPr>
        <p:spPr>
          <a:xfrm>
            <a:off x="7612380" y="4965192"/>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7772400" y="4489704"/>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0" y="4489704"/>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Quyushqoqlik, o‘tkazuvch.</a:t>
            </a:r>
          </a:p>
          <a:p>
            <a:pPr algn="l">
              <a:spcAft>
                <a:spcPts val="0"/>
              </a:spcAft>
            </a:pPr>
            <a:r>
              <a:rPr sz="1200" b="0">
                <a:solidFill>
                  <a:srgbClr val="1F2937"/>
                </a:solidFill>
                <a:latin typeface="Calibri"/>
              </a:rPr>
              <a:t>Qonning fizik xususiyati  ·  Chap va o‘ng yurak qoni taqqoslanadi</a:t>
            </a:r>
          </a:p>
        </p:txBody>
      </p:sp>
      <p:sp>
        <p:nvSpPr>
          <p:cNvPr id="24" name="TextBox 23"/>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Qo‘shimcha lab. usullar</a:t>
            </a:r>
          </a:p>
        </p:txBody>
      </p:sp>
      <p:sp>
        <p:nvSpPr>
          <p:cNvPr id="25" name="TextBox 2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126</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va “Eslab qoling”: cho‘kish belgilari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Yоpiq muhitdagi asfiksiya. Pozitsion asfiksiya Cho’kishda laboratoriya tekshiruvi usullari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32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Tezkor savol: Krushevskiy, Moro, Fegerlund va Sveshnikov belgilari nimani bildiradi? Juftlab ayting.</a:t>
            </a:r>
          </a:p>
          <a:p>
            <a:pPr>
              <a:spcAft>
                <a:spcPts val="1200"/>
              </a:spcAft>
            </a:pPr>
            <a:r>
              <a:rPr sz="2200">
                <a:solidFill>
                  <a:srgbClr val="1F2937"/>
                </a:solidFill>
                <a:latin typeface="Calibri"/>
              </a:rPr>
              <a:t>▸  Javob: Krushevskiy – og‘iz-burundagi oq ko‘pik; Moro – qorinda ~100 ml suyuqlik; Fegerlund – oshqozonda suv; Sveshnikov – kalla asosida 5-15 ml.</a:t>
            </a:r>
          </a:p>
          <a:p>
            <a:pPr>
              <a:spcAft>
                <a:spcPts val="1200"/>
              </a:spcAft>
            </a:pPr>
            <a:r>
              <a:rPr sz="2200">
                <a:solidFill>
                  <a:srgbClr val="1F2937"/>
                </a:solidFill>
                <a:latin typeface="Calibri"/>
              </a:rPr>
              <a:t>▸  Diqqat: xato qilish xavfi – o‘pka to‘qimasida diatom topilishi diagnostik emas. O‘limdan so‘ng suvga tushganda ham bo‘ladi.</a:t>
            </a:r>
          </a:p>
          <a:p>
            <a:pPr>
              <a:spcAft>
                <a:spcPts val="1200"/>
              </a:spcAft>
            </a:pPr>
            <a:r>
              <a:rPr sz="2200">
                <a:solidFill>
                  <a:srgbClr val="1F2937"/>
                </a:solidFill>
                <a:latin typeface="Calibri"/>
              </a:rPr>
              <a:t>▸  Eslab qoling: pastdan yuqoriga – Moro (qorin), Fegerlund (oshqozon), Sveshnikov (kalla asosi). Oshqozondagi suv chinda 300 ml gacha, asfiktikda 1 l gacha.</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122-124, 125, 123-124</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Suvdan chiqarilgan murdadagi jarohatlar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Yоpiq muhitdagi asfiksiya. Pozitsion asfiksiya Cho’kishda laboratoriya tekshiruvi usullari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33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Hayotiy jarohatlar suvga tushishdan oldin ham yetkazilgan bo‘lishi mumkin.</a:t>
            </a:r>
          </a:p>
          <a:p>
            <a:pPr>
              <a:spcAft>
                <a:spcPts val="800"/>
              </a:spcAft>
            </a:pPr>
            <a:r>
              <a:rPr sz="1800">
                <a:solidFill>
                  <a:srgbClr val="1F2937"/>
                </a:solidFill>
                <a:latin typeface="Calibri"/>
              </a:rPr>
              <a:t>▸  O‘limdan so‘ng baliqlar, suv hayvonlari va kuchli oqimdagi urilishlar jarohat qoldirishi mumkin.</a:t>
            </a:r>
          </a:p>
          <a:p>
            <a:pPr>
              <a:spcAft>
                <a:spcPts val="800"/>
              </a:spcAft>
            </a:pPr>
            <a:r>
              <a:rPr sz="1800">
                <a:solidFill>
                  <a:srgbClr val="1F2937"/>
                </a:solidFill>
                <a:latin typeface="Calibri"/>
              </a:rPr>
              <a:t>▸  Birinchi yordamda yurak massaji va sun’iy nafas ham jarohat yetkazishi mumkin.</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Jarohat manbalari</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1892808"/>
            <a:ext cx="0" cy="3072384"/>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1892808"/>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Hayotiy</a:t>
            </a:r>
          </a:p>
          <a:p>
            <a:pPr algn="l">
              <a:spcAft>
                <a:spcPts val="0"/>
              </a:spcAft>
            </a:pPr>
            <a:r>
              <a:rPr sz="1200" b="0">
                <a:solidFill>
                  <a:srgbClr val="1F2937"/>
                </a:solidFill>
                <a:latin typeface="Calibri"/>
              </a:rPr>
              <a:t>Suv yuzasi, tubiga urilish  ·  Suvga tushishdan oldin ham mumkin</a:t>
            </a:r>
          </a:p>
        </p:txBody>
      </p:sp>
      <p:cxnSp>
        <p:nvCxnSpPr>
          <p:cNvPr id="15" name="Connector 14"/>
          <p:cNvCxnSpPr/>
          <p:nvPr/>
        </p:nvCxnSpPr>
        <p:spPr>
          <a:xfrm>
            <a:off x="7612380" y="2916936"/>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441448"/>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441448"/>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O‘limdan keyin</a:t>
            </a:r>
          </a:p>
          <a:p>
            <a:pPr algn="l">
              <a:spcAft>
                <a:spcPts val="0"/>
              </a:spcAft>
            </a:pPr>
            <a:r>
              <a:rPr sz="1200" b="0">
                <a:solidFill>
                  <a:srgbClr val="1F2937"/>
                </a:solidFill>
                <a:latin typeface="Calibri"/>
              </a:rPr>
              <a:t>Baliqlar, suv hayvonlari  ·  Murdaga shikast yetkazadi</a:t>
            </a:r>
          </a:p>
        </p:txBody>
      </p:sp>
      <p:cxnSp>
        <p:nvCxnSpPr>
          <p:cNvPr id="18" name="Connector 17"/>
          <p:cNvCxnSpPr/>
          <p:nvPr/>
        </p:nvCxnSpPr>
        <p:spPr>
          <a:xfrm>
            <a:off x="7612380" y="394106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3465576"/>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3465576"/>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O‘limdan keyin</a:t>
            </a:r>
          </a:p>
          <a:p>
            <a:pPr algn="l">
              <a:spcAft>
                <a:spcPts val="0"/>
              </a:spcAft>
            </a:pPr>
            <a:r>
              <a:rPr sz="1200" b="0">
                <a:solidFill>
                  <a:srgbClr val="1F2937"/>
                </a:solidFill>
                <a:latin typeface="Calibri"/>
              </a:rPr>
              <a:t>Kuchli oqim, havza tubi jismlari  ·  Tananing urilishidan jarohat</a:t>
            </a:r>
          </a:p>
        </p:txBody>
      </p:sp>
      <p:cxnSp>
        <p:nvCxnSpPr>
          <p:cNvPr id="21" name="Connector 20"/>
          <p:cNvCxnSpPr/>
          <p:nvPr/>
        </p:nvCxnSpPr>
        <p:spPr>
          <a:xfrm>
            <a:off x="7612380" y="4965192"/>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7772400" y="4489704"/>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0" y="4489704"/>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Birinchi yordam</a:t>
            </a:r>
          </a:p>
          <a:p>
            <a:pPr algn="l">
              <a:spcAft>
                <a:spcPts val="0"/>
              </a:spcAft>
            </a:pPr>
            <a:r>
              <a:rPr sz="1200" b="0">
                <a:solidFill>
                  <a:srgbClr val="1F2937"/>
                </a:solidFill>
                <a:latin typeface="Calibri"/>
              </a:rPr>
              <a:t>Yurak massaji, sun’iy nafas  ·  Jarohat yetkazilishi mumkin</a:t>
            </a:r>
          </a:p>
        </p:txBody>
      </p:sp>
      <p:sp>
        <p:nvSpPr>
          <p:cNvPr id="24" name="TextBox 23"/>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Jarohat manbalari</a:t>
            </a:r>
          </a:p>
        </p:txBody>
      </p:sp>
      <p:sp>
        <p:nvSpPr>
          <p:cNvPr id="25" name="TextBox 2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126</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Murdaning suvda bo‘lganlik belgilari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Yоpiq muhitdagi asfiksiya. Pozitsion asfiksiya Cho’kishda laboratoriya tekshiruvi usullari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34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Kiyim va tana loy, qum, moy, suv o‘tlari bilan ifloslanadi; suvda murda tezroq soviydi.</a:t>
            </a:r>
          </a:p>
          <a:p>
            <a:pPr>
              <a:spcAft>
                <a:spcPts val="800"/>
              </a:spcAft>
            </a:pPr>
            <a:r>
              <a:rPr sz="1800">
                <a:solidFill>
                  <a:srgbClr val="1F2937"/>
                </a:solidFill>
                <a:latin typeface="Calibri"/>
              </a:rPr>
              <a:t>▸  Sovuq suvda teri oqaradi, soch ko‘taruvchi mushaklar qisqarib “g‘oz terisi” hosil bo‘ladi.</a:t>
            </a:r>
          </a:p>
          <a:p>
            <a:pPr>
              <a:spcAft>
                <a:spcPts val="800"/>
              </a:spcAft>
            </a:pPr>
            <a:r>
              <a:rPr sz="1800">
                <a:solidFill>
                  <a:srgbClr val="1F2937"/>
                </a:solidFill>
                <a:latin typeface="Calibri"/>
              </a:rPr>
              <a:t>▸  Diqqat: bu belgilar suvda yotganlikni bildiradi, o‘lim sababini emas; tezligi suv haroratiga bog‘liq.</a:t>
            </a:r>
          </a:p>
        </p:txBody>
      </p:sp>
      <p:sp>
        <p:nvSpPr>
          <p:cNvPr id="9" name="Rounded Rectangle 8"/>
          <p:cNvSpPr/>
          <p:nvPr/>
        </p:nvSpPr>
        <p:spPr>
          <a:xfrm>
            <a:off x="5440680" y="1417320"/>
            <a:ext cx="2973171" cy="1947672"/>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550408" y="2162556"/>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1</a:t>
            </a:r>
          </a:p>
        </p:txBody>
      </p:sp>
      <p:sp>
        <p:nvSpPr>
          <p:cNvPr id="11" name="TextBox 10"/>
          <p:cNvSpPr txBox="1"/>
          <p:nvPr/>
        </p:nvSpPr>
        <p:spPr>
          <a:xfrm>
            <a:off x="6080760" y="1417320"/>
            <a:ext cx="2259939" cy="1947672"/>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Bir necha soat</a:t>
            </a:r>
          </a:p>
          <a:p>
            <a:pPr algn="l">
              <a:spcAft>
                <a:spcPts val="200"/>
              </a:spcAft>
            </a:pPr>
            <a:r>
              <a:rPr sz="1400" b="0">
                <a:solidFill>
                  <a:srgbClr val="1F2937"/>
                </a:solidFill>
                <a:latin typeface="Calibri"/>
              </a:rPr>
              <a:t>Barmoqlar oqarib, bujmayadi</a:t>
            </a:r>
          </a:p>
        </p:txBody>
      </p:sp>
      <p:sp>
        <p:nvSpPr>
          <p:cNvPr id="12" name="Rounded Rectangle 11"/>
          <p:cNvSpPr/>
          <p:nvPr/>
        </p:nvSpPr>
        <p:spPr>
          <a:xfrm>
            <a:off x="8578443" y="1417320"/>
            <a:ext cx="2973171" cy="1947672"/>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688171" y="2162556"/>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2</a:t>
            </a:r>
          </a:p>
        </p:txBody>
      </p:sp>
      <p:sp>
        <p:nvSpPr>
          <p:cNvPr id="14" name="TextBox 13"/>
          <p:cNvSpPr txBox="1"/>
          <p:nvPr/>
        </p:nvSpPr>
        <p:spPr>
          <a:xfrm>
            <a:off x="9218523" y="1417320"/>
            <a:ext cx="2259939" cy="1947672"/>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2–8 kun</a:t>
            </a:r>
          </a:p>
          <a:p>
            <a:pPr algn="l">
              <a:spcAft>
                <a:spcPts val="200"/>
              </a:spcAft>
            </a:pPr>
            <a:r>
              <a:rPr sz="1400" b="0">
                <a:solidFill>
                  <a:srgbClr val="1F2937"/>
                </a:solidFill>
                <a:latin typeface="Calibri"/>
              </a:rPr>
              <a:t>Kaft, tovon qamraladi; “kir yuvuvchi qo‘l”</a:t>
            </a:r>
          </a:p>
        </p:txBody>
      </p:sp>
      <p:sp>
        <p:nvSpPr>
          <p:cNvPr id="15" name="Rounded Rectangle 14"/>
          <p:cNvSpPr/>
          <p:nvPr/>
        </p:nvSpPr>
        <p:spPr>
          <a:xfrm>
            <a:off x="5440680" y="3493008"/>
            <a:ext cx="2973171" cy="1947672"/>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550408" y="4238244"/>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3</a:t>
            </a:r>
          </a:p>
        </p:txBody>
      </p:sp>
      <p:sp>
        <p:nvSpPr>
          <p:cNvPr id="17" name="TextBox 16"/>
          <p:cNvSpPr txBox="1"/>
          <p:nvPr/>
        </p:nvSpPr>
        <p:spPr>
          <a:xfrm>
            <a:off x="6080760" y="3493008"/>
            <a:ext cx="2259939" cy="1947672"/>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10–15 kun</a:t>
            </a:r>
          </a:p>
          <a:p>
            <a:pPr algn="l">
              <a:spcAft>
                <a:spcPts val="200"/>
              </a:spcAft>
            </a:pPr>
            <a:r>
              <a:rPr sz="1400" b="0">
                <a:solidFill>
                  <a:srgbClr val="1F2937"/>
                </a:solidFill>
                <a:latin typeface="Calibri"/>
              </a:rPr>
              <a:t>Sochlar oson sug‘uriladi, keyin to‘kiladi</a:t>
            </a:r>
          </a:p>
        </p:txBody>
      </p:sp>
      <p:sp>
        <p:nvSpPr>
          <p:cNvPr id="18" name="Rounded Rectangle 17"/>
          <p:cNvSpPr/>
          <p:nvPr/>
        </p:nvSpPr>
        <p:spPr>
          <a:xfrm>
            <a:off x="8578443" y="3493008"/>
            <a:ext cx="2973171" cy="1947672"/>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688171" y="4238244"/>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4</a:t>
            </a:r>
          </a:p>
        </p:txBody>
      </p:sp>
      <p:sp>
        <p:nvSpPr>
          <p:cNvPr id="20" name="TextBox 19"/>
          <p:cNvSpPr txBox="1"/>
          <p:nvPr/>
        </p:nvSpPr>
        <p:spPr>
          <a:xfrm>
            <a:off x="9218523" y="3493008"/>
            <a:ext cx="2259939" cy="1947672"/>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2–3 hafta</a:t>
            </a:r>
          </a:p>
          <a:p>
            <a:pPr algn="l">
              <a:spcAft>
                <a:spcPts val="200"/>
              </a:spcAft>
            </a:pPr>
            <a:r>
              <a:rPr sz="1400" b="0">
                <a:solidFill>
                  <a:srgbClr val="1F2937"/>
                </a:solidFill>
                <a:latin typeface="Calibri"/>
              </a:rPr>
              <a:t>Kaft terisi ajraladi: “o‘lim qo‘lqopi”</a:t>
            </a:r>
          </a:p>
        </p:txBody>
      </p:sp>
      <p:sp>
        <p:nvSpPr>
          <p:cNvPr id="21" name="TextBox 20"/>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Suvda yotish: vaqt chizig‘i</a:t>
            </a:r>
          </a:p>
        </p:txBody>
      </p:sp>
      <p:sp>
        <p:nvSpPr>
          <p:cNvPr id="22" name="TextBox 21"/>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127, 128–129</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4: suvdan chiqarilgan murda jarohatlari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Yоpiq muhitdagi asfiksiya. Pozitsion asfiksiya Cho’kishda laboratoriya tekshiruvi usullari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35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suv oqimi kuchli havzadan murda olindi, uning tanasida turli jarohatlar bor. Ular hayotiy yoki o‘limdan keyingi bo‘lishi mumkin.</a:t>
            </a:r>
          </a:p>
          <a:p>
            <a:pPr>
              <a:spcAft>
                <a:spcPts val="1200"/>
              </a:spcAft>
            </a:pPr>
            <a:r>
              <a:rPr sz="2200">
                <a:solidFill>
                  <a:srgbClr val="1F2937"/>
                </a:solidFill>
                <a:latin typeface="Calibri"/>
              </a:rPr>
              <a:t>▸  Kuchli oqimda tana suvdagi va havza tubidagi jismlarga uriladi. Hayotiy jarohat suvga tushishdan oldin ham yetkazilgan bo‘lishi mumkin.</a:t>
            </a:r>
          </a:p>
          <a:p>
            <a:pPr>
              <a:spcAft>
                <a:spcPts val="1200"/>
              </a:spcAft>
            </a:pPr>
            <a:r>
              <a:rPr sz="2200">
                <a:solidFill>
                  <a:srgbClr val="1F2937"/>
                </a:solidFill>
                <a:latin typeface="Calibri"/>
              </a:rPr>
              <a:t>▸  O‘limdan so‘ng baliqlar va suv hayvonlari shikast yetkazishi mumkin. Birinchi yordamda yurak massaji, sun’iy nafas oldirishda ham jarohat paydo bo‘ladi.</a:t>
            </a:r>
          </a:p>
          <a:p>
            <a:pPr>
              <a:spcAft>
                <a:spcPts val="1200"/>
              </a:spcAft>
            </a:pPr>
            <a:r>
              <a:rPr sz="2200">
                <a:solidFill>
                  <a:srgbClr val="1F2937"/>
                </a:solidFill>
                <a:latin typeface="Calibri"/>
              </a:rPr>
              <a:t>▸  Savol: bu jarohatlarni qanday guruhlarga ajratasiz va har birining kelib chiqish manbai nima bo‘lishi mumkin?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126</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Kompression asfiksiya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Yоpiq muhitdagi asfiksiya. Pozitsion asfiksiya Cho’kishda laboratoriya tekshiruvi usullari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36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Ko‘krak qafasi va qorin old devori harakati cheklansa yoki to‘xtasa, nafas buziladi. O‘tmas jism bilan qisilishda kompression asfiksiya rivojlanadi.</a:t>
            </a:r>
          </a:p>
          <a:p>
            <a:pPr>
              <a:spcAft>
                <a:spcPts val="1200"/>
              </a:spcAft>
            </a:pPr>
            <a:r>
              <a:rPr sz="2000">
                <a:solidFill>
                  <a:srgbClr val="1F2937"/>
                </a:solidFill>
                <a:latin typeface="Calibri"/>
              </a:rPr>
              <a:t>▸  Sabablar: yer qimirlashi, ko‘chki, binolarning qulashi, avtomobil ag‘darilishi, olomonning tartibsiz harakatida qisilish (masalan, stadiondan chiqishda).</a:t>
            </a:r>
          </a:p>
          <a:p>
            <a:pPr>
              <a:spcAft>
                <a:spcPts val="1200"/>
              </a:spcAft>
            </a:pPr>
            <a:r>
              <a:rPr sz="2000">
                <a:solidFill>
                  <a:srgbClr val="1F2937"/>
                </a:solidFill>
                <a:latin typeface="Calibri"/>
              </a:rPr>
              <a:t>▸  Frontal qisilish yonlama qisilishdan xavfliroq. Faqat qorin qisilishiga organizm chidamliroq; ko‘krak qisilganda yurak va diafragma harakati ham buziladi.</a:t>
            </a:r>
          </a:p>
          <a:p>
            <a:pPr>
              <a:spcAft>
                <a:spcPts val="1200"/>
              </a:spcAft>
            </a:pPr>
            <a:r>
              <a:rPr sz="2000">
                <a:solidFill>
                  <a:srgbClr val="1F2937"/>
                </a:solidFill>
                <a:latin typeface="Calibri"/>
              </a:rPr>
              <a:t>▸  Ekximotik niqob (Olive-Danjer): yuz shishadi, ko‘karadi, teri va ko‘z shilliq pardalariga qon quyiladi. Karmin shishish (Lakkasan): o‘pka yorqin qizil.</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129</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Cheklangan yopiq muhitdagi asfiksiya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Yоpiq muhitdagi asfiksiya. Pozitsion asfiksiya Cho’kishda laboratoriya tekshiruvi usullari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37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Yopiq muhitda kislorod kamayib, karbonat angidrid (CO2) ortadi; o‘limda CO2 yetakchi rol o‘ynaydi.</a:t>
            </a:r>
          </a:p>
          <a:p>
            <a:pPr>
              <a:spcAft>
                <a:spcPts val="800"/>
              </a:spcAft>
            </a:pPr>
            <a:r>
              <a:rPr sz="1800">
                <a:solidFill>
                  <a:srgbClr val="1F2937"/>
                </a:solidFill>
                <a:latin typeface="Calibri"/>
              </a:rPr>
              <a:t>▸  CO2 kattalarda 8-10% da o‘limga olib keladi; bolalarda 2,0-2,5% ham hayot uchun xavfli.</a:t>
            </a:r>
          </a:p>
          <a:p>
            <a:pPr>
              <a:spcAft>
                <a:spcPts val="800"/>
              </a:spcAft>
            </a:pPr>
            <a:r>
              <a:rPr sz="1800">
                <a:solidFill>
                  <a:srgbClr val="1F2937"/>
                </a:solidFill>
                <a:latin typeface="Calibri"/>
              </a:rPr>
              <a:t>▸  Boshga plastik qopcha qotillikda ham, seksual asfiksiyada (autoasfiksiofiliya) ham uchraydi.</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Yopiq muhit turlari</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1892808"/>
            <a:ext cx="0" cy="3072384"/>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1892808"/>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Yopiq muhit</a:t>
            </a:r>
          </a:p>
          <a:p>
            <a:pPr algn="l">
              <a:spcAft>
                <a:spcPts val="0"/>
              </a:spcAft>
            </a:pPr>
            <a:r>
              <a:rPr sz="1200" b="0">
                <a:solidFill>
                  <a:srgbClr val="1F2937"/>
                </a:solidFill>
                <a:latin typeface="Calibri"/>
              </a:rPr>
              <a:t>Suv osti kemasi, sovutkich, sandiq  ·  Gipoksiya va giperkapniya</a:t>
            </a:r>
          </a:p>
        </p:txBody>
      </p:sp>
      <p:cxnSp>
        <p:nvCxnSpPr>
          <p:cNvPr id="15" name="Connector 14"/>
          <p:cNvCxnSpPr/>
          <p:nvPr/>
        </p:nvCxnSpPr>
        <p:spPr>
          <a:xfrm>
            <a:off x="7612380" y="2916936"/>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441448"/>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441448"/>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Notoliq yopiq</a:t>
            </a:r>
          </a:p>
          <a:p>
            <a:pPr algn="l">
              <a:spcAft>
                <a:spcPts val="0"/>
              </a:spcAft>
            </a:pPr>
            <a:r>
              <a:rPr sz="1200" b="0">
                <a:solidFill>
                  <a:srgbClr val="1F2937"/>
                </a:solidFill>
                <a:latin typeface="Calibri"/>
              </a:rPr>
              <a:t>Chuqur quduq, silos o‘rasi, ombor  ·  + bijg‘ish, chirish toksinlari</a:t>
            </a:r>
          </a:p>
        </p:txBody>
      </p:sp>
      <p:cxnSp>
        <p:nvCxnSpPr>
          <p:cNvPr id="18" name="Connector 17"/>
          <p:cNvCxnSpPr/>
          <p:nvPr/>
        </p:nvCxnSpPr>
        <p:spPr>
          <a:xfrm>
            <a:off x="7612380" y="394106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3465576"/>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3465576"/>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Boshga qopcha</a:t>
            </a:r>
          </a:p>
          <a:p>
            <a:pPr algn="l">
              <a:spcAft>
                <a:spcPts val="0"/>
              </a:spcAft>
            </a:pPr>
            <a:r>
              <a:rPr sz="1200" b="0">
                <a:solidFill>
                  <a:srgbClr val="1F2937"/>
                </a:solidFill>
                <a:latin typeface="Calibri"/>
              </a:rPr>
              <a:t>Qotillik, seksual asfiksiya  ·  Cheklangan muhit asfiksiyasi</a:t>
            </a:r>
          </a:p>
        </p:txBody>
      </p:sp>
      <p:cxnSp>
        <p:nvCxnSpPr>
          <p:cNvPr id="21" name="Connector 20"/>
          <p:cNvCxnSpPr/>
          <p:nvPr/>
        </p:nvCxnSpPr>
        <p:spPr>
          <a:xfrm>
            <a:off x="7612380" y="4965192"/>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7772400" y="4489704"/>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0" y="4489704"/>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Murdada</a:t>
            </a:r>
          </a:p>
          <a:p>
            <a:pPr algn="l">
              <a:spcAft>
                <a:spcPts val="0"/>
              </a:spcAft>
            </a:pPr>
            <a:r>
              <a:rPr sz="1200" b="0">
                <a:solidFill>
                  <a:srgbClr val="1F2937"/>
                </a:solidFill>
                <a:latin typeface="Calibri"/>
              </a:rPr>
              <a:t>Umumasfiktik, tez o‘lim belgilari  ·  Xos o‘zgarish yo‘q</a:t>
            </a:r>
          </a:p>
        </p:txBody>
      </p:sp>
      <p:sp>
        <p:nvSpPr>
          <p:cNvPr id="24" name="TextBox 23"/>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Yopiq muhit turlari</a:t>
            </a:r>
          </a:p>
        </p:txBody>
      </p:sp>
      <p:sp>
        <p:nvSpPr>
          <p:cNvPr id="25" name="TextBox 2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130</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Cheklangan muhitda karbonat angidrid chegaralari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Yоpiq muhitdagi asfiksiya. Pozitsion asfiksiya Cho’kishda laboratoriya tekshiruvi usullari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38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Cheklangan yopiq muhitda o‘lim sodir bo‘lishida karbonat angidrid miqdorining oshishi yetakchi ahamiyatga ega.</a:t>
            </a:r>
          </a:p>
          <a:p>
            <a:pPr>
              <a:spcAft>
                <a:spcPts val="800"/>
              </a:spcAft>
            </a:pPr>
            <a:r>
              <a:rPr sz="1800">
                <a:solidFill>
                  <a:srgbClr val="1F2937"/>
                </a:solidFill>
                <a:latin typeface="Calibri"/>
              </a:rPr>
              <a:t>▸  Havoda uning konsentratsiyasi 0,5% ga yetganda nafas olish maromi tezlashadi, o‘pka ventilyatsiyasi kuchayadi.</a:t>
            </a:r>
          </a:p>
          <a:p>
            <a:pPr>
              <a:spcAft>
                <a:spcPts val="800"/>
              </a:spcAft>
            </a:pPr>
            <a:r>
              <a:rPr sz="1800">
                <a:solidFill>
                  <a:srgbClr val="1F2937"/>
                </a:solidFill>
                <a:latin typeface="Calibri"/>
              </a:rPr>
              <a:t>▸  Kattalarda o‘lim odatda 8-10% da sodir bo‘ladi, bolalarda 2,0-2,5% ga yetishi hayot uchun xavfli.</a:t>
            </a:r>
          </a:p>
          <a:p>
            <a:pPr>
              <a:spcAft>
                <a:spcPts val="800"/>
              </a:spcAft>
            </a:pPr>
            <a:r>
              <a:rPr sz="1800">
                <a:solidFill>
                  <a:srgbClr val="1F2937"/>
                </a:solidFill>
                <a:latin typeface="Calibri"/>
              </a:rPr>
              <a:t>▸  Yopiq muhitdagi gazlar tarkibi va hajmiga qarab odamning shu muhitda bo‘lish davomiyligini taxminan hisoblash mumkin.</a:t>
            </a:r>
          </a:p>
        </p:txBody>
      </p:sp>
      <p:sp>
        <p:nvSpPr>
          <p:cNvPr id="9" name="Rounded Rectangle 8"/>
          <p:cNvSpPr/>
          <p:nvPr/>
        </p:nvSpPr>
        <p:spPr>
          <a:xfrm>
            <a:off x="5440680" y="1417320"/>
            <a:ext cx="1927250" cy="1554480"/>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40680" y="1508760"/>
            <a:ext cx="64008" cy="13716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550408" y="1417320"/>
            <a:ext cx="1817522" cy="1554480"/>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Nafas maromi tezlashadi</a:t>
            </a:r>
          </a:p>
          <a:p>
            <a:pPr algn="l">
              <a:spcAft>
                <a:spcPts val="100"/>
              </a:spcAft>
            </a:pPr>
            <a:r>
              <a:rPr sz="3000" b="1">
                <a:solidFill>
                  <a:srgbClr val="0B1F3A"/>
                </a:solidFill>
                <a:latin typeface="Calibri"/>
              </a:rPr>
              <a:t>0,5</a:t>
            </a:r>
            <a:r>
              <a:rPr sz="1500" b="0">
                <a:solidFill>
                  <a:srgbClr val="6B7280"/>
                </a:solidFill>
                <a:latin typeface="Calibri"/>
              </a:rPr>
              <a:t>  %</a:t>
            </a:r>
          </a:p>
        </p:txBody>
      </p:sp>
      <p:sp>
        <p:nvSpPr>
          <p:cNvPr id="12" name="Rounded Rectangle 11"/>
          <p:cNvSpPr/>
          <p:nvPr/>
        </p:nvSpPr>
        <p:spPr>
          <a:xfrm>
            <a:off x="7532522" y="1417320"/>
            <a:ext cx="1927250" cy="1554480"/>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532522" y="1508760"/>
            <a:ext cx="64008" cy="13716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42250" y="1417320"/>
            <a:ext cx="1817522" cy="1554480"/>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Bolalar uchun xavfli</a:t>
            </a:r>
          </a:p>
          <a:p>
            <a:pPr algn="l">
              <a:spcAft>
                <a:spcPts val="100"/>
              </a:spcAft>
            </a:pPr>
            <a:r>
              <a:rPr sz="2500" b="1">
                <a:solidFill>
                  <a:srgbClr val="0B1F3A"/>
                </a:solidFill>
                <a:latin typeface="Calibri"/>
              </a:rPr>
              <a:t>2,0–2,5</a:t>
            </a:r>
            <a:r>
              <a:rPr sz="1200" b="0">
                <a:solidFill>
                  <a:srgbClr val="6B7280"/>
                </a:solidFill>
                <a:latin typeface="Calibri"/>
              </a:rPr>
              <a:t>  %</a:t>
            </a:r>
          </a:p>
        </p:txBody>
      </p:sp>
      <p:sp>
        <p:nvSpPr>
          <p:cNvPr id="15" name="Rounded Rectangle 14"/>
          <p:cNvSpPr/>
          <p:nvPr/>
        </p:nvSpPr>
        <p:spPr>
          <a:xfrm>
            <a:off x="9624364" y="1417320"/>
            <a:ext cx="1927250" cy="1554480"/>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9624364" y="1508760"/>
            <a:ext cx="64008" cy="13716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734092" y="1417320"/>
            <a:ext cx="1817522" cy="1554480"/>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Kattalarda o‘lim</a:t>
            </a:r>
          </a:p>
          <a:p>
            <a:pPr algn="l">
              <a:spcAft>
                <a:spcPts val="100"/>
              </a:spcAft>
            </a:pPr>
            <a:r>
              <a:rPr sz="3000" b="1">
                <a:solidFill>
                  <a:srgbClr val="0B1F3A"/>
                </a:solidFill>
                <a:latin typeface="Calibri"/>
              </a:rPr>
              <a:t>8–10</a:t>
            </a:r>
            <a:r>
              <a:rPr sz="1500" b="0">
                <a:solidFill>
                  <a:srgbClr val="6B7280"/>
                </a:solidFill>
                <a:latin typeface="Calibri"/>
              </a:rPr>
              <a:t>  %</a:t>
            </a:r>
          </a:p>
        </p:txBody>
      </p:sp>
      <p:sp>
        <p:nvSpPr>
          <p:cNvPr id="18" name="TextBox 17"/>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Havodagi karbonat angidrid</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130</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Cheklangan yopiq va notoliq yopiq muhit</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Yоpiq muhitdagi asfiksiya. Pozitsion asfiksiya Cho’kishda laboratoriya tekshiruvi usullari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39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600">
                <a:solidFill>
                  <a:srgbClr val="1F2937"/>
                </a:solidFill>
                <a:latin typeface="Calibri"/>
              </a:rPr>
              <a:t>▸  Aksariyat hollarda baxtsiz hodisa: yer qimirlashi, ko‘chki, suv osti kemasi halokati, bolaning sovutkich kamerasi yoki germetik sandiqqa kirib qolishi.</a:t>
            </a:r>
          </a:p>
          <a:p>
            <a:pPr>
              <a:spcAft>
                <a:spcPts val="800"/>
              </a:spcAft>
            </a:pPr>
            <a:r>
              <a:rPr sz="1600">
                <a:solidFill>
                  <a:srgbClr val="1F2937"/>
                </a:solidFill>
                <a:latin typeface="Calibri"/>
              </a:rPr>
              <a:t>▸  Boshga plastik qopcha kiygizish qotillikda ham, autoasfiksiofiliyada ham uchraydi; ikkinchisi baxtsiz hodisa hisoblanadi.</a:t>
            </a:r>
          </a:p>
          <a:p>
            <a:pPr>
              <a:spcAft>
                <a:spcPts val="800"/>
              </a:spcAft>
            </a:pPr>
            <a:r>
              <a:rPr sz="1600">
                <a:solidFill>
                  <a:srgbClr val="1F2937"/>
                </a:solidFill>
                <a:latin typeface="Calibri"/>
              </a:rPr>
              <a:t>▸  Notoliq yopiq muhit: chuqur quduq, silos o‘rasi, sabzavot ombori, vino saqlash moslamasi, yonilg‘i tizimlari.</a:t>
            </a:r>
          </a:p>
          <a:p>
            <a:pPr>
              <a:spcAft>
                <a:spcPts val="800"/>
              </a:spcAft>
            </a:pPr>
            <a:r>
              <a:rPr sz="1600">
                <a:solidFill>
                  <a:srgbClr val="1F2937"/>
                </a:solidFill>
                <a:latin typeface="Calibri"/>
              </a:rPr>
              <a:t>▸  Murdada faqat umumasfiktik va tez o‘lim belgilari topiladi; sabab hodisa tafsilotlari va boshqa sabablarni istisno qilish bilan aniqlanadi.</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Yopiq muhit asfiksiyasi</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1790395"/>
            <a:ext cx="0" cy="3277209"/>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1790395"/>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746150"/>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746150"/>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To‘liq yopiq muhit</a:t>
            </a:r>
          </a:p>
          <a:p>
            <a:pPr algn="l">
              <a:spcAft>
                <a:spcPts val="0"/>
              </a:spcAft>
            </a:pPr>
            <a:r>
              <a:rPr sz="1200" b="0">
                <a:solidFill>
                  <a:srgbClr val="1F2937"/>
                </a:solidFill>
                <a:latin typeface="Calibri"/>
              </a:rPr>
              <a:t>Sovutkich kamerasi, germetik sandiq  ·  Suv osti kemasi, yer qimirlashi</a:t>
            </a:r>
          </a:p>
        </p:txBody>
      </p:sp>
      <p:cxnSp>
        <p:nvCxnSpPr>
          <p:cNvPr id="15" name="Connector 14"/>
          <p:cNvCxnSpPr/>
          <p:nvPr/>
        </p:nvCxnSpPr>
        <p:spPr>
          <a:xfrm>
            <a:off x="7612380" y="2609697"/>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236622"/>
            <a:ext cx="3779215" cy="746150"/>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236622"/>
            <a:ext cx="3779215" cy="746150"/>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Notoliq yopiq muhit</a:t>
            </a:r>
          </a:p>
          <a:p>
            <a:pPr algn="l">
              <a:spcAft>
                <a:spcPts val="0"/>
              </a:spcAft>
            </a:pPr>
            <a:r>
              <a:rPr sz="1200" b="0">
                <a:solidFill>
                  <a:srgbClr val="1F2937"/>
                </a:solidFill>
                <a:latin typeface="Calibri"/>
              </a:rPr>
              <a:t>Chuqur quduq, silos o‘rasi  ·  Sabzavot ombori, vino idishlari</a:t>
            </a:r>
          </a:p>
        </p:txBody>
      </p:sp>
      <p:cxnSp>
        <p:nvCxnSpPr>
          <p:cNvPr id="18" name="Connector 17"/>
          <p:cNvCxnSpPr/>
          <p:nvPr/>
        </p:nvCxnSpPr>
        <p:spPr>
          <a:xfrm>
            <a:off x="761238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3055924"/>
            <a:ext cx="3779215" cy="746150"/>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3055924"/>
            <a:ext cx="3779215" cy="746150"/>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Plastik qopcha</a:t>
            </a:r>
          </a:p>
          <a:p>
            <a:pPr algn="l">
              <a:spcAft>
                <a:spcPts val="0"/>
              </a:spcAft>
            </a:pPr>
            <a:r>
              <a:rPr sz="1200" b="0">
                <a:solidFill>
                  <a:srgbClr val="1F2937"/>
                </a:solidFill>
                <a:latin typeface="Calibri"/>
              </a:rPr>
              <a:t>Qotillik  ·  Autoasfiksiofiliya (baxtsiz hodisa)</a:t>
            </a:r>
          </a:p>
        </p:txBody>
      </p:sp>
      <p:cxnSp>
        <p:nvCxnSpPr>
          <p:cNvPr id="21" name="Connector 20"/>
          <p:cNvCxnSpPr/>
          <p:nvPr/>
        </p:nvCxnSpPr>
        <p:spPr>
          <a:xfrm>
            <a:off x="7612380" y="4248302"/>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7772400" y="3875227"/>
            <a:ext cx="3779215" cy="746150"/>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0" y="3875227"/>
            <a:ext cx="3779215" cy="746150"/>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Qo‘shimcha omil</a:t>
            </a:r>
          </a:p>
          <a:p>
            <a:pPr algn="l">
              <a:spcAft>
                <a:spcPts val="0"/>
              </a:spcAft>
            </a:pPr>
            <a:r>
              <a:rPr sz="1200" b="0">
                <a:solidFill>
                  <a:srgbClr val="1F2937"/>
                </a:solidFill>
                <a:latin typeface="Calibri"/>
              </a:rPr>
              <a:t>Bijg‘ish, chirishdagi toksik moddalar</a:t>
            </a:r>
          </a:p>
        </p:txBody>
      </p:sp>
      <p:cxnSp>
        <p:nvCxnSpPr>
          <p:cNvPr id="24" name="Connector 23"/>
          <p:cNvCxnSpPr/>
          <p:nvPr/>
        </p:nvCxnSpPr>
        <p:spPr>
          <a:xfrm>
            <a:off x="7612380" y="506760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7772400" y="4694529"/>
            <a:ext cx="3779215" cy="746150"/>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72400" y="4694529"/>
            <a:ext cx="3779215" cy="746150"/>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Murda tekshiruvi</a:t>
            </a:r>
          </a:p>
          <a:p>
            <a:pPr algn="l">
              <a:spcAft>
                <a:spcPts val="0"/>
              </a:spcAft>
            </a:pPr>
            <a:r>
              <a:rPr sz="1200" b="0">
                <a:solidFill>
                  <a:srgbClr val="1F2937"/>
                </a:solidFill>
                <a:latin typeface="Calibri"/>
              </a:rPr>
              <a:t>Faqat umumasfiktik belgilar  ·  Xos o‘zgarish yo‘q</a:t>
            </a:r>
          </a:p>
        </p:txBody>
      </p:sp>
      <p:sp>
        <p:nvSpPr>
          <p:cNvPr id="27" name="TextBox 26"/>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Muhit turlari</a:t>
            </a:r>
          </a:p>
        </p:txBody>
      </p:sp>
      <p:sp>
        <p:nvSpPr>
          <p:cNvPr id="28" name="TextBox 27"/>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130</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5: yopiq muhitdagi o‘lim</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Yоpiq muhitdagi asfiksiya. Pozitsion asfiksiya Cho’kishda laboratoriya tekshiruvi usullari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40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kichik yoshdagi bola sovutkich kamerasi yoki germetik sandiq ichida o‘lik holda topildi. Baxtsiz hodisa gumon qilinmoqda.</a:t>
            </a:r>
          </a:p>
          <a:p>
            <a:pPr>
              <a:spcAft>
                <a:spcPts val="1200"/>
              </a:spcAft>
            </a:pPr>
            <a:r>
              <a:rPr sz="2200">
                <a:solidFill>
                  <a:srgbClr val="1F2937"/>
                </a:solidFill>
                <a:latin typeface="Calibri"/>
              </a:rPr>
              <a:t>▸  Savol 1: o‘lim qaysi mexanizm bilan sodir bo‘ldi va bolalar uchun havodagi CO2 ning qaysi darajasi xavfli?</a:t>
            </a:r>
          </a:p>
          <a:p>
            <a:pPr>
              <a:spcAft>
                <a:spcPts val="1200"/>
              </a:spcAft>
            </a:pPr>
            <a:r>
              <a:rPr sz="2200">
                <a:solidFill>
                  <a:srgbClr val="1F2937"/>
                </a:solidFill>
                <a:latin typeface="Calibri"/>
              </a:rPr>
              <a:t>▸  Savol 2: murda tekshiruvida qanday belgilar kutiladi va bu turga xos maxsus o‘zgarish bormi?</a:t>
            </a:r>
          </a:p>
          <a:p>
            <a:pPr>
              <a:spcAft>
                <a:spcPts val="1200"/>
              </a:spcAft>
            </a:pPr>
            <a:r>
              <a:rPr sz="2200">
                <a:solidFill>
                  <a:srgbClr val="1F2937"/>
                </a:solidFill>
                <a:latin typeface="Calibri"/>
              </a:rPr>
              <a:t>▸  Diqqat: xato qilish xavfi — xos belgi yo‘q, faqat umumasfiktik va tez o‘limga xos belgilar aniqlanadi.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130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Xulosa va asosiy xulosalar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Yоpiq muhitdagi asfiksiya. Pozitsion asfiksiya Cho’kishda laboratoriya tekshiruvi usullari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41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Mexanik asfiksiya uch turga bo‘linadi: qisilishdan, yopilishdan va cheklangan muhitdagi asfiksiya. Oxirgisida CO2 ortishi yetakchi, xos belgi yo‘q.</a:t>
            </a:r>
          </a:p>
          <a:p>
            <a:pPr>
              <a:spcAft>
                <a:spcPts val="1200"/>
              </a:spcAft>
            </a:pPr>
            <a:r>
              <a:rPr sz="2200">
                <a:solidFill>
                  <a:srgbClr val="1F2937"/>
                </a:solidFill>
                <a:latin typeface="Calibri"/>
              </a:rPr>
              <a:t>▸  Pozitsion asfiksiyada bo‘yinda egat bo‘lmaydi, til osti suyagi va hiqildoq tog‘aylari butun; diagnoz boshqa sabablarni istisno qilish bilan qo‘yiladi.</a:t>
            </a:r>
          </a:p>
          <a:p>
            <a:pPr>
              <a:spcAft>
                <a:spcPts val="1200"/>
              </a:spcAft>
            </a:pPr>
            <a:r>
              <a:rPr sz="2200">
                <a:solidFill>
                  <a:srgbClr val="1F2937"/>
                </a:solidFill>
                <a:latin typeface="Calibri"/>
              </a:rPr>
              <a:t>▸  Cho‘kish hayotiyligi diatom planktoni, psevdoplankton, bakteriologik, krioskopik va boshqa laboratoriya usullari bilan aniqlanadi.</a:t>
            </a:r>
          </a:p>
          <a:p>
            <a:pPr>
              <a:spcAft>
                <a:spcPts val="1200"/>
              </a:spcAft>
            </a:pPr>
            <a:r>
              <a:rPr sz="2200">
                <a:solidFill>
                  <a:srgbClr val="1F2937"/>
                </a:solidFill>
                <a:latin typeface="Calibri"/>
              </a:rPr>
              <a:t>▸  Suvdan chiqqan murdada jarohat hayotiy, suvga tushishdan oldingi yoki o‘limdan keyingi (baliq, oqim, reanimatsiya) bo‘lishi mumkin.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105, 130, 119, 124-126, 126</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Qiziqarli ma’lumotlar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Yоpiq muhitdagi asfiksiya. Pozitsion asfiksiya Cho’kishda laboratoriya tekshiruvi usullari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42 / 43</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1200"/>
              </a:spcAft>
            </a:pPr>
            <a:r>
              <a:rPr sz="1800">
                <a:solidFill>
                  <a:srgbClr val="1F2937"/>
                </a:solidFill>
                <a:latin typeface="Calibri"/>
              </a:rPr>
              <a:t>▸  Mnemonika: Tarde dog‘lari ham epikard, ham visseral plevra ostida bo‘ladi. Rasskazov-Lukomskiy-Paltauf dog‘lari esa faqat plevra ostida, epikard ostida bo‘lmaydi. Ular chin cho‘kishga xos: inspirator hansirashda hosil bo‘lgan Tarde dog‘lari terminal nafas bosqichida suv bilan gemolizga uchraydi.</a:t>
            </a:r>
          </a:p>
          <a:p>
            <a:pPr>
              <a:spcAft>
                <a:spcPts val="1200"/>
              </a:spcAft>
            </a:pPr>
            <a:r>
              <a:rPr sz="1800">
                <a:solidFill>
                  <a:srgbClr val="1F2937"/>
                </a:solidFill>
                <a:latin typeface="Calibri"/>
              </a:rPr>
              <a:t>▸  Fegerlund belgisini farqlash: chin cho‘kishda oshqozonda 300 ml gacha suv topilishi mumkin. Asfiktik cho‘kishda laringospazm suvni nafas yo‘liga o‘tkazmaydi, shuning uchun oshqozonda 1 l gacha suv bo‘lishi mumkin.</a:t>
            </a:r>
          </a:p>
          <a:p>
            <a:pPr>
              <a:spcAft>
                <a:spcPts val="1200"/>
              </a:spcAft>
            </a:pPr>
            <a:r>
              <a:rPr sz="1800">
                <a:solidFill>
                  <a:srgbClr val="1F2937"/>
                </a:solidFill>
                <a:latin typeface="Calibri"/>
              </a:rPr>
              <a:t>▸  Diatom planktoni deyarli hamma joyda bor: vodoprovod, distillangan va yomg‘ir suvida ham aniqlanadi. Faqat quyosh nuri tushmaydigan yer osti suvi va chuqur quduqda bo‘lmaydi. Parenximatoz a’zolar va suyak miyada topilsa, cho‘kishning hayotiyligini ko‘rsatadi. O‘pka to‘qimasida topilishi esa ahamiyatga ega emas.</a:t>
            </a:r>
          </a:p>
          <a:p>
            <a:pPr>
              <a:spcAft>
                <a:spcPts val="1200"/>
              </a:spcAft>
            </a:pPr>
            <a:r>
              <a:rPr sz="1800">
                <a:solidFill>
                  <a:srgbClr val="1F2937"/>
                </a:solidFill>
                <a:latin typeface="Calibri"/>
              </a:rPr>
              <a:t>▸  Suvda bo‘lish muddatini teridan baholash: bir necha soatdan so‘ng qo‘l va oyoq barmoqlari oqarib bujmayadi. 2-5 kunda o‘zgarish qo‘l kaftini qamraydi (“kir yuvuvchi qo‘li”). 5-8 kunda tovonni qamraydi. 2-3 haftada teri “o‘lim qo‘lqopi” shaklida ajralishi mumkin.</a:t>
            </a:r>
          </a:p>
          <a:p>
            <a:pPr>
              <a:spcAft>
                <a:spcPts val="1200"/>
              </a:spcAft>
            </a:pPr>
            <a:r>
              <a:rPr sz="1800">
                <a:solidFill>
                  <a:srgbClr val="1F2937"/>
                </a:solidFill>
                <a:latin typeface="Calibri"/>
              </a:rPr>
              <a:t>▸  Tibbiyot tarixida asfiksiya kechishi bo‘yicha faqat bitta tajriba qayd etilgan. N.Minovichi 1905-yilda o‘zida, assistentlari yordamida osilish bo‘yicha tajriba o‘tkazgan. Shu sababli asfiksiya bosqichlarining davomiyligi shartli va taxminiy hisoblanadi.</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Adabiyotlar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Yоpiq muhitdagi asfiksiya. Pozitsion asfiksiya Cho’kishda laboratoriya tekshiruvi usullari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43 / 43</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800"/>
              </a:spcAft>
            </a:pPr>
            <a:r>
              <a:rPr sz="2000">
                <a:solidFill>
                  <a:srgbClr val="1F2937"/>
                </a:solidFill>
                <a:latin typeface="Calibri"/>
              </a:rPr>
              <a:t>▸  G‘iyosov Z.A. Sud tibbiyoti: darslik, Toshkent: Global Books nashriyoti. 2018. Bob 5. Kislorod tanqisligi (asfiksiya)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