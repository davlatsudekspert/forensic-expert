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nima uchun cho‘kish hodisalarida ekspertning asosiy savoli “suvga tirik tushganmi?” bo‘ladi? Doskada reja sxemasini (6 band) chizdiring. Tipik xato: talabalar cho‘kishni faqat baxtsiz hodisa deb o‘ylaydi; manbada o‘z-o‘zini o‘ldirish va qotillik ham ko‘rsatilgan.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nima uchun asfiksiyani gipoksiyaning o‘zi deb bo‘lmaydi? Nima uchun markaziy nerv tizimi kislorod tanqisligiga eng sezgir? Doskada ikki doira chizdiring: “gipoksiya” katta, “asfiksiya = gipoksiya + giperkapniya” ichida. Tipik xato: ikki atamani sinonim sifatida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sianid bilan zaharlanish qaysi turga kiradi, bo‘yin qisilishi-chi? Doskada jadvalni daftarga ko‘chirib, har turga bittadan misol yozdiring. Tipik xato: gemik va sitotoksik turni aralashtirish (biri gemoglobin, ikkinchisi to‘qima nafasi bilan bog‘liq).</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Asfiksiya va gipoksiya o‘rtasida qanday farq bor? 2) Nega cho‘kish yopilish guruhiga kiradi? Doskada: tasnif daraxtini (3 ta asosiy shox) chizdiring. Tipik xato: talabalar cho‘kishni qisilishdan asfiksiya deb yozadi.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Hodisa joyini sinchiklab ko‘zdan kechirish nega muhim? 2) Bunday o‘lim nega qotillikdan farqlanishi kerak? Doskada: hodisa joyidagi belgilar ro‘yxatini yozdiring. Tipik xato: bunday o‘limni avtomatik o‘z-o‘zini o‘ldirish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 daq. Muhokama: giperkapnik gipoksiya qaysi muhitda rivojlanadi? Doskada: 3 ta savolga javoblarni talabalar chizsin. Tipik xato: gipoksiya va asfiksiyani bir xil tushuncha deb hisoblash (asfiksiyada gipoksiya giperkapniya bilan birga bo‘ladi).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preasfiktik davrda asfiksiya belgilari hali rivojlanmaydi? Tugallanmagan asfiksiya kuzatuvlari nima uchun davr vaqtlarini shartli qiladi? Doskada: ikki davrli zanjirni chizing va har bosqich yoniga vaqtini yozing. Tipik xato: talabalar preasfiktik davrni asfiktik davrning bosqichi deb adashtiradi; ular alohida davrlardir.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Ekspirator bosqichdagi talvasa jarohatini boshqa shaxs yetkazgan jarohatdan qanday farqlaymiz? Nafas to‘liq to‘xtagach yurak nega bir muddat urishi mumkin? Doskada: jadvalni ko‘chirib, har bosqichda bosim o‘zgarishini (arterial/venoz) strelka bilan belgilang. Tipik xato: inspirator va ekspirator bosqichlardagi bosim va puls o‘zgarishlarini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Nima uchun dastlabki soatlarda o‘pka shishining rivojlanishi noxush prognostik belgi hisoblanadi? Postasfiktik holatni bilish klinitsist vrach uchun nega muhim? Doskada: to‘rt davrni zanjir qilib chizing va har biriga bittadan asosiy belgi yozing. Tipik xato: konfabulyatsiyani oddiy yolg‘on deb tushunish; bu xotira bo‘shliqlarini anglamagan holda soxta xotira bilan to‘ldirishdir.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bitta belgi tashxis uchun yetarli emas? Tarde dog‘lari qayerda joylashadi? Doskada: jadvalni tashqi va ichki belgilar ustunlariga bo‘lib chizdiring. Tipik xato: sianozni asfiksiyaning turg‘un va spetsifik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ko‘kimtirlik qanday holatlarda asfiksiyaga aloqador emas? Talvasa jarohatini begona jarohatdan ajratishda nimaga e’tibor beramiz? Doskada: murda holati (chalqancha va yuz bilan pastga) bo‘yicha sianoz farqini chizdiring. Tipik xato: talvasa jarohatlarini avtomatik tarzda qotillik belgisi deb baholash.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osilish asosan o‘z-o‘zini o‘ldirish usuli hisoblanadi? Sirtmoq tuguni nima uchun kriminalistik ahamiyatga ega? Doskada: bo‘yin sxemasida tugunning tipik va atipik joylarini belgilang. Tipik xato: osilishda o‘limni faqat havo yo‘lining to‘liq yopilishi bilan tushuntirish.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osilishda egat qiyshiq, bo‘g‘ishda gorizontal bo‘ladi? 2) Egat hayotiyligini qaysi belgilar tasdiqlaydi? Doskada: bo‘yinning old ko‘rinishini chizib, ikki egat yo‘nalishini rangli bo‘r bilan ko‘rsating. Tipik xato: Amyuss, Valxer, Simon belgilarini bo‘g‘ishga xos deb hisoblash; ular faqat bo‘yin cho‘zilishi bilan bog‘liq. Diqqat: osilishda til osti suyagi va qalqonsimon tog‘ay jarohati xos emas (sirtmoq pastroq bo‘lsa mumkin).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qo‘l bilan bo‘g‘ishda ichki jarohat tashqidan yaqqol? 2) Yumshoq jism ustidan bo‘g‘ishda ekspert nimalarga e’tibor beradi? Doskada: old tomondan ikki qo‘l bilan bo‘g‘ishda bo‘yin ikki yonida barmoq izlari joylashuvini chizing. Tipik xato: tashqi iz yo‘qligidan bo‘g‘ish bo‘lmagan deb xulosa qilish; ichki tekshiruv shart.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sharoitlarda tana cheklangan bo‘shliqqa tushib qolishi mumkin? 2) Nega diagnoz istisno qilish usuliga tayanadi? Doskada: bukilgan bo‘yin va burmaning kesim sxemasini chizing. Tipik xato: bo‘yin burmasini haqiqiy strangulyatsion egat deb qabul qilish. Diqqat: burma ≠ egat; ichki tekshiruv va hodisa tafsiloti hal qiladi.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pozitsion asfiksiyada tashxis asosan istisno usuli bilan qo‘yiladi? 2) Burma bilan egatni ichki tekshiruvda qanday farqlash mumkin? Doskada chizing: bo‘yin kesimi va burma proeksiyasidagi oqimtir yo‘lka. Tipik xato: bo‘yindagi burmani strangulyatsion egat deb baholash va qotillikka shubha qilish.</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Qanday boshqa sabablar istisno qilinishi kerak? 2) Hodisa joyini ko‘zdan kechirish qanday rol o‘ynaydi? Doskada chizing: istisno bosqichlari ketma-ketligi (tafsilotlar, murda tekshiruvi, boshqa sabablar). Tipik xato: burmani egat deb olib, voqea tafsilotlarini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so‘rang, 2-3 talabadan javob oling. Muhokama: egat yo‘nalishi mexanizmga qanday bog‘liq? Doskada chizing: tipik osilish va sirtmoq bilan bo‘g‘ishdagi egat joylashuvi. Tipik xato: osilish va sirtmoq bilan bo‘g‘ishdagi egat yo‘nalishini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qarshilik bo‘lmaganda o‘limning xos belgisi topilmaydi? 2) Hodisa joyini o‘rganish nima uchun muhim? Doskada: ikki ustunli sxema chizing – «qarshilik yo‘q» va «qarshilik bor» belgilari. Tipik xato: umumasfiktik belgilarni shu turning xos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Nordon qusuq moddasi qonga nisbatan nega xavfliroq? 2) Reanimatsiyadan keyin topilgan qusuqni qanday baholaysiz? Doskada: o‘lim mexanizmi zanjirini chizing (yopilish – havo o‘tmaydi – asfiksiya yoki reflektor to‘xtash). Tipik xato: murdada qusuq borligini darhol obturatsion asfiksiya deb xulosa qilish; kichik bronx va alveolalardagi massa hal qiluvchi.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Hiqildoq spazmi nima uchun asfiktik cho‘kishda suvni o‘tkazmaydi? 2) Havza xususiyatlari (oqar-oqmas, chuchuk-sho‘r, harorat) o‘limga qanday ta’sir qiladi? Doskada: chin va asfiktik cho‘kish uchun suv yo‘lini ikki strelka bilan chizing. Tipik xato: umumasfiktik belgilar faqat bitta turda bo‘ladi deb o‘ylash; manbaga ko‘ra ular barcha turlarda uchrashi mumkin.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chin cho‘kishda qon suyuladi? 2) Krushevskiy ko‘pigi vaqt o‘tishi bilan nega pushti tusga kiradi? Doskada: jadvalni chizib, har belgini suv yo‘li (alveola, qon, oshqozon) bilan bog‘lang. Tipik xato: Rasskazov–Lukomskiy–Paltauf dog‘larini Tarde dog‘lari bilan adashtirish. Rasskazov–Lukomskiy–Paltauf dog‘lari epikard ostida bo‘lmaydi.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Laringospazm qaysi belgilarni tushuntiradi? 2) Sunsov sinamasi oddiy mexanik jarohatdagi teshishdan nimasi bilan farq qiladi? Doskada: ikki ustunli chizma, chapda suv alveolaga yetadi, o‘ngda laringospazm. Tipik xato: Sunsov sinamasida o‘ng qorinchani teshish. Havo emboliyasi uchun chap qorincha teshiladi. Diqqat: umumasfiktik belgilar cho‘kishning barcha turlarida bo‘lishi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Osmos yo‘nalishi dengiz suvida nega teskari? 2) Suvdagi to‘satdan o‘lim cho‘kishdan nimasi bilan farq qiladi? Doskada: semipermeabel to‘siq (alveola) chizib, suv va elektrolit oqimini strelkalar bilan ko‘rsating. Tipik xato: reflektor to‘xtashni chin cho‘kish deb baholash. Darslik buni suvdagi to‘satdan o‘lim deyish to‘g‘riroq deydi. Odatdagi suv ustuni shu manbada dengiz suviga qarama-qarshi qo‘yilgan.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1) A va B ni qaysi belgilar ajratadi? 2) Nega oshqozondagi suv miqdori ikkala holda farq qiladi? Doskada A va B uchun ikki ustunli belgilar ro‘yxatini chizdiring. To‘g‘ri javob: A chin (aspiratsion), B asfiktik (spastik). Tipik xato: oshqozondagi suvga tayanib, uni yagona hal qiluvchi belgi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faqat makroskopik tekshiruv yetarli emas? 2) Bakteriyalardan qaysilari (Pseudomonas putida, Pseudomonas fluorescens) suv bilan o‘tadi? Doskada sxemani ketma-ketlikda chizdiring. Eslatma: tartib o‘quv maqsadida shartli berilgan. Tipik xato: krioskopik va refraktometrik usullarning yurak qoni kameralarini solishtirishga asoslanganini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o‘pkadagi diatom hayotiylikni isbotlamaydi (o‘limdan so‘ng suv nafas yo‘llariga o‘tishi mumkin)? 2) Nega asfiktik cho‘kishda kalla asosi suyuqligi olinadi? Doskada jadvalni o‘zingiz qayta chizdiring. Tipik xato: o‘pkadagi diatomni hayotiylik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Psevdoplankton diatomdan nimasi bilan farq qiladi? 2) Nima uchun chap va o‘ng yurak qoni solishtiriladi? Doskada: to‘rt usulning jadvalini chizdiring. Tipik xato: psevdoplanktonni haqiqiy plankton deb olish va uni cho‘kishning hayotiylik belgisi hisoblash.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asfiktik cho‘kishda oshqozonda suv ko‘proq? 2) Diatom qaysi a’zolarda topilsa, hayotiylikni bildiradi? Doskada: tana sxemasi chizib, uchta belgining joyini belgilang. Tipik xato: o‘pkadagi diatomni hayotiylik belgisi deb olish va Moro bilan Fegerlundni almashtirib yuborish. Eslatma: mnemonika (pastdan yuqoriga) darslikda yo‘q, o‘qituvchi o‘zi tuzgan tartib.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Jarohat hayotiymi yoki o‘limdan keyingimi – nimaga qarab fikr yuritiladi? 2) Reanimatsiya jarohatini qanday ajratamiz? Doskada: jarohat manbalari jadvalini chizdiring. Tipik xato: suvdan chiqarilgan murdadagi har bir jarohatni qotillik izi deb baholash. Eslatma: darslikda hayotiylikni ajratuvchi batafsil belgilar berilmagan.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suv harorati o‘zgarishlar tezligiga ta’sir qiladi? 2) Kiyim, qo‘lqop va poyafzal teri o‘zgarishiga qanday ta’sir qiladi? Doskada vaqt chizig‘ini (soatlar → 2–3 hafta) chizdirib, har bosqichga belgisini yozdiring. Tipik xato: bu belgilarni cho‘kishning hayotiyligi yoki o‘lim sababining dalili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Jarohat suvga tushishdan oldin yetkazilgan bo‘lishi mumkinmi? 2) Reanimatsiya jarohatlari ekspertiza xulosasiga qanday ta’sir qiladi? Doskada jarohat manbalari bo‘yicha uch ustunli ro‘yxat tuzdiring: suvgacha / suvda / o‘limdan keyin. Eslatma: darslik bu yerda aniq farqlash mezonlarini bermaydi, kerak bo‘lsa qo‘shimcha manba ishlating. Tipik xato: suvdagi barcha jarohatni o‘limdan keyingi deb qabul qilish.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frontal qisilish yonlamadan xavfliroq? 2) Olomonda qisilgan shaxsda qaysi belgilar kompression asfiksiyani ko‘rsatadi? Doskada ko‘krak qafasi va qorin ekskursiyasi cheklanishining oqibatlar zanjirini chizdiring. Tipik xato: Olive-Danjer (ekximotik niqob) va Lakkasan (o‘pkaning karmin shishishi) belgilarini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bolalarda CO2 xavfli chegarasi kattalarnikidan past? 2) Notoliq yopiq muhitda gipoksiyadan tashqari qaysi omil qo‘shiladi? Doskada: kislorod ↓ va CO2 ↑ strelkali sxema chizdiring. Diqqat: kattalar (8-10%) va bolalar (2,0-2,5%) chegarasini aralashtirmang. Tipik xato: bu turga xos maxsus belgi bor deb o‘ylash; aslida faqat umumiy asfiktik belgilar topiladi.</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Javob: kislorod asta kamayib, CO2 ortishi (giperkapniya) natijasida cheklangan yopiq muhitdagi asfiksiya; bolalarda CO2 2,0-2,5% ga yetishi xavfli. Murdada umumasfiktik va tez o‘lim belgilari, xos belgi yo‘q. Muhokama: hodisa joyi va voqea tafsilotlari nega muhim? Doskada: sabab-oqibat zanjirini chizdiring. Tipik xato: xos belgi izlash va jarohat bor deb faraz qilish.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Pozitsion asfiksiya strangulyatsiyadan nimasi bilan farq qiladi? 2) Cho‘kishning hayotiyligini qaysi usullar ko‘rsatadi? Doskada: to‘rt bo‘lim bo‘yicha xulosa chizmasini (asfiksiya turlari, pozitsion, laboratoriya, jarohatlar) tuzdiring. Tipik xato: o‘pkada diatom topilsa cho‘kish hayotiy deb xulosa qilish; bu o‘limdan keyin ham bo‘lishi mumkin.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Yоpiq muhitdagi asfiksiya. Pozitsion asfiksiya Cho’kishda laboratoriya tekshiruvi usullari. Suvdan chiqarib olingan murdadagi jarohatlarning differensial diagnostikasi.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Hayot uchun kislorod zarur. Uning tashqi ta’sirdan kelib chiqqan o‘tkir tanqisligi sud-tibbiy ekspertizada ko‘p uchraydigan obyektdir.</a:t>
            </a:r>
          </a:p>
          <a:p>
            <a:pPr>
              <a:spcAft>
                <a:spcPts val="1200"/>
              </a:spcAft>
            </a:pPr>
            <a:r>
              <a:rPr sz="2200">
                <a:solidFill>
                  <a:srgbClr val="1F2937"/>
                </a:solidFill>
                <a:latin typeface="Calibri"/>
              </a:rPr>
              <a:t>▸  Cho‘kish mexanik asfiksiyadan o‘lim hollari ichida osilishdan keyin ikkinchi o‘rinda turadi. Dunyoda yiliga 300 mingdan ortiq o‘lim qayd etiladi.</a:t>
            </a:r>
          </a:p>
          <a:p>
            <a:pPr>
              <a:spcAft>
                <a:spcPts val="1200"/>
              </a:spcAft>
            </a:pPr>
            <a:r>
              <a:rPr sz="2200">
                <a:solidFill>
                  <a:srgbClr val="1F2937"/>
                </a:solidFill>
                <a:latin typeface="Calibri"/>
              </a:rPr>
              <a:t>▸  Reja: mexanik asfiksiya turlari, pozitsion asfiksiya, cho‘kish, laboratoriya usullari, suvdan chiqarilgan murda jarohatlari, yopiq muhit.</a:t>
            </a:r>
          </a:p>
          <a:p>
            <a:pPr>
              <a:spcAft>
                <a:spcPts val="1200"/>
              </a:spcAft>
            </a:pPr>
            <a:r>
              <a:rPr sz="2200">
                <a:solidFill>
                  <a:srgbClr val="1F2937"/>
                </a:solidFill>
                <a:latin typeface="Calibri"/>
              </a:rPr>
              <a:t>▸  Maqsad: suvga tushishning hayotiyligini aniqlash va suvdan chiqarilgan murdadagi jarohatlarni bir-biridan farqlash.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103-104, 121, 105, 124-126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 va asfiksiya tushunchalari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Gipoksiya — kislorod tanqisligi. U to‘qimalarda modda almashinuvini buzadi va turli oqibatlarga olib keladi.</a:t>
            </a:r>
          </a:p>
          <a:p>
            <a:pPr>
              <a:spcAft>
                <a:spcPts val="1200"/>
              </a:spcAft>
            </a:pPr>
            <a:r>
              <a:rPr sz="2200">
                <a:solidFill>
                  <a:srgbClr val="1F2937"/>
                </a:solidFill>
                <a:latin typeface="Calibri"/>
              </a:rPr>
              <a:t>▸  To‘qimalar sezgirligi turlicha. Markaziy nerv tizimida to‘qima nafasi 5-10 minut to‘xtasa, o‘zgarish tiklanmaydi; mushakda bu muddat uzoqroq.</a:t>
            </a:r>
          </a:p>
          <a:p>
            <a:pPr>
              <a:spcAft>
                <a:spcPts val="1200"/>
              </a:spcAft>
            </a:pPr>
            <a:r>
              <a:rPr sz="2200">
                <a:solidFill>
                  <a:srgbClr val="1F2937"/>
                </a:solidFill>
                <a:latin typeface="Calibri"/>
              </a:rPr>
              <a:t>▸  “Asfiksiya” grekcha so‘z: a — inkor, sphygmos — puls. Tub ma’nosi — pulsning yo‘qligi.</a:t>
            </a:r>
          </a:p>
          <a:p>
            <a:pPr>
              <a:spcAft>
                <a:spcPts val="1200"/>
              </a:spcAft>
            </a:pPr>
            <a:r>
              <a:rPr sz="2200">
                <a:solidFill>
                  <a:srgbClr val="1F2937"/>
                </a:solidFill>
                <a:latin typeface="Calibri"/>
              </a:rPr>
              <a:t>▸  Diqqat: gipoksiya ≠ asfiksiya. Asfiksiyada gipoksiya giperkapniya (karbonat angidrid ko‘payishi) bilan birga rivojlanadi.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 104, 104-105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Gipoksiya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Ekzogen gipoksiya: gipoksik, giperoksik va giperkapnik turlari; giperkapnik tur yopiq muhitda rivojlanadi.</a:t>
            </a:r>
          </a:p>
          <a:p>
            <a:pPr>
              <a:spcAft>
                <a:spcPts val="800"/>
              </a:spcAft>
            </a:pPr>
            <a:r>
              <a:rPr sz="1800">
                <a:solidFill>
                  <a:srgbClr val="1F2937"/>
                </a:solidFill>
                <a:latin typeface="Calibri"/>
              </a:rPr>
              <a:t>▸  Fiziologik gipoksiya vaqtincha: jismoniy zo‘riqishda, birdaniga ko‘p ovqat iste’mol qilganda.</a:t>
            </a:r>
          </a:p>
          <a:p>
            <a:pPr>
              <a:spcAft>
                <a:spcPts val="800"/>
              </a:spcAft>
            </a:pPr>
            <a:r>
              <a:rPr sz="1800">
                <a:solidFill>
                  <a:srgbClr val="1F2937"/>
                </a:solidFill>
                <a:latin typeface="Calibri"/>
              </a:rPr>
              <a:t>▸  Jadalligi: yashinsimon, o‘tkir, biroz o‘tkir, surunkali; sud tibbiyotida yashinsimon va o‘tkir muhim.</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746758"/>
                <a:gridCol w="3541217"/>
              </a:tblGrid>
              <a:tr h="614476">
                <a:tc>
                  <a:txBody>
                    <a:bodyPr/>
                    <a:lstStyle/>
                    <a:p>
                      <a:r>
                        <a:rPr sz="1800" b="1">
                          <a:solidFill>
                            <a:srgbClr val="FFFFFF"/>
                          </a:solidFill>
                        </a:rPr>
                        <a:t>Endogen tur</a:t>
                      </a:r>
                    </a:p>
                  </a:txBody>
                  <a:tcPr marL="73152" marR="73152" marT="36576" marB="36576">
                    <a:solidFill>
                      <a:srgbClr val="0B1F3A"/>
                    </a:solidFill>
                  </a:tcPr>
                </a:tc>
                <a:tc>
                  <a:txBody>
                    <a:bodyPr/>
                    <a:lstStyle/>
                    <a:p>
                      <a:r>
                        <a:rPr sz="1800" b="1">
                          <a:solidFill>
                            <a:srgbClr val="FFFFFF"/>
                          </a:solidFill>
                        </a:rPr>
                        <a:t>Asosiy sabab</a:t>
                      </a:r>
                    </a:p>
                  </a:txBody>
                  <a:tcPr marL="73152" marR="73152" marT="36576" marB="36576">
                    <a:solidFill>
                      <a:srgbClr val="0B1F3A"/>
                    </a:solidFill>
                  </a:tcPr>
                </a:tc>
              </a:tr>
              <a:tr h="614476">
                <a:tc>
                  <a:txBody>
                    <a:bodyPr/>
                    <a:lstStyle/>
                    <a:p>
                      <a:r>
                        <a:rPr sz="1700" b="0">
                          <a:solidFill>
                            <a:srgbClr val="1F2937"/>
                          </a:solidFill>
                        </a:rPr>
                        <a:t>Respirator</a:t>
                      </a:r>
                    </a:p>
                  </a:txBody>
                  <a:tcPr marL="73152" marR="73152" marT="36576" marB="36576">
                    <a:solidFill>
                      <a:srgbClr val="E8EEF6"/>
                    </a:solidFill>
                  </a:tcPr>
                </a:tc>
                <a:tc>
                  <a:txBody>
                    <a:bodyPr/>
                    <a:lstStyle/>
                    <a:p>
                      <a:r>
                        <a:rPr sz="1700" b="0">
                          <a:solidFill>
                            <a:srgbClr val="1F2937"/>
                          </a:solidFill>
                        </a:rPr>
                        <a:t>O‘pka, nafas yo‘llari faoliyati buzilishi</a:t>
                      </a:r>
                    </a:p>
                  </a:txBody>
                  <a:tcPr marL="73152" marR="73152" marT="36576" marB="36576">
                    <a:solidFill>
                      <a:srgbClr val="E8EEF6"/>
                    </a:solidFill>
                  </a:tcPr>
                </a:tc>
              </a:tr>
              <a:tr h="614476">
                <a:tc>
                  <a:txBody>
                    <a:bodyPr/>
                    <a:lstStyle/>
                    <a:p>
                      <a:r>
                        <a:rPr sz="1700" b="0">
                          <a:solidFill>
                            <a:srgbClr val="1F2937"/>
                          </a:solidFill>
                        </a:rPr>
                        <a:t>Sirkulyator</a:t>
                      </a:r>
                    </a:p>
                  </a:txBody>
                  <a:tcPr marL="73152" marR="73152" marT="36576" marB="36576">
                    <a:solidFill>
                      <a:srgbClr val="FFFFFF"/>
                    </a:solidFill>
                  </a:tcPr>
                </a:tc>
                <a:tc>
                  <a:txBody>
                    <a:bodyPr/>
                    <a:lstStyle/>
                    <a:p>
                      <a:r>
                        <a:rPr sz="1700" b="0">
                          <a:solidFill>
                            <a:srgbClr val="1F2937"/>
                          </a:solidFill>
                        </a:rPr>
                        <a:t>Qon aylanishining buzilishi</a:t>
                      </a:r>
                    </a:p>
                  </a:txBody>
                  <a:tcPr marL="73152" marR="73152" marT="36576" marB="36576">
                    <a:solidFill>
                      <a:srgbClr val="FFFFFF"/>
                    </a:solidFill>
                  </a:tcPr>
                </a:tc>
              </a:tr>
              <a:tr h="614476">
                <a:tc>
                  <a:txBody>
                    <a:bodyPr/>
                    <a:lstStyle/>
                    <a:p>
                      <a:r>
                        <a:rPr sz="1700" b="0">
                          <a:solidFill>
                            <a:srgbClr val="1F2937"/>
                          </a:solidFill>
                        </a:rPr>
                        <a:t>Gemik</a:t>
                      </a:r>
                    </a:p>
                  </a:txBody>
                  <a:tcPr marL="73152" marR="73152" marT="36576" marB="36576">
                    <a:solidFill>
                      <a:srgbClr val="E8EEF6"/>
                    </a:solidFill>
                  </a:tcPr>
                </a:tc>
                <a:tc>
                  <a:txBody>
                    <a:bodyPr/>
                    <a:lstStyle/>
                    <a:p>
                      <a:r>
                        <a:rPr sz="1700" b="0">
                          <a:solidFill>
                            <a:srgbClr val="1F2937"/>
                          </a:solidFill>
                        </a:rPr>
                        <a:t>Gemoglobin kamayishi yoki bog‘lay olmasligi</a:t>
                      </a:r>
                    </a:p>
                  </a:txBody>
                  <a:tcPr marL="73152" marR="73152" marT="36576" marB="36576">
                    <a:solidFill>
                      <a:srgbClr val="E8EEF6"/>
                    </a:solidFill>
                  </a:tcPr>
                </a:tc>
              </a:tr>
              <a:tr h="614476">
                <a:tc>
                  <a:txBody>
                    <a:bodyPr/>
                    <a:lstStyle/>
                    <a:p>
                      <a:r>
                        <a:rPr sz="1700" b="0">
                          <a:solidFill>
                            <a:srgbClr val="1F2937"/>
                          </a:solidFill>
                        </a:rPr>
                        <a:t>Sitotoksik</a:t>
                      </a:r>
                    </a:p>
                  </a:txBody>
                  <a:tcPr marL="73152" marR="73152" marT="36576" marB="36576">
                    <a:solidFill>
                      <a:srgbClr val="FFFFFF"/>
                    </a:solidFill>
                  </a:tcPr>
                </a:tc>
                <a:tc>
                  <a:txBody>
                    <a:bodyPr/>
                    <a:lstStyle/>
                    <a:p>
                      <a:r>
                        <a:rPr sz="1700" b="0">
                          <a:solidFill>
                            <a:srgbClr val="1F2937"/>
                          </a:solidFill>
                        </a:rPr>
                        <a:t>Zaharlanishda to‘qima nafasining buzilishi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Endogen gipoksiya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103-104,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Asfiksiya – tashqi nafas buzilishidan kislorod kamayib, karbonat angidrid ko‘payishi.</a:t>
            </a:r>
          </a:p>
          <a:p>
            <a:pPr>
              <a:spcAft>
                <a:spcPts val="800"/>
              </a:spcAft>
            </a:pPr>
            <a:r>
              <a:rPr sz="1800">
                <a:solidFill>
                  <a:srgbClr val="1F2937"/>
                </a:solidFill>
                <a:latin typeface="Calibri"/>
              </a:rPr>
              <a:t>▸  Mexanik omil tashqi nafasni buzsa, bu holat mexanik asfiksiya deyiladi.</a:t>
            </a:r>
          </a:p>
          <a:p>
            <a:pPr>
              <a:spcAft>
                <a:spcPts val="800"/>
              </a:spcAft>
            </a:pPr>
            <a:r>
              <a:rPr sz="1800">
                <a:solidFill>
                  <a:srgbClr val="1F2937"/>
                </a:solidFill>
                <a:latin typeface="Calibri"/>
              </a:rPr>
              <a:t>▸  Diqqat: cho‘kish yopilish asfiksiyasining turi, uni qisilishdan asfiksiya bilan adashtirmang.</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746758"/>
                <a:gridCol w="3541217"/>
              </a:tblGrid>
              <a:tr h="768096">
                <a:tc>
                  <a:txBody>
                    <a:bodyPr/>
                    <a:lstStyle/>
                    <a:p>
                      <a:r>
                        <a:rPr sz="1800" b="1">
                          <a:solidFill>
                            <a:srgbClr val="FFFFFF"/>
                          </a:solidFill>
                        </a:rPr>
                        <a:t>Turi</a:t>
                      </a:r>
                    </a:p>
                  </a:txBody>
                  <a:tcPr marL="73152" marR="73152" marT="36576" marB="36576">
                    <a:solidFill>
                      <a:srgbClr val="0B1F3A"/>
                    </a:solidFill>
                  </a:tcPr>
                </a:tc>
                <a:tc>
                  <a:txBody>
                    <a:bodyPr/>
                    <a:lstStyle/>
                    <a:p>
                      <a:r>
                        <a:rPr sz="1800" b="1">
                          <a:solidFill>
                            <a:srgbClr val="FFFFFF"/>
                          </a:solidFill>
                        </a:rPr>
                        <a:t>Ko‘rinishlari</a:t>
                      </a:r>
                    </a:p>
                  </a:txBody>
                  <a:tcPr marL="73152" marR="73152" marT="36576" marB="36576">
                    <a:solidFill>
                      <a:srgbClr val="0B1F3A"/>
                    </a:solidFill>
                  </a:tcPr>
                </a:tc>
              </a:tr>
              <a:tr h="768096">
                <a:tc>
                  <a:txBody>
                    <a:bodyPr/>
                    <a:lstStyle/>
                    <a:p>
                      <a:r>
                        <a:rPr sz="1700" b="0">
                          <a:solidFill>
                            <a:srgbClr val="1F2937"/>
                          </a:solidFill>
                        </a:rPr>
                        <a:t>Qisilishdan</a:t>
                      </a:r>
                    </a:p>
                  </a:txBody>
                  <a:tcPr marL="73152" marR="73152" marT="36576" marB="36576">
                    <a:solidFill>
                      <a:srgbClr val="E8EEF6"/>
                    </a:solidFill>
                  </a:tcPr>
                </a:tc>
                <a:tc>
                  <a:txBody>
                    <a:bodyPr/>
                    <a:lstStyle/>
                    <a:p>
                      <a:r>
                        <a:rPr sz="1700" b="0">
                          <a:solidFill>
                            <a:srgbClr val="1F2937"/>
                          </a:solidFill>
                        </a:rPr>
                        <a:t>Bo‘yin; ko‘krak va qorin qisilishi</a:t>
                      </a:r>
                    </a:p>
                  </a:txBody>
                  <a:tcPr marL="73152" marR="73152" marT="36576" marB="36576">
                    <a:solidFill>
                      <a:srgbClr val="E8EEF6"/>
                    </a:solidFill>
                  </a:tcPr>
                </a:tc>
              </a:tr>
              <a:tr h="768096">
                <a:tc>
                  <a:txBody>
                    <a:bodyPr/>
                    <a:lstStyle/>
                    <a:p>
                      <a:r>
                        <a:rPr sz="1700" b="0">
                          <a:solidFill>
                            <a:srgbClr val="1F2937"/>
                          </a:solidFill>
                        </a:rPr>
                        <a:t>Yopilishdan</a:t>
                      </a:r>
                    </a:p>
                  </a:txBody>
                  <a:tcPr marL="73152" marR="73152" marT="36576" marB="36576">
                    <a:solidFill>
                      <a:srgbClr val="FFFFFF"/>
                    </a:solidFill>
                  </a:tcPr>
                </a:tc>
                <a:tc>
                  <a:txBody>
                    <a:bodyPr/>
                    <a:lstStyle/>
                    <a:p>
                      <a:r>
                        <a:rPr sz="1700" b="0">
                          <a:solidFill>
                            <a:srgbClr val="1F2937"/>
                          </a:solidFill>
                        </a:rPr>
                        <a:t>Nafas teshiklari, yo‘llari, cho‘kish</a:t>
                      </a:r>
                    </a:p>
                  </a:txBody>
                  <a:tcPr marL="73152" marR="73152" marT="36576" marB="36576">
                    <a:solidFill>
                      <a:srgbClr val="FFFFFF"/>
                    </a:solidFill>
                  </a:tcPr>
                </a:tc>
              </a:tr>
              <a:tr h="768096">
                <a:tc>
                  <a:txBody>
                    <a:bodyPr/>
                    <a:lstStyle/>
                    <a:p>
                      <a:r>
                        <a:rPr sz="1700" b="0">
                          <a:solidFill>
                            <a:srgbClr val="1F2937"/>
                          </a:solidFill>
                        </a:rPr>
                        <a:t>Cheklangan muhit</a:t>
                      </a:r>
                    </a:p>
                  </a:txBody>
                  <a:tcPr marL="73152" marR="73152" marT="36576" marB="36576">
                    <a:solidFill>
                      <a:srgbClr val="E8EEF6"/>
                    </a:solidFill>
                  </a:tcPr>
                </a:tc>
                <a:tc>
                  <a:txBody>
                    <a:bodyPr/>
                    <a:lstStyle/>
                    <a:p>
                      <a:r>
                        <a:rPr sz="1700" b="0">
                          <a:solidFill>
                            <a:srgbClr val="1F2937"/>
                          </a:solidFill>
                        </a:rPr>
                        <a:t>Yopiq havoda kislorod kamayadi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Mexanik asfiksiya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104-105, 105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Autoasfiksiofiliya (seksual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Autoasfiksiofiliya (seksual yoki autoerotik asfiksiya)da jinsiy qo‘zg‘alish gipoksiya va giperkapniya sharoitida sodir bo‘ladi.</a:t>
            </a:r>
          </a:p>
          <a:p>
            <a:pPr>
              <a:spcAft>
                <a:spcPts val="1200"/>
              </a:spcAft>
            </a:pPr>
            <a:r>
              <a:rPr sz="2200">
                <a:solidFill>
                  <a:srgbClr val="1F2937"/>
                </a:solidFill>
                <a:latin typeface="Calibri"/>
              </a:rPr>
              <a:t>▸  Ko‘pincha jinsiy chetlanishga moyil o‘rta yoshli yolg‘iz erkaklarda, ba’zan yosh erkaklarda uchraydi; orgazm asfiksiya holatida yuz beradi.</a:t>
            </a:r>
          </a:p>
          <a:p>
            <a:pPr>
              <a:spcAft>
                <a:spcPts val="1200"/>
              </a:spcAft>
            </a:pPr>
            <a:r>
              <a:rPr sz="2200">
                <a:solidFill>
                  <a:srgbClr val="1F2937"/>
                </a:solidFill>
                <a:latin typeface="Calibri"/>
              </a:rPr>
              <a:t>▸  Jarayonni shaxs qo‘l-oyoq va moslamalar bilan boshqaradi: odatda bo‘yin sirtmoq bilan qisiladi yoki boshga polietilen qopcha kiyiladi.</a:t>
            </a:r>
          </a:p>
          <a:p>
            <a:pPr>
              <a:spcAft>
                <a:spcPts val="1200"/>
              </a:spcAft>
            </a:pPr>
            <a:r>
              <a:rPr sz="2200">
                <a:solidFill>
                  <a:srgbClr val="1F2937"/>
                </a:solidFill>
                <a:latin typeface="Calibri"/>
              </a:rPr>
              <a:t>▸  O‘lim baxtsiz hodisa deb baholanadi; joyda pornografik rasm, jinsiy a’zo imitatorlari, boshqa jins kiyimi topiladi, murda yalang‘ochlangan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105, 105-106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asfiksiya tushunchasi va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ekzogen gipoksiyaning turlari qaysilar? Javob: gipoksik, giperoksik va giperkapnik.</a:t>
            </a:r>
          </a:p>
          <a:p>
            <a:pPr>
              <a:spcAft>
                <a:spcPts val="1200"/>
              </a:spcAft>
            </a:pPr>
            <a:r>
              <a:rPr sz="2200">
                <a:solidFill>
                  <a:srgbClr val="1F2937"/>
                </a:solidFill>
                <a:latin typeface="Calibri"/>
              </a:rPr>
              <a:t>▸  2-savol: “asfiksiya” so‘zi grekchadan qanday ma’no beradi? Javob: pulsning yo‘qligi (a – inkor, sphygmos – puls).</a:t>
            </a:r>
          </a:p>
          <a:p>
            <a:pPr>
              <a:spcAft>
                <a:spcPts val="1200"/>
              </a:spcAft>
            </a:pPr>
            <a:r>
              <a:rPr sz="2200">
                <a:solidFill>
                  <a:srgbClr val="1F2937"/>
                </a:solidFill>
                <a:latin typeface="Calibri"/>
              </a:rPr>
              <a:t>▸  3-savol: mexanik asfiksiyaning uchta turini ayting. Javob: qisilishdan, yopilishdan va cheklangan muhitdagi asfiksiya.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103, 104, 105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Asfiksiyaning hayotiy kechishi: davrlar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Preasfiktik davr o‘rtacha 20-30 soniya davom etadi; nafas qisqa to‘xtab, so‘ng sekinlashadi.</a:t>
            </a:r>
          </a:p>
          <a:p>
            <a:pPr>
              <a:spcAft>
                <a:spcPts val="800"/>
              </a:spcAft>
            </a:pPr>
            <a:r>
              <a:rPr sz="1800">
                <a:solidFill>
                  <a:srgbClr val="1F2937"/>
                </a:solidFill>
                <a:latin typeface="Calibri"/>
              </a:rPr>
              <a:t>▸  Organizm moslashadi: qon miqdori ko‘payadi, suyuqlashadi, hayotiy a’zolarga qayta taqsimlanadi.</a:t>
            </a:r>
          </a:p>
          <a:p>
            <a:pPr>
              <a:spcAft>
                <a:spcPts val="800"/>
              </a:spcAft>
            </a:pPr>
            <a:r>
              <a:rPr sz="1800">
                <a:solidFill>
                  <a:srgbClr val="1F2937"/>
                </a:solidFill>
                <a:latin typeface="Calibri"/>
              </a:rPr>
              <a:t>▸  Davrlar va vaqtlar shartli, taxminiy; ular tugallanmagan asfiksiya kuzatuvlariga asoslangan.</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Preasfiktik davr: 20-30 sek.</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Inspirator hansirash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Ekspirator hansirash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Nafasning qisqa to‘xtashi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Terminal nafas, to‘liq to‘xtash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Asfiksiya davrlari ketma-ketligi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 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Asfiktik davr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Inspirator bosqichda hush odatda 40-60 soniyada yo‘qoladi; arterial bosim pasayadi, venoz ortadi.</a:t>
            </a:r>
          </a:p>
          <a:p>
            <a:pPr>
              <a:spcAft>
                <a:spcPts val="800"/>
              </a:spcAft>
            </a:pPr>
            <a:r>
              <a:rPr sz="1800">
                <a:solidFill>
                  <a:srgbClr val="1F2937"/>
                </a:solidFill>
                <a:latin typeface="Calibri"/>
              </a:rPr>
              <a:t>▸  Ekspiratorda talvasalardan jarohat chiqishi mumkin; uni o‘zga shaxs jarohatidan farqlash zarur.</a:t>
            </a:r>
          </a:p>
          <a:p>
            <a:pPr>
              <a:spcAft>
                <a:spcPts val="800"/>
              </a:spcAft>
            </a:pPr>
            <a:r>
              <a:rPr sz="1800">
                <a:solidFill>
                  <a:srgbClr val="1F2937"/>
                </a:solidFill>
                <a:latin typeface="Calibri"/>
              </a:rPr>
              <a:t>▸  Diqqat: reflektor yurak to‘xtashi 30 soniyagacha bo‘lsa, asfiksiya belgilari rivojlanib ulgurmaydi.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6223"/>
                <a:gridCol w="1677915"/>
                <a:gridCol w="2033836"/>
              </a:tblGrid>
              <a:tr h="614476">
                <a:tc>
                  <a:txBody>
                    <a:bodyPr/>
                    <a:lstStyle/>
                    <a:p>
                      <a:r>
                        <a:rPr sz="1600" b="1">
                          <a:solidFill>
                            <a:srgbClr val="FFFFFF"/>
                          </a:solidFill>
                        </a:rPr>
                        <a:t>Bosqich</a:t>
                      </a:r>
                    </a:p>
                  </a:txBody>
                  <a:tcPr marL="73152" marR="73152" marT="36576" marB="36576">
                    <a:solidFill>
                      <a:srgbClr val="0B1F3A"/>
                    </a:solidFill>
                  </a:tcPr>
                </a:tc>
                <a:tc>
                  <a:txBody>
                    <a:bodyPr/>
                    <a:lstStyle/>
                    <a:p>
                      <a:r>
                        <a:rPr sz="1600" b="1">
                          <a:solidFill>
                            <a:srgbClr val="FFFFFF"/>
                          </a:solidFill>
                        </a:rPr>
                        <a:t>Davomiyligi</a:t>
                      </a:r>
                    </a:p>
                  </a:txBody>
                  <a:tcPr marL="73152" marR="73152" marT="36576" marB="36576">
                    <a:solidFill>
                      <a:srgbClr val="0B1F3A"/>
                    </a:solidFill>
                  </a:tcPr>
                </a:tc>
                <a:tc>
                  <a:txBody>
                    <a:bodyPr/>
                    <a:lstStyle/>
                    <a:p>
                      <a:r>
                        <a:rPr sz="1600" b="1">
                          <a:solidFill>
                            <a:srgbClr val="FFFFFF"/>
                          </a:solidFill>
                        </a:rPr>
                        <a:t>Xususiyat</a:t>
                      </a:r>
                    </a:p>
                  </a:txBody>
                  <a:tcPr marL="73152" marR="73152" marT="36576" marB="36576">
                    <a:solidFill>
                      <a:srgbClr val="0B1F3A"/>
                    </a:solidFill>
                  </a:tcPr>
                </a:tc>
              </a:tr>
              <a:tr h="614476">
                <a:tc>
                  <a:txBody>
                    <a:bodyPr/>
                    <a:lstStyle/>
                    <a:p>
                      <a:r>
                        <a:rPr sz="1500" b="0">
                          <a:solidFill>
                            <a:srgbClr val="1F2937"/>
                          </a:solidFill>
                        </a:rPr>
                        <a:t>Inspirator hansirash</a:t>
                      </a:r>
                    </a:p>
                  </a:txBody>
                  <a:tcPr marL="73152" marR="73152" marT="36576" marB="36576">
                    <a:solidFill>
                      <a:srgbClr val="E8EEF6"/>
                    </a:solidFill>
                  </a:tcPr>
                </a:tc>
                <a:tc>
                  <a:txBody>
                    <a:bodyPr/>
                    <a:lstStyle/>
                    <a:p>
                      <a:r>
                        <a:rPr sz="1500" b="0">
                          <a:solidFill>
                            <a:srgbClr val="1F2937"/>
                          </a:solidFill>
                        </a:rPr>
                        <a:t>taxminan 1 daqiqa</a:t>
                      </a:r>
                    </a:p>
                  </a:txBody>
                  <a:tcPr marL="73152" marR="73152" marT="36576" marB="36576">
                    <a:solidFill>
                      <a:srgbClr val="E8EEF6"/>
                    </a:solidFill>
                  </a:tcPr>
                </a:tc>
                <a:tc>
                  <a:txBody>
                    <a:bodyPr/>
                    <a:lstStyle/>
                    <a:p>
                      <a:r>
                        <a:rPr sz="1500" b="0">
                          <a:solidFill>
                            <a:srgbClr val="1F2937"/>
                          </a:solidFill>
                        </a:rPr>
                        <a:t>Nafas olish tezlashadi, hush yo‘qoladi</a:t>
                      </a:r>
                    </a:p>
                  </a:txBody>
                  <a:tcPr marL="73152" marR="73152" marT="36576" marB="36576">
                    <a:solidFill>
                      <a:srgbClr val="E8EEF6"/>
                    </a:solidFill>
                  </a:tcPr>
                </a:tc>
              </a:tr>
              <a:tr h="614476">
                <a:tc>
                  <a:txBody>
                    <a:bodyPr/>
                    <a:lstStyle/>
                    <a:p>
                      <a:r>
                        <a:rPr sz="1500" b="0">
                          <a:solidFill>
                            <a:srgbClr val="1F2937"/>
                          </a:solidFill>
                        </a:rPr>
                        <a:t>Ekspirator hansirash</a:t>
                      </a:r>
                    </a:p>
                  </a:txBody>
                  <a:tcPr marL="73152" marR="73152" marT="36576" marB="36576">
                    <a:solidFill>
                      <a:srgbClr val="FFFFFF"/>
                    </a:solidFill>
                  </a:tcPr>
                </a:tc>
                <a:tc>
                  <a:txBody>
                    <a:bodyPr/>
                    <a:lstStyle/>
                    <a:p>
                      <a:r>
                        <a:rPr sz="1500" b="0">
                          <a:solidFill>
                            <a:srgbClr val="1F2937"/>
                          </a:solidFill>
                        </a:rPr>
                        <a:t>taxminan 1 daqiqa</a:t>
                      </a:r>
                    </a:p>
                  </a:txBody>
                  <a:tcPr marL="73152" marR="73152" marT="36576" marB="36576">
                    <a:solidFill>
                      <a:srgbClr val="FFFFFF"/>
                    </a:solidFill>
                  </a:tcPr>
                </a:tc>
                <a:tc>
                  <a:txBody>
                    <a:bodyPr/>
                    <a:lstStyle/>
                    <a:p>
                      <a:r>
                        <a:rPr sz="1500" b="0">
                          <a:solidFill>
                            <a:srgbClr val="1F2937"/>
                          </a:solidFill>
                        </a:rPr>
                        <a:t>Kuchli nafas chiqarish, klonik talvasa</a:t>
                      </a:r>
                    </a:p>
                  </a:txBody>
                  <a:tcPr marL="73152" marR="73152" marT="36576" marB="36576">
                    <a:solidFill>
                      <a:srgbClr val="FFFFFF"/>
                    </a:solidFill>
                  </a:tcPr>
                </a:tc>
              </a:tr>
              <a:tr h="614476">
                <a:tc>
                  <a:txBody>
                    <a:bodyPr/>
                    <a:lstStyle/>
                    <a:p>
                      <a:r>
                        <a:rPr sz="1500" b="0">
                          <a:solidFill>
                            <a:srgbClr val="1F2937"/>
                          </a:solidFill>
                        </a:rPr>
                        <a:t>Nafasning qisqa to‘xtashi</a:t>
                      </a:r>
                    </a:p>
                  </a:txBody>
                  <a:tcPr marL="73152" marR="73152" marT="36576" marB="36576">
                    <a:solidFill>
                      <a:srgbClr val="E8EEF6"/>
                    </a:solidFill>
                  </a:tcPr>
                </a:tc>
                <a:tc>
                  <a:txBody>
                    <a:bodyPr/>
                    <a:lstStyle/>
                    <a:p>
                      <a:r>
                        <a:rPr sz="1500" b="0">
                          <a:solidFill>
                            <a:srgbClr val="1F2937"/>
                          </a:solidFill>
                        </a:rPr>
                        <a:t>30-40 sek.</a:t>
                      </a:r>
                    </a:p>
                  </a:txBody>
                  <a:tcPr marL="73152" marR="73152" marT="36576" marB="36576">
                    <a:solidFill>
                      <a:srgbClr val="E8EEF6"/>
                    </a:solidFill>
                  </a:tcPr>
                </a:tc>
                <a:tc>
                  <a:txBody>
                    <a:bodyPr/>
                    <a:lstStyle/>
                    <a:p>
                      <a:r>
                        <a:rPr sz="1500" b="0">
                          <a:solidFill>
                            <a:srgbClr val="1F2937"/>
                          </a:solidFill>
                        </a:rPr>
                        <a:t>Nafas to‘xtaydi, reflekslar so‘na boshlaydi</a:t>
                      </a:r>
                    </a:p>
                  </a:txBody>
                  <a:tcPr marL="73152" marR="73152" marT="36576" marB="36576">
                    <a:solidFill>
                      <a:srgbClr val="E8EEF6"/>
                    </a:solidFill>
                  </a:tcPr>
                </a:tc>
              </a:tr>
              <a:tr h="614476">
                <a:tc>
                  <a:txBody>
                    <a:bodyPr/>
                    <a:lstStyle/>
                    <a:p>
                      <a:r>
                        <a:rPr sz="1500" b="0">
                          <a:solidFill>
                            <a:srgbClr val="1F2937"/>
                          </a:solidFill>
                        </a:rPr>
                        <a:t>Terminal nafas; to‘liq to‘xtash</a:t>
                      </a:r>
                    </a:p>
                  </a:txBody>
                  <a:tcPr marL="73152" marR="73152" marT="36576" marB="36576">
                    <a:solidFill>
                      <a:srgbClr val="FFFFFF"/>
                    </a:solidFill>
                  </a:tcPr>
                </a:tc>
                <a:tc>
                  <a:txBody>
                    <a:bodyPr/>
                    <a:lstStyle/>
                    <a:p>
                      <a:r>
                        <a:rPr sz="1500" b="0">
                          <a:solidFill>
                            <a:srgbClr val="1F2937"/>
                          </a:solidFill>
                        </a:rPr>
                        <a:t>Terminal ≤5 daq.; yurak 3-10 daq.</a:t>
                      </a:r>
                    </a:p>
                  </a:txBody>
                  <a:tcPr marL="73152" marR="73152" marT="36576" marB="36576">
                    <a:solidFill>
                      <a:srgbClr val="FFFFFF"/>
                    </a:solidFill>
                  </a:tcPr>
                </a:tc>
                <a:tc>
                  <a:txBody>
                    <a:bodyPr/>
                    <a:lstStyle/>
                    <a:p>
                      <a:r>
                        <a:rPr sz="1500" b="0">
                          <a:solidFill>
                            <a:srgbClr val="1F2937"/>
                          </a:solidFill>
                        </a:rPr>
                        <a:t>Noritmik nafas; markaz falaji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Asfiktik davr bosqichlari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106, 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Postasfiktik holat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Komada reflekslar so‘nadi, so‘ng detserebratsion rigidlik va talvasalar; karaxtlikda hush tiklanadi.</a:t>
            </a:r>
          </a:p>
          <a:p>
            <a:pPr>
              <a:spcAft>
                <a:spcPts val="800"/>
              </a:spcAft>
            </a:pPr>
            <a:r>
              <a:rPr sz="1800">
                <a:solidFill>
                  <a:srgbClr val="1F2937"/>
                </a:solidFill>
                <a:latin typeface="Calibri"/>
              </a:rPr>
              <a:t>▸  Dezorientatsiyada konfabulyatsiya va retrograd amneziya; yengil holatlar 1-2 haftada izsiz o‘tadi.</a:t>
            </a:r>
          </a:p>
          <a:p>
            <a:pPr>
              <a:spcAft>
                <a:spcPts val="800"/>
              </a:spcAft>
            </a:pPr>
            <a:r>
              <a:rPr sz="1800">
                <a:solidFill>
                  <a:srgbClr val="1F2937"/>
                </a:solidFill>
                <a:latin typeface="Calibri"/>
              </a:rPr>
              <a:t>▸  Dastlab o‘lim asfiktik komadan, keyin o‘pka va miya shishidan, kechroq gipostatik pnevmoniyadan.</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Asfiktik koma</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Karaxtlik</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Dezorientatsiya, amneziya</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Qoldiq oqibatlar</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Postasfiktik holat davrlari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108, 108-109, 109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asfiksiyaning umumiy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Belgilar nospetsifik: tez o‘limning boshqa turlarida ham uchraydi, shu sabab ularning majmuasi baholanadi.</a:t>
            </a:r>
          </a:p>
          <a:p>
            <a:pPr>
              <a:spcAft>
                <a:spcPts val="800"/>
              </a:spcAft>
            </a:pPr>
            <a:r>
              <a:rPr sz="1800">
                <a:solidFill>
                  <a:srgbClr val="1F2937"/>
                </a:solidFill>
                <a:latin typeface="Calibri"/>
              </a:rPr>
              <a:t>▸  Asfiktik yurak, kamqonlik va qisqargan taloq (Sabinskiy belgisi) nisbatan patognomik hisoblanadi.</a:t>
            </a:r>
          </a:p>
          <a:p>
            <a:pPr>
              <a:spcAft>
                <a:spcPts val="800"/>
              </a:spcAft>
            </a:pPr>
            <a:r>
              <a:rPr sz="1800">
                <a:solidFill>
                  <a:srgbClr val="1F2937"/>
                </a:solidFill>
                <a:latin typeface="Calibri"/>
              </a:rPr>
              <a:t>▸  Murda dog‘lari ko‘lamli, ko‘kimtir-binafsha; qon suyuq va karbonat angidridga to‘yingan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045969"/>
                <a:gridCol w="1033591"/>
                <a:gridCol w="2208414"/>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r>
              <a:tr h="614476">
                <a:tc>
                  <a:txBody>
                    <a:bodyPr/>
                    <a:lstStyle/>
                    <a:p>
                      <a:r>
                        <a:rPr sz="1500" b="0">
                          <a:solidFill>
                            <a:srgbClr val="1F2937"/>
                          </a:solidFill>
                        </a:rPr>
                        <a:t>Yuz-bo‘yin sianozi</a:t>
                      </a:r>
                    </a:p>
                  </a:txBody>
                  <a:tcPr marL="73152" marR="73152" marT="36576" marB="36576">
                    <a:solidFill>
                      <a:srgbClr val="E8EEF6"/>
                    </a:solidFill>
                  </a:tcPr>
                </a:tc>
                <a:tc>
                  <a:txBody>
                    <a:bodyPr/>
                    <a:lstStyle/>
                    <a:p>
                      <a:r>
                        <a:rPr sz="1500" b="0">
                          <a:solidFill>
                            <a:srgbClr val="1F2937"/>
                          </a:solidFill>
                        </a:rPr>
                        <a:t>Tashqi</a:t>
                      </a:r>
                    </a:p>
                  </a:txBody>
                  <a:tcPr marL="73152" marR="73152" marT="36576" marB="36576">
                    <a:solidFill>
                      <a:srgbClr val="E8EEF6"/>
                    </a:solidFill>
                  </a:tcPr>
                </a:tc>
                <a:tc>
                  <a:txBody>
                    <a:bodyPr/>
                    <a:lstStyle/>
                    <a:p>
                      <a:r>
                        <a:rPr sz="1500" b="0">
                          <a:solidFill>
                            <a:srgbClr val="1F2937"/>
                          </a:solidFill>
                        </a:rPr>
                        <a:t>Turg‘un emas, yo‘qolishi mumkin</a:t>
                      </a:r>
                    </a:p>
                  </a:txBody>
                  <a:tcPr marL="73152" marR="73152" marT="36576" marB="36576">
                    <a:solidFill>
                      <a:srgbClr val="E8EEF6"/>
                    </a:solidFill>
                  </a:tcPr>
                </a:tc>
              </a:tr>
              <a:tr h="614476">
                <a:tc>
                  <a:txBody>
                    <a:bodyPr/>
                    <a:lstStyle/>
                    <a:p>
                      <a:r>
                        <a:rPr sz="1500" b="0">
                          <a:solidFill>
                            <a:srgbClr val="1F2937"/>
                          </a:solidFill>
                        </a:rPr>
                        <a:t>Subkonyunktival ekximoz</a:t>
                      </a:r>
                    </a:p>
                  </a:txBody>
                  <a:tcPr marL="73152" marR="73152" marT="36576" marB="36576">
                    <a:solidFill>
                      <a:srgbClr val="FFFFFF"/>
                    </a:solidFill>
                  </a:tcPr>
                </a:tc>
                <a:tc>
                  <a:txBody>
                    <a:bodyPr/>
                    <a:lstStyle/>
                    <a:p>
                      <a:r>
                        <a:rPr sz="1500" b="0">
                          <a:solidFill>
                            <a:srgbClr val="1F2937"/>
                          </a:solidFill>
                        </a:rPr>
                        <a:t>Tashqi</a:t>
                      </a:r>
                    </a:p>
                  </a:txBody>
                  <a:tcPr marL="73152" marR="73152" marT="36576" marB="36576">
                    <a:solidFill>
                      <a:srgbClr val="FFFFFF"/>
                    </a:solidFill>
                  </a:tcPr>
                </a:tc>
                <a:tc>
                  <a:txBody>
                    <a:bodyPr/>
                    <a:lstStyle/>
                    <a:p>
                      <a:r>
                        <a:rPr sz="1500" b="0">
                          <a:solidFill>
                            <a:srgbClr val="1F2937"/>
                          </a:solidFill>
                        </a:rPr>
                        <a:t>Hansirashda bosim keskin o‘zgaradi</a:t>
                      </a:r>
                    </a:p>
                  </a:txBody>
                  <a:tcPr marL="73152" marR="73152" marT="36576" marB="36576">
                    <a:solidFill>
                      <a:srgbClr val="FFFFFF"/>
                    </a:solidFill>
                  </a:tcPr>
                </a:tc>
              </a:tr>
              <a:tr h="614476">
                <a:tc>
                  <a:txBody>
                    <a:bodyPr/>
                    <a:lstStyle/>
                    <a:p>
                      <a:r>
                        <a:rPr sz="1500" b="0">
                          <a:solidFill>
                            <a:srgbClr val="1F2937"/>
                          </a:solidFill>
                        </a:rPr>
                        <a:t>Tarde dog‘lari</a:t>
                      </a:r>
                    </a:p>
                  </a:txBody>
                  <a:tcPr marL="73152" marR="73152" marT="36576" marB="36576">
                    <a:solidFill>
                      <a:srgbClr val="E8EEF6"/>
                    </a:solidFill>
                  </a:tcPr>
                </a:tc>
                <a:tc>
                  <a:txBody>
                    <a:bodyPr/>
                    <a:lstStyle/>
                    <a:p>
                      <a:r>
                        <a:rPr sz="1500" b="0">
                          <a:solidFill>
                            <a:srgbClr val="1F2937"/>
                          </a:solidFill>
                        </a:rPr>
                        <a:t>Ichki</a:t>
                      </a:r>
                    </a:p>
                  </a:txBody>
                  <a:tcPr marL="73152" marR="73152" marT="36576" marB="36576">
                    <a:solidFill>
                      <a:srgbClr val="E8EEF6"/>
                    </a:solidFill>
                  </a:tcPr>
                </a:tc>
                <a:tc>
                  <a:txBody>
                    <a:bodyPr/>
                    <a:lstStyle/>
                    <a:p>
                      <a:r>
                        <a:rPr sz="1500" b="0">
                          <a:solidFill>
                            <a:srgbClr val="1F2937"/>
                          </a:solidFill>
                        </a:rPr>
                        <a:t>Plevra, epikard ostida 2-3 mm qon quyilish</a:t>
                      </a:r>
                    </a:p>
                  </a:txBody>
                  <a:tcPr marL="73152" marR="73152" marT="36576" marB="36576">
                    <a:solidFill>
                      <a:srgbClr val="E8EEF6"/>
                    </a:solidFill>
                  </a:tcPr>
                </a:tc>
              </a:tr>
              <a:tr h="614476">
                <a:tc>
                  <a:txBody>
                    <a:bodyPr/>
                    <a:lstStyle/>
                    <a:p>
                      <a:r>
                        <a:rPr sz="1500" b="0">
                          <a:solidFill>
                            <a:srgbClr val="1F2937"/>
                          </a:solidFill>
                        </a:rPr>
                        <a:t>Asfiktik yurak</a:t>
                      </a:r>
                    </a:p>
                  </a:txBody>
                  <a:tcPr marL="73152" marR="73152" marT="36576" marB="36576">
                    <a:solidFill>
                      <a:srgbClr val="FFFFFF"/>
                    </a:solidFill>
                  </a:tcPr>
                </a:tc>
                <a:tc>
                  <a:txBody>
                    <a:bodyPr/>
                    <a:lstStyle/>
                    <a:p>
                      <a:r>
                        <a:rPr sz="1500" b="0">
                          <a:solidFill>
                            <a:srgbClr val="1F2937"/>
                          </a:solidFill>
                        </a:rPr>
                        <a:t>Ichki</a:t>
                      </a:r>
                    </a:p>
                  </a:txBody>
                  <a:tcPr marL="73152" marR="73152" marT="36576" marB="36576">
                    <a:solidFill>
                      <a:srgbClr val="FFFFFF"/>
                    </a:solidFill>
                  </a:tcPr>
                </a:tc>
                <a:tc>
                  <a:txBody>
                    <a:bodyPr/>
                    <a:lstStyle/>
                    <a:p>
                      <a:r>
                        <a:rPr sz="1500" b="0">
                          <a:solidFill>
                            <a:srgbClr val="1F2937"/>
                          </a:solidFill>
                        </a:rPr>
                        <a:t>O‘ng kameralar qonga to‘lgan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Umumasfiktik belgilar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110-111, 111, 110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umumasfiktik belgilar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 yuzi bilan pastga qarab yotgan holda topilgan; yuz va bo‘yin ko‘kimtir, ko‘z konyunktivasida mayda qon quyilishlar bor.</a:t>
            </a:r>
          </a:p>
          <a:p>
            <a:pPr>
              <a:spcAft>
                <a:spcPts val="1200"/>
              </a:spcAft>
            </a:pPr>
            <a:r>
              <a:rPr sz="2200">
                <a:solidFill>
                  <a:srgbClr val="1F2937"/>
                </a:solidFill>
                <a:latin typeface="Calibri"/>
              </a:rPr>
              <a:t>▸  Savol 1: ko‘kimtirlik yagona belgi bo‘lsa, asfiksiya deyish mumkinmi? Yuz pastga yotganda boshqa holatlarda ham shunday ko‘rinadi.</a:t>
            </a:r>
          </a:p>
          <a:p>
            <a:pPr>
              <a:spcAft>
                <a:spcPts val="1200"/>
              </a:spcAft>
            </a:pPr>
            <a:r>
              <a:rPr sz="2200">
                <a:solidFill>
                  <a:srgbClr val="1F2937"/>
                </a:solidFill>
                <a:latin typeface="Calibri"/>
              </a:rPr>
              <a:t>▸  Savol 2: ekspirator hansirashdagi talvasalarda tana jismlarga urilib jarohat hosil bo‘lsa, uni o‘zga shaxs jarohatidan qanday farqlaymiz?</a:t>
            </a:r>
          </a:p>
          <a:p>
            <a:pPr>
              <a:spcAft>
                <a:spcPts val="1200"/>
              </a:spcAft>
            </a:pPr>
            <a:r>
              <a:rPr sz="2200">
                <a:solidFill>
                  <a:srgbClr val="1F2937"/>
                </a:solidFill>
                <a:latin typeface="Calibri"/>
              </a:rPr>
              <a:t>▸  Diqqat: xato qilish xavfi! Bitta belgi ≠ asfiksiya isboti; belgilar majmuasi birgalikda baholanadi.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110, 106, 111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Strangulyatsion asfiksiya: osilish va sirtmoq</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Bo‘yin a’zolari qisilishi bilan bog‘liq strangulyatsion asfiksiya mexanik asfiksiya o‘limlarining uchdan ikki qismidan ortig‘ini beradi.</a:t>
            </a:r>
          </a:p>
          <a:p>
            <a:pPr>
              <a:spcAft>
                <a:spcPts val="1200"/>
              </a:spcAft>
            </a:pPr>
            <a:r>
              <a:rPr sz="2200">
                <a:solidFill>
                  <a:srgbClr val="1F2937"/>
                </a:solidFill>
                <a:latin typeface="Calibri"/>
              </a:rPr>
              <a:t>▸  Osilish eng ko‘p uchraydi (65-70%), ko‘pincha o‘z-o‘zini o‘ldirish usuli. Tana og‘irligi sirtmoqni tortadi; to‘liq va to‘liqsiz osilish farqlanadi.</a:t>
            </a:r>
          </a:p>
          <a:p>
            <a:pPr>
              <a:spcAft>
                <a:spcPts val="1200"/>
              </a:spcAft>
            </a:pPr>
            <a:r>
              <a:rPr sz="2200">
                <a:solidFill>
                  <a:srgbClr val="1F2937"/>
                </a:solidFill>
                <a:latin typeface="Calibri"/>
              </a:rPr>
              <a:t>▸  O‘lim omillari: havo yo‘lining torayishi, bo‘yinturuq venalar qisilishi, adashgan nerv va sinokarotid tugun ta’sirlanishi (reflektor yurak to‘xtashi).</a:t>
            </a:r>
          </a:p>
          <a:p>
            <a:pPr>
              <a:spcAft>
                <a:spcPts val="1200"/>
              </a:spcAft>
            </a:pPr>
            <a:r>
              <a:rPr sz="2200">
                <a:solidFill>
                  <a:srgbClr val="1F2937"/>
                </a:solidFill>
                <a:latin typeface="Calibri"/>
              </a:rPr>
              <a:t>▸  Sirtmoq yumshoq, yarim qattiq yoki qattiq, sirpanuvchan yoki sirpanmas bo‘ladi; tugun tipik (orqada) yoki atipik (old, yon) joylashadi.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111, 111-112, 113, 112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Strangulyatsion egat: osilish va bo‘g‘ish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Egat shilinma ko‘rinishida; yarim qattiq sirtmoq izi tugallanmagan asfiksiyada 10-15 kun saqlanadi.</a:t>
            </a:r>
          </a:p>
          <a:p>
            <a:pPr>
              <a:spcAft>
                <a:spcPts val="800"/>
              </a:spcAft>
            </a:pPr>
            <a:r>
              <a:rPr sz="1800">
                <a:solidFill>
                  <a:srgbClr val="1F2937"/>
                </a:solidFill>
                <a:latin typeface="Calibri"/>
              </a:rPr>
              <a:t>▸  Yumshoq sirtmoqda teri egati ko‘rinmasligi mumkin; ichkarida oqimtir yo‘lka — Kasper belgisi bor.</a:t>
            </a:r>
          </a:p>
          <a:p>
            <a:pPr>
              <a:spcAft>
                <a:spcPts val="800"/>
              </a:spcAft>
            </a:pPr>
            <a:r>
              <a:rPr sz="1800">
                <a:solidFill>
                  <a:srgbClr val="1F2937"/>
                </a:solidFill>
                <a:latin typeface="Calibri"/>
              </a:rPr>
              <a:t>▸  Hayotiylik: burmachada to‘laqonlik, qon quyilish (Bokarius); mikroskopda Neyding, Kasyanov belgilari.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455420"/>
                <a:gridCol w="2164080"/>
                <a:gridCol w="166847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Osilish</a:t>
                      </a:r>
                    </a:p>
                  </a:txBody>
                  <a:tcPr marL="73152" marR="73152" marT="36576" marB="36576">
                    <a:solidFill>
                      <a:srgbClr val="0B1F3A"/>
                    </a:solidFill>
                  </a:tcPr>
                </a:tc>
                <a:tc>
                  <a:txBody>
                    <a:bodyPr/>
                    <a:lstStyle/>
                    <a:p>
                      <a:r>
                        <a:rPr sz="1600" b="1">
                          <a:solidFill>
                            <a:srgbClr val="FFFFFF"/>
                          </a:solidFill>
                        </a:rPr>
                        <a:t>Bo‘g‘ish</a:t>
                      </a:r>
                    </a:p>
                  </a:txBody>
                  <a:tcPr marL="73152" marR="73152" marT="36576" marB="36576">
                    <a:solidFill>
                      <a:srgbClr val="0B1F3A"/>
                    </a:solidFill>
                  </a:tcPr>
                </a:tc>
              </a:tr>
              <a:tr h="614476">
                <a:tc>
                  <a:txBody>
                    <a:bodyPr/>
                    <a:lstStyle/>
                    <a:p>
                      <a:r>
                        <a:rPr sz="1500" b="0">
                          <a:solidFill>
                            <a:srgbClr val="1F2937"/>
                          </a:solidFill>
                        </a:rPr>
                        <a:t>Yo‘nalishi</a:t>
                      </a:r>
                    </a:p>
                  </a:txBody>
                  <a:tcPr marL="73152" marR="73152" marT="36576" marB="36576">
                    <a:solidFill>
                      <a:srgbClr val="E8EEF6"/>
                    </a:solidFill>
                  </a:tcPr>
                </a:tc>
                <a:tc>
                  <a:txBody>
                    <a:bodyPr/>
                    <a:lstStyle/>
                    <a:p>
                      <a:r>
                        <a:rPr sz="1500" b="0">
                          <a:solidFill>
                            <a:srgbClr val="1F2937"/>
                          </a:solidFill>
                        </a:rPr>
                        <a:t>Qiyshiq-vertikal</a:t>
                      </a:r>
                    </a:p>
                  </a:txBody>
                  <a:tcPr marL="73152" marR="73152" marT="36576" marB="36576">
                    <a:solidFill>
                      <a:srgbClr val="E8EEF6"/>
                    </a:solidFill>
                  </a:tcPr>
                </a:tc>
                <a:tc>
                  <a:txBody>
                    <a:bodyPr/>
                    <a:lstStyle/>
                    <a:p>
                      <a:r>
                        <a:rPr sz="1500" b="0">
                          <a:solidFill>
                            <a:srgbClr val="1F2937"/>
                          </a:solidFill>
                        </a:rPr>
                        <a:t>Gorizontal</a:t>
                      </a:r>
                    </a:p>
                  </a:txBody>
                  <a:tcPr marL="73152" marR="73152" marT="36576" marB="36576">
                    <a:solidFill>
                      <a:srgbClr val="E8EEF6"/>
                    </a:solidFill>
                  </a:tcPr>
                </a:tc>
              </a:tr>
              <a:tr h="614476">
                <a:tc>
                  <a:txBody>
                    <a:bodyPr/>
                    <a:lstStyle/>
                    <a:p>
                      <a:r>
                        <a:rPr sz="1500" b="0">
                          <a:solidFill>
                            <a:srgbClr val="1F2937"/>
                          </a:solidFill>
                        </a:rPr>
                        <a:t>Joylashuvi</a:t>
                      </a:r>
                    </a:p>
                  </a:txBody>
                  <a:tcPr marL="73152" marR="73152" marT="36576" marB="36576">
                    <a:solidFill>
                      <a:srgbClr val="FFFFFF"/>
                    </a:solidFill>
                  </a:tcPr>
                </a:tc>
                <a:tc>
                  <a:txBody>
                    <a:bodyPr/>
                    <a:lstStyle/>
                    <a:p>
                      <a:r>
                        <a:rPr sz="1500" b="0">
                          <a:solidFill>
                            <a:srgbClr val="1F2937"/>
                          </a:solidFill>
                        </a:rPr>
                        <a:t>Til osti suyagidan yuqorida</a:t>
                      </a:r>
                    </a:p>
                  </a:txBody>
                  <a:tcPr marL="73152" marR="73152" marT="36576" marB="36576">
                    <a:solidFill>
                      <a:srgbClr val="FFFFFF"/>
                    </a:solidFill>
                  </a:tcPr>
                </a:tc>
                <a:tc>
                  <a:txBody>
                    <a:bodyPr/>
                    <a:lstStyle/>
                    <a:p>
                      <a:r>
                        <a:rPr sz="1500" b="0">
                          <a:solidFill>
                            <a:srgbClr val="1F2937"/>
                          </a:solidFill>
                        </a:rPr>
                        <a:t>Qalqonsimon tog‘ay sathida va pastroq</a:t>
                      </a:r>
                    </a:p>
                  </a:txBody>
                  <a:tcPr marL="73152" marR="73152" marT="36576" marB="36576">
                    <a:solidFill>
                      <a:srgbClr val="FFFFFF"/>
                    </a:solidFill>
                  </a:tcPr>
                </a:tc>
              </a:tr>
              <a:tr h="614476">
                <a:tc>
                  <a:txBody>
                    <a:bodyPr/>
                    <a:lstStyle/>
                    <a:p>
                      <a:r>
                        <a:rPr sz="1500" b="0">
                          <a:solidFill>
                            <a:srgbClr val="1F2937"/>
                          </a:solidFill>
                        </a:rPr>
                        <a:t>Kenglik, chuqurlik</a:t>
                      </a:r>
                    </a:p>
                  </a:txBody>
                  <a:tcPr marL="73152" marR="73152" marT="36576" marB="36576">
                    <a:solidFill>
                      <a:srgbClr val="E8EEF6"/>
                    </a:solidFill>
                  </a:tcPr>
                </a:tc>
                <a:tc>
                  <a:txBody>
                    <a:bodyPr/>
                    <a:lstStyle/>
                    <a:p>
                      <a:r>
                        <a:rPr sz="1500" b="0">
                          <a:solidFill>
                            <a:srgbClr val="1F2937"/>
                          </a:solidFill>
                        </a:rPr>
                        <a:t>Tugunga qarama-qarshi tomonda yaqqolroq</a:t>
                      </a:r>
                    </a:p>
                  </a:txBody>
                  <a:tcPr marL="73152" marR="73152" marT="36576" marB="36576">
                    <a:solidFill>
                      <a:srgbClr val="E8EEF6"/>
                    </a:solidFill>
                  </a:tcPr>
                </a:tc>
                <a:tc>
                  <a:txBody>
                    <a:bodyPr/>
                    <a:lstStyle/>
                    <a:p>
                      <a:r>
                        <a:rPr sz="1500" b="0">
                          <a:solidFill>
                            <a:srgbClr val="1F2937"/>
                          </a:solidFill>
                        </a:rPr>
                        <a:t>Ko‘pincha bir tekis kenglik va chuqurlikda</a:t>
                      </a:r>
                    </a:p>
                  </a:txBody>
                  <a:tcPr marL="73152" marR="73152" marT="36576" marB="36576">
                    <a:solidFill>
                      <a:srgbClr val="E8EEF6"/>
                    </a:solidFill>
                  </a:tcPr>
                </a:tc>
              </a:tr>
              <a:tr h="614476">
                <a:tc>
                  <a:txBody>
                    <a:bodyPr/>
                    <a:lstStyle/>
                    <a:p>
                      <a:r>
                        <a:rPr sz="1500" b="0">
                          <a:solidFill>
                            <a:srgbClr val="1F2937"/>
                          </a:solidFill>
                        </a:rPr>
                        <a:t>Cho‘zilish belgilari</a:t>
                      </a:r>
                    </a:p>
                  </a:txBody>
                  <a:tcPr marL="73152" marR="73152" marT="36576" marB="36576">
                    <a:solidFill>
                      <a:srgbClr val="FFFFFF"/>
                    </a:solidFill>
                  </a:tcPr>
                </a:tc>
                <a:tc>
                  <a:txBody>
                    <a:bodyPr/>
                    <a:lstStyle/>
                    <a:p>
                      <a:r>
                        <a:rPr sz="1500" b="0">
                          <a:solidFill>
                            <a:srgbClr val="1F2937"/>
                          </a:solidFill>
                        </a:rPr>
                        <a:t>Amyuss, Valxer, Simon belgilari mumkin</a:t>
                      </a:r>
                    </a:p>
                  </a:txBody>
                  <a:tcPr marL="73152" marR="73152" marT="36576" marB="36576">
                    <a:solidFill>
                      <a:srgbClr val="FFFFFF"/>
                    </a:solidFill>
                  </a:tcPr>
                </a:tc>
                <a:tc>
                  <a:txBody>
                    <a:bodyPr/>
                    <a:lstStyle/>
                    <a:p>
                      <a:r>
                        <a:rPr sz="1500" b="0">
                          <a:solidFill>
                            <a:srgbClr val="1F2937"/>
                          </a:solidFill>
                        </a:rPr>
                        <a:t>Bunday belgilar hosil bo‘lmaydi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Egat: osilish va sirtmoq bilan bo‘g‘ish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114, 115, 116-117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Qo‘l va o‘tmas jism bilan bo‘g‘ish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Qo‘l bilan bo‘g‘ish odatda qotillik alomati. Bo‘yinda barmoqlardan dumaloq yoki oval qontalashlar, ustida tirnoqdan yoysimon shilinmalar bo‘ladi.</a:t>
            </a:r>
          </a:p>
          <a:p>
            <a:pPr>
              <a:spcAft>
                <a:spcPts val="1200"/>
              </a:spcAft>
            </a:pPr>
            <a:r>
              <a:rPr sz="2000">
                <a:solidFill>
                  <a:srgbClr val="1F2937"/>
                </a:solidFill>
                <a:latin typeface="Calibri"/>
              </a:rPr>
              <a:t>▸  Izlar soni va joyi qotilning holatiga bog‘liq. Qarshilikda izlar tartibsiz va ko‘p; yumshoq jism ustidan bo‘g‘ilsa, tashqi izlar kam yoki yo‘q bo‘lishi mumkin.</a:t>
            </a:r>
          </a:p>
          <a:p>
            <a:pPr>
              <a:spcAft>
                <a:spcPts val="1200"/>
              </a:spcAft>
            </a:pPr>
            <a:r>
              <a:rPr sz="2000">
                <a:solidFill>
                  <a:srgbClr val="1F2937"/>
                </a:solidFill>
                <a:latin typeface="Calibri"/>
              </a:rPr>
              <a:t>▸  Ichki jarohatlar tashqidan yaqqolroq: til osti suyagi shoxchalari, tog‘aylar sinadi, to‘qimalarga qon quyiladi. Yurakning reflektor to‘xtashi ko‘proq uchraydi.</a:t>
            </a:r>
          </a:p>
          <a:p>
            <a:pPr>
              <a:spcAft>
                <a:spcPts val="1200"/>
              </a:spcAft>
            </a:pPr>
            <a:r>
              <a:rPr sz="2000">
                <a:solidFill>
                  <a:srgbClr val="1F2937"/>
                </a:solidFill>
                <a:latin typeface="Calibri"/>
              </a:rPr>
              <a:t>▸  O‘tmas jism (tayoq, stul suyanchig‘i) bilan bo‘g‘ishda izlar ta’sir yuzasi proyeksiyasida: qontalash, shilinma, ichki qon quyilish, til osti suyagi va tog‘ay shikasti.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118, 119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Pozitsion asfiksiya: mexanizm va sharoit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Boshning oldinga yoki yon tomonga bukilgan holatda uzoq qolishi pozitsion asfiksiyaga olib kelishi mumkin. U strangulyatsion asfiksiya turi.</a:t>
            </a:r>
          </a:p>
          <a:p>
            <a:pPr>
              <a:spcAft>
                <a:spcPts val="1200"/>
              </a:spcAft>
            </a:pPr>
            <a:r>
              <a:rPr sz="2200">
                <a:solidFill>
                  <a:srgbClr val="1F2937"/>
                </a:solidFill>
                <a:latin typeface="Calibri"/>
              </a:rPr>
              <a:t>▸  Odatda hushsiz yoki o‘zini idrok eta olmaydigan shaxslarda uchraydi: tana cheklangan bo‘shliqqa tushib qolgan paytda.</a:t>
            </a:r>
          </a:p>
          <a:p>
            <a:pPr>
              <a:spcAft>
                <a:spcPts val="1200"/>
              </a:spcAft>
            </a:pPr>
            <a:r>
              <a:rPr sz="2200">
                <a:solidFill>
                  <a:srgbClr val="1F2937"/>
                </a:solidFill>
                <a:latin typeface="Calibri"/>
              </a:rPr>
              <a:t>▸  Bo‘yinda strangulyatsion egat bo‘lmaydi. Bukilish burmasi egatga o‘xshashi mumkin; ichkarida shu joyda oqimtir yo‘lka va ayrim qon quyilishlar topiladi.</a:t>
            </a:r>
          </a:p>
          <a:p>
            <a:pPr>
              <a:spcAft>
                <a:spcPts val="1200"/>
              </a:spcAft>
            </a:pPr>
            <a:r>
              <a:rPr sz="2200">
                <a:solidFill>
                  <a:srgbClr val="1F2937"/>
                </a:solidFill>
                <a:latin typeface="Calibri"/>
              </a:rPr>
              <a:t>▸  Til osti suyagi va hiqildoq tog‘aylari shikastlanmaydi. Diagnoz hodisa tafsilotlariga va boshqa o‘lim sabablarini istisno qilishga asoslanadi.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Pozitsion asfiksiya: morfologiya va diagnostika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Pozitsion asfiksiya boshning uzoq vaqt oldinga yoki yon tomonga bukilib turishidan rivojlanadi.</a:t>
            </a:r>
          </a:p>
          <a:p>
            <a:pPr>
              <a:spcAft>
                <a:spcPts val="800"/>
              </a:spcAft>
            </a:pPr>
            <a:r>
              <a:rPr sz="1800">
                <a:solidFill>
                  <a:srgbClr val="1F2937"/>
                </a:solidFill>
                <a:latin typeface="Calibri"/>
              </a:rPr>
              <a:t>▸  Bo‘yinda egat bo‘lmaydi, burma esa unga o‘xshashi mumkin. Diqqat: burma ≠ strangulyatsion egat.</a:t>
            </a:r>
          </a:p>
          <a:p>
            <a:pPr>
              <a:spcAft>
                <a:spcPts val="800"/>
              </a:spcAft>
            </a:pPr>
            <a:r>
              <a:rPr sz="1800">
                <a:solidFill>
                  <a:srgbClr val="1F2937"/>
                </a:solidFill>
                <a:latin typeface="Calibri"/>
              </a:rPr>
              <a:t>▸  Ichki: burma ostida oqimtir yo‘lka, yonlarida ayrim qon quyilishlar; til osti suyagi va tog‘aylar butun.</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337310"/>
                <a:gridCol w="2045969"/>
                <a:gridCol w="1904696"/>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Pozitsion</a:t>
                      </a:r>
                    </a:p>
                  </a:txBody>
                  <a:tcPr marL="73152" marR="73152" marT="36576" marB="36576">
                    <a:solidFill>
                      <a:srgbClr val="0B1F3A"/>
                    </a:solidFill>
                  </a:tcPr>
                </a:tc>
                <a:tc>
                  <a:txBody>
                    <a:bodyPr/>
                    <a:lstStyle/>
                    <a:p>
                      <a:r>
                        <a:rPr sz="1600" b="1">
                          <a:solidFill>
                            <a:srgbClr val="FFFFFF"/>
                          </a:solidFill>
                        </a:rPr>
                        <a:t>Sirtmoq/osilish</a:t>
                      </a:r>
                    </a:p>
                  </a:txBody>
                  <a:tcPr marL="73152" marR="73152" marT="36576" marB="36576">
                    <a:solidFill>
                      <a:srgbClr val="0B1F3A"/>
                    </a:solidFill>
                  </a:tcPr>
                </a:tc>
              </a:tr>
              <a:tr h="614476">
                <a:tc>
                  <a:txBody>
                    <a:bodyPr/>
                    <a:lstStyle/>
                    <a:p>
                      <a:r>
                        <a:rPr sz="1500" b="0">
                          <a:solidFill>
                            <a:srgbClr val="1F2937"/>
                          </a:solidFill>
                        </a:rPr>
                        <a:t>Tashqi egat</a:t>
                      </a:r>
                    </a:p>
                  </a:txBody>
                  <a:tcPr marL="73152" marR="73152" marT="36576" marB="36576">
                    <a:solidFill>
                      <a:srgbClr val="E8EEF6"/>
                    </a:solidFill>
                  </a:tcPr>
                </a:tc>
                <a:tc>
                  <a:txBody>
                    <a:bodyPr/>
                    <a:lstStyle/>
                    <a:p>
                      <a:r>
                        <a:rPr sz="1500" b="0">
                          <a:solidFill>
                            <a:srgbClr val="1F2937"/>
                          </a:solidFill>
                        </a:rPr>
                        <a:t>Yo‘q, faqat bukilish burmasi</a:t>
                      </a:r>
                    </a:p>
                  </a:txBody>
                  <a:tcPr marL="73152" marR="73152" marT="36576" marB="36576">
                    <a:solidFill>
                      <a:srgbClr val="E8EEF6"/>
                    </a:solidFill>
                  </a:tcPr>
                </a:tc>
                <a:tc>
                  <a:txBody>
                    <a:bodyPr/>
                    <a:lstStyle/>
                    <a:p>
                      <a:r>
                        <a:rPr sz="1500" b="0">
                          <a:solidFill>
                            <a:srgbClr val="1F2937"/>
                          </a:solidFill>
                        </a:rPr>
                        <a:t>Strangulyatsion egat bor</a:t>
                      </a:r>
                    </a:p>
                  </a:txBody>
                  <a:tcPr marL="73152" marR="73152" marT="36576" marB="36576">
                    <a:solidFill>
                      <a:srgbClr val="E8EEF6"/>
                    </a:solidFill>
                  </a:tcPr>
                </a:tc>
              </a:tr>
              <a:tr h="614476">
                <a:tc>
                  <a:txBody>
                    <a:bodyPr/>
                    <a:lstStyle/>
                    <a:p>
                      <a:r>
                        <a:rPr sz="1500" b="0">
                          <a:solidFill>
                            <a:srgbClr val="1F2937"/>
                          </a:solidFill>
                        </a:rPr>
                        <a:t>Ichki o‘zgarish</a:t>
                      </a:r>
                    </a:p>
                  </a:txBody>
                  <a:tcPr marL="73152" marR="73152" marT="36576" marB="36576">
                    <a:solidFill>
                      <a:srgbClr val="FFFFFF"/>
                    </a:solidFill>
                  </a:tcPr>
                </a:tc>
                <a:tc>
                  <a:txBody>
                    <a:bodyPr/>
                    <a:lstStyle/>
                    <a:p>
                      <a:r>
                        <a:rPr sz="1500" b="0">
                          <a:solidFill>
                            <a:srgbClr val="1F2937"/>
                          </a:solidFill>
                        </a:rPr>
                        <a:t>Burma ostida oqimtir yo‘lka</a:t>
                      </a:r>
                    </a:p>
                  </a:txBody>
                  <a:tcPr marL="73152" marR="73152" marT="36576" marB="36576">
                    <a:solidFill>
                      <a:srgbClr val="FFFFFF"/>
                    </a:solidFill>
                  </a:tcPr>
                </a:tc>
                <a:tc>
                  <a:txBody>
                    <a:bodyPr/>
                    <a:lstStyle/>
                    <a:p>
                      <a:r>
                        <a:rPr sz="1500" b="0">
                          <a:solidFill>
                            <a:srgbClr val="1F2937"/>
                          </a:solidFill>
                        </a:rPr>
                        <a:t>Egat ostida (yumshoq sirtmoqda “mis sim”)</a:t>
                      </a:r>
                    </a:p>
                  </a:txBody>
                  <a:tcPr marL="73152" marR="73152" marT="36576" marB="36576">
                    <a:solidFill>
                      <a:srgbClr val="FFFFFF"/>
                    </a:solidFill>
                  </a:tcPr>
                </a:tc>
              </a:tr>
              <a:tr h="614476">
                <a:tc>
                  <a:txBody>
                    <a:bodyPr/>
                    <a:lstStyle/>
                    <a:p>
                      <a:r>
                        <a:rPr sz="1500" b="0">
                          <a:solidFill>
                            <a:srgbClr val="1F2937"/>
                          </a:solidFill>
                        </a:rPr>
                        <a:t>Til osti suyagi</a:t>
                      </a:r>
                    </a:p>
                  </a:txBody>
                  <a:tcPr marL="73152" marR="73152" marT="36576" marB="36576">
                    <a:solidFill>
                      <a:srgbClr val="E8EEF6"/>
                    </a:solidFill>
                  </a:tcPr>
                </a:tc>
                <a:tc>
                  <a:txBody>
                    <a:bodyPr/>
                    <a:lstStyle/>
                    <a:p>
                      <a:r>
                        <a:rPr sz="1500" b="0">
                          <a:solidFill>
                            <a:srgbClr val="1F2937"/>
                          </a:solidFill>
                        </a:rPr>
                        <a:t>Shikastlanmaydi</a:t>
                      </a:r>
                    </a:p>
                  </a:txBody>
                  <a:tcPr marL="73152" marR="73152" marT="36576" marB="36576">
                    <a:solidFill>
                      <a:srgbClr val="E8EEF6"/>
                    </a:solidFill>
                  </a:tcPr>
                </a:tc>
                <a:tc>
                  <a:txBody>
                    <a:bodyPr/>
                    <a:lstStyle/>
                    <a:p>
                      <a:r>
                        <a:rPr sz="1500" b="0">
                          <a:solidFill>
                            <a:srgbClr val="1F2937"/>
                          </a:solidFill>
                        </a:rPr>
                        <a:t>Osilishda xos emas</a:t>
                      </a:r>
                    </a:p>
                  </a:txBody>
                  <a:tcPr marL="73152" marR="73152" marT="36576" marB="36576">
                    <a:solidFill>
                      <a:srgbClr val="E8EEF6"/>
                    </a:solidFill>
                  </a:tcPr>
                </a:tc>
              </a:tr>
              <a:tr h="614476">
                <a:tc>
                  <a:txBody>
                    <a:bodyPr/>
                    <a:lstStyle/>
                    <a:p>
                      <a:r>
                        <a:rPr sz="1500" b="0">
                          <a:solidFill>
                            <a:srgbClr val="1F2937"/>
                          </a:solidFill>
                        </a:rPr>
                        <a:t>Tashxis usuli</a:t>
                      </a:r>
                    </a:p>
                  </a:txBody>
                  <a:tcPr marL="73152" marR="73152" marT="36576" marB="36576">
                    <a:solidFill>
                      <a:srgbClr val="FFFFFF"/>
                    </a:solidFill>
                  </a:tcPr>
                </a:tc>
                <a:tc>
                  <a:txBody>
                    <a:bodyPr/>
                    <a:lstStyle/>
                    <a:p>
                      <a:r>
                        <a:rPr sz="1500" b="0">
                          <a:solidFill>
                            <a:srgbClr val="1F2937"/>
                          </a:solidFill>
                        </a:rPr>
                        <a:t>Boshqa sabablarni istisno qilish</a:t>
                      </a:r>
                    </a:p>
                  </a:txBody>
                  <a:tcPr marL="73152" marR="73152" marT="36576" marB="36576">
                    <a:solidFill>
                      <a:srgbClr val="FFFFFF"/>
                    </a:solidFill>
                  </a:tcPr>
                </a:tc>
                <a:tc>
                  <a:txBody>
                    <a:bodyPr/>
                    <a:lstStyle/>
                    <a:p>
                      <a:r>
                        <a:rPr sz="1500" b="0">
                          <a:solidFill>
                            <a:srgbClr val="1F2937"/>
                          </a:solidFill>
                        </a:rPr>
                        <a:t>Egat sirtmoq bilan taqqoslanadi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Pozitsion asfiksiya va sirtmoq bilan qisilish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pozitsion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hushsiz holatdagi shaxs cheklangan bo‘shliqqa tushib qolgan, boshi oldinga bukilgan holda topilgan.</a:t>
            </a:r>
          </a:p>
          <a:p>
            <a:pPr>
              <a:spcAft>
                <a:spcPts val="1200"/>
              </a:spcAft>
            </a:pPr>
            <a:r>
              <a:rPr sz="2200">
                <a:solidFill>
                  <a:srgbClr val="1F2937"/>
                </a:solidFill>
                <a:latin typeface="Calibri"/>
              </a:rPr>
              <a:t>▸  Bo‘ynida strangulyatsion egat yo‘q, faqat bukilish burmasi bor. Ichkarida burma proeksiyasida oqimtir yo‘lka topilgan.</a:t>
            </a:r>
          </a:p>
          <a:p>
            <a:pPr>
              <a:spcAft>
                <a:spcPts val="1200"/>
              </a:spcAft>
            </a:pPr>
            <a:r>
              <a:rPr sz="2200">
                <a:solidFill>
                  <a:srgbClr val="1F2937"/>
                </a:solidFill>
                <a:latin typeface="Calibri"/>
              </a:rPr>
              <a:t>▸  Til osti suyagi va hiqildoq tog‘aylari shikastlanmagan.</a:t>
            </a:r>
          </a:p>
          <a:p>
            <a:pPr>
              <a:spcAft>
                <a:spcPts val="1200"/>
              </a:spcAft>
            </a:pPr>
            <a:r>
              <a:rPr sz="2200">
                <a:solidFill>
                  <a:srgbClr val="1F2937"/>
                </a:solidFill>
                <a:latin typeface="Calibri"/>
              </a:rPr>
              <a:t>▸  Savol: o‘lim sababini qanday aniqlaysiz? Hodisa tafsilotlari va boshqa sabablarni istisno qilish nimaga imkon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strangulyatsion va pozitsion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tipik osilishda egat qayerda va qanday yo‘nalishda bo‘ladi? Javob: til osti suyagidan yuqorida, qiyshiq-vertikal.</a:t>
            </a:r>
          </a:p>
          <a:p>
            <a:pPr>
              <a:spcAft>
                <a:spcPts val="1200"/>
              </a:spcAft>
            </a:pPr>
            <a:r>
              <a:rPr sz="2200">
                <a:solidFill>
                  <a:srgbClr val="1F2937"/>
                </a:solidFill>
                <a:latin typeface="Calibri"/>
              </a:rPr>
              <a:t>▸  2-savol: sirtmoq bilan bo‘g‘ishda egat qanday? Javob: gorizontal, qalqonsimon tog‘ay sathida yoki pastroqda, ko‘pincha tutashgan.</a:t>
            </a:r>
          </a:p>
          <a:p>
            <a:pPr>
              <a:spcAft>
                <a:spcPts val="1200"/>
              </a:spcAft>
            </a:pPr>
            <a:r>
              <a:rPr sz="2200">
                <a:solidFill>
                  <a:srgbClr val="1F2937"/>
                </a:solidFill>
                <a:latin typeface="Calibri"/>
              </a:rPr>
              <a:t>▸  3-savol: yumshoq sirtmoqda terida egat ko‘rinmasa, ichkarida qaysi belgi topiladi? Javob: “mis sim” (Kasper belgisi).</a:t>
            </a:r>
          </a:p>
          <a:p>
            <a:pPr>
              <a:spcAft>
                <a:spcPts val="1200"/>
              </a:spcAft>
            </a:pPr>
            <a:r>
              <a:rPr sz="2200">
                <a:solidFill>
                  <a:srgbClr val="1F2937"/>
                </a:solidFill>
                <a:latin typeface="Calibri"/>
              </a:rPr>
              <a:t>▸  4-savol: pozitsion asfiksiyada egat bormi va tashxis qanday qo‘yiladi? Javob: egat yo‘q; boshqa sabablarni istisno qilish orqali.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114-115, 117, 115, 119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Obturatsion asfiksiya: nafas teshiklarining yopilishi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Og‘iz va burunning yopilishi qotillik yoki baxtsiz hodisa bo‘lishi mumkin. Qotillikda asosan yosh bolalar va holsizlangan kattalar qurbon bo‘ladi.</a:t>
            </a:r>
          </a:p>
          <a:p>
            <a:pPr>
              <a:spcAft>
                <a:spcPts val="1200"/>
              </a:spcAft>
            </a:pPr>
            <a:r>
              <a:rPr sz="2200">
                <a:solidFill>
                  <a:srgbClr val="1F2937"/>
                </a:solidFill>
                <a:latin typeface="Calibri"/>
              </a:rPr>
              <a:t>▸  Yumshoq jism bilan tasodifan yopilib qolish ko‘pincha hushsiz (koma) holatdagi shaxslarda kuzatiladi.</a:t>
            </a:r>
          </a:p>
          <a:p>
            <a:pPr>
              <a:spcAft>
                <a:spcPts val="1200"/>
              </a:spcAft>
            </a:pPr>
            <a:r>
              <a:rPr sz="2200">
                <a:solidFill>
                  <a:srgbClr val="1F2937"/>
                </a:solidFill>
                <a:latin typeface="Calibri"/>
              </a:rPr>
              <a:t>▸  Qarshilik bo‘lmasa, murdada umumasfiktik belgilardan boshqa shu turga xos belgi aniqlanmaydi.</a:t>
            </a:r>
          </a:p>
          <a:p>
            <a:pPr>
              <a:spcAft>
                <a:spcPts val="1200"/>
              </a:spcAft>
            </a:pPr>
            <a:r>
              <a:rPr sz="2200">
                <a:solidFill>
                  <a:srgbClr val="1F2937"/>
                </a:solidFill>
                <a:latin typeface="Calibri"/>
              </a:rPr>
              <a:t>▸  Qarshilikda og‘iz-burun atrofida qontalash va shilinma, milk shilliq qavatida qon quyilish bo‘ladi. Yumshoq jism tolalari ham topilishi mumkin. Diagnostika boshqa sabablarni istisno qilishga tayanadi.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119, 119-120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Nafas yo‘llarining yopilishi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O‘limda asosiy omil – o‘pkaga havo o‘tishining qiyinlashuvi. Reflektor spazm yoki yurak to‘xtashi ham bo‘lishi mumkin.</a:t>
            </a:r>
          </a:p>
          <a:p>
            <a:pPr>
              <a:spcAft>
                <a:spcPts val="800"/>
              </a:spcAft>
            </a:pPr>
            <a:r>
              <a:rPr sz="1800">
                <a:solidFill>
                  <a:srgbClr val="1F2937"/>
                </a:solidFill>
                <a:latin typeface="Calibri"/>
              </a:rPr>
              <a:t>▸  Mastlik va kalla-miya jarohati yutish hamda yo‘tal reflekslarini buzadi, bu aspiratsiyaga moyillik yaratadi.</a:t>
            </a:r>
          </a:p>
          <a:p>
            <a:pPr>
              <a:spcAft>
                <a:spcPts val="800"/>
              </a:spcAft>
            </a:pPr>
            <a:r>
              <a:rPr sz="1800">
                <a:solidFill>
                  <a:srgbClr val="1F2937"/>
                </a:solidFill>
                <a:latin typeface="Calibri"/>
              </a:rPr>
              <a:t>▸  Diqqat: qusuq topilishi har doim obturatsiya emas; reanimatsiya, tashish va chirishda ham tushadi.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880616"/>
                <a:gridCol w="3407359"/>
              </a:tblGrid>
              <a:tr h="768096">
                <a:tc>
                  <a:txBody>
                    <a:bodyPr/>
                    <a:lstStyle/>
                    <a:p>
                      <a:r>
                        <a:rPr sz="1800" b="1">
                          <a:solidFill>
                            <a:srgbClr val="FFFFFF"/>
                          </a:solidFill>
                        </a:rPr>
                        <a:t>Omil turi</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768096">
                <a:tc>
                  <a:txBody>
                    <a:bodyPr/>
                    <a:lstStyle/>
                    <a:p>
                      <a:r>
                        <a:rPr sz="1700" b="0">
                          <a:solidFill>
                            <a:srgbClr val="1F2937"/>
                          </a:solidFill>
                        </a:rPr>
                        <a:t>Yot jismlar</a:t>
                      </a:r>
                    </a:p>
                  </a:txBody>
                  <a:tcPr marL="73152" marR="73152" marT="36576" marB="36576">
                    <a:solidFill>
                      <a:srgbClr val="E8EEF6"/>
                    </a:solidFill>
                  </a:tcPr>
                </a:tc>
                <a:tc>
                  <a:txBody>
                    <a:bodyPr/>
                    <a:lstStyle/>
                    <a:p>
                      <a:r>
                        <a:rPr sz="1700" b="0">
                          <a:solidFill>
                            <a:srgbClr val="1F2937"/>
                          </a:solidFill>
                        </a:rPr>
                        <a:t>Danak, tugma, suyak, go‘sht bo‘lagi, protez</a:t>
                      </a:r>
                    </a:p>
                  </a:txBody>
                  <a:tcPr marL="73152" marR="73152" marT="36576" marB="36576">
                    <a:solidFill>
                      <a:srgbClr val="E8EEF6"/>
                    </a:solidFill>
                  </a:tcPr>
                </a:tc>
              </a:tr>
              <a:tr h="768096">
                <a:tc>
                  <a:txBody>
                    <a:bodyPr/>
                    <a:lstStyle/>
                    <a:p>
                      <a:r>
                        <a:rPr sz="1700" b="0">
                          <a:solidFill>
                            <a:srgbClr val="1F2937"/>
                          </a:solidFill>
                        </a:rPr>
                        <a:t>Sochiluvchan moddalar</a:t>
                      </a:r>
                    </a:p>
                  </a:txBody>
                  <a:tcPr marL="73152" marR="73152" marT="36576" marB="36576">
                    <a:solidFill>
                      <a:srgbClr val="FFFFFF"/>
                    </a:solidFill>
                  </a:tcPr>
                </a:tc>
                <a:tc>
                  <a:txBody>
                    <a:bodyPr/>
                    <a:lstStyle/>
                    <a:p>
                      <a:r>
                        <a:rPr sz="1700" b="0">
                          <a:solidFill>
                            <a:srgbClr val="1F2937"/>
                          </a:solidFill>
                        </a:rPr>
                        <a:t>Qum, tuproq, sement, don, un</a:t>
                      </a:r>
                    </a:p>
                  </a:txBody>
                  <a:tcPr marL="73152" marR="73152" marT="36576" marB="36576">
                    <a:solidFill>
                      <a:srgbClr val="FFFFFF"/>
                    </a:solidFill>
                  </a:tcPr>
                </a:tc>
              </a:tr>
              <a:tr h="768096">
                <a:tc>
                  <a:txBody>
                    <a:bodyPr/>
                    <a:lstStyle/>
                    <a:p>
                      <a:r>
                        <a:rPr sz="1700" b="0">
                          <a:solidFill>
                            <a:srgbClr val="1F2937"/>
                          </a:solidFill>
                        </a:rPr>
                        <a:t>Suyuqliklar</a:t>
                      </a:r>
                    </a:p>
                  </a:txBody>
                  <a:tcPr marL="73152" marR="73152" marT="36576" marB="36576">
                    <a:solidFill>
                      <a:srgbClr val="E8EEF6"/>
                    </a:solidFill>
                  </a:tcPr>
                </a:tc>
                <a:tc>
                  <a:txBody>
                    <a:bodyPr/>
                    <a:lstStyle/>
                    <a:p>
                      <a:r>
                        <a:rPr sz="1700" b="0">
                          <a:solidFill>
                            <a:srgbClr val="1F2937"/>
                          </a:solidFill>
                        </a:rPr>
                        <a:t>Qon, qusuq moddalari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Yopuvchi omillar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120, 120-121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 tushunchasi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Cho‘kish – tana to‘liq yoki qisman botganda nafas yo‘llarining suyuqlik, ko‘pincha suv bilan yopilishi.</a:t>
            </a:r>
          </a:p>
          <a:p>
            <a:pPr>
              <a:spcAft>
                <a:spcPts val="800"/>
              </a:spcAft>
            </a:pPr>
            <a:r>
              <a:rPr sz="1800">
                <a:solidFill>
                  <a:srgbClr val="1F2937"/>
                </a:solidFill>
                <a:latin typeface="Calibri"/>
              </a:rPr>
              <a:t>▸  Mexanik asfiksiyadan o‘limda osilishdan keyin ikkinchi o‘rinda; ko‘pincha baxtsiz hodisa.</a:t>
            </a:r>
          </a:p>
          <a:p>
            <a:pPr>
              <a:spcAft>
                <a:spcPts val="800"/>
              </a:spcAft>
            </a:pPr>
            <a:r>
              <a:rPr sz="1800">
                <a:solidFill>
                  <a:srgbClr val="1F2937"/>
                </a:solidFill>
                <a:latin typeface="Calibri"/>
              </a:rPr>
              <a:t>▸  Omillar: havza xususiyati, salomatlik holati va xavfli vaziyatlar (masalan, to‘lqin).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400745"/>
                <a:gridCol w="1691639"/>
                <a:gridCol w="2195590"/>
              </a:tblGrid>
              <a:tr h="76809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Nomi</a:t>
                      </a:r>
                    </a:p>
                  </a:txBody>
                  <a:tcPr marL="73152" marR="73152" marT="36576" marB="36576">
                    <a:solidFill>
                      <a:srgbClr val="0B1F3A"/>
                    </a:solidFill>
                  </a:tcPr>
                </a:tc>
                <a:tc>
                  <a:txBody>
                    <a:bodyPr/>
                    <a:lstStyle/>
                    <a:p>
                      <a:r>
                        <a:rPr sz="1600" b="1">
                          <a:solidFill>
                            <a:srgbClr val="FFFFFF"/>
                          </a:solidFill>
                        </a:rPr>
                        <a:t>Suv yetgan joy</a:t>
                      </a:r>
                    </a:p>
                  </a:txBody>
                  <a:tcPr marL="73152" marR="73152" marT="36576" marB="36576">
                    <a:solidFill>
                      <a:srgbClr val="0B1F3A"/>
                    </a:solidFill>
                  </a:tcPr>
                </a:tc>
              </a:tr>
              <a:tr h="768096">
                <a:tc>
                  <a:txBody>
                    <a:bodyPr/>
                    <a:lstStyle/>
                    <a:p>
                      <a:r>
                        <a:rPr sz="1500" b="0">
                          <a:solidFill>
                            <a:srgbClr val="1F2937"/>
                          </a:solidFill>
                        </a:rPr>
                        <a:t>Chin</a:t>
                      </a:r>
                    </a:p>
                  </a:txBody>
                  <a:tcPr marL="73152" marR="73152" marT="36576" marB="36576">
                    <a:solidFill>
                      <a:srgbClr val="E8EEF6"/>
                    </a:solidFill>
                  </a:tcPr>
                </a:tc>
                <a:tc>
                  <a:txBody>
                    <a:bodyPr/>
                    <a:lstStyle/>
                    <a:p>
                      <a:r>
                        <a:rPr sz="1500" b="0">
                          <a:solidFill>
                            <a:srgbClr val="1F2937"/>
                          </a:solidFill>
                        </a:rPr>
                        <a:t>Aspiratsion, “ho‘l”</a:t>
                      </a:r>
                    </a:p>
                  </a:txBody>
                  <a:tcPr marL="73152" marR="73152" marT="36576" marB="36576">
                    <a:solidFill>
                      <a:srgbClr val="E8EEF6"/>
                    </a:solidFill>
                  </a:tcPr>
                </a:tc>
                <a:tc>
                  <a:txBody>
                    <a:bodyPr/>
                    <a:lstStyle/>
                    <a:p>
                      <a:r>
                        <a:rPr sz="1500" b="0">
                          <a:solidFill>
                            <a:srgbClr val="1F2937"/>
                          </a:solidFill>
                        </a:rPr>
                        <a:t>Alveolalargacha</a:t>
                      </a:r>
                    </a:p>
                  </a:txBody>
                  <a:tcPr marL="73152" marR="73152" marT="36576" marB="36576">
                    <a:solidFill>
                      <a:srgbClr val="E8EEF6"/>
                    </a:solidFill>
                  </a:tcPr>
                </a:tc>
              </a:tr>
              <a:tr h="768096">
                <a:tc>
                  <a:txBody>
                    <a:bodyPr/>
                    <a:lstStyle/>
                    <a:p>
                      <a:r>
                        <a:rPr sz="1500" b="0">
                          <a:solidFill>
                            <a:srgbClr val="1F2937"/>
                          </a:solidFill>
                        </a:rPr>
                        <a:t>Asfiktik</a:t>
                      </a:r>
                    </a:p>
                  </a:txBody>
                  <a:tcPr marL="73152" marR="73152" marT="36576" marB="36576">
                    <a:solidFill>
                      <a:srgbClr val="FFFFFF"/>
                    </a:solidFill>
                  </a:tcPr>
                </a:tc>
                <a:tc>
                  <a:txBody>
                    <a:bodyPr/>
                    <a:lstStyle/>
                    <a:p>
                      <a:r>
                        <a:rPr sz="1500" b="0">
                          <a:solidFill>
                            <a:srgbClr val="1F2937"/>
                          </a:solidFill>
                        </a:rPr>
                        <a:t>Spastik, “quruq”</a:t>
                      </a:r>
                    </a:p>
                  </a:txBody>
                  <a:tcPr marL="73152" marR="73152" marT="36576" marB="36576">
                    <a:solidFill>
                      <a:srgbClr val="FFFFFF"/>
                    </a:solidFill>
                  </a:tcPr>
                </a:tc>
                <a:tc>
                  <a:txBody>
                    <a:bodyPr/>
                    <a:lstStyle/>
                    <a:p>
                      <a:r>
                        <a:rPr sz="1500" b="0">
                          <a:solidFill>
                            <a:srgbClr val="1F2937"/>
                          </a:solidFill>
                        </a:rPr>
                        <a:t>Traxeya, bronxga o‘tmaydi</a:t>
                      </a:r>
                    </a:p>
                  </a:txBody>
                  <a:tcPr marL="73152" marR="73152" marT="36576" marB="36576">
                    <a:solidFill>
                      <a:srgbClr val="FFFFFF"/>
                    </a:solidFill>
                  </a:tcPr>
                </a:tc>
              </a:tr>
              <a:tr h="768096">
                <a:tc>
                  <a:txBody>
                    <a:bodyPr/>
                    <a:lstStyle/>
                    <a:p>
                      <a:r>
                        <a:rPr sz="1500" b="0">
                          <a:solidFill>
                            <a:srgbClr val="1F2937"/>
                          </a:solidFill>
                        </a:rPr>
                        <a:t>Aralash</a:t>
                      </a:r>
                    </a:p>
                  </a:txBody>
                  <a:tcPr marL="73152" marR="73152" marT="36576" marB="36576">
                    <a:solidFill>
                      <a:srgbClr val="E8EEF6"/>
                    </a:solidFill>
                  </a:tcPr>
                </a:tc>
                <a:tc>
                  <a:txBody>
                    <a:bodyPr/>
                    <a:lstStyle/>
                    <a:p>
                      <a:r>
                        <a:rPr sz="1500" b="0">
                          <a:solidFill>
                            <a:srgbClr val="1F2937"/>
                          </a:solidFill>
                        </a:rPr>
                        <a:t>—</a:t>
                      </a:r>
                    </a:p>
                  </a:txBody>
                  <a:tcPr marL="73152" marR="73152" marT="36576" marB="36576">
                    <a:solidFill>
                      <a:srgbClr val="E8EEF6"/>
                    </a:solidFill>
                  </a:tcPr>
                </a:tc>
                <a:tc>
                  <a:txBody>
                    <a:bodyPr/>
                    <a:lstStyle/>
                    <a:p>
                      <a:r>
                        <a:rPr sz="1500" b="0">
                          <a:solidFill>
                            <a:srgbClr val="1F2937"/>
                          </a:solidFill>
                        </a:rPr>
                        <a:t>Alohida tavsiflanmagan</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Cho‘kish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Chin cho‘kish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Chin cho‘kishda suv alveolalargacha yetadi. O‘pka gipergidriya holatida: xamirsimon, hajmi ortgan.</a:t>
            </a:r>
          </a:p>
          <a:p>
            <a:pPr>
              <a:spcAft>
                <a:spcPts val="800"/>
              </a:spcAft>
            </a:pPr>
            <a:r>
              <a:rPr sz="1800">
                <a:solidFill>
                  <a:srgbClr val="1F2937"/>
                </a:solidFill>
                <a:latin typeface="Calibri"/>
              </a:rPr>
              <a:t>▸  Suv qonga o‘tgani uchun qon suyuladi (gemodilyusiya), osmotik gemoliz bo‘ladi. Murda dog‘lari pushti tusda.</a:t>
            </a:r>
          </a:p>
          <a:p>
            <a:pPr>
              <a:spcAft>
                <a:spcPts val="800"/>
              </a:spcAft>
            </a:pPr>
            <a:r>
              <a:rPr sz="1800">
                <a:solidFill>
                  <a:srgbClr val="1F2937"/>
                </a:solidFill>
                <a:latin typeface="Calibri"/>
              </a:rPr>
              <a:t>▸  Paltauf belgisi: qutulish harakatlari tufayli bo‘yin, ko‘krak va orqa mushaklarida qon quyilish.</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463289"/>
                <a:gridCol w="251156"/>
                <a:gridCol w="1573530"/>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Nimadan iborat</a:t>
                      </a:r>
                    </a:p>
                  </a:txBody>
                  <a:tcPr marL="73152" marR="73152" marT="36576" marB="36576">
                    <a:solidFill>
                      <a:srgbClr val="0B1F3A"/>
                    </a:solidFill>
                  </a:tcPr>
                </a:tc>
                <a:tc>
                  <a:txBody>
                    <a:bodyPr/>
                    <a:lstStyle/>
                    <a:p>
                      <a:r>
                        <a:rPr sz="1600" b="1">
                          <a:solidFill>
                            <a:srgbClr val="FFFFFF"/>
                          </a:solidFill>
                        </a:rPr>
                        <a:t>Qayerda</a:t>
                      </a:r>
                    </a:p>
                  </a:txBody>
                  <a:tcPr marL="73152" marR="73152" marT="36576" marB="36576">
                    <a:solidFill>
                      <a:srgbClr val="0B1F3A"/>
                    </a:solidFill>
                  </a:tcPr>
                </a:tc>
              </a:tr>
              <a:tr h="614476">
                <a:tc>
                  <a:txBody>
                    <a:bodyPr/>
                    <a:lstStyle/>
                    <a:p>
                      <a:r>
                        <a:rPr sz="1500" b="0">
                          <a:solidFill>
                            <a:srgbClr val="1F2937"/>
                          </a:solidFill>
                        </a:rPr>
                        <a:t>Krushevskiy ko‘pigi</a:t>
                      </a:r>
                    </a:p>
                  </a:txBody>
                  <a:tcPr marL="73152" marR="73152" marT="36576" marB="36576">
                    <a:solidFill>
                      <a:srgbClr val="E8EEF6"/>
                    </a:solidFill>
                  </a:tcPr>
                </a:tc>
                <a:tc>
                  <a:txBody>
                    <a:bodyPr/>
                    <a:lstStyle/>
                    <a:p>
                      <a:r>
                        <a:rPr sz="1500" b="0">
                          <a:solidFill>
                            <a:srgbClr val="1F2937"/>
                          </a:solidFill>
                        </a:rPr>
                        <a:t>Mayda pufakli, turg‘un oq ko‘pik</a:t>
                      </a:r>
                    </a:p>
                  </a:txBody>
                  <a:tcPr marL="73152" marR="73152" marT="36576" marB="36576">
                    <a:solidFill>
                      <a:srgbClr val="E8EEF6"/>
                    </a:solidFill>
                  </a:tcPr>
                </a:tc>
                <a:tc>
                  <a:txBody>
                    <a:bodyPr/>
                    <a:lstStyle/>
                    <a:p>
                      <a:r>
                        <a:rPr sz="1500" b="0">
                          <a:solidFill>
                            <a:srgbClr val="1F2937"/>
                          </a:solidFill>
                        </a:rPr>
                        <a:t>Og‘iz, burun, nafas yo‘llari</a:t>
                      </a:r>
                    </a:p>
                  </a:txBody>
                  <a:tcPr marL="73152" marR="73152" marT="36576" marB="36576">
                    <a:solidFill>
                      <a:srgbClr val="E8EEF6"/>
                    </a:solidFill>
                  </a:tcPr>
                </a:tc>
              </a:tr>
              <a:tr h="614476">
                <a:tc>
                  <a:txBody>
                    <a:bodyPr/>
                    <a:lstStyle/>
                    <a:p>
                      <a:r>
                        <a:rPr sz="1500" b="0">
                          <a:solidFill>
                            <a:srgbClr val="1F2937"/>
                          </a:solidFill>
                        </a:rPr>
                        <a:t>Rasskazov–Lukomskiy–Paltauf</a:t>
                      </a:r>
                    </a:p>
                  </a:txBody>
                  <a:tcPr marL="73152" marR="73152" marT="36576" marB="36576">
                    <a:solidFill>
                      <a:srgbClr val="FFFFFF"/>
                    </a:solidFill>
                  </a:tcPr>
                </a:tc>
                <a:tc>
                  <a:txBody>
                    <a:bodyPr/>
                    <a:lstStyle/>
                    <a:p>
                      <a:r>
                        <a:rPr sz="1500" b="0">
                          <a:solidFill>
                            <a:srgbClr val="1F2937"/>
                          </a:solidFill>
                        </a:rPr>
                        <a:t>Tarde dog‘idan yirik pushti dog‘lar</a:t>
                      </a:r>
                    </a:p>
                  </a:txBody>
                  <a:tcPr marL="73152" marR="73152" marT="36576" marB="36576">
                    <a:solidFill>
                      <a:srgbClr val="FFFFFF"/>
                    </a:solidFill>
                  </a:tcPr>
                </a:tc>
                <a:tc>
                  <a:txBody>
                    <a:bodyPr/>
                    <a:lstStyle/>
                    <a:p>
                      <a:r>
                        <a:rPr sz="1500" b="0">
                          <a:solidFill>
                            <a:srgbClr val="1F2937"/>
                          </a:solidFill>
                        </a:rPr>
                        <a:t>Visseral plevra ostida</a:t>
                      </a:r>
                    </a:p>
                  </a:txBody>
                  <a:tcPr marL="73152" marR="73152" marT="36576" marB="36576">
                    <a:solidFill>
                      <a:srgbClr val="FFFFFF"/>
                    </a:solidFill>
                  </a:tcPr>
                </a:tc>
              </a:tr>
              <a:tr h="614476">
                <a:tc>
                  <a:txBody>
                    <a:bodyPr/>
                    <a:lstStyle/>
                    <a:p>
                      <a:r>
                        <a:rPr sz="1500" b="0">
                          <a:solidFill>
                            <a:srgbClr val="1F2937"/>
                          </a:solidFill>
                        </a:rPr>
                        <a:t>Kasper belgisi</a:t>
                      </a:r>
                    </a:p>
                  </a:txBody>
                  <a:tcPr marL="73152" marR="73152" marT="36576" marB="36576">
                    <a:solidFill>
                      <a:srgbClr val="E8EEF6"/>
                    </a:solidFill>
                  </a:tcPr>
                </a:tc>
                <a:tc>
                  <a:txBody>
                    <a:bodyPr/>
                    <a:lstStyle/>
                    <a:p>
                      <a:r>
                        <a:rPr sz="1500" b="0">
                          <a:solidFill>
                            <a:srgbClr val="1F2937"/>
                          </a:solidFill>
                        </a:rPr>
                        <a:t>Chap qorincha qoni ochroq</a:t>
                      </a:r>
                    </a:p>
                  </a:txBody>
                  <a:tcPr marL="73152" marR="73152" marT="36576" marB="36576">
                    <a:solidFill>
                      <a:srgbClr val="E8EEF6"/>
                    </a:solidFill>
                  </a:tcPr>
                </a:tc>
                <a:tc>
                  <a:txBody>
                    <a:bodyPr/>
                    <a:lstStyle/>
                    <a:p>
                      <a:r>
                        <a:rPr sz="1500" b="0">
                          <a:solidFill>
                            <a:srgbClr val="1F2937"/>
                          </a:solidFill>
                        </a:rPr>
                        <a:t>Yurak kameralari</a:t>
                      </a:r>
                    </a:p>
                  </a:txBody>
                  <a:tcPr marL="73152" marR="73152" marT="36576" marB="36576">
                    <a:solidFill>
                      <a:srgbClr val="E8EEF6"/>
                    </a:solidFill>
                  </a:tcPr>
                </a:tc>
              </a:tr>
              <a:tr h="614476">
                <a:tc>
                  <a:txBody>
                    <a:bodyPr/>
                    <a:lstStyle/>
                    <a:p>
                      <a:r>
                        <a:rPr sz="1500" b="0">
                          <a:solidFill>
                            <a:srgbClr val="1F2937"/>
                          </a:solidFill>
                        </a:rPr>
                        <a:t>Moro; Fegerlund</a:t>
                      </a:r>
                    </a:p>
                  </a:txBody>
                  <a:tcPr marL="73152" marR="73152" marT="36576" marB="36576">
                    <a:solidFill>
                      <a:srgbClr val="FFFFFF"/>
                    </a:solidFill>
                  </a:tcPr>
                </a:tc>
                <a:tc>
                  <a:txBody>
                    <a:bodyPr/>
                    <a:lstStyle/>
                    <a:p>
                      <a:r>
                        <a:rPr sz="1500" b="0">
                          <a:solidFill>
                            <a:srgbClr val="1F2937"/>
                          </a:solidFill>
                        </a:rPr>
                        <a:t>Qorinda 100 ml, oshqozonda 300 ml gacha</a:t>
                      </a:r>
                    </a:p>
                  </a:txBody>
                  <a:tcPr marL="73152" marR="73152" marT="36576" marB="36576">
                    <a:solidFill>
                      <a:srgbClr val="FFFFFF"/>
                    </a:solidFill>
                  </a:tcPr>
                </a:tc>
                <a:tc>
                  <a:txBody>
                    <a:bodyPr/>
                    <a:lstStyle/>
                    <a:p>
                      <a:r>
                        <a:rPr sz="1500" b="0">
                          <a:solidFill>
                            <a:srgbClr val="1F2937"/>
                          </a:solidFill>
                        </a:rPr>
                        <a:t>Qorin bo‘shlig‘i, oshqozon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Chin cho‘kishning asosiy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121-122, 122, 123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Asfiktik cho‘kish belgilari va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Laringospazm suvni nafas yo‘llariga o‘tkazmaydi. Yuz ko‘kimtirligi va ko‘zdagi qon quyilishlar yaqqol bo‘ladi.</a:t>
            </a:r>
          </a:p>
          <a:p>
            <a:pPr>
              <a:spcAft>
                <a:spcPts val="800"/>
              </a:spcAft>
            </a:pPr>
            <a:r>
              <a:rPr sz="1800">
                <a:solidFill>
                  <a:srgbClr val="1F2937"/>
                </a:solidFill>
                <a:latin typeface="Calibri"/>
              </a:rPr>
              <a:t>▸  Havo emboliyasi uchun Sunsov sinamasi: chap qorincha teshiladi. Ko‘krak limfa yo‘lida limfogemiya topiladi.</a:t>
            </a:r>
          </a:p>
          <a:p>
            <a:pPr>
              <a:spcAft>
                <a:spcPts val="800"/>
              </a:spcAft>
            </a:pPr>
            <a:r>
              <a:rPr sz="1800">
                <a:solidFill>
                  <a:srgbClr val="1F2937"/>
                </a:solidFill>
                <a:latin typeface="Calibri"/>
              </a:rPr>
              <a:t>▸  Sveshnikov belgisi: kalla asosi bo‘shlig‘ida 5–15 ml suyuqlik topiladi.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91639"/>
                <a:gridCol w="3463289"/>
                <a:gridCol w="133047"/>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Chin</a:t>
                      </a:r>
                    </a:p>
                  </a:txBody>
                  <a:tcPr marL="73152" marR="73152" marT="36576" marB="36576">
                    <a:solidFill>
                      <a:srgbClr val="0B1F3A"/>
                    </a:solidFill>
                  </a:tcPr>
                </a:tc>
                <a:tc>
                  <a:txBody>
                    <a:bodyPr/>
                    <a:lstStyle/>
                    <a:p>
                      <a:r>
                        <a:rPr sz="1600" b="1">
                          <a:solidFill>
                            <a:srgbClr val="FFFFFF"/>
                          </a:solidFill>
                        </a:rPr>
                        <a:t>Asfiktik</a:t>
                      </a:r>
                    </a:p>
                  </a:txBody>
                  <a:tcPr marL="73152" marR="73152" marT="36576" marB="36576">
                    <a:solidFill>
                      <a:srgbClr val="0B1F3A"/>
                    </a:solidFill>
                  </a:tcPr>
                </a:tc>
              </a:tr>
              <a:tr h="614476">
                <a:tc>
                  <a:txBody>
                    <a:bodyPr/>
                    <a:lstStyle/>
                    <a:p>
                      <a:r>
                        <a:rPr sz="1500" b="0">
                          <a:solidFill>
                            <a:srgbClr val="1F2937"/>
                          </a:solidFill>
                        </a:rPr>
                        <a:t>Suv nafas yo‘llarida</a:t>
                      </a:r>
                    </a:p>
                  </a:txBody>
                  <a:tcPr marL="73152" marR="73152" marT="36576" marB="36576">
                    <a:solidFill>
                      <a:srgbClr val="E8EEF6"/>
                    </a:solidFill>
                  </a:tcPr>
                </a:tc>
                <a:tc>
                  <a:txBody>
                    <a:bodyPr/>
                    <a:lstStyle/>
                    <a:p>
                      <a:r>
                        <a:rPr sz="1500" b="0">
                          <a:solidFill>
                            <a:srgbClr val="1F2937"/>
                          </a:solidFill>
                        </a:rPr>
                        <a:t>Alveolagacha yetib boradi</a:t>
                      </a:r>
                    </a:p>
                  </a:txBody>
                  <a:tcPr marL="73152" marR="73152" marT="36576" marB="36576">
                    <a:solidFill>
                      <a:srgbClr val="E8EEF6"/>
                    </a:solidFill>
                  </a:tcPr>
                </a:tc>
                <a:tc>
                  <a:txBody>
                    <a:bodyPr/>
                    <a:lstStyle/>
                    <a:p>
                      <a:r>
                        <a:rPr sz="1500" b="0">
                          <a:solidFill>
                            <a:srgbClr val="1F2937"/>
                          </a:solidFill>
                        </a:rPr>
                        <a:t>Traxeya, bronxlarga o‘tmaydi</a:t>
                      </a:r>
                    </a:p>
                  </a:txBody>
                  <a:tcPr marL="73152" marR="73152" marT="36576" marB="36576">
                    <a:solidFill>
                      <a:srgbClr val="E8EEF6"/>
                    </a:solidFill>
                  </a:tcPr>
                </a:tc>
              </a:tr>
              <a:tr h="614476">
                <a:tc>
                  <a:txBody>
                    <a:bodyPr/>
                    <a:lstStyle/>
                    <a:p>
                      <a:r>
                        <a:rPr sz="1500" b="0">
                          <a:solidFill>
                            <a:srgbClr val="1F2937"/>
                          </a:solidFill>
                        </a:rPr>
                        <a:t>O‘pka</a:t>
                      </a:r>
                    </a:p>
                  </a:txBody>
                  <a:tcPr marL="73152" marR="73152" marT="36576" marB="36576">
                    <a:solidFill>
                      <a:srgbClr val="FFFFFF"/>
                    </a:solidFill>
                  </a:tcPr>
                </a:tc>
                <a:tc>
                  <a:txBody>
                    <a:bodyPr/>
                    <a:lstStyle/>
                    <a:p>
                      <a:r>
                        <a:rPr sz="1500" b="0">
                          <a:solidFill>
                            <a:srgbClr val="1F2937"/>
                          </a:solidFill>
                        </a:rPr>
                        <a:t>Gipergidriya, xamirsimon</a:t>
                      </a:r>
                    </a:p>
                  </a:txBody>
                  <a:tcPr marL="73152" marR="73152" marT="36576" marB="36576">
                    <a:solidFill>
                      <a:srgbClr val="FFFFFF"/>
                    </a:solidFill>
                  </a:tcPr>
                </a:tc>
                <a:tc>
                  <a:txBody>
                    <a:bodyPr/>
                    <a:lstStyle/>
                    <a:p>
                      <a:r>
                        <a:rPr sz="1500" b="0">
                          <a:solidFill>
                            <a:srgbClr val="1F2937"/>
                          </a:solidFill>
                        </a:rPr>
                        <a:t>Emfizema, giperaeriya, quruq</a:t>
                      </a:r>
                    </a:p>
                  </a:txBody>
                  <a:tcPr marL="73152" marR="73152" marT="36576" marB="36576">
                    <a:solidFill>
                      <a:srgbClr val="FFFFFF"/>
                    </a:solidFill>
                  </a:tcPr>
                </a:tc>
              </a:tr>
              <a:tr h="614476">
                <a:tc>
                  <a:txBody>
                    <a:bodyPr/>
                    <a:lstStyle/>
                    <a:p>
                      <a:r>
                        <a:rPr sz="1500" b="0">
                          <a:solidFill>
                            <a:srgbClr val="1F2937"/>
                          </a:solidFill>
                        </a:rPr>
                        <a:t>Plevra ostida</a:t>
                      </a:r>
                    </a:p>
                  </a:txBody>
                  <a:tcPr marL="73152" marR="73152" marT="36576" marB="36576">
                    <a:solidFill>
                      <a:srgbClr val="E8EEF6"/>
                    </a:solidFill>
                  </a:tcPr>
                </a:tc>
                <a:tc>
                  <a:txBody>
                    <a:bodyPr/>
                    <a:lstStyle/>
                    <a:p>
                      <a:r>
                        <a:rPr sz="1500" b="0">
                          <a:solidFill>
                            <a:srgbClr val="1F2937"/>
                          </a:solidFill>
                        </a:rPr>
                        <a:t>Tarde + Rasskazov–Lukomskiy–Paltauf</a:t>
                      </a:r>
                    </a:p>
                  </a:txBody>
                  <a:tcPr marL="73152" marR="73152" marT="36576" marB="36576">
                    <a:solidFill>
                      <a:srgbClr val="E8EEF6"/>
                    </a:solidFill>
                  </a:tcPr>
                </a:tc>
                <a:tc>
                  <a:txBody>
                    <a:bodyPr/>
                    <a:lstStyle/>
                    <a:p>
                      <a:r>
                        <a:rPr sz="1500" b="0">
                          <a:solidFill>
                            <a:srgbClr val="1F2937"/>
                          </a:solidFill>
                        </a:rPr>
                        <a:t>Faqat Tarde dog‘lari</a:t>
                      </a:r>
                    </a:p>
                  </a:txBody>
                  <a:tcPr marL="73152" marR="73152" marT="36576" marB="36576">
                    <a:solidFill>
                      <a:srgbClr val="E8EEF6"/>
                    </a:solidFill>
                  </a:tcPr>
                </a:tc>
              </a:tr>
              <a:tr h="614476">
                <a:tc>
                  <a:txBody>
                    <a:bodyPr/>
                    <a:lstStyle/>
                    <a:p>
                      <a:r>
                        <a:rPr sz="1500" b="0">
                          <a:solidFill>
                            <a:srgbClr val="1F2937"/>
                          </a:solidFill>
                        </a:rPr>
                        <a:t>Oshqozondagi suv</a:t>
                      </a:r>
                    </a:p>
                  </a:txBody>
                  <a:tcPr marL="73152" marR="73152" marT="36576" marB="36576">
                    <a:solidFill>
                      <a:srgbClr val="FFFFFF"/>
                    </a:solidFill>
                  </a:tcPr>
                </a:tc>
                <a:tc>
                  <a:txBody>
                    <a:bodyPr/>
                    <a:lstStyle/>
                    <a:p>
                      <a:r>
                        <a:rPr sz="1500" b="0">
                          <a:solidFill>
                            <a:srgbClr val="1F2937"/>
                          </a:solidFill>
                        </a:rPr>
                        <a:t>300 ml gacha</a:t>
                      </a:r>
                    </a:p>
                  </a:txBody>
                  <a:tcPr marL="73152" marR="73152" marT="36576" marB="36576">
                    <a:solidFill>
                      <a:srgbClr val="FFFFFF"/>
                    </a:solidFill>
                  </a:tcPr>
                </a:tc>
                <a:tc>
                  <a:txBody>
                    <a:bodyPr/>
                    <a:lstStyle/>
                    <a:p>
                      <a:r>
                        <a:rPr sz="1500" b="0">
                          <a:solidFill>
                            <a:srgbClr val="1F2937"/>
                          </a:solidFill>
                        </a:rPr>
                        <a:t>1 l 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Chin va asfiktik cho‘kish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123, 124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Dengiz suvi va suvdagi to‘satdan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Sho‘r suvning osmotik bosimi qonnikidan baland, shuning uchun qonning suyuq qismi alveolaga o‘tadi.</a:t>
            </a:r>
          </a:p>
          <a:p>
            <a:pPr>
              <a:spcAft>
                <a:spcPts val="800"/>
              </a:spcAft>
            </a:pPr>
            <a:r>
              <a:rPr sz="1800">
                <a:solidFill>
                  <a:srgbClr val="1F2937"/>
                </a:solidFill>
                <a:latin typeface="Calibri"/>
              </a:rPr>
              <a:t>▸  Suvga tushgan zahoti yurak va nafas reflektor to‘xtashi mumkin; asfiksiya belgilari ulgurmaydi.</a:t>
            </a:r>
          </a:p>
          <a:p>
            <a:pPr>
              <a:spcAft>
                <a:spcPts val="800"/>
              </a:spcAft>
            </a:pPr>
            <a:r>
              <a:rPr sz="1800">
                <a:solidFill>
                  <a:srgbClr val="1F2937"/>
                </a:solidFill>
                <a:latin typeface="Calibri"/>
              </a:rPr>
              <a:t>▸  Moyillik omillari: issiq urish, o‘ta charchash, to‘la oshqozon, mastlik. Yurakda patologik o‘zgarish topiladi.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463289"/>
                <a:gridCol w="2045969"/>
                <a:gridCol w="-221283"/>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Odatdagi suv</a:t>
                      </a:r>
                    </a:p>
                  </a:txBody>
                  <a:tcPr marL="73152" marR="73152" marT="36576" marB="36576">
                    <a:solidFill>
                      <a:srgbClr val="0B1F3A"/>
                    </a:solidFill>
                  </a:tcPr>
                </a:tc>
                <a:tc>
                  <a:txBody>
                    <a:bodyPr/>
                    <a:lstStyle/>
                    <a:p>
                      <a:r>
                        <a:rPr sz="1600" b="1">
                          <a:solidFill>
                            <a:srgbClr val="FFFFFF"/>
                          </a:solidFill>
                        </a:rPr>
                        <a:t>Dengiz suvi</a:t>
                      </a:r>
                    </a:p>
                  </a:txBody>
                  <a:tcPr marL="73152" marR="73152" marT="36576" marB="36576">
                    <a:solidFill>
                      <a:srgbClr val="0B1F3A"/>
                    </a:solidFill>
                  </a:tcPr>
                </a:tc>
              </a:tr>
              <a:tr h="614476">
                <a:tc>
                  <a:txBody>
                    <a:bodyPr/>
                    <a:lstStyle/>
                    <a:p>
                      <a:r>
                        <a:rPr sz="1500" b="0">
                          <a:solidFill>
                            <a:srgbClr val="1F2937"/>
                          </a:solidFill>
                        </a:rPr>
                        <a:t>Suv harakati</a:t>
                      </a:r>
                    </a:p>
                  </a:txBody>
                  <a:tcPr marL="73152" marR="73152" marT="36576" marB="36576">
                    <a:solidFill>
                      <a:srgbClr val="E8EEF6"/>
                    </a:solidFill>
                  </a:tcPr>
                </a:tc>
                <a:tc>
                  <a:txBody>
                    <a:bodyPr/>
                    <a:lstStyle/>
                    <a:p>
                      <a:r>
                        <a:rPr sz="1500" b="0">
                          <a:solidFill>
                            <a:srgbClr val="1F2937"/>
                          </a:solidFill>
                        </a:rPr>
                        <a:t>Alveoladan qonga o‘tadi</a:t>
                      </a:r>
                    </a:p>
                  </a:txBody>
                  <a:tcPr marL="73152" marR="73152" marT="36576" marB="36576">
                    <a:solidFill>
                      <a:srgbClr val="E8EEF6"/>
                    </a:solidFill>
                  </a:tcPr>
                </a:tc>
                <a:tc>
                  <a:txBody>
                    <a:bodyPr/>
                    <a:lstStyle/>
                    <a:p>
                      <a:r>
                        <a:rPr sz="1500" b="0">
                          <a:solidFill>
                            <a:srgbClr val="1F2937"/>
                          </a:solidFill>
                        </a:rPr>
                        <a:t>Qon suyuqligi alveolaga chiqadi</a:t>
                      </a:r>
                    </a:p>
                  </a:txBody>
                  <a:tcPr marL="73152" marR="73152" marT="36576" marB="36576">
                    <a:solidFill>
                      <a:srgbClr val="E8EEF6"/>
                    </a:solidFill>
                  </a:tcPr>
                </a:tc>
              </a:tr>
              <a:tr h="614476">
                <a:tc>
                  <a:txBody>
                    <a:bodyPr/>
                    <a:lstStyle/>
                    <a:p>
                      <a:r>
                        <a:rPr sz="1500" b="0">
                          <a:solidFill>
                            <a:srgbClr val="1F2937"/>
                          </a:solidFill>
                        </a:rPr>
                        <a:t>Qon holati</a:t>
                      </a:r>
                    </a:p>
                  </a:txBody>
                  <a:tcPr marL="73152" marR="73152" marT="36576" marB="36576">
                    <a:solidFill>
                      <a:srgbClr val="FFFFFF"/>
                    </a:solidFill>
                  </a:tcPr>
                </a:tc>
                <a:tc>
                  <a:txBody>
                    <a:bodyPr/>
                    <a:lstStyle/>
                    <a:p>
                      <a:r>
                        <a:rPr sz="1500" b="0">
                          <a:solidFill>
                            <a:srgbClr val="1F2937"/>
                          </a:solidFill>
                        </a:rPr>
                        <a:t>Suyuladi (gemodilyusiya)</a:t>
                      </a:r>
                    </a:p>
                  </a:txBody>
                  <a:tcPr marL="73152" marR="73152" marT="36576" marB="36576">
                    <a:solidFill>
                      <a:srgbClr val="FFFFFF"/>
                    </a:solidFill>
                  </a:tcPr>
                </a:tc>
                <a:tc>
                  <a:txBody>
                    <a:bodyPr/>
                    <a:lstStyle/>
                    <a:p>
                      <a:r>
                        <a:rPr sz="1500" b="0">
                          <a:solidFill>
                            <a:srgbClr val="1F2937"/>
                          </a:solidFill>
                        </a:rPr>
                        <a:t>Quyuqlashadi, gipovolemiya</a:t>
                      </a:r>
                    </a:p>
                  </a:txBody>
                  <a:tcPr marL="73152" marR="73152" marT="36576" marB="36576">
                    <a:solidFill>
                      <a:srgbClr val="FFFFFF"/>
                    </a:solidFill>
                  </a:tcPr>
                </a:tc>
              </a:tr>
              <a:tr h="614476">
                <a:tc>
                  <a:txBody>
                    <a:bodyPr/>
                    <a:lstStyle/>
                    <a:p>
                      <a:r>
                        <a:rPr sz="1500" b="0">
                          <a:solidFill>
                            <a:srgbClr val="1F2937"/>
                          </a:solidFill>
                        </a:rPr>
                        <a:t>Rasskazov–Lukomskiy–Paltauf</a:t>
                      </a:r>
                    </a:p>
                  </a:txBody>
                  <a:tcPr marL="73152" marR="73152" marT="36576" marB="36576">
                    <a:solidFill>
                      <a:srgbClr val="E8EEF6"/>
                    </a:solidFill>
                  </a:tcPr>
                </a:tc>
                <a:tc>
                  <a:txBody>
                    <a:bodyPr/>
                    <a:lstStyle/>
                    <a:p>
                      <a:r>
                        <a:rPr sz="1500" b="0">
                          <a:solidFill>
                            <a:srgbClr val="1F2937"/>
                          </a:solidFill>
                        </a:rPr>
                        <a:t>Plevra ostida bo‘ladi</a:t>
                      </a:r>
                    </a:p>
                  </a:txBody>
                  <a:tcPr marL="73152" marR="73152" marT="36576" marB="36576">
                    <a:solidFill>
                      <a:srgbClr val="E8EEF6"/>
                    </a:solidFill>
                  </a:tcPr>
                </a:tc>
                <a:tc>
                  <a:txBody>
                    <a:bodyPr/>
                    <a:lstStyle/>
                    <a:p>
                      <a:r>
                        <a:rPr sz="1500" b="0">
                          <a:solidFill>
                            <a:srgbClr val="1F2937"/>
                          </a:solidFill>
                        </a:rPr>
                        <a:t>Vujudga kelmaydi</a:t>
                      </a:r>
                    </a:p>
                  </a:txBody>
                  <a:tcPr marL="73152" marR="73152" marT="36576" marB="36576">
                    <a:solidFill>
                      <a:srgbClr val="E8EEF6"/>
                    </a:solidFill>
                  </a:tcPr>
                </a:tc>
              </a:tr>
              <a:tr h="614476">
                <a:tc>
                  <a:txBody>
                    <a:bodyPr/>
                    <a:lstStyle/>
                    <a:p>
                      <a:r>
                        <a:rPr sz="1500" b="0">
                          <a:solidFill>
                            <a:srgbClr val="1F2937"/>
                          </a:solidFill>
                        </a:rPr>
                        <a:t>O‘pka</a:t>
                      </a:r>
                    </a:p>
                  </a:txBody>
                  <a:tcPr marL="73152" marR="73152" marT="36576" marB="36576">
                    <a:solidFill>
                      <a:srgbClr val="FFFFFF"/>
                    </a:solidFill>
                  </a:tcPr>
                </a:tc>
                <a:tc>
                  <a:txBody>
                    <a:bodyPr/>
                    <a:lstStyle/>
                    <a:p>
                      <a:r>
                        <a:rPr sz="1500" b="0">
                          <a:solidFill>
                            <a:srgbClr val="1F2937"/>
                          </a:solidFill>
                        </a:rPr>
                        <a:t>Gipergidriya, xamirsimon</a:t>
                      </a:r>
                    </a:p>
                  </a:txBody>
                  <a:tcPr marL="73152" marR="73152" marT="36576" marB="36576">
                    <a:solidFill>
                      <a:srgbClr val="FFFFFF"/>
                    </a:solidFill>
                  </a:tcPr>
                </a:tc>
                <a:tc>
                  <a:txBody>
                    <a:bodyPr/>
                    <a:lstStyle/>
                    <a:p>
                      <a:r>
                        <a:rPr sz="1500" b="0">
                          <a:solidFill>
                            <a:srgbClr val="1F2937"/>
                          </a:solidFill>
                        </a:rPr>
                        <a:t>Ba’zan o‘pka shishishi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Odatdagi va dengiz suvida cho‘kish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123, 124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cho‘kish turini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A: og‘iz-burun atrofida turg‘un mayda pufakli oq ko‘pik, o‘pkalar xamirsimon, hajmi ortgan, oshqozonda taxminan 300 ml suv.</a:t>
            </a:r>
          </a:p>
          <a:p>
            <a:pPr>
              <a:spcAft>
                <a:spcPts val="1200"/>
              </a:spcAft>
            </a:pPr>
            <a:r>
              <a:rPr sz="2200">
                <a:solidFill>
                  <a:srgbClr val="1F2937"/>
                </a:solidFill>
                <a:latin typeface="Calibri"/>
              </a:rPr>
              <a:t>▸  Vaziyat B: ko‘pik oz va noturg‘un, o‘pkalar quruq va emfizemali, nafas yo‘llarida suv yo‘q, oshqozonda 1 l gacha suv.</a:t>
            </a:r>
          </a:p>
          <a:p>
            <a:pPr>
              <a:spcAft>
                <a:spcPts val="1200"/>
              </a:spcAft>
            </a:pPr>
            <a:r>
              <a:rPr sz="2200">
                <a:solidFill>
                  <a:srgbClr val="1F2937"/>
                </a:solidFill>
                <a:latin typeface="Calibri"/>
              </a:rPr>
              <a:t>▸  Savol: har bir vaziyatda cho‘kishning qaysi turi (chin yoki asfiktik) haqida o‘ylaysiz? Kamida ikkita dalil keltiring.</a:t>
            </a:r>
          </a:p>
          <a:p>
            <a:pPr>
              <a:spcAft>
                <a:spcPts val="1200"/>
              </a:spcAft>
            </a:pPr>
            <a:r>
              <a:rPr sz="2200">
                <a:solidFill>
                  <a:srgbClr val="1F2937"/>
                </a:solidFill>
                <a:latin typeface="Calibri"/>
              </a:rPr>
              <a:t>▸  Diqqat: umumasfiktik belgilar cho‘kishning barcha turida uchrashi mumkin, shu sababli faqat ularga tayanib tur ajratib bo‘lmaydi.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122-123, 123, 121-123, 121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Cho‘kish hayotiyligini aniqlash: laboratoriya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Suvga tushishning hayotiyligini aniqlash suvdan chiqarilgan murda ekspertizasining asosiy masalalaridan biridir.</a:t>
            </a:r>
          </a:p>
          <a:p>
            <a:pPr>
              <a:spcAft>
                <a:spcPts val="800"/>
              </a:spcAft>
            </a:pPr>
            <a:r>
              <a:rPr sz="1800">
                <a:solidFill>
                  <a:srgbClr val="1F2937"/>
                </a:solidFill>
                <a:latin typeface="Calibri"/>
              </a:rPr>
              <a:t>▸  Mikroskopda chin cho‘kishda nafas yo‘llari va alveolalarda suv bilan kirgan yot moddalar topiladi.</a:t>
            </a:r>
          </a:p>
          <a:p>
            <a:pPr>
              <a:spcAft>
                <a:spcPts val="800"/>
              </a:spcAft>
            </a:pPr>
            <a:r>
              <a:rPr sz="1800">
                <a:solidFill>
                  <a:srgbClr val="1F2937"/>
                </a:solidFill>
                <a:latin typeface="Calibri"/>
              </a:rPr>
              <a:t>▸  Krioskopik, refraktometrik, quyushqoqlik va elektr o‘tkazuvchanlik: chap va o‘ng yurak qoni taqqoslanadi.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Makroskopik tekshiruv</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Ichki a’zolar gistologiyasi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Diatom, psevdoplankton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Bakteriologik tekshiruv</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Krioskopiya, refraktometriya</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Usullar tartibi (o‘quv sxemasi)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124, 126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Diatom planktoni tekshiruvi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Diatom — kremniy qobiqli bir hujayrali suv o‘simligi; quyosh tushmaydigan suvlarda bo‘lmaydi.</a:t>
            </a:r>
          </a:p>
          <a:p>
            <a:pPr>
              <a:spcAft>
                <a:spcPts val="800"/>
              </a:spcAft>
            </a:pPr>
            <a:r>
              <a:rPr sz="1800">
                <a:solidFill>
                  <a:srgbClr val="1F2937"/>
                </a:solidFill>
                <a:latin typeface="Calibri"/>
              </a:rPr>
              <a:t>▸  Chin cho‘kishda diatom qonga o‘tib, katta qon doirasi orqali ichki a’zolarga tarqaladi; o‘lchami odatda 15-50 mk.</a:t>
            </a:r>
          </a:p>
          <a:p>
            <a:pPr>
              <a:spcAft>
                <a:spcPts val="800"/>
              </a:spcAft>
            </a:pPr>
            <a:r>
              <a:rPr sz="1800">
                <a:solidFill>
                  <a:srgbClr val="1F2937"/>
                </a:solidFill>
                <a:latin typeface="Calibri"/>
              </a:rPr>
              <a:t>▸  Topilgan diatom murda topilgan havza planktoniga mos bo‘lishi kerak; shu uchun havzadan 1 l suv olinadi.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2155280"/>
                <a:gridCol w="1795384"/>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Chin cho‘kish</a:t>
                      </a:r>
                    </a:p>
                  </a:txBody>
                  <a:tcPr marL="73152" marR="73152" marT="36576" marB="36576">
                    <a:solidFill>
                      <a:srgbClr val="0B1F3A"/>
                    </a:solidFill>
                  </a:tcPr>
                </a:tc>
                <a:tc>
                  <a:txBody>
                    <a:bodyPr/>
                    <a:lstStyle/>
                    <a:p>
                      <a:r>
                        <a:rPr sz="1600" b="1">
                          <a:solidFill>
                            <a:srgbClr val="FFFFFF"/>
                          </a:solidFill>
                        </a:rPr>
                        <a:t>Asfiktik</a:t>
                      </a:r>
                    </a:p>
                  </a:txBody>
                  <a:tcPr marL="73152" marR="73152" marT="36576" marB="36576">
                    <a:solidFill>
                      <a:srgbClr val="0B1F3A"/>
                    </a:solidFill>
                  </a:tcPr>
                </a:tc>
              </a:tr>
              <a:tr h="768096">
                <a:tc>
                  <a:txBody>
                    <a:bodyPr/>
                    <a:lstStyle/>
                    <a:p>
                      <a:r>
                        <a:rPr sz="1500" b="0">
                          <a:solidFill>
                            <a:srgbClr val="1F2937"/>
                          </a:solidFill>
                        </a:rPr>
                        <a:t>A’zolarda diatom</a:t>
                      </a:r>
                    </a:p>
                  </a:txBody>
                  <a:tcPr marL="73152" marR="73152" marT="36576" marB="36576">
                    <a:solidFill>
                      <a:srgbClr val="E8EEF6"/>
                    </a:solidFill>
                  </a:tcPr>
                </a:tc>
                <a:tc>
                  <a:txBody>
                    <a:bodyPr/>
                    <a:lstStyle/>
                    <a:p>
                      <a:r>
                        <a:rPr sz="1500" b="0">
                          <a:solidFill>
                            <a:srgbClr val="1F2937"/>
                          </a:solidFill>
                        </a:rPr>
                        <a:t>Parenximatoz a’zo va suyak miyada topiladi</a:t>
                      </a:r>
                    </a:p>
                  </a:txBody>
                  <a:tcPr marL="73152" marR="73152" marT="36576" marB="36576">
                    <a:solidFill>
                      <a:srgbClr val="E8EEF6"/>
                    </a:solidFill>
                  </a:tcPr>
                </a:tc>
                <a:tc>
                  <a:txBody>
                    <a:bodyPr/>
                    <a:lstStyle/>
                    <a:p>
                      <a:r>
                        <a:rPr sz="1500" b="0">
                          <a:solidFill>
                            <a:srgbClr val="1F2937"/>
                          </a:solidFill>
                        </a:rPr>
                        <a:t>Bo‘lmasligi mumkin</a:t>
                      </a:r>
                    </a:p>
                  </a:txBody>
                  <a:tcPr marL="73152" marR="73152" marT="36576" marB="36576">
                    <a:solidFill>
                      <a:srgbClr val="E8EEF6"/>
                    </a:solidFill>
                  </a:tcPr>
                </a:tc>
              </a:tr>
              <a:tr h="768096">
                <a:tc>
                  <a:txBody>
                    <a:bodyPr/>
                    <a:lstStyle/>
                    <a:p>
                      <a:r>
                        <a:rPr sz="1500" b="0">
                          <a:solidFill>
                            <a:srgbClr val="1F2937"/>
                          </a:solidFill>
                        </a:rPr>
                        <a:t>Namuna</a:t>
                      </a:r>
                    </a:p>
                  </a:txBody>
                  <a:tcPr marL="73152" marR="73152" marT="36576" marB="36576">
                    <a:solidFill>
                      <a:srgbClr val="FFFFFF"/>
                    </a:solidFill>
                  </a:tcPr>
                </a:tc>
                <a:tc>
                  <a:txBody>
                    <a:bodyPr/>
                    <a:lstStyle/>
                    <a:p>
                      <a:r>
                        <a:rPr sz="1500" b="0">
                          <a:solidFill>
                            <a:srgbClr val="1F2937"/>
                          </a:solidFill>
                        </a:rPr>
                        <a:t>A’zo bo‘lakchasi, suyak miya</a:t>
                      </a:r>
                    </a:p>
                  </a:txBody>
                  <a:tcPr marL="73152" marR="73152" marT="36576" marB="36576">
                    <a:solidFill>
                      <a:srgbClr val="FFFFFF"/>
                    </a:solidFill>
                  </a:tcPr>
                </a:tc>
                <a:tc>
                  <a:txBody>
                    <a:bodyPr/>
                    <a:lstStyle/>
                    <a:p>
                      <a:r>
                        <a:rPr sz="1500" b="0">
                          <a:solidFill>
                            <a:srgbClr val="1F2937"/>
                          </a:solidFill>
                        </a:rPr>
                        <a:t>Kalla asosi bo‘shlig‘i suyuqligi</a:t>
                      </a:r>
                    </a:p>
                  </a:txBody>
                  <a:tcPr marL="73152" marR="73152" marT="36576" marB="36576">
                    <a:solidFill>
                      <a:srgbClr val="FFFFFF"/>
                    </a:solidFill>
                  </a:tcPr>
                </a:tc>
              </a:tr>
              <a:tr h="768096">
                <a:tc>
                  <a:txBody>
                    <a:bodyPr/>
                    <a:lstStyle/>
                    <a:p>
                      <a:r>
                        <a:rPr sz="1500" b="0">
                          <a:solidFill>
                            <a:srgbClr val="1F2937"/>
                          </a:solidFill>
                        </a:rPr>
                        <a:t>O‘pkada topilishi</a:t>
                      </a:r>
                    </a:p>
                  </a:txBody>
                  <a:tcPr marL="73152" marR="73152" marT="36576" marB="36576">
                    <a:solidFill>
                      <a:srgbClr val="E8EEF6"/>
                    </a:solidFill>
                  </a:tcPr>
                </a:tc>
                <a:tc>
                  <a:txBody>
                    <a:bodyPr/>
                    <a:lstStyle/>
                    <a:p>
                      <a:r>
                        <a:rPr sz="1500" b="0">
                          <a:solidFill>
                            <a:srgbClr val="1F2937"/>
                          </a:solidFill>
                        </a:rPr>
                        <a:t>Diagnostik ahamiyati yo‘q</a:t>
                      </a:r>
                    </a:p>
                  </a:txBody>
                  <a:tcPr marL="73152" marR="73152" marT="36576" marB="36576">
                    <a:solidFill>
                      <a:srgbClr val="E8EEF6"/>
                    </a:solidFill>
                  </a:tcPr>
                </a:tc>
                <a:tc>
                  <a:txBody>
                    <a:bodyPr/>
                    <a:lstStyle/>
                    <a:p>
                      <a:r>
                        <a:rPr sz="1500" b="0">
                          <a:solidFill>
                            <a:srgbClr val="1F2937"/>
                          </a:solidFill>
                        </a:rPr>
                        <a:t>Diagnostik ahamiyati 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Diatom topilishi: ikki tur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124, 125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Psevdoplankton, bakteriologik va fizik usullar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Psevdoplankton: mayda qum, o‘simlik changi, suv o‘simligi qismlari. Polyarizatsion mikroskopiyada aniqlanadi.</a:t>
            </a:r>
          </a:p>
          <a:p>
            <a:pPr>
              <a:spcAft>
                <a:spcPts val="800"/>
              </a:spcAft>
            </a:pPr>
            <a:r>
              <a:rPr sz="1800">
                <a:solidFill>
                  <a:srgbClr val="1F2937"/>
                </a:solidFill>
                <a:latin typeface="Calibri"/>
              </a:rPr>
              <a:t>▸  Ichki a’zolarda suvdagi bakteriyalar (Pseudomonas putida, P. fluorescens) topilsa, suvga hayotiy tushgan.</a:t>
            </a:r>
          </a:p>
          <a:p>
            <a:pPr>
              <a:spcAft>
                <a:spcPts val="800"/>
              </a:spcAft>
            </a:pPr>
            <a:r>
              <a:rPr sz="1800">
                <a:solidFill>
                  <a:srgbClr val="1F2937"/>
                </a:solidFill>
                <a:latin typeface="Calibri"/>
              </a:rPr>
              <a:t>▸  Krioskopiya, refraktometriya, quyushqoqlik, o‘tkazuvchanlik: yurakning chap va o‘ng qoni solishtiriladi.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045969"/>
                <a:gridCol w="1561672"/>
                <a:gridCol w="1680333"/>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O‘lchov</a:t>
                      </a:r>
                    </a:p>
                  </a:txBody>
                  <a:tcPr marL="73152" marR="73152" marT="36576" marB="36576">
                    <a:solidFill>
                      <a:srgbClr val="0B1F3A"/>
                    </a:solidFill>
                  </a:tcPr>
                </a:tc>
                <a:tc>
                  <a:txBody>
                    <a:bodyPr/>
                    <a:lstStyle/>
                    <a:p>
                      <a:r>
                        <a:rPr sz="1600" b="1">
                          <a:solidFill>
                            <a:srgbClr val="FFFFFF"/>
                          </a:solidFill>
                        </a:rPr>
                        <a:t>Ma’no</a:t>
                      </a:r>
                    </a:p>
                  </a:txBody>
                  <a:tcPr marL="73152" marR="73152" marT="36576" marB="36576">
                    <a:solidFill>
                      <a:srgbClr val="0B1F3A"/>
                    </a:solidFill>
                  </a:tcPr>
                </a:tc>
              </a:tr>
              <a:tr h="614476">
                <a:tc>
                  <a:txBody>
                    <a:bodyPr/>
                    <a:lstStyle/>
                    <a:p>
                      <a:r>
                        <a:rPr sz="1500" b="0">
                          <a:solidFill>
                            <a:srgbClr val="1F2937"/>
                          </a:solidFill>
                        </a:rPr>
                        <a:t>Psevdoplankton</a:t>
                      </a:r>
                    </a:p>
                  </a:txBody>
                  <a:tcPr marL="73152" marR="73152" marT="36576" marB="36576">
                    <a:solidFill>
                      <a:srgbClr val="E8EEF6"/>
                    </a:solidFill>
                  </a:tcPr>
                </a:tc>
                <a:tc>
                  <a:txBody>
                    <a:bodyPr/>
                    <a:lstStyle/>
                    <a:p>
                      <a:r>
                        <a:rPr sz="1500" b="0">
                          <a:solidFill>
                            <a:srgbClr val="1F2937"/>
                          </a:solidFill>
                        </a:rPr>
                        <a:t>Qum, chang, o‘simlik qismlari</a:t>
                      </a:r>
                    </a:p>
                  </a:txBody>
                  <a:tcPr marL="73152" marR="73152" marT="36576" marB="36576">
                    <a:solidFill>
                      <a:srgbClr val="E8EEF6"/>
                    </a:solidFill>
                  </a:tcPr>
                </a:tc>
                <a:tc>
                  <a:txBody>
                    <a:bodyPr/>
                    <a:lstStyle/>
                    <a:p>
                      <a:r>
                        <a:rPr sz="1500" b="0">
                          <a:solidFill>
                            <a:srgbClr val="1F2937"/>
                          </a:solidFill>
                        </a:rPr>
                        <a:t>Diatom kabi a’zolarga o‘tishi mumkin</a:t>
                      </a:r>
                    </a:p>
                  </a:txBody>
                  <a:tcPr marL="73152" marR="73152" marT="36576" marB="36576">
                    <a:solidFill>
                      <a:srgbClr val="E8EEF6"/>
                    </a:solidFill>
                  </a:tcPr>
                </a:tc>
              </a:tr>
              <a:tr h="614476">
                <a:tc>
                  <a:txBody>
                    <a:bodyPr/>
                    <a:lstStyle/>
                    <a:p>
                      <a:r>
                        <a:rPr sz="1500" b="0">
                          <a:solidFill>
                            <a:srgbClr val="1F2937"/>
                          </a:solidFill>
                        </a:rPr>
                        <a:t>Bakteriologik</a:t>
                      </a:r>
                    </a:p>
                  </a:txBody>
                  <a:tcPr marL="73152" marR="73152" marT="36576" marB="36576">
                    <a:solidFill>
                      <a:srgbClr val="FFFFFF"/>
                    </a:solidFill>
                  </a:tcPr>
                </a:tc>
                <a:tc>
                  <a:txBody>
                    <a:bodyPr/>
                    <a:lstStyle/>
                    <a:p>
                      <a:r>
                        <a:rPr sz="1500" b="0">
                          <a:solidFill>
                            <a:srgbClr val="1F2937"/>
                          </a:solidFill>
                        </a:rPr>
                        <a:t>Pseudomonas putida, P. fluorescens</a:t>
                      </a:r>
                    </a:p>
                  </a:txBody>
                  <a:tcPr marL="73152" marR="73152" marT="36576" marB="36576">
                    <a:solidFill>
                      <a:srgbClr val="FFFFFF"/>
                    </a:solidFill>
                  </a:tcPr>
                </a:tc>
                <a:tc>
                  <a:txBody>
                    <a:bodyPr/>
                    <a:lstStyle/>
                    <a:p>
                      <a:r>
                        <a:rPr sz="1500" b="0">
                          <a:solidFill>
                            <a:srgbClr val="1F2937"/>
                          </a:solidFill>
                        </a:rPr>
                        <a:t>A’zolarda topilsa – hayotiy tushgan</a:t>
                      </a:r>
                    </a:p>
                  </a:txBody>
                  <a:tcPr marL="73152" marR="73152" marT="36576" marB="36576">
                    <a:solidFill>
                      <a:srgbClr val="FFFFFF"/>
                    </a:solidFill>
                  </a:tcPr>
                </a:tc>
              </a:tr>
              <a:tr h="614476">
                <a:tc>
                  <a:txBody>
                    <a:bodyPr/>
                    <a:lstStyle/>
                    <a:p>
                      <a:r>
                        <a:rPr sz="1500" b="0">
                          <a:solidFill>
                            <a:srgbClr val="1F2937"/>
                          </a:solidFill>
                        </a:rPr>
                        <a:t>Krioskopiya, refraktometriya</a:t>
                      </a:r>
                    </a:p>
                  </a:txBody>
                  <a:tcPr marL="73152" marR="73152" marT="36576" marB="36576">
                    <a:solidFill>
                      <a:srgbClr val="E8EEF6"/>
                    </a:solidFill>
                  </a:tcPr>
                </a:tc>
                <a:tc>
                  <a:txBody>
                    <a:bodyPr/>
                    <a:lstStyle/>
                    <a:p>
                      <a:r>
                        <a:rPr sz="1500" b="0">
                          <a:solidFill>
                            <a:srgbClr val="1F2937"/>
                          </a:solidFill>
                        </a:rPr>
                        <a:t>Muzlash harorati, nur sindirishi</a:t>
                      </a:r>
                    </a:p>
                  </a:txBody>
                  <a:tcPr marL="73152" marR="73152" marT="36576" marB="36576">
                    <a:solidFill>
                      <a:srgbClr val="E8EEF6"/>
                    </a:solidFill>
                  </a:tcPr>
                </a:tc>
                <a:tc>
                  <a:txBody>
                    <a:bodyPr/>
                    <a:lstStyle/>
                    <a:p>
                      <a:r>
                        <a:rPr sz="1500" b="0">
                          <a:solidFill>
                            <a:srgbClr val="1F2937"/>
                          </a:solidFill>
                        </a:rPr>
                        <a:t>Chap va o‘ng yurak qoni taqqoslanadi</a:t>
                      </a:r>
                    </a:p>
                  </a:txBody>
                  <a:tcPr marL="73152" marR="73152" marT="36576" marB="36576">
                    <a:solidFill>
                      <a:srgbClr val="E8EEF6"/>
                    </a:solidFill>
                  </a:tcPr>
                </a:tc>
              </a:tr>
              <a:tr h="614476">
                <a:tc>
                  <a:txBody>
                    <a:bodyPr/>
                    <a:lstStyle/>
                    <a:p>
                      <a:r>
                        <a:rPr sz="1500" b="0">
                          <a:solidFill>
                            <a:srgbClr val="1F2937"/>
                          </a:solidFill>
                        </a:rPr>
                        <a:t>Quyushqoqlik, o‘tkazuvchanlik</a:t>
                      </a:r>
                    </a:p>
                  </a:txBody>
                  <a:tcPr marL="73152" marR="73152" marT="36576" marB="36576">
                    <a:solidFill>
                      <a:srgbClr val="FFFFFF"/>
                    </a:solidFill>
                  </a:tcPr>
                </a:tc>
                <a:tc>
                  <a:txBody>
                    <a:bodyPr/>
                    <a:lstStyle/>
                    <a:p>
                      <a:r>
                        <a:rPr sz="1500" b="0">
                          <a:solidFill>
                            <a:srgbClr val="1F2937"/>
                          </a:solidFill>
                        </a:rPr>
                        <a:t>Qonning fizik xususiyati</a:t>
                      </a:r>
                    </a:p>
                  </a:txBody>
                  <a:tcPr marL="73152" marR="73152" marT="36576" marB="36576">
                    <a:solidFill>
                      <a:srgbClr val="FFFFFF"/>
                    </a:solidFill>
                  </a:tcPr>
                </a:tc>
                <a:tc>
                  <a:txBody>
                    <a:bodyPr/>
                    <a:lstStyle/>
                    <a:p>
                      <a:r>
                        <a:rPr sz="1500" b="0">
                          <a:solidFill>
                            <a:srgbClr val="1F2937"/>
                          </a:solidFill>
                        </a:rPr>
                        <a:t>Chap va o‘ng yurak qoni taqqoslanadi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Qo‘shimcha laboratoriya usullari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va “Eslab qoling”: cho‘kish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Krushevskiy, Moro, Fegerlund va Sveshnikov belgilari nimani bildiradi? Juftlab ayting.</a:t>
            </a:r>
          </a:p>
          <a:p>
            <a:pPr>
              <a:spcAft>
                <a:spcPts val="1200"/>
              </a:spcAft>
            </a:pPr>
            <a:r>
              <a:rPr sz="2200">
                <a:solidFill>
                  <a:srgbClr val="1F2937"/>
                </a:solidFill>
                <a:latin typeface="Calibri"/>
              </a:rPr>
              <a:t>▸  Javob: Krushevskiy – og‘iz-burundagi oq ko‘pik; Moro – qorinda taxminan 100 ml suyuqlik; Fegerlund – oshqozonda suv; Sveshnikov – kalla asosida 5-15 ml suyuqlik.</a:t>
            </a:r>
          </a:p>
          <a:p>
            <a:pPr>
              <a:spcAft>
                <a:spcPts val="1200"/>
              </a:spcAft>
            </a:pPr>
            <a:r>
              <a:rPr sz="2200">
                <a:solidFill>
                  <a:srgbClr val="1F2937"/>
                </a:solidFill>
                <a:latin typeface="Calibri"/>
              </a:rPr>
              <a:t>▸  Diqqat: xato qilish xavfi – o‘pka to‘qimasida diatom topilishi diagnostik emas. O‘limdan so‘ng suvga tushganda ham bo‘ladi.</a:t>
            </a:r>
          </a:p>
          <a:p>
            <a:pPr>
              <a:spcAft>
                <a:spcPts val="1200"/>
              </a:spcAft>
            </a:pPr>
            <a:r>
              <a:rPr sz="2200">
                <a:solidFill>
                  <a:srgbClr val="1F2937"/>
                </a:solidFill>
                <a:latin typeface="Calibri"/>
              </a:rPr>
              <a:t>▸  Eslab qoling: pastdan yuqoriga – Moro (qorin), Fegerlund (oshqozon), Sveshnikov (kalla asosi). Oshqozondagi suv chinda 300 ml gacha, asfiktikda 1 l gacha.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122-124, 125, 123-124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Suvdan chiqarilgan murdadagi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Hayotiy jarohatlar suvga tushishdan oldin ham yetkazilgan bo‘lishi mumkin.</a:t>
            </a:r>
          </a:p>
          <a:p>
            <a:pPr>
              <a:spcAft>
                <a:spcPts val="800"/>
              </a:spcAft>
            </a:pPr>
            <a:r>
              <a:rPr sz="1800">
                <a:solidFill>
                  <a:srgbClr val="1F2937"/>
                </a:solidFill>
                <a:latin typeface="Calibri"/>
              </a:rPr>
              <a:t>▸  O‘limdan so‘ng baliqlar, suv hayvonlari va kuchli oqimdagi urilishlar jarohat qoldirishi mumkin.</a:t>
            </a:r>
          </a:p>
          <a:p>
            <a:pPr>
              <a:spcAft>
                <a:spcPts val="800"/>
              </a:spcAft>
            </a:pPr>
            <a:r>
              <a:rPr sz="1800">
                <a:solidFill>
                  <a:srgbClr val="1F2937"/>
                </a:solidFill>
                <a:latin typeface="Calibri"/>
              </a:rPr>
              <a:t>▸  Birinchi yordamda yurak massaji va sun’iy nafas ham jarohat yetkazishi mumkin.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219200"/>
                <a:gridCol w="2002706"/>
                <a:gridCol w="2066068"/>
              </a:tblGrid>
              <a:tr h="614476">
                <a:tc>
                  <a:txBody>
                    <a:bodyPr/>
                    <a:lstStyle/>
                    <a:p>
                      <a:r>
                        <a:rPr sz="1600" b="1">
                          <a:solidFill>
                            <a:srgbClr val="FFFFFF"/>
                          </a:solidFill>
                        </a:rPr>
                        <a:t>Turi</a:t>
                      </a:r>
                    </a:p>
                  </a:txBody>
                  <a:tcPr marL="73152" marR="73152" marT="36576" marB="36576">
                    <a:solidFill>
                      <a:srgbClr val="0B1F3A"/>
                    </a:solidFill>
                  </a:tcPr>
                </a:tc>
                <a:tc>
                  <a:txBody>
                    <a:bodyPr/>
                    <a:lstStyle/>
                    <a:p>
                      <a:r>
                        <a:rPr sz="1600" b="1">
                          <a:solidFill>
                            <a:srgbClr val="FFFFFF"/>
                          </a:solidFill>
                        </a:rPr>
                        <a:t>Manba</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Hayotiy</a:t>
                      </a:r>
                    </a:p>
                  </a:txBody>
                  <a:tcPr marL="73152" marR="73152" marT="36576" marB="36576">
                    <a:solidFill>
                      <a:srgbClr val="E8EEF6"/>
                    </a:solidFill>
                  </a:tcPr>
                </a:tc>
                <a:tc>
                  <a:txBody>
                    <a:bodyPr/>
                    <a:lstStyle/>
                    <a:p>
                      <a:r>
                        <a:rPr sz="1500" b="0">
                          <a:solidFill>
                            <a:srgbClr val="1F2937"/>
                          </a:solidFill>
                        </a:rPr>
                        <a:t>Suv yuzasi, tubiga urilish; kema qismlari</a:t>
                      </a:r>
                    </a:p>
                  </a:txBody>
                  <a:tcPr marL="73152" marR="73152" marT="36576" marB="36576">
                    <a:solidFill>
                      <a:srgbClr val="E8EEF6"/>
                    </a:solidFill>
                  </a:tcPr>
                </a:tc>
                <a:tc>
                  <a:txBody>
                    <a:bodyPr/>
                    <a:lstStyle/>
                    <a:p>
                      <a:r>
                        <a:rPr sz="1500" b="0">
                          <a:solidFill>
                            <a:srgbClr val="1F2937"/>
                          </a:solidFill>
                        </a:rPr>
                        <a:t>Suvga tushishdan oldin ham bo‘lishi mumkin</a:t>
                      </a:r>
                    </a:p>
                  </a:txBody>
                  <a:tcPr marL="73152" marR="73152" marT="36576" marB="36576">
                    <a:solidFill>
                      <a:srgbClr val="E8EEF6"/>
                    </a:solidFill>
                  </a:tcPr>
                </a:tc>
              </a:tr>
              <a:tr h="614476">
                <a:tc>
                  <a:txBody>
                    <a:bodyPr/>
                    <a:lstStyle/>
                    <a:p>
                      <a:r>
                        <a:rPr sz="1500" b="0">
                          <a:solidFill>
                            <a:srgbClr val="1F2937"/>
                          </a:solidFill>
                        </a:rPr>
                        <a:t>O‘limdan keyin</a:t>
                      </a:r>
                    </a:p>
                  </a:txBody>
                  <a:tcPr marL="73152" marR="73152" marT="36576" marB="36576">
                    <a:solidFill>
                      <a:srgbClr val="FFFFFF"/>
                    </a:solidFill>
                  </a:tcPr>
                </a:tc>
                <a:tc>
                  <a:txBody>
                    <a:bodyPr/>
                    <a:lstStyle/>
                    <a:p>
                      <a:r>
                        <a:rPr sz="1500" b="0">
                          <a:solidFill>
                            <a:srgbClr val="1F2937"/>
                          </a:solidFill>
                        </a:rPr>
                        <a:t>Baliqlar, suv hayvonlari</a:t>
                      </a:r>
                    </a:p>
                  </a:txBody>
                  <a:tcPr marL="73152" marR="73152" marT="36576" marB="36576">
                    <a:solidFill>
                      <a:srgbClr val="FFFFFF"/>
                    </a:solidFill>
                  </a:tcPr>
                </a:tc>
                <a:tc>
                  <a:txBody>
                    <a:bodyPr/>
                    <a:lstStyle/>
                    <a:p>
                      <a:r>
                        <a:rPr sz="1500" b="0">
                          <a:solidFill>
                            <a:srgbClr val="1F2937"/>
                          </a:solidFill>
                        </a:rPr>
                        <a:t>Murdaga shikast yetkazadi</a:t>
                      </a:r>
                    </a:p>
                  </a:txBody>
                  <a:tcPr marL="73152" marR="73152" marT="36576" marB="36576">
                    <a:solidFill>
                      <a:srgbClr val="FFFFFF"/>
                    </a:solidFill>
                  </a:tcPr>
                </a:tc>
              </a:tr>
              <a:tr h="614476">
                <a:tc>
                  <a:txBody>
                    <a:bodyPr/>
                    <a:lstStyle/>
                    <a:p>
                      <a:r>
                        <a:rPr sz="1500" b="0">
                          <a:solidFill>
                            <a:srgbClr val="1F2937"/>
                          </a:solidFill>
                        </a:rPr>
                        <a:t>O‘limdan keyin</a:t>
                      </a:r>
                    </a:p>
                  </a:txBody>
                  <a:tcPr marL="73152" marR="73152" marT="36576" marB="36576">
                    <a:solidFill>
                      <a:srgbClr val="E8EEF6"/>
                    </a:solidFill>
                  </a:tcPr>
                </a:tc>
                <a:tc>
                  <a:txBody>
                    <a:bodyPr/>
                    <a:lstStyle/>
                    <a:p>
                      <a:r>
                        <a:rPr sz="1500" b="0">
                          <a:solidFill>
                            <a:srgbClr val="1F2937"/>
                          </a:solidFill>
                        </a:rPr>
                        <a:t>Kuchli oqim, havza tubi jismlari</a:t>
                      </a:r>
                    </a:p>
                  </a:txBody>
                  <a:tcPr marL="73152" marR="73152" marT="36576" marB="36576">
                    <a:solidFill>
                      <a:srgbClr val="E8EEF6"/>
                    </a:solidFill>
                  </a:tcPr>
                </a:tc>
                <a:tc>
                  <a:txBody>
                    <a:bodyPr/>
                    <a:lstStyle/>
                    <a:p>
                      <a:r>
                        <a:rPr sz="1500" b="0">
                          <a:solidFill>
                            <a:srgbClr val="1F2937"/>
                          </a:solidFill>
                        </a:rPr>
                        <a:t>Tananing urilishidan jarohat</a:t>
                      </a:r>
                    </a:p>
                  </a:txBody>
                  <a:tcPr marL="73152" marR="73152" marT="36576" marB="36576">
                    <a:solidFill>
                      <a:srgbClr val="E8EEF6"/>
                    </a:solidFill>
                  </a:tcPr>
                </a:tc>
              </a:tr>
              <a:tr h="614476">
                <a:tc>
                  <a:txBody>
                    <a:bodyPr/>
                    <a:lstStyle/>
                    <a:p>
                      <a:r>
                        <a:rPr sz="1500" b="0">
                          <a:solidFill>
                            <a:srgbClr val="1F2937"/>
                          </a:solidFill>
                        </a:rPr>
                        <a:t>Birinchi yordam</a:t>
                      </a:r>
                    </a:p>
                  </a:txBody>
                  <a:tcPr marL="73152" marR="73152" marT="36576" marB="36576">
                    <a:solidFill>
                      <a:srgbClr val="FFFFFF"/>
                    </a:solidFill>
                  </a:tcPr>
                </a:tc>
                <a:tc>
                  <a:txBody>
                    <a:bodyPr/>
                    <a:lstStyle/>
                    <a:p>
                      <a:r>
                        <a:rPr sz="1500" b="0">
                          <a:solidFill>
                            <a:srgbClr val="1F2937"/>
                          </a:solidFill>
                        </a:rPr>
                        <a:t>Yurak massaji, sun’iy nafas</a:t>
                      </a:r>
                    </a:p>
                  </a:txBody>
                  <a:tcPr marL="73152" marR="73152" marT="36576" marB="36576">
                    <a:solidFill>
                      <a:srgbClr val="FFFFFF"/>
                    </a:solidFill>
                  </a:tcPr>
                </a:tc>
                <a:tc>
                  <a:txBody>
                    <a:bodyPr/>
                    <a:lstStyle/>
                    <a:p>
                      <a:r>
                        <a:rPr sz="1500" b="0">
                          <a:solidFill>
                            <a:srgbClr val="1F2937"/>
                          </a:solidFill>
                        </a:rPr>
                        <a:t>Jarohat yetkazilishi mumkin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Jarohat manbalari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Murdaning suvda bo‘lganlik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Kiyim va tana loy, qum, moy, suv o‘tlari bilan ifloslanadi; suvda murda tezroq soviydi.</a:t>
            </a:r>
          </a:p>
          <a:p>
            <a:pPr>
              <a:spcAft>
                <a:spcPts val="800"/>
              </a:spcAft>
            </a:pPr>
            <a:r>
              <a:rPr sz="1800">
                <a:solidFill>
                  <a:srgbClr val="1F2937"/>
                </a:solidFill>
                <a:latin typeface="Calibri"/>
              </a:rPr>
              <a:t>▸  Sovuq suvda teri oqaradi, soch ko‘taruvchi mushaklar qisqarib “g‘oz terisi” hosil bo‘ladi.</a:t>
            </a:r>
          </a:p>
          <a:p>
            <a:pPr>
              <a:spcAft>
                <a:spcPts val="800"/>
              </a:spcAft>
            </a:pPr>
            <a:r>
              <a:rPr sz="1800">
                <a:solidFill>
                  <a:srgbClr val="1F2937"/>
                </a:solidFill>
                <a:latin typeface="Calibri"/>
              </a:rPr>
              <a:t>▸  Diqqat: bu belgilar suvda yotganlikni bildiradi, o‘lim sababini emas; tezligi suv haroratiga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Muddat</a:t>
                      </a:r>
                    </a:p>
                  </a:txBody>
                  <a:tcPr marL="73152" marR="73152" marT="36576" marB="36576">
                    <a:solidFill>
                      <a:srgbClr val="0B1F3A"/>
                    </a:solidFill>
                  </a:tcPr>
                </a:tc>
                <a:tc>
                  <a:txBody>
                    <a:bodyPr/>
                    <a:lstStyle/>
                    <a:p>
                      <a:r>
                        <a:rPr sz="1800" b="1">
                          <a:solidFill>
                            <a:srgbClr val="FFFFFF"/>
                          </a:solidFill>
                        </a:rPr>
                        <a:t>Belgi</a:t>
                      </a:r>
                    </a:p>
                  </a:txBody>
                  <a:tcPr marL="73152" marR="73152" marT="36576" marB="36576">
                    <a:solidFill>
                      <a:srgbClr val="0B1F3A"/>
                    </a:solidFill>
                  </a:tcPr>
                </a:tc>
              </a:tr>
              <a:tr h="614476">
                <a:tc>
                  <a:txBody>
                    <a:bodyPr/>
                    <a:lstStyle/>
                    <a:p>
                      <a:r>
                        <a:rPr sz="1700" b="0">
                          <a:solidFill>
                            <a:srgbClr val="1F2937"/>
                          </a:solidFill>
                        </a:rPr>
                        <a:t>Bir necha soat</a:t>
                      </a:r>
                    </a:p>
                  </a:txBody>
                  <a:tcPr marL="73152" marR="73152" marT="36576" marB="36576">
                    <a:solidFill>
                      <a:srgbClr val="E8EEF6"/>
                    </a:solidFill>
                  </a:tcPr>
                </a:tc>
                <a:tc>
                  <a:txBody>
                    <a:bodyPr/>
                    <a:lstStyle/>
                    <a:p>
                      <a:r>
                        <a:rPr sz="1700" b="0">
                          <a:solidFill>
                            <a:srgbClr val="1F2937"/>
                          </a:solidFill>
                        </a:rPr>
                        <a:t>Barmoqlar oqarib, bujmayadi</a:t>
                      </a:r>
                    </a:p>
                  </a:txBody>
                  <a:tcPr marL="73152" marR="73152" marT="36576" marB="36576">
                    <a:solidFill>
                      <a:srgbClr val="E8EEF6"/>
                    </a:solidFill>
                  </a:tcPr>
                </a:tc>
              </a:tr>
              <a:tr h="614476">
                <a:tc>
                  <a:txBody>
                    <a:bodyPr/>
                    <a:lstStyle/>
                    <a:p>
                      <a:r>
                        <a:rPr sz="1700" b="0">
                          <a:solidFill>
                            <a:srgbClr val="1F2937"/>
                          </a:solidFill>
                        </a:rPr>
                        <a:t>2–8 kun</a:t>
                      </a:r>
                    </a:p>
                  </a:txBody>
                  <a:tcPr marL="73152" marR="73152" marT="36576" marB="36576">
                    <a:solidFill>
                      <a:srgbClr val="FFFFFF"/>
                    </a:solidFill>
                  </a:tcPr>
                </a:tc>
                <a:tc>
                  <a:txBody>
                    <a:bodyPr/>
                    <a:lstStyle/>
                    <a:p>
                      <a:r>
                        <a:rPr sz="1700" b="0">
                          <a:solidFill>
                            <a:srgbClr val="1F2937"/>
                          </a:solidFill>
                        </a:rPr>
                        <a:t>Kaft, tovon qamraladi; “kir yuvuvchi qo‘l”</a:t>
                      </a:r>
                    </a:p>
                  </a:txBody>
                  <a:tcPr marL="73152" marR="73152" marT="36576" marB="36576">
                    <a:solidFill>
                      <a:srgbClr val="FFFFFF"/>
                    </a:solidFill>
                  </a:tcPr>
                </a:tc>
              </a:tr>
              <a:tr h="614476">
                <a:tc>
                  <a:txBody>
                    <a:bodyPr/>
                    <a:lstStyle/>
                    <a:p>
                      <a:r>
                        <a:rPr sz="1700" b="0">
                          <a:solidFill>
                            <a:srgbClr val="1F2937"/>
                          </a:solidFill>
                        </a:rPr>
                        <a:t>10–15 kun</a:t>
                      </a:r>
                    </a:p>
                  </a:txBody>
                  <a:tcPr marL="73152" marR="73152" marT="36576" marB="36576">
                    <a:solidFill>
                      <a:srgbClr val="E8EEF6"/>
                    </a:solidFill>
                  </a:tcPr>
                </a:tc>
                <a:tc>
                  <a:txBody>
                    <a:bodyPr/>
                    <a:lstStyle/>
                    <a:p>
                      <a:r>
                        <a:rPr sz="1700" b="0">
                          <a:solidFill>
                            <a:srgbClr val="1F2937"/>
                          </a:solidFill>
                        </a:rPr>
                        <a:t>Sochlar oson sug‘uriladi, keyin to‘kiladi</a:t>
                      </a:r>
                    </a:p>
                  </a:txBody>
                  <a:tcPr marL="73152" marR="73152" marT="36576" marB="36576">
                    <a:solidFill>
                      <a:srgbClr val="E8EEF6"/>
                    </a:solidFill>
                  </a:tcPr>
                </a:tc>
              </a:tr>
              <a:tr h="614476">
                <a:tc>
                  <a:txBody>
                    <a:bodyPr/>
                    <a:lstStyle/>
                    <a:p>
                      <a:r>
                        <a:rPr sz="1700" b="0">
                          <a:solidFill>
                            <a:srgbClr val="1F2937"/>
                          </a:solidFill>
                        </a:rPr>
                        <a:t>2–3 hafta</a:t>
                      </a:r>
                    </a:p>
                  </a:txBody>
                  <a:tcPr marL="73152" marR="73152" marT="36576" marB="36576">
                    <a:solidFill>
                      <a:srgbClr val="FFFFFF"/>
                    </a:solidFill>
                  </a:tcPr>
                </a:tc>
                <a:tc>
                  <a:txBody>
                    <a:bodyPr/>
                    <a:lstStyle/>
                    <a:p>
                      <a:r>
                        <a:rPr sz="1700" b="0">
                          <a:solidFill>
                            <a:srgbClr val="1F2937"/>
                          </a:solidFill>
                        </a:rPr>
                        <a:t>Kaft terisi ajraladi: “o‘lim qo‘lqopi”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Suvda yotish: vaqt chizig‘i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127, 128–129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suvdan chiqarilgan murda jarohatlari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suv oqimi kuchli havzadan murda olindi, uning tanasida turli jarohatlar bor. Ular hayotiy yoki o‘limdan keyingi bo‘lishi mumkin.</a:t>
            </a:r>
          </a:p>
          <a:p>
            <a:pPr>
              <a:spcAft>
                <a:spcPts val="1200"/>
              </a:spcAft>
            </a:pPr>
            <a:r>
              <a:rPr sz="2200">
                <a:solidFill>
                  <a:srgbClr val="1F2937"/>
                </a:solidFill>
                <a:latin typeface="Calibri"/>
              </a:rPr>
              <a:t>▸  Kuchli oqimda tana suvdagi va havza tubidagi jismlarga uriladi. Hayotiy jarohat suvga tushishdan oldin ham yetkazilgan bo‘lishi mumkin.</a:t>
            </a:r>
          </a:p>
          <a:p>
            <a:pPr>
              <a:spcAft>
                <a:spcPts val="1200"/>
              </a:spcAft>
            </a:pPr>
            <a:r>
              <a:rPr sz="2200">
                <a:solidFill>
                  <a:srgbClr val="1F2937"/>
                </a:solidFill>
                <a:latin typeface="Calibri"/>
              </a:rPr>
              <a:t>▸  O‘limdan so‘ng baliqlar va suv hayvonlari shikast yetkazishi mumkin. Birinchi yordamda yurak massaji, sun’iy nafas oldirishda ham jarohat paydo bo‘ladi.</a:t>
            </a:r>
          </a:p>
          <a:p>
            <a:pPr>
              <a:spcAft>
                <a:spcPts val="1200"/>
              </a:spcAft>
            </a:pPr>
            <a:r>
              <a:rPr sz="2200">
                <a:solidFill>
                  <a:srgbClr val="1F2937"/>
                </a:solidFill>
                <a:latin typeface="Calibri"/>
              </a:rPr>
              <a:t>▸  Savol: bu jarohatlarni qanday guruhlarga ajratasiz va har birining kelib chiqish manbai nima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Kompression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Ko‘krak qafasi va qorin old devori harakati cheklansa yoki to‘xtasa, nafas buziladi. O‘tmas jism bilan qisilishda kompression asfiksiya rivojlanadi.</a:t>
            </a:r>
          </a:p>
          <a:p>
            <a:pPr>
              <a:spcAft>
                <a:spcPts val="1200"/>
              </a:spcAft>
            </a:pPr>
            <a:r>
              <a:rPr sz="2000">
                <a:solidFill>
                  <a:srgbClr val="1F2937"/>
                </a:solidFill>
                <a:latin typeface="Calibri"/>
              </a:rPr>
              <a:t>▸  Sabablar: yer qimirlashi, ko‘chki, binolarning qulashi, avtomobil ag‘darilishi, olomonning tartibsiz harakatida qisilish (masalan, stadiondan chiqishda).</a:t>
            </a:r>
          </a:p>
          <a:p>
            <a:pPr>
              <a:spcAft>
                <a:spcPts val="1200"/>
              </a:spcAft>
            </a:pPr>
            <a:r>
              <a:rPr sz="2000">
                <a:solidFill>
                  <a:srgbClr val="1F2937"/>
                </a:solidFill>
                <a:latin typeface="Calibri"/>
              </a:rPr>
              <a:t>▸  Tananing frontal qisilishi yonlama qisilishdan xavfliroq. Faqat qorin qisilishiga organizm nisbatan chidamliroq; ko‘krak qisilganda yurak va diafragma harakati ham buziladi.</a:t>
            </a:r>
          </a:p>
          <a:p>
            <a:pPr>
              <a:spcAft>
                <a:spcPts val="1200"/>
              </a:spcAft>
            </a:pPr>
            <a:r>
              <a:rPr sz="2000">
                <a:solidFill>
                  <a:srgbClr val="1F2937"/>
                </a:solidFill>
                <a:latin typeface="Calibri"/>
              </a:rPr>
              <a:t>▸  Ekximotik niqob (Olive-Danjer belgisi): yuz shishadi, ko‘karadi, teri va ko‘z shilliq pardalariga qon quyiladi. Karmin shishish (Lakkasan belgisi): o‘pka yorqin qizil.</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129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Cheklangan yopiq muhitdagi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Yopiq muhitda kislorod kamayib, karbonat angidrid (CO2) ortadi; o‘limda CO2 yetakchi rol o‘ynaydi.</a:t>
            </a:r>
          </a:p>
          <a:p>
            <a:pPr>
              <a:spcAft>
                <a:spcPts val="800"/>
              </a:spcAft>
            </a:pPr>
            <a:r>
              <a:rPr sz="1800">
                <a:solidFill>
                  <a:srgbClr val="1F2937"/>
                </a:solidFill>
                <a:latin typeface="Calibri"/>
              </a:rPr>
              <a:t>▸  CO2 kattalarda 8-10% da o‘limga olib keladi; bolalarda 2,0-2,5% ham hayot uchun xavfli.</a:t>
            </a:r>
          </a:p>
          <a:p>
            <a:pPr>
              <a:spcAft>
                <a:spcPts val="800"/>
              </a:spcAft>
            </a:pPr>
            <a:r>
              <a:rPr sz="1800">
                <a:solidFill>
                  <a:srgbClr val="1F2937"/>
                </a:solidFill>
                <a:latin typeface="Calibri"/>
              </a:rPr>
              <a:t>▸  Boshga plastik qopcha qotillikda ham, seksual asfiksiyada (autoasfiksiofiliya) ham uchraydi.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101090"/>
                <a:gridCol w="2221277"/>
                <a:gridCol w="1965607"/>
              </a:tblGrid>
              <a:tr h="614476">
                <a:tc>
                  <a:txBody>
                    <a:bodyPr/>
                    <a:lstStyle/>
                    <a:p>
                      <a:r>
                        <a:rPr sz="1600" b="1">
                          <a:solidFill>
                            <a:srgbClr val="FFFFFF"/>
                          </a:solidFill>
                        </a:rPr>
                        <a:t>Muhit turi</a:t>
                      </a:r>
                    </a:p>
                  </a:txBody>
                  <a:tcPr marL="73152" marR="73152" marT="36576" marB="36576">
                    <a:solidFill>
                      <a:srgbClr val="0B1F3A"/>
                    </a:solidFill>
                  </a:tcPr>
                </a:tc>
                <a:tc>
                  <a:txBody>
                    <a:bodyPr/>
                    <a:lstStyle/>
                    <a:p>
                      <a:r>
                        <a:rPr sz="1600" b="1">
                          <a:solidFill>
                            <a:srgbClr val="FFFFFF"/>
                          </a:solidFill>
                        </a:rPr>
                        <a:t>Misollar</a:t>
                      </a:r>
                    </a:p>
                  </a:txBody>
                  <a:tcPr marL="73152" marR="73152" marT="36576" marB="36576">
                    <a:solidFill>
                      <a:srgbClr val="0B1F3A"/>
                    </a:solidFill>
                  </a:tcPr>
                </a:tc>
                <a:tc>
                  <a:txBody>
                    <a:bodyPr/>
                    <a:lstStyle/>
                    <a:p>
                      <a:r>
                        <a:rPr sz="1600" b="1">
                          <a:solidFill>
                            <a:srgbClr val="FFFFFF"/>
                          </a:solidFill>
                        </a:rPr>
                        <a:t>Omil</a:t>
                      </a:r>
                    </a:p>
                  </a:txBody>
                  <a:tcPr marL="73152" marR="73152" marT="36576" marB="36576">
                    <a:solidFill>
                      <a:srgbClr val="0B1F3A"/>
                    </a:solidFill>
                  </a:tcPr>
                </a:tc>
              </a:tr>
              <a:tr h="614476">
                <a:tc>
                  <a:txBody>
                    <a:bodyPr/>
                    <a:lstStyle/>
                    <a:p>
                      <a:r>
                        <a:rPr sz="1500" b="0">
                          <a:solidFill>
                            <a:srgbClr val="1F2937"/>
                          </a:solidFill>
                        </a:rPr>
                        <a:t>Yopiq muhit</a:t>
                      </a:r>
                    </a:p>
                  </a:txBody>
                  <a:tcPr marL="73152" marR="73152" marT="36576" marB="36576">
                    <a:solidFill>
                      <a:srgbClr val="E8EEF6"/>
                    </a:solidFill>
                  </a:tcPr>
                </a:tc>
                <a:tc>
                  <a:txBody>
                    <a:bodyPr/>
                    <a:lstStyle/>
                    <a:p>
                      <a:r>
                        <a:rPr sz="1500" b="0">
                          <a:solidFill>
                            <a:srgbClr val="1F2937"/>
                          </a:solidFill>
                        </a:rPr>
                        <a:t>Suv osti kemasi, sovutkich, sandiq</a:t>
                      </a:r>
                    </a:p>
                  </a:txBody>
                  <a:tcPr marL="73152" marR="73152" marT="36576" marB="36576">
                    <a:solidFill>
                      <a:srgbClr val="E8EEF6"/>
                    </a:solidFill>
                  </a:tcPr>
                </a:tc>
                <a:tc>
                  <a:txBody>
                    <a:bodyPr/>
                    <a:lstStyle/>
                    <a:p>
                      <a:r>
                        <a:rPr sz="1500" b="0">
                          <a:solidFill>
                            <a:srgbClr val="1F2937"/>
                          </a:solidFill>
                        </a:rPr>
                        <a:t>Gipoksiya va giperkapniya</a:t>
                      </a:r>
                    </a:p>
                  </a:txBody>
                  <a:tcPr marL="73152" marR="73152" marT="36576" marB="36576">
                    <a:solidFill>
                      <a:srgbClr val="E8EEF6"/>
                    </a:solidFill>
                  </a:tcPr>
                </a:tc>
              </a:tr>
              <a:tr h="614476">
                <a:tc>
                  <a:txBody>
                    <a:bodyPr/>
                    <a:lstStyle/>
                    <a:p>
                      <a:r>
                        <a:rPr sz="1500" b="0">
                          <a:solidFill>
                            <a:srgbClr val="1F2937"/>
                          </a:solidFill>
                        </a:rPr>
                        <a:t>Notoliq yopiq</a:t>
                      </a:r>
                    </a:p>
                  </a:txBody>
                  <a:tcPr marL="73152" marR="73152" marT="36576" marB="36576">
                    <a:solidFill>
                      <a:srgbClr val="FFFFFF"/>
                    </a:solidFill>
                  </a:tcPr>
                </a:tc>
                <a:tc>
                  <a:txBody>
                    <a:bodyPr/>
                    <a:lstStyle/>
                    <a:p>
                      <a:r>
                        <a:rPr sz="1500" b="0">
                          <a:solidFill>
                            <a:srgbClr val="1F2937"/>
                          </a:solidFill>
                        </a:rPr>
                        <a:t>Chuqur quduq, silos o‘rasi, ombor</a:t>
                      </a:r>
                    </a:p>
                  </a:txBody>
                  <a:tcPr marL="73152" marR="73152" marT="36576" marB="36576">
                    <a:solidFill>
                      <a:srgbClr val="FFFFFF"/>
                    </a:solidFill>
                  </a:tcPr>
                </a:tc>
                <a:tc>
                  <a:txBody>
                    <a:bodyPr/>
                    <a:lstStyle/>
                    <a:p>
                      <a:r>
                        <a:rPr sz="1500" b="0">
                          <a:solidFill>
                            <a:srgbClr val="1F2937"/>
                          </a:solidFill>
                        </a:rPr>
                        <a:t>+ bijg‘ish, chirish toksinlari</a:t>
                      </a:r>
                    </a:p>
                  </a:txBody>
                  <a:tcPr marL="73152" marR="73152" marT="36576" marB="36576">
                    <a:solidFill>
                      <a:srgbClr val="FFFFFF"/>
                    </a:solidFill>
                  </a:tcPr>
                </a:tc>
              </a:tr>
              <a:tr h="614476">
                <a:tc>
                  <a:txBody>
                    <a:bodyPr/>
                    <a:lstStyle/>
                    <a:p>
                      <a:r>
                        <a:rPr sz="1500" b="0">
                          <a:solidFill>
                            <a:srgbClr val="1F2937"/>
                          </a:solidFill>
                        </a:rPr>
                        <a:t>Boshga qopcha</a:t>
                      </a:r>
                    </a:p>
                  </a:txBody>
                  <a:tcPr marL="73152" marR="73152" marT="36576" marB="36576">
                    <a:solidFill>
                      <a:srgbClr val="E8EEF6"/>
                    </a:solidFill>
                  </a:tcPr>
                </a:tc>
                <a:tc>
                  <a:txBody>
                    <a:bodyPr/>
                    <a:lstStyle/>
                    <a:p>
                      <a:r>
                        <a:rPr sz="1500" b="0">
                          <a:solidFill>
                            <a:srgbClr val="1F2937"/>
                          </a:solidFill>
                        </a:rPr>
                        <a:t>Qotillik, seksual asfiksiya</a:t>
                      </a:r>
                    </a:p>
                  </a:txBody>
                  <a:tcPr marL="73152" marR="73152" marT="36576" marB="36576">
                    <a:solidFill>
                      <a:srgbClr val="E8EEF6"/>
                    </a:solidFill>
                  </a:tcPr>
                </a:tc>
                <a:tc>
                  <a:txBody>
                    <a:bodyPr/>
                    <a:lstStyle/>
                    <a:p>
                      <a:r>
                        <a:rPr sz="1500" b="0">
                          <a:solidFill>
                            <a:srgbClr val="1F2937"/>
                          </a:solidFill>
                        </a:rPr>
                        <a:t>Cheklangan muhit asfiksiyasi</a:t>
                      </a:r>
                    </a:p>
                  </a:txBody>
                  <a:tcPr marL="73152" marR="73152" marT="36576" marB="36576">
                    <a:solidFill>
                      <a:srgbClr val="E8EEF6"/>
                    </a:solidFill>
                  </a:tcPr>
                </a:tc>
              </a:tr>
              <a:tr h="614476">
                <a:tc>
                  <a:txBody>
                    <a:bodyPr/>
                    <a:lstStyle/>
                    <a:p>
                      <a:r>
                        <a:rPr sz="1500" b="0">
                          <a:solidFill>
                            <a:srgbClr val="1F2937"/>
                          </a:solidFill>
                        </a:rPr>
                        <a:t>Murdada</a:t>
                      </a:r>
                    </a:p>
                  </a:txBody>
                  <a:tcPr marL="73152" marR="73152" marT="36576" marB="36576">
                    <a:solidFill>
                      <a:srgbClr val="FFFFFF"/>
                    </a:solidFill>
                  </a:tcPr>
                </a:tc>
                <a:tc>
                  <a:txBody>
                    <a:bodyPr/>
                    <a:lstStyle/>
                    <a:p>
                      <a:r>
                        <a:rPr sz="1500" b="0">
                          <a:solidFill>
                            <a:srgbClr val="1F2937"/>
                          </a:solidFill>
                        </a:rPr>
                        <a:t>Umumasfiktik, tez o‘lim belgilari</a:t>
                      </a:r>
                    </a:p>
                  </a:txBody>
                  <a:tcPr marL="73152" marR="73152" marT="36576" marB="36576">
                    <a:solidFill>
                      <a:srgbClr val="FFFFFF"/>
                    </a:solidFill>
                  </a:tcPr>
                </a:tc>
                <a:tc>
                  <a:txBody>
                    <a:bodyPr/>
                    <a:lstStyle/>
                    <a:p>
                      <a:r>
                        <a:rPr sz="1500" b="0">
                          <a:solidFill>
                            <a:srgbClr val="1F2937"/>
                          </a:solidFill>
                        </a:rPr>
                        <a:t>Xos o‘zgarish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Yopiq muhit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yopiq muhitdagi o‘lim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kichik yoshdagi bola sovutkich kamerasi yoki germetik sandiq ichida o‘lik holda topildi. Baxtsiz hodisa gumon qilinmoqda.</a:t>
            </a:r>
          </a:p>
          <a:p>
            <a:pPr>
              <a:spcAft>
                <a:spcPts val="1200"/>
              </a:spcAft>
            </a:pPr>
            <a:r>
              <a:rPr sz="2200">
                <a:solidFill>
                  <a:srgbClr val="1F2937"/>
                </a:solidFill>
                <a:latin typeface="Calibri"/>
              </a:rPr>
              <a:t>▸  Savol 1: o‘lim qaysi mexanizm bilan sodir bo‘ldi va bolalar uchun havodagi CO2 ning qaysi darajasi xavfli?</a:t>
            </a:r>
          </a:p>
          <a:p>
            <a:pPr>
              <a:spcAft>
                <a:spcPts val="1200"/>
              </a:spcAft>
            </a:pPr>
            <a:r>
              <a:rPr sz="2200">
                <a:solidFill>
                  <a:srgbClr val="1F2937"/>
                </a:solidFill>
                <a:latin typeface="Calibri"/>
              </a:rPr>
              <a:t>▸  Savol 2: murda tekshiruvida qanday belgilar kutiladi va bu turga xos maxsus o‘zgarish bormi?</a:t>
            </a:r>
          </a:p>
          <a:p>
            <a:pPr>
              <a:spcAft>
                <a:spcPts val="1200"/>
              </a:spcAft>
            </a:pPr>
            <a:r>
              <a:rPr sz="2200">
                <a:solidFill>
                  <a:srgbClr val="1F2937"/>
                </a:solidFill>
                <a:latin typeface="Calibri"/>
              </a:rPr>
              <a:t>▸  Diqqat: xato qilish xavfi — xos belgi yo‘q, faqat umumasfiktik va tez o‘limga xos belgilar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xulosalar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Mexanik asfiksiya uch turga bo‘linadi: qisilishdan, yopilishdan va cheklangan muhitdagi asfiksiya. Oxirgisida CO2 ortishi yetakchi, xos belgi yo‘q.</a:t>
            </a:r>
          </a:p>
          <a:p>
            <a:pPr>
              <a:spcAft>
                <a:spcPts val="1200"/>
              </a:spcAft>
            </a:pPr>
            <a:r>
              <a:rPr sz="2200">
                <a:solidFill>
                  <a:srgbClr val="1F2937"/>
                </a:solidFill>
                <a:latin typeface="Calibri"/>
              </a:rPr>
              <a:t>▸  Pozitsion asfiksiyada bo‘yinda egat bo‘lmaydi, til osti suyagi va hiqildoq tog‘aylari butun; diagnoz boshqa sabablarni istisno qilish bilan qo‘yiladi.</a:t>
            </a:r>
          </a:p>
          <a:p>
            <a:pPr>
              <a:spcAft>
                <a:spcPts val="1200"/>
              </a:spcAft>
            </a:pPr>
            <a:r>
              <a:rPr sz="2200">
                <a:solidFill>
                  <a:srgbClr val="1F2937"/>
                </a:solidFill>
                <a:latin typeface="Calibri"/>
              </a:rPr>
              <a:t>▸  Cho‘kish hayotiyligi diatom planktoni, psevdoplankton, bakteriologik, krioskopik va boshqa laboratoriya usullari bilan aniqlanadi.</a:t>
            </a:r>
          </a:p>
          <a:p>
            <a:pPr>
              <a:spcAft>
                <a:spcPts val="1200"/>
              </a:spcAft>
            </a:pPr>
            <a:r>
              <a:rPr sz="2200">
                <a:solidFill>
                  <a:srgbClr val="1F2937"/>
                </a:solidFill>
                <a:latin typeface="Calibri"/>
              </a:rPr>
              <a:t>▸  Suvdan chiqqan murdada jarohat hayotiy, suvga tushishdan oldingi yoki o‘limdan keyingi (baliq, oqim, reanimatsiya)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105, 130, 119, 124-126, 126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Mnemonika: Tarde dog‘lari ham epikard, ham visseral plevra ostida bo‘ladi. Rasskazov-Lukomskiy-Paltauf dog‘lari esa faqat plevra ostida, epikard ostida bo‘lmaydi. Ular chin cho‘kishga xos: inspirator hansirashda hosil bo‘lgan Tarde dog‘lari terminal nafas bosqichida suv bilan gemolizga uchraydi.</a:t>
            </a:r>
          </a:p>
          <a:p>
            <a:pPr>
              <a:spcAft>
                <a:spcPts val="1200"/>
              </a:spcAft>
            </a:pPr>
            <a:r>
              <a:rPr sz="1800">
                <a:solidFill>
                  <a:srgbClr val="1F2937"/>
                </a:solidFill>
                <a:latin typeface="Calibri"/>
              </a:rPr>
              <a:t>▸  Fegerlund belgisini farqlash: chin cho‘kishda oshqozonda 300 ml gacha suv topilishi mumkin. Asfiktik cho‘kishda laringospazm suvni nafas yo‘liga o‘tkazmaydi, shuning uchun oshqozonda 1 l gacha suv bo‘lishi mumkin.</a:t>
            </a:r>
          </a:p>
          <a:p>
            <a:pPr>
              <a:spcAft>
                <a:spcPts val="1200"/>
              </a:spcAft>
            </a:pPr>
            <a:r>
              <a:rPr sz="1800">
                <a:solidFill>
                  <a:srgbClr val="1F2937"/>
                </a:solidFill>
                <a:latin typeface="Calibri"/>
              </a:rPr>
              <a:t>▸  Diatom planktoni deyarli hamma joyda bor: vodoprovod, distillangan va yomg‘ir suvida ham aniqlanadi. Faqat quyosh nuri tushmaydigan yer osti suvi va chuqur quduqda bo‘lmaydi. Parenximatoz a’zolar va suyak miyada topilsa, cho‘kishning hayotiyligini ko‘rsatadi. O‘pka to‘qimasida topilishi esa ahamiyatga ega emas.</a:t>
            </a:r>
          </a:p>
          <a:p>
            <a:pPr>
              <a:spcAft>
                <a:spcPts val="1200"/>
              </a:spcAft>
            </a:pPr>
            <a:r>
              <a:rPr sz="1800">
                <a:solidFill>
                  <a:srgbClr val="1F2937"/>
                </a:solidFill>
                <a:latin typeface="Calibri"/>
              </a:rPr>
              <a:t>▸  Suvda bo‘lish muddatini teridan baholash: bir necha soatdan so‘ng qo‘l va oyoq barmoqlari oqarib bujmayadi. 2-5 kunda o‘zgarish qo‘l kaftini qamraydi (“kir yuvuvchi qo‘li”). 5-8 kunda tovonni qamraydi. 2-3 haftada teri “o‘lim qo‘lqopi” shaklida ajralishi mumkin.</a:t>
            </a:r>
          </a:p>
          <a:p>
            <a:pPr>
              <a:spcAft>
                <a:spcPts val="1200"/>
              </a:spcAft>
            </a:pPr>
            <a:r>
              <a:rPr sz="1800">
                <a:solidFill>
                  <a:srgbClr val="1F2937"/>
                </a:solidFill>
                <a:latin typeface="Calibri"/>
              </a:rPr>
              <a:t>▸  Tibbiyot tarixida asfiksiya kechishi bo‘yicha faqat bitta tajriba qayd etilgan. N.Minovichi 1905-yilda o‘zida, assistentlari yordamida osilish bo‘yicha tajriba o‘tkazgan. Shu sababli asfiksiya bosqichlarining davomiyligi shartli va taxminiy hisoblanadi.</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Yоpiq muhitdagi asfiksiya. Pozitsion asfiksiya Cho’kishda laboratoriya tekshiruvi usullari</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5. Kislorod tanqisligi (asfiksiya)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