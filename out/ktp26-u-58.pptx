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savoli: nima uchun himoya reaksiyasi ba’zan organizmga o‘zi zarar keltiradi? Doskada ma’ruzaning 6 bo‘limini ketma-ket strelkalar bilan chizdiring. Tipik xato: talabalar SIRSni faqat infeksiya natijasi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savollari: kuyish va operatsiya nega yuqumsiz SIRSga misol bo‘ladi? PAMP va DAMP qanday farq qiladi? Doskada jadvalni ko‘chirib, har guruhga bittadan klinik misol qo‘shtiring. Tipik xato: SIRSni sepsis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savollari: yallig‘lanish qaysi bosqichda mahalliydan tizimliga o‘tadi? Nega neyrogormonal javob ham muhim? Doskada ikki ustunli chizma tuzing: «mahalliy javob» va «tizimli javob». Tipik xato: tizimli javobni faqat immun hujayralar ishi deb hisoblash, neyrogormonal komponentni unutish.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mahalliy yallig‘lanish ba’zan umumiy tus oladi? 2) Nega DIC davolashi qiyin? Doskada 5 bosqichli zanjirni strelkalar bilan chizdiring. Tipik xato: DIC’ni faqat qon ketish deb o‘ylash; manbada ketish va ivish bir vaqtda kechishi aytilgan.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DAMP, sitokin va ROS qanday ketma-ketlikda ishlaydi? 2) Diurezning kamayishi nimani bildiradi? Doskada bemor holatidan a’zolar gipoperfuziyasigacha sabab-oqibat zanjirini chizdiring. Tipik xato: sitokin darajasini faqat yomon belgi deb baholash; manbada sitokinlar ham himoya, ham zarar vazifasini bajarishi aytilgan.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neytrofillar makrofaglardan oldin keladi? 2) Endoteliy nega ham nishon, ham manba hisoblanadi? Doskada to‘rt hujayrani chizib, ularni sitokinlar bilan strelka orqali bog‘lang. Tipik xato: makrofag va neytrofilning kelish vaqtini aralashtirish (daqiqalar va soatlar).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organizm yallig‘lanish sitokinlari ortgach, yallig‘lanishga qarshi sitokinlarni ham ishlab chiqaradi? 2) CD4 yordamchi limfotsitlari ikki xil profilli sitokin yarata oladi — bu nimani anglatadi? Doskada: chapda Th1, o‘ngda Th2 ustuni chizib, sitokinlarni joylashtiring. Tipik xato: IL-6 ni faqat yallig‘lanishni kuchaytiruvchi deb o‘ylash; manbada u ikkala guruhda ham tilga olinadi.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A’zo yetishmovchiligi faqat yallig‘lanish faolligidan emas, balki muvozanat buzilishidan ham kelib chiqishi mumkin degan qarash nimani anglatadi? 2) MARS nega ‘immunologik nomuvofiqlik’ deyiladi? Doskada: tarozi chizing — bir pallada SIRS, ikkinchisida CARS, o‘rtada MARS tebranishi. Tipik xato: CARS ni SIRS ning davomi yoki sinonimi deb hisoblash. MODS — ko‘p a’zo disfunksiyasi sindromi.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Javoblar: 1) IL-10 va IL-13 (shuningdek IL-4, IL-5). 2) CARS — yallig‘lanishga qarshi o‘ta javob (immunosupressiya); MARS — SIRS va CARS davriy almashinuvi. 3) sTNFR I, sTNFR II, sIL-1R II, IL-18 bog‘lovchi oqsil va IL-1 retseptor antagonisti (IL-1ra). Muhokama: talabalar javobini juftlikda tekshirsin. Doskada: uch savolning javobini qisqa kalit so‘zlar bilan yozdiring. Tipik xato: IL-1ra ni eruvchan retseptor deb atash — u retseptor antagonisti.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neytrofillar birinchi keladi? 2) Ortiqcha mediatorlar nega o‘z to‘qimani zararlaydi? Doskada: vaqt o‘qini (daqiqa → soat) chizdiring va unga ikki hujayrani joylashtiring. Tipik xato: makrofag ham daqiqalar ichida keladi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Dumalash va mustahkam yopishish qanday farq qiladi? 2) Xemoatraktantlar nega neytrofilni faollashtiradi? Doskada: tomir devori va neytrofilni chizib, retseptorlar juftlarini (ICAM–integrin) belgilang. Tipik xato: xemotaksisni adgeziyadan oldingi bosqich deb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Primed va faollashgan neytrofil farqi nimada? 2) Apoptozning sustlashuvi nega xavfli? Doskada: tinch → primed → faollashgan zanjirini chizing va TNF-α, LPS o‘qlarini qo‘shing. Tipik xato: priming va to‘liq faollashuvni bir narsa deb o‘ylash. Diqqat: primed ≠ faollashgan.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neytrofilni nazoratli o‘ldirish organizm uchun xavfsiz? 2) Treg hujayralar yallig‘lanishni qanday jilovlaydi? Doskada chizish: apoptoz va nekrozni yonma-yon ikki ustunli sxema qiling, har biriga neytrofil tarkibining taqdirini strelka bilan ko‘rsating. Tipik xato: apoptoz va nekrozni bir xil jarayon deb o‘ylash (Diqqat: apoptoz ≠ nekroz). Nekroz morfologiyasi manbada berilmagan, uni o‘zingizdan qo‘shmang.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neytrofil faqat «jangchi» emas? 2) Qaysi sitokinlar tiklanishga xizmat qiladi? Doskaga chizing: oltita guruh. Tipik xato: neytrofilni faqat zarar yetkazuvchi hujayra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Sitokin darajasi yuqori bo‘lsa, u kasallikning sababimi yoki oqibatimi? 2) Boshlang‘ich bosqichda sitokinlarning yetarli ishlab chiqarilishi nimaga kerak? Doskada chizish: vaqt o‘qi bo‘ylab sitokin miqdori va bakteriyalar sonini ikki egri chiziq bilan ko‘rsating. Kutilgan javob (manbadagi modelga asoslangan talqin): kech bosqichda sitokinlar sababni emas, ko‘payib ketgan bakteriyalar oqibatini aks ettiradi, shuning uchun sitokinni bloklash kechikkan. Tipik xato: sitokin ko‘pligini doim sabab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yallig‘lanish va ivish tizimi birga faollashadi? 2) Fibrinoliz susayishi mikrosirkulyatsiyaga qanday ta’sir qiladi? Doskada chizish: TF dan fibringacha zanjirni chizing, yoniga plazminogen → plazmin (tPA ta’sirida) tarmog‘ini ‘bloklangan’ deb belgilang. Tipik xato: TF ni faqat tomir devoridan chiqadi deb o‘ylash; manbada u endoteliy, monotsit va neytrofillarda ham ifodalanadi.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NO nega ham himoya, ham zarar beradi? 2) Septik shokda gipotenziya NO bilan qanday bog‘liq? Doskada: sitokin → iNOS → NO → peroksinitrit zanjirini chizdiring. Tipik xato: NO faqat zararli deb o‘ylash; manbada mikrobni o‘ldirishdagi roli ham ko‘rsatilgan. Eslatma: manbada peroksinitrit kislotasining parchalanishiga ayrim mualliflar shubha bildirgan.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APC ning uch xil ta’siri qaysilar? 2) Nima uchun fiziologik asosli dori klinik sinovda samara bermadi? Doskada: protein C → APC → ivish, fibrinoliz, yallig‘lanishga uch strelka chizdiring. Tipik xato: rhAPC sepsisda omon qolishni oshirdi deb o‘ylash; manbada aksi yozilgan.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talabalarga javobsiz o‘qing, 30 soniya o‘ylatib, so‘ng javobni oching. Muhokama: TF immun va ivish tizimini qanday bog‘laydi? Doskada: TF → VII → X → trombin → fibrin zanjirini yozdiring. Tipik xato: konstitutiv NOS va iNOS ni aralashtirish hamda tPA ni ivish omili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o‘pka SIRSda tez-tez zararlanadi? (yuqori qon oqimi, keng mikrotsirkulyatsiya, past perfuziya bosimi, makrofaglar ko‘pligi). 2) DIC davolashda qanday qiyinchilik bor? Doskada chizing: sitokin → TF ↑ → ivish ↑, fibrinoliz ↓ → mikrotromboz → a’zo yetishmovchiligi. Tipik xato: DIC ni faqat qon ketish deb tushunish; aslida ivish va qon ketish birga kechadi.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oksidaza komponentlari dam holatida ikki joyda saqlanadi? 2) Faollashtiruvchi omillarga nimalar kiradi (TNF-α, C5a, PAF, LTB4)? Doskada chizing: hujayra membranasi, sitozoldagi p40/p47/p67 va membrandagi p22/gp91, o‘rtada PKC o‘qi. Tipik xato: PKC (protein kinaza C) ni oksidazaning o‘zi deb adashtirish; PKC faqat p47 ni fosforillaydi.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H2O2 metall ionlari bilan uchrashganda xavfliroq bo‘ladi? 2) Nega ROS ni qonda o‘lchash qiyin? Doskada chizing: O2 → O2− → H2O2 → (•OH yoki HOCl) ketma-ketligi. Tipik xato: H2O2 ni o‘zi juda reaktiv deb o‘ylash; manbaga ko‘ra u metall ionlari ishtirokida faollashadi. Diqqat: superoksid ≠ gidroksil radikal.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aldegidlar erkin radikallarga qaraganda uzoqroq masofada zarar qiladi? 2) Vitamin E va C bir-birini qanday to‘ldiradi? Doskada: SOD → H2O2 → GSH zanjirini va vitamin E → C regeneratsiyasini chizing. Tipik xato: aldegidni erkin radikal deb atash; manbada u kamroq reaktiv ikkilamchi xabarchi (bo‘lim 5.4, 6-rasm).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DH/XO tizimi qaysi a’zolarda keng tarqalgan (ichak vorsinkalari, jigar, o‘pka)? 2) Nega kislorodning qaytishi o‘zi zarar beradi? Doskada: 5 bosqichli zanjirni o‘zingiz chizib, 7-rasmdagi NO va neytrofil halqasini qo‘shing. Tipik xato: ksantinoksidazani sog‘lom to‘qimada ustun deb o‘ylash; u faqat anoksiyada hosil bo‘ladi (bo‘lim 5.5).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Talabalar 3-4 kishilik guruhda ishlaydi, har guruh ROS manbalarini ro‘yxat qiladi. Muhokama: 1) Nega plazmadagi ROS o‘lchovi o‘choqdagi holatni aks ettirmasligi mumkin (ROS yarim yemirilish davri qisqa)? 2) Qaysi manbani birinchi navbatda to‘xtatish mantiqli (masalan, SOD yoki allopurinol g‘oyasi)? Doskada: manbalar → ROS → endoteliy shikasti → ARDS/MODS sxemasi. Tipik xato: ROS manbasini faqat neytrofil deb hisoblash; manbada fibroblast, endoteliy, mitoxondriya ham keltirilgan (bo‘lim 5.4, 5.6, 8-rasm).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steril travmada ham mikrob infeksiyasiga o‘xshash yallig‘lanish bo‘ladi? 2) «Birinchi» va «ikkinchi zarba» farqi nimada? Doskada: travma → DAMP → PRR → sitokinlar → SIRS/MODS zanjirini chizing. Diqqat: PAMP ≠ DAMP (PAMP – mikrobdan, DAMP – o‘z hujayradan). Qo‘shimcha: Matsinger «xavf modeli» – immunitet begona molekulani emas, shikastlangan to‘qima signalini tanib faollashadi. Tipik xato: travma SIRSni doim infeksiyadan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Nima uchun mtDNK bakteriya DNKsiga o‘xshaydi (endosimbioz nazariyasi)? 2) cGAS va NLRP3 mtDNKni tanlashda qanday farq qiladi? Doskada: uch yo‘lni uchta shoxli sxema ko‘rinishida chizing. Ma’lumot: cGAS oksidlangan va oksidlanmagan mtDNKni bog‘laydi, NLRP3 (nukleotid-oligomerlanish domenli retseptor, 3-oqsil) oksidlangan mtDNKni afzal ko‘radi; NLRP3 faollashuvining aniq bosqichi hozircha to‘liq tushunilmagan. Tipik xato: barcha yo‘llar bir xil sitokin beradi deb o‘ylash – cGAS–STING asosan I tur interferon bilan bog‘liq.</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mtFP neytrofillarni kuchli faollashtiradi? 2) Qaysi mtDAMP hujayra ichida mtDNK barqarorligini saqlaydi, shikastlansa nima bo‘ladi? Doskada: mtDAMP – retseptor – effekt jadvalini (mtFP→FPR; mtRNK→TLR8/RIG-I; sitoxrom c→TLR4) chizing. Qo‘shimcha: mtFP FPR1 orqali neytrofil xemokin retseptorlarini desensitizatsiya qilib, ikkilamchi infeksiya o‘chog‘iga ko‘chishni kamaytirishi mumkin. Tipik xato: mtFPni mtDNKning o‘zi deb aralashtirish – mtFP mtDNKdan sintezlangan oqsil.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bir xil mtDAMP turli a’zolarda zarar beradi? 2) Qaysi a’zoda biomarker eng foydali ko‘rinadi? Doskada chizing: travma → mtDAMP → a’zo jadvali. Tipik xato: kalamush (hayvon) modelidagi natijani odamda isbotlangan deb olish. AKI — o‘tkir buyrak shikastlanishi, ARDS — o‘tkir respirator distress sindromi, NLRP3 — inflammasoma kompleksi, cGAS/STING — DNK sensor yo‘li, FPR — formil peptid retseptori.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og‘zaki so‘rang, javobni talabalar topsin. Muhokama: nega mtDNA bakteriya DNKsiga o‘xshab ko‘rinadi? Doskada PAMP va DAMP ustunlarini chizing. Tipik xato: ‘DAMP faqat infeksiyada chiqadi’ deb o‘ylash. PAMP — patogen bilan bog‘liq molekulyar naqsh, DAMP — shikast bilan bog‘liq molekulyar naqsh, TLR9 — Toll-simon retseptor 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mtDNA yuqori bo‘lsa, shifokor qanday ehtiyot choralarini ko‘radi? 2) Nega bir martalik o‘lchov emas, dinamik kuzatuv foydali? Doskada chizing: travma → mitoxondriya shikasti → mtDNA → sitokinlar → MODS zanjiri. Tipik xato: mtDNA ni mustaqil tashxis mezoni deb hisoblash; u faqat xavf belgisi.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Nega 24 soatdan yosh jarohatda gialin membrana ko‘rinmasligi mumkin? 2) Nega DAD va ARDS sinonim emas (birida gistologiya, ikkinchisida klinika kerak)? Doskada: uch bosqichli vaqt chizig‘ini chizing (0–7, 3–7, 14 kun) va har biriga bitta belgini yozing. Tipik xato: DAD nomiga qarab uni har doim diffuz deb o‘ylash; manbada u dog‘simon bo‘lishi mumkinligi aytilgan.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giperplaziyalangan pnevmotsit makrofagni taqlid qiladi? 2) Qaysi usul ularni ajratadi? Doskaga chizing: TGFβ zanjiri. Tipik xato: gialin membranasiz DAD ni inkor etish (24 soatdan yosh jarohatda o‘zgarish minimal).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Epitelial va endotelial endotipni nega ajratish qiyin (ular birlashgan bazal membrana ikki tomonida turadi)? 2) Aspiratsion pnevmoniya qaysi endotiplarga mos kelishi mumkin? Doskada: alveola kesimini chizib, epiteliy va endoteliyni belgilang, shishning ikki yo‘lini o‘q bilan ko‘rsating. Tipik xato: angiopatiyani alohida sodda guruh deb o‘ylash; mualliflar veterinariyada uni endotelial endotipning qismi deb hisoblashni taklif qilgan. Angiopatiya jadvalga sig‘magani uchun bandda berilgan.</a:t>
            </a:r>
          </a:p>
          <a:p/>
          <a:p>
            <a:r>
              <a:t>Tekshirish kerak (manbada noaniq):</a:t>
            </a:r>
          </a:p>
          <a:p>
            <a:r>
              <a:t>- G‘oya: birlamchi jarohat o‘ziga xos molekulyar imzo qoldiradi; bu aniq davolashga yordam beradi.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sepsisdan ARDSga o‘tishning asosiy belgisi tomir o‘tkazuvchanligining turg‘un ortishi? 2) Neytrofil apoptozining susayishi to‘qimaga qanday zarar beradi? Doskada: flow sxemani ko‘chiring va har bosqichga bittadan mediator (sitokin, komplement, tromb) yozing. Tipik xato: sepsis va SIRSni bir xil deb olish; manbada IL-18 va C3a sepsisda yuqoriroq ekani, ARDS qo‘shilganda C3a oshmasligi qayd etilgan.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sitokinni bloklash har doim ham yordam bermaydi? 2) MSC bilan davolashda nega ivish xavfi hisobga olinadi? Doskada chizing: MSC → endoteliy → sitokinlar kamayishi zanjiri. Tipik xato: IL-6 blokatorini sepsisning isbotlangan standart davosi deb o‘ylash; manbada bu faqat tavsiya etilgan yo‘nalish.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Pankreatitda o‘pka nega zarar ko‘radi, jarayon o‘pkadan boshlanmasa ham? 2) Epiteliy va tizimli endotip farqi nimada? Doskada chizing: oshqozon osti bezi → sitokinlar → o‘pka endoteliysi → alveolyar shish. Tipik xato: pankreatitdagi ARDS ni mahalliy (local) yallig‘lanish endotipi deb belgilash.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SIRS ning morfologik izi o‘pkada qanday ko‘rinadi? 2) Qaysi biomarkerni birinchi navbatda o‘lchash mantiqiy? Doskada chizing: SIRS → endoteliy shikasti → DIC/MODS → o‘pkada DAD sxemasi. Tipik xato: DAD va ARDS ni bir xil tushuncha deb olish; DAD gistologik, ARDS klinik tashxis.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Tizimli yallig'lanish reaksiyasi sindromining morfologiyasi va patogenezi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Tizimli yallig‘lanish reaksiyasi sindromi (SIRS) yuqumli yoki yuqumsiz stressorlar chaqiradigan nospetsifik, haddan ziyod kuchaygan himoya javobidir.</a:t>
            </a:r>
          </a:p>
          <a:p>
            <a:pPr>
              <a:spcAft>
                <a:spcPts val="1200"/>
              </a:spcAft>
            </a:pPr>
            <a:r>
              <a:rPr sz="2000">
                <a:solidFill>
                  <a:srgbClr val="1F2937"/>
                </a:solidFill>
                <a:latin typeface="Calibri"/>
              </a:rPr>
              <a:t>▸  Travmada SIRS o‘limning mustaqil bashoratchisi hisoblanadi. U infeksiyaga moyillikni oshirib, ko‘p a’zolar disfunksiyasi sindromiga (MODS) olib kelishi mumkin.</a:t>
            </a:r>
          </a:p>
          <a:p>
            <a:pPr>
              <a:spcAft>
                <a:spcPts val="1200"/>
              </a:spcAft>
            </a:pPr>
            <a:r>
              <a:rPr sz="2000">
                <a:solidFill>
                  <a:srgbClr val="1F2937"/>
                </a:solidFill>
                <a:latin typeface="Calibri"/>
              </a:rPr>
              <a:t>▸  Ma’ruza rejasi (6 bo‘lim): ta’rif va qo‘zg‘atuvchilar; hujayra va mediatorlar; endoteliy va ivish; mtDAMP; o‘pka morfologiyasi (DAD, ARDS); biomarker va davo.</a:t>
            </a:r>
          </a:p>
          <a:p>
            <a:pPr>
              <a:spcAft>
                <a:spcPts val="1200"/>
              </a:spcAft>
            </a:pPr>
            <a:r>
              <a:rPr sz="2000">
                <a:solidFill>
                  <a:srgbClr val="1F2937"/>
                </a:solidFill>
                <a:latin typeface="Calibri"/>
              </a:rPr>
              <a:t>▸  Kutilayotgan natija: SIRS patogenezini tushuntirish va o‘pkadagi diffuz alveolyar shikastlanish (DAD) bosqichlarini sanash: eksudativ, proliferativ, fibroz.</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Jingjing Ye va boshq., The role of mtDAMPs in the trauma-induced systemic inflammatory response syndrome, betlar: PMID 37533869, Abstract, PMID 37533869, Introduction; Sikora JP va boshq., Neutrophils and the Systemic Inflammatory Response Syndrome, betlar: PMID 37686271, Abstract; Wong HE va boshq., Diffuse alveolar damage, betlar: PMID 41782298, The histologic features of the phases of DAD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SIRS ta’rifi va qo‘zg‘atuvchilar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SIRS yuqumli yoki yuqumsiz stressorlarga nospetsifik, haddan ziyod kuchaygan himoya javobidir.</a:t>
            </a:r>
          </a:p>
          <a:p>
            <a:pPr>
              <a:spcAft>
                <a:spcPts val="800"/>
              </a:spcAft>
            </a:pPr>
            <a:r>
              <a:rPr sz="1800">
                <a:solidFill>
                  <a:srgbClr val="1F2937"/>
                </a:solidFill>
                <a:latin typeface="Calibri"/>
              </a:rPr>
              <a:t>▸  Yuqumli SIRSda PAMP (patogen naqshlari), travmatikda asosan DAMP (zarar naqshlari) rol o‘ynaydi.</a:t>
            </a:r>
          </a:p>
          <a:p>
            <a:pPr>
              <a:spcAft>
                <a:spcPts val="800"/>
              </a:spcAft>
            </a:pPr>
            <a:r>
              <a:rPr sz="1800">
                <a:solidFill>
                  <a:srgbClr val="1F2937"/>
                </a:solidFill>
                <a:latin typeface="Calibri"/>
              </a:rPr>
              <a:t>▸  Diqqat: SIRS ≠ sepsis; SIRS infeksiya bo‘lmaganda ham rivojlanishi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SIRS qo‘zg‘atuvchilari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Yuqumli</a:t>
            </a:r>
          </a:p>
          <a:p>
            <a:pPr algn="l">
              <a:spcAft>
                <a:spcPts val="0"/>
              </a:spcAft>
            </a:pPr>
            <a:r>
              <a:rPr sz="1200" b="0">
                <a:solidFill>
                  <a:srgbClr val="1F2937"/>
                </a:solidFill>
                <a:latin typeface="Calibri"/>
              </a:rPr>
              <a:t>Mikroblar bosqini, sepsis</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Yuqumsiz: jarohat</a:t>
            </a:r>
          </a:p>
          <a:p>
            <a:pPr algn="l">
              <a:spcAft>
                <a:spcPts val="0"/>
              </a:spcAft>
            </a:pPr>
            <a:r>
              <a:rPr sz="1200" b="0">
                <a:solidFill>
                  <a:srgbClr val="1F2937"/>
                </a:solidFill>
                <a:latin typeface="Calibri"/>
              </a:rPr>
              <a:t>Travma, kuyish, operatsiya</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Yuqumsiz: boshqa</a:t>
            </a:r>
          </a:p>
          <a:p>
            <a:pPr algn="l">
              <a:spcAft>
                <a:spcPts val="0"/>
              </a:spcAft>
            </a:pPr>
            <a:r>
              <a:rPr sz="1200" b="0">
                <a:solidFill>
                  <a:srgbClr val="1F2937"/>
                </a:solidFill>
                <a:latin typeface="Calibri"/>
              </a:rPr>
              <a:t>Ishemiya-reperfuziya, o‘sma</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Qo‘zg‘atuvchilar guruhlari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Jingjing Ye va boshq., The role of mtDAMPs in the trauma-induced systemic inflammatory response syndrome, betlar: PMID 37533869, Abstract; Sikora JP va boshq., Neutrophils and the Systemic Inflammatory Response Syndrome, betlar: PMID 37686271, 2.2-bo‘lim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Mahalliy va tizimli javob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Kichik jarohat mahalliy himoya reaksiyasini, keng jarohat esa tizimli xarakterdagi javobni chaqiradi.</a:t>
            </a:r>
          </a:p>
          <a:p>
            <a:pPr>
              <a:spcAft>
                <a:spcPts val="800"/>
              </a:spcAft>
            </a:pPr>
            <a:r>
              <a:rPr sz="1600">
                <a:solidFill>
                  <a:srgbClr val="1F2937"/>
                </a:solidFill>
                <a:latin typeface="Calibri"/>
              </a:rPr>
              <a:t>▸  Immun tizim faollashuvi bilan birga neyrogormonal javob ham ishga tushadi: kortikotropin, kortizol va katexolaminlar ajraladi.</a:t>
            </a:r>
          </a:p>
          <a:p>
            <a:pPr>
              <a:spcAft>
                <a:spcPts val="800"/>
              </a:spcAft>
            </a:pPr>
            <a:r>
              <a:rPr sz="1600">
                <a:solidFill>
                  <a:srgbClr val="1F2937"/>
                </a:solidFill>
                <a:latin typeface="Calibri"/>
              </a:rPr>
              <a:t>▸  Nazoratli yallig‘lanishda yallig‘lanishga qarshi sitokinlar hosil bo‘ladi va yallig‘lanish belgilari asta-sekin so‘nadi.</a:t>
            </a:r>
          </a:p>
          <a:p>
            <a:pPr>
              <a:spcAft>
                <a:spcPts val="800"/>
              </a:spcAft>
            </a:pPr>
            <a:r>
              <a:rPr sz="1600">
                <a:solidFill>
                  <a:srgbClr val="1F2937"/>
                </a:solidFill>
                <a:latin typeface="Calibri"/>
              </a:rPr>
              <a:t>▸  Omil kuchli, organizm esa zaif bo‘lsa, mediatorlar qon aylanishiga o‘tib, uzoqdagi to‘qimalarni ham shikastlaydi. Klinik ko‘rinishi SIRS deyiladi.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Kichik jarohat</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Mahalliy himoya reaksiyasi</a:t>
            </a:r>
          </a:p>
          <a:p>
            <a:pPr algn="l">
              <a:spcAft>
                <a:spcPts val="700"/>
              </a:spcAft>
            </a:pPr>
            <a:r>
              <a:rPr sz="1500" b="1">
                <a:solidFill>
                  <a:srgbClr val="C9A227"/>
                </a:solidFill>
                <a:latin typeface="Calibri"/>
              </a:rPr>
              <a:t>●  </a:t>
            </a:r>
            <a:r>
              <a:rPr sz="1500" b="0">
                <a:solidFill>
                  <a:srgbClr val="1F2937"/>
                </a:solidFill>
                <a:latin typeface="Calibri"/>
              </a:rPr>
              <a:t>Yallig‘lanishga qarshi sitokinlar</a:t>
            </a:r>
          </a:p>
          <a:p>
            <a:pPr algn="l">
              <a:spcAft>
                <a:spcPts val="700"/>
              </a:spcAft>
            </a:pPr>
            <a:r>
              <a:rPr sz="1500" b="1">
                <a:solidFill>
                  <a:srgbClr val="C9A227"/>
                </a:solidFill>
                <a:latin typeface="Calibri"/>
              </a:rPr>
              <a:t>●  </a:t>
            </a:r>
            <a:r>
              <a:rPr sz="1500" b="0">
                <a:solidFill>
                  <a:srgbClr val="1F2937"/>
                </a:solidFill>
                <a:latin typeface="Calibri"/>
              </a:rPr>
              <a:t>Belgilar asta-sekin so‘nadi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Kuchli omil</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Tizimli xarakterdagi javob</a:t>
            </a:r>
          </a:p>
          <a:p>
            <a:pPr algn="l">
              <a:spcAft>
                <a:spcPts val="700"/>
              </a:spcAft>
            </a:pPr>
            <a:r>
              <a:rPr sz="1500" b="1">
                <a:solidFill>
                  <a:srgbClr val="C9A227"/>
                </a:solidFill>
                <a:latin typeface="Calibri"/>
              </a:rPr>
              <a:t>●  </a:t>
            </a:r>
            <a:r>
              <a:rPr sz="1500" b="0">
                <a:solidFill>
                  <a:srgbClr val="1F2937"/>
                </a:solidFill>
                <a:latin typeface="Calibri"/>
              </a:rPr>
              <a:t>Mediatorlar qon aylanishiga o‘tadi</a:t>
            </a:r>
          </a:p>
          <a:p>
            <a:pPr algn="l">
              <a:spcAft>
                <a:spcPts val="700"/>
              </a:spcAft>
            </a:pPr>
            <a:r>
              <a:rPr sz="1500" b="1">
                <a:solidFill>
                  <a:srgbClr val="C9A227"/>
                </a:solidFill>
                <a:latin typeface="Calibri"/>
              </a:rPr>
              <a:t>●  </a:t>
            </a:r>
            <a:r>
              <a:rPr sz="1500" b="0">
                <a:solidFill>
                  <a:srgbClr val="1F2937"/>
                </a:solidFill>
                <a:latin typeface="Calibri"/>
              </a:rPr>
              <a:t>Uzoq to‘qimalar ham shikastlanadi (SIRS)</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Mahalliy va tizimli javob</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 1. Introduction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Yallig‘lanishdan SIRSgacha: bosqichlar zanjiri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Omil kuchli, organizm zaif bo‘lsa, proinflammator mediatorlar umumiy qon oqimiga o‘tadi.</a:t>
            </a:r>
          </a:p>
          <a:p>
            <a:pPr>
              <a:spcAft>
                <a:spcPts val="800"/>
              </a:spcAft>
            </a:pPr>
            <a:r>
              <a:rPr sz="1800">
                <a:solidFill>
                  <a:srgbClr val="1F2937"/>
                </a:solidFill>
                <a:latin typeface="Calibri"/>
              </a:rPr>
              <a:t>▸  Sitokinlar uzoq to‘qimalarda ham endoteliyni buzadi, ivish va fibrinoliz nisbati o‘zgaradi.</a:t>
            </a:r>
          </a:p>
          <a:p>
            <a:pPr>
              <a:spcAft>
                <a:spcPts val="800"/>
              </a:spcAft>
            </a:pPr>
            <a:r>
              <a:rPr sz="1800">
                <a:solidFill>
                  <a:srgbClr val="1F2937"/>
                </a:solidFill>
                <a:latin typeface="Calibri"/>
              </a:rPr>
              <a:t>▸  Oqibatda DIC (tarqoq tomir ichi ivishi) va MODS (ko‘p a’zolar disfunksiyasi sindromi) kuzatiladi.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Mediatorlar qonga o‘tadi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Uzoq endoteliy shikastlanishi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Ivish ↑, fibrinoliz ↓</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Mikrosirkulyatsiyada tromboz</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DIC va MODS</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SIRS rivojlanish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 (1-bo‘lim)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kuyish kasalligi bemori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og‘ir kuyishdan so‘ng kuyish kasalligi, ya’ni mahalliy va umumiy o‘zgarishlar hamda SIRS rivojlanadi.</a:t>
            </a:r>
          </a:p>
          <a:p>
            <a:pPr>
              <a:spcAft>
                <a:spcPts val="1200"/>
              </a:spcAft>
            </a:pPr>
            <a:r>
              <a:rPr sz="2200">
                <a:solidFill>
                  <a:srgbClr val="1F2937"/>
                </a:solidFill>
                <a:latin typeface="Calibri"/>
              </a:rPr>
              <a:t>▸  Kuygan to‘qimadan DAMP (shikast bilan bog‘liq molekulyar andozalar) chiqib, makrofaglarni faollashtiradi va mediatorlar ko‘payadi.</a:t>
            </a:r>
          </a:p>
          <a:p>
            <a:pPr>
              <a:spcAft>
                <a:spcPts val="1200"/>
              </a:spcAft>
            </a:pPr>
            <a:r>
              <a:rPr sz="2200">
                <a:solidFill>
                  <a:srgbClr val="1F2937"/>
                </a:solidFill>
                <a:latin typeface="Calibri"/>
              </a:rPr>
              <a:t>▸  Qon hajmi va yurak chiqarishi kamayadi, qon giperkoagulyatsiyasi (DIC) va gipoperfuziya: diurez pasayadi, hush o‘zgaradi.</a:t>
            </a:r>
          </a:p>
          <a:p>
            <a:pPr>
              <a:spcAft>
                <a:spcPts val="1200"/>
              </a:spcAft>
            </a:pPr>
            <a:r>
              <a:rPr sz="2200">
                <a:solidFill>
                  <a:srgbClr val="1F2937"/>
                </a:solidFill>
                <a:latin typeface="Calibri"/>
              </a:rPr>
              <a:t>▸  Savol: qaysi mediatorlar va belgilar bog‘liq? Kirishda HMGB-1 va IL-10 yuqori bo‘lgan bemorlar tirik qolmagan.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 (2.1-bo‘lim)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Sitokin “bo‘roni” va effektor hujayralar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“Sitokin bo‘roni” makrofag, neytrofil, dendritik hujayra va endoteliyni faollantiradi.</a:t>
            </a:r>
          </a:p>
          <a:p>
            <a:pPr>
              <a:spcAft>
                <a:spcPts val="800"/>
              </a:spcAft>
            </a:pPr>
            <a:r>
              <a:rPr sz="1800">
                <a:solidFill>
                  <a:srgbClr val="1F2937"/>
                </a:solidFill>
                <a:latin typeface="Calibri"/>
              </a:rPr>
              <a:t>▸  TLR (Toll-simon retseptor) faollashuvi TNF-α, IL-1, IL-6, IL-8, IL-12 sintezini oshiradi.</a:t>
            </a:r>
          </a:p>
          <a:p>
            <a:pPr>
              <a:spcAft>
                <a:spcPts val="800"/>
              </a:spcAft>
            </a:pPr>
            <a:r>
              <a:rPr sz="1800">
                <a:solidFill>
                  <a:srgbClr val="1F2937"/>
                </a:solidFill>
                <a:latin typeface="Calibri"/>
              </a:rPr>
              <a:t>▸  Ortiqcha sitokin va ROS (reaktiv kislorod turlari) a’zolarni shikastlaydi.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7115"/>
                <a:gridCol w="3710859"/>
              </a:tblGrid>
              <a:tr h="614476">
                <a:tc>
                  <a:txBody>
                    <a:bodyPr/>
                    <a:lstStyle/>
                    <a:p>
                      <a:r>
                        <a:rPr sz="1800" b="1">
                          <a:solidFill>
                            <a:srgbClr val="FFFFFF"/>
                          </a:solidFill>
                        </a:rPr>
                        <a:t>Hujayra</a:t>
                      </a:r>
                    </a:p>
                  </a:txBody>
                  <a:tcPr marL="73152" marR="73152" marT="36576" marB="36576">
                    <a:solidFill>
                      <a:srgbClr val="0B1F3A"/>
                    </a:solidFill>
                  </a:tcPr>
                </a:tc>
                <a:tc>
                  <a:txBody>
                    <a:bodyPr/>
                    <a:lstStyle/>
                    <a:p>
                      <a:r>
                        <a:rPr sz="1800" b="1">
                          <a:solidFill>
                            <a:srgbClr val="FFFFFF"/>
                          </a:solidFill>
                        </a:rPr>
                        <a:t>Roli</a:t>
                      </a:r>
                    </a:p>
                  </a:txBody>
                  <a:tcPr marL="73152" marR="73152" marT="36576" marB="36576">
                    <a:solidFill>
                      <a:srgbClr val="0B1F3A"/>
                    </a:solidFill>
                  </a:tcPr>
                </a:tc>
              </a:tr>
              <a:tr h="614476">
                <a:tc>
                  <a:txBody>
                    <a:bodyPr/>
                    <a:lstStyle/>
                    <a:p>
                      <a:r>
                        <a:rPr sz="1700" b="0">
                          <a:solidFill>
                            <a:srgbClr val="1F2937"/>
                          </a:solidFill>
                        </a:rPr>
                        <a:t>Neytrofil</a:t>
                      </a:r>
                    </a:p>
                  </a:txBody>
                  <a:tcPr marL="73152" marR="73152" marT="36576" marB="36576">
                    <a:solidFill>
                      <a:srgbClr val="E8EEF6"/>
                    </a:solidFill>
                  </a:tcPr>
                </a:tc>
                <a:tc>
                  <a:txBody>
                    <a:bodyPr/>
                    <a:lstStyle/>
                    <a:p>
                      <a:r>
                        <a:rPr sz="1700" b="0">
                          <a:solidFill>
                            <a:srgbClr val="1F2937"/>
                          </a:solidFill>
                        </a:rPr>
                        <a:t>Daqiqalarda keladi; ROS ishlab chiqaradi</a:t>
                      </a:r>
                    </a:p>
                  </a:txBody>
                  <a:tcPr marL="73152" marR="73152" marT="36576" marB="36576">
                    <a:solidFill>
                      <a:srgbClr val="E8EEF6"/>
                    </a:solidFill>
                  </a:tcPr>
                </a:tc>
              </a:tr>
              <a:tr h="614476">
                <a:tc>
                  <a:txBody>
                    <a:bodyPr/>
                    <a:lstStyle/>
                    <a:p>
                      <a:r>
                        <a:rPr sz="1700" b="0">
                          <a:solidFill>
                            <a:srgbClr val="1F2937"/>
                          </a:solidFill>
                        </a:rPr>
                        <a:t>Makrofag</a:t>
                      </a:r>
                    </a:p>
                  </a:txBody>
                  <a:tcPr marL="73152" marR="73152" marT="36576" marB="36576">
                    <a:solidFill>
                      <a:srgbClr val="FFFFFF"/>
                    </a:solidFill>
                  </a:tcPr>
                </a:tc>
                <a:tc>
                  <a:txBody>
                    <a:bodyPr/>
                    <a:lstStyle/>
                    <a:p>
                      <a:r>
                        <a:rPr sz="1700" b="0">
                          <a:solidFill>
                            <a:srgbClr val="1F2937"/>
                          </a:solidFill>
                        </a:rPr>
                        <a:t>Soatlarda keladi; TNF-α, IL-1 chiqaradi</a:t>
                      </a:r>
                    </a:p>
                  </a:txBody>
                  <a:tcPr marL="73152" marR="73152" marT="36576" marB="36576">
                    <a:solidFill>
                      <a:srgbClr val="FFFFFF"/>
                    </a:solidFill>
                  </a:tcPr>
                </a:tc>
              </a:tr>
              <a:tr h="614476">
                <a:tc>
                  <a:txBody>
                    <a:bodyPr/>
                    <a:lstStyle/>
                    <a:p>
                      <a:r>
                        <a:rPr sz="1700" b="0">
                          <a:solidFill>
                            <a:srgbClr val="1F2937"/>
                          </a:solidFill>
                        </a:rPr>
                        <a:t>Dendritik hujayra</a:t>
                      </a:r>
                    </a:p>
                  </a:txBody>
                  <a:tcPr marL="73152" marR="73152" marT="36576" marB="36576">
                    <a:solidFill>
                      <a:srgbClr val="E8EEF6"/>
                    </a:solidFill>
                  </a:tcPr>
                </a:tc>
                <a:tc>
                  <a:txBody>
                    <a:bodyPr/>
                    <a:lstStyle/>
                    <a:p>
                      <a:r>
                        <a:rPr sz="1700" b="0">
                          <a:solidFill>
                            <a:srgbClr val="1F2937"/>
                          </a:solidFill>
                        </a:rPr>
                        <a:t>TLR orqali faol; sitokin chiqaradi</a:t>
                      </a:r>
                    </a:p>
                  </a:txBody>
                  <a:tcPr marL="73152" marR="73152" marT="36576" marB="36576">
                    <a:solidFill>
                      <a:srgbClr val="E8EEF6"/>
                    </a:solidFill>
                  </a:tcPr>
                </a:tc>
              </a:tr>
              <a:tr h="614476">
                <a:tc>
                  <a:txBody>
                    <a:bodyPr/>
                    <a:lstStyle/>
                    <a:p>
                      <a:r>
                        <a:rPr sz="1700" b="0">
                          <a:solidFill>
                            <a:srgbClr val="1F2937"/>
                          </a:solidFill>
                        </a:rPr>
                        <a:t>Endoteliy</a:t>
                      </a:r>
                    </a:p>
                  </a:txBody>
                  <a:tcPr marL="73152" marR="73152" marT="36576" marB="36576">
                    <a:solidFill>
                      <a:srgbClr val="FFFFFF"/>
                    </a:solidFill>
                  </a:tcPr>
                </a:tc>
                <a:tc>
                  <a:txBody>
                    <a:bodyPr/>
                    <a:lstStyle/>
                    <a:p>
                      <a:r>
                        <a:rPr sz="1700" b="0">
                          <a:solidFill>
                            <a:srgbClr val="1F2937"/>
                          </a:solidFill>
                        </a:rPr>
                        <a:t>Adgeziya oqsili va TF hosil qiladi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Effektor hujayralar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 (2-bo‘lim), PMID 37686271 (2.2-bo‘lim)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Pro- va antiinflammator mediatorlar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Toll-simon retseptorlar (TLR) faollashsa, o‘sma nekrozi omili TNF-α va IL-1, IL-6, IL-8, IL-12 ko‘payadi.</a:t>
            </a:r>
          </a:p>
          <a:p>
            <a:pPr>
              <a:spcAft>
                <a:spcPts val="800"/>
              </a:spcAft>
            </a:pPr>
            <a:r>
              <a:rPr sz="1800">
                <a:solidFill>
                  <a:srgbClr val="1F2937"/>
                </a:solidFill>
                <a:latin typeface="Calibri"/>
              </a:rPr>
              <a:t>▸  Teskari aloqa: Th2 limfotsitlari IL-10, IL-13 ishlab chiqaradi, qonda sitokin inhibitorlari paydo bo‘ladi.</a:t>
            </a:r>
          </a:p>
          <a:p>
            <a:pPr>
              <a:spcAft>
                <a:spcPts val="800"/>
              </a:spcAft>
            </a:pPr>
            <a:r>
              <a:rPr sz="1800">
                <a:solidFill>
                  <a:srgbClr val="1F2937"/>
                </a:solidFill>
                <a:latin typeface="Calibri"/>
              </a:rPr>
              <a:t>▸  Inhibitorlar: eruvchan retseptorlar (sTNFR I, II, sIL-1R II) va IL-1 retseptor antagonisti (IL-1ra).</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Th1 javobi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Sitokinlar: IFN-γ, IL-2, LT-α</a:t>
            </a:r>
          </a:p>
          <a:p>
            <a:pPr algn="l">
              <a:spcAft>
                <a:spcPts val="700"/>
              </a:spcAft>
            </a:pPr>
            <a:r>
              <a:rPr sz="1500" b="1">
                <a:solidFill>
                  <a:srgbClr val="C9A227"/>
                </a:solidFill>
                <a:latin typeface="Calibri"/>
              </a:rPr>
              <a:t>●  </a:t>
            </a:r>
            <a:r>
              <a:rPr sz="1500" b="0">
                <a:solidFill>
                  <a:srgbClr val="1F2937"/>
                </a:solidFill>
                <a:latin typeface="Calibri"/>
              </a:rPr>
              <a:t>Yallig‘lanishni kuchaytiradi</a:t>
            </a:r>
          </a:p>
          <a:p>
            <a:pPr algn="l">
              <a:spcAft>
                <a:spcPts val="700"/>
              </a:spcAft>
            </a:pPr>
            <a:r>
              <a:rPr sz="1500" b="1">
                <a:solidFill>
                  <a:srgbClr val="C9A227"/>
                </a:solidFill>
                <a:latin typeface="Calibri"/>
              </a:rPr>
              <a:t>●  </a:t>
            </a:r>
            <a:r>
              <a:rPr sz="1500" b="0">
                <a:solidFill>
                  <a:srgbClr val="1F2937"/>
                </a:solidFill>
                <a:latin typeface="Calibri"/>
              </a:rPr>
              <a:t>IFN-γ va IL-12 yo‘naltiradi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Th2 javobi</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Sitokinlar: IL-4, IL-5, IL-10</a:t>
            </a:r>
          </a:p>
          <a:p>
            <a:pPr algn="l">
              <a:spcAft>
                <a:spcPts val="700"/>
              </a:spcAft>
            </a:pPr>
            <a:r>
              <a:rPr sz="1500" b="1">
                <a:solidFill>
                  <a:srgbClr val="C9A227"/>
                </a:solidFill>
                <a:latin typeface="Calibri"/>
              </a:rPr>
              <a:t>●  </a:t>
            </a:r>
            <a:r>
              <a:rPr sz="1500" b="0">
                <a:solidFill>
                  <a:srgbClr val="1F2937"/>
                </a:solidFill>
                <a:latin typeface="Calibri"/>
              </a:rPr>
              <a:t>Th1 sitokinlarini tormozlaydi</a:t>
            </a:r>
          </a:p>
          <a:p>
            <a:pPr algn="l">
              <a:spcAft>
                <a:spcPts val="700"/>
              </a:spcAft>
            </a:pPr>
            <a:r>
              <a:rPr sz="1500" b="1">
                <a:solidFill>
                  <a:srgbClr val="C9A227"/>
                </a:solidFill>
                <a:latin typeface="Calibri"/>
              </a:rPr>
              <a:t>●  </a:t>
            </a:r>
            <a:r>
              <a:rPr sz="1500" b="0">
                <a:solidFill>
                  <a:srgbClr val="1F2937"/>
                </a:solidFill>
                <a:latin typeface="Calibri"/>
              </a:rPr>
              <a:t>IFN-γ differensiatsiyani to‘sadi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Th1 va Th2 javobi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 2-bo‘lim, PMID 37686271, 1-bo‘lim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SIRS, CARS va MARS: muvozanat buzilishi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SIRS — umumlashgan yallig‘lanish; yallig‘lanishga qarshi mexanizmlar yetarli bo‘lmasa rivojlanadi.</a:t>
            </a:r>
          </a:p>
          <a:p>
            <a:pPr>
              <a:spcAft>
                <a:spcPts val="800"/>
              </a:spcAft>
            </a:pPr>
            <a:r>
              <a:rPr sz="1800">
                <a:solidFill>
                  <a:srgbClr val="1F2937"/>
                </a:solidFill>
                <a:latin typeface="Calibri"/>
              </a:rPr>
              <a:t>▸  Diqqat: SIRS ≠ CARS. CARS — yallig‘lanishga qarshi o‘ta javob bo‘lib, immunosupressiyaga olib keladi.</a:t>
            </a:r>
          </a:p>
          <a:p>
            <a:pPr>
              <a:spcAft>
                <a:spcPts val="800"/>
              </a:spcAft>
            </a:pPr>
            <a:r>
              <a:rPr sz="1800">
                <a:solidFill>
                  <a:srgbClr val="1F2937"/>
                </a:solidFill>
                <a:latin typeface="Calibri"/>
              </a:rPr>
              <a:t>▸  MARS (aralash antagonistik sindrom) — giperfaollik va immunosupressiya davriy almashinadi.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SIRS</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Yallig‘lanish omillari giperfaolligi</a:t>
            </a:r>
          </a:p>
          <a:p>
            <a:pPr algn="l">
              <a:spcAft>
                <a:spcPts val="700"/>
              </a:spcAft>
            </a:pPr>
            <a:r>
              <a:rPr sz="1500" b="1">
                <a:solidFill>
                  <a:srgbClr val="C9A227"/>
                </a:solidFill>
                <a:latin typeface="Calibri"/>
              </a:rPr>
              <a:t>●  </a:t>
            </a:r>
            <a:r>
              <a:rPr sz="1500" b="0">
                <a:solidFill>
                  <a:srgbClr val="1F2937"/>
                </a:solidFill>
                <a:latin typeface="Calibri"/>
              </a:rPr>
              <a:t>Umumlashgan yallig‘lanish</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CARS</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Yallig‘lanishga qarshi o‘ta javob</a:t>
            </a:r>
          </a:p>
          <a:p>
            <a:pPr algn="l">
              <a:spcAft>
                <a:spcPts val="700"/>
              </a:spcAft>
            </a:pPr>
            <a:r>
              <a:rPr sz="1500" b="1">
                <a:solidFill>
                  <a:srgbClr val="C9A227"/>
                </a:solidFill>
                <a:latin typeface="Calibri"/>
              </a:rPr>
              <a:t>●  </a:t>
            </a:r>
            <a:r>
              <a:rPr sz="1500" b="0">
                <a:solidFill>
                  <a:srgbClr val="1F2937"/>
                </a:solidFill>
                <a:latin typeface="Calibri"/>
              </a:rPr>
              <a:t>Immunosupressiya</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MARS</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SIRS va CARS davriy almashinuvi</a:t>
            </a:r>
          </a:p>
          <a:p>
            <a:pPr algn="l">
              <a:spcAft>
                <a:spcPts val="700"/>
              </a:spcAft>
            </a:pPr>
            <a:r>
              <a:rPr sz="1500" b="1">
                <a:solidFill>
                  <a:srgbClr val="C9A227"/>
                </a:solidFill>
                <a:latin typeface="Calibri"/>
              </a:rPr>
              <a:t>●  </a:t>
            </a:r>
            <a:r>
              <a:rPr sz="1500" b="0">
                <a:solidFill>
                  <a:srgbClr val="1F2937"/>
                </a:solidFill>
                <a:latin typeface="Calibri"/>
              </a:rPr>
              <a:t>MODS, septik shok, anergiya</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Uch sindrom</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 1-bo‘lim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sitokinlar va sindromlar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Th2 limfotsitlari qaysi yallig‘lanishga qarshi sitokinlarni ishlab chiqarishi mumkin?</a:t>
            </a:r>
          </a:p>
          <a:p>
            <a:pPr>
              <a:spcAft>
                <a:spcPts val="1200"/>
              </a:spcAft>
            </a:pPr>
            <a:r>
              <a:rPr sz="2200">
                <a:solidFill>
                  <a:srgbClr val="1F2937"/>
                </a:solidFill>
                <a:latin typeface="Calibri"/>
              </a:rPr>
              <a:t>▸  2-savol: CARS va MARS bir-biridan nimasi bilan farq qiladi? SIRS ≠ CARS ekanini esda tuting.</a:t>
            </a:r>
          </a:p>
          <a:p>
            <a:pPr>
              <a:spcAft>
                <a:spcPts val="1200"/>
              </a:spcAft>
            </a:pPr>
            <a:r>
              <a:rPr sz="2200">
                <a:solidFill>
                  <a:srgbClr val="1F2937"/>
                </a:solidFill>
                <a:latin typeface="Calibri"/>
              </a:rPr>
              <a:t>▸  3-savol: Sitokin inhibitorlariga qaysi eruvchan retseptorlar va antagonist misol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 2-bo‘lim, PMID 37686271, 1-bo‘lim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Neytrofil va makrofag: vaqt chizig‘i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Neytrofillar yallig‘lov stimulidan bir necha daqiqa o‘tgach o‘choqda birinchi bo‘lib paydo bo‘ladi.</a:t>
            </a:r>
          </a:p>
          <a:p>
            <a:pPr>
              <a:spcAft>
                <a:spcPts val="800"/>
              </a:spcAft>
            </a:pPr>
            <a:r>
              <a:rPr sz="1800">
                <a:solidFill>
                  <a:srgbClr val="1F2937"/>
                </a:solidFill>
                <a:latin typeface="Calibri"/>
              </a:rPr>
              <a:t>▸  Makrofaglar bir necha soatdan keyin keladi va infeksiya o‘chog‘ida uzoqroq qoladi.</a:t>
            </a:r>
          </a:p>
          <a:p>
            <a:pPr>
              <a:spcAft>
                <a:spcPts val="800"/>
              </a:spcAft>
            </a:pPr>
            <a:r>
              <a:rPr sz="1800">
                <a:solidFill>
                  <a:srgbClr val="1F2937"/>
                </a:solidFill>
                <a:latin typeface="Calibri"/>
              </a:rPr>
              <a:t>▸  Nazoratsiz javobda ortiqcha mediatorlar (sitokin, ROS, NO) xo‘jayin hujayralarini zararlaydi.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Neytrofil</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Bir necha daqiqada paydo bo‘ladi</a:t>
            </a:r>
          </a:p>
          <a:p>
            <a:pPr algn="l">
              <a:spcAft>
                <a:spcPts val="700"/>
              </a:spcAft>
            </a:pPr>
            <a:r>
              <a:rPr sz="1500" b="1">
                <a:solidFill>
                  <a:srgbClr val="C9A227"/>
                </a:solidFill>
                <a:latin typeface="Calibri"/>
              </a:rPr>
              <a:t>●  </a:t>
            </a:r>
            <a:r>
              <a:rPr sz="1500" b="0">
                <a:solidFill>
                  <a:srgbClr val="1F2937"/>
                </a:solidFill>
                <a:latin typeface="Calibri"/>
              </a:rPr>
              <a:t>Birinchi fagotsit</a:t>
            </a:r>
          </a:p>
          <a:p>
            <a:pPr algn="l">
              <a:spcAft>
                <a:spcPts val="700"/>
              </a:spcAft>
            </a:pPr>
            <a:r>
              <a:rPr sz="1500" b="1">
                <a:solidFill>
                  <a:srgbClr val="C9A227"/>
                </a:solidFill>
                <a:latin typeface="Calibri"/>
              </a:rPr>
              <a:t>●  </a:t>
            </a:r>
            <a:r>
              <a:rPr sz="1500" b="0">
                <a:solidFill>
                  <a:srgbClr val="1F2937"/>
                </a:solidFill>
                <a:latin typeface="Calibri"/>
              </a:rPr>
              <a:t>Ortiqcha javobda mediatorlar zarar beradi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Makrofag</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Bir necha soatdan keyin keladi</a:t>
            </a:r>
          </a:p>
          <a:p>
            <a:pPr algn="l">
              <a:spcAft>
                <a:spcPts val="700"/>
              </a:spcAft>
            </a:pPr>
            <a:r>
              <a:rPr sz="1500" b="1">
                <a:solidFill>
                  <a:srgbClr val="C9A227"/>
                </a:solidFill>
                <a:latin typeface="Calibri"/>
              </a:rPr>
              <a:t>●  </a:t>
            </a:r>
            <a:r>
              <a:rPr sz="1500" b="0">
                <a:solidFill>
                  <a:srgbClr val="1F2937"/>
                </a:solidFill>
                <a:latin typeface="Calibri"/>
              </a:rPr>
              <a:t>O‘choqda uzoqroq qoladi</a:t>
            </a:r>
          </a:p>
          <a:p>
            <a:pPr algn="l">
              <a:spcAft>
                <a:spcPts val="700"/>
              </a:spcAft>
            </a:pPr>
            <a:r>
              <a:rPr sz="1500" b="1">
                <a:solidFill>
                  <a:srgbClr val="C9A227"/>
                </a:solidFill>
                <a:latin typeface="Calibri"/>
              </a:rPr>
              <a:t>●  </a:t>
            </a:r>
            <a:r>
              <a:rPr sz="1500" b="0">
                <a:solidFill>
                  <a:srgbClr val="1F2937"/>
                </a:solidFill>
                <a:latin typeface="Calibri"/>
              </a:rPr>
              <a:t>Ortiqcha javobda mediatorlar zarar beradi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Neytrofil va makrofag</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Adgeziya va migratsiya jarayoni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TNF-α va IL-1 endoteliy hamda neytrofilda adgeziya retseptorlarining ekspressiyasini chaqiradi.</a:t>
            </a:r>
          </a:p>
          <a:p>
            <a:pPr>
              <a:spcAft>
                <a:spcPts val="800"/>
              </a:spcAft>
            </a:pPr>
            <a:r>
              <a:rPr sz="1800">
                <a:solidFill>
                  <a:srgbClr val="1F2937"/>
                </a:solidFill>
                <a:latin typeface="Calibri"/>
              </a:rPr>
              <a:t>▸  Gistamin va trombin kabi selektin faollashtiruvchilar leykotsitning dastlabki aloqasi va dumalashini yengillashtiradi.</a:t>
            </a:r>
          </a:p>
          <a:p>
            <a:pPr>
              <a:spcAft>
                <a:spcPts val="800"/>
              </a:spcAft>
            </a:pPr>
            <a:r>
              <a:rPr sz="1800">
                <a:solidFill>
                  <a:srgbClr val="1F2937"/>
                </a:solidFill>
                <a:latin typeface="Calibri"/>
              </a:rPr>
              <a:t>▸  Xemotaksis fMLP, C5a, PAF, LTB4 va IL-8 orqali amalga oshadi; ular neytrofilni faollashtiradi.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TNF-α va IL-1 signali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Selektinlar: dumalash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ICAM/integrin: yopishish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Xemotaksis: C5a, PAF, IL-8</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To‘qimaga migratsiya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Neytrofil migratsiyasi ketma-ketligi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Neytrofil priming (oldindan sensibilizatsiya)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Qondagi neytrofil tinch, faollashgan yoki primed holatda bo‘ladi; primed hujayra stimulga ancha kuchli javob beradi.</a:t>
            </a:r>
          </a:p>
          <a:p>
            <a:pPr>
              <a:spcAft>
                <a:spcPts val="1200"/>
              </a:spcAft>
            </a:pPr>
            <a:r>
              <a:rPr sz="2200">
                <a:solidFill>
                  <a:srgbClr val="1F2937"/>
                </a:solidFill>
                <a:latin typeface="Calibri"/>
              </a:rPr>
              <a:t>▸  Endogen omillardan eng kuchli priming TNF-α beradi. Ekzogen omillar: bakterial LPS, fMLP va opsonin bilan qoplangan patogenlar.</a:t>
            </a:r>
          </a:p>
          <a:p>
            <a:pPr>
              <a:spcAft>
                <a:spcPts val="1200"/>
              </a:spcAft>
            </a:pPr>
            <a:r>
              <a:rPr sz="2200">
                <a:solidFill>
                  <a:srgbClr val="1F2937"/>
                </a:solidFill>
                <a:latin typeface="Calibri"/>
              </a:rPr>
              <a:t>▸  TNF-α yoki LPS p38 MAPK orqali membranada flavotsitoxrom b558 ni ko‘paytirib, nafas portlashini kuchaytiradi.</a:t>
            </a:r>
          </a:p>
          <a:p>
            <a:pPr>
              <a:spcAft>
                <a:spcPts val="1200"/>
              </a:spcAft>
            </a:pPr>
            <a:r>
              <a:rPr sz="2200">
                <a:solidFill>
                  <a:srgbClr val="1F2937"/>
                </a:solidFill>
                <a:latin typeface="Calibri"/>
              </a:rPr>
              <a:t>▸  Primed granulotsit ROS va sitokinni ortiqcha chiqaradi, apoptozi sustlashadi; bu lipid peroksidlanishi va DNK mutatsiyalariga olib kelishi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Neytrofil apoptozi va nekrozi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Tinch neytrofil taxminan 8 soat yashaydi; LPS kabi faollashtiruvchilar umrini uzaytiradi.</a:t>
            </a:r>
          </a:p>
          <a:p>
            <a:pPr>
              <a:spcAft>
                <a:spcPts val="800"/>
              </a:spcAft>
            </a:pPr>
            <a:r>
              <a:rPr sz="1800">
                <a:solidFill>
                  <a:srgbClr val="1F2937"/>
                </a:solidFill>
                <a:latin typeface="Calibri"/>
              </a:rPr>
              <a:t>▸  Regulyator T (Treg) hujayralar neytrofilda reaktiv kislorod turlari (ROS) hosil bo‘lishini bostirib, apoptozni chaqiradi.</a:t>
            </a:r>
          </a:p>
          <a:p>
            <a:pPr>
              <a:spcAft>
                <a:spcPts val="800"/>
              </a:spcAft>
            </a:pPr>
            <a:r>
              <a:rPr sz="1800">
                <a:solidFill>
                  <a:srgbClr val="1F2937"/>
                </a:solidFill>
                <a:latin typeface="Calibri"/>
              </a:rPr>
              <a:t>▸  Treg ta’siri perforin/granzim va Fas/FasL orqali amalga oshadi; LPS bu ta’sirni kuchaytiradi.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Apoptoz</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Hujayra o‘zi boshqaradi</a:t>
            </a:r>
          </a:p>
          <a:p>
            <a:pPr algn="l">
              <a:spcAft>
                <a:spcPts val="700"/>
              </a:spcAft>
            </a:pPr>
            <a:r>
              <a:rPr sz="1500" b="1">
                <a:solidFill>
                  <a:srgbClr val="C9A227"/>
                </a:solidFill>
                <a:latin typeface="Calibri"/>
              </a:rPr>
              <a:t>●  </a:t>
            </a:r>
            <a:r>
              <a:rPr sz="1500" b="0">
                <a:solidFill>
                  <a:srgbClr val="1F2937"/>
                </a:solidFill>
                <a:latin typeface="Calibri"/>
              </a:rPr>
              <a:t>Toksik tarkib chiqmaydi</a:t>
            </a:r>
          </a:p>
          <a:p>
            <a:pPr algn="l">
              <a:spcAft>
                <a:spcPts val="700"/>
              </a:spcAft>
            </a:pPr>
            <a:r>
              <a:rPr sz="1500" b="1">
                <a:solidFill>
                  <a:srgbClr val="C9A227"/>
                </a:solidFill>
                <a:latin typeface="Calibri"/>
              </a:rPr>
              <a:t>●  </a:t>
            </a:r>
            <a:r>
              <a:rPr sz="1500" b="0">
                <a:solidFill>
                  <a:srgbClr val="1F2937"/>
                </a:solidFill>
                <a:latin typeface="Calibri"/>
              </a:rPr>
              <a:t>Atrofga zarar yo‘q</a:t>
            </a:r>
          </a:p>
          <a:p>
            <a:pPr algn="l">
              <a:spcAft>
                <a:spcPts val="700"/>
              </a:spcAft>
            </a:pPr>
            <a:r>
              <a:rPr sz="1500" b="1">
                <a:solidFill>
                  <a:srgbClr val="C9A227"/>
                </a:solidFill>
                <a:latin typeface="Calibri"/>
              </a:rPr>
              <a:t>●  </a:t>
            </a:r>
            <a:r>
              <a:rPr sz="1500" b="0">
                <a:solidFill>
                  <a:srgbClr val="1F2937"/>
                </a:solidFill>
                <a:latin typeface="Calibri"/>
              </a:rPr>
              <a:t>Xromatin zichlashadi, DNK bo‘laklanadi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Nekroz</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Nazoratsiz o‘lim</a:t>
            </a:r>
          </a:p>
          <a:p>
            <a:pPr algn="l">
              <a:spcAft>
                <a:spcPts val="700"/>
              </a:spcAft>
            </a:pPr>
            <a:r>
              <a:rPr sz="1500" b="1">
                <a:solidFill>
                  <a:srgbClr val="C9A227"/>
                </a:solidFill>
                <a:latin typeface="Calibri"/>
              </a:rPr>
              <a:t>●  </a:t>
            </a:r>
            <a:r>
              <a:rPr sz="1500" b="0">
                <a:solidFill>
                  <a:srgbClr val="1F2937"/>
                </a:solidFill>
                <a:latin typeface="Calibri"/>
              </a:rPr>
              <a:t>Hujayra tarkibi tashqariga chiqadi</a:t>
            </a:r>
          </a:p>
          <a:p>
            <a:pPr algn="l">
              <a:spcAft>
                <a:spcPts val="700"/>
              </a:spcAft>
            </a:pPr>
            <a:r>
              <a:rPr sz="1500" b="1">
                <a:solidFill>
                  <a:srgbClr val="C9A227"/>
                </a:solidFill>
                <a:latin typeface="Calibri"/>
              </a:rPr>
              <a:t>●  </a:t>
            </a:r>
            <a:r>
              <a:rPr sz="1500" b="0">
                <a:solidFill>
                  <a:srgbClr val="1F2937"/>
                </a:solidFill>
                <a:latin typeface="Calibri"/>
              </a:rPr>
              <a:t>To‘qima shikastlanishi mumkin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Apoptoz va nekroz</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 2.3-bo‘lim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Neytrofil sitokinlari: immunoregulyator va tiklovchi rol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Neytrofillar proinflammator (IL-1α, IL-1β, IL-6, IL-7, IL-18, MIF) va yallig‘lanishga qarshi (IL-1ra, TGF-β1, TGF-β2) sitokinlarni sintezlaydi.</a:t>
            </a:r>
          </a:p>
          <a:p>
            <a:pPr>
              <a:spcAft>
                <a:spcPts val="800"/>
              </a:spcAft>
            </a:pPr>
            <a:r>
              <a:rPr sz="1600">
                <a:solidFill>
                  <a:srgbClr val="1F2937"/>
                </a:solidFill>
                <a:latin typeface="Calibri"/>
              </a:rPr>
              <a:t>▸  Immunoregulyator sitokinlar: IFN-β, IL-12, IL-21, IL-23, IL-27; koloniya stimulyatorlari: G-CSF, GM-CSF, SCF.</a:t>
            </a:r>
          </a:p>
          <a:p>
            <a:pPr>
              <a:spcAft>
                <a:spcPts val="800"/>
              </a:spcAft>
            </a:pPr>
            <a:r>
              <a:rPr sz="1600">
                <a:solidFill>
                  <a:srgbClr val="1F2937"/>
                </a:solidFill>
                <a:latin typeface="Calibri"/>
              </a:rPr>
              <a:t>▸  Angiogen va fibrogen omillar (VEGF, FGF2, TGF-α, HGF), CC va CXC xemokinlar hamda TNF-oila a’zolari (TNF-α, FasL, TRAIL, APRIL, RANKL) ham ishlab chiqariladi.</a:t>
            </a:r>
          </a:p>
          <a:p>
            <a:pPr>
              <a:spcAft>
                <a:spcPts val="800"/>
              </a:spcAft>
            </a:pPr>
            <a:r>
              <a:rPr sz="1600">
                <a:solidFill>
                  <a:srgbClr val="1F2937"/>
                </a:solidFill>
                <a:latin typeface="Calibri"/>
              </a:rPr>
              <a:t>▸  Shu sababli neytrofil mikrobni yo‘q qilish bilan birga immunomodulyator va tiklovchi xususiyat ko‘rsatadi; sitokin ifodasi mexanizmlari to‘liq tushunilmagan.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Neytrofil sitokinlari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22120"/>
            <a:ext cx="0" cy="341376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2212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60960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60960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Proinflammator</a:t>
            </a:r>
          </a:p>
          <a:p>
            <a:pPr algn="l">
              <a:spcAft>
                <a:spcPts val="0"/>
              </a:spcAft>
            </a:pPr>
            <a:r>
              <a:rPr sz="1200" b="0">
                <a:solidFill>
                  <a:srgbClr val="1F2937"/>
                </a:solidFill>
                <a:latin typeface="Calibri"/>
              </a:rPr>
              <a:t>IL-1α, IL-1β, IL-6  ·  IL-7, IL-18, MIF</a:t>
            </a:r>
          </a:p>
        </p:txBody>
      </p:sp>
      <p:cxnSp>
        <p:nvCxnSpPr>
          <p:cNvPr id="15" name="Connector 14"/>
          <p:cNvCxnSpPr/>
          <p:nvPr/>
        </p:nvCxnSpPr>
        <p:spPr>
          <a:xfrm>
            <a:off x="7612380" y="240487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100072"/>
            <a:ext cx="3779215" cy="60960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100072"/>
            <a:ext cx="3779215" cy="60960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Yallig‘lanishga qarshi</a:t>
            </a:r>
          </a:p>
          <a:p>
            <a:pPr algn="l">
              <a:spcAft>
                <a:spcPts val="0"/>
              </a:spcAft>
            </a:pPr>
            <a:r>
              <a:rPr sz="1200" b="0">
                <a:solidFill>
                  <a:srgbClr val="1F2937"/>
                </a:solidFill>
                <a:latin typeface="Calibri"/>
              </a:rPr>
              <a:t>IL-1ra  ·  TGF-β1, TGF-β2</a:t>
            </a:r>
          </a:p>
        </p:txBody>
      </p:sp>
      <p:cxnSp>
        <p:nvCxnSpPr>
          <p:cNvPr id="18" name="Connector 17"/>
          <p:cNvCxnSpPr/>
          <p:nvPr/>
        </p:nvCxnSpPr>
        <p:spPr>
          <a:xfrm>
            <a:off x="7612380" y="308762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2782824"/>
            <a:ext cx="3779215" cy="60960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2782824"/>
            <a:ext cx="3779215" cy="60960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Immunoregulyator</a:t>
            </a:r>
          </a:p>
          <a:p>
            <a:pPr algn="l">
              <a:spcAft>
                <a:spcPts val="0"/>
              </a:spcAft>
            </a:pPr>
            <a:r>
              <a:rPr sz="1200" b="0">
                <a:solidFill>
                  <a:srgbClr val="1F2937"/>
                </a:solidFill>
                <a:latin typeface="Calibri"/>
              </a:rPr>
              <a:t>IFN-β, IL-12, IL-21  ·  IL-23, IL-27</a:t>
            </a:r>
          </a:p>
        </p:txBody>
      </p:sp>
      <p:cxnSp>
        <p:nvCxnSpPr>
          <p:cNvPr id="21" name="Connector 20"/>
          <p:cNvCxnSpPr/>
          <p:nvPr/>
        </p:nvCxnSpPr>
        <p:spPr>
          <a:xfrm>
            <a:off x="7612380" y="377037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465576"/>
            <a:ext cx="3779215" cy="60960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465576"/>
            <a:ext cx="3779215" cy="60960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Angiogen va fibrogen</a:t>
            </a:r>
          </a:p>
          <a:p>
            <a:pPr algn="l">
              <a:spcAft>
                <a:spcPts val="0"/>
              </a:spcAft>
            </a:pPr>
            <a:r>
              <a:rPr sz="1200" b="0">
                <a:solidFill>
                  <a:srgbClr val="1F2937"/>
                </a:solidFill>
                <a:latin typeface="Calibri"/>
              </a:rPr>
              <a:t>VEGF, FGF2  ·  TGF-α, HGF</a:t>
            </a:r>
          </a:p>
        </p:txBody>
      </p:sp>
      <p:cxnSp>
        <p:nvCxnSpPr>
          <p:cNvPr id="24" name="Connector 23"/>
          <p:cNvCxnSpPr/>
          <p:nvPr/>
        </p:nvCxnSpPr>
        <p:spPr>
          <a:xfrm>
            <a:off x="7612380" y="445312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148328"/>
            <a:ext cx="3779215" cy="60960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148328"/>
            <a:ext cx="3779215" cy="60960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Koloniya stimulyatorlari</a:t>
            </a:r>
          </a:p>
          <a:p>
            <a:pPr algn="l">
              <a:spcAft>
                <a:spcPts val="0"/>
              </a:spcAft>
            </a:pPr>
            <a:r>
              <a:rPr sz="1200" b="0">
                <a:solidFill>
                  <a:srgbClr val="1F2937"/>
                </a:solidFill>
                <a:latin typeface="Calibri"/>
              </a:rPr>
              <a:t>G-CSF, GM-CSF, SCF</a:t>
            </a:r>
          </a:p>
        </p:txBody>
      </p:sp>
      <p:cxnSp>
        <p:nvCxnSpPr>
          <p:cNvPr id="27" name="Connector 26"/>
          <p:cNvCxnSpPr/>
          <p:nvPr/>
        </p:nvCxnSpPr>
        <p:spPr>
          <a:xfrm>
            <a:off x="7612380" y="513588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772400" y="4831080"/>
            <a:ext cx="3779215" cy="60960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0" y="4831080"/>
            <a:ext cx="3779215" cy="60960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TNF-oila</a:t>
            </a:r>
          </a:p>
          <a:p>
            <a:pPr algn="l">
              <a:spcAft>
                <a:spcPts val="0"/>
              </a:spcAft>
            </a:pPr>
            <a:r>
              <a:rPr sz="1200" b="0">
                <a:solidFill>
                  <a:srgbClr val="1F2937"/>
                </a:solidFill>
                <a:latin typeface="Calibri"/>
              </a:rPr>
              <a:t>TNF-α, FasL, TRAIL  ·  APRIL, RANKL</a:t>
            </a:r>
          </a:p>
        </p:txBody>
      </p:sp>
      <p:sp>
        <p:nvSpPr>
          <p:cNvPr id="30" name="TextBox 29"/>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Neytrofillar sintezlaydigan sitokinlar</a:t>
            </a:r>
          </a:p>
        </p:txBody>
      </p:sp>
      <p:sp>
        <p:nvSpPr>
          <p:cNvPr id="31" name="TextBox 3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 6-bo‘lim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sitokinlar kech bosqichda yuqori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septik shok tashxisi qo‘yilgan bemorlar qonida sitokinlar darajasi yuqori aniqlangan.</a:t>
            </a:r>
          </a:p>
          <a:p>
            <a:pPr>
              <a:spcAft>
                <a:spcPts val="1200"/>
              </a:spcAft>
            </a:pPr>
            <a:r>
              <a:rPr sz="2200">
                <a:solidFill>
                  <a:srgbClr val="1F2937"/>
                </a:solidFill>
                <a:latin typeface="Calibri"/>
              </a:rPr>
              <a:t>▸  Sabab: tadqiqotlar ko‘pincha shok allaqachon rivojlanganda o‘tkaziladi; yuqori daraja mikroblar ko‘payishi va bakterial antigenlar saqlanishi natijasi.</a:t>
            </a:r>
          </a:p>
          <a:p>
            <a:pPr>
              <a:spcAft>
                <a:spcPts val="1200"/>
              </a:spcAft>
            </a:pPr>
            <a:r>
              <a:rPr sz="2200">
                <a:solidFill>
                  <a:srgbClr val="1F2937"/>
                </a:solidFill>
                <a:latin typeface="Calibri"/>
              </a:rPr>
              <a:t>▸  Model: boshida sitokin kam bo‘lsa, bakteriyalar to‘liq yo‘qolmay ko‘payadi; keyin massiv sitokin faollashuvi SIRS va septik shokka olib keladi.</a:t>
            </a:r>
          </a:p>
          <a:p>
            <a:pPr>
              <a:spcAft>
                <a:spcPts val="1200"/>
              </a:spcAft>
            </a:pPr>
            <a:r>
              <a:rPr sz="2200">
                <a:solidFill>
                  <a:srgbClr val="1F2937"/>
                </a:solidFill>
                <a:latin typeface="Calibri"/>
              </a:rPr>
              <a:t>▸  Savol: anti-TNF-α (o‘simta nekrozi omili-α) terapiyasi bunday bemorlarda nega unchalik samara bermadi?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 2.4-bo‘lim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Endoteliy va koagulyatsiya bog‘liqligi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TNF-α va IL-1 sitokinlari endoteliyda to‘qima omili (TF) ekspressiyasini oshiradi.</a:t>
            </a:r>
          </a:p>
          <a:p>
            <a:pPr>
              <a:spcAft>
                <a:spcPts val="800"/>
              </a:spcAft>
            </a:pPr>
            <a:r>
              <a:rPr sz="1800">
                <a:solidFill>
                  <a:srgbClr val="1F2937"/>
                </a:solidFill>
                <a:latin typeface="Calibri"/>
              </a:rPr>
              <a:t>▸  Septisemiyada fibrinoliz susayadi, ivish esa davom etadi; natijada koagulopatiya rivojlanadi.</a:t>
            </a:r>
          </a:p>
          <a:p>
            <a:pPr>
              <a:spcAft>
                <a:spcPts val="800"/>
              </a:spcAft>
            </a:pPr>
            <a:r>
              <a:rPr sz="1800">
                <a:solidFill>
                  <a:srgbClr val="1F2937"/>
                </a:solidFill>
                <a:latin typeface="Calibri"/>
              </a:rPr>
              <a:t>▸  Mikrosirkulyatsiya trombozi a’zo shikastini kuchaytiradi; tomir ichida tarqoq ivish (DIC) rivojlanishi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To‘qima omili (TF)</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VII omil faollashadi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 omil faollashadi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Protrombin → trombin</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Fibrinogen → fibrin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TF orqali ivish kaskadi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 3.1-bo‘lim, PMID 37686271, Kirish va 3.1-bo‘lim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Azot oksidi (NO): ikki yuzli mediator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NO L-arginin, molekulyar kislorod va NADPH dan NOS fermenti ishtirokida uzluksiz sintezlanadi.</a:t>
            </a:r>
          </a:p>
          <a:p>
            <a:pPr>
              <a:spcAft>
                <a:spcPts val="800"/>
              </a:spcAft>
            </a:pPr>
            <a:r>
              <a:rPr sz="1800">
                <a:solidFill>
                  <a:srgbClr val="1F2937"/>
                </a:solidFill>
                <a:latin typeface="Calibri"/>
              </a:rPr>
              <a:t>▸  Konstitutiv NOS neyron va endoteliyda; iNOS vaqtinchalik bo‘lib, sitokinlar ta’sirida ortadi.</a:t>
            </a:r>
          </a:p>
          <a:p>
            <a:pPr>
              <a:spcAft>
                <a:spcPts val="800"/>
              </a:spcAft>
            </a:pPr>
            <a:r>
              <a:rPr sz="1800">
                <a:solidFill>
                  <a:srgbClr val="1F2937"/>
                </a:solidFill>
                <a:latin typeface="Calibri"/>
              </a:rPr>
              <a:t>▸  NO ikki yuzli: mikrobni o‘ldiradi, ammo septik shokda ko‘pligi gipotenziya va zararlanish beradi.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Sitokinlar ↑ (TNF-α, IL-1)</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iNOS ekspressiyasi ortadi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Ko‘p NO hosil bo‘ladi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Peroksinitrit (ONOO−) hosil</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Nafas zanjiri, Krebs sikli bloki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NO orqali zararlanish yo‘li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Protein C va antikoagulyant tizim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Protein C asosan jigarda hosil bo‘ladi; trombin–trombomodulin kompleksi va S-protein ta’sirida faollashgan protein C (APC) ga aylanadi.</a:t>
            </a:r>
          </a:p>
          <a:p>
            <a:pPr>
              <a:spcAft>
                <a:spcPts val="1200"/>
              </a:spcAft>
            </a:pPr>
            <a:r>
              <a:rPr sz="2000">
                <a:solidFill>
                  <a:srgbClr val="1F2937"/>
                </a:solidFill>
                <a:latin typeface="Calibri"/>
              </a:rPr>
              <a:t>▸  APC: Va va VIIIa omillarini o‘chirib trombinni kamaytiradi; PAI-1 ni inaktivlab fibrinolizni qo‘llaydi; TNF, NF-κB sintezi va leykotsit adgeziyasini to‘sadi.</a:t>
            </a:r>
          </a:p>
          <a:p>
            <a:pPr>
              <a:spcAft>
                <a:spcPts val="1200"/>
              </a:spcAft>
            </a:pPr>
            <a:r>
              <a:rPr sz="2000">
                <a:solidFill>
                  <a:srgbClr val="1F2937"/>
                </a:solidFill>
                <a:latin typeface="Calibri"/>
              </a:rPr>
              <a:t>▸  Yallig‘lanish protein C faollanishini kamaytiradi. Og‘ir sepsisda 85% bemorda protein C past bo‘lgan; past daraja o‘lim bashorati sifatida ko‘rsatilgan.</a:t>
            </a:r>
          </a:p>
          <a:p>
            <a:pPr>
              <a:spcAft>
                <a:spcPts val="1200"/>
              </a:spcAft>
            </a:pPr>
            <a:r>
              <a:rPr sz="2000">
                <a:solidFill>
                  <a:srgbClr val="1F2937"/>
                </a:solidFill>
                <a:latin typeface="Calibri"/>
              </a:rPr>
              <a:t>▸  Rekombinant inson APC (drotrekogin α) og‘ir sepsisda qo‘shimcha davo edi, omon qolishga ta’sir qilmadi; bolalarda miyaga qon quyilishi ko‘payib, sinov to‘xtadi.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endoteliy va NO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TF va tPA nima qiladi? Javob: TF VII omil orqali ivishni boshlaydi; tPA plazminogendan plazmin hosil qilib fibrinolizni ta’minlaydi.</a:t>
            </a:r>
          </a:p>
          <a:p>
            <a:pPr>
              <a:spcAft>
                <a:spcPts val="1200"/>
              </a:spcAft>
            </a:pPr>
            <a:r>
              <a:rPr sz="2200">
                <a:solidFill>
                  <a:srgbClr val="1F2937"/>
                </a:solidFill>
                <a:latin typeface="Calibri"/>
              </a:rPr>
              <a:t>▸  Savol: septik shokda iNOS faollashsa nima bo‘ladi? Javob: NO juda ko‘payib, davolashga chidamli og‘ir gipotenziya rivojlanadi.</a:t>
            </a:r>
          </a:p>
          <a:p>
            <a:pPr>
              <a:spcAft>
                <a:spcPts val="1200"/>
              </a:spcAft>
            </a:pPr>
            <a:r>
              <a:rPr sz="2200">
                <a:solidFill>
                  <a:srgbClr val="1F2937"/>
                </a:solidFill>
                <a:latin typeface="Calibri"/>
              </a:rPr>
              <a:t>▸  Savol: sepsisda APC yetishmasa nima bo‘ladi? Javob: ivish kuchayib, fibrinoliz sustlashadi; mikrotromboz va MODS rivojlanadi.</a:t>
            </a:r>
          </a:p>
          <a:p>
            <a:pPr>
              <a:spcAft>
                <a:spcPts val="1200"/>
              </a:spcAft>
            </a:pPr>
            <a:r>
              <a:rPr sz="2200">
                <a:solidFill>
                  <a:srgbClr val="1F2937"/>
                </a:solidFill>
                <a:latin typeface="Calibri"/>
              </a:rPr>
              <a:t>▸  Diqqat: konstitutiv NOS ≠ iNOS. Birinchisi neyron va endoteliyda doimiy; iNOS vaqtinchalik bo‘lib, sitokinlar ta’sirida makrofag va faol endoteliyda ko‘payadi.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DIC va o‘pka zararlanishi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og‘ir sepsisli bemorda mikrotomboz belgilari bor, shu bilan birga qon ketish ham kuzatilmoqda; o‘pka funksiyasi yomonlashmoqda.</a:t>
            </a:r>
          </a:p>
          <a:p>
            <a:pPr>
              <a:spcAft>
                <a:spcPts val="1200"/>
              </a:spcAft>
            </a:pPr>
            <a:r>
              <a:rPr sz="2200">
                <a:solidFill>
                  <a:srgbClr val="1F2937"/>
                </a:solidFill>
                <a:latin typeface="Calibri"/>
              </a:rPr>
              <a:t>▸  Sitokinlar ivishni kuchaytiradi va tabiiy fibrinolizni susaytiradi; mikrotsirkulyatsiyada tromboz paydo bo‘lib, a’zo jarohati ortadi.</a:t>
            </a:r>
          </a:p>
          <a:p>
            <a:pPr>
              <a:spcAft>
                <a:spcPts val="1200"/>
              </a:spcAft>
            </a:pPr>
            <a:r>
              <a:rPr sz="2200">
                <a:solidFill>
                  <a:srgbClr val="1F2937"/>
                </a:solidFill>
                <a:latin typeface="Calibri"/>
              </a:rPr>
              <a:t>▸  DIC (tarqoq tomir ichi ivishi)da ivish va qon ketish bir vaqtda bo‘ladi; bu qarama-qarshi jarayonlarni davolashda muvozanatlash qiyin.</a:t>
            </a:r>
          </a:p>
          <a:p>
            <a:pPr>
              <a:spcAft>
                <a:spcPts val="1200"/>
              </a:spcAft>
            </a:pPr>
            <a:r>
              <a:rPr sz="2200">
                <a:solidFill>
                  <a:srgbClr val="1F2937"/>
                </a:solidFill>
                <a:latin typeface="Calibri"/>
              </a:rPr>
              <a:t>▸  Savol: nega o‘pka SIRSda eng ko‘p zararlanadi? Yo‘l-yo‘riq: qon oqimi, mikrotomir tarmog‘i, perfuziya bosimi va makrofaglar.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Respirator portlash va NADPH-oksidaza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Faollashgan neytrofil O2 ni keskin ko‘p sarflaydi — bu respirator portlash.</a:t>
            </a:r>
          </a:p>
          <a:p>
            <a:pPr>
              <a:spcAft>
                <a:spcPts val="800"/>
              </a:spcAft>
            </a:pPr>
            <a:r>
              <a:rPr sz="1800">
                <a:solidFill>
                  <a:srgbClr val="1F2937"/>
                </a:solidFill>
                <a:latin typeface="Calibri"/>
              </a:rPr>
              <a:t>▸  NADPH (nikotinamid adenin dinukleotid fosfat) oksidazasi O2 ni superoksid anioniga aylantiradi.</a:t>
            </a:r>
          </a:p>
          <a:p>
            <a:pPr>
              <a:spcAft>
                <a:spcPts val="800"/>
              </a:spcAft>
            </a:pPr>
            <a:r>
              <a:rPr sz="1800">
                <a:solidFill>
                  <a:srgbClr val="1F2937"/>
                </a:solidFill>
                <a:latin typeface="Calibri"/>
              </a:rPr>
              <a:t>▸  Komponentlar dam holatida ajratilgan, shu sababli ferment nofaol; faollashganda membranada birlashadi.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Neytrofil faollanishi (sitokin)</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p47 fosforillanadi (PKC)</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p40/p47/p67 membranaga o‘tadi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b558 (p22+gp91) bilan birikadi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NADPH → O2 dan superoksid (O2−)</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Oksidaza faollanish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Reaktiv kislorod turlari (ROS) jadvali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ROS — bir yoki bir necha juft bo‘lmagan elektronli, shuning uchun juda reaktiv molekulalar.</a:t>
            </a:r>
          </a:p>
          <a:p>
            <a:pPr>
              <a:spcAft>
                <a:spcPts val="800"/>
              </a:spcAft>
            </a:pPr>
            <a:r>
              <a:rPr sz="1800">
                <a:solidFill>
                  <a:srgbClr val="1F2937"/>
                </a:solidFill>
                <a:latin typeface="Calibri"/>
              </a:rPr>
              <a:t>▸  Ular lipidlarni peroksidlaydi, nuklein kislotani buzadi, fermentlarni inaktivlaydi.</a:t>
            </a:r>
          </a:p>
          <a:p>
            <a:pPr>
              <a:spcAft>
                <a:spcPts val="800"/>
              </a:spcAft>
            </a:pPr>
            <a:r>
              <a:rPr sz="1800">
                <a:solidFill>
                  <a:srgbClr val="1F2937"/>
                </a:solidFill>
                <a:latin typeface="Calibri"/>
              </a:rPr>
              <a:t>▸  ROS yarim yemirilish davri juda qisqa; tirik organizmda izlash qiyin.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455420"/>
                <a:gridCol w="2282190"/>
                <a:gridCol w="1550365"/>
              </a:tblGrid>
              <a:tr h="614476">
                <a:tc>
                  <a:txBody>
                    <a:bodyPr/>
                    <a:lstStyle/>
                    <a:p>
                      <a:r>
                        <a:rPr sz="1600" b="1">
                          <a:solidFill>
                            <a:srgbClr val="FFFFFF"/>
                          </a:solidFill>
                        </a:rPr>
                        <a:t>Tur</a:t>
                      </a:r>
                    </a:p>
                  </a:txBody>
                  <a:tcPr marL="73152" marR="73152" marT="36576" marB="36576">
                    <a:solidFill>
                      <a:srgbClr val="0B1F3A"/>
                    </a:solidFill>
                  </a:tcPr>
                </a:tc>
                <a:tc>
                  <a:txBody>
                    <a:bodyPr/>
                    <a:lstStyle/>
                    <a:p>
                      <a:r>
                        <a:rPr sz="1600" b="1">
                          <a:solidFill>
                            <a:srgbClr val="FFFFFF"/>
                          </a:solidFill>
                        </a:rPr>
                        <a:t>Hosil bo‘lishi</a:t>
                      </a:r>
                    </a:p>
                  </a:txBody>
                  <a:tcPr marL="73152" marR="73152" marT="36576" marB="36576">
                    <a:solidFill>
                      <a:srgbClr val="0B1F3A"/>
                    </a:solidFill>
                  </a:tcPr>
                </a:tc>
                <a:tc>
                  <a:txBody>
                    <a:bodyPr/>
                    <a:lstStyle/>
                    <a:p>
                      <a:r>
                        <a:rPr sz="1600" b="1">
                          <a:solidFill>
                            <a:srgbClr val="FFFFFF"/>
                          </a:solidFill>
                        </a:rPr>
                        <a:t>Ta’siri</a:t>
                      </a:r>
                    </a:p>
                  </a:txBody>
                  <a:tcPr marL="73152" marR="73152" marT="36576" marB="36576">
                    <a:solidFill>
                      <a:srgbClr val="0B1F3A"/>
                    </a:solidFill>
                  </a:tcPr>
                </a:tc>
              </a:tr>
              <a:tr h="614476">
                <a:tc>
                  <a:txBody>
                    <a:bodyPr/>
                    <a:lstStyle/>
                    <a:p>
                      <a:r>
                        <a:rPr sz="1500" b="0">
                          <a:solidFill>
                            <a:srgbClr val="1F2937"/>
                          </a:solidFill>
                        </a:rPr>
                        <a:t>Superoksid (O2−)</a:t>
                      </a:r>
                    </a:p>
                  </a:txBody>
                  <a:tcPr marL="73152" marR="73152" marT="36576" marB="36576">
                    <a:solidFill>
                      <a:srgbClr val="E8EEF6"/>
                    </a:solidFill>
                  </a:tcPr>
                </a:tc>
                <a:tc>
                  <a:txBody>
                    <a:bodyPr/>
                    <a:lstStyle/>
                    <a:p>
                      <a:r>
                        <a:rPr sz="1500" b="0">
                          <a:solidFill>
                            <a:srgbClr val="1F2937"/>
                          </a:solidFill>
                        </a:rPr>
                        <a:t>NADPH-oksidaza O2 dan hosil qiladi</a:t>
                      </a:r>
                    </a:p>
                  </a:txBody>
                  <a:tcPr marL="73152" marR="73152" marT="36576" marB="36576">
                    <a:solidFill>
                      <a:srgbClr val="E8EEF6"/>
                    </a:solidFill>
                  </a:tcPr>
                </a:tc>
                <a:tc>
                  <a:txBody>
                    <a:bodyPr/>
                    <a:lstStyle/>
                    <a:p>
                      <a:r>
                        <a:rPr sz="1500" b="0">
                          <a:solidFill>
                            <a:srgbClr val="1F2937"/>
                          </a:solidFill>
                        </a:rPr>
                        <a:t>Dismutaza (SOD) orqali H2O2 ga aylanadi</a:t>
                      </a:r>
                    </a:p>
                  </a:txBody>
                  <a:tcPr marL="73152" marR="73152" marT="36576" marB="36576">
                    <a:solidFill>
                      <a:srgbClr val="E8EEF6"/>
                    </a:solidFill>
                  </a:tcPr>
                </a:tc>
              </a:tr>
              <a:tr h="614476">
                <a:tc>
                  <a:txBody>
                    <a:bodyPr/>
                    <a:lstStyle/>
                    <a:p>
                      <a:r>
                        <a:rPr sz="1500" b="0">
                          <a:solidFill>
                            <a:srgbClr val="1F2937"/>
                          </a:solidFill>
                        </a:rPr>
                        <a:t>H2O2</a:t>
                      </a:r>
                    </a:p>
                  </a:txBody>
                  <a:tcPr marL="73152" marR="73152" marT="36576" marB="36576">
                    <a:solidFill>
                      <a:srgbClr val="FFFFFF"/>
                    </a:solidFill>
                  </a:tcPr>
                </a:tc>
                <a:tc>
                  <a:txBody>
                    <a:bodyPr/>
                    <a:lstStyle/>
                    <a:p>
                      <a:r>
                        <a:rPr sz="1500" b="0">
                          <a:solidFill>
                            <a:srgbClr val="1F2937"/>
                          </a:solidFill>
                        </a:rPr>
                        <a:t>Superoksid dismutatsiyasidan</a:t>
                      </a:r>
                    </a:p>
                  </a:txBody>
                  <a:tcPr marL="73152" marR="73152" marT="36576" marB="36576">
                    <a:solidFill>
                      <a:srgbClr val="FFFFFF"/>
                    </a:solidFill>
                  </a:tcPr>
                </a:tc>
                <a:tc>
                  <a:txBody>
                    <a:bodyPr/>
                    <a:lstStyle/>
                    <a:p>
                      <a:r>
                        <a:rPr sz="1500" b="0">
                          <a:solidFill>
                            <a:srgbClr val="1F2937"/>
                          </a:solidFill>
                        </a:rPr>
                        <a:t>O‘zi kam faol; metall ionida faollashadi</a:t>
                      </a:r>
                    </a:p>
                  </a:txBody>
                  <a:tcPr marL="73152" marR="73152" marT="36576" marB="36576">
                    <a:solidFill>
                      <a:srgbClr val="FFFFFF"/>
                    </a:solidFill>
                  </a:tcPr>
                </a:tc>
              </a:tr>
              <a:tr h="614476">
                <a:tc>
                  <a:txBody>
                    <a:bodyPr/>
                    <a:lstStyle/>
                    <a:p>
                      <a:r>
                        <a:rPr sz="1500" b="0">
                          <a:solidFill>
                            <a:srgbClr val="1F2937"/>
                          </a:solidFill>
                        </a:rPr>
                        <a:t>Gidroksil radikal / 1O2</a:t>
                      </a:r>
                    </a:p>
                  </a:txBody>
                  <a:tcPr marL="73152" marR="73152" marT="36576" marB="36576">
                    <a:solidFill>
                      <a:srgbClr val="E8EEF6"/>
                    </a:solidFill>
                  </a:tcPr>
                </a:tc>
                <a:tc>
                  <a:txBody>
                    <a:bodyPr/>
                    <a:lstStyle/>
                    <a:p>
                      <a:r>
                        <a:rPr sz="1500" b="0">
                          <a:solidFill>
                            <a:srgbClr val="1F2937"/>
                          </a:solidFill>
                        </a:rPr>
                        <a:t>•OH: Fenton (Fe2+); 1O2: HOCl+H2O2</a:t>
                      </a:r>
                    </a:p>
                  </a:txBody>
                  <a:tcPr marL="73152" marR="73152" marT="36576" marB="36576">
                    <a:solidFill>
                      <a:srgbClr val="E8EEF6"/>
                    </a:solidFill>
                  </a:tcPr>
                </a:tc>
                <a:tc>
                  <a:txBody>
                    <a:bodyPr/>
                    <a:lstStyle/>
                    <a:p>
                      <a:r>
                        <a:rPr sz="1500" b="0">
                          <a:solidFill>
                            <a:srgbClr val="1F2937"/>
                          </a:solidFill>
                        </a:rPr>
                        <a:t>Juda reaktiv; lipid va DNK zararlanadi</a:t>
                      </a:r>
                    </a:p>
                  </a:txBody>
                  <a:tcPr marL="73152" marR="73152" marT="36576" marB="36576">
                    <a:solidFill>
                      <a:srgbClr val="E8EEF6"/>
                    </a:solidFill>
                  </a:tcPr>
                </a:tc>
              </a:tr>
              <a:tr h="614476">
                <a:tc>
                  <a:txBody>
                    <a:bodyPr/>
                    <a:lstStyle/>
                    <a:p>
                      <a:r>
                        <a:rPr sz="1500" b="0">
                          <a:solidFill>
                            <a:srgbClr val="1F2937"/>
                          </a:solidFill>
                        </a:rPr>
                        <a:t>Gipoxlorit kislota (HOCl)</a:t>
                      </a:r>
                    </a:p>
                  </a:txBody>
                  <a:tcPr marL="73152" marR="73152" marT="36576" marB="36576">
                    <a:solidFill>
                      <a:srgbClr val="FFFFFF"/>
                    </a:solidFill>
                  </a:tcPr>
                </a:tc>
                <a:tc>
                  <a:txBody>
                    <a:bodyPr/>
                    <a:lstStyle/>
                    <a:p>
                      <a:r>
                        <a:rPr sz="1500" b="0">
                          <a:solidFill>
                            <a:srgbClr val="1F2937"/>
                          </a:solidFill>
                        </a:rPr>
                        <a:t>Mieloperoksidaza: H2O2 + Cl−</a:t>
                      </a:r>
                    </a:p>
                  </a:txBody>
                  <a:tcPr marL="73152" marR="73152" marT="36576" marB="36576">
                    <a:solidFill>
                      <a:srgbClr val="FFFFFF"/>
                    </a:solidFill>
                  </a:tcPr>
                </a:tc>
                <a:tc>
                  <a:txBody>
                    <a:bodyPr/>
                    <a:lstStyle/>
                    <a:p>
                      <a:r>
                        <a:rPr sz="1500" b="0">
                          <a:solidFill>
                            <a:srgbClr val="1F2937"/>
                          </a:solidFill>
                        </a:rPr>
                        <a:t>Aminlar bilan xloramin hosil qiladi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ROS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Lipid peroksidatsiyasi va antioksidant to‘siq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Eng katta o‘zgarish membrananing lipid qismida: peroksidatsiya Fe2+ ta’sirida fermentsiz yoki lipooksigenaza va siklooksigenaza orqali fermentli kechadi.</a:t>
            </a:r>
          </a:p>
          <a:p>
            <a:pPr>
              <a:spcAft>
                <a:spcPts val="800"/>
              </a:spcAft>
            </a:pPr>
            <a:r>
              <a:rPr sz="1600">
                <a:solidFill>
                  <a:srgbClr val="1F2937"/>
                </a:solidFill>
                <a:latin typeface="Calibri"/>
              </a:rPr>
              <a:t>▸  Boshlash uchun oz miqdor ROS yetadi, chunki jarayon o‘z-o‘zini davom ettiradi. Diqqat: aldegid ≠ erkin radikal; kamroq reaktiv, shuning uchun uzoqqa tarqaladi.</a:t>
            </a:r>
          </a:p>
          <a:p>
            <a:pPr>
              <a:spcAft>
                <a:spcPts val="800"/>
              </a:spcAft>
            </a:pPr>
            <a:r>
              <a:rPr sz="1600">
                <a:solidFill>
                  <a:srgbClr val="1F2937"/>
                </a:solidFill>
                <a:latin typeface="Calibri"/>
              </a:rPr>
              <a:t>▸  Aldegidlar «ikkilamchi xabarchi»: oqsil tiol va amin guruhlari bilan reaksiyaga kirib, antigenligini o‘zgartiradi, fermentni to‘xtatadi, DNK zanjirini uzadi.</a:t>
            </a:r>
          </a:p>
          <a:p>
            <a:pPr>
              <a:spcAft>
                <a:spcPts val="800"/>
              </a:spcAft>
            </a:pPr>
            <a:r>
              <a:rPr sz="1600">
                <a:solidFill>
                  <a:srgbClr val="1F2937"/>
                </a:solidFill>
                <a:latin typeface="Calibri"/>
              </a:rPr>
              <a:t>▸  Antioksidant to‘siq: SOD superoksidni H2O2 ga aylantiradi, glutation (GSH) H2O2 ni zararsizlantiradi; vitamin E membranani himoyalaydi, vitamin C uni tiklaydi.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Zarar mexanizmi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Lipid peroksidlanishi (Fe2+, fermentli)</a:t>
            </a:r>
          </a:p>
          <a:p>
            <a:pPr algn="l">
              <a:spcAft>
                <a:spcPts val="700"/>
              </a:spcAft>
            </a:pPr>
            <a:r>
              <a:rPr sz="1500" b="1">
                <a:solidFill>
                  <a:srgbClr val="C9A227"/>
                </a:solidFill>
                <a:latin typeface="Calibri"/>
              </a:rPr>
              <a:t>●  </a:t>
            </a:r>
            <a:r>
              <a:rPr sz="1500" b="0">
                <a:solidFill>
                  <a:srgbClr val="1F2937"/>
                </a:solidFill>
                <a:latin typeface="Calibri"/>
              </a:rPr>
              <a:t>Aldegidlar — ikkilamchi xabarchi</a:t>
            </a:r>
          </a:p>
          <a:p>
            <a:pPr algn="l">
              <a:spcAft>
                <a:spcPts val="700"/>
              </a:spcAft>
            </a:pPr>
            <a:r>
              <a:rPr sz="1500" b="1">
                <a:solidFill>
                  <a:srgbClr val="C9A227"/>
                </a:solidFill>
                <a:latin typeface="Calibri"/>
              </a:rPr>
              <a:t>●  </a:t>
            </a:r>
            <a:r>
              <a:rPr sz="1500" b="0">
                <a:solidFill>
                  <a:srgbClr val="1F2937"/>
                </a:solidFill>
                <a:latin typeface="Calibri"/>
              </a:rPr>
              <a:t>Oqsil antigenligi o‘zgaradi, DNK uziladi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Antioksidant to‘siq</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SOD: superoksid → H2O2</a:t>
            </a:r>
          </a:p>
          <a:p>
            <a:pPr algn="l">
              <a:spcAft>
                <a:spcPts val="700"/>
              </a:spcAft>
            </a:pPr>
            <a:r>
              <a:rPr sz="1500" b="1">
                <a:solidFill>
                  <a:srgbClr val="C9A227"/>
                </a:solidFill>
                <a:latin typeface="Calibri"/>
              </a:rPr>
              <a:t>●  </a:t>
            </a:r>
            <a:r>
              <a:rPr sz="1500" b="0">
                <a:solidFill>
                  <a:srgbClr val="1F2937"/>
                </a:solidFill>
                <a:latin typeface="Calibri"/>
              </a:rPr>
              <a:t>Glutation (GSH): H2O2 zararsizlanadi</a:t>
            </a:r>
          </a:p>
          <a:p>
            <a:pPr algn="l">
              <a:spcAft>
                <a:spcPts val="700"/>
              </a:spcAft>
            </a:pPr>
            <a:r>
              <a:rPr sz="1500" b="1">
                <a:solidFill>
                  <a:srgbClr val="C9A227"/>
                </a:solidFill>
                <a:latin typeface="Calibri"/>
              </a:rPr>
              <a:t>●  </a:t>
            </a:r>
            <a:r>
              <a:rPr sz="1500" b="0">
                <a:solidFill>
                  <a:srgbClr val="1F2937"/>
                </a:solidFill>
                <a:latin typeface="Calibri"/>
              </a:rPr>
              <a:t>Vitamin E himoya, vitamin C tiklaydi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Lipid peroksidatsiyasi va himoya</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Ishemiya-reperfuziya va ksantinoksidaza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Reperfuziya — shok asorati: ARDS (respirator distress), MODS (ko‘p a’zo disfunksiyasi) bilan kechadi.</a:t>
            </a:r>
          </a:p>
          <a:p>
            <a:pPr>
              <a:spcAft>
                <a:spcPts val="800"/>
              </a:spcAft>
            </a:pPr>
            <a:r>
              <a:rPr sz="1800">
                <a:solidFill>
                  <a:srgbClr val="1F2937"/>
                </a:solidFill>
                <a:latin typeface="Calibri"/>
              </a:rPr>
              <a:t>▸  Sog‘lom to‘qimada dehidrogenaza ustun; anoksiyada u ksantinoksidazaga (XO) o‘tib, superoksid hosil qiladi.</a:t>
            </a:r>
          </a:p>
          <a:p>
            <a:pPr>
              <a:spcAft>
                <a:spcPts val="800"/>
              </a:spcAft>
            </a:pPr>
            <a:r>
              <a:rPr sz="1800">
                <a:solidFill>
                  <a:srgbClr val="1F2937"/>
                </a:solidFill>
                <a:latin typeface="Calibri"/>
              </a:rPr>
              <a:t>▸  XO — reperfuziyadan keyingi ROS ning asosiy manbai; NO va neytrofil NADPH-oksidaza shikastni kuchaytiradi.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Ishemiya: to‘qima gipoksiyasi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Dehidrogenaza → ksantinoksidaza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Reperfuziya: kislorod qaytadi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XO: O2 → superoksid (O2−)</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ROS, NO, neytrofillar: shikast</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Reperfuziya shikasti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shokdan keyingi reperfuziya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shokdagi bemorda qon aylanishi tiklandi, so‘ng o‘pka shikasti (ARDS) va a’zolar disfunksiyasi (MODS) belgilari kuchaydi.</a:t>
            </a:r>
          </a:p>
          <a:p>
            <a:pPr>
              <a:spcAft>
                <a:spcPts val="1200"/>
              </a:spcAft>
            </a:pPr>
            <a:r>
              <a:rPr sz="2200">
                <a:solidFill>
                  <a:srgbClr val="1F2937"/>
                </a:solidFill>
                <a:latin typeface="Calibri"/>
              </a:rPr>
              <a:t>▸  Gipoksiyali to‘qimada (ichak vorsinkalari, jigar, o‘pka) dehidrogenaza ksantinoksidazaga o‘tgan; kislorod qaytgach u superoksid beradi.</a:t>
            </a:r>
          </a:p>
          <a:p>
            <a:pPr>
              <a:spcAft>
                <a:spcPts val="1200"/>
              </a:spcAft>
            </a:pPr>
            <a:r>
              <a:rPr sz="2200">
                <a:solidFill>
                  <a:srgbClr val="1F2937"/>
                </a:solidFill>
                <a:latin typeface="Calibri"/>
              </a:rPr>
              <a:t>▸  Neytrofillar NADPH-oksidaza orqali “respirator portlash”da O2− chiqaradi; mitoxondriya va endoteliy ham ROS ning katta qismini beradi.</a:t>
            </a:r>
          </a:p>
          <a:p>
            <a:pPr>
              <a:spcAft>
                <a:spcPts val="1200"/>
              </a:spcAft>
            </a:pPr>
            <a:r>
              <a:rPr sz="2200">
                <a:solidFill>
                  <a:srgbClr val="1F2937"/>
                </a:solidFill>
                <a:latin typeface="Calibri"/>
              </a:rPr>
              <a:t>▸  Savol: bu bemorda ROS manbalari qanday? Ksantinoksidaza, neytrofil NADPH-oksidaza, mitoxondriya va endoteliyni sanab, ularning o‘zaro kuchayishini tushuntiring.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Travma SIRS: PAMP va DAMP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SIRS (tizimli yallig‘lanish reaksiyasi sindromi) – stressorga nospetsifik ortiqcha himoya javobi.</a:t>
            </a:r>
          </a:p>
          <a:p>
            <a:pPr>
              <a:spcAft>
                <a:spcPts val="800"/>
              </a:spcAft>
            </a:pPr>
            <a:r>
              <a:rPr sz="1800">
                <a:solidFill>
                  <a:srgbClr val="1F2937"/>
                </a:solidFill>
                <a:latin typeface="Calibri"/>
              </a:rPr>
              <a:t>▸  Infeksion SIRSda PAMP (patogen naqshlari), travmada DAMP (shikast naqshlari) asosiy vositachi.</a:t>
            </a:r>
          </a:p>
          <a:p>
            <a:pPr>
              <a:spcAft>
                <a:spcPts val="800"/>
              </a:spcAft>
            </a:pPr>
            <a:r>
              <a:rPr sz="1800">
                <a:solidFill>
                  <a:srgbClr val="1F2937"/>
                </a:solidFill>
                <a:latin typeface="Calibri"/>
              </a:rPr>
              <a:t>▸  Dastlabki o‘lim – «birinchi zarba»; SIRS va MODS (ko‘p a’zo disfunksiyasi sindromi) – «ikkinchi zarba».</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Infeksion SIRS</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Signal: PAMP (patogen naqshlari)</a:t>
            </a:r>
          </a:p>
          <a:p>
            <a:pPr algn="l">
              <a:spcAft>
                <a:spcPts val="700"/>
              </a:spcAft>
            </a:pPr>
            <a:r>
              <a:rPr sz="1500" b="1">
                <a:solidFill>
                  <a:srgbClr val="C9A227"/>
                </a:solidFill>
                <a:latin typeface="Calibri"/>
              </a:rPr>
              <a:t>●  </a:t>
            </a:r>
            <a:r>
              <a:rPr sz="1500" b="0">
                <a:solidFill>
                  <a:srgbClr val="1F2937"/>
                </a:solidFill>
                <a:latin typeface="Calibri"/>
              </a:rPr>
              <a:t>Manba: mikroblar, infeksiya</a:t>
            </a:r>
          </a:p>
          <a:p>
            <a:pPr algn="l">
              <a:spcAft>
                <a:spcPts val="700"/>
              </a:spcAft>
            </a:pPr>
            <a:r>
              <a:rPr sz="1500" b="1">
                <a:solidFill>
                  <a:srgbClr val="C9A227"/>
                </a:solidFill>
                <a:latin typeface="Calibri"/>
              </a:rPr>
              <a:t>●  </a:t>
            </a:r>
            <a:r>
              <a:rPr sz="1500" b="0">
                <a:solidFill>
                  <a:srgbClr val="1F2937"/>
                </a:solidFill>
                <a:latin typeface="Calibri"/>
              </a:rPr>
              <a:t>Retseptor: PRR</a:t>
            </a:r>
          </a:p>
          <a:p>
            <a:pPr algn="l">
              <a:spcAft>
                <a:spcPts val="700"/>
              </a:spcAft>
            </a:pPr>
            <a:r>
              <a:rPr sz="1500" b="1">
                <a:solidFill>
                  <a:srgbClr val="C9A227"/>
                </a:solidFill>
                <a:latin typeface="Calibri"/>
              </a:rPr>
              <a:t>●  </a:t>
            </a:r>
            <a:r>
              <a:rPr sz="1500" b="0">
                <a:solidFill>
                  <a:srgbClr val="1F2937"/>
                </a:solidFill>
                <a:latin typeface="Calibri"/>
              </a:rPr>
              <a:t>Immun tizim faollashadi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Travma SIRS</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Signal: DAMP (shikast naqshlari)</a:t>
            </a:r>
          </a:p>
          <a:p>
            <a:pPr algn="l">
              <a:spcAft>
                <a:spcPts val="700"/>
              </a:spcAft>
            </a:pPr>
            <a:r>
              <a:rPr sz="1500" b="1">
                <a:solidFill>
                  <a:srgbClr val="C9A227"/>
                </a:solidFill>
                <a:latin typeface="Calibri"/>
              </a:rPr>
              <a:t>●  </a:t>
            </a:r>
            <a:r>
              <a:rPr sz="1500" b="0">
                <a:solidFill>
                  <a:srgbClr val="1F2937"/>
                </a:solidFill>
                <a:latin typeface="Calibri"/>
              </a:rPr>
              <a:t>Manba: jarohat to‘qima, mitoxondriya</a:t>
            </a:r>
          </a:p>
          <a:p>
            <a:pPr algn="l">
              <a:spcAft>
                <a:spcPts val="700"/>
              </a:spcAft>
            </a:pPr>
            <a:r>
              <a:rPr sz="1500" b="1">
                <a:solidFill>
                  <a:srgbClr val="C9A227"/>
                </a:solidFill>
                <a:latin typeface="Calibri"/>
              </a:rPr>
              <a:t>●  </a:t>
            </a:r>
            <a:r>
              <a:rPr sz="1500" b="0">
                <a:solidFill>
                  <a:srgbClr val="1F2937"/>
                </a:solidFill>
                <a:latin typeface="Calibri"/>
              </a:rPr>
              <a:t>Xuddi shu PRRlar (TLR, NLR)</a:t>
            </a:r>
          </a:p>
          <a:p>
            <a:pPr algn="l">
              <a:spcAft>
                <a:spcPts val="700"/>
              </a:spcAft>
            </a:pPr>
            <a:r>
              <a:rPr sz="1500" b="1">
                <a:solidFill>
                  <a:srgbClr val="C9A227"/>
                </a:solidFill>
                <a:latin typeface="Calibri"/>
              </a:rPr>
              <a:t>●  </a:t>
            </a:r>
            <a:r>
              <a:rPr sz="1500" b="0">
                <a:solidFill>
                  <a:srgbClr val="1F2937"/>
                </a:solidFill>
                <a:latin typeface="Calibri"/>
              </a:rPr>
              <a:t>Ikkinchi zarba: SIRS, MODS</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Infeksion va travma SIRS</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Jingjing Ye va boshq., The role of mtDAMPs in the trauma-induced systemic inflammatory response syndrome, betlar: PMID 37533869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mtDNK signal yo‘llari: TLR9, cGAS-STING, NLRP3</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mtDNK (mitoxondrial DNK) metillanmagan CpG takrorlari tufayli begona deb taniladi.</a:t>
            </a:r>
          </a:p>
          <a:p>
            <a:pPr>
              <a:spcAft>
                <a:spcPts val="800"/>
              </a:spcAft>
            </a:pPr>
            <a:r>
              <a:rPr sz="1800">
                <a:solidFill>
                  <a:srgbClr val="1F2937"/>
                </a:solidFill>
                <a:latin typeface="Calibri"/>
              </a:rPr>
              <a:t>▸  TLR9 (Toll-simon retseptor) MyD88 orqali yadro omili NF-κB ni yoqib, TNF-α, IL-1β, IL-6 sintezini oshiradi.</a:t>
            </a:r>
          </a:p>
          <a:p>
            <a:pPr>
              <a:spcAft>
                <a:spcPts val="800"/>
              </a:spcAft>
            </a:pPr>
            <a:r>
              <a:rPr sz="1800">
                <a:solidFill>
                  <a:srgbClr val="1F2937"/>
                </a:solidFill>
                <a:latin typeface="Calibri"/>
              </a:rPr>
              <a:t>▸  cGAS–STING (siklik GMP-AMP sintaza – interferon geni stimulyatori) I tur interferonni chaqiradi.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mtDNK signal yo‘llari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TLR9</a:t>
            </a:r>
          </a:p>
          <a:p>
            <a:pPr algn="l">
              <a:spcAft>
                <a:spcPts val="0"/>
              </a:spcAft>
            </a:pPr>
            <a:r>
              <a:rPr sz="1200" b="0">
                <a:solidFill>
                  <a:srgbClr val="1F2937"/>
                </a:solidFill>
                <a:latin typeface="Calibri"/>
              </a:rPr>
              <a:t>CpG DNK → MyD88 → NF-κB  ·  TNF-α, IL-1β, IL-6</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cGAS–STING</a:t>
            </a:r>
          </a:p>
          <a:p>
            <a:pPr algn="l">
              <a:spcAft>
                <a:spcPts val="0"/>
              </a:spcAft>
            </a:pPr>
            <a:r>
              <a:rPr sz="1200" b="0">
                <a:solidFill>
                  <a:srgbClr val="1F2937"/>
                </a:solidFill>
                <a:latin typeface="Calibri"/>
              </a:rPr>
              <a:t>cGAMP → STING → IRF3/NF-κB  ·  I tur interferon, sitokinlar</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NLRP3 inflammasoma</a:t>
            </a:r>
          </a:p>
          <a:p>
            <a:pPr algn="l">
              <a:spcAft>
                <a:spcPts val="0"/>
              </a:spcAft>
            </a:pPr>
            <a:r>
              <a:rPr sz="1200" b="0">
                <a:solidFill>
                  <a:srgbClr val="1F2937"/>
                </a:solidFill>
                <a:latin typeface="Calibri"/>
              </a:rPr>
              <a:t>Oksidlangan mtDNK → kaspaza-1  ·  IL-1β, IL-18; piroptoz</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mtDNK yo‘llari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Jingjing Ye va boshq., The role of mtDAMPs in the trauma-induced systemic inflammatory response syndrome, betlar: PMID 37533869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mtFP va boshqa mtDAMPlar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mtFP (mitoxondrial formil peptidlar) mtDNKdan sintezlanadi; travmada qonga chiqib, FPR1–FPR3 (formil peptid retseptorlari) orqali immun hujayralarni chaqiradi.</a:t>
            </a:r>
          </a:p>
          <a:p>
            <a:pPr>
              <a:spcAft>
                <a:spcPts val="800"/>
              </a:spcAft>
            </a:pPr>
            <a:r>
              <a:rPr sz="1600">
                <a:solidFill>
                  <a:srgbClr val="1F2937"/>
                </a:solidFill>
                <a:latin typeface="Calibri"/>
              </a:rPr>
              <a:t>▸  FPR1 neytrofillarda xemotaksis, degranulyatsiya, ROS va sitokin hosil bo‘lishini kuchaytiradi; mtFP odamdagi barcha FPRlar uchun yagona umumiy ligand.</a:t>
            </a:r>
          </a:p>
          <a:p>
            <a:pPr>
              <a:spcAft>
                <a:spcPts val="800"/>
              </a:spcAft>
            </a:pPr>
            <a:r>
              <a:rPr sz="1600">
                <a:solidFill>
                  <a:srgbClr val="1F2937"/>
                </a:solidFill>
                <a:latin typeface="Calibri"/>
              </a:rPr>
              <a:t>▸  TFAM (mitoxondrial transkripsiya omili A) shikastlansa mtDNK chiqadi; o‘zi ham DAMP. mtRNK TLR8/MyD88 va RIG-I yo‘li orqali yallig‘lantiradi.</a:t>
            </a:r>
          </a:p>
          <a:p>
            <a:pPr>
              <a:spcAft>
                <a:spcPts val="800"/>
              </a:spcAft>
            </a:pPr>
            <a:r>
              <a:rPr sz="1600">
                <a:solidFill>
                  <a:srgbClr val="1F2937"/>
                </a:solidFill>
                <a:latin typeface="Calibri"/>
              </a:rPr>
              <a:t>▸  Kardiolipin tashqariga chiqsa, mtDNK chiqib cGAS–STINGni yoqadi; ATP IL-1β, IL-6, TNF-α ni oshiradi; sitoxrom c TLR4 va NF-κB orqali ishlaydi.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mtDAMPlar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mtFP</a:t>
            </a:r>
          </a:p>
          <a:p>
            <a:pPr algn="l">
              <a:spcAft>
                <a:spcPts val="0"/>
              </a:spcAft>
            </a:pPr>
            <a:r>
              <a:rPr sz="1200" b="0">
                <a:solidFill>
                  <a:srgbClr val="1F2937"/>
                </a:solidFill>
                <a:latin typeface="Calibri"/>
              </a:rPr>
              <a:t>Qonga chiqadi, FPR1–FPR3 orqali  ·  FPR1: neytrofil xemotaksisi, ROS</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TFAM va mtRNK</a:t>
            </a:r>
          </a:p>
          <a:p>
            <a:pPr algn="l">
              <a:spcAft>
                <a:spcPts val="0"/>
              </a:spcAft>
            </a:pPr>
            <a:r>
              <a:rPr sz="1200" b="0">
                <a:solidFill>
                  <a:srgbClr val="1F2937"/>
                </a:solidFill>
                <a:latin typeface="Calibri"/>
              </a:rPr>
              <a:t>TFAM shikastlansa mtDNK chiqadi  ·  mtRNK: TLR8/MyD88, RIG-I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Kardiolipin, ATP, sitoxrom</a:t>
            </a:r>
          </a:p>
          <a:p>
            <a:pPr algn="l">
              <a:spcAft>
                <a:spcPts val="0"/>
              </a:spcAft>
            </a:pPr>
            <a:r>
              <a:rPr sz="1200" b="0">
                <a:solidFill>
                  <a:srgbClr val="1F2937"/>
                </a:solidFill>
                <a:latin typeface="Calibri"/>
              </a:rPr>
              <a:t>Kardiolipin → mtDNK → cGAS–STING  ·  ATP: IL-1β, IL-6, TNF-α  ·  Sitoxrom c: TLR4, NF-κB</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mtDAMP turlari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Jingjing Ye va boshq., The role of mtDAMPs in the trauma-induced systemic inflammatory response syndrome, betlar: PMID 37533869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mtDAMPlarning a’zolardagi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Jigarda oksidlangan mtDNA NLRP3 orqali Kupffer hujayralarini faollashtirib, jigar shikastini kuchaytirdi (kalamush modeli).</a:t>
            </a:r>
          </a:p>
          <a:p>
            <a:pPr>
              <a:spcAft>
                <a:spcPts val="800"/>
              </a:spcAft>
            </a:pPr>
            <a:r>
              <a:rPr sz="1800">
                <a:solidFill>
                  <a:srgbClr val="1F2937"/>
                </a:solidFill>
                <a:latin typeface="Calibri"/>
              </a:rPr>
              <a:t>▸  Ichak ishemiya-reperfuziyasida epiteliy mtDNA si TLR9 yo‘li bilan yallig‘lanish sitokinlarini kuchaytiradi.</a:t>
            </a:r>
          </a:p>
          <a:p>
            <a:pPr>
              <a:spcAft>
                <a:spcPts val="800"/>
              </a:spcAft>
            </a:pPr>
            <a:r>
              <a:rPr sz="1800">
                <a:solidFill>
                  <a:srgbClr val="1F2937"/>
                </a:solidFill>
                <a:latin typeface="Calibri"/>
              </a:rPr>
              <a:t>▸  Plazma mtDNA darajasi travmadan keyingi SIRS xavfini o‘rtacha aniqlikda bashorat qiladi.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73530"/>
                <a:gridCol w="2282190"/>
                <a:gridCol w="1432255"/>
              </a:tblGrid>
              <a:tr h="614476">
                <a:tc>
                  <a:txBody>
                    <a:bodyPr/>
                    <a:lstStyle/>
                    <a:p>
                      <a:r>
                        <a:rPr sz="1600" b="1">
                          <a:solidFill>
                            <a:srgbClr val="FFFFFF"/>
                          </a:solidFill>
                        </a:rPr>
                        <a:t>A’zo</a:t>
                      </a:r>
                    </a:p>
                  </a:txBody>
                  <a:tcPr marL="73152" marR="73152" marT="36576" marB="36576">
                    <a:solidFill>
                      <a:srgbClr val="0B1F3A"/>
                    </a:solidFill>
                  </a:tcPr>
                </a:tc>
                <a:tc>
                  <a:txBody>
                    <a:bodyPr/>
                    <a:lstStyle/>
                    <a:p>
                      <a:r>
                        <a:rPr sz="1600" b="1">
                          <a:solidFill>
                            <a:srgbClr val="FFFFFF"/>
                          </a:solidFill>
                        </a:rPr>
                        <a:t>Mexanizm</a:t>
                      </a:r>
                    </a:p>
                  </a:txBody>
                  <a:tcPr marL="73152" marR="73152" marT="36576" marB="36576">
                    <a:solidFill>
                      <a:srgbClr val="0B1F3A"/>
                    </a:solidFill>
                  </a:tcPr>
                </a:tc>
                <a:tc>
                  <a:txBody>
                    <a:bodyPr/>
                    <a:lstStyle/>
                    <a:p>
                      <a:r>
                        <a:rPr sz="1600" b="1">
                          <a:solidFill>
                            <a:srgbClr val="FFFFFF"/>
                          </a:solidFill>
                        </a:rPr>
                        <a:t>Kuzatuv</a:t>
                      </a:r>
                    </a:p>
                  </a:txBody>
                  <a:tcPr marL="73152" marR="73152" marT="36576" marB="36576">
                    <a:solidFill>
                      <a:srgbClr val="0B1F3A"/>
                    </a:solidFill>
                  </a:tcPr>
                </a:tc>
              </a:tr>
              <a:tr h="614476">
                <a:tc>
                  <a:txBody>
                    <a:bodyPr/>
                    <a:lstStyle/>
                    <a:p>
                      <a:r>
                        <a:rPr sz="1500" b="0">
                          <a:solidFill>
                            <a:srgbClr val="1F2937"/>
                          </a:solidFill>
                        </a:rPr>
                        <a:t>O‘pka</a:t>
                      </a:r>
                    </a:p>
                  </a:txBody>
                  <a:tcPr marL="73152" marR="73152" marT="36576" marB="36576">
                    <a:solidFill>
                      <a:srgbClr val="E8EEF6"/>
                    </a:solidFill>
                  </a:tcPr>
                </a:tc>
                <a:tc>
                  <a:txBody>
                    <a:bodyPr/>
                    <a:lstStyle/>
                    <a:p>
                      <a:r>
                        <a:rPr sz="1500" b="0">
                          <a:solidFill>
                            <a:srgbClr val="1F2937"/>
                          </a:solidFill>
                        </a:rPr>
                        <a:t>mtFP–FPR1; mtDNA–cGAS/STING; NLRP3</a:t>
                      </a:r>
                    </a:p>
                  </a:txBody>
                  <a:tcPr marL="73152" marR="73152" marT="36576" marB="36576">
                    <a:solidFill>
                      <a:srgbClr val="E8EEF6"/>
                    </a:solidFill>
                  </a:tcPr>
                </a:tc>
                <a:tc>
                  <a:txBody>
                    <a:bodyPr/>
                    <a:lstStyle/>
                    <a:p>
                      <a:r>
                        <a:rPr sz="1500" b="0">
                          <a:solidFill>
                            <a:srgbClr val="1F2937"/>
                          </a:solidFill>
                        </a:rPr>
                        <a:t>Plazma mtDNA ARDS og‘irligiga bog‘liq</a:t>
                      </a:r>
                    </a:p>
                  </a:txBody>
                  <a:tcPr marL="73152" marR="73152" marT="36576" marB="36576">
                    <a:solidFill>
                      <a:srgbClr val="E8EEF6"/>
                    </a:solidFill>
                  </a:tcPr>
                </a:tc>
              </a:tr>
              <a:tr h="614476">
                <a:tc>
                  <a:txBody>
                    <a:bodyPr/>
                    <a:lstStyle/>
                    <a:p>
                      <a:r>
                        <a:rPr sz="1500" b="0">
                          <a:solidFill>
                            <a:srgbClr val="1F2937"/>
                          </a:solidFill>
                        </a:rPr>
                        <a:t>Buyrak</a:t>
                      </a:r>
                    </a:p>
                  </a:txBody>
                  <a:tcPr marL="73152" marR="73152" marT="36576" marB="36576">
                    <a:solidFill>
                      <a:srgbClr val="FFFFFF"/>
                    </a:solidFill>
                  </a:tcPr>
                </a:tc>
                <a:tc>
                  <a:txBody>
                    <a:bodyPr/>
                    <a:lstStyle/>
                    <a:p>
                      <a:r>
                        <a:rPr sz="1500" b="0">
                          <a:solidFill>
                            <a:srgbClr val="1F2937"/>
                          </a:solidFill>
                        </a:rPr>
                        <a:t>RIP3, PGAM5 → mtDNA chiqishi; cGAS/STING</a:t>
                      </a:r>
                    </a:p>
                  </a:txBody>
                  <a:tcPr marL="73152" marR="73152" marT="36576" marB="36576">
                    <a:solidFill>
                      <a:srgbClr val="FFFFFF"/>
                    </a:solidFill>
                  </a:tcPr>
                </a:tc>
                <a:tc>
                  <a:txBody>
                    <a:bodyPr/>
                    <a:lstStyle/>
                    <a:p>
                      <a:r>
                        <a:rPr sz="1500" b="0">
                          <a:solidFill>
                            <a:srgbClr val="1F2937"/>
                          </a:solidFill>
                        </a:rPr>
                        <a:t>48 soat ichida mtDNA va AKI bog‘liq</a:t>
                      </a:r>
                    </a:p>
                  </a:txBody>
                  <a:tcPr marL="73152" marR="73152" marT="36576" marB="36576">
                    <a:solidFill>
                      <a:srgbClr val="FFFFFF"/>
                    </a:solidFill>
                  </a:tcPr>
                </a:tc>
              </a:tr>
              <a:tr h="614476">
                <a:tc>
                  <a:txBody>
                    <a:bodyPr/>
                    <a:lstStyle/>
                    <a:p>
                      <a:r>
                        <a:rPr sz="1500" b="0">
                          <a:solidFill>
                            <a:srgbClr val="1F2937"/>
                          </a:solidFill>
                        </a:rPr>
                        <a:t>Yurak-tomir</a:t>
                      </a:r>
                    </a:p>
                  </a:txBody>
                  <a:tcPr marL="73152" marR="73152" marT="36576" marB="36576">
                    <a:solidFill>
                      <a:srgbClr val="E8EEF6"/>
                    </a:solidFill>
                  </a:tcPr>
                </a:tc>
                <a:tc>
                  <a:txBody>
                    <a:bodyPr/>
                    <a:lstStyle/>
                    <a:p>
                      <a:r>
                        <a:rPr sz="1500" b="0">
                          <a:solidFill>
                            <a:srgbClr val="1F2937"/>
                          </a:solidFill>
                        </a:rPr>
                        <a:t>mtFP–FPR; endotel disfunksiyasi</a:t>
                      </a:r>
                    </a:p>
                  </a:txBody>
                  <a:tcPr marL="73152" marR="73152" marT="36576" marB="36576">
                    <a:solidFill>
                      <a:srgbClr val="E8EEF6"/>
                    </a:solidFill>
                  </a:tcPr>
                </a:tc>
                <a:tc>
                  <a:txBody>
                    <a:bodyPr/>
                    <a:lstStyle/>
                    <a:p>
                      <a:r>
                        <a:rPr sz="1500" b="0">
                          <a:solidFill>
                            <a:srgbClr val="1F2937"/>
                          </a:solidFill>
                        </a:rPr>
                        <a:t>Shok modelida NO ajralishi, gipotenziya</a:t>
                      </a:r>
                    </a:p>
                  </a:txBody>
                  <a:tcPr marL="73152" marR="73152" marT="36576" marB="36576">
                    <a:solidFill>
                      <a:srgbClr val="E8EEF6"/>
                    </a:solidFill>
                  </a:tcPr>
                </a:tc>
              </a:tr>
              <a:tr h="614476">
                <a:tc>
                  <a:txBody>
                    <a:bodyPr/>
                    <a:lstStyle/>
                    <a:p>
                      <a:r>
                        <a:rPr sz="1500" b="0">
                          <a:solidFill>
                            <a:srgbClr val="1F2937"/>
                          </a:solidFill>
                        </a:rPr>
                        <a:t>Miya</a:t>
                      </a:r>
                    </a:p>
                  </a:txBody>
                  <a:tcPr marL="73152" marR="73152" marT="36576" marB="36576">
                    <a:solidFill>
                      <a:srgbClr val="FFFFFF"/>
                    </a:solidFill>
                  </a:tcPr>
                </a:tc>
                <a:tc>
                  <a:txBody>
                    <a:bodyPr/>
                    <a:lstStyle/>
                    <a:p>
                      <a:r>
                        <a:rPr sz="1500" b="0">
                          <a:solidFill>
                            <a:srgbClr val="1F2937"/>
                          </a:solidFill>
                        </a:rPr>
                        <a:t>mtDNA → NLRP3; cGAS/STING; mikroglia</a:t>
                      </a:r>
                    </a:p>
                  </a:txBody>
                  <a:tcPr marL="73152" marR="73152" marT="36576" marB="36576">
                    <a:solidFill>
                      <a:srgbClr val="FFFFFF"/>
                    </a:solidFill>
                  </a:tcPr>
                </a:tc>
                <a:tc>
                  <a:txBody>
                    <a:bodyPr/>
                    <a:lstStyle/>
                    <a:p>
                      <a:r>
                        <a:rPr sz="1500" b="0">
                          <a:solidFill>
                            <a:srgbClr val="1F2937"/>
                          </a:solidFill>
                        </a:rPr>
                        <a:t>Likvor mtDNA si og‘irlik bilan bog‘liq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mtDAMP: a’zolar bo‘yicha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Jingjing Ye va boshq., The role of mtDAMPs in the trauma-induced systemic inflammatory response syndrome, betlar: PMID 37533869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travma va mtDAMP</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Travmadagi steril SIRS ko‘proq PAMP yoki DAMP orqalimi? Javob: asosan DAMP, shu jumladan mitoxondrial DAMP (mtDAMP).</a:t>
            </a:r>
          </a:p>
          <a:p>
            <a:pPr>
              <a:spcAft>
                <a:spcPts val="1200"/>
              </a:spcAft>
            </a:pPr>
            <a:r>
              <a:rPr sz="2200">
                <a:solidFill>
                  <a:srgbClr val="1F2937"/>
                </a:solidFill>
                <a:latin typeface="Calibri"/>
              </a:rPr>
              <a:t>▸  Savol 2: mtDNA qaysi retseptorni faollashtiradi? Javob: TLR9 metillanmagan CpG DNKga bog‘lanib, NF-κB va MAPK yo‘llarini ishga tushiradi.</a:t>
            </a:r>
          </a:p>
          <a:p>
            <a:pPr>
              <a:spcAft>
                <a:spcPts val="1200"/>
              </a:spcAft>
            </a:pPr>
            <a:r>
              <a:rPr sz="2200">
                <a:solidFill>
                  <a:srgbClr val="1F2937"/>
                </a:solidFill>
                <a:latin typeface="Calibri"/>
              </a:rPr>
              <a:t>▸  Savol 3: mitoxondrial formil peptidlar (mtFP) qaysi retseptorga bog‘lanadi? Javob: FPR; FPR1 va FPR2 eng ko‘p neytrofillarda uchraydi.</a:t>
            </a:r>
          </a:p>
          <a:p>
            <a:pPr>
              <a:spcAft>
                <a:spcPts val="1200"/>
              </a:spcAft>
            </a:pPr>
            <a:r>
              <a:rPr sz="2200">
                <a:solidFill>
                  <a:srgbClr val="1F2937"/>
                </a:solidFill>
                <a:latin typeface="Calibri"/>
              </a:rPr>
              <a:t>▸  Diqqat: PAMP ≠ DAMP. PAMP — mikrob molekulasi; DAMP — o‘z hujayrasidan chiqqan molekula. Mitoxondriya bakteriyasimon, shu sabab mtDAMP PAMPga o‘xshaydi.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Jingjing Ye va boshq., The role of mtDAMPs in the trauma-induced systemic inflammatory response syndrome, betlar: PMID 37533869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politravma bemori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politravmali bemorda qabulda plazma mtDNA darajasi sog‘lom odamlarnikidan ancha yuqori. Mitoxondriyalar shikastlangan, mtDAMP qonga chiqqan.</a:t>
            </a:r>
          </a:p>
          <a:p>
            <a:pPr>
              <a:spcAft>
                <a:spcPts val="1200"/>
              </a:spcAft>
            </a:pPr>
            <a:r>
              <a:rPr sz="2200">
                <a:solidFill>
                  <a:srgbClr val="1F2937"/>
                </a:solidFill>
                <a:latin typeface="Calibri"/>
              </a:rPr>
              <a:t>▸  Manbada travmadan 2 soat o‘tib qonda mtDNA yuqori bo‘lganlarda MODS (ko‘p a’zo disfunksiyasi sindromi) xavfi yuqori. Daraja 24 soatgacha oshib borgan.</a:t>
            </a:r>
          </a:p>
          <a:p>
            <a:pPr>
              <a:spcAft>
                <a:spcPts val="1200"/>
              </a:spcAft>
            </a:pPr>
            <a:r>
              <a:rPr sz="2200">
                <a:solidFill>
                  <a:srgbClr val="1F2937"/>
                </a:solidFill>
                <a:latin typeface="Calibri"/>
              </a:rPr>
              <a:t>▸  Muhokama: bu biomarker nimani bildiradi? U mitoxondriya shikasti va DAMP yuklamasini aks ettiradi, SIRS va MODS xavfi haqida signal beradi.</a:t>
            </a:r>
          </a:p>
          <a:p>
            <a:pPr>
              <a:spcAft>
                <a:spcPts val="1200"/>
              </a:spcAft>
            </a:pPr>
            <a:r>
              <a:rPr sz="2200">
                <a:solidFill>
                  <a:srgbClr val="1F2937"/>
                </a:solidFill>
                <a:latin typeface="Calibri"/>
              </a:rPr>
              <a:t>▸  Mualliflar mtDNA ni biomarker sifatida qo‘llash uchun qo‘shimcha klinik tadqiqotlar kerakligini ta’kidlaydi. Chegaraviy qiymat manbada berilmagan.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Jingjing Ye va boshq., The role of mtDAMPs in the trauma-induced systemic inflammatory response syndrome, betlar: PMID 37533869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 morfologiyasi: DAD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Gialin membrana DAD uchun muhim; jarohat 24 soatdan yosh bo‘lsa, o‘zgarish minimal bo‘lishi mumkin.</a:t>
            </a:r>
          </a:p>
          <a:p>
            <a:pPr>
              <a:spcAft>
                <a:spcPts val="800"/>
              </a:spcAft>
            </a:pPr>
            <a:r>
              <a:rPr sz="1800">
                <a:solidFill>
                  <a:srgbClr val="1F2937"/>
                </a:solidFill>
                <a:latin typeface="Calibri"/>
              </a:rPr>
              <a:t>▸  II tur pnevmotsit giperplaziyasi 2–3-kunda boshlanib, 7-kunda keng bo‘ladi; atipiya bo‘lishi mumkin.</a:t>
            </a:r>
          </a:p>
          <a:p>
            <a:pPr>
              <a:spcAft>
                <a:spcPts val="800"/>
              </a:spcAft>
            </a:pPr>
            <a:r>
              <a:rPr sz="1800">
                <a:solidFill>
                  <a:srgbClr val="1F2937"/>
                </a:solidFill>
                <a:latin typeface="Calibri"/>
              </a:rPr>
              <a:t>▸  Diqqat: DAD gistologik naqsh, ARDS esa klinik sindrom; biri ikkinchisisiz ham uchrashi mumkin.</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Eksudativ (o‘tkir)</a:t>
            </a:r>
          </a:p>
          <a:p>
            <a:pPr algn="l">
              <a:spcAft>
                <a:spcPts val="200"/>
              </a:spcAft>
            </a:pPr>
            <a:r>
              <a:rPr sz="1400" b="0">
                <a:solidFill>
                  <a:srgbClr val="1F2937"/>
                </a:solidFill>
                <a:latin typeface="Calibri"/>
              </a:rPr>
              <a:t>0–7 kun: shish, neytrofillar, gialin membrana</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Proliferativ</a:t>
            </a:r>
          </a:p>
          <a:p>
            <a:pPr algn="l">
              <a:spcAft>
                <a:spcPts val="200"/>
              </a:spcAft>
            </a:pPr>
            <a:r>
              <a:rPr sz="1400" b="0">
                <a:solidFill>
                  <a:srgbClr val="1F2937"/>
                </a:solidFill>
                <a:latin typeface="Calibri"/>
              </a:rPr>
              <a:t>3–7-kundan: II tur pnevmotsit giperplaziyasi</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Fibrozlovchi (surunkali)</a:t>
            </a:r>
          </a:p>
          <a:p>
            <a:pPr algn="l">
              <a:spcAft>
                <a:spcPts val="200"/>
              </a:spcAft>
            </a:pPr>
            <a:r>
              <a:rPr sz="1400" b="0">
                <a:solidFill>
                  <a:srgbClr val="1F2937"/>
                </a:solidFill>
                <a:latin typeface="Calibri"/>
              </a:rPr>
              <a:t>14-kunda keng: fibroblastlar, kollagen, fibroz</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DAD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Wong HE va boshq., Diffuse alveolar damage, betlar: PMID 41782298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II tur pnevmotsit giperplaziyasi va fibroz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II tur pnevmotsit giperplaziyasi — hujayra soni ko‘payishi va gipertrofiyasi; atipiya (sitomegaliya, karyomegaliya, ko‘p yadroli) bo‘lishi mumkin.</a:t>
            </a:r>
          </a:p>
          <a:p>
            <a:pPr>
              <a:spcAft>
                <a:spcPts val="800"/>
              </a:spcAft>
            </a:pPr>
            <a:r>
              <a:rPr sz="1600">
                <a:solidFill>
                  <a:srgbClr val="1F2937"/>
                </a:solidFill>
                <a:latin typeface="Calibri"/>
              </a:rPr>
              <a:t>▸  Giperplaziya jarohatdan 2–3 kun o‘tib boshlanadi, 7-kunda keng; yakka gipertrofik pnevmotsitlar reaktiv makrofagni taqlid qiladi, sitokeratin IGK ajratadi.</a:t>
            </a:r>
          </a:p>
          <a:p>
            <a:pPr>
              <a:spcAft>
                <a:spcPts val="800"/>
              </a:spcAft>
            </a:pPr>
            <a:r>
              <a:rPr sz="1600">
                <a:solidFill>
                  <a:srgbClr val="1F2937"/>
                </a:solidFill>
                <a:latin typeface="Calibri"/>
              </a:rPr>
              <a:t>▸  Shikastlangan II tur pnevmotsit va makrofag TGFβ ishlab chiqaradi; u miofibroblast va fibroblastlarni faollashtirib, kollagen yig‘adi.</a:t>
            </a:r>
          </a:p>
          <a:p>
            <a:pPr>
              <a:spcAft>
                <a:spcPts val="800"/>
              </a:spcAft>
            </a:pPr>
            <a:r>
              <a:rPr sz="1600">
                <a:solidFill>
                  <a:srgbClr val="1F2937"/>
                </a:solidFill>
                <a:latin typeface="Calibri"/>
              </a:rPr>
              <a:t>▸  Fibrozda fibroblast va miofibroblast septa va alveola fibrinini infiltratsiya qiladi; tuzalmasa, o‘pka funksiyasi doimiy pasayadi.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Shikast</a:t>
            </a:r>
          </a:p>
          <a:p>
            <a:pPr algn="l">
              <a:spcAft>
                <a:spcPts val="200"/>
              </a:spcAft>
            </a:pPr>
            <a:r>
              <a:rPr sz="1400" b="0">
                <a:solidFill>
                  <a:srgbClr val="1F2937"/>
                </a:solidFill>
                <a:latin typeface="Calibri"/>
              </a:rPr>
              <a:t>II tur pnevmotsit va makrofag zararlanadi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TGFβ</a:t>
            </a:r>
          </a:p>
          <a:p>
            <a:pPr algn="l">
              <a:spcAft>
                <a:spcPts val="200"/>
              </a:spcAft>
            </a:pPr>
            <a:r>
              <a:rPr sz="1400" b="0">
                <a:solidFill>
                  <a:srgbClr val="1F2937"/>
                </a:solidFill>
                <a:latin typeface="Calibri"/>
              </a:rPr>
              <a:t>Zararlangan hujayralar TGFβ chiqaradi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Fibroblast faolligi</a:t>
            </a:r>
          </a:p>
          <a:p>
            <a:pPr algn="l">
              <a:spcAft>
                <a:spcPts val="200"/>
              </a:spcAft>
            </a:pPr>
            <a:r>
              <a:rPr sz="1400" b="0">
                <a:solidFill>
                  <a:srgbClr val="1F2937"/>
                </a:solidFill>
                <a:latin typeface="Calibri"/>
              </a:rPr>
              <a:t>Fibroblast va miofibroblast faollashadi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Kollagen</a:t>
            </a:r>
          </a:p>
          <a:p>
            <a:pPr algn="l">
              <a:spcAft>
                <a:spcPts val="200"/>
              </a:spcAft>
            </a:pPr>
            <a:r>
              <a:rPr sz="1400" b="0">
                <a:solidFill>
                  <a:srgbClr val="1F2937"/>
                </a:solidFill>
                <a:latin typeface="Calibri"/>
              </a:rPr>
              <a:t>Alveola septa va fibrinda granulyatsiya to‘qima</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Natija</a:t>
            </a:r>
          </a:p>
          <a:p>
            <a:pPr algn="l">
              <a:spcAft>
                <a:spcPts val="200"/>
              </a:spcAft>
            </a:pPr>
            <a:r>
              <a:rPr sz="1400" b="0">
                <a:solidFill>
                  <a:srgbClr val="1F2937"/>
                </a:solidFill>
                <a:latin typeface="Calibri"/>
              </a:rPr>
              <a:t>Tuzalish yoki doimiy fibroz</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Proliferatsiyadan fibrozgacha</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Wong HE va boshq., Diffuse alveolar damage, betlar: PMID 41782298, «Proliferative or organizing stage» bo‘limi, PMID 41782298, «Fibrosing (chronic) stage» bo‘limi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ARDS endotiplari va ularning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Beshta endotip: epitelial, endotelial, mahalliy yallig‘lanish, angiopatiya va tizimli yallig‘lanish.</a:t>
            </a:r>
          </a:p>
          <a:p>
            <a:pPr>
              <a:spcAft>
                <a:spcPts val="800"/>
              </a:spcAft>
            </a:pPr>
            <a:r>
              <a:rPr sz="1800">
                <a:solidFill>
                  <a:srgbClr val="1F2937"/>
                </a:solidFill>
                <a:latin typeface="Calibri"/>
              </a:rPr>
              <a:t>▸  Angiopatiya: tomir torayishi va mikrotromblar; asosan odamdagi COVID-19 angiopatiyasiga tayanadi.</a:t>
            </a:r>
          </a:p>
          <a:p>
            <a:pPr>
              <a:spcAft>
                <a:spcPts val="800"/>
              </a:spcAft>
            </a:pPr>
            <a:r>
              <a:rPr sz="1800">
                <a:solidFill>
                  <a:srgbClr val="1F2937"/>
                </a:solidFill>
                <a:latin typeface="Calibri"/>
              </a:rPr>
              <a:t>▸  G‘oya: birlamchi jarohat o‘ziga xos molekulyar imzo qoldiradi; bu aniq davolashga yordam beradi.</a:t>
            </a:r>
          </a:p>
        </p:txBody>
      </p:sp>
      <p:graphicFrame>
        <p:nvGraphicFramePr>
          <p:cNvPr id="9" name="Table 8"/>
          <p:cNvGraphicFramePr>
            <a:graphicFrameLocks noGrp="1"/>
          </p:cNvGraphicFramePr>
          <p:nvPr/>
        </p:nvGraphicFramePr>
        <p:xfrm>
          <a:off x="6263640" y="1463040"/>
          <a:ext cx="6374130" cy="3072380"/>
        </p:xfrm>
        <a:graphic>
          <a:graphicData uri="http://schemas.openxmlformats.org/drawingml/2006/table">
            <a:tbl>
              <a:tblPr firstRow="1" bandRow="1">
                <a:tableStyleId>{5C22544A-7EE6-4342-B048-85BDC9FD1C3A}</a:tableStyleId>
              </a:tblPr>
              <a:tblGrid>
                <a:gridCol w="1809750"/>
                <a:gridCol w="2282190"/>
                <a:gridCol w="2282190"/>
              </a:tblGrid>
              <a:tr h="614476">
                <a:tc>
                  <a:txBody>
                    <a:bodyPr/>
                    <a:lstStyle/>
                    <a:p>
                      <a:r>
                        <a:rPr sz="1600" b="1">
                          <a:solidFill>
                            <a:srgbClr val="FFFFFF"/>
                          </a:solidFill>
                        </a:rPr>
                        <a:t>Endotip</a:t>
                      </a:r>
                    </a:p>
                  </a:txBody>
                  <a:tcPr marL="73152" marR="73152" marT="36576" marB="36576">
                    <a:solidFill>
                      <a:srgbClr val="0B1F3A"/>
                    </a:solidFill>
                  </a:tcPr>
                </a:tc>
                <a:tc>
                  <a:txBody>
                    <a:bodyPr/>
                    <a:lstStyle/>
                    <a:p>
                      <a:r>
                        <a:rPr sz="1600" b="1">
                          <a:solidFill>
                            <a:srgbClr val="FFFFFF"/>
                          </a:solidFill>
                        </a:rPr>
                        <a:t>Mexanizm</a:t>
                      </a:r>
                    </a:p>
                  </a:txBody>
                  <a:tcPr marL="73152" marR="73152" marT="36576" marB="36576">
                    <a:solidFill>
                      <a:srgbClr val="0B1F3A"/>
                    </a:solidFill>
                  </a:tcPr>
                </a:tc>
                <a:tc>
                  <a:txBody>
                    <a:bodyPr/>
                    <a:lstStyle/>
                    <a:p>
                      <a:r>
                        <a:rPr sz="1600" b="1">
                          <a:solidFill>
                            <a:srgbClr val="FFFFFF"/>
                          </a:solidFill>
                        </a:rPr>
                        <a:t>Natija</a:t>
                      </a:r>
                    </a:p>
                  </a:txBody>
                  <a:tcPr marL="73152" marR="73152" marT="36576" marB="36576">
                    <a:solidFill>
                      <a:srgbClr val="0B1F3A"/>
                    </a:solidFill>
                  </a:tcPr>
                </a:tc>
              </a:tr>
              <a:tr h="614476">
                <a:tc>
                  <a:txBody>
                    <a:bodyPr/>
                    <a:lstStyle/>
                    <a:p>
                      <a:r>
                        <a:rPr sz="1500" b="0">
                          <a:solidFill>
                            <a:srgbClr val="1F2937"/>
                          </a:solidFill>
                        </a:rPr>
                        <a:t>Epitelial</a:t>
                      </a:r>
                    </a:p>
                  </a:txBody>
                  <a:tcPr marL="73152" marR="73152" marT="36576" marB="36576">
                    <a:solidFill>
                      <a:srgbClr val="E8EEF6"/>
                    </a:solidFill>
                  </a:tcPr>
                </a:tc>
                <a:tc>
                  <a:txBody>
                    <a:bodyPr/>
                    <a:lstStyle/>
                    <a:p>
                      <a:r>
                        <a:rPr sz="1500" b="0">
                          <a:solidFill>
                            <a:srgbClr val="1F2937"/>
                          </a:solidFill>
                        </a:rPr>
                        <a:t>Alveolyar epiteliy jarohati</a:t>
                      </a:r>
                    </a:p>
                  </a:txBody>
                  <a:tcPr marL="73152" marR="73152" marT="36576" marB="36576">
                    <a:solidFill>
                      <a:srgbClr val="E8EEF6"/>
                    </a:solidFill>
                  </a:tcPr>
                </a:tc>
                <a:tc>
                  <a:txBody>
                    <a:bodyPr/>
                    <a:lstStyle/>
                    <a:p>
                      <a:r>
                        <a:rPr sz="1500" b="0">
                          <a:solidFill>
                            <a:srgbClr val="1F2937"/>
                          </a:solidFill>
                        </a:rPr>
                        <a:t>Suyuqlik klirensi buziladi, shish</a:t>
                      </a:r>
                    </a:p>
                  </a:txBody>
                  <a:tcPr marL="73152" marR="73152" marT="36576" marB="36576">
                    <a:solidFill>
                      <a:srgbClr val="E8EEF6"/>
                    </a:solidFill>
                  </a:tcPr>
                </a:tc>
              </a:tr>
              <a:tr h="614476">
                <a:tc>
                  <a:txBody>
                    <a:bodyPr/>
                    <a:lstStyle/>
                    <a:p>
                      <a:r>
                        <a:rPr sz="1500" b="0">
                          <a:solidFill>
                            <a:srgbClr val="1F2937"/>
                          </a:solidFill>
                        </a:rPr>
                        <a:t>Endotelial</a:t>
                      </a:r>
                    </a:p>
                  </a:txBody>
                  <a:tcPr marL="73152" marR="73152" marT="36576" marB="36576">
                    <a:solidFill>
                      <a:srgbClr val="FFFFFF"/>
                    </a:solidFill>
                  </a:tcPr>
                </a:tc>
                <a:tc>
                  <a:txBody>
                    <a:bodyPr/>
                    <a:lstStyle/>
                    <a:p>
                      <a:r>
                        <a:rPr sz="1500" b="0">
                          <a:solidFill>
                            <a:srgbClr val="1F2937"/>
                          </a:solidFill>
                        </a:rPr>
                        <a:t>Tomir to‘siqi buzilishi</a:t>
                      </a:r>
                    </a:p>
                  </a:txBody>
                  <a:tcPr marL="73152" marR="73152" marT="36576" marB="36576">
                    <a:solidFill>
                      <a:srgbClr val="FFFFFF"/>
                    </a:solidFill>
                  </a:tcPr>
                </a:tc>
                <a:tc>
                  <a:txBody>
                    <a:bodyPr/>
                    <a:lstStyle/>
                    <a:p>
                      <a:r>
                        <a:rPr sz="1500" b="0">
                          <a:solidFill>
                            <a:srgbClr val="1F2937"/>
                          </a:solidFill>
                        </a:rPr>
                        <a:t>Neytrofil sekvestratsiyasi, ivish</a:t>
                      </a:r>
                    </a:p>
                  </a:txBody>
                  <a:tcPr marL="73152" marR="73152" marT="36576" marB="36576">
                    <a:solidFill>
                      <a:srgbClr val="FFFFFF"/>
                    </a:solidFill>
                  </a:tcPr>
                </a:tc>
              </a:tr>
              <a:tr h="614476">
                <a:tc>
                  <a:txBody>
                    <a:bodyPr/>
                    <a:lstStyle/>
                    <a:p>
                      <a:r>
                        <a:rPr sz="1500" b="0">
                          <a:solidFill>
                            <a:srgbClr val="1F2937"/>
                          </a:solidFill>
                        </a:rPr>
                        <a:t>Mahalliy yallig‘lanish</a:t>
                      </a:r>
                    </a:p>
                  </a:txBody>
                  <a:tcPr marL="73152" marR="73152" marT="36576" marB="36576">
                    <a:solidFill>
                      <a:srgbClr val="E8EEF6"/>
                    </a:solidFill>
                  </a:tcPr>
                </a:tc>
                <a:tc>
                  <a:txBody>
                    <a:bodyPr/>
                    <a:lstStyle/>
                    <a:p>
                      <a:r>
                        <a:rPr sz="1500" b="0">
                          <a:solidFill>
                            <a:srgbClr val="1F2937"/>
                          </a:solidFill>
                        </a:rPr>
                        <a:t>Yo‘l/interstitsiy jarohati tarqaladi</a:t>
                      </a:r>
                    </a:p>
                  </a:txBody>
                  <a:tcPr marL="73152" marR="73152" marT="36576" marB="36576">
                    <a:solidFill>
                      <a:srgbClr val="E8EEF6"/>
                    </a:solidFill>
                  </a:tcPr>
                </a:tc>
                <a:tc>
                  <a:txBody>
                    <a:bodyPr/>
                    <a:lstStyle/>
                    <a:p>
                      <a:r>
                        <a:rPr sz="1500" b="0">
                          <a:solidFill>
                            <a:srgbClr val="1F2937"/>
                          </a:solidFill>
                        </a:rPr>
                        <a:t>Neytrofil to‘planishi, oksidlovchi zarar</a:t>
                      </a:r>
                    </a:p>
                  </a:txBody>
                  <a:tcPr marL="73152" marR="73152" marT="36576" marB="36576">
                    <a:solidFill>
                      <a:srgbClr val="E8EEF6"/>
                    </a:solidFill>
                  </a:tcPr>
                </a:tc>
              </a:tr>
              <a:tr h="614476">
                <a:tc>
                  <a:txBody>
                    <a:bodyPr/>
                    <a:lstStyle/>
                    <a:p>
                      <a:r>
                        <a:rPr sz="1500" b="0">
                          <a:solidFill>
                            <a:srgbClr val="1F2937"/>
                          </a:solidFill>
                        </a:rPr>
                        <a:t>Tizimli yallig‘lanish</a:t>
                      </a:r>
                    </a:p>
                  </a:txBody>
                  <a:tcPr marL="73152" marR="73152" marT="36576" marB="36576">
                    <a:solidFill>
                      <a:srgbClr val="FFFFFF"/>
                    </a:solidFill>
                  </a:tcPr>
                </a:tc>
                <a:tc>
                  <a:txBody>
                    <a:bodyPr/>
                    <a:lstStyle/>
                    <a:p>
                      <a:r>
                        <a:rPr sz="1500" b="0">
                          <a:solidFill>
                            <a:srgbClr val="1F2937"/>
                          </a:solidFill>
                        </a:rPr>
                        <a:t>Sepsis, pankreatit kabi tizimli ta’sir</a:t>
                      </a:r>
                    </a:p>
                  </a:txBody>
                  <a:tcPr marL="73152" marR="73152" marT="36576" marB="36576">
                    <a:solidFill>
                      <a:srgbClr val="FFFFFF"/>
                    </a:solidFill>
                  </a:tcPr>
                </a:tc>
                <a:tc>
                  <a:txBody>
                    <a:bodyPr/>
                    <a:lstStyle/>
                    <a:p>
                      <a:r>
                        <a:rPr sz="1500" b="0">
                          <a:solidFill>
                            <a:srgbClr val="1F2937"/>
                          </a:solidFill>
                        </a:rPr>
                        <a:t>Endoteliy apoptozi, prototrombotik holat</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Endotiplar solishtirmasi (angiopatiyadan tashqari)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Wong HE va boshq., Diffuse alveolar damage, betlar: PMID 41782298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Tizimli yallig‘lanish endotipi: sepsis va SIRS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SIRS (tizimli yallig‘lanish sindromi)da endoteliy keng faollashadi; qon aylanishi buzilish xavfi ortadi.</a:t>
            </a:r>
          </a:p>
          <a:p>
            <a:pPr>
              <a:spcAft>
                <a:spcPts val="800"/>
              </a:spcAft>
            </a:pPr>
            <a:r>
              <a:rPr sz="1800">
                <a:solidFill>
                  <a:srgbClr val="1F2937"/>
                </a:solidFill>
                <a:latin typeface="Calibri"/>
              </a:rPr>
              <a:t>▸  Oksidlovchi stress endoteliyni prototrombotik qiladi, kapillyar o‘tkazuvchanligini oshiradi.</a:t>
            </a:r>
          </a:p>
          <a:p>
            <a:pPr>
              <a:spcAft>
                <a:spcPts val="800"/>
              </a:spcAft>
            </a:pPr>
            <a:r>
              <a:rPr sz="1800">
                <a:solidFill>
                  <a:srgbClr val="1F2937"/>
                </a:solidFill>
                <a:latin typeface="Calibri"/>
              </a:rPr>
              <a:t>▸  Sitokinlar ko‘payadi, komplement (C3a) va koagulyatsiya faollashadi; neytrofil apoptozi susayadi.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Sepsis/SIRS: tizimli mediatorlar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Endoteliy zararlanishi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Tomir o‘tkazuvchanligi ortadi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Oksidlovchi stress, sitokinlar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O‘pka shishi → ARDS</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Sepsisdan septik ARDS gacha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Wong HE va boshq., Diffuse alveolar damage, betlar: PMID 41782298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Immunomodulyatsiya: MSC va IL-6 blokatorlari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Mezenximal stromal hujayralar (MSC) shikastlangan endoteliyga borib, to‘qimani tiklaydi va yallig‘lanishni jilovlaydi.</a:t>
            </a:r>
          </a:p>
          <a:p>
            <a:pPr>
              <a:spcAft>
                <a:spcPts val="800"/>
              </a:spcAft>
            </a:pPr>
            <a:r>
              <a:rPr sz="1800">
                <a:solidFill>
                  <a:srgbClr val="1F2937"/>
                </a:solidFill>
                <a:latin typeface="Calibri"/>
              </a:rPr>
              <a:t>▸  Tosilizumab IL-6 (interleykin-6) retseptorini to‘sadi va sitokin bo‘roni belgilarini yengillatadi.</a:t>
            </a:r>
          </a:p>
          <a:p>
            <a:pPr>
              <a:spcAft>
                <a:spcPts val="800"/>
              </a:spcAft>
            </a:pPr>
            <a:r>
              <a:rPr sz="1800">
                <a:solidFill>
                  <a:srgbClr val="1F2937"/>
                </a:solidFill>
                <a:latin typeface="Calibri"/>
              </a:rPr>
              <a:t>▸  Xavf: MSC infuziyasida tromboemboliya; tizimli yallig‘lanishda samara hali isbotlanmagan, sinovlar kutilmoqda.</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573530"/>
                <a:gridCol w="1750558"/>
                <a:gridCol w="1963886"/>
              </a:tblGrid>
              <a:tr h="768096">
                <a:tc>
                  <a:txBody>
                    <a:bodyPr/>
                    <a:lstStyle/>
                    <a:p>
                      <a:r>
                        <a:rPr sz="1600" b="1">
                          <a:solidFill>
                            <a:srgbClr val="FFFFFF"/>
                          </a:solidFill>
                        </a:rPr>
                        <a:t>Vosita</a:t>
                      </a:r>
                    </a:p>
                  </a:txBody>
                  <a:tcPr marL="73152" marR="73152" marT="36576" marB="36576">
                    <a:solidFill>
                      <a:srgbClr val="0B1F3A"/>
                    </a:solidFill>
                  </a:tcPr>
                </a:tc>
                <a:tc>
                  <a:txBody>
                    <a:bodyPr/>
                    <a:lstStyle/>
                    <a:p>
                      <a:r>
                        <a:rPr sz="1600" b="1">
                          <a:solidFill>
                            <a:srgbClr val="FFFFFF"/>
                          </a:solidFill>
                        </a:rPr>
                        <a:t>Ta’siri</a:t>
                      </a:r>
                    </a:p>
                  </a:txBody>
                  <a:tcPr marL="73152" marR="73152" marT="36576" marB="36576">
                    <a:solidFill>
                      <a:srgbClr val="0B1F3A"/>
                    </a:solidFill>
                  </a:tcPr>
                </a:tc>
                <a:tc>
                  <a:txBody>
                    <a:bodyPr/>
                    <a:lstStyle/>
                    <a:p>
                      <a:r>
                        <a:rPr sz="1600" b="1">
                          <a:solidFill>
                            <a:srgbClr val="FFFFFF"/>
                          </a:solidFill>
                        </a:rPr>
                        <a:t>Cheklov</a:t>
                      </a:r>
                    </a:p>
                  </a:txBody>
                  <a:tcPr marL="73152" marR="73152" marT="36576" marB="36576">
                    <a:solidFill>
                      <a:srgbClr val="0B1F3A"/>
                    </a:solidFill>
                  </a:tcPr>
                </a:tc>
              </a:tr>
              <a:tr h="768096">
                <a:tc>
                  <a:txBody>
                    <a:bodyPr/>
                    <a:lstStyle/>
                    <a:p>
                      <a:r>
                        <a:rPr sz="1500" b="0">
                          <a:solidFill>
                            <a:srgbClr val="1F2937"/>
                          </a:solidFill>
                        </a:rPr>
                        <a:t>MSC</a:t>
                      </a:r>
                    </a:p>
                  </a:txBody>
                  <a:tcPr marL="73152" marR="73152" marT="36576" marB="36576">
                    <a:solidFill>
                      <a:srgbClr val="E8EEF6"/>
                    </a:solidFill>
                  </a:tcPr>
                </a:tc>
                <a:tc>
                  <a:txBody>
                    <a:bodyPr/>
                    <a:lstStyle/>
                    <a:p>
                      <a:r>
                        <a:rPr sz="1500" b="0">
                          <a:solidFill>
                            <a:srgbClr val="1F2937"/>
                          </a:solidFill>
                        </a:rPr>
                        <a:t>Immun boshqaruv, endoteliy tiklanishi</a:t>
                      </a:r>
                    </a:p>
                  </a:txBody>
                  <a:tcPr marL="73152" marR="73152" marT="36576" marB="36576">
                    <a:solidFill>
                      <a:srgbClr val="E8EEF6"/>
                    </a:solidFill>
                  </a:tcPr>
                </a:tc>
                <a:tc>
                  <a:txBody>
                    <a:bodyPr/>
                    <a:lstStyle/>
                    <a:p>
                      <a:r>
                        <a:rPr sz="1500" b="0">
                          <a:solidFill>
                            <a:srgbClr val="1F2937"/>
                          </a:solidFill>
                        </a:rPr>
                        <a:t>Tromboemboliya xavfi</a:t>
                      </a:r>
                    </a:p>
                  </a:txBody>
                  <a:tcPr marL="73152" marR="73152" marT="36576" marB="36576">
                    <a:solidFill>
                      <a:srgbClr val="E8EEF6"/>
                    </a:solidFill>
                  </a:tcPr>
                </a:tc>
              </a:tr>
              <a:tr h="768096">
                <a:tc>
                  <a:txBody>
                    <a:bodyPr/>
                    <a:lstStyle/>
                    <a:p>
                      <a:r>
                        <a:rPr sz="1500" b="0">
                          <a:solidFill>
                            <a:srgbClr val="1F2937"/>
                          </a:solidFill>
                        </a:rPr>
                        <a:t>Tosilizumab</a:t>
                      </a:r>
                    </a:p>
                  </a:txBody>
                  <a:tcPr marL="73152" marR="73152" marT="36576" marB="36576">
                    <a:solidFill>
                      <a:srgbClr val="FFFFFF"/>
                    </a:solidFill>
                  </a:tcPr>
                </a:tc>
                <a:tc>
                  <a:txBody>
                    <a:bodyPr/>
                    <a:lstStyle/>
                    <a:p>
                      <a:r>
                        <a:rPr sz="1500" b="0">
                          <a:solidFill>
                            <a:srgbClr val="1F2937"/>
                          </a:solidFill>
                        </a:rPr>
                        <a:t>IL-6 retseptoriga qarshi antitana</a:t>
                      </a:r>
                    </a:p>
                  </a:txBody>
                  <a:tcPr marL="73152" marR="73152" marT="36576" marB="36576">
                    <a:solidFill>
                      <a:srgbClr val="FFFFFF"/>
                    </a:solidFill>
                  </a:tcPr>
                </a:tc>
                <a:tc>
                  <a:txBody>
                    <a:bodyPr/>
                    <a:lstStyle/>
                    <a:p>
                      <a:r>
                        <a:rPr sz="1500" b="0">
                          <a:solidFill>
                            <a:srgbClr val="1F2937"/>
                          </a:solidFill>
                        </a:rPr>
                        <a:t>Yon ta’sir va infeksiya xavfi oshmagan</a:t>
                      </a:r>
                    </a:p>
                  </a:txBody>
                  <a:tcPr marL="73152" marR="73152" marT="36576" marB="36576">
                    <a:solidFill>
                      <a:srgbClr val="FFFFFF"/>
                    </a:solidFill>
                  </a:tcPr>
                </a:tc>
              </a:tr>
              <a:tr h="768096">
                <a:tc>
                  <a:txBody>
                    <a:bodyPr/>
                    <a:lstStyle/>
                    <a:p>
                      <a:r>
                        <a:rPr sz="1500" b="0">
                          <a:solidFill>
                            <a:srgbClr val="1F2937"/>
                          </a:solidFill>
                        </a:rPr>
                        <a:t>Anakinra</a:t>
                      </a:r>
                    </a:p>
                  </a:txBody>
                  <a:tcPr marL="73152" marR="73152" marT="36576" marB="36576">
                    <a:solidFill>
                      <a:srgbClr val="E8EEF6"/>
                    </a:solidFill>
                  </a:tcPr>
                </a:tc>
                <a:tc>
                  <a:txBody>
                    <a:bodyPr/>
                    <a:lstStyle/>
                    <a:p>
                      <a:r>
                        <a:rPr sz="1500" b="0">
                          <a:solidFill>
                            <a:srgbClr val="1F2937"/>
                          </a:solidFill>
                        </a:rPr>
                        <a:t>IL-1 retseptor antagonisti</a:t>
                      </a:r>
                    </a:p>
                  </a:txBody>
                  <a:tcPr marL="73152" marR="73152" marT="36576" marB="36576">
                    <a:solidFill>
                      <a:srgbClr val="E8EEF6"/>
                    </a:solidFill>
                  </a:tcPr>
                </a:tc>
                <a:tc>
                  <a:txBody>
                    <a:bodyPr/>
                    <a:lstStyle/>
                    <a:p>
                      <a:r>
                        <a:rPr sz="1500" b="0">
                          <a:solidFill>
                            <a:srgbClr val="1F2937"/>
                          </a:solidFill>
                        </a:rPr>
                        <a:t>COVID-19da o‘limni kamaytirgan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Immunoterapiya vositalari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 4.1-bo‘lim, PMID 37686271, 4.2-bo‘lim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pankreatit va nafas yetishmovchiligi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Vaziyat: o‘tkir pankreatitli itlar. 109 itdan 33 tasida nafas belgilari, 3 tasida veterinar ARDS (o‘tkir nafas yetishmovchiligi sindromi) bo‘lgan.</a:t>
            </a:r>
          </a:p>
          <a:p>
            <a:pPr>
              <a:spcAft>
                <a:spcPts val="800"/>
              </a:spcAft>
            </a:pPr>
            <a:r>
              <a:rPr sz="1600">
                <a:solidFill>
                  <a:srgbClr val="1F2937"/>
                </a:solidFill>
                <a:latin typeface="Calibri"/>
              </a:rPr>
              <a:t>▸  Qonda antitrombin kamaygan, TNF (o‘simta nekrozi omili), IL-6 va C-reaktiv oqsil oshgan — tizimli yallig‘lanish belgisi.</a:t>
            </a:r>
          </a:p>
          <a:p>
            <a:pPr>
              <a:spcAft>
                <a:spcPts val="800"/>
              </a:spcAft>
            </a:pPr>
            <a:r>
              <a:rPr sz="1600">
                <a:solidFill>
                  <a:srgbClr val="1F2937"/>
                </a:solidFill>
                <a:latin typeface="Calibri"/>
              </a:rPr>
              <a:t>▸  Odamda 359 ta o‘tkir pankreatit holidan 31 tasida (9%) nafas yetishmovchiligi bo‘lgan; ARDS odatda 2–7 kunda rivojlangan.</a:t>
            </a:r>
          </a:p>
          <a:p>
            <a:pPr>
              <a:spcAft>
                <a:spcPts val="800"/>
              </a:spcAft>
            </a:pPr>
            <a:r>
              <a:rPr sz="1600">
                <a:solidFill>
                  <a:srgbClr val="1F2937"/>
                </a:solidFill>
                <a:latin typeface="Calibri"/>
              </a:rPr>
              <a:t>▸  Savol: qaysi endotip? Javob: tizimli yallig‘lanish endotipi — uzoq o‘choqdan mediatorlar qon bilan kelib, o‘pka endoteliyini zararlaydi.</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Itlar: nafas belgisi</a:t>
            </a:r>
          </a:p>
          <a:p>
            <a:pPr algn="l">
              <a:spcAft>
                <a:spcPts val="100"/>
              </a:spcAft>
            </a:pPr>
            <a:r>
              <a:rPr sz="3000" b="1">
                <a:solidFill>
                  <a:srgbClr val="0B1F3A"/>
                </a:solidFill>
                <a:latin typeface="Calibri"/>
              </a:rPr>
              <a:t>33 / 109</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Itlar: veterinar ARDS</a:t>
            </a:r>
          </a:p>
          <a:p>
            <a:pPr algn="l">
              <a:spcAft>
                <a:spcPts val="100"/>
              </a:spcAft>
            </a:pPr>
            <a:r>
              <a:rPr sz="3000" b="1">
                <a:solidFill>
                  <a:srgbClr val="0B1F3A"/>
                </a:solidFill>
                <a:latin typeface="Calibri"/>
              </a:rPr>
              <a:t>3</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Odam: nafas buzilishi</a:t>
            </a:r>
          </a:p>
          <a:p>
            <a:pPr algn="l">
              <a:spcAft>
                <a:spcPts val="100"/>
              </a:spcAft>
            </a:pPr>
            <a:r>
              <a:rPr sz="2700" b="1">
                <a:solidFill>
                  <a:srgbClr val="0B1F3A"/>
                </a:solidFill>
                <a:latin typeface="Calibri"/>
              </a:rPr>
              <a:t>31 / 359 (9 %)</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ARDS rivojlanishi</a:t>
            </a:r>
          </a:p>
          <a:p>
            <a:pPr algn="l">
              <a:spcAft>
                <a:spcPts val="100"/>
              </a:spcAft>
            </a:pPr>
            <a:r>
              <a:rPr sz="3000" b="1">
                <a:solidFill>
                  <a:srgbClr val="0B1F3A"/>
                </a:solidFill>
                <a:latin typeface="Calibri"/>
              </a:rPr>
              <a:t>2–7 kun</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Pankreatit va ARDS</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Wong HE va boshq., Diffuse alveolar damage, betlar: PMID 41782298, «Pancreatitis» bo‘limi, PMID 41782298, «Pathophysiology of ARDS endotypes» bo‘limi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xabarlar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SIRS: sitokinlar endoteliyni buzib, ivishni kuchaytiradi; tarqoq tomir ichi ivishi (DIC) va ko‘p a’zo disfunksiyasi (MODS) rivojlanadi.</a:t>
            </a:r>
          </a:p>
          <a:p>
            <a:pPr>
              <a:spcAft>
                <a:spcPts val="1200"/>
              </a:spcAft>
            </a:pPr>
            <a:r>
              <a:rPr sz="2200">
                <a:solidFill>
                  <a:srgbClr val="1F2937"/>
                </a:solidFill>
                <a:latin typeface="Calibri"/>
              </a:rPr>
              <a:t>▸  Morfologiya: o‘pkada diffuz alveolyar shikastlanish (DAD) — shish, neytrofillar, gialin membranalar; keyin II tur pnevmotsit giperplaziyasi va fibroz.</a:t>
            </a:r>
          </a:p>
          <a:p>
            <a:pPr>
              <a:spcAft>
                <a:spcPts val="1200"/>
              </a:spcAft>
            </a:pPr>
            <a:r>
              <a:rPr sz="2200">
                <a:solidFill>
                  <a:srgbClr val="1F2937"/>
                </a:solidFill>
                <a:latin typeface="Calibri"/>
              </a:rPr>
              <a:t>▸  Biomarker: plazmadagi mitoxondrial DNK (mtDNK) travmadan keyin oshadi va SIRS xavfini o‘rtacha darajada bashorat qiladi.</a:t>
            </a:r>
          </a:p>
          <a:p>
            <a:pPr>
              <a:spcAft>
                <a:spcPts val="1200"/>
              </a:spcAft>
            </a:pPr>
            <a:r>
              <a:rPr sz="2200">
                <a:solidFill>
                  <a:srgbClr val="1F2937"/>
                </a:solidFill>
                <a:latin typeface="Calibri"/>
              </a:rPr>
              <a:t>▸  Ochiq savollar: qachon va qaysi immunomodulyatorni qo‘llash noma’lum; sitokinlar ham zararli, ham himoya qiluvchi rol o‘ynaydi.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Sikora JP va boshq., Neutrophils and the Systemic Inflammatory Response Syndrome, betlar: PMID 37686271, 1-bo‘lim (Introduction), PMID 37686271, 1-bo‘lim va 4.2-bo‘lim; Wong HE va boshq., Diffuse alveolar damage, betlar: PMID 41782298, «The histologic features of the phases of DAD» bo‘limi; Jingjing Ye va boshq., The role of mtDAMPs in the trauma-induced systemic inflammatory response syndrome, betlar: PMID 37533869, «Organ-level evaluation» bo‘limi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Qiziqarli fakt: tinch holatdagi neytrofil o‘rtacha atigi 8 soat yashaydi. Lipopolisaxarid (LPS) kabi faollashtiruvchilar uning umrini uzaytiradi va o‘ldirish kuchini oshiradi. Neytrofil o‘lmasa, ortiqcha erkin radikallar va proteazalar to‘qimani shikastlaydi. Shuning uchun nazoratli o‘lim (apoptoz) asosiy himoya mexanizmi hisoblanadi.</a:t>
            </a:r>
          </a:p>
          <a:p>
            <a:pPr>
              <a:spcAft>
                <a:spcPts val="1200"/>
              </a:spcAft>
            </a:pPr>
            <a:r>
              <a:rPr sz="1800">
                <a:solidFill>
                  <a:srgbClr val="1F2937"/>
                </a:solidFill>
                <a:latin typeface="Calibri"/>
              </a:rPr>
              <a:t>▸  Hodisa tahlili: nega infeksiyasiz jarohatda ham SIRS rivojlanadi? Mitoxondriya qadimgi bakteriyadan kelib chiqqan (endosimbiotik nazariya). Jarohatdan keyin chiqqan mitoxondrial DNK (mtDNK) metillanmagan CpG qaytariqlarini saqlaydi, shuning uchun immun tizim uni bakteriya DNKsi kabi tanib, yallig‘lanish boshlaydi.</a:t>
            </a:r>
          </a:p>
          <a:p>
            <a:pPr>
              <a:spcAft>
                <a:spcPts val="1200"/>
              </a:spcAft>
            </a:pPr>
            <a:r>
              <a:rPr sz="1800">
                <a:solidFill>
                  <a:srgbClr val="1F2937"/>
                </a:solidFill>
                <a:latin typeface="Calibri"/>
              </a:rPr>
              <a:t>▸  Eslab qolish usuli: SIRS – ‘‘hujum’’ (giperyallig‘lanish), CARS – ‘‘susayish’’ (yallig‘lanishga qarshi o‘ta javob, immunosupressiya), MARS – ‘‘aralash’’ (ikkalasi navbatma-navbat). Har uchala holatda muvozanat buzilgan; og‘ir bo‘lsa, ko‘p a’zo disfunksiyasi sindromi (MODS), septik shok yoki anergiya rivojlanadi.</a:t>
            </a:r>
          </a:p>
          <a:p>
            <a:pPr>
              <a:spcAft>
                <a:spcPts val="1200"/>
              </a:spcAft>
            </a:pPr>
            <a:r>
              <a:rPr sz="1800">
                <a:solidFill>
                  <a:srgbClr val="1F2937"/>
                </a:solidFill>
                <a:latin typeface="Calibri"/>
              </a:rPr>
              <a:t>▸  Mantiqiy davo har doim ishlamaydi: og‘ir sepsisli bemorlarning ko‘pchiligida protein C past bo‘lgan, shuning uchun rekombinant faollashgan protein C (drotrekogin alfa) sinab ko‘rilgan. Biroq yirik sinovlarda omon qolishga ta’sir ko‘rsatmagan. Bolalarda markaziy asab tizimiga qon ketishlar ko‘proq bo‘lgani uchun tadqiqot to‘xtatilgan.</a:t>
            </a:r>
          </a:p>
          <a:p>
            <a:pPr>
              <a:spcAft>
                <a:spcPts val="1200"/>
              </a:spcAft>
            </a:pPr>
            <a:r>
              <a:rPr sz="1800">
                <a:solidFill>
                  <a:srgbClr val="1F2937"/>
                </a:solidFill>
                <a:latin typeface="Calibri"/>
              </a:rPr>
              <a:t>▸  Veterinariya misoli: 46 ta itni o‘rganishda aspiratsion pnevmoniya vetARDS yoki diffuz alveolyar shikastlanish (DAD) uchun eng ko‘p uchraydigan xavf omili bo‘lgan (42%). 88 ta itda omon qolish birlamchi sabab va rentgen og‘irligiga bog‘liq bo‘lmagan. Demak, mahalliy yallig‘lanish javobi boshlang‘ich shikast hajmidan muhimroq bo‘lishi mumkin.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Tizimli yallig'lanish reaksiyasi sindromining morfologiyasi va patogenezi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Sikora JP va boshq. Neutrophils and the Systemic Inflammatory Response Syndrome (SIRS), International Journal of Molecular Sciences. 2023. PMID 37686271; DOI 10.3390/ijms241713469</a:t>
            </a:r>
          </a:p>
          <a:p>
            <a:pPr>
              <a:spcAft>
                <a:spcPts val="800"/>
              </a:spcAft>
            </a:pPr>
            <a:r>
              <a:rPr sz="2000">
                <a:solidFill>
                  <a:srgbClr val="1F2937"/>
                </a:solidFill>
                <a:latin typeface="Calibri"/>
              </a:rPr>
              <a:t>▸  Jingjing Ye va boshq. The role of mtDAMPs in the trauma-induced systemic inflammatory response syndrome, Frontiers in Immunology. 2023. PMID 37533869; DOI 10.3389/fimmu.2023.1164187</a:t>
            </a:r>
          </a:p>
          <a:p>
            <a:pPr>
              <a:spcAft>
                <a:spcPts val="800"/>
              </a:spcAft>
            </a:pPr>
            <a:r>
              <a:rPr sz="2000">
                <a:solidFill>
                  <a:srgbClr val="1F2937"/>
                </a:solidFill>
                <a:latin typeface="Calibri"/>
              </a:rPr>
              <a:t>▸  Wong HE va boshq. Diffuse alveolar damage, acute respiratory distress syndrome (ARDS), and non-cardiogenic pulmonary edema. Part 1: ARDS endotypes, including systemic inflammatory response syndrome and sepsis, with dog and cat examples, Journal of Veterinary Diagnostic Investigation: Official Publication of the American Association of Veterinary Laboratory Diagnosticians. 2026. PMID 41782298; DOI 10.1177/10406387261418009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