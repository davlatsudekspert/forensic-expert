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vrach uchun faqat tibbiy bilim yetarlimi, yoki huquqiy bilim ham kerakmi? Doskada ma’ruzaning to‘rt blokini (huquq va etika; bioetika; sir va rozilik; O‘zbekiston qonunchiligi va islohot) strelkalar bilan chizdiring. Tipik xato: talabalar bioetikani faqat huquq deb tushunadi; ikkalasi alohida, ammo bog‘liq sohalar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bemorni “iste’molchi” deb atash nimani o‘zgartiradi? Nega bugungi vrach uchun faqat vijdon yetarli emas? Doskada ta’rif so‘zlarini (taraflar — munosabat — huquq, majburiyat, mas’uliyat) chizma shaklida yozdiring. Tipik xato: fan vazifalarini to‘rtta emas, ikkita deb sanash; “qilmish” va “jinoyat” farqini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vrach axloqiy jihatdan to‘g‘ri, lekin qonunni buzgan holat bo‘lishi mumkinmi? Nega huquq “minimum” deyiladi? Doskada ikki ustunli jadvalni talabalar bilan birga to‘ldiring. Tipik xato: huquq va etikani raqib sifatida tushunish yoki etikani ham majburiy me’yor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Bemor iste’molchi deb talqin etilsa, vrachning mas’uliyati qanday o‘zgaradi? 2) Nega axloq huquqdan ‘yuqori daraja’ deyiladi? Doskada chizish: ikki ustun — ‘axloq (ixtiyoriy)’ va ‘huquq (majburlash)’. Tipik xato: talabalar axloq va huquqni bir-biriga zid deb o‘ylaydi; ular bir-birini to‘ldiradi.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qasamyodning eskirgan qismlari bo‘lsa ham u asos bo‘lib qolmoqda? 2) Urushdan keyingi buzilishlar Jeneva deklaratsiyasiga qanday ta’sir qilgan? Doskada chizish: vaqt chizig‘ini daftarga ko‘chirish. Tipik xato: Jeneva deklaratsiyasini Gippokrat qasamyodining o‘zi deb o‘ylash; u uning zamonaviy shakli.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Sirni o‘limdan keyin ham saqlash nimaga kerak? 2) Kamsitmaslik va’dasi amalda qanday ko‘rinadi? Doskada chizish: ‘Vrach — bemor’ chizig‘i va unga xalaqit bermaydigan omillar ro‘yxati. Tipik xato: qasamyodni barcha shifokorlar rasman qabul qilgan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nega deklaratsiyalar turli yillarda va turli mavzularda qabul qilinadi? Xelsinki deklaratsiyasi bugungi klinik sinovlarda qanday ahamiyatga ega? Doskada: vaqt chizig‘i (1948 → 2009) chizib, har yilga bittadan mavzuni yozdiring. Tipik xato: Jeneva (vrach qasami, umumiy maqsad) bilan Xelsinki (tajriba va sinovlar) aralashtiriladi. Eslatma: Oslo deklaratsiyasi jadvalda ikki marta (1970 va 1983) keltirilgan; ko‘pchiligi keyinroq qayta ko‘rib chiqilgan.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sirni oshkor etish qaysi holatlarda oqlanadi? Bemor bilan jinsiy munosabat nega mutlaq taqiqlanadi? Doskada: uch ustunli sxema (umumiy / bemor / hamkasb) chizib, har biriga bittadan burchni yozdiring. Tipik xato: sir saqlash mutlaq burch deb o‘ylash; manbada rozilik yoki real xavf bo‘lganda istisno borligi aytilgan. Diqqat: shoshilinch yordam burchi boshqalar tayyor bo‘lsa o‘zgaradi.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avtonomiya va ezgulik qachon qarama-qarshi bo‘ladi? Resurs cheklangan bo‘lsa, adolat qanday ta’minlanadi? Doskada: ikki strelka bilan ’avtonomiya ↔ ezgulik’ to‘qnashuv sxemasini chizdiring. Tipik xato: ezgulik (bemor manfaati) ni vrachning o‘zi hal qilish huquqi deb tushunish; bu holda bemor avtonomiyasi buziladi. Diqqat: zarar yetkazmaslik ≠ ezgulik.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Bemor rad etsa, vrach nima qilishi shart? 2) Rad etishning hujjatlashtirilishi nega muhim? Doskada chizish: ikki ustun — ‘Avtonomiya’ va ‘Foyda keltirish / zarar yetkazmaslik’; to‘qnashuvni strelka bilan ko‘rsating. Tipik xato: talaba ‘vrach hayotni saqlash uchun bemor irodasiga qarshi borishi mumkin’ deb javob beradi. Qobiliyatli bemorning rad etish huquqini alohida ta’kidlang.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tez-tez so‘rang, 3-4 talaba javob bersin. Muhokama: nima uchun huquq ‘axloqning minimumi’ deyiladi? Doskada chizish: pog‘ona — pastda huquq (majburiy), yuqorida axloq (ixtiyoriy). Tipik xato: huquq va axloqni bir-biriga qarama-qarshi qo‘yish; darslikda ular o‘zaro bog‘liq ekani ta’kidlanadi. Eslatma: sanash tartibi (bemor – vrach – jamiyat) talabaning o‘z yordamchi usuli, manbada yo‘q.</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Maxfiylik nega mutlaq burch emas? 2) Bemor vafot etgach, uning ma’lumotlarini kim so‘rashi mumkin? Doskada chizish: markazda ‘Ishonch’, atrofida bemor – vrach – jamiyat strelkalari. Tipik xato: ‘maxfiylik hech qachon buzilmaydi’ yoki ‘o‘lim bilan tugaydi’ degan fikr. Caldicott Guardian Angliya tizimiga xos ekanini eslatib, O‘zbekiston normalari bilan solishtiring.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maxfiylik mutlaq emas? 2) Bemor roziligisiz oshkor qilish qachon asosli? Doskada: jadvalni chizib, har asosga o‘z misolingizni qo‘shing. Tipik xato: talabalar maxfiylikni mutlaq burch deb o‘ylaydi; sud buyrug‘i va jamoat manfaati istisno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Bemor tushunmagan rozilik haqiqiymi? 2) Oila bosimi ixtiyoriylikka qanday ta’sir qiladi? Doskada: uch shart va natijani zanjir qilib chizing, ostiga rozilik turlarini yozing. Tipik xato: faqat imzoni rozilik deb hisoblash; layoqat, tushuncha va ixtiyoriylikni unutish.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Bemor vrach tavsiyasini rad etsa, vrach nima qiladi? 2) Kichik, ammo jiddiy xavf haqida ogohlantirish nega shart? Doskada: to‘rt bosqichni chizib, har biriga kim mas’ulligini yozing. Tipik xato: qarorni vrach qabul qiladi deb o‘ylash; vrach tavsiya beradi, qaror bemorniki.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yosh o‘rniga layoqat baholanadi? 2) Ingliz va o‘zbek yondashuvida yosh chegarasi qanday farq qiladi (16 va 14)? Doskada: ikki ustunli solishtirish (Angliya va Uelsda layoqat bahosi; O‘zbekistonda qonuniy vakil roziligi). Tipik xato: 16 yosh “mutlaq chegara” deb o‘ylash, ikki mamlakat chegarasini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Javob: chaperone taklif qilingani va rad etilgani, olingan ruxsat, muhokama natijasi yoziladi. Muhokama: 1) Nega yozuvni ko‘rik paytida yoki darhol keyin yuritish muhim? 2) Chaperone bo‘lmasa nima qilish mumkin (kechiktirishni taklif etish)? Doskada: ko‘rik bosqichlari zanjiri (tushuntirish, ruxsat, taklif, yozuv). Tipik xato: bemor rad etganda yozuvni yuritmaslik.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qonun talabi, bemor roziligi (oshkora yoki bilvosita), jamoat manfaati; 2) layoqat, yetarli tushunish, ixtiyoriylik; 3) 16 yoshgacha bolaning tushunish va baholash qobiliyati; 4) ruxsat olingani, chaperone taklifi va natijasi. Muhokama: qaysi javob eng ko‘p xato qilindi va nega? Doskada: uchta shartli rozilik sxemasi. Tipik xato: jamoat manfaati asosini “har qanday so‘rov”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Kengashda oddiy (vrach bo‘lmagan) a’zolar nima uchun kerak? 2) O‘zbekistonda vrach faoliyatini kim nazorat qiladi (litsenziya, Sog‘liqni saqlash vazirligi)? Doskada chizish: GMC to‘rt vazifasini to‘rtta kvadrat shaklida chizing. Tipik xato: GMCni shifoxona yoki sug‘urta tashkiloti deb o‘ylash; u vrachlarning kasbiy ro‘yxatini yurituvchi qonuniy organ.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jarayon ikki bosqichga (tekshiruv va hay’at) bo‘lingan? 2) Vrach hay’at qaroridan norozi bo‘lsa nima qilishi mumkin (Oliy sudga shikoyat)? Doskada chizish: zanjirni 5 ta kvadrat bilan chizing, IOP kvadratini yon tomonga strelka bilan qo‘shing. Tipik xato: IOPni yakuniy sanksiya deb o‘ylash; u tekshiruv davomida vaqtincha cheklaydi. Tezkor savol: ish ko‘ruvchilar kelisha olmasa ishni kim ko‘radi? (Tekshiruv qo‘mitasi.)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IOP (vaqtincha buyruqlar paneli) ayblov jiddiy bo‘lib, jamoat himoyasi, jamoat manfaati yoki vrach manfaati uchun ro‘yxatni cheklash zarur bo‘lganda; buyruq eng ko‘pi bilan 18 oyga beriladi, 6 oy ichida ko‘rib chiqiladi. Muhokama: 1) Vrach kayfiyati va bemor xavfsizligi o‘rtasida muvozanat qanday saqlanadi? 2) IOP qaroridan oldin qaysi ma’lumotlar kerak? Doskada chizish: ‘ogohlantirish – shart – to‘xtatish – o‘chirish’ ko‘lamini yengildan og‘irga qarab zinapoya qilib chizing. Tipik xato: ogohlantirishni sanksiya darajasidagi o‘chirish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40-modda faqat shifokorga emas, davlatga ham majburiyat yuklaydi? 2) Huquq, majburiyat va javobgarlik bir-biri bilan qanday bog‘lanadi? Doskada chizing: 18, 40, 43, 44-moddalar zanjirini (tenglik, xizmat, kafolat, sud himoyasi). Tipik xato: 40-modda kafolati va 43-modda kafolatini aralashtirish. 40-modda huquqni belgilaydi, 43-modda esa davlat uni ta’minlashini kafolatlaydi.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Besh printsipdan qaysi biri amaliyotda sizga ko‘proq tanish? 2) Davlat va xususiy tizim o‘rtasida bepul yordam bo‘yicha farq nimada? Doskada chizing: qonunning 6 qismini ketma-ket zanjir ko‘rinishida. Tipik xato: 47 moddani 6 qism bilan aralashtirish, 6 ta qism bor, 47 ta modda bor.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profilaktika printsipi ustuvor deb olingan? 2) Turmush tarzini yaxshilash uchun vrach nima qila oladi? Doskada chizing: to‘rt omilning ulushini doira diagrammada. Tipik xato: tibbiy yordam ulushi kichik, demak vrach faoliyati ahamiyatsiz deb xulosa qilish. Manba faqat ulushni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Bemor huquqlaridan qaysi biri sud tartibini talab qilmaydi? 2) Tanlash huquqi amalda qanday cheklanishi mumkin? Doskada: 24-moddadagi huquqlarni 3 guruhga (munosabat/sharoit, axborot/sir/rozilik, himoya/qoplash) ajratib chizing. Tipik xato: shikoyat faqat sudga beriladi deb o‘ylash, aslida uch yo‘l bor.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ma’lumot avval, rozilik keyin keladi? 2) Konsilium yig‘ib bo‘lmasa kim qaror qiladi (davolovchi yoki navbatchi vrach, rahbariyatni keyin xabardor qilib)? Doskada: chizmani talabalar bilan birga chizib, 28-modda istisnosini alohida rangda belgilang. Tipik xato: roziliksiz yordamni har qanday og‘ir holatga qo‘llash; manbada rad etishda yozma tasdiqnoma har doim shart emas.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Vrach kimga xabar beradi va nima uchun? 2) Yuqumli kasallikda xavf atrofdagilarga qaratilgan, shuning uchun roziliksiz yordam mumkin; bolada esa vakil rad etishi bola manfaatiga zid bo‘lishi mumkin. Doskada: ikki ustunli solishtirish (vakil rad etdi / atrofdagilarga xavf) chizing. Tipik xato: ikki holatni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og‘zaki bering, talabalar kitobsiz javob bersin. Muhokama: 1) Nega tibbiy yordam salomatlikka qisqa ulush bersa ham, profilaktika ustuvor? 2) Bemor rad etsa, vrach nima qiladi? Doskada: Konstitutsiya moddalari (18, 40, 43, 44) ro‘yxatini yozdiring. Diqqat: xato qilish xavfi — 27-modda bo‘yicha rad etishda yozma tasdiqnoma olish shart emas, bu faqat imkon; imkon bo‘lmasa guvohlar bilan dalolatnoma tuziladi.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Jadvalni talabalar bilan birga o‘qing, har qatorga bittadan misol aytdiring. OITS — orttirilgan immunitet tanqisligi sindromi: birinchi uchrashganda shu tarzda oching. Muhokama: 1) Birlamchi yordam nega tizimning asosi? 2) Ijtimoiy ahamiyatli kasalliklarga nega alohida imtiyoz belgilangan? Doskada: to‘rt yordam turini zinapoya shaklida chizdiring. Tipik xato: birlamchi yordamni barcha muassasalarda bepul deb o‘ylash — xususiy muassasalarda asosan shartnoma asosida ko‘rsatiladi (ayrim guruhlar bundan mustasno).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Yuqumli kasallikda sirni oshkor qilish nega mumkin? 2) 14 yoshgacha bo‘lgan bolada ota-onani xabardor qilish sirni buzish hisoblanadimi? Doskada: oltita istisnoni to‘rtburchak ichida, atrofiga strelkalar bilan chizdiring. Diqqat: xato qilish xavfi — istisno sirni har kimga ochish ruxsati emas, faqat qonunda ko‘rsatilgan holat va tartibda beriladi. Tipik xato: xabar bermaslik javobgarligini JK 241-modda bilan bog‘lamaslik.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ish o‘rinlari ko‘payishi sifatni oshirmadi? 2) Bemorni asossiz kasalxonaga yotqizish qanday oqibat beradi? Doskada: eski zanjirni chizing (uchastka vrachi → tor mutaxassis → qishloq muassasalari → kasalxona). Tipik xato: tizimning bari yomon edi deb o‘ylash. Matnda ‘qator afzalliklar’ ham tilga olingan, kamchilik asosan birlamchi bo‘g‘inda.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birlamchi yordam tizimning negizi hisoblanadi? 2) Pog‘onalarni qisqartirish nimani tejaydi? Doskada: besh pog‘onali zanjirni ikki pog‘onaga almashtirib chizing. Tipik xato: 90 foizni barcha kasalliklar bilan adashtirish. Bu tashxis qo‘yilib davolanadigan murojaatlar ulushi (JSST va Jahon oila vrachlari tashkiloti ma’lumoti). Tezkor savol: dasturning boshlanish va tugash yillari?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Jon boshiga moliyalash vrachni profilaktikaga qanday undaydi? 2) Moliyaviy menejer va muassasa rahbari vazifalari qanday farqlanadi? Doskada: eski va yangi moliyalash mantiqini ikki ustunda chizing. Tipik xato: jon boshiga moliyalashni barcha uchun bir xil summa deb tushunish. Matnda yosh, jins va aholi zichligi bo‘yicha qo‘shimcha koeffitsientlar ham qo‘llanishi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murakkab yordam alohida ixtisoslashgan markazlarga jamlandi? Tuman birlashmasining roli qanday? Doskada chizing: tuman birlashmasi → qishloq vrachlik punkti va oilaviy poliklinika sxemasi. Tipik xato: 2003-yil Farmonini 2007-yil Farmoni bilan aralashtirish; 2003 — ikkinchi bosqich boshlanishi, 2007 — oltita yangi markaz.</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eski tizimda vrach bemorni nega yo‘llagan (rag‘bat yo‘qligi, kasalxona o‘rinlari ko‘payishi, 22-23-betlar)? Yangi tizim xarajat va sifatni qanday bog‘laydi? Doskada chizing: eski va yangi moliyalash mantig‘i (ikki ustun). Tipik xato: jon boshiga moliyalashni «har bir bemor uchun alohida to‘lov» deb tushunish; aslida biriktirilgan aholi soniga qarab ajratiladi.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O‘zbekiston va Buyuk Britaniyada rozilik yoshi qanday farq qiladi (O‘zbekistonda 14 yoshgacha vakil rozilik beradi — G‘iyosov, 14-bet; Buyuk Britaniyada 16 yoshdan qobiliyat taxmin qilinadi — Simpson, 20-bet)? Doskada chizing: maxfiylik istisnolarining ikki ustunli taqqoslash jadvali. Tipik xato: Buyuk Britaniyadagi 16 yosh va O‘zbekistondagi 14 yosh chegarasini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Sir saqlash qachon buziladi va nima uchun bu mutlaq emas? 2) Huquq va axloq qanday bog‘liq? Doskada: ‘Bioetika tamoyillari → rozilik → sir → javobgarlik’ zanjirini chizdirish. Tipik xato: shifokor siri mutlaq deb o‘ylash yoki huquq bilan axloqni bir xil deb olish. Mustaqil ish: darslikdagi nazorat savollari (2-bob 1–19, 3-bob 1–10) bo‘yicha javoblar tayyorlash.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№5. Ma’ruza: “Sog‘liqni saqlash sohasidagi qonunchilik asoslari. Bioetika muammolari.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reja va o‘quv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Talaba sog‘liqni saqlash qonunchiligi asoslarini hamda tibbiyot xodimlari va bemorlarning huquq va majburiyatlarini bilishi kerak.</a:t>
            </a:r>
          </a:p>
          <a:p>
            <a:pPr>
              <a:spcAft>
                <a:spcPts val="1200"/>
              </a:spcAft>
            </a:pPr>
            <a:r>
              <a:rPr sz="2200">
                <a:solidFill>
                  <a:srgbClr val="1F2937"/>
                </a:solidFill>
                <a:latin typeface="Calibri"/>
              </a:rPr>
              <a:t>▸  Bioetika bo‘limida tibbiy etikaning asosiy tamoyillari ko‘riladi: bemor avtonomiyasi, zarar keltirmaslik, foyda, qadr-qimmat, halollik va adolat.</a:t>
            </a:r>
          </a:p>
          <a:p>
            <a:pPr>
              <a:spcAft>
                <a:spcPts val="1200"/>
              </a:spcAft>
            </a:pPr>
            <a:r>
              <a:rPr sz="2200">
                <a:solidFill>
                  <a:srgbClr val="1F2937"/>
                </a:solidFill>
                <a:latin typeface="Calibri"/>
              </a:rPr>
              <a:t>▸  Shifokor siri va bemor roziligi tibbiy etikadagi eng ko‘p savol tug‘diradigan masalalar. Ularga vrachlarni tartibga solish tizimi ham qo‘shiladi.</a:t>
            </a:r>
          </a:p>
          <a:p>
            <a:pPr>
              <a:spcAft>
                <a:spcPts val="1200"/>
              </a:spcAft>
            </a:pPr>
            <a:r>
              <a:rPr sz="2200">
                <a:solidFill>
                  <a:srgbClr val="1F2937"/>
                </a:solidFill>
                <a:latin typeface="Calibri"/>
              </a:rPr>
              <a:t>▸  Yakunda O‘zbekistonning “Fuqarolar sog‘lig‘ini saqlash to‘g‘risida”gi Qonuni va sog‘liqni saqlash tizimini isloh qilish dasturi tahlil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bet 5, bet 9-10, 22; Payne-James J., Jones R., Karch S.B., Manlove J., Simpson's Forensic Medicine, betlar: p. 17, p. 17,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huquqi: tushuncha, maqsad, vazifalar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Tibbiyot huquqi — davolash, tashxis va profilaktika jarayonidagi munosabatlarni, taraflarning huquq, majburiyat va mas’uliyatini belgilovchi me’yorlar majmui.</a:t>
            </a:r>
          </a:p>
          <a:p>
            <a:pPr>
              <a:spcAft>
                <a:spcPts val="1200"/>
              </a:spcAft>
            </a:pPr>
            <a:r>
              <a:rPr sz="2000">
                <a:solidFill>
                  <a:srgbClr val="1F2937"/>
                </a:solidFill>
                <a:latin typeface="Calibri"/>
              </a:rPr>
              <a:t>▸  Fan maqsadi — huquqiy me’yorlar va ko‘nikmalarni o‘zlashtirish. Vazifalari: qonunchilikni, huquqiy munosabatlar xususiyatini, kasb huquqbuzarliklarini o‘rganish va qilmish bilan jinoyatni farqlash.</a:t>
            </a:r>
          </a:p>
          <a:p>
            <a:pPr>
              <a:spcAft>
                <a:spcPts val="1200"/>
              </a:spcAft>
            </a:pPr>
            <a:r>
              <a:rPr sz="2000">
                <a:solidFill>
                  <a:srgbClr val="1F2937"/>
                </a:solidFill>
                <a:latin typeface="Calibri"/>
              </a:rPr>
              <a:t>▸  Ilgari faoliyat uchun tibbiy bilim va axloqiy qoidalarga rioya yetarli sanalgan. Hozir huquqiy me’yorlarni bilish va izchil amal qilish ham zarur.</a:t>
            </a:r>
          </a:p>
          <a:p>
            <a:pPr>
              <a:spcAft>
                <a:spcPts val="1200"/>
              </a:spcAft>
            </a:pPr>
            <a:r>
              <a:rPr sz="2000">
                <a:solidFill>
                  <a:srgbClr val="1F2937"/>
                </a:solidFill>
                <a:latin typeface="Calibri"/>
              </a:rPr>
              <a:t>▸  Amaldagi qonunchilikda tibbiy faoliyat xizmat ko‘rsatishga tenglashtiriladi: xodimlar xizmat ko‘rsatuvchi, bemorlar esa iste’molchi sifatida talqin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bet 5, bet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 va axloq-etika: farqi va aloqasi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 — ma’naviyatning eng quyi darajasi (minimumi), etika esa uning yuqori darajasi.</a:t>
            </a:r>
          </a:p>
          <a:p>
            <a:pPr>
              <a:spcAft>
                <a:spcPts val="800"/>
              </a:spcAft>
            </a:pPr>
            <a:r>
              <a:rPr sz="1800">
                <a:solidFill>
                  <a:srgbClr val="1F2937"/>
                </a:solidFill>
                <a:latin typeface="Calibri"/>
              </a:rPr>
              <a:t>▸  Axloqiy talab erkin, ixtiyoriy bajariladi; huquqiy me’yor esa bevosita yoki bilvosita majburlash orqali ta’minlanadi.</a:t>
            </a:r>
          </a:p>
          <a:p>
            <a:pPr>
              <a:spcAft>
                <a:spcPts val="800"/>
              </a:spcAft>
            </a:pPr>
            <a:r>
              <a:rPr sz="1800">
                <a:solidFill>
                  <a:srgbClr val="1F2937"/>
                </a:solidFill>
                <a:latin typeface="Calibri"/>
              </a:rPr>
              <a:t>▸  Diqqat: xato qilish xavfi — huquq va etikani bir-biriga qarama-qarshi qo‘yib bo‘lmaydi.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70982"/>
                <a:gridCol w="2208900"/>
                <a:gridCol w="2008091"/>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Huquq</a:t>
                      </a:r>
                    </a:p>
                  </a:txBody>
                  <a:tcPr marL="73152" marR="73152" marT="36576" marB="36576">
                    <a:solidFill>
                      <a:srgbClr val="0B1F3A"/>
                    </a:solidFill>
                  </a:tcPr>
                </a:tc>
                <a:tc>
                  <a:txBody>
                    <a:bodyPr/>
                    <a:lstStyle/>
                    <a:p>
                      <a:r>
                        <a:rPr sz="1300" b="1">
                          <a:solidFill>
                            <a:srgbClr val="FFFFFF"/>
                          </a:solidFill>
                        </a:rPr>
                        <a:t>Axloq-etika</a:t>
                      </a:r>
                    </a:p>
                  </a:txBody>
                  <a:tcPr marL="73152" marR="73152" marT="36576" marB="36576">
                    <a:solidFill>
                      <a:srgbClr val="0B1F3A"/>
                    </a:solidFill>
                  </a:tcPr>
                </a:tc>
              </a:tr>
              <a:tr h="411480">
                <a:tc>
                  <a:txBody>
                    <a:bodyPr/>
                    <a:lstStyle/>
                    <a:p>
                      <a:r>
                        <a:rPr sz="1200" b="0">
                          <a:solidFill>
                            <a:srgbClr val="1F2937"/>
                          </a:solidFill>
                        </a:rPr>
                        <a:t>Daraja</a:t>
                      </a:r>
                    </a:p>
                  </a:txBody>
                  <a:tcPr marL="73152" marR="73152" marT="36576" marB="36576">
                    <a:solidFill>
                      <a:srgbClr val="E8EEF6"/>
                    </a:solidFill>
                  </a:tcPr>
                </a:tc>
                <a:tc>
                  <a:txBody>
                    <a:bodyPr/>
                    <a:lstStyle/>
                    <a:p>
                      <a:r>
                        <a:rPr sz="1200" b="0">
                          <a:solidFill>
                            <a:srgbClr val="1F2937"/>
                          </a:solidFill>
                        </a:rPr>
                        <a:t>Ma’naviyatning minimumi</a:t>
                      </a:r>
                    </a:p>
                  </a:txBody>
                  <a:tcPr marL="73152" marR="73152" marT="36576" marB="36576">
                    <a:solidFill>
                      <a:srgbClr val="E8EEF6"/>
                    </a:solidFill>
                  </a:tcPr>
                </a:tc>
                <a:tc>
                  <a:txBody>
                    <a:bodyPr/>
                    <a:lstStyle/>
                    <a:p>
                      <a:r>
                        <a:rPr sz="1200" b="0">
                          <a:solidFill>
                            <a:srgbClr val="1F2937"/>
                          </a:solidFill>
                        </a:rPr>
                        <a:t>Ma’naviyatning yuqori darajasi</a:t>
                      </a:r>
                    </a:p>
                  </a:txBody>
                  <a:tcPr marL="73152" marR="73152" marT="36576" marB="36576">
                    <a:solidFill>
                      <a:srgbClr val="E8EEF6"/>
                    </a:solidFill>
                  </a:tcPr>
                </a:tc>
              </a:tr>
              <a:tr h="411480">
                <a:tc>
                  <a:txBody>
                    <a:bodyPr/>
                    <a:lstStyle/>
                    <a:p>
                      <a:r>
                        <a:rPr sz="1200" b="0">
                          <a:solidFill>
                            <a:srgbClr val="1F2937"/>
                          </a:solidFill>
                        </a:rPr>
                        <a:t>Bajarilishi</a:t>
                      </a:r>
                    </a:p>
                  </a:txBody>
                  <a:tcPr marL="73152" marR="73152" marT="36576" marB="36576">
                    <a:solidFill>
                      <a:srgbClr val="FFFFFF"/>
                    </a:solidFill>
                  </a:tcPr>
                </a:tc>
                <a:tc>
                  <a:txBody>
                    <a:bodyPr/>
                    <a:lstStyle/>
                    <a:p>
                      <a:r>
                        <a:rPr sz="1200" b="0">
                          <a:solidFill>
                            <a:srgbClr val="1F2937"/>
                          </a:solidFill>
                        </a:rPr>
                        <a:t>Majburlash orqali ta’minlanadi</a:t>
                      </a:r>
                    </a:p>
                  </a:txBody>
                  <a:tcPr marL="73152" marR="73152" marT="36576" marB="36576">
                    <a:solidFill>
                      <a:srgbClr val="FFFFFF"/>
                    </a:solidFill>
                  </a:tcPr>
                </a:tc>
                <a:tc>
                  <a:txBody>
                    <a:bodyPr/>
                    <a:lstStyle/>
                    <a:p>
                      <a:r>
                        <a:rPr sz="1200" b="0">
                          <a:solidFill>
                            <a:srgbClr val="1F2937"/>
                          </a:solidFill>
                        </a:rPr>
                        <a:t>Erkin, ixtiyoriy bajariladi</a:t>
                      </a:r>
                    </a:p>
                  </a:txBody>
                  <a:tcPr marL="73152" marR="73152" marT="36576" marB="36576">
                    <a:solidFill>
                      <a:srgbClr val="FFFFFF"/>
                    </a:solidFill>
                  </a:tcPr>
                </a:tc>
              </a:tr>
              <a:tr h="411480">
                <a:tc>
                  <a:txBody>
                    <a:bodyPr/>
                    <a:lstStyle/>
                    <a:p>
                      <a:r>
                        <a:rPr sz="1200" b="0">
                          <a:solidFill>
                            <a:srgbClr val="1F2937"/>
                          </a:solidFill>
                        </a:rPr>
                        <a:t>Munosabat</a:t>
                      </a:r>
                    </a:p>
                  </a:txBody>
                  <a:tcPr marL="73152" marR="73152" marT="36576" marB="36576">
                    <a:solidFill>
                      <a:srgbClr val="E8EEF6"/>
                    </a:solidFill>
                  </a:tcPr>
                </a:tc>
                <a:tc>
                  <a:txBody>
                    <a:bodyPr/>
                    <a:lstStyle/>
                    <a:p>
                      <a:r>
                        <a:rPr sz="1200" b="0">
                          <a:solidFill>
                            <a:srgbClr val="1F2937"/>
                          </a:solidFill>
                        </a:rPr>
                        <a:t>Etikaga zid qo‘yilmaydi</a:t>
                      </a:r>
                    </a:p>
                  </a:txBody>
                  <a:tcPr marL="73152" marR="73152" marT="36576" marB="36576">
                    <a:solidFill>
                      <a:srgbClr val="E8EEF6"/>
                    </a:solidFill>
                  </a:tcPr>
                </a:tc>
                <a:tc>
                  <a:txBody>
                    <a:bodyPr/>
                    <a:lstStyle/>
                    <a:p>
                      <a:r>
                        <a:rPr sz="1200" b="0">
                          <a:solidFill>
                            <a:srgbClr val="1F2937"/>
                          </a:solidFill>
                        </a:rPr>
                        <a:t>Huquqqa zid qo‘yilmaydi</a:t>
                      </a:r>
                    </a:p>
                  </a:txBody>
                  <a:tcPr marL="73152" marR="73152" marT="36576" marB="36576">
                    <a:solidFill>
                      <a:srgbClr val="E8EEF6"/>
                    </a:solidFill>
                  </a:tcPr>
                </a:tc>
              </a:tr>
              <a:tr h="411480">
                <a:tc>
                  <a:txBody>
                    <a:bodyPr/>
                    <a:lstStyle/>
                    <a:p>
                      <a:r>
                        <a:rPr sz="1200" b="0">
                          <a:solidFill>
                            <a:srgbClr val="1F2937"/>
                          </a:solidFill>
                        </a:rPr>
                        <a:t>Amosov fikri</a:t>
                      </a:r>
                    </a:p>
                  </a:txBody>
                  <a:tcPr marL="73152" marR="73152" marT="36576" marB="36576">
                    <a:solidFill>
                      <a:srgbClr val="FFFFFF"/>
                    </a:solidFill>
                  </a:tcPr>
                </a:tc>
                <a:tc>
                  <a:txBody>
                    <a:bodyPr/>
                    <a:lstStyle/>
                    <a:p>
                      <a:r>
                        <a:rPr sz="1200" b="0">
                          <a:solidFill>
                            <a:srgbClr val="1F2937"/>
                          </a:solidFill>
                        </a:rPr>
                        <a:t>Qonun vijdon o‘rnini bosa olmaydi</a:t>
                      </a:r>
                    </a:p>
                  </a:txBody>
                  <a:tcPr marL="73152" marR="73152" marT="36576" marB="36576">
                    <a:solidFill>
                      <a:srgbClr val="FFFFFF"/>
                    </a:solidFill>
                  </a:tcPr>
                </a:tc>
                <a:tc>
                  <a:txBody>
                    <a:bodyPr/>
                    <a:lstStyle/>
                    <a:p>
                      <a:r>
                        <a:rPr sz="1200" b="0">
                          <a:solidFill>
                            <a:srgbClr val="1F2937"/>
                          </a:solidFill>
                        </a:rPr>
                        <a:t>Vrach vijdoniga ishonish lozim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 va etika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bet 7, bet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bemor — iste’molchimi?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bemor shifokorga murojaat qildi. Amaldagi qonunchilikda tibbiy faoliyat keng ma’noda fuqarolarga xizmat ko‘rsatishga tenglashtirilgan.</a:t>
            </a:r>
          </a:p>
          <a:p>
            <a:pPr>
              <a:spcAft>
                <a:spcPts val="1200"/>
              </a:spcAft>
            </a:pPr>
            <a:r>
              <a:rPr sz="2000">
                <a:solidFill>
                  <a:srgbClr val="1F2937"/>
                </a:solidFill>
                <a:latin typeface="Calibri"/>
              </a:rPr>
              <a:t>▸  Bunda tibbiyot xodimlari xizmat ko‘rsatuvchi, bemorlar esa iste’molchi sifatida talqin etiladi. Bu huquqiy bilim zaruratini oshiradi.</a:t>
            </a:r>
          </a:p>
          <a:p>
            <a:pPr>
              <a:spcAft>
                <a:spcPts val="1200"/>
              </a:spcAft>
            </a:pPr>
            <a:r>
              <a:rPr sz="2000">
                <a:solidFill>
                  <a:srgbClr val="1F2937"/>
                </a:solidFill>
                <a:latin typeface="Calibri"/>
              </a:rPr>
              <a:t>▸  Jarroh N. I. Amosov: vrachning vijdoniga ishonish lozim, hech qanday qonun uning o‘rnini bosa olmaydi. Hozir esa axloqiy qoidalar bilan birga huquqiy me’yorlarni ham bilish zarur.</a:t>
            </a:r>
          </a:p>
          <a:p>
            <a:pPr>
              <a:spcAft>
                <a:spcPts val="1200"/>
              </a:spcAft>
            </a:pPr>
            <a:r>
              <a:rPr sz="2000">
                <a:solidFill>
                  <a:srgbClr val="1F2937"/>
                </a:solidFill>
                <a:latin typeface="Calibri"/>
              </a:rPr>
              <a:t>▸  Savol: vrach faqat vijdoniga tayanishi yetarlimi? Diqqat: axloq erkin bajariladi, huquq me’yorlari esa majburlash orqali ta’minlanadi; ularni qarama-qarshi qo‘ymang.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6,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axloqning tarixiy ildizlari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Tibbiyot va uning axloqiy asoslari Kos orolidagi Gippokrat maktabida, taxminan m.a. 400-yilda qo‘yilgan.</a:t>
            </a:r>
          </a:p>
          <a:p>
            <a:pPr>
              <a:spcAft>
                <a:spcPts val="800"/>
              </a:spcAft>
            </a:pPr>
            <a:r>
              <a:rPr sz="1800">
                <a:solidFill>
                  <a:srgbClr val="1F2937"/>
                </a:solidFill>
                <a:latin typeface="Calibri"/>
              </a:rPr>
              <a:t>▸  Qasamyodning ayrim tafsilotlari eskirgan, ammo u hamon axloqiy xulq-atvorning asosi bo‘lib qolmoqda.</a:t>
            </a:r>
          </a:p>
          <a:p>
            <a:pPr>
              <a:spcAft>
                <a:spcPts val="800"/>
              </a:spcAft>
            </a:pPr>
            <a:r>
              <a:rPr sz="1800">
                <a:solidFill>
                  <a:srgbClr val="1F2937"/>
                </a:solidFill>
                <a:latin typeface="Calibri"/>
              </a:rPr>
              <a:t>▸  WMA (Butunjahon tibbiyot assotsiatsiyasi) 1947-yilda tuzilgan; 1948-yilda Jeneva deklaratsiyasi chiqqan.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Miloddan avv. ~400: Kos maktabi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Gippokrat qasamyodi shakllandi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1947: WMA tuzildi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1948: Jeneva deklaratsiyasi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2006: Jeneva qayta ko‘rildi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Vaqt chizig‘i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12,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Jeneva deklaratsiyasi: asosiy va’dalar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Bemorning sog‘lig‘i shifokor uchun birinchi e’tibor bo‘ladi. Kasb vijdon va qadr-qimmat bilan olib boriladi.</a:t>
            </a:r>
          </a:p>
          <a:p>
            <a:pPr>
              <a:spcAft>
                <a:spcPts val="1200"/>
              </a:spcAft>
            </a:pPr>
            <a:r>
              <a:rPr sz="2200">
                <a:solidFill>
                  <a:srgbClr val="1F2937"/>
                </a:solidFill>
                <a:latin typeface="Calibri"/>
              </a:rPr>
              <a:t>▸  Ishonib aytilgan sirlar bemor vafot etganidan keyin ham saqlanadi. Yosh, millat, jins, siyosiy qarash vrach burchiga xalaqit bermaydi.</a:t>
            </a:r>
          </a:p>
          <a:p>
            <a:pPr>
              <a:spcAft>
                <a:spcPts val="1200"/>
              </a:spcAft>
            </a:pPr>
            <a:r>
              <a:rPr sz="2200">
                <a:solidFill>
                  <a:srgbClr val="1F2937"/>
                </a:solidFill>
                <a:latin typeface="Calibri"/>
              </a:rPr>
              <a:t>▸  Tibbiy bilim inson huquqlari va fuqarolik erkinliklarini buzish uchun, hatto tahdid ostida ham, ishlatilmaydi.</a:t>
            </a:r>
          </a:p>
          <a:p>
            <a:pPr>
              <a:spcAft>
                <a:spcPts val="1200"/>
              </a:spcAft>
            </a:pPr>
            <a:r>
              <a:rPr sz="2200">
                <a:solidFill>
                  <a:srgbClr val="1F2937"/>
                </a:solidFill>
                <a:latin typeface="Calibri"/>
              </a:rPr>
              <a:t>▸  Diqqat: barcha shifokorlar Gippokrat qasamyodini qabul qilgan deb o‘ylash xato. Biroq uning asosiy tamoyillari tibbiy etikaning poydevori.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WMA deklaratsiyalari: yillar va mavzular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Oslo (1970) – tibbiy abort; Myunxen (1973) – irqiy va siyosiy kamsitish.</a:t>
            </a:r>
          </a:p>
          <a:p>
            <a:pPr>
              <a:spcAft>
                <a:spcPts val="800"/>
              </a:spcAft>
            </a:pPr>
            <a:r>
              <a:rPr sz="1800">
                <a:solidFill>
                  <a:srgbClr val="1F2937"/>
                </a:solidFill>
                <a:latin typeface="Calibri"/>
              </a:rPr>
              <a:t>▸  Venetsiya (1983) – o‘limga yaqin kasallik; Madrid (1987) – kasbiy avtonomiya va o‘zini o‘zi boshqarish.</a:t>
            </a:r>
          </a:p>
          <a:p>
            <a:pPr>
              <a:spcAft>
                <a:spcPts val="800"/>
              </a:spcAft>
            </a:pPr>
            <a:r>
              <a:rPr sz="1800">
                <a:solidFill>
                  <a:srgbClr val="1F2937"/>
                </a:solidFill>
                <a:latin typeface="Calibri"/>
              </a:rPr>
              <a:t>▸  Ottava (2006) – bola salomatligi; Dehli (2009) – sog‘liq va iqlim o‘zgarishi.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75105"/>
                <a:gridCol w="1321993"/>
                <a:gridCol w="2790875"/>
              </a:tblGrid>
              <a:tr h="411480">
                <a:tc>
                  <a:txBody>
                    <a:bodyPr/>
                    <a:lstStyle/>
                    <a:p>
                      <a:r>
                        <a:rPr sz="1300" b="1">
                          <a:solidFill>
                            <a:srgbClr val="FFFFFF"/>
                          </a:solidFill>
                        </a:rPr>
                        <a:t>Yil</a:t>
                      </a:r>
                    </a:p>
                  </a:txBody>
                  <a:tcPr marL="73152" marR="73152" marT="36576" marB="36576">
                    <a:solidFill>
                      <a:srgbClr val="0B1F3A"/>
                    </a:solidFill>
                  </a:tcPr>
                </a:tc>
                <a:tc>
                  <a:txBody>
                    <a:bodyPr/>
                    <a:lstStyle/>
                    <a:p>
                      <a:r>
                        <a:rPr sz="1300" b="1">
                          <a:solidFill>
                            <a:srgbClr val="FFFFFF"/>
                          </a:solidFill>
                        </a:rPr>
                        <a:t>Deklaratsiya</a:t>
                      </a:r>
                    </a:p>
                  </a:txBody>
                  <a:tcPr marL="73152" marR="73152" marT="36576" marB="36576">
                    <a:solidFill>
                      <a:srgbClr val="0B1F3A"/>
                    </a:solidFill>
                  </a:tcPr>
                </a:tc>
                <a:tc>
                  <a:txBody>
                    <a:bodyPr/>
                    <a:lstStyle/>
                    <a:p>
                      <a:r>
                        <a:rPr sz="1300" b="1">
                          <a:solidFill>
                            <a:srgbClr val="FFFFFF"/>
                          </a:solidFill>
                        </a:rPr>
                        <a:t>Asosiy mavzu</a:t>
                      </a:r>
                    </a:p>
                  </a:txBody>
                  <a:tcPr marL="73152" marR="73152" marT="36576" marB="36576">
                    <a:solidFill>
                      <a:srgbClr val="0B1F3A"/>
                    </a:solidFill>
                  </a:tcPr>
                </a:tc>
              </a:tr>
              <a:tr h="411480">
                <a:tc>
                  <a:txBody>
                    <a:bodyPr/>
                    <a:lstStyle/>
                    <a:p>
                      <a:r>
                        <a:rPr sz="1200" b="0">
                          <a:solidFill>
                            <a:srgbClr val="1F2937"/>
                          </a:solidFill>
                        </a:rPr>
                        <a:t>1948</a:t>
                      </a:r>
                    </a:p>
                  </a:txBody>
                  <a:tcPr marL="73152" marR="73152" marT="36576" marB="36576">
                    <a:solidFill>
                      <a:srgbClr val="E8EEF6"/>
                    </a:solidFill>
                  </a:tcPr>
                </a:tc>
                <a:tc>
                  <a:txBody>
                    <a:bodyPr/>
                    <a:lstStyle/>
                    <a:p>
                      <a:r>
                        <a:rPr sz="1200" b="0">
                          <a:solidFill>
                            <a:srgbClr val="1F2937"/>
                          </a:solidFill>
                        </a:rPr>
                        <a:t>Jeneva</a:t>
                      </a:r>
                    </a:p>
                  </a:txBody>
                  <a:tcPr marL="73152" marR="73152" marT="36576" marB="36576">
                    <a:solidFill>
                      <a:srgbClr val="E8EEF6"/>
                    </a:solidFill>
                  </a:tcPr>
                </a:tc>
                <a:tc>
                  <a:txBody>
                    <a:bodyPr/>
                    <a:lstStyle/>
                    <a:p>
                      <a:r>
                        <a:rPr sz="1200" b="0">
                          <a:solidFill>
                            <a:srgbClr val="1F2937"/>
                          </a:solidFill>
                        </a:rPr>
                        <a:t>Tibbiyotning insonparvarlik maqsadlari</a:t>
                      </a:r>
                    </a:p>
                  </a:txBody>
                  <a:tcPr marL="73152" marR="73152" marT="36576" marB="36576">
                    <a:solidFill>
                      <a:srgbClr val="E8EEF6"/>
                    </a:solidFill>
                  </a:tcPr>
                </a:tc>
              </a:tr>
              <a:tr h="411480">
                <a:tc>
                  <a:txBody>
                    <a:bodyPr/>
                    <a:lstStyle/>
                    <a:p>
                      <a:r>
                        <a:rPr sz="1200" b="0">
                          <a:solidFill>
                            <a:srgbClr val="1F2937"/>
                          </a:solidFill>
                        </a:rPr>
                        <a:t>1964</a:t>
                      </a:r>
                    </a:p>
                  </a:txBody>
                  <a:tcPr marL="73152" marR="73152" marT="36576" marB="36576">
                    <a:solidFill>
                      <a:srgbClr val="FFFFFF"/>
                    </a:solidFill>
                  </a:tcPr>
                </a:tc>
                <a:tc>
                  <a:txBody>
                    <a:bodyPr/>
                    <a:lstStyle/>
                    <a:p>
                      <a:r>
                        <a:rPr sz="1200" b="0">
                          <a:solidFill>
                            <a:srgbClr val="1F2937"/>
                          </a:solidFill>
                        </a:rPr>
                        <a:t>Xelsinki</a:t>
                      </a:r>
                    </a:p>
                  </a:txBody>
                  <a:tcPr marL="73152" marR="73152" marT="36576" marB="36576">
                    <a:solidFill>
                      <a:srgbClr val="FFFFFF"/>
                    </a:solidFill>
                  </a:tcPr>
                </a:tc>
                <a:tc>
                  <a:txBody>
                    <a:bodyPr/>
                    <a:lstStyle/>
                    <a:p>
                      <a:r>
                        <a:rPr sz="1200" b="0">
                          <a:solidFill>
                            <a:srgbClr val="1F2937"/>
                          </a:solidFill>
                        </a:rPr>
                        <a:t>Odamda tajriba va klinik sinovlar</a:t>
                      </a:r>
                    </a:p>
                  </a:txBody>
                  <a:tcPr marL="73152" marR="73152" marT="36576" marB="36576">
                    <a:solidFill>
                      <a:srgbClr val="FFFFFF"/>
                    </a:solidFill>
                  </a:tcPr>
                </a:tc>
              </a:tr>
              <a:tr h="411480">
                <a:tc>
                  <a:txBody>
                    <a:bodyPr/>
                    <a:lstStyle/>
                    <a:p>
                      <a:r>
                        <a:rPr sz="1200" b="0">
                          <a:solidFill>
                            <a:srgbClr val="1F2937"/>
                          </a:solidFill>
                        </a:rPr>
                        <a:t>1975</a:t>
                      </a:r>
                    </a:p>
                  </a:txBody>
                  <a:tcPr marL="73152" marR="73152" marT="36576" marB="36576">
                    <a:solidFill>
                      <a:srgbClr val="E8EEF6"/>
                    </a:solidFill>
                  </a:tcPr>
                </a:tc>
                <a:tc>
                  <a:txBody>
                    <a:bodyPr/>
                    <a:lstStyle/>
                    <a:p>
                      <a:r>
                        <a:rPr sz="1200" b="0">
                          <a:solidFill>
                            <a:srgbClr val="1F2937"/>
                          </a:solidFill>
                        </a:rPr>
                        <a:t>Tokio</a:t>
                      </a:r>
                    </a:p>
                  </a:txBody>
                  <a:tcPr marL="73152" marR="73152" marT="36576" marB="36576">
                    <a:solidFill>
                      <a:srgbClr val="E8EEF6"/>
                    </a:solidFill>
                  </a:tcPr>
                </a:tc>
                <a:tc>
                  <a:txBody>
                    <a:bodyPr/>
                    <a:lstStyle/>
                    <a:p>
                      <a:r>
                        <a:rPr sz="1200" b="0">
                          <a:solidFill>
                            <a:srgbClr val="1F2937"/>
                          </a:solidFill>
                        </a:rPr>
                        <a:t>Qiynoq va shafqatsiz muomala</a:t>
                      </a:r>
                    </a:p>
                  </a:txBody>
                  <a:tcPr marL="73152" marR="73152" marT="36576" marB="36576">
                    <a:solidFill>
                      <a:srgbClr val="E8EEF6"/>
                    </a:solidFill>
                  </a:tcPr>
                </a:tc>
              </a:tr>
              <a:tr h="411480">
                <a:tc>
                  <a:txBody>
                    <a:bodyPr/>
                    <a:lstStyle/>
                    <a:p>
                      <a:r>
                        <a:rPr sz="1200" b="0">
                          <a:solidFill>
                            <a:srgbClr val="1F2937"/>
                          </a:solidFill>
                        </a:rPr>
                        <a:t>1981</a:t>
                      </a:r>
                    </a:p>
                  </a:txBody>
                  <a:tcPr marL="73152" marR="73152" marT="36576" marB="36576">
                    <a:solidFill>
                      <a:srgbClr val="FFFFFF"/>
                    </a:solidFill>
                  </a:tcPr>
                </a:tc>
                <a:tc>
                  <a:txBody>
                    <a:bodyPr/>
                    <a:lstStyle/>
                    <a:p>
                      <a:r>
                        <a:rPr sz="1200" b="0">
                          <a:solidFill>
                            <a:srgbClr val="1F2937"/>
                          </a:solidFill>
                        </a:rPr>
                        <a:t>Lissabon</a:t>
                      </a:r>
                    </a:p>
                  </a:txBody>
                  <a:tcPr marL="73152" marR="73152" marT="36576" marB="36576">
                    <a:solidFill>
                      <a:srgbClr val="FFFFFF"/>
                    </a:solidFill>
                  </a:tcPr>
                </a:tc>
                <a:tc>
                  <a:txBody>
                    <a:bodyPr/>
                    <a:lstStyle/>
                    <a:p>
                      <a:r>
                        <a:rPr sz="1200" b="0">
                          <a:solidFill>
                            <a:srgbClr val="1F2937"/>
                          </a:solidFill>
                        </a:rPr>
                        <a:t>Bemor huquqlari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Jahon tibbiyot assotsiatsiyasi (WMA) deklaratsiyalari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WMA bo‘yicha vrach majburiyatlari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Shoshilinch yordam – insonparvarlik burchi, boshqalar tayyor va qodir ekani aniq bo‘lmasa.</a:t>
            </a:r>
          </a:p>
          <a:p>
            <a:pPr>
              <a:spcAft>
                <a:spcPts val="800"/>
              </a:spcAft>
            </a:pPr>
            <a:r>
              <a:rPr sz="1800">
                <a:solidFill>
                  <a:srgbClr val="1F2937"/>
                </a:solidFill>
                <a:latin typeface="Calibri"/>
              </a:rPr>
              <a:t>▸  Sirni oshkor etish mumkin: bemor rozi bo‘lsa yoki unga yoki boshqalarga real, yaqin xavf tahdid qilsa.</a:t>
            </a:r>
          </a:p>
          <a:p>
            <a:pPr>
              <a:spcAft>
                <a:spcPts val="800"/>
              </a:spcAft>
            </a:pPr>
            <a:r>
              <a:rPr sz="1800">
                <a:solidFill>
                  <a:srgbClr val="1F2937"/>
                </a:solidFill>
                <a:latin typeface="Calibri"/>
              </a:rPr>
              <a:t>▸  Joriy bemor bilan jinsiy yoki boshqa suiiste’mol, ekspluatatsion munosabatga kirish mumkin emas.</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50647"/>
                <a:gridCol w="2020125"/>
                <a:gridCol w="2317202"/>
              </a:tblGrid>
              <a:tr h="411480">
                <a:tc>
                  <a:txBody>
                    <a:bodyPr/>
                    <a:lstStyle/>
                    <a:p>
                      <a:r>
                        <a:rPr sz="1300" b="1">
                          <a:solidFill>
                            <a:srgbClr val="FFFFFF"/>
                          </a:solidFill>
                        </a:rPr>
                        <a:t>Yo‘nalish</a:t>
                      </a:r>
                    </a:p>
                  </a:txBody>
                  <a:tcPr marL="73152" marR="73152" marT="36576" marB="36576">
                    <a:solidFill>
                      <a:srgbClr val="0B1F3A"/>
                    </a:solidFill>
                  </a:tcPr>
                </a:tc>
                <a:tc>
                  <a:txBody>
                    <a:bodyPr/>
                    <a:lstStyle/>
                    <a:p>
                      <a:r>
                        <a:rPr sz="1300" b="1">
                          <a:solidFill>
                            <a:srgbClr val="FFFFFF"/>
                          </a:solidFill>
                        </a:rPr>
                        <a:t>Asosiy burch</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Umumiy</a:t>
                      </a:r>
                    </a:p>
                  </a:txBody>
                  <a:tcPr marL="73152" marR="73152" marT="36576" marB="36576">
                    <a:solidFill>
                      <a:srgbClr val="E8EEF6"/>
                    </a:solidFill>
                  </a:tcPr>
                </a:tc>
                <a:tc>
                  <a:txBody>
                    <a:bodyPr/>
                    <a:lstStyle/>
                    <a:p>
                      <a:r>
                        <a:rPr sz="1200" b="0">
                          <a:solidFill>
                            <a:srgbClr val="1F2937"/>
                          </a:solidFill>
                        </a:rPr>
                        <a:t>Mustaqil kasbiy qaror, yuqori odob</a:t>
                      </a:r>
                    </a:p>
                  </a:txBody>
                  <a:tcPr marL="73152" marR="73152" marT="36576" marB="36576">
                    <a:solidFill>
                      <a:srgbClr val="E8EEF6"/>
                    </a:solidFill>
                  </a:tcPr>
                </a:tc>
                <a:tc>
                  <a:txBody>
                    <a:bodyPr/>
                    <a:lstStyle/>
                    <a:p>
                      <a:r>
                        <a:rPr sz="1200" b="0">
                          <a:solidFill>
                            <a:srgbClr val="1F2937"/>
                          </a:solidFill>
                        </a:rPr>
                        <a:t>Foyda yoki kamsitish ta’sir etmasin</a:t>
                      </a:r>
                    </a:p>
                  </a:txBody>
                  <a:tcPr marL="73152" marR="73152" marT="36576" marB="36576">
                    <a:solidFill>
                      <a:srgbClr val="E8EEF6"/>
                    </a:solidFill>
                  </a:tcPr>
                </a:tc>
              </a:tr>
              <a:tr h="411480">
                <a:tc>
                  <a:txBody>
                    <a:bodyPr/>
                    <a:lstStyle/>
                    <a:p>
                      <a:r>
                        <a:rPr sz="1200" b="0">
                          <a:solidFill>
                            <a:srgbClr val="1F2937"/>
                          </a:solidFill>
                        </a:rPr>
                        <a:t>Bemorga</a:t>
                      </a:r>
                    </a:p>
                  </a:txBody>
                  <a:tcPr marL="73152" marR="73152" marT="36576" marB="36576">
                    <a:solidFill>
                      <a:srgbClr val="FFFFFF"/>
                    </a:solidFill>
                  </a:tcPr>
                </a:tc>
                <a:tc>
                  <a:txBody>
                    <a:bodyPr/>
                    <a:lstStyle/>
                    <a:p>
                      <a:r>
                        <a:rPr sz="1200" b="0">
                          <a:solidFill>
                            <a:srgbClr val="1F2937"/>
                          </a:solidFill>
                        </a:rPr>
                        <a:t>Bemor manfaati, to‘liq sadoqat</a:t>
                      </a:r>
                    </a:p>
                  </a:txBody>
                  <a:tcPr marL="73152" marR="73152" marT="36576" marB="36576">
                    <a:solidFill>
                      <a:srgbClr val="FFFFFF"/>
                    </a:solidFill>
                  </a:tcPr>
                </a:tc>
                <a:tc>
                  <a:txBody>
                    <a:bodyPr/>
                    <a:lstStyle/>
                    <a:p>
                      <a:r>
                        <a:rPr sz="1200" b="0">
                          <a:solidFill>
                            <a:srgbClr val="1F2937"/>
                          </a:solidFill>
                        </a:rPr>
                        <a:t>Imkoni yetmasa, boshqa vrachga yo‘llash</a:t>
                      </a:r>
                    </a:p>
                  </a:txBody>
                  <a:tcPr marL="73152" marR="73152" marT="36576" marB="36576">
                    <a:solidFill>
                      <a:srgbClr val="FFFFFF"/>
                    </a:solidFill>
                  </a:tcPr>
                </a:tc>
              </a:tr>
              <a:tr h="411480">
                <a:tc>
                  <a:txBody>
                    <a:bodyPr/>
                    <a:lstStyle/>
                    <a:p>
                      <a:r>
                        <a:rPr sz="1200" b="0">
                          <a:solidFill>
                            <a:srgbClr val="1F2937"/>
                          </a:solidFill>
                        </a:rPr>
                        <a:t>Sir</a:t>
                      </a:r>
                    </a:p>
                  </a:txBody>
                  <a:tcPr marL="73152" marR="73152" marT="36576" marB="36576">
                    <a:solidFill>
                      <a:srgbClr val="E8EEF6"/>
                    </a:solidFill>
                  </a:tcPr>
                </a:tc>
                <a:tc>
                  <a:txBody>
                    <a:bodyPr/>
                    <a:lstStyle/>
                    <a:p>
                      <a:r>
                        <a:rPr sz="1200" b="0">
                          <a:solidFill>
                            <a:srgbClr val="1F2937"/>
                          </a:solidFill>
                        </a:rPr>
                        <a:t>Maxfiylikni hurmat qilish</a:t>
                      </a:r>
                    </a:p>
                  </a:txBody>
                  <a:tcPr marL="73152" marR="73152" marT="36576" marB="36576">
                    <a:solidFill>
                      <a:srgbClr val="E8EEF6"/>
                    </a:solidFill>
                  </a:tcPr>
                </a:tc>
                <a:tc>
                  <a:txBody>
                    <a:bodyPr/>
                    <a:lstStyle/>
                    <a:p>
                      <a:r>
                        <a:rPr sz="1200" b="0">
                          <a:solidFill>
                            <a:srgbClr val="1F2937"/>
                          </a:solidFill>
                        </a:rPr>
                        <a:t>Rozilik yoki real xavf bo‘lsa oshkor</a:t>
                      </a:r>
                    </a:p>
                  </a:txBody>
                  <a:tcPr marL="73152" marR="73152" marT="36576" marB="36576">
                    <a:solidFill>
                      <a:srgbClr val="E8EEF6"/>
                    </a:solidFill>
                  </a:tcPr>
                </a:tc>
              </a:tr>
              <a:tr h="411480">
                <a:tc>
                  <a:txBody>
                    <a:bodyPr/>
                    <a:lstStyle/>
                    <a:p>
                      <a:r>
                        <a:rPr sz="1200" b="0">
                          <a:solidFill>
                            <a:srgbClr val="1F2937"/>
                          </a:solidFill>
                        </a:rPr>
                        <a:t>Hamkasbga</a:t>
                      </a:r>
                    </a:p>
                  </a:txBody>
                  <a:tcPr marL="73152" marR="73152" marT="36576" marB="36576">
                    <a:solidFill>
                      <a:srgbClr val="FFFFFF"/>
                    </a:solidFill>
                  </a:tcPr>
                </a:tc>
                <a:tc>
                  <a:txBody>
                    <a:bodyPr/>
                    <a:lstStyle/>
                    <a:p>
                      <a:r>
                        <a:rPr sz="1200" b="0">
                          <a:solidFill>
                            <a:srgbClr val="1F2937"/>
                          </a:solidFill>
                        </a:rPr>
                        <a:t>O‘zi kutgandek munosabat</a:t>
                      </a:r>
                    </a:p>
                  </a:txBody>
                  <a:tcPr marL="73152" marR="73152" marT="36576" marB="36576">
                    <a:solidFill>
                      <a:srgbClr val="FFFFFF"/>
                    </a:solidFill>
                  </a:tcPr>
                </a:tc>
                <a:tc>
                  <a:txBody>
                    <a:bodyPr/>
                    <a:lstStyle/>
                    <a:p>
                      <a:r>
                        <a:rPr sz="1200" b="0">
                          <a:solidFill>
                            <a:srgbClr val="1F2937"/>
                          </a:solidFill>
                        </a:rPr>
                        <a:t>Hamkasb bemorini tortib olmaslik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WMA: vrach burchlari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tamoyillari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Tamoyillar to‘qnashishi mumkin: Yegova shohidi qon quyishni rad etadi, vrach esa o‘limni biladi.</a:t>
            </a:r>
          </a:p>
          <a:p>
            <a:pPr>
              <a:spcAft>
                <a:spcPts val="800"/>
              </a:spcAft>
            </a:pPr>
            <a:r>
              <a:rPr sz="1800">
                <a:solidFill>
                  <a:srgbClr val="1F2937"/>
                </a:solidFill>
                <a:latin typeface="Calibri"/>
              </a:rPr>
              <a:t>▸  Bu masalalar har doim tayyor javob bermaydi, lekin vrach ularni bilishi muhim.</a:t>
            </a:r>
          </a:p>
          <a:p>
            <a:pPr>
              <a:spcAft>
                <a:spcPts val="800"/>
              </a:spcAft>
            </a:pPr>
            <a:r>
              <a:rPr sz="1800">
                <a:solidFill>
                  <a:srgbClr val="1F2937"/>
                </a:solidFill>
                <a:latin typeface="Calibri"/>
              </a:rPr>
              <a:t>▸  Etika buzilsa, kasbiy tashkilot intizomiy jarayon va sanktsiya qo‘llashi mumkin.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130975"/>
                <a:gridCol w="3157000"/>
              </a:tblGrid>
              <a:tr h="411480">
                <a:tc>
                  <a:txBody>
                    <a:bodyPr/>
                    <a:lstStyle/>
                    <a:p>
                      <a:r>
                        <a:rPr sz="1400" b="1">
                          <a:solidFill>
                            <a:srgbClr val="FFFFFF"/>
                          </a:solidFill>
                        </a:rPr>
                        <a:t>Tamoyil</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Avtonomiya</a:t>
                      </a:r>
                    </a:p>
                  </a:txBody>
                  <a:tcPr marL="73152" marR="73152" marT="36576" marB="36576">
                    <a:solidFill>
                      <a:srgbClr val="E8EEF6"/>
                    </a:solidFill>
                  </a:tcPr>
                </a:tc>
                <a:tc>
                  <a:txBody>
                    <a:bodyPr/>
                    <a:lstStyle/>
                    <a:p>
                      <a:r>
                        <a:rPr sz="1300" b="0">
                          <a:solidFill>
                            <a:srgbClr val="1F2937"/>
                          </a:solidFill>
                        </a:rPr>
                        <a:t>Davolanishni tanlash yoki rad etish huquqi</a:t>
                      </a:r>
                    </a:p>
                  </a:txBody>
                  <a:tcPr marL="73152" marR="73152" marT="36576" marB="36576">
                    <a:solidFill>
                      <a:srgbClr val="E8EEF6"/>
                    </a:solidFill>
                  </a:tcPr>
                </a:tc>
              </a:tr>
              <a:tr h="411480">
                <a:tc>
                  <a:txBody>
                    <a:bodyPr/>
                    <a:lstStyle/>
                    <a:p>
                      <a:r>
                        <a:rPr sz="1300" b="0">
                          <a:solidFill>
                            <a:srgbClr val="1F2937"/>
                          </a:solidFill>
                        </a:rPr>
                        <a:t>Zarar yetkazmaslik; ezgulik</a:t>
                      </a:r>
                    </a:p>
                  </a:txBody>
                  <a:tcPr marL="73152" marR="73152" marT="36576" marB="36576">
                    <a:solidFill>
                      <a:srgbClr val="FFFFFF"/>
                    </a:solidFill>
                  </a:tcPr>
                </a:tc>
                <a:tc>
                  <a:txBody>
                    <a:bodyPr/>
                    <a:lstStyle/>
                    <a:p>
                      <a:r>
                        <a:rPr sz="1300" b="0">
                          <a:solidFill>
                            <a:srgbClr val="1F2937"/>
                          </a:solidFill>
                        </a:rPr>
                        <a:t>Zarar bermaslik; bemor manfaati yo‘lida</a:t>
                      </a:r>
                    </a:p>
                  </a:txBody>
                  <a:tcPr marL="73152" marR="73152" marT="36576" marB="36576">
                    <a:solidFill>
                      <a:srgbClr val="FFFFFF"/>
                    </a:solidFill>
                  </a:tcPr>
                </a:tc>
              </a:tr>
              <a:tr h="411480">
                <a:tc>
                  <a:txBody>
                    <a:bodyPr/>
                    <a:lstStyle/>
                    <a:p>
                      <a:r>
                        <a:rPr sz="1300" b="0">
                          <a:solidFill>
                            <a:srgbClr val="1F2937"/>
                          </a:solidFill>
                        </a:rPr>
                        <a:t>Qadr-qimmat; halollik</a:t>
                      </a:r>
                    </a:p>
                  </a:txBody>
                  <a:tcPr marL="73152" marR="73152" marT="36576" marB="36576">
                    <a:solidFill>
                      <a:srgbClr val="E8EEF6"/>
                    </a:solidFill>
                  </a:tcPr>
                </a:tc>
                <a:tc>
                  <a:txBody>
                    <a:bodyPr/>
                    <a:lstStyle/>
                    <a:p>
                      <a:r>
                        <a:rPr sz="1300" b="0">
                          <a:solidFill>
                            <a:srgbClr val="1F2937"/>
                          </a:solidFill>
                        </a:rPr>
                        <a:t>Hurmat; xabardor rozilik berish</a:t>
                      </a:r>
                    </a:p>
                  </a:txBody>
                  <a:tcPr marL="73152" marR="73152" marT="36576" marB="36576">
                    <a:solidFill>
                      <a:srgbClr val="E8EEF6"/>
                    </a:solidFill>
                  </a:tcPr>
                </a:tc>
              </a:tr>
              <a:tr h="411480">
                <a:tc>
                  <a:txBody>
                    <a:bodyPr/>
                    <a:lstStyle/>
                    <a:p>
                      <a:r>
                        <a:rPr sz="1300" b="0">
                          <a:solidFill>
                            <a:srgbClr val="1F2937"/>
                          </a:solidFill>
                        </a:rPr>
                        <a:t>Adolat</a:t>
                      </a:r>
                    </a:p>
                  </a:txBody>
                  <a:tcPr marL="73152" marR="73152" marT="36576" marB="36576">
                    <a:solidFill>
                      <a:srgbClr val="FFFFFF"/>
                    </a:solidFill>
                  </a:tcPr>
                </a:tc>
                <a:tc>
                  <a:txBody>
                    <a:bodyPr/>
                    <a:lstStyle/>
                    <a:p>
                      <a:r>
                        <a:rPr sz="1300" b="0">
                          <a:solidFill>
                            <a:srgbClr val="1F2937"/>
                          </a:solidFill>
                        </a:rPr>
                        <a:t>Cheklangan resurs qanday bo‘linishi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Bioetikaning asosiy tamoyillari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qon quyishdan voz kechish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Iyegova guvohi bo‘lgan bemor qon quyishni rad etadi. Vrach esa rad etish o‘limga olib kelishini biladi. Savol: qaysi tamoyillar to‘qnashmoqda?</a:t>
            </a:r>
          </a:p>
          <a:p>
            <a:pPr>
              <a:spcAft>
                <a:spcPts val="1200"/>
              </a:spcAft>
            </a:pPr>
            <a:r>
              <a:rPr sz="2200">
                <a:solidFill>
                  <a:srgbClr val="1F2937"/>
                </a:solidFill>
                <a:latin typeface="Calibri"/>
              </a:rPr>
              <a:t>▸  Bu yerda avtonomiya (bemorning tanlash va rad etish huquqi) bilan foyda keltirish va zarar yetkazmaslik tamoyillari o‘zaro to‘qnashadi.</a:t>
            </a:r>
          </a:p>
          <a:p>
            <a:pPr>
              <a:spcAft>
                <a:spcPts val="1200"/>
              </a:spcAft>
            </a:pPr>
            <a:r>
              <a:rPr sz="2200">
                <a:solidFill>
                  <a:srgbClr val="1F2937"/>
                </a:solidFill>
                <a:latin typeface="Calibri"/>
              </a:rPr>
              <a:t>▸  Qobiliyatli bemor davolanishni qabul qilish yoki rad etish huquqiga ega. Qaror vrachga asossiz ko‘rinsa ham, uni bemorning o‘zi qabul qiladi.</a:t>
            </a:r>
          </a:p>
          <a:p>
            <a:pPr>
              <a:spcAft>
                <a:spcPts val="1200"/>
              </a:spcAft>
            </a:pPr>
            <a:r>
              <a:rPr sz="2200">
                <a:solidFill>
                  <a:srgbClr val="1F2937"/>
                </a:solidFill>
                <a:latin typeface="Calibri"/>
              </a:rPr>
              <a:t>▸  O‘zbekiston qonunida davolanishni rad etishda vrach yozma rad tasdiqnomasini oladi. Imkon bo‘lmasa, guvohlar ishtirokida dalolatnoma tuzadi.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17, 14, 20; G‘iyosov Z.A., Vrach faoliyatining huquqiy asoslari: darslik, betlar: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tibbiyot huquqi nima? Javob: bemor va tibbiyot xodimlari o‘rtasidagi munosabatlar, ularning huquq, majburiyat va mas’uliyatini belgilovchi me’yorlar majmui.</a:t>
            </a:r>
          </a:p>
          <a:p>
            <a:pPr>
              <a:spcAft>
                <a:spcPts val="1200"/>
              </a:spcAft>
            </a:pPr>
            <a:r>
              <a:rPr sz="2000">
                <a:solidFill>
                  <a:srgbClr val="1F2937"/>
                </a:solidFill>
                <a:latin typeface="Calibri"/>
              </a:rPr>
              <a:t>▸  2-savol: huquq va axloq farqi nimada? Javob: axloqiy talablar ixtiyoriy bajariladi, huquqiy me’yorlar esa bevosita yoki bilvosita majburlash orqali ta’minlanadi.</a:t>
            </a:r>
          </a:p>
          <a:p>
            <a:pPr>
              <a:spcAft>
                <a:spcPts val="1200"/>
              </a:spcAft>
            </a:pPr>
            <a:r>
              <a:rPr sz="2000">
                <a:solidFill>
                  <a:srgbClr val="1F2937"/>
                </a:solidFill>
                <a:latin typeface="Calibri"/>
              </a:rPr>
              <a:t>▸  3-savol: Jeneva deklaratsiyasi qaysi yili qabul qilingan? Javob: 1948-yil (Hippokrat qasamyodining zamonaviy shakli); oxirgi marta 2006-yilda qayta ko‘rilgan.</a:t>
            </a:r>
          </a:p>
          <a:p>
            <a:pPr>
              <a:spcAft>
                <a:spcPts val="1200"/>
              </a:spcAft>
            </a:pPr>
            <a:r>
              <a:rPr sz="2000">
                <a:solidFill>
                  <a:srgbClr val="1F2937"/>
                </a:solidFill>
                <a:latin typeface="Calibri"/>
              </a:rPr>
              <a:t>▸  4-savol: bioetika tamoyillari? Eslab qoling, oltita: avtonomiya, zarar yetkazmaslik, foyda, qadr-qimmat, halollik, adolat. Avval ‘bemor’, keyin ‘vrach’, oxirida ‘jamiyat’ deb sanang.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5, 7; Payne-James J., Jones R., Karch S.B., Manlove J., Simpson's Forensic Medicine, betlar: 13,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Vrach siri: asosiy qoidalar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maxfiylik asosiy burch, lekin mutlaq emas. Vrach qaror qabul qiladi va buzilgan taqdirda uni keyin asoslab bera olishi kerak.</a:t>
            </a:r>
          </a:p>
          <a:p>
            <a:pPr>
              <a:spcAft>
                <a:spcPts val="1200"/>
              </a:spcAft>
            </a:pPr>
            <a:r>
              <a:rPr sz="2200">
                <a:solidFill>
                  <a:srgbClr val="1F2937"/>
                </a:solidFill>
                <a:latin typeface="Calibri"/>
              </a:rPr>
              <a:t>▸  Vrach–bemor munosabatining kaliti — ishonch. Maxfiylikka ishonmagan bemor yordamga murojaat qilmasligi yoki to‘liq ma’lumot bermasligi mumkin.</a:t>
            </a:r>
          </a:p>
          <a:p>
            <a:pPr>
              <a:spcAft>
                <a:spcPts val="1200"/>
              </a:spcAft>
            </a:pPr>
            <a:r>
              <a:rPr sz="2200">
                <a:solidFill>
                  <a:srgbClr val="1F2937"/>
                </a:solidFill>
                <a:latin typeface="Calibri"/>
              </a:rPr>
              <a:t>▸  Bemor qaror qabul qila olmasa: bu holat vaqtinchalikmi yoki doimiymi, aniqlanadi. Qonuniy vakil bilan maslahatlashiladi, vrach bemor manfaatida ish tutadi.</a:t>
            </a:r>
          </a:p>
          <a:p>
            <a:pPr>
              <a:spcAft>
                <a:spcPts val="1200"/>
              </a:spcAft>
            </a:pPr>
            <a:r>
              <a:rPr sz="2200">
                <a:solidFill>
                  <a:srgbClr val="1F2937"/>
                </a:solidFill>
                <a:latin typeface="Calibri"/>
              </a:rPr>
              <a:t>▸  Maxfiylik o‘limdan keyin ham saqlanadi. Angliyada Milliy sog‘liqni saqlash xizmati (NHS) ichida bemor ma’lumotlari maxfiyligini Caldicott Guardian himoya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17, 19, 17-19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Maxfiylik qachon oshkor qilinishi mumkin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Maxfiylik asosiy, lekin mutlaq bo‘lmagan burch; vrach keyinchalik o‘z qarorini asoslay olishi kerak.</a:t>
            </a:r>
          </a:p>
          <a:p>
            <a:pPr>
              <a:spcAft>
                <a:spcPts val="800"/>
              </a:spcAft>
            </a:pPr>
            <a:r>
              <a:rPr sz="1800">
                <a:solidFill>
                  <a:srgbClr val="1F2937"/>
                </a:solidFill>
                <a:latin typeface="Calibri"/>
              </a:rPr>
              <a:t>▸  Sudya yoki sud raisi buyrug‘i bilan ma’lumot beriladi; ishga aloqasiz so‘rovga sabab ko‘rsatib e’tiroz mumkin.</a:t>
            </a:r>
          </a:p>
          <a:p>
            <a:pPr>
              <a:spcAft>
                <a:spcPts val="800"/>
              </a:spcAft>
            </a:pPr>
            <a:r>
              <a:rPr sz="1800">
                <a:solidFill>
                  <a:srgbClr val="1F2937"/>
                </a:solidFill>
                <a:latin typeface="Calibri"/>
              </a:rPr>
              <a:t>▸  Jamoat manfaatida manfaatlar tortiladi; qaror o‘sha paytda ham, keyin ham asoslanishi lozim.</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Asos</a:t>
                      </a:r>
                    </a:p>
                  </a:txBody>
                  <a:tcPr marL="73152" marR="73152" marT="36576" marB="36576">
                    <a:solidFill>
                      <a:srgbClr val="0B1F3A"/>
                    </a:solidFill>
                  </a:tcPr>
                </a:tc>
                <a:tc>
                  <a:txBody>
                    <a:bodyPr/>
                    <a:lstStyle/>
                    <a:p>
                      <a:r>
                        <a:rPr sz="1400" b="1">
                          <a:solidFill>
                            <a:srgbClr val="FFFFFF"/>
                          </a:solidFill>
                        </a:rPr>
                        <a:t>Misol</a:t>
                      </a:r>
                    </a:p>
                  </a:txBody>
                  <a:tcPr marL="73152" marR="73152" marT="36576" marB="36576">
                    <a:solidFill>
                      <a:srgbClr val="0B1F3A"/>
                    </a:solidFill>
                  </a:tcPr>
                </a:tc>
              </a:tr>
              <a:tr h="411480">
                <a:tc>
                  <a:txBody>
                    <a:bodyPr/>
                    <a:lstStyle/>
                    <a:p>
                      <a:r>
                        <a:rPr sz="1300" b="0">
                          <a:solidFill>
                            <a:srgbClr val="1F2937"/>
                          </a:solidFill>
                        </a:rPr>
                        <a:t>Qonun talabi</a:t>
                      </a:r>
                    </a:p>
                  </a:txBody>
                  <a:tcPr marL="73152" marR="73152" marT="36576" marB="36576">
                    <a:solidFill>
                      <a:srgbClr val="E8EEF6"/>
                    </a:solidFill>
                  </a:tcPr>
                </a:tc>
                <a:tc>
                  <a:txBody>
                    <a:bodyPr/>
                    <a:lstStyle/>
                    <a:p>
                      <a:r>
                        <a:rPr sz="1300" b="0">
                          <a:solidFill>
                            <a:srgbClr val="1F2937"/>
                          </a:solidFill>
                        </a:rPr>
                        <a:t>Sud buyrug‘i, yuqumli kasallik xabari</a:t>
                      </a:r>
                    </a:p>
                  </a:txBody>
                  <a:tcPr marL="73152" marR="73152" marT="36576" marB="36576">
                    <a:solidFill>
                      <a:srgbClr val="E8EEF6"/>
                    </a:solidFill>
                  </a:tcPr>
                </a:tc>
              </a:tr>
              <a:tr h="411480">
                <a:tc>
                  <a:txBody>
                    <a:bodyPr/>
                    <a:lstStyle/>
                    <a:p>
                      <a:r>
                        <a:rPr sz="1300" b="0">
                          <a:solidFill>
                            <a:srgbClr val="1F2937"/>
                          </a:solidFill>
                        </a:rPr>
                        <a:t>Bemor roziligi</a:t>
                      </a:r>
                    </a:p>
                  </a:txBody>
                  <a:tcPr marL="73152" marR="73152" marT="36576" marB="36576">
                    <a:solidFill>
                      <a:srgbClr val="FFFFFF"/>
                    </a:solidFill>
                  </a:tcPr>
                </a:tc>
                <a:tc>
                  <a:txBody>
                    <a:bodyPr/>
                    <a:lstStyle/>
                    <a:p>
                      <a:r>
                        <a:rPr sz="1300" b="0">
                          <a:solidFill>
                            <a:srgbClr val="1F2937"/>
                          </a:solidFill>
                        </a:rPr>
                        <a:t>Oshkora (og‘zaki/yozma) yoki nazarda tutilgan</a:t>
                      </a:r>
                    </a:p>
                  </a:txBody>
                  <a:tcPr marL="73152" marR="73152" marT="36576" marB="36576">
                    <a:solidFill>
                      <a:srgbClr val="FFFFFF"/>
                    </a:solidFill>
                  </a:tcPr>
                </a:tc>
              </a:tr>
              <a:tr h="411480">
                <a:tc>
                  <a:txBody>
                    <a:bodyPr/>
                    <a:lstStyle/>
                    <a:p>
                      <a:r>
                        <a:rPr sz="1300" b="0">
                          <a:solidFill>
                            <a:srgbClr val="1F2937"/>
                          </a:solidFill>
                        </a:rPr>
                        <a:t>Jamoat manfaati</a:t>
                      </a:r>
                    </a:p>
                  </a:txBody>
                  <a:tcPr marL="73152" marR="73152" marT="36576" marB="36576">
                    <a:solidFill>
                      <a:srgbClr val="E8EEF6"/>
                    </a:solidFill>
                  </a:tcPr>
                </a:tc>
                <a:tc>
                  <a:txBody>
                    <a:bodyPr/>
                    <a:lstStyle/>
                    <a:p>
                      <a:r>
                        <a:rPr sz="1300" b="0">
                          <a:solidFill>
                            <a:srgbClr val="1F2937"/>
                          </a:solidFill>
                        </a:rPr>
                        <a:t>o‘q/pichoq jarohati, xavfli yuqumli kasallik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Oshkor qilish asoslari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17, 18,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Rozilik: qonuniy bo‘lishi shartlari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Og‘zaki yoki yozma rozilik oshkora; qo‘lni bosim o‘lchash uchun ochish esa nazarda tutilgan rozilikdir.</a:t>
            </a:r>
          </a:p>
          <a:p>
            <a:pPr>
              <a:spcAft>
                <a:spcPts val="800"/>
              </a:spcAft>
            </a:pPr>
            <a:r>
              <a:rPr sz="1800">
                <a:solidFill>
                  <a:srgbClr val="1F2937"/>
                </a:solidFill>
                <a:latin typeface="Calibri"/>
              </a:rPr>
              <a:t>▸  Xavfli yoki murakkab amal, tadqiqot va jinoiy holat (intim namuna) uchun yozma rozilik maqsadga muvofiq.</a:t>
            </a:r>
          </a:p>
          <a:p>
            <a:pPr>
              <a:spcAft>
                <a:spcPts val="800"/>
              </a:spcAft>
            </a:pPr>
            <a:r>
              <a:rPr sz="1800">
                <a:solidFill>
                  <a:srgbClr val="1F2937"/>
                </a:solidFill>
                <a:latin typeface="Calibri"/>
              </a:rPr>
              <a:t>▸  Ayrim holatlarda yozma rozilik majburiy; qaror yo‘li tibbiy yozuvda o‘sha paytda qayd etiladi.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Layoqatga ega bo‘lish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Taklifni yetarli tushunish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Ixtiyoriy, majburlovsiz qaror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Rozilik qonuniy</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Rozilik shartlari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20, 19-20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Davolash qarori: to‘rt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Vrach variantni tavsiya qilishi mumkin, qaror esa bemorniki; u vrachga mantiqsiz tuyulishi mumkin.</a:t>
            </a:r>
          </a:p>
          <a:p>
            <a:pPr>
              <a:spcAft>
                <a:spcPts val="800"/>
              </a:spcAft>
            </a:pPr>
            <a:r>
              <a:rPr sz="1800">
                <a:solidFill>
                  <a:srgbClr val="1F2937"/>
                </a:solidFill>
                <a:latin typeface="Calibri"/>
              </a:rPr>
              <a:t>▸  Foydasiz davo so‘ralsa, vrach uni bermasligi mumkin, lekin sababini bemorga tushuntirishi shart.</a:t>
            </a:r>
          </a:p>
          <a:p>
            <a:pPr>
              <a:spcAft>
                <a:spcPts val="800"/>
              </a:spcAft>
            </a:pPr>
            <a:r>
              <a:rPr sz="1800">
                <a:solidFill>
                  <a:srgbClr val="1F2937"/>
                </a:solidFill>
                <a:latin typeface="Calibri"/>
              </a:rPr>
              <a:t>▸  Chester v Afshar (2004): jarroh jiddiy xavflar haqida ogohlantirishi shart; paternalizm hukmron emas.</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Birgalikda baholash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Variantlarni tushuntirish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Bemor qaror qabul qiladi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Foydasiz so‘rovni rad etish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Qaror qabul qilish bosqichlari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 va qobiliyatsizlar roziligi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Diqqat: yosh rozilikda qat’iy mezon emas. Odatda 16 va undan katta yoshdagilar davolanish haqida qaror qila oladi deb hisoblanadi, lekin layoqat baholanadi.</a:t>
            </a:r>
          </a:p>
          <a:p>
            <a:pPr>
              <a:spcAft>
                <a:spcPts val="1200"/>
              </a:spcAft>
            </a:pPr>
            <a:r>
              <a:rPr sz="2000">
                <a:solidFill>
                  <a:srgbClr val="1F2937"/>
                </a:solidFill>
                <a:latin typeface="Calibri"/>
              </a:rPr>
              <a:t>▸  16 yoshgacha bola ham davolash maqsadi, mohiyati, oqibati va xavfini tushunsa, rozilik bera oladi. Angliya va Uelsda bu “Gillick layoqati” deyiladi.</a:t>
            </a:r>
          </a:p>
          <a:p>
            <a:pPr>
              <a:spcAft>
                <a:spcPts val="1200"/>
              </a:spcAft>
            </a:pPr>
            <a:r>
              <a:rPr sz="2000">
                <a:solidFill>
                  <a:srgbClr val="1F2937"/>
                </a:solidFill>
                <a:latin typeface="Calibri"/>
              </a:rPr>
              <a:t>▸  Angliya va Uelsda layoqatsiz bemorlar haqidagi qarorlar Mental Capacity Act 2005 (Aqliy layoqat to‘g‘risidagi qonun) bilan tartibga solinadi. Har bir kattalar layoqatli deb faraz qilinadi.</a:t>
            </a:r>
          </a:p>
          <a:p>
            <a:pPr>
              <a:spcAft>
                <a:spcPts val="1200"/>
              </a:spcAft>
            </a:pPr>
            <a:r>
              <a:rPr sz="2000">
                <a:solidFill>
                  <a:srgbClr val="1F2937"/>
                </a:solidFill>
                <a:latin typeface="Calibri"/>
              </a:rPr>
              <a:t>▸  O‘zbekistonda 14 yoshgacha va layoqatsiz deb topilganlarga rozilikni qonuniy vakil beradi. Vakil bo‘lmasa, masalani konsilium, imkon bo‘lmasa davolovchi yoki navbatchi vrach hal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20; G‘iyosov Z.A., Vrach faoliyatining huquqiy asoslari: darslik, betlar: 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intim ko‘rik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Ko‘krak, jinsiy a’zo yoki to‘g‘ri ichak ko‘rigi intim ko‘rik hisoblanadi. U bemor uchun og‘ir va noqulay bo‘lishi mumkin, bemorlar vrachlardan shikoyat ham qiladi.</a:t>
            </a:r>
          </a:p>
          <a:p>
            <a:pPr>
              <a:spcAft>
                <a:spcPts val="1200"/>
              </a:spcAft>
            </a:pPr>
            <a:r>
              <a:rPr sz="2000">
                <a:solidFill>
                  <a:srgbClr val="1F2937"/>
                </a:solidFill>
                <a:latin typeface="Calibri"/>
              </a:rPr>
              <a:t>▸  Vrach ko‘rik nega kerakligini va nimadan iboratligini tushuntiradi, savol berishga imkon beradi, ruxsat oladi. Bemor so‘rasa, ko‘rikni to‘xtatishga tayyor turadi.</a:t>
            </a:r>
          </a:p>
          <a:p>
            <a:pPr>
              <a:spcAft>
                <a:spcPts val="1200"/>
              </a:spcAft>
            </a:pPr>
            <a:r>
              <a:rPr sz="2000">
                <a:solidFill>
                  <a:srgbClr val="1F2937"/>
                </a:solidFill>
                <a:latin typeface="Calibri"/>
              </a:rPr>
              <a:t>▸  Chaperone (hamrohlik qiluvchi shaxs) yoki qarindosh, do‘st taklif etiladi. Chaperone bo‘lsa, uning shaxsi yoziladi. Bemor xohlamasa, taklif qilingani va rad etilgani qayd etiladi.</a:t>
            </a:r>
          </a:p>
          <a:p>
            <a:pPr>
              <a:spcAft>
                <a:spcPts val="1200"/>
              </a:spcAft>
            </a:pPr>
            <a:r>
              <a:rPr sz="2000">
                <a:solidFill>
                  <a:srgbClr val="1F2937"/>
                </a:solidFill>
                <a:latin typeface="Calibri"/>
              </a:rPr>
              <a:t>▸  Savol: bemor chaperone’dan voz kechsa, vrach nimani hujjatlashtirishi kerak? Yana qaysi ruxsat va bahs holatlari yozib boriladi?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maxfiylikni oshkor qilishning uch asosiy sharti qaysilar? Javob tahlili uchun “Qachon maxfiylik amal qilmaydi” ro‘yxatini eslang.</a:t>
            </a:r>
          </a:p>
          <a:p>
            <a:pPr>
              <a:spcAft>
                <a:spcPts val="1200"/>
              </a:spcAft>
            </a:pPr>
            <a:r>
              <a:rPr sz="2200">
                <a:solidFill>
                  <a:srgbClr val="1F2937"/>
                </a:solidFill>
                <a:latin typeface="Calibri"/>
              </a:rPr>
              <a:t>▸  Savol 2: rozilik haqiqiy bo‘lishi uchun shaxsda nimalar bo‘lishi kerak? Uchta shartni sanang: layoqat, tushunish va ixtiyoriylik.</a:t>
            </a:r>
          </a:p>
          <a:p>
            <a:pPr>
              <a:spcAft>
                <a:spcPts val="1200"/>
              </a:spcAft>
            </a:pPr>
            <a:r>
              <a:rPr sz="2200">
                <a:solidFill>
                  <a:srgbClr val="1F2937"/>
                </a:solidFill>
                <a:latin typeface="Calibri"/>
              </a:rPr>
              <a:t>▸  Savol 3: Gillick layoqati kimga tegishli va nimalarga bog‘liq? Bola yoshi, aqliy rivoji va hissiy yetukligini nazarda tuting.</a:t>
            </a:r>
          </a:p>
          <a:p>
            <a:pPr>
              <a:spcAft>
                <a:spcPts val="1200"/>
              </a:spcAft>
            </a:pPr>
            <a:r>
              <a:rPr sz="2200">
                <a:solidFill>
                  <a:srgbClr val="1F2937"/>
                </a:solidFill>
                <a:latin typeface="Calibri"/>
              </a:rPr>
              <a:t>▸  Savol 4: intim ko‘rikdan oldin qanday ruxsat va chaperone yozuvlari yuritiladi? Bemor rad etsa, nima qayd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18, 19, 20, 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Vrachlarni tartibga solish: GMC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Bosh tibbiyot kengashi (GMC) Britaniyada vrachlarni ro‘yxatga oladi va aholi xavfsizligini himoya qiladi.</a:t>
            </a:r>
          </a:p>
          <a:p>
            <a:pPr>
              <a:spcAft>
                <a:spcPts val="800"/>
              </a:spcAft>
            </a:pPr>
            <a:r>
              <a:rPr sz="1800">
                <a:solidFill>
                  <a:srgbClr val="1F2937"/>
                </a:solidFill>
                <a:latin typeface="Calibri"/>
              </a:rPr>
              <a:t>▸  Medical Act 1983 to‘rt vazifa beradi: reyestr, yaxshi amaliyot, ta’lim sifati, shubhali vrachlar bilan ish.</a:t>
            </a:r>
          </a:p>
          <a:p>
            <a:pPr>
              <a:spcAft>
                <a:spcPts val="800"/>
              </a:spcAft>
            </a:pPr>
            <a:r>
              <a:rPr sz="1800">
                <a:solidFill>
                  <a:srgbClr val="1F2937"/>
                </a:solidFill>
                <a:latin typeface="Calibri"/>
              </a:rPr>
              <a:t>▸  Standartga javob bermagan vrach reyestrdan chiqarilib, amaliyot huquqidan mahrum etilishi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279299"/>
                <a:gridCol w="3008675"/>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Ma’lumot</a:t>
                      </a:r>
                    </a:p>
                  </a:txBody>
                  <a:tcPr marL="73152" marR="73152" marT="36576" marB="36576">
                    <a:solidFill>
                      <a:srgbClr val="0B1F3A"/>
                    </a:solidFill>
                  </a:tcPr>
                </a:tc>
              </a:tr>
              <a:tr h="411480">
                <a:tc>
                  <a:txBody>
                    <a:bodyPr/>
                    <a:lstStyle/>
                    <a:p>
                      <a:r>
                        <a:rPr sz="1300" b="0">
                          <a:solidFill>
                            <a:srgbClr val="1F2937"/>
                          </a:solidFill>
                        </a:rPr>
                        <a:t>Tashkil etilgan</a:t>
                      </a:r>
                    </a:p>
                  </a:txBody>
                  <a:tcPr marL="73152" marR="73152" marT="36576" marB="36576">
                    <a:solidFill>
                      <a:srgbClr val="E8EEF6"/>
                    </a:solidFill>
                  </a:tcPr>
                </a:tc>
                <a:tc>
                  <a:txBody>
                    <a:bodyPr/>
                    <a:lstStyle/>
                    <a:p>
                      <a:r>
                        <a:rPr sz="1300" b="0">
                          <a:solidFill>
                            <a:srgbClr val="1F2937"/>
                          </a:solidFill>
                        </a:rPr>
                        <a:t>1858-yil, Medical Act</a:t>
                      </a:r>
                    </a:p>
                  </a:txBody>
                  <a:tcPr marL="73152" marR="73152" marT="36576" marB="36576">
                    <a:solidFill>
                      <a:srgbClr val="E8EEF6"/>
                    </a:solidFill>
                  </a:tcPr>
                </a:tc>
              </a:tr>
              <a:tr h="411480">
                <a:tc>
                  <a:txBody>
                    <a:bodyPr/>
                    <a:lstStyle/>
                    <a:p>
                      <a:r>
                        <a:rPr sz="1300" b="0">
                          <a:solidFill>
                            <a:srgbClr val="1F2937"/>
                          </a:solidFill>
                        </a:rPr>
                        <a:t>Hozirgi qonuniy asos</a:t>
                      </a:r>
                    </a:p>
                  </a:txBody>
                  <a:tcPr marL="73152" marR="73152" marT="36576" marB="36576">
                    <a:solidFill>
                      <a:srgbClr val="FFFFFF"/>
                    </a:solidFill>
                  </a:tcPr>
                </a:tc>
                <a:tc>
                  <a:txBody>
                    <a:bodyPr/>
                    <a:lstStyle/>
                    <a:p>
                      <a:r>
                        <a:rPr sz="1300" b="0">
                          <a:solidFill>
                            <a:srgbClr val="1F2937"/>
                          </a:solidFill>
                        </a:rPr>
                        <a:t>Medical Act 1983</a:t>
                      </a:r>
                    </a:p>
                  </a:txBody>
                  <a:tcPr marL="73152" marR="73152" marT="36576" marB="36576">
                    <a:solidFill>
                      <a:srgbClr val="FFFFFF"/>
                    </a:solidFill>
                  </a:tcPr>
                </a:tc>
              </a:tr>
              <a:tr h="411480">
                <a:tc>
                  <a:txBody>
                    <a:bodyPr/>
                    <a:lstStyle/>
                    <a:p>
                      <a:r>
                        <a:rPr sz="1300" b="0">
                          <a:solidFill>
                            <a:srgbClr val="1F2937"/>
                          </a:solidFill>
                        </a:rPr>
                        <a:t>Kengash (Council) tarkibi</a:t>
                      </a:r>
                    </a:p>
                  </a:txBody>
                  <a:tcPr marL="73152" marR="73152" marT="36576" marB="36576">
                    <a:solidFill>
                      <a:srgbClr val="E8EEF6"/>
                    </a:solidFill>
                  </a:tcPr>
                </a:tc>
                <a:tc>
                  <a:txBody>
                    <a:bodyPr/>
                    <a:lstStyle/>
                    <a:p>
                      <a:r>
                        <a:rPr sz="1300" b="0">
                          <a:solidFill>
                            <a:srgbClr val="1F2937"/>
                          </a:solidFill>
                        </a:rPr>
                        <a:t>24 a’zo: 12 vrach, 12 oddiy a’zo</a:t>
                      </a:r>
                    </a:p>
                  </a:txBody>
                  <a:tcPr marL="73152" marR="73152" marT="36576" marB="36576">
                    <a:solidFill>
                      <a:srgbClr val="E8EEF6"/>
                    </a:solidFill>
                  </a:tcPr>
                </a:tc>
              </a:tr>
              <a:tr h="411480">
                <a:tc>
                  <a:txBody>
                    <a:bodyPr/>
                    <a:lstStyle/>
                    <a:p>
                      <a:r>
                        <a:rPr sz="1300" b="0">
                          <a:solidFill>
                            <a:srgbClr val="1F2937"/>
                          </a:solidFill>
                        </a:rPr>
                        <a:t>Asosiy maqsad</a:t>
                      </a:r>
                    </a:p>
                  </a:txBody>
                  <a:tcPr marL="73152" marR="73152" marT="36576" marB="36576">
                    <a:solidFill>
                      <a:srgbClr val="FFFFFF"/>
                    </a:solidFill>
                  </a:tcPr>
                </a:tc>
                <a:tc>
                  <a:txBody>
                    <a:bodyPr/>
                    <a:lstStyle/>
                    <a:p>
                      <a:r>
                        <a:rPr sz="1300" b="0">
                          <a:solidFill>
                            <a:srgbClr val="1F2937"/>
                          </a:solidFill>
                        </a:rPr>
                        <a:t>Jamoat salomatligi va xavfsizligi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GMC: qisqa ma’lumot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Fitness to Practise jarayoni va sanksiyalar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Ikki ish ko‘ruvchi (tibbiy va notibbiy) kelishsa, ishni yopadi yoki hay’atga o‘tkazadi.</a:t>
            </a:r>
          </a:p>
          <a:p>
            <a:pPr>
              <a:spcAft>
                <a:spcPts val="800"/>
              </a:spcAft>
            </a:pPr>
            <a:r>
              <a:rPr sz="1800">
                <a:solidFill>
                  <a:srgbClr val="1F2937"/>
                </a:solidFill>
                <a:latin typeface="Calibri"/>
              </a:rPr>
              <a:t>▸  Sanksiyalar: harakatsizlik, majburiyat, shart, to‘xtatish yoki reyestrdan o‘chirish.</a:t>
            </a:r>
          </a:p>
          <a:p>
            <a:pPr>
              <a:spcAft>
                <a:spcPts val="800"/>
              </a:spcAft>
            </a:pPr>
            <a:r>
              <a:rPr sz="1800">
                <a:solidFill>
                  <a:srgbClr val="1F2937"/>
                </a:solidFill>
                <a:latin typeface="Calibri"/>
              </a:rPr>
              <a:t>▸  O‘chirilgan vrach tiklanishni o‘chirilgandan 5 yil o‘tgach so‘rashi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Shikoyat va dastlabki tekshiruv</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 ko‘ruvchilar qarori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IOP: vaqtincha cheklash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Hay’at majlisi (FTP Panel)</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Sanksiya yoki shikoyat huquqi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GMC shikoyat jarayoni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22, 22–23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vrach faoliyatiga shikoyat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vrach ustidan bemor shikoyat qildi. Shikoyat vrachga va ish joyiga ma’lum qilinadi, vrach izoh beradi, tekshiruv boshlanadi.</a:t>
            </a:r>
          </a:p>
          <a:p>
            <a:pPr>
              <a:spcAft>
                <a:spcPts val="1200"/>
              </a:spcAft>
            </a:pPr>
            <a:r>
              <a:rPr sz="2200">
                <a:solidFill>
                  <a:srgbClr val="1F2937"/>
                </a:solidFill>
                <a:latin typeface="Calibri"/>
              </a:rPr>
              <a:t>▸  Tekshiruvdan so‘ng ish yopilishi, ogohlantirish berilishi, shart qo‘yilishi yoki hay’atga o‘tkazilishi mumkin; hay’at to‘xtatishi yoki reyestrdan o‘chirishi mumkin.</a:t>
            </a:r>
          </a:p>
          <a:p>
            <a:pPr>
              <a:spcAft>
                <a:spcPts val="1200"/>
              </a:spcAft>
            </a:pPr>
            <a:r>
              <a:rPr sz="2200">
                <a:solidFill>
                  <a:srgbClr val="1F2937"/>
                </a:solidFill>
                <a:latin typeface="Calibri"/>
              </a:rPr>
              <a:t>▸  Diqqat: ogohlantirish ≠ layoqatning buzilishi. U 5 yil davomida ish beruvchiga va so‘rovchilarga oshkor qilinadi.</a:t>
            </a:r>
          </a:p>
          <a:p>
            <a:pPr>
              <a:spcAft>
                <a:spcPts val="1200"/>
              </a:spcAft>
            </a:pPr>
            <a:r>
              <a:rPr sz="2200">
                <a:solidFill>
                  <a:srgbClr val="1F2937"/>
                </a:solidFill>
                <a:latin typeface="Calibri"/>
              </a:rPr>
              <a:t>▸  Savol: tekshiruv davomida vrach ishini vaqtincha cheklash uchun IOP qachon kerak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22, 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 Konstitutsiyasi va sog‘liq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Huquqlar daxlsiz: ularni faqat sud qarori bilan cheklash mumkin. Huquqdan foydalanish boshqalarga zarar bermasligi shart.</a:t>
            </a:r>
          </a:p>
          <a:p>
            <a:pPr>
              <a:spcAft>
                <a:spcPts val="800"/>
              </a:spcAft>
            </a:pPr>
            <a:r>
              <a:rPr sz="1800">
                <a:solidFill>
                  <a:srgbClr val="1F2937"/>
                </a:solidFill>
                <a:latin typeface="Calibri"/>
              </a:rPr>
              <a:t>▸  Malakali xizmat: birlamchi, tez, shoshilinch va ixtisoslashtirilgan yordamni o‘z ichiga oladi.</a:t>
            </a:r>
          </a:p>
          <a:p>
            <a:pPr>
              <a:spcAft>
                <a:spcPts val="800"/>
              </a:spcAft>
            </a:pPr>
            <a:r>
              <a:rPr sz="1800">
                <a:solidFill>
                  <a:srgbClr val="1F2937"/>
                </a:solidFill>
                <a:latin typeface="Calibri"/>
              </a:rPr>
              <a:t>▸  Huquq, majburiyat va javobgarlik o‘zaro bog‘liq. 45-moddada zaif guruhlar davlat himoyasida.</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Modda</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18-modda</a:t>
                      </a:r>
                    </a:p>
                  </a:txBody>
                  <a:tcPr marL="73152" marR="73152" marT="36576" marB="36576">
                    <a:solidFill>
                      <a:srgbClr val="E8EEF6"/>
                    </a:solidFill>
                  </a:tcPr>
                </a:tc>
                <a:tc>
                  <a:txBody>
                    <a:bodyPr/>
                    <a:lstStyle/>
                    <a:p>
                      <a:r>
                        <a:rPr sz="1300" b="0">
                          <a:solidFill>
                            <a:srgbClr val="1F2937"/>
                          </a:solidFill>
                        </a:rPr>
                        <a:t>Barcha fuqarolar teng va bir xil huquqli</a:t>
                      </a:r>
                    </a:p>
                  </a:txBody>
                  <a:tcPr marL="73152" marR="73152" marT="36576" marB="36576">
                    <a:solidFill>
                      <a:srgbClr val="E8EEF6"/>
                    </a:solidFill>
                  </a:tcPr>
                </a:tc>
              </a:tr>
              <a:tr h="411480">
                <a:tc>
                  <a:txBody>
                    <a:bodyPr/>
                    <a:lstStyle/>
                    <a:p>
                      <a:r>
                        <a:rPr sz="1300" b="0">
                          <a:solidFill>
                            <a:srgbClr val="1F2937"/>
                          </a:solidFill>
                        </a:rPr>
                        <a:t>40-modda</a:t>
                      </a:r>
                    </a:p>
                  </a:txBody>
                  <a:tcPr marL="73152" marR="73152" marT="36576" marB="36576">
                    <a:solidFill>
                      <a:srgbClr val="FFFFFF"/>
                    </a:solidFill>
                  </a:tcPr>
                </a:tc>
                <a:tc>
                  <a:txBody>
                    <a:bodyPr/>
                    <a:lstStyle/>
                    <a:p>
                      <a:r>
                        <a:rPr sz="1300" b="0">
                          <a:solidFill>
                            <a:srgbClr val="1F2937"/>
                          </a:solidFill>
                        </a:rPr>
                        <a:t>Malakali tibbiy xizmatdan foydalanish huquqi</a:t>
                      </a:r>
                    </a:p>
                  </a:txBody>
                  <a:tcPr marL="73152" marR="73152" marT="36576" marB="36576">
                    <a:solidFill>
                      <a:srgbClr val="FFFFFF"/>
                    </a:solidFill>
                  </a:tcPr>
                </a:tc>
              </a:tr>
              <a:tr h="411480">
                <a:tc>
                  <a:txBody>
                    <a:bodyPr/>
                    <a:lstStyle/>
                    <a:p>
                      <a:r>
                        <a:rPr sz="1300" b="0">
                          <a:solidFill>
                            <a:srgbClr val="1F2937"/>
                          </a:solidFill>
                        </a:rPr>
                        <a:t>43-modda</a:t>
                      </a:r>
                    </a:p>
                  </a:txBody>
                  <a:tcPr marL="73152" marR="73152" marT="36576" marB="36576">
                    <a:solidFill>
                      <a:srgbClr val="E8EEF6"/>
                    </a:solidFill>
                  </a:tcPr>
                </a:tc>
                <a:tc>
                  <a:txBody>
                    <a:bodyPr/>
                    <a:lstStyle/>
                    <a:p>
                      <a:r>
                        <a:rPr sz="1300" b="0">
                          <a:solidFill>
                            <a:srgbClr val="1F2937"/>
                          </a:solidFill>
                        </a:rPr>
                        <a:t>Davlat huquqlar ta’minotini kafolatlaydi</a:t>
                      </a:r>
                    </a:p>
                  </a:txBody>
                  <a:tcPr marL="73152" marR="73152" marT="36576" marB="36576">
                    <a:solidFill>
                      <a:srgbClr val="E8EEF6"/>
                    </a:solidFill>
                  </a:tcPr>
                </a:tc>
              </a:tr>
              <a:tr h="411480">
                <a:tc>
                  <a:txBody>
                    <a:bodyPr/>
                    <a:lstStyle/>
                    <a:p>
                      <a:r>
                        <a:rPr sz="1300" b="0">
                          <a:solidFill>
                            <a:srgbClr val="1F2937"/>
                          </a:solidFill>
                        </a:rPr>
                        <a:t>44-modda</a:t>
                      </a:r>
                    </a:p>
                  </a:txBody>
                  <a:tcPr marL="73152" marR="73152" marT="36576" marB="36576">
                    <a:solidFill>
                      <a:srgbClr val="FFFFFF"/>
                    </a:solidFill>
                  </a:tcPr>
                </a:tc>
                <a:tc>
                  <a:txBody>
                    <a:bodyPr/>
                    <a:lstStyle/>
                    <a:p>
                      <a:r>
                        <a:rPr sz="1300" b="0">
                          <a:solidFill>
                            <a:srgbClr val="1F2937"/>
                          </a:solidFill>
                        </a:rPr>
                        <a:t>Huquqni sud orqali himoya qilish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Sog‘liq huquqiga oid moddalar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“Fuqarolar sog‘lig‘ini saqlash to‘g‘risida”gi Qonun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1996-yil 29-avgustda qabul qilingan, 14-sentyabrdan kuchga kirgan. 6 qism, 47 moddadan iborat.</a:t>
            </a:r>
          </a:p>
          <a:p>
            <a:pPr>
              <a:spcAft>
                <a:spcPts val="800"/>
              </a:spcAft>
            </a:pPr>
            <a:r>
              <a:rPr sz="1800">
                <a:solidFill>
                  <a:srgbClr val="1F2937"/>
                </a:solidFill>
                <a:latin typeface="Calibri"/>
              </a:rPr>
              <a:t>▸  Besh printsip: inson huquqlari, hammabop yordam, profilaktika, ijtimoiy himoya, fan-amaliyot birligi.</a:t>
            </a:r>
          </a:p>
          <a:p>
            <a:pPr>
              <a:spcAft>
                <a:spcPts val="800"/>
              </a:spcAft>
            </a:pPr>
            <a:r>
              <a:rPr sz="1800">
                <a:solidFill>
                  <a:srgbClr val="1F2937"/>
                </a:solidFill>
                <a:latin typeface="Calibri"/>
              </a:rPr>
              <a:t>▸  Tizimlar: davlat, xususiy va boshqa. Davlat tizimida kafolatlangan yordam bepul ko‘rsatiladi.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1-qism: Umumiy qoidalar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2-qism: Huquqiy muhofaza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3-qism: Tibbiy-ijtimoiy yordam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4-qism: Tibbiy ekspertiza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5-6-qism: Xodimlar va yakun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Qonunning tuzilishi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10, 11, 11-12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Inson salomatligiga ta’sir etuvchi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Umum qabul qilingan fikrga ko‘ra, salomatlikning eng katta qismi turmush tarziga bog‘liq.</a:t>
            </a:r>
          </a:p>
          <a:p>
            <a:pPr>
              <a:spcAft>
                <a:spcPts val="800"/>
              </a:spcAft>
            </a:pPr>
            <a:r>
              <a:rPr sz="1800">
                <a:solidFill>
                  <a:srgbClr val="1F2937"/>
                </a:solidFill>
                <a:latin typeface="Calibri"/>
              </a:rPr>
              <a:t>▸  Tibbiy yordam salomatlikning taxminan o‘ndan bir qismini ta’minlaydi.</a:t>
            </a:r>
          </a:p>
          <a:p>
            <a:pPr>
              <a:spcAft>
                <a:spcPts val="800"/>
              </a:spcAft>
            </a:pPr>
            <a:r>
              <a:rPr sz="1800">
                <a:solidFill>
                  <a:srgbClr val="1F2937"/>
                </a:solidFill>
                <a:latin typeface="Calibri"/>
              </a:rPr>
              <a:t>▸  Salomatlik avvalo shaxsning o‘ziga, so‘ng davlat va tashkilotlarga bog‘liq masala.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Omil</a:t>
                      </a:r>
                    </a:p>
                  </a:txBody>
                  <a:tcPr marL="73152" marR="73152" marT="36576" marB="36576">
                    <a:solidFill>
                      <a:srgbClr val="0B1F3A"/>
                    </a:solidFill>
                  </a:tcPr>
                </a:tc>
                <a:tc>
                  <a:txBody>
                    <a:bodyPr/>
                    <a:lstStyle/>
                    <a:p>
                      <a:r>
                        <a:rPr sz="1400" b="1">
                          <a:solidFill>
                            <a:srgbClr val="FFFFFF"/>
                          </a:solidFill>
                        </a:rPr>
                        <a:t>Ulush</a:t>
                      </a:r>
                    </a:p>
                  </a:txBody>
                  <a:tcPr marL="73152" marR="73152" marT="36576" marB="36576">
                    <a:solidFill>
                      <a:srgbClr val="0B1F3A"/>
                    </a:solidFill>
                  </a:tcPr>
                </a:tc>
              </a:tr>
              <a:tr h="411480">
                <a:tc>
                  <a:txBody>
                    <a:bodyPr/>
                    <a:lstStyle/>
                    <a:p>
                      <a:r>
                        <a:rPr sz="1300" b="0">
                          <a:solidFill>
                            <a:srgbClr val="1F2937"/>
                          </a:solidFill>
                        </a:rPr>
                        <a:t>Turmush tarzi</a:t>
                      </a:r>
                    </a:p>
                  </a:txBody>
                  <a:tcPr marL="73152" marR="73152" marT="36576" marB="36576">
                    <a:solidFill>
                      <a:srgbClr val="E8EEF6"/>
                    </a:solidFill>
                  </a:tcPr>
                </a:tc>
                <a:tc>
                  <a:txBody>
                    <a:bodyPr/>
                    <a:lstStyle/>
                    <a:p>
                      <a:r>
                        <a:rPr sz="1300" b="0">
                          <a:solidFill>
                            <a:srgbClr val="1F2937"/>
                          </a:solidFill>
                        </a:rPr>
                        <a:t>taxminan 48-52%</a:t>
                      </a:r>
                    </a:p>
                  </a:txBody>
                  <a:tcPr marL="73152" marR="73152" marT="36576" marB="36576">
                    <a:solidFill>
                      <a:srgbClr val="E8EEF6"/>
                    </a:solidFill>
                  </a:tcPr>
                </a:tc>
              </a:tr>
              <a:tr h="411480">
                <a:tc>
                  <a:txBody>
                    <a:bodyPr/>
                    <a:lstStyle/>
                    <a:p>
                      <a:r>
                        <a:rPr sz="1300" b="0">
                          <a:solidFill>
                            <a:srgbClr val="1F2937"/>
                          </a:solidFill>
                        </a:rPr>
                        <a:t>Nasl va irsiyat</a:t>
                      </a:r>
                    </a:p>
                  </a:txBody>
                  <a:tcPr marL="73152" marR="73152" marT="36576" marB="36576">
                    <a:solidFill>
                      <a:srgbClr val="FFFFFF"/>
                    </a:solidFill>
                  </a:tcPr>
                </a:tc>
                <a:tc>
                  <a:txBody>
                    <a:bodyPr/>
                    <a:lstStyle/>
                    <a:p>
                      <a:r>
                        <a:rPr sz="1300" b="0">
                          <a:solidFill>
                            <a:srgbClr val="1F2937"/>
                          </a:solidFill>
                        </a:rPr>
                        <a:t>18-20%</a:t>
                      </a:r>
                    </a:p>
                  </a:txBody>
                  <a:tcPr marL="73152" marR="73152" marT="36576" marB="36576">
                    <a:solidFill>
                      <a:srgbClr val="FFFFFF"/>
                    </a:solidFill>
                  </a:tcPr>
                </a:tc>
              </a:tr>
              <a:tr h="411480">
                <a:tc>
                  <a:txBody>
                    <a:bodyPr/>
                    <a:lstStyle/>
                    <a:p>
                      <a:r>
                        <a:rPr sz="1300" b="0">
                          <a:solidFill>
                            <a:srgbClr val="1F2937"/>
                          </a:solidFill>
                        </a:rPr>
                        <a:t>Ekologik omillar</a:t>
                      </a:r>
                    </a:p>
                  </a:txBody>
                  <a:tcPr marL="73152" marR="73152" marT="36576" marB="36576">
                    <a:solidFill>
                      <a:srgbClr val="E8EEF6"/>
                    </a:solidFill>
                  </a:tcPr>
                </a:tc>
                <a:tc>
                  <a:txBody>
                    <a:bodyPr/>
                    <a:lstStyle/>
                    <a:p>
                      <a:r>
                        <a:rPr sz="1300" b="0">
                          <a:solidFill>
                            <a:srgbClr val="1F2937"/>
                          </a:solidFill>
                        </a:rPr>
                        <a:t>18-20%</a:t>
                      </a:r>
                    </a:p>
                  </a:txBody>
                  <a:tcPr marL="73152" marR="73152" marT="36576" marB="36576">
                    <a:solidFill>
                      <a:srgbClr val="E8EEF6"/>
                    </a:solidFill>
                  </a:tcPr>
                </a:tc>
              </a:tr>
              <a:tr h="411480">
                <a:tc>
                  <a:txBody>
                    <a:bodyPr/>
                    <a:lstStyle/>
                    <a:p>
                      <a:r>
                        <a:rPr sz="1300" b="0">
                          <a:solidFill>
                            <a:srgbClr val="1F2937"/>
                          </a:solidFill>
                        </a:rPr>
                        <a:t>Tibbiy yordam</a:t>
                      </a:r>
                    </a:p>
                  </a:txBody>
                  <a:tcPr marL="73152" marR="73152" marT="36576" marB="36576">
                    <a:solidFill>
                      <a:srgbClr val="FFFFFF"/>
                    </a:solidFill>
                  </a:tcPr>
                </a:tc>
                <a:tc>
                  <a:txBody>
                    <a:bodyPr/>
                    <a:lstStyle/>
                    <a:p>
                      <a:r>
                        <a:rPr sz="1300" b="0">
                          <a:solidFill>
                            <a:srgbClr val="1F2937"/>
                          </a:solidFill>
                        </a:rPr>
                        <a:t>8-10%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Salomatlikka ta’sir ulushi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Bemor huquqlari (24-modda)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Bemor tibbiyot va xizmat xodimlarining hurmatli, insoniy munosabatiga haqli. U shifokorni va davolash-profilaktika muassasasini ham o‘zi tanlaydi.</a:t>
            </a:r>
          </a:p>
          <a:p>
            <a:pPr>
              <a:spcAft>
                <a:spcPts val="1200"/>
              </a:spcAft>
            </a:pPr>
            <a:r>
              <a:rPr sz="2000">
                <a:solidFill>
                  <a:srgbClr val="1F2937"/>
                </a:solidFill>
                <a:latin typeface="Calibri"/>
              </a:rPr>
              <a:t>▸  Tekshiruv, davolanish va parvarish sanitariya-gigiena talablariga javob beradigan sharoitda o‘tadi. Bemor iltimosiga ko‘ra konsilium o‘tkazilishini va boshqa mutaxassis maslahatini so‘rashi mumkin.</a:t>
            </a:r>
          </a:p>
          <a:p>
            <a:pPr>
              <a:spcAft>
                <a:spcPts val="1200"/>
              </a:spcAft>
            </a:pPr>
            <a:r>
              <a:rPr sz="2000">
                <a:solidFill>
                  <a:srgbClr val="1F2937"/>
                </a:solidFill>
                <a:latin typeface="Calibri"/>
              </a:rPr>
              <a:t>▸  Murojaat qilgani, sog‘lig‘i holati va tashxis sir saqlanadi. Bemor muolajaga rozilik beradi yoki rad etadi, zarar qoplanishini talab qiladi, himoya uchun advokat yoki qonuniy vakil chaqiradi.</a:t>
            </a:r>
          </a:p>
          <a:p>
            <a:pPr>
              <a:spcAft>
                <a:spcPts val="1200"/>
              </a:spcAft>
            </a:pPr>
            <a:r>
              <a:rPr sz="2000">
                <a:solidFill>
                  <a:srgbClr val="1F2937"/>
                </a:solidFill>
                <a:latin typeface="Calibri"/>
              </a:rPr>
              <a:t>▸  Huquq buzilsa, bemor yoki qonuniy vakili shikoyatni muassasa rahbariyatiga, yuqori boshqaruv organiga yoki sudga topshirishi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13, 13-14, 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Axborot, rozilik va rad etish (25-28-moddalar)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To‘liq ma’lumot olish huquqi: tashxis, prognoz, xavf-xatar. 14 yoshgacha bo‘lsa, ma’lumot qonuniy vakilga beriladi.</a:t>
            </a:r>
          </a:p>
          <a:p>
            <a:pPr>
              <a:spcAft>
                <a:spcPts val="800"/>
              </a:spcAft>
            </a:pPr>
            <a:r>
              <a:rPr sz="1800">
                <a:solidFill>
                  <a:srgbClr val="1F2937"/>
                </a:solidFill>
                <a:latin typeface="Calibri"/>
              </a:rPr>
              <a:t>▸  Rad etishda vrach yozma tasdiqnoma oladi, imkon bo‘lmasa guvohlar ishtirokida dalolatnoma tuzadi.</a:t>
            </a:r>
          </a:p>
          <a:p>
            <a:pPr>
              <a:spcAft>
                <a:spcPts val="800"/>
              </a:spcAft>
            </a:pPr>
            <a:r>
              <a:rPr sz="1800">
                <a:solidFill>
                  <a:srgbClr val="1F2937"/>
                </a:solidFill>
                <a:latin typeface="Calibri"/>
              </a:rPr>
              <a:t>▸  Diqqat: roziliksiz yordam atrofdagilarga xavf bo‘lsa beriladi; irodani bildirib bo‘lmasa — konsilium.</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to‘liq ma’lumot oladi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Ixtiyoriy rozilik beradi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Yoki aralashuvni rad etadi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Yozma tasdiqnoma/dalolatnoma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Irodasiz bo‘lsa: konsilium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Rozilik va rad etish tartibi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14, 15, 14-15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rozilik va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ota-ona (qonuniy vakil) bolaning og‘ir holatida tibbiy aralashuvni rad etadi. Bu bola uchun og‘ir oqibatlarga olib kelishi mumkin.</a:t>
            </a:r>
          </a:p>
          <a:p>
            <a:pPr>
              <a:spcAft>
                <a:spcPts val="1200"/>
              </a:spcAft>
            </a:pPr>
            <a:r>
              <a:rPr sz="2200">
                <a:solidFill>
                  <a:srgbClr val="1F2937"/>
                </a:solidFill>
                <a:latin typeface="Calibri"/>
              </a:rPr>
              <a:t>▸  Manbadagi tartibga ko‘ra, vrach bu haqda vasiylik va homiylik organlariga xabar berishi shart.</a:t>
            </a:r>
          </a:p>
          <a:p>
            <a:pPr>
              <a:spcAft>
                <a:spcPts val="1200"/>
              </a:spcAft>
            </a:pPr>
            <a:r>
              <a:rPr sz="2200">
                <a:solidFill>
                  <a:srgbClr val="1F2937"/>
                </a:solidFill>
                <a:latin typeface="Calibri"/>
              </a:rPr>
              <a:t>▸  Rad etishda vrach yozma tasdiqnoma oladi yoki guvohlar ishtirokida dalolatnoma tuzadi.</a:t>
            </a:r>
          </a:p>
          <a:p>
            <a:pPr>
              <a:spcAft>
                <a:spcPts val="1200"/>
              </a:spcAft>
            </a:pPr>
            <a:r>
              <a:rPr sz="2200">
                <a:solidFill>
                  <a:srgbClr val="1F2937"/>
                </a:solidFill>
                <a:latin typeface="Calibri"/>
              </a:rPr>
              <a:t>▸  Savol: yuqumli kasallik holatidan farqi nimada? Maslahat: xavf kimga qaratilganiga e’tibor bering (28-modda).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malakali tibbiy xizmatdan foydalanish huquqi Konstitutsiyaning nechanchi moddasida? Javob: 40-modda. Eslab qoling: 40 — tibbiy xizmat.</a:t>
            </a:r>
          </a:p>
          <a:p>
            <a:pPr>
              <a:spcAft>
                <a:spcPts val="1200"/>
              </a:spcAft>
            </a:pPr>
            <a:r>
              <a:rPr sz="2200">
                <a:solidFill>
                  <a:srgbClr val="1F2937"/>
                </a:solidFill>
                <a:latin typeface="Calibri"/>
              </a:rPr>
              <a:t>▸  Savol: “Fuqarolar sog‘lig‘ini saqlash to‘g‘risida”gi Qonun nechta qism va moddadan iborat? Javob: 6 qism, 47 modda; 1996-yil 29-avgustda qabul qilingan.</a:t>
            </a:r>
          </a:p>
          <a:p>
            <a:pPr>
              <a:spcAft>
                <a:spcPts val="1200"/>
              </a:spcAft>
            </a:pPr>
            <a:r>
              <a:rPr sz="2200">
                <a:solidFill>
                  <a:srgbClr val="1F2937"/>
                </a:solidFill>
                <a:latin typeface="Calibri"/>
              </a:rPr>
              <a:t>▸  Savol: salomatlikda tibbiy yordamning ulushi qancha? Javob: taxminan 8-10%. Turmush tarzi esa taxminan 48-52%.</a:t>
            </a:r>
          </a:p>
          <a:p>
            <a:pPr>
              <a:spcAft>
                <a:spcPts val="1200"/>
              </a:spcAft>
            </a:pPr>
            <a:r>
              <a:rPr sz="2200">
                <a:solidFill>
                  <a:srgbClr val="1F2937"/>
                </a:solidFill>
                <a:latin typeface="Calibri"/>
              </a:rPr>
              <a:t>▸  Savol: 14 yoshgacha bo‘lgan bemorga tibbiy aralashuvga kim rozilik beradi? Javob: qonuniy vakili (26-modda). Rad etishga ham vakil haqli (27-modda).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9, 10, 11, 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Tibbiy-ijtimoiy yordam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Ro‘yxat: sil, onkologiya, jinsiy yo‘l bilan o‘tuvchilar, moxov, ruhiy kasallik, OITS.</a:t>
            </a:r>
          </a:p>
          <a:p>
            <a:pPr>
              <a:spcAft>
                <a:spcPts val="800"/>
              </a:spcAft>
            </a:pPr>
            <a:r>
              <a:rPr sz="1800">
                <a:solidFill>
                  <a:srgbClr val="1F2937"/>
                </a:solidFill>
                <a:latin typeface="Calibri"/>
              </a:rPr>
              <a:t>▸  Ro‘yxat va imtiyozlarni Vazirlar Mahkamasi belgilaydi (1997-yil 20-mart, 153-son Qaror).</a:t>
            </a:r>
          </a:p>
          <a:p>
            <a:pPr>
              <a:spcAft>
                <a:spcPts val="800"/>
              </a:spcAft>
            </a:pPr>
            <a:r>
              <a:rPr sz="1800">
                <a:solidFill>
                  <a:srgbClr val="1F2937"/>
                </a:solidFill>
                <a:latin typeface="Calibri"/>
              </a:rPr>
              <a:t>▸  Hayot xavf ostida bo‘lsa, bemorni olib borish uchun har qanday transportdan foydalanish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884220"/>
                <a:gridCol w="972501"/>
                <a:gridCol w="2431252"/>
              </a:tblGrid>
              <a:tr h="411480">
                <a:tc>
                  <a:txBody>
                    <a:bodyPr/>
                    <a:lstStyle/>
                    <a:p>
                      <a:r>
                        <a:rPr sz="1300" b="1">
                          <a:solidFill>
                            <a:srgbClr val="FFFFFF"/>
                          </a:solidFill>
                        </a:rPr>
                        <a:t>Yordam turi</a:t>
                      </a:r>
                    </a:p>
                  </a:txBody>
                  <a:tcPr marL="73152" marR="73152" marT="36576" marB="36576">
                    <a:solidFill>
                      <a:srgbClr val="0B1F3A"/>
                    </a:solidFill>
                  </a:tcPr>
                </a:tc>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Birlamchi tibbiy-sanitariya</a:t>
                      </a:r>
                    </a:p>
                  </a:txBody>
                  <a:tcPr marL="73152" marR="73152" marT="36576" marB="36576">
                    <a:solidFill>
                      <a:srgbClr val="E8EEF6"/>
                    </a:solidFill>
                  </a:tcPr>
                </a:tc>
                <a:tc>
                  <a:txBody>
                    <a:bodyPr/>
                    <a:lstStyle/>
                    <a:p>
                      <a:r>
                        <a:rPr sz="1200" b="0">
                          <a:solidFill>
                            <a:srgbClr val="1F2937"/>
                          </a:solidFill>
                        </a:rPr>
                        <a:t>29</a:t>
                      </a:r>
                    </a:p>
                  </a:txBody>
                  <a:tcPr marL="73152" marR="73152" marT="36576" marB="36576">
                    <a:solidFill>
                      <a:srgbClr val="E8EEF6"/>
                    </a:solidFill>
                  </a:tcPr>
                </a:tc>
                <a:tc>
                  <a:txBody>
                    <a:bodyPr/>
                    <a:lstStyle/>
                    <a:p>
                      <a:r>
                        <a:rPr sz="1200" b="0">
                          <a:solidFill>
                            <a:srgbClr val="1F2937"/>
                          </a:solidFill>
                        </a:rPr>
                        <a:t>Asosiy, qulay va bepul (davlat tizimida)</a:t>
                      </a:r>
                    </a:p>
                  </a:txBody>
                  <a:tcPr marL="73152" marR="73152" marT="36576" marB="36576">
                    <a:solidFill>
                      <a:srgbClr val="E8EEF6"/>
                    </a:solidFill>
                  </a:tcPr>
                </a:tc>
              </a:tr>
              <a:tr h="411480">
                <a:tc>
                  <a:txBody>
                    <a:bodyPr/>
                    <a:lstStyle/>
                    <a:p>
                      <a:r>
                        <a:rPr sz="1200" b="0">
                          <a:solidFill>
                            <a:srgbClr val="1F2937"/>
                          </a:solidFill>
                        </a:rPr>
                        <a:t>Shoshilinch va tez</a:t>
                      </a:r>
                    </a:p>
                  </a:txBody>
                  <a:tcPr marL="73152" marR="73152" marT="36576" marB="36576">
                    <a:solidFill>
                      <a:srgbClr val="FFFFFF"/>
                    </a:solidFill>
                  </a:tcPr>
                </a:tc>
                <a:tc>
                  <a:txBody>
                    <a:bodyPr/>
                    <a:lstStyle/>
                    <a:p>
                      <a:r>
                        <a:rPr sz="1200" b="0">
                          <a:solidFill>
                            <a:srgbClr val="1F2937"/>
                          </a:solidFill>
                        </a:rPr>
                        <a:t>30</a:t>
                      </a:r>
                    </a:p>
                  </a:txBody>
                  <a:tcPr marL="73152" marR="73152" marT="36576" marB="36576">
                    <a:solidFill>
                      <a:srgbClr val="FFFFFF"/>
                    </a:solidFill>
                  </a:tcPr>
                </a:tc>
                <a:tc>
                  <a:txBody>
                    <a:bodyPr/>
                    <a:lstStyle/>
                    <a:p>
                      <a:r>
                        <a:rPr sz="1200" b="0">
                          <a:solidFill>
                            <a:srgbClr val="1F2937"/>
                          </a:solidFill>
                        </a:rPr>
                        <a:t>Barcha davolash-profilaktika muassasalarida</a:t>
                      </a:r>
                    </a:p>
                  </a:txBody>
                  <a:tcPr marL="73152" marR="73152" marT="36576" marB="36576">
                    <a:solidFill>
                      <a:srgbClr val="FFFFFF"/>
                    </a:solidFill>
                  </a:tcPr>
                </a:tc>
              </a:tr>
              <a:tr h="411480">
                <a:tc>
                  <a:txBody>
                    <a:bodyPr/>
                    <a:lstStyle/>
                    <a:p>
                      <a:r>
                        <a:rPr sz="1200" b="0">
                          <a:solidFill>
                            <a:srgbClr val="1F2937"/>
                          </a:solidFill>
                        </a:rPr>
                        <a:t>Ixtisoslashgan</a:t>
                      </a:r>
                    </a:p>
                  </a:txBody>
                  <a:tcPr marL="73152" marR="73152" marT="36576" marB="36576">
                    <a:solidFill>
                      <a:srgbClr val="E8EEF6"/>
                    </a:solidFill>
                  </a:tcPr>
                </a:tc>
                <a:tc>
                  <a:txBody>
                    <a:bodyPr/>
                    <a:lstStyle/>
                    <a:p>
                      <a:r>
                        <a:rPr sz="1200" b="0">
                          <a:solidFill>
                            <a:srgbClr val="1F2937"/>
                          </a:solidFill>
                        </a:rPr>
                        <a:t>31</a:t>
                      </a:r>
                    </a:p>
                  </a:txBody>
                  <a:tcPr marL="73152" marR="73152" marT="36576" marB="36576">
                    <a:solidFill>
                      <a:srgbClr val="E8EEF6"/>
                    </a:solidFill>
                  </a:tcPr>
                </a:tc>
                <a:tc>
                  <a:txBody>
                    <a:bodyPr/>
                    <a:lstStyle/>
                    <a:p>
                      <a:r>
                        <a:rPr sz="1200" b="0">
                          <a:solidFill>
                            <a:srgbClr val="1F2937"/>
                          </a:solidFill>
                        </a:rPr>
                        <a:t>Murakkab texnologiya talab qilganda</a:t>
                      </a:r>
                    </a:p>
                  </a:txBody>
                  <a:tcPr marL="73152" marR="73152" marT="36576" marB="36576">
                    <a:solidFill>
                      <a:srgbClr val="E8EEF6"/>
                    </a:solidFill>
                  </a:tcPr>
                </a:tc>
              </a:tr>
              <a:tr h="411480">
                <a:tc>
                  <a:txBody>
                    <a:bodyPr/>
                    <a:lstStyle/>
                    <a:p>
                      <a:r>
                        <a:rPr sz="1200" b="0">
                          <a:solidFill>
                            <a:srgbClr val="1F2937"/>
                          </a:solidFill>
                        </a:rPr>
                        <a:t>Ijtimoiy ahamiyatli kasalliklar</a:t>
                      </a:r>
                    </a:p>
                  </a:txBody>
                  <a:tcPr marL="73152" marR="73152" marT="36576" marB="36576">
                    <a:solidFill>
                      <a:srgbClr val="FFFFFF"/>
                    </a:solidFill>
                  </a:tcPr>
                </a:tc>
                <a:tc>
                  <a:txBody>
                    <a:bodyPr/>
                    <a:lstStyle/>
                    <a:p>
                      <a:r>
                        <a:rPr sz="1200" b="0">
                          <a:solidFill>
                            <a:srgbClr val="1F2937"/>
                          </a:solidFill>
                        </a:rPr>
                        <a:t>32</a:t>
                      </a:r>
                    </a:p>
                  </a:txBody>
                  <a:tcPr marL="73152" marR="73152" marT="36576" marB="36576">
                    <a:solidFill>
                      <a:srgbClr val="FFFFFF"/>
                    </a:solidFill>
                  </a:tcPr>
                </a:tc>
                <a:tc>
                  <a:txBody>
                    <a:bodyPr/>
                    <a:lstStyle/>
                    <a:p>
                      <a:r>
                        <a:rPr sz="1200" b="0">
                          <a:solidFill>
                            <a:srgbClr val="1F2937"/>
                          </a:solidFill>
                        </a:rPr>
                        <a:t>Doimiy kuzatuv, imtiyozlar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Yordam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17, 16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siri (45-modda) va istisnolar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45-modda: murojaat, holat, tashxis, davo ma’lumotlari — sir; olgan shaxs ham saqlashi shart.</a:t>
            </a:r>
          </a:p>
          <a:p>
            <a:pPr>
              <a:spcAft>
                <a:spcPts val="800"/>
              </a:spcAft>
            </a:pPr>
            <a:r>
              <a:rPr sz="1800">
                <a:solidFill>
                  <a:srgbClr val="1F2937"/>
                </a:solidFill>
                <a:latin typeface="Calibri"/>
              </a:rPr>
              <a:t>▸  Istisno: 14 yoshgacha, iroda bildira olmaydi, atrofdagilarga xavf, rasmiy so‘rov, g‘ayriqonuniy zarar.</a:t>
            </a:r>
          </a:p>
          <a:p>
            <a:pPr>
              <a:spcAft>
                <a:spcPts val="800"/>
              </a:spcAft>
            </a:pPr>
            <a:r>
              <a:rPr sz="1800">
                <a:solidFill>
                  <a:srgbClr val="1F2937"/>
                </a:solidFill>
                <a:latin typeface="Calibri"/>
              </a:rPr>
              <a:t>▸  Jinoyat kodeksining 241-moddasi: jinoyatni xabar bermaslik yoki yashirish uchun javobgarlik.</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siri: murojaat, tashxis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Roziliksiz oshkor etilmaydi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Istisno: xavf yoki rasmiy so‘rov</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Olgan shaxs ham sirni saqlaydi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Buzilsa — javobgarlik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Shifokor siri yo‘li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18, 19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Islohot zaruriyati: eski tizim kamchiliklari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Sobiq ittifoq davrida birlamchi bo‘g‘in uchastka-hududiylik tamoyiliga tayangan. Yordamni asosan yagona vrach-terapevt ko‘rsatgan.</a:t>
            </a:r>
          </a:p>
          <a:p>
            <a:pPr>
              <a:spcAft>
                <a:spcPts val="1200"/>
              </a:spcAft>
            </a:pPr>
            <a:r>
              <a:rPr sz="2200">
                <a:solidFill>
                  <a:srgbClr val="1F2937"/>
                </a:solidFill>
                <a:latin typeface="Calibri"/>
              </a:rPr>
              <a:t>▸  Keyin tor mutaxassislar (pediatr, akusher-ginekolog, ftiziatr, xirurg va b.) kiritildi. Qishloqda kamquvvat muassasalar ko‘paydi.</a:t>
            </a:r>
          </a:p>
          <a:p>
            <a:pPr>
              <a:spcAft>
                <a:spcPts val="1200"/>
              </a:spcAft>
            </a:pPr>
            <a:r>
              <a:rPr sz="2200">
                <a:solidFill>
                  <a:srgbClr val="1F2937"/>
                </a:solidFill>
                <a:latin typeface="Calibri"/>
              </a:rPr>
              <a:t>▸  Malakali kadr va moliyalash mexanizmi yetishmasa ham ish o‘rinlari ko‘paydi. Natijada xarajat oshdi, yordam sifati pasaydi.</a:t>
            </a:r>
          </a:p>
          <a:p>
            <a:pPr>
              <a:spcAft>
                <a:spcPts val="1200"/>
              </a:spcAft>
            </a:pPr>
            <a:r>
              <a:rPr sz="2200">
                <a:solidFill>
                  <a:srgbClr val="1F2937"/>
                </a:solidFill>
                <a:latin typeface="Calibri"/>
              </a:rPr>
              <a:t>▸  Ambulatoriyada davolanishi mumkin bemorlar kasalxonaga yotqizildi. Jihozlanmagan kasalxonalar va bemor o‘rinlari soni ortdi.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22, 22-23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Davlat dasturi (1998): tamoyillar va birlamchi bo‘g‘in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Dastur 1998–2005-yillardagi islohot konsepsiyasini, uning maqsad, tamoyil va vazifalarini belgilagan.</a:t>
            </a:r>
          </a:p>
          <a:p>
            <a:pPr>
              <a:spcAft>
                <a:spcPts val="800"/>
              </a:spcAft>
            </a:pPr>
            <a:r>
              <a:rPr sz="1800">
                <a:solidFill>
                  <a:srgbClr val="1F2937"/>
                </a:solidFill>
                <a:latin typeface="Calibri"/>
              </a:rPr>
              <a:t>▸  Tamoyillar: teng bahramandlik, profilaktika ustuvorligi, xususiy amaliyotni rag‘batlantirish.</a:t>
            </a:r>
          </a:p>
          <a:p>
            <a:pPr>
              <a:spcAft>
                <a:spcPts val="800"/>
              </a:spcAft>
            </a:pPr>
            <a:r>
              <a:rPr sz="1800">
                <a:solidFill>
                  <a:srgbClr val="1F2937"/>
                </a:solidFill>
                <a:latin typeface="Calibri"/>
              </a:rPr>
              <a:t>▸  Birlamchi yordam murojaatlarning qariyb 90 foizini qondirib, kasalxona yuklamasini kamaytiradi.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50647"/>
                <a:gridCol w="1960709"/>
                <a:gridCol w="237661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Avval</a:t>
                      </a:r>
                    </a:p>
                  </a:txBody>
                  <a:tcPr marL="73152" marR="73152" marT="36576" marB="36576">
                    <a:solidFill>
                      <a:srgbClr val="0B1F3A"/>
                    </a:solidFill>
                  </a:tcPr>
                </a:tc>
                <a:tc>
                  <a:txBody>
                    <a:bodyPr/>
                    <a:lstStyle/>
                    <a:p>
                      <a:r>
                        <a:rPr sz="1300" b="1">
                          <a:solidFill>
                            <a:srgbClr val="FFFFFF"/>
                          </a:solidFill>
                        </a:rPr>
                        <a:t>Dasturga ko‘ra</a:t>
                      </a:r>
                    </a:p>
                  </a:txBody>
                  <a:tcPr marL="73152" marR="73152" marT="36576" marB="36576">
                    <a:solidFill>
                      <a:srgbClr val="0B1F3A"/>
                    </a:solidFill>
                  </a:tcPr>
                </a:tc>
              </a:tr>
              <a:tr h="411480">
                <a:tc>
                  <a:txBody>
                    <a:bodyPr/>
                    <a:lstStyle/>
                    <a:p>
                      <a:r>
                        <a:rPr sz="1200" b="0">
                          <a:solidFill>
                            <a:srgbClr val="1F2937"/>
                          </a:solidFill>
                        </a:rPr>
                        <a:t>Pog‘onalar</a:t>
                      </a:r>
                    </a:p>
                  </a:txBody>
                  <a:tcPr marL="73152" marR="73152" marT="36576" marB="36576">
                    <a:solidFill>
                      <a:srgbClr val="E8EEF6"/>
                    </a:solidFill>
                  </a:tcPr>
                </a:tc>
                <a:tc>
                  <a:txBody>
                    <a:bodyPr/>
                    <a:lstStyle/>
                    <a:p>
                      <a:r>
                        <a:rPr sz="1200" b="0">
                          <a:solidFill>
                            <a:srgbClr val="1F2937"/>
                          </a:solidFill>
                        </a:rPr>
                        <a:t>Besh pog‘onali tizim</a:t>
                      </a:r>
                    </a:p>
                  </a:txBody>
                  <a:tcPr marL="73152" marR="73152" marT="36576" marB="36576">
                    <a:solidFill>
                      <a:srgbClr val="E8EEF6"/>
                    </a:solidFill>
                  </a:tcPr>
                </a:tc>
                <a:tc>
                  <a:txBody>
                    <a:bodyPr/>
                    <a:lstStyle/>
                    <a:p>
                      <a:r>
                        <a:rPr sz="1200" b="0">
                          <a:solidFill>
                            <a:srgbClr val="1F2937"/>
                          </a:solidFill>
                        </a:rPr>
                        <a:t>Ikki pog‘onali tizim</a:t>
                      </a:r>
                    </a:p>
                  </a:txBody>
                  <a:tcPr marL="73152" marR="73152" marT="36576" marB="36576">
                    <a:solidFill>
                      <a:srgbClr val="E8EEF6"/>
                    </a:solidFill>
                  </a:tcPr>
                </a:tc>
              </a:tr>
              <a:tr h="411480">
                <a:tc>
                  <a:txBody>
                    <a:bodyPr/>
                    <a:lstStyle/>
                    <a:p>
                      <a:r>
                        <a:rPr sz="1200" b="0">
                          <a:solidFill>
                            <a:srgbClr val="1F2937"/>
                          </a:solidFill>
                        </a:rPr>
                        <a:t>Qishloqda</a:t>
                      </a:r>
                    </a:p>
                  </a:txBody>
                  <a:tcPr marL="73152" marR="73152" marT="36576" marB="36576">
                    <a:solidFill>
                      <a:srgbClr val="FFFFFF"/>
                    </a:solidFill>
                  </a:tcPr>
                </a:tc>
                <a:tc>
                  <a:txBody>
                    <a:bodyPr/>
                    <a:lstStyle/>
                    <a:p>
                      <a:r>
                        <a:rPr sz="1200" b="0">
                          <a:solidFill>
                            <a:srgbClr val="1F2937"/>
                          </a:solidFill>
                        </a:rPr>
                        <a:t>Punkt, ambulatoriya, kasalxonalar</a:t>
                      </a:r>
                    </a:p>
                  </a:txBody>
                  <a:tcPr marL="73152" marR="73152" marT="36576" marB="36576">
                    <a:solidFill>
                      <a:srgbClr val="FFFFFF"/>
                    </a:solidFill>
                  </a:tcPr>
                </a:tc>
                <a:tc>
                  <a:txBody>
                    <a:bodyPr/>
                    <a:lstStyle/>
                    <a:p>
                      <a:r>
                        <a:rPr sz="1200" b="0">
                          <a:solidFill>
                            <a:srgbClr val="1F2937"/>
                          </a:solidFill>
                        </a:rPr>
                        <a:t>Qishloq vrachlik punkti + markaziy kasalxona</a:t>
                      </a:r>
                    </a:p>
                  </a:txBody>
                  <a:tcPr marL="73152" marR="73152" marT="36576" marB="36576">
                    <a:solidFill>
                      <a:srgbClr val="FFFFFF"/>
                    </a:solidFill>
                  </a:tcPr>
                </a:tc>
              </a:tr>
              <a:tr h="411480">
                <a:tc>
                  <a:txBody>
                    <a:bodyPr/>
                    <a:lstStyle/>
                    <a:p>
                      <a:r>
                        <a:rPr sz="1200" b="0">
                          <a:solidFill>
                            <a:srgbClr val="1F2937"/>
                          </a:solidFill>
                        </a:rPr>
                        <a:t>Shaharda</a:t>
                      </a:r>
                    </a:p>
                  </a:txBody>
                  <a:tcPr marL="73152" marR="73152" marT="36576" marB="36576">
                    <a:solidFill>
                      <a:srgbClr val="E8EEF6"/>
                    </a:solidFill>
                  </a:tcPr>
                </a:tc>
                <a:tc>
                  <a:txBody>
                    <a:bodyPr/>
                    <a:lstStyle/>
                    <a:p>
                      <a:r>
                        <a:rPr sz="1200" b="0">
                          <a:solidFill>
                            <a:srgbClr val="1F2937"/>
                          </a:solidFill>
                        </a:rPr>
                        <a:t>Poliklinika va kasalxonalar</a:t>
                      </a:r>
                    </a:p>
                  </a:txBody>
                  <a:tcPr marL="73152" marR="73152" marT="36576" marB="36576">
                    <a:solidFill>
                      <a:srgbClr val="E8EEF6"/>
                    </a:solidFill>
                  </a:tcPr>
                </a:tc>
                <a:tc>
                  <a:txBody>
                    <a:bodyPr/>
                    <a:lstStyle/>
                    <a:p>
                      <a:r>
                        <a:rPr sz="1200" b="0">
                          <a:solidFill>
                            <a:srgbClr val="1F2937"/>
                          </a:solidFill>
                        </a:rPr>
                        <a:t>Oilaviy poliklinika + shahar kasalxonasi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Birlamchi bo‘g‘in: avval va keyin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24-25, 24, 27-28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Moliyalash, boshqaruv va kadrlar islohoti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Avval mablag‘ xodim, maydon va tashrif soniga qarab ajratilgan. Sifatni oshirishga iqtisodiy rag‘bat bo‘lmagan.</a:t>
            </a:r>
          </a:p>
          <a:p>
            <a:pPr>
              <a:spcAft>
                <a:spcPts val="800"/>
              </a:spcAft>
            </a:pPr>
            <a:r>
              <a:rPr sz="1800">
                <a:solidFill>
                  <a:srgbClr val="1F2937"/>
                </a:solidFill>
                <a:latin typeface="Calibri"/>
              </a:rPr>
              <a:t>▸  Tug‘ish yoshidagi ayollar va bolalar ko‘proq murojaat qilgani uchun ularga mablag‘ ko‘proq ajratiladi.</a:t>
            </a:r>
          </a:p>
          <a:p>
            <a:pPr>
              <a:spcAft>
                <a:spcPts val="800"/>
              </a:spcAft>
            </a:pPr>
            <a:r>
              <a:rPr sz="1800">
                <a:solidFill>
                  <a:srgbClr val="1F2937"/>
                </a:solidFill>
                <a:latin typeface="Calibri"/>
              </a:rPr>
              <a:t>▸  Oliy tibbiy ta’lim ikki bosqichli: bakalavriatda umumiy amaliyot vrachlari, magistraturada tor mutaxassislar tayyorlanadi.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12590"/>
                <a:gridCol w="2137692"/>
                <a:gridCol w="2137692"/>
              </a:tblGrid>
              <a:tr h="411480">
                <a:tc>
                  <a:txBody>
                    <a:bodyPr/>
                    <a:lstStyle/>
                    <a:p>
                      <a:r>
                        <a:rPr sz="1300" b="1">
                          <a:solidFill>
                            <a:srgbClr val="FFFFFF"/>
                          </a:solidFill>
                        </a:rPr>
                        <a:t>Yo‘nalish</a:t>
                      </a:r>
                    </a:p>
                  </a:txBody>
                  <a:tcPr marL="73152" marR="73152" marT="36576" marB="36576">
                    <a:solidFill>
                      <a:srgbClr val="0B1F3A"/>
                    </a:solidFill>
                  </a:tcPr>
                </a:tc>
                <a:tc>
                  <a:txBody>
                    <a:bodyPr/>
                    <a:lstStyle/>
                    <a:p>
                      <a:r>
                        <a:rPr sz="1300" b="1">
                          <a:solidFill>
                            <a:srgbClr val="FFFFFF"/>
                          </a:solidFill>
                        </a:rPr>
                        <a:t>Yangilik</a:t>
                      </a:r>
                    </a:p>
                  </a:txBody>
                  <a:tcPr marL="73152" marR="73152" marT="36576" marB="36576">
                    <a:solidFill>
                      <a:srgbClr val="0B1F3A"/>
                    </a:solidFill>
                  </a:tcPr>
                </a:tc>
                <a:tc>
                  <a:txBody>
                    <a:bodyPr/>
                    <a:lstStyle/>
                    <a:p>
                      <a:r>
                        <a:rPr sz="1300" b="1">
                          <a:solidFill>
                            <a:srgbClr val="FFFFFF"/>
                          </a:solidFill>
                        </a:rPr>
                        <a:t>Vazifasi</a:t>
                      </a:r>
                    </a:p>
                  </a:txBody>
                  <a:tcPr marL="73152" marR="73152" marT="36576" marB="36576">
                    <a:solidFill>
                      <a:srgbClr val="0B1F3A"/>
                    </a:solidFill>
                  </a:tcPr>
                </a:tc>
              </a:tr>
              <a:tr h="411480">
                <a:tc>
                  <a:txBody>
                    <a:bodyPr/>
                    <a:lstStyle/>
                    <a:p>
                      <a:r>
                        <a:rPr sz="1200" b="0">
                          <a:solidFill>
                            <a:srgbClr val="1F2937"/>
                          </a:solidFill>
                        </a:rPr>
                        <a:t>Moliyalash</a:t>
                      </a:r>
                    </a:p>
                  </a:txBody>
                  <a:tcPr marL="73152" marR="73152" marT="36576" marB="36576">
                    <a:solidFill>
                      <a:srgbClr val="E8EEF6"/>
                    </a:solidFill>
                  </a:tcPr>
                </a:tc>
                <a:tc>
                  <a:txBody>
                    <a:bodyPr/>
                    <a:lstStyle/>
                    <a:p>
                      <a:r>
                        <a:rPr sz="1200" b="0">
                          <a:solidFill>
                            <a:srgbClr val="1F2937"/>
                          </a:solidFill>
                        </a:rPr>
                        <a:t>Jon boshiga me’yor</a:t>
                      </a:r>
                    </a:p>
                  </a:txBody>
                  <a:tcPr marL="73152" marR="73152" marT="36576" marB="36576">
                    <a:solidFill>
                      <a:srgbClr val="E8EEF6"/>
                    </a:solidFill>
                  </a:tcPr>
                </a:tc>
                <a:tc>
                  <a:txBody>
                    <a:bodyPr/>
                    <a:lstStyle/>
                    <a:p>
                      <a:r>
                        <a:rPr sz="1200" b="0">
                          <a:solidFill>
                            <a:srgbClr val="1F2937"/>
                          </a:solidFill>
                        </a:rPr>
                        <a:t>Aholi soni, yosh, jins hisobga olinadi</a:t>
                      </a:r>
                    </a:p>
                  </a:txBody>
                  <a:tcPr marL="73152" marR="73152" marT="36576" marB="36576">
                    <a:solidFill>
                      <a:srgbClr val="E8EEF6"/>
                    </a:solidFill>
                  </a:tcPr>
                </a:tc>
              </a:tr>
              <a:tr h="411480">
                <a:tc>
                  <a:txBody>
                    <a:bodyPr/>
                    <a:lstStyle/>
                    <a:p>
                      <a:r>
                        <a:rPr sz="1200" b="0">
                          <a:solidFill>
                            <a:srgbClr val="1F2937"/>
                          </a:solidFill>
                        </a:rPr>
                        <a:t>Boshqaruv</a:t>
                      </a:r>
                    </a:p>
                  </a:txBody>
                  <a:tcPr marL="73152" marR="73152" marT="36576" marB="36576">
                    <a:solidFill>
                      <a:srgbClr val="FFFFFF"/>
                    </a:solidFill>
                  </a:tcPr>
                </a:tc>
                <a:tc>
                  <a:txBody>
                    <a:bodyPr/>
                    <a:lstStyle/>
                    <a:p>
                      <a:r>
                        <a:rPr sz="1200" b="0">
                          <a:solidFill>
                            <a:srgbClr val="1F2937"/>
                          </a:solidFill>
                        </a:rPr>
                        <a:t>Moliyaviy menejer lavozimi</a:t>
                      </a:r>
                    </a:p>
                  </a:txBody>
                  <a:tcPr marL="73152" marR="73152" marT="36576" marB="36576">
                    <a:solidFill>
                      <a:srgbClr val="FFFFFF"/>
                    </a:solidFill>
                  </a:tcPr>
                </a:tc>
                <a:tc>
                  <a:txBody>
                    <a:bodyPr/>
                    <a:lstStyle/>
                    <a:p>
                      <a:r>
                        <a:rPr sz="1200" b="0">
                          <a:solidFill>
                            <a:srgbClr val="1F2937"/>
                          </a:solidFill>
                        </a:rPr>
                        <a:t>Zaxira, hisob-kitob va hisobotlar</a:t>
                      </a:r>
                    </a:p>
                  </a:txBody>
                  <a:tcPr marL="73152" marR="73152" marT="36576" marB="36576">
                    <a:solidFill>
                      <a:srgbClr val="FFFFFF"/>
                    </a:solidFill>
                  </a:tcPr>
                </a:tc>
              </a:tr>
              <a:tr h="411480">
                <a:tc>
                  <a:txBody>
                    <a:bodyPr/>
                    <a:lstStyle/>
                    <a:p>
                      <a:r>
                        <a:rPr sz="1200" b="0">
                          <a:solidFill>
                            <a:srgbClr val="1F2937"/>
                          </a:solidFill>
                        </a:rPr>
                        <a:t>Shoshilinch yordam</a:t>
                      </a:r>
                    </a:p>
                  </a:txBody>
                  <a:tcPr marL="73152" marR="73152" marT="36576" marB="36576">
                    <a:solidFill>
                      <a:srgbClr val="E8EEF6"/>
                    </a:solidFill>
                  </a:tcPr>
                </a:tc>
                <a:tc>
                  <a:txBody>
                    <a:bodyPr/>
                    <a:lstStyle/>
                    <a:p>
                      <a:r>
                        <a:rPr sz="1200" b="0">
                          <a:solidFill>
                            <a:srgbClr val="1F2937"/>
                          </a:solidFill>
                        </a:rPr>
                        <a:t>Respublika ilmiy markazi, filiallar</a:t>
                      </a:r>
                    </a:p>
                  </a:txBody>
                  <a:tcPr marL="73152" marR="73152" marT="36576" marB="36576">
                    <a:solidFill>
                      <a:srgbClr val="E8EEF6"/>
                    </a:solidFill>
                  </a:tcPr>
                </a:tc>
                <a:tc>
                  <a:txBody>
                    <a:bodyPr/>
                    <a:lstStyle/>
                    <a:p>
                      <a:r>
                        <a:rPr sz="1200" b="0">
                          <a:solidFill>
                            <a:srgbClr val="1F2937"/>
                          </a:solidFill>
                        </a:rPr>
                        <a:t>Tez yordam va sanitariya aviatsiyasi</a:t>
                      </a:r>
                    </a:p>
                  </a:txBody>
                  <a:tcPr marL="73152" marR="73152" marT="36576" marB="36576">
                    <a:solidFill>
                      <a:srgbClr val="E8EEF6"/>
                    </a:solidFill>
                  </a:tcPr>
                </a:tc>
              </a:tr>
              <a:tr h="411480">
                <a:tc>
                  <a:txBody>
                    <a:bodyPr/>
                    <a:lstStyle/>
                    <a:p>
                      <a:r>
                        <a:rPr sz="1200" b="0">
                          <a:solidFill>
                            <a:srgbClr val="1F2937"/>
                          </a:solidFill>
                        </a:rPr>
                        <a:t>Kadr nazorati</a:t>
                      </a:r>
                    </a:p>
                  </a:txBody>
                  <a:tcPr marL="73152" marR="73152" marT="36576" marB="36576">
                    <a:solidFill>
                      <a:srgbClr val="FFFFFF"/>
                    </a:solidFill>
                  </a:tcPr>
                </a:tc>
                <a:tc>
                  <a:txBody>
                    <a:bodyPr/>
                    <a:lstStyle/>
                    <a:p>
                      <a:r>
                        <a:rPr sz="1200" b="0">
                          <a:solidFill>
                            <a:srgbClr val="1F2937"/>
                          </a:solidFill>
                        </a:rPr>
                        <a:t>Litsenziyalash va attestatsiya markazi</a:t>
                      </a:r>
                    </a:p>
                  </a:txBody>
                  <a:tcPr marL="73152" marR="73152" marT="36576" marB="36576">
                    <a:solidFill>
                      <a:srgbClr val="FFFFFF"/>
                    </a:solidFill>
                  </a:tcPr>
                </a:tc>
                <a:tc>
                  <a:txBody>
                    <a:bodyPr/>
                    <a:lstStyle/>
                    <a:p>
                      <a:r>
                        <a:rPr sz="1200" b="0">
                          <a:solidFill>
                            <a:srgbClr val="1F2937"/>
                          </a:solidFill>
                        </a:rPr>
                        <a:t>Vrach va farmatsevtlar malakasi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Islohotning asosiy yangiliklari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29, 30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2003 va 2007-yil Farmonlari: ixtisoslashgan markazlar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2003-yil 26-fevral Farmoni islohotning ikkinchi bosqichini boshladi. Maqsad: zamonaviy jihozli ixtisoslashgan klinika va tibbiy markazlar yaratish.</a:t>
            </a:r>
          </a:p>
          <a:p>
            <a:pPr>
              <a:spcAft>
                <a:spcPts val="1200"/>
              </a:spcAft>
            </a:pPr>
            <a:r>
              <a:rPr sz="2000">
                <a:solidFill>
                  <a:srgbClr val="1F2937"/>
                </a:solidFill>
                <a:latin typeface="Calibri"/>
              </a:rPr>
              <a:t>▸  Tajriba tariqasida dastlab jarrohlik, urologiya, kardiologiya va ko‘z mikroxirurgiyasi respublika markazlari tashkil etildi.</a:t>
            </a:r>
          </a:p>
          <a:p>
            <a:pPr>
              <a:spcAft>
                <a:spcPts val="1200"/>
              </a:spcAft>
            </a:pPr>
            <a:r>
              <a:rPr sz="2000">
                <a:solidFill>
                  <a:srgbClr val="1F2937"/>
                </a:solidFill>
                <a:latin typeface="Calibri"/>
              </a:rPr>
              <a:t>▸  2007-yil 19-sentyabr Farmoni oltita yangi ilmiy-amaliy markaz ochdi: akusherlik-ginekologiya, pediatriya, terapiya va reabilitatsiya, dermatovenerologiya, ftiziatriya, endokrinologiya.</a:t>
            </a:r>
          </a:p>
          <a:p>
            <a:pPr>
              <a:spcAft>
                <a:spcPts val="1200"/>
              </a:spcAft>
            </a:pPr>
            <a:r>
              <a:rPr sz="2000">
                <a:solidFill>
                  <a:srgbClr val="1F2937"/>
                </a:solidFill>
                <a:latin typeface="Calibri"/>
              </a:rPr>
              <a:t>▸  Viloyatlarda ko‘p tarmoqli tibbiyot markazlari, tumanlarda tibbiyot birlashmalari tuzildi. Birlashmalar qishloq vrachlik punktlari va oilaviy poliklinikalar faoliyatini muvofiqlashtiradi.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31, 32, 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6: islohot natijasi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qishloq ambulatoriyasi vrachi oddiy bemorni ham kasalxonaga yo‘llaydi, profilaktikaga deyarli vaqt ajratmaydi.</a:t>
            </a:r>
          </a:p>
          <a:p>
            <a:pPr>
              <a:spcAft>
                <a:spcPts val="1200"/>
              </a:spcAft>
            </a:pPr>
            <a:r>
              <a:rPr sz="2200">
                <a:solidFill>
                  <a:srgbClr val="1F2937"/>
                </a:solidFill>
                <a:latin typeface="Calibri"/>
              </a:rPr>
              <a:t>▸  Eski tizimda mablag‘ xodimlar soni, xizmat maydoni va tashriflar soniga qarab ajratilgan. Sifatni oshirishga iqtisodiy rag‘bat yo‘q edi.</a:t>
            </a:r>
          </a:p>
          <a:p>
            <a:pPr>
              <a:spcAft>
                <a:spcPts val="1200"/>
              </a:spcAft>
            </a:pPr>
            <a:r>
              <a:rPr sz="2200">
                <a:solidFill>
                  <a:srgbClr val="1F2937"/>
                </a:solidFill>
                <a:latin typeface="Calibri"/>
              </a:rPr>
              <a:t>▸  Yangi tizimda jon boshiga moliyalash joriy etildi: biriktirilgan har bir kishiga yagona me’yor, yosh, jins va zichlik bo‘yicha koeffitsientlar qo‘llanadi.</a:t>
            </a:r>
          </a:p>
          <a:p>
            <a:pPr>
              <a:spcAft>
                <a:spcPts val="1200"/>
              </a:spcAft>
            </a:pPr>
            <a:r>
              <a:rPr sz="2200">
                <a:solidFill>
                  <a:srgbClr val="1F2937"/>
                </a:solidFill>
                <a:latin typeface="Calibri"/>
              </a:rPr>
              <a:t>▸  Savol: jon boshiga moliyalash vrachni nega profilaktikaga undaydi? Muassasa rahbari davolash sifatiga, moliyaviy menejer hisob-kitobga javob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29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 va umumiy takrorlash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1: O‘zbekistonda shifokor siri roziliksiz qaysi holatlarda beriladi? Masalan, atrofdagilarga xavf tug‘ilganda yoki surishtiruv va sud so‘rovi bo‘yicha.</a:t>
            </a:r>
          </a:p>
          <a:p>
            <a:pPr>
              <a:spcAft>
                <a:spcPts val="1200"/>
              </a:spcAft>
            </a:pPr>
            <a:r>
              <a:rPr sz="2000">
                <a:solidFill>
                  <a:srgbClr val="1F2937"/>
                </a:solidFill>
                <a:latin typeface="Calibri"/>
              </a:rPr>
              <a:t>▸  Savol 2: Buyuk Britaniyada maxfiylik mutlaq burchmi? Yo‘q. Qonun talab qilsa, bemor rozi bo‘lsa yoki jamoat manfaati bo‘lsa, oshkor qilish mumkin.</a:t>
            </a:r>
          </a:p>
          <a:p>
            <a:pPr>
              <a:spcAft>
                <a:spcPts val="1200"/>
              </a:spcAft>
            </a:pPr>
            <a:r>
              <a:rPr sz="2000">
                <a:solidFill>
                  <a:srgbClr val="1F2937"/>
                </a:solidFill>
                <a:latin typeface="Calibri"/>
              </a:rPr>
              <a:t>▸  Savol 3: besh pog‘onali birlamchi bo‘g‘in nima bilan almashtirildi? Ikki pog‘onali tizim bilan: qishloqda vrachlik punkti va tuman markaziy kasalxonasi, shaharda oilaviy poliklinika.</a:t>
            </a:r>
          </a:p>
          <a:p>
            <a:pPr>
              <a:spcAft>
                <a:spcPts val="1200"/>
              </a:spcAft>
            </a:pPr>
            <a:r>
              <a:rPr sz="2000">
                <a:solidFill>
                  <a:srgbClr val="1F2937"/>
                </a:solidFill>
                <a:latin typeface="Calibri"/>
              </a:rPr>
              <a:t>▸  Eslab qoling: shifokor siri, ixtiyoriy rozilik, birlamchi bo‘g‘in, jon boshiga moliyalash, ixtisoslashgan markaz — ma’ruzaning besh asosiy atamasi.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Vrach faoliyatining huquqiy asoslari: darslik, betlar: 19, 28, 29; Payne-James J., Jones R., Karch S.B., Manlove J., Simpson's Forensic Medicine, betlar: 17-18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Bioetika tamoyillari: bemor avtonomiyasi, zarar yetkazmaslik, bemor manfaatiga xizmat, qadr-qimmat, halollik (xabardor rozilik) va adolat. Ular ba‘zan bir-biriga zid keladi.</a:t>
            </a:r>
          </a:p>
          <a:p>
            <a:pPr>
              <a:spcAft>
                <a:spcPts val="1200"/>
              </a:spcAft>
            </a:pPr>
            <a:r>
              <a:rPr sz="2000">
                <a:solidFill>
                  <a:srgbClr val="1F2937"/>
                </a:solidFill>
                <a:latin typeface="Calibri"/>
              </a:rPr>
              <a:t>▸  Shifokor siri mutlaq emas: bemor roziligi, sud talabi yoki xavf bo‘lganda oshkor qilinadi. O‘zbekiston qonuni bu istisnolarni 45-moddada sanaydi.</a:t>
            </a:r>
          </a:p>
          <a:p>
            <a:pPr>
              <a:spcAft>
                <a:spcPts val="1200"/>
              </a:spcAft>
            </a:pPr>
            <a:r>
              <a:rPr sz="2000">
                <a:solidFill>
                  <a:srgbClr val="1F2937"/>
                </a:solidFill>
                <a:latin typeface="Calibri"/>
              </a:rPr>
              <a:t>▸  Vrachlarni tartibga solish: Buyuk Britaniyada General Medical Council (GMC) ro‘yxat yuritadi va yaroqlilikni tekshiradi. O‘zbekistonda faoliyat uchun diplom, ayrim turlarida litsenziya ham kerak.</a:t>
            </a:r>
          </a:p>
          <a:p>
            <a:pPr>
              <a:spcAft>
                <a:spcPts val="1200"/>
              </a:spcAft>
            </a:pPr>
            <a:r>
              <a:rPr sz="2000">
                <a:solidFill>
                  <a:srgbClr val="1F2937"/>
                </a:solidFill>
                <a:latin typeface="Calibri"/>
              </a:rPr>
              <a:t>▸  “Fuqarolar sog‘lig‘ini saqlash to‘g‘risida”gi qonun 1996 yilda qabul qilingan, 47 moddadan iborat. Islohot maqsadi — malakali yordamdan barcha qatlamlar teng foydalanishi.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Payne-James J., Jones R., Karch S.B., Manlove J., Simpson's Forensic Medicine, betlar: 17, 21; G‘iyosov Z.A., Vrach faoliyatining huquqiy asoslari: darslik, betlar: 18–19, 10; 33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inson salomatligining taxminan yarmi turmush tarziga bog‘liq (48–52%). Nasl va irsiyat 18–20%, ekologiya 18–20%, tibbiy yordam esa atigi 8–10%. Eslab qolish: «50–20–20–10», ya’ni turmush tarzi, nasl, ekologiya, tibbiyot.</a:t>
            </a:r>
          </a:p>
          <a:p>
            <a:pPr>
              <a:spcAft>
                <a:spcPts val="1200"/>
              </a:spcAft>
            </a:pPr>
            <a:r>
              <a:rPr sz="1800">
                <a:solidFill>
                  <a:srgbClr val="1F2937"/>
                </a:solidFill>
                <a:latin typeface="Calibri"/>
              </a:rPr>
              <a:t>▸  Huquq va axloq o‘rtasidagi farq: huquq ma’naviyatning eng quyi darajasi (minimumi), axloq-etika esa yuqori darajasi hisoblanadi. Axloqiy talablar ixtiyoriy bajariladi, huquqiy me’yorlar esa bevosita yoki bilvosita majburlash orqali ta’minlanadi.</a:t>
            </a:r>
          </a:p>
          <a:p>
            <a:pPr>
              <a:spcAft>
                <a:spcPts val="1200"/>
              </a:spcAft>
            </a:pPr>
            <a:r>
              <a:rPr sz="1800">
                <a:solidFill>
                  <a:srgbClr val="1F2937"/>
                </a:solidFill>
                <a:latin typeface="Calibri"/>
              </a:rPr>
              <a:t>▸  Eslab qolish usuli (bioetika mavzulari): A-N-B-D-H-J. Autonomiya (bemor tanlovi), Non-maleficence (zarar yetkazmaslik), Beneficence (bemor manfaati), Dignity (qadr-qimmat), Honesty (halollik, informed rozilik), Justice (adolat, resurslarni taqsimlash).</a:t>
            </a:r>
          </a:p>
          <a:p>
            <a:pPr>
              <a:spcAft>
                <a:spcPts val="1200"/>
              </a:spcAft>
            </a:pPr>
            <a:r>
              <a:rPr sz="1800">
                <a:solidFill>
                  <a:srgbClr val="1F2937"/>
                </a:solidFill>
                <a:latin typeface="Calibri"/>
              </a:rPr>
              <a:t>▸  Hodisa tahlili: Jehovah’s Witnesses tarafdori qon quyishni rad etadi, vrach esa bunda o‘lim bo‘lishini biladi. Bu yerda bemor avtonomiyasi va vrachning bemor manfaatini ko‘zlash tamoyili to‘qnashadi. Muhokama: qaysi tamoyil ustun turadi?</a:t>
            </a:r>
          </a:p>
          <a:p>
            <a:pPr>
              <a:spcAft>
                <a:spcPts val="1200"/>
              </a:spcAft>
            </a:pPr>
            <a:r>
              <a:rPr sz="1800">
                <a:solidFill>
                  <a:srgbClr val="1F2937"/>
                </a:solidFill>
                <a:latin typeface="Calibri"/>
              </a:rPr>
              <a:t>▸  Tarixiy fakt: 1939–45 yillardagi urushda tibbiy etika qo‘pol buzildi. Shundan so‘ng xalqaro tibbiyot jamoatchiligi Gippokrat qasamyodini zamonaviy shaklda, 1948 yilgi Jeneva deklaratsiyasi sifatida qayta bayon etdi. Deklaratsiya 2006 yilda yangilangan.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Poliklinikada bemor va shifokor o‘rtasida nizo chiqdi. Ularning huquq, majburiyat va mas’uliyat doirasini qaysi normalar majmuasi belgilaydi?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shifokorning shaxsiy axloqiy e’tiqodlari majmuasi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Tibbiyot huquqini tashkil etuvchi qoida va me’yorlar majmuasi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tibbiyot muassasasining ichki odat va an’analari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jamoatchilik fikri va kasbdoshlar tavsiyalari majmuasi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Axloqiy-etik talablar bilan huquqiy me’yorlarning bajarilishi qanday ta’minlanishida asosiy farq bor?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Ikkalasi ham faqat majburlash yordamida ta’minlanadi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Axloqiy talablar majburlash bilan, huquqiy me’yorlar ixtiyoriy bajariladi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Ikkalasi ham faqat ixtiyoriy tarzda, majburlovsiz bajariladi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Axloq-etika ixtiyoriy bajariladi, huquq majburlash orqali ta’minlanadi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vafot etdi. Jeneva deklaratsiyasidagi va’daga ko‘ra, vrach unga ishonib topshirilgan sirlarga qanday munosabatda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Vafotidan keyin ham sirlarni hurmat qilib, saqlaydi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Vafotidan so‘ng sirlarni qarindoshlarga aytishi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Vafotidan keyin sirni saqlash majburiyati tugaydi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Vafotidan so‘ng sirlarni ommaviy axborotga bera oladi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odamlar ustida klinik sinov o‘tkazmoqchi. U qaysi WMA deklaratsiyasiga tayanishi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1948-yilgi Jeneva deklaratsiyasi — tibbiyotning insonparvarlik maqsadlari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1970-yilgi Oslo deklaratsiyasi — terapevtik abort masalalari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1964-yilgi Xelsinki deklaratsiyasi — tajriba va klinik sinovlar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1975-yilgi Tokio deklaratsiyasi — qiynoq va shafqatsiz muomala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Iyegova guvohi bo‘lgan bemor qon quyishni rad etdi, vrach esa bu o‘limga olib kelishini biladi. Qaysi bioetik tamoyil bemorning bunday qarorini asoslaydi?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Ezgulik qilmaslik (non-maleficence) — zarar yetkazmaslik tamoyili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Avtonomiya — bemorning davolashni tanlash yoki rad etish huquqi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Adolat — cheklangan resurslarni taqsimlash tamoyili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Xayrixohlik (beneficence) — bemor manfaatida harakat qilish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Voqea tahlili: ongi joyida 45 yoshli bemor qon quyishni rad etdi. Vrach rad etilsa o‘lim bo‘lishini biladi. Vrach qanday yo‘l tutishi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Rad etishni inobatga olmay, qonni majburan quyish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Kompetent bemorning rad etish huquqini hurmat qilish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Qarorni o‘zgartirish uchun qarindoshlardan ruxsat so‘rash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Bemorni qarordan chetlatib, davolashni butunlay to‘xtatish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Fuqaro tibbiy yordamga murojaat qilgan, uning ma’lumotlari qonuniy tartibda uchinchi shaxsga berildi. Bu shaxsning majburiyati qanday?</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Majburiyati yo‘q, chunki u shifokor emas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Ma’lumotni faqat o‘z oilasi bilan bo‘lishishi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Ma’lumotni xohlagan vaqtda ommaga e’lon qilishi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Tibbiyot xodimlari kabi shifokor sirini saqlashi shart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Vrachga surishtiruv organidan rasmiy so‘rov keldi, bemor esa ma’lumot berishga rozilik bermagan. Vrach qanday qaror qabul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Rasmiy so‘rov qonuniy istisno, shuning uchun ma’lumot berish mumkin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Rozilik bo‘lmagani uchun ma’lumot hech qachon berilmaydi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Ma’lumotni faqat bemorning qarindoshi so‘rasagina beradi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Ma’lumotni faqat bemor vafot etgandan keyin beradi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oilasining qattiq bosimi ostida operatsiyaga rozilik imzoladi. Rozilikning qaysi sharti buzilgan?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Bemorda qaror qabul qilish layoqatining yetarli emasligi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Taklif qilingan aralashuvni bemor tushunmaganligi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Rozilikning ixtiyoriy, majburlovsiz berilishi talabi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Rozilikning albatta yozma shaklda bo‘lishi talabi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Ota-onasi va qonuniy vakili yo‘q 10 yoshli bolaga tibbiy aralashuv zarur. Masalani birinchi navbatda kim hal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Navbatchi vrach yolg‘iz o‘zi, konsiliumsiz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Vrachlar konsiliumi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Mahalla raisi yoki qo‘shnilar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Bolaning o‘zi rozilik beradi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Shifokorga qarshi og‘ir ayblov tushdi. Tergov davom etayotgan paytda bemorlar xavfsizligi uchun uning ro‘yxatini vaqtincha to‘xtatishi yoki cheklashi mumkin bo‘lgan organ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Tergov qo‘mitasi (Investigation Committee)</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Vaqtinchalik buyruqlar hay’ati (Interim Orders Panel)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Malakaga yaroqlilik hay’ati (Fitness to Practise Panel)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Tibbiy tartibga solish ustidan nazorat kengashi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O‘zbekiston Respublikasi Konstitutsiyasining qaysi moddasi har bir fuqaroning malakali tibbiy xizmatdan foydalanish huquqini kafolatlaydi?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18-modda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19-modda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43-modda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40-modda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Umumiy qabul qilingan fikrga ko‘ra, inson salomatligining taxminan 48–52 foizi qaysi omilga bog‘liq?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Turmush tarzi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Nasl va irsiyat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Ekologik omillar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Tibbiy yordam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davolanish uchun o‘zi xohlagan shifokor va davolash muassasasini tanlamoqchi. Bu huquq “Fuqarolar sog‘lig‘ini saqlash to‘g‘risida”gi Qonunning qaysi moddasida keltirilgan?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13-modda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25-modda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24-modda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28-modda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Og‘ir bemorning qonuniy vakili tibbiy aralashuvni rad etdi. Bu bemor uchun og‘ir oqibatlarga olib kelishi mumkin. Vrach nima qilishi shart?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Qarorni so‘zsiz qabul qiladi va hech kimga xabar bermaydi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Bemorni majburan davolaydi va vakil fikrini hisobga olmaydi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Vasiylik va homiylik organlariga bu haqda xabar beradi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Ota-onadan ikkinchi yozma ariza talab qilib, jim kutadi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Fuqaro davlat poliklinikasiga keng tarqalgan kasallik bilan murojaat qildi. Qonunga ko‘ra davlat tizimida qaysi yordam turi asosiy, qulay va bepul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Ixtisoslashgan murakkab tibbiy yordam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Sanitariya aviatsiyasi orqali yordam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Birlamchi tibbiy-sanitariya yordami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Tibbiy-mehnat ekspertizasi yordami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Tergov idorasi bemor haqida rasmiy so‘rov yubordi, bemor esa rozilik bermayapti. Qonunning 45-moddasiga ko‘ra shifokor qanday ish tutadi?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Idoraning rasmiy so‘roviga binoan ma’lumot beradi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bemorning yozma roziligi bilan ma’lumot beradi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bemor qarindoshlarining roziligi bilan beradi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Sirni hech qanday holatda oshkor qilmaydi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Sobiq ittifoq davridagi tizimda poliklinikada davolanishi mumkin bo‘lgan ko‘plab bemorlar odatda qayerga yotqizilgan?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Oilaviy poliklinikalarga yo‘naltirilgan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Uyda parvarish qilishga qoldirilgan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Xususiy klinikalarga jo‘natilgan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Kasalxonalarga yotqizilgan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Davlat dasturiga ko‘ra qishloqda besh pog‘onali birlamchi tizim o‘rniga qaysi ikki pog‘onali tizim yaratilishi belgilangan?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Feldsher-akusherlik punkti va qishloq uchastka kasalxonasi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Qishloq vrachlik punkti va tuman markaziy kasalxonasi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Oilaviy poliklinika va shahar kasalxonasi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Qishloq vrachlik ambulatoriyasi va tuman kasalxonasi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Birlamchi tibbiy-sanitariya muassasasiga ko‘p aholi biriktirilgan. Jon boshiga moliyalashtirish joriy etilsa, mablag‘ qanday asosda ajratiladi?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Xodimlar soniga qarab ajratiladi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Muassasa xizmat maydoniga qarab ajratiladi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Har bir biriktirilgan kishiga yagona me’yor bo‘yicha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Aholi tashriflari miqdoriga qarab ajratiladi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Tibbiyot huquqini tashkil etuvchi qoida va me’yorlar majmuasi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Tibbiyot huquqi davolash, diagnostika va profilaktika jarayonida bemorlar, tibbiyot xodimlari, fuqarolar va muassasalar o‘rtasidagi munosabatlarni, ularning huquq, majburiyat va mas’uliyat doirasini belgilovchi qoida va me’yorlar majmuasidir. Shaxsiy e’tiqod, ichki odat va jamoatchilik fikri bunday huquqiy doirani belgilamaydi.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5-bet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Axloq-etika ixtiyoriy bajariladi, huquq majburlash orqali ta’minlanadi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Darslikka ko‘ra axloqiy-etik talablar erkin, ixtiyoriy bajarilishi nazarda tutiladi. Huquqiy me’yorlarning amal qilishi esa bevosita yoki bilvosita majburlash orqali ta’minlanadi. Huquq ma’naviyatning minimumi, axloq esa uning yuqori darajasi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7-bet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Vafotidan keyin ham sirlarni hurmat qilib, saqlaydi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Jeneva deklaratsiyasida vrach o‘ziga ishonib topshirilgan sirlarni bemor vafot etganidan keyin ham hurmat qilishga va’da beradi. Sirni saqlash majburiyati bemor o‘limi bilan tugamaydi.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Payne-James J., Jones R., Karch S.B., Manlove J., Simpson's Forensic Medicine, 13-bet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1964-yilgi Xelsinki deklaratsiyasi — tajriba va klinik sinovlar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Jahon tibbiyot assotsiatsiyasining (WMA) 1964-yilgi Xelsinki deklaratsiyasi inson ustida tajriba va klinik sinovlarga bag‘ishlangan. Qolgan deklaratsiyalar boshqa mavzularni qamrab 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Payne-James J., Jones R., Karch S.B., Manlove J., Simpson's Forensic Medicine, 14-bet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Avtonomiya — bemorning davolashni tanlash yoki rad etish huquqi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Avtonomiya bemorning davolashni rad etish yoki tanlash huquqini bildiradi. Manba bu tamoyil ba’zan boshqalar bilan to‘qnashishiga misol qilib, qon quyishni rad etgan Iyegova guvohini keltiradi.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Payne-James J., Jones R., Karch S.B., Manlove J., Simpson's Forensic Medicine, 17-bet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Kompetent bemorning rad etish huquqini hurmat qilish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Vrach kompetent bemorning davolanishni qabul qilish yoki rad etish huquqini hurmat qilishi shart. Manbada aynan shu holat misol qilingan: Yahovo guvohi vrach o‘lim bo‘lishini bilsa ham qon quyishni rad etadi. Bu yerda avtonomiya va foyda keltirish tamoyillari to‘qnashadi.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Payne-James J., Jones R., Karch S.B., Manlove J., Simpson's Forensic Medicine, 14, 17-bet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Tibbiyot xodimlari kabi shifokor sirini saqlashi shart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Qonunga ko‘ra, shifokor sirini tashkil etuvchi ma’lumot ruxsat etilgan tartibda boshqa shaxsga berilsa, bu shaxs ham tibbiyot xodimlari qatori shifokor sirini saqlashi lozim. Buzilsa, qonunchilikda javobgarlik nazarda tutilgan.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18-bet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Rasmiy so‘rov qonuniy istisno, shuning uchun ma’lumot berish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Qonunda shifokor siri roziliksiz berilishi mumkin bo‘lgan istisno holatlar sanalgan. Ulardan biri surishtiruv, tergov, prokuratura va sud organlarining rasmiy so‘rovidir. Qarindoshning iltimosi bunday asos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19-bet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Rozilikning ixtiyoriy, majburlovsiz berilishi talabi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Rozilik uchun uchta shart kerak: yetarli layoqat, aralashuvni yetarli tushunish va ixtiyoriylik. Ixtiyoriylik degani rozilik erkin berilib, boshqalarning majburlashi yoki nojo‘ya ta’siriga uchramasligi. Bosim ostidagi rozilikda aynan shu shart buzilgan.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Payne-James J., Jones R., Karch S.B., Manlove J., Simpson's Forensic Medicine, 19-bet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Vrachlar konsiliumi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Qonunga ko‘ra, 14 yoshgacha bo‘lgan va muomalaga layoqatsiz shaxslar uchun rozilikni qonuniy vakillar beradi. Ular bo‘lmasa, masalani konsilium hal qiladi. Faqat konsiliumni yig‘ish imkoni bo‘lmaganda davolovchi yoki navbatchi vrach qaror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14-bet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Vaqtinchalik buyruqlar hay’ati (Interim Orders Panel)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Tergovning istalgan bosqichida shifokor Interim Orders Panel (vaqtinchalik buyruqlar hay’ati)ga yuborilishi mumkin. U ish hal bo‘lguncha ro‘yxatni to‘xtatadi yoki shartlar qo‘yadi. Fitness to Practise Panel esa yakuniy bosqichda dalillarni eshitadi, tergov qo‘mitasi faqat case examiner‘lar kelisha olmaganda ishni ko‘radi.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Payne-James J., Jones R., Karch S.B., Manlove J., Simpson's Forensic Medicine, 22-bet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40-modda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Malakali tibbiy xizmatdan foydalanish huquqi 40-moddada kafolatlangan. 18-modda fuqarolarning tengligini, 19-modda huquq va burchlarning o‘zaro bog‘liqligini, 43-modda esa davlatning huquqlarni ta’minlash kafolatini belgilaydi.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9-bet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Turmush tarzi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Salomatlikning taxminan 48–52% i turmush tarziga bog‘liq. Nasl va irsiyat hamda ekologik omillar har biri 18–20%, tibbiy yordam esa atigi 8–10% ulushga ega. Shu sababli sog‘lom turmush tarzini shakllantirish qonunning asosiy vazifalaridan biridir.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11-bet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24-modda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Shifokor va davolash-profilaktika muassasasini tanlash huquqi bemor huquqlari sanalgan 24-moddada berilgan. 25-modda sog‘liq haqida ma’lumot olish huquqini, 28-modda xavfli kasalliklarda rozilik talab qilinmasligini, 13-modda kamsitishdan himoyani belgilaydi.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Vasiylik va homiylik organlariga bu haqda xabar beradi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Qonunning 27-moddasiga ko‘ra, vakil rad etishi bemor uchun og‘ir oqibat keltirsa, vrach bu haqda vasiylik va homiylik organlariga xabar berishi shart. Boshqa variantlar qonunda ko‘zda tutilmagan.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15-bet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Birlamchi tibbiy-sanitariya yordami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“Fuqarolar sog‘lig‘ini saqlash to‘g‘risida”gi Qonunning 29-moddasiga ko‘ra birlamchi tibbiy-sanitariya yordami davlat tizimida aholiga xizmat ko‘rsatishning asosiy, qulay va bepul turidir. Unga keng tarqalgan kasalliklarni davolash ham kiradi. Ixtisoslashgan yordam esa maxsus usullar va murakkab texnologiyalar talab qilinganda ko‘rsatiladi.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15-bet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Idoraning rasmiy so‘roviga binoan ma’lumot beradi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45-moddada shifokor siri fuqaroning roziligisiz berilishi mumkin bo‘lgan istisno holatlar sanalgan. Ulardan biri surishtiruv, tergov, prokuratura va sud idoralarining rasmiy so‘rovidir. Shuning uchun shifokor sirni mutlaq saqlashga majbur emas. Sirni oshkor qilish faqat qonunda ko‘rsatilgan asoslarda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19-bet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Kasalxonalarga yotqizilgan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ambulator-poliklinik tizimning samarasizligi oqibatida ambulatoriya sharoitida davolash mumkin bo‘lgan bemorlarning aksariyati kasalxonalarga yotqizilgani aytilgan. Bu kasalxonalar va ulardagi o‘rinlar sonining asossiz ko‘payishiga olib kelgan. Bu holat islohot zaruratining sabablaridan biri bo‘lgan.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22-23-bet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Qishloq vrachlik punkti va tuman markaziy kasalxonasi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Dasturga muvofiq eski besh pog‘onali tizim o‘rniga qishloqlarda qishloq vrachlik punktlari va tuman markaziy kasalxonalari, shaharlarda esa oilaviy poliklinika va tuman, shahar kasalxonalaridan iborat ikki pog‘onali tizim yaratilishi belgilangan. Oilaviy poliklinika va shahar kasalxonasi varianti shaharlarga tegishli. Qolgan variantlar eski tizim bo‘g‘inlaridir.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28-bet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Har bir biriktirilgan kishiga yagona me’yor bo‘yicha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Jon boshiga moliyalashtirishda mablag‘ muassasalarga biriktirilgan har bir kishi uchun belgilangan yagona me’yorga ko‘ra, teng huquq asosida taqsimlanadi. Xodimlar soni, maydon va tashriflar miqdoriga asoslangan ajratish esa eski tizimga xos edi. Yangi tizimda aholining zichligi, jinsi va yoshi bo‘yicha qo‘shimcha koeffitsientlar qo‘llanadi.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Vrach faoliyatining huquqiy asoslari: darslik, 29-bet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Ma’ruza: “Sog‘liqni saqlash sohasidagi qonunchilik asoslari. Bioetika muammolari.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81</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Payne-James J., Jones R., Karch S.B., Manlove J. Simpson's Forensic Medicine, 13th ed.. 2011. Chapter 2. The ethics of medical practice, pp. 12–23</a:t>
            </a:r>
          </a:p>
          <a:p>
            <a:pPr>
              <a:spcAft>
                <a:spcPts val="1200"/>
              </a:spcAft>
            </a:pPr>
            <a:r>
              <a:rPr sz="2000">
                <a:solidFill>
                  <a:srgbClr val="1F2937"/>
                </a:solidFill>
                <a:latin typeface="Calibri"/>
              </a:rPr>
              <a:t>▸  G‘iyosov Z.A. Vrach faoliyatining huquqiy asoslari: darslik, Toshkent: Tafakkur-Bo‘stoni (egasi taqdim etgan; yopiq foydalanish). 2012. 1-2-boblar. Tibbiyot huquqi fani; fuqarolar sog‘lig‘ini saqlash qonunchiligi asoslari; bet 5-21</a:t>
            </a:r>
          </a:p>
          <a:p>
            <a:pPr>
              <a:spcAft>
                <a:spcPts val="1200"/>
              </a:spcAft>
            </a:pPr>
            <a:r>
              <a:rPr sz="2000">
                <a:solidFill>
                  <a:srgbClr val="1F2937"/>
                </a:solidFill>
                <a:latin typeface="Calibri"/>
              </a:rPr>
              <a:t>▸  G‘iyosov Z.A. Vrach faoliyatining huquqiy asoslari: darslik, Toshkent: Tafakkur-Bo‘stoni (egasi taqdim etgan; yopiq foydalanish). 2012. 3-bob. O‘zbekiston Respublikasida sog‘liqni saqlash qonunchiligi; bet 22-34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