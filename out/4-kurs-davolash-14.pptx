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vrach uchun faqat tibbiy bilim yetarlimi, yoki huquqiy bilim ham kerakmi? Doskada ma’ruzaning to‘rt blokini (huquq va etika; bioetika; sir va rozilik; O‘zbekiston qonunchiligi va islohot) strelkalar bilan chizdiring. Tipik xato: talabalar bioetikani faqat huquq deb tushunadi; ikkalasi alohida, ammo bog‘liq sohalar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bemorni “iste’molchi” deb atash nimani o‘zgartiradi? Nega bugungi vrach uchun faqat vijdon yetarli emas? Doskada ta’rif so‘zlarini (taraflar — munosabat — huquq, majburiyat, mas’uliyat) chizma shaklida yozdiring. Tipik xato: fan vazifalarini to‘rtta emas, ikkita deb sanash; “qilmish” va “jinoyat” farqini e’tiborsiz qoldirish. Qo‘shimcha (slayddan ko‘chirilgan, manba shu bet): Vazifalari: qonunchilikni, huquqiy munosabatlar xususiyatini, kasb huquqbuzarliklarini o‘rganish va qilmish bilan jinoyatni farqlash.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vrach axloqiy jihatdan to‘g‘ri, lekin qonunni buzgan holat bo‘lishi mumkinmi? Nega huquq “minimum” deyiladi? Doskada ikki ustunli jadvalni talabalar bilan birga to‘ldiring. Tipik xato: huquq va etikani raqib sifatida tushunish yoki etikani ham majburiy me’yor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Bemor iste’molchi deb talqin etilsa, vrachning mas’uliyati qanday o‘zgaradi? 2) Nega axloq huquqdan ‘yuqori daraja’ deyiladi? Doskada chizish: ikki ustun — ‘axloq (ixtiyoriy)’ va ‘huquq (majburlash)’. Tipik xato: talabalar axloq va huquqni bir-biriga zid deb o‘ylaydi; ular bir-birini to‘ldiradi. Qo‘shimcha (slayddan ko‘chirilgan, manba shu bet): Hozir esa axloqiy qoidalar bilan birga huquqiy me’yorlarni ham bilish zarur.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qasamyodning eskirgan qismlari bo‘lsa ham u asos bo‘lib qolmoqda? 2) Urushdan keyingi buzilishlar Jeneva deklaratsiyasiga qanday ta’sir qilgan? Doskada chizish: vaqt chizig‘ini daftarga ko‘chirish. Tipik xato: Jeneva deklaratsiyasini Gippokrat qasamyodining o‘zi deb o‘ylash; u uning zamonaviy shakli.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Sirni o‘limdan keyin ham saqlash nimaga kerak? 2) Kamsitmaslik va’dasi amalda qanday ko‘rinadi? Doskada chizish: ‘Vrach — bemor’ chizig‘i va unga xalaqit bermaydigan omillar ro‘yxati. Tipik xato: qasamyodni barcha shifokorlar rasman qabul qilgan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deklaratsiyalar turli yillarda va turli mavzularda qabul qilinadi? Xelsinki deklaratsiyasi bugungi klinik sinovlarda qanday ahamiyatga ega? Doskada: vaqt chizig‘i (1948 → 2009) chizib, har yilga bittadan mavzuni yozdiring. Tipik xato: Jeneva (vrach qasami, umumiy maqsad) bilan Xelsinki (tajriba va sinovlar) aralashtiriladi. Eslatma: Oslo deklaratsiyasi jadvalda ikki marta (1970 va 1983) keltirilgan; ko‘pchiligi keyinroq qayta ko‘rib chiqilgan.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sirni oshkor etish qaysi holatlarda oqlanadi? Bemor bilan jinsiy munosabat nega mutlaq taqiqlanadi? Doskada: uch ustunli sxema (umumiy / bemor / hamkasb) chizib, har biriga bittadan burchni yozdiring. Tipik xato: sir saqlash mutlaq burch deb o‘ylash; manbada rozilik yoki real xavf bo‘lganda istisno borligi aytilgan. Diqqat: shoshilinch yordam burchi boshqalar tayyor bo‘lsa o‘zgaradi.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avtonomiya va ezgulik qachon qarama-qarshi bo‘ladi? Resurs cheklangan bo‘lsa, adolat qanday ta’minlanadi? Doskada: ikki strelka bilan ’avtonomiya ↔ ezgulik’ to‘qnashuv sxemasini chizdiring. Tipik xato: ezgulik (bemor manfaati) ni vrachning o‘zi hal qilish huquqi deb tushunish; bu holda bemor avtonomiyasi buziladi. Diqqat: zarar yetkazmaslik ≠ ezgulik.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 rad etsa, vrach nima qilishi shart? 2) Rad etishning hujjatlashtirilishi nega muhim? Doskada chizish: ikki ustun — ‘Avtonomiya’ va ‘Foyda keltirish / zarar yetkazmaslik’; to‘qnashuvni strelka bilan ko‘rsating. Tipik xato: talaba ‘vrach hayotni saqlash uchun bemor irodasiga qarshi borishi mumkin’ deb javob beradi. Qobiliyatli bemorning rad etish huquqini alohida ta’kidlang.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tez-tez so‘rang, 3-4 talaba javob bersin. Muhokama: nima uchun huquq ‘axloqning minimumi’ deyiladi? Doskada chizish: pog‘ona — pastda huquq (majburiy), yuqorida axloq (ixtiyoriy). Tipik xato: huquq va axloqni bir-biriga qarama-qarshi qo‘yish; darslikda ular o‘zaro bog‘liq ekani ta’kidlanadi. Eslatma: sanash tartibi (bemor – vrach – jamiyat) talabaning o‘z yordamchi usuli, manbada yo‘q. Qo‘shimcha (slayddan ko‘chirilgan, manba shu bet): Avval ‘bemor’, keyin ‘vrach’, oxirida ‘jamiyat’ deb sanang.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Maxfiylik nega mutlaq burch emas? 2) Bemor vafot etgach, uning ma’lumotlarini kim so‘rashi mumkin? Doskada chizish: markazda ‘Ishonch’, atrofida bemor – vrach – jamiyat strelkalari. Tipik xato: ‘maxfiylik hech qachon buzilmaydi’ yoki ‘o‘lim bilan tugaydi’ degan fikr. Caldicott Guardian Angliya tizimiga xos ekanini eslatib, O‘zbekiston normalari bilan solishtiring. Qo‘shimcha (slayddan ko‘chirilgan, manba shu bet): Angliyada Milliy sog‘liqni saqlash xizmati (NHS) ichida bemor ma’lumotlari maxfiyligini Caldicott Guardian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maxfiylik mutlaq emas? 2) Bemor roziligisiz oshkor qilish qachon asosli? Doskada: jadvalni chizib, har asosga o‘z misolingizni qo‘shing. Tipik xato: talabalar maxfiylikni mutlaq burch deb o‘ylaydi; sud buyrug‘i va jamoat manfaati istisno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 tushunmagan rozilik haqiqiymi? 2) Oila bosimi ixtiyoriylikka qanday ta’sir qiladi? Doskada: uch shart va natijani zanjir qilib chizing, ostiga rozilik turlarini yozing. Tipik xato: faqat imzoni rozilik deb hisoblash; layoqat, tushuncha va ixtiyoriylikni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Bemor vrach tavsiyasini rad etsa, vrach nima qiladi? 2) Kichik, ammo jiddiy xavf haqida ogohlantirish nega shart? Doskada: to‘rt bosqichni chizib, har biriga kim mas’ulligini yozing. Tipik xato: qarorni vrach qabul qiladi deb o‘ylash; vrach tavsiya beradi, qaror bemorniki.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yosh o‘rniga layoqat baholanadi? 2) Ingliz va o‘zbek yondashuvida yosh chegarasi qanday farq qiladi (16 va 14)? Doskada: ikki ustunli solishtirish (Angliya va Uelsda layoqat bahosi; O‘zbekistonda qonuniy vakil roziligi). Tipik xato: 16 yosh “mutlaq chegara” deb o‘ylash, ikki mamlakat chegarasini aralashtirish. Qo‘shimcha (slayddan ko‘chirilgan, manba shu bet): Har bir kattalar layoqatli deb faraz qilinadi. Vakil bo‘lmasa, masalani konsilium, imkon bo‘lmasa davolovchi yoki navbatchi vrach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Javob: chaperone taklif qilingani va rad etilgani, olingan ruxsat, muhokama natijasi yoziladi. Muhokama: 1) Nega yozuvni ko‘rik paytida yoki darhol keyin yuritish muhim? 2) Chaperone bo‘lmasa nima qilish mumkin (kechiktirishni taklif etish)? Doskada: ko‘rik bosqichlari zanjiri (tushuntirish, ruxsat, taklif, yozuv). Tipik xato: bemor rad etganda yozuvni yuritmaslik. Qo‘shimcha (slayddan ko‘chirilgan, manba shu bet): U bemor uchun og‘ir va noqulay bo‘lishi mumkin, bemorlar vrachlardan shikoyat ham qiladi. Bemor so‘rasa, ko‘rikni to‘xtatishga tayyor turadi. Bemor xohlamasa, taklif qilingani va rad etilgani qayd etiladi. Manbadan qo‘shimcha (slaydda sig‘magan): Ko‘krak, jinsiy a’zo yoki to‘g‘ri ichak ko‘rigi intim ko‘rik hisoblanadi. U bemor uchun og‘ir va noqulay bo‘lishi mumkin, bemorlar vrachlardan shikoyat ham qiladi.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qonun talabi, bemor roziligi (oshkora yoki bilvosita), jamoat manfaati; 2) layoqat, yetarli tushunish, ixtiyoriylik; 3) 16 yoshgacha bolaning tushunish va baholash qobiliyati; 4) ruxsat olingani, chaperone taklifi va natijasi. Muhokama: qaysi javob eng ko‘p xato qilindi va nega? Doskada: uchta shartli rozilik sxemasi. Tipik xato: jamoat manfaati asosini “har qanday so‘rov”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Kengashda oddiy (vrach bo‘lmagan) a’zolar nima uchun kerak? 2) O‘zbekistonda vrach faoliyatini kim nazorat qiladi (litsenziya, Sog‘liqni saqlash vazirligi)? Doskada chizish: GMC to‘rt vazifasini to‘rtta kvadrat shaklida chizing. Tipik xato: GMCni shifoxona yoki sug‘urta tashkiloti deb o‘ylash; u vrachlarning kasbiy ro‘yxatini yurituvchi qonuniy organ.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jarayon ikki bosqichga (tekshiruv va hay’at) bo‘lingan? 2) Vrach hay’at qaroridan norozi bo‘lsa nima qilishi mumkin (Oliy sudga shikoyat)? Doskada chizish: zanjirni 5 ta kvadrat bilan chizing, IOP kvadratini yon tomonga strelka bilan qo‘shing. Tipik xato: IOPni yakuniy sanksiya deb o‘ylash; u tekshiruv davomida vaqtincha cheklaydi. Tezkor savol: ish ko‘ruvchilar kelisha olmasa ishni kim ko‘radi? (Tekshiruv qo‘mitasi.)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IOP (vaqtincha buyruqlar paneli) ayblov jiddiy bo‘lib, jamoat himoyasi, jamoat manfaati yoki vrach manfaati uchun ro‘yxatni cheklash zarur bo‘lganda; buyruq eng ko‘pi bilan 18 oyga beriladi, 6 oy ichida ko‘rib chiqiladi. Muhokama: 1) Vrach kayfiyati va bemor xavfsizligi o‘rtasida muvozanat qanday saqlanadi? 2) IOP qaroridan oldin qaysi ma’lumotlar kerak? Doskada chizish: ‘ogohlantirish – shart – to‘xtatish – o‘chirish’ ko‘lamini yengildan og‘irga qarab zinapoya qilib chizing. Tipik xato: ogohlantirishni sanksiya darajasidagi o‘chirish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40-modda faqat shifokorga emas, davlatga ham majburiyat yuklaydi? 2) Huquq, majburiyat va javobgarlik bir-biri bilan qanday bog‘lanadi? Doskada chizing: 18, 40, 43, 44-moddalar zanjirini (tenglik, xizmat, kafolat, sud himoyasi). Tipik xato: 40-modda kafolati va 43-modda kafolatini aralashtirish. 40-modda huquqni belgilaydi, 43-modda esa davlat uni ta’minlashini kafolatlaydi.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Besh printsipdan qaysi biri amaliyotda sizga ko‘proq tanish? 2) Davlat va xususiy tizim o‘rtasida bepul yordam bo‘yicha farq nimada? Doskada chizing: qonunning 6 qismini ketma-ket zanjir ko‘rinishida. Tipik xato: 47 moddani 6 qism bilan aralashtirish, 6 ta qism bor, 47 ta modda bor.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profilaktika printsipi ustuvor deb olingan? 2) Turmush tarzini yaxshilash uchun vrach nima qila oladi? Doskada chizing: to‘rt omilning ulushini doira diagrammada. Tipik xato: tibbiy yordam ulushi kichik, demak vrach faoliyati ahamiyatsiz deb xulosa qilish. Manba faqat ulushni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 huquqlaridan qaysi biri sud tartibini talab qilmaydi? 2) Tanlash huquqi amalda qanday cheklanishi mumkin? Doskada: 24-moddadagi huquqlarni 3 guruhga (munosabat/sharoit, axborot/sir/rozilik, himoya/qoplash) ajratib chizing. Tipik xato: shikoyat faqat sudga beriladi deb o‘ylash, aslida uch yo‘l bor. Qo‘shimcha (slayddan ko‘chirilgan, manba shu bet): Bemor iltimosiga ko‘ra konsilium o‘tkazilishini va boshqa mutaxassis maslahatini so‘rashi mumkin. Bemor muolajaga rozilik beradi yoki rad etadi, zarar qoplanishini talab qiladi, himoya uchun advokat yoki qonuniy vakil chaqiradi. Manbadan qo‘shimcha (slaydda sig‘magan): Bemor iltimosiga ko‘ra konsilium o‘tkazilishini va boshqa mutaxassis maslahatini so‘rashi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ma’lumot avval, rozilik keyin keladi? 2) Konsilium yig‘ib bo‘lmasa kim qaror qiladi (davolovchi yoki navbatchi vrach, rahbariyatni keyin xabardor qilib)? Doskada: chizmani talabalar bilan birga chizib, 28-modda istisnosini alohida rangda belgilang. Tipik xato: roziliksiz yordamni har qanday og‘ir holatga qo‘llash; manbada rad etishda yozma tasdiqnoma har doim shart emas.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Vrach kimga xabar beradi va nima uchun? 2) Yuqumli kasallikda xavf atrofdagilarga qaratilgan, shuning uchun roziliksiz yordam mumkin; bolada esa vakil rad etishi bola manfaatiga zid bo‘lishi mumkin. Doskada: ikki ustunli solishtirish (vakil rad etdi / atrofdagilarga xavf) chizing. Tipik xato: ikki holatni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bering, talabalar kitobsiz javob bersin. Muhokama: 1) Nega tibbiy yordam salomatlikka qisqa ulush bersa ham, profilaktika ustuvor? 2) Bemor rad etsa, vrach nima qiladi? Doskada: Konstitutsiya moddalari (18, 40, 43, 44) ro‘yxatini yozdiring. Diqqat: xato qilish xavfi — 27-modda bo‘yicha rad etishda yozma tasdiqnoma olish shart emas, bu faqat imkon; imkon bo‘lmasa guvohlar bilan dalolatnoma tuziladi.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Jadvalni talabalar bilan birga o‘qing, har qatorga bittadan misol aytdiring. OITS — orttirilgan immunitet tanqisligi sindromi: birinchi uchrashganda shu tarzda oching. Muhokama: 1) Birlamchi yordam nega tizimning asosi? 2) Ijtimoiy ahamiyatli kasalliklarga nega alohida imtiyoz belgilangan? Doskada: to‘rt yordam turini zinapoya shaklida chizdiring. Tipik xato: birlamchi yordamni barcha muassasalarda bepul deb o‘ylash — xususiy muassasalarda asosan shartnoma asosida ko‘rsatiladi (ayrim guruhlar bundan mustasno).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Yuqumli kasallikda sirni oshkor qilish nega mumkin? 2) 14 yoshgacha bo‘lgan bolada ota-onani xabardor qilish sirni buzish hisoblanadimi? Doskada: oltita istisnoni to‘rtburchak ichida, atrofiga strelkalar bilan chizdiring. Diqqat: xato qilish xavfi — istisno sirni har kimga ochish ruxsati emas, faqat qonunda ko‘rsatilgan holat va tartibda beriladi. Tipik xato: xabar bermaslik javobgarligini JK 241-modda bilan bog‘lamaslik.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ish o‘rinlari ko‘payishi sifatni oshirmadi? 2) Bemorni asossiz kasalxonaga yotqizish qanday oqibat beradi? Doskada: eski zanjirni chizing (uchastka vrachi → tor mutaxassis → qishloq muassasalari → kasalxona). Tipik xato: tizimning bari yomon edi deb o‘ylash. Matnda ‘qator afzalliklar’ ham tilga olingan, kamchilik asosan birlamchi bo‘g‘inda.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birlamchi yordam tizimning negizi hisoblanadi? 2) Pog‘onalarni qisqartirish nimani tejaydi? Doskada: besh pog‘onali zanjirni ikki pog‘onaga almashtirib chizing. Tipik xato: 90 foizni barcha kasalliklar bilan adashtirish. Bu tashxis qo‘yilib davolanadigan murojaatlar ulushi (JSST va Jahon oila vrachlari tashkiloti ma’lumoti). Tezkor savol: dasturning boshlanish va tugash yillari?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nega yo‘nalishlarni bir-biridan ajratib hal qilib bo‘lmaydi? (bet 27: ular o‘zaro bog‘liq). Tipik xato: ustuvor yo‘nalishlarni alohida loyihalar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Doskada: bepul va pullik xizmat farqini yozing (norezidentlar, dispanserizatsiya, dekretiv kontingent — shartnoma asosida; shoshilinch yordam hamisha bepul). Tipik xato: shoshilinch yordamni ham shartnomaga bog‘lash.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bepul yordam printsipi xususiy tizimda qanday saqlanadi? Tipik xato: 20% ni umumiy daromadga bog‘lash — manbada faoliyat hajmi aytilgan.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Jon boshiga moliyalash vrachni profilaktikaga qanday undaydi? 2) Moliyaviy menejer va muassasa rahbari vazifalari qanday farqlanadi? Doskada: eski va yangi moliyalash mantiqini ikki ustunda chizing. Tipik xato: jon boshiga moliyalashni barcha uchun bir xil summa deb tushunish. Matnda yosh, jins va aholi zichligi bo‘yicha qo‘shimcha koeffitsientlar ham qo‘llanishi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murakkab yordam alohida ixtisoslashgan markazlarga jamlandi? Tuman birlashmasining roli qanday? Doskada chizing: tuman birlashmasi → qishloq vrachlik punkti va oilaviy poliklinika sxemasi. Tipik xato: 2003-yil Farmonini 2007-yil Farmoni bilan aralashtirish; 2003 — ikkinchi bosqich boshlanishi, 2007 — oltita yangi markaz. Qo‘shimcha (slayddan ko‘chirilgan, manba shu bet): Birlashmalar qishloq vrachlik punktlari va oilaviy poliklinikalar faoliyatini muvofiqlashtiradi.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eski tizimda vrach bemorni nega yo‘llagan (rag‘bat yo‘qligi, kasalxona o‘rinlari ko‘payishi, 22-23-betlar)? Yangi tizim xarajat va sifatni qanday bog‘laydi? Doskada chizing: eski va yangi moliyalash mantig‘i (ikki ustun). Tipik xato: jon boshiga moliyalashni «har bir bemor uchun alohida to‘lov» deb tushunish; aslida biriktirilgan aholi soniga qarab ajratiladi.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O‘zbekiston va Buyuk Britaniyada rozilik yoshi qanday farq qiladi (O‘zbekistonda 14 yoshgacha vakil rozilik beradi — G‘iyosov, 14-bet; Buyuk Britaniyada 16 yoshdan qobiliyat taxmin qilinadi — Simpson, 20-bet)? Doskada chizing: maxfiylik istisnolarining ikki ustunli taqqoslash jadvali. Tipik xato: Buyuk Britaniyadagi 16 yosh va O‘zbekistondagi 14 yosh chegarasini aralashtirish.</a:t>
            </a:r>
          </a:p>
          <a:p/>
          <a:p>
            <a:r>
              <a:t>Tekshirish kerak (manbada noaniq):</a:t>
            </a:r>
          </a:p>
          <a:p>
            <a:r>
              <a:t>- Eslab qoling: shifokor siri, ixtiyoriy rozilik, birlamchi bo‘g‘in, jon boshiga moliyalash, ixtisoslashgan markaz — ma’ruzaning besh asosiy atamasi.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Sir saqlash qachon buziladi va nima uchun bu mutlaq emas? 2) Huquq va axloq qanday bog‘liq? Doskada: ‘Bioetika tamoyillari → rozilik → sir → javobgarlik’ zanjirini chizdirish. Tipik xato: shifokor siri mutlaq deb o‘ylash yoki huquq bilan axloqni bir xil deb olish. Mustaqil ish: darslikdagi nazorat savollari (2-bob 1–19, 3-bob 1–10) bo‘yicha javoblar tayyorlash. Qo‘shimcha (slayddan ko‘chirilgan, manba shu bet): Ular ba‘zan bir-biriga zid keladi. O‘zbekistonda faoliyat uchun diplom, ayrim turlarida litsenziya ham kerak. Islohot maqsadi — malakali yordamdan barcha qatlamlar teng foydalanishi. Manbadan qo‘shimcha (slaydda sig‘magan): Bioetika tamoyillari: bemor avtonomiyasi, zarar yetkazmaslik, bemor manfaatiga xizmat, qadr-qimmat, halollik (xabardor rozilik) va adolat. Ular ba‘zan bir-biriga zid keladi. Islohot maqsadi — malakali yordamdan barcha qatlamlar teng foydalanishi.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№5. Ma’ruza: “Sog‘liqni saqlash sohasidagi qonunchilik asoslari. Bioetika muammolari.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reja va o‘quv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Talaba sog‘liqni saqlash qonunchiligi asoslarini hamda tibbiyot xodimlari va bemorlarning huquq va majburiyatlarini bilishi kerak.</a:t>
            </a:r>
          </a:p>
          <a:p>
            <a:pPr>
              <a:spcAft>
                <a:spcPts val="1200"/>
              </a:spcAft>
            </a:pPr>
            <a:r>
              <a:rPr sz="2200">
                <a:solidFill>
                  <a:srgbClr val="1F2937"/>
                </a:solidFill>
                <a:latin typeface="Calibri"/>
              </a:rPr>
              <a:t>▸  Bioetika bo‘limida tibbiy etikaning asosiy tamoyillari ko‘riladi: bemor avtonomiyasi, zarar keltirmaslik, foyda, qadr-qimmat, halollik va adolat.</a:t>
            </a:r>
          </a:p>
          <a:p>
            <a:pPr>
              <a:spcAft>
                <a:spcPts val="1200"/>
              </a:spcAft>
            </a:pPr>
            <a:r>
              <a:rPr sz="2200">
                <a:solidFill>
                  <a:srgbClr val="1F2937"/>
                </a:solidFill>
                <a:latin typeface="Calibri"/>
              </a:rPr>
              <a:t>▸  Shifokor siri va bemor roziligi tibbiy etikadagi eng ko‘p savol tug‘diradigan masalalar. Ularga vrachlarni tartibga solish tizimi ham qo‘shiladi.</a:t>
            </a:r>
          </a:p>
          <a:p>
            <a:pPr>
              <a:spcAft>
                <a:spcPts val="1200"/>
              </a:spcAft>
            </a:pPr>
            <a:r>
              <a:rPr sz="2200">
                <a:solidFill>
                  <a:srgbClr val="1F2937"/>
                </a:solidFill>
                <a:latin typeface="Calibri"/>
              </a:rPr>
              <a:t>▸  Yakunda O‘zbekistonning “Fuqarolar sog‘lig‘ini saqlash to‘g‘risida”gi Qonuni va sog‘liqni saqlash tizimini isloh qilish dasturi tahlil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bet 5, bet 9-10, 22; Payne-James J., Jones R., Karch S.B., Manlove J., Simpson's Forensic Medicine, betlar: p. 17, p. 17,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huquqi: tushuncha, maqsad, vazifalar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Tibbiyot huquqi — davolash, tashxis va profilaktika jarayonidagi munosabatlarni, taraflarning huquq, majburiyat va mas’uliyatini belgilovchi me’yorlar majmui.</a:t>
            </a:r>
          </a:p>
          <a:p>
            <a:pPr>
              <a:spcAft>
                <a:spcPts val="800"/>
              </a:spcAft>
            </a:pPr>
            <a:r>
              <a:rPr sz="1600">
                <a:solidFill>
                  <a:srgbClr val="1F2937"/>
                </a:solidFill>
                <a:latin typeface="Calibri"/>
              </a:rPr>
              <a:t>▸  Fan maqsadi — huquqiy me’yorlar va ko‘nikmalarni o‘zlashtirish.</a:t>
            </a:r>
          </a:p>
          <a:p>
            <a:pPr>
              <a:spcAft>
                <a:spcPts val="800"/>
              </a:spcAft>
            </a:pPr>
            <a:r>
              <a:rPr sz="1600">
                <a:solidFill>
                  <a:srgbClr val="1F2937"/>
                </a:solidFill>
                <a:latin typeface="Calibri"/>
              </a:rPr>
              <a:t>▸  Ilgari faoliyat uchun tibbiy bilim va axloqiy qoidalarga rioya yetarli sanalgan. Hozir huquqiy me’yorlarni bilish va izchil amal qilish ham zarur.</a:t>
            </a:r>
          </a:p>
          <a:p>
            <a:pPr>
              <a:spcAft>
                <a:spcPts val="800"/>
              </a:spcAft>
            </a:pPr>
            <a:r>
              <a:rPr sz="1600">
                <a:solidFill>
                  <a:srgbClr val="1F2937"/>
                </a:solidFill>
                <a:latin typeface="Calibri"/>
              </a:rPr>
              <a:t>▸  Amaldagi qonunchilikda tibbiy faoliyat xizmat ko‘rsatishga tenglashtiriladi: xodimlar xizmat ko‘rsatuvchi, bemorlar esa iste’molchi sifatida talqin etiladi.</a:t>
            </a:r>
          </a:p>
          <a:p>
            <a:pPr>
              <a:spcAft>
                <a:spcPts val="800"/>
              </a:spcAft>
            </a:pPr>
            <a:r>
              <a:rPr sz="1600">
                <a:solidFill>
                  <a:srgbClr val="1F2937"/>
                </a:solidFill>
                <a:latin typeface="Calibri"/>
              </a:rPr>
              <a:t>▸  Vazifalari: qonunchilikni, huquqiy munosabatlar xususiyatini, kasb huquqbuzarliklarini o‘rganish va qilmish bilan jinoyatni farqlash.</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Tibbiyot huquqi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Tushuncha</a:t>
            </a:r>
          </a:p>
          <a:p>
            <a:pPr algn="l">
              <a:spcAft>
                <a:spcPts val="0"/>
              </a:spcAft>
            </a:pPr>
            <a:r>
              <a:rPr sz="1200" b="0">
                <a:solidFill>
                  <a:srgbClr val="1F2937"/>
                </a:solidFill>
                <a:latin typeface="Calibri"/>
              </a:rPr>
              <a:t>Davolash, tashxis, profilaktika  ·  Huquq, majburiyat, mas’uliyat</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Maqsad</a:t>
            </a:r>
          </a:p>
          <a:p>
            <a:pPr algn="l">
              <a:spcAft>
                <a:spcPts val="0"/>
              </a:spcAft>
            </a:pPr>
            <a:r>
              <a:rPr sz="1200" b="0">
                <a:solidFill>
                  <a:srgbClr val="1F2937"/>
                </a:solidFill>
                <a:latin typeface="Calibri"/>
              </a:rPr>
              <a:t>Huquqiy me’yor, ko‘nikmalar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Vazifalar</a:t>
            </a:r>
          </a:p>
          <a:p>
            <a:pPr algn="l">
              <a:spcAft>
                <a:spcPts val="0"/>
              </a:spcAft>
            </a:pPr>
            <a:r>
              <a:rPr sz="1200" b="0">
                <a:solidFill>
                  <a:srgbClr val="1F2937"/>
                </a:solidFill>
                <a:latin typeface="Calibri"/>
              </a:rPr>
              <a:t>Qonunchilik, kasb huquqbuzarliklari  ·  Qilmish va jinoyatni farqlash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Zamonaviy qarash</a:t>
            </a:r>
          </a:p>
          <a:p>
            <a:pPr algn="l">
              <a:spcAft>
                <a:spcPts val="0"/>
              </a:spcAft>
            </a:pPr>
            <a:r>
              <a:rPr sz="1200" b="0">
                <a:solidFill>
                  <a:srgbClr val="1F2937"/>
                </a:solidFill>
                <a:latin typeface="Calibri"/>
              </a:rPr>
              <a:t>Xodim — xizmat ko‘rsatuvchi  ·  Bemor — iste’molchi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Tibbiyot huquqi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bet 5, bet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 va axloq-etika: farqi va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Huquq — ma’naviyatning eng quyi darajasi (minimumi), etika esa uning yuqori darajasi.</a:t>
            </a:r>
          </a:p>
          <a:p>
            <a:pPr>
              <a:spcAft>
                <a:spcPts val="800"/>
              </a:spcAft>
            </a:pPr>
            <a:r>
              <a:rPr sz="1800">
                <a:solidFill>
                  <a:srgbClr val="1F2937"/>
                </a:solidFill>
                <a:latin typeface="Calibri"/>
              </a:rPr>
              <a:t>▸  Axloqiy talab erkin, ixtiyoriy bajariladi; huquqiy me’yor esa bevosita yoki bilvosita majburlash orqali ta’minlanadi.</a:t>
            </a:r>
          </a:p>
          <a:p>
            <a:pPr>
              <a:spcAft>
                <a:spcPts val="800"/>
              </a:spcAft>
            </a:pPr>
            <a:r>
              <a:rPr sz="1800">
                <a:solidFill>
                  <a:srgbClr val="1F2937"/>
                </a:solidFill>
                <a:latin typeface="Calibri"/>
              </a:rPr>
              <a:t>▸  Diqqat: xato qilish xavfi — huquq va etikani bir-biriga qarama-qarshi qo‘yib bo‘lmaydi.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Huquq</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Ma’naviyatning minimumi</a:t>
            </a:r>
          </a:p>
          <a:p>
            <a:pPr algn="l">
              <a:spcAft>
                <a:spcPts val="700"/>
              </a:spcAft>
            </a:pPr>
            <a:r>
              <a:rPr sz="1500" b="1">
                <a:solidFill>
                  <a:srgbClr val="C9A227"/>
                </a:solidFill>
                <a:latin typeface="Calibri"/>
              </a:rPr>
              <a:t>●  </a:t>
            </a:r>
            <a:r>
              <a:rPr sz="1500" b="0">
                <a:solidFill>
                  <a:srgbClr val="1F2937"/>
                </a:solidFill>
                <a:latin typeface="Calibri"/>
              </a:rPr>
              <a:t>Majburlash orqali ta’minlanadi</a:t>
            </a:r>
          </a:p>
          <a:p>
            <a:pPr algn="l">
              <a:spcAft>
                <a:spcPts val="700"/>
              </a:spcAft>
            </a:pPr>
            <a:r>
              <a:rPr sz="1500" b="1">
                <a:solidFill>
                  <a:srgbClr val="C9A227"/>
                </a:solidFill>
                <a:latin typeface="Calibri"/>
              </a:rPr>
              <a:t>●  </a:t>
            </a:r>
            <a:r>
              <a:rPr sz="1500" b="0">
                <a:solidFill>
                  <a:srgbClr val="1F2937"/>
                </a:solidFill>
                <a:latin typeface="Calibri"/>
              </a:rPr>
              <a:t>Etikaga zid qo‘yilmaydi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Axloq-etika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Ma’naviyatning yuqori darajasi</a:t>
            </a:r>
          </a:p>
          <a:p>
            <a:pPr algn="l">
              <a:spcAft>
                <a:spcPts val="700"/>
              </a:spcAft>
            </a:pPr>
            <a:r>
              <a:rPr sz="1500" b="1">
                <a:solidFill>
                  <a:srgbClr val="C9A227"/>
                </a:solidFill>
                <a:latin typeface="Calibri"/>
              </a:rPr>
              <a:t>●  </a:t>
            </a:r>
            <a:r>
              <a:rPr sz="1500" b="0">
                <a:solidFill>
                  <a:srgbClr val="1F2937"/>
                </a:solidFill>
                <a:latin typeface="Calibri"/>
              </a:rPr>
              <a:t>Erkin, ixtiyoriy bajariladi</a:t>
            </a:r>
          </a:p>
          <a:p>
            <a:pPr algn="l">
              <a:spcAft>
                <a:spcPts val="700"/>
              </a:spcAft>
            </a:pPr>
            <a:r>
              <a:rPr sz="1500" b="1">
                <a:solidFill>
                  <a:srgbClr val="C9A227"/>
                </a:solidFill>
                <a:latin typeface="Calibri"/>
              </a:rPr>
              <a:t>●  </a:t>
            </a:r>
            <a:r>
              <a:rPr sz="1500" b="0">
                <a:solidFill>
                  <a:srgbClr val="1F2937"/>
                </a:solidFill>
                <a:latin typeface="Calibri"/>
              </a:rPr>
              <a:t>Huquqqa zid qo‘yilmaydi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Huquq va etika solishtirmasi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bet 7, bet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bemor — iste’molchimi?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shifokorga murojaat qildi. Amaldagi qonunchilikda tibbiy faoliyat keng ma’noda fuqarolarga xizmat ko‘rsatishga tenglashtirilgan.</a:t>
            </a:r>
          </a:p>
          <a:p>
            <a:pPr>
              <a:spcAft>
                <a:spcPts val="1200"/>
              </a:spcAft>
            </a:pPr>
            <a:r>
              <a:rPr sz="2200">
                <a:solidFill>
                  <a:srgbClr val="1F2937"/>
                </a:solidFill>
                <a:latin typeface="Calibri"/>
              </a:rPr>
              <a:t>▸  Bunda tibbiyot xodimlari xizmat ko‘rsatuvchi, bemorlar esa iste’molchi sifatida talqin etiladi. Bu huquqiy bilim zaruratini oshiradi.</a:t>
            </a:r>
          </a:p>
          <a:p>
            <a:pPr>
              <a:spcAft>
                <a:spcPts val="1200"/>
              </a:spcAft>
            </a:pPr>
            <a:r>
              <a:rPr sz="2200">
                <a:solidFill>
                  <a:srgbClr val="1F2937"/>
                </a:solidFill>
                <a:latin typeface="Calibri"/>
              </a:rPr>
              <a:t>▸  Jarroh N. I. Amosov: vrachning vijdoniga ishonish lozim, hech qanday qonun uning o‘rnini bosa olmaydi.</a:t>
            </a:r>
          </a:p>
          <a:p>
            <a:pPr>
              <a:spcAft>
                <a:spcPts val="1200"/>
              </a:spcAft>
            </a:pPr>
            <a:r>
              <a:rPr sz="2200">
                <a:solidFill>
                  <a:srgbClr val="1F2937"/>
                </a:solidFill>
                <a:latin typeface="Calibri"/>
              </a:rPr>
              <a:t>▸  Savol: vrach faqat vijdoniga tayanishi yetarlimi? Diqqat: axloq erkin bajariladi, huquq me’yorlari majburlash orqali ta’minlanadi.</a:t>
            </a:r>
          </a:p>
          <a:p>
            <a:pPr>
              <a:spcAft>
                <a:spcPts val="1200"/>
              </a:spcAft>
            </a:pPr>
            <a:r>
              <a:rPr sz="2200">
                <a:solidFill>
                  <a:srgbClr val="1F2937"/>
                </a:solidFill>
                <a:latin typeface="Calibri"/>
              </a:rPr>
              <a:t>▸  Hozir esa axloqiy qoidalar bilan birga huquqiy me’yorlarni ham bilish zarur.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axloqning tarixiy ildizlari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Tibbiyot va uning axloqiy asoslari Kos orolidagi Gippokrat maktabida, taxminan m.a. 400-yilda qo‘yilgan.</a:t>
            </a:r>
          </a:p>
          <a:p>
            <a:pPr>
              <a:spcAft>
                <a:spcPts val="800"/>
              </a:spcAft>
            </a:pPr>
            <a:r>
              <a:rPr sz="1800">
                <a:solidFill>
                  <a:srgbClr val="1F2937"/>
                </a:solidFill>
                <a:latin typeface="Calibri"/>
              </a:rPr>
              <a:t>▸  Qasamyodning ayrim tafsilotlari eskirgan, ammo u hamon axloqiy xulq-atvorning asosi bo‘lib qolmoqda.</a:t>
            </a:r>
          </a:p>
          <a:p>
            <a:pPr>
              <a:spcAft>
                <a:spcPts val="800"/>
              </a:spcAft>
            </a:pPr>
            <a:r>
              <a:rPr sz="1800">
                <a:solidFill>
                  <a:srgbClr val="1F2937"/>
                </a:solidFill>
                <a:latin typeface="Calibri"/>
              </a:rPr>
              <a:t>▸  WMA (Butunjahon tibbiyot assotsiatsiyasi) 1947-yilda tuzilgan; 1948-yilda Jeneva deklaratsiyasi chiqqan.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~400 m.a.</a:t>
            </a:r>
          </a:p>
          <a:p>
            <a:pPr algn="l">
              <a:spcAft>
                <a:spcPts val="200"/>
              </a:spcAft>
            </a:pPr>
            <a:r>
              <a:rPr sz="1400" b="0">
                <a:solidFill>
                  <a:srgbClr val="1F2937"/>
                </a:solidFill>
                <a:latin typeface="Calibri"/>
              </a:rPr>
              <a:t>Kos maktabi, Gippokrat</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Qasamyod</a:t>
            </a:r>
          </a:p>
          <a:p>
            <a:pPr algn="l">
              <a:spcAft>
                <a:spcPts val="200"/>
              </a:spcAft>
            </a:pPr>
            <a:r>
              <a:rPr sz="1400" b="0">
                <a:solidFill>
                  <a:srgbClr val="1F2937"/>
                </a:solidFill>
                <a:latin typeface="Calibri"/>
              </a:rPr>
              <a:t>Axloqiy xulq asosi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1947</a:t>
            </a:r>
          </a:p>
          <a:p>
            <a:pPr algn="l">
              <a:spcAft>
                <a:spcPts val="200"/>
              </a:spcAft>
            </a:pPr>
            <a:r>
              <a:rPr sz="1400" b="0">
                <a:solidFill>
                  <a:srgbClr val="1F2937"/>
                </a:solidFill>
                <a:latin typeface="Calibri"/>
              </a:rPr>
              <a:t>WMA tuzildi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1948</a:t>
            </a:r>
          </a:p>
          <a:p>
            <a:pPr algn="l">
              <a:spcAft>
                <a:spcPts val="200"/>
              </a:spcAft>
            </a:pPr>
            <a:r>
              <a:rPr sz="1400" b="0">
                <a:solidFill>
                  <a:srgbClr val="1F2937"/>
                </a:solidFill>
                <a:latin typeface="Calibri"/>
              </a:rPr>
              <a:t>Jeneva deklaratsiyasi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2006</a:t>
            </a:r>
          </a:p>
          <a:p>
            <a:pPr algn="l">
              <a:spcAft>
                <a:spcPts val="200"/>
              </a:spcAft>
            </a:pPr>
            <a:r>
              <a:rPr sz="1400" b="0">
                <a:solidFill>
                  <a:srgbClr val="1F2937"/>
                </a:solidFill>
                <a:latin typeface="Calibri"/>
              </a:rPr>
              <a:t>Jeneva qayta ko‘rildi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Tibbiy axloq vaqt chizig‘i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12,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Jeneva deklaratsiyasi: asosiy va’dalar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Bemorning sog‘lig‘i shifokor uchun birinchi e’tibor bo‘ladi. Kasb vijdon va qadr-qimmat bilan olib boriladi.</a:t>
            </a:r>
          </a:p>
          <a:p>
            <a:pPr>
              <a:spcAft>
                <a:spcPts val="800"/>
              </a:spcAft>
            </a:pPr>
            <a:r>
              <a:rPr sz="1600">
                <a:solidFill>
                  <a:srgbClr val="1F2937"/>
                </a:solidFill>
                <a:latin typeface="Calibri"/>
              </a:rPr>
              <a:t>▸  Ishonib aytilgan sirlar bemor vafot etganidan keyin ham saqlanadi. Yosh, millat, jins, siyosiy qarash vrach burchiga xalaqit bermaydi.</a:t>
            </a:r>
          </a:p>
          <a:p>
            <a:pPr>
              <a:spcAft>
                <a:spcPts val="800"/>
              </a:spcAft>
            </a:pPr>
            <a:r>
              <a:rPr sz="1600">
                <a:solidFill>
                  <a:srgbClr val="1F2937"/>
                </a:solidFill>
                <a:latin typeface="Calibri"/>
              </a:rPr>
              <a:t>▸  Tibbiy bilim inson huquqlari va fuqarolik erkinliklarini buzish uchun, hatto tahdid ostida ham, ishlatilmaydi.</a:t>
            </a:r>
          </a:p>
          <a:p>
            <a:pPr>
              <a:spcAft>
                <a:spcPts val="800"/>
              </a:spcAft>
            </a:pPr>
            <a:r>
              <a:rPr sz="1600">
                <a:solidFill>
                  <a:srgbClr val="1F2937"/>
                </a:solidFill>
                <a:latin typeface="Calibri"/>
              </a:rPr>
              <a:t>▸  Diqqat: barcha shifokorlar Gippokrat qasamyodini qabul qilgan deb o‘ylash xato. Biroq uning asosiy tamoyillari tibbiy etikaning poydevori.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Jeneva deklaratsiyasi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Bemor sog‘lig‘i</a:t>
            </a:r>
          </a:p>
          <a:p>
            <a:pPr algn="l">
              <a:spcAft>
                <a:spcPts val="0"/>
              </a:spcAft>
            </a:pPr>
            <a:r>
              <a:rPr sz="1200" b="0">
                <a:solidFill>
                  <a:srgbClr val="1F2937"/>
                </a:solidFill>
                <a:latin typeface="Calibri"/>
              </a:rPr>
              <a:t>Birinchi e’tibor  ·  Kasb vijdon va qadr-qimmat bilan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Sirlar</a:t>
            </a:r>
          </a:p>
          <a:p>
            <a:pPr algn="l">
              <a:spcAft>
                <a:spcPts val="0"/>
              </a:spcAft>
            </a:pPr>
            <a:r>
              <a:rPr sz="1200" b="0">
                <a:solidFill>
                  <a:srgbClr val="1F2937"/>
                </a:solidFill>
                <a:latin typeface="Calibri"/>
              </a:rPr>
              <a:t>Bemor vafotidan keyin ham saqlanadi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Kamsitmaslik</a:t>
            </a:r>
          </a:p>
          <a:p>
            <a:pPr algn="l">
              <a:spcAft>
                <a:spcPts val="0"/>
              </a:spcAft>
            </a:pPr>
            <a:r>
              <a:rPr sz="1200" b="0">
                <a:solidFill>
                  <a:srgbClr val="1F2937"/>
                </a:solidFill>
                <a:latin typeface="Calibri"/>
              </a:rPr>
              <a:t>Yosh, millat, jins — xalaqit bermaydi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Bilim</a:t>
            </a:r>
          </a:p>
          <a:p>
            <a:pPr algn="l">
              <a:spcAft>
                <a:spcPts val="0"/>
              </a:spcAft>
            </a:pPr>
            <a:r>
              <a:rPr sz="1200" b="0">
                <a:solidFill>
                  <a:srgbClr val="1F2937"/>
                </a:solidFill>
                <a:latin typeface="Calibri"/>
              </a:rPr>
              <a:t>Inson huquqlarini buzishga ishlatilmaydi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Jeneva deklaratsiyasi va’dalari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WMA deklaratsiyalari: yillar va mavzular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Oslo (1970) – tibbiy abort; Myunxen (1973) – irqiy va siyosiy kamsitish.</a:t>
            </a:r>
          </a:p>
          <a:p>
            <a:pPr>
              <a:spcAft>
                <a:spcPts val="800"/>
              </a:spcAft>
            </a:pPr>
            <a:r>
              <a:rPr sz="1800">
                <a:solidFill>
                  <a:srgbClr val="1F2937"/>
                </a:solidFill>
                <a:latin typeface="Calibri"/>
              </a:rPr>
              <a:t>▸  Venetsiya (1983) – o‘limga yaqin kasallik; Madrid (1987) – kasbiy avtonomiya va o‘zini o‘zi boshqarish.</a:t>
            </a:r>
          </a:p>
          <a:p>
            <a:pPr>
              <a:spcAft>
                <a:spcPts val="800"/>
              </a:spcAft>
            </a:pPr>
            <a:r>
              <a:rPr sz="1800">
                <a:solidFill>
                  <a:srgbClr val="1F2937"/>
                </a:solidFill>
                <a:latin typeface="Calibri"/>
              </a:rPr>
              <a:t>▸  Ottava (2006) – bola salomatligi; Dehli (2009) – sog‘liq va iqlim o‘zgarishi.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052493"/>
                <a:gridCol w="1691639"/>
                <a:gridCol w="2543842"/>
              </a:tblGrid>
              <a:tr h="614476">
                <a:tc>
                  <a:txBody>
                    <a:bodyPr/>
                    <a:lstStyle/>
                    <a:p>
                      <a:r>
                        <a:rPr sz="1600" b="1">
                          <a:solidFill>
                            <a:srgbClr val="FFFFFF"/>
                          </a:solidFill>
                        </a:rPr>
                        <a:t>Yil</a:t>
                      </a:r>
                    </a:p>
                  </a:txBody>
                  <a:tcPr marL="73152" marR="73152" marT="36576" marB="36576">
                    <a:solidFill>
                      <a:srgbClr val="0B1F3A"/>
                    </a:solidFill>
                  </a:tcPr>
                </a:tc>
                <a:tc>
                  <a:txBody>
                    <a:bodyPr/>
                    <a:lstStyle/>
                    <a:p>
                      <a:r>
                        <a:rPr sz="1600" b="1">
                          <a:solidFill>
                            <a:srgbClr val="FFFFFF"/>
                          </a:solidFill>
                        </a:rPr>
                        <a:t>Deklaratsiya</a:t>
                      </a:r>
                    </a:p>
                  </a:txBody>
                  <a:tcPr marL="73152" marR="73152" marT="36576" marB="36576">
                    <a:solidFill>
                      <a:srgbClr val="0B1F3A"/>
                    </a:solidFill>
                  </a:tcPr>
                </a:tc>
                <a:tc>
                  <a:txBody>
                    <a:bodyPr/>
                    <a:lstStyle/>
                    <a:p>
                      <a:r>
                        <a:rPr sz="1600" b="1">
                          <a:solidFill>
                            <a:srgbClr val="FFFFFF"/>
                          </a:solidFill>
                        </a:rPr>
                        <a:t>Asosiy mavzu</a:t>
                      </a:r>
                    </a:p>
                  </a:txBody>
                  <a:tcPr marL="73152" marR="73152" marT="36576" marB="36576">
                    <a:solidFill>
                      <a:srgbClr val="0B1F3A"/>
                    </a:solidFill>
                  </a:tcPr>
                </a:tc>
              </a:tr>
              <a:tr h="614476">
                <a:tc>
                  <a:txBody>
                    <a:bodyPr/>
                    <a:lstStyle/>
                    <a:p>
                      <a:r>
                        <a:rPr sz="1500" b="0">
                          <a:solidFill>
                            <a:srgbClr val="1F2937"/>
                          </a:solidFill>
                        </a:rPr>
                        <a:t>1948</a:t>
                      </a:r>
                    </a:p>
                  </a:txBody>
                  <a:tcPr marL="73152" marR="73152" marT="36576" marB="36576">
                    <a:solidFill>
                      <a:srgbClr val="E8EEF6"/>
                    </a:solidFill>
                  </a:tcPr>
                </a:tc>
                <a:tc>
                  <a:txBody>
                    <a:bodyPr/>
                    <a:lstStyle/>
                    <a:p>
                      <a:r>
                        <a:rPr sz="1500" b="0">
                          <a:solidFill>
                            <a:srgbClr val="1F2937"/>
                          </a:solidFill>
                        </a:rPr>
                        <a:t>Jeneva</a:t>
                      </a:r>
                    </a:p>
                  </a:txBody>
                  <a:tcPr marL="73152" marR="73152" marT="36576" marB="36576">
                    <a:solidFill>
                      <a:srgbClr val="E8EEF6"/>
                    </a:solidFill>
                  </a:tcPr>
                </a:tc>
                <a:tc>
                  <a:txBody>
                    <a:bodyPr/>
                    <a:lstStyle/>
                    <a:p>
                      <a:r>
                        <a:rPr sz="1500" b="0">
                          <a:solidFill>
                            <a:srgbClr val="1F2937"/>
                          </a:solidFill>
                        </a:rPr>
                        <a:t>Tibbiyotning insonparvarlik maqsadlari</a:t>
                      </a:r>
                    </a:p>
                  </a:txBody>
                  <a:tcPr marL="73152" marR="73152" marT="36576" marB="36576">
                    <a:solidFill>
                      <a:srgbClr val="E8EEF6"/>
                    </a:solidFill>
                  </a:tcPr>
                </a:tc>
              </a:tr>
              <a:tr h="614476">
                <a:tc>
                  <a:txBody>
                    <a:bodyPr/>
                    <a:lstStyle/>
                    <a:p>
                      <a:r>
                        <a:rPr sz="1500" b="0">
                          <a:solidFill>
                            <a:srgbClr val="1F2937"/>
                          </a:solidFill>
                        </a:rPr>
                        <a:t>1964</a:t>
                      </a:r>
                    </a:p>
                  </a:txBody>
                  <a:tcPr marL="73152" marR="73152" marT="36576" marB="36576">
                    <a:solidFill>
                      <a:srgbClr val="FFFFFF"/>
                    </a:solidFill>
                  </a:tcPr>
                </a:tc>
                <a:tc>
                  <a:txBody>
                    <a:bodyPr/>
                    <a:lstStyle/>
                    <a:p>
                      <a:r>
                        <a:rPr sz="1500" b="0">
                          <a:solidFill>
                            <a:srgbClr val="1F2937"/>
                          </a:solidFill>
                        </a:rPr>
                        <a:t>Xelsinki</a:t>
                      </a:r>
                    </a:p>
                  </a:txBody>
                  <a:tcPr marL="73152" marR="73152" marT="36576" marB="36576">
                    <a:solidFill>
                      <a:srgbClr val="FFFFFF"/>
                    </a:solidFill>
                  </a:tcPr>
                </a:tc>
                <a:tc>
                  <a:txBody>
                    <a:bodyPr/>
                    <a:lstStyle/>
                    <a:p>
                      <a:r>
                        <a:rPr sz="1500" b="0">
                          <a:solidFill>
                            <a:srgbClr val="1F2937"/>
                          </a:solidFill>
                        </a:rPr>
                        <a:t>Odamda tajriba va klinik sinovlar</a:t>
                      </a:r>
                    </a:p>
                  </a:txBody>
                  <a:tcPr marL="73152" marR="73152" marT="36576" marB="36576">
                    <a:solidFill>
                      <a:srgbClr val="FFFFFF"/>
                    </a:solidFill>
                  </a:tcPr>
                </a:tc>
              </a:tr>
              <a:tr h="614476">
                <a:tc>
                  <a:txBody>
                    <a:bodyPr/>
                    <a:lstStyle/>
                    <a:p>
                      <a:r>
                        <a:rPr sz="1500" b="0">
                          <a:solidFill>
                            <a:srgbClr val="1F2937"/>
                          </a:solidFill>
                        </a:rPr>
                        <a:t>1975</a:t>
                      </a:r>
                    </a:p>
                  </a:txBody>
                  <a:tcPr marL="73152" marR="73152" marT="36576" marB="36576">
                    <a:solidFill>
                      <a:srgbClr val="E8EEF6"/>
                    </a:solidFill>
                  </a:tcPr>
                </a:tc>
                <a:tc>
                  <a:txBody>
                    <a:bodyPr/>
                    <a:lstStyle/>
                    <a:p>
                      <a:r>
                        <a:rPr sz="1500" b="0">
                          <a:solidFill>
                            <a:srgbClr val="1F2937"/>
                          </a:solidFill>
                        </a:rPr>
                        <a:t>Tokio</a:t>
                      </a:r>
                    </a:p>
                  </a:txBody>
                  <a:tcPr marL="73152" marR="73152" marT="36576" marB="36576">
                    <a:solidFill>
                      <a:srgbClr val="E8EEF6"/>
                    </a:solidFill>
                  </a:tcPr>
                </a:tc>
                <a:tc>
                  <a:txBody>
                    <a:bodyPr/>
                    <a:lstStyle/>
                    <a:p>
                      <a:r>
                        <a:rPr sz="1500" b="0">
                          <a:solidFill>
                            <a:srgbClr val="1F2937"/>
                          </a:solidFill>
                        </a:rPr>
                        <a:t>Qiynoq va shafqatsiz muomala</a:t>
                      </a:r>
                    </a:p>
                  </a:txBody>
                  <a:tcPr marL="73152" marR="73152" marT="36576" marB="36576">
                    <a:solidFill>
                      <a:srgbClr val="E8EEF6"/>
                    </a:solidFill>
                  </a:tcPr>
                </a:tc>
              </a:tr>
              <a:tr h="614476">
                <a:tc>
                  <a:txBody>
                    <a:bodyPr/>
                    <a:lstStyle/>
                    <a:p>
                      <a:r>
                        <a:rPr sz="1500" b="0">
                          <a:solidFill>
                            <a:srgbClr val="1F2937"/>
                          </a:solidFill>
                        </a:rPr>
                        <a:t>1981</a:t>
                      </a:r>
                    </a:p>
                  </a:txBody>
                  <a:tcPr marL="73152" marR="73152" marT="36576" marB="36576">
                    <a:solidFill>
                      <a:srgbClr val="FFFFFF"/>
                    </a:solidFill>
                  </a:tcPr>
                </a:tc>
                <a:tc>
                  <a:txBody>
                    <a:bodyPr/>
                    <a:lstStyle/>
                    <a:p>
                      <a:r>
                        <a:rPr sz="1500" b="0">
                          <a:solidFill>
                            <a:srgbClr val="1F2937"/>
                          </a:solidFill>
                        </a:rPr>
                        <a:t>Lissabon</a:t>
                      </a:r>
                    </a:p>
                  </a:txBody>
                  <a:tcPr marL="73152" marR="73152" marT="36576" marB="36576">
                    <a:solidFill>
                      <a:srgbClr val="FFFFFF"/>
                    </a:solidFill>
                  </a:tcPr>
                </a:tc>
                <a:tc>
                  <a:txBody>
                    <a:bodyPr/>
                    <a:lstStyle/>
                    <a:p>
                      <a:r>
                        <a:rPr sz="1500" b="0">
                          <a:solidFill>
                            <a:srgbClr val="1F2937"/>
                          </a:solidFill>
                        </a:rPr>
                        <a:t>Bemor huquqlari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Jahon tibbiyot assotsiatsiyasi (WMA) deklaratsiyalari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WMA bo‘yicha vrach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Shoshilinch yordam – insonparvarlik burchi, boshqalar tayyor va qodir ekani aniq bo‘lmasa.</a:t>
            </a:r>
          </a:p>
          <a:p>
            <a:pPr>
              <a:spcAft>
                <a:spcPts val="800"/>
              </a:spcAft>
            </a:pPr>
            <a:r>
              <a:rPr sz="1800">
                <a:solidFill>
                  <a:srgbClr val="1F2937"/>
                </a:solidFill>
                <a:latin typeface="Calibri"/>
              </a:rPr>
              <a:t>▸  Sirni oshkor etish mumkin: bemor rozi bo‘lsa yoki unga yoki boshqalarga real, yaqin xavf tahdid qilsa.</a:t>
            </a:r>
          </a:p>
          <a:p>
            <a:pPr>
              <a:spcAft>
                <a:spcPts val="800"/>
              </a:spcAft>
            </a:pPr>
            <a:r>
              <a:rPr sz="1800">
                <a:solidFill>
                  <a:srgbClr val="1F2937"/>
                </a:solidFill>
                <a:latin typeface="Calibri"/>
              </a:rPr>
              <a:t>▸  Joriy bemor bilan jinsiy yoki boshqa suiiste’mol, ekspluatatsion munosabatga kirish mumkin emas.</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Vrach burchlari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Umumiy</a:t>
            </a:r>
          </a:p>
          <a:p>
            <a:pPr algn="l">
              <a:spcAft>
                <a:spcPts val="0"/>
              </a:spcAft>
            </a:pPr>
            <a:r>
              <a:rPr sz="1200" b="0">
                <a:solidFill>
                  <a:srgbClr val="1F2937"/>
                </a:solidFill>
                <a:latin typeface="Calibri"/>
              </a:rPr>
              <a:t>Mustaqil kasbiy qaror  ·  Yuqori odob</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Bemorga</a:t>
            </a:r>
          </a:p>
          <a:p>
            <a:pPr algn="l">
              <a:spcAft>
                <a:spcPts val="0"/>
              </a:spcAft>
            </a:pPr>
            <a:r>
              <a:rPr sz="1200" b="0">
                <a:solidFill>
                  <a:srgbClr val="1F2937"/>
                </a:solidFill>
                <a:latin typeface="Calibri"/>
              </a:rPr>
              <a:t>Bemor manfaati, sadoqat  ·  Imkon bo‘lmasa boshqa vrachga yo‘llash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Sir</a:t>
            </a:r>
          </a:p>
          <a:p>
            <a:pPr algn="l">
              <a:spcAft>
                <a:spcPts val="0"/>
              </a:spcAft>
            </a:pPr>
            <a:r>
              <a:rPr sz="1200" b="0">
                <a:solidFill>
                  <a:srgbClr val="1F2937"/>
                </a:solidFill>
                <a:latin typeface="Calibri"/>
              </a:rPr>
              <a:t>Maxfiylikni hurmat qilish  ·  Rozilik yoki real xavf — oshkor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Hamkasbga</a:t>
            </a:r>
          </a:p>
          <a:p>
            <a:pPr algn="l">
              <a:spcAft>
                <a:spcPts val="0"/>
              </a:spcAft>
            </a:pPr>
            <a:r>
              <a:rPr sz="1200" b="0">
                <a:solidFill>
                  <a:srgbClr val="1F2937"/>
                </a:solidFill>
                <a:latin typeface="Calibri"/>
              </a:rPr>
              <a:t>Bemorni tortib olmaslik</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WMA: vrach burchlari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tamoyillari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Tamoyillar to‘qnashishi mumkin: Yegova shohidi qon quyishni rad etadi, vrach esa o‘limni biladi.</a:t>
            </a:r>
          </a:p>
          <a:p>
            <a:pPr>
              <a:spcAft>
                <a:spcPts val="800"/>
              </a:spcAft>
            </a:pPr>
            <a:r>
              <a:rPr sz="1800">
                <a:solidFill>
                  <a:srgbClr val="1F2937"/>
                </a:solidFill>
                <a:latin typeface="Calibri"/>
              </a:rPr>
              <a:t>▸  Bu masalalar har doim tayyor javob bermaydi, lekin vrach ularni bilishi muhim.</a:t>
            </a:r>
          </a:p>
          <a:p>
            <a:pPr>
              <a:spcAft>
                <a:spcPts val="800"/>
              </a:spcAft>
            </a:pPr>
            <a:r>
              <a:rPr sz="1800">
                <a:solidFill>
                  <a:srgbClr val="1F2937"/>
                </a:solidFill>
                <a:latin typeface="Calibri"/>
              </a:rPr>
              <a:t>▸  Etika buzilsa, kasbiy tashkilot intizomiy jarayon va sanktsiya qo‘llashi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Bioetika tamoyillari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Avtonomiya</a:t>
            </a:r>
          </a:p>
          <a:p>
            <a:pPr algn="l">
              <a:spcAft>
                <a:spcPts val="0"/>
              </a:spcAft>
            </a:pPr>
            <a:r>
              <a:rPr sz="1200" b="0">
                <a:solidFill>
                  <a:srgbClr val="1F2937"/>
                </a:solidFill>
                <a:latin typeface="Calibri"/>
              </a:rPr>
              <a:t>Davolanishni tanlash yoki rad etish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Zarar bermaslik; ezgulik</a:t>
            </a:r>
          </a:p>
          <a:p>
            <a:pPr algn="l">
              <a:spcAft>
                <a:spcPts val="0"/>
              </a:spcAft>
            </a:pPr>
            <a:r>
              <a:rPr sz="1200" b="0">
                <a:solidFill>
                  <a:srgbClr val="1F2937"/>
                </a:solidFill>
                <a:latin typeface="Calibri"/>
              </a:rPr>
              <a:t>Zarar bermaslik  ·  Bemor manfaati yo‘lida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Qadr-qimmat; halollik</a:t>
            </a:r>
          </a:p>
          <a:p>
            <a:pPr algn="l">
              <a:spcAft>
                <a:spcPts val="0"/>
              </a:spcAft>
            </a:pPr>
            <a:r>
              <a:rPr sz="1200" b="0">
                <a:solidFill>
                  <a:srgbClr val="1F2937"/>
                </a:solidFill>
                <a:latin typeface="Calibri"/>
              </a:rPr>
              <a:t>Hurmat  ·  Xabardor rozilik</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Adolat</a:t>
            </a:r>
          </a:p>
          <a:p>
            <a:pPr algn="l">
              <a:spcAft>
                <a:spcPts val="0"/>
              </a:spcAft>
            </a:pPr>
            <a:r>
              <a:rPr sz="1200" b="0">
                <a:solidFill>
                  <a:srgbClr val="1F2937"/>
                </a:solidFill>
                <a:latin typeface="Calibri"/>
              </a:rPr>
              <a:t>Cheklangan resurs taqsimoti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Bioetikaning asosiy tamoyillari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qon quyishdan voz kechish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Iyegova guvohi bo‘lgan bemor qon quyishni rad etadi. Vrach esa rad etish o‘limga olib kelishini biladi. Savol: qaysi tamoyillar to‘qnashmoqda?</a:t>
            </a:r>
          </a:p>
          <a:p>
            <a:pPr>
              <a:spcAft>
                <a:spcPts val="1200"/>
              </a:spcAft>
            </a:pPr>
            <a:r>
              <a:rPr sz="2200">
                <a:solidFill>
                  <a:srgbClr val="1F2937"/>
                </a:solidFill>
                <a:latin typeface="Calibri"/>
              </a:rPr>
              <a:t>▸  Bu yerda avtonomiya (bemorning tanlash va rad etish huquqi) bilan foyda keltirish va zarar yetkazmaslik tamoyillari o‘zaro to‘qnashadi.</a:t>
            </a:r>
          </a:p>
          <a:p>
            <a:pPr>
              <a:spcAft>
                <a:spcPts val="1200"/>
              </a:spcAft>
            </a:pPr>
            <a:r>
              <a:rPr sz="2200">
                <a:solidFill>
                  <a:srgbClr val="1F2937"/>
                </a:solidFill>
                <a:latin typeface="Calibri"/>
              </a:rPr>
              <a:t>▸  Qobiliyatli bemor davolanishni qabul qilish yoki rad etish huquqiga ega. Qaror vrachga asossiz ko‘rinsa ham, uni bemorning o‘zi qabul qiladi.</a:t>
            </a:r>
          </a:p>
          <a:p>
            <a:pPr>
              <a:spcAft>
                <a:spcPts val="1200"/>
              </a:spcAft>
            </a:pPr>
            <a:r>
              <a:rPr sz="2200">
                <a:solidFill>
                  <a:srgbClr val="1F2937"/>
                </a:solidFill>
                <a:latin typeface="Calibri"/>
              </a:rPr>
              <a:t>▸  O‘zbekiston qonunida davolanishni rad etishda vrach yozma rad tasdiqnomasini oladi. Imkon bo‘lmasa, guvohlar ishtirokida dalolatnoma tuzadi.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17, 14, 20; G‘iyosov Z.A., Vrach faoliyatining huquqiy asoslari: darslik, betlar: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tibbiyot huquqi nima? Javob: bemor va xodimlar o‘rtasidagi munosabatlar, ularning huquq, majburiyat va mas’uliyatini belgilovchi me’yorlar majmui.</a:t>
            </a:r>
          </a:p>
          <a:p>
            <a:pPr>
              <a:spcAft>
                <a:spcPts val="1200"/>
              </a:spcAft>
            </a:pPr>
            <a:r>
              <a:rPr sz="2000">
                <a:solidFill>
                  <a:srgbClr val="1F2937"/>
                </a:solidFill>
                <a:latin typeface="Calibri"/>
              </a:rPr>
              <a:t>▸  2-savol: huquq va axloq farqi nimada? Javob: axloq ixtiyoriy bajariladi, huquqiy me’yorlar bevosita yoki bilvosita majburlash orqali ta’minlanadi.</a:t>
            </a:r>
          </a:p>
          <a:p>
            <a:pPr>
              <a:spcAft>
                <a:spcPts val="1200"/>
              </a:spcAft>
            </a:pPr>
            <a:r>
              <a:rPr sz="2000">
                <a:solidFill>
                  <a:srgbClr val="1F2937"/>
                </a:solidFill>
                <a:latin typeface="Calibri"/>
              </a:rPr>
              <a:t>▸  3-savol: Jeneva deklaratsiyasi qaysi yili qabul qilingan? Javob: 1948-yil (Hippokrat qasamyodining zamonaviy shakli); oxirgi marta 2006-yilda qayta ko‘rilgan.</a:t>
            </a:r>
          </a:p>
          <a:p>
            <a:pPr>
              <a:spcAft>
                <a:spcPts val="1200"/>
              </a:spcAft>
            </a:pPr>
            <a:r>
              <a:rPr sz="2000">
                <a:solidFill>
                  <a:srgbClr val="1F2937"/>
                </a:solidFill>
                <a:latin typeface="Calibri"/>
              </a:rPr>
              <a:t>▸  4-savol: bioetika tamoyillari? Eslab qoling, oltita: avtonomiya, zarar yetkazmaslik, foyda, qadr-qimmat, halollik, adolat.</a:t>
            </a:r>
          </a:p>
          <a:p>
            <a:pPr>
              <a:spcAft>
                <a:spcPts val="1200"/>
              </a:spcAft>
            </a:pPr>
            <a:r>
              <a:rPr sz="2000">
                <a:solidFill>
                  <a:srgbClr val="1F2937"/>
                </a:solidFill>
                <a:latin typeface="Calibri"/>
              </a:rPr>
              <a:t>▸  Avval ‘bemor’, keyin ‘vrach’, oxirida ‘jamiyat’ deb sanang.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5, 7; Payne-James J., Jones R., Karch S.B., Manlove J., Simpson's Forensic Medicine, betlar: 13,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siri: asosiy qoidalar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Diqqat: maxfiylik asosiy burch, lekin mutlaq emas. Vrach qaror qabul qiladi va buzilgan taqdirda uni keyin asoslab bera olishi kerak.</a:t>
            </a:r>
          </a:p>
          <a:p>
            <a:pPr>
              <a:spcAft>
                <a:spcPts val="800"/>
              </a:spcAft>
            </a:pPr>
            <a:r>
              <a:rPr sz="1600">
                <a:solidFill>
                  <a:srgbClr val="1F2937"/>
                </a:solidFill>
                <a:latin typeface="Calibri"/>
              </a:rPr>
              <a:t>▸  Vrach–bemor munosabatining kaliti — ishonch. Maxfiylikka ishonmagan bemor yordamga murojaat qilmasligi yoki to‘liq ma’lumot bermasligi mumkin.</a:t>
            </a:r>
          </a:p>
          <a:p>
            <a:pPr>
              <a:spcAft>
                <a:spcPts val="800"/>
              </a:spcAft>
            </a:pPr>
            <a:r>
              <a:rPr sz="1600">
                <a:solidFill>
                  <a:srgbClr val="1F2937"/>
                </a:solidFill>
                <a:latin typeface="Calibri"/>
              </a:rPr>
              <a:t>▸  Bemor qaror qabul qila olmasa: bu holat vaqtinchalikmi yoki doimiymi, aniqlanadi. Qonuniy vakil bilan maslahatlashiladi, vrach bemor manfaatida ish tutadi.</a:t>
            </a:r>
          </a:p>
          <a:p>
            <a:pPr>
              <a:spcAft>
                <a:spcPts val="800"/>
              </a:spcAft>
            </a:pPr>
            <a:r>
              <a:rPr sz="1600">
                <a:solidFill>
                  <a:srgbClr val="1F2937"/>
                </a:solidFill>
                <a:latin typeface="Calibri"/>
              </a:rPr>
              <a:t>▸  Maxfiylik o‘limdan keyin ham saqlanadi.</a:t>
            </a:r>
          </a:p>
          <a:p>
            <a:pPr>
              <a:spcAft>
                <a:spcPts val="800"/>
              </a:spcAft>
            </a:pPr>
            <a:r>
              <a:rPr sz="1600">
                <a:solidFill>
                  <a:srgbClr val="1F2937"/>
                </a:solidFill>
                <a:latin typeface="Calibri"/>
              </a:rPr>
              <a:t>▸  Angliyada Milliy sog‘liqni saqlash xizmati (NHS) ichida bemor ma’lumotlari maxfiyligini Caldicott Guardian himoya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Vrach siri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Mohiyati</a:t>
            </a:r>
          </a:p>
          <a:p>
            <a:pPr algn="l">
              <a:spcAft>
                <a:spcPts val="0"/>
              </a:spcAft>
            </a:pPr>
            <a:r>
              <a:rPr sz="1200" b="0">
                <a:solidFill>
                  <a:srgbClr val="1F2937"/>
                </a:solidFill>
                <a:latin typeface="Calibri"/>
              </a:rPr>
              <a:t>Maxfiylik asosiy, lekin mutlaq emas  ·  Qaror asoslanishi kerak</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Ishonch</a:t>
            </a:r>
          </a:p>
          <a:p>
            <a:pPr algn="l">
              <a:spcAft>
                <a:spcPts val="0"/>
              </a:spcAft>
            </a:pPr>
            <a:r>
              <a:rPr sz="1200" b="0">
                <a:solidFill>
                  <a:srgbClr val="1F2937"/>
                </a:solidFill>
                <a:latin typeface="Calibri"/>
              </a:rPr>
              <a:t>Vrach-bemor munosabatining kaliti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Qaror qila olmagan bemor</a:t>
            </a:r>
          </a:p>
          <a:p>
            <a:pPr algn="l">
              <a:spcAft>
                <a:spcPts val="0"/>
              </a:spcAft>
            </a:pPr>
            <a:r>
              <a:rPr sz="1200" b="0">
                <a:solidFill>
                  <a:srgbClr val="1F2937"/>
                </a:solidFill>
                <a:latin typeface="Calibri"/>
              </a:rPr>
              <a:t>Qonuniy vakil bilan maslahat  ·  Bemor manfaatida ish tutiladi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Muddat</a:t>
            </a:r>
          </a:p>
          <a:p>
            <a:pPr algn="l">
              <a:spcAft>
                <a:spcPts val="0"/>
              </a:spcAft>
            </a:pPr>
            <a:r>
              <a:rPr sz="1200" b="0">
                <a:solidFill>
                  <a:srgbClr val="1F2937"/>
                </a:solidFill>
                <a:latin typeface="Calibri"/>
              </a:rPr>
              <a:t>O‘limdan keyin ham saqlanadi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Vrach siri qoidalari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17, 19, 17-19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Maxfiylik qachon oshkor qilinishi mumkin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Maxfiylik asosiy, lekin mutlaq bo‘lmagan burch; vrach keyinchalik o‘z qarorini asoslay olishi kerak.</a:t>
            </a:r>
          </a:p>
          <a:p>
            <a:pPr>
              <a:spcAft>
                <a:spcPts val="800"/>
              </a:spcAft>
            </a:pPr>
            <a:r>
              <a:rPr sz="1800">
                <a:solidFill>
                  <a:srgbClr val="1F2937"/>
                </a:solidFill>
                <a:latin typeface="Calibri"/>
              </a:rPr>
              <a:t>▸  Sudya yoki sud raisi buyrug‘i bilan ma’lumot beriladi; ishga aloqasiz so‘rovga sabab ko‘rsatib e’tiroz mumkin.</a:t>
            </a:r>
          </a:p>
          <a:p>
            <a:pPr>
              <a:spcAft>
                <a:spcPts val="800"/>
              </a:spcAft>
            </a:pPr>
            <a:r>
              <a:rPr sz="1800">
                <a:solidFill>
                  <a:srgbClr val="1F2937"/>
                </a:solidFill>
                <a:latin typeface="Calibri"/>
              </a:rPr>
              <a:t>▸  Jamoat manfaatida manfaatlar tortiladi; qaror o‘sha paytda ham, keyin ham asoslanishi lozim.</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Maxfiylikni oshkor qilish</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Qonun talabi</a:t>
            </a:r>
          </a:p>
          <a:p>
            <a:pPr algn="l">
              <a:spcAft>
                <a:spcPts val="0"/>
              </a:spcAft>
            </a:pPr>
            <a:r>
              <a:rPr sz="1200" b="0">
                <a:solidFill>
                  <a:srgbClr val="1F2937"/>
                </a:solidFill>
                <a:latin typeface="Calibri"/>
              </a:rPr>
              <a:t>Sud buyrug‘i  ·  Yuqumli kasallik xabari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Bemor roziligi</a:t>
            </a:r>
          </a:p>
          <a:p>
            <a:pPr algn="l">
              <a:spcAft>
                <a:spcPts val="0"/>
              </a:spcAft>
            </a:pPr>
            <a:r>
              <a:rPr sz="1200" b="0">
                <a:solidFill>
                  <a:srgbClr val="1F2937"/>
                </a:solidFill>
                <a:latin typeface="Calibri"/>
              </a:rPr>
              <a:t>Oshkora (og‘zaki/yozma)  ·  Nazarda tutilgan</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Jamoat manfaati</a:t>
            </a:r>
          </a:p>
          <a:p>
            <a:pPr algn="l">
              <a:spcAft>
                <a:spcPts val="0"/>
              </a:spcAft>
            </a:pPr>
            <a:r>
              <a:rPr sz="1200" b="0">
                <a:solidFill>
                  <a:srgbClr val="1F2937"/>
                </a:solidFill>
                <a:latin typeface="Calibri"/>
              </a:rPr>
              <a:t>O‘q/pichoq jarohati  ·  Xavfli yuqumli kasallik</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Oshkor qilish asoslari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17, 18,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 qonuniy bo‘lishi shartlari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Og‘zaki yoki yozma rozilik oshkora; qo‘lni bosim o‘lchash uchun ochish esa nazarda tutilgan rozilikdir.</a:t>
            </a:r>
          </a:p>
          <a:p>
            <a:pPr>
              <a:spcAft>
                <a:spcPts val="800"/>
              </a:spcAft>
            </a:pPr>
            <a:r>
              <a:rPr sz="1800">
                <a:solidFill>
                  <a:srgbClr val="1F2937"/>
                </a:solidFill>
                <a:latin typeface="Calibri"/>
              </a:rPr>
              <a:t>▸  Xavfli yoki murakkab amal, tadqiqot va jinoiy holat (intim namuna) uchun yozma rozilik maqsadga muvofiq.</a:t>
            </a:r>
          </a:p>
          <a:p>
            <a:pPr>
              <a:spcAft>
                <a:spcPts val="800"/>
              </a:spcAft>
            </a:pPr>
            <a:r>
              <a:rPr sz="1800">
                <a:solidFill>
                  <a:srgbClr val="1F2937"/>
                </a:solidFill>
                <a:latin typeface="Calibri"/>
              </a:rPr>
              <a:t>▸  Ayrim holatlarda yozma rozilik majburiy; qaror yo‘li tibbiy yozuvda o‘sha paytda qayd etiladi.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Layoqat</a:t>
            </a:r>
          </a:p>
          <a:p>
            <a:pPr algn="l">
              <a:spcAft>
                <a:spcPts val="200"/>
              </a:spcAft>
            </a:pPr>
            <a:r>
              <a:rPr sz="1400" b="0">
                <a:solidFill>
                  <a:srgbClr val="1F2937"/>
                </a:solidFill>
                <a:latin typeface="Calibri"/>
              </a:rPr>
              <a:t>Layoqatga ega bo‘lish</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Tushunish</a:t>
            </a:r>
          </a:p>
          <a:p>
            <a:pPr algn="l">
              <a:spcAft>
                <a:spcPts val="200"/>
              </a:spcAft>
            </a:pPr>
            <a:r>
              <a:rPr sz="1400" b="0">
                <a:solidFill>
                  <a:srgbClr val="1F2937"/>
                </a:solidFill>
                <a:latin typeface="Calibri"/>
              </a:rPr>
              <a:t>Taklifni yetarli tushunish</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Ixtiyoriylik</a:t>
            </a:r>
          </a:p>
          <a:p>
            <a:pPr algn="l">
              <a:spcAft>
                <a:spcPts val="200"/>
              </a:spcAft>
            </a:pPr>
            <a:r>
              <a:rPr sz="1400" b="0">
                <a:solidFill>
                  <a:srgbClr val="1F2937"/>
                </a:solidFill>
                <a:latin typeface="Calibri"/>
              </a:rPr>
              <a:t>Majburlovsiz qaror</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Natija</a:t>
            </a:r>
          </a:p>
          <a:p>
            <a:pPr algn="l">
              <a:spcAft>
                <a:spcPts val="200"/>
              </a:spcAft>
            </a:pPr>
            <a:r>
              <a:rPr sz="1400" b="0">
                <a:solidFill>
                  <a:srgbClr val="1F2937"/>
                </a:solidFill>
                <a:latin typeface="Calibri"/>
              </a:rPr>
              <a:t>Rozilik qonuniy</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Rozilik shartlari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20, 19-20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Davolash qarori: to‘rt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Vrach variantni tavsiya qilishi mumkin, qaror esa bemorniki; u vrachga mantiqsiz tuyulishi mumkin.</a:t>
            </a:r>
          </a:p>
          <a:p>
            <a:pPr>
              <a:spcAft>
                <a:spcPts val="800"/>
              </a:spcAft>
            </a:pPr>
            <a:r>
              <a:rPr sz="1800">
                <a:solidFill>
                  <a:srgbClr val="1F2937"/>
                </a:solidFill>
                <a:latin typeface="Calibri"/>
              </a:rPr>
              <a:t>▸  Foydasiz davo so‘ralsa, vrach uni bermasligi mumkin, lekin sababini bemorga tushuntirishi shart.</a:t>
            </a:r>
          </a:p>
          <a:p>
            <a:pPr>
              <a:spcAft>
                <a:spcPts val="800"/>
              </a:spcAft>
            </a:pPr>
            <a:r>
              <a:rPr sz="1800">
                <a:solidFill>
                  <a:srgbClr val="1F2937"/>
                </a:solidFill>
                <a:latin typeface="Calibri"/>
              </a:rPr>
              <a:t>▸  Chester v Afshar (2004): jarroh jiddiy xavflar haqida ogohlantirishi shart; paternalizm hukmron emas.</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Baholash</a:t>
            </a:r>
          </a:p>
          <a:p>
            <a:pPr algn="l">
              <a:spcAft>
                <a:spcPts val="200"/>
              </a:spcAft>
            </a:pPr>
            <a:r>
              <a:rPr sz="1400" b="0">
                <a:solidFill>
                  <a:srgbClr val="1F2937"/>
                </a:solidFill>
                <a:latin typeface="Calibri"/>
              </a:rPr>
              <a:t>Birgalikda baholash</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Tushuntirish</a:t>
            </a:r>
          </a:p>
          <a:p>
            <a:pPr algn="l">
              <a:spcAft>
                <a:spcPts val="200"/>
              </a:spcAft>
            </a:pPr>
            <a:r>
              <a:rPr sz="1400" b="0">
                <a:solidFill>
                  <a:srgbClr val="1F2937"/>
                </a:solidFill>
                <a:latin typeface="Calibri"/>
              </a:rPr>
              <a:t>Variantlarni tushuntirish</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Qaror</a:t>
            </a:r>
          </a:p>
          <a:p>
            <a:pPr algn="l">
              <a:spcAft>
                <a:spcPts val="200"/>
              </a:spcAft>
            </a:pPr>
            <a:r>
              <a:rPr sz="1400" b="0">
                <a:solidFill>
                  <a:srgbClr val="1F2937"/>
                </a:solidFill>
                <a:latin typeface="Calibri"/>
              </a:rPr>
              <a:t>Bemor qaror qabul qiladi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Rad etish</a:t>
            </a:r>
          </a:p>
          <a:p>
            <a:pPr algn="l">
              <a:spcAft>
                <a:spcPts val="200"/>
              </a:spcAft>
            </a:pPr>
            <a:r>
              <a:rPr sz="1400" b="0">
                <a:solidFill>
                  <a:srgbClr val="1F2937"/>
                </a:solidFill>
                <a:latin typeface="Calibri"/>
              </a:rPr>
              <a:t>Foydasiz so‘rovni rad etish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Qaror qabul qilish bosqichlari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 va qobiliyatsizlar roziligi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Diqqat: yosh rozilikda qat’iy mezon emas. Odatda 16 va undan katta yoshdagilar davolanish haqida qaror qila oladi deb hisoblanadi, lekin layoqat baholanadi.</a:t>
            </a:r>
          </a:p>
          <a:p>
            <a:pPr>
              <a:spcAft>
                <a:spcPts val="800"/>
              </a:spcAft>
            </a:pPr>
            <a:r>
              <a:rPr sz="1600">
                <a:solidFill>
                  <a:srgbClr val="1F2937"/>
                </a:solidFill>
                <a:latin typeface="Calibri"/>
              </a:rPr>
              <a:t>▸  16 yoshgacha bola ham davolash maqsadi, mohiyati, oqibati va xavfini tushunsa, rozilik bera oladi. Angliya va Uelsda bu “Gillick layoqati” deyiladi.</a:t>
            </a:r>
          </a:p>
          <a:p>
            <a:pPr>
              <a:spcAft>
                <a:spcPts val="800"/>
              </a:spcAft>
            </a:pPr>
            <a:r>
              <a:rPr sz="1600">
                <a:solidFill>
                  <a:srgbClr val="1F2937"/>
                </a:solidFill>
                <a:latin typeface="Calibri"/>
              </a:rPr>
              <a:t>▸  Angliya va Uelsda layoqatsiz bemorlar haqidagi qarorlar Mental Capacity Act 2005 (Aqliy layoqat to‘g‘risidagi qonun) bilan tartibga solinadi.</a:t>
            </a:r>
          </a:p>
          <a:p>
            <a:pPr>
              <a:spcAft>
                <a:spcPts val="800"/>
              </a:spcAft>
            </a:pPr>
            <a:r>
              <a:rPr sz="1600">
                <a:solidFill>
                  <a:srgbClr val="1F2937"/>
                </a:solidFill>
                <a:latin typeface="Calibri"/>
              </a:rPr>
              <a:t>▸  O‘zbekistonda 14 yoshgacha va layoqatsiz deb topilganlarga rozilikni qonuniy vakil beradi.</a:t>
            </a:r>
          </a:p>
          <a:p>
            <a:pPr>
              <a:spcAft>
                <a:spcPts val="800"/>
              </a:spcAft>
            </a:pPr>
            <a:r>
              <a:rPr sz="1600">
                <a:solidFill>
                  <a:srgbClr val="1F2937"/>
                </a:solidFill>
                <a:latin typeface="Calibri"/>
              </a:rPr>
              <a:t>▸  Vakil bo‘lmasa, masalani konsilium, imkon bo‘lmasa davolovchi yoki navbatchi vrach hal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Rozilik beruvchi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16 va undan katta</a:t>
            </a:r>
          </a:p>
          <a:p>
            <a:pPr algn="l">
              <a:spcAft>
                <a:spcPts val="0"/>
              </a:spcAft>
            </a:pPr>
            <a:r>
              <a:rPr sz="1200" b="0">
                <a:solidFill>
                  <a:srgbClr val="1F2937"/>
                </a:solidFill>
                <a:latin typeface="Calibri"/>
              </a:rPr>
              <a:t>Odatda qaror qila oladi  ·  Layoqat baholanadi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16 yoshgacha</a:t>
            </a:r>
          </a:p>
          <a:p>
            <a:pPr algn="l">
              <a:spcAft>
                <a:spcPts val="0"/>
              </a:spcAft>
            </a:pPr>
            <a:r>
              <a:rPr sz="1200" b="0">
                <a:solidFill>
                  <a:srgbClr val="1F2937"/>
                </a:solidFill>
                <a:latin typeface="Calibri"/>
              </a:rPr>
              <a:t>Tushunsa rozilik bera oladi  ·  Gillick layoqati (Angliya)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Layoqatsiz kattalar</a:t>
            </a:r>
          </a:p>
          <a:p>
            <a:pPr algn="l">
              <a:spcAft>
                <a:spcPts val="0"/>
              </a:spcAft>
            </a:pPr>
            <a:r>
              <a:rPr sz="1200" b="0">
                <a:solidFill>
                  <a:srgbClr val="1F2937"/>
                </a:solidFill>
                <a:latin typeface="Calibri"/>
              </a:rPr>
              <a:t>Mental Capacity Act 2005  ·  Layoqatli deb faraz qilinadi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O‘zbekiston: 14 gacha</a:t>
            </a:r>
          </a:p>
          <a:p>
            <a:pPr algn="l">
              <a:spcAft>
                <a:spcPts val="0"/>
              </a:spcAft>
            </a:pPr>
            <a:r>
              <a:rPr sz="1200" b="0">
                <a:solidFill>
                  <a:srgbClr val="1F2937"/>
                </a:solidFill>
                <a:latin typeface="Calibri"/>
              </a:rPr>
              <a:t>Qonuniy vakil beradi  ·  Vakil yo‘q: konsilium, vrach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Bolalar va layoqatsizlar roziligi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20; G‘iyosov Z.A., Vrach faoliyatining huquqiy asoslari: darslik, betlar: 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intim ko‘rik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Ko‘krak, jinsiy a’zo yoki to‘g‘ri ichak ko‘rigi intim ko‘rik hisoblanadi.</a:t>
            </a:r>
          </a:p>
          <a:p>
            <a:pPr>
              <a:spcAft>
                <a:spcPts val="800"/>
              </a:spcAft>
            </a:pPr>
            <a:r>
              <a:rPr sz="1800">
                <a:solidFill>
                  <a:srgbClr val="1F2937"/>
                </a:solidFill>
                <a:latin typeface="Calibri"/>
              </a:rPr>
              <a:t>▸  Vrach ko‘rik nega kerakligini va nimadan iboratligini tushuntiradi, savol berishga imkon beradi, ruxsat oladi.</a:t>
            </a:r>
          </a:p>
          <a:p>
            <a:pPr>
              <a:spcAft>
                <a:spcPts val="800"/>
              </a:spcAft>
            </a:pPr>
            <a:r>
              <a:rPr sz="1800">
                <a:solidFill>
                  <a:srgbClr val="1F2937"/>
                </a:solidFill>
                <a:latin typeface="Calibri"/>
              </a:rPr>
              <a:t>▸  Chaperone (hamrohlik qiluvchi shaxs) yoki qarindosh, do‘st taklif etiladi. Chaperone bo‘lsa, uning shaxsi yoziladi.</a:t>
            </a:r>
          </a:p>
          <a:p>
            <a:pPr>
              <a:spcAft>
                <a:spcPts val="800"/>
              </a:spcAft>
            </a:pPr>
            <a:r>
              <a:rPr sz="1800">
                <a:solidFill>
                  <a:srgbClr val="1F2937"/>
                </a:solidFill>
                <a:latin typeface="Calibri"/>
              </a:rPr>
              <a:t>▸  Savol: bemor chaperone’dan voz kechsa, vrach nimani hujjatlashtirishi kerak? Yana qaysi ruxsat va bahs holatlari yozib boriladi?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Tushuntirish</a:t>
            </a:r>
          </a:p>
          <a:p>
            <a:pPr algn="l">
              <a:spcAft>
                <a:spcPts val="200"/>
              </a:spcAft>
            </a:pPr>
            <a:r>
              <a:rPr sz="1400" b="0">
                <a:solidFill>
                  <a:srgbClr val="1F2937"/>
                </a:solidFill>
                <a:latin typeface="Calibri"/>
              </a:rPr>
              <a:t>Nega kerak, nimadan iborat</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Ruxsat</a:t>
            </a:r>
          </a:p>
          <a:p>
            <a:pPr algn="l">
              <a:spcAft>
                <a:spcPts val="200"/>
              </a:spcAft>
            </a:pPr>
            <a:r>
              <a:rPr sz="1400" b="0">
                <a:solidFill>
                  <a:srgbClr val="1F2937"/>
                </a:solidFill>
                <a:latin typeface="Calibri"/>
              </a:rPr>
              <a:t>Savol berishga imkon, ruxsat</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Chaperone</a:t>
            </a:r>
          </a:p>
          <a:p>
            <a:pPr algn="l">
              <a:spcAft>
                <a:spcPts val="200"/>
              </a:spcAft>
            </a:pPr>
            <a:r>
              <a:rPr sz="1400" b="0">
                <a:solidFill>
                  <a:srgbClr val="1F2937"/>
                </a:solidFill>
                <a:latin typeface="Calibri"/>
              </a:rPr>
              <a:t>Taklif etiladi, shaxsi yoziladi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Rad etilsa</a:t>
            </a:r>
          </a:p>
          <a:p>
            <a:pPr algn="l">
              <a:spcAft>
                <a:spcPts val="200"/>
              </a:spcAft>
            </a:pPr>
            <a:r>
              <a:rPr sz="1400" b="0">
                <a:solidFill>
                  <a:srgbClr val="1F2937"/>
                </a:solidFill>
                <a:latin typeface="Calibri"/>
              </a:rPr>
              <a:t>Taklif va rad etilgani qayd etiladi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To‘xtatish</a:t>
            </a:r>
          </a:p>
          <a:p>
            <a:pPr algn="l">
              <a:spcAft>
                <a:spcPts val="200"/>
              </a:spcAft>
            </a:pPr>
            <a:r>
              <a:rPr sz="1400" b="0">
                <a:solidFill>
                  <a:srgbClr val="1F2937"/>
                </a:solidFill>
                <a:latin typeface="Calibri"/>
              </a:rPr>
              <a:t>Bemor so‘rasa to‘xtatiladi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Intim ko‘rik tartibi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maxfiylikni oshkor qilishning uch asosiy sharti qaysilar? Javob tahlili uchun “Qachon maxfiylik amal qilmaydi” ro‘yxatini eslang.</a:t>
            </a:r>
          </a:p>
          <a:p>
            <a:pPr>
              <a:spcAft>
                <a:spcPts val="1200"/>
              </a:spcAft>
            </a:pPr>
            <a:r>
              <a:rPr sz="2200">
                <a:solidFill>
                  <a:srgbClr val="1F2937"/>
                </a:solidFill>
                <a:latin typeface="Calibri"/>
              </a:rPr>
              <a:t>▸  Savol 2: rozilik haqiqiy bo‘lishi uchun shaxsda nimalar bo‘lishi kerak? Uchta shartni sanang: layoqat, tushunish va ixtiyoriylik.</a:t>
            </a:r>
          </a:p>
          <a:p>
            <a:pPr>
              <a:spcAft>
                <a:spcPts val="1200"/>
              </a:spcAft>
            </a:pPr>
            <a:r>
              <a:rPr sz="2200">
                <a:solidFill>
                  <a:srgbClr val="1F2937"/>
                </a:solidFill>
                <a:latin typeface="Calibri"/>
              </a:rPr>
              <a:t>▸  Savol 3: Gillick layoqati kimga tegishli va nimalarga bog‘liq? Bola yoshi, aqliy rivoji va hissiy yetukligini nazarda tuting.</a:t>
            </a:r>
          </a:p>
          <a:p>
            <a:pPr>
              <a:spcAft>
                <a:spcPts val="1200"/>
              </a:spcAft>
            </a:pPr>
            <a:r>
              <a:rPr sz="2200">
                <a:solidFill>
                  <a:srgbClr val="1F2937"/>
                </a:solidFill>
                <a:latin typeface="Calibri"/>
              </a:rPr>
              <a:t>▸  Savol 4: intim ko‘rikdan oldin qanday ruxsat va chaperone yozuvlari yuritiladi? Bemor rad etsa, nima qayd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18, 19, 20, 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Vrachlarni tartibga solish: GMC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Bosh tibbiyot kengashi (GMC) Britaniyada vrachlarni ro‘yxatga oladi va aholi xavfsizligini himoya qiladi.</a:t>
            </a:r>
          </a:p>
          <a:p>
            <a:pPr>
              <a:spcAft>
                <a:spcPts val="800"/>
              </a:spcAft>
            </a:pPr>
            <a:r>
              <a:rPr sz="1800">
                <a:solidFill>
                  <a:srgbClr val="1F2937"/>
                </a:solidFill>
                <a:latin typeface="Calibri"/>
              </a:rPr>
              <a:t>▸  Medical Act 1983 to‘rt vazifa beradi: reyestr, yaxshi amaliyot, ta’lim sifati, shubhali vrachlar bilan ish.</a:t>
            </a:r>
          </a:p>
          <a:p>
            <a:pPr>
              <a:spcAft>
                <a:spcPts val="800"/>
              </a:spcAft>
            </a:pPr>
            <a:r>
              <a:rPr sz="1800">
                <a:solidFill>
                  <a:srgbClr val="1F2937"/>
                </a:solidFill>
                <a:latin typeface="Calibri"/>
              </a:rPr>
              <a:t>▸  Standartga javob bermagan vrach reyestrdan chiqarilib, amaliyot huquqidan mahrum etilishi mumkin.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Tashkil etilgan</a:t>
            </a:r>
          </a:p>
          <a:p>
            <a:pPr algn="l">
              <a:spcAft>
                <a:spcPts val="100"/>
              </a:spcAft>
            </a:pPr>
            <a:r>
              <a:rPr sz="3000" b="1">
                <a:solidFill>
                  <a:srgbClr val="0B1F3A"/>
                </a:solidFill>
                <a:latin typeface="Calibri"/>
              </a:rPr>
              <a:t>1858</a:t>
            </a:r>
            <a:r>
              <a:rPr sz="1500" b="0">
                <a:solidFill>
                  <a:srgbClr val="6B7280"/>
                </a:solidFill>
                <a:latin typeface="Calibri"/>
              </a:rPr>
              <a:t>  yil</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Qonuniy asos</a:t>
            </a:r>
          </a:p>
          <a:p>
            <a:pPr algn="l">
              <a:spcAft>
                <a:spcPts val="100"/>
              </a:spcAft>
            </a:pPr>
            <a:r>
              <a:rPr sz="2300" b="1">
                <a:solidFill>
                  <a:srgbClr val="0B1F3A"/>
                </a:solidFill>
                <a:latin typeface="Calibri"/>
              </a:rPr>
              <a:t>Medical Act 1983</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Kengash a’zolari</a:t>
            </a:r>
          </a:p>
          <a:p>
            <a:pPr algn="l">
              <a:spcAft>
                <a:spcPts val="100"/>
              </a:spcAft>
            </a:pPr>
            <a:r>
              <a:rPr sz="3000" b="1">
                <a:solidFill>
                  <a:srgbClr val="0B1F3A"/>
                </a:solidFill>
                <a:latin typeface="Calibri"/>
              </a:rPr>
              <a:t>24</a:t>
            </a:r>
            <a:r>
              <a:rPr sz="1500" b="0">
                <a:solidFill>
                  <a:srgbClr val="6B7280"/>
                </a:solidFill>
                <a:latin typeface="Calibri"/>
              </a:rPr>
              <a:t>  kishi</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Vrachlar / oddiy a’zolar</a:t>
            </a:r>
          </a:p>
          <a:p>
            <a:pPr algn="l">
              <a:spcAft>
                <a:spcPts val="100"/>
              </a:spcAft>
            </a:pPr>
            <a:r>
              <a:rPr sz="3000" b="1">
                <a:solidFill>
                  <a:srgbClr val="0B1F3A"/>
                </a:solidFill>
                <a:latin typeface="Calibri"/>
              </a:rPr>
              <a:t>12 / 12</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GMC: qisqa ma’lumot</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Fitness to Practise jarayoni va sanksiyalar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Ikki ish ko‘ruvchi (tibbiy va notibbiy) kelishsa, ishni yopadi yoki hay’atga o‘tkazadi.</a:t>
            </a:r>
          </a:p>
          <a:p>
            <a:pPr>
              <a:spcAft>
                <a:spcPts val="800"/>
              </a:spcAft>
            </a:pPr>
            <a:r>
              <a:rPr sz="1800">
                <a:solidFill>
                  <a:srgbClr val="1F2937"/>
                </a:solidFill>
                <a:latin typeface="Calibri"/>
              </a:rPr>
              <a:t>▸  Sanksiyalar: harakatsizlik, majburiyat, shart, to‘xtatish yoki reyestrdan o‘chirish.</a:t>
            </a:r>
          </a:p>
          <a:p>
            <a:pPr>
              <a:spcAft>
                <a:spcPts val="800"/>
              </a:spcAft>
            </a:pPr>
            <a:r>
              <a:rPr sz="1800">
                <a:solidFill>
                  <a:srgbClr val="1F2937"/>
                </a:solidFill>
                <a:latin typeface="Calibri"/>
              </a:rPr>
              <a:t>▸  O‘chirilgan vrach tiklanishni o‘chirilgandan 5 yil o‘tgach so‘rashi mumkin.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Shikoyat</a:t>
            </a:r>
          </a:p>
          <a:p>
            <a:pPr algn="l">
              <a:spcAft>
                <a:spcPts val="200"/>
              </a:spcAft>
            </a:pPr>
            <a:r>
              <a:rPr sz="1400" b="0">
                <a:solidFill>
                  <a:srgbClr val="1F2937"/>
                </a:solidFill>
                <a:latin typeface="Calibri"/>
              </a:rPr>
              <a:t>Dastlabki tekshiruv</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Ish ko‘ruvchilar</a:t>
            </a:r>
          </a:p>
          <a:p>
            <a:pPr algn="l">
              <a:spcAft>
                <a:spcPts val="200"/>
              </a:spcAft>
            </a:pPr>
            <a:r>
              <a:rPr sz="1400" b="0">
                <a:solidFill>
                  <a:srgbClr val="1F2937"/>
                </a:solidFill>
                <a:latin typeface="Calibri"/>
              </a:rPr>
              <a:t>Qaror</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IOP</a:t>
            </a:r>
          </a:p>
          <a:p>
            <a:pPr algn="l">
              <a:spcAft>
                <a:spcPts val="200"/>
              </a:spcAft>
            </a:pPr>
            <a:r>
              <a:rPr sz="1400" b="0">
                <a:solidFill>
                  <a:srgbClr val="1F2937"/>
                </a:solidFill>
                <a:latin typeface="Calibri"/>
              </a:rPr>
              <a:t>Vaqtincha cheklash</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Hay’at</a:t>
            </a:r>
          </a:p>
          <a:p>
            <a:pPr algn="l">
              <a:spcAft>
                <a:spcPts val="200"/>
              </a:spcAft>
            </a:pPr>
            <a:r>
              <a:rPr sz="1400" b="0">
                <a:solidFill>
                  <a:srgbClr val="1F2937"/>
                </a:solidFill>
                <a:latin typeface="Calibri"/>
              </a:rPr>
              <a:t>FTP Panel majlisi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Sanksiya</a:t>
            </a:r>
          </a:p>
          <a:p>
            <a:pPr algn="l">
              <a:spcAft>
                <a:spcPts val="200"/>
              </a:spcAft>
            </a:pPr>
            <a:r>
              <a:rPr sz="1400" b="0">
                <a:solidFill>
                  <a:srgbClr val="1F2937"/>
                </a:solidFill>
                <a:latin typeface="Calibri"/>
              </a:rPr>
              <a:t>Yoki shikoyat huquqi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GMC shikoyat jarayoni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22, 22–23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vrach faoliyatiga shikoyat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vrach ustidan bemor shikoyat qildi. Shikoyat vrachga va ish joyiga ma’lum qilinadi, vrach izoh beradi, tekshiruv boshlanadi.</a:t>
            </a:r>
          </a:p>
          <a:p>
            <a:pPr>
              <a:spcAft>
                <a:spcPts val="1200"/>
              </a:spcAft>
            </a:pPr>
            <a:r>
              <a:rPr sz="2200">
                <a:solidFill>
                  <a:srgbClr val="1F2937"/>
                </a:solidFill>
                <a:latin typeface="Calibri"/>
              </a:rPr>
              <a:t>▸  Tekshiruvdan so‘ng ish yopilishi, ogohlantirish berilishi, shart qo‘yilishi yoki hay’atga o‘tkazilishi mumkin; hay’at to‘xtatishi yoki o‘chirishi mumkin.</a:t>
            </a:r>
          </a:p>
          <a:p>
            <a:pPr>
              <a:spcAft>
                <a:spcPts val="1200"/>
              </a:spcAft>
            </a:pPr>
            <a:r>
              <a:rPr sz="2200">
                <a:solidFill>
                  <a:srgbClr val="1F2937"/>
                </a:solidFill>
                <a:latin typeface="Calibri"/>
              </a:rPr>
              <a:t>▸  Diqqat: ogohlantirish ≠ layoqatning buzilishi. U 5 yil davomida ish beruvchiga va so‘rovchilarga oshkor qilinadi.</a:t>
            </a:r>
          </a:p>
          <a:p>
            <a:pPr>
              <a:spcAft>
                <a:spcPts val="1200"/>
              </a:spcAft>
            </a:pPr>
            <a:r>
              <a:rPr sz="2200">
                <a:solidFill>
                  <a:srgbClr val="1F2937"/>
                </a:solidFill>
                <a:latin typeface="Calibri"/>
              </a:rPr>
              <a:t>▸  Savol: tekshiruv davomida vrach ishini vaqtincha cheklash uchun IOP qachon kerak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22,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 Konstitutsiyasi va sog‘liq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Huquqlar daxlsiz: ularni faqat sud qarori bilan cheklash mumkin. Huquqdan foydalanish boshqalarga zarar bermasligi shart.</a:t>
            </a:r>
          </a:p>
          <a:p>
            <a:pPr>
              <a:spcAft>
                <a:spcPts val="800"/>
              </a:spcAft>
            </a:pPr>
            <a:r>
              <a:rPr sz="1800">
                <a:solidFill>
                  <a:srgbClr val="1F2937"/>
                </a:solidFill>
                <a:latin typeface="Calibri"/>
              </a:rPr>
              <a:t>▸  Malakali xizmat: birlamchi, tez, shoshilinch va ixtisoslashtirilgan yordamni o‘z ichiga oladi.</a:t>
            </a:r>
          </a:p>
          <a:p>
            <a:pPr>
              <a:spcAft>
                <a:spcPts val="800"/>
              </a:spcAft>
            </a:pPr>
            <a:r>
              <a:rPr sz="1800">
                <a:solidFill>
                  <a:srgbClr val="1F2937"/>
                </a:solidFill>
                <a:latin typeface="Calibri"/>
              </a:rPr>
              <a:t>▸  Huquq, majburiyat va javobgarlik o‘zaro bog‘liq. 45-moddada zaif guruhlar davlat himoyasida.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Sog‘liq huquqi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18-modda</a:t>
            </a:r>
          </a:p>
          <a:p>
            <a:pPr algn="l">
              <a:spcAft>
                <a:spcPts val="0"/>
              </a:spcAft>
            </a:pPr>
            <a:r>
              <a:rPr sz="1200" b="0">
                <a:solidFill>
                  <a:srgbClr val="1F2937"/>
                </a:solidFill>
                <a:latin typeface="Calibri"/>
              </a:rPr>
              <a:t>Barcha fuqarolar teng</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40-modda</a:t>
            </a:r>
          </a:p>
          <a:p>
            <a:pPr algn="l">
              <a:spcAft>
                <a:spcPts val="0"/>
              </a:spcAft>
            </a:pPr>
            <a:r>
              <a:rPr sz="1200" b="0">
                <a:solidFill>
                  <a:srgbClr val="1F2937"/>
                </a:solidFill>
                <a:latin typeface="Calibri"/>
              </a:rPr>
              <a:t>Malakali tibbiy xizmat huquqi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43-modda</a:t>
            </a:r>
          </a:p>
          <a:p>
            <a:pPr algn="l">
              <a:spcAft>
                <a:spcPts val="0"/>
              </a:spcAft>
            </a:pPr>
            <a:r>
              <a:rPr sz="1200" b="0">
                <a:solidFill>
                  <a:srgbClr val="1F2937"/>
                </a:solidFill>
                <a:latin typeface="Calibri"/>
              </a:rPr>
              <a:t>Davlat ta’minotni kafolatlaydi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44-modda</a:t>
            </a:r>
          </a:p>
          <a:p>
            <a:pPr algn="l">
              <a:spcAft>
                <a:spcPts val="0"/>
              </a:spcAft>
            </a:pPr>
            <a:r>
              <a:rPr sz="1200" b="0">
                <a:solidFill>
                  <a:srgbClr val="1F2937"/>
                </a:solidFill>
                <a:latin typeface="Calibri"/>
              </a:rPr>
              <a:t>Huquqni sud orqali himoya qilish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Konstitutsiya: sog‘liq huquqi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sog‘lig‘ini saqlash to‘g‘risida”gi Qonun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1996-yil 29-avgustda qabul qilingan, 14-sentyabrdan kuchga kirgan. 6 qism, 47 moddadan iborat.</a:t>
            </a:r>
          </a:p>
          <a:p>
            <a:pPr>
              <a:spcAft>
                <a:spcPts val="800"/>
              </a:spcAft>
            </a:pPr>
            <a:r>
              <a:rPr sz="1800">
                <a:solidFill>
                  <a:srgbClr val="1F2937"/>
                </a:solidFill>
                <a:latin typeface="Calibri"/>
              </a:rPr>
              <a:t>▸  Besh printsip: inson huquqlari, hammabop yordam, profilaktika, ijtimoiy himoya, fan-amaliyot birligi.</a:t>
            </a:r>
          </a:p>
          <a:p>
            <a:pPr>
              <a:spcAft>
                <a:spcPts val="800"/>
              </a:spcAft>
            </a:pPr>
            <a:r>
              <a:rPr sz="1800">
                <a:solidFill>
                  <a:srgbClr val="1F2937"/>
                </a:solidFill>
                <a:latin typeface="Calibri"/>
              </a:rPr>
              <a:t>▸  Tizimlar: davlat, xususiy va boshqa. Davlat tizimida kafolatlangan yordam bepul ko‘rsatiladi.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Sog‘liqni saqlash qonuni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1-qism</a:t>
            </a:r>
          </a:p>
          <a:p>
            <a:pPr algn="l">
              <a:spcAft>
                <a:spcPts val="0"/>
              </a:spcAft>
            </a:pPr>
            <a:r>
              <a:rPr sz="1200" b="0">
                <a:solidFill>
                  <a:srgbClr val="1F2937"/>
                </a:solidFill>
                <a:latin typeface="Calibri"/>
              </a:rPr>
              <a:t>Umumiy qoidalar</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2-qism</a:t>
            </a:r>
          </a:p>
          <a:p>
            <a:pPr algn="l">
              <a:spcAft>
                <a:spcPts val="0"/>
              </a:spcAft>
            </a:pPr>
            <a:r>
              <a:rPr sz="1200" b="0">
                <a:solidFill>
                  <a:srgbClr val="1F2937"/>
                </a:solidFill>
                <a:latin typeface="Calibri"/>
              </a:rPr>
              <a:t>Huquqiy muhofaza</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3-qism</a:t>
            </a:r>
          </a:p>
          <a:p>
            <a:pPr algn="l">
              <a:spcAft>
                <a:spcPts val="0"/>
              </a:spcAft>
            </a:pPr>
            <a:r>
              <a:rPr sz="1200" b="0">
                <a:solidFill>
                  <a:srgbClr val="1F2937"/>
                </a:solidFill>
                <a:latin typeface="Calibri"/>
              </a:rPr>
              <a:t>Tibbiy-ijtimoiy yordam</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4-qism</a:t>
            </a:r>
          </a:p>
          <a:p>
            <a:pPr algn="l">
              <a:spcAft>
                <a:spcPts val="0"/>
              </a:spcAft>
            </a:pPr>
            <a:r>
              <a:rPr sz="1200" b="0">
                <a:solidFill>
                  <a:srgbClr val="1F2937"/>
                </a:solidFill>
                <a:latin typeface="Calibri"/>
              </a:rPr>
              <a:t>Tibbiy ekspertiza</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5-6-qism</a:t>
            </a:r>
          </a:p>
          <a:p>
            <a:pPr algn="l">
              <a:spcAft>
                <a:spcPts val="0"/>
              </a:spcAft>
            </a:pPr>
            <a:r>
              <a:rPr sz="1200" b="0">
                <a:solidFill>
                  <a:srgbClr val="1F2937"/>
                </a:solidFill>
                <a:latin typeface="Calibri"/>
              </a:rPr>
              <a:t>Xodimlar va yakun</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Qonunning tuzilishi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 11, 11-12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Inson salomatligiga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Umum qabul qilingan fikrga ko‘ra, salomatlikning eng katta qismi turmush tarziga bog‘liq.</a:t>
            </a:r>
          </a:p>
          <a:p>
            <a:pPr>
              <a:spcAft>
                <a:spcPts val="800"/>
              </a:spcAft>
            </a:pPr>
            <a:r>
              <a:rPr sz="1800">
                <a:solidFill>
                  <a:srgbClr val="1F2937"/>
                </a:solidFill>
                <a:latin typeface="Calibri"/>
              </a:rPr>
              <a:t>▸  Tibbiy yordam salomatlikning taxminan o‘ndan bir qismini ta’minlaydi.</a:t>
            </a:r>
          </a:p>
          <a:p>
            <a:pPr>
              <a:spcAft>
                <a:spcPts val="800"/>
              </a:spcAft>
            </a:pPr>
            <a:r>
              <a:rPr sz="1800">
                <a:solidFill>
                  <a:srgbClr val="1F2937"/>
                </a:solidFill>
                <a:latin typeface="Calibri"/>
              </a:rPr>
              <a:t>▸  Salomatlik avvalo shaxsning o‘ziga, so‘ng davlat va tashkilotlarga bog‘liq masala.</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Turmush tarzi</a:t>
            </a:r>
          </a:p>
          <a:p>
            <a:pPr algn="l">
              <a:spcAft>
                <a:spcPts val="100"/>
              </a:spcAft>
            </a:pPr>
            <a:r>
              <a:rPr sz="3000" b="1">
                <a:solidFill>
                  <a:srgbClr val="0B1F3A"/>
                </a:solidFill>
                <a:latin typeface="Calibri"/>
              </a:rPr>
              <a:t>48-52</a:t>
            </a:r>
            <a:r>
              <a:rPr sz="1500" b="0">
                <a:solidFill>
                  <a:srgbClr val="6B7280"/>
                </a:solidFill>
                <a:latin typeface="Calibri"/>
              </a:rPr>
              <a:t>  %</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Nasl va irsiyat</a:t>
            </a:r>
          </a:p>
          <a:p>
            <a:pPr algn="l">
              <a:spcAft>
                <a:spcPts val="100"/>
              </a:spcAft>
            </a:pPr>
            <a:r>
              <a:rPr sz="3000" b="1">
                <a:solidFill>
                  <a:srgbClr val="0B1F3A"/>
                </a:solidFill>
                <a:latin typeface="Calibri"/>
              </a:rPr>
              <a:t>18-20</a:t>
            </a:r>
            <a:r>
              <a:rPr sz="1500" b="0">
                <a:solidFill>
                  <a:srgbClr val="6B7280"/>
                </a:solidFill>
                <a:latin typeface="Calibri"/>
              </a:rPr>
              <a:t>  %</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Ekologik omillar</a:t>
            </a:r>
          </a:p>
          <a:p>
            <a:pPr algn="l">
              <a:spcAft>
                <a:spcPts val="100"/>
              </a:spcAft>
            </a:pPr>
            <a:r>
              <a:rPr sz="3000" b="1">
                <a:solidFill>
                  <a:srgbClr val="0B1F3A"/>
                </a:solidFill>
                <a:latin typeface="Calibri"/>
              </a:rPr>
              <a:t>18-20</a:t>
            </a:r>
            <a:r>
              <a:rPr sz="1500" b="0">
                <a:solidFill>
                  <a:srgbClr val="6B7280"/>
                </a:solidFill>
                <a:latin typeface="Calibri"/>
              </a:rPr>
              <a:t>  %</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Tibbiy yordam</a:t>
            </a:r>
          </a:p>
          <a:p>
            <a:pPr algn="l">
              <a:spcAft>
                <a:spcPts val="100"/>
              </a:spcAft>
            </a:pPr>
            <a:r>
              <a:rPr sz="3000" b="1">
                <a:solidFill>
                  <a:srgbClr val="0B1F3A"/>
                </a:solidFill>
                <a:latin typeface="Calibri"/>
              </a:rPr>
              <a:t>8-10</a:t>
            </a:r>
            <a:r>
              <a:rPr sz="1500" b="0">
                <a:solidFill>
                  <a:srgbClr val="6B7280"/>
                </a:solidFill>
                <a:latin typeface="Calibri"/>
              </a:rPr>
              <a:t>  %</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Salomatlikka ta’sir ulushi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huquqlari (24-modda)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Bemor tibbiyot va xizmat xodimlarining hurmatli, insoniy munosabatiga haqli. U shifokorni va davolash-profilaktika muassasasini ham o‘zi tanlaydi.</a:t>
            </a:r>
          </a:p>
          <a:p>
            <a:pPr>
              <a:spcAft>
                <a:spcPts val="800"/>
              </a:spcAft>
            </a:pPr>
            <a:r>
              <a:rPr sz="1600">
                <a:solidFill>
                  <a:srgbClr val="1F2937"/>
                </a:solidFill>
                <a:latin typeface="Calibri"/>
              </a:rPr>
              <a:t>▸  Tekshiruv, davolanish va parvarish sanitariya-gigiena talablariga javob beradigan sharoitda o‘tadi.</a:t>
            </a:r>
          </a:p>
          <a:p>
            <a:pPr>
              <a:spcAft>
                <a:spcPts val="800"/>
              </a:spcAft>
            </a:pPr>
            <a:r>
              <a:rPr sz="1600">
                <a:solidFill>
                  <a:srgbClr val="1F2937"/>
                </a:solidFill>
                <a:latin typeface="Calibri"/>
              </a:rPr>
              <a:t>▸  Murojaat qilgani, sog‘lig‘i holati va tashxis sir saqlanadi.</a:t>
            </a:r>
          </a:p>
          <a:p>
            <a:pPr>
              <a:spcAft>
                <a:spcPts val="800"/>
              </a:spcAft>
            </a:pPr>
            <a:r>
              <a:rPr sz="1600">
                <a:solidFill>
                  <a:srgbClr val="1F2937"/>
                </a:solidFill>
                <a:latin typeface="Calibri"/>
              </a:rPr>
              <a:t>▸  Huquq buzilsa, bemor yoki qonuniy vakili shikoyatni muassasa rahbariyatiga, yuqori boshqaruv organiga yoki sudga topshirishi mumkin.</a:t>
            </a:r>
          </a:p>
          <a:p>
            <a:pPr>
              <a:spcAft>
                <a:spcPts val="800"/>
              </a:spcAft>
            </a:pPr>
            <a:r>
              <a:rPr sz="1600">
                <a:solidFill>
                  <a:srgbClr val="1F2937"/>
                </a:solidFill>
                <a:latin typeface="Calibri"/>
              </a:rPr>
              <a:t>▸  Bemor muolajaga rozilik beradi yoki rad etadi, zarar qoplanishini talab qiladi, himoya uchun advokat yoki qonuniy vakil chaqiradi.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Bemor huquqlari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Munosabat</a:t>
            </a:r>
          </a:p>
          <a:p>
            <a:pPr algn="l">
              <a:spcAft>
                <a:spcPts val="0"/>
              </a:spcAft>
            </a:pPr>
            <a:r>
              <a:rPr sz="1200" b="0">
                <a:solidFill>
                  <a:srgbClr val="1F2937"/>
                </a:solidFill>
                <a:latin typeface="Calibri"/>
              </a:rPr>
              <a:t>Hurmatli, insoniy  ·  Shifokor va muassasani tanlash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Sharoit</a:t>
            </a:r>
          </a:p>
          <a:p>
            <a:pPr algn="l">
              <a:spcAft>
                <a:spcPts val="0"/>
              </a:spcAft>
            </a:pPr>
            <a:r>
              <a:rPr sz="1200" b="0">
                <a:solidFill>
                  <a:srgbClr val="1F2937"/>
                </a:solidFill>
                <a:latin typeface="Calibri"/>
              </a:rPr>
              <a:t>Sanitariya-gigiena talablari  ·  Konsilium, boshqa mutaxassis</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Sir va rozilik</a:t>
            </a:r>
          </a:p>
          <a:p>
            <a:pPr algn="l">
              <a:spcAft>
                <a:spcPts val="0"/>
              </a:spcAft>
            </a:pPr>
            <a:r>
              <a:rPr sz="1200" b="0">
                <a:solidFill>
                  <a:srgbClr val="1F2937"/>
                </a:solidFill>
                <a:latin typeface="Calibri"/>
              </a:rPr>
              <a:t>Sir saqlanadi  ·  Rozilik yoki rad etish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Himoya</a:t>
            </a:r>
          </a:p>
          <a:p>
            <a:pPr algn="l">
              <a:spcAft>
                <a:spcPts val="0"/>
              </a:spcAft>
            </a:pPr>
            <a:r>
              <a:rPr sz="1200" b="0">
                <a:solidFill>
                  <a:srgbClr val="1F2937"/>
                </a:solidFill>
                <a:latin typeface="Calibri"/>
              </a:rPr>
              <a:t>Advokat yoki vakil  ·  Shikoyat: rahbariyat, organ, sud</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Bemor huquqlari (24-modda)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13, 13-14, 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Axborot, rozilik va rad etish (25-28-moddalar)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To‘liq ma’lumot olish huquqi: tashxis, prognoz, xavf-xatar. 14 yoshgacha bo‘lsa, ma’lumot qonuniy vakilga beriladi.</a:t>
            </a:r>
          </a:p>
          <a:p>
            <a:pPr>
              <a:spcAft>
                <a:spcPts val="800"/>
              </a:spcAft>
            </a:pPr>
            <a:r>
              <a:rPr sz="1800">
                <a:solidFill>
                  <a:srgbClr val="1F2937"/>
                </a:solidFill>
                <a:latin typeface="Calibri"/>
              </a:rPr>
              <a:t>▸  Rad etishda vrach yozma tasdiqnoma oladi, imkon bo‘lmasa guvohlar ishtirokida dalolatnoma tuzadi.</a:t>
            </a:r>
          </a:p>
          <a:p>
            <a:pPr>
              <a:spcAft>
                <a:spcPts val="800"/>
              </a:spcAft>
            </a:pPr>
            <a:r>
              <a:rPr sz="1800">
                <a:solidFill>
                  <a:srgbClr val="1F2937"/>
                </a:solidFill>
                <a:latin typeface="Calibri"/>
              </a:rPr>
              <a:t>▸  Diqqat: roziliksiz yordam atrofdagilarga xavf bo‘lsa beriladi; irodani bildirib bo‘lmasa — konsilium.</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Ma’lumot</a:t>
            </a:r>
          </a:p>
          <a:p>
            <a:pPr algn="l">
              <a:spcAft>
                <a:spcPts val="200"/>
              </a:spcAft>
            </a:pPr>
            <a:r>
              <a:rPr sz="1400" b="0">
                <a:solidFill>
                  <a:srgbClr val="1F2937"/>
                </a:solidFill>
                <a:latin typeface="Calibri"/>
              </a:rPr>
              <a:t>Bemor to‘liq ma’lumot oladi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Rozilik</a:t>
            </a:r>
          </a:p>
          <a:p>
            <a:pPr algn="l">
              <a:spcAft>
                <a:spcPts val="200"/>
              </a:spcAft>
            </a:pPr>
            <a:r>
              <a:rPr sz="1400" b="0">
                <a:solidFill>
                  <a:srgbClr val="1F2937"/>
                </a:solidFill>
                <a:latin typeface="Calibri"/>
              </a:rPr>
              <a:t>Ixtiyoriy rozilik beradi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Rad etish</a:t>
            </a:r>
          </a:p>
          <a:p>
            <a:pPr algn="l">
              <a:spcAft>
                <a:spcPts val="200"/>
              </a:spcAft>
            </a:pPr>
            <a:r>
              <a:rPr sz="1400" b="0">
                <a:solidFill>
                  <a:srgbClr val="1F2937"/>
                </a:solidFill>
                <a:latin typeface="Calibri"/>
              </a:rPr>
              <a:t>Yoki aralashuvni rad etadi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Hujjat</a:t>
            </a:r>
          </a:p>
          <a:p>
            <a:pPr algn="l">
              <a:spcAft>
                <a:spcPts val="200"/>
              </a:spcAft>
            </a:pPr>
            <a:r>
              <a:rPr sz="1400" b="0">
                <a:solidFill>
                  <a:srgbClr val="1F2937"/>
                </a:solidFill>
                <a:latin typeface="Calibri"/>
              </a:rPr>
              <a:t>Yozma tasdiqnoma/dalolatnoma</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Irodasiz</a:t>
            </a:r>
          </a:p>
          <a:p>
            <a:pPr algn="l">
              <a:spcAft>
                <a:spcPts val="200"/>
              </a:spcAft>
            </a:pPr>
            <a:r>
              <a:rPr sz="1400" b="0">
                <a:solidFill>
                  <a:srgbClr val="1F2937"/>
                </a:solidFill>
                <a:latin typeface="Calibri"/>
              </a:rPr>
              <a:t>Konsilium hal qiladi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Rozilik va rad etish tartibi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14, 15, 14-15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rozilik va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ota-ona (qonuniy vakil) bolaning og‘ir holatida tibbiy aralashuvni rad etadi. Bu bola uchun og‘ir oqibatlarga olib kelishi mumkin.</a:t>
            </a:r>
          </a:p>
          <a:p>
            <a:pPr>
              <a:spcAft>
                <a:spcPts val="1200"/>
              </a:spcAft>
            </a:pPr>
            <a:r>
              <a:rPr sz="2200">
                <a:solidFill>
                  <a:srgbClr val="1F2937"/>
                </a:solidFill>
                <a:latin typeface="Calibri"/>
              </a:rPr>
              <a:t>▸  Manbadagi tartibga ko‘ra, vrach bu haqda vasiylik va homiylik organlariga xabar berishi shart.</a:t>
            </a:r>
          </a:p>
          <a:p>
            <a:pPr>
              <a:spcAft>
                <a:spcPts val="1200"/>
              </a:spcAft>
            </a:pPr>
            <a:r>
              <a:rPr sz="2200">
                <a:solidFill>
                  <a:srgbClr val="1F2937"/>
                </a:solidFill>
                <a:latin typeface="Calibri"/>
              </a:rPr>
              <a:t>▸  Rad etishda vrach yozma tasdiqnoma oladi yoki guvohlar ishtirokida dalolatnoma tuzadi.</a:t>
            </a:r>
          </a:p>
          <a:p>
            <a:pPr>
              <a:spcAft>
                <a:spcPts val="1200"/>
              </a:spcAft>
            </a:pPr>
            <a:r>
              <a:rPr sz="2200">
                <a:solidFill>
                  <a:srgbClr val="1F2937"/>
                </a:solidFill>
                <a:latin typeface="Calibri"/>
              </a:rPr>
              <a:t>▸  Savol: yuqumli kasallik holatidan farqi nimada? Maslahat: xavf kimga qaratilganiga e’tibor bering (28-modda).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malakali tibbiy xizmatdan foydalanish huquqi Konstitutsiyaning nechanchi moddasida? Javob: 40-modda. Eslab qoling: 40 — tibbiy xizmat.</a:t>
            </a:r>
          </a:p>
          <a:p>
            <a:pPr>
              <a:spcAft>
                <a:spcPts val="1200"/>
              </a:spcAft>
            </a:pPr>
            <a:r>
              <a:rPr sz="2200">
                <a:solidFill>
                  <a:srgbClr val="1F2937"/>
                </a:solidFill>
                <a:latin typeface="Calibri"/>
              </a:rPr>
              <a:t>▸  Savol: “Fuqarolar sog‘lig‘ini saqlash to‘g‘risida”gi Qonun nechta qism va moddadan iborat? Javob: 6 qism, 47 modda; 1996-yil 29-avgustda qabul qilingan.</a:t>
            </a:r>
          </a:p>
          <a:p>
            <a:pPr>
              <a:spcAft>
                <a:spcPts val="1200"/>
              </a:spcAft>
            </a:pPr>
            <a:r>
              <a:rPr sz="2200">
                <a:solidFill>
                  <a:srgbClr val="1F2937"/>
                </a:solidFill>
                <a:latin typeface="Calibri"/>
              </a:rPr>
              <a:t>▸  Savol: salomatlikda tibbiy yordamning ulushi qancha? Javob: taxminan 8-10%. Turmush tarzi esa taxminan 48-52%.</a:t>
            </a:r>
          </a:p>
          <a:p>
            <a:pPr>
              <a:spcAft>
                <a:spcPts val="1200"/>
              </a:spcAft>
            </a:pPr>
            <a:r>
              <a:rPr sz="2200">
                <a:solidFill>
                  <a:srgbClr val="1F2937"/>
                </a:solidFill>
                <a:latin typeface="Calibri"/>
              </a:rPr>
              <a:t>▸  Savol: 14 yoshgacha bo‘lgan bemorga tibbiy aralashuvga kim rozilik beradi? Javob: qonuniy vakili (26-modda). Rad etishga ham vakil haqli (27-modda).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 10, 11,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Tibbiy-ijtimoiy yordam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Ro‘yxat: sil, onkologiya, jinsiy yo‘l bilan o‘tuvchilar, moxov, ruhiy kasallik, OITS.</a:t>
            </a:r>
          </a:p>
          <a:p>
            <a:pPr>
              <a:spcAft>
                <a:spcPts val="800"/>
              </a:spcAft>
            </a:pPr>
            <a:r>
              <a:rPr sz="1800">
                <a:solidFill>
                  <a:srgbClr val="1F2937"/>
                </a:solidFill>
                <a:latin typeface="Calibri"/>
              </a:rPr>
              <a:t>▸  Ro‘yxat va imtiyozlarni Vazirlar Mahkamasi belgilaydi (1997-yil 20-mart, 153-son Qaror).</a:t>
            </a:r>
          </a:p>
          <a:p>
            <a:pPr>
              <a:spcAft>
                <a:spcPts val="800"/>
              </a:spcAft>
            </a:pPr>
            <a:r>
              <a:rPr sz="1800">
                <a:solidFill>
                  <a:srgbClr val="1F2937"/>
                </a:solidFill>
                <a:latin typeface="Calibri"/>
              </a:rPr>
              <a:t>▸  Hayot xavf ostida bo‘lsa, bemorni olib borish uchun har qanday transportdan foydalanish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Yordam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29-modda</a:t>
            </a:r>
          </a:p>
          <a:p>
            <a:pPr algn="l">
              <a:spcAft>
                <a:spcPts val="0"/>
              </a:spcAft>
            </a:pPr>
            <a:r>
              <a:rPr sz="1200" b="0">
                <a:solidFill>
                  <a:srgbClr val="1F2937"/>
                </a:solidFill>
                <a:latin typeface="Calibri"/>
              </a:rPr>
              <a:t>Birlamchi tibbiy-sanitariya  ·  Asosiy, qulay, bepul</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30-modda</a:t>
            </a:r>
          </a:p>
          <a:p>
            <a:pPr algn="l">
              <a:spcAft>
                <a:spcPts val="0"/>
              </a:spcAft>
            </a:pPr>
            <a:r>
              <a:rPr sz="1200" b="0">
                <a:solidFill>
                  <a:srgbClr val="1F2937"/>
                </a:solidFill>
                <a:latin typeface="Calibri"/>
              </a:rPr>
              <a:t>Shoshilinch va tez yordam</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31-modda</a:t>
            </a:r>
          </a:p>
          <a:p>
            <a:pPr algn="l">
              <a:spcAft>
                <a:spcPts val="0"/>
              </a:spcAft>
            </a:pPr>
            <a:r>
              <a:rPr sz="1200" b="0">
                <a:solidFill>
                  <a:srgbClr val="1F2937"/>
                </a:solidFill>
                <a:latin typeface="Calibri"/>
              </a:rPr>
              <a:t>Ixtisoslashgan yordam</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32-modda</a:t>
            </a:r>
          </a:p>
          <a:p>
            <a:pPr algn="l">
              <a:spcAft>
                <a:spcPts val="0"/>
              </a:spcAft>
            </a:pPr>
            <a:r>
              <a:rPr sz="1200" b="0">
                <a:solidFill>
                  <a:srgbClr val="1F2937"/>
                </a:solidFill>
                <a:latin typeface="Calibri"/>
              </a:rPr>
              <a:t>Ijtimoiy ahamiyatli kasalliklar  ·  Doimiy kuzatuv, imtiyozlar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Tibbiy-ijtimoiy yordam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17, 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siri (45-modda) va istisnolar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45-modda: murojaat, holat, tashxis, davo ma’lumotlari — sir; olgan shaxs ham saqlashi shart.</a:t>
            </a:r>
          </a:p>
          <a:p>
            <a:pPr>
              <a:spcAft>
                <a:spcPts val="800"/>
              </a:spcAft>
            </a:pPr>
            <a:r>
              <a:rPr sz="1800">
                <a:solidFill>
                  <a:srgbClr val="1F2937"/>
                </a:solidFill>
                <a:latin typeface="Calibri"/>
              </a:rPr>
              <a:t>▸  Istisno: 14 yoshgacha, iroda bildira olmaydi, atrofdagilarga xavf, rasmiy so‘rov, g‘ayriqonuniy zarar.</a:t>
            </a:r>
          </a:p>
          <a:p>
            <a:pPr>
              <a:spcAft>
                <a:spcPts val="800"/>
              </a:spcAft>
            </a:pPr>
            <a:r>
              <a:rPr sz="1800">
                <a:solidFill>
                  <a:srgbClr val="1F2937"/>
                </a:solidFill>
                <a:latin typeface="Calibri"/>
              </a:rPr>
              <a:t>▸  Jinoyat kodeksining 241-moddasi: jinoyatni xabar bermaslik yoki yashirish uchun javobgarlik.</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Sir</a:t>
            </a:r>
          </a:p>
          <a:p>
            <a:pPr algn="l">
              <a:spcAft>
                <a:spcPts val="200"/>
              </a:spcAft>
            </a:pPr>
            <a:r>
              <a:rPr sz="1400" b="0">
                <a:solidFill>
                  <a:srgbClr val="1F2937"/>
                </a:solidFill>
                <a:latin typeface="Calibri"/>
              </a:rPr>
              <a:t>Murojaat, tashxis, davo</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Roziliksiz</a:t>
            </a:r>
          </a:p>
          <a:p>
            <a:pPr algn="l">
              <a:spcAft>
                <a:spcPts val="200"/>
              </a:spcAft>
            </a:pPr>
            <a:r>
              <a:rPr sz="1400" b="0">
                <a:solidFill>
                  <a:srgbClr val="1F2937"/>
                </a:solidFill>
                <a:latin typeface="Calibri"/>
              </a:rPr>
              <a:t>Oshkor etilmaydi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Istisno</a:t>
            </a:r>
          </a:p>
          <a:p>
            <a:pPr algn="l">
              <a:spcAft>
                <a:spcPts val="200"/>
              </a:spcAft>
            </a:pPr>
            <a:r>
              <a:rPr sz="1400" b="0">
                <a:solidFill>
                  <a:srgbClr val="1F2937"/>
                </a:solidFill>
                <a:latin typeface="Calibri"/>
              </a:rPr>
              <a:t>Xavf yoki rasmiy so‘rov</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Olgan shaxs</a:t>
            </a:r>
          </a:p>
          <a:p>
            <a:pPr algn="l">
              <a:spcAft>
                <a:spcPts val="200"/>
              </a:spcAft>
            </a:pPr>
            <a:r>
              <a:rPr sz="1400" b="0">
                <a:solidFill>
                  <a:srgbClr val="1F2937"/>
                </a:solidFill>
                <a:latin typeface="Calibri"/>
              </a:rPr>
              <a:t>Ham sirni saqlaydi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Buzilsa</a:t>
            </a:r>
          </a:p>
          <a:p>
            <a:pPr algn="l">
              <a:spcAft>
                <a:spcPts val="200"/>
              </a:spcAft>
            </a:pPr>
            <a:r>
              <a:rPr sz="1400" b="0">
                <a:solidFill>
                  <a:srgbClr val="1F2937"/>
                </a:solidFill>
                <a:latin typeface="Calibri"/>
              </a:rPr>
              <a:t>Javobgarlik</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Shifokor siri (45-modda)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18, 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Islohot zaruriyati: eski tizim kamchiliklari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Sobiq ittifoq davrida birlamchi bo‘g‘in uchastka-hududiylik tamoyiliga tayangan. Yordamni asosan yagona vrach-terapevt ko‘rsatgan.</a:t>
            </a:r>
          </a:p>
          <a:p>
            <a:pPr>
              <a:spcAft>
                <a:spcPts val="800"/>
              </a:spcAft>
            </a:pPr>
            <a:r>
              <a:rPr sz="1600">
                <a:solidFill>
                  <a:srgbClr val="1F2937"/>
                </a:solidFill>
                <a:latin typeface="Calibri"/>
              </a:rPr>
              <a:t>▸  Keyin tor mutaxassislar (pediatr, akusher-ginekolog, ftiziatr, xirurg va b.) kiritildi. Qishloqda kamquvvat muassasalar ko‘paydi.</a:t>
            </a:r>
          </a:p>
          <a:p>
            <a:pPr>
              <a:spcAft>
                <a:spcPts val="800"/>
              </a:spcAft>
            </a:pPr>
            <a:r>
              <a:rPr sz="1600">
                <a:solidFill>
                  <a:srgbClr val="1F2937"/>
                </a:solidFill>
                <a:latin typeface="Calibri"/>
              </a:rPr>
              <a:t>▸  Malakali kadr va moliyalash mexanizmi yetishmasa ham ish o‘rinlari ko‘paydi. Natijada xarajat oshdi, yordam sifati pasaydi.</a:t>
            </a:r>
          </a:p>
          <a:p>
            <a:pPr>
              <a:spcAft>
                <a:spcPts val="800"/>
              </a:spcAft>
            </a:pPr>
            <a:r>
              <a:rPr sz="1600">
                <a:solidFill>
                  <a:srgbClr val="1F2937"/>
                </a:solidFill>
                <a:latin typeface="Calibri"/>
              </a:rPr>
              <a:t>▸  Ambulatoriyada davolanishi mumkin bemorlar kasalxonaga yotqizildi. Jihozlanmagan kasalxonalar va bemor o‘rinlari soni ortdi.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Islohot zaruriyati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Birlamchi bo‘g‘in</a:t>
            </a:r>
          </a:p>
          <a:p>
            <a:pPr algn="l">
              <a:spcAft>
                <a:spcPts val="0"/>
              </a:spcAft>
            </a:pPr>
            <a:r>
              <a:rPr sz="1200" b="0">
                <a:solidFill>
                  <a:srgbClr val="1F2937"/>
                </a:solidFill>
                <a:latin typeface="Calibri"/>
              </a:rPr>
              <a:t>Uchastka-hududiylik tamoyili  ·  Yagona vrach-terapevt</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Tor mutaxassislar</a:t>
            </a:r>
          </a:p>
          <a:p>
            <a:pPr algn="l">
              <a:spcAft>
                <a:spcPts val="0"/>
              </a:spcAft>
            </a:pPr>
            <a:r>
              <a:rPr sz="1200" b="0">
                <a:solidFill>
                  <a:srgbClr val="1F2937"/>
                </a:solidFill>
                <a:latin typeface="Calibri"/>
              </a:rPr>
              <a:t>Pediatr, akusher-ginekolog, ftiziatr  ·  Qishloqda kamquvvat muassasalar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Xarajat</a:t>
            </a:r>
          </a:p>
          <a:p>
            <a:pPr algn="l">
              <a:spcAft>
                <a:spcPts val="0"/>
              </a:spcAft>
            </a:pPr>
            <a:r>
              <a:rPr sz="1200" b="0">
                <a:solidFill>
                  <a:srgbClr val="1F2937"/>
                </a:solidFill>
                <a:latin typeface="Calibri"/>
              </a:rPr>
              <a:t>Ish o‘rinlari ko‘paydi  ·  Yordam sifati pasaydi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Kasalxona</a:t>
            </a:r>
          </a:p>
          <a:p>
            <a:pPr algn="l">
              <a:spcAft>
                <a:spcPts val="0"/>
              </a:spcAft>
            </a:pPr>
            <a:r>
              <a:rPr sz="1200" b="0">
                <a:solidFill>
                  <a:srgbClr val="1F2937"/>
                </a:solidFill>
                <a:latin typeface="Calibri"/>
              </a:rPr>
              <a:t>Keraksiz yotqizish  ·  Jihozlanmagan o‘rinlar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Eski tizim kamchiliklari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22, 22-23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Davlat dasturi (1998): tamoyillar va birlamchi bo‘g‘in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Dastur 1998–2005-yillardagi islohot konsepsiyasini, uning maqsad, tamoyil va vazifalarini belgilagan.</a:t>
            </a:r>
          </a:p>
          <a:p>
            <a:pPr>
              <a:spcAft>
                <a:spcPts val="800"/>
              </a:spcAft>
            </a:pPr>
            <a:r>
              <a:rPr sz="1800">
                <a:solidFill>
                  <a:srgbClr val="1F2937"/>
                </a:solidFill>
                <a:latin typeface="Calibri"/>
              </a:rPr>
              <a:t>▸  Tamoyillar: teng bahramandlik, profilaktika ustuvorligi, xususiy amaliyotni rag‘batlantirish.</a:t>
            </a:r>
          </a:p>
          <a:p>
            <a:pPr>
              <a:spcAft>
                <a:spcPts val="800"/>
              </a:spcAft>
            </a:pPr>
            <a:r>
              <a:rPr sz="1800">
                <a:solidFill>
                  <a:srgbClr val="1F2937"/>
                </a:solidFill>
                <a:latin typeface="Calibri"/>
              </a:rPr>
              <a:t>▸  Birlamchi yordam murojaatlarning qariyb 90 foizini qondirib, kasalxona yuklamasini kamaytiradi.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Avval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Besh pog‘onali tizim</a:t>
            </a:r>
          </a:p>
          <a:p>
            <a:pPr algn="l">
              <a:spcAft>
                <a:spcPts val="700"/>
              </a:spcAft>
            </a:pPr>
            <a:r>
              <a:rPr sz="1500" b="1">
                <a:solidFill>
                  <a:srgbClr val="C9A227"/>
                </a:solidFill>
                <a:latin typeface="Calibri"/>
              </a:rPr>
              <a:t>●  </a:t>
            </a:r>
            <a:r>
              <a:rPr sz="1500" b="0">
                <a:solidFill>
                  <a:srgbClr val="1F2937"/>
                </a:solidFill>
                <a:latin typeface="Calibri"/>
              </a:rPr>
              <a:t>Qishloq: punkt, ambulatoriya, kasalxonalar</a:t>
            </a:r>
          </a:p>
          <a:p>
            <a:pPr algn="l">
              <a:spcAft>
                <a:spcPts val="700"/>
              </a:spcAft>
            </a:pPr>
            <a:r>
              <a:rPr sz="1500" b="1">
                <a:solidFill>
                  <a:srgbClr val="C9A227"/>
                </a:solidFill>
                <a:latin typeface="Calibri"/>
              </a:rPr>
              <a:t>●  </a:t>
            </a:r>
            <a:r>
              <a:rPr sz="1500" b="0">
                <a:solidFill>
                  <a:srgbClr val="1F2937"/>
                </a:solidFill>
                <a:latin typeface="Calibri"/>
              </a:rPr>
              <a:t>Shahar: poliklinika va kasalxonalar</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Dasturga ko‘ra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Ikki pog‘onali tizim</a:t>
            </a:r>
          </a:p>
          <a:p>
            <a:pPr algn="l">
              <a:spcAft>
                <a:spcPts val="700"/>
              </a:spcAft>
            </a:pPr>
            <a:r>
              <a:rPr sz="1500" b="1">
                <a:solidFill>
                  <a:srgbClr val="C9A227"/>
                </a:solidFill>
                <a:latin typeface="Calibri"/>
              </a:rPr>
              <a:t>●  </a:t>
            </a:r>
            <a:r>
              <a:rPr sz="1500" b="0">
                <a:solidFill>
                  <a:srgbClr val="1F2937"/>
                </a:solidFill>
                <a:latin typeface="Calibri"/>
              </a:rPr>
              <a:t>Qishloq vrachlik punkti + markaziy kasalxona</a:t>
            </a:r>
          </a:p>
          <a:p>
            <a:pPr algn="l">
              <a:spcAft>
                <a:spcPts val="700"/>
              </a:spcAft>
            </a:pPr>
            <a:r>
              <a:rPr sz="1500" b="1">
                <a:solidFill>
                  <a:srgbClr val="C9A227"/>
                </a:solidFill>
                <a:latin typeface="Calibri"/>
              </a:rPr>
              <a:t>●  </a:t>
            </a:r>
            <a:r>
              <a:rPr sz="1500" b="0">
                <a:solidFill>
                  <a:srgbClr val="1F2937"/>
                </a:solidFill>
                <a:latin typeface="Calibri"/>
              </a:rPr>
              <a:t>Oilaviy poliklinika + shahar kasalxonasi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Birlamchi bo‘g‘in: avval va keyin</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24-25, 24, 27-28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Davlat dasturi: ustuvor yo‘nalishlar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Islohotning ustuvor yo‘nalishi: yuqori samarali, hammabop birlamchi tibbiy-sanitariya yordami tizimini tashkil etish.</a:t>
            </a:r>
          </a:p>
          <a:p>
            <a:pPr>
              <a:spcAft>
                <a:spcPts val="800"/>
              </a:spcAft>
            </a:pPr>
            <a:r>
              <a:rPr sz="1600">
                <a:solidFill>
                  <a:srgbClr val="1F2937"/>
                </a:solidFill>
                <a:latin typeface="Calibri"/>
              </a:rPr>
              <a:t>▸  Yana: samarali shoshilinch tibbiy yordam tizimi, sog‘liqni saqlash muassasalarini moliyalashtirishni takomillashtirish.</a:t>
            </a:r>
          </a:p>
          <a:p>
            <a:pPr>
              <a:spcAft>
                <a:spcPts val="800"/>
              </a:spcAft>
            </a:pPr>
            <a:r>
              <a:rPr sz="1600">
                <a:solidFill>
                  <a:srgbClr val="1F2937"/>
                </a:solidFill>
                <a:latin typeface="Calibri"/>
              </a:rPr>
              <a:t>▸  Shuningdek: bozor mexanizmlarini rivojlantirish va barqaror, raqobatdosh nodavlat tarmoq yaratish.</a:t>
            </a:r>
          </a:p>
          <a:p>
            <a:pPr>
              <a:spcAft>
                <a:spcPts val="800"/>
              </a:spcAft>
            </a:pPr>
            <a:r>
              <a:rPr sz="1600">
                <a:solidFill>
                  <a:srgbClr val="1F2937"/>
                </a:solidFill>
                <a:latin typeface="Calibri"/>
              </a:rPr>
              <a:t>▸  Oxirgilari: onalar va bolalarga yordamni takomillashtirish, tibbiy ta’lim va kadrlar tayyorlash tizimini isloh qilish.</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Ustuvor yo‘nalishlar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Yordam tizimi</a:t>
            </a:r>
          </a:p>
          <a:p>
            <a:pPr algn="l">
              <a:spcAft>
                <a:spcPts val="0"/>
              </a:spcAft>
            </a:pPr>
            <a:r>
              <a:rPr sz="1200" b="0">
                <a:solidFill>
                  <a:srgbClr val="1F2937"/>
                </a:solidFill>
                <a:latin typeface="Calibri"/>
              </a:rPr>
              <a:t>Birlamchi tibbiy-sanitariya yordami  ·  Shoshilinch tibbiy yordam</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Moliya va bozor</a:t>
            </a:r>
          </a:p>
          <a:p>
            <a:pPr algn="l">
              <a:spcAft>
                <a:spcPts val="0"/>
              </a:spcAft>
            </a:pPr>
            <a:r>
              <a:rPr sz="1200" b="0">
                <a:solidFill>
                  <a:srgbClr val="1F2937"/>
                </a:solidFill>
                <a:latin typeface="Calibri"/>
              </a:rPr>
              <a:t>Moliyalashtirishni takomillashtirish  ·  Nodavlat tarmoq, bozor mexanizmlari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Aholi va kadrlar</a:t>
            </a:r>
          </a:p>
          <a:p>
            <a:pPr algn="l">
              <a:spcAft>
                <a:spcPts val="0"/>
              </a:spcAft>
            </a:pPr>
            <a:r>
              <a:rPr sz="1200" b="0">
                <a:solidFill>
                  <a:srgbClr val="1F2937"/>
                </a:solidFill>
                <a:latin typeface="Calibri"/>
              </a:rPr>
              <a:t>Onalar va bolalarga yordam  ·  Tibbiy ta’lim, kadrlar tayyorlash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Ustuvor yo‘nalishlar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bet 27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Davlat kafolatlagan bepul tibbiy yordam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Dasturda bepul xizmat sifatida shoshilinch (tez) tibbiy yordam, birlamchi bo‘g‘in va davlat muassasalarida, ayniqsa qishloqda yordam kafolatlangan.</a:t>
            </a:r>
          </a:p>
          <a:p>
            <a:pPr>
              <a:spcAft>
                <a:spcPts val="800"/>
              </a:spcAft>
            </a:pPr>
            <a:r>
              <a:rPr sz="1600">
                <a:solidFill>
                  <a:srgbClr val="1F2937"/>
                </a:solidFill>
                <a:latin typeface="Calibri"/>
              </a:rPr>
              <a:t>▸  Kafolatlangan: bir qator yuqumli kasalliklarga qarshi emlash; sil, onkologik, psixiatrik, narkologik, endokrin va kasb kasalliklarida ixtisoslashgan yordam.</a:t>
            </a:r>
          </a:p>
          <a:p>
            <a:pPr>
              <a:spcAft>
                <a:spcPts val="800"/>
              </a:spcAft>
            </a:pPr>
            <a:r>
              <a:rPr sz="1600">
                <a:solidFill>
                  <a:srgbClr val="1F2937"/>
                </a:solidFill>
                <a:latin typeface="Calibri"/>
              </a:rPr>
              <a:t>▸  Yana: bolalarni tekshirish va davolash, o‘smirlar va chaqiruv yoshidagilarni tekshirish, tug‘ruqqa yordam (pullik muassasalardan tashqari).</a:t>
            </a:r>
          </a:p>
          <a:p>
            <a:pPr>
              <a:spcAft>
                <a:spcPts val="800"/>
              </a:spcAft>
            </a:pPr>
            <a:r>
              <a:rPr sz="1600">
                <a:solidFill>
                  <a:srgbClr val="1F2937"/>
                </a:solidFill>
                <a:latin typeface="Calibri"/>
              </a:rPr>
              <a:t>▸  Imtiyozli bemorlar (nogironlar, urush faxriylari, yetimlar) davlat muassasalarida davolanadi; shartnoma asosida pullik xizmat ham bo‘lishi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Bepul yordam (dastur)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Shoshilinch yordam</a:t>
            </a:r>
          </a:p>
          <a:p>
            <a:pPr algn="l">
              <a:spcAft>
                <a:spcPts val="0"/>
              </a:spcAft>
            </a:pPr>
            <a:r>
              <a:rPr sz="1200" b="0">
                <a:solidFill>
                  <a:srgbClr val="1F2937"/>
                </a:solidFill>
                <a:latin typeface="Calibri"/>
              </a:rPr>
              <a:t>Tez tibbiy yordam</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Profilaktika</a:t>
            </a:r>
          </a:p>
          <a:p>
            <a:pPr algn="l">
              <a:spcAft>
                <a:spcPts val="0"/>
              </a:spcAft>
            </a:pPr>
            <a:r>
              <a:rPr sz="1200" b="0">
                <a:solidFill>
                  <a:srgbClr val="1F2937"/>
                </a:solidFill>
                <a:latin typeface="Calibri"/>
              </a:rPr>
              <a:t>Yuqumli kasalliklarga qarshi emlash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Ixtisoslashgan</a:t>
            </a:r>
          </a:p>
          <a:p>
            <a:pPr algn="l">
              <a:spcAft>
                <a:spcPts val="0"/>
              </a:spcAft>
            </a:pPr>
            <a:r>
              <a:rPr sz="1200" b="0">
                <a:solidFill>
                  <a:srgbClr val="1F2937"/>
                </a:solidFill>
                <a:latin typeface="Calibri"/>
              </a:rPr>
              <a:t>Sil, onkologik, psixiatrik  ·  Narkologik, endokrin, kasb kasalliklari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Aholi guruhlari</a:t>
            </a:r>
          </a:p>
          <a:p>
            <a:pPr algn="l">
              <a:spcAft>
                <a:spcPts val="0"/>
              </a:spcAft>
            </a:pPr>
            <a:r>
              <a:rPr sz="1200" b="0">
                <a:solidFill>
                  <a:srgbClr val="1F2937"/>
                </a:solidFill>
                <a:latin typeface="Calibri"/>
              </a:rPr>
              <a:t>Bolalar, o‘smirlar, tug‘ruq  ·  Nogironlar, faxriylar, yetimlar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Bepul kafolatlangan yordam</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bet 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Shoshilinch yordam va nodavlat sektor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Yangi shoshilinch yordam tizimi: Respublika ilmiy markazi, viloyatlarda filiallari, tuman va shaharlarda bo‘limlari.</a:t>
            </a:r>
          </a:p>
          <a:p>
            <a:pPr>
              <a:spcAft>
                <a:spcPts val="800"/>
              </a:spcAft>
            </a:pPr>
            <a:r>
              <a:rPr sz="1600">
                <a:solidFill>
                  <a:srgbClr val="1F2937"/>
                </a:solidFill>
                <a:latin typeface="Calibri"/>
              </a:rPr>
              <a:t>▸  Tizim shoshilinch stasionar klinik tuzilmalarni, tez tibbiy yordam va sanitariya aviatsiyasi xizmatlarini o‘z ichiga oladi.</a:t>
            </a:r>
          </a:p>
          <a:p>
            <a:pPr>
              <a:spcAft>
                <a:spcPts val="800"/>
              </a:spcAft>
            </a:pPr>
            <a:r>
              <a:rPr sz="1600">
                <a:solidFill>
                  <a:srgbClr val="1F2937"/>
                </a:solidFill>
                <a:latin typeface="Calibri"/>
              </a:rPr>
              <a:t>▸  Raqobatdosh xususiy tizim yangi xususiy muassasalar, ayrim muassasalarni xususiylashtirish va xususiy amaliyot orqali rivojlantiriladi.</a:t>
            </a:r>
          </a:p>
          <a:p>
            <a:pPr>
              <a:spcAft>
                <a:spcPts val="800"/>
              </a:spcAft>
            </a:pPr>
            <a:r>
              <a:rPr sz="1600">
                <a:solidFill>
                  <a:srgbClr val="1F2937"/>
                </a:solidFill>
                <a:latin typeface="Calibri"/>
              </a:rPr>
              <a:t>▸  Nodavlat muassasalar faoliyatining 20% gacha hajmida Vazirlar Mahkamasi ro‘yxatidagi imtiyozli bemorlarga bepul xizmat ko‘rsatadi.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Shoshilinch yordam</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Respublika ilmiy markazi</a:t>
            </a:r>
          </a:p>
          <a:p>
            <a:pPr algn="l">
              <a:spcAft>
                <a:spcPts val="700"/>
              </a:spcAft>
            </a:pPr>
            <a:r>
              <a:rPr sz="1500" b="1">
                <a:solidFill>
                  <a:srgbClr val="C9A227"/>
                </a:solidFill>
                <a:latin typeface="Calibri"/>
              </a:rPr>
              <a:t>●  </a:t>
            </a:r>
            <a:r>
              <a:rPr sz="1500" b="0">
                <a:solidFill>
                  <a:srgbClr val="1F2937"/>
                </a:solidFill>
                <a:latin typeface="Calibri"/>
              </a:rPr>
              <a:t>Viloyat filiallari, tuman bo‘limlari</a:t>
            </a:r>
          </a:p>
          <a:p>
            <a:pPr algn="l">
              <a:spcAft>
                <a:spcPts val="700"/>
              </a:spcAft>
            </a:pPr>
            <a:r>
              <a:rPr sz="1500" b="1">
                <a:solidFill>
                  <a:srgbClr val="C9A227"/>
                </a:solidFill>
                <a:latin typeface="Calibri"/>
              </a:rPr>
              <a:t>●  </a:t>
            </a:r>
            <a:r>
              <a:rPr sz="1500" b="0">
                <a:solidFill>
                  <a:srgbClr val="1F2937"/>
                </a:solidFill>
                <a:latin typeface="Calibri"/>
              </a:rPr>
              <a:t>Tez yordam, sanitariya aviatsiyasi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Nodavlat sektor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Yangi xususiy muassasalar</a:t>
            </a:r>
          </a:p>
          <a:p>
            <a:pPr algn="l">
              <a:spcAft>
                <a:spcPts val="700"/>
              </a:spcAft>
            </a:pPr>
            <a:r>
              <a:rPr sz="1500" b="1">
                <a:solidFill>
                  <a:srgbClr val="C9A227"/>
                </a:solidFill>
                <a:latin typeface="Calibri"/>
              </a:rPr>
              <a:t>●  </a:t>
            </a:r>
            <a:r>
              <a:rPr sz="1500" b="0">
                <a:solidFill>
                  <a:srgbClr val="1F2937"/>
                </a:solidFill>
                <a:latin typeface="Calibri"/>
              </a:rPr>
              <a:t>Ayrimlarini xususiylashtirish</a:t>
            </a:r>
          </a:p>
          <a:p>
            <a:pPr algn="l">
              <a:spcAft>
                <a:spcPts val="700"/>
              </a:spcAft>
            </a:pPr>
            <a:r>
              <a:rPr sz="1500" b="1">
                <a:solidFill>
                  <a:srgbClr val="C9A227"/>
                </a:solidFill>
                <a:latin typeface="Calibri"/>
              </a:rPr>
              <a:t>●  </a:t>
            </a:r>
            <a:r>
              <a:rPr sz="1500" b="0">
                <a:solidFill>
                  <a:srgbClr val="1F2937"/>
                </a:solidFill>
                <a:latin typeface="Calibri"/>
              </a:rPr>
              <a:t>Hajmining 20% gacha — imtiyozli bemorlarga bepul</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Shoshilinch yordam va nodavlat tarmoq</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bet 30, bet 31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Moliyalash, boshqaruv va kadrlar islohoti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Avval mablag‘ xodim, maydon va tashrif soniga qarab ajratilgan. Sifatni oshirishga iqtisodiy rag‘bat bo‘lmagan.</a:t>
            </a:r>
          </a:p>
          <a:p>
            <a:pPr>
              <a:spcAft>
                <a:spcPts val="800"/>
              </a:spcAft>
            </a:pPr>
            <a:r>
              <a:rPr sz="1800">
                <a:solidFill>
                  <a:srgbClr val="1F2937"/>
                </a:solidFill>
                <a:latin typeface="Calibri"/>
              </a:rPr>
              <a:t>▸  Tug‘ish yoshidagi ayollar va bolalar ko‘proq murojaat qilgani uchun ularga mablag‘ ko‘proq ajratiladi.</a:t>
            </a:r>
          </a:p>
          <a:p>
            <a:pPr>
              <a:spcAft>
                <a:spcPts val="800"/>
              </a:spcAft>
            </a:pPr>
            <a:r>
              <a:rPr sz="1800">
                <a:solidFill>
                  <a:srgbClr val="1F2937"/>
                </a:solidFill>
                <a:latin typeface="Calibri"/>
              </a:rPr>
              <a:t>▸  Oliy tibbiy ta’lim ikki bosqichli: bakalavriatda umumiy amaliyot vrachlari, magistraturada tor mutaxassislar tayyorlanadi.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Islohot yangiliklari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Moliyalash</a:t>
            </a:r>
          </a:p>
          <a:p>
            <a:pPr algn="l">
              <a:spcAft>
                <a:spcPts val="0"/>
              </a:spcAft>
            </a:pPr>
            <a:r>
              <a:rPr sz="1200" b="0">
                <a:solidFill>
                  <a:srgbClr val="1F2937"/>
                </a:solidFill>
                <a:latin typeface="Calibri"/>
              </a:rPr>
              <a:t>Jon boshiga me’yor  ·  Aholi soni, yosh, jins</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Boshqaruv</a:t>
            </a:r>
          </a:p>
          <a:p>
            <a:pPr algn="l">
              <a:spcAft>
                <a:spcPts val="0"/>
              </a:spcAft>
            </a:pPr>
            <a:r>
              <a:rPr sz="1200" b="0">
                <a:solidFill>
                  <a:srgbClr val="1F2937"/>
                </a:solidFill>
                <a:latin typeface="Calibri"/>
              </a:rPr>
              <a:t>Moliyaviy menejer lavozimi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Shoshilinch yordam</a:t>
            </a:r>
          </a:p>
          <a:p>
            <a:pPr algn="l">
              <a:spcAft>
                <a:spcPts val="0"/>
              </a:spcAft>
            </a:pPr>
            <a:r>
              <a:rPr sz="1200" b="0">
                <a:solidFill>
                  <a:srgbClr val="1F2937"/>
                </a:solidFill>
                <a:latin typeface="Calibri"/>
              </a:rPr>
              <a:t>Respublika ilmiy markazi, filiallar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Kadr nazorati</a:t>
            </a:r>
          </a:p>
          <a:p>
            <a:pPr algn="l">
              <a:spcAft>
                <a:spcPts val="0"/>
              </a:spcAft>
            </a:pPr>
            <a:r>
              <a:rPr sz="1200" b="0">
                <a:solidFill>
                  <a:srgbClr val="1F2937"/>
                </a:solidFill>
                <a:latin typeface="Calibri"/>
              </a:rPr>
              <a:t>Litsenziyalash, attestatsiya markazi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Islohotning asosiy yangiliklari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29, 30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2003 va 2007-yil Farmonlari: ixtisoslashgan markazlar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2003-yil 26-fevral Farmoni islohotning ikkinchi bosqichini boshladi. Maqsad: zamonaviy jihozli ixtisoslashgan klinika va tibbiy markazlar yaratish.</a:t>
            </a:r>
          </a:p>
          <a:p>
            <a:pPr>
              <a:spcAft>
                <a:spcPts val="800"/>
              </a:spcAft>
            </a:pPr>
            <a:r>
              <a:rPr sz="1600">
                <a:solidFill>
                  <a:srgbClr val="1F2937"/>
                </a:solidFill>
                <a:latin typeface="Calibri"/>
              </a:rPr>
              <a:t>▸  Tajriba tariqasida dastlab jarrohlik, urologiya, kardiologiya va ko‘z mikroxirurgiyasi respublika markazlari tashkil etildi.</a:t>
            </a:r>
          </a:p>
          <a:p>
            <a:pPr>
              <a:spcAft>
                <a:spcPts val="800"/>
              </a:spcAft>
            </a:pPr>
            <a:r>
              <a:rPr sz="1600">
                <a:solidFill>
                  <a:srgbClr val="1F2937"/>
                </a:solidFill>
                <a:latin typeface="Calibri"/>
              </a:rPr>
              <a:t>▸  2007-yil 19-sentyabr Farmoni 6 yangi markaz ochdi: akusherlik-ginekologiya, pediatriya, terapiya, dermatovenerologiya, ftiziatriya, endokrinologiya.</a:t>
            </a:r>
          </a:p>
          <a:p>
            <a:pPr>
              <a:spcAft>
                <a:spcPts val="800"/>
              </a:spcAft>
            </a:pPr>
            <a:r>
              <a:rPr sz="1600">
                <a:solidFill>
                  <a:srgbClr val="1F2937"/>
                </a:solidFill>
                <a:latin typeface="Calibri"/>
              </a:rPr>
              <a:t>▸  Viloyatlarda ko‘p tarmoqli tibbiyot markazlari, tumanlarda tibbiyot birlashmalari tuzildi.</a:t>
            </a:r>
          </a:p>
          <a:p>
            <a:pPr>
              <a:spcAft>
                <a:spcPts val="800"/>
              </a:spcAft>
            </a:pPr>
            <a:r>
              <a:rPr sz="1600">
                <a:solidFill>
                  <a:srgbClr val="1F2937"/>
                </a:solidFill>
                <a:latin typeface="Calibri"/>
              </a:rPr>
              <a:t>▸  Birlashmalar qishloq vrachlik punktlari va oilaviy poliklinikalar faoliyatini muvofiqlashtiradi.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2003-yil 26-fevral</a:t>
            </a:r>
          </a:p>
          <a:p>
            <a:pPr algn="l">
              <a:spcAft>
                <a:spcPts val="200"/>
              </a:spcAft>
            </a:pPr>
            <a:r>
              <a:rPr sz="1400" b="0">
                <a:solidFill>
                  <a:srgbClr val="1F2937"/>
                </a:solidFill>
                <a:latin typeface="Calibri"/>
              </a:rPr>
              <a:t>Islohotning 2-bosqichi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2003</a:t>
            </a:r>
          </a:p>
          <a:p>
            <a:pPr algn="l">
              <a:spcAft>
                <a:spcPts val="200"/>
              </a:spcAft>
            </a:pPr>
            <a:r>
              <a:rPr sz="1400" b="0">
                <a:solidFill>
                  <a:srgbClr val="1F2937"/>
                </a:solidFill>
                <a:latin typeface="Calibri"/>
              </a:rPr>
              <a:t>Jarrohlik, urologiya, kardiologiya, ko‘z markazlari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500" b="1">
                <a:solidFill>
                  <a:srgbClr val="0B1F3A"/>
                </a:solidFill>
                <a:latin typeface="Calibri"/>
              </a:rPr>
              <a:t>2007-yil 19-sentyabr</a:t>
            </a:r>
          </a:p>
          <a:p>
            <a:pPr algn="l">
              <a:spcAft>
                <a:spcPts val="200"/>
              </a:spcAft>
            </a:pPr>
            <a:r>
              <a:rPr sz="1400" b="0">
                <a:solidFill>
                  <a:srgbClr val="1F2937"/>
                </a:solidFill>
                <a:latin typeface="Calibri"/>
              </a:rPr>
              <a:t>6 yangi ilmiy-amaliy markaz</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Viloyatlar</a:t>
            </a:r>
          </a:p>
          <a:p>
            <a:pPr algn="l">
              <a:spcAft>
                <a:spcPts val="200"/>
              </a:spcAft>
            </a:pPr>
            <a:r>
              <a:rPr sz="1400" b="0">
                <a:solidFill>
                  <a:srgbClr val="1F2937"/>
                </a:solidFill>
                <a:latin typeface="Calibri"/>
              </a:rPr>
              <a:t>Ko‘p tarmoqli markazlar</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Tumanlar</a:t>
            </a:r>
          </a:p>
          <a:p>
            <a:pPr algn="l">
              <a:spcAft>
                <a:spcPts val="200"/>
              </a:spcAft>
            </a:pPr>
            <a:r>
              <a:rPr sz="1400" b="0">
                <a:solidFill>
                  <a:srgbClr val="1F2937"/>
                </a:solidFill>
                <a:latin typeface="Calibri"/>
              </a:rPr>
              <a:t>Tibbiyot birlashmalari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Farmonlar xronologiyasi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31, 32, 33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6: islohot natijasi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qishloq ambulatoriyasi vrachi oddiy bemorni ham kasalxonaga yo‘llaydi, profilaktikaga deyarli vaqt ajratmaydi.</a:t>
            </a:r>
          </a:p>
          <a:p>
            <a:pPr>
              <a:spcAft>
                <a:spcPts val="1200"/>
              </a:spcAft>
            </a:pPr>
            <a:r>
              <a:rPr sz="2200">
                <a:solidFill>
                  <a:srgbClr val="1F2937"/>
                </a:solidFill>
                <a:latin typeface="Calibri"/>
              </a:rPr>
              <a:t>▸  Eski tizimda mablag‘ xodimlar soni, xizmat maydoni va tashriflar soniga qarab ajratilgan. Sifatni oshirishga iqtisodiy rag‘bat yo‘q edi.</a:t>
            </a:r>
          </a:p>
          <a:p>
            <a:pPr>
              <a:spcAft>
                <a:spcPts val="1200"/>
              </a:spcAft>
            </a:pPr>
            <a:r>
              <a:rPr sz="2200">
                <a:solidFill>
                  <a:srgbClr val="1F2937"/>
                </a:solidFill>
                <a:latin typeface="Calibri"/>
              </a:rPr>
              <a:t>▸  Yangi tizimda jon boshiga moliyalash joriy etildi: biriktirilgan har bir kishiga yagona me’yor, yosh, jins va zichlik bo‘yicha koeffitsientlar qo‘llanadi.</a:t>
            </a:r>
          </a:p>
          <a:p>
            <a:pPr>
              <a:spcAft>
                <a:spcPts val="1200"/>
              </a:spcAft>
            </a:pPr>
            <a:r>
              <a:rPr sz="2200">
                <a:solidFill>
                  <a:srgbClr val="1F2937"/>
                </a:solidFill>
                <a:latin typeface="Calibri"/>
              </a:rPr>
              <a:t>▸  Savol: jon boshiga moliyalash vrachni nega profilaktikaga undaydi? Muassasa rahbari davolash sifatiga, moliyaviy menejer hisob-kitobga javob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29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va umumiy takrorlash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1: O‘zbekistonda shifokor siri roziliksiz qaysi holatlarda beriladi? Masalan, atrofdagilarga xavf tug‘ilganda yoki surishtiruv va sud so‘rovi bo‘yicha.</a:t>
            </a:r>
          </a:p>
          <a:p>
            <a:pPr>
              <a:spcAft>
                <a:spcPts val="1200"/>
              </a:spcAft>
            </a:pPr>
            <a:r>
              <a:rPr sz="2000">
                <a:solidFill>
                  <a:srgbClr val="1F2937"/>
                </a:solidFill>
                <a:latin typeface="Calibri"/>
              </a:rPr>
              <a:t>▸  Savol 2: Buyuk Britaniyada maxfiylik mutlaq burchmi? Yo‘q. Qonun talab qilsa, bemor rozi bo‘lsa yoki jamoat manfaati bo‘lsa, oshkor qilish mumkin.</a:t>
            </a:r>
          </a:p>
          <a:p>
            <a:pPr>
              <a:spcAft>
                <a:spcPts val="1200"/>
              </a:spcAft>
            </a:pPr>
            <a:r>
              <a:rPr sz="2000">
                <a:solidFill>
                  <a:srgbClr val="1F2937"/>
                </a:solidFill>
                <a:latin typeface="Calibri"/>
              </a:rPr>
              <a:t>▸  Savol 3: besh pog‘onali bo‘g‘in nima bilan almashtirildi? Ikki pog‘onali tizim: qishloqda vrachlik punkti, markaziy kasalxona; shaharda oilaviy poliklinika.</a:t>
            </a:r>
          </a:p>
          <a:p>
            <a:pPr>
              <a:spcAft>
                <a:spcPts val="1200"/>
              </a:spcAft>
            </a:pPr>
            <a:r>
              <a:rPr sz="2000">
                <a:solidFill>
                  <a:srgbClr val="1F2937"/>
                </a:solidFill>
                <a:latin typeface="Calibri"/>
              </a:rPr>
              <a:t>▸  Eslab qoling: shifokor siri, ixtiyoriy rozilik, birlamchi bo‘g‘in, jon boshiga moliyalash, ixtisoslashgan markaz — ma’ruzaning besh asosiy atamasi.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19, 28, 29; Payne-James J., Jones R., Karch S.B., Manlove J., Simpson's Forensic Medicine, betlar: 17-18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tamoyillari: bemor avtonomiyasi, zarar yetkazmaslik, bemor manfaatiga xizmat, qadr-qimmat, halollik (xabardor rozilik) va adolat.</a:t>
            </a:r>
          </a:p>
          <a:p>
            <a:pPr>
              <a:spcAft>
                <a:spcPts val="1200"/>
              </a:spcAft>
            </a:pPr>
            <a:r>
              <a:rPr sz="2200">
                <a:solidFill>
                  <a:srgbClr val="1F2937"/>
                </a:solidFill>
                <a:latin typeface="Calibri"/>
              </a:rPr>
              <a:t>▸  Shifokor siri mutlaq emas: bemor roziligi, sud talabi yoki xavf bo‘lganda oshkor qilinadi. O‘zbekiston qonuni bu istisnolarni 45-moddada sanaydi.</a:t>
            </a:r>
          </a:p>
          <a:p>
            <a:pPr>
              <a:spcAft>
                <a:spcPts val="1200"/>
              </a:spcAft>
            </a:pPr>
            <a:r>
              <a:rPr sz="2200">
                <a:solidFill>
                  <a:srgbClr val="1F2937"/>
                </a:solidFill>
                <a:latin typeface="Calibri"/>
              </a:rPr>
              <a:t>▸  Vrachlarni tartibga solish: Buyuk Britaniyada General Medical Council (GMC) ro‘yxat yuritadi va yaroqlilikni tekshiradi.</a:t>
            </a:r>
          </a:p>
          <a:p>
            <a:pPr>
              <a:spcAft>
                <a:spcPts val="1200"/>
              </a:spcAft>
            </a:pPr>
            <a:r>
              <a:rPr sz="2200">
                <a:solidFill>
                  <a:srgbClr val="1F2937"/>
                </a:solidFill>
                <a:latin typeface="Calibri"/>
              </a:rPr>
              <a:t>▸  “Fuqarolar sog‘lig‘ini saqlash to‘g‘risida”gi qonun 1996 yilda qabul qilingan, 47 moddadan iborat.</a:t>
            </a:r>
          </a:p>
          <a:p>
            <a:pPr>
              <a:spcAft>
                <a:spcPts val="1200"/>
              </a:spcAft>
            </a:pPr>
            <a:r>
              <a:rPr sz="2200">
                <a:solidFill>
                  <a:srgbClr val="1F2937"/>
                </a:solidFill>
                <a:latin typeface="Calibri"/>
              </a:rPr>
              <a:t>▸  O‘zbekistonda faoliyat uchun diplom, ayrim turlarida litsenziya ham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17, 21; G‘iyosov Z.A., Vrach faoliyatining huquqiy asoslari: darslik, betlar: 18–19, 10; 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inson salomatligining taxminan yarmi turmush tarziga bog‘liq (48–52%). Nasl va irsiyat 18–20%, ekologiya 18–20%, tibbiy yordam esa atigi 8–10%. Eslab qolish: «50–20–20–10», ya’ni turmush tarzi, nasl, ekologiya, tibbiyot.</a:t>
            </a:r>
          </a:p>
          <a:p>
            <a:pPr>
              <a:spcAft>
                <a:spcPts val="1200"/>
              </a:spcAft>
            </a:pPr>
            <a:r>
              <a:rPr sz="1800">
                <a:solidFill>
                  <a:srgbClr val="1F2937"/>
                </a:solidFill>
                <a:latin typeface="Calibri"/>
              </a:rPr>
              <a:t>▸  Huquq va axloq o‘rtasidagi farq: huquq ma’naviyatning eng quyi darajasi (minimumi), axloq-etika esa yuqori darajasi hisoblanadi. Axloqiy talablar ixtiyoriy bajariladi, huquqiy me’yorlar esa bevosita yoki bilvosita majburlash orqali ta’minlanadi.</a:t>
            </a:r>
          </a:p>
          <a:p>
            <a:pPr>
              <a:spcAft>
                <a:spcPts val="1200"/>
              </a:spcAft>
            </a:pPr>
            <a:r>
              <a:rPr sz="1800">
                <a:solidFill>
                  <a:srgbClr val="1F2937"/>
                </a:solidFill>
                <a:latin typeface="Calibri"/>
              </a:rPr>
              <a:t>▸  Eslab qolish usuli (bioetika mavzulari): A-N-B-D-H-J. Autonomiya (bemor tanlovi), Non-maleficence (zarar yetkazmaslik), Beneficence (bemor manfaati), Dignity (qadr-qimmat), Honesty (halollik, informed rozilik), Justice (adolat, resurslarni taqsimlash).</a:t>
            </a:r>
          </a:p>
          <a:p>
            <a:pPr>
              <a:spcAft>
                <a:spcPts val="1200"/>
              </a:spcAft>
            </a:pPr>
            <a:r>
              <a:rPr sz="1800">
                <a:solidFill>
                  <a:srgbClr val="1F2937"/>
                </a:solidFill>
                <a:latin typeface="Calibri"/>
              </a:rPr>
              <a:t>▸  Hodisa tahlili: Jehovah’s Witnesses tarafdori qon quyishni rad etadi, vrach esa bunda o‘lim bo‘lishini biladi. Bu yerda bemor avtonomiyasi va vrachning bemor manfaatini ko‘zlash tamoyili to‘qnashadi. Muhokama: qaysi tamoyil ustun turadi?</a:t>
            </a:r>
          </a:p>
          <a:p>
            <a:pPr>
              <a:spcAft>
                <a:spcPts val="1200"/>
              </a:spcAft>
            </a:pPr>
            <a:r>
              <a:rPr sz="1800">
                <a:solidFill>
                  <a:srgbClr val="1F2937"/>
                </a:solidFill>
                <a:latin typeface="Calibri"/>
              </a:rPr>
              <a:t>▸  Tarixiy fakt: 1939–45 yillardagi urushda tibbiy etika qo‘pol buzildi. Shundan so‘ng xalqaro tibbiyot jamoatchiligi Gippokrat qasamyodini zamonaviy shaklda, 1948 yilgi Jeneva deklaratsiyasi sifatida qayta bayon etdi. Deklaratsiya 2006 yilda yangilangan.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Payne-James J., Jones R., Karch S.B., Manlove J. Simpson's Forensic Medicine, 13th ed. 2011. Chapter 2. The ethics of medical practice, pp. 12–23</a:t>
            </a:r>
          </a:p>
          <a:p>
            <a:pPr>
              <a:spcAft>
                <a:spcPts val="800"/>
              </a:spcAft>
            </a:pPr>
            <a:r>
              <a:rPr sz="2000">
                <a:solidFill>
                  <a:srgbClr val="1F2937"/>
                </a:solidFill>
                <a:latin typeface="Calibri"/>
              </a:rPr>
              <a:t>▸  G‘iyosov Z.A. Vrach faoliyatining huquqiy asoslari: darslik, Toshkent: Tafakkur-Bo‘stoni. 2012. 1-2-boblar. Tibbiyot huquqi fani; fuqarolar sog‘lig‘ini saqlash qonunchiligi asoslari; bet 5-21; 3-bob. O‘zbekiston Respublikasida sog‘liqni saqlash qonunchiligi; bet 22-34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