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OIV bioetikaning ‘sinov maydoni’ deyiladi? 2) Shifokorning shaxsiy xavfsizligi va bemorga yordam burchi to‘qnashsa, nima qilish kerak? Doskaga chizish: markazda ‘OIV/OITS’, atrofida 4 ta tarmoq (tamoyillar, huquqlar, davolash, kasbiy xavf). Tipik xato: OIV muammosini faqat tibbiy muammo deb qarash, huquqiy va ijtimoiy jihatlarni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deklaratsiya ta’limni ‘tushunarli tilda’ olib borishni talab qiladi? 2) Mahalliy axloqiy va madaniy qadriyatlar profilaktikada qanday hisobga olinadi? Doskaga chizish: UNAIDS yo‘nalishlari zanjirini daftarga ko‘chiring. Tipik xato: deklaratsiya sanasini va UNAIDS ning to‘liq nomini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‘OIV bilan yashovchi’ va ‘OITS bemori’ bir xil ma’noga ega emas? 2) Atamalarni noto‘g‘ri qo‘llash stigmaga qanday ta’sir qiladi? Doskaga chizish: OIV → OIV infeksiyasi → OITS bosqichi strelkasini chizing. Tipik xato: OITSni virusning nomi deb atash yoki ikkala atamani sinonim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aynan OIV infeksiyasi bioetik tamoyillarni ‘sinovdan o‘tkazadi’? 2) OIV va OITS farqi nimada? Doskada: ‘OIV → OITS’ strelkasini chizib, OITS OIV infeksiyasining bosqichi ekanini ko‘rsating. Tipik xato: OIV va OITS so‘zlarini sinonim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Yordam bermaslik qachon zarar bo‘ladi? 2) Shaxsiy xavfsizlik rad etishni oqlaydimi? Doskada: rad etish zanjirini 5 bosqichda chizdiring. Tipik xato: ‘zarar’ ni faqat jarrohlik yoki dori asoratlari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Bemor manfaati va atrofdagilar xavfsizligi to‘qnashsa, shifokor nima qilishi kerak? 2) Ichki ziddiyat nimadan kelib chiqadi? Doskada: markazda bemor, atrofida yaqinlari doirasini chizing. Tipik xato: ‘yaxshilik qil’ ni faqat bemorni davolash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“Qonun oldida tenglik” va “amaldagi tenglik” nima bilan farq qiladi? 2) Tabaqalashtirilgan yondashuv bemor ishonchiga qanday ta’sir qiladi? Doskada chizish: ikki ustunli “huquqiy – axloqiy” jadvalni talabalar mustaqil to‘ldirsin. Tipik xato: huquqiy tenglik bor bo‘lsa, amalda ham muammo yo‘q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“Jazo” qarashi shifokor-bemor munosabatiga qanday ta’sir qiladi? 2) Xavf guruhini bilish nima uchun kerak, lekin nima uchun davolashda farq qilish asos emas? Doskada chizish: “guruh → qarash → tabaqalashtirish → nizo” zanjirini chizing. Tipik xato: xavf guruhiga mansublikni bemorni baholash mezoni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(3 daqiqa kichik guruhda, 5 daqiqa umumiy muhokama). Muhokama: 1) Yordamni rad etish qaysi tamoyillarni buzadi? 2) Shifokorning o‘z xavfsizligi va bemor huquqi o‘rtasida muvozanat qanday topiladi? Doskada chizish: “shifokor xavfsizligi – bemor huquqi” tarozisini chizib, dalillarni ikki pallaga yozing. Tipik xato: rad etishni faqat shaxsiy tanlov deb qarash, bemorga yetadigan zararni inobatga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2-3 talabadan javob oling. Muhokama: shifokorning shaxsiy xavfsizligi va yordam ko‘rsatish burchi qanday uyg‘unlashadi? Doskada chizish: “OIV → OITS” strelkasini chizing va OITS OIV infeksiyasi bosqichlaridan biri ekanini yozing. Tipik xato: OIV va OITSni bir xil tushuncha deb bilish.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stigmatizatsiya ko‘pincha tibbiyot xodimlarining maxfiylikni buzishidan kelib chiqadi? Sherikka xabar berish qachon oqlanadi? Doskada chizish: oltita masalaning (xabardor rozilik, jamoat salomatligi, siyosiylashuv, stigmatizatsiya, shifokor-bemor munosabati, maxfiylik) markazda “OIV/OITS” bo‘lgan xaritasini chizdiring. Tipik xato: maxfiylikni mutlaq deb o‘ylash; manbada sherikka xavf bo‘lganda istisno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rozilik “xabardor” bo‘lishi nimani anglatadi? OIV bilan yashovchini epidemiyaga qarshi kurash sherigi sifatida ko‘rish amaliyotga qanday ta’sir qiladi? Doskada chizish: rozilik zanjirini yozib, har bosqichda bemor “yo‘q” deyishi mumkinligini ko‘rsating. Tipik xato: qon olishga rozilikni davolashga ham avtomatik rozilik deb hisoblash. Manbadagi Yevropa Kengashi hujjati matni OCRda xira, nomini tekshirib oling.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profilaktika faqat tibbiyot xodimlarining ishi emas? 2) Qashshoqlik va ayollar huquqsizligi kasallik tarqalishiga qanday ta’sir qiladi? Doskaga chizish: «targ‘ibot kanallari» (OAV, ta’lim, ish joyi, reklama) sxemasini chizdiring. Tipik xato: OIV/OITSni faqat tibbiy muammo deb qarash, ijtimoiy tengsizlik bilan bog‘liqligini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1) Bemor ma’lumoti oshkor bo‘lsa, uning hayotida nima o‘zgaradi? 2) Tibbiyot xodimi stigmaning oldini olishda qanday rol o‘ynaydi? Doskaga chizish: «maxfiylik buzilishi → stigma» sababiyat zanjirini chizdiring. Tipik xato: stigmatizatsiya va kamsitishni bir xil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Shifokorning stereotiplari bemor bilan muloqotga qanday ta’sir qiladi? 2) “Murabbiy” va “sirdosh” rollari amalda nimani anglatadi? Doskaga chizish: markazda «bemor», atrofida «ittifoqchi», «murabbiy», «sirdosh» so‘zlarini yozdiring. Tipik xato: shifokor bemor uchun qarorni o‘zi qabul qiladi deb o‘ylash. Manbaga ko‘ra, qaror qabul qilish huquqi bemorda qoladi.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sir saqlash ishonch uchun muhim? 2) Qaysi holatda istisno o‘rinli? Doskada: sxemani 5 qadamda chizdiring va har qadamga bittadan dalil yozdiring. Tipik xato: talabalar sirni buzishni bemorning roziligisiz har doim mumkin deb o‘ylaydi; manbada bu faqat haqiqiy xavf va rad etish holati.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Bemorning shaxsiy huquqi qayerda boshqalarning huquqi bilan to‘qnashadi? 2) Davlat tuzilmalari bu muvozanatda qanday rol o‘ynaydi? Doskada: ikki pallali tarozi chizing (chapda shaxs huquqi, o‘ngda jamiyat xavfsizligi). Tipik xato: bir tomonni mutlaq ustun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Bemorning o‘zi sherigiga aytishi nega afzal? 2) Oshkor qilishda bemorning yaqinlariga nisbatan “yomon munosabat” shakllanishi xavfi nimani anglatadi? Doskada: ‘terapevtik hamkorlik’ so‘zidan boshlab qadamlar zanjirini chizing. Tipik xato: shifokorning birinchi harakati sirni buzish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Maxfiylikni buzish qachon oqlanadi? 2) Shifokor sherikni xabardor qilishdan oldin nima qilishi kerak? Doskada: "rozilik – maxfiylik – istisno" zanjirini chizdiring. Tipik xato: talabalar maxfiylikni mutlaq qoida deb, istisnoni esa oddiy hol deb o‘ylaydi. Istisno faqat real xavf va bemor rad etganda qo‘llanadi.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xalqaro hujjatlar milliy qonunga ta’sir qiladi? 2) Qonun qaysi sohalarga tayanadi (sog‘liqni saqlash, ijtimoiy himoya, narkotiklarga qarshi kurash)? Doskada: uch hujjatni vaqt chizig‘i shaklida joylashtiring. Tipik xato: BMT — Birlashgan Millatlar Tashkiloti ekanini va deklaratsiya yillarini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Majburiy va g‘ayriixtiyoriy tekshiruv nimasi bilan farq qiladi? 2) Nega maslahatlashuv tekshiruvdan oldin ham, keyin ham kerak? Doskada: uch ustunli jadvalni talabalar bilan to‘ldiring. Tipik xato: majburiy tekshiruvni "roziliksiz" deb tushunish. Majburiy toifalar qonunda sanab o‘tilgan. Eslatma: OCR matnida g‘ayriixtiyoriy tekshiruvni buyuruvchi mansabdorlardan biri aniq o‘qilmadi; jadvalda faqat tergov qarori va sud ajrimi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tekshiruvdan oldin ham, keyin ham maslahat kerak? 2) Yozma ogohlantirish shaxsga qanday ta’sir qiladi? Doskada: 5 bosqichli zanjirni chizdirib, har bosqichga mas’ul shaxsni yozdiring. Tipik xato: sertifikatni majburiy va bepul deb o‘ylash — u iltimosga ko‘ra, pullik beriladi.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tibbiyot xodimlari ro‘yxatda? 2) Majburiylik shaxs huquqlariga qanday zid kelishi mumkin? Doskada: 7 toifani ro‘yxat qilib yozdiring, ularni ’tibbiy xavf’ va ’ijtimoiy xavf’ ustunlariga ajrating. Tipik xato: ’majburiy’ va ’g‘ayriixtiyoriy’ tekshiruvni bir narsa deb olish.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Natijani bolaning o‘ziga bermaslik axloqan qanday baholanadi? 2) Qonuniy vakil rozilik bermasa nima bo‘ladi? Doskada: rozilik, natija va xabardor qilish yo‘nalishlarini ko‘rsatuvchi strelkali sxema chizdiring. Tipik xato: natijani voyaga yetmagan shaxsning o‘ziga beriladi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tekshiruvning anonim bo‘lishi muhim? 2) Bemor huquqi bilan javobgarlik haqida ogohlantirish qanday bog‘lanadi? Doskada jadvalni chizdiring va talabalar har guruhga misol keltirsin. Tipik xato: huquqlar ro‘yxatini «faqat bepul davolanish» deb qisqartirish.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ota-onaga bola bilan statsionarda bo‘lish huquqi berilgan? 2) Bolaning ma’lumoti kimga beriladi va nima uchun? Doskada «bola – nafaqa – ota-ona» sxemasini chizdiring. Tipik xato: nafaqani faqat OITS bosqichidagi bolalarga tegishli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tibbiy yordamni rad etish eng og‘ir axloqiy buzilish hisoblanadi? 2) Istisno kasblar ro‘yxati nima uchun kerak? Doskada «taqiq – istisno» jadvalini chizdiring. Tipik xato: barcha kasblarga OIV bilan ishlashga ruxsat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donorlik taqiqi saqlanib qolgan? 2) Tibbiy ishlar ro‘yxatdan chiqarilishi nimani anglatadi? Doskada chizing: ikki ustunli jadval ‘taqiqlangan / taqiqlanmagan’ va unga misollarni joylang. Tipik xato: talabalar ‘OIV bilan yashovchi hech qayerda ishlay olmaydi’ deb o‘ylaydi. Aslida taqiq faqat ro‘yxatdagi 9 tur uchun amal qiladi.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Bo‘shatish qachon qonunga zid bo‘ladi? 2) Ro‘yxatdagi kasbda ishlayotgan xodim bilan nima qilish kerak? Kutiladigan javob: ro‘yxatda yo‘q ishda bo‘shatish qonunga zid. Ro‘yxatdagi ishda cheklov qo‘llanadi va ruxsat bergan rahbar javobgar. Doskada chizing: ikki shoxli sxema ‘ish ro‘yxatda bor / yo‘q’. Tipik xato: talabalar cheklovni barcha OIV bilan yashovchilarga tatbiq qiladi.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Tibbiy sir buzilsa, bemor qanday huquqlarga tayanadi? 2) OIV bilan yashovchining bemor sifatidagi huquqlari boshqa fuqarolarnikidan farq qiladimi? Doskada chizing: markazda ‘bemor’, atrofida to‘rt huquq (axborot, yordam, sir, zararni qoplash). Tipik xato: talabalar OIV bilan yashovchilarni alohida ‘kam huquqli’ guruh deb hisoblaydi. Qonun ularga umumiy bemor huquqlarini ham beradi.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Dori samaradorligini plasebosiz sinashga ruxsat berilishi qanday axloqiy savollar tug‘diradi? 2) Agonal holatdagi bemorga yordam ko‘rsatishda qadr-qimmat qanday saqlanadi? Doskada chizish: to‘rt tugunli zanjirni talabalar bilan birga chizing. Tipik xato: OIV va OITSni bir xil tushunish; manbaga ko‘ra OITS — OIV infeksiyasi bosqichlaridan biri. Manbada plasebosiz sinov qaysi mamlakatlarda ruxsat etilgani aytilmagan, shuning uchun aniq mamlakat nomlamang.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tadqiqotlar soni natijalardan ko‘p bo‘lishi xavfni oshiradi? 2) Jismoniy va ruhiy yaxlitlik nimani anglatadi? Doskada chizish: zanjirni chizib, har bosqichga bittadan misol so‘rang. Tipik xato: yangi texnologiya o‘z-o‘zidan foydali deb o‘ylash; manbada klinik qo‘llash xavfni oshirishi mumkinligi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(3 daqiqa guruhda, 4 daqiqa umumiy muhokama). Muhokama: 1) Bemor rad etsa, shifokor qanday yo‘l tutishi kerak? 2) Rozilik va yaxlitlik tamoyili qanday bog‘lanadi? Doskada chizish: ‘Taklif — tushuntirish — rozilik — davolash’ ketma-ketligini chizing. Tipik xato: rozilikni faqat qon tekshiruvi uchun kerak deb hisoblash; manbada davolash ham bemor roziligi bilan amalga oshirilishi aytilgan. Vaziyat o‘quv maqsadida manbadagi ma’lumotlardan tuzilgan.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Shaxsiy xavfsizlik yordamni rad etishga axloqiy asos bo‘la oladimi? 2) Nega xodimlarning o‘zi ham majburiy tekshiruvdan o‘tadi? Doskada: ’Shaxsiy xavf – rad etish – zarar yetkazma tamoyili’ zanjirini chizdiring. Tipik xato: rad etishni ’zarar emas’ deb hisoblash; manbaga ko‘ra yordam bermaslik ham zarar shakli. Diqqat: xavf sezish ≠ yordamdan bosh tortishga huquq.</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Tenglik huquqiy jihatdan bor, amalda-chi? 2) Maxfiylikni buzish qachon oqlanadi? Doskada: mavzuning 4 tayanchini (tenglik, maxfiylik, rozilik, kafolat) chizing. Tipik xato: majburiy tekshiruvni barcha uchun deb o‘ylash; u faqat qonunda sanalgan guruhlarga tegishli. Tezkor savol javobi: manbaga ko‘ra yordam bermaslik ham zarar shakli.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OITSning axloqiy va huquqiy masalalari: OIV bilan yashovchilar huquqlari, eksperimental davolash, tibbiyot xodimlarining kasbiy xavflari (M9; A9)</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OIV (odamning immunitet tanqisligi virusi) va OITS (orttirilgan immunitet tanqisligi sindromi) muammosi zamonaviy tibbiyotning deyarli barcha axloqiy muammolariga daxldor.</a:t>
            </a:r>
          </a:p>
          <a:p>
            <a:pPr>
              <a:spcAft>
                <a:spcPts val="1200"/>
              </a:spcAft>
            </a:pPr>
            <a:r>
              <a:rPr sz="2000">
                <a:solidFill>
                  <a:srgbClr val="1F2937"/>
                </a:solidFill>
                <a:latin typeface="Calibri"/>
              </a:rPr>
              <a:t>▸  Ba’zi axloqiy muammolar faqat OIV infeksiyasiga xos. Biotibbiyotning ko‘plab an’anaviy tamoyillari aynan shu infeksiya misolida sinovdan o‘tadi.</a:t>
            </a:r>
          </a:p>
          <a:p>
            <a:pPr>
              <a:spcAft>
                <a:spcPts val="1200"/>
              </a:spcAft>
            </a:pPr>
            <a:r>
              <a:rPr sz="2000">
                <a:solidFill>
                  <a:srgbClr val="1F2937"/>
                </a:solidFill>
                <a:latin typeface="Calibri"/>
              </a:rPr>
              <a:t>▸  «Zarar yetkazma!» tamoyili sinovda: ko‘p mamlakatlarda shifokorlar OIV bilan kasallanganlarga yordamdan ommaviy bosh tortadi, sababi – shaxsiy xavfsizlik.</a:t>
            </a:r>
          </a:p>
          <a:p>
            <a:pPr>
              <a:spcAft>
                <a:spcPts val="1200"/>
              </a:spcAft>
            </a:pPr>
            <a:r>
              <a:rPr sz="2000">
                <a:solidFill>
                  <a:srgbClr val="1F2937"/>
                </a:solidFill>
                <a:latin typeface="Calibri"/>
              </a:rPr>
              <a:t>▸  Dars rejasi: xalqaro javob, tushunchalar, tamoyillar sinovi, OIV bilan yashovchilar huquqlari, eksperimental davolash va tibbiyot xodimlarining xavfi.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201, 201-210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Xalqaro javob: BMT deklaratsiyasi va UNAIDS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BMT (Birlashgan Millatlar Tashkiloti) Bosh Assambleyasi 2006 yil 2 iyunda OIV bo‘yicha siyosiy deklaratsiyani qabul qildi.</a:t>
            </a:r>
          </a:p>
          <a:p>
            <a:pPr>
              <a:spcAft>
                <a:spcPts val="800"/>
              </a:spcAft>
            </a:pPr>
            <a:r>
              <a:rPr sz="1800">
                <a:solidFill>
                  <a:srgbClr val="1F2937"/>
                </a:solidFill>
                <a:latin typeface="Calibri"/>
              </a:rPr>
              <a:t>▸  Profilaktika kurash asosi: tushunarli tilda ta’lim, xavfli xulqni kamaytirish, dori ta’minoti.</a:t>
            </a:r>
          </a:p>
          <a:p>
            <a:pPr>
              <a:spcAft>
                <a:spcPts val="800"/>
              </a:spcAft>
            </a:pPr>
            <a:r>
              <a:rPr sz="1800">
                <a:solidFill>
                  <a:srgbClr val="1F2937"/>
                </a:solidFill>
                <a:latin typeface="Calibri"/>
              </a:rPr>
              <a:t>▸  UNAIDS – BMTning OIV/OITS bo‘yicha Qo‘shma dasturi; huquqlar va gender tengligini himoya qiladi.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Profilaktika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Parvarish qilish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Qo‘llab-quvvatlash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Huquq va gender tengligi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UNAIDS strategiyasi yo‘nalishlari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OIV va OITS: tushunchalarni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OIV retroviruslar guruhiga kiradi: uning genetik materiali DNK emas, RNK.</a:t>
            </a:r>
          </a:p>
          <a:p>
            <a:pPr>
              <a:spcAft>
                <a:spcPts val="800"/>
              </a:spcAft>
            </a:pPr>
            <a:r>
              <a:rPr sz="1800">
                <a:solidFill>
                  <a:srgbClr val="1F2937"/>
                </a:solidFill>
                <a:latin typeface="Calibri"/>
              </a:rPr>
              <a:t>▸  OITS mustaqil nozologik birlik sifatida ajratiladi, aslida esa OIV infeksiyasi bosqichlaridan biri.</a:t>
            </a:r>
          </a:p>
          <a:p>
            <a:pPr>
              <a:spcAft>
                <a:spcPts val="800"/>
              </a:spcAft>
            </a:pPr>
            <a:r>
              <a:rPr sz="1800">
                <a:solidFill>
                  <a:srgbClr val="1F2937"/>
                </a:solidFill>
                <a:latin typeface="Calibri"/>
              </a:rPr>
              <a:t>▸  Diqqat: xato qilish xavfi! OIV ≠ OITS – virusni kasallik bosqichi bilan aralashtirmang.</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19647"/>
                <a:gridCol w="2069207"/>
                <a:gridCol w="2299119"/>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OIV</a:t>
                      </a:r>
                    </a:p>
                  </a:txBody>
                  <a:tcPr marL="73152" marR="73152" marT="36576" marB="36576">
                    <a:solidFill>
                      <a:srgbClr val="0B1F3A"/>
                    </a:solidFill>
                  </a:tcPr>
                </a:tc>
                <a:tc>
                  <a:txBody>
                    <a:bodyPr/>
                    <a:lstStyle/>
                    <a:p>
                      <a:r>
                        <a:rPr sz="1300" b="1">
                          <a:solidFill>
                            <a:srgbClr val="FFFFFF"/>
                          </a:solidFill>
                        </a:rPr>
                        <a:t>OITS</a:t>
                      </a:r>
                    </a:p>
                  </a:txBody>
                  <a:tcPr marL="73152" marR="73152" marT="36576" marB="36576">
                    <a:solidFill>
                      <a:srgbClr val="0B1F3A"/>
                    </a:solidFill>
                  </a:tcPr>
                </a:tc>
              </a:tr>
              <a:tr h="411480">
                <a:tc>
                  <a:txBody>
                    <a:bodyPr/>
                    <a:lstStyle/>
                    <a:p>
                      <a:r>
                        <a:rPr sz="1200" b="0">
                          <a:solidFill>
                            <a:srgbClr val="1F2937"/>
                          </a:solidFill>
                        </a:rPr>
                        <a:t>To‘liq nomi</a:t>
                      </a:r>
                    </a:p>
                  </a:txBody>
                  <a:tcPr marL="73152" marR="73152" marT="36576" marB="36576">
                    <a:solidFill>
                      <a:srgbClr val="E8EEF6"/>
                    </a:solidFill>
                  </a:tcPr>
                </a:tc>
                <a:tc>
                  <a:txBody>
                    <a:bodyPr/>
                    <a:lstStyle/>
                    <a:p>
                      <a:r>
                        <a:rPr sz="1200" b="0">
                          <a:solidFill>
                            <a:srgbClr val="1F2937"/>
                          </a:solidFill>
                        </a:rPr>
                        <a:t>Odamning immunitet tanqisligi virusi</a:t>
                      </a:r>
                    </a:p>
                  </a:txBody>
                  <a:tcPr marL="73152" marR="73152" marT="36576" marB="36576">
                    <a:solidFill>
                      <a:srgbClr val="E8EEF6"/>
                    </a:solidFill>
                  </a:tcPr>
                </a:tc>
                <a:tc>
                  <a:txBody>
                    <a:bodyPr/>
                    <a:lstStyle/>
                    <a:p>
                      <a:r>
                        <a:rPr sz="1200" b="0">
                          <a:solidFill>
                            <a:srgbClr val="1F2937"/>
                          </a:solidFill>
                        </a:rPr>
                        <a:t>Orttirilgan immunitet tanqisligi sindromi</a:t>
                      </a:r>
                    </a:p>
                  </a:txBody>
                  <a:tcPr marL="73152" marR="73152" marT="36576" marB="36576">
                    <a:solidFill>
                      <a:srgbClr val="E8EEF6"/>
                    </a:solidFill>
                  </a:tcPr>
                </a:tc>
              </a:tr>
              <a:tr h="411480">
                <a:tc>
                  <a:txBody>
                    <a:bodyPr/>
                    <a:lstStyle/>
                    <a:p>
                      <a:r>
                        <a:rPr sz="1200" b="0">
                          <a:solidFill>
                            <a:srgbClr val="1F2937"/>
                          </a:solidFill>
                        </a:rPr>
                        <a:t>Mohiyati</a:t>
                      </a:r>
                    </a:p>
                  </a:txBody>
                  <a:tcPr marL="73152" marR="73152" marT="36576" marB="36576">
                    <a:solidFill>
                      <a:srgbClr val="FFFFFF"/>
                    </a:solidFill>
                  </a:tcPr>
                </a:tc>
                <a:tc>
                  <a:txBody>
                    <a:bodyPr/>
                    <a:lstStyle/>
                    <a:p>
                      <a:r>
                        <a:rPr sz="1200" b="0">
                          <a:solidFill>
                            <a:srgbClr val="1F2937"/>
                          </a:solidFill>
                        </a:rPr>
                        <a:t>Virus (retrovirus guruhi)</a:t>
                      </a:r>
                    </a:p>
                  </a:txBody>
                  <a:tcPr marL="73152" marR="73152" marT="36576" marB="36576">
                    <a:solidFill>
                      <a:srgbClr val="FFFFFF"/>
                    </a:solidFill>
                  </a:tcPr>
                </a:tc>
                <a:tc>
                  <a:txBody>
                    <a:bodyPr/>
                    <a:lstStyle/>
                    <a:p>
                      <a:r>
                        <a:rPr sz="1200" b="0">
                          <a:solidFill>
                            <a:srgbClr val="1F2937"/>
                          </a:solidFill>
                        </a:rPr>
                        <a:t>Sindrom, mustaqil nozologik birlik</a:t>
                      </a:r>
                    </a:p>
                  </a:txBody>
                  <a:tcPr marL="73152" marR="73152" marT="36576" marB="36576">
                    <a:solidFill>
                      <a:srgbClr val="FFFFFF"/>
                    </a:solidFill>
                  </a:tcPr>
                </a:tc>
              </a:tr>
              <a:tr h="411480">
                <a:tc>
                  <a:txBody>
                    <a:bodyPr/>
                    <a:lstStyle/>
                    <a:p>
                      <a:r>
                        <a:rPr sz="1200" b="0">
                          <a:solidFill>
                            <a:srgbClr val="1F2937"/>
                          </a:solidFill>
                        </a:rPr>
                        <a:t>Genetik material</a:t>
                      </a:r>
                    </a:p>
                  </a:txBody>
                  <a:tcPr marL="73152" marR="73152" marT="36576" marB="36576">
                    <a:solidFill>
                      <a:srgbClr val="E8EEF6"/>
                    </a:solidFill>
                  </a:tcPr>
                </a:tc>
                <a:tc>
                  <a:txBody>
                    <a:bodyPr/>
                    <a:lstStyle/>
                    <a:p>
                      <a:r>
                        <a:rPr sz="1200" b="0">
                          <a:solidFill>
                            <a:srgbClr val="1F2937"/>
                          </a:solidFill>
                        </a:rPr>
                        <a:t>RNK (DNK emas)</a:t>
                      </a:r>
                    </a:p>
                  </a:txBody>
                  <a:tcPr marL="73152" marR="73152" marT="36576" marB="36576">
                    <a:solidFill>
                      <a:srgbClr val="E8EEF6"/>
                    </a:solidFill>
                  </a:tcPr>
                </a:tc>
                <a:tc>
                  <a:txBody>
                    <a:bodyPr/>
                    <a:lstStyle/>
                    <a:p>
                      <a:r>
                        <a:rPr sz="1200" b="0">
                          <a:solidFill>
                            <a:srgbClr val="1F2937"/>
                          </a:solidFill>
                        </a:rPr>
                        <a:t>Virusning o‘zi emas</a:t>
                      </a:r>
                    </a:p>
                  </a:txBody>
                  <a:tcPr marL="73152" marR="73152" marT="36576" marB="36576">
                    <a:solidFill>
                      <a:srgbClr val="E8EEF6"/>
                    </a:solidFill>
                  </a:tcPr>
                </a:tc>
              </a:tr>
              <a:tr h="411480">
                <a:tc>
                  <a:txBody>
                    <a:bodyPr/>
                    <a:lstStyle/>
                    <a:p>
                      <a:r>
                        <a:rPr sz="1200" b="0">
                          <a:solidFill>
                            <a:srgbClr val="1F2937"/>
                          </a:solidFill>
                        </a:rPr>
                        <a:t>Bog‘liqligi</a:t>
                      </a:r>
                    </a:p>
                  </a:txBody>
                  <a:tcPr marL="73152" marR="73152" marT="36576" marB="36576">
                    <a:solidFill>
                      <a:srgbClr val="FFFFFF"/>
                    </a:solidFill>
                  </a:tcPr>
                </a:tc>
                <a:tc>
                  <a:txBody>
                    <a:bodyPr/>
                    <a:lstStyle/>
                    <a:p>
                      <a:r>
                        <a:rPr sz="1200" b="0">
                          <a:solidFill>
                            <a:srgbClr val="1F2937"/>
                          </a:solidFill>
                        </a:rPr>
                        <a:t>Infeksiya qo‘zg‘atuvchisi</a:t>
                      </a:r>
                    </a:p>
                  </a:txBody>
                  <a:tcPr marL="73152" marR="73152" marT="36576" marB="36576">
                    <a:solidFill>
                      <a:srgbClr val="FFFFFF"/>
                    </a:solidFill>
                  </a:tcPr>
                </a:tc>
                <a:tc>
                  <a:txBody>
                    <a:bodyPr/>
                    <a:lstStyle/>
                    <a:p>
                      <a:r>
                        <a:rPr sz="1200" b="0">
                          <a:solidFill>
                            <a:srgbClr val="1F2937"/>
                          </a:solidFill>
                        </a:rPr>
                        <a:t>OIV infeksiyasi bosqichlaridan biri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OIV va OITS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tamoyillari OIV sinovida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Bioetikaning ko‘plab an’anaviy tamoyillari va me’yorlari aynan OIV infeksiyasi misolida sinovdan o‘tkaziladi.</a:t>
            </a:r>
          </a:p>
          <a:p>
            <a:pPr>
              <a:spcAft>
                <a:spcPts val="1200"/>
              </a:spcAft>
            </a:pPr>
            <a:r>
              <a:rPr sz="2200">
                <a:solidFill>
                  <a:srgbClr val="1F2937"/>
                </a:solidFill>
                <a:latin typeface="Calibri"/>
              </a:rPr>
              <a:t>▸  OIV/OITS muammolari zamonaviy tibbiyotning barcha axloqiy masalalariga tegadi, ayrimlari esa faqat OIV infeksiyasiga xos.</a:t>
            </a:r>
          </a:p>
          <a:p>
            <a:pPr>
              <a:spcAft>
                <a:spcPts val="1200"/>
              </a:spcAft>
            </a:pPr>
            <a:r>
              <a:rPr sz="2200">
                <a:solidFill>
                  <a:srgbClr val="1F2937"/>
                </a:solidFill>
                <a:latin typeface="Calibri"/>
              </a:rPr>
              <a:t>▸  Diqqat: OIV ≠ OITS. OIV – odamning immunitet tanqisligi virusi; OITS – orttirilgan immunitet tanqisligi sindromi, OIV infeksiyasi bosqichlaridan biri.</a:t>
            </a:r>
          </a:p>
          <a:p>
            <a:pPr>
              <a:spcAft>
                <a:spcPts val="1200"/>
              </a:spcAft>
            </a:pPr>
            <a:r>
              <a:rPr sz="2200">
                <a:solidFill>
                  <a:srgbClr val="1F2937"/>
                </a:solidFill>
                <a:latin typeface="Calibri"/>
              </a:rPr>
              <a:t>▸  Keyingi slaydlar rejasi: “Zarar yetkazma!”, “Yaxshilik qil!”, so‘ng adolat va inson qadr-qimmati tamoyillari.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201, 203, 201-203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yetkazma!” tamoyili va yordamni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Zarar faqat jismoniy bo‘lmaydi: bemorga yordam bermaslik ham zarar shakli hisoblanadi.</a:t>
            </a:r>
          </a:p>
          <a:p>
            <a:pPr>
              <a:spcAft>
                <a:spcPts val="800"/>
              </a:spcAft>
            </a:pPr>
            <a:r>
              <a:rPr sz="1800">
                <a:solidFill>
                  <a:srgbClr val="1F2937"/>
                </a:solidFill>
                <a:latin typeface="Calibri"/>
              </a:rPr>
              <a:t>▸  Ba’zi mamlakatlarda shifokorlar OIV bilan kasallanganlarga yordam berishdan ommaviy bosh tortgan. (?)</a:t>
            </a:r>
          </a:p>
          <a:p>
            <a:pPr>
              <a:spcAft>
                <a:spcPts val="800"/>
              </a:spcAft>
            </a:pPr>
            <a:r>
              <a:rPr sz="1800">
                <a:solidFill>
                  <a:srgbClr val="1F2937"/>
                </a:solidFill>
                <a:latin typeface="Calibri"/>
              </a:rPr>
              <a:t>▸  Rad etishning sababi – tibbiyot xodimlarining o‘z shaxsiy xavfsizligi.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OIV bilan kasallangan bemor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uchun yuqish xavfi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Shaxsiy xavfsizlik qo‘rquvi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Yordamni ommaviy rad etish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yordam berilmaydi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Rad etish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“Yaxshilik qil!” tamoyilidagi ichki ziddiyat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Shifokorning “yaxshilik” faoliyati faqat OIV bilan kasallangan bemorning o‘ziga qaratilmaydi.</a:t>
            </a:r>
          </a:p>
          <a:p>
            <a:pPr>
              <a:spcAft>
                <a:spcPts val="800"/>
              </a:spcAft>
            </a:pPr>
            <a:r>
              <a:rPr sz="1800">
                <a:solidFill>
                  <a:srgbClr val="1F2937"/>
                </a:solidFill>
                <a:latin typeface="Calibri"/>
              </a:rPr>
              <a:t>▸  U bemorning yaqinlari orasida OIV infeksiyasining oldini olish masalalarini ham qamrab oladi.</a:t>
            </a:r>
          </a:p>
          <a:p>
            <a:pPr>
              <a:spcAft>
                <a:spcPts val="800"/>
              </a:spcAft>
            </a:pPr>
            <a:r>
              <a:rPr sz="1800">
                <a:solidFill>
                  <a:srgbClr val="1F2937"/>
                </a:solidFill>
                <a:latin typeface="Calibri"/>
              </a:rPr>
              <a:t>▸  Buni anglagan xodimda ichki ziddiyat va kasbiy tafakkurda bo‘linish yuzaga keladi.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38320"/>
                <a:gridCol w="3749655"/>
              </a:tblGrid>
              <a:tr h="411480">
                <a:tc>
                  <a:txBody>
                    <a:bodyPr/>
                    <a:lstStyle/>
                    <a:p>
                      <a:r>
                        <a:rPr sz="1400" b="1">
                          <a:solidFill>
                            <a:srgbClr val="FFFFFF"/>
                          </a:solidFill>
                        </a:rPr>
                        <a:t>Vaziyat</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Odatdagi holat</a:t>
                      </a:r>
                    </a:p>
                  </a:txBody>
                  <a:tcPr marL="73152" marR="73152" marT="36576" marB="36576">
                    <a:solidFill>
                      <a:srgbClr val="E8EEF6"/>
                    </a:solidFill>
                  </a:tcPr>
                </a:tc>
                <a:tc>
                  <a:txBody>
                    <a:bodyPr/>
                    <a:lstStyle/>
                    <a:p>
                      <a:r>
                        <a:rPr sz="1300" b="0">
                          <a:solidFill>
                            <a:srgbClr val="1F2937"/>
                          </a:solidFill>
                        </a:rPr>
                        <a:t>Bir bemorning salomatligini saqlash</a:t>
                      </a:r>
                    </a:p>
                  </a:txBody>
                  <a:tcPr marL="73152" marR="73152" marT="36576" marB="36576">
                    <a:solidFill>
                      <a:srgbClr val="E8EEF6"/>
                    </a:solidFill>
                  </a:tcPr>
                </a:tc>
              </a:tr>
              <a:tr h="411480">
                <a:tc>
                  <a:txBody>
                    <a:bodyPr/>
                    <a:lstStyle/>
                    <a:p>
                      <a:r>
                        <a:rPr sz="1300" b="0">
                          <a:solidFill>
                            <a:srgbClr val="1F2937"/>
                          </a:solidFill>
                        </a:rPr>
                        <a:t>OIV holatida</a:t>
                      </a:r>
                    </a:p>
                  </a:txBody>
                  <a:tcPr marL="73152" marR="73152" marT="36576" marB="36576">
                    <a:solidFill>
                      <a:srgbClr val="FFFFFF"/>
                    </a:solidFill>
                  </a:tcPr>
                </a:tc>
                <a:tc>
                  <a:txBody>
                    <a:bodyPr/>
                    <a:lstStyle/>
                    <a:p>
                      <a:r>
                        <a:rPr sz="1300" b="0">
                          <a:solidFill>
                            <a:srgbClr val="1F2937"/>
                          </a:solidFill>
                        </a:rPr>
                        <a:t>Atrofdagilarni ham infeksiyadan saqlash</a:t>
                      </a:r>
                    </a:p>
                  </a:txBody>
                  <a:tcPr marL="73152" marR="73152" marT="36576" marB="36576">
                    <a:solidFill>
                      <a:srgbClr val="FFFFFF"/>
                    </a:solidFill>
                  </a:tcPr>
                </a:tc>
              </a:tr>
              <a:tr h="411480">
                <a:tc>
                  <a:txBody>
                    <a:bodyPr/>
                    <a:lstStyle/>
                    <a:p>
                      <a:r>
                        <a:rPr sz="1300" b="0">
                          <a:solidFill>
                            <a:srgbClr val="1F2937"/>
                          </a:solidFill>
                        </a:rPr>
                        <a:t>Shifokor ichida</a:t>
                      </a:r>
                    </a:p>
                  </a:txBody>
                  <a:tcPr marL="73152" marR="73152" marT="36576" marB="36576">
                    <a:solidFill>
                      <a:srgbClr val="E8EEF6"/>
                    </a:solidFill>
                  </a:tcPr>
                </a:tc>
                <a:tc>
                  <a:txBody>
                    <a:bodyPr/>
                    <a:lstStyle/>
                    <a:p>
                      <a:r>
                        <a:rPr sz="1300" b="0">
                          <a:solidFill>
                            <a:srgbClr val="1F2937"/>
                          </a:solidFill>
                        </a:rPr>
                        <a:t>Kasbiy tafakkurda bo‘linish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“Yaxshilik” doirasi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Adolat tamoyili: huquqiy va axloqiy jihat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OIV (odamning immunitet tanqisligi virusi) bilan kasallanganlar xalqaro huquq va milliy qonunga ko‘ra teng huquqli.</a:t>
            </a:r>
          </a:p>
          <a:p>
            <a:pPr>
              <a:spcAft>
                <a:spcPts val="800"/>
              </a:spcAft>
            </a:pPr>
            <a:r>
              <a:rPr sz="1800">
                <a:solidFill>
                  <a:srgbClr val="1F2937"/>
                </a:solidFill>
                <a:latin typeface="Calibri"/>
              </a:rPr>
              <a:t>▸  OITS (orttirilgan immunitet tanqisligi sindromi) bemorlariga tenglikni amalda ta’minlash muammoli.</a:t>
            </a:r>
          </a:p>
          <a:p>
            <a:pPr>
              <a:spcAft>
                <a:spcPts val="800"/>
              </a:spcAft>
            </a:pPr>
            <a:r>
              <a:rPr sz="1800">
                <a:solidFill>
                  <a:srgbClr val="1F2937"/>
                </a:solidFill>
                <a:latin typeface="Calibri"/>
              </a:rPr>
              <a:t>▸  Tibbiyot jamoasida bunday bemorga tabaqalashtirilgan yondashuv mavjud.</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762658"/>
                <a:gridCol w="3525316"/>
              </a:tblGrid>
              <a:tr h="411480">
                <a:tc>
                  <a:txBody>
                    <a:bodyPr/>
                    <a:lstStyle/>
                    <a:p>
                      <a:r>
                        <a:rPr sz="1400" b="1">
                          <a:solidFill>
                            <a:srgbClr val="FFFFFF"/>
                          </a:solidFill>
                        </a:rPr>
                        <a:t>Jihat</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Huquqiy (rasmiy)</a:t>
                      </a:r>
                    </a:p>
                  </a:txBody>
                  <a:tcPr marL="73152" marR="73152" marT="36576" marB="36576">
                    <a:solidFill>
                      <a:srgbClr val="E8EEF6"/>
                    </a:solidFill>
                  </a:tcPr>
                </a:tc>
                <a:tc>
                  <a:txBody>
                    <a:bodyPr/>
                    <a:lstStyle/>
                    <a:p>
                      <a:r>
                        <a:rPr sz="1300" b="0">
                          <a:solidFill>
                            <a:srgbClr val="1F2937"/>
                          </a:solidFill>
                        </a:rPr>
                        <a:t>Boshqa fuqarolar bilan teng huquq</a:t>
                      </a:r>
                    </a:p>
                  </a:txBody>
                  <a:tcPr marL="73152" marR="73152" marT="36576" marB="36576">
                    <a:solidFill>
                      <a:srgbClr val="E8EEF6"/>
                    </a:solidFill>
                  </a:tcPr>
                </a:tc>
              </a:tr>
              <a:tr h="411480">
                <a:tc>
                  <a:txBody>
                    <a:bodyPr/>
                    <a:lstStyle/>
                    <a:p>
                      <a:r>
                        <a:rPr sz="1300" b="0">
                          <a:solidFill>
                            <a:srgbClr val="1F2937"/>
                          </a:solidFill>
                        </a:rPr>
                        <a:t>Axloqiy (substantiv)</a:t>
                      </a:r>
                    </a:p>
                  </a:txBody>
                  <a:tcPr marL="73152" marR="73152" marT="36576" marB="36576">
                    <a:solidFill>
                      <a:srgbClr val="FFFFFF"/>
                    </a:solidFill>
                  </a:tcPr>
                </a:tc>
                <a:tc>
                  <a:txBody>
                    <a:bodyPr/>
                    <a:lstStyle/>
                    <a:p>
                      <a:r>
                        <a:rPr sz="1300" b="0">
                          <a:solidFill>
                            <a:srgbClr val="1F2937"/>
                          </a:solidFill>
                        </a:rPr>
                        <a:t>Tenglikni so‘zsiz amalga oshirish muammoli</a:t>
                      </a:r>
                    </a:p>
                  </a:txBody>
                  <a:tcPr marL="73152" marR="73152" marT="36576" marB="36576">
                    <a:solidFill>
                      <a:srgbClr val="FFFFFF"/>
                    </a:solidFill>
                  </a:tcPr>
                </a:tc>
              </a:tr>
              <a:tr h="411480">
                <a:tc>
                  <a:txBody>
                    <a:bodyPr/>
                    <a:lstStyle/>
                    <a:p>
                      <a:r>
                        <a:rPr sz="1300" b="0">
                          <a:solidFill>
                            <a:srgbClr val="1F2937"/>
                          </a:solidFill>
                        </a:rPr>
                        <a:t>Tibbiyot jamoasida</a:t>
                      </a:r>
                    </a:p>
                  </a:txBody>
                  <a:tcPr marL="73152" marR="73152" marT="36576" marB="36576">
                    <a:solidFill>
                      <a:srgbClr val="E8EEF6"/>
                    </a:solidFill>
                  </a:tcPr>
                </a:tc>
                <a:tc>
                  <a:txBody>
                    <a:bodyPr/>
                    <a:lstStyle/>
                    <a:p>
                      <a:r>
                        <a:rPr sz="1300" b="0">
                          <a:solidFill>
                            <a:srgbClr val="1F2937"/>
                          </a:solidFill>
                        </a:rPr>
                        <a:t>Bemorga tabaqalashtirilgan yondashuv</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Tenglik: qog‘ozda va amalda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Xavf guruhlari va tabaqalashtirilgan munosabat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Manbada OIV xavfi yuqori guruhlar sanaladi: gomoseksual va biseksual shaxslar, tomir ichiga giyohvand yuboruvchilar, fohishalik bilan shug‘ullanuvchilar, donorlar.</a:t>
            </a:r>
          </a:p>
          <a:p>
            <a:pPr>
              <a:spcAft>
                <a:spcPts val="1200"/>
              </a:spcAft>
            </a:pPr>
            <a:r>
              <a:rPr sz="2200">
                <a:solidFill>
                  <a:srgbClr val="1F2937"/>
                </a:solidFill>
                <a:latin typeface="Calibri"/>
              </a:rPr>
              <a:t>▸  Kasallanganlar orasida noto‘g‘ri turmush tarzi ustun bo‘lgani uchun tibbiyot xodimlari ko‘pincha OITSni “noto‘g‘ri xatti-harakat uchun jazo” deydi.</a:t>
            </a:r>
          </a:p>
          <a:p>
            <a:pPr>
              <a:spcAft>
                <a:spcPts val="1200"/>
              </a:spcAft>
            </a:pPr>
            <a:r>
              <a:rPr sz="2200">
                <a:solidFill>
                  <a:srgbClr val="1F2937"/>
                </a:solidFill>
                <a:latin typeface="Calibri"/>
              </a:rPr>
              <a:t>▸  Bunday qarashdagi mutaxassislar turli xavf guruhidagi bemorlarni tabaqalashtirib davolay boshlaydi, bu ko‘pincha nizo keltirib chiqaradi.</a:t>
            </a:r>
          </a:p>
          <a:p>
            <a:pPr>
              <a:spcAft>
                <a:spcPts val="1200"/>
              </a:spcAft>
            </a:pPr>
            <a:r>
              <a:rPr sz="2200">
                <a:solidFill>
                  <a:srgbClr val="1F2937"/>
                </a:solidFill>
                <a:latin typeface="Calibri"/>
              </a:rPr>
              <a:t>▸  Diqqat: xato qilish xavfi. Xavf guruhi ≠ “jazoga loyiq bemor”. Bunday farqlash adolat tamoyiliga zid.</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202, 203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yordamni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shifokor OIV bilan kasallangan bemorga yordam berishdan shaxsiy xavfsizligi sababli bosh tortmoqchi.</a:t>
            </a:r>
          </a:p>
          <a:p>
            <a:pPr>
              <a:spcAft>
                <a:spcPts val="1200"/>
              </a:spcAft>
            </a:pPr>
            <a:r>
              <a:rPr sz="2200">
                <a:solidFill>
                  <a:srgbClr val="1F2937"/>
                </a:solidFill>
                <a:latin typeface="Calibri"/>
              </a:rPr>
              <a:t>▸  Manbaga ko‘ra, yordam bermaslik ham zarar shakli. Ko‘p mamlakatlarda shifokorlar shaxsiy xavfsizlik sababli ommaviy rad etgan.</a:t>
            </a:r>
          </a:p>
          <a:p>
            <a:pPr>
              <a:spcAft>
                <a:spcPts val="1200"/>
              </a:spcAft>
            </a:pPr>
            <a:r>
              <a:rPr sz="2200">
                <a:solidFill>
                  <a:srgbClr val="1F2937"/>
                </a:solidFill>
                <a:latin typeface="Calibri"/>
              </a:rPr>
              <a:t>▸  “Yaxshilik qil” tamoyilida shifokor faoliyati boshqalar hayoti va sog‘lig‘ini saqlashga ham qaratilishi kerak. Bu ichki ziddiyat tug‘diradi.</a:t>
            </a:r>
          </a:p>
          <a:p>
            <a:pPr>
              <a:spcAft>
                <a:spcPts val="1200"/>
              </a:spcAft>
            </a:pPr>
            <a:r>
              <a:rPr sz="2200">
                <a:solidFill>
                  <a:srgbClr val="1F2937"/>
                </a:solidFill>
                <a:latin typeface="Calibri"/>
              </a:rPr>
              <a:t>▸  Savol: shaxsiy xavfsizlik sababi “Zarar yetkazma!” va adolat tamoyillari bilan qanday uyg‘unlashadi? Rad etish qachon asosli?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201, 202, 201-203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1: Nega ko‘p mamlakatlarda shifokorlar OIV bilan yashovchiga yordamdan bosh tortadi va bu qaysi tamoyilga zid? Javob: shaxsiy xavfsizlik sababli; “Zarar yetkazma” tamoyiliga zid.</a:t>
            </a:r>
          </a:p>
          <a:p>
            <a:pPr>
              <a:spcAft>
                <a:spcPts val="1200"/>
              </a:spcAft>
            </a:pPr>
            <a:r>
              <a:rPr sz="2000">
                <a:solidFill>
                  <a:srgbClr val="1F2937"/>
                </a:solidFill>
                <a:latin typeface="Calibri"/>
              </a:rPr>
              <a:t>▸  Savol 2: “Yaxshilik qil” tamoyili faqat OIV bilan kasallangan bemorga qaratilganmi? Javob: yo‘q, bemor atrofidagi odamlarni yuqtirishdan saqlashni ham qamraydi.</a:t>
            </a:r>
          </a:p>
          <a:p>
            <a:pPr>
              <a:spcAft>
                <a:spcPts val="1200"/>
              </a:spcAft>
            </a:pPr>
            <a:r>
              <a:rPr sz="2000">
                <a:solidFill>
                  <a:srgbClr val="1F2937"/>
                </a:solidFill>
                <a:latin typeface="Calibri"/>
              </a:rPr>
              <a:t>▸  Savol 3: Adolat tamoyili nimani talab qiladi? Javob: huquqan OIV bemorlari boshqalar bilan teng huquqli, amalda esa tibbiyot jamoasida tabaqalashtirilgan munosabat uchraydi.</a:t>
            </a:r>
          </a:p>
          <a:p>
            <a:pPr>
              <a:spcAft>
                <a:spcPts val="1200"/>
              </a:spcAft>
            </a:pPr>
            <a:r>
              <a:rPr sz="2000">
                <a:solidFill>
                  <a:srgbClr val="1F2937"/>
                </a:solidFill>
                <a:latin typeface="Calibri"/>
              </a:rPr>
              <a:t>▸  Diqqat: OIV ≠ OITS. OIV — RNKli retrovirus; OITS — orttirilgan immun tanqisligi sindromi, OIV infeksiyasi bosqichlaridan biri.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201, 202, 202-203, 203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Axloqiy masalalar xaritasi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Jamoat salomatligi: profilaktika butun davlat miqyosida, OAV va ta’lim orqali tizimli olib boriladi.</a:t>
            </a:r>
          </a:p>
          <a:p>
            <a:pPr>
              <a:spcAft>
                <a:spcPts val="800"/>
              </a:spcAft>
            </a:pPr>
            <a:r>
              <a:rPr sz="1800">
                <a:solidFill>
                  <a:srgbClr val="1F2937"/>
                </a:solidFill>
                <a:latin typeface="Calibri"/>
              </a:rPr>
              <a:t>▸  Shifokor — murabbiy va sirdosh; u bemorning qaror qabul qilish huquqini hurmat qiladi.</a:t>
            </a:r>
          </a:p>
          <a:p>
            <a:pPr>
              <a:spcAft>
                <a:spcPts val="800"/>
              </a:spcAft>
            </a:pPr>
            <a:r>
              <a:rPr sz="1800">
                <a:solidFill>
                  <a:srgbClr val="1F2937"/>
                </a:solidFill>
                <a:latin typeface="Calibri"/>
              </a:rPr>
              <a:t>▸  Sherikka yuqish xavfi haqiqiy bo‘lib, bemor aytmasa, maxfiylikni buzish mumkin; bu o‘ta chora.</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Masala</a:t>
                      </a:r>
                    </a:p>
                  </a:txBody>
                  <a:tcPr marL="73152" marR="73152" marT="36576" marB="36576">
                    <a:solidFill>
                      <a:srgbClr val="0B1F3A"/>
                    </a:solidFill>
                  </a:tcPr>
                </a:tc>
                <a:tc>
                  <a:txBody>
                    <a:bodyPr/>
                    <a:lstStyle/>
                    <a:p>
                      <a:r>
                        <a:rPr sz="1400" b="1">
                          <a:solidFill>
                            <a:srgbClr val="FFFFFF"/>
                          </a:solidFill>
                        </a:rPr>
                        <a:t>Mohiyati</a:t>
                      </a:r>
                    </a:p>
                  </a:txBody>
                  <a:tcPr marL="73152" marR="73152" marT="36576" marB="36576">
                    <a:solidFill>
                      <a:srgbClr val="0B1F3A"/>
                    </a:solidFill>
                  </a:tcPr>
                </a:tc>
              </a:tr>
              <a:tr h="411480">
                <a:tc>
                  <a:txBody>
                    <a:bodyPr/>
                    <a:lstStyle/>
                    <a:p>
                      <a:r>
                        <a:rPr sz="1300" b="0">
                          <a:solidFill>
                            <a:srgbClr val="1F2937"/>
                          </a:solidFill>
                        </a:rPr>
                        <a:t>Xabardor rozilik</a:t>
                      </a:r>
                    </a:p>
                  </a:txBody>
                  <a:tcPr marL="73152" marR="73152" marT="36576" marB="36576">
                    <a:solidFill>
                      <a:srgbClr val="E8EEF6"/>
                    </a:solidFill>
                  </a:tcPr>
                </a:tc>
                <a:tc>
                  <a:txBody>
                    <a:bodyPr/>
                    <a:lstStyle/>
                    <a:p>
                      <a:r>
                        <a:rPr sz="1300" b="0">
                          <a:solidFill>
                            <a:srgbClr val="1F2937"/>
                          </a:solidFill>
                        </a:rPr>
                        <a:t>Qon olish va davolash — bemor roziligi bilan</a:t>
                      </a:r>
                    </a:p>
                  </a:txBody>
                  <a:tcPr marL="73152" marR="73152" marT="36576" marB="36576">
                    <a:solidFill>
                      <a:srgbClr val="E8EEF6"/>
                    </a:solidFill>
                  </a:tcPr>
                </a:tc>
              </a:tr>
              <a:tr h="411480">
                <a:tc>
                  <a:txBody>
                    <a:bodyPr/>
                    <a:lstStyle/>
                    <a:p>
                      <a:r>
                        <a:rPr sz="1300" b="0">
                          <a:solidFill>
                            <a:srgbClr val="1F2937"/>
                          </a:solidFill>
                        </a:rPr>
                        <a:t>Siyosiylashuv</a:t>
                      </a:r>
                    </a:p>
                  </a:txBody>
                  <a:tcPr marL="73152" marR="73152" marT="36576" marB="36576">
                    <a:solidFill>
                      <a:srgbClr val="FFFFFF"/>
                    </a:solidFill>
                  </a:tcPr>
                </a:tc>
                <a:tc>
                  <a:txBody>
                    <a:bodyPr/>
                    <a:lstStyle/>
                    <a:p>
                      <a:r>
                        <a:rPr sz="1300" b="0">
                          <a:solidFill>
                            <a:srgbClr val="1F2937"/>
                          </a:solidFill>
                        </a:rPr>
                        <a:t>Ijtimoiy tengsizlik, qashshoqlik bilan bog‘liq</a:t>
                      </a:r>
                    </a:p>
                  </a:txBody>
                  <a:tcPr marL="73152" marR="73152" marT="36576" marB="36576">
                    <a:solidFill>
                      <a:srgbClr val="FFFFFF"/>
                    </a:solidFill>
                  </a:tcPr>
                </a:tc>
              </a:tr>
              <a:tr h="411480">
                <a:tc>
                  <a:txBody>
                    <a:bodyPr/>
                    <a:lstStyle/>
                    <a:p>
                      <a:r>
                        <a:rPr sz="1300" b="0">
                          <a:solidFill>
                            <a:srgbClr val="1F2937"/>
                          </a:solidFill>
                        </a:rPr>
                        <a:t>Stigmatizatsiya</a:t>
                      </a:r>
                    </a:p>
                  </a:txBody>
                  <a:tcPr marL="73152" marR="73152" marT="36576" marB="36576">
                    <a:solidFill>
                      <a:srgbClr val="E8EEF6"/>
                    </a:solidFill>
                  </a:tcPr>
                </a:tc>
                <a:tc>
                  <a:txBody>
                    <a:bodyPr/>
                    <a:lstStyle/>
                    <a:p>
                      <a:r>
                        <a:rPr sz="1300" b="0">
                          <a:solidFill>
                            <a:srgbClr val="1F2937"/>
                          </a:solidFill>
                        </a:rPr>
                        <a:t>Ko‘pincha maxfiylik buzilishidan kelib chiqadi</a:t>
                      </a:r>
                    </a:p>
                  </a:txBody>
                  <a:tcPr marL="73152" marR="73152" marT="36576" marB="36576">
                    <a:solidFill>
                      <a:srgbClr val="E8EEF6"/>
                    </a:solidFill>
                  </a:tcPr>
                </a:tc>
              </a:tr>
              <a:tr h="411480">
                <a:tc>
                  <a:txBody>
                    <a:bodyPr/>
                    <a:lstStyle/>
                    <a:p>
                      <a:r>
                        <a:rPr sz="1300" b="0">
                          <a:solidFill>
                            <a:srgbClr val="1F2937"/>
                          </a:solidFill>
                        </a:rPr>
                        <a:t>Maxfiylik</a:t>
                      </a:r>
                    </a:p>
                  </a:txBody>
                  <a:tcPr marL="73152" marR="73152" marT="36576" marB="36576">
                    <a:solidFill>
                      <a:srgbClr val="FFFFFF"/>
                    </a:solidFill>
                  </a:tcPr>
                </a:tc>
                <a:tc>
                  <a:txBody>
                    <a:bodyPr/>
                    <a:lstStyle/>
                    <a:p>
                      <a:r>
                        <a:rPr sz="1300" b="0">
                          <a:solidFill>
                            <a:srgbClr val="1F2937"/>
                          </a:solidFill>
                        </a:rPr>
                        <a:t>Hamma bemorlarga xos, istisno — xavf ostidagi sherik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axloqiy masalalar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204, 204-205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Xabardor rozilik va inson huquqlari yondashuvi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olish va davolash faqat ixtiyoriy, xabardor rozilik bilan amalga oshiriladi.</a:t>
            </a:r>
          </a:p>
          <a:p>
            <a:pPr>
              <a:spcAft>
                <a:spcPts val="800"/>
              </a:spcAft>
            </a:pPr>
            <a:r>
              <a:rPr sz="1800">
                <a:solidFill>
                  <a:srgbClr val="1F2937"/>
                </a:solidFill>
                <a:latin typeface="Calibri"/>
              </a:rPr>
              <a:t>▸  Bu tamoyil inson huquqlari va biotibbiyot bo‘yicha Yevropa Kengashi hujjatida ifodalangan. (?)</a:t>
            </a:r>
          </a:p>
          <a:p>
            <a:pPr>
              <a:spcAft>
                <a:spcPts val="800"/>
              </a:spcAft>
            </a:pPr>
            <a:r>
              <a:rPr sz="1800">
                <a:solidFill>
                  <a:srgbClr val="1F2937"/>
                </a:solidFill>
                <a:latin typeface="Calibri"/>
              </a:rPr>
              <a:t>▸  OIV bilan yashovchilar — strategiya ishlab chiqishda ishtirok etadigan to‘laqonli fuqarolar.</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Bemorga ma’lumot beriladi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Ixtiyoriy rozilik olinadi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Tekshiruv uchun qon olinadi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 ham rozilik bilan</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203-204, 204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Jamoat salomatligi va kasallikning siyosiylashuvi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OIV profilaktikasi butun davlat miqyosini qamrab olishi kerak.</a:t>
            </a:r>
          </a:p>
          <a:p>
            <a:pPr>
              <a:spcAft>
                <a:spcPts val="1200"/>
              </a:spcAft>
            </a:pPr>
            <a:r>
              <a:rPr sz="2200">
                <a:solidFill>
                  <a:srgbClr val="1F2937"/>
                </a:solidFill>
                <a:latin typeface="Calibri"/>
              </a:rPr>
              <a:t>▸  Ommaviy axborot vositalari, ta’lim muassasalari, ish joyi va reklama orqali tizimli va har tomonlama targ‘ibot olib borish zarur.</a:t>
            </a:r>
          </a:p>
          <a:p>
            <a:pPr>
              <a:spcAft>
                <a:spcPts val="1200"/>
              </a:spcAft>
            </a:pPr>
            <a:r>
              <a:rPr sz="2200">
                <a:solidFill>
                  <a:srgbClr val="1F2937"/>
                </a:solidFill>
                <a:latin typeface="Calibri"/>
              </a:rPr>
              <a:t>▸  OIV/OITS muammosi ijtimoiy tartib masalalari, masalan, ijtimoiy tengsizlik bilan chambarchas bog‘liq.</a:t>
            </a:r>
          </a:p>
          <a:p>
            <a:pPr>
              <a:spcAft>
                <a:spcPts val="1200"/>
              </a:spcAft>
            </a:pPr>
            <a:r>
              <a:rPr sz="2200">
                <a:solidFill>
                  <a:srgbClr val="1F2937"/>
                </a:solidFill>
                <a:latin typeface="Calibri"/>
              </a:rPr>
              <a:t>▸  Sharqiy Afrikada (Keniya) kasallik jamiyatning barcha qatlamlari va oilalariga kirib borgan. Sabablari: qashshoqlik, ayollar huquqining yo‘qligi.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Stigmatizatsiya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OITS bilan kasallangan odam boshqalar nazarida “moxov” kabi qaraladi. Bu stigmatizatsiya, ya’ni bemorga ijtimoiy “tamg‘a” bosish.</a:t>
            </a:r>
          </a:p>
          <a:p>
            <a:pPr>
              <a:spcAft>
                <a:spcPts val="1200"/>
              </a:spcAft>
            </a:pPr>
            <a:r>
              <a:rPr sz="2200">
                <a:solidFill>
                  <a:srgbClr val="1F2937"/>
                </a:solidFill>
                <a:latin typeface="Calibri"/>
              </a:rPr>
              <a:t>▸  Stigmatizatsiya ko‘pincha sog‘liqni saqlash xodimlari tomonidan maxfiylik qoidalarining buzilishi natijasida yuzaga keladi.</a:t>
            </a:r>
          </a:p>
          <a:p>
            <a:pPr>
              <a:spcAft>
                <a:spcPts val="1200"/>
              </a:spcAft>
            </a:pPr>
            <a:r>
              <a:rPr sz="2200">
                <a:solidFill>
                  <a:srgbClr val="1F2937"/>
                </a:solidFill>
                <a:latin typeface="Calibri"/>
              </a:rPr>
              <a:t>▸  Diqqat: xato qilish xavfi — stigmani faqat jamiyat keltirib chiqaradi deb o‘ylash. Manbada uning sabablaridan biri xodimlar tomonidan maxfiylikning buzilishi deb ko‘rsatilgan.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va bemor: murabbiy va sirdosh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Ko‘plab shifokorlar jamiyatda keng tarqalgan asossiz stereotiplar ta’siri ostida bo‘lishi mumkin.</a:t>
            </a:r>
          </a:p>
          <a:p>
            <a:pPr>
              <a:spcAft>
                <a:spcPts val="1200"/>
              </a:spcAft>
            </a:pPr>
            <a:r>
              <a:rPr sz="2200">
                <a:solidFill>
                  <a:srgbClr val="1F2937"/>
                </a:solidFill>
                <a:latin typeface="Calibri"/>
              </a:rPr>
              <a:t>▸  OITSning yangi holatlariga duch kelgan xodimlar bemorlarga nisbatan maxfiylik tuyg‘usini rivojlantirishi va xavf guruhlarining ishonchi uchun kurashishi kerak.</a:t>
            </a:r>
          </a:p>
          <a:p>
            <a:pPr>
              <a:spcAft>
                <a:spcPts val="1200"/>
              </a:spcAft>
            </a:pPr>
            <a:r>
              <a:rPr sz="2200">
                <a:solidFill>
                  <a:srgbClr val="1F2937"/>
                </a:solidFill>
                <a:latin typeface="Calibri"/>
              </a:rPr>
              <a:t>▸  Shifokor bemori xavfli kasallikka qarshi kurashda bo‘lajak ittifoqchisi ekanini bilishi va bemorning qaror qabul qilish huquqini hurmat qilishi lozim.</a:t>
            </a:r>
          </a:p>
          <a:p>
            <a:pPr>
              <a:spcAft>
                <a:spcPts val="1200"/>
              </a:spcAft>
            </a:pPr>
            <a:r>
              <a:rPr sz="2200">
                <a:solidFill>
                  <a:srgbClr val="1F2937"/>
                </a:solidFill>
                <a:latin typeface="Calibri"/>
              </a:rPr>
              <a:t>▸  Eslab qoling: bu vaziyatda shifokor murabbiy va sirdosh rolini bajaradi va bemorga kasallik bilan kurashishda yordam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Maxfiylik va uning istisnosi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OITS bemori ham boshqa bemorlar kabi sir saqlash huquqiga ega; bunda uning jinsiy sherigi xavf ostida bo‘lishi mumkin.</a:t>
            </a:r>
          </a:p>
          <a:p>
            <a:pPr>
              <a:spcAft>
                <a:spcPts val="800"/>
              </a:spcAft>
            </a:pPr>
            <a:r>
              <a:rPr sz="1800">
                <a:solidFill>
                  <a:srgbClr val="1F2937"/>
                </a:solidFill>
                <a:latin typeface="Calibri"/>
              </a:rPr>
              <a:t>▸  Yuqish xavfi haqiqiy bo‘lsa va bemor sherigiga aytishdan bosh tortsa, shifokor sirni buzishi mumkin. (?)</a:t>
            </a:r>
          </a:p>
          <a:p>
            <a:pPr>
              <a:spcAft>
                <a:spcPts val="800"/>
              </a:spcAft>
            </a:pPr>
            <a:r>
              <a:rPr sz="1800">
                <a:solidFill>
                  <a:srgbClr val="1F2937"/>
                </a:solidFill>
                <a:latin typeface="Calibri"/>
              </a:rPr>
              <a:t>▸  Diqqat: sirni oshkor qilish istisno va o‘ta keskin chora, odatiy qoida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 saqlash — asosiy qoida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Sherikka yuqish xavfi aniq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Avval bemor o‘zi xabar bersin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xabar berishni rad etadi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sirni buzishi mumkin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Maxfiylik va istisno</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204, 204-205, 205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Shaxs huquqlari va jamiyat xavfsizligi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OIV/OITS epidemiyasi insonning shaxsiy huquqlari bilan jamiyat xavfsizligi manfaatlari nisbati muammosini dolzarb qiladi.</a:t>
            </a:r>
          </a:p>
          <a:p>
            <a:pPr>
              <a:spcAft>
                <a:spcPts val="1200"/>
              </a:spcAft>
            </a:pPr>
            <a:r>
              <a:rPr sz="2200">
                <a:solidFill>
                  <a:srgbClr val="1F2937"/>
                </a:solidFill>
                <a:latin typeface="Calibri"/>
              </a:rPr>
              <a:t>▸  O‘z sog‘lig‘iga mas’uliyatsizlik va xavfli vaziyatlarda xulq-atvor me’yorlarini ataylab buzish boshqalarning xavfsizlik va sog‘liq huquqini buzadi.</a:t>
            </a:r>
          </a:p>
          <a:p>
            <a:pPr>
              <a:spcAft>
                <a:spcPts val="1200"/>
              </a:spcAft>
            </a:pPr>
            <a:r>
              <a:rPr sz="2200">
                <a:solidFill>
                  <a:srgbClr val="1F2937"/>
                </a:solidFill>
                <a:latin typeface="Calibri"/>
              </a:rPr>
              <a:t>▸  Inson huquqlari va erkinliklarini himoya qiluvchi barcha davlat tuzilmalari OIV/OITS masalalariga alohida e’tibor qaratishi zarur.</a:t>
            </a:r>
          </a:p>
          <a:p>
            <a:pPr>
              <a:spcAft>
                <a:spcPts val="1200"/>
              </a:spcAft>
            </a:pPr>
            <a:r>
              <a:rPr sz="2200">
                <a:solidFill>
                  <a:srgbClr val="1F2937"/>
                </a:solidFill>
                <a:latin typeface="Calibri"/>
              </a:rPr>
              <a:t>▸  Diqqat: shaxsiy huquq ≠ jamiyat xavfsizligi manfaati; ularning nisbati alohida muammo sifatida qaraladi.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sherikni xabardor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OIV bilan yashovchi bemorning jinsiy sherigida yuqish xavfi haqiqiy, ammo bemor sherigiga xabar berishdan bosh tortadi.</a:t>
            </a:r>
          </a:p>
          <a:p>
            <a:pPr>
              <a:spcAft>
                <a:spcPts val="1200"/>
              </a:spcAft>
            </a:pPr>
            <a:r>
              <a:rPr sz="2200">
                <a:solidFill>
                  <a:srgbClr val="1F2937"/>
                </a:solidFill>
                <a:latin typeface="Calibri"/>
              </a:rPr>
              <a:t>▸  Shifokor sherikni zarardan himoya qilishga intiladi, lekin axborotni oshkor qilish juda katta o‘lchov hisoblanadi.</a:t>
            </a:r>
          </a:p>
          <a:p>
            <a:pPr>
              <a:spcAft>
                <a:spcPts val="1200"/>
              </a:spcAft>
            </a:pPr>
            <a:r>
              <a:rPr sz="2200">
                <a:solidFill>
                  <a:srgbClr val="1F2937"/>
                </a:solidFill>
                <a:latin typeface="Calibri"/>
              </a:rPr>
              <a:t>▸  “Terapevtik hamkorlik” — shifokor bilan hamkorlikda bemorning o‘zi sherigini xabardor qilishi.</a:t>
            </a:r>
          </a:p>
          <a:p>
            <a:pPr>
              <a:spcAft>
                <a:spcPts val="1200"/>
              </a:spcAft>
            </a:pPr>
            <a:r>
              <a:rPr sz="2200">
                <a:solidFill>
                  <a:srgbClr val="1F2937"/>
                </a:solidFill>
                <a:latin typeface="Calibri"/>
              </a:rPr>
              <a:t>▸  Savol: oshkor qilishdan oldin shifokor nimaga intilishi kerak? Oshkor qilishning qanday salbiy oqibati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204-205, 205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OIV (odamning immunitet tanqisligi virusi) tekshiruvi uchun qon qanday olinadi? Javob: faqat ixtiyoriy, xabardor rozilik bilan. Davolash ham bemor roziligi bilan olib boriladi.</a:t>
            </a:r>
          </a:p>
          <a:p>
            <a:pPr>
              <a:spcAft>
                <a:spcPts val="1200"/>
              </a:spcAft>
            </a:pPr>
            <a:r>
              <a:rPr sz="2000">
                <a:solidFill>
                  <a:srgbClr val="1F2937"/>
                </a:solidFill>
                <a:latin typeface="Calibri"/>
              </a:rPr>
              <a:t>▸  Savol: stigmatizatsiya nega paydo bo‘ladi? Javob: OITS (orttirilgan immunitet tanqisligi sindromi) kasaliga "mohov" kabi qaraladi. Ko‘pincha sababi tibbiyot xodimlari maxfiylikni buzishidir.</a:t>
            </a:r>
          </a:p>
          <a:p>
            <a:pPr>
              <a:spcAft>
                <a:spcPts val="1200"/>
              </a:spcAft>
            </a:pPr>
            <a:r>
              <a:rPr sz="2000">
                <a:solidFill>
                  <a:srgbClr val="1F2937"/>
                </a:solidFill>
                <a:latin typeface="Calibri"/>
              </a:rPr>
              <a:t>▸  Savol: maxfiylik qachon buzilishi mumkin? Javob: infeksiya yuqish xavfi real bo‘lsa va bemor sherigiga xabar berishdan bosh tortsa, shifokor sherikni ogohlantiradi.</a:t>
            </a:r>
          </a:p>
          <a:p>
            <a:pPr>
              <a:spcAft>
                <a:spcPts val="1200"/>
              </a:spcAft>
            </a:pPr>
            <a:r>
              <a:rPr sz="2000">
                <a:solidFill>
                  <a:srgbClr val="1F2937"/>
                </a:solidFill>
                <a:latin typeface="Calibri"/>
              </a:rPr>
              <a:t>▸  Diqqat: maxfiylikni ochish juda og‘ir chora. Avval bemorning o‘zi sherigini xabardor qilishiga erishish, ya’ni terapevtik hamkorlik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203-204, 204, 204-205, 205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 qonunchiligi: asosiy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Bazaviy hujjat — OIV (odamning immunitet tanqisligi virusi) infeksiyasi tarqalishiga qarshi kurashish to‘g‘risidagi qonun.</a:t>
            </a:r>
          </a:p>
          <a:p>
            <a:pPr>
              <a:spcAft>
                <a:spcPts val="800"/>
              </a:spcAft>
            </a:pPr>
            <a:r>
              <a:rPr sz="1800">
                <a:solidFill>
                  <a:srgbClr val="1F2937"/>
                </a:solidFill>
                <a:latin typeface="Calibri"/>
              </a:rPr>
              <a:t>▸  Qonunga OIV yuqtirganlar va boshqa zaif guruhlar huquqlarini himoya qilishning asosiy xalqaro standartlari joriy etilgan.</a:t>
            </a:r>
          </a:p>
          <a:p>
            <a:pPr>
              <a:spcAft>
                <a:spcPts val="800"/>
              </a:spcAft>
            </a:pPr>
            <a:r>
              <a:rPr sz="1800">
                <a:solidFill>
                  <a:srgbClr val="1F2937"/>
                </a:solidFill>
                <a:latin typeface="Calibri"/>
              </a:rPr>
              <a:t>▸  Kurash chora-tadbirlari Mingyillik va Dublin deklaratsiyalaridagi majburiyatlarga amal qilgan holda olib boriladi.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535330"/>
                <a:gridCol w="2752644"/>
              </a:tblGrid>
              <a:tr h="411480">
                <a:tc>
                  <a:txBody>
                    <a:bodyPr/>
                    <a:lstStyle/>
                    <a:p>
                      <a:r>
                        <a:rPr sz="1400" b="1">
                          <a:solidFill>
                            <a:srgbClr val="FFFFFF"/>
                          </a:solidFill>
                        </a:rPr>
                        <a:t>Hujjat</a:t>
                      </a:r>
                    </a:p>
                  </a:txBody>
                  <a:tcPr marL="73152" marR="73152" marT="36576" marB="36576">
                    <a:solidFill>
                      <a:srgbClr val="0B1F3A"/>
                    </a:solidFill>
                  </a:tcPr>
                </a:tc>
                <a:tc>
                  <a:txBody>
                    <a:bodyPr/>
                    <a:lstStyle/>
                    <a:p>
                      <a:r>
                        <a:rPr sz="1400" b="1">
                          <a:solidFill>
                            <a:srgbClr val="FFFFFF"/>
                          </a:solidFill>
                        </a:rPr>
                        <a:t>Qayd</a:t>
                      </a:r>
                    </a:p>
                  </a:txBody>
                  <a:tcPr marL="73152" marR="73152" marT="36576" marB="36576">
                    <a:solidFill>
                      <a:srgbClr val="0B1F3A"/>
                    </a:solidFill>
                  </a:tcPr>
                </a:tc>
              </a:tr>
              <a:tr h="411480">
                <a:tc>
                  <a:txBody>
                    <a:bodyPr/>
                    <a:lstStyle/>
                    <a:p>
                      <a:r>
                        <a:rPr sz="1300" b="0">
                          <a:solidFill>
                            <a:srgbClr val="1F2937"/>
                          </a:solidFill>
                        </a:rPr>
                        <a:t>BMT Mingyillik deklaratsiyasi</a:t>
                      </a:r>
                    </a:p>
                  </a:txBody>
                  <a:tcPr marL="73152" marR="73152" marT="36576" marB="36576">
                    <a:solidFill>
                      <a:srgbClr val="E8EEF6"/>
                    </a:solidFill>
                  </a:tcPr>
                </a:tc>
                <a:tc>
                  <a:txBody>
                    <a:bodyPr/>
                    <a:lstStyle/>
                    <a:p>
                      <a:r>
                        <a:rPr sz="1300" b="0">
                          <a:solidFill>
                            <a:srgbClr val="1F2937"/>
                          </a:solidFill>
                        </a:rPr>
                        <a:t>2000 yil 8 sentyabr, 55/2-rezolyutsiya</a:t>
                      </a:r>
                    </a:p>
                  </a:txBody>
                  <a:tcPr marL="73152" marR="73152" marT="36576" marB="36576">
                    <a:solidFill>
                      <a:srgbClr val="E8EEF6"/>
                    </a:solidFill>
                  </a:tcPr>
                </a:tc>
              </a:tr>
              <a:tr h="411480">
                <a:tc>
                  <a:txBody>
                    <a:bodyPr/>
                    <a:lstStyle/>
                    <a:p>
                      <a:r>
                        <a:rPr sz="1300" b="0">
                          <a:solidFill>
                            <a:srgbClr val="1F2937"/>
                          </a:solidFill>
                        </a:rPr>
                        <a:t>Dublin deklaratsiyasi</a:t>
                      </a:r>
                    </a:p>
                  </a:txBody>
                  <a:tcPr marL="73152" marR="73152" marT="36576" marB="36576">
                    <a:solidFill>
                      <a:srgbClr val="FFFFFF"/>
                    </a:solidFill>
                  </a:tcPr>
                </a:tc>
                <a:tc>
                  <a:txBody>
                    <a:bodyPr/>
                    <a:lstStyle/>
                    <a:p>
                      <a:r>
                        <a:rPr sz="1300" b="0">
                          <a:solidFill>
                            <a:srgbClr val="1F2937"/>
                          </a:solidFill>
                        </a:rPr>
                        <a:t>2004 yil, Yevropa va Markaziy Osiyo</a:t>
                      </a:r>
                    </a:p>
                  </a:txBody>
                  <a:tcPr marL="73152" marR="73152" marT="36576" marB="36576">
                    <a:solidFill>
                      <a:srgbClr val="FFFFFF"/>
                    </a:solidFill>
                  </a:tcPr>
                </a:tc>
              </a:tr>
              <a:tr h="411480">
                <a:tc>
                  <a:txBody>
                    <a:bodyPr/>
                    <a:lstStyle/>
                    <a:p>
                      <a:r>
                        <a:rPr sz="1300" b="0">
                          <a:solidFill>
                            <a:srgbClr val="1F2937"/>
                          </a:solidFill>
                        </a:rPr>
                        <a:t>OIV infeksiyasi to‘g‘risidagi qonun</a:t>
                      </a:r>
                    </a:p>
                  </a:txBody>
                  <a:tcPr marL="73152" marR="73152" marT="36576" marB="36576">
                    <a:solidFill>
                      <a:srgbClr val="E8EEF6"/>
                    </a:solidFill>
                  </a:tcPr>
                </a:tc>
                <a:tc>
                  <a:txBody>
                    <a:bodyPr/>
                    <a:lstStyle/>
                    <a:p>
                      <a:r>
                        <a:rPr sz="1300" b="0">
                          <a:solidFill>
                            <a:srgbClr val="1F2937"/>
                          </a:solidFill>
                        </a:rPr>
                        <a:t>2013 yil 23 sentyabr, bazaviy hujjat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hujjatlar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206, 205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OIVga tibbiy tekshiruv: uch tartib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Tekshiruv — shaxs sog‘lig‘ini o‘rganish va baholash. Bunda OIV bor yoki yo‘qligi aniqlanadi.</a:t>
            </a:r>
          </a:p>
          <a:p>
            <a:pPr>
              <a:spcAft>
                <a:spcPts val="800"/>
              </a:spcAft>
            </a:pPr>
            <a:r>
              <a:rPr sz="1800">
                <a:solidFill>
                  <a:srgbClr val="1F2937"/>
                </a:solidFill>
                <a:latin typeface="Calibri"/>
              </a:rPr>
              <a:t>▸  Tekshiruvdan oldin va keyin maslahatlashuv o‘tkaziladi; voyaga yetmaganlarda qonuniy vakil roziligi kerak.</a:t>
            </a:r>
          </a:p>
          <a:p>
            <a:pPr>
              <a:spcAft>
                <a:spcPts val="800"/>
              </a:spcAft>
            </a:pPr>
            <a:r>
              <a:rPr sz="1800">
                <a:solidFill>
                  <a:srgbClr val="1F2937"/>
                </a:solidFill>
                <a:latin typeface="Calibri"/>
              </a:rPr>
              <a:t>▸  Diqqat: majburiy ≠ g‘ayriixtiyoriy. Ikkinchisi roziliksiz, qaror yoki sud ajrimi bilan o‘tadi.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50647"/>
                <a:gridCol w="2376617"/>
                <a:gridCol w="1960709"/>
              </a:tblGrid>
              <a:tr h="411480">
                <a:tc>
                  <a:txBody>
                    <a:bodyPr/>
                    <a:lstStyle/>
                    <a:p>
                      <a:r>
                        <a:rPr sz="1300" b="1">
                          <a:solidFill>
                            <a:srgbClr val="FFFFFF"/>
                          </a:solidFill>
                        </a:rPr>
                        <a:t>Tartib</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c>
                  <a:txBody>
                    <a:bodyPr/>
                    <a:lstStyle/>
                    <a:p>
                      <a:r>
                        <a:rPr sz="1300" b="1">
                          <a:solidFill>
                            <a:srgbClr val="FFFFFF"/>
                          </a:solidFill>
                        </a:rPr>
                        <a:t>Misol / asos</a:t>
                      </a:r>
                    </a:p>
                  </a:txBody>
                  <a:tcPr marL="73152" marR="73152" marT="36576" marB="36576">
                    <a:solidFill>
                      <a:srgbClr val="0B1F3A"/>
                    </a:solidFill>
                  </a:tcPr>
                </a:tc>
              </a:tr>
              <a:tr h="411480">
                <a:tc>
                  <a:txBody>
                    <a:bodyPr/>
                    <a:lstStyle/>
                    <a:p>
                      <a:r>
                        <a:rPr sz="1200" b="0">
                          <a:solidFill>
                            <a:srgbClr val="1F2937"/>
                          </a:solidFill>
                        </a:rPr>
                        <a:t>Ixtiyoriy</a:t>
                      </a:r>
                    </a:p>
                  </a:txBody>
                  <a:tcPr marL="73152" marR="73152" marT="36576" marB="36576">
                    <a:solidFill>
                      <a:srgbClr val="E8EEF6"/>
                    </a:solidFill>
                  </a:tcPr>
                </a:tc>
                <a:tc>
                  <a:txBody>
                    <a:bodyPr/>
                    <a:lstStyle/>
                    <a:p>
                      <a:r>
                        <a:rPr sz="1200" b="0">
                          <a:solidFill>
                            <a:srgbClr val="1F2937"/>
                          </a:solidFill>
                        </a:rPr>
                        <a:t>Xohish bilan, maxfiy; anonim bo‘lishi mumkin</a:t>
                      </a:r>
                    </a:p>
                  </a:txBody>
                  <a:tcPr marL="73152" marR="73152" marT="36576" marB="36576">
                    <a:solidFill>
                      <a:srgbClr val="E8EEF6"/>
                    </a:solidFill>
                  </a:tcPr>
                </a:tc>
                <a:tc>
                  <a:txBody>
                    <a:bodyPr/>
                    <a:lstStyle/>
                    <a:p>
                      <a:r>
                        <a:rPr sz="1200" b="0">
                          <a:solidFill>
                            <a:srgbClr val="1F2937"/>
                          </a:solidFill>
                        </a:rPr>
                        <a:t>Shaxsning o‘z iltimosi</a:t>
                      </a:r>
                    </a:p>
                  </a:txBody>
                  <a:tcPr marL="73152" marR="73152" marT="36576" marB="36576">
                    <a:solidFill>
                      <a:srgbClr val="E8EEF6"/>
                    </a:solidFill>
                  </a:tcPr>
                </a:tc>
              </a:tr>
              <a:tr h="411480">
                <a:tc>
                  <a:txBody>
                    <a:bodyPr/>
                    <a:lstStyle/>
                    <a:p>
                      <a:r>
                        <a:rPr sz="1200" b="0">
                          <a:solidFill>
                            <a:srgbClr val="1F2937"/>
                          </a:solidFill>
                        </a:rPr>
                        <a:t>Majburiy</a:t>
                      </a:r>
                    </a:p>
                  </a:txBody>
                  <a:tcPr marL="73152" marR="73152" marT="36576" marB="36576">
                    <a:solidFill>
                      <a:srgbClr val="FFFFFF"/>
                    </a:solidFill>
                  </a:tcPr>
                </a:tc>
                <a:tc>
                  <a:txBody>
                    <a:bodyPr/>
                    <a:lstStyle/>
                    <a:p>
                      <a:r>
                        <a:rPr sz="1200" b="0">
                          <a:solidFill>
                            <a:srgbClr val="1F2937"/>
                          </a:solidFill>
                        </a:rPr>
                        <a:t>Qonunda sanalgan toifalar uchun</a:t>
                      </a:r>
                    </a:p>
                  </a:txBody>
                  <a:tcPr marL="73152" marR="73152" marT="36576" marB="36576">
                    <a:solidFill>
                      <a:srgbClr val="FFFFFF"/>
                    </a:solidFill>
                  </a:tcPr>
                </a:tc>
                <a:tc>
                  <a:txBody>
                    <a:bodyPr/>
                    <a:lstStyle/>
                    <a:p>
                      <a:r>
                        <a:rPr sz="1200" b="0">
                          <a:solidFill>
                            <a:srgbClr val="1F2937"/>
                          </a:solidFill>
                        </a:rPr>
                        <a:t>Donorlar, homilador ayollar va b.</a:t>
                      </a:r>
                    </a:p>
                  </a:txBody>
                  <a:tcPr marL="73152" marR="73152" marT="36576" marB="36576">
                    <a:solidFill>
                      <a:srgbClr val="FFFFFF"/>
                    </a:solidFill>
                  </a:tcPr>
                </a:tc>
              </a:tr>
              <a:tr h="411480">
                <a:tc>
                  <a:txBody>
                    <a:bodyPr/>
                    <a:lstStyle/>
                    <a:p>
                      <a:r>
                        <a:rPr sz="1200" b="0">
                          <a:solidFill>
                            <a:srgbClr val="1F2937"/>
                          </a:solidFill>
                        </a:rPr>
                        <a:t>G‘ayriixtiyoriy</a:t>
                      </a:r>
                    </a:p>
                  </a:txBody>
                  <a:tcPr marL="73152" marR="73152" marT="36576" marB="36576">
                    <a:solidFill>
                      <a:srgbClr val="E8EEF6"/>
                    </a:solidFill>
                  </a:tcPr>
                </a:tc>
                <a:tc>
                  <a:txBody>
                    <a:bodyPr/>
                    <a:lstStyle/>
                    <a:p>
                      <a:r>
                        <a:rPr sz="1200" b="0">
                          <a:solidFill>
                            <a:srgbClr val="1F2937"/>
                          </a:solidFill>
                        </a:rPr>
                        <a:t>Roziliksiz, rasmiy qaror asosida</a:t>
                      </a:r>
                    </a:p>
                  </a:txBody>
                  <a:tcPr marL="73152" marR="73152" marT="36576" marB="36576">
                    <a:solidFill>
                      <a:srgbClr val="E8EEF6"/>
                    </a:solidFill>
                  </a:tcPr>
                </a:tc>
                <a:tc>
                  <a:txBody>
                    <a:bodyPr/>
                    <a:lstStyle/>
                    <a:p>
                      <a:r>
                        <a:rPr sz="1200" b="0">
                          <a:solidFill>
                            <a:srgbClr val="1F2937"/>
                          </a:solidFill>
                        </a:rPr>
                        <a:t>Tergov qarori yoki sud ajrimi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tartibni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206, 207-208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Tekshiruv jarayoni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OIV (odamning immunitet tanqisligi virusi) tekshiruvida shaxs bilan dastlabki va keyingi maslahatlashuv o‘tkaziladi.</a:t>
            </a:r>
          </a:p>
          <a:p>
            <a:pPr>
              <a:spcAft>
                <a:spcPts val="800"/>
              </a:spcAft>
            </a:pPr>
            <a:r>
              <a:rPr sz="1800">
                <a:solidFill>
                  <a:srgbClr val="1F2937"/>
                </a:solidFill>
                <a:latin typeface="Calibri"/>
              </a:rPr>
              <a:t>▸  OIV aniqlangan shaxs boshqalarga yuqtirganlik uchun jinoiy javobgarlik haqida yozma ogohlantiriladi.</a:t>
            </a:r>
          </a:p>
          <a:p>
            <a:pPr>
              <a:spcAft>
                <a:spcPts val="800"/>
              </a:spcAft>
            </a:pPr>
            <a:r>
              <a:rPr sz="1800">
                <a:solidFill>
                  <a:srgbClr val="1F2937"/>
                </a:solidFill>
                <a:latin typeface="Calibri"/>
              </a:rPr>
              <a:t>▸  Iltimosga ko‘ra OIV yo‘qligi sertifikati — OITS (orttirilgan immun tanqislik sindromi) markazida, pullik.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Dastlabki maslahatlashuv</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Laboratoriya tekshiruvi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Natijani berish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Aniqlansa: yozma ogohlantirish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Sertifikat (iltimosga ko‘ra)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Tekshiruv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206, 206-207, 207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Majburiy tekshiruv o‘tkaziladigan toifalar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Majburiy tekshiruvdan qon va biologik suyuqliklar donorlari, ellik yoshgacha nikohlanuvchilar va homilador ayollar o‘tadi.</a:t>
            </a:r>
          </a:p>
          <a:p>
            <a:pPr>
              <a:spcAft>
                <a:spcPts val="1200"/>
              </a:spcAft>
            </a:pPr>
            <a:r>
              <a:rPr sz="2200">
                <a:solidFill>
                  <a:srgbClr val="1F2937"/>
                </a:solidFill>
                <a:latin typeface="Calibri"/>
              </a:rPr>
              <a:t>▸  Yana in’ektsiya yo‘li bilan giyohvand modda iste’mol qilishda gumon qilinganlar va OIV yuqtirgan onalardan tug‘ilgan bolalar tekshiriladi.</a:t>
            </a:r>
          </a:p>
          <a:p>
            <a:pPr>
              <a:spcAft>
                <a:spcPts val="1200"/>
              </a:spcAft>
            </a:pPr>
            <a:r>
              <a:rPr sz="2200">
                <a:solidFill>
                  <a:srgbClr val="1F2937"/>
                </a:solidFill>
                <a:latin typeface="Calibri"/>
              </a:rPr>
              <a:t>▸  Qon, organ va to‘qimalar bilan ishlovchi tibbiyot xodimlari hamda jinsiy sherigida OIV aniqlanganlar ham majburiy tekshiriladi. Ayrim kasblar uchun 15-modda qo‘llanadi.</a:t>
            </a:r>
          </a:p>
          <a:p>
            <a:pPr>
              <a:spcAft>
                <a:spcPts val="1200"/>
              </a:spcAft>
            </a:pPr>
            <a:r>
              <a:rPr sz="2200">
                <a:solidFill>
                  <a:srgbClr val="1F2937"/>
                </a:solidFill>
                <a:latin typeface="Calibri"/>
              </a:rPr>
              <a:t>▸  Diqqat: majburiy ≠ g‘ayriixtiyoriy. G‘ayriixtiyoriy tekshiruv shaxs yoki qonuniy vakil roziligisiz, faqat surishtiruvchi, tergovchi qarori yoki sud ajrimi bilan o‘tadi.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207, 207-208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Voyaga yetmaganlar va muomalaga layoqatsizlar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Voyaga yetmagan, muomalaga layoqatsiz yoki layoqati cheklangan shaxslar qonuniy vakillarining roziligi bilan tekshiriladi.</a:t>
            </a:r>
          </a:p>
          <a:p>
            <a:pPr>
              <a:spcAft>
                <a:spcPts val="1200"/>
              </a:spcAft>
            </a:pPr>
            <a:r>
              <a:rPr sz="2200">
                <a:solidFill>
                  <a:srgbClr val="1F2937"/>
                </a:solidFill>
                <a:latin typeface="Calibri"/>
              </a:rPr>
              <a:t>▸  Davlat laboratoriyasi natijasi bunday shaxsning o‘ziga emas, uning qonuniy vakillariga beriladi.</a:t>
            </a:r>
          </a:p>
          <a:p>
            <a:pPr>
              <a:spcAft>
                <a:spcPts val="1200"/>
              </a:spcAft>
            </a:pPr>
            <a:r>
              <a:rPr sz="2200">
                <a:solidFill>
                  <a:srgbClr val="1F2937"/>
                </a:solidFill>
                <a:latin typeface="Calibri"/>
              </a:rPr>
              <a:t>▸  OIV aniqlansa, tibbiy muassasa xodimlari qonuniy vakillarni va shaxs turgan muassasani xabardor qiladi. (?)</a:t>
            </a:r>
          </a:p>
          <a:p>
            <a:pPr>
              <a:spcAft>
                <a:spcPts val="1200"/>
              </a:spcAft>
            </a:pPr>
            <a:r>
              <a:rPr sz="2200">
                <a:solidFill>
                  <a:srgbClr val="1F2937"/>
                </a:solidFill>
                <a:latin typeface="Calibri"/>
              </a:rPr>
              <a:t>▸  G‘ayriixtiyoriy tekshiruv shaxsning yoki qonuniy vakilning roziligisiz, surishtiruvchi, tergovchi qarori yoki sud ajrimi asosida o‘tadi.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206, 207, 207-208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OIV bilan yashovchilarning qonuniy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Qonun OIV yuqtirgan va yuqish xavfi ostidagi shaxslarning huquqlarini mustahkamlab qo‘ygan.</a:t>
            </a:r>
          </a:p>
          <a:p>
            <a:pPr>
              <a:spcAft>
                <a:spcPts val="800"/>
              </a:spcAft>
            </a:pPr>
            <a:r>
              <a:rPr sz="1800">
                <a:solidFill>
                  <a:srgbClr val="1F2937"/>
                </a:solidFill>
                <a:latin typeface="Calibri"/>
              </a:rPr>
              <a:t>▸  Shaxs boshqalarga OIV yuqtirgani uchun javobgarlik haqida ham xabardor qilinadi.</a:t>
            </a:r>
          </a:p>
          <a:p>
            <a:pPr>
              <a:spcAft>
                <a:spcPts val="800"/>
              </a:spcAft>
            </a:pPr>
            <a:r>
              <a:rPr sz="1800">
                <a:solidFill>
                  <a:srgbClr val="1F2937"/>
                </a:solidFill>
                <a:latin typeface="Calibri"/>
              </a:rPr>
              <a:t>▸  OIV munosabati bilan bepul tibbiy yordam olish va davolanish huquqi ham berilgan.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20450"/>
                <a:gridCol w="3467524"/>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Tekshiruv va maslahat</a:t>
                      </a:r>
                    </a:p>
                  </a:txBody>
                  <a:tcPr marL="73152" marR="73152" marT="36576" marB="36576">
                    <a:solidFill>
                      <a:srgbClr val="E8EEF6"/>
                    </a:solidFill>
                  </a:tcPr>
                </a:tc>
                <a:tc>
                  <a:txBody>
                    <a:bodyPr/>
                    <a:lstStyle/>
                    <a:p>
                      <a:r>
                        <a:rPr sz="1300" b="0">
                          <a:solidFill>
                            <a:srgbClr val="1F2937"/>
                          </a:solidFill>
                        </a:rPr>
                        <a:t>OIVga tekshiruvdan o‘tish, maslahat olish</a:t>
                      </a:r>
                    </a:p>
                  </a:txBody>
                  <a:tcPr marL="73152" marR="73152" marT="36576" marB="36576">
                    <a:solidFill>
                      <a:srgbClr val="E8EEF6"/>
                    </a:solidFill>
                  </a:tcPr>
                </a:tc>
              </a:tr>
              <a:tr h="411480">
                <a:tc>
                  <a:txBody>
                    <a:bodyPr/>
                    <a:lstStyle/>
                    <a:p>
                      <a:r>
                        <a:rPr sz="1300" b="0">
                          <a:solidFill>
                            <a:srgbClr val="1F2937"/>
                          </a:solidFill>
                        </a:rPr>
                        <a:t>Hujjat</a:t>
                      </a:r>
                    </a:p>
                  </a:txBody>
                  <a:tcPr marL="73152" marR="73152" marT="36576" marB="36576">
                    <a:solidFill>
                      <a:srgbClr val="FFFFFF"/>
                    </a:solidFill>
                  </a:tcPr>
                </a:tc>
                <a:tc>
                  <a:txBody>
                    <a:bodyPr/>
                    <a:lstStyle/>
                    <a:p>
                      <a:r>
                        <a:rPr sz="1300" b="0">
                          <a:solidFill>
                            <a:srgbClr val="1F2937"/>
                          </a:solidFill>
                        </a:rPr>
                        <a:t>Natija haqida yozma javob (sertifikat)</a:t>
                      </a:r>
                    </a:p>
                  </a:txBody>
                  <a:tcPr marL="73152" marR="73152" marT="36576" marB="36576">
                    <a:solidFill>
                      <a:srgbClr val="FFFFFF"/>
                    </a:solidFill>
                  </a:tcPr>
                </a:tc>
              </a:tr>
              <a:tr h="411480">
                <a:tc>
                  <a:txBody>
                    <a:bodyPr/>
                    <a:lstStyle/>
                    <a:p>
                      <a:r>
                        <a:rPr sz="1300" b="0">
                          <a:solidFill>
                            <a:srgbClr val="1F2937"/>
                          </a:solidFill>
                        </a:rPr>
                        <a:t>Maxfiylik</a:t>
                      </a:r>
                    </a:p>
                  </a:txBody>
                  <a:tcPr marL="73152" marR="73152" marT="36576" marB="36576">
                    <a:solidFill>
                      <a:srgbClr val="E8EEF6"/>
                    </a:solidFill>
                  </a:tcPr>
                </a:tc>
                <a:tc>
                  <a:txBody>
                    <a:bodyPr/>
                    <a:lstStyle/>
                    <a:p>
                      <a:r>
                        <a:rPr sz="1300" b="0">
                          <a:solidFill>
                            <a:srgbClr val="1F2937"/>
                          </a:solidFill>
                        </a:rPr>
                        <a:t>Tekshiruv sir saqlanadi, anonim bo‘lishi mumkin</a:t>
                      </a:r>
                    </a:p>
                  </a:txBody>
                  <a:tcPr marL="73152" marR="73152" marT="36576" marB="36576">
                    <a:solidFill>
                      <a:srgbClr val="E8EEF6"/>
                    </a:solidFill>
                  </a:tcPr>
                </a:tc>
              </a:tr>
              <a:tr h="411480">
                <a:tc>
                  <a:txBody>
                    <a:bodyPr/>
                    <a:lstStyle/>
                    <a:p>
                      <a:r>
                        <a:rPr sz="1300" b="0">
                          <a:solidFill>
                            <a:srgbClr val="1F2937"/>
                          </a:solidFill>
                        </a:rPr>
                        <a:t>Yordam va axborot</a:t>
                      </a:r>
                    </a:p>
                  </a:txBody>
                  <a:tcPr marL="73152" marR="73152" marT="36576" marB="36576">
                    <a:solidFill>
                      <a:srgbClr val="FFFFFF"/>
                    </a:solidFill>
                  </a:tcPr>
                </a:tc>
                <a:tc>
                  <a:txBody>
                    <a:bodyPr/>
                    <a:lstStyle/>
                    <a:p>
                      <a:r>
                        <a:rPr sz="1300" b="0">
                          <a:solidFill>
                            <a:srgbClr val="1F2937"/>
                          </a:solidFill>
                        </a:rPr>
                        <a:t>Bepul yordam; huquq va davo usullari haqida xabar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Huquqlar guruhi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Bolalarni ijtimoiy qo‘llab-quvvatlash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18 yoshga to‘lmagan OIV yuqtirganlar kasallik bosqichidan qat’i nazar oylik ijtimoiy nafaqa va nogiron bolalar imtiyozlarini oladi.</a:t>
            </a:r>
          </a:p>
          <a:p>
            <a:pPr>
              <a:spcAft>
                <a:spcPts val="1200"/>
              </a:spcAft>
            </a:pPr>
            <a:r>
              <a:rPr sz="2200">
                <a:solidFill>
                  <a:srgbClr val="1F2937"/>
                </a:solidFill>
                <a:latin typeface="Calibri"/>
              </a:rPr>
              <a:t>▸  Ota-onasi yoki vasiylari ishdan vaqtincha ozod bo‘ladi va nafaqa olgan holda bola bilan statsionarda birga bo‘lish huquqiga ega.</a:t>
            </a:r>
          </a:p>
          <a:p>
            <a:pPr>
              <a:spcAft>
                <a:spcPts val="1200"/>
              </a:spcAft>
            </a:pPr>
            <a:r>
              <a:rPr sz="2200">
                <a:solidFill>
                  <a:srgbClr val="1F2937"/>
                </a:solidFill>
                <a:latin typeface="Calibri"/>
              </a:rPr>
              <a:t>▸  Voyaga yetmaganda OIV aniqlansa, tibbiyot xodimlari uning qonuniy vakillarini xabardor qiladi.</a:t>
            </a:r>
          </a:p>
          <a:p>
            <a:pPr>
              <a:spcAft>
                <a:spcPts val="1200"/>
              </a:spcAft>
            </a:pPr>
            <a:r>
              <a:rPr sz="2200">
                <a:solidFill>
                  <a:srgbClr val="1F2937"/>
                </a:solidFill>
                <a:latin typeface="Calibri"/>
              </a:rPr>
              <a:t>▸  Diqqat: nafaqa huquqi uchun kasallik bosqichi (OIV yoki OITS, ya’ni orttirilgan immunitet tanqisligi sindromi) ahamiyatsiz.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208, 207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Kamsitishga yo‘l qo‘yilmaydigan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Qonun OIV bilan yashovchilarga nisbatan to‘rt turdagi kamsitishga yo‘l qo‘ymaydi.</a:t>
            </a:r>
          </a:p>
          <a:p>
            <a:pPr>
              <a:spcAft>
                <a:spcPts val="800"/>
              </a:spcAft>
            </a:pPr>
            <a:r>
              <a:rPr sz="1800">
                <a:solidFill>
                  <a:srgbClr val="1F2937"/>
                </a:solidFill>
                <a:latin typeface="Calibri"/>
              </a:rPr>
              <a:t>▸  Turar joy huquqi OIV yuqtirgan shaxsning o‘zi va oila a’zolari uchun ham saqlanadi.</a:t>
            </a:r>
          </a:p>
          <a:p>
            <a:pPr>
              <a:spcAft>
                <a:spcPts val="800"/>
              </a:spcAft>
            </a:pPr>
            <a:r>
              <a:rPr sz="1800">
                <a:solidFill>
                  <a:srgbClr val="1F2937"/>
                </a:solidFill>
                <a:latin typeface="Calibri"/>
              </a:rPr>
              <a:t>▸  Diqqat: taqiq mutlaq emas, ayrim kasblar va ta’lim turlari istisno.</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81226"/>
                <a:gridCol w="2606748"/>
              </a:tblGrid>
              <a:tr h="411480">
                <a:tc>
                  <a:txBody>
                    <a:bodyPr/>
                    <a:lstStyle/>
                    <a:p>
                      <a:r>
                        <a:rPr sz="1400" b="1">
                          <a:solidFill>
                            <a:srgbClr val="FFFFFF"/>
                          </a:solidFill>
                        </a:rPr>
                        <a:t>Taqiq</a:t>
                      </a:r>
                    </a:p>
                  </a:txBody>
                  <a:tcPr marL="73152" marR="73152" marT="36576" marB="36576">
                    <a:solidFill>
                      <a:srgbClr val="0B1F3A"/>
                    </a:solidFill>
                  </a:tcPr>
                </a:tc>
                <a:tc>
                  <a:txBody>
                    <a:bodyPr/>
                    <a:lstStyle/>
                    <a:p>
                      <a:r>
                        <a:rPr sz="1400" b="1">
                          <a:solidFill>
                            <a:srgbClr val="FFFFFF"/>
                          </a:solidFill>
                        </a:rPr>
                        <a:t>Istisno</a:t>
                      </a:r>
                    </a:p>
                  </a:txBody>
                  <a:tcPr marL="73152" marR="73152" marT="36576" marB="36576">
                    <a:solidFill>
                      <a:srgbClr val="0B1F3A"/>
                    </a:solidFill>
                  </a:tcPr>
                </a:tc>
              </a:tr>
              <a:tr h="411480">
                <a:tc>
                  <a:txBody>
                    <a:bodyPr/>
                    <a:lstStyle/>
                    <a:p>
                      <a:r>
                        <a:rPr sz="1300" b="0">
                          <a:solidFill>
                            <a:srgbClr val="1F2937"/>
                          </a:solidFill>
                        </a:rPr>
                        <a:t>Ishdan bo‘shatish, ishga olmaslik</a:t>
                      </a:r>
                    </a:p>
                  </a:txBody>
                  <a:tcPr marL="73152" marR="73152" marT="36576" marB="36576">
                    <a:solidFill>
                      <a:srgbClr val="E8EEF6"/>
                    </a:solidFill>
                  </a:tcPr>
                </a:tc>
                <a:tc>
                  <a:txBody>
                    <a:bodyPr/>
                    <a:lstStyle/>
                    <a:p>
                      <a:r>
                        <a:rPr sz="1300" b="0">
                          <a:solidFill>
                            <a:srgbClr val="1F2937"/>
                          </a:solidFill>
                        </a:rPr>
                        <a:t>Vazirlik ro‘yxatidagi ayrim kasblar</a:t>
                      </a:r>
                    </a:p>
                  </a:txBody>
                  <a:tcPr marL="73152" marR="73152" marT="36576" marB="36576">
                    <a:solidFill>
                      <a:srgbClr val="E8EEF6"/>
                    </a:solidFill>
                  </a:tcPr>
                </a:tc>
              </a:tr>
              <a:tr h="411480">
                <a:tc>
                  <a:txBody>
                    <a:bodyPr/>
                    <a:lstStyle/>
                    <a:p>
                      <a:r>
                        <a:rPr sz="1300" b="0">
                          <a:solidFill>
                            <a:srgbClr val="1F2937"/>
                          </a:solidFill>
                        </a:rPr>
                        <a:t>Ta’lim muassasasiga qabul qilmaslik</a:t>
                      </a:r>
                    </a:p>
                  </a:txBody>
                  <a:tcPr marL="73152" marR="73152" marT="36576" marB="36576">
                    <a:solidFill>
                      <a:srgbClr val="FFFFFF"/>
                    </a:solidFill>
                  </a:tcPr>
                </a:tc>
                <a:tc>
                  <a:txBody>
                    <a:bodyPr/>
                    <a:lstStyle/>
                    <a:p>
                      <a:r>
                        <a:rPr sz="1300" b="0">
                          <a:solidFill>
                            <a:srgbClr val="1F2937"/>
                          </a:solidFill>
                        </a:rPr>
                        <a:t>Qonunda belgilangan ayrim turlar</a:t>
                      </a:r>
                    </a:p>
                  </a:txBody>
                  <a:tcPr marL="73152" marR="73152" marT="36576" marB="36576">
                    <a:solidFill>
                      <a:srgbClr val="FFFFFF"/>
                    </a:solidFill>
                  </a:tcPr>
                </a:tc>
              </a:tr>
              <a:tr h="411480">
                <a:tc>
                  <a:txBody>
                    <a:bodyPr/>
                    <a:lstStyle/>
                    <a:p>
                      <a:r>
                        <a:rPr sz="1300" b="0">
                          <a:solidFill>
                            <a:srgbClr val="1F2937"/>
                          </a:solidFill>
                        </a:rPr>
                        <a:t>Tibbiy muassasaga qabul qilmaslik</a:t>
                      </a:r>
                    </a:p>
                  </a:txBody>
                  <a:tcPr marL="73152" marR="73152" marT="36576" marB="36576">
                    <a:solidFill>
                      <a:srgbClr val="E8EEF6"/>
                    </a:solidFill>
                  </a:tcPr>
                </a:tc>
                <a:tc>
                  <a:txBody>
                    <a:bodyPr/>
                    <a:lstStyle/>
                    <a:p>
                      <a:r>
                        <a:rPr sz="1300" b="0">
                          <a:solidFill>
                            <a:srgbClr val="1F2937"/>
                          </a:solidFill>
                        </a:rPr>
                        <a:t>Istisno ko‘rsatilmagan</a:t>
                      </a:r>
                    </a:p>
                  </a:txBody>
                  <a:tcPr marL="73152" marR="73152" marT="36576" marB="36576">
                    <a:solidFill>
                      <a:srgbClr val="E8EEF6"/>
                    </a:solidFill>
                  </a:tcPr>
                </a:tc>
              </a:tr>
              <a:tr h="411480">
                <a:tc>
                  <a:txBody>
                    <a:bodyPr/>
                    <a:lstStyle/>
                    <a:p>
                      <a:r>
                        <a:rPr sz="1300" b="0">
                          <a:solidFill>
                            <a:srgbClr val="1F2937"/>
                          </a:solidFill>
                        </a:rPr>
                        <a:t>Turar joy va boshqa huquqni cheklash</a:t>
                      </a:r>
                    </a:p>
                  </a:txBody>
                  <a:tcPr marL="73152" marR="73152" marT="36576" marB="36576">
                    <a:solidFill>
                      <a:srgbClr val="FFFFFF"/>
                    </a:solidFill>
                  </a:tcPr>
                </a:tc>
                <a:tc>
                  <a:txBody>
                    <a:bodyPr/>
                    <a:lstStyle/>
                    <a:p>
                      <a:r>
                        <a:rPr sz="1300" b="0">
                          <a:solidFill>
                            <a:srgbClr val="1F2937"/>
                          </a:solidFill>
                        </a:rPr>
                        <a:t>Istisno ko‘rsatilmagan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Taqiq va istisno</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Cheklovlar: donorlik va kasblar ro‘yxati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Odam immunitet tanqisligi virusi (OIV) yuqtirganlar qon va biologik suyuqliklar donori bo‘la olmaydi.</a:t>
            </a:r>
          </a:p>
          <a:p>
            <a:pPr>
              <a:spcAft>
                <a:spcPts val="800"/>
              </a:spcAft>
            </a:pPr>
            <a:r>
              <a:rPr sz="1800">
                <a:solidFill>
                  <a:srgbClr val="1F2937"/>
                </a:solidFill>
                <a:latin typeface="Calibri"/>
              </a:rPr>
              <a:t>▸  Adliya vazirligining 2014 yil 7 maydagi ro‘yxati OIV yuqtirganlarga 9 turdagi kasbiy faoliyatni taqiqlaydi.</a:t>
            </a:r>
          </a:p>
          <a:p>
            <a:pPr>
              <a:spcAft>
                <a:spcPts val="800"/>
              </a:spcAft>
            </a:pPr>
            <a:r>
              <a:rPr sz="1800">
                <a:solidFill>
                  <a:srgbClr val="1F2937"/>
                </a:solidFill>
                <a:latin typeface="Calibri"/>
              </a:rPr>
              <a:t>▸  Ro‘yxatdagi ishlarga ruxsat bergan tashkilot rahbari javobgar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380836"/>
                <a:gridCol w="1907138"/>
              </a:tblGrid>
              <a:tr h="411480">
                <a:tc>
                  <a:txBody>
                    <a:bodyPr/>
                    <a:lstStyle/>
                    <a:p>
                      <a:r>
                        <a:rPr sz="1400" b="1">
                          <a:solidFill>
                            <a:srgbClr val="FFFFFF"/>
                          </a:solidFill>
                        </a:rPr>
                        <a:t>Faoliyat turi</a:t>
                      </a:r>
                    </a:p>
                  </a:txBody>
                  <a:tcPr marL="73152" marR="73152" marT="36576" marB="36576">
                    <a:solidFill>
                      <a:srgbClr val="0B1F3A"/>
                    </a:solidFill>
                  </a:tcPr>
                </a:tc>
                <a:tc>
                  <a:txBody>
                    <a:bodyPr/>
                    <a:lstStyle/>
                    <a:p>
                      <a:r>
                        <a:rPr sz="1400" b="1">
                          <a:solidFill>
                            <a:srgbClr val="FFFFFF"/>
                          </a:solidFill>
                        </a:rPr>
                        <a:t>Holati</a:t>
                      </a:r>
                    </a:p>
                  </a:txBody>
                  <a:tcPr marL="73152" marR="73152" marT="36576" marB="36576">
                    <a:solidFill>
                      <a:srgbClr val="0B1F3A"/>
                    </a:solidFill>
                  </a:tcPr>
                </a:tc>
              </a:tr>
              <a:tr h="411480">
                <a:tc>
                  <a:txBody>
                    <a:bodyPr/>
                    <a:lstStyle/>
                    <a:p>
                      <a:r>
                        <a:rPr sz="1300" b="0">
                          <a:solidFill>
                            <a:srgbClr val="1F2937"/>
                          </a:solidFill>
                        </a:rPr>
                        <a:t>Tibbiy yordam ko‘rsatish ishlari</a:t>
                      </a:r>
                    </a:p>
                  </a:txBody>
                  <a:tcPr marL="73152" marR="73152" marT="36576" marB="36576">
                    <a:solidFill>
                      <a:srgbClr val="E8EEF6"/>
                    </a:solidFill>
                  </a:tcPr>
                </a:tc>
                <a:tc>
                  <a:txBody>
                    <a:bodyPr/>
                    <a:lstStyle/>
                    <a:p>
                      <a:r>
                        <a:rPr sz="1300" b="0">
                          <a:solidFill>
                            <a:srgbClr val="1F2937"/>
                          </a:solidFill>
                        </a:rPr>
                        <a:t>Ro‘yxatdan chiqarilgan</a:t>
                      </a:r>
                    </a:p>
                  </a:txBody>
                  <a:tcPr marL="73152" marR="73152" marT="36576" marB="36576">
                    <a:solidFill>
                      <a:srgbClr val="E8EEF6"/>
                    </a:solidFill>
                  </a:tcPr>
                </a:tc>
              </a:tr>
              <a:tr h="411480">
                <a:tc>
                  <a:txBody>
                    <a:bodyPr/>
                    <a:lstStyle/>
                    <a:p>
                      <a:r>
                        <a:rPr sz="1300" b="0">
                          <a:solidFill>
                            <a:srgbClr val="1F2937"/>
                          </a:solidFill>
                        </a:rPr>
                        <a:t>Vaksina, farmatsevtika ishlab chiqarish</a:t>
                      </a:r>
                    </a:p>
                  </a:txBody>
                  <a:tcPr marL="73152" marR="73152" marT="36576" marB="36576">
                    <a:solidFill>
                      <a:srgbClr val="FFFFFF"/>
                    </a:solidFill>
                  </a:tcPr>
                </a:tc>
                <a:tc>
                  <a:txBody>
                    <a:bodyPr/>
                    <a:lstStyle/>
                    <a:p>
                      <a:r>
                        <a:rPr sz="1300" b="0">
                          <a:solidFill>
                            <a:srgbClr val="1F2937"/>
                          </a:solidFill>
                        </a:rPr>
                        <a:t>Ro‘yxatdan chiqarilgan</a:t>
                      </a:r>
                    </a:p>
                  </a:txBody>
                  <a:tcPr marL="73152" marR="73152" marT="36576" marB="36576">
                    <a:solidFill>
                      <a:srgbClr val="FFFFFF"/>
                    </a:solidFill>
                  </a:tcPr>
                </a:tc>
              </a:tr>
              <a:tr h="411480">
                <a:tc>
                  <a:txBody>
                    <a:bodyPr/>
                    <a:lstStyle/>
                    <a:p>
                      <a:r>
                        <a:rPr sz="1300" b="0">
                          <a:solidFill>
                            <a:srgbClr val="1F2937"/>
                          </a:solidFill>
                        </a:rPr>
                        <a:t>Massaj muolajalari</a:t>
                      </a:r>
                    </a:p>
                  </a:txBody>
                  <a:tcPr marL="73152" marR="73152" marT="36576" marB="36576">
                    <a:solidFill>
                      <a:srgbClr val="E8EEF6"/>
                    </a:solidFill>
                  </a:tcPr>
                </a:tc>
                <a:tc>
                  <a:txBody>
                    <a:bodyPr/>
                    <a:lstStyle/>
                    <a:p>
                      <a:r>
                        <a:rPr sz="1300" b="0">
                          <a:solidFill>
                            <a:srgbClr val="1F2937"/>
                          </a:solidFill>
                        </a:rPr>
                        <a:t>Ro‘yxatdan chiqarilgan</a:t>
                      </a:r>
                    </a:p>
                  </a:txBody>
                  <a:tcPr marL="73152" marR="73152" marT="36576" marB="36576">
                    <a:solidFill>
                      <a:srgbClr val="E8EEF6"/>
                    </a:solidFill>
                  </a:tcPr>
                </a:tc>
              </a:tr>
              <a:tr h="411480">
                <a:tc>
                  <a:txBody>
                    <a:bodyPr/>
                    <a:lstStyle/>
                    <a:p>
                      <a:r>
                        <a:rPr sz="1300" b="0">
                          <a:solidFill>
                            <a:srgbClr val="1F2937"/>
                          </a:solidFill>
                        </a:rPr>
                        <a:t>Sportning kontakt turlari</a:t>
                      </a:r>
                    </a:p>
                  </a:txBody>
                  <a:tcPr marL="73152" marR="73152" marT="36576" marB="36576">
                    <a:solidFill>
                      <a:srgbClr val="FFFFFF"/>
                    </a:solidFill>
                  </a:tcPr>
                </a:tc>
                <a:tc>
                  <a:txBody>
                    <a:bodyPr/>
                    <a:lstStyle/>
                    <a:p>
                      <a:r>
                        <a:rPr sz="1300" b="0">
                          <a:solidFill>
                            <a:srgbClr val="1F2937"/>
                          </a:solidFill>
                        </a:rPr>
                        <a:t>Ro‘yxatdan chiqarilgan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Eski ro‘yxatdan chiqarilgan ishlar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ishga qabul va kasb cheklovi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OIV bilan yashovchi xodim avvalgi tashkilotida ishlayapti. Uning ishi taqiqlangan kasblar ro‘yxatiga kirmaydi, lekin rahbar uni bo‘shatmoqchi.</a:t>
            </a:r>
          </a:p>
          <a:p>
            <a:pPr>
              <a:spcAft>
                <a:spcPts val="1200"/>
              </a:spcAft>
            </a:pPr>
            <a:r>
              <a:rPr sz="2200">
                <a:solidFill>
                  <a:srgbClr val="1F2937"/>
                </a:solidFill>
                <a:latin typeface="Calibri"/>
              </a:rPr>
              <a:t>▸  Qonun OIV bilan yashovchilarning mehnat shartnomasini bekor qilishni va ishga qabul qilishni rad etishni taqiqlaydi. Ayrim kasblar bundan mustasno.</a:t>
            </a:r>
          </a:p>
          <a:p>
            <a:pPr>
              <a:spcAft>
                <a:spcPts val="1200"/>
              </a:spcAft>
            </a:pPr>
            <a:r>
              <a:rPr sz="2200">
                <a:solidFill>
                  <a:srgbClr val="1F2937"/>
                </a:solidFill>
                <a:latin typeface="Calibri"/>
              </a:rPr>
              <a:t>▸  Diqqat: xato qilish xavfi! ‘OIV bor’ ≠ ‘har qanday ishda ishlay olmaydi’. Taqiq faqat ro‘yxatdagi faoliyat turlariga tegishli.</a:t>
            </a:r>
          </a:p>
          <a:p>
            <a:pPr>
              <a:spcAft>
                <a:spcPts val="1200"/>
              </a:spcAft>
            </a:pPr>
            <a:r>
              <a:rPr sz="2200">
                <a:solidFill>
                  <a:srgbClr val="1F2937"/>
                </a:solidFill>
                <a:latin typeface="Calibri"/>
              </a:rPr>
              <a:t>▸  Savol: rahbarning qarori qonunga mosmi? Xodim ro‘yxatdagi kasbda ishlasa, ruxsat bergan rahbar qanday mas’uliyat 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sog‘lig‘ini saqlash to‘g‘risida”gi qonun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Fuqarolar sog‘liqqa ta’sir etuvchi omillar, yashash hududining sanitariya holati, ovqatlanish me’yorlari va xizmatlar xavfsizligi haqida o‘z vaqtida, aniq axborot oladi.</a:t>
            </a:r>
          </a:p>
          <a:p>
            <a:pPr>
              <a:spcAft>
                <a:spcPts val="1200"/>
              </a:spcAft>
            </a:pPr>
            <a:r>
              <a:rPr sz="2000">
                <a:solidFill>
                  <a:srgbClr val="1F2937"/>
                </a:solidFill>
                <a:latin typeface="Calibri"/>
              </a:rPr>
              <a:t>▸  Kasallik yoki mehnat layoqati yo‘qolganda tibbiy-ijtimoiy yordam huquqi bor: davolash, tiklash, sanatoriy, protez yordami va vaqtinchalik mehnatga layoqatsizlik nafaqasi.</a:t>
            </a:r>
          </a:p>
          <a:p>
            <a:pPr>
              <a:spcAft>
                <a:spcPts val="1200"/>
              </a:spcAft>
            </a:pPr>
            <a:r>
              <a:rPr sz="2000">
                <a:solidFill>
                  <a:srgbClr val="1F2937"/>
                </a:solidFill>
                <a:latin typeface="Calibri"/>
              </a:rPr>
              <a:t>▸  Murojaat qilgani, sog‘liq holati, tashxis va tekshiruv-davolash chog‘ida olingan ma’lumotlar sir saqlanadi. Bu tibbiy sir huquqi qonunda mustahkamlangan.</a:t>
            </a:r>
          </a:p>
          <a:p>
            <a:pPr>
              <a:spcAft>
                <a:spcPts val="1200"/>
              </a:spcAft>
            </a:pPr>
            <a:r>
              <a:rPr sz="2000">
                <a:solidFill>
                  <a:srgbClr val="1F2937"/>
                </a:solidFill>
                <a:latin typeface="Calibri"/>
              </a:rPr>
              <a:t>▸  Tibbiy yordam paytida sog‘liqqa zarar yetkazilsa, zarar qonunda belgilangan tartibda qoplanadi. OIV bilan yashovchi ham bemor sifatida shu huquqlarga ega.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Eksperimental davolash: plasebosiz sinov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Ayrim mamlakatlarda odamning immunitet tanqisligi virusi (OIV) dorilari plasebosiz sinalishi mumkin.</a:t>
            </a:r>
          </a:p>
          <a:p>
            <a:pPr>
              <a:spcAft>
                <a:spcPts val="800"/>
              </a:spcAft>
            </a:pPr>
            <a:r>
              <a:rPr sz="1800">
                <a:solidFill>
                  <a:srgbClr val="1F2937"/>
                </a:solidFill>
                <a:latin typeface="Calibri"/>
              </a:rPr>
              <a:t>▸  Agonal holatdagi OITS (orttirilgan immunitet tanqisligi sindromi) bemoriga yordam — axloqiy muammo.</a:t>
            </a:r>
          </a:p>
          <a:p>
            <a:pPr>
              <a:spcAft>
                <a:spcPts val="800"/>
              </a:spcAft>
            </a:pPr>
            <a:r>
              <a:rPr sz="1800">
                <a:solidFill>
                  <a:srgbClr val="1F2937"/>
                </a:solidFill>
                <a:latin typeface="Calibri"/>
              </a:rPr>
              <a:t>▸  Og‘ir holatlarda inson qadr-qimmati tamoyilini amalga oshirish masalasi keskinlashadi.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Kasallikning og‘ir bosqichi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Og‘ir jismoniy, ruhiy holat</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Qadr-qimmat masalasi keskin</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Agonal holatda yordam muammosi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Qadr-qimmat masalasi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Yaxlitlik tamoyili va yangi tibbiy texnologiyalar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OIV/OITS tibbiyotning hozircha kam o‘rganilgan sohasi bo‘lib qolmoqda.</a:t>
            </a:r>
          </a:p>
          <a:p>
            <a:pPr>
              <a:spcAft>
                <a:spcPts val="800"/>
              </a:spcAft>
            </a:pPr>
            <a:r>
              <a:rPr sz="1800">
                <a:solidFill>
                  <a:srgbClr val="1F2937"/>
                </a:solidFill>
                <a:latin typeface="Calibri"/>
              </a:rPr>
              <a:t>▸  Tadqiqotlar soni erishilgan ijobiy amaliy natijalar sonidan sezilarli ko‘p.</a:t>
            </a:r>
          </a:p>
          <a:p>
            <a:pPr>
              <a:spcAft>
                <a:spcPts val="800"/>
              </a:spcAft>
            </a:pPr>
            <a:r>
              <a:rPr sz="1800">
                <a:solidFill>
                  <a:srgbClr val="1F2937"/>
                </a:solidFill>
                <a:latin typeface="Calibri"/>
              </a:rPr>
              <a:t>▸  Yangi texnologiya klinikada shaxsning jismoniy va ruhiy yaxlitligiga tahdidni oshirishi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Kam o‘rganilgan soha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Ko‘p tadqiqot, kam natija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texnologiya yaratiladi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Klinikada qo‘llash: xavf ortadi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Yaxlitlikka xavf yo‘li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eksperimental davolash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OIV bilan yashovchi bemorga kam o‘rganilgan sohada yaratilgan yangi dori bilan davolanish taklif etildi.</a:t>
            </a:r>
          </a:p>
          <a:p>
            <a:pPr>
              <a:spcAft>
                <a:spcPts val="1200"/>
              </a:spcAft>
            </a:pPr>
            <a:r>
              <a:rPr sz="2200">
                <a:solidFill>
                  <a:srgbClr val="1F2937"/>
                </a:solidFill>
                <a:latin typeface="Calibri"/>
              </a:rPr>
              <a:t>▸  Manbaga ko‘ra, davolash ham bemorning ixtiyoriy, xabardor roziligi bilan olib borilishi lozim.</a:t>
            </a:r>
          </a:p>
          <a:p>
            <a:pPr>
              <a:spcAft>
                <a:spcPts val="1200"/>
              </a:spcAft>
            </a:pPr>
            <a:r>
              <a:rPr sz="2200">
                <a:solidFill>
                  <a:srgbClr val="1F2937"/>
                </a:solidFill>
                <a:latin typeface="Calibri"/>
              </a:rPr>
              <a:t>▸  Yangi texnologiya shaxsning jismoniy va ruhiy yaxlitligiga tahdidni oshirishi mumkin.</a:t>
            </a:r>
          </a:p>
          <a:p>
            <a:pPr>
              <a:spcAft>
                <a:spcPts val="1200"/>
              </a:spcAft>
            </a:pPr>
            <a:r>
              <a:rPr sz="2200">
                <a:solidFill>
                  <a:srgbClr val="1F2937"/>
                </a:solidFill>
                <a:latin typeface="Calibri"/>
              </a:rPr>
              <a:t>▸  Savol: shifokor rozilik olayotganda bemorga qanday xavflarni tushuntirishi kerak va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203, 204, 203-204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xodimlarining kasbiy xavflari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Ko‘p mamlakatlarda shifokorlar OIV bilan kasallanganlarga yordam berishdan ommaviy bosh tortadi.</a:t>
            </a:r>
          </a:p>
          <a:p>
            <a:pPr>
              <a:spcAft>
                <a:spcPts val="800"/>
              </a:spcAft>
            </a:pPr>
            <a:r>
              <a:rPr sz="1800">
                <a:solidFill>
                  <a:srgbClr val="1F2937"/>
                </a:solidFill>
                <a:latin typeface="Calibri"/>
              </a:rPr>
              <a:t>▸  Qon, biologik suyuqlik, organ va to‘qima bilan ishlovchi xodimlar OIVga majburiy tekshiriladi (15-modda).</a:t>
            </a:r>
          </a:p>
          <a:p>
            <a:pPr>
              <a:spcAft>
                <a:spcPts val="800"/>
              </a:spcAft>
            </a:pPr>
            <a:r>
              <a:rPr sz="1800">
                <a:solidFill>
                  <a:srgbClr val="1F2937"/>
                </a:solidFill>
                <a:latin typeface="Calibri"/>
              </a:rPr>
              <a:t>▸  Kasbiy majburiyatni bajarmagan yoki yomon bajargan xodim yetkazilgan zararni qoplashi shart.</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30452"/>
                <a:gridCol w="3457522"/>
              </a:tblGrid>
              <a:tr h="411480">
                <a:tc>
                  <a:txBody>
                    <a:bodyPr/>
                    <a:lstStyle/>
                    <a:p>
                      <a:r>
                        <a:rPr sz="1400" b="1">
                          <a:solidFill>
                            <a:srgbClr val="FFFFFF"/>
                          </a:solidFill>
                        </a:rPr>
                        <a:t>Masala</a:t>
                      </a:r>
                    </a:p>
                  </a:txBody>
                  <a:tcPr marL="73152" marR="73152" marT="36576" marB="36576">
                    <a:solidFill>
                      <a:srgbClr val="0B1F3A"/>
                    </a:solidFill>
                  </a:tcPr>
                </a:tc>
                <a:tc>
                  <a:txBody>
                    <a:bodyPr/>
                    <a:lstStyle/>
                    <a:p>
                      <a:r>
                        <a:rPr sz="1400" b="1">
                          <a:solidFill>
                            <a:srgbClr val="FFFFFF"/>
                          </a:solidFill>
                        </a:rPr>
                        <a:t>Qoida</a:t>
                      </a:r>
                    </a:p>
                  </a:txBody>
                  <a:tcPr marL="73152" marR="73152" marT="36576" marB="36576">
                    <a:solidFill>
                      <a:srgbClr val="0B1F3A"/>
                    </a:solidFill>
                  </a:tcPr>
                </a:tc>
              </a:tr>
              <a:tr h="411480">
                <a:tc>
                  <a:txBody>
                    <a:bodyPr/>
                    <a:lstStyle/>
                    <a:p>
                      <a:r>
                        <a:rPr sz="1300" b="0">
                          <a:solidFill>
                            <a:srgbClr val="1F2937"/>
                          </a:solidFill>
                        </a:rPr>
                        <a:t>Rad etish sababi</a:t>
                      </a:r>
                    </a:p>
                  </a:txBody>
                  <a:tcPr marL="73152" marR="73152" marT="36576" marB="36576">
                    <a:solidFill>
                      <a:srgbClr val="E8EEF6"/>
                    </a:solidFill>
                  </a:tcPr>
                </a:tc>
                <a:tc>
                  <a:txBody>
                    <a:bodyPr/>
                    <a:lstStyle/>
                    <a:p>
                      <a:r>
                        <a:rPr sz="1300" b="0">
                          <a:solidFill>
                            <a:srgbClr val="1F2937"/>
                          </a:solidFill>
                        </a:rPr>
                        <a:t>Xodimning shaxsiy xavfsizligi</a:t>
                      </a:r>
                    </a:p>
                  </a:txBody>
                  <a:tcPr marL="73152" marR="73152" marT="36576" marB="36576">
                    <a:solidFill>
                      <a:srgbClr val="E8EEF6"/>
                    </a:solidFill>
                  </a:tcPr>
                </a:tc>
              </a:tr>
              <a:tr h="411480">
                <a:tc>
                  <a:txBody>
                    <a:bodyPr/>
                    <a:lstStyle/>
                    <a:p>
                      <a:r>
                        <a:rPr sz="1300" b="0">
                          <a:solidFill>
                            <a:srgbClr val="1F2937"/>
                          </a:solidFill>
                        </a:rPr>
                        <a:t>Majburiy tekshiruv</a:t>
                      </a:r>
                    </a:p>
                  </a:txBody>
                  <a:tcPr marL="73152" marR="73152" marT="36576" marB="36576">
                    <a:solidFill>
                      <a:srgbClr val="FFFFFF"/>
                    </a:solidFill>
                  </a:tcPr>
                </a:tc>
                <a:tc>
                  <a:txBody>
                    <a:bodyPr/>
                    <a:lstStyle/>
                    <a:p>
                      <a:r>
                        <a:rPr sz="1300" b="0">
                          <a:solidFill>
                            <a:srgbClr val="1F2937"/>
                          </a:solidFill>
                        </a:rPr>
                        <a:t>Qon va to‘qima bilan ishlovchilar</a:t>
                      </a:r>
                    </a:p>
                  </a:txBody>
                  <a:tcPr marL="73152" marR="73152" marT="36576" marB="36576">
                    <a:solidFill>
                      <a:srgbClr val="FFFFFF"/>
                    </a:solidFill>
                  </a:tcPr>
                </a:tc>
              </a:tr>
              <a:tr h="411480">
                <a:tc>
                  <a:txBody>
                    <a:bodyPr/>
                    <a:lstStyle/>
                    <a:p>
                      <a:r>
                        <a:rPr sz="1300" b="0">
                          <a:solidFill>
                            <a:srgbClr val="1F2937"/>
                          </a:solidFill>
                        </a:rPr>
                        <a:t>Zararni qoplash</a:t>
                      </a:r>
                    </a:p>
                  </a:txBody>
                  <a:tcPr marL="73152" marR="73152" marT="36576" marB="36576">
                    <a:solidFill>
                      <a:srgbClr val="E8EEF6"/>
                    </a:solidFill>
                  </a:tcPr>
                </a:tc>
                <a:tc>
                  <a:txBody>
                    <a:bodyPr/>
                    <a:lstStyle/>
                    <a:p>
                      <a:r>
                        <a:rPr sz="1300" b="0">
                          <a:solidFill>
                            <a:srgbClr val="1F2937"/>
                          </a:solidFill>
                        </a:rPr>
                        <a:t>Majburiyatni buzgan xodim to‘laydi</a:t>
                      </a:r>
                    </a:p>
                  </a:txBody>
                  <a:tcPr marL="73152" marR="73152" marT="36576" marB="36576">
                    <a:solidFill>
                      <a:srgbClr val="E8EEF6"/>
                    </a:solidFill>
                  </a:tcPr>
                </a:tc>
              </a:tr>
              <a:tr h="411480">
                <a:tc>
                  <a:txBody>
                    <a:bodyPr/>
                    <a:lstStyle/>
                    <a:p>
                      <a:r>
                        <a:rPr sz="1300" b="0">
                          <a:solidFill>
                            <a:srgbClr val="1F2937"/>
                          </a:solidFill>
                        </a:rPr>
                        <a:t>Axloqiy baho</a:t>
                      </a:r>
                    </a:p>
                  </a:txBody>
                  <a:tcPr marL="73152" marR="73152" marT="36576" marB="36576">
                    <a:solidFill>
                      <a:srgbClr val="FFFFFF"/>
                    </a:solidFill>
                  </a:tcPr>
                </a:tc>
                <a:tc>
                  <a:txBody>
                    <a:bodyPr/>
                    <a:lstStyle/>
                    <a:p>
                      <a:r>
                        <a:rPr sz="1300" b="0">
                          <a:solidFill>
                            <a:srgbClr val="1F2937"/>
                          </a:solidFill>
                        </a:rPr>
                        <a:t>Yordam bermaslik ham zarar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Kasbiy xavf: asosiy jihatlar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201, 207, 209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xulosalar va tezkor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2013-yilgi qonun OIV (odam immunitet tanqisligi virusi) bilan yashovchilarga bepul yordam, sertifikat va ish huquqini kafolatlaydi (istisnolar bilan).</a:t>
            </a:r>
          </a:p>
          <a:p>
            <a:pPr>
              <a:spcAft>
                <a:spcPts val="1200"/>
              </a:spcAft>
            </a:pPr>
            <a:r>
              <a:rPr sz="2200">
                <a:solidFill>
                  <a:srgbClr val="1F2937"/>
                </a:solidFill>
                <a:latin typeface="Calibri"/>
              </a:rPr>
              <a:t>▸  Maxfiylik va rozilik: tekshiruv ixtiyoriy, maslahat bilan va maxfiy. Sherikka xabar berish faqat haqiqiy xavfda va bemor rad etganda.</a:t>
            </a:r>
          </a:p>
          <a:p>
            <a:pPr>
              <a:spcAft>
                <a:spcPts val="1200"/>
              </a:spcAft>
            </a:pPr>
            <a:r>
              <a:rPr sz="2200">
                <a:solidFill>
                  <a:srgbClr val="1F2937"/>
                </a:solidFill>
                <a:latin typeface="Calibri"/>
              </a:rPr>
              <a:t>▸  Eksperimental davolash va kasbiy xavf: yangi texnologiya shaxs yaxlitligiga xavf solishi mumkin; xodimlar esa shaxsiy xavf tufayli rad etadi.</a:t>
            </a:r>
          </a:p>
          <a:p>
            <a:pPr>
              <a:spcAft>
                <a:spcPts val="1200"/>
              </a:spcAft>
            </a:pPr>
            <a:r>
              <a:rPr sz="2200">
                <a:solidFill>
                  <a:srgbClr val="1F2937"/>
                </a:solidFill>
                <a:latin typeface="Calibri"/>
              </a:rPr>
              <a:t>▸  Tezkor savol: nega yordamdan bosh tortish ham “Zarar yetkazma!” tamoyilini buzishi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206-209, 204-208, 201-203, 201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OIV — virus, OITS — sindrom. OIV ribonuklein kislotali (RNK) retrovirus. OITS esa OIV infeksiyasi bosqichlaridan biri, lekin alohida nozologik birlik sifatida ajratiladi.</a:t>
            </a:r>
          </a:p>
          <a:p>
            <a:pPr>
              <a:spcAft>
                <a:spcPts val="1200"/>
              </a:spcAft>
            </a:pPr>
            <a:r>
              <a:rPr sz="1800">
                <a:solidFill>
                  <a:srgbClr val="1F2937"/>
                </a:solidFill>
                <a:latin typeface="Calibri"/>
              </a:rPr>
              <a:t>▸  Hodisa tahlili: ko‘p mamlakatlarda shifokorlar OIV bilan kasallanganlarga yordam berishni ommaviy rad etgan. Sababi shaxsiy xavfsizlikdan qo‘rqish. Yordam bermaslik ham «Zarar yetkazma!» tamoyilini buzadi.</a:t>
            </a:r>
          </a:p>
          <a:p>
            <a:pPr>
              <a:spcAft>
                <a:spcPts val="1200"/>
              </a:spcAft>
            </a:pPr>
            <a:r>
              <a:rPr sz="1800">
                <a:solidFill>
                  <a:srgbClr val="1F2937"/>
                </a:solidFill>
                <a:latin typeface="Calibri"/>
              </a:rPr>
              <a:t>▸  Maxfiylik chegarasi: jinsiy sherikka infeksiya yuqishi xavfi haqiqiy bo‘lib, bemor xabar berishdan bosh tortsa, shifokor maxfiylikni buzishi mumkin. Lekin bu juda katta chora, avval bemorning o‘zi xabar berishi kutiladi.</a:t>
            </a:r>
          </a:p>
          <a:p>
            <a:pPr>
              <a:spcAft>
                <a:spcPts val="1200"/>
              </a:spcAft>
            </a:pPr>
            <a:r>
              <a:rPr sz="1800">
                <a:solidFill>
                  <a:srgbClr val="1F2937"/>
                </a:solidFill>
                <a:latin typeface="Calibri"/>
              </a:rPr>
              <a:t>▸  2013-yil 23-sentyabrdagi qonunga ko‘ra majburiy tekshiruvdan donorlar, homilador ayollar, ellik yoshgacha nikohlanuvchilar va qon bilan ishlovchi tibbiyot xodimlari o‘tadi. Ro‘yxatda boshqa guruhlar ham bor.</a:t>
            </a:r>
          </a:p>
          <a:p>
            <a:pPr>
              <a:spcAft>
                <a:spcPts val="1200"/>
              </a:spcAft>
            </a:pPr>
            <a:r>
              <a:rPr sz="1800">
                <a:solidFill>
                  <a:srgbClr val="1F2937"/>
                </a:solidFill>
                <a:latin typeface="Calibri"/>
              </a:rPr>
              <a:t>▸  Taqiqlangan kasblar ro‘yxati (Adliya vazirligi, 2014-yil 7-may) 9 turdagi faoliyatni qamragan. Oldingi ro‘yxatdan farqli, undan tibbiy yordam ko‘rsatish, massaj va kontakt sport olib tashlangan.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seminarda: «OITS — virusning o‘zi», dedi. Qaysi tuzatish manba ma’lumotiga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OITS virusning o‘zi, OIV esa uning so‘nggi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OIV va OITS bir xil atama bo‘lib, farqi umuman yo‘q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OITS — OIV infeksiyasi bosqichlaridan biri bo‘lgan sindrom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OIV — DNK virusi, OITS esa uning DNK nusxasidir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shaxsiy xavfsizligi uchun OIV bilan kasallangan bemorni qabul qilishdan bosh tortdi. Bu holatda «Zarar yetkazma!» tamoyili qaysi shaklda buzilgan?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Bemorga yordam ko‘rsatmaslik shaklida buzilgan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Bemorga dorini ortiqcha berish shaklida buzilgan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Bemorning sirini oshkor qilish shaklida buzilgan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Noto‘g‘ri tashxis qo‘yish shaklida buzilgan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OIV bilan kasallangan bemorni davolayotib, uning yaqinlarini ham yuqishdan asrash kerakligini his qilib, ichki ziddiyatga tushdi. Bu qaysi tamoyil bilan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«Zarar yetkazma!» tamoyili bilan bog‘liq</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Adolat tamoyili bilan bog‘liq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Yaxlitlik tamoyili bilan bog‘liq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«Yaxshilik qil!» tamoyili bilan bog‘liq</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Manbaga ko‘ra, huquqiy (rasmiy) jihatdan OIV bilan kasallangan bemorlar sog‘liqni saqlash va tibbiy yordamga nisbatan qanday huquqqa ega?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Tibbiy yordamni faqat to‘lov evaziga olish huquqiga ega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Boshqa fuqarolar bilan teng huquqqa ega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maxsus markazlarda davolanish huquqiga ega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Davolanishni boshqa fuqarolardan keyin olish huquqiga ega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«OITS — noto‘g‘ri xatti-harakat uchun jazo» deb hisoblab, xavf guruhidan kelgan bemorlarni boshqacha davolay boshladi. U qaysi tamoyilni buzmoqda?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Maxfiylik tamoyilini buzmoqda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 avtonomiyasi tamoyilini buzmoqda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Adolat tamoyilini buzmoqda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Yaxlitlik tamoyilini buzmoqda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shaxsiy xavfsizligidan qo‘rqib, OIV (odam immunitet tanqisligi virusi) bilan kasallangan bemorga yordam berishni rad etdi. “Zarar yetkazma!” tamoyiliga ko‘ra bu holatda zarar nimada namoyon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Bemorga qo‘shimcha dori yozib berishda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Bemorga zarur tibbiy yordam ko‘rsatilmaganda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 tashxisi boshqalarga oshkor etilganda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Bemorga noto‘g‘ri tashxis qo‘yilganda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OIV retroviruslar guruhiga kiradi. Uning genetik materiali qanday molekuladan iborat?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Peptid zanjiri shaklidagi genetik material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Ko‘pchilik hujayralardagi kabi DNK molekulasi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Polisaxarid zanjiri shaklidagi genetik material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DNK emas, balki RNK molekulasi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Bemordan OIV ga tekshirish uchun qon olinishi kerak. Axloqiy tamoyilga ko‘ra qon olish qaysi shartda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 ixtiyoriy xabardor rozilik bergan bo‘lsa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Bemorning yaqinlari rozilik bergan bo‘lsa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Shifokor tekshiruvni zarur deb topgan bo‘lsa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Atrofdagilar xavfsizligi buni talab qilsa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Hamshira bemorning OIV tashxisini uning qo‘shnilariga aytib yubordi, natijada atrofdagilar bemorga “moxov”dek qarashdi. Bu hodisa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Kasallikning siyosiylashuvi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Xabardor rozilik olish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Stigmatizatsiya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Jamoat salomatligi chorasi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jinsiy sherigiga OIV yuqish xavfi haqiqiy, ammo bemor sherigiga xabar berishdan bosh tortmoqda. Shifokorning mos harakati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Bemorni ogohlantirmay sherikka xabar berish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 oldindan ogohlantirib, maxfiylikni buzish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Maxfiylikni har qanday holatda saqlab qolish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Bemorni davolashni to‘xtatib qo‘yish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OIV/OITS epidemiyasi qaysi masalani, ayniqsa, dolzarblashtiradi?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Davolash narxi va sug‘urta to‘lovlari nisbati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Shifokorlar soni va bemorlar soni nisbati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Shaxsiy huquqlar va jamiyat xavfsizligi nisbati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Ilmiy tadqiqotlar va amaliy natijalar nisbati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OIV bor. Jinsiy sherigiga yuqish xavfi haqiqiy, ammo u sherigiga aytishdan bosh tortmoqda. Manbaga ko‘ra, shifokorga nima ruxsat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Sherikni oldindan xabardor qilish va maxfiylikni buzish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Sherikka aytmay, faqat bemorni kuzatib borish xolos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Ma’lumotni bemorning ish joyiga xabar qilib qo‘yish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Ma’lumotni bemorning barcha qarindoshlariga yetkazish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topshirmoqchi bo‘lgan fuqaro OIVga qanday tartibda tekshiriladi? Bu qonunda qon donorlari uchun nazarda tutilgan.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ixtiyoriy va anonim tartibda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g‘ayriixtiyoriy tartibda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Tekshiruvsiz qon topshirishi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Majburiy tartibda tekshiruvdan o‘tadi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qarori bilan shaxs o‘z roziligisiz OIVga tekshirilmoqda. Bu qaysi tekshiruv tartibi?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Ixtiyoriy tartib (shaxs xohishiga ko‘ra)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G‘ayriixtiyoriy tartib (qaror asosida)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Majburiy tartib (ro‘yxat bo‘yicha)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Anonim tartib (ismi ko‘rsatilmasdan)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Shifokorga 16 yoshli o‘smir OIVga tekshirilish uchun keldi. Tekshiruv kimning roziligi bilan o‘tkaziladi?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Maktab direktorining roziligi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Tibbiyot hamshirasining roziligi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Qonuniy vakillarining roziligi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Sinf rahbarining roziligi bilan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16 yoshli Dilnoza OIV (odamning immunitet tanqisligi virusi) yuqtirgan. Qonunga ko‘ra u kasallik bosqichidan qat’i nazar nimaga haqli?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ixtiyoriy tibbiy ko‘rikdan o‘tish huquqiga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Har oylik ijtimoiy nafaqa va imtiyozlar olishga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Davlat xizmatiga imtiyozli qabul qilinishga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Ota-onasi bilan birga ishlash huquqiga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Korxona xodimida OIV aniqlandi, uning kasbi taqiqlangan ro‘yxatda yo‘q. Qonunga ko‘ra rahbarga qaysi harakat YO‘L QO‘YILMAYDI?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Xodimning tibbiy sirini qonun asosida saqlash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Unga tibbiy yordam olishga imkon yaratish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Uni davolanish uchun maxsus markazga yuborish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shu sababli mehnat shartnomasini bekor qilish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Qonunga ko‘ra OIV yuqtirgan shaxslar qaysi faoliyat bilan shug‘ullana olmaydi?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va biologik suyuqliklar donori bo‘lish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Tibbiy yordam muassasasiga murojaat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Oilasi bilan avvalgi turar joyida yashash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Davolanishni bepul olishni davom ettirish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OITS (orttirilgan immunitet tanqisligi sindromi) davosida yangi texnologiyalar qo‘llanganda yaxlitlik tamoyili muammosi nima bilan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Dori vositalarining narxi juda yuqori ekani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Bemorlar sonining tez kamayib borishi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Soha tibbiyotda kam o‘rganilgan qolayotgani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Shifokorlarning ilmiy ishlarga qiziqmasligi bilan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Ayrim mamlakatlarda shifokorlar OIV bilan kasallangan odamlarga yordam berishni ommaviy rad etmoqda. Kitobga ko‘ra rad etishning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 haqining pastligi va ish yukining ko‘pligi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Bemorlarning davolanishga kelmay qo‘yishi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Tibbiyot xodimlarining shaxsiy xavfsizligi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Davolash uchun malakaning yetishmasligi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OITS — OIV infeksiyasi bosqichlaridan biri bo‘lgan sindrom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OIV — odamning immunitet tanqisligi virusi, retrovirus bo‘lib, genetik materiali RNK. OITS — orttirilgan immunitet tanqisligi sindromi. U alohida nozologik birlik sifatida ajratiladi, lekin aslida OIV infeksiyasi bosqichlaridan biridir.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203-bet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Bemorga yordam ko‘rsatmaslik shaklida buzilgan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zararning bu shakli bemorga yordam bermaslik deb ko‘rsatilgan. Ko‘p mamlakatlarda shifokorlarning OIV bilan kasallanganlarga yordamni ommaviy rad etishi kuzatiladi. Sababi tibbiyot xodimlarining shaxsiy xavfsizligi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201-bet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«Yaxshilik qil!» tamoyili bilan bog‘liq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OIV bilan bog‘liq vaziyatda «Yaxshilik qil!» tamoyili faqat bemorni davolashga qaratilmaydi. U bemor atrofidagi shaxslarni yuqishdan saqlashni ham qamrab oladi. Shifokor bunda ichki ziddiyatga tushadi.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202-bet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Boshqa fuqarolar bilan teng huquqqa ega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Huquqiy jihatdan bu toifadagi bemorlar xalqaro huquq va milliy qonunchilikka muvofiq, boshqa fuqarolar bilan sog‘liqni saqlash va tibbiy yordamga teng huquqqa ega. Axloqiy jihatdan esa bu tenglikni to‘liq amalga oshirish muammoli.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202-bet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Adolat tamoyilini buzmoqda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tibbiyot xodimlari ko‘pincha OITSni noto‘g‘ri xatti-harakat uchun jazo deb hisoblashi aytilgan. Natijada turli xavf guruhlaridan kelgan bemorlar tabaqalashtirilgan tarzda davolanadi. Bunday farqlash adolat tamoyiliga zid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202-203-bet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Bemorga zarur tibbiy yordam ko‘rsatilmaganda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OIV infeksiyasida zararning shakli bemorga yordam bermaslikdir. Ko‘p mamlakatlarda shifokorlarning ommaviy rad etishi shaxsiy xavfsizlik bilan izohlanadi, lekin bu tamoyilga zid. Qolgan variantlar boshqa holatlarni tasvirlaydi.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201-bet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DNK emas, balki RNK molekulasi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OIV retroviruslarga mansub, genetik materiali ko‘pchilik hujayralardagidek DNK emas, RNK ekanligi aytilgan. Shuning uchun DNK varianti noto‘g‘ri.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203-bet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Bemor ixtiyoriy xabardor rozilik bergan bo‘lsa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OIV/OITS (orttirilgan immunitet tanqisligi sindromi) bilan kasallangan bemordan qon faqat ixtiyoriy xabardor rozilik bilan olinishi, davolash ham bemor roziligi bilan o‘tkazilishi aytilgan. Bu inson huquqlari va Biotibbiyot bo‘yicha Yevropa Kengashida ifodalangan tamoyildir.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203-204-bet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Stigmatizatsiya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OITS bilan kasallangan odam boshqalar nazarida “moxov”dek ko‘riladi. Bu stigmatizatsiya bo‘lib, ko‘pincha sog‘liqni saqlash xodimlarining maxfiylik qoidalarini buzishi natijasidir.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204-bet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Bemorni oldindan ogohlantirib, maxfiylikni buzish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infeksiyaning haqiqiy xavfi bo‘lsa va bemor sherigiga xabar berishdan bosh tortsa, shifokor bemorni oldindan xabardor qilib maxfiylikni buzishi mumkinligi aytilgan. Bu o‘ta chora bo‘lib, avval bemorning o‘zi sherigini xabardor qilishi (terapevtik hamkorlik) afzal ko‘riladi.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204-205-bet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Shaxsiy huquqlar va jamiyat xavfsizligi nisbati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OIV/OITS epidemiyasi insonning shaxsiy huquqlari va jamiyat xavfsizligi manfaatlari nisbati muammosini dolzarblashtiradi. Boshqa variantlar bu o‘rinda gap bo‘layotgan masala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205-bet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Sherikni oldindan xabardor qilish va maxfiylikni buzish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Yuqish xavfi haqiqiy bo‘lsa va bemor rad etsa, shifokor sherikni oldindan xabardor qilishi, ya’ni maxfiylikni buzishi mumkin. Biroq bu juda katta o‘lchov, shuning uchun avval bemorning o‘zi sherigiga aytishiga erishish afzal.</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204-205-bet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Majburiy tartibda tekshiruvdan o‘tadi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Qonunga ko‘ra, qon va biologik suyuqliklar donorlari OIVga majburiy tekshiruvdan o‘tadi. Ro‘yxatda homilador ayollar va tibbiyot xodimlari ham bor.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G‘ayriixtiyoriy tartib (qaror asosida)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G‘ayriixtiyoriy tekshiruv shaxsning yoki qonuniy vakilining roziligisiz, surishtiruvchi, tergovchi qarori yoki sud ajrimi asosida o‘tkaziladi. Majburiy tekshiruv esa qonundagi toifalar ro‘yxatiga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207-208-bet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Qonuniy vakillarining roziligi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Qonunga ko‘ra, voyaga yetmaganlar va muomalaga layoqatsiz yoki cheklangan shaxslar qonuniy vakillarining roziligi bilan tekshiriladi. Natija ham qonuniy vakillarga beriladi.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Har oylik ijtimoiy nafaqa va imtiyozlar olishga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18 yoshga to‘lmagan OIV yuqtirganlar kasallik bosqichidan qat’i nazar har oylik ijtimoiy nafaqa va nogiron bolalar uchun imtiyozlar olish huquqiga ega. Boshqa variantlar manbada bunday huquq sifatida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208-bet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Faqat shu sababli mehnat shartnomasini bekor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 OIV bilan yashovchilar bilan mehnat shartnomasini bekor qilishga va ishga qabul qilishni rad etishga yo‘l qo‘ymaydi. Istisno faqat Sog‘liqni saqlash vazirligi ro‘yxatidagi ayrim kasblar uchun.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209-bet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Qon va biologik suyuqliklar donori bo‘lish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 OIV yuqtirgan shaxslar huquqlari cheklanadigan holatni belgilaydi: ular qon va biologik suyuqliklar donori bo‘la olmaydi. Qolgan variantlar ularning saqlanadigan huquqlariga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209-bet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Soha tibbiyotda kam o‘rganilgan qolayotgani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 muammoni OIV/OITS tibbiyotning kam o‘rganilgan sohasi bo‘lib qolayotgani bilan bog‘laydi. Yangi texnologiyani klinikada qo‘llash jismoniy va ruhiy yaxlitlikka potensial tahdidni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Tibbiyot xodimlarining shaxsiy xavfsizligi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rad etishning sababi tibbiyot xodimlarining shaxsiy xavfsizligidir. Bu ‘Zarar yetkazma!’ tamoyili nuqtai nazaridan axloqiy muammo, chunki yordam bermaslik ham zarar shaklidir.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201-bet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OITSning axloqiy va huquqiy masalalari: OIV bilan yashovchilar huquqlari, eksperimental da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Indiaminov S.I. Bioetika (o‘quv qo‘llanma), Samarqand. 2022. XVII bob (OIV/OITS), kitob betlari 201-211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