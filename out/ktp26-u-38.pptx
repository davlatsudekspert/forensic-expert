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sud-tibbiy travmatologiya klinik travmatologiyadan farq qiladi? 2) Nega mexanik jarohatlar ekspertizada etakchi o‘rinda? Doskada: ma’ruza rejasini 6 banddan iborat zanjir ko‘rinishida chizdiring. Tipik xato: talabalar shok mavzusini alohida katta bo‘lim deb o‘ylaydi, manbada u o‘lim sabablaridan biri sifatida berilgan. Manbada boshqa shok turlari yo‘qligini ochiq ayting.</a:t>
            </a:r>
          </a:p>
          <a:p/>
          <a:p>
            <a:r>
              <a:t>Tekshirish kerak (manbada noaniq):</a:t>
            </a:r>
          </a:p>
          <a:p>
            <a:r>
              <a:t>- Shokdan manbada faqat travmatik shok (qon yo‘qotish bilan birga) yoritilgan. Boshqa shok turlari berilmagan.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Jarohat va kasallikni nima ajratadi? 2) Jinoyat huquqidagi va sud tibbiyotidagi ‘tan jarohati’ tushunchasi qanday bog‘lanadi? Doskada: ikki ustunli sxema chizdiring — ‘tashqi ta’sir → jarohat’ va ‘ichki ta’sir → kasallik’. Tipik xato: talabalar har qanday sog‘liq buzilishini jarohat deb hisoblaydi. Ta’sirning manbasi (tashqi yoki ichki) hal qiluvchi mezon ekanini uqtiring.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Fizik omilning qaysi turchalarini bilasiz va ularga misol keltiring. 2) Nega ruhiy ta’sir oqibatlari sud psixiatriyasi predmeti hisoblanadi? Doskada: jadvalni 4 qator, 2 ustun ko‘rinishida chizing va har bir qatorga o‘z misolingizni qo‘shing. Tipik xato: elektr tokini ‘jism’ deb hisoblash. Manbada u holat yoki hodisa qatoriga kiritilgan.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klinik va sud-tibbiy diagnozda avval shu tasnif mezonlari aniqlanadi? 2) Qanday misolda jarohat murakkab, lekin cheklangan bo‘ladi? Doskada: uch mezonli (omil turi – soha – soni) tasnif daraxtini chizdiring. Tipik xato: murakkab va qo‘sh tushunchalarini aralashtirish. Eslatma: manbadagi ‘qoining termik kuyishi’ matni skanerda aniq emas, ehtimol ‘qo‘lning’ degani.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bu bo‘linish ‘shartli’ deyiladi? 2) Shok holatida morfologik belgilar kam bo‘lsa, ekspert nimaga tayanadi? Doskada: struktura va funksiya o‘rtasidagi bog‘liqlikni ko‘rsatuvchi ikki tomonlama strelkali sxema chizdiring. Tipik xato: guruhlarni mutlaq ajratilgan deb o‘ylash; manbada ular shartli farqlanadi.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travmatizm turlari faoliyat xususiyatiga bog‘lanadi? 2) Ekspertiza materiallari profilaktikada qanday foyda beradi? Doskada: travmatizm turlarining daraxt sxemasini chizdiring. Tipik xato: travmatizmni bitta jarohat bilan tenglashtirish; u turdosh jarohatlar majmuidir.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Javob: murakkab qo‘sh ko‘p shikastlanish (manbadagi misol). Muhokama: 1) Nega klinik va sud-tibbiy diagnozda avval shu mezonlarga ko‘ra jarohatga aniqlik kiritiladi? 2) Oddiy va murakkab jarohat nimasi bilan farq qiladi? Doskada: uchta mezonni (ta’sir turi, soha, son) ustun qilib yozib, har biriga misol keltirtiring. Tipik xato: oddiy/murakkab (ta’sir turlari soni) bilan cheklangan/qo‘sh (sohalar soni)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sud-tibbiy ekspertizada hayotiylikni aniqlash juda muhim? 2) Reanimatsiya paytida murdada jarohat paydo bo‘lishi ekspertizaga qanday xalaqit berishi mumkin? Doskada: ikki ustun chizing — «qasddan» va «tasodifan» o‘limdan keyingi jarohat sabablari. Tipik xato: jarohatning o‘zini hayotiy deb hisoblash; hayotiylik organizm reaksiyasi belgilari bilan isbotlanadi.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belgilar murda tekshiruvida, qaysilari mikroskopda ko‘proq aniqlanadi? 2) Nega bitta belgiga tayanib xulosa qilish xavfli? Doskada: jadvalni chizib, talabalar bilan to‘ldiring; embol turlarini (havo, yog‘, to‘qima, yot modda) alohida yozing. Tipik xato: mahalliy belgini (masalan, shish) umumiy belgi deb yozish. Manbada ro‘yxat to‘liqroq (mioglobin, yog‘ to‘qimasi, mushak qisqarishi va h.k.): jadvalda faqat asosiylari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hayotiylik belgilari hamma holatda bir xil aniq bo‘lmaydi? 2) Filogenetik yosh tushunchasi ekspert xulosasiga qanday ta’sir qiladi? Doskada chizish: jarohat turi, soni, ko‘lami, organizm xususiyatlari va to‘qima yoshini aniqlikka olib boruvchi strelkalar sxemasi. Tipik xato: o‘limdan keyingi har qanday o‘zgarishni darhol hayotiy jarohat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usul jarohat muddatini aniqlashda yordam beradi? 2) Nega o‘lchov tekshiruvi har doim o‘tkaziladi? Doskada chizish: usul va maqsad jadvalini talabalar bilan birga to‘ldiring. Tipik xato: rentgenografiya va gistologiyaning vazifalarini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Faqat diagnoz yozilgan hujjatdan ekspert nimani bilib ololmaydi? 2) Klinitsist tavsifida qaysi ma’lumotlar bo‘lishi kerak? Doskada chizish: jarohat tavsifi namunasi (joyi, shakli, o‘lchami, rangi). Tipik xato: tibbiy hujjatda jarohat tavsifini o‘rniga faqat diagnoz bilan cheklanish.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tashqi qon ketishi yagona dalil bo‘la olmaydi? 2) Mahalliy va umumiy belgilarni kim qanday birlashtiradi? Doskada: ikki ustunli ro‘yxat (umumiy | mahalliy) chizdiring. Tipik xato: talabalar faqat bitta belgiga qarab xulosa chiqaradi; belgilarning aniqligi jarohat turi, soni, ko‘lami va organizm xususiyatiga bog‘liqligini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Tosh qachon qurol, qachon jism hisoblanadi? 2) Nega tezlik va massa jarohat ko‘lamini belgilaydi? Doskada: kinetik energiya bog‘liqligini (massa, tezlik → jarohat yaqqolligi) strelkalar bilan chizdiring. Tipik xato: bolta yoki pichoqni ‘qurol’ deb atash; manbada ular anjomga kiradi.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birlamchi sabablar yetti band bo‘lib, ular qisqa muddatda o‘limga olib keladi? 2) Emboliya ikkala guruhda uchraydi — farqi nimada? Doskada: ikki shoxli daraxt (birlamchi / ikkilamchi) chizib, ostiga misollarni yozdiring. Tipik xato: shokni faqat ikkilamchi sabab deb hisoblash; manbada u birlamchi ro‘yxatda ham, kechki ikkilamchi hodisa sifatida ham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bunday jarohatlar hayot bilan nomutanosib deyiladi? 2) Qaysi hodisalarda ular ko‘proq uchraydi? Doskada chizish: mexanik jarohatdan o‘limning birlamchi sabablari ro‘yxati, birinchi ikki bandni belgilang. Tipik xato: talabalar yurakning lat eyishi bilan chayqalishini bir narsa deb o‘ylaydi. Ular alohida atalgan, chayqalishda reflektor to‘xtash xavfi bor.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o‘tkir yo‘qotishda oz qon ketsa ham o‘lim tez keladi? 2) Taloq holati ikki holatda qanday farq qiladi? Doskada chizish: ikki ustunli jadvalni talabalar bilan birga to‘ldiring. Tipik xato: qon yo‘qotish sur’atini hisobga olmay, faqat hajmga qarash. Hajm ham, sur’at ham muhim.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Dog‘lar yurakning qaysi qismida va qanday shaklda topiladi? 2) Ular nima uchun paydo bo‘ladi? Doskada chizish: yurak chap qorinchasining kesimi va endokard ostidagi tasmasimon dog‘lar. Tipik xato: Minakov dog‘larini murda dog‘lari bilan adashtirish. Ular endokard ostidagi qon quyilishlardir.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Shokda aylanayotgan qon hajmi va tomir tizimi hajmi o‘rtasidagi nomutanosiblik nimani bildiradi? 2) Shokda jarohatdan tashqari qanday umumiy o‘zgarishlar topiladi? Doskada: shok zanjirini 5 bosqichda chizdiring. Tipik xato: shokni qon yo‘qotishdan o‘limning alohida sababi sifatida farqlamaslik. Diqqat: travmatik shok ≠ qon yo‘qotish; ular o‘limning alohida birlamchi sabablaridir.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Gematoma miyani qanday holatda qisadi? 2) Qaysi suyaklar sinishi qonning nafas yo‘llariga tushishiga sabab bo‘ladi? Doskada: miya qobig‘i qavatlarini va gematoma o‘rnini sxematik chizing. Tipik xato: gemoperikard, pnevmotoraks va gemotoraksni bir-biridan farqlamaslik. Qisilish va aspiratsion asfiksiya turli mexanizmlar ekanini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yog‘ emboliyasida o‘lim shikastdan 2-3 kun keyin bo‘ladi? 2) Havo emboliyasida murdaning ichki tekshiruvi nima sababdan ko‘krak qafasidan boshlanadi? Doskada: Sunsov sinamasi bosqichlarini chizing. Tipik xato: Sudan III va Sudan IV ranglarini almashtirib yuborish. Eslab qoling: III — olovrang qizil, IV — qora.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qon yo‘qotish sur’ati nega hajmdan kam emas? Yog‘ emboliyasida o‘lim nega kechikadi? Doskada A va B uchun morfologik belgilarni ikki ustunda yozdiring. Javob: A da qon tez yo‘qoladi va yurak to‘xtaydi, B da mayda yog‘ zarralari o‘pka tomirlarini sekin yopadi. Tipik xato: Minakov dog‘larini ko‘p qon yo‘qotishning doimiy belgisi deb hisoblash; ular asosan o‘tkir qon yo‘qotishda xos.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bitta jism nega bir holatda cheklangan, boshqasida cheklanmagan yuzali bo‘lishi mumkin? Bevosita va bilvosita jarohatga misol keltiring. Doskada jadvalni o‘zlari chizsin va har qatorga bittadan misol yozsin. Tipik xato: cheklangan va cheklanmagan yuzani absolyut tushuncha deb o‘ylash, aslida u nisbiy.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inersion travmada jarohat zarba joyidan uzoqda ham topiladi? Aks zarb nima? Doskada ikki jismni (kichik va katta massali) chizib, shikast tarqalishini ko‘rsatishni so‘rang. Tipik xato: impression va inersionni faqat zarba kuchi bo‘yicha farqlash, holbuki asosiy mezon massa va ta’sir kuchining nisbati.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siqilishda tashqi jarohat ichki jarohatdan yengilroq bo‘lishi mumkin? 2) Ikkinchi kuch vazifasini nima bajarishi mumkin (devor, yer, fiksatsiya)? Doskada: ikkita qarama-qarshi strelka (siqilish va cho‘zilish) hamda ikki aylana strelkasi (buralish) chizdiring. Tipik xato: siqilish va cho‘zilishni, bevosita va bilvosita jarohatni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Shilinma bosqichi jarohat muddatini aniqlashga qanday yordam beradi? 2) Pergament dog‘ini shilinmadan qaysi belgilar bilan ajratamiz? Doskada: 4 bosqichli vaqt chizig‘ini chizib, har bosqichga muddat va belgi yozdiring. Tipik xato: muddatlarni qat’iy deb hisoblash va pergament dog‘ini hayotiy shilinma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rang chekkadan o‘zgara boshlaydi? 2) Ko‘z, lab shilliq qavati va bo‘yinda nega rang tuslanmaydi (faqat oqarib yo‘qoladi)? Doskada: qontalash markazi va chetini chizib, rang o‘zgarish yo‘nalishini strelka bilan ko‘rsating. Tipik xato: rang muddatlarini aniq deb olish va bilvosita qontalashni shakl bo‘yicha jismga bog‘lash.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Pergament dog‘ini shilinmadan qaysi belgilar ajratadi? 2) Nega qontalash muddatini aniq aytib bo‘lmaydi (muddatlar taxminiy)? Doskada chizish: qontalash rangining o‘zgarish ketma-ketligi (ko‘kimtir → yashil → sariq). Tipik xato: pergament dog‘ini hayotiy shilinma deb qabul qilish; ko‘z, lab shilliq qavati va bo‘yindagi qontalashlar tuslanmasligini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yara shakli bo‘yicha jism turini taxmin qilish mumkin? 2) O‘tmas jism yarasida tashqi qon ketishi nega kuchsiz bo‘ladi va chandiq qanday bitadi? Doskada chizish: yara elementlari — chet, uch, chekka devor, tub — va jadvaldagi to‘rt mexanizm. Tipik xato: o‘tmas jism yarasini kesma yara bilan adashtirish (chetlari tekis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yorilish bo‘rtib turgan suyakka yaqin joyda hosil bo‘ladi? 2) Yorilish va yara farqi jarohat mexanizmini aniqlashga qanday yordam beradi? Doskada chizish: jadvalni daftarga ko‘chirib, har belgi uchun kichik sxema chizish. Tipik xato: yorilishni yara deb baholash va uni to‘g‘ridan-to‘g‘ri zarb natijasi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Muvaqqat va doimiy deformatsiya nimasi bilan farq qiladi? 2) Qaysi deformatsiya turi amaliyotda eng ko‘p uchraydi? (egilish). Doskada: to‘rt deformatsiya turida kuch yo‘nalishini o‘qlar bilan chizdiring. Tipik xato: muvaqqat deformatsiyani sinish deb hisoblash; u ta’sir tugagach izsiz qaytadi.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Sinish chizig‘iga qarab kuch qaysi tomondan ta’sir qilganini qanday aniqlaymiz? 2) Qobirg‘a sinishi yurak massajidan ekanini nima ko‘rsatadi? Doskada: egilgan suyak sxemasini chizib, cho‘zilish va siqilish tomonlarini belgilang. Tipik xato: Diqqat — cho‘zilish tomoni siqilish tomoni bilan chalkashtiriladi; tekis chetli va zich mos keluvchi sinish cho‘zilish tomoniga xos.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 Muhokama: 1) Nega asosiy jarohatlar V bosqichda hosil bo‘ladi? 2) Bosqichli va erkin bo‘lmagan yiqilishda IV bosqichda jarohat qanday paydo bo‘lishi mumkin? Doskada: olti bosqichni strelkalar bilan chizing va birlamchi hamda ikkilamchi jarohat joylarini belgilang. Tipik xato: passiv yiqilishni aktiv bilan almashtirish; aktivda yiqilishdan oldin tana boshlang‘ich tezlanish oladi.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yuz bilan yiqilganda aks zarb jarohati bo‘lmaydi? 2) Ikkilamchi jarohat qaysi bosqichda paydo bo‘ladi? Doskada: ikki turdagi yiqilish bosqichlarini yonma-yon chizdiring. Tipik xato: talabalar aks zarb jarohatini barcha yiqilishlarda uchraydi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A holatida tashqi jarohat nega kam, ichki shikast esa jiddiy? 2) B holatida ikkilamchi jarohat kutilarmidi? Doskada: A va B holatlari uchun tananing zarblanish nuqtalarini sxemada belgilang. Tipik xato: bilvosita jarohatni zarb joyidagi jarohat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O‘tmas va o‘tkir jism jarohati nimasi bilan farq qiladi? 2) Nega bitta pichoq turli yara qoldirishi mumkin? Doskada: kesma yaraning tashqi ko‘rinishi va uzunasiga kesimini chizing. Tipik xato: sanchuvchi-kesuvchi jismni faqat sanchuvchi jism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Anatomik va funksional jarohatni qanday farqlaysiz? 2) Taloq holati o‘tkir va ko‘p qon yo‘qotishda nimasi bilan farq qiladi? Doskada: ikki ustunli taqqoslash (qon yo‘qotish va shok) chizdiring. Nazorat savollari: tan jarohati ta’rifi, Minakov dog‘lari, travmatik shokning o‘limga olib keladigan darajasi. Tipik xato: shokdagi taloq va qon yo‘qotishdagi taloq belgilarini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Turli xil shoklarning morfologik xususiyatlari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Sud-tibbiy travmatologiya shikastlanish mexanizmi va vaqtini, jarohat etkazgan jismni aniqlaydi va jarohatni sud-tibbiy baholaydi.</a:t>
            </a:r>
          </a:p>
          <a:p>
            <a:pPr>
              <a:spcAft>
                <a:spcPts val="1200"/>
              </a:spcAft>
            </a:pPr>
            <a:r>
              <a:rPr sz="2200">
                <a:solidFill>
                  <a:srgbClr val="1F2937"/>
                </a:solidFill>
                <a:latin typeface="Calibri"/>
              </a:rPr>
              <a:t>▸  Mexanik jarohatlar ekspertiza amaliyotida etakchi. O‘lim sabablari tarkibida ular yurak-qon tomir va onkologik kasalliklardan keyin turadi.</a:t>
            </a:r>
          </a:p>
          <a:p>
            <a:pPr>
              <a:spcAft>
                <a:spcPts val="1200"/>
              </a:spcAft>
            </a:pPr>
            <a:r>
              <a:rPr sz="2200">
                <a:solidFill>
                  <a:srgbClr val="1F2937"/>
                </a:solidFill>
                <a:latin typeface="Calibri"/>
              </a:rPr>
              <a:t>▸  Reja: tan jarohati, shikastlovchi omillar, travmatizm, jarohat hayotiyligi, mexanik jarohatlar va ulardan o‘lim sabablari.</a:t>
            </a:r>
          </a:p>
          <a:p>
            <a:pPr>
              <a:spcAft>
                <a:spcPts val="1200"/>
              </a:spcAft>
            </a:pPr>
            <a:r>
              <a:rPr sz="2200">
                <a:solidFill>
                  <a:srgbClr val="1F2937"/>
                </a:solidFill>
                <a:latin typeface="Calibri"/>
              </a:rPr>
              <a:t>▸  Shokdan manbada faqat travmatik shok (qon yo‘qotish bilan birga) yoritilgan. Boshqa shok turlari berilmagan.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 26, 25–31,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 jarohati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Travmatologiya (grekcha: trauma — shikast, logos — ta’limot) shikastlanishlar haqidagi fan. Klinikada u diagnostika, davolash va profilaktika bilan shug‘ullanadi.</a:t>
            </a:r>
          </a:p>
          <a:p>
            <a:pPr>
              <a:spcAft>
                <a:spcPts val="1200"/>
              </a:spcAft>
            </a:pPr>
            <a:r>
              <a:rPr sz="2200">
                <a:solidFill>
                  <a:srgbClr val="1F2937"/>
                </a:solidFill>
                <a:latin typeface="Calibri"/>
              </a:rPr>
              <a:t>▸  Sud-tibbiy travmatologiya shikastlanish mexanizmi va vaqtini, jarohat etkazgan jismni aniqlaydi va jarohatni baholaydi.</a:t>
            </a:r>
          </a:p>
          <a:p>
            <a:pPr>
              <a:spcAft>
                <a:spcPts val="1200"/>
              </a:spcAft>
            </a:pPr>
            <a:r>
              <a:rPr sz="2200">
                <a:solidFill>
                  <a:srgbClr val="1F2937"/>
                </a:solidFill>
                <a:latin typeface="Calibri"/>
              </a:rPr>
              <a:t>▸  Tan jarohati — tashqi ta’sir natijasida a’zo va to‘qimalarning anatomik butunligi yoki fiziologik funksiyasining buzilishi.</a:t>
            </a:r>
          </a:p>
          <a:p>
            <a:pPr>
              <a:spcAft>
                <a:spcPts val="1200"/>
              </a:spcAft>
            </a:pPr>
            <a:r>
              <a:rPr sz="2200">
                <a:solidFill>
                  <a:srgbClr val="1F2937"/>
                </a:solidFill>
                <a:latin typeface="Calibri"/>
              </a:rPr>
              <a:t>▸  Diqqat: xato qilish xavfi. Xuddi shu buzilish ichki ta’sirdan kelib chiqsa, u kasallik deyiladi. Jarohat ≠ kasallik.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Shikastlovchi omillarning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Shikastlovchi tashqi ta’sirning to‘rt turi farqlanadi: fizik, kimyoviy, biologik va ruhiy.</a:t>
            </a:r>
          </a:p>
          <a:p>
            <a:pPr>
              <a:spcAft>
                <a:spcPts val="800"/>
              </a:spcAft>
            </a:pPr>
            <a:r>
              <a:rPr sz="1800">
                <a:solidFill>
                  <a:srgbClr val="1F2937"/>
                </a:solidFill>
                <a:latin typeface="Calibri"/>
              </a:rPr>
              <a:t>▸  Omil jism, modda yoki holat (hodisa) bo‘lishi mumkin. Elektr toki va bosim o‘zgarishi holat hisoblanadi.</a:t>
            </a:r>
          </a:p>
          <a:p>
            <a:pPr>
              <a:spcAft>
                <a:spcPts val="800"/>
              </a:spcAft>
            </a:pPr>
            <a:r>
              <a:rPr sz="1800">
                <a:solidFill>
                  <a:srgbClr val="1F2937"/>
                </a:solidFill>
                <a:latin typeface="Calibri"/>
              </a:rPr>
              <a:t>▸  Ruhiy ta’sirni sud psixiatriyasi o‘rganadi. Ba’zan bir necha omil birgalikda ta’sir etadi.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Omil turi</a:t>
                      </a:r>
                    </a:p>
                  </a:txBody>
                  <a:tcPr marL="73152" marR="73152" marT="36576" marB="36576">
                    <a:solidFill>
                      <a:srgbClr val="0B1F3A"/>
                    </a:solidFill>
                  </a:tcPr>
                </a:tc>
                <a:tc>
                  <a:txBody>
                    <a:bodyPr/>
                    <a:lstStyle/>
                    <a:p>
                      <a:r>
                        <a:rPr sz="1800" b="1">
                          <a:solidFill>
                            <a:srgbClr val="FFFFFF"/>
                          </a:solidFill>
                        </a:rPr>
                        <a:t>Misollar</a:t>
                      </a:r>
                    </a:p>
                  </a:txBody>
                  <a:tcPr marL="73152" marR="73152" marT="36576" marB="36576">
                    <a:solidFill>
                      <a:srgbClr val="0B1F3A"/>
                    </a:solidFill>
                  </a:tcPr>
                </a:tc>
              </a:tr>
              <a:tr h="614476">
                <a:tc>
                  <a:txBody>
                    <a:bodyPr/>
                    <a:lstStyle/>
                    <a:p>
                      <a:r>
                        <a:rPr sz="1700" b="0">
                          <a:solidFill>
                            <a:srgbClr val="1F2937"/>
                          </a:solidFill>
                        </a:rPr>
                        <a:t>Fizik</a:t>
                      </a:r>
                    </a:p>
                  </a:txBody>
                  <a:tcPr marL="73152" marR="73152" marT="36576" marB="36576">
                    <a:solidFill>
                      <a:srgbClr val="E8EEF6"/>
                    </a:solidFill>
                  </a:tcPr>
                </a:tc>
                <a:tc>
                  <a:txBody>
                    <a:bodyPr/>
                    <a:lstStyle/>
                    <a:p>
                      <a:r>
                        <a:rPr sz="1700" b="0">
                          <a:solidFill>
                            <a:srgbClr val="1F2937"/>
                          </a:solidFill>
                        </a:rPr>
                        <a:t>Mexanik, termik, barometrik, elektr, nur</a:t>
                      </a:r>
                    </a:p>
                  </a:txBody>
                  <a:tcPr marL="73152" marR="73152" marT="36576" marB="36576">
                    <a:solidFill>
                      <a:srgbClr val="E8EEF6"/>
                    </a:solidFill>
                  </a:tcPr>
                </a:tc>
              </a:tr>
              <a:tr h="614476">
                <a:tc>
                  <a:txBody>
                    <a:bodyPr/>
                    <a:lstStyle/>
                    <a:p>
                      <a:r>
                        <a:rPr sz="1700" b="0">
                          <a:solidFill>
                            <a:srgbClr val="1F2937"/>
                          </a:solidFill>
                        </a:rPr>
                        <a:t>Kimyoviy</a:t>
                      </a:r>
                    </a:p>
                  </a:txBody>
                  <a:tcPr marL="73152" marR="73152" marT="36576" marB="36576">
                    <a:solidFill>
                      <a:srgbClr val="FFFFFF"/>
                    </a:solidFill>
                  </a:tcPr>
                </a:tc>
                <a:tc>
                  <a:txBody>
                    <a:bodyPr/>
                    <a:lstStyle/>
                    <a:p>
                      <a:r>
                        <a:rPr sz="1700" b="0">
                          <a:solidFill>
                            <a:srgbClr val="1F2937"/>
                          </a:solidFill>
                        </a:rPr>
                        <a:t>Zaharlar, kimyoviy moddalar, dori-darmonlar</a:t>
                      </a:r>
                    </a:p>
                  </a:txBody>
                  <a:tcPr marL="73152" marR="73152" marT="36576" marB="36576">
                    <a:solidFill>
                      <a:srgbClr val="FFFFFF"/>
                    </a:solidFill>
                  </a:tcPr>
                </a:tc>
              </a:tr>
              <a:tr h="614476">
                <a:tc>
                  <a:txBody>
                    <a:bodyPr/>
                    <a:lstStyle/>
                    <a:p>
                      <a:r>
                        <a:rPr sz="1700" b="0">
                          <a:solidFill>
                            <a:srgbClr val="1F2937"/>
                          </a:solidFill>
                        </a:rPr>
                        <a:t>Biologik</a:t>
                      </a:r>
                    </a:p>
                  </a:txBody>
                  <a:tcPr marL="73152" marR="73152" marT="36576" marB="36576">
                    <a:solidFill>
                      <a:srgbClr val="E8EEF6"/>
                    </a:solidFill>
                  </a:tcPr>
                </a:tc>
                <a:tc>
                  <a:txBody>
                    <a:bodyPr/>
                    <a:lstStyle/>
                    <a:p>
                      <a:r>
                        <a:rPr sz="1700" b="0">
                          <a:solidFill>
                            <a:srgbClr val="1F2937"/>
                          </a:solidFill>
                        </a:rPr>
                        <a:t>Toksinlar, mikroorganizmlar</a:t>
                      </a:r>
                    </a:p>
                  </a:txBody>
                  <a:tcPr marL="73152" marR="73152" marT="36576" marB="36576">
                    <a:solidFill>
                      <a:srgbClr val="E8EEF6"/>
                    </a:solidFill>
                  </a:tcPr>
                </a:tc>
              </a:tr>
              <a:tr h="614476">
                <a:tc>
                  <a:txBody>
                    <a:bodyPr/>
                    <a:lstStyle/>
                    <a:p>
                      <a:r>
                        <a:rPr sz="1700" b="0">
                          <a:solidFill>
                            <a:srgbClr val="1F2937"/>
                          </a:solidFill>
                        </a:rPr>
                        <a:t>Ruhiy</a:t>
                      </a:r>
                    </a:p>
                  </a:txBody>
                  <a:tcPr marL="73152" marR="73152" marT="36576" marB="36576">
                    <a:solidFill>
                      <a:srgbClr val="FFFFFF"/>
                    </a:solidFill>
                  </a:tcPr>
                </a:tc>
                <a:tc>
                  <a:txBody>
                    <a:bodyPr/>
                    <a:lstStyle/>
                    <a:p>
                      <a:r>
                        <a:rPr sz="1700" b="0">
                          <a:solidFill>
                            <a:srgbClr val="1F2937"/>
                          </a:solidFill>
                        </a:rPr>
                        <a:t>Kuchli hayajon, qo‘rquv</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Shikastlovchi omillar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 tasnifi: oddiy, murakkab, qo‘sh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Bitta omil ta’siridagi jarohat – oddiy; ikki va undan ortiq tur ta’siridagi jarohat – murakkab.</a:t>
            </a:r>
          </a:p>
          <a:p>
            <a:pPr>
              <a:spcAft>
                <a:spcPts val="800"/>
              </a:spcAft>
            </a:pPr>
            <a:r>
              <a:rPr sz="1800">
                <a:solidFill>
                  <a:srgbClr val="1F2937"/>
                </a:solidFill>
                <a:latin typeface="Calibri"/>
              </a:rPr>
              <a:t>▸  Bir soha yoki bir segment – cheklangan, ikki va undan ortiq soha – qo‘sh; soniga ko‘ra yakka yoki ko‘p.</a:t>
            </a:r>
          </a:p>
          <a:p>
            <a:pPr>
              <a:spcAft>
                <a:spcPts val="800"/>
              </a:spcAft>
            </a:pPr>
            <a:r>
              <a:rPr sz="1800">
                <a:solidFill>
                  <a:srgbClr val="1F2937"/>
                </a:solidFill>
                <a:latin typeface="Calibri"/>
              </a:rPr>
              <a:t>▸  Diqqat: murakkab ≠ qo‘sh. Murakkab omil turiga, qo‘sh esa shikastlangan soha soniga qaraydi.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3380836"/>
                <a:gridCol w="1907138"/>
              </a:tblGrid>
              <a:tr h="768096">
                <a:tc>
                  <a:txBody>
                    <a:bodyPr/>
                    <a:lstStyle/>
                    <a:p>
                      <a:r>
                        <a:rPr sz="1800" b="1">
                          <a:solidFill>
                            <a:srgbClr val="FFFFFF"/>
                          </a:solidFill>
                        </a:rPr>
                        <a:t>Misol</a:t>
                      </a:r>
                    </a:p>
                  </a:txBody>
                  <a:tcPr marL="73152" marR="73152" marT="36576" marB="36576">
                    <a:solidFill>
                      <a:srgbClr val="0B1F3A"/>
                    </a:solidFill>
                  </a:tcPr>
                </a:tc>
                <a:tc>
                  <a:txBody>
                    <a:bodyPr/>
                    <a:lstStyle/>
                    <a:p>
                      <a:r>
                        <a:rPr sz="1800" b="1">
                          <a:solidFill>
                            <a:srgbClr val="FFFFFF"/>
                          </a:solidFill>
                        </a:rPr>
                        <a:t>Tasnif</a:t>
                      </a:r>
                    </a:p>
                  </a:txBody>
                  <a:tcPr marL="73152" marR="73152" marT="36576" marB="36576">
                    <a:solidFill>
                      <a:srgbClr val="0B1F3A"/>
                    </a:solidFill>
                  </a:tcPr>
                </a:tc>
              </a:tr>
              <a:tr h="768096">
                <a:tc>
                  <a:txBody>
                    <a:bodyPr/>
                    <a:lstStyle/>
                    <a:p>
                      <a:r>
                        <a:rPr sz="1700" b="0">
                          <a:solidFill>
                            <a:srgbClr val="1F2937"/>
                          </a:solidFill>
                        </a:rPr>
                        <a:t>Ko‘krak qafasida sanchma yara</a:t>
                      </a:r>
                    </a:p>
                  </a:txBody>
                  <a:tcPr marL="73152" marR="73152" marT="36576" marB="36576">
                    <a:solidFill>
                      <a:srgbClr val="E8EEF6"/>
                    </a:solidFill>
                  </a:tcPr>
                </a:tc>
                <a:tc>
                  <a:txBody>
                    <a:bodyPr/>
                    <a:lstStyle/>
                    <a:p>
                      <a:r>
                        <a:rPr sz="1700" b="0">
                          <a:solidFill>
                            <a:srgbClr val="1F2937"/>
                          </a:solidFill>
                        </a:rPr>
                        <a:t>Oddiy cheklangan yakka</a:t>
                      </a:r>
                    </a:p>
                  </a:txBody>
                  <a:tcPr marL="73152" marR="73152" marT="36576" marB="36576">
                    <a:solidFill>
                      <a:srgbClr val="E8EEF6"/>
                    </a:solidFill>
                  </a:tcPr>
                </a:tc>
              </a:tr>
              <a:tr h="768096">
                <a:tc>
                  <a:txBody>
                    <a:bodyPr/>
                    <a:lstStyle/>
                    <a:p>
                      <a:r>
                        <a:rPr sz="1700" b="0">
                          <a:solidFill>
                            <a:srgbClr val="1F2937"/>
                          </a:solidFill>
                        </a:rPr>
                        <a:t>Miya chayqalishi, qorinda qontalash</a:t>
                      </a:r>
                    </a:p>
                  </a:txBody>
                  <a:tcPr marL="73152" marR="73152" marT="36576" marB="36576">
                    <a:solidFill>
                      <a:srgbClr val="FFFFFF"/>
                    </a:solidFill>
                  </a:tcPr>
                </a:tc>
                <a:tc>
                  <a:txBody>
                    <a:bodyPr/>
                    <a:lstStyle/>
                    <a:p>
                      <a:r>
                        <a:rPr sz="1700" b="0">
                          <a:solidFill>
                            <a:srgbClr val="1F2937"/>
                          </a:solidFill>
                        </a:rPr>
                        <a:t>Oddiy qo‘sh ko‘p</a:t>
                      </a:r>
                    </a:p>
                  </a:txBody>
                  <a:tcPr marL="73152" marR="73152" marT="36576" marB="36576">
                    <a:solidFill>
                      <a:srgbClr val="FFFFFF"/>
                    </a:solidFill>
                  </a:tcPr>
                </a:tc>
              </a:tr>
              <a:tr h="768096">
                <a:tc>
                  <a:txBody>
                    <a:bodyPr/>
                    <a:lstStyle/>
                    <a:p>
                      <a:r>
                        <a:rPr sz="1700" b="0">
                          <a:solidFill>
                            <a:srgbClr val="1F2937"/>
                          </a:solidFill>
                        </a:rPr>
                        <a:t>Qobirg‘a sinishi va qo‘l termik kuyishi</a:t>
                      </a:r>
                    </a:p>
                  </a:txBody>
                  <a:tcPr marL="73152" marR="73152" marT="36576" marB="36576">
                    <a:solidFill>
                      <a:srgbClr val="E8EEF6"/>
                    </a:solidFill>
                  </a:tcPr>
                </a:tc>
                <a:tc>
                  <a:txBody>
                    <a:bodyPr/>
                    <a:lstStyle/>
                    <a:p>
                      <a:r>
                        <a:rPr sz="1700" b="0">
                          <a:solidFill>
                            <a:srgbClr val="1F2937"/>
                          </a:solidFill>
                        </a:rPr>
                        <a:t>Murakkab qo‘sh ko‘p</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Tasniflash misollari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Anatomik va funksional shikastlanishlar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Ayrim jarohatlarda morfologik o‘zgarish yaqqol, boshqalarida funksiya buzilishi birinchi o‘ringa chiqadi.</a:t>
            </a:r>
          </a:p>
          <a:p>
            <a:pPr>
              <a:spcAft>
                <a:spcPts val="800"/>
              </a:spcAft>
            </a:pPr>
            <a:r>
              <a:rPr sz="1800">
                <a:solidFill>
                  <a:srgbClr val="1F2937"/>
                </a:solidFill>
                <a:latin typeface="Calibri"/>
              </a:rPr>
              <a:t>▸  Asosan anatomik: shilinma, qontalash, yara, sinish, chiqish, majaqlanish, ichki a’zolar yorilishi.</a:t>
            </a:r>
          </a:p>
          <a:p>
            <a:pPr>
              <a:spcAft>
                <a:spcPts val="800"/>
              </a:spcAft>
            </a:pPr>
            <a:r>
              <a:rPr sz="1800">
                <a:solidFill>
                  <a:srgbClr val="1F2937"/>
                </a:solidFill>
                <a:latin typeface="Calibri"/>
              </a:rPr>
              <a:t>▸  Asosan funksional: refleksogen sohaga zarbdan shok, chayqalish, aspiratsion asfiksiya.</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55420"/>
                <a:gridCol w="1959734"/>
                <a:gridCol w="1872820"/>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Anatomik</a:t>
                      </a:r>
                    </a:p>
                  </a:txBody>
                  <a:tcPr marL="73152" marR="73152" marT="36576" marB="36576">
                    <a:solidFill>
                      <a:srgbClr val="0B1F3A"/>
                    </a:solidFill>
                  </a:tcPr>
                </a:tc>
                <a:tc>
                  <a:txBody>
                    <a:bodyPr/>
                    <a:lstStyle/>
                    <a:p>
                      <a:r>
                        <a:rPr sz="1600" b="1">
                          <a:solidFill>
                            <a:srgbClr val="FFFFFF"/>
                          </a:solidFill>
                        </a:rPr>
                        <a:t>Funksional</a:t>
                      </a:r>
                    </a:p>
                  </a:txBody>
                  <a:tcPr marL="73152" marR="73152" marT="36576" marB="36576">
                    <a:solidFill>
                      <a:srgbClr val="0B1F3A"/>
                    </a:solidFill>
                  </a:tcPr>
                </a:tc>
              </a:tr>
              <a:tr h="768096">
                <a:tc>
                  <a:txBody>
                    <a:bodyPr/>
                    <a:lstStyle/>
                    <a:p>
                      <a:r>
                        <a:rPr sz="1500" b="0">
                          <a:solidFill>
                            <a:srgbClr val="1F2937"/>
                          </a:solidFill>
                        </a:rPr>
                        <a:t>Ustun o‘zgarish</a:t>
                      </a:r>
                    </a:p>
                  </a:txBody>
                  <a:tcPr marL="73152" marR="73152" marT="36576" marB="36576">
                    <a:solidFill>
                      <a:srgbClr val="E8EEF6"/>
                    </a:solidFill>
                  </a:tcPr>
                </a:tc>
                <a:tc>
                  <a:txBody>
                    <a:bodyPr/>
                    <a:lstStyle/>
                    <a:p>
                      <a:r>
                        <a:rPr sz="1500" b="0">
                          <a:solidFill>
                            <a:srgbClr val="1F2937"/>
                          </a:solidFill>
                        </a:rPr>
                        <a:t>Morfologik (tuzilish)</a:t>
                      </a:r>
                    </a:p>
                  </a:txBody>
                  <a:tcPr marL="73152" marR="73152" marT="36576" marB="36576">
                    <a:solidFill>
                      <a:srgbClr val="E8EEF6"/>
                    </a:solidFill>
                  </a:tcPr>
                </a:tc>
                <a:tc>
                  <a:txBody>
                    <a:bodyPr/>
                    <a:lstStyle/>
                    <a:p>
                      <a:r>
                        <a:rPr sz="1500" b="0">
                          <a:solidFill>
                            <a:srgbClr val="1F2937"/>
                          </a:solidFill>
                        </a:rPr>
                        <a:t>Funksiya buzilishi</a:t>
                      </a:r>
                    </a:p>
                  </a:txBody>
                  <a:tcPr marL="73152" marR="73152" marT="36576" marB="36576">
                    <a:solidFill>
                      <a:srgbClr val="E8EEF6"/>
                    </a:solidFill>
                  </a:tcPr>
                </a:tc>
              </a:tr>
              <a:tr h="768096">
                <a:tc>
                  <a:txBody>
                    <a:bodyPr/>
                    <a:lstStyle/>
                    <a:p>
                      <a:r>
                        <a:rPr sz="1500" b="0">
                          <a:solidFill>
                            <a:srgbClr val="1F2937"/>
                          </a:solidFill>
                        </a:rPr>
                        <a:t>Misollar</a:t>
                      </a:r>
                    </a:p>
                  </a:txBody>
                  <a:tcPr marL="73152" marR="73152" marT="36576" marB="36576">
                    <a:solidFill>
                      <a:srgbClr val="FFFFFF"/>
                    </a:solidFill>
                  </a:tcPr>
                </a:tc>
                <a:tc>
                  <a:txBody>
                    <a:bodyPr/>
                    <a:lstStyle/>
                    <a:p>
                      <a:r>
                        <a:rPr sz="1500" b="0">
                          <a:solidFill>
                            <a:srgbClr val="1F2937"/>
                          </a:solidFill>
                        </a:rPr>
                        <a:t>Shilinma, yara, sinish</a:t>
                      </a:r>
                    </a:p>
                  </a:txBody>
                  <a:tcPr marL="73152" marR="73152" marT="36576" marB="36576">
                    <a:solidFill>
                      <a:srgbClr val="FFFFFF"/>
                    </a:solidFill>
                  </a:tcPr>
                </a:tc>
                <a:tc>
                  <a:txBody>
                    <a:bodyPr/>
                    <a:lstStyle/>
                    <a:p>
                      <a:r>
                        <a:rPr sz="1500" b="0">
                          <a:solidFill>
                            <a:srgbClr val="1F2937"/>
                          </a:solidFill>
                        </a:rPr>
                        <a:t>Shok, chayqalish</a:t>
                      </a:r>
                    </a:p>
                  </a:txBody>
                  <a:tcPr marL="73152" marR="73152" marT="36576" marB="36576">
                    <a:solidFill>
                      <a:srgbClr val="FFFFFF"/>
                    </a:solidFill>
                  </a:tcPr>
                </a:tc>
              </a:tr>
              <a:tr h="768096">
                <a:tc>
                  <a:txBody>
                    <a:bodyPr/>
                    <a:lstStyle/>
                    <a:p>
                      <a:r>
                        <a:rPr sz="1500" b="0">
                          <a:solidFill>
                            <a:srgbClr val="1F2937"/>
                          </a:solidFill>
                        </a:rPr>
                        <a:t>Qo‘shimcha misol</a:t>
                      </a:r>
                    </a:p>
                  </a:txBody>
                  <a:tcPr marL="73152" marR="73152" marT="36576" marB="36576">
                    <a:solidFill>
                      <a:srgbClr val="E8EEF6"/>
                    </a:solidFill>
                  </a:tcPr>
                </a:tc>
                <a:tc>
                  <a:txBody>
                    <a:bodyPr/>
                    <a:lstStyle/>
                    <a:p>
                      <a:r>
                        <a:rPr sz="1500" b="0">
                          <a:solidFill>
                            <a:srgbClr val="1F2937"/>
                          </a:solidFill>
                        </a:rPr>
                        <a:t>Chiqish, majaqlanish</a:t>
                      </a:r>
                    </a:p>
                  </a:txBody>
                  <a:tcPr marL="73152" marR="73152" marT="36576" marB="36576">
                    <a:solidFill>
                      <a:srgbClr val="E8EEF6"/>
                    </a:solidFill>
                  </a:tcPr>
                </a:tc>
                <a:tc>
                  <a:txBody>
                    <a:bodyPr/>
                    <a:lstStyle/>
                    <a:p>
                      <a:r>
                        <a:rPr sz="1500" b="0">
                          <a:solidFill>
                            <a:srgbClr val="1F2937"/>
                          </a:solidFill>
                        </a:rPr>
                        <a:t>Aspiratsion asfiksiya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guruhni farqlash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Travmatizm va uning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Travmatizm – bir xil mehnat va turmush sharoitidagi guruhda uchraydigan turdosh jarohatlar majmui.</a:t>
            </a:r>
          </a:p>
          <a:p>
            <a:pPr>
              <a:spcAft>
                <a:spcPts val="800"/>
              </a:spcAft>
            </a:pPr>
            <a:r>
              <a:rPr sz="1800">
                <a:solidFill>
                  <a:srgbClr val="1F2937"/>
                </a:solidFill>
                <a:latin typeface="Calibri"/>
              </a:rPr>
              <a:t>▸  Shikastlanishlar ko‘pincha qoidalarga amal qilmaslikdan; spirtli ichimlik, narkotiklar ham shunga kiradi.</a:t>
            </a:r>
          </a:p>
          <a:p>
            <a:pPr>
              <a:spcAft>
                <a:spcPts val="800"/>
              </a:spcAft>
            </a:pPr>
            <a:r>
              <a:rPr sz="1800">
                <a:solidFill>
                  <a:srgbClr val="1F2937"/>
                </a:solidFill>
                <a:latin typeface="Calibri"/>
              </a:rPr>
              <a:t>▸  Ekspertiza materiallari omillarni o‘rganib, oldini olish bo‘yicha aniq tavsiyalar berishga imkon beradi.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Turi</a:t>
                      </a:r>
                    </a:p>
                  </a:txBody>
                  <a:tcPr marL="73152" marR="73152" marT="36576" marB="36576">
                    <a:solidFill>
                      <a:srgbClr val="0B1F3A"/>
                    </a:solidFill>
                  </a:tcPr>
                </a:tc>
                <a:tc>
                  <a:txBody>
                    <a:bodyPr/>
                    <a:lstStyle/>
                    <a:p>
                      <a:r>
                        <a:rPr sz="1800" b="1">
                          <a:solidFill>
                            <a:srgbClr val="FFFFFF"/>
                          </a:solidFill>
                        </a:rPr>
                        <a:t>Bo‘linishi</a:t>
                      </a:r>
                    </a:p>
                  </a:txBody>
                  <a:tcPr marL="73152" marR="73152" marT="36576" marB="36576">
                    <a:solidFill>
                      <a:srgbClr val="0B1F3A"/>
                    </a:solidFill>
                  </a:tcPr>
                </a:tc>
              </a:tr>
              <a:tr h="614476">
                <a:tc>
                  <a:txBody>
                    <a:bodyPr/>
                    <a:lstStyle/>
                    <a:p>
                      <a:r>
                        <a:rPr sz="1700" b="0">
                          <a:solidFill>
                            <a:srgbClr val="1F2937"/>
                          </a:solidFill>
                        </a:rPr>
                        <a:t>Ishlab chiqarish</a:t>
                      </a:r>
                    </a:p>
                  </a:txBody>
                  <a:tcPr marL="73152" marR="73152" marT="36576" marB="36576">
                    <a:solidFill>
                      <a:srgbClr val="E8EEF6"/>
                    </a:solidFill>
                  </a:tcPr>
                </a:tc>
                <a:tc>
                  <a:txBody>
                    <a:bodyPr/>
                    <a:lstStyle/>
                    <a:p>
                      <a:r>
                        <a:rPr sz="1700" b="0">
                          <a:solidFill>
                            <a:srgbClr val="1F2937"/>
                          </a:solidFill>
                        </a:rPr>
                        <a:t>Sanoat, qishloq xo‘jaligi, qurilish</a:t>
                      </a:r>
                    </a:p>
                  </a:txBody>
                  <a:tcPr marL="73152" marR="73152" marT="36576" marB="36576">
                    <a:solidFill>
                      <a:srgbClr val="E8EEF6"/>
                    </a:solidFill>
                  </a:tcPr>
                </a:tc>
              </a:tr>
              <a:tr h="614476">
                <a:tc>
                  <a:txBody>
                    <a:bodyPr/>
                    <a:lstStyle/>
                    <a:p>
                      <a:r>
                        <a:rPr sz="1700" b="0">
                          <a:solidFill>
                            <a:srgbClr val="1F2937"/>
                          </a:solidFill>
                        </a:rPr>
                        <a:t>Transport</a:t>
                      </a:r>
                    </a:p>
                  </a:txBody>
                  <a:tcPr marL="73152" marR="73152" marT="36576" marB="36576">
                    <a:solidFill>
                      <a:srgbClr val="FFFFFF"/>
                    </a:solidFill>
                  </a:tcPr>
                </a:tc>
                <a:tc>
                  <a:txBody>
                    <a:bodyPr/>
                    <a:lstStyle/>
                    <a:p>
                      <a:r>
                        <a:rPr sz="1700" b="0">
                          <a:solidFill>
                            <a:srgbClr val="1F2937"/>
                          </a:solidFill>
                        </a:rPr>
                        <a:t>Avto, moto, velosiped, temir yo‘l, havo, suv</a:t>
                      </a:r>
                    </a:p>
                  </a:txBody>
                  <a:tcPr marL="73152" marR="73152" marT="36576" marB="36576">
                    <a:solidFill>
                      <a:srgbClr val="FFFFFF"/>
                    </a:solidFill>
                  </a:tcPr>
                </a:tc>
              </a:tr>
              <a:tr h="614476">
                <a:tc>
                  <a:txBody>
                    <a:bodyPr/>
                    <a:lstStyle/>
                    <a:p>
                      <a:r>
                        <a:rPr sz="1700" b="0">
                          <a:solidFill>
                            <a:srgbClr val="1F2937"/>
                          </a:solidFill>
                        </a:rPr>
                        <a:t>Harbiy</a:t>
                      </a:r>
                    </a:p>
                  </a:txBody>
                  <a:tcPr marL="73152" marR="73152" marT="36576" marB="36576">
                    <a:solidFill>
                      <a:srgbClr val="E8EEF6"/>
                    </a:solidFill>
                  </a:tcPr>
                </a:tc>
                <a:tc>
                  <a:txBody>
                    <a:bodyPr/>
                    <a:lstStyle/>
                    <a:p>
                      <a:r>
                        <a:rPr sz="1700" b="0">
                          <a:solidFill>
                            <a:srgbClr val="1F2937"/>
                          </a:solidFill>
                        </a:rPr>
                        <a:t>Urush va tinchlik davri</a:t>
                      </a:r>
                    </a:p>
                  </a:txBody>
                  <a:tcPr marL="73152" marR="73152" marT="36576" marB="36576">
                    <a:solidFill>
                      <a:srgbClr val="E8EEF6"/>
                    </a:solidFill>
                  </a:tcPr>
                </a:tc>
              </a:tr>
              <a:tr h="614476">
                <a:tc>
                  <a:txBody>
                    <a:bodyPr/>
                    <a:lstStyle/>
                    <a:p>
                      <a:r>
                        <a:rPr sz="1700" b="0">
                          <a:solidFill>
                            <a:srgbClr val="1F2937"/>
                          </a:solidFill>
                        </a:rPr>
                        <a:t>Boshqa turlar</a:t>
                      </a:r>
                    </a:p>
                  </a:txBody>
                  <a:tcPr marL="73152" marR="73152" marT="36576" marB="36576">
                    <a:solidFill>
                      <a:srgbClr val="FFFFFF"/>
                    </a:solidFill>
                  </a:tcPr>
                </a:tc>
                <a:tc>
                  <a:txBody>
                    <a:bodyPr/>
                    <a:lstStyle/>
                    <a:p>
                      <a:r>
                        <a:rPr sz="1700" b="0">
                          <a:solidFill>
                            <a:srgbClr val="1F2937"/>
                          </a:solidFill>
                        </a:rPr>
                        <a:t>Ko‘cha, sport, maktab, maishiy</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Travmatizm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27,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jarohatni tasniflash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jabrlanganda bosh miya chayqalishi va qorin sohasida qontalashlar aniqlangan.</a:t>
            </a:r>
          </a:p>
          <a:p>
            <a:pPr>
              <a:spcAft>
                <a:spcPts val="1200"/>
              </a:spcAft>
            </a:pPr>
            <a:r>
              <a:rPr sz="2200">
                <a:solidFill>
                  <a:srgbClr val="1F2937"/>
                </a:solidFill>
                <a:latin typeface="Calibri"/>
              </a:rPr>
              <a:t>▸  Tasnifda uchta mezonga qaraladi: tashqi ta’sir turi, shikastlanish sohasi va jarohatlar soni.</a:t>
            </a:r>
          </a:p>
          <a:p>
            <a:pPr>
              <a:spcAft>
                <a:spcPts val="1200"/>
              </a:spcAft>
            </a:pPr>
            <a:r>
              <a:rPr sz="2200">
                <a:solidFill>
                  <a:srgbClr val="1F2937"/>
                </a:solidFill>
                <a:latin typeface="Calibri"/>
              </a:rPr>
              <a:t>▸  Manbada bunday holat oddiy qo‘sh ko‘p shikastlanish deb baholanadi.</a:t>
            </a:r>
          </a:p>
          <a:p>
            <a:pPr>
              <a:spcAft>
                <a:spcPts val="1200"/>
              </a:spcAft>
            </a:pPr>
            <a:r>
              <a:rPr sz="2200">
                <a:solidFill>
                  <a:srgbClr val="1F2937"/>
                </a:solidFill>
                <a:latin typeface="Calibri"/>
              </a:rPr>
              <a:t>▸  Tezkor savol: qobirg‘alar sinishi va qo‘lning termik kuyishi bo‘lsa, shikastlanish qanday tasniflanadi?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 hayotiyligini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Ayrim holatlarda jarohat o‘limdan keyin qasddan yetkaziladi: murda qismlarga ajratiladi yoki o‘lim sababiga oid asl holat o‘zgartiriladi.</a:t>
            </a:r>
          </a:p>
          <a:p>
            <a:pPr>
              <a:spcAft>
                <a:spcPts val="1200"/>
              </a:spcAft>
            </a:pPr>
            <a:r>
              <a:rPr sz="2200">
                <a:solidFill>
                  <a:srgbClr val="1F2937"/>
                </a:solidFill>
                <a:latin typeface="Calibri"/>
              </a:rPr>
              <a:t>▸  Jarohat tasodifan ham yetkazilishi mumkin: reanimatsiya, murdani tekshirish, tashish jarayonida yoki hayvon, qush, baliqlar tomonidan.</a:t>
            </a:r>
          </a:p>
          <a:p>
            <a:pPr>
              <a:spcAft>
                <a:spcPts val="1200"/>
              </a:spcAft>
            </a:pPr>
            <a:r>
              <a:rPr sz="2200">
                <a:solidFill>
                  <a:srgbClr val="1F2937"/>
                </a:solidFill>
                <a:latin typeface="Calibri"/>
              </a:rPr>
              <a:t>▸  Hayotiylik butun organizm yoki aniq a’zo, to‘qimaning shikastlanishga reaksiya belgilari orqali aniqlanadi.</a:t>
            </a:r>
          </a:p>
          <a:p>
            <a:pPr>
              <a:spcAft>
                <a:spcPts val="1200"/>
              </a:spcAft>
            </a:pPr>
            <a:r>
              <a:rPr sz="2200">
                <a:solidFill>
                  <a:srgbClr val="1F2937"/>
                </a:solidFill>
                <a:latin typeface="Calibri"/>
              </a:rPr>
              <a:t>▸  Bunda amaliy ahamiyatni asosan qon aylanish tizimi bilan bog‘liq o‘zgarishlar kasb etadi.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Hayotiylikning umumiy va mahalliy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Umumiy belgilar butun organizmning, mahalliy belgilar esa shikastlangan sohaning reaksiyasini ko‘rsatadi.</a:t>
            </a:r>
          </a:p>
          <a:p>
            <a:pPr>
              <a:spcAft>
                <a:spcPts val="800"/>
              </a:spcAft>
            </a:pPr>
            <a:r>
              <a:rPr sz="1800">
                <a:solidFill>
                  <a:srgbClr val="1F2937"/>
                </a:solidFill>
                <a:latin typeface="Calibri"/>
              </a:rPr>
              <a:t>▸  Eritrofagiya — shikastlanish sohasiga yaqin regional limfa tugunlarida eritrotsitlarning bo‘lishi.</a:t>
            </a:r>
          </a:p>
          <a:p>
            <a:pPr>
              <a:spcAft>
                <a:spcPts val="800"/>
              </a:spcAft>
            </a:pPr>
            <a:r>
              <a:rPr sz="1800">
                <a:solidFill>
                  <a:srgbClr val="1F2937"/>
                </a:solidFill>
                <a:latin typeface="Calibri"/>
              </a:rPr>
              <a:t>▸  Diqqat: belgilar aniqligi jarohat turi, soni, ko‘lami va organizm xususiyatlariga bog‘liq.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858364"/>
                <a:gridCol w="2429610"/>
              </a:tblGrid>
              <a:tr h="614476">
                <a:tc>
                  <a:txBody>
                    <a:bodyPr/>
                    <a:lstStyle/>
                    <a:p>
                      <a:r>
                        <a:rPr sz="1800" b="1">
                          <a:solidFill>
                            <a:srgbClr val="FFFFFF"/>
                          </a:solidFill>
                        </a:rPr>
                        <a:t>Umumiy</a:t>
                      </a:r>
                    </a:p>
                  </a:txBody>
                  <a:tcPr marL="73152" marR="73152" marT="36576" marB="36576">
                    <a:solidFill>
                      <a:srgbClr val="0B1F3A"/>
                    </a:solidFill>
                  </a:tcPr>
                </a:tc>
                <a:tc>
                  <a:txBody>
                    <a:bodyPr/>
                    <a:lstStyle/>
                    <a:p>
                      <a:r>
                        <a:rPr sz="1800" b="1">
                          <a:solidFill>
                            <a:srgbClr val="FFFFFF"/>
                          </a:solidFill>
                        </a:rPr>
                        <a:t>Mahalliy</a:t>
                      </a:r>
                    </a:p>
                  </a:txBody>
                  <a:tcPr marL="73152" marR="73152" marT="36576" marB="36576">
                    <a:solidFill>
                      <a:srgbClr val="0B1F3A"/>
                    </a:solidFill>
                  </a:tcPr>
                </a:tc>
              </a:tr>
              <a:tr h="614476">
                <a:tc>
                  <a:txBody>
                    <a:bodyPr/>
                    <a:lstStyle/>
                    <a:p>
                      <a:r>
                        <a:rPr sz="1700" b="0">
                          <a:solidFill>
                            <a:srgbClr val="1F2937"/>
                          </a:solidFill>
                        </a:rPr>
                        <a:t>Tashqi va ichki qon ketishi</a:t>
                      </a:r>
                    </a:p>
                  </a:txBody>
                  <a:tcPr marL="73152" marR="73152" marT="36576" marB="36576">
                    <a:solidFill>
                      <a:srgbClr val="E8EEF6"/>
                    </a:solidFill>
                  </a:tcPr>
                </a:tc>
                <a:tc>
                  <a:txBody>
                    <a:bodyPr/>
                    <a:lstStyle/>
                    <a:p>
                      <a:r>
                        <a:rPr sz="1700" b="0">
                          <a:solidFill>
                            <a:srgbClr val="1F2937"/>
                          </a:solidFill>
                        </a:rPr>
                        <a:t>Jarohat sohasiga qon quyilishi</a:t>
                      </a:r>
                    </a:p>
                  </a:txBody>
                  <a:tcPr marL="73152" marR="73152" marT="36576" marB="36576">
                    <a:solidFill>
                      <a:srgbClr val="E8EEF6"/>
                    </a:solidFill>
                  </a:tcPr>
                </a:tc>
              </a:tr>
              <a:tr h="614476">
                <a:tc>
                  <a:txBody>
                    <a:bodyPr/>
                    <a:lstStyle/>
                    <a:p>
                      <a:r>
                        <a:rPr sz="1700" b="0">
                          <a:solidFill>
                            <a:srgbClr val="1F2937"/>
                          </a:solidFill>
                        </a:rPr>
                        <a:t>Ichki a’zolarda kamqonlik</a:t>
                      </a:r>
                    </a:p>
                  </a:txBody>
                  <a:tcPr marL="73152" marR="73152" marT="36576" marB="36576">
                    <a:solidFill>
                      <a:srgbClr val="FFFFFF"/>
                    </a:solidFill>
                  </a:tcPr>
                </a:tc>
                <a:tc>
                  <a:txBody>
                    <a:bodyPr/>
                    <a:lstStyle/>
                    <a:p>
                      <a:r>
                        <a:rPr sz="1700" b="0">
                          <a:solidFill>
                            <a:srgbClr val="1F2937"/>
                          </a:solidFill>
                        </a:rPr>
                        <a:t>Qon tomirlarida tromblar</a:t>
                      </a:r>
                    </a:p>
                  </a:txBody>
                  <a:tcPr marL="73152" marR="73152" marT="36576" marB="36576">
                    <a:solidFill>
                      <a:srgbClr val="FFFFFF"/>
                    </a:solidFill>
                  </a:tcPr>
                </a:tc>
              </a:tr>
              <a:tr h="614476">
                <a:tc>
                  <a:txBody>
                    <a:bodyPr/>
                    <a:lstStyle/>
                    <a:p>
                      <a:r>
                        <a:rPr sz="1700" b="0">
                          <a:solidFill>
                            <a:srgbClr val="1F2937"/>
                          </a:solidFill>
                        </a:rPr>
                        <a:t>Nafas yo‘llarida qon aspiratsiyasi</a:t>
                      </a:r>
                    </a:p>
                  </a:txBody>
                  <a:tcPr marL="73152" marR="73152" marT="36576" marB="36576">
                    <a:solidFill>
                      <a:srgbClr val="E8EEF6"/>
                    </a:solidFill>
                  </a:tcPr>
                </a:tc>
                <a:tc>
                  <a:txBody>
                    <a:bodyPr/>
                    <a:lstStyle/>
                    <a:p>
                      <a:r>
                        <a:rPr sz="1700" b="0">
                          <a:solidFill>
                            <a:srgbClr val="1F2937"/>
                          </a:solidFill>
                        </a:rPr>
                        <a:t>To‘qimaning reaktiv shishi</a:t>
                      </a:r>
                    </a:p>
                  </a:txBody>
                  <a:tcPr marL="73152" marR="73152" marT="36576" marB="36576">
                    <a:solidFill>
                      <a:srgbClr val="E8EEF6"/>
                    </a:solidFill>
                  </a:tcPr>
                </a:tc>
              </a:tr>
              <a:tr h="614476">
                <a:tc>
                  <a:txBody>
                    <a:bodyPr/>
                    <a:lstStyle/>
                    <a:p>
                      <a:r>
                        <a:rPr sz="1700" b="0">
                          <a:solidFill>
                            <a:srgbClr val="1F2937"/>
                          </a:solidFill>
                        </a:rPr>
                        <a:t>Embollar; limfa tugunlarida eritrofagiya</a:t>
                      </a:r>
                    </a:p>
                  </a:txBody>
                  <a:tcPr marL="73152" marR="73152" marT="36576" marB="36576">
                    <a:solidFill>
                      <a:srgbClr val="FFFFFF"/>
                    </a:solidFill>
                  </a:tcPr>
                </a:tc>
                <a:tc>
                  <a:txBody>
                    <a:bodyPr/>
                    <a:lstStyle/>
                    <a:p>
                      <a:r>
                        <a:rPr sz="1700" b="0">
                          <a:solidFill>
                            <a:srgbClr val="1F2937"/>
                          </a:solidFill>
                        </a:rPr>
                        <a:t>Nekroz va yallig‘lanish alomatlari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Hayotiylik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28-29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 belgilarining aniqligiga ta’sir etuvchilar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Hayotiylik belgilarining aniqligi jarohatning turi, soni va ko‘lamiga bog‘liq bo‘ladi.</a:t>
            </a:r>
          </a:p>
          <a:p>
            <a:pPr>
              <a:spcAft>
                <a:spcPts val="1200"/>
              </a:spcAft>
            </a:pPr>
            <a:r>
              <a:rPr sz="2200">
                <a:solidFill>
                  <a:srgbClr val="1F2937"/>
                </a:solidFill>
                <a:latin typeface="Calibri"/>
              </a:rPr>
              <a:t>▸  Natijaga organizmning umumiy xususiyatlari va shikastlangan sohaning mahalliy xususiyatlari ham ta’sir qiladi.</a:t>
            </a:r>
          </a:p>
          <a:p>
            <a:pPr>
              <a:spcAft>
                <a:spcPts val="1200"/>
              </a:spcAft>
            </a:pPr>
            <a:r>
              <a:rPr sz="2200">
                <a:solidFill>
                  <a:srgbClr val="1F2937"/>
                </a:solidFill>
                <a:latin typeface="Calibri"/>
              </a:rPr>
              <a:t>▸  Biologik o‘limdan keyin to‘qimalarda hayotiy jarayonlarning to‘xtashi ularning filogenetik yoshiga bog‘liq.</a:t>
            </a:r>
          </a:p>
          <a:p>
            <a:pPr>
              <a:spcAft>
                <a:spcPts val="1200"/>
              </a:spcAft>
            </a:pPr>
            <a:r>
              <a:rPr sz="2200">
                <a:solidFill>
                  <a:srgbClr val="1F2937"/>
                </a:solidFill>
                <a:latin typeface="Calibri"/>
              </a:rPr>
              <a:t>▸  Diqqat: xato qilish xavfi. Filogenetik yoshi katta ayrim to‘qimalarda o‘limdan keyingi jarohat hayotiy jarohatga o‘xshab ko‘rinishi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Jarohatlarni tekshirish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avvalo makroskopik tekshiriladi, barcha holatlarda o‘lchov tekshiruvlari o‘tkaziladi.</a:t>
            </a:r>
          </a:p>
          <a:p>
            <a:pPr>
              <a:spcAft>
                <a:spcPts val="800"/>
              </a:spcAft>
            </a:pPr>
            <a:r>
              <a:rPr sz="1800">
                <a:solidFill>
                  <a:srgbClr val="1F2937"/>
                </a:solidFill>
                <a:latin typeface="Calibri"/>
              </a:rPr>
              <a:t>▸  Metall izlari uchun rangli bosmalar va spektral analiz, fazoviy o‘rganish uchun stereomikroskopiya qo‘llanadi.</a:t>
            </a:r>
          </a:p>
          <a:p>
            <a:pPr>
              <a:spcAft>
                <a:spcPts val="800"/>
              </a:spcAft>
            </a:pPr>
            <a:r>
              <a:rPr sz="1800">
                <a:solidFill>
                  <a:srgbClr val="1F2937"/>
                </a:solidFill>
                <a:latin typeface="Calibri"/>
              </a:rPr>
              <a:t>▸  Zarur holatlarda sud-biologik, sud-kimyoviy va gistokimyoviy laboratoriya usullari ishlatiladi.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282190"/>
                <a:gridCol w="3005785"/>
              </a:tblGrid>
              <a:tr h="614476">
                <a:tc>
                  <a:txBody>
                    <a:bodyPr/>
                    <a:lstStyle/>
                    <a:p>
                      <a:r>
                        <a:rPr sz="1800" b="1">
                          <a:solidFill>
                            <a:srgbClr val="FFFFFF"/>
                          </a:solidFill>
                        </a:rPr>
                        <a:t>Usul</a:t>
                      </a:r>
                    </a:p>
                  </a:txBody>
                  <a:tcPr marL="73152" marR="73152" marT="36576" marB="36576">
                    <a:solidFill>
                      <a:srgbClr val="0B1F3A"/>
                    </a:solidFill>
                  </a:tcPr>
                </a:tc>
                <a:tc>
                  <a:txBody>
                    <a:bodyPr/>
                    <a:lstStyle/>
                    <a:p>
                      <a:r>
                        <a:rPr sz="1800" b="1">
                          <a:solidFill>
                            <a:srgbClr val="FFFFFF"/>
                          </a:solidFill>
                        </a:rPr>
                        <a:t>Maqsad</a:t>
                      </a:r>
                    </a:p>
                  </a:txBody>
                  <a:tcPr marL="73152" marR="73152" marT="36576" marB="36576">
                    <a:solidFill>
                      <a:srgbClr val="0B1F3A"/>
                    </a:solidFill>
                  </a:tcPr>
                </a:tc>
              </a:tr>
              <a:tr h="614476">
                <a:tc>
                  <a:txBody>
                    <a:bodyPr/>
                    <a:lstStyle/>
                    <a:p>
                      <a:r>
                        <a:rPr sz="1700" b="0">
                          <a:solidFill>
                            <a:srgbClr val="1F2937"/>
                          </a:solidFill>
                        </a:rPr>
                        <a:t>Makroskopik, o‘lchov</a:t>
                      </a:r>
                    </a:p>
                  </a:txBody>
                  <a:tcPr marL="73152" marR="73152" marT="36576" marB="36576">
                    <a:solidFill>
                      <a:srgbClr val="E8EEF6"/>
                    </a:solidFill>
                  </a:tcPr>
                </a:tc>
                <a:tc>
                  <a:txBody>
                    <a:bodyPr/>
                    <a:lstStyle/>
                    <a:p>
                      <a:r>
                        <a:rPr sz="1700" b="0">
                          <a:solidFill>
                            <a:srgbClr val="1F2937"/>
                          </a:solidFill>
                        </a:rPr>
                        <a:t>Tur, joy, shakl, o‘lcham, masofa</a:t>
                      </a:r>
                    </a:p>
                  </a:txBody>
                  <a:tcPr marL="73152" marR="73152" marT="36576" marB="36576">
                    <a:solidFill>
                      <a:srgbClr val="E8EEF6"/>
                    </a:solidFill>
                  </a:tcPr>
                </a:tc>
              </a:tr>
              <a:tr h="614476">
                <a:tc>
                  <a:txBody>
                    <a:bodyPr/>
                    <a:lstStyle/>
                    <a:p>
                      <a:r>
                        <a:rPr sz="1700" b="0">
                          <a:solidFill>
                            <a:srgbClr val="1F2937"/>
                          </a:solidFill>
                        </a:rPr>
                        <a:t>Rentgenografiya</a:t>
                      </a:r>
                    </a:p>
                  </a:txBody>
                  <a:tcPr marL="73152" marR="73152" marT="36576" marB="36576">
                    <a:solidFill>
                      <a:srgbClr val="FFFFFF"/>
                    </a:solidFill>
                  </a:tcPr>
                </a:tc>
                <a:tc>
                  <a:txBody>
                    <a:bodyPr/>
                    <a:lstStyle/>
                    <a:p>
                      <a:r>
                        <a:rPr sz="1700" b="0">
                          <a:solidFill>
                            <a:srgbClr val="1F2937"/>
                          </a:solidFill>
                        </a:rPr>
                        <a:t>Yot jism, suyak shikastlanishi</a:t>
                      </a:r>
                    </a:p>
                  </a:txBody>
                  <a:tcPr marL="73152" marR="73152" marT="36576" marB="36576">
                    <a:solidFill>
                      <a:srgbClr val="FFFFFF"/>
                    </a:solidFill>
                  </a:tcPr>
                </a:tc>
              </a:tr>
              <a:tr h="614476">
                <a:tc>
                  <a:txBody>
                    <a:bodyPr/>
                    <a:lstStyle/>
                    <a:p>
                      <a:r>
                        <a:rPr sz="1700" b="0">
                          <a:solidFill>
                            <a:srgbClr val="1F2937"/>
                          </a:solidFill>
                        </a:rPr>
                        <a:t>Trasologiya</a:t>
                      </a:r>
                    </a:p>
                  </a:txBody>
                  <a:tcPr marL="73152" marR="73152" marT="36576" marB="36576">
                    <a:solidFill>
                      <a:srgbClr val="E8EEF6"/>
                    </a:solidFill>
                  </a:tcPr>
                </a:tc>
                <a:tc>
                  <a:txBody>
                    <a:bodyPr/>
                    <a:lstStyle/>
                    <a:p>
                      <a:r>
                        <a:rPr sz="1700" b="0">
                          <a:solidFill>
                            <a:srgbClr val="1F2937"/>
                          </a:solidFill>
                        </a:rPr>
                        <a:t>Shikastlovchi jismni aniqlash</a:t>
                      </a:r>
                    </a:p>
                  </a:txBody>
                  <a:tcPr marL="73152" marR="73152" marT="36576" marB="36576">
                    <a:solidFill>
                      <a:srgbClr val="E8EEF6"/>
                    </a:solidFill>
                  </a:tcPr>
                </a:tc>
              </a:tr>
              <a:tr h="614476">
                <a:tc>
                  <a:txBody>
                    <a:bodyPr/>
                    <a:lstStyle/>
                    <a:p>
                      <a:r>
                        <a:rPr sz="1700" b="0">
                          <a:solidFill>
                            <a:srgbClr val="1F2937"/>
                          </a:solidFill>
                        </a:rPr>
                        <a:t>Gistologiya</a:t>
                      </a:r>
                    </a:p>
                  </a:txBody>
                  <a:tcPr marL="73152" marR="73152" marT="36576" marB="36576">
                    <a:solidFill>
                      <a:srgbClr val="FFFFFF"/>
                    </a:solidFill>
                  </a:tcPr>
                </a:tc>
                <a:tc>
                  <a:txBody>
                    <a:bodyPr/>
                    <a:lstStyle/>
                    <a:p>
                      <a:r>
                        <a:rPr sz="1700" b="0">
                          <a:solidFill>
                            <a:srgbClr val="1F2937"/>
                          </a:solidFill>
                        </a:rPr>
                        <a:t>Hayotiylik va yetkazilish muddati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 va maqsad</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Shifokorlar hujjatlari va tekshiruv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Klinitsist vrach aniqlagan jarohatlar ham xuddi shu yo‘sinda o‘rganilib, tibbiy hujjatda to‘liq tavsiflanishi muhim.</a:t>
            </a:r>
          </a:p>
          <a:p>
            <a:pPr>
              <a:spcAft>
                <a:spcPts val="1200"/>
              </a:spcAft>
            </a:pPr>
            <a:r>
              <a:rPr sz="2200">
                <a:solidFill>
                  <a:srgbClr val="1F2937"/>
                </a:solidFill>
                <a:latin typeface="Calibri"/>
              </a:rPr>
              <a:t>▸  Sababi: bu hujjatlar ma’lum muddatdan so‘ng tayinlangan sud-tibbiy ekspertiza ixtiyoriga taqdim etiladi.</a:t>
            </a:r>
          </a:p>
          <a:p>
            <a:pPr>
              <a:spcAft>
                <a:spcPts val="1200"/>
              </a:spcAft>
            </a:pPr>
            <a:r>
              <a:rPr sz="2200">
                <a:solidFill>
                  <a:srgbClr val="1F2937"/>
                </a:solidFill>
                <a:latin typeface="Calibri"/>
              </a:rPr>
              <a:t>▸  Jarohatni yuzaki o‘rganish, to‘liq bo‘lmagan tavsif yoki faqat diagnoz yozish ekspertiza vazifalarini bajarishda jiddiy qiyinchilik tug‘diradi.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hayotiylik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jarohat bor. Savol: u tirikligida yetkazilganmi yoki o‘limdan keyin (reanimatsiya, tashish, hayvonlar ta’siri)?</a:t>
            </a:r>
          </a:p>
          <a:p>
            <a:pPr>
              <a:spcAft>
                <a:spcPts val="1200"/>
              </a:spcAft>
            </a:pPr>
            <a:r>
              <a:rPr sz="2200">
                <a:solidFill>
                  <a:srgbClr val="1F2937"/>
                </a:solidFill>
                <a:latin typeface="Calibri"/>
              </a:rPr>
              <a:t>▸  Umumiy belgilar: qon ketishi, nafas yo‘llarida qon aspiratsiyasi, siydikda mioglobin, limfa tugunlarida eritrofagiya, embollar.</a:t>
            </a:r>
          </a:p>
          <a:p>
            <a:pPr>
              <a:spcAft>
                <a:spcPts val="1200"/>
              </a:spcAft>
            </a:pPr>
            <a:r>
              <a:rPr sz="2200">
                <a:solidFill>
                  <a:srgbClr val="1F2937"/>
                </a:solidFill>
                <a:latin typeface="Calibri"/>
              </a:rPr>
              <a:t>▸  Mahalliy belgilar: to‘qimaga qon quyilishi, tromb, reaktiv shish, yallig‘lanish, mushak qisqarishi, hujayralar nekrozi.</a:t>
            </a:r>
          </a:p>
          <a:p>
            <a:pPr>
              <a:spcAft>
                <a:spcPts val="1200"/>
              </a:spcAft>
            </a:pPr>
            <a:r>
              <a:rPr sz="2200">
                <a:solidFill>
                  <a:srgbClr val="1F2937"/>
                </a:solidFill>
                <a:latin typeface="Calibri"/>
              </a:rPr>
              <a:t>▸  Tezkor savol: belgilar aniqligi nimaga bog‘liq? Diqqat: ayrim filogenetik qadimiy to‘qimalarda o‘limdan keyingi jarohat hayotiyga o‘xshashi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28-29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jarohatlar: vosita va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shart — harakat. Jarohat og‘irligi massa va tezlikka (kinetik energiyaga) to‘g‘ri proporsional.</a:t>
            </a:r>
          </a:p>
          <a:p>
            <a:pPr>
              <a:spcAft>
                <a:spcPts val="800"/>
              </a:spcAft>
            </a:pPr>
            <a:r>
              <a:rPr sz="1800">
                <a:solidFill>
                  <a:srgbClr val="1F2937"/>
                </a:solidFill>
                <a:latin typeface="Calibri"/>
              </a:rPr>
              <a:t>▸  Mexanik jarohatlar o‘tmas, o‘tkir jismlar va o‘q otar qurol jarohatlariga bo‘linadi.</a:t>
            </a:r>
          </a:p>
          <a:p>
            <a:pPr>
              <a:spcAft>
                <a:spcPts val="800"/>
              </a:spcAft>
            </a:pPr>
            <a:r>
              <a:rPr sz="1800">
                <a:solidFill>
                  <a:srgbClr val="1F2937"/>
                </a:solidFill>
                <a:latin typeface="Calibri"/>
              </a:rPr>
              <a:t>▸  Diqqat: qurol ≠ anjom ≠ jism. O‘q otar jarohatlar o‘q otish va portlashdan olinadi.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057595"/>
                <a:gridCol w="2643987"/>
                <a:gridCol w="1586392"/>
              </a:tblGrid>
              <a:tr h="768096">
                <a:tc>
                  <a:txBody>
                    <a:bodyPr/>
                    <a:lstStyle/>
                    <a:p>
                      <a:r>
                        <a:rPr sz="1600" b="1">
                          <a:solidFill>
                            <a:srgbClr val="FFFFFF"/>
                          </a:solidFill>
                        </a:rPr>
                        <a:t>Vosita</a:t>
                      </a:r>
                    </a:p>
                  </a:txBody>
                  <a:tcPr marL="73152" marR="73152" marT="36576" marB="36576">
                    <a:solidFill>
                      <a:srgbClr val="0B1F3A"/>
                    </a:solidFill>
                  </a:tcPr>
                </a:tc>
                <a:tc>
                  <a:txBody>
                    <a:bodyPr/>
                    <a:lstStyle/>
                    <a:p>
                      <a:r>
                        <a:rPr sz="1600" b="1">
                          <a:solidFill>
                            <a:srgbClr val="FFFFFF"/>
                          </a:solidFill>
                        </a:rPr>
                        <a:t>Ta’rifi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768096">
                <a:tc>
                  <a:txBody>
                    <a:bodyPr/>
                    <a:lstStyle/>
                    <a:p>
                      <a:r>
                        <a:rPr sz="1500" b="0">
                          <a:solidFill>
                            <a:srgbClr val="1F2937"/>
                          </a:solidFill>
                        </a:rPr>
                        <a:t>Qurol</a:t>
                      </a:r>
                    </a:p>
                  </a:txBody>
                  <a:tcPr marL="73152" marR="73152" marT="36576" marB="36576">
                    <a:solidFill>
                      <a:srgbClr val="E8EEF6"/>
                    </a:solidFill>
                  </a:tcPr>
                </a:tc>
                <a:tc>
                  <a:txBody>
                    <a:bodyPr/>
                    <a:lstStyle/>
                    <a:p>
                      <a:r>
                        <a:rPr sz="1500" b="0">
                          <a:solidFill>
                            <a:srgbClr val="1F2937"/>
                          </a:solidFill>
                        </a:rPr>
                        <a:t>Hujum yoki mudofaa uchun maxsus tayyorlangan</a:t>
                      </a:r>
                    </a:p>
                  </a:txBody>
                  <a:tcPr marL="73152" marR="73152" marT="36576" marB="36576">
                    <a:solidFill>
                      <a:srgbClr val="E8EEF6"/>
                    </a:solidFill>
                  </a:tcPr>
                </a:tc>
                <a:tc>
                  <a:txBody>
                    <a:bodyPr/>
                    <a:lstStyle/>
                    <a:p>
                      <a:r>
                        <a:rPr sz="1500" b="0">
                          <a:solidFill>
                            <a:srgbClr val="1F2937"/>
                          </a:solidFill>
                        </a:rPr>
                        <a:t>Pistolet, miltiq, xanjar</a:t>
                      </a:r>
                    </a:p>
                  </a:txBody>
                  <a:tcPr marL="73152" marR="73152" marT="36576" marB="36576">
                    <a:solidFill>
                      <a:srgbClr val="E8EEF6"/>
                    </a:solidFill>
                  </a:tcPr>
                </a:tc>
              </a:tr>
              <a:tr h="768096">
                <a:tc>
                  <a:txBody>
                    <a:bodyPr/>
                    <a:lstStyle/>
                    <a:p>
                      <a:r>
                        <a:rPr sz="1500" b="0">
                          <a:solidFill>
                            <a:srgbClr val="1F2937"/>
                          </a:solidFill>
                        </a:rPr>
                        <a:t>Anjom</a:t>
                      </a:r>
                    </a:p>
                  </a:txBody>
                  <a:tcPr marL="73152" marR="73152" marT="36576" marB="36576">
                    <a:solidFill>
                      <a:srgbClr val="FFFFFF"/>
                    </a:solidFill>
                  </a:tcPr>
                </a:tc>
                <a:tc>
                  <a:txBody>
                    <a:bodyPr/>
                    <a:lstStyle/>
                    <a:p>
                      <a:r>
                        <a:rPr sz="1500" b="0">
                          <a:solidFill>
                            <a:srgbClr val="1F2937"/>
                          </a:solidFill>
                        </a:rPr>
                        <a:t>Ishlab chiqarish yoki uy-ro‘zg‘orda ishlatiladi</a:t>
                      </a:r>
                    </a:p>
                  </a:txBody>
                  <a:tcPr marL="73152" marR="73152" marT="36576" marB="36576">
                    <a:solidFill>
                      <a:srgbClr val="FFFFFF"/>
                    </a:solidFill>
                  </a:tcPr>
                </a:tc>
                <a:tc>
                  <a:txBody>
                    <a:bodyPr/>
                    <a:lstStyle/>
                    <a:p>
                      <a:r>
                        <a:rPr sz="1500" b="0">
                          <a:solidFill>
                            <a:srgbClr val="1F2937"/>
                          </a:solidFill>
                        </a:rPr>
                        <a:t>Bolta, arra, qaychi</a:t>
                      </a:r>
                    </a:p>
                  </a:txBody>
                  <a:tcPr marL="73152" marR="73152" marT="36576" marB="36576">
                    <a:solidFill>
                      <a:srgbClr val="FFFFFF"/>
                    </a:solidFill>
                  </a:tcPr>
                </a:tc>
              </a:tr>
              <a:tr h="768096">
                <a:tc>
                  <a:txBody>
                    <a:bodyPr/>
                    <a:lstStyle/>
                    <a:p>
                      <a:r>
                        <a:rPr sz="1500" b="0">
                          <a:solidFill>
                            <a:srgbClr val="1F2937"/>
                          </a:solidFill>
                        </a:rPr>
                        <a:t>Jism</a:t>
                      </a:r>
                    </a:p>
                  </a:txBody>
                  <a:tcPr marL="73152" marR="73152" marT="36576" marB="36576">
                    <a:solidFill>
                      <a:srgbClr val="E8EEF6"/>
                    </a:solidFill>
                  </a:tcPr>
                </a:tc>
                <a:tc>
                  <a:txBody>
                    <a:bodyPr/>
                    <a:lstStyle/>
                    <a:p>
                      <a:r>
                        <a:rPr sz="1500" b="0">
                          <a:solidFill>
                            <a:srgbClr val="1F2937"/>
                          </a:solidFill>
                        </a:rPr>
                        <a:t>Aniq qo‘llanish maqsadi yo‘q narsa</a:t>
                      </a:r>
                    </a:p>
                  </a:txBody>
                  <a:tcPr marL="73152" marR="73152" marT="36576" marB="36576">
                    <a:solidFill>
                      <a:srgbClr val="E8EEF6"/>
                    </a:solidFill>
                  </a:tcPr>
                </a:tc>
                <a:tc>
                  <a:txBody>
                    <a:bodyPr/>
                    <a:lstStyle/>
                    <a:p>
                      <a:r>
                        <a:rPr sz="1500" b="0">
                          <a:solidFill>
                            <a:srgbClr val="1F2937"/>
                          </a:solidFill>
                        </a:rPr>
                        <a:t>Tosh, tayoq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Jarohat etkazuvchi vositalar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29-30,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jarohatdan o‘lim: birlamchi va ikkilamchi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Birlamchi: hayotga nomutanosib jarohat, muhim a’zo shikasti, qon yo‘qotish, travmatik shok.</a:t>
            </a:r>
          </a:p>
          <a:p>
            <a:pPr>
              <a:spcAft>
                <a:spcPts val="800"/>
              </a:spcAft>
            </a:pPr>
            <a:r>
              <a:rPr sz="1800">
                <a:solidFill>
                  <a:srgbClr val="1F2937"/>
                </a:solidFill>
                <a:latin typeface="Calibri"/>
              </a:rPr>
              <a:t>▸  Yana: miya, yurak, o‘pkaning qon yoki havo bilan qisilishi, emboliya, qon aspiratsiyasidan asfiksiya.</a:t>
            </a:r>
          </a:p>
          <a:p>
            <a:pPr>
              <a:spcAft>
                <a:spcPts val="800"/>
              </a:spcAft>
            </a:pPr>
            <a:r>
              <a:rPr sz="1800">
                <a:solidFill>
                  <a:srgbClr val="1F2937"/>
                </a:solidFill>
                <a:latin typeface="Calibri"/>
              </a:rPr>
              <a:t>▸  Ikkilamchi: infeksiya, intoksikatsiya; kechroq ikkilamchi qon yo‘qotish, shok, emboliya.</a:t>
            </a:r>
          </a:p>
        </p:txBody>
      </p:sp>
      <p:graphicFrame>
        <p:nvGraphicFramePr>
          <p:cNvPr id="9" name="Table 8"/>
          <p:cNvGraphicFramePr>
            <a:graphicFrameLocks noGrp="1"/>
          </p:cNvGraphicFramePr>
          <p:nvPr/>
        </p:nvGraphicFramePr>
        <p:xfrm>
          <a:off x="6263640" y="1463040"/>
          <a:ext cx="5287974" cy="2606040"/>
        </p:xfrm>
        <a:graphic>
          <a:graphicData uri="http://schemas.openxmlformats.org/drawingml/2006/table">
            <a:tbl>
              <a:tblPr firstRow="1" bandRow="1">
                <a:tableStyleId>{5C22544A-7EE6-4342-B048-85BDC9FD1C3A}</a:tableStyleId>
              </a:tblPr>
              <a:tblGrid>
                <a:gridCol w="1455420"/>
                <a:gridCol w="1803221"/>
                <a:gridCol w="2029333"/>
              </a:tblGrid>
              <a:tr h="868680">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Muddat</a:t>
                      </a:r>
                    </a:p>
                  </a:txBody>
                  <a:tcPr marL="73152" marR="73152" marT="36576" marB="36576">
                    <a:solidFill>
                      <a:srgbClr val="0B1F3A"/>
                    </a:solidFill>
                  </a:tcPr>
                </a:tc>
                <a:tc>
                  <a:txBody>
                    <a:bodyPr/>
                    <a:lstStyle/>
                    <a:p>
                      <a:r>
                        <a:rPr sz="1600" b="1">
                          <a:solidFill>
                            <a:srgbClr val="FFFFFF"/>
                          </a:solidFill>
                        </a:rPr>
                        <a:t>Misollar</a:t>
                      </a:r>
                    </a:p>
                  </a:txBody>
                  <a:tcPr marL="73152" marR="73152" marT="36576" marB="36576">
                    <a:solidFill>
                      <a:srgbClr val="0B1F3A"/>
                    </a:solidFill>
                  </a:tcPr>
                </a:tc>
              </a:tr>
              <a:tr h="868680">
                <a:tc>
                  <a:txBody>
                    <a:bodyPr/>
                    <a:lstStyle/>
                    <a:p>
                      <a:r>
                        <a:rPr sz="1500" b="0">
                          <a:solidFill>
                            <a:srgbClr val="1F2937"/>
                          </a:solidFill>
                        </a:rPr>
                        <a:t>Birlamchi</a:t>
                      </a:r>
                    </a:p>
                  </a:txBody>
                  <a:tcPr marL="73152" marR="73152" marT="36576" marB="36576">
                    <a:solidFill>
                      <a:srgbClr val="E8EEF6"/>
                    </a:solidFill>
                  </a:tcPr>
                </a:tc>
                <a:tc>
                  <a:txBody>
                    <a:bodyPr/>
                    <a:lstStyle/>
                    <a:p>
                      <a:r>
                        <a:rPr sz="1500" b="0">
                          <a:solidFill>
                            <a:srgbClr val="1F2937"/>
                          </a:solidFill>
                        </a:rPr>
                        <a:t>Shikastdan keyin qisqa vaqt ichida</a:t>
                      </a:r>
                    </a:p>
                  </a:txBody>
                  <a:tcPr marL="73152" marR="73152" marT="36576" marB="36576">
                    <a:solidFill>
                      <a:srgbClr val="E8EEF6"/>
                    </a:solidFill>
                  </a:tcPr>
                </a:tc>
                <a:tc>
                  <a:txBody>
                    <a:bodyPr/>
                    <a:lstStyle/>
                    <a:p>
                      <a:r>
                        <a:rPr sz="1500" b="0">
                          <a:solidFill>
                            <a:srgbClr val="1F2937"/>
                          </a:solidFill>
                        </a:rPr>
                        <a:t>Shok, qon yo‘qotish, emboliya, asfiksiya</a:t>
                      </a:r>
                    </a:p>
                  </a:txBody>
                  <a:tcPr marL="73152" marR="73152" marT="36576" marB="36576">
                    <a:solidFill>
                      <a:srgbClr val="E8EEF6"/>
                    </a:solidFill>
                  </a:tcPr>
                </a:tc>
              </a:tr>
              <a:tr h="868680">
                <a:tc>
                  <a:txBody>
                    <a:bodyPr/>
                    <a:lstStyle/>
                    <a:p>
                      <a:r>
                        <a:rPr sz="1500" b="0">
                          <a:solidFill>
                            <a:srgbClr val="1F2937"/>
                          </a:solidFill>
                        </a:rPr>
                        <a:t>Ikkilamchi</a:t>
                      </a:r>
                    </a:p>
                  </a:txBody>
                  <a:tcPr marL="73152" marR="73152" marT="36576" marB="36576">
                    <a:solidFill>
                      <a:srgbClr val="FFFFFF"/>
                    </a:solidFill>
                  </a:tcPr>
                </a:tc>
                <a:tc>
                  <a:txBody>
                    <a:bodyPr/>
                    <a:lstStyle/>
                    <a:p>
                      <a:r>
                        <a:rPr sz="1500" b="0">
                          <a:solidFill>
                            <a:srgbClr val="1F2937"/>
                          </a:solidFill>
                        </a:rPr>
                        <a:t>Birmuncha muddatdan so‘ng</a:t>
                      </a:r>
                    </a:p>
                  </a:txBody>
                  <a:tcPr marL="73152" marR="73152" marT="36576" marB="36576">
                    <a:solidFill>
                      <a:srgbClr val="FFFFFF"/>
                    </a:solidFill>
                  </a:tcPr>
                </a:tc>
                <a:tc>
                  <a:txBody>
                    <a:bodyPr/>
                    <a:lstStyle/>
                    <a:p>
                      <a:r>
                        <a:rPr sz="1500" b="0">
                          <a:solidFill>
                            <a:srgbClr val="1F2937"/>
                          </a:solidFill>
                        </a:rPr>
                        <a:t>Sepsis, qoqshol, travmatik toksikoz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Birlamchi va ikkilamchi sabablar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30-31, 31-32,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bilan nomutanosib va muhim a’zo jarohatlari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 bilan nomutanosib jarohatlarga boshning tanadan ajrashi, tananing ikkiga bo‘linishi va boshning majaqlanishi kiradi.</a:t>
            </a:r>
          </a:p>
          <a:p>
            <a:pPr>
              <a:spcAft>
                <a:spcPts val="1200"/>
              </a:spcAft>
            </a:pPr>
            <a:r>
              <a:rPr sz="2200">
                <a:solidFill>
                  <a:srgbClr val="1F2937"/>
                </a:solidFill>
                <a:latin typeface="Calibri"/>
              </a:rPr>
              <a:t>▸  Ichki a’zolarning qo‘pol shikastlanishi (yurakning majaqlanishi yoki uzilishi) ham shu guruhga kiradi. Ular asosan transport travmasi, katta balandlikdan yiqilish va portlashda olinadi.</a:t>
            </a:r>
          </a:p>
          <a:p>
            <a:pPr>
              <a:spcAft>
                <a:spcPts val="1200"/>
              </a:spcAft>
            </a:pPr>
            <a:r>
              <a:rPr sz="2200">
                <a:solidFill>
                  <a:srgbClr val="1F2937"/>
                </a:solidFill>
                <a:latin typeface="Calibri"/>
              </a:rPr>
              <a:t>▸  Hayot uchun muhim a’zolar shikastlanishiga bosh miya va yurakning lat eyishi hamda yurakning chayqalishi kiradi.</a:t>
            </a:r>
          </a:p>
          <a:p>
            <a:pPr>
              <a:spcAft>
                <a:spcPts val="1200"/>
              </a:spcAft>
            </a:pPr>
            <a:r>
              <a:rPr sz="2200">
                <a:solidFill>
                  <a:srgbClr val="1F2937"/>
                </a:solidFill>
                <a:latin typeface="Calibri"/>
              </a:rPr>
              <a:t>▸  Yurakning chayqalishi yurakning reflektor to‘xtashiga yoki yurak mushaklarining yorilishiga olib kelishi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yo‘qotish: o‘tkir va ko‘p qon yo‘qotish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O‘tkir yo‘qotishda faqat bosh miya va yurak mushagi kamqon bo‘ladi; taloq odatdagidek qonga to‘yingan.</a:t>
            </a:r>
          </a:p>
          <a:p>
            <a:pPr>
              <a:spcAft>
                <a:spcPts val="800"/>
              </a:spcAft>
            </a:pPr>
            <a:r>
              <a:rPr sz="1800">
                <a:solidFill>
                  <a:srgbClr val="1F2937"/>
                </a:solidFill>
                <a:latin typeface="Calibri"/>
              </a:rPr>
              <a:t>▸  Ko‘p yo‘qotishda teri quruq va oqimtir, ichki a’zolar, jumladan taloq, kamqon va qisqargan bo‘ladi.</a:t>
            </a:r>
          </a:p>
          <a:p>
            <a:pPr>
              <a:spcAft>
                <a:spcPts val="800"/>
              </a:spcAft>
            </a:pPr>
            <a:r>
              <a:rPr sz="1800">
                <a:solidFill>
                  <a:srgbClr val="1F2937"/>
                </a:solidFill>
                <a:latin typeface="Calibri"/>
              </a:rPr>
              <a:t>▸  Diqqat: o‘tkir va ko‘p qon yo‘qotish belgilari bir xil emas, ularni bir-biriga aralashtirmang.</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1832564"/>
                <a:gridCol w="2236210"/>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O‘tkir</a:t>
                      </a:r>
                    </a:p>
                  </a:txBody>
                  <a:tcPr marL="73152" marR="73152" marT="36576" marB="36576">
                    <a:solidFill>
                      <a:srgbClr val="0B1F3A"/>
                    </a:solidFill>
                  </a:tcPr>
                </a:tc>
                <a:tc>
                  <a:txBody>
                    <a:bodyPr/>
                    <a:lstStyle/>
                    <a:p>
                      <a:r>
                        <a:rPr sz="1600" b="1">
                          <a:solidFill>
                            <a:srgbClr val="FFFFFF"/>
                          </a:solidFill>
                        </a:rPr>
                        <a:t>Ko‘p yo‘qotish</a:t>
                      </a:r>
                    </a:p>
                  </a:txBody>
                  <a:tcPr marL="73152" marR="73152" marT="36576" marB="36576">
                    <a:solidFill>
                      <a:srgbClr val="0B1F3A"/>
                    </a:solidFill>
                  </a:tcPr>
                </a:tc>
              </a:tr>
              <a:tr h="614476">
                <a:tc>
                  <a:txBody>
                    <a:bodyPr/>
                    <a:lstStyle/>
                    <a:p>
                      <a:r>
                        <a:rPr sz="1500" b="0">
                          <a:solidFill>
                            <a:srgbClr val="1F2937"/>
                          </a:solidFill>
                        </a:rPr>
                        <a:t>Qon hajmi</a:t>
                      </a:r>
                    </a:p>
                  </a:txBody>
                  <a:tcPr marL="73152" marR="73152" marT="36576" marB="36576">
                    <a:solidFill>
                      <a:srgbClr val="E8EEF6"/>
                    </a:solidFill>
                  </a:tcPr>
                </a:tc>
                <a:tc>
                  <a:txBody>
                    <a:bodyPr/>
                    <a:lstStyle/>
                    <a:p>
                      <a:r>
                        <a:rPr sz="1500" b="0">
                          <a:solidFill>
                            <a:srgbClr val="1F2937"/>
                          </a:solidFill>
                        </a:rPr>
                        <a:t>500 ml gacha bo‘lishi mumkin</a:t>
                      </a:r>
                    </a:p>
                  </a:txBody>
                  <a:tcPr marL="73152" marR="73152" marT="36576" marB="36576">
                    <a:solidFill>
                      <a:srgbClr val="E8EEF6"/>
                    </a:solidFill>
                  </a:tcPr>
                </a:tc>
                <a:tc>
                  <a:txBody>
                    <a:bodyPr/>
                    <a:lstStyle/>
                    <a:p>
                      <a:r>
                        <a:rPr sz="1500" b="0">
                          <a:solidFill>
                            <a:srgbClr val="1F2937"/>
                          </a:solidFill>
                        </a:rPr>
                        <a:t>50% dan ortiq (2,5 l va undan ko‘p)</a:t>
                      </a:r>
                    </a:p>
                  </a:txBody>
                  <a:tcPr marL="73152" marR="73152" marT="36576" marB="36576">
                    <a:solidFill>
                      <a:srgbClr val="E8EEF6"/>
                    </a:solidFill>
                  </a:tcPr>
                </a:tc>
              </a:tr>
              <a:tr h="614476">
                <a:tc>
                  <a:txBody>
                    <a:bodyPr/>
                    <a:lstStyle/>
                    <a:p>
                      <a:r>
                        <a:rPr sz="1500" b="0">
                          <a:solidFill>
                            <a:srgbClr val="1F2937"/>
                          </a:solidFill>
                        </a:rPr>
                        <a:t>O‘lim vaqti</a:t>
                      </a:r>
                    </a:p>
                  </a:txBody>
                  <a:tcPr marL="73152" marR="73152" marT="36576" marB="36576">
                    <a:solidFill>
                      <a:srgbClr val="FFFFFF"/>
                    </a:solidFill>
                  </a:tcPr>
                </a:tc>
                <a:tc>
                  <a:txBody>
                    <a:bodyPr/>
                    <a:lstStyle/>
                    <a:p>
                      <a:r>
                        <a:rPr sz="1500" b="0">
                          <a:solidFill>
                            <a:srgbClr val="1F2937"/>
                          </a:solidFill>
                        </a:rPr>
                        <a:t>Dastlabki minutlarda</a:t>
                      </a:r>
                    </a:p>
                  </a:txBody>
                  <a:tcPr marL="73152" marR="73152" marT="36576" marB="36576">
                    <a:solidFill>
                      <a:srgbClr val="FFFFFF"/>
                    </a:solidFill>
                  </a:tcPr>
                </a:tc>
                <a:tc>
                  <a:txBody>
                    <a:bodyPr/>
                    <a:lstStyle/>
                    <a:p>
                      <a:r>
                        <a:rPr sz="1500" b="0">
                          <a:solidFill>
                            <a:srgbClr val="1F2937"/>
                          </a:solidFill>
                        </a:rPr>
                        <a:t>Bir necha soat davomida</a:t>
                      </a:r>
                    </a:p>
                  </a:txBody>
                  <a:tcPr marL="73152" marR="73152" marT="36576" marB="36576">
                    <a:solidFill>
                      <a:srgbClr val="FFFFFF"/>
                    </a:solidFill>
                  </a:tcPr>
                </a:tc>
              </a:tr>
              <a:tr h="614476">
                <a:tc>
                  <a:txBody>
                    <a:bodyPr/>
                    <a:lstStyle/>
                    <a:p>
                      <a:r>
                        <a:rPr sz="1500" b="0">
                          <a:solidFill>
                            <a:srgbClr val="1F2937"/>
                          </a:solidFill>
                        </a:rPr>
                        <a:t>Murda dog‘lari</a:t>
                      </a:r>
                    </a:p>
                  </a:txBody>
                  <a:tcPr marL="73152" marR="73152" marT="36576" marB="36576">
                    <a:solidFill>
                      <a:srgbClr val="E8EEF6"/>
                    </a:solidFill>
                  </a:tcPr>
                </a:tc>
                <a:tc>
                  <a:txBody>
                    <a:bodyPr/>
                    <a:lstStyle/>
                    <a:p>
                      <a:r>
                        <a:rPr sz="1500" b="0">
                          <a:solidFill>
                            <a:srgbClr val="1F2937"/>
                          </a:solidFill>
                        </a:rPr>
                        <a:t>Odatdagidek</a:t>
                      </a:r>
                    </a:p>
                  </a:txBody>
                  <a:tcPr marL="73152" marR="73152" marT="36576" marB="36576">
                    <a:solidFill>
                      <a:srgbClr val="E8EEF6"/>
                    </a:solidFill>
                  </a:tcPr>
                </a:tc>
                <a:tc>
                  <a:txBody>
                    <a:bodyPr/>
                    <a:lstStyle/>
                    <a:p>
                      <a:r>
                        <a:rPr sz="1500" b="0">
                          <a:solidFill>
                            <a:srgbClr val="1F2937"/>
                          </a:solidFill>
                        </a:rPr>
                        <a:t>Kech paydo bo‘ladi, kamroq</a:t>
                      </a:r>
                    </a:p>
                  </a:txBody>
                  <a:tcPr marL="73152" marR="73152" marT="36576" marB="36576">
                    <a:solidFill>
                      <a:srgbClr val="E8EEF6"/>
                    </a:solidFill>
                  </a:tcPr>
                </a:tc>
              </a:tr>
              <a:tr h="614476">
                <a:tc>
                  <a:txBody>
                    <a:bodyPr/>
                    <a:lstStyle/>
                    <a:p>
                      <a:r>
                        <a:rPr sz="1500" b="0">
                          <a:solidFill>
                            <a:srgbClr val="1F2937"/>
                          </a:solidFill>
                        </a:rPr>
                        <a:t>Mushak qotishi</a:t>
                      </a:r>
                    </a:p>
                  </a:txBody>
                  <a:tcPr marL="73152" marR="73152" marT="36576" marB="36576">
                    <a:solidFill>
                      <a:srgbClr val="FFFFFF"/>
                    </a:solidFill>
                  </a:tcPr>
                </a:tc>
                <a:tc>
                  <a:txBody>
                    <a:bodyPr/>
                    <a:lstStyle/>
                    <a:p>
                      <a:r>
                        <a:rPr sz="1500" b="0">
                          <a:solidFill>
                            <a:srgbClr val="1F2937"/>
                          </a:solidFill>
                        </a:rPr>
                        <a:t>Odatdagidek</a:t>
                      </a:r>
                    </a:p>
                  </a:txBody>
                  <a:tcPr marL="73152" marR="73152" marT="36576" marB="36576">
                    <a:solidFill>
                      <a:srgbClr val="FFFFFF"/>
                    </a:solidFill>
                  </a:tcPr>
                </a:tc>
                <a:tc>
                  <a:txBody>
                    <a:bodyPr/>
                    <a:lstStyle/>
                    <a:p>
                      <a:r>
                        <a:rPr sz="1500" b="0">
                          <a:solidFill>
                            <a:srgbClr val="1F2937"/>
                          </a:solidFill>
                        </a:rPr>
                        <a:t>Kuchliroq rivojlanadi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O‘tkir va ko‘p qon yo‘qotish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Minakov dog‘lari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Minakov dog‘lari yurak chap qorinchasi endokardi ostidagi tasmasimon qon quyilishlardir.</a:t>
            </a:r>
          </a:p>
          <a:p>
            <a:pPr>
              <a:spcAft>
                <a:spcPts val="1200"/>
              </a:spcAft>
            </a:pPr>
            <a:r>
              <a:rPr sz="2200">
                <a:solidFill>
                  <a:srgbClr val="1F2937"/>
                </a:solidFill>
                <a:latin typeface="Calibri"/>
              </a:rPr>
              <a:t>▸  Ular o‘tkir qon yo‘qotish uchun xos belgi hisoblanadi.</a:t>
            </a:r>
          </a:p>
          <a:p>
            <a:pPr>
              <a:spcAft>
                <a:spcPts val="1200"/>
              </a:spcAft>
            </a:pPr>
            <a:r>
              <a:rPr sz="2200">
                <a:solidFill>
                  <a:srgbClr val="1F2937"/>
                </a:solidFill>
                <a:latin typeface="Calibri"/>
              </a:rPr>
              <a:t>▸  Sababi: yurak ichidagi bosimning keskin pasayishi va adashgan nervning o‘ta ta’sirlanishi.</a:t>
            </a:r>
          </a:p>
          <a:p>
            <a:pPr>
              <a:spcAft>
                <a:spcPts val="1200"/>
              </a:spcAft>
            </a:pPr>
            <a:r>
              <a:rPr sz="2200">
                <a:solidFill>
                  <a:srgbClr val="1F2937"/>
                </a:solidFill>
                <a:latin typeface="Calibri"/>
              </a:rPr>
              <a:t>▸  Ko‘p qon yo‘qotishda Minakov dog‘lari faqat ayrim holatlardagina topilishi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Travmatik shok morfologiyasi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Travmatik shok — nerv, yurak-qon tomir va endokrin tizimlar faoliyatining jiddiy buzilishi bilan javob.</a:t>
            </a:r>
          </a:p>
          <a:p>
            <a:pPr>
              <a:spcAft>
                <a:spcPts val="800"/>
              </a:spcAft>
            </a:pPr>
            <a:r>
              <a:rPr sz="1800">
                <a:solidFill>
                  <a:srgbClr val="1F2937"/>
                </a:solidFill>
                <a:latin typeface="Calibri"/>
              </a:rPr>
              <a:t>▸  Periferik qon aylanishi yetishmaydi: aylanayotgan qon miqdori tomir tizimi hajmiga mos kelmaydi.</a:t>
            </a:r>
          </a:p>
          <a:p>
            <a:pPr>
              <a:spcAft>
                <a:spcPts val="800"/>
              </a:spcAft>
            </a:pPr>
            <a:r>
              <a:rPr sz="1800">
                <a:solidFill>
                  <a:srgbClr val="1F2937"/>
                </a:solidFill>
                <a:latin typeface="Calibri"/>
              </a:rPr>
              <a:t>▸  III-IV darajali shok odatda o‘limga olib keladi; venoz to‘laqonlik, jigar va taloqda qon depolanishi topiladi.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Shikastlanish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Nerv, yurak, endokrin buzilishi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aylanishi yetishmovchiligi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hajmi ≠ tomir hajmi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III-IV daraja: o‘lim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Shok rivojlanish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Organlarning qisilishi va aspiratsion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Kalla-miya jarohatida suyak ichi gematomalar (epidural, subdural, subaraxnoidal, qorinchalar ichi, miya to‘qimasida) miyani qisadi.</a:t>
            </a:r>
          </a:p>
          <a:p>
            <a:pPr>
              <a:spcAft>
                <a:spcPts val="1200"/>
              </a:spcAft>
            </a:pPr>
            <a:r>
              <a:rPr sz="2200">
                <a:solidFill>
                  <a:srgbClr val="1F2937"/>
                </a:solidFill>
                <a:latin typeface="Calibri"/>
              </a:rPr>
              <a:t>▸  Umurtqa pog‘onasining bo‘yin va ko‘krak qismlari shikastlanganda orqa miyaning shu qismlari qisiladi.</a:t>
            </a:r>
          </a:p>
          <a:p>
            <a:pPr>
              <a:spcAft>
                <a:spcPts val="1200"/>
              </a:spcAft>
            </a:pPr>
            <a:r>
              <a:rPr sz="2200">
                <a:solidFill>
                  <a:srgbClr val="1F2937"/>
                </a:solidFill>
                <a:latin typeface="Calibri"/>
              </a:rPr>
              <a:t>▸  Ko‘krak qafasi shikastlanishida gemoperikard, pnevmotoraks va gemotoraks vujudga kelib, yurak va o‘pkaning qisilishiga olib keladi.</a:t>
            </a:r>
          </a:p>
          <a:p>
            <a:pPr>
              <a:spcAft>
                <a:spcPts val="1200"/>
              </a:spcAft>
            </a:pPr>
            <a:r>
              <a:rPr sz="2200">
                <a:solidFill>
                  <a:srgbClr val="1F2937"/>
                </a:solidFill>
                <a:latin typeface="Calibri"/>
              </a:rPr>
              <a:t>▸  Halqum, nafas yo‘llari shikastlanganda yoki kalla asosi va burun suyaklari singanda qon nafas yo‘llariga tushib, aspiratsion asfiksiya chiqadi. Murdada nafas yo‘llarida qon va asfiksiyaning umumiy belgilari topiladi.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Havo va yog‘ emboliyasi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Havo: 5-7 kub sm sekin erib ketadi; 10 kub sm va undan ko‘pi tez kirsa, o‘lim mumkin.</a:t>
            </a:r>
          </a:p>
          <a:p>
            <a:pPr>
              <a:spcAft>
                <a:spcPts val="800"/>
              </a:spcAft>
            </a:pPr>
            <a:r>
              <a:rPr sz="1800">
                <a:solidFill>
                  <a:srgbClr val="1F2937"/>
                </a:solidFill>
                <a:latin typeface="Calibri"/>
              </a:rPr>
              <a:t>▸  Sunsov sinamasi: perikard suvida o‘ng qorincha teshilganda havo pufaklari chiqsa — musbat.</a:t>
            </a:r>
          </a:p>
          <a:p>
            <a:pPr>
              <a:spcAft>
                <a:spcPts val="800"/>
              </a:spcAft>
            </a:pPr>
            <a:r>
              <a:rPr sz="1800">
                <a:solidFill>
                  <a:srgbClr val="1F2937"/>
                </a:solidFill>
                <a:latin typeface="Calibri"/>
              </a:rPr>
              <a:t>▸  Sudan III da yog‘ tomchilari olovrang qizil, Sudan IV da qora ko‘rinadi.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164080"/>
                <a:gridCol w="1668475"/>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Havo</a:t>
                      </a:r>
                    </a:p>
                  </a:txBody>
                  <a:tcPr marL="73152" marR="73152" marT="36576" marB="36576">
                    <a:solidFill>
                      <a:srgbClr val="0B1F3A"/>
                    </a:solidFill>
                  </a:tcPr>
                </a:tc>
                <a:tc>
                  <a:txBody>
                    <a:bodyPr/>
                    <a:lstStyle/>
                    <a:p>
                      <a:r>
                        <a:rPr sz="1600" b="1">
                          <a:solidFill>
                            <a:srgbClr val="FFFFFF"/>
                          </a:solidFill>
                        </a:rPr>
                        <a:t>Yog‘</a:t>
                      </a:r>
                    </a:p>
                  </a:txBody>
                  <a:tcPr marL="73152" marR="73152" marT="36576" marB="36576">
                    <a:solidFill>
                      <a:srgbClr val="0B1F3A"/>
                    </a:solidFill>
                  </a:tcPr>
                </a:tc>
              </a:tr>
              <a:tr h="614476">
                <a:tc>
                  <a:txBody>
                    <a:bodyPr/>
                    <a:lstStyle/>
                    <a:p>
                      <a:r>
                        <a:rPr sz="1500" b="0">
                          <a:solidFill>
                            <a:srgbClr val="1F2937"/>
                          </a:solidFill>
                        </a:rPr>
                        <a:t>Sabab</a:t>
                      </a:r>
                    </a:p>
                  </a:txBody>
                  <a:tcPr marL="73152" marR="73152" marT="36576" marB="36576">
                    <a:solidFill>
                      <a:srgbClr val="E8EEF6"/>
                    </a:solidFill>
                  </a:tcPr>
                </a:tc>
                <a:tc>
                  <a:txBody>
                    <a:bodyPr/>
                    <a:lstStyle/>
                    <a:p>
                      <a:r>
                        <a:rPr sz="1500" b="0">
                          <a:solidFill>
                            <a:srgbClr val="1F2937"/>
                          </a:solidFill>
                        </a:rPr>
                        <a:t>Yirik vena jarohati, jinoiy abort</a:t>
                      </a:r>
                    </a:p>
                  </a:txBody>
                  <a:tcPr marL="73152" marR="73152" marT="36576" marB="36576">
                    <a:solidFill>
                      <a:srgbClr val="E8EEF6"/>
                    </a:solidFill>
                  </a:tcPr>
                </a:tc>
                <a:tc>
                  <a:txBody>
                    <a:bodyPr/>
                    <a:lstStyle/>
                    <a:p>
                      <a:r>
                        <a:rPr sz="1500" b="0">
                          <a:solidFill>
                            <a:srgbClr val="1F2937"/>
                          </a:solidFill>
                        </a:rPr>
                        <a:t>Naysimon suyak sinishi, yog‘ majaqlanishi</a:t>
                      </a:r>
                    </a:p>
                  </a:txBody>
                  <a:tcPr marL="73152" marR="73152" marT="36576" marB="36576">
                    <a:solidFill>
                      <a:srgbClr val="E8EEF6"/>
                    </a:solidFill>
                  </a:tcPr>
                </a:tc>
              </a:tr>
              <a:tr h="614476">
                <a:tc>
                  <a:txBody>
                    <a:bodyPr/>
                    <a:lstStyle/>
                    <a:p>
                      <a:r>
                        <a:rPr sz="1500" b="0">
                          <a:solidFill>
                            <a:srgbClr val="1F2937"/>
                          </a:solidFill>
                        </a:rPr>
                        <a:t>O‘lim vaqti</a:t>
                      </a:r>
                    </a:p>
                  </a:txBody>
                  <a:tcPr marL="73152" marR="73152" marT="36576" marB="36576">
                    <a:solidFill>
                      <a:srgbClr val="FFFFFF"/>
                    </a:solidFill>
                  </a:tcPr>
                </a:tc>
                <a:tc>
                  <a:txBody>
                    <a:bodyPr/>
                    <a:lstStyle/>
                    <a:p>
                      <a:r>
                        <a:rPr sz="1500" b="0">
                          <a:solidFill>
                            <a:srgbClr val="1F2937"/>
                          </a:solidFill>
                        </a:rPr>
                        <a:t>Tez: qorinchalar fibrillyatsiyasi</a:t>
                      </a:r>
                    </a:p>
                  </a:txBody>
                  <a:tcPr marL="73152" marR="73152" marT="36576" marB="36576">
                    <a:solidFill>
                      <a:srgbClr val="FFFFFF"/>
                    </a:solidFill>
                  </a:tcPr>
                </a:tc>
                <a:tc>
                  <a:txBody>
                    <a:bodyPr/>
                    <a:lstStyle/>
                    <a:p>
                      <a:r>
                        <a:rPr sz="1500" b="0">
                          <a:solidFill>
                            <a:srgbClr val="1F2937"/>
                          </a:solidFill>
                        </a:rPr>
                        <a:t>Shikastdan 2-3 kundan keyin</a:t>
                      </a:r>
                    </a:p>
                  </a:txBody>
                  <a:tcPr marL="73152" marR="73152" marT="36576" marB="36576">
                    <a:solidFill>
                      <a:srgbClr val="FFFFFF"/>
                    </a:solidFill>
                  </a:tcPr>
                </a:tc>
              </a:tr>
              <a:tr h="614476">
                <a:tc>
                  <a:txBody>
                    <a:bodyPr/>
                    <a:lstStyle/>
                    <a:p>
                      <a:r>
                        <a:rPr sz="1500" b="0">
                          <a:solidFill>
                            <a:srgbClr val="1F2937"/>
                          </a:solidFill>
                        </a:rPr>
                        <a:t>Aniqlash</a:t>
                      </a:r>
                    </a:p>
                  </a:txBody>
                  <a:tcPr marL="73152" marR="73152" marT="36576" marB="36576">
                    <a:solidFill>
                      <a:srgbClr val="E8EEF6"/>
                    </a:solidFill>
                  </a:tcPr>
                </a:tc>
                <a:tc>
                  <a:txBody>
                    <a:bodyPr/>
                    <a:lstStyle/>
                    <a:p>
                      <a:r>
                        <a:rPr sz="1500" b="0">
                          <a:solidFill>
                            <a:srgbClr val="1F2937"/>
                          </a:solidFill>
                        </a:rPr>
                        <a:t>Sunsov sinamasi, gistologiya</a:t>
                      </a:r>
                    </a:p>
                  </a:txBody>
                  <a:tcPr marL="73152" marR="73152" marT="36576" marB="36576">
                    <a:solidFill>
                      <a:srgbClr val="E8EEF6"/>
                    </a:solidFill>
                  </a:tcPr>
                </a:tc>
                <a:tc>
                  <a:txBody>
                    <a:bodyPr/>
                    <a:lstStyle/>
                    <a:p>
                      <a:r>
                        <a:rPr sz="1500" b="0">
                          <a:solidFill>
                            <a:srgbClr val="1F2937"/>
                          </a:solidFill>
                        </a:rPr>
                        <a:t>Sudan III, IV bo‘yash</a:t>
                      </a:r>
                    </a:p>
                  </a:txBody>
                  <a:tcPr marL="73152" marR="73152" marT="36576" marB="36576">
                    <a:solidFill>
                      <a:srgbClr val="E8EEF6"/>
                    </a:solidFill>
                  </a:tcPr>
                </a:tc>
              </a:tr>
              <a:tr h="614476">
                <a:tc>
                  <a:txBody>
                    <a:bodyPr/>
                    <a:lstStyle/>
                    <a:p>
                      <a:r>
                        <a:rPr sz="1500" b="0">
                          <a:solidFill>
                            <a:srgbClr val="1F2937"/>
                          </a:solidFill>
                        </a:rPr>
                        <a:t>Qo‘shimcha</a:t>
                      </a:r>
                    </a:p>
                  </a:txBody>
                  <a:tcPr marL="73152" marR="73152" marT="36576" marB="36576">
                    <a:solidFill>
                      <a:srgbClr val="FFFFFF"/>
                    </a:solidFill>
                  </a:tcPr>
                </a:tc>
                <a:tc>
                  <a:txBody>
                    <a:bodyPr/>
                    <a:lstStyle/>
                    <a:p>
                      <a:r>
                        <a:rPr sz="1500" b="0">
                          <a:solidFill>
                            <a:srgbClr val="1F2937"/>
                          </a:solidFill>
                        </a:rPr>
                        <a:t>O‘pka tomirlarida katakchasimon izlar</a:t>
                      </a:r>
                    </a:p>
                  </a:txBody>
                  <a:tcPr marL="73152" marR="73152" marT="36576" marB="36576">
                    <a:solidFill>
                      <a:srgbClr val="FFFFFF"/>
                    </a:solidFill>
                  </a:tcPr>
                </a:tc>
                <a:tc>
                  <a:txBody>
                    <a:bodyPr/>
                    <a:lstStyle/>
                    <a:p>
                      <a:r>
                        <a:rPr sz="1500" b="0">
                          <a:solidFill>
                            <a:srgbClr val="1F2937"/>
                          </a:solidFill>
                        </a:rPr>
                        <a:t>O‘pkada yallig‘lanish, miyada buzilish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Havo va yog‘ emboliyasi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o‘lim sababini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 holat: yirik arteriya shikastlangan. Qon 500 ml gacha yo‘qolsa ham, o‘lim dastlabki minutlarda yurak qorinchalari fibrillyatsiyasidan yuz beradi.</a:t>
            </a:r>
          </a:p>
          <a:p>
            <a:pPr>
              <a:spcAft>
                <a:spcPts val="1200"/>
              </a:spcAft>
            </a:pPr>
            <a:r>
              <a:rPr sz="2200">
                <a:solidFill>
                  <a:srgbClr val="1F2937"/>
                </a:solidFill>
                <a:latin typeface="Calibri"/>
              </a:rPr>
              <a:t>▸  A holatda morfologiya: kamqonlik faqat bosh miya va yurak mushagida, taloq odatdagidek to‘yingan. Chap qorincha endokardi ostida Minakov dog‘lari bor.</a:t>
            </a:r>
          </a:p>
          <a:p>
            <a:pPr>
              <a:spcAft>
                <a:spcPts val="1200"/>
              </a:spcAft>
            </a:pPr>
            <a:r>
              <a:rPr sz="2200">
                <a:solidFill>
                  <a:srgbClr val="1F2937"/>
                </a:solidFill>
                <a:latin typeface="Calibri"/>
              </a:rPr>
              <a:t>▸  B holat: uzun naysimon suyak sinishi. O‘lim darhol emas, 2-3 kundan keyin yuz beradi. O‘pka va miya muzlatilgan kesmalari Sudan III yoki IV bilan bo‘yaladi.</a:t>
            </a:r>
          </a:p>
          <a:p>
            <a:pPr>
              <a:spcAft>
                <a:spcPts val="1200"/>
              </a:spcAft>
            </a:pPr>
            <a:r>
              <a:rPr sz="2200">
                <a:solidFill>
                  <a:srgbClr val="1F2937"/>
                </a:solidFill>
                <a:latin typeface="Calibri"/>
              </a:rPr>
              <a:t>▸  Tezkor savol: nega A holatda ichki a’zolar umumiy kamqon emas, B holatda esa o‘lim kechikadi?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 32, 31-32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jismlar va ta’sir yuzasi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ta’sir joyida bo‘lsa — bevosita, boshqa sohada bo‘lsa — bilvosita jarohat deyiladi.</a:t>
            </a:r>
          </a:p>
          <a:p>
            <a:pPr>
              <a:spcAft>
                <a:spcPts val="800"/>
              </a:spcAft>
            </a:pPr>
            <a:r>
              <a:rPr sz="1800">
                <a:solidFill>
                  <a:srgbClr val="1F2937"/>
                </a:solidFill>
                <a:latin typeface="Calibri"/>
              </a:rPr>
              <a:t>▸  Yuza cheklangan yoki cheklanmaganligi nisbiy: jism yuzasi soha yuzasidan kichik bo‘lsa, u cheklangan.</a:t>
            </a:r>
          </a:p>
          <a:p>
            <a:pPr>
              <a:spcAft>
                <a:spcPts val="800"/>
              </a:spcAft>
            </a:pPr>
            <a:r>
              <a:rPr sz="1800">
                <a:solidFill>
                  <a:srgbClr val="1F2937"/>
                </a:solidFill>
                <a:latin typeface="Calibri"/>
              </a:rPr>
              <a:t>▸  Yuzaning o‘lchami, shakli va relefi jarohatning turi, shakli va o‘lchamini belgilaydi.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1854098"/>
                <a:gridCol w="2214676"/>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Variantlar</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Tur</a:t>
                      </a:r>
                    </a:p>
                  </a:txBody>
                  <a:tcPr marL="73152" marR="73152" marT="36576" marB="36576">
                    <a:solidFill>
                      <a:srgbClr val="E8EEF6"/>
                    </a:solidFill>
                  </a:tcPr>
                </a:tc>
                <a:tc>
                  <a:txBody>
                    <a:bodyPr/>
                    <a:lstStyle/>
                    <a:p>
                      <a:r>
                        <a:rPr sz="1500" b="0">
                          <a:solidFill>
                            <a:srgbClr val="1F2937"/>
                          </a:solidFill>
                        </a:rPr>
                        <a:t>Qattiq, yumshoq, elastik</a:t>
                      </a:r>
                    </a:p>
                  </a:txBody>
                  <a:tcPr marL="73152" marR="73152" marT="36576" marB="36576">
                    <a:solidFill>
                      <a:srgbClr val="E8EEF6"/>
                    </a:solidFill>
                  </a:tcPr>
                </a:tc>
                <a:tc>
                  <a:txBody>
                    <a:bodyPr/>
                    <a:lstStyle/>
                    <a:p>
                      <a:r>
                        <a:rPr sz="1500" b="0">
                          <a:solidFill>
                            <a:srgbClr val="1F2937"/>
                          </a:solidFill>
                        </a:rPr>
                        <a:t>Tosh; sharf; rezina to‘pi</a:t>
                      </a:r>
                    </a:p>
                  </a:txBody>
                  <a:tcPr marL="73152" marR="73152" marT="36576" marB="36576">
                    <a:solidFill>
                      <a:srgbClr val="E8EEF6"/>
                    </a:solidFill>
                  </a:tcPr>
                </a:tc>
              </a:tr>
              <a:tr h="614476">
                <a:tc>
                  <a:txBody>
                    <a:bodyPr/>
                    <a:lstStyle/>
                    <a:p>
                      <a:r>
                        <a:rPr sz="1500" b="0">
                          <a:solidFill>
                            <a:srgbClr val="1F2937"/>
                          </a:solidFill>
                        </a:rPr>
                        <a:t>Yuza o‘lchami</a:t>
                      </a:r>
                    </a:p>
                  </a:txBody>
                  <a:tcPr marL="73152" marR="73152" marT="36576" marB="36576">
                    <a:solidFill>
                      <a:srgbClr val="FFFFFF"/>
                    </a:solidFill>
                  </a:tcPr>
                </a:tc>
                <a:tc>
                  <a:txBody>
                    <a:bodyPr/>
                    <a:lstStyle/>
                    <a:p>
                      <a:r>
                        <a:rPr sz="1500" b="0">
                          <a:solidFill>
                            <a:srgbClr val="1F2937"/>
                          </a:solidFill>
                        </a:rPr>
                        <a:t>Cheklangan / cheklanmagan</a:t>
                      </a:r>
                    </a:p>
                  </a:txBody>
                  <a:tcPr marL="73152" marR="73152" marT="36576" marB="36576">
                    <a:solidFill>
                      <a:srgbClr val="FFFFFF"/>
                    </a:solidFill>
                  </a:tcPr>
                </a:tc>
                <a:tc>
                  <a:txBody>
                    <a:bodyPr/>
                    <a:lstStyle/>
                    <a:p>
                      <a:r>
                        <a:rPr sz="1500" b="0">
                          <a:solidFill>
                            <a:srgbClr val="1F2937"/>
                          </a:solidFill>
                        </a:rPr>
                        <a:t>Jism va soha yuzasi nisbatiga bog‘liq</a:t>
                      </a:r>
                    </a:p>
                  </a:txBody>
                  <a:tcPr marL="73152" marR="73152" marT="36576" marB="36576">
                    <a:solidFill>
                      <a:srgbClr val="FFFFFF"/>
                    </a:solidFill>
                  </a:tcPr>
                </a:tc>
              </a:tr>
              <a:tr h="614476">
                <a:tc>
                  <a:txBody>
                    <a:bodyPr/>
                    <a:lstStyle/>
                    <a:p>
                      <a:r>
                        <a:rPr sz="1500" b="0">
                          <a:solidFill>
                            <a:srgbClr val="1F2937"/>
                          </a:solidFill>
                        </a:rPr>
                        <a:t>Yuza shakli</a:t>
                      </a:r>
                    </a:p>
                  </a:txBody>
                  <a:tcPr marL="73152" marR="73152" marT="36576" marB="36576">
                    <a:solidFill>
                      <a:srgbClr val="E8EEF6"/>
                    </a:solidFill>
                  </a:tcPr>
                </a:tc>
                <a:tc>
                  <a:txBody>
                    <a:bodyPr/>
                    <a:lstStyle/>
                    <a:p>
                      <a:r>
                        <a:rPr sz="1500" b="0">
                          <a:solidFill>
                            <a:srgbClr val="1F2937"/>
                          </a:solidFill>
                        </a:rPr>
                        <a:t>Yassi, egri, qirrali, murakkab</a:t>
                      </a:r>
                    </a:p>
                  </a:txBody>
                  <a:tcPr marL="73152" marR="73152" marT="36576" marB="36576">
                    <a:solidFill>
                      <a:srgbClr val="E8EEF6"/>
                    </a:solidFill>
                  </a:tcPr>
                </a:tc>
                <a:tc>
                  <a:txBody>
                    <a:bodyPr/>
                    <a:lstStyle/>
                    <a:p>
                      <a:r>
                        <a:rPr sz="1500" b="0">
                          <a:solidFill>
                            <a:srgbClr val="1F2937"/>
                          </a:solidFill>
                        </a:rPr>
                        <a:t>Har birining ko‘rinishlari bor</a:t>
                      </a:r>
                    </a:p>
                  </a:txBody>
                  <a:tcPr marL="73152" marR="73152" marT="36576" marB="36576">
                    <a:solidFill>
                      <a:srgbClr val="E8EEF6"/>
                    </a:solidFill>
                  </a:tcPr>
                </a:tc>
              </a:tr>
              <a:tr h="614476">
                <a:tc>
                  <a:txBody>
                    <a:bodyPr/>
                    <a:lstStyle/>
                    <a:p>
                      <a:r>
                        <a:rPr sz="1500" b="0">
                          <a:solidFill>
                            <a:srgbClr val="1F2937"/>
                          </a:solidFill>
                        </a:rPr>
                        <a:t>Yuza relefi</a:t>
                      </a:r>
                    </a:p>
                  </a:txBody>
                  <a:tcPr marL="73152" marR="73152" marT="36576" marB="36576">
                    <a:solidFill>
                      <a:srgbClr val="FFFFFF"/>
                    </a:solidFill>
                  </a:tcPr>
                </a:tc>
                <a:tc>
                  <a:txBody>
                    <a:bodyPr/>
                    <a:lstStyle/>
                    <a:p>
                      <a:r>
                        <a:rPr sz="1500" b="0">
                          <a:solidFill>
                            <a:srgbClr val="1F2937"/>
                          </a:solidFill>
                        </a:rPr>
                        <a:t>Silliq yoki g‘adir-budur</a:t>
                      </a:r>
                    </a:p>
                  </a:txBody>
                  <a:tcPr marL="73152" marR="73152" marT="36576" marB="36576">
                    <a:solidFill>
                      <a:srgbClr val="FFFFFF"/>
                    </a:solidFill>
                  </a:tcPr>
                </a:tc>
                <a:tc>
                  <a:txBody>
                    <a:bodyPr/>
                    <a:lstStyle/>
                    <a:p>
                      <a:r>
                        <a:rPr sz="1500" b="0">
                          <a:solidFill>
                            <a:srgbClr val="1F2937"/>
                          </a:solidFill>
                        </a:rPr>
                        <a:t>Jarohat turi va shaklini belgilaydi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O‘tmas jism ta’sir yuzasi mezonlari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33, 33-34, 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Impression va inersion travma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Impression: jism massasi soha massasidan kichik; shikast faqat ta’sir sohasida qoladi.</a:t>
            </a:r>
          </a:p>
          <a:p>
            <a:pPr>
              <a:spcAft>
                <a:spcPts val="800"/>
              </a:spcAft>
            </a:pPr>
            <a:r>
              <a:rPr sz="1800">
                <a:solidFill>
                  <a:srgbClr val="1F2937"/>
                </a:solidFill>
                <a:latin typeface="Calibri"/>
              </a:rPr>
              <a:t>▸  Inersion (tezlanish) travmasi: ta’sir kuchi soha, ba’zan tana massasidan ancha katta bo‘ladi.</a:t>
            </a:r>
          </a:p>
          <a:p>
            <a:pPr>
              <a:spcAft>
                <a:spcPts val="800"/>
              </a:spcAft>
            </a:pPr>
            <a:r>
              <a:rPr sz="1800">
                <a:solidFill>
                  <a:srgbClr val="1F2937"/>
                </a:solidFill>
                <a:latin typeface="Calibri"/>
              </a:rPr>
              <a:t>▸  Diqqat: impression ≠ inersion. Inersionda bilvosita jarohat, umumiy chayqalish va aks zarb xos.</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455420"/>
                <a:gridCol w="1927859"/>
                <a:gridCol w="1904696"/>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Impression</a:t>
                      </a:r>
                    </a:p>
                  </a:txBody>
                  <a:tcPr marL="73152" marR="73152" marT="36576" marB="36576">
                    <a:solidFill>
                      <a:srgbClr val="0B1F3A"/>
                    </a:solidFill>
                  </a:tcPr>
                </a:tc>
                <a:tc>
                  <a:txBody>
                    <a:bodyPr/>
                    <a:lstStyle/>
                    <a:p>
                      <a:r>
                        <a:rPr sz="1600" b="1">
                          <a:solidFill>
                            <a:srgbClr val="FFFFFF"/>
                          </a:solidFill>
                        </a:rPr>
                        <a:t>Inersion</a:t>
                      </a:r>
                    </a:p>
                  </a:txBody>
                  <a:tcPr marL="73152" marR="73152" marT="36576" marB="36576">
                    <a:solidFill>
                      <a:srgbClr val="0B1F3A"/>
                    </a:solidFill>
                  </a:tcPr>
                </a:tc>
              </a:tr>
              <a:tr h="768096">
                <a:tc>
                  <a:txBody>
                    <a:bodyPr/>
                    <a:lstStyle/>
                    <a:p>
                      <a:r>
                        <a:rPr sz="1500" b="0">
                          <a:solidFill>
                            <a:srgbClr val="1F2937"/>
                          </a:solidFill>
                        </a:rPr>
                        <a:t>Massa nisbati</a:t>
                      </a:r>
                    </a:p>
                  </a:txBody>
                  <a:tcPr marL="73152" marR="73152" marT="36576" marB="36576">
                    <a:solidFill>
                      <a:srgbClr val="E8EEF6"/>
                    </a:solidFill>
                  </a:tcPr>
                </a:tc>
                <a:tc>
                  <a:txBody>
                    <a:bodyPr/>
                    <a:lstStyle/>
                    <a:p>
                      <a:r>
                        <a:rPr sz="1500" b="0">
                          <a:solidFill>
                            <a:srgbClr val="1F2937"/>
                          </a:solidFill>
                        </a:rPr>
                        <a:t>Jism massasi kichik</a:t>
                      </a:r>
                    </a:p>
                  </a:txBody>
                  <a:tcPr marL="73152" marR="73152" marT="36576" marB="36576">
                    <a:solidFill>
                      <a:srgbClr val="E8EEF6"/>
                    </a:solidFill>
                  </a:tcPr>
                </a:tc>
                <a:tc>
                  <a:txBody>
                    <a:bodyPr/>
                    <a:lstStyle/>
                    <a:p>
                      <a:r>
                        <a:rPr sz="1500" b="0">
                          <a:solidFill>
                            <a:srgbClr val="1F2937"/>
                          </a:solidFill>
                        </a:rPr>
                        <a:t>Kuch soha/tana massasidan katta</a:t>
                      </a:r>
                    </a:p>
                  </a:txBody>
                  <a:tcPr marL="73152" marR="73152" marT="36576" marB="36576">
                    <a:solidFill>
                      <a:srgbClr val="E8EEF6"/>
                    </a:solidFill>
                  </a:tcPr>
                </a:tc>
              </a:tr>
              <a:tr h="768096">
                <a:tc>
                  <a:txBody>
                    <a:bodyPr/>
                    <a:lstStyle/>
                    <a:p>
                      <a:r>
                        <a:rPr sz="1500" b="0">
                          <a:solidFill>
                            <a:srgbClr val="1F2937"/>
                          </a:solidFill>
                        </a:rPr>
                        <a:t>Jarohat joyi</a:t>
                      </a:r>
                    </a:p>
                  </a:txBody>
                  <a:tcPr marL="73152" marR="73152" marT="36576" marB="36576">
                    <a:solidFill>
                      <a:srgbClr val="FFFFFF"/>
                    </a:solidFill>
                  </a:tcPr>
                </a:tc>
                <a:tc>
                  <a:txBody>
                    <a:bodyPr/>
                    <a:lstStyle/>
                    <a:p>
                      <a:r>
                        <a:rPr sz="1500" b="0">
                          <a:solidFill>
                            <a:srgbClr val="1F2937"/>
                          </a:solidFill>
                        </a:rPr>
                        <a:t>Faqat ta’sir sohasida</a:t>
                      </a:r>
                    </a:p>
                  </a:txBody>
                  <a:tcPr marL="73152" marR="73152" marT="36576" marB="36576">
                    <a:solidFill>
                      <a:srgbClr val="FFFFFF"/>
                    </a:solidFill>
                  </a:tcPr>
                </a:tc>
                <a:tc>
                  <a:txBody>
                    <a:bodyPr/>
                    <a:lstStyle/>
                    <a:p>
                      <a:r>
                        <a:rPr sz="1500" b="0">
                          <a:solidFill>
                            <a:srgbClr val="1F2937"/>
                          </a:solidFill>
                        </a:rPr>
                        <a:t>Bilvosita jarohatlar ham bo‘ladi</a:t>
                      </a:r>
                    </a:p>
                  </a:txBody>
                  <a:tcPr marL="73152" marR="73152" marT="36576" marB="36576">
                    <a:solidFill>
                      <a:srgbClr val="FFFFFF"/>
                    </a:solidFill>
                  </a:tcPr>
                </a:tc>
              </a:tr>
              <a:tr h="768096">
                <a:tc>
                  <a:txBody>
                    <a:bodyPr/>
                    <a:lstStyle/>
                    <a:p>
                      <a:r>
                        <a:rPr sz="1500" b="0">
                          <a:solidFill>
                            <a:srgbClr val="1F2937"/>
                          </a:solidFill>
                        </a:rPr>
                        <a:t>Kalla-miya</a:t>
                      </a:r>
                    </a:p>
                  </a:txBody>
                  <a:tcPr marL="73152" marR="73152" marT="36576" marB="36576">
                    <a:solidFill>
                      <a:srgbClr val="E8EEF6"/>
                    </a:solidFill>
                  </a:tcPr>
                </a:tc>
                <a:tc>
                  <a:txBody>
                    <a:bodyPr/>
                    <a:lstStyle/>
                    <a:p>
                      <a:r>
                        <a:rPr sz="1500" b="0">
                          <a:solidFill>
                            <a:srgbClr val="1F2937"/>
                          </a:solidFill>
                        </a:rPr>
                        <a:t>Manbada ko‘rsatilmagan</a:t>
                      </a:r>
                    </a:p>
                  </a:txBody>
                  <a:tcPr marL="73152" marR="73152" marT="36576" marB="36576">
                    <a:solidFill>
                      <a:srgbClr val="E8EEF6"/>
                    </a:solidFill>
                  </a:tcPr>
                </a:tc>
                <a:tc>
                  <a:txBody>
                    <a:bodyPr/>
                    <a:lstStyle/>
                    <a:p>
                      <a:r>
                        <a:rPr sz="1500" b="0">
                          <a:solidFill>
                            <a:srgbClr val="1F2937"/>
                          </a:solidFill>
                        </a:rPr>
                        <a:t>Aks zarb shikastlanishlari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Impression va inersion travma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jismlarning ta’sir mexanizmlari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Zarb – bir tomonga yo‘nalgan qisqa ta’sir; chayqalish esa zarbdan so‘ng yoki tana silkinganda kuzatiladi.</a:t>
            </a:r>
          </a:p>
          <a:p>
            <a:pPr>
              <a:spcAft>
                <a:spcPts val="800"/>
              </a:spcAft>
            </a:pPr>
            <a:r>
              <a:rPr sz="1800">
                <a:solidFill>
                  <a:srgbClr val="1F2937"/>
                </a:solidFill>
                <a:latin typeface="Calibri"/>
              </a:rPr>
              <a:t>▸  Kuchsiz chayqalishda funksional o‘zgarish, kuchli chayqalishda ichki a’zo va boylamlar yorilishi kuzatiladi.</a:t>
            </a:r>
          </a:p>
          <a:p>
            <a:pPr>
              <a:spcAft>
                <a:spcPts val="800"/>
              </a:spcAft>
            </a:pPr>
            <a:r>
              <a:rPr sz="1800">
                <a:solidFill>
                  <a:srgbClr val="1F2937"/>
                </a:solidFill>
                <a:latin typeface="Calibri"/>
              </a:rPr>
              <a:t>▸  Diqqat: siqilish ≠ cho‘zilish (kuchlar markazga yoki markazdan); ko‘pincha 2 va undan ortiq mexanizm birga keladi.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861792"/>
                <a:gridCol w="1852652"/>
              </a:tblGrid>
              <a:tr h="614476">
                <a:tc>
                  <a:txBody>
                    <a:bodyPr/>
                    <a:lstStyle/>
                    <a:p>
                      <a:r>
                        <a:rPr sz="1600" b="1">
                          <a:solidFill>
                            <a:srgbClr val="FFFFFF"/>
                          </a:solidFill>
                        </a:rPr>
                        <a:t>Mexanizm</a:t>
                      </a:r>
                    </a:p>
                  </a:txBody>
                  <a:tcPr marL="73152" marR="73152" marT="36576" marB="36576">
                    <a:solidFill>
                      <a:srgbClr val="0B1F3A"/>
                    </a:solidFill>
                  </a:tcPr>
                </a:tc>
                <a:tc>
                  <a:txBody>
                    <a:bodyPr/>
                    <a:lstStyle/>
                    <a:p>
                      <a:r>
                        <a:rPr sz="1600" b="1">
                          <a:solidFill>
                            <a:srgbClr val="FFFFFF"/>
                          </a:solidFill>
                        </a:rPr>
                        <a:t>Kuch</a:t>
                      </a:r>
                    </a:p>
                  </a:txBody>
                  <a:tcPr marL="73152" marR="73152" marT="36576" marB="36576">
                    <a:solidFill>
                      <a:srgbClr val="0B1F3A"/>
                    </a:solidFill>
                  </a:tcPr>
                </a:tc>
                <a:tc>
                  <a:txBody>
                    <a:bodyPr/>
                    <a:lstStyle/>
                    <a:p>
                      <a:r>
                        <a:rPr sz="1600" b="1">
                          <a:solidFill>
                            <a:srgbClr val="FFFFFF"/>
                          </a:solidFill>
                        </a:rPr>
                        <a:t>Xos jarohat</a:t>
                      </a:r>
                    </a:p>
                  </a:txBody>
                  <a:tcPr marL="73152" marR="73152" marT="36576" marB="36576">
                    <a:solidFill>
                      <a:srgbClr val="0B1F3A"/>
                    </a:solidFill>
                  </a:tcPr>
                </a:tc>
              </a:tr>
              <a:tr h="614476">
                <a:tc>
                  <a:txBody>
                    <a:bodyPr/>
                    <a:lstStyle/>
                    <a:p>
                      <a:r>
                        <a:rPr sz="1500" b="0">
                          <a:solidFill>
                            <a:srgbClr val="1F2937"/>
                          </a:solidFill>
                        </a:rPr>
                        <a:t>Siqilish</a:t>
                      </a:r>
                    </a:p>
                  </a:txBody>
                  <a:tcPr marL="73152" marR="73152" marT="36576" marB="36576">
                    <a:solidFill>
                      <a:srgbClr val="E8EEF6"/>
                    </a:solidFill>
                  </a:tcPr>
                </a:tc>
                <a:tc>
                  <a:txBody>
                    <a:bodyPr/>
                    <a:lstStyle/>
                    <a:p>
                      <a:r>
                        <a:rPr sz="1500" b="0">
                          <a:solidFill>
                            <a:srgbClr val="1F2937"/>
                          </a:solidFill>
                        </a:rPr>
                        <a:t>Ikki kuch markazga intiladi</a:t>
                      </a:r>
                    </a:p>
                  </a:txBody>
                  <a:tcPr marL="73152" marR="73152" marT="36576" marB="36576">
                    <a:solidFill>
                      <a:srgbClr val="E8EEF6"/>
                    </a:solidFill>
                  </a:tcPr>
                </a:tc>
                <a:tc>
                  <a:txBody>
                    <a:bodyPr/>
                    <a:lstStyle/>
                    <a:p>
                      <a:r>
                        <a:rPr sz="1500" b="0">
                          <a:solidFill>
                            <a:srgbClr val="1F2937"/>
                          </a:solidFill>
                        </a:rPr>
                        <a:t>Ichki a’zo va suyak jarohati</a:t>
                      </a:r>
                    </a:p>
                  </a:txBody>
                  <a:tcPr marL="73152" marR="73152" marT="36576" marB="36576">
                    <a:solidFill>
                      <a:srgbClr val="E8EEF6"/>
                    </a:solidFill>
                  </a:tcPr>
                </a:tc>
              </a:tr>
              <a:tr h="614476">
                <a:tc>
                  <a:txBody>
                    <a:bodyPr/>
                    <a:lstStyle/>
                    <a:p>
                      <a:r>
                        <a:rPr sz="1500" b="0">
                          <a:solidFill>
                            <a:srgbClr val="1F2937"/>
                          </a:solidFill>
                        </a:rPr>
                        <a:t>Cho‘zilish</a:t>
                      </a:r>
                    </a:p>
                  </a:txBody>
                  <a:tcPr marL="73152" marR="73152" marT="36576" marB="36576">
                    <a:solidFill>
                      <a:srgbClr val="FFFFFF"/>
                    </a:solidFill>
                  </a:tcPr>
                </a:tc>
                <a:tc>
                  <a:txBody>
                    <a:bodyPr/>
                    <a:lstStyle/>
                    <a:p>
                      <a:r>
                        <a:rPr sz="1500" b="0">
                          <a:solidFill>
                            <a:srgbClr val="1F2937"/>
                          </a:solidFill>
                        </a:rPr>
                        <a:t>Kuchlar markazdan qochadi</a:t>
                      </a:r>
                    </a:p>
                  </a:txBody>
                  <a:tcPr marL="73152" marR="73152" marT="36576" marB="36576">
                    <a:solidFill>
                      <a:srgbClr val="FFFFFF"/>
                    </a:solidFill>
                  </a:tcPr>
                </a:tc>
                <a:tc>
                  <a:txBody>
                    <a:bodyPr/>
                    <a:lstStyle/>
                    <a:p>
                      <a:r>
                        <a:rPr sz="1500" b="0">
                          <a:solidFill>
                            <a:srgbClr val="1F2937"/>
                          </a:solidFill>
                        </a:rPr>
                        <a:t>Yirtma yara, yorilish, ajralish</a:t>
                      </a:r>
                    </a:p>
                  </a:txBody>
                  <a:tcPr marL="73152" marR="73152" marT="36576" marB="36576">
                    <a:solidFill>
                      <a:srgbClr val="FFFFFF"/>
                    </a:solidFill>
                  </a:tcPr>
                </a:tc>
              </a:tr>
              <a:tr h="614476">
                <a:tc>
                  <a:txBody>
                    <a:bodyPr/>
                    <a:lstStyle/>
                    <a:p>
                      <a:r>
                        <a:rPr sz="1500" b="0">
                          <a:solidFill>
                            <a:srgbClr val="1F2937"/>
                          </a:solidFill>
                        </a:rPr>
                        <a:t>Ishqalanish</a:t>
                      </a:r>
                    </a:p>
                  </a:txBody>
                  <a:tcPr marL="73152" marR="73152" marT="36576" marB="36576">
                    <a:solidFill>
                      <a:srgbClr val="E8EEF6"/>
                    </a:solidFill>
                  </a:tcPr>
                </a:tc>
                <a:tc>
                  <a:txBody>
                    <a:bodyPr/>
                    <a:lstStyle/>
                    <a:p>
                      <a:r>
                        <a:rPr sz="1500" b="0">
                          <a:solidFill>
                            <a:srgbClr val="1F2937"/>
                          </a:solidFill>
                        </a:rPr>
                        <a:t>Burchak ostida sirpanadi</a:t>
                      </a:r>
                    </a:p>
                  </a:txBody>
                  <a:tcPr marL="73152" marR="73152" marT="36576" marB="36576">
                    <a:solidFill>
                      <a:srgbClr val="E8EEF6"/>
                    </a:solidFill>
                  </a:tcPr>
                </a:tc>
                <a:tc>
                  <a:txBody>
                    <a:bodyPr/>
                    <a:lstStyle/>
                    <a:p>
                      <a:r>
                        <a:rPr sz="1500" b="0">
                          <a:solidFill>
                            <a:srgbClr val="1F2937"/>
                          </a:solidFill>
                        </a:rPr>
                        <a:t>Shilinma (faqat bevosita)</a:t>
                      </a:r>
                    </a:p>
                  </a:txBody>
                  <a:tcPr marL="73152" marR="73152" marT="36576" marB="36576">
                    <a:solidFill>
                      <a:srgbClr val="E8EEF6"/>
                    </a:solidFill>
                  </a:tcPr>
                </a:tc>
              </a:tr>
              <a:tr h="614476">
                <a:tc>
                  <a:txBody>
                    <a:bodyPr/>
                    <a:lstStyle/>
                    <a:p>
                      <a:r>
                        <a:rPr sz="1500" b="0">
                          <a:solidFill>
                            <a:srgbClr val="1F2937"/>
                          </a:solidFill>
                        </a:rPr>
                        <a:t>Buralish</a:t>
                      </a:r>
                    </a:p>
                  </a:txBody>
                  <a:tcPr marL="73152" marR="73152" marT="36576" marB="36576">
                    <a:solidFill>
                      <a:srgbClr val="FFFFFF"/>
                    </a:solidFill>
                  </a:tcPr>
                </a:tc>
                <a:tc>
                  <a:txBody>
                    <a:bodyPr/>
                    <a:lstStyle/>
                    <a:p>
                      <a:r>
                        <a:rPr sz="1500" b="0">
                          <a:solidFill>
                            <a:srgbClr val="1F2937"/>
                          </a:solidFill>
                        </a:rPr>
                        <a:t>Ikki aylana, qarama-qarshi</a:t>
                      </a:r>
                    </a:p>
                  </a:txBody>
                  <a:tcPr marL="73152" marR="73152" marT="36576" marB="36576">
                    <a:solidFill>
                      <a:srgbClr val="FFFFFF"/>
                    </a:solidFill>
                  </a:tcPr>
                </a:tc>
                <a:tc>
                  <a:txBody>
                    <a:bodyPr/>
                    <a:lstStyle/>
                    <a:p>
                      <a:r>
                        <a:rPr sz="1500" b="0">
                          <a:solidFill>
                            <a:srgbClr val="1F2937"/>
                          </a:solidFill>
                        </a:rPr>
                        <a:t>Suyakning spiralsimon sinishi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Mexanizmlar va xos jarohatlar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35–36,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Shilinma va uning rivojlanish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Yuzaki shilinmada faqat epidermis, chuqurida so‘rg‘ichsimon qavat ham shikastlanadi; chiziqsimon shilinma – timalma.</a:t>
            </a:r>
          </a:p>
          <a:p>
            <a:pPr>
              <a:spcAft>
                <a:spcPts val="800"/>
              </a:spcAft>
            </a:pPr>
            <a:r>
              <a:rPr sz="1800">
                <a:solidFill>
                  <a:srgbClr val="1F2937"/>
                </a:solidFill>
                <a:latin typeface="Calibri"/>
              </a:rPr>
              <a:t>▸  Muddatlar shartli: yosh, sog‘liq, teri va chuqurlikka bog‘liq; qoplama ba’zan 4–6 soatda hosil bo‘ladi.</a:t>
            </a:r>
          </a:p>
          <a:p>
            <a:pPr>
              <a:spcAft>
                <a:spcPts val="800"/>
              </a:spcAft>
            </a:pPr>
            <a:r>
              <a:rPr sz="1800">
                <a:solidFill>
                  <a:srgbClr val="1F2937"/>
                </a:solidFill>
                <a:latin typeface="Calibri"/>
              </a:rPr>
              <a:t>▸  Diqqat: pergament dog‘i ≠ shilinma – u o‘limdan so‘ng hosil bo‘ladi, qoplamasiz, hayotiy belgilarsiz.</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Yangi: 12 soatgacha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Qoplama: 2–3 sutkagacha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Epitelizatsiya: 7–9 sutka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Iz: 10–15 sutkada yo‘qoladi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Taykov bo‘yicha bosqichlar</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36,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Qontalash va rang o‘zgarishi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Qontalash – qon tomir yorilishidan to‘qimaga qon quyilishi; shish va og‘riq bilan kechadi.</a:t>
            </a:r>
          </a:p>
          <a:p>
            <a:pPr>
              <a:spcAft>
                <a:spcPts val="800"/>
              </a:spcAft>
            </a:pPr>
            <a:r>
              <a:rPr sz="1800">
                <a:solidFill>
                  <a:srgbClr val="1F2937"/>
                </a:solidFill>
                <a:latin typeface="Calibri"/>
              </a:rPr>
              <a:t>▸  Cheklanmagan yuzada qontalash dumaloq, oval; cheklangan yuzada jism shakliga o‘xshaydi. Gematoma – qon to‘planmasi.</a:t>
            </a:r>
          </a:p>
          <a:p>
            <a:pPr>
              <a:spcAft>
                <a:spcPts val="800"/>
              </a:spcAft>
            </a:pPr>
            <a:r>
              <a:rPr sz="1800">
                <a:solidFill>
                  <a:srgbClr val="1F2937"/>
                </a:solidFill>
                <a:latin typeface="Calibri"/>
              </a:rPr>
              <a:t>▸  Yashil tus – verdogemoxromogen, biliverdin; sariq – bilirubin, gemosiderin. Muddatlar taxminiy.</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Dastlabki kunlar: ko‘kimtir</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3–4 sutka: yashil tus</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6–8 sutka: sariq tus</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Qontalash rangi dinamikasi</a:t>
            </a:r>
          </a:p>
        </p:txBody>
      </p:sp>
      <p:sp>
        <p:nvSpPr>
          <p:cNvPr id="15" name="TextBox 1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37,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shilinma va qontalash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murdada sariq-jigar rangli, qoplamasiz dog‘ topildi; u atrofdagi teri sathida yoki undan pastroq. Savol: bu shilinmami yoki pergament dog‘i?</a:t>
            </a:r>
          </a:p>
          <a:p>
            <a:pPr>
              <a:spcAft>
                <a:spcPts val="1200"/>
              </a:spcAft>
            </a:pPr>
            <a:r>
              <a:rPr sz="2200">
                <a:solidFill>
                  <a:srgbClr val="1F2937"/>
                </a:solidFill>
                <a:latin typeface="Calibri"/>
              </a:rPr>
              <a:t>▸  Javob kaliti: pergament dog‘ida qoplama hosil bo‘lmaydi va hayotiy jarohatlarga xos o‘zgarishlar aniqlanmaydi.</a:t>
            </a:r>
          </a:p>
          <a:p>
            <a:pPr>
              <a:spcAft>
                <a:spcPts val="1200"/>
              </a:spcAft>
            </a:pPr>
            <a:r>
              <a:rPr sz="2200">
                <a:solidFill>
                  <a:srgbClr val="1F2937"/>
                </a:solidFill>
                <a:latin typeface="Calibri"/>
              </a:rPr>
              <a:t>▸  Diqqat: qontalash ≠ murda dog‘i. Murda dog‘lari joylashadigan sohada qontalash bo‘lishi ularni farqlashni qiyinlashtiradi.</a:t>
            </a:r>
          </a:p>
          <a:p>
            <a:pPr>
              <a:spcAft>
                <a:spcPts val="1200"/>
              </a:spcAft>
            </a:pPr>
            <a:r>
              <a:rPr sz="2200">
                <a:solidFill>
                  <a:srgbClr val="1F2937"/>
                </a:solidFill>
                <a:latin typeface="Calibri"/>
              </a:rPr>
              <a:t>▸  Tezkor savol: qontalash rangi qaysi qismdan o‘zgara boshlaydi? Javob: chekka qismlardan; 3-4 sutkada yashil, 6-8 sutkada sariq tus (taxminiy).</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37, 38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jismlardan yaralar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Yara — terining barcha qavatlari va chuqur yumshoq to‘qimalarning ajralishi ko‘rinishidagi jarohat.</a:t>
            </a:r>
          </a:p>
          <a:p>
            <a:pPr>
              <a:spcAft>
                <a:spcPts val="800"/>
              </a:spcAft>
            </a:pPr>
            <a:r>
              <a:rPr sz="1800">
                <a:solidFill>
                  <a:srgbClr val="1F2937"/>
                </a:solidFill>
                <a:latin typeface="Calibri"/>
              </a:rPr>
              <a:t>▸  Chetlari notekis, shilingan, qon quyilgan; devorlar orasida “ko‘prikchalar”; tubi notekis sathli.</a:t>
            </a:r>
          </a:p>
          <a:p>
            <a:pPr>
              <a:spcAft>
                <a:spcPts val="800"/>
              </a:spcAft>
            </a:pPr>
            <a:r>
              <a:rPr sz="1800">
                <a:solidFill>
                  <a:srgbClr val="1F2937"/>
                </a:solidFill>
                <a:latin typeface="Calibri"/>
              </a:rPr>
              <a:t>▸  Yara shakli shikastlovchi yuza xususiyatiga bog‘liq; undan jismni aniqlashda foydalaniladi.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3541217"/>
                <a:gridCol w="1746758"/>
              </a:tblGrid>
              <a:tr h="614476">
                <a:tc>
                  <a:txBody>
                    <a:bodyPr/>
                    <a:lstStyle/>
                    <a:p>
                      <a:r>
                        <a:rPr sz="1800" b="1">
                          <a:solidFill>
                            <a:srgbClr val="FFFFFF"/>
                          </a:solidFill>
                        </a:rPr>
                        <a:t>Mexanizm</a:t>
                      </a:r>
                    </a:p>
                  </a:txBody>
                  <a:tcPr marL="73152" marR="73152" marT="36576" marB="36576">
                    <a:solidFill>
                      <a:srgbClr val="0B1F3A"/>
                    </a:solidFill>
                  </a:tcPr>
                </a:tc>
                <a:tc>
                  <a:txBody>
                    <a:bodyPr/>
                    <a:lstStyle/>
                    <a:p>
                      <a:r>
                        <a:rPr sz="1800" b="1">
                          <a:solidFill>
                            <a:srgbClr val="FFFFFF"/>
                          </a:solidFill>
                        </a:rPr>
                        <a:t>Yara turi</a:t>
                      </a:r>
                    </a:p>
                  </a:txBody>
                  <a:tcPr marL="73152" marR="73152" marT="36576" marB="36576">
                    <a:solidFill>
                      <a:srgbClr val="0B1F3A"/>
                    </a:solidFill>
                  </a:tcPr>
                </a:tc>
              </a:tr>
              <a:tr h="614476">
                <a:tc>
                  <a:txBody>
                    <a:bodyPr/>
                    <a:lstStyle/>
                    <a:p>
                      <a:r>
                        <a:rPr sz="1700" b="0">
                          <a:solidFill>
                            <a:srgbClr val="1F2937"/>
                          </a:solidFill>
                        </a:rPr>
                        <a:t>Zarb va siqilish</a:t>
                      </a:r>
                    </a:p>
                  </a:txBody>
                  <a:tcPr marL="73152" marR="73152" marT="36576" marB="36576">
                    <a:solidFill>
                      <a:srgbClr val="E8EEF6"/>
                    </a:solidFill>
                  </a:tcPr>
                </a:tc>
                <a:tc>
                  <a:txBody>
                    <a:bodyPr/>
                    <a:lstStyle/>
                    <a:p>
                      <a:r>
                        <a:rPr sz="1700" b="0">
                          <a:solidFill>
                            <a:srgbClr val="1F2937"/>
                          </a:solidFill>
                        </a:rPr>
                        <a:t>Lat yara</a:t>
                      </a:r>
                    </a:p>
                  </a:txBody>
                  <a:tcPr marL="73152" marR="73152" marT="36576" marB="36576">
                    <a:solidFill>
                      <a:srgbClr val="E8EEF6"/>
                    </a:solidFill>
                  </a:tcPr>
                </a:tc>
              </a:tr>
              <a:tr h="614476">
                <a:tc>
                  <a:txBody>
                    <a:bodyPr/>
                    <a:lstStyle/>
                    <a:p>
                      <a:r>
                        <a:rPr sz="1700" b="0">
                          <a:solidFill>
                            <a:srgbClr val="1F2937"/>
                          </a:solidFill>
                        </a:rPr>
                        <a:t>Kuchli zarb va siqilish</a:t>
                      </a:r>
                    </a:p>
                  </a:txBody>
                  <a:tcPr marL="73152" marR="73152" marT="36576" marB="36576">
                    <a:solidFill>
                      <a:srgbClr val="FFFFFF"/>
                    </a:solidFill>
                  </a:tcPr>
                </a:tc>
                <a:tc>
                  <a:txBody>
                    <a:bodyPr/>
                    <a:lstStyle/>
                    <a:p>
                      <a:r>
                        <a:rPr sz="1700" b="0">
                          <a:solidFill>
                            <a:srgbClr val="1F2937"/>
                          </a:solidFill>
                        </a:rPr>
                        <a:t>Majaqlangan yara</a:t>
                      </a:r>
                    </a:p>
                  </a:txBody>
                  <a:tcPr marL="73152" marR="73152" marT="36576" marB="36576">
                    <a:solidFill>
                      <a:srgbClr val="FFFFFF"/>
                    </a:solidFill>
                  </a:tcPr>
                </a:tc>
              </a:tr>
              <a:tr h="614476">
                <a:tc>
                  <a:txBody>
                    <a:bodyPr/>
                    <a:lstStyle/>
                    <a:p>
                      <a:r>
                        <a:rPr sz="1700" b="0">
                          <a:solidFill>
                            <a:srgbClr val="1F2937"/>
                          </a:solidFill>
                        </a:rPr>
                        <a:t>Zarb va cho‘zilish</a:t>
                      </a:r>
                    </a:p>
                  </a:txBody>
                  <a:tcPr marL="73152" marR="73152" marT="36576" marB="36576">
                    <a:solidFill>
                      <a:srgbClr val="E8EEF6"/>
                    </a:solidFill>
                  </a:tcPr>
                </a:tc>
                <a:tc>
                  <a:txBody>
                    <a:bodyPr/>
                    <a:lstStyle/>
                    <a:p>
                      <a:r>
                        <a:rPr sz="1700" b="0">
                          <a:solidFill>
                            <a:srgbClr val="1F2937"/>
                          </a:solidFill>
                        </a:rPr>
                        <a:t>Yirtma yara</a:t>
                      </a:r>
                    </a:p>
                  </a:txBody>
                  <a:tcPr marL="73152" marR="73152" marT="36576" marB="36576">
                    <a:solidFill>
                      <a:srgbClr val="E8EEF6"/>
                    </a:solidFill>
                  </a:tcPr>
                </a:tc>
              </a:tr>
              <a:tr h="614476">
                <a:tc>
                  <a:txBody>
                    <a:bodyPr/>
                    <a:lstStyle/>
                    <a:p>
                      <a:r>
                        <a:rPr sz="1700" b="0">
                          <a:solidFill>
                            <a:srgbClr val="1F2937"/>
                          </a:solidFill>
                        </a:rPr>
                        <a:t>O‘tkir burchakda zarb va cho‘zilish</a:t>
                      </a:r>
                    </a:p>
                  </a:txBody>
                  <a:tcPr marL="73152" marR="73152" marT="36576" marB="36576">
                    <a:solidFill>
                      <a:srgbClr val="FFFFFF"/>
                    </a:solidFill>
                  </a:tcPr>
                </a:tc>
                <a:tc>
                  <a:txBody>
                    <a:bodyPr/>
                    <a:lstStyle/>
                    <a:p>
                      <a:r>
                        <a:rPr sz="1700" b="0">
                          <a:solidFill>
                            <a:srgbClr val="1F2937"/>
                          </a:solidFill>
                        </a:rPr>
                        <a:t>Laxtaksimon yara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Mexanizm va yara turi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Yorilish va yara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Yorilish doimo bilvosita; suyak bo‘rtib turgan sohada to‘qima cho‘zilishidan hosil bo‘ladi.</a:t>
            </a:r>
          </a:p>
          <a:p>
            <a:pPr>
              <a:spcAft>
                <a:spcPts val="800"/>
              </a:spcAft>
            </a:pPr>
            <a:r>
              <a:rPr sz="1800">
                <a:solidFill>
                  <a:srgbClr val="1F2937"/>
                </a:solidFill>
                <a:latin typeface="Calibri"/>
              </a:rPr>
              <a:t>▸  Ular ta’sir yo‘nalishiga perpendikulyar, urchuqsimon yoki yoriqsimon, o‘zaro parallel bir necha jarohat bo‘ladi.</a:t>
            </a:r>
          </a:p>
          <a:p>
            <a:pPr>
              <a:spcAft>
                <a:spcPts val="800"/>
              </a:spcAft>
            </a:pPr>
            <a:r>
              <a:rPr sz="1800">
                <a:solidFill>
                  <a:srgbClr val="1F2937"/>
                </a:solidFill>
                <a:latin typeface="Calibri"/>
              </a:rPr>
              <a:t>▸  Diqqat: yorilish ≠ yara. Ekspertizada ularni farqlash muhim ahamiyatga ega.</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10850"/>
                <a:gridCol w="1982990"/>
                <a:gridCol w="1794134"/>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Yara</a:t>
                      </a:r>
                    </a:p>
                  </a:txBody>
                  <a:tcPr marL="73152" marR="73152" marT="36576" marB="36576">
                    <a:solidFill>
                      <a:srgbClr val="0B1F3A"/>
                    </a:solidFill>
                  </a:tcPr>
                </a:tc>
                <a:tc>
                  <a:txBody>
                    <a:bodyPr/>
                    <a:lstStyle/>
                    <a:p>
                      <a:r>
                        <a:rPr sz="1600" b="1">
                          <a:solidFill>
                            <a:srgbClr val="FFFFFF"/>
                          </a:solidFill>
                        </a:rPr>
                        <a:t>Yorilish</a:t>
                      </a:r>
                    </a:p>
                  </a:txBody>
                  <a:tcPr marL="73152" marR="73152" marT="36576" marB="36576">
                    <a:solidFill>
                      <a:srgbClr val="0B1F3A"/>
                    </a:solidFill>
                  </a:tcPr>
                </a:tc>
              </a:tr>
              <a:tr h="614476">
                <a:tc>
                  <a:txBody>
                    <a:bodyPr/>
                    <a:lstStyle/>
                    <a:p>
                      <a:r>
                        <a:rPr sz="1500" b="0">
                          <a:solidFill>
                            <a:srgbClr val="1F2937"/>
                          </a:solidFill>
                        </a:rPr>
                        <a:t>Uchlari</a:t>
                      </a:r>
                    </a:p>
                  </a:txBody>
                  <a:tcPr marL="73152" marR="73152" marT="36576" marB="36576">
                    <a:solidFill>
                      <a:srgbClr val="E8EEF6"/>
                    </a:solidFill>
                  </a:tcPr>
                </a:tc>
                <a:tc>
                  <a:txBody>
                    <a:bodyPr/>
                    <a:lstStyle/>
                    <a:p>
                      <a:r>
                        <a:rPr sz="1500" b="0">
                          <a:solidFill>
                            <a:srgbClr val="1F2937"/>
                          </a:solidFill>
                        </a:rPr>
                        <a:t>Odatda o‘tmas</a:t>
                      </a:r>
                    </a:p>
                  </a:txBody>
                  <a:tcPr marL="73152" marR="73152" marT="36576" marB="36576">
                    <a:solidFill>
                      <a:srgbClr val="E8EEF6"/>
                    </a:solidFill>
                  </a:tcPr>
                </a:tc>
                <a:tc>
                  <a:txBody>
                    <a:bodyPr/>
                    <a:lstStyle/>
                    <a:p>
                      <a:r>
                        <a:rPr sz="1500" b="0">
                          <a:solidFill>
                            <a:srgbClr val="1F2937"/>
                          </a:solidFill>
                        </a:rPr>
                        <a:t>Ko‘pincha o‘tkir</a:t>
                      </a:r>
                    </a:p>
                  </a:txBody>
                  <a:tcPr marL="73152" marR="73152" marT="36576" marB="36576">
                    <a:solidFill>
                      <a:srgbClr val="E8EEF6"/>
                    </a:solidFill>
                  </a:tcPr>
                </a:tc>
              </a:tr>
              <a:tr h="614476">
                <a:tc>
                  <a:txBody>
                    <a:bodyPr/>
                    <a:lstStyle/>
                    <a:p>
                      <a:r>
                        <a:rPr sz="1500" b="0">
                          <a:solidFill>
                            <a:srgbClr val="1F2937"/>
                          </a:solidFill>
                        </a:rPr>
                        <a:t>Chetlari</a:t>
                      </a:r>
                    </a:p>
                  </a:txBody>
                  <a:tcPr marL="73152" marR="73152" marT="36576" marB="36576">
                    <a:solidFill>
                      <a:srgbClr val="FFFFFF"/>
                    </a:solidFill>
                  </a:tcPr>
                </a:tc>
                <a:tc>
                  <a:txBody>
                    <a:bodyPr/>
                    <a:lstStyle/>
                    <a:p>
                      <a:r>
                        <a:rPr sz="1500" b="0">
                          <a:solidFill>
                            <a:srgbClr val="1F2937"/>
                          </a:solidFill>
                        </a:rPr>
                        <a:t>Notekis, shilingan</a:t>
                      </a:r>
                    </a:p>
                  </a:txBody>
                  <a:tcPr marL="73152" marR="73152" marT="36576" marB="36576">
                    <a:solidFill>
                      <a:srgbClr val="FFFFFF"/>
                    </a:solidFill>
                  </a:tcPr>
                </a:tc>
                <a:tc>
                  <a:txBody>
                    <a:bodyPr/>
                    <a:lstStyle/>
                    <a:p>
                      <a:r>
                        <a:rPr sz="1500" b="0">
                          <a:solidFill>
                            <a:srgbClr val="1F2937"/>
                          </a:solidFill>
                        </a:rPr>
                        <a:t>Tekis, shilinishsiz</a:t>
                      </a:r>
                    </a:p>
                  </a:txBody>
                  <a:tcPr marL="73152" marR="73152" marT="36576" marB="36576">
                    <a:solidFill>
                      <a:srgbClr val="FFFFFF"/>
                    </a:solidFill>
                  </a:tcPr>
                </a:tc>
              </a:tr>
              <a:tr h="614476">
                <a:tc>
                  <a:txBody>
                    <a:bodyPr/>
                    <a:lstStyle/>
                    <a:p>
                      <a:r>
                        <a:rPr sz="1500" b="0">
                          <a:solidFill>
                            <a:srgbClr val="1F2937"/>
                          </a:solidFill>
                        </a:rPr>
                        <a:t>Chekka devori</a:t>
                      </a:r>
                    </a:p>
                  </a:txBody>
                  <a:tcPr marL="73152" marR="73152" marT="36576" marB="36576">
                    <a:solidFill>
                      <a:srgbClr val="E8EEF6"/>
                    </a:solidFill>
                  </a:tcPr>
                </a:tc>
                <a:tc>
                  <a:txBody>
                    <a:bodyPr/>
                    <a:lstStyle/>
                    <a:p>
                      <a:r>
                        <a:rPr sz="1500" b="0">
                          <a:solidFill>
                            <a:srgbClr val="1F2937"/>
                          </a:solidFill>
                        </a:rPr>
                        <a:t>Notekis, ko‘prikchali</a:t>
                      </a:r>
                    </a:p>
                  </a:txBody>
                  <a:tcPr marL="73152" marR="73152" marT="36576" marB="36576">
                    <a:solidFill>
                      <a:srgbClr val="E8EEF6"/>
                    </a:solidFill>
                  </a:tcPr>
                </a:tc>
                <a:tc>
                  <a:txBody>
                    <a:bodyPr/>
                    <a:lstStyle/>
                    <a:p>
                      <a:r>
                        <a:rPr sz="1500" b="0">
                          <a:solidFill>
                            <a:srgbClr val="1F2937"/>
                          </a:solidFill>
                        </a:rPr>
                        <a:t>Tikka</a:t>
                      </a:r>
                    </a:p>
                  </a:txBody>
                  <a:tcPr marL="73152" marR="73152" marT="36576" marB="36576">
                    <a:solidFill>
                      <a:srgbClr val="E8EEF6"/>
                    </a:solidFill>
                  </a:tcPr>
                </a:tc>
              </a:tr>
              <a:tr h="614476">
                <a:tc>
                  <a:txBody>
                    <a:bodyPr/>
                    <a:lstStyle/>
                    <a:p>
                      <a:r>
                        <a:rPr sz="1500" b="0">
                          <a:solidFill>
                            <a:srgbClr val="1F2937"/>
                          </a:solidFill>
                        </a:rPr>
                        <a:t>Tubi</a:t>
                      </a:r>
                    </a:p>
                  </a:txBody>
                  <a:tcPr marL="73152" marR="73152" marT="36576" marB="36576">
                    <a:solidFill>
                      <a:srgbClr val="FFFFFF"/>
                    </a:solidFill>
                  </a:tcPr>
                </a:tc>
                <a:tc>
                  <a:txBody>
                    <a:bodyPr/>
                    <a:lstStyle/>
                    <a:p>
                      <a:r>
                        <a:rPr sz="1500" b="0">
                          <a:solidFill>
                            <a:srgbClr val="1F2937"/>
                          </a:solidFill>
                        </a:rPr>
                        <a:t>Notekis sathli</a:t>
                      </a:r>
                    </a:p>
                  </a:txBody>
                  <a:tcPr marL="73152" marR="73152" marT="36576" marB="36576">
                    <a:solidFill>
                      <a:srgbClr val="FFFFFF"/>
                    </a:solidFill>
                  </a:tcPr>
                </a:tc>
                <a:tc>
                  <a:txBody>
                    <a:bodyPr/>
                    <a:lstStyle/>
                    <a:p>
                      <a:r>
                        <a:rPr sz="1500" b="0">
                          <a:solidFill>
                            <a:srgbClr val="1F2937"/>
                          </a:solidFill>
                        </a:rPr>
                        <a:t>Yassi, bir sathda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Yara va yorilish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 sinishi: deformatsiya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Muvaqqat deformatsiyada suyak ilk shaklini tiklaydi; doimiy deformatsiyada sinish paydo bo‘ladi.</a:t>
            </a:r>
          </a:p>
          <a:p>
            <a:pPr>
              <a:spcAft>
                <a:spcPts val="800"/>
              </a:spcAft>
            </a:pPr>
            <a:r>
              <a:rPr sz="1800">
                <a:solidFill>
                  <a:srgbClr val="1F2937"/>
                </a:solidFill>
                <a:latin typeface="Calibri"/>
              </a:rPr>
              <a:t>▸  To‘liq sinishda siniq yuzalar ikki va undan ortiq yo‘nalishda, noto‘liqda faqat bir yo‘nalishda harakatlanadi.</a:t>
            </a:r>
          </a:p>
          <a:p>
            <a:pPr>
              <a:spcAft>
                <a:spcPts val="800"/>
              </a:spcAft>
            </a:pPr>
            <a:r>
              <a:rPr sz="1800">
                <a:solidFill>
                  <a:srgbClr val="1F2937"/>
                </a:solidFill>
                <a:latin typeface="Calibri"/>
              </a:rPr>
              <a:t>▸  Teri va yumshoq to‘qima holatiga ko‘ra ochiq va yopiq sinish; ochiqda suyak tashqi muhit bilan bog‘liq.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760298"/>
                <a:gridCol w="2072256"/>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Kuch</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r>
              <a:tr h="614476">
                <a:tc>
                  <a:txBody>
                    <a:bodyPr/>
                    <a:lstStyle/>
                    <a:p>
                      <a:r>
                        <a:rPr sz="1500" b="0">
                          <a:solidFill>
                            <a:srgbClr val="1F2937"/>
                          </a:solidFill>
                        </a:rPr>
                        <a:t>Egilish</a:t>
                      </a:r>
                    </a:p>
                  </a:txBody>
                  <a:tcPr marL="73152" marR="73152" marT="36576" marB="36576">
                    <a:solidFill>
                      <a:srgbClr val="E8EEF6"/>
                    </a:solidFill>
                  </a:tcPr>
                </a:tc>
                <a:tc>
                  <a:txBody>
                    <a:bodyPr/>
                    <a:lstStyle/>
                    <a:p>
                      <a:r>
                        <a:rPr sz="1500" b="0">
                          <a:solidFill>
                            <a:srgbClr val="1F2937"/>
                          </a:solidFill>
                        </a:rPr>
                        <a:t>Burchak ostida ikki kuch</a:t>
                      </a:r>
                    </a:p>
                  </a:txBody>
                  <a:tcPr marL="73152" marR="73152" marT="36576" marB="36576">
                    <a:solidFill>
                      <a:srgbClr val="E8EEF6"/>
                    </a:solidFill>
                  </a:tcPr>
                </a:tc>
                <a:tc>
                  <a:txBody>
                    <a:bodyPr/>
                    <a:lstStyle/>
                    <a:p>
                      <a:r>
                        <a:rPr sz="1500" b="0">
                          <a:solidFill>
                            <a:srgbClr val="1F2937"/>
                          </a:solidFill>
                        </a:rPr>
                        <a:t>Kalla, naysimon suyak, qobirg‘a sinishi</a:t>
                      </a:r>
                    </a:p>
                  </a:txBody>
                  <a:tcPr marL="73152" marR="73152" marT="36576" marB="36576">
                    <a:solidFill>
                      <a:srgbClr val="E8EEF6"/>
                    </a:solidFill>
                  </a:tcPr>
                </a:tc>
              </a:tr>
              <a:tr h="614476">
                <a:tc>
                  <a:txBody>
                    <a:bodyPr/>
                    <a:lstStyle/>
                    <a:p>
                      <a:r>
                        <a:rPr sz="1500" b="0">
                          <a:solidFill>
                            <a:srgbClr val="1F2937"/>
                          </a:solidFill>
                        </a:rPr>
                        <a:t>Siqilish</a:t>
                      </a:r>
                    </a:p>
                  </a:txBody>
                  <a:tcPr marL="73152" marR="73152" marT="36576" marB="36576">
                    <a:solidFill>
                      <a:srgbClr val="FFFFFF"/>
                    </a:solidFill>
                  </a:tcPr>
                </a:tc>
                <a:tc>
                  <a:txBody>
                    <a:bodyPr/>
                    <a:lstStyle/>
                    <a:p>
                      <a:r>
                        <a:rPr sz="1500" b="0">
                          <a:solidFill>
                            <a:srgbClr val="1F2937"/>
                          </a:solidFill>
                        </a:rPr>
                        <a:t>Bir-biriga qarab ikki kuch</a:t>
                      </a:r>
                    </a:p>
                  </a:txBody>
                  <a:tcPr marL="73152" marR="73152" marT="36576" marB="36576">
                    <a:solidFill>
                      <a:srgbClr val="FFFFFF"/>
                    </a:solidFill>
                  </a:tcPr>
                </a:tc>
                <a:tc>
                  <a:txBody>
                    <a:bodyPr/>
                    <a:lstStyle/>
                    <a:p>
                      <a:r>
                        <a:rPr sz="1500" b="0">
                          <a:solidFill>
                            <a:srgbClr val="1F2937"/>
                          </a:solidFill>
                        </a:rPr>
                        <a:t>Majaqlangan, kompression sinish</a:t>
                      </a:r>
                    </a:p>
                  </a:txBody>
                  <a:tcPr marL="73152" marR="73152" marT="36576" marB="36576">
                    <a:solidFill>
                      <a:srgbClr val="FFFFFF"/>
                    </a:solidFill>
                  </a:tcPr>
                </a:tc>
              </a:tr>
              <a:tr h="614476">
                <a:tc>
                  <a:txBody>
                    <a:bodyPr/>
                    <a:lstStyle/>
                    <a:p>
                      <a:r>
                        <a:rPr sz="1500" b="0">
                          <a:solidFill>
                            <a:srgbClr val="1F2937"/>
                          </a:solidFill>
                        </a:rPr>
                        <a:t>Cho‘zilish</a:t>
                      </a:r>
                    </a:p>
                  </a:txBody>
                  <a:tcPr marL="73152" marR="73152" marT="36576" marB="36576">
                    <a:solidFill>
                      <a:srgbClr val="E8EEF6"/>
                    </a:solidFill>
                  </a:tcPr>
                </a:tc>
                <a:tc>
                  <a:txBody>
                    <a:bodyPr/>
                    <a:lstStyle/>
                    <a:p>
                      <a:r>
                        <a:rPr sz="1500" b="0">
                          <a:solidFill>
                            <a:srgbClr val="1F2937"/>
                          </a:solidFill>
                        </a:rPr>
                        <a:t>Bir-biridan qochuvchi ikki kuch</a:t>
                      </a:r>
                    </a:p>
                  </a:txBody>
                  <a:tcPr marL="73152" marR="73152" marT="36576" marB="36576">
                    <a:solidFill>
                      <a:srgbClr val="E8EEF6"/>
                    </a:solidFill>
                  </a:tcPr>
                </a:tc>
                <a:tc>
                  <a:txBody>
                    <a:bodyPr/>
                    <a:lstStyle/>
                    <a:p>
                      <a:r>
                        <a:rPr sz="1500" b="0">
                          <a:solidFill>
                            <a:srgbClr val="1F2937"/>
                          </a:solidFill>
                        </a:rPr>
                        <a:t>Bilvosita; paylar birikkan qism uzilishi</a:t>
                      </a:r>
                    </a:p>
                  </a:txBody>
                  <a:tcPr marL="73152" marR="73152" marT="36576" marB="36576">
                    <a:solidFill>
                      <a:srgbClr val="E8EEF6"/>
                    </a:solidFill>
                  </a:tcPr>
                </a:tc>
              </a:tr>
              <a:tr h="614476">
                <a:tc>
                  <a:txBody>
                    <a:bodyPr/>
                    <a:lstStyle/>
                    <a:p>
                      <a:r>
                        <a:rPr sz="1500" b="0">
                          <a:solidFill>
                            <a:srgbClr val="1F2937"/>
                          </a:solidFill>
                        </a:rPr>
                        <a:t>Buralish</a:t>
                      </a:r>
                    </a:p>
                  </a:txBody>
                  <a:tcPr marL="73152" marR="73152" marT="36576" marB="36576">
                    <a:solidFill>
                      <a:srgbClr val="FFFFFF"/>
                    </a:solidFill>
                  </a:tcPr>
                </a:tc>
                <a:tc>
                  <a:txBody>
                    <a:bodyPr/>
                    <a:lstStyle/>
                    <a:p>
                      <a:r>
                        <a:rPr sz="1500" b="0">
                          <a:solidFill>
                            <a:srgbClr val="1F2937"/>
                          </a:solidFill>
                        </a:rPr>
                        <a:t>Aylana: soat mili va unga qarshi</a:t>
                      </a:r>
                    </a:p>
                  </a:txBody>
                  <a:tcPr marL="73152" marR="73152" marT="36576" marB="36576">
                    <a:solidFill>
                      <a:srgbClr val="FFFFFF"/>
                    </a:solidFill>
                  </a:tcPr>
                </a:tc>
                <a:tc>
                  <a:txBody>
                    <a:bodyPr/>
                    <a:lstStyle/>
                    <a:p>
                      <a:r>
                        <a:rPr sz="1500" b="0">
                          <a:solidFill>
                            <a:srgbClr val="1F2937"/>
                          </a:solidFill>
                        </a:rPr>
                        <a:t>Spiralsimon bilvosita sinish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Doimiy deformatsiya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Egilishda cho‘zilish va siqilish tomoni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Suyak cho‘zilishga chidamsizroq: sinish belgisi avval cho‘zilish tomonida, keyin siqilishda paydo bo‘ladi.</a:t>
            </a:r>
          </a:p>
          <a:p>
            <a:pPr>
              <a:spcAft>
                <a:spcPts val="800"/>
              </a:spcAft>
            </a:pPr>
            <a:r>
              <a:rPr sz="1800">
                <a:solidFill>
                  <a:srgbClr val="1F2937"/>
                </a:solidFill>
                <a:latin typeface="Calibri"/>
              </a:rPr>
              <a:t>▸  Qobirg‘a bevosita sinishida tashqi plastinkada siqilish, ichkisida cho‘zilish; bilvositada — teskarisi.</a:t>
            </a:r>
          </a:p>
          <a:p>
            <a:pPr>
              <a:spcAft>
                <a:spcPts val="800"/>
              </a:spcAft>
            </a:pPr>
            <a:r>
              <a:rPr sz="1800">
                <a:solidFill>
                  <a:srgbClr val="1F2937"/>
                </a:solidFill>
                <a:latin typeface="Calibri"/>
              </a:rPr>
              <a:t>▸  Bilvosita sinishda tashqi jarohat odatda bo‘lmaydi; yurak massajida qobirg‘alar bilvosita sinadi.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219200"/>
                <a:gridCol w="2164080"/>
                <a:gridCol w="1904695"/>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Cho‘zilish</a:t>
                      </a:r>
                    </a:p>
                  </a:txBody>
                  <a:tcPr marL="73152" marR="73152" marT="36576" marB="36576">
                    <a:solidFill>
                      <a:srgbClr val="0B1F3A"/>
                    </a:solidFill>
                  </a:tcPr>
                </a:tc>
                <a:tc>
                  <a:txBody>
                    <a:bodyPr/>
                    <a:lstStyle/>
                    <a:p>
                      <a:r>
                        <a:rPr sz="1600" b="1">
                          <a:solidFill>
                            <a:srgbClr val="FFFFFF"/>
                          </a:solidFill>
                        </a:rPr>
                        <a:t>Siqilish</a:t>
                      </a:r>
                    </a:p>
                  </a:txBody>
                  <a:tcPr marL="73152" marR="73152" marT="36576" marB="36576">
                    <a:solidFill>
                      <a:srgbClr val="0B1F3A"/>
                    </a:solidFill>
                  </a:tcPr>
                </a:tc>
              </a:tr>
              <a:tr h="614476">
                <a:tc>
                  <a:txBody>
                    <a:bodyPr/>
                    <a:lstStyle/>
                    <a:p>
                      <a:r>
                        <a:rPr sz="1500" b="0">
                          <a:solidFill>
                            <a:srgbClr val="1F2937"/>
                          </a:solidFill>
                        </a:rPr>
                        <a:t>Sinish chizig‘i</a:t>
                      </a:r>
                    </a:p>
                  </a:txBody>
                  <a:tcPr marL="73152" marR="73152" marT="36576" marB="36576">
                    <a:solidFill>
                      <a:srgbClr val="E8EEF6"/>
                    </a:solidFill>
                  </a:tcPr>
                </a:tc>
                <a:tc>
                  <a:txBody>
                    <a:bodyPr/>
                    <a:lstStyle/>
                    <a:p>
                      <a:r>
                        <a:rPr sz="1500" b="0">
                          <a:solidFill>
                            <a:srgbClr val="1F2937"/>
                          </a:solidFill>
                        </a:rPr>
                        <a:t>Bitta to‘g‘ri, asosan ko‘ndalang</a:t>
                      </a:r>
                    </a:p>
                  </a:txBody>
                  <a:tcPr marL="73152" marR="73152" marT="36576" marB="36576">
                    <a:solidFill>
                      <a:srgbClr val="E8EEF6"/>
                    </a:solidFill>
                  </a:tcPr>
                </a:tc>
                <a:tc>
                  <a:txBody>
                    <a:bodyPr/>
                    <a:lstStyle/>
                    <a:p>
                      <a:r>
                        <a:rPr sz="1500" b="0">
                          <a:solidFill>
                            <a:srgbClr val="1F2937"/>
                          </a:solidFill>
                        </a:rPr>
                        <a:t>1–2 ta, zigzag, ko‘proq qiyshiq</a:t>
                      </a:r>
                    </a:p>
                  </a:txBody>
                  <a:tcPr marL="73152" marR="73152" marT="36576" marB="36576">
                    <a:solidFill>
                      <a:srgbClr val="E8EEF6"/>
                    </a:solidFill>
                  </a:tcPr>
                </a:tc>
              </a:tr>
              <a:tr h="614476">
                <a:tc>
                  <a:txBody>
                    <a:bodyPr/>
                    <a:lstStyle/>
                    <a:p>
                      <a:r>
                        <a:rPr sz="1500" b="0">
                          <a:solidFill>
                            <a:srgbClr val="1F2937"/>
                          </a:solidFill>
                        </a:rPr>
                        <a:t>Sinish yuzasi</a:t>
                      </a:r>
                    </a:p>
                  </a:txBody>
                  <a:tcPr marL="73152" marR="73152" marT="36576" marB="36576">
                    <a:solidFill>
                      <a:srgbClr val="FFFFFF"/>
                    </a:solidFill>
                  </a:tcPr>
                </a:tc>
                <a:tc>
                  <a:txBody>
                    <a:bodyPr/>
                    <a:lstStyle/>
                    <a:p>
                      <a:r>
                        <a:rPr sz="1500" b="0">
                          <a:solidFill>
                            <a:srgbClr val="1F2937"/>
                          </a:solidFill>
                        </a:rPr>
                        <a:t>Suyakka perpendikulyar</a:t>
                      </a:r>
                    </a:p>
                  </a:txBody>
                  <a:tcPr marL="73152" marR="73152" marT="36576" marB="36576">
                    <a:solidFill>
                      <a:srgbClr val="FFFFFF"/>
                    </a:solidFill>
                  </a:tcPr>
                </a:tc>
                <a:tc>
                  <a:txBody>
                    <a:bodyPr/>
                    <a:lstStyle/>
                    <a:p>
                      <a:r>
                        <a:rPr sz="1500" b="0">
                          <a:solidFill>
                            <a:srgbClr val="1F2937"/>
                          </a:solidFill>
                        </a:rPr>
                        <a:t>Suyakka burchak ostida</a:t>
                      </a:r>
                    </a:p>
                  </a:txBody>
                  <a:tcPr marL="73152" marR="73152" marT="36576" marB="36576">
                    <a:solidFill>
                      <a:srgbClr val="FFFFFF"/>
                    </a:solidFill>
                  </a:tcPr>
                </a:tc>
              </a:tr>
              <a:tr h="614476">
                <a:tc>
                  <a:txBody>
                    <a:bodyPr/>
                    <a:lstStyle/>
                    <a:p>
                      <a:r>
                        <a:rPr sz="1500" b="0">
                          <a:solidFill>
                            <a:srgbClr val="1F2937"/>
                          </a:solidFill>
                        </a:rPr>
                        <a:t>Chetlari</a:t>
                      </a:r>
                    </a:p>
                  </a:txBody>
                  <a:tcPr marL="73152" marR="73152" marT="36576" marB="36576">
                    <a:solidFill>
                      <a:srgbClr val="E8EEF6"/>
                    </a:solidFill>
                  </a:tcPr>
                </a:tc>
                <a:tc>
                  <a:txBody>
                    <a:bodyPr/>
                    <a:lstStyle/>
                    <a:p>
                      <a:r>
                        <a:rPr sz="1500" b="0">
                          <a:solidFill>
                            <a:srgbClr val="1F2937"/>
                          </a:solidFill>
                        </a:rPr>
                        <a:t>Tekis yoki mayda tishli</a:t>
                      </a:r>
                    </a:p>
                  </a:txBody>
                  <a:tcPr marL="73152" marR="73152" marT="36576" marB="36576">
                    <a:solidFill>
                      <a:srgbClr val="E8EEF6"/>
                    </a:solidFill>
                  </a:tcPr>
                </a:tc>
                <a:tc>
                  <a:txBody>
                    <a:bodyPr/>
                    <a:lstStyle/>
                    <a:p>
                      <a:r>
                        <a:rPr sz="1500" b="0">
                          <a:solidFill>
                            <a:srgbClr val="1F2937"/>
                          </a:solidFill>
                        </a:rPr>
                        <a:t>Notekis, yirik tishli, edirilgan</a:t>
                      </a:r>
                    </a:p>
                  </a:txBody>
                  <a:tcPr marL="73152" marR="73152" marT="36576" marB="36576">
                    <a:solidFill>
                      <a:srgbClr val="E8EEF6"/>
                    </a:solidFill>
                  </a:tcPr>
                </a:tc>
              </a:tr>
              <a:tr h="614476">
                <a:tc>
                  <a:txBody>
                    <a:bodyPr/>
                    <a:lstStyle/>
                    <a:p>
                      <a:r>
                        <a:rPr sz="1500" b="0">
                          <a:solidFill>
                            <a:srgbClr val="1F2937"/>
                          </a:solidFill>
                        </a:rPr>
                        <a:t>Siniqlar</a:t>
                      </a:r>
                    </a:p>
                  </a:txBody>
                  <a:tcPr marL="73152" marR="73152" marT="36576" marB="36576">
                    <a:solidFill>
                      <a:srgbClr val="FFFFFF"/>
                    </a:solidFill>
                  </a:tcPr>
                </a:tc>
                <a:tc>
                  <a:txBody>
                    <a:bodyPr/>
                    <a:lstStyle/>
                    <a:p>
                      <a:r>
                        <a:rPr sz="1500" b="0">
                          <a:solidFill>
                            <a:srgbClr val="1F2937"/>
                          </a:solidFill>
                        </a:rPr>
                        <a:t>Siniqsiz; yaqinlashtirilsa zich mos</a:t>
                      </a:r>
                    </a:p>
                  </a:txBody>
                  <a:tcPr marL="73152" marR="73152" marT="36576" marB="36576">
                    <a:solidFill>
                      <a:srgbClr val="FFFFFF"/>
                    </a:solidFill>
                  </a:tcPr>
                </a:tc>
                <a:tc>
                  <a:txBody>
                    <a:bodyPr/>
                    <a:lstStyle/>
                    <a:p>
                      <a:r>
                        <a:rPr sz="1500" b="0">
                          <a:solidFill>
                            <a:srgbClr val="1F2937"/>
                          </a:solidFill>
                        </a:rPr>
                        <a:t>Siniq bo‘lishi mumkin; mos tushmaydi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Egilishda ikki tomon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42, 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Balandlikdan yiqilish: bosqichlar va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Yiqilish bevosita, bosqichli yoki erkin bo‘lmagan; passiv (tasodifan) yoki aktiv (itarish, sakrash) bo‘ladi.</a:t>
            </a:r>
          </a:p>
          <a:p>
            <a:pPr>
              <a:spcAft>
                <a:spcPts val="800"/>
              </a:spcAft>
            </a:pPr>
            <a:r>
              <a:rPr sz="1800">
                <a:solidFill>
                  <a:srgbClr val="1F2937"/>
                </a:solidFill>
                <a:latin typeface="Calibri"/>
              </a:rPr>
              <a:t>▸  Asosiy jarohatlar V bosqichda; VI bosqichda inersiyadan asosan bevosita ikkilamchi jarohatlar hosil bo‘ladi.</a:t>
            </a:r>
          </a:p>
          <a:p>
            <a:pPr>
              <a:spcAft>
                <a:spcPts val="800"/>
              </a:spcAft>
            </a:pPr>
            <a:r>
              <a:rPr sz="1800">
                <a:solidFill>
                  <a:srgbClr val="1F2937"/>
                </a:solidFill>
                <a:latin typeface="Calibri"/>
              </a:rPr>
              <a:t>▸  Xos belgi: tashqi jarohat bir tomonda, ichki shikast jiddiyroq, tananing umumiy chayqalishi bilan bog‘liq.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I–II: burilish, aylanish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III: tayanch yuzadan ajralish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IV: parvoz</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 yuza bilan zarblanish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 inersiya, ikkilamchi zarb</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Yiqilish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44, 46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Yuzaga yiqilish va balandlikdan yiqilishdan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Yuzaga yiqilishda 3 bosqich bor: muvozanat yo‘qoladi, tana yiqila boshlaydi, yuza bilan zarblanadi.</a:t>
            </a:r>
          </a:p>
          <a:p>
            <a:pPr>
              <a:spcAft>
                <a:spcPts val="800"/>
              </a:spcAft>
            </a:pPr>
            <a:r>
              <a:rPr sz="1800">
                <a:solidFill>
                  <a:srgbClr val="1F2937"/>
                </a:solidFill>
                <a:latin typeface="Calibri"/>
              </a:rPr>
              <a:t>▸  Orqaga yoki yon bilan urilganda miya shikasti aks zarb sohasida kuchliroq bo‘ladi.</a:t>
            </a:r>
          </a:p>
          <a:p>
            <a:pPr>
              <a:spcAft>
                <a:spcPts val="800"/>
              </a:spcAft>
            </a:pPr>
            <a:r>
              <a:rPr sz="1800">
                <a:solidFill>
                  <a:srgbClr val="1F2937"/>
                </a:solidFill>
                <a:latin typeface="Calibri"/>
              </a:rPr>
              <a:t>▸  Diqqat: yuz bilan yiqilganda aks zarb jarohati bo‘lmaydi, orqaga yiqilganda esa bo‘ladi. Adashtirmang.</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140916"/>
                <a:gridCol w="1691639"/>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Yuzaga</a:t>
                      </a:r>
                    </a:p>
                  </a:txBody>
                  <a:tcPr marL="73152" marR="73152" marT="36576" marB="36576">
                    <a:solidFill>
                      <a:srgbClr val="0B1F3A"/>
                    </a:solidFill>
                  </a:tcPr>
                </a:tc>
                <a:tc>
                  <a:txBody>
                    <a:bodyPr/>
                    <a:lstStyle/>
                    <a:p>
                      <a:r>
                        <a:rPr sz="1600" b="1">
                          <a:solidFill>
                            <a:srgbClr val="FFFFFF"/>
                          </a:solidFill>
                        </a:rPr>
                        <a:t>Balandlikdan</a:t>
                      </a:r>
                    </a:p>
                  </a:txBody>
                  <a:tcPr marL="73152" marR="73152" marT="36576" marB="36576">
                    <a:solidFill>
                      <a:srgbClr val="0B1F3A"/>
                    </a:solidFill>
                  </a:tcPr>
                </a:tc>
              </a:tr>
              <a:tr h="614476">
                <a:tc>
                  <a:txBody>
                    <a:bodyPr/>
                    <a:lstStyle/>
                    <a:p>
                      <a:r>
                        <a:rPr sz="1500" b="0">
                          <a:solidFill>
                            <a:srgbClr val="1F2937"/>
                          </a:solidFill>
                        </a:rPr>
                        <a:t>Yiqilish balandligi</a:t>
                      </a:r>
                    </a:p>
                  </a:txBody>
                  <a:tcPr marL="73152" marR="73152" marT="36576" marB="36576">
                    <a:solidFill>
                      <a:srgbClr val="E8EEF6"/>
                    </a:solidFill>
                  </a:tcPr>
                </a:tc>
                <a:tc>
                  <a:txBody>
                    <a:bodyPr/>
                    <a:lstStyle/>
                    <a:p>
                      <a:r>
                        <a:rPr sz="1500" b="0">
                          <a:solidFill>
                            <a:srgbClr val="1F2937"/>
                          </a:solidFill>
                        </a:rPr>
                        <a:t>O‘z bo‘yi balandligidan</a:t>
                      </a:r>
                    </a:p>
                  </a:txBody>
                  <a:tcPr marL="73152" marR="73152" marT="36576" marB="36576">
                    <a:solidFill>
                      <a:srgbClr val="E8EEF6"/>
                    </a:solidFill>
                  </a:tcPr>
                </a:tc>
                <a:tc>
                  <a:txBody>
                    <a:bodyPr/>
                    <a:lstStyle/>
                    <a:p>
                      <a:r>
                        <a:rPr sz="1500" b="0">
                          <a:solidFill>
                            <a:srgbClr val="1F2937"/>
                          </a:solidFill>
                        </a:rPr>
                        <a:t>Ma’lum bir balandlikdan</a:t>
                      </a:r>
                    </a:p>
                  </a:txBody>
                  <a:tcPr marL="73152" marR="73152" marT="36576" marB="36576">
                    <a:solidFill>
                      <a:srgbClr val="E8EEF6"/>
                    </a:solidFill>
                  </a:tcPr>
                </a:tc>
              </a:tr>
              <a:tr h="614476">
                <a:tc>
                  <a:txBody>
                    <a:bodyPr/>
                    <a:lstStyle/>
                    <a:p>
                      <a:r>
                        <a:rPr sz="1500" b="0">
                          <a:solidFill>
                            <a:srgbClr val="1F2937"/>
                          </a:solidFill>
                        </a:rPr>
                        <a:t>Bosqichlar soni</a:t>
                      </a:r>
                    </a:p>
                  </a:txBody>
                  <a:tcPr marL="73152" marR="73152" marT="36576" marB="36576">
                    <a:solidFill>
                      <a:srgbClr val="FFFFFF"/>
                    </a:solidFill>
                  </a:tcPr>
                </a:tc>
                <a:tc>
                  <a:txBody>
                    <a:bodyPr/>
                    <a:lstStyle/>
                    <a:p>
                      <a:r>
                        <a:rPr sz="1500" b="0">
                          <a:solidFill>
                            <a:srgbClr val="1F2937"/>
                          </a:solidFill>
                        </a:rPr>
                        <a:t>3 bosqich</a:t>
                      </a:r>
                    </a:p>
                  </a:txBody>
                  <a:tcPr marL="73152" marR="73152" marT="36576" marB="36576">
                    <a:solidFill>
                      <a:srgbClr val="FFFFFF"/>
                    </a:solidFill>
                  </a:tcPr>
                </a:tc>
                <a:tc>
                  <a:txBody>
                    <a:bodyPr/>
                    <a:lstStyle/>
                    <a:p>
                      <a:r>
                        <a:rPr sz="1500" b="0">
                          <a:solidFill>
                            <a:srgbClr val="1F2937"/>
                          </a:solidFill>
                        </a:rPr>
                        <a:t>6 bosqich</a:t>
                      </a:r>
                    </a:p>
                  </a:txBody>
                  <a:tcPr marL="73152" marR="73152" marT="36576" marB="36576">
                    <a:solidFill>
                      <a:srgbClr val="FFFFFF"/>
                    </a:solidFill>
                  </a:tcPr>
                </a:tc>
              </a:tr>
              <a:tr h="614476">
                <a:tc>
                  <a:txBody>
                    <a:bodyPr/>
                    <a:lstStyle/>
                    <a:p>
                      <a:r>
                        <a:rPr sz="1500" b="0">
                          <a:solidFill>
                            <a:srgbClr val="1F2937"/>
                          </a:solidFill>
                        </a:rPr>
                        <a:t>Ikkilamchi jarohat</a:t>
                      </a:r>
                    </a:p>
                  </a:txBody>
                  <a:tcPr marL="73152" marR="73152" marT="36576" marB="36576">
                    <a:solidFill>
                      <a:srgbClr val="E8EEF6"/>
                    </a:solidFill>
                  </a:tcPr>
                </a:tc>
                <a:tc>
                  <a:txBody>
                    <a:bodyPr/>
                    <a:lstStyle/>
                    <a:p>
                      <a:r>
                        <a:rPr sz="1500" b="0">
                          <a:solidFill>
                            <a:srgbClr val="1F2937"/>
                          </a:solidFill>
                        </a:rPr>
                        <a:t>Bo‘lmaydi</a:t>
                      </a:r>
                    </a:p>
                  </a:txBody>
                  <a:tcPr marL="73152" marR="73152" marT="36576" marB="36576">
                    <a:solidFill>
                      <a:srgbClr val="E8EEF6"/>
                    </a:solidFill>
                  </a:tcPr>
                </a:tc>
                <a:tc>
                  <a:txBody>
                    <a:bodyPr/>
                    <a:lstStyle/>
                    <a:p>
                      <a:r>
                        <a:rPr sz="1500" b="0">
                          <a:solidFill>
                            <a:srgbClr val="1F2937"/>
                          </a:solidFill>
                        </a:rPr>
                        <a:t>Bo‘lishi mumkin</a:t>
                      </a:r>
                    </a:p>
                  </a:txBody>
                  <a:tcPr marL="73152" marR="73152" marT="36576" marB="36576">
                    <a:solidFill>
                      <a:srgbClr val="E8EEF6"/>
                    </a:solidFill>
                  </a:tcPr>
                </a:tc>
              </a:tr>
              <a:tr h="614476">
                <a:tc>
                  <a:txBody>
                    <a:bodyPr/>
                    <a:lstStyle/>
                    <a:p>
                      <a:r>
                        <a:rPr sz="1500" b="0">
                          <a:solidFill>
                            <a:srgbClr val="1F2937"/>
                          </a:solidFill>
                        </a:rPr>
                        <a:t>Ichki a’zolar</a:t>
                      </a:r>
                    </a:p>
                  </a:txBody>
                  <a:tcPr marL="73152" marR="73152" marT="36576" marB="36576">
                    <a:solidFill>
                      <a:srgbClr val="FFFFFF"/>
                    </a:solidFill>
                  </a:tcPr>
                </a:tc>
                <a:tc>
                  <a:txBody>
                    <a:bodyPr/>
                    <a:lstStyle/>
                    <a:p>
                      <a:r>
                        <a:rPr sz="1500" b="0">
                          <a:solidFill>
                            <a:srgbClr val="1F2937"/>
                          </a:solidFill>
                        </a:rPr>
                        <a:t>Lat yeyish, chayqalish xos emas</a:t>
                      </a:r>
                    </a:p>
                  </a:txBody>
                  <a:tcPr marL="73152" marR="73152" marT="36576" marB="36576">
                    <a:solidFill>
                      <a:srgbClr val="FFFFFF"/>
                    </a:solidFill>
                  </a:tcPr>
                </a:tc>
                <a:tc>
                  <a:txBody>
                    <a:bodyPr/>
                    <a:lstStyle/>
                    <a:p>
                      <a:r>
                        <a:rPr sz="1500" b="0">
                          <a:solidFill>
                            <a:srgbClr val="1F2937"/>
                          </a:solidFill>
                        </a:rPr>
                        <a:t>Ichki shikast jiddiyroq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turdagi yiqilish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yiqilish jarohatlari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 balandlikdan oyoq panjasi bilan tushgan. Birlamchi bevosita jarohat tovon, boldir-oshiq bo‘g‘imi va boldirning pastki uchligida bo‘ladi.</a:t>
            </a:r>
          </a:p>
          <a:p>
            <a:pPr>
              <a:spcAft>
                <a:spcPts val="1200"/>
              </a:spcAft>
            </a:pPr>
            <a:r>
              <a:rPr sz="2200">
                <a:solidFill>
                  <a:srgbClr val="1F2937"/>
                </a:solidFill>
                <a:latin typeface="Calibri"/>
              </a:rPr>
              <a:t>▸  Bilvosita jarohat: son bo‘yinchasi, tos, bel va pastki ko‘krak umurtqalari sinishi mumkin. Ichki a’zolar shikasti bosh bilan yiqilgandagidan jiddiyroq.</a:t>
            </a:r>
          </a:p>
          <a:p>
            <a:pPr>
              <a:spcAft>
                <a:spcPts val="1200"/>
              </a:spcAft>
            </a:pPr>
            <a:r>
              <a:rPr sz="2200">
                <a:solidFill>
                  <a:srgbClr val="1F2937"/>
                </a:solidFill>
                <a:latin typeface="Calibri"/>
              </a:rPr>
              <a:t>▸  Vaziyat B: yuzaga orqaga yiqilgan. Ensa do‘mbog‘ida shilinma, qontalash va lat yara bo‘ladi; miya shikasti aks zarb sohasida kuchliroq.</a:t>
            </a:r>
          </a:p>
          <a:p>
            <a:pPr>
              <a:spcAft>
                <a:spcPts val="1200"/>
              </a:spcAft>
            </a:pPr>
            <a:r>
              <a:rPr sz="2200">
                <a:solidFill>
                  <a:srgbClr val="1F2937"/>
                </a:solidFill>
                <a:latin typeface="Calibri"/>
              </a:rPr>
              <a:t>▸  Tezkor savol: balandlikdan yiqilishda tashqi jarohatlar va ichki shikastlar nisbati qanday? Bu A va B holatlarini qanday farqlashga yordam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45-46, 46, 47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O‘tkir jismlardan jarohatlar: turlari va xususiyati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O‘tkir jismda o‘tkir uch, o‘tkir dam yoki ikkovi bo‘ladi. Yoy radiusi 0,1 mm va undan kichik bo‘lishi shart.</a:t>
            </a:r>
          </a:p>
          <a:p>
            <a:pPr>
              <a:spcAft>
                <a:spcPts val="800"/>
              </a:spcAft>
            </a:pPr>
            <a:r>
              <a:rPr sz="1800">
                <a:solidFill>
                  <a:srgbClr val="1F2937"/>
                </a:solidFill>
                <a:latin typeface="Calibri"/>
              </a:rPr>
              <a:t>▸  To‘qima avval ajraladi, jarohat doim bevosita bo‘ladi. Bir jismda bir necha xususiyat uchrashi mumkin.</a:t>
            </a:r>
          </a:p>
          <a:p>
            <a:pPr>
              <a:spcAft>
                <a:spcPts val="800"/>
              </a:spcAft>
            </a:pPr>
            <a:r>
              <a:rPr sz="1800">
                <a:solidFill>
                  <a:srgbClr val="1F2937"/>
                </a:solidFill>
                <a:latin typeface="Calibri"/>
              </a:rPr>
              <a:t>▸  Kesma yara: chetlari tekis, uchlari o‘tkir, uzunligi chuqurligidan katta; tashqi qon ketish xos.</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Kesuvchi (ustara)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Sanchuvchi (bigiz, mix)</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Sanchuvchi-kesuvchi (xanjar)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Chopuvchi (bolta)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Arralovchi jism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O‘tkir jism turlari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48, 48-49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xulosalar va takrorlash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Tan jarohati — tashqi ta’sir tufayli a’zo va to‘qimalarning anatomik butunligi yoki funksiyasining buzilishi. Ichki sababdan bo‘lsa, bu kasallik hisoblanadi.</a:t>
            </a:r>
          </a:p>
          <a:p>
            <a:pPr>
              <a:spcAft>
                <a:spcPts val="1200"/>
              </a:spcAft>
            </a:pPr>
            <a:r>
              <a:rPr sz="2200">
                <a:solidFill>
                  <a:srgbClr val="1F2937"/>
                </a:solidFill>
                <a:latin typeface="Calibri"/>
              </a:rPr>
              <a:t>▸  Jarohatlar asosan anatomik (shilinma, qontalash, yara, sinish) va asosan funksional (shok, miya chayqalishi) guruhlarga bo‘linadi.</a:t>
            </a:r>
          </a:p>
          <a:p>
            <a:pPr>
              <a:spcAft>
                <a:spcPts val="1200"/>
              </a:spcAft>
            </a:pPr>
            <a:r>
              <a:rPr sz="2200">
                <a:solidFill>
                  <a:srgbClr val="1F2937"/>
                </a:solidFill>
                <a:latin typeface="Calibri"/>
              </a:rPr>
              <a:t>▸  O‘tkir qon yo‘qotishda Minakov dog‘lari va miya hamda yurakda kamqonlik bo‘ladi, taloq qonga to‘yingan. Ko‘p qon yo‘qotishda taloq qisqargan, teri oqimtir.</a:t>
            </a:r>
          </a:p>
          <a:p>
            <a:pPr>
              <a:spcAft>
                <a:spcPts val="1200"/>
              </a:spcAft>
            </a:pPr>
            <a:r>
              <a:rPr sz="2200">
                <a:solidFill>
                  <a:srgbClr val="1F2937"/>
                </a:solidFill>
                <a:latin typeface="Calibri"/>
              </a:rPr>
              <a:t>▸  Diqqat: shok ≠ qon yo‘qotish. Og‘ir (III-IV darajali) travmatik shokda venoz to‘laqonlik va jigar, taloq kapillyarlarida qonning depolanishi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 26, 31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Travmatik shok – markaziy nerv, yurak-qon tomir va endokrin tizimlar ishining jiddiy buzilishi. Og‘ir (III–IV darajali) shokda venoz to‘laqonlik va jigar hamda taloq kapillyarlarida qonning patologik depolanishi topilishi mumkin.</a:t>
            </a:r>
          </a:p>
          <a:p>
            <a:pPr>
              <a:spcAft>
                <a:spcPts val="1200"/>
              </a:spcAft>
            </a:pPr>
            <a:r>
              <a:rPr sz="1800">
                <a:solidFill>
                  <a:srgbClr val="1F2937"/>
                </a:solidFill>
                <a:latin typeface="Calibri"/>
              </a:rPr>
              <a:t>▸  Tez va kam qon yo‘qotishni sekin va ko‘p yo‘qotishdan ajrating. Yirik arteriya shikastida 500 ml gacha yo‘qotishda ham o‘lim yurak qorinchalari fibrillyatsiyasidan bo‘ladi, taloq esa qonga to‘yingan qoladi. 2,5 litrdan ortiq yo‘qotishda taloq kamqon va qisqargan bo‘ladi.</a:t>
            </a:r>
          </a:p>
          <a:p>
            <a:pPr>
              <a:spcAft>
                <a:spcPts val="1200"/>
              </a:spcAft>
            </a:pPr>
            <a:r>
              <a:rPr sz="1800">
                <a:solidFill>
                  <a:srgbClr val="1F2937"/>
                </a:solidFill>
                <a:latin typeface="Calibri"/>
              </a:rPr>
              <a:t>▸  Minakov dog‘lari – yurak chap qorinchasi endokardi ostidagi tasmasimon qon quyilishlar, o‘tkir qon yo‘qotishning xos belgisi. Ular ichki bosim keskin pasayishi va adashgan nerv ta’sirlanishidan paydo bo‘ladi. Ko‘p qon yo‘qotishda ular faqat ba’zan topiladi.</a:t>
            </a:r>
          </a:p>
          <a:p>
            <a:pPr>
              <a:spcAft>
                <a:spcPts val="1200"/>
              </a:spcAft>
            </a:pPr>
            <a:r>
              <a:rPr sz="1800">
                <a:solidFill>
                  <a:srgbClr val="1F2937"/>
                </a:solidFill>
                <a:latin typeface="Calibri"/>
              </a:rPr>
              <a:t>▸  Sunsov sinamasi havo emboliyasini aniqlaydi. Perikard bo‘shlig‘iga yurakni yopadigan miqdorda suv quyiladi va o‘ng qorincha devori teshiladi. Suvdan havo pufakchalari chiqsa, natija musbat. Havo emboliyasida o‘lim 10 kub sm va undan ko‘p havo venaga tez kirganda mumkin.</a:t>
            </a:r>
          </a:p>
          <a:p>
            <a:pPr>
              <a:spcAft>
                <a:spcPts val="1200"/>
              </a:spcAft>
            </a:pPr>
            <a:r>
              <a:rPr sz="1800">
                <a:solidFill>
                  <a:srgbClr val="1F2937"/>
                </a:solidFill>
                <a:latin typeface="Calibri"/>
              </a:rPr>
              <a:t>▸  Yog‘ emboliyasida o‘lim odatda shikastdan 2–3 kun o‘tib bo‘ladi, chunki yog‘ zarralari o‘pka tomirlarini sekin yopadi. Muzlatilgan kesmalar Sudan III bilan olovrang qizil, Sudan IV bilan qora bo‘yaladi. Eslab qolish: III – qizil, IV – qora.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Turli xil shoklarning morfologik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2. Sud-tibbiy travmatologiya (qisman 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