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yallig‘lanish javobi organizm uchun foydali? 2) Qaysi holatda u xavfli bo‘lib qoladi? Doskada: ’jarohat → javob → tiklanish’ strelkasini chizdiring. Tipik xato: yallig‘lanishni faqat zararli jarayon deb o‘ylash. Eslatma: manbalarda ’travmatik kasallik’ atamasi o‘rniga ’jarohatga tizimli yallig‘lanish javobi’ ishlatiladi; talabalarga shuni tushuntiring.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Muhokama: nima uchun jarroh va anesteziolog uchun oddiy javobni bilish muhim? Doskada: ma’ruza rejasini 6 ta bo‘lim ko‘rinishida yozing. Tipik xato: DAMPs ni mikroblar bilan bog‘liq andozalar (PAMPs) bilan adashtirish. Keyinroq farqini alohida ko‘rsating.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Mahalliy javob qachon tizimli javobga aylanadi? 2) Javob kuchi nimaga bog‘liq? Doskada: sxemani o‘zlari chizsin va har strelka ostiga misol yozsin. Tipik xato: har qanday mahalliy yallig‘lanishni tizimli javob deb hisoblash. Tezkor savol: tizimli javob qanday vositachilar bilan boshqariladi?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yallig‘lanish javobi tuzalish uchun kerak? 2) Qaysi holatda u xavfli bo‘lib qoladi? Doskada: ikki ustunli ro‘yxat chizing: «foydasi» va «xavfi (SIRS)». Tipik xato: yallig‘lanish javobini faqat zararli jarayon deb o‘ylash. U tuzalish uchun zarur, xavf esa uning haddan oshishida.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Rejali jarrohlik bemori jarohatlangan bemordan nimasi bilan farq qiladi? 2) Nega ikkinchi zarba immun tizim uchun xavfli? Doskada: zarbalar zanjirini strelkalar bilan chizing va har zarba tagiga misol yozing. Tipik xato: damage-control jarrohlikni yakuniy tiklovchi jarrohlik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yakuniy jarrohlikni darhol qilmaymiz? 2) Kechiktirishning qanday xavfi bor (beqaror sinish, ARDS)? Doskada: bemorning birinchi kundan 3-haftagacha vaqt chizig‘ini chizing va jarrohlik nuqtalarini belgilang. Tipik xato: kechiktirishni xavfsiz deb hisoblash. Manbada kechiktirishning xavflari ham aytilgan.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Muhokama: 1) Nega mahalliy javob har doim bo‘ladi, tizimli javob esa yo‘q? 2) Tizimli javobni qaysi mediatorlar chaqiradi? Doskada: ikki doira chizing — kichigi mahalliy, kattasi tizimli — va ichiga mediatorlarni yozing. Tipik xato: talaba har bir jarohatda tizimli yallig‘lanish bo‘ladi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Oqim fazasi nega giper-metabolik faza deb ham ataladi? 2) Nega bu davrlar ikki fazali deyiladi? Doskada: vaqt o‘qini chizing — chapda shok, o‘ngda oqim fazasi — va metabolik o‘zgarishlarni ostiga yozing. Tipik xato: shok fazasini giper-metabolik faza bilan adashtirish; aslida giper-metabolik faza oqim fazasiga to‘g‘ri keladi.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shok fazasida periferik vazokonstriksiya foydali? 2) Anesteziya vositalari shok fazasida qanday xavf tug‘diradi? Doskada: zanjir chizing — qon ketishi → gipovolemiya → vazokonstriksiya → qonning markazga o‘tishi. Tipik xato: shok fazasidagi vazokonstriksiyani oqim fazasidagi vazodilatatsiya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oqim fazasida tomir ichi hajmini saqlash muhim? 2) Qaysi belgilar 4-5 kundan keyin ham saqlansa asoratni o‘ylatadi? Doskada: shok fazasidan oqim fazasiga o‘tish strelkasini chizing (vazokonstriksiya → vazodilatatsiya). Tipik xato: oqim fazasini patologiya deb o‘ylash — asoratsiz travmada u me’yoriy, faqat cho‘zilsa xavfli.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keksa va kasalliklari bor bemorlar yuqori kislorod talabiga bardosh bera olmaydi? 2) Giperglikemiya to‘qima oziqlanishida qanday rol o‘ynaydi? Doskada: vaqt o‘qida pasayish → gipermetabolizm chizig‘ini chizing. Tipik xato: dastlabki davrni ham yuqori metabolizm deb o‘ylash — u avval pasayadi.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dastlabki immunosupressiya foydali, lekin cho‘zilsa zararli? 2) Ikkinchi zarba (operatsiya) immun tizimga qanday ta’sir qiladi? Doskada: SIRS va CARS egri chiziqlarini bir o‘qda chizib, 5-15 kun oralig‘ini belgilang. Tipik xato: SIRS va CARS ni bir vaqtdagi emas, ketma-ket ikki alohida kasallik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birinchi soatda odamdagi yallig‘lanish javobi kam o‘rganilgan (qon namunasi olish qiyinligi)? Uchinchi cho‘qqi sabablari nimada? Doskada: vaqt o‘qini chizib, uch cho‘qqini belgilang. Tipik xato: uchala cho‘qqini ham faqat qon ketishi bilan bog‘lash; kech cho‘qqida ko‘pincha SIRS yoki MODS sabab bo‘ladi.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bir ko‘rsatkich 1 haftada, boshqasi 3 haftada normallashadi? Tiklovchi jarrohlikni kechiktirish foydasi isbotlanganmi? Doskada: to‘rt ko‘rsatkich uchun muddatlar chizig‘ini chizing. Tipik xato: 6–7 kunni barcha immun ko‘rsatkichlar uchun umumiy muddat deb o‘ylash. MHCII — monotsitlardagi antigen taqdim etuvchi molekula (asosiy gistomoslik kompleksi 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oqim fazasida nima uchun yurak urishi va nafas tezlashadi (kislorod sarfi oshadi)? Bemorni kuzatishda qaysi ko‘rsatkichlarni tekshirasiz? Doskada: oqim fazasi belgilari va ‘4–5 kun’ chegarasini chizing. Tipik xato: taxikardiya va isitmani doim infeksiya deb hisoblash; avval muddatga qarang.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shok fazasida periferik vazokonstriksiya hayotiy ahamiyatga ega? 2) Oqim fazasida nega tomir ichi hajmini saqlash kerak? Doskada: ikki ustunli (shok / oqim) taqqoslash jadvalini chizdiring. Tipik xato: talabalar shok va oqim fazalarini, shuningdek metabolik pasayish va gipermetabolik fazani bir-biriga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bu javoblarni alohida emas, birgalikda baholash kerak? 2) Jarohat hajmi javob kuchiga qanday ta’sir qiladi? Doskada: to‘rt komponentni markazdagi jarohat atrofida o‘qlar bilan bog‘lab chizdiring. Tipik xato: komponentlarni ketma-ket emas, bir-biridan mustaqil deb o‘ylash; aslida ular o‘zaro ta’sirlashadi.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Jarohat joyidan buyrak usti bezigacha signal yo‘lini izohlang. 2) Nega ayol jinsining himoyasi estrogen davosini oqlamaydi? Doskada: jarohat → gipotalamus → gipofiz → buyrak usti bezi zanjirini chizdiring. Tipik xato: adrenalin po‘stloqdan, kortizol mag‘izdan chiqadi deb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shikastlangan to‘qima oziqlanishi giperglikemiyaga bog‘liq? 2) Kapillyar sizish shishga qanday olib keladi? Doskada chizish: shikastlangan to‘qima kesimi: tomir, tromboz, sizish, shish va 3-7 kunlik qayta tomirlanish o‘qi. Tipik xato: qayta tomirlanish muddatini (3-7 kun) shok fazasi muddati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mahalliy vositachilarni qon zardobida o‘lchash kam foyda beradi? 2) Koagulyatsiya va komplement qanday bog‘langan? Doskada chizish: trombin → C5a → immun javob zanjiri. Tipik xato: mahalliy vositachilar yarim yemirilishi qisqa bo‘lsa, ta’siri ham qisqa deb o‘ylash. Aslida ta’siri uzoq davom etadi.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TNF-α va IL-1 eng birinchi sitokinlar hisoblanadi? 2) Ikkinchi CRP cho‘qqisi klinik nimani bildiradi? Doskada chizish: TNF-α/IL-1 dan IL-6, IL-8, IL-10 ga o‘qlar. Tipik xato: IL-6 faqat yallig‘lanishni kuchaytiradi deb o‘ylash. U keyinchalik IL-10 orqali qarshi javobni ham qo‘zg‘atadi.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Priming nima uchun ikkinchi zarbada xavfli? 2) Jarohatdan keyingi qaysi ikkinchi zarbalar neytrofillarni qayta qo‘zg‘atadi (operatsiya, kasalxona infeksiyasi)? Doskada: neytrofilning qon tomiridan to‘qimagacha yo‘lini 4 bosqichda chizdiring (priming, dumalash, qattiq yopishish, o‘tish). Tipik xato: priming ≠ to‘liq faollashuv; priming faqat oraliq tayyorgarlik holati. Diqqat: selektin dumalashga, integrin qattiq yopishishga javob beradi, bularni almashtirmang.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MHCII pasayishi nimani ko‘rsatadi va nega uni immun falaj belgisi deb olish mumkin? 2) Nega NK faolligining susayishi Th1/Th2 muvozanatiga ta’sir qiladi? Doskada: Th1 ← → Th2 tarozisini chizib, jarohatdan keyin Th2 tomonga og‘ishini ko‘rsating. Tipik xato: T-hujayralar kam ta’sirlanadi, shuning uchun ularni monotsit bilan bir xil darajada susayadi deb o‘ylash. Diqqat: monotsit uzluksiz susayadi, neytrofil esa faollashadi, bu ikkalasi bir vaqtda kuzatiladi.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Javob: asoratsiz kechishda dastlabki yuqori sitokin va oqsil darajasi asta-sekin normallashadi va qarshi yallig‘lanish javobi bilan muvozanatlanadi; ikkinchi cho‘qqi infeksiya kabi asoratni shubha qildiradi. Muhokama: 1) Qanday ikkinchi zarbalar mumkin? 2) Nega yagona o‘lchov bemorning holatini to‘liq ko‘rsatmaydi? Doskada: vaqt o‘qida ikki cho‘qqili egri chiziq chizdiring. Tipik xato: ikkinchi cho‘qqini darhol normal tiklanish jarayoni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hujayra ichidagi molekula tashqarida «xavf signali» bo‘ladi? 2) Klinik alarmin mezonlarini o‘z so‘zingiz bilan sanang. Doskada: hujayra → DAMP → PRR → sitokin zanjirini chizing. Tipik xato: DAMPs (o‘z molekulalari) va PAMPs (mikrob molekulalari) ni aralashtirish; ikkalasi o‘xshash yallig‘lanish keltirishi mumkin, ammo manbasi boshqa.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HMGB1 ni jarohatdan 30 daqiqa keyin o‘lchash qimmatli? 2) HSP72 nega yaxshi prognoz bilan bog‘liq bo‘lishi mumkin? Doskada: jadvalni daftarga ko‘chirib, har DAMP uchun bitta klinik bog‘lanishni belgilang. Tipik xato: barcha DAMPs yomon oqibatni bildiradi deb o‘ylash — HSP72 da aksi kuzatilgan.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bitta DAMP bir nechta retseptorni faollashtirishi (retseptor takrorlanishi) muhim? 2) RAGE ning TLR dan farqi nima? Doskada: DAMP → retseptor → adapter → transkripsiya omili → sitokin zanjirini chizing. Tipik xato: barcha TLR MyD88 orqali ishlaydi deb o‘ylash — TLR3 faqat TRIF yo‘lini ishlatadi; sxema soddalashtirilgan.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4-5 daq. Muhokama: 1) Alarmin deb hisoblanishi uchun modda qaysi mezonlarga javob berishi kerak? 2) Nega bitta DAMP bir nechta retseptorni faollashtirishi (retseptor ortiqchaligi) muhim? Doskada: ikki ustunli sxema chizdiring — chapda TLR (PAMP + DAMP), o‘ngda RAGE (faqat DAMP). Tipik xato: RAGEni ham mikroblarni taniydigan retseptor deb o‘ylash va alarminlarni faqat bitta molekula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HLA-DR pasayishi nimani bildiradi va nega infeksiya xavfi oshadi? 2) Plazma DAMP darajasini bemor yotoqxonasida kuzatish qanday foyda berishi mumkin? Doskada: zanjir chizdiring — shikast → DAMP ajralishi → HLA-DR pasayishi → immunosupressiya → infeksiya. Tipik xato: bog‘liqlikni (korrelyatsiya) bevosita sabab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Muhokama: 1) Nega reanimatsiya ishemiyani bartaraf etsa-da, I/R (ishemiya/reperfuziya) jarohatini ham keltirib chiqaradi? 2) Nima uchun shikast joyidan uzoqdagi a’zolar zararlanadi? Doskada: qon ketish → ishemiya → reperfuziya → neytrofillar → buyrak/jigar/o‘pka sxemasini chizdiring. Tipik xato: I/R, qon ketish va to‘qima shikastini bir-biridan mutlaqo alohida jarayon deb o‘ylash (ular bir vaqtda ta’sir qiladi).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qon quyish travmadan keyingi infeksiya xavfini oshirishi mumkin? 2) Gemoliz va immun nomuvofiqlik bir narsami? Doskada: eritrotsit → gemoliz → DAMPs ro‘yxati (gem, HSP70, RBP-4, IL-33, S100, adenozin). Tipik xato: gemolizni faqat guruh nomuvofiqligi bilan bog‘lash; manbada u nomuvofiqliksiz ham bo‘lishi aytilgan.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Erta immunosupressiya nega foydali, uzoq davom etsa nega zararli? 2) Adenozin yo‘li klassik ‘avval SIRS, keyin CARS’ sxemasidan nimasi bilan farq qiladi? Doskada: flow sxemani ketma-ket chizing, CD39 li Treg hujayralarni qo‘shimcha o‘q bilan ko‘rsating (adenozin miqdorini oshiradi). Tipik xato: immunosupressiyani faqat zararli deb o‘ylash; dastlab u uzoq muddatli a’zo shikastini cheklaydi.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Erta va kech MODS sabablari qanday farq qiladi? 2) DAMPs ivish tizimiga qanday ta’sir qiladi? Doskada: vaqt o‘qi chizing — erta bosqich (SIRS, a’zo shikasti) va 5–15 kundan keyingi CARS/IS bosqichi (infeksiya, kech MODS). Tipik xato: kech MODSni ham SIRSning davomi deb hisoblash; manbada u immunosupressiyadan keyingi infeksiyalar bilan bog‘langan.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Qon quyish immunitetni qanday susaytiradi (Th2 tomonga siljish, monotsitlarda MHCII kamayishi)? 2) Nega ommaviy qon quyish jarohat og‘irligini ham aks ettiradi? Doskada chizish: ‘jarohat – qon quyish – DAMP – immunosupressiya – pnevmoniya’ zanjiri. Tipik xato: qon quyishni pnevmoniyaning yagona sababi deb hisoblash, jarohat og‘irligini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yakuniy jarrohlik darhol qilinmaydi (yana bir ‘zarba’ immunitetga)? 2) Kechiktirishning xavfi nimada (ARDS, ventilyator pnevmoniyasi)? Doskada chizish: jarrohlik muddati zanjirini va har bosqich shartlarini. Tipik xato: damage-control jarrohlikni yakuniy (rekonstruktiv) jarrohlik bilan adashtirish yoki 3 haftalik kechiktirishni isbotlangan qoida deb o‘ylash.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Travmatik kasallik: tushunchasi, davrlari, asosiy komponentlari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travmatik kasallik nima?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Jarohatdan keyin mahalliy yallig‘lanish har doim bo‘ladi. Og‘ir yoki ko‘p o‘rinli jarohatda unga tizimli yallig‘lanish javobi qo‘shiladi.</a:t>
            </a:r>
          </a:p>
          <a:p>
            <a:pPr>
              <a:spcAft>
                <a:spcPts val="1200"/>
              </a:spcAft>
            </a:pPr>
            <a:r>
              <a:rPr sz="2200">
                <a:solidFill>
                  <a:srgbClr val="1F2937"/>
                </a:solidFill>
                <a:latin typeface="Calibri"/>
              </a:rPr>
              <a:t>▸  Tizimli javobni gormonal, metabolik va immunologik vositachilar keltirib chiqaradi. U gemodinamik o‘zgarishlar bilan birga kechadi.</a:t>
            </a:r>
          </a:p>
          <a:p>
            <a:pPr>
              <a:spcAft>
                <a:spcPts val="1200"/>
              </a:spcAft>
            </a:pPr>
            <a:r>
              <a:rPr sz="2200">
                <a:solidFill>
                  <a:srgbClr val="1F2937"/>
                </a:solidFill>
                <a:latin typeface="Calibri"/>
              </a:rPr>
              <a:t>▸  Travma inson to‘qimasi shikastlanishining eng og‘ir shakli. U dunyoda o‘lim va nogironlikning yetakchi sabablaridan biri.</a:t>
            </a:r>
          </a:p>
          <a:p>
            <a:pPr>
              <a:spcAft>
                <a:spcPts val="1200"/>
              </a:spcAft>
            </a:pPr>
            <a:r>
              <a:rPr sz="2200">
                <a:solidFill>
                  <a:srgbClr val="1F2937"/>
                </a:solidFill>
                <a:latin typeface="Calibri"/>
              </a:rPr>
              <a:t>▸  Tizimli javob to‘qima tiklanishi uchun kerak. Asoratsiz jarohatda u vaqtinchalik, oldindan taxmin qilinadigan va yallig‘lanishga qarshi vositachilar bilan muvozanatli.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 Vourc'h et al., Trauma-Induced Damage-Associated Molecular Patterns-Mediated Remote Organ Injury and Immunosuppression in the Acutely Ill Patient, betlar: PMID 29963048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Mavzuning maqsadi va rejasi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Maqsad: katta jarohatdan keyingi tizimli yallig‘lanish javobining patofiziologiyasini va yakuniy tiklovchi jarrohlik muddatini tushunish.</a:t>
            </a:r>
          </a:p>
          <a:p>
            <a:pPr>
              <a:spcAft>
                <a:spcPts val="1200"/>
              </a:spcAft>
            </a:pPr>
            <a:r>
              <a:rPr sz="2200">
                <a:solidFill>
                  <a:srgbClr val="1F2937"/>
                </a:solidFill>
                <a:latin typeface="Calibri"/>
              </a:rPr>
              <a:t>▸  Birinchi bo‘limlar: tushuncha va davrlar, so‘ng uchta komponent: gormonal-metabolik, gemodinamik va immunologik javob.</a:t>
            </a:r>
          </a:p>
          <a:p>
            <a:pPr>
              <a:spcAft>
                <a:spcPts val="1200"/>
              </a:spcAft>
            </a:pPr>
            <a:r>
              <a:rPr sz="2200">
                <a:solidFill>
                  <a:srgbClr val="1F2937"/>
                </a:solidFill>
                <a:latin typeface="Calibri"/>
              </a:rPr>
              <a:t>▸  Keyingi bo‘limlar: DAMPs (zararlanish bilan bog‘liq molekulyar andozalar), uzoq a‘zolar shikasti va jarohatdan keyingi immunosupressiya.</a:t>
            </a:r>
          </a:p>
          <a:p>
            <a:pPr>
              <a:spcAft>
                <a:spcPts val="1200"/>
              </a:spcAft>
            </a:pPr>
            <a:r>
              <a:rPr sz="2200">
                <a:solidFill>
                  <a:srgbClr val="1F2937"/>
                </a:solidFill>
                <a:latin typeface="Calibri"/>
              </a:rPr>
              <a:t>▸  Yakunda qon quyish, ishemiya/reperfuziya (I/R) ta’siri va yakuniy tiklovchi jarrohlikni qachon o‘tkazish masalasi ko‘riladi.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 Vourc'h et al., Trauma-Induced Damage-Associated Molecular Patterns-Mediated Remote Organ Injury and Immunosuppression in the Acutely Ill Patient, betlar: PMID 29963048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Tushuncha: mahalliy va tizimli javob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Mahalliy yallig‘lanish har qanday to‘qima jarohatida bo‘ladi.</a:t>
            </a:r>
          </a:p>
          <a:p>
            <a:pPr>
              <a:spcAft>
                <a:spcPts val="800"/>
              </a:spcAft>
            </a:pPr>
            <a:r>
              <a:rPr sz="1800">
                <a:solidFill>
                  <a:srgbClr val="1F2937"/>
                </a:solidFill>
                <a:latin typeface="Calibri"/>
              </a:rPr>
              <a:t>▸  Og‘ir yoki ko‘p o‘rinli jarohatda tizimli javob qo‘shiladi.</a:t>
            </a:r>
          </a:p>
          <a:p>
            <a:pPr>
              <a:spcAft>
                <a:spcPts val="800"/>
              </a:spcAft>
            </a:pPr>
            <a:r>
              <a:rPr sz="1800">
                <a:solidFill>
                  <a:srgbClr val="1F2937"/>
                </a:solidFill>
                <a:latin typeface="Calibri"/>
              </a:rPr>
              <a:t>▸  Diqqat: mahalliy javob ≠ tizimli javob; ikkinchisining kuchi shikast hajmiga bog‘liq.</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Jarohat (travma)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Mahalliy yallig‘lanish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Og‘ir jarohat: vositachilar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Tizimli yallig‘lanish javobi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Muvozanat yoki haddan oshish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Jarohatdan tizimli javobgacha</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Javobning foydali va xavfli tomonlari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Jarohatda mahalliy yallig‘lanish doim bo‘ladi. Og‘ir yoki ko‘p jarohatda u butun organizmni qamrab oladi va tizimli javobga aylanadi.</a:t>
            </a:r>
          </a:p>
          <a:p>
            <a:pPr>
              <a:spcAft>
                <a:spcPts val="1200"/>
              </a:spcAft>
            </a:pPr>
            <a:r>
              <a:rPr sz="2200">
                <a:solidFill>
                  <a:srgbClr val="1F2937"/>
                </a:solidFill>
                <a:latin typeface="Calibri"/>
              </a:rPr>
              <a:t>▸  Tizimli yallig‘lanish javobi to‘qima tiklanishi uchun zarur. U sutemizuvchilarda shifo imkoniyatini oshirish uchun shakllangan.</a:t>
            </a:r>
          </a:p>
          <a:p>
            <a:pPr>
              <a:spcAft>
                <a:spcPts val="1200"/>
              </a:spcAft>
            </a:pPr>
            <a:r>
              <a:rPr sz="2200">
                <a:solidFill>
                  <a:srgbClr val="1F2937"/>
                </a:solidFill>
                <a:latin typeface="Calibri"/>
              </a:rPr>
              <a:t>▸  Asoratsiz jarohatda javob vaqtinchalik va bashorat qilinadi. Yallig‘lanishni kuchaytiruvchi va susaytiruvchi mediatorlar muvozanatda bo‘ladi.</a:t>
            </a:r>
          </a:p>
          <a:p>
            <a:pPr>
              <a:spcAft>
                <a:spcPts val="1200"/>
              </a:spcAft>
            </a:pPr>
            <a:r>
              <a:rPr sz="2200">
                <a:solidFill>
                  <a:srgbClr val="1F2937"/>
                </a:solidFill>
                <a:latin typeface="Calibri"/>
              </a:rPr>
              <a:t>▸  Diqqat: og‘ir jarohatda boshida haddan oshgan javob kuzatilishi mumkin. Shunda tizimli yallig‘lanish sindromi (SIRS) va a’zolar disfunksiyasi xavfi ortadi.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 DOI 10.1186/1757-7241-17-43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Ko‘p zarba nazariyasi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Rejali bemordan farqli, jarohatlangan bemor bir necha zarbaga uchraydi.</a:t>
            </a:r>
          </a:p>
          <a:p>
            <a:pPr>
              <a:spcAft>
                <a:spcPts val="800"/>
              </a:spcAft>
            </a:pPr>
            <a:r>
              <a:rPr sz="1800">
                <a:solidFill>
                  <a:srgbClr val="1F2937"/>
                </a:solidFill>
                <a:latin typeface="Calibri"/>
              </a:rPr>
              <a:t>▸  Birinchi zarba — jarohatning o‘zi, ikkinchisi — zarur damage-control jarrohlik.</a:t>
            </a:r>
          </a:p>
          <a:p>
            <a:pPr>
              <a:spcAft>
                <a:spcPts val="800"/>
              </a:spcAft>
            </a:pPr>
            <a:r>
              <a:rPr sz="1800">
                <a:solidFill>
                  <a:srgbClr val="1F2937"/>
                </a:solidFill>
                <a:latin typeface="Calibri"/>
              </a:rPr>
              <a:t>▸  Bu zarbalardan so‘ng immun tizim charchab, infeksiya va sepsis xavfi oshishi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1-zarba: jarohat</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2-zarba: zarur jarrohlik</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Immun tizim charchashi mumkin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Infeksiya va sepsis xavfi ortadi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Yakuniy jarrohlik vaqti: munozara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Zarbalar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 DOI 10.1186/1757-7241-17-43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bir bemor, ikki zarba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og‘ir jarohat olgan bemorga birinchi kuni damage-control jarrohlik qilindi, so‘ng u reanimatsiya bo‘limiga (ICU) o‘tkazildi.</a:t>
            </a:r>
          </a:p>
          <a:p>
            <a:pPr>
              <a:spcAft>
                <a:spcPts val="1200"/>
              </a:spcAft>
            </a:pPr>
            <a:r>
              <a:rPr sz="2200">
                <a:solidFill>
                  <a:srgbClr val="1F2937"/>
                </a:solidFill>
                <a:latin typeface="Calibri"/>
              </a:rPr>
              <a:t>▸  Jarohatdan keyin neytrofillar «priming» (oldindan faollashish) holatiga o‘tadi. Ikkinchi zarba bunday holatda kuchliroq javob berishi mumkin.</a:t>
            </a:r>
          </a:p>
          <a:p>
            <a:pPr>
              <a:spcAft>
                <a:spcPts val="1200"/>
              </a:spcAft>
            </a:pPr>
            <a:r>
              <a:rPr sz="2200">
                <a:solidFill>
                  <a:srgbClr val="1F2937"/>
                </a:solidFill>
                <a:latin typeface="Calibri"/>
              </a:rPr>
              <a:t>▸  Yakuniy tiklovchi jarrohlik ko‘pincha kechiktiriladi: gipotermiya, atsidoz, koagulopatiya xavfi va immun tizimga yangi zarbadan qochish uchun.</a:t>
            </a:r>
          </a:p>
          <a:p>
            <a:pPr>
              <a:spcAft>
                <a:spcPts val="1200"/>
              </a:spcAft>
            </a:pPr>
            <a:r>
              <a:rPr sz="2200">
                <a:solidFill>
                  <a:srgbClr val="1F2937"/>
                </a:solidFill>
                <a:latin typeface="Calibri"/>
              </a:rPr>
              <a:t>▸  Savol: yakuniy jarrohlikni qancha kechiktirish kerak? Uch hafta taklif qilingan, lekin bu tasodifiy klinik sinovlarga asoslanmagan.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 DOI 10.1186/1757-7241-17-43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 tushuncha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travmada qaysi javob har doim yuzaga keladi — mahalliy yoki tizimli yallig‘lanish javobi? Bir daqiqa o‘ylab ko‘ring.</a:t>
            </a:r>
          </a:p>
          <a:p>
            <a:pPr>
              <a:spcAft>
                <a:spcPts val="1200"/>
              </a:spcAft>
            </a:pPr>
            <a:r>
              <a:rPr sz="2200">
                <a:solidFill>
                  <a:srgbClr val="1F2937"/>
                </a:solidFill>
                <a:latin typeface="Calibri"/>
              </a:rPr>
              <a:t>▸  Javob: to‘qima travmasida mahalliy yallig‘lanish javobi doim bo‘ladi. Kininlar va gistamin kapillyar o‘tkazuvchanlikni oshirib, shish chaqiradi.</a:t>
            </a:r>
          </a:p>
          <a:p>
            <a:pPr>
              <a:spcAft>
                <a:spcPts val="1200"/>
              </a:spcAft>
            </a:pPr>
            <a:r>
              <a:rPr sz="2200">
                <a:solidFill>
                  <a:srgbClr val="1F2937"/>
                </a:solidFill>
                <a:latin typeface="Calibri"/>
              </a:rPr>
              <a:t>▸  Og‘ir yoki ko‘p joyli jarohat tizimli yallig‘lanish javobini chaqiradi. Uni gormonal, metabolik va immunologik mediatorlar yuzaga keltiradi.</a:t>
            </a:r>
          </a:p>
          <a:p>
            <a:pPr>
              <a:spcAft>
                <a:spcPts val="1200"/>
              </a:spcAft>
            </a:pPr>
            <a:r>
              <a:rPr sz="2200">
                <a:solidFill>
                  <a:srgbClr val="1F2937"/>
                </a:solidFill>
                <a:latin typeface="Calibri"/>
              </a:rPr>
              <a:t>▸  Diqqat: xato qilish xavfi — mahalliy javob ≠ tizimli javob. Tizimli javob faqat og‘ir jarohatda rivojlanadi, mahalliysi esa har doim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Davrlar: umumiy ko‘rinish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Gemodinamik javob, metabolik va immunologik javob kabi, ikki fazali: shok va oqim fazalari.</a:t>
            </a:r>
          </a:p>
          <a:p>
            <a:pPr>
              <a:spcAft>
                <a:spcPts val="800"/>
              </a:spcAft>
            </a:pPr>
            <a:r>
              <a:rPr sz="1800">
                <a:solidFill>
                  <a:srgbClr val="1F2937"/>
                </a:solidFill>
                <a:latin typeface="Calibri"/>
              </a:rPr>
              <a:t>▸  Metabolizm avval 24 soatgacha pasayadi, so‘ng giper-metabolik, katabolik faza boshlanadi.</a:t>
            </a:r>
          </a:p>
          <a:p>
            <a:pPr>
              <a:spcAft>
                <a:spcPts val="800"/>
              </a:spcAft>
            </a:pPr>
            <a:r>
              <a:rPr sz="1800">
                <a:solidFill>
                  <a:srgbClr val="1F2937"/>
                </a:solidFill>
                <a:latin typeface="Calibri"/>
              </a:rPr>
              <a:t>▸  Asoratsiz travmada giper-metabolik faza odatda bir haftadan kam davom etadi.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84712"/>
                <a:gridCol w="2169425"/>
                <a:gridCol w="2033836"/>
              </a:tblGrid>
              <a:tr h="411480">
                <a:tc>
                  <a:txBody>
                    <a:bodyPr/>
                    <a:lstStyle/>
                    <a:p>
                      <a:r>
                        <a:rPr sz="1300" b="1">
                          <a:solidFill>
                            <a:srgbClr val="FFFFFF"/>
                          </a:solidFill>
                        </a:rPr>
                        <a:t>Faza</a:t>
                      </a:r>
                    </a:p>
                  </a:txBody>
                  <a:tcPr marL="73152" marR="73152" marT="36576" marB="36576">
                    <a:solidFill>
                      <a:srgbClr val="0B1F3A"/>
                    </a:solidFill>
                  </a:tcPr>
                </a:tc>
                <a:tc>
                  <a:txBody>
                    <a:bodyPr/>
                    <a:lstStyle/>
                    <a:p>
                      <a:r>
                        <a:rPr sz="1300" b="1">
                          <a:solidFill>
                            <a:srgbClr val="FFFFFF"/>
                          </a:solidFill>
                        </a:rPr>
                        <a:t>Asosiy belgi</a:t>
                      </a:r>
                    </a:p>
                  </a:txBody>
                  <a:tcPr marL="73152" marR="73152" marT="36576" marB="36576">
                    <a:solidFill>
                      <a:srgbClr val="0B1F3A"/>
                    </a:solidFill>
                  </a:tcPr>
                </a:tc>
                <a:tc>
                  <a:txBody>
                    <a:bodyPr/>
                    <a:lstStyle/>
                    <a:p>
                      <a:r>
                        <a:rPr sz="1300" b="1">
                          <a:solidFill>
                            <a:srgbClr val="FFFFFF"/>
                          </a:solidFill>
                        </a:rPr>
                        <a:t>Davomiyligi</a:t>
                      </a:r>
                    </a:p>
                  </a:txBody>
                  <a:tcPr marL="73152" marR="73152" marT="36576" marB="36576">
                    <a:solidFill>
                      <a:srgbClr val="0B1F3A"/>
                    </a:solidFill>
                  </a:tcPr>
                </a:tc>
              </a:tr>
              <a:tr h="411480">
                <a:tc>
                  <a:txBody>
                    <a:bodyPr/>
                    <a:lstStyle/>
                    <a:p>
                      <a:r>
                        <a:rPr sz="1200" b="0">
                          <a:solidFill>
                            <a:srgbClr val="1F2937"/>
                          </a:solidFill>
                        </a:rPr>
                        <a:t>Shok fazasi</a:t>
                      </a:r>
                    </a:p>
                  </a:txBody>
                  <a:tcPr marL="73152" marR="73152" marT="36576" marB="36576">
                    <a:solidFill>
                      <a:srgbClr val="E8EEF6"/>
                    </a:solidFill>
                  </a:tcPr>
                </a:tc>
                <a:tc>
                  <a:txBody>
                    <a:bodyPr/>
                    <a:lstStyle/>
                    <a:p>
                      <a:r>
                        <a:rPr sz="1200" b="0">
                          <a:solidFill>
                            <a:srgbClr val="1F2937"/>
                          </a:solidFill>
                        </a:rPr>
                        <a:t>Gipovolemiya, vazokonstriksiya</a:t>
                      </a:r>
                    </a:p>
                  </a:txBody>
                  <a:tcPr marL="73152" marR="73152" marT="36576" marB="36576">
                    <a:solidFill>
                      <a:srgbClr val="E8EEF6"/>
                    </a:solidFill>
                  </a:tcPr>
                </a:tc>
                <a:tc>
                  <a:txBody>
                    <a:bodyPr/>
                    <a:lstStyle/>
                    <a:p>
                      <a:r>
                        <a:rPr sz="1200" b="0">
                          <a:solidFill>
                            <a:srgbClr val="1F2937"/>
                          </a:solidFill>
                        </a:rPr>
                        <a:t>Reanimatsiyasiz taxminan 1 kun</a:t>
                      </a:r>
                    </a:p>
                  </a:txBody>
                  <a:tcPr marL="73152" marR="73152" marT="36576" marB="36576">
                    <a:solidFill>
                      <a:srgbClr val="E8EEF6"/>
                    </a:solidFill>
                  </a:tcPr>
                </a:tc>
              </a:tr>
              <a:tr h="411480">
                <a:tc>
                  <a:txBody>
                    <a:bodyPr/>
                    <a:lstStyle/>
                    <a:p>
                      <a:r>
                        <a:rPr sz="1200" b="0">
                          <a:solidFill>
                            <a:srgbClr val="1F2937"/>
                          </a:solidFill>
                        </a:rPr>
                        <a:t>Oqim fazasi</a:t>
                      </a:r>
                    </a:p>
                  </a:txBody>
                  <a:tcPr marL="73152" marR="73152" marT="36576" marB="36576">
                    <a:solidFill>
                      <a:srgbClr val="FFFFFF"/>
                    </a:solidFill>
                  </a:tcPr>
                </a:tc>
                <a:tc>
                  <a:txBody>
                    <a:bodyPr/>
                    <a:lstStyle/>
                    <a:p>
                      <a:r>
                        <a:rPr sz="1200" b="0">
                          <a:solidFill>
                            <a:srgbClr val="1F2937"/>
                          </a:solidFill>
                        </a:rPr>
                        <a:t>Vazodilatatsiya, O2 sarfi oshadi</a:t>
                      </a:r>
                    </a:p>
                  </a:txBody>
                  <a:tcPr marL="73152" marR="73152" marT="36576" marB="36576">
                    <a:solidFill>
                      <a:srgbClr val="FFFFFF"/>
                    </a:solidFill>
                  </a:tcPr>
                </a:tc>
                <a:tc>
                  <a:txBody>
                    <a:bodyPr/>
                    <a:lstStyle/>
                    <a:p>
                      <a:r>
                        <a:rPr sz="1200" b="0">
                          <a:solidFill>
                            <a:srgbClr val="1F2937"/>
                          </a:solidFill>
                        </a:rPr>
                        <a:t>Asoratsiz: bir necha kun</a:t>
                      </a:r>
                    </a:p>
                  </a:txBody>
                  <a:tcPr marL="73152" marR="73152" marT="36576" marB="36576">
                    <a:solidFill>
                      <a:srgbClr val="FFFFFF"/>
                    </a:solidFill>
                  </a:tcPr>
                </a:tc>
              </a:tr>
              <a:tr h="411480">
                <a:tc>
                  <a:txBody>
                    <a:bodyPr/>
                    <a:lstStyle/>
                    <a:p>
                      <a:r>
                        <a:rPr sz="1200" b="0">
                          <a:solidFill>
                            <a:srgbClr val="1F2937"/>
                          </a:solidFill>
                        </a:rPr>
                        <a:t>Gipometabolizm</a:t>
                      </a:r>
                    </a:p>
                  </a:txBody>
                  <a:tcPr marL="73152" marR="73152" marT="36576" marB="36576">
                    <a:solidFill>
                      <a:srgbClr val="E8EEF6"/>
                    </a:solidFill>
                  </a:tcPr>
                </a:tc>
                <a:tc>
                  <a:txBody>
                    <a:bodyPr/>
                    <a:lstStyle/>
                    <a:p>
                      <a:r>
                        <a:rPr sz="1200" b="0">
                          <a:solidFill>
                            <a:srgbClr val="1F2937"/>
                          </a:solidFill>
                        </a:rPr>
                        <a:t>Metabolizm sur‘ati pasayadi</a:t>
                      </a:r>
                    </a:p>
                  </a:txBody>
                  <a:tcPr marL="73152" marR="73152" marT="36576" marB="36576">
                    <a:solidFill>
                      <a:srgbClr val="E8EEF6"/>
                    </a:solidFill>
                  </a:tcPr>
                </a:tc>
                <a:tc>
                  <a:txBody>
                    <a:bodyPr/>
                    <a:lstStyle/>
                    <a:p>
                      <a:r>
                        <a:rPr sz="1200" b="0">
                          <a:solidFill>
                            <a:srgbClr val="1F2937"/>
                          </a:solidFill>
                        </a:rPr>
                        <a:t>Bir necha soatdan 24 soatgacha</a:t>
                      </a:r>
                    </a:p>
                  </a:txBody>
                  <a:tcPr marL="73152" marR="73152" marT="36576" marB="36576">
                    <a:solidFill>
                      <a:srgbClr val="E8EEF6"/>
                    </a:solidFill>
                  </a:tcPr>
                </a:tc>
              </a:tr>
              <a:tr h="411480">
                <a:tc>
                  <a:txBody>
                    <a:bodyPr/>
                    <a:lstStyle/>
                    <a:p>
                      <a:r>
                        <a:rPr sz="1200" b="0">
                          <a:solidFill>
                            <a:srgbClr val="1F2937"/>
                          </a:solidFill>
                        </a:rPr>
                        <a:t>Giper-katabolik</a:t>
                      </a:r>
                    </a:p>
                  </a:txBody>
                  <a:tcPr marL="73152" marR="73152" marT="36576" marB="36576">
                    <a:solidFill>
                      <a:srgbClr val="FFFFFF"/>
                    </a:solidFill>
                  </a:tcPr>
                </a:tc>
                <a:tc>
                  <a:txBody>
                    <a:bodyPr/>
                    <a:lstStyle/>
                    <a:p>
                      <a:r>
                        <a:rPr sz="1200" b="0">
                          <a:solidFill>
                            <a:srgbClr val="1F2937"/>
                          </a:solidFill>
                        </a:rPr>
                        <a:t>Katabolizm, giperglikemiya</a:t>
                      </a:r>
                    </a:p>
                  </a:txBody>
                  <a:tcPr marL="73152" marR="73152" marT="36576" marB="36576">
                    <a:solidFill>
                      <a:srgbClr val="FFFFFF"/>
                    </a:solidFill>
                  </a:tcPr>
                </a:tc>
                <a:tc>
                  <a:txBody>
                    <a:bodyPr/>
                    <a:lstStyle/>
                    <a:p>
                      <a:r>
                        <a:rPr sz="1200" b="0">
                          <a:solidFill>
                            <a:srgbClr val="1F2937"/>
                          </a:solidFill>
                        </a:rPr>
                        <a:t>Odatda bir haftadan kam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Travma davrlari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Shok fazasi: gemodinamik o‘zgarishlar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Dastlabki shok fazasida qon ketishi gipovolemiyaga olib keladi va kuchli periferik vazokonstriksiya rivojlanadi.</a:t>
            </a:r>
          </a:p>
          <a:p>
            <a:pPr>
              <a:spcAft>
                <a:spcPts val="1200"/>
              </a:spcAft>
            </a:pPr>
            <a:r>
              <a:rPr sz="2200">
                <a:solidFill>
                  <a:srgbClr val="1F2937"/>
                </a:solidFill>
                <a:latin typeface="Calibri"/>
              </a:rPr>
              <a:t>▸  Organizm natriy xlorid va suvni ushlab qoladi; qon periferiyadan markaziy hayotiy a’zolarga o‘tadi.</a:t>
            </a:r>
          </a:p>
          <a:p>
            <a:pPr>
              <a:spcAft>
                <a:spcPts val="1200"/>
              </a:spcAft>
            </a:pPr>
            <a:r>
              <a:rPr sz="2200">
                <a:solidFill>
                  <a:srgbClr val="1F2937"/>
                </a:solidFill>
                <a:latin typeface="Calibri"/>
              </a:rPr>
              <a:t>▸  Reanimatsiya qilinmagan jabrlanuvchida shok fazasi taxminan bir kun davom etgan. Hozir erta infuzion terapiya va qon quyish uni qisqartiradi.</a:t>
            </a:r>
          </a:p>
          <a:p>
            <a:pPr>
              <a:spcAft>
                <a:spcPts val="1200"/>
              </a:spcAft>
            </a:pPr>
            <a:r>
              <a:rPr sz="2200">
                <a:solidFill>
                  <a:srgbClr val="1F2937"/>
                </a:solidFill>
                <a:latin typeface="Calibri"/>
              </a:rPr>
              <a:t>▸  Diqqat: ko‘pchilik anesteziya vositalari vazodilatatsiya chaqiradi va shok fazasidagi hayotiy muhim vazokonstriksiyaga qarshi ishlaydi.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Oqim (flow) fazasi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Reanimatsiyadan so‘ng vazodilatatsiya bo‘ladi: qon oqimi mushak va jarohatlangan to‘qimaga ham ortadi.</a:t>
            </a:r>
          </a:p>
          <a:p>
            <a:pPr>
              <a:spcAft>
                <a:spcPts val="800"/>
              </a:spcAft>
            </a:pPr>
            <a:r>
              <a:rPr sz="1800">
                <a:solidFill>
                  <a:srgbClr val="1F2937"/>
                </a:solidFill>
                <a:latin typeface="Calibri"/>
              </a:rPr>
              <a:t>▸  Kislorod sarfi va CO2 hosil bo‘lishi ortadi; tana taxikardiya va nafas tezlashuvi bilan javob beradi.</a:t>
            </a:r>
          </a:p>
          <a:p>
            <a:pPr>
              <a:spcAft>
                <a:spcPts val="800"/>
              </a:spcAft>
            </a:pPr>
            <a:r>
              <a:rPr sz="1800">
                <a:solidFill>
                  <a:srgbClr val="1F2937"/>
                </a:solidFill>
                <a:latin typeface="Calibri"/>
              </a:rPr>
              <a:t>▸  Diqqat: asoratsiz holda bir necha kun; taxikardiya, harorat 4-5 kunda normallashmasa — asorat shubhasi.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Suyuqlik bilan reanimatsiya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Vazodilatatsiya, oqim ortadi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O2 sarfi va CO2 ortadi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Taxikardiya, nafas tezlashuvi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4-5 kunda normal emas: asorat?</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Oqim fazasi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Metabolik davrlar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Og‘ir travmadan so‘ng metabolizm avval bir necha soatdan 24 soatgacha pasayadi.</a:t>
            </a:r>
          </a:p>
          <a:p>
            <a:pPr>
              <a:spcAft>
                <a:spcPts val="800"/>
              </a:spcAft>
            </a:pPr>
            <a:r>
              <a:rPr sz="1800">
                <a:solidFill>
                  <a:srgbClr val="1F2937"/>
                </a:solidFill>
                <a:latin typeface="Calibri"/>
              </a:rPr>
              <a:t>▸  Keyin gipermetabolik-katabolik faza: to‘qimalar parchalanadi, glyukoneogenez giperglikemiya beradi.</a:t>
            </a:r>
          </a:p>
          <a:p>
            <a:pPr>
              <a:spcAft>
                <a:spcPts val="800"/>
              </a:spcAft>
            </a:pPr>
            <a:r>
              <a:rPr sz="1800">
                <a:solidFill>
                  <a:srgbClr val="1F2937"/>
                </a:solidFill>
                <a:latin typeface="Calibri"/>
              </a:rPr>
              <a:t>▸  Faza 1-2 haftadan oshsa — tizimli yallig‘lanish javobi sindromi (SIRS), infeksiya, sepsis shubhasi.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425970"/>
                <a:gridCol w="1960709"/>
                <a:gridCol w="1901294"/>
              </a:tblGrid>
              <a:tr h="411480">
                <a:tc>
                  <a:txBody>
                    <a:bodyPr/>
                    <a:lstStyle/>
                    <a:p>
                      <a:r>
                        <a:rPr sz="1300" b="1">
                          <a:solidFill>
                            <a:srgbClr val="FFFFFF"/>
                          </a:solidFill>
                        </a:rPr>
                        <a:t>Davr</a:t>
                      </a:r>
                    </a:p>
                  </a:txBody>
                  <a:tcPr marL="73152" marR="73152" marT="36576" marB="36576">
                    <a:solidFill>
                      <a:srgbClr val="0B1F3A"/>
                    </a:solidFill>
                  </a:tcPr>
                </a:tc>
                <a:tc>
                  <a:txBody>
                    <a:bodyPr/>
                    <a:lstStyle/>
                    <a:p>
                      <a:r>
                        <a:rPr sz="1300" b="1">
                          <a:solidFill>
                            <a:srgbClr val="FFFFFF"/>
                          </a:solidFill>
                        </a:rPr>
                        <a:t>Muddat</a:t>
                      </a:r>
                    </a:p>
                  </a:txBody>
                  <a:tcPr marL="73152" marR="73152" marT="36576" marB="36576">
                    <a:solidFill>
                      <a:srgbClr val="0B1F3A"/>
                    </a:solidFill>
                  </a:tcPr>
                </a:tc>
                <a:tc>
                  <a:txBody>
                    <a:bodyPr/>
                    <a:lstStyle/>
                    <a:p>
                      <a:r>
                        <a:rPr sz="1300" b="1">
                          <a:solidFill>
                            <a:srgbClr val="FFFFFF"/>
                          </a:solidFill>
                        </a:rPr>
                        <a:t>O‘zgarish</a:t>
                      </a:r>
                    </a:p>
                  </a:txBody>
                  <a:tcPr marL="73152" marR="73152" marT="36576" marB="36576">
                    <a:solidFill>
                      <a:srgbClr val="0B1F3A"/>
                    </a:solidFill>
                  </a:tcPr>
                </a:tc>
              </a:tr>
              <a:tr h="411480">
                <a:tc>
                  <a:txBody>
                    <a:bodyPr/>
                    <a:lstStyle/>
                    <a:p>
                      <a:r>
                        <a:rPr sz="1200" b="0">
                          <a:solidFill>
                            <a:srgbClr val="1F2937"/>
                          </a:solidFill>
                        </a:rPr>
                        <a:t>Dastlabki pasayish</a:t>
                      </a:r>
                    </a:p>
                  </a:txBody>
                  <a:tcPr marL="73152" marR="73152" marT="36576" marB="36576">
                    <a:solidFill>
                      <a:srgbClr val="E8EEF6"/>
                    </a:solidFill>
                  </a:tcPr>
                </a:tc>
                <a:tc>
                  <a:txBody>
                    <a:bodyPr/>
                    <a:lstStyle/>
                    <a:p>
                      <a:r>
                        <a:rPr sz="1200" b="0">
                          <a:solidFill>
                            <a:srgbClr val="1F2937"/>
                          </a:solidFill>
                        </a:rPr>
                        <a:t>Bir necha soatdan 24 soatgacha</a:t>
                      </a:r>
                    </a:p>
                  </a:txBody>
                  <a:tcPr marL="73152" marR="73152" marT="36576" marB="36576">
                    <a:solidFill>
                      <a:srgbClr val="E8EEF6"/>
                    </a:solidFill>
                  </a:tcPr>
                </a:tc>
                <a:tc>
                  <a:txBody>
                    <a:bodyPr/>
                    <a:lstStyle/>
                    <a:p>
                      <a:r>
                        <a:rPr sz="1200" b="0">
                          <a:solidFill>
                            <a:srgbClr val="1F2937"/>
                          </a:solidFill>
                        </a:rPr>
                        <a:t>Metabolizm tezligi kamayadi</a:t>
                      </a:r>
                    </a:p>
                  </a:txBody>
                  <a:tcPr marL="73152" marR="73152" marT="36576" marB="36576">
                    <a:solidFill>
                      <a:srgbClr val="E8EEF6"/>
                    </a:solidFill>
                  </a:tcPr>
                </a:tc>
              </a:tr>
              <a:tr h="411480">
                <a:tc>
                  <a:txBody>
                    <a:bodyPr/>
                    <a:lstStyle/>
                    <a:p>
                      <a:r>
                        <a:rPr sz="1200" b="0">
                          <a:solidFill>
                            <a:srgbClr val="1F2937"/>
                          </a:solidFill>
                        </a:rPr>
                        <a:t>Gipermetabolik-katabolik</a:t>
                      </a:r>
                    </a:p>
                  </a:txBody>
                  <a:tcPr marL="73152" marR="73152" marT="36576" marB="36576">
                    <a:solidFill>
                      <a:srgbClr val="FFFFFF"/>
                    </a:solidFill>
                  </a:tcPr>
                </a:tc>
                <a:tc>
                  <a:txBody>
                    <a:bodyPr/>
                    <a:lstStyle/>
                    <a:p>
                      <a:r>
                        <a:rPr sz="1200" b="0">
                          <a:solidFill>
                            <a:srgbClr val="1F2937"/>
                          </a:solidFill>
                        </a:rPr>
                        <a:t>Asoratsizda odatda 1 haftadan kam</a:t>
                      </a:r>
                    </a:p>
                  </a:txBody>
                  <a:tcPr marL="73152" marR="73152" marT="36576" marB="36576">
                    <a:solidFill>
                      <a:srgbClr val="FFFFFF"/>
                    </a:solidFill>
                  </a:tcPr>
                </a:tc>
                <a:tc>
                  <a:txBody>
                    <a:bodyPr/>
                    <a:lstStyle/>
                    <a:p>
                      <a:r>
                        <a:rPr sz="1200" b="0">
                          <a:solidFill>
                            <a:srgbClr val="1F2937"/>
                          </a:solidFill>
                        </a:rPr>
                        <a:t>Suyak, mushak, yog‘ katabolizmi</a:t>
                      </a:r>
                    </a:p>
                  </a:txBody>
                  <a:tcPr marL="73152" marR="73152" marT="36576" marB="36576">
                    <a:solidFill>
                      <a:srgbClr val="FFFFFF"/>
                    </a:solidFill>
                  </a:tcPr>
                </a:tc>
              </a:tr>
              <a:tr h="411480">
                <a:tc>
                  <a:txBody>
                    <a:bodyPr/>
                    <a:lstStyle/>
                    <a:p>
                      <a:r>
                        <a:rPr sz="1200" b="0">
                          <a:solidFill>
                            <a:srgbClr val="1F2937"/>
                          </a:solidFill>
                        </a:rPr>
                        <a:t>Glyukoneogenez</a:t>
                      </a:r>
                    </a:p>
                  </a:txBody>
                  <a:tcPr marL="73152" marR="73152" marT="36576" marB="36576">
                    <a:solidFill>
                      <a:srgbClr val="E8EEF6"/>
                    </a:solidFill>
                  </a:tcPr>
                </a:tc>
                <a:tc>
                  <a:txBody>
                    <a:bodyPr/>
                    <a:lstStyle/>
                    <a:p>
                      <a:r>
                        <a:rPr sz="1200" b="0">
                          <a:solidFill>
                            <a:srgbClr val="1F2937"/>
                          </a:solidFill>
                        </a:rPr>
                        <a:t>Gipermetabolik faza bilan birga</a:t>
                      </a:r>
                    </a:p>
                  </a:txBody>
                  <a:tcPr marL="73152" marR="73152" marT="36576" marB="36576">
                    <a:solidFill>
                      <a:srgbClr val="E8EEF6"/>
                    </a:solidFill>
                  </a:tcPr>
                </a:tc>
                <a:tc>
                  <a:txBody>
                    <a:bodyPr/>
                    <a:lstStyle/>
                    <a:p>
                      <a:r>
                        <a:rPr sz="1200" b="0">
                          <a:solidFill>
                            <a:srgbClr val="1F2937"/>
                          </a:solidFill>
                        </a:rPr>
                        <a:t>Giperglikemiya, O2 talabi ortadi</a:t>
                      </a:r>
                    </a:p>
                  </a:txBody>
                  <a:tcPr marL="73152" marR="73152" marT="36576" marB="36576">
                    <a:solidFill>
                      <a:srgbClr val="E8EEF6"/>
                    </a:solidFill>
                  </a:tcPr>
                </a:tc>
              </a:tr>
              <a:tr h="411480">
                <a:tc>
                  <a:txBody>
                    <a:bodyPr/>
                    <a:lstStyle/>
                    <a:p>
                      <a:r>
                        <a:rPr sz="1200" b="0">
                          <a:solidFill>
                            <a:srgbClr val="1F2937"/>
                          </a:solidFill>
                        </a:rPr>
                        <a:t>Cho‘zilgan faza</a:t>
                      </a:r>
                    </a:p>
                  </a:txBody>
                  <a:tcPr marL="73152" marR="73152" marT="36576" marB="36576">
                    <a:solidFill>
                      <a:srgbClr val="FFFFFF"/>
                    </a:solidFill>
                  </a:tcPr>
                </a:tc>
                <a:tc>
                  <a:txBody>
                    <a:bodyPr/>
                    <a:lstStyle/>
                    <a:p>
                      <a:r>
                        <a:rPr sz="1200" b="0">
                          <a:solidFill>
                            <a:srgbClr val="1F2937"/>
                          </a:solidFill>
                        </a:rPr>
                        <a:t>1-2 haftadan uzoq</a:t>
                      </a:r>
                    </a:p>
                  </a:txBody>
                  <a:tcPr marL="73152" marR="73152" marT="36576" marB="36576">
                    <a:solidFill>
                      <a:srgbClr val="FFFFFF"/>
                    </a:solidFill>
                  </a:tcPr>
                </a:tc>
                <a:tc>
                  <a:txBody>
                    <a:bodyPr/>
                    <a:lstStyle/>
                    <a:p>
                      <a:r>
                        <a:rPr sz="1200" b="0">
                          <a:solidFill>
                            <a:srgbClr val="1F2937"/>
                          </a:solidFill>
                        </a:rPr>
                        <a:t>Og‘ir SIRS, sepsis shubhasi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Metabolik davrlar solishtiruvi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Immun javob davrlari: SIRS dan CARS gacha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Zarar molekulalari (DAMP) ajralib, steril tizimli yallig‘lanish sindromini (SIRS) boshlaydi.</a:t>
            </a:r>
          </a:p>
          <a:p>
            <a:pPr>
              <a:spcAft>
                <a:spcPts val="800"/>
              </a:spcAft>
            </a:pPr>
            <a:r>
              <a:rPr sz="1800">
                <a:solidFill>
                  <a:srgbClr val="1F2937"/>
                </a:solidFill>
                <a:latin typeface="Calibri"/>
              </a:rPr>
              <a:t>▸  Dastlabki proyallig‘lanish tez orada kompensator yallig‘lanishga qarshi javob (CARS) bilan muvozanatlanadi.</a:t>
            </a:r>
          </a:p>
          <a:p>
            <a:pPr>
              <a:spcAft>
                <a:spcPts val="800"/>
              </a:spcAft>
            </a:pPr>
            <a:r>
              <a:rPr sz="1800">
                <a:solidFill>
                  <a:srgbClr val="1F2937"/>
                </a:solidFill>
                <a:latin typeface="Calibri"/>
              </a:rPr>
              <a:t>▸  Travmadan 5-15 kun o‘tib CARS immunosupressiya va kasalxona infeksiyasi xavfini oshiradi.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Travma: DAMP ajralishi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Erta proyallig‘lanish (SIRS)</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Kompensator javob (CARS)</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Immunosupressiya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Kasalxona infeksiyasi xavfi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SIRS dan CARS gacha</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Vourc'h et al., Trauma-Induced Damage-Associated Molecular Patterns-Mediated Remote Organ Injury and Immunosuppression in the Acutely Ill Patient, betlar: PMID 29963048; Brøchner et al., Pathophysiology of the systemic inflammatory response after major accidental trauma, betlar: PMID 19754938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cho‘qqilari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Travmadan keyingi o‘limda uchta cho‘qqi bor: birinchi soat ichida, keyingi 24 soatda, kunlar–haftalardan keyin.</a:t>
            </a:r>
          </a:p>
          <a:p>
            <a:pPr>
              <a:spcAft>
                <a:spcPts val="800"/>
              </a:spcAft>
            </a:pPr>
            <a:r>
              <a:rPr sz="1800">
                <a:solidFill>
                  <a:srgbClr val="1F2937"/>
                </a:solidFill>
                <a:latin typeface="Calibri"/>
              </a:rPr>
              <a:t>▸  24 soatlik cho‘qqida qon ketishidan kelib chiqqan shok (gemorragik shok) o‘limga katta hissa qo‘shadi.</a:t>
            </a:r>
          </a:p>
          <a:p>
            <a:pPr>
              <a:spcAft>
                <a:spcPts val="800"/>
              </a:spcAft>
            </a:pPr>
            <a:r>
              <a:rPr sz="1800">
                <a:solidFill>
                  <a:srgbClr val="1F2937"/>
                </a:solidFill>
                <a:latin typeface="Calibri"/>
              </a:rPr>
              <a:t>▸  SIRS — sistemali yallig‘lanish javob sindromi; MODS — ko‘p a’zo disfunksiyasi sindromi.</a:t>
            </a:r>
          </a:p>
        </p:txBody>
      </p:sp>
      <p:sp>
        <p:nvSpPr>
          <p:cNvPr id="9" name="Rounded Rectangle 8"/>
          <p:cNvSpPr/>
          <p:nvPr/>
        </p:nvSpPr>
        <p:spPr>
          <a:xfrm>
            <a:off x="6263640" y="1463040"/>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birinchi soat ichida</a:t>
            </a:r>
          </a:p>
        </p:txBody>
      </p:sp>
      <p:sp>
        <p:nvSpPr>
          <p:cNvPr id="10" name="Down Arrow 9"/>
          <p:cNvSpPr/>
          <p:nvPr/>
        </p:nvSpPr>
        <p:spPr>
          <a:xfrm>
            <a:off x="8770467" y="2258568"/>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532888"/>
            <a:ext cx="5287975" cy="777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24 soat, gemorragik shok</a:t>
            </a:r>
          </a:p>
        </p:txBody>
      </p:sp>
      <p:sp>
        <p:nvSpPr>
          <p:cNvPr id="12" name="Down Arrow 11"/>
          <p:cNvSpPr/>
          <p:nvPr/>
        </p:nvSpPr>
        <p:spPr>
          <a:xfrm>
            <a:off x="8770467" y="332841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602736"/>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kunlar–haftalar, SIRS/MODS</a:t>
            </a:r>
          </a:p>
        </p:txBody>
      </p:sp>
      <p:sp>
        <p:nvSpPr>
          <p:cNvPr id="14" name="TextBox 13"/>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o‘lim cho‘qqisi</a:t>
            </a:r>
          </a:p>
        </p:txBody>
      </p:sp>
      <p:sp>
        <p:nvSpPr>
          <p:cNvPr id="15" name="TextBox 14"/>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Normallashish muddatlari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Odatda immun javob 2-kunda cho‘qqiga chiqib, 6–7 kunda asliga qaytadi deyiladi.</a:t>
            </a:r>
          </a:p>
          <a:p>
            <a:pPr>
              <a:spcAft>
                <a:spcPts val="800"/>
              </a:spcAft>
            </a:pPr>
            <a:r>
              <a:rPr sz="1800">
                <a:solidFill>
                  <a:srgbClr val="1F2937"/>
                </a:solidFill>
                <a:latin typeface="Calibri"/>
              </a:rPr>
              <a:t>▸  Aslida javob uzoqroq davom etadi: neytrofillar apoptozining pasayishi 3 hafta saqlanadi.</a:t>
            </a:r>
          </a:p>
          <a:p>
            <a:pPr>
              <a:spcAft>
                <a:spcPts val="800"/>
              </a:spcAft>
            </a:pPr>
            <a:r>
              <a:rPr sz="1800">
                <a:solidFill>
                  <a:srgbClr val="1F2937"/>
                </a:solidFill>
                <a:latin typeface="Calibri"/>
              </a:rPr>
              <a:t>▸  3 haftagacha kutish g‘oyasi randomizatsiyalangan nazorat sinovlariga asoslanmagan.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156937"/>
                <a:gridCol w="1182836"/>
                <a:gridCol w="1948201"/>
              </a:tblGrid>
              <a:tr h="411480">
                <a:tc>
                  <a:txBody>
                    <a:bodyPr/>
                    <a:lstStyle/>
                    <a:p>
                      <a:r>
                        <a:rPr sz="1300" b="1">
                          <a:solidFill>
                            <a:srgbClr val="FFFFFF"/>
                          </a:solidFill>
                        </a:rPr>
                        <a:t>Ko‘rsatkich</a:t>
                      </a:r>
                    </a:p>
                  </a:txBody>
                  <a:tcPr marL="73152" marR="73152" marT="36576" marB="36576">
                    <a:solidFill>
                      <a:srgbClr val="0B1F3A"/>
                    </a:solidFill>
                  </a:tcPr>
                </a:tc>
                <a:tc>
                  <a:txBody>
                    <a:bodyPr/>
                    <a:lstStyle/>
                    <a:p>
                      <a:r>
                        <a:rPr sz="1300" b="1">
                          <a:solidFill>
                            <a:srgbClr val="FFFFFF"/>
                          </a:solidFill>
                        </a:rPr>
                        <a:t>Cho‘qqi</a:t>
                      </a:r>
                    </a:p>
                  </a:txBody>
                  <a:tcPr marL="73152" marR="73152" marT="36576" marB="36576">
                    <a:solidFill>
                      <a:srgbClr val="0B1F3A"/>
                    </a:solidFill>
                  </a:tcPr>
                </a:tc>
                <a:tc>
                  <a:txBody>
                    <a:bodyPr/>
                    <a:lstStyle/>
                    <a:p>
                      <a:r>
                        <a:rPr sz="1300" b="1">
                          <a:solidFill>
                            <a:srgbClr val="FFFFFF"/>
                          </a:solidFill>
                        </a:rPr>
                        <a:t>Normallashuv</a:t>
                      </a:r>
                    </a:p>
                  </a:txBody>
                  <a:tcPr marL="73152" marR="73152" marT="36576" marB="36576">
                    <a:solidFill>
                      <a:srgbClr val="0B1F3A"/>
                    </a:solidFill>
                  </a:tcPr>
                </a:tc>
              </a:tr>
              <a:tr h="411480">
                <a:tc>
                  <a:txBody>
                    <a:bodyPr/>
                    <a:lstStyle/>
                    <a:p>
                      <a:r>
                        <a:rPr sz="1200" b="0">
                          <a:solidFill>
                            <a:srgbClr val="1F2937"/>
                          </a:solidFill>
                        </a:rPr>
                        <a:t>Neytrofil oksidlovchi portlashi</a:t>
                      </a:r>
                    </a:p>
                  </a:txBody>
                  <a:tcPr marL="73152" marR="73152" marT="36576" marB="36576">
                    <a:solidFill>
                      <a:srgbClr val="E8EEF6"/>
                    </a:solidFill>
                  </a:tcPr>
                </a:tc>
                <a:tc>
                  <a:txBody>
                    <a:bodyPr/>
                    <a:lstStyle/>
                    <a:p>
                      <a:r>
                        <a:rPr sz="1200" b="0">
                          <a:solidFill>
                            <a:srgbClr val="1F2937"/>
                          </a:solidFill>
                        </a:rPr>
                        <a:t>6-soatda maksimal</a:t>
                      </a:r>
                    </a:p>
                  </a:txBody>
                  <a:tcPr marL="73152" marR="73152" marT="36576" marB="36576">
                    <a:solidFill>
                      <a:srgbClr val="E8EEF6"/>
                    </a:solidFill>
                  </a:tcPr>
                </a:tc>
                <a:tc>
                  <a:txBody>
                    <a:bodyPr/>
                    <a:lstStyle/>
                    <a:p>
                      <a:r>
                        <a:rPr sz="1200" b="0">
                          <a:solidFill>
                            <a:srgbClr val="1F2937"/>
                          </a:solidFill>
                        </a:rPr>
                        <a:t>2 haftadan keyin</a:t>
                      </a:r>
                    </a:p>
                  </a:txBody>
                  <a:tcPr marL="73152" marR="73152" marT="36576" marB="36576">
                    <a:solidFill>
                      <a:srgbClr val="E8EEF6"/>
                    </a:solidFill>
                  </a:tcPr>
                </a:tc>
              </a:tr>
              <a:tr h="411480">
                <a:tc>
                  <a:txBody>
                    <a:bodyPr/>
                    <a:lstStyle/>
                    <a:p>
                      <a:r>
                        <a:rPr sz="1200" b="0">
                          <a:solidFill>
                            <a:srgbClr val="1F2937"/>
                          </a:solidFill>
                        </a:rPr>
                        <a:t>MHCII (monotsitlarda)</a:t>
                      </a:r>
                    </a:p>
                  </a:txBody>
                  <a:tcPr marL="73152" marR="73152" marT="36576" marB="36576">
                    <a:solidFill>
                      <a:srgbClr val="FFFFFF"/>
                    </a:solidFill>
                  </a:tcPr>
                </a:tc>
                <a:tc>
                  <a:txBody>
                    <a:bodyPr/>
                    <a:lstStyle/>
                    <a:p>
                      <a:r>
                        <a:rPr sz="1200" b="0">
                          <a:solidFill>
                            <a:srgbClr val="1F2937"/>
                          </a:solidFill>
                        </a:rPr>
                        <a:t>Ifodasi pasayadi</a:t>
                      </a:r>
                    </a:p>
                  </a:txBody>
                  <a:tcPr marL="73152" marR="73152" marT="36576" marB="36576">
                    <a:solidFill>
                      <a:srgbClr val="FFFFFF"/>
                    </a:solidFill>
                  </a:tcPr>
                </a:tc>
                <a:tc>
                  <a:txBody>
                    <a:bodyPr/>
                    <a:lstStyle/>
                    <a:p>
                      <a:r>
                        <a:rPr sz="1200" b="0">
                          <a:solidFill>
                            <a:srgbClr val="1F2937"/>
                          </a:solidFill>
                        </a:rPr>
                        <a:t>Odatda 1 hafta ichida</a:t>
                      </a:r>
                    </a:p>
                  </a:txBody>
                  <a:tcPr marL="73152" marR="73152" marT="36576" marB="36576">
                    <a:solidFill>
                      <a:srgbClr val="FFFFFF"/>
                    </a:solidFill>
                  </a:tcPr>
                </a:tc>
              </a:tr>
              <a:tr h="411480">
                <a:tc>
                  <a:txBody>
                    <a:bodyPr/>
                    <a:lstStyle/>
                    <a:p>
                      <a:r>
                        <a:rPr sz="1200" b="0">
                          <a:solidFill>
                            <a:srgbClr val="1F2937"/>
                          </a:solidFill>
                        </a:rPr>
                        <a:t>Adgeziya molekulasi CD11/CD18</a:t>
                      </a:r>
                    </a:p>
                  </a:txBody>
                  <a:tcPr marL="73152" marR="73152" marT="36576" marB="36576">
                    <a:solidFill>
                      <a:srgbClr val="E8EEF6"/>
                    </a:solidFill>
                  </a:tcPr>
                </a:tc>
                <a:tc>
                  <a:txBody>
                    <a:bodyPr/>
                    <a:lstStyle/>
                    <a:p>
                      <a:r>
                        <a:rPr sz="1200" b="0">
                          <a:solidFill>
                            <a:srgbClr val="1F2937"/>
                          </a:solidFill>
                        </a:rPr>
                        <a:t>Dastlabki 24 soat</a:t>
                      </a:r>
                    </a:p>
                  </a:txBody>
                  <a:tcPr marL="73152" marR="73152" marT="36576" marB="36576">
                    <a:solidFill>
                      <a:srgbClr val="E8EEF6"/>
                    </a:solidFill>
                  </a:tcPr>
                </a:tc>
                <a:tc>
                  <a:txBody>
                    <a:bodyPr/>
                    <a:lstStyle/>
                    <a:p>
                      <a:r>
                        <a:rPr sz="1200" b="0">
                          <a:solidFill>
                            <a:srgbClr val="1F2937"/>
                          </a:solidFill>
                        </a:rPr>
                        <a:t>3 hafta keyin</a:t>
                      </a:r>
                    </a:p>
                  </a:txBody>
                  <a:tcPr marL="73152" marR="73152" marT="36576" marB="36576">
                    <a:solidFill>
                      <a:srgbClr val="E8EEF6"/>
                    </a:solidFill>
                  </a:tcPr>
                </a:tc>
              </a:tr>
              <a:tr h="411480">
                <a:tc>
                  <a:txBody>
                    <a:bodyPr/>
                    <a:lstStyle/>
                    <a:p>
                      <a:r>
                        <a:rPr sz="1200" b="0">
                          <a:solidFill>
                            <a:srgbClr val="1F2937"/>
                          </a:solidFill>
                        </a:rPr>
                        <a:t>Neytrofil apoptozi</a:t>
                      </a:r>
                    </a:p>
                  </a:txBody>
                  <a:tcPr marL="73152" marR="73152" marT="36576" marB="36576">
                    <a:solidFill>
                      <a:srgbClr val="FFFFFF"/>
                    </a:solidFill>
                  </a:tcPr>
                </a:tc>
                <a:tc>
                  <a:txBody>
                    <a:bodyPr/>
                    <a:lstStyle/>
                    <a:p>
                      <a:r>
                        <a:rPr sz="1200" b="0">
                          <a:solidFill>
                            <a:srgbClr val="1F2937"/>
                          </a:solidFill>
                        </a:rPr>
                        <a:t>Pasayadi</a:t>
                      </a:r>
                    </a:p>
                  </a:txBody>
                  <a:tcPr marL="73152" marR="73152" marT="36576" marB="36576">
                    <a:solidFill>
                      <a:srgbClr val="FFFFFF"/>
                    </a:solidFill>
                  </a:tcPr>
                </a:tc>
                <a:tc>
                  <a:txBody>
                    <a:bodyPr/>
                    <a:lstStyle/>
                    <a:p>
                      <a:r>
                        <a:rPr sz="1200" b="0">
                          <a:solidFill>
                            <a:srgbClr val="1F2937"/>
                          </a:solidFill>
                        </a:rPr>
                        <a:t>Pasayish 3 hafta davom etadi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Ko‘rsatkichlar muddati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5-kunda ham taxikardiya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og‘ir travmadan 5 kun o‘tgan, bemorda taxikardiya, tezlashgan nafas, leykotsitoz va yuqori harorat saqlanmoqda.</a:t>
            </a:r>
          </a:p>
          <a:p>
            <a:pPr>
              <a:spcAft>
                <a:spcPts val="1200"/>
              </a:spcAft>
            </a:pPr>
            <a:r>
              <a:rPr sz="2200">
                <a:solidFill>
                  <a:srgbClr val="1F2937"/>
                </a:solidFill>
                <a:latin typeface="Calibri"/>
              </a:rPr>
              <a:t>▸  Asoratsiz bemorda oqim fazasi (gipermetabolik faza) belgilari faqat bir necha kun davom etadi.</a:t>
            </a:r>
          </a:p>
          <a:p>
            <a:pPr>
              <a:spcAft>
                <a:spcPts val="1200"/>
              </a:spcAft>
            </a:pPr>
            <a:r>
              <a:rPr sz="2200">
                <a:solidFill>
                  <a:srgbClr val="1F2937"/>
                </a:solidFill>
                <a:latin typeface="Calibri"/>
              </a:rPr>
              <a:t>▸  Bu belgilar 4–5 kunda normallashmasa, asoratlar bo‘lishi mumkinligini o‘ylash kerak.</a:t>
            </a:r>
          </a:p>
          <a:p>
            <a:pPr>
              <a:spcAft>
                <a:spcPts val="1200"/>
              </a:spcAft>
            </a:pPr>
            <a:r>
              <a:rPr sz="2200">
                <a:solidFill>
                  <a:srgbClr val="1F2937"/>
                </a:solidFill>
                <a:latin typeface="Calibri"/>
              </a:rPr>
              <a:t>▸  Savol: yana qaysi belgi infeksiyani ko‘rsatadi? Javob: yallig‘lanish oqsillari va sitokinlarning ikkinchi cho‘qqisi.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 davrlar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Shok fazasi: qon yo‘qotishdan gipovolemiya, periferik vazokonstriksiya, tuz va suv ushlanishi, qonning markaziy organlarga o‘tishi.</a:t>
            </a:r>
          </a:p>
          <a:p>
            <a:pPr>
              <a:spcAft>
                <a:spcPts val="1200"/>
              </a:spcAft>
            </a:pPr>
            <a:r>
              <a:rPr sz="2200">
                <a:solidFill>
                  <a:srgbClr val="1F2937"/>
                </a:solidFill>
                <a:latin typeface="Calibri"/>
              </a:rPr>
              <a:t>▸  Oqim fazasi: suyuqlik berilgach vazodilatatsiya, mushak va jarohatlangan to‘qimaga qon oqimi, kislorod sarfi va CO2 ishlab chiqarilishi ortadi.</a:t>
            </a:r>
          </a:p>
          <a:p>
            <a:pPr>
              <a:spcAft>
                <a:spcPts val="1200"/>
              </a:spcAft>
            </a:pPr>
            <a:r>
              <a:rPr sz="2200">
                <a:solidFill>
                  <a:srgbClr val="1F2937"/>
                </a:solidFill>
                <a:latin typeface="Calibri"/>
              </a:rPr>
              <a:t>▸  Metabolizm: dastlab bir necha soatdan 24 soatgacha pasayadi, so‘ng gipermetabolik va katabolik faza keladi; asoratsiz holda odatda bir haftadan qisqa.</a:t>
            </a:r>
          </a:p>
          <a:p>
            <a:pPr>
              <a:spcAft>
                <a:spcPts val="1200"/>
              </a:spcAft>
            </a:pPr>
            <a:r>
              <a:rPr sz="2200">
                <a:solidFill>
                  <a:srgbClr val="1F2937"/>
                </a:solidFill>
                <a:latin typeface="Calibri"/>
              </a:rPr>
              <a:t>▸  Diqqat: shok ≠ oqim fazasi. Shokda vazokonstriksiya, oqimda vazodilatatsiya; belgilar 4–5 kunda me’yorlashmasa, asorat shubhasi.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 DOI 10.1186/1757-7241-17-43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Asosiy komponentlar: umumiy sxema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Yallig‘lanish javobi gormonal, metabolik va immunologik komponentlardan iborat; kengligi to‘qima shikasti hajmiga mos.</a:t>
            </a:r>
          </a:p>
          <a:p>
            <a:pPr>
              <a:spcAft>
                <a:spcPts val="800"/>
              </a:spcAft>
            </a:pPr>
            <a:r>
              <a:rPr sz="1800">
                <a:solidFill>
                  <a:srgbClr val="1F2937"/>
                </a:solidFill>
                <a:latin typeface="Calibri"/>
              </a:rPr>
              <a:t>▸  Ularga gemodinamik javob qo‘shiladi; u ham metabolik va immun javob kabi ikki fazali.</a:t>
            </a:r>
          </a:p>
          <a:p>
            <a:pPr>
              <a:spcAft>
                <a:spcPts val="800"/>
              </a:spcAft>
            </a:pPr>
            <a:r>
              <a:rPr sz="1800">
                <a:solidFill>
                  <a:srgbClr val="1F2937"/>
                </a:solidFill>
                <a:latin typeface="Calibri"/>
              </a:rPr>
              <a:t>▸  Neyroendokrin stress javobi immunologik javob bilan o‘zaro ta’sirlashadi.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Og‘ir jarohat</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Gormonal javob</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Metabolik va gemodinamik javob</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Immunologik javob</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Pro- va yallig‘lanishga qarshi muvozanat</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Komponentlar o‘zaro bog‘liqligi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 DOI 10.1186/1757-7241-17-43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Gormonal komponent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Jarohatdan keyin stress gormonlari ko‘payadi: adrenalin, kortizol, shuningdek glyukagon, o‘sish gormoni, aldosteron va antidiuretik gormon.</a:t>
            </a:r>
          </a:p>
          <a:p>
            <a:pPr>
              <a:spcAft>
                <a:spcPts val="1200"/>
              </a:spcAft>
            </a:pPr>
            <a:r>
              <a:rPr sz="2200">
                <a:solidFill>
                  <a:srgbClr val="1F2937"/>
                </a:solidFill>
                <a:latin typeface="Calibri"/>
              </a:rPr>
              <a:t>▸  Jarohat joyidan impulslar gipotalamus bo‘shatuvchi gormonlari va gipofizni qo‘zg‘atadi; kortizolni buyrak usti po‘stlog‘i, adrenalinni mag‘iz qavati chiqaradi.</a:t>
            </a:r>
          </a:p>
          <a:p>
            <a:pPr>
              <a:spcAft>
                <a:spcPts val="1200"/>
              </a:spcAft>
            </a:pPr>
            <a:r>
              <a:rPr sz="2200">
                <a:solidFill>
                  <a:srgbClr val="1F2937"/>
                </a:solidFill>
                <a:latin typeface="Calibri"/>
              </a:rPr>
              <a:t>▸  Gormonal javobning kuchi va davomiyligi jarohat hajmiga mos. Hayvonlarda estrogen himoya beradi; odamda ayol jinsi asoratlarni kamaytiradi.</a:t>
            </a:r>
          </a:p>
          <a:p>
            <a:pPr>
              <a:spcAft>
                <a:spcPts val="1200"/>
              </a:spcAft>
            </a:pPr>
            <a:r>
              <a:rPr sz="2200">
                <a:solidFill>
                  <a:srgbClr val="1F2937"/>
                </a:solidFill>
                <a:latin typeface="Calibri"/>
              </a:rPr>
              <a:t>▸  Diqqat: kuzatuv ≠ davo. Estrogen yoki gormon berish odamda natijani yaxshilashi isbotlanmagan.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 DOI 10.1186/1757-7241-17-43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Gemodinamik komponent: mikrosirkulyatsiya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Shikastlangan to‘qimada mikrosirkulyatsiya xavf ostida bo‘ladi: sababi tomirlarning bevosita shikastlanishi yoki tromboz.</a:t>
            </a:r>
          </a:p>
          <a:p>
            <a:pPr>
              <a:spcAft>
                <a:spcPts val="1200"/>
              </a:spcAft>
            </a:pPr>
            <a:r>
              <a:rPr sz="2200">
                <a:solidFill>
                  <a:srgbClr val="1F2937"/>
                </a:solidFill>
                <a:latin typeface="Calibri"/>
              </a:rPr>
              <a:t>▸  To‘qimaning oziq moddalar bilan ta’minlanishi giperglikemiya yaratgan konsentratsiya gradiyentiga bog‘liq bo‘ladi.</a:t>
            </a:r>
          </a:p>
          <a:p>
            <a:pPr>
              <a:spcAft>
                <a:spcPts val="1200"/>
              </a:spcAft>
            </a:pPr>
            <a:r>
              <a:rPr sz="2200">
                <a:solidFill>
                  <a:srgbClr val="1F2937"/>
                </a:solidFill>
                <a:latin typeface="Calibri"/>
              </a:rPr>
              <a:t>▸  Mintaqaviy vazodilatatsiya bilan birga kapillyar sizish va mahalliy shish rivojlanadi.</a:t>
            </a:r>
          </a:p>
          <a:p>
            <a:pPr>
              <a:spcAft>
                <a:spcPts val="1200"/>
              </a:spcAft>
            </a:pPr>
            <a:r>
              <a:rPr sz="2200">
                <a:solidFill>
                  <a:srgbClr val="1F2937"/>
                </a:solidFill>
                <a:latin typeface="Calibri"/>
              </a:rPr>
              <a:t>▸  Qayta tomirlanish 3-7 kun ichida kechadi. Asoratsiz og‘ir travmada bir hafta ichida sizish, giperglikemiya va shish me’yorlashadi.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 gemodinamik javob bo‘limi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Immunologik komponent: mahalliy vositachilar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Mahalliy vositachilar: kininlar, araxidon kislota metabolitlari va to‘qimadagi mast hujayralardan ajraluvchi gistamin.</a:t>
            </a:r>
          </a:p>
          <a:p>
            <a:pPr>
              <a:spcAft>
                <a:spcPts val="1200"/>
              </a:spcAft>
            </a:pPr>
            <a:r>
              <a:rPr sz="2200">
                <a:solidFill>
                  <a:srgbClr val="1F2937"/>
                </a:solidFill>
                <a:latin typeface="Calibri"/>
              </a:rPr>
              <a:t>▸  Ular kapillyar o‘tkazuvchanligini va shishni oshiradi, immun hujayralar infiltratsiyasini rag‘batlantiradi. Ta’siri uzoq, shuning uchun qondagi darajasi kam ahamiyatli.</a:t>
            </a:r>
          </a:p>
          <a:p>
            <a:pPr>
              <a:spcAft>
                <a:spcPts val="1200"/>
              </a:spcAft>
            </a:pPr>
            <a:r>
              <a:rPr sz="2200">
                <a:solidFill>
                  <a:srgbClr val="1F2937"/>
                </a:solidFill>
                <a:latin typeface="Calibri"/>
              </a:rPr>
              <a:t>▸  HMGB1 (yuqori harakatchan guruh oqsili-1) nekrotik hujayradan chiqib, neytrofil va makrofaglarni jalb qiladi, tomir sizishini oshiradi.</a:t>
            </a:r>
          </a:p>
          <a:p>
            <a:pPr>
              <a:spcAft>
                <a:spcPts val="1200"/>
              </a:spcAft>
            </a:pPr>
            <a:r>
              <a:rPr sz="2200">
                <a:solidFill>
                  <a:srgbClr val="1F2937"/>
                </a:solidFill>
                <a:latin typeface="Calibri"/>
              </a:rPr>
              <a:t>▸  Komplement kaskadi uch yo‘l bilan faollanadi va koagulyatsiya bilan bog‘liq: trombin komplementning C5a qismini faollashtiradi.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 immunologik javob bo‘limi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Sitokinlar zanjiri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O‘sma nekrozi omili (TNF-α) va interleykin-1 (IL-1) birinchi chiqadi; yarim yemirilishi 20 va 6 daqiqa.</a:t>
            </a:r>
          </a:p>
          <a:p>
            <a:pPr>
              <a:spcAft>
                <a:spcPts val="800"/>
              </a:spcAft>
            </a:pPr>
            <a:r>
              <a:rPr sz="1800">
                <a:solidFill>
                  <a:srgbClr val="1F2937"/>
                </a:solidFill>
                <a:latin typeface="Calibri"/>
              </a:rPr>
              <a:t>▸  IL-6 bir soatda plazmada paydo bo‘ladi; jigarda C-reaktiv oqsil (CRP) va prokalsitonin sintezini oshiradi.</a:t>
            </a:r>
          </a:p>
          <a:p>
            <a:pPr>
              <a:spcAft>
                <a:spcPts val="800"/>
              </a:spcAft>
            </a:pPr>
            <a:r>
              <a:rPr sz="1800">
                <a:solidFill>
                  <a:srgbClr val="1F2937"/>
                </a:solidFill>
                <a:latin typeface="Calibri"/>
              </a:rPr>
              <a:t>▸  IL-6 travma hajmi va asoratlar xavfi bilan bog‘liq; o‘tkir faza oqsillarining ikkinchi cho‘qqisi asoratni bildiradi.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TNF-α va IL-1 (birinchi)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IL-6, IL-8 va IL-10 ishlanadi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Jigar: CRP, prokalsitonin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IL-6 → prostaglandin → IL-10</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Muvozanat: qarshi javob</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Sitokinlar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 immunologik javob bo‘limi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Neytrofillar: ishga tushish va ko‘chib o‘tish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Neytrofillar jarohat joyiga birinchi yetib boradi; shu vaqtda qonda leykotsitoz ham kuzatiladi.</a:t>
            </a:r>
          </a:p>
          <a:p>
            <a:pPr>
              <a:spcAft>
                <a:spcPts val="800"/>
              </a:spcAft>
            </a:pPr>
            <a:r>
              <a:rPr sz="1800">
                <a:solidFill>
                  <a:srgbClr val="1F2937"/>
                </a:solidFill>
                <a:latin typeface="Calibri"/>
              </a:rPr>
              <a:t>▸  Priming — dam olish va to‘liq faollik oralig‘idagi holat; ikkinchi zarba kuchliroq javob beradi.</a:t>
            </a:r>
          </a:p>
          <a:p>
            <a:pPr>
              <a:spcAft>
                <a:spcPts val="800"/>
              </a:spcAft>
            </a:pPr>
            <a:r>
              <a:rPr sz="1800">
                <a:solidFill>
                  <a:srgbClr val="1F2937"/>
                </a:solidFill>
                <a:latin typeface="Calibri"/>
              </a:rPr>
              <a:t>▸  Faol neytrofillar sog‘ to‘qimani ham buzib, ARDS (o‘tkir respirator distress sindromi) xavfini oshiradi.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Priming: 3-24 soat</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Dumalash: selektin CD62L</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Qattiq yopishish: CD11b/CD18</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To‘qimaga o‘tish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Ortiqcha to‘planish → ARDS</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Neytrofil yo‘li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Monotsitlar, NK va T-hujayralar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Monotsitlarda MHCII (gistomoslik kompleksi II) ifodasi pasayadi; bu jarohat hajmiga bog‘liq.</a:t>
            </a:r>
          </a:p>
          <a:p>
            <a:pPr>
              <a:spcAft>
                <a:spcPts val="800"/>
              </a:spcAft>
            </a:pPr>
            <a:r>
              <a:rPr sz="1800">
                <a:solidFill>
                  <a:srgbClr val="1F2937"/>
                </a:solidFill>
                <a:latin typeface="Calibri"/>
              </a:rPr>
              <a:t>▸  Monotsit faolligi ikki fazali emas, uzluksiz pasayadi; sepsis xavfi bilan bog‘liq bo‘lishi mumkin.</a:t>
            </a:r>
          </a:p>
          <a:p>
            <a:pPr>
              <a:spcAft>
                <a:spcPts val="800"/>
              </a:spcAft>
            </a:pPr>
            <a:r>
              <a:rPr sz="1800">
                <a:solidFill>
                  <a:srgbClr val="1F2937"/>
                </a:solidFill>
                <a:latin typeface="Calibri"/>
              </a:rPr>
              <a:t>▸  NK (natural killer) hujayralarda IFN-γ kamayishi Th2 ustunligiga olib keladi.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40084"/>
                <a:gridCol w="2350211"/>
                <a:gridCol w="1997679"/>
              </a:tblGrid>
              <a:tr h="411480">
                <a:tc>
                  <a:txBody>
                    <a:bodyPr/>
                    <a:lstStyle/>
                    <a:p>
                      <a:r>
                        <a:rPr sz="1300" b="1">
                          <a:solidFill>
                            <a:srgbClr val="FFFFFF"/>
                          </a:solidFill>
                        </a:rPr>
                        <a:t>Hujayra</a:t>
                      </a:r>
                    </a:p>
                  </a:txBody>
                  <a:tcPr marL="73152" marR="73152" marT="36576" marB="36576">
                    <a:solidFill>
                      <a:srgbClr val="0B1F3A"/>
                    </a:solidFill>
                  </a:tcPr>
                </a:tc>
                <a:tc>
                  <a:txBody>
                    <a:bodyPr/>
                    <a:lstStyle/>
                    <a:p>
                      <a:r>
                        <a:rPr sz="1300" b="1">
                          <a:solidFill>
                            <a:srgbClr val="FFFFFF"/>
                          </a:solidFill>
                        </a:rPr>
                        <a:t>O‘zgarish</a:t>
                      </a:r>
                    </a:p>
                  </a:txBody>
                  <a:tcPr marL="73152" marR="73152" marT="36576" marB="36576">
                    <a:solidFill>
                      <a:srgbClr val="0B1F3A"/>
                    </a:solidFill>
                  </a:tcPr>
                </a:tc>
                <a:tc>
                  <a:txBody>
                    <a:bodyPr/>
                    <a:lstStyle/>
                    <a:p>
                      <a:r>
                        <a:rPr sz="1300" b="1">
                          <a:solidFill>
                            <a:srgbClr val="FFFFFF"/>
                          </a:solidFill>
                        </a:rPr>
                        <a:t>Muddat</a:t>
                      </a:r>
                    </a:p>
                  </a:txBody>
                  <a:tcPr marL="73152" marR="73152" marT="36576" marB="36576">
                    <a:solidFill>
                      <a:srgbClr val="0B1F3A"/>
                    </a:solidFill>
                  </a:tcPr>
                </a:tc>
              </a:tr>
              <a:tr h="411480">
                <a:tc>
                  <a:txBody>
                    <a:bodyPr/>
                    <a:lstStyle/>
                    <a:p>
                      <a:r>
                        <a:rPr sz="1200" b="0">
                          <a:solidFill>
                            <a:srgbClr val="1F2937"/>
                          </a:solidFill>
                        </a:rPr>
                        <a:t>Monotsit</a:t>
                      </a:r>
                    </a:p>
                  </a:txBody>
                  <a:tcPr marL="73152" marR="73152" marT="36576" marB="36576">
                    <a:solidFill>
                      <a:srgbClr val="E8EEF6"/>
                    </a:solidFill>
                  </a:tcPr>
                </a:tc>
                <a:tc>
                  <a:txBody>
                    <a:bodyPr/>
                    <a:lstStyle/>
                    <a:p>
                      <a:r>
                        <a:rPr sz="1200" b="0">
                          <a:solidFill>
                            <a:srgbClr val="1F2937"/>
                          </a:solidFill>
                        </a:rPr>
                        <a:t>MHCII pasayadi; sitokin sintezi susayadi</a:t>
                      </a:r>
                    </a:p>
                  </a:txBody>
                  <a:tcPr marL="73152" marR="73152" marT="36576" marB="36576">
                    <a:solidFill>
                      <a:srgbClr val="E8EEF6"/>
                    </a:solidFill>
                  </a:tcPr>
                </a:tc>
                <a:tc>
                  <a:txBody>
                    <a:bodyPr/>
                    <a:lstStyle/>
                    <a:p>
                      <a:r>
                        <a:rPr sz="1200" b="0">
                          <a:solidFill>
                            <a:srgbClr val="1F2937"/>
                          </a:solidFill>
                        </a:rPr>
                        <a:t>MHCII 1 hafta ichida normallashadi</a:t>
                      </a:r>
                    </a:p>
                  </a:txBody>
                  <a:tcPr marL="73152" marR="73152" marT="36576" marB="36576">
                    <a:solidFill>
                      <a:srgbClr val="E8EEF6"/>
                    </a:solidFill>
                  </a:tcPr>
                </a:tc>
              </a:tr>
              <a:tr h="411480">
                <a:tc>
                  <a:txBody>
                    <a:bodyPr/>
                    <a:lstStyle/>
                    <a:p>
                      <a:r>
                        <a:rPr sz="1200" b="0">
                          <a:solidFill>
                            <a:srgbClr val="1F2937"/>
                          </a:solidFill>
                        </a:rPr>
                        <a:t>NK-hujayra</a:t>
                      </a:r>
                    </a:p>
                  </a:txBody>
                  <a:tcPr marL="73152" marR="73152" marT="36576" marB="36576">
                    <a:solidFill>
                      <a:srgbClr val="FFFFFF"/>
                    </a:solidFill>
                  </a:tcPr>
                </a:tc>
                <a:tc>
                  <a:txBody>
                    <a:bodyPr/>
                    <a:lstStyle/>
                    <a:p>
                      <a:r>
                        <a:rPr sz="1200" b="0">
                          <a:solidFill>
                            <a:srgbClr val="1F2937"/>
                          </a:solidFill>
                        </a:rPr>
                        <a:t>Faolligi pasayadi</a:t>
                      </a:r>
                    </a:p>
                  </a:txBody>
                  <a:tcPr marL="73152" marR="73152" marT="36576" marB="36576">
                    <a:solidFill>
                      <a:srgbClr val="FFFFFF"/>
                    </a:solidFill>
                  </a:tcPr>
                </a:tc>
                <a:tc>
                  <a:txBody>
                    <a:bodyPr/>
                    <a:lstStyle/>
                    <a:p>
                      <a:r>
                        <a:rPr sz="1200" b="0">
                          <a:solidFill>
                            <a:srgbClr val="1F2937"/>
                          </a:solidFill>
                        </a:rPr>
                        <a:t>Bir necha kun; kuyishda 2-4 hafta</a:t>
                      </a:r>
                    </a:p>
                  </a:txBody>
                  <a:tcPr marL="73152" marR="73152" marT="36576" marB="36576">
                    <a:solidFill>
                      <a:srgbClr val="FFFFFF"/>
                    </a:solidFill>
                  </a:tcPr>
                </a:tc>
              </a:tr>
              <a:tr h="411480">
                <a:tc>
                  <a:txBody>
                    <a:bodyPr/>
                    <a:lstStyle/>
                    <a:p>
                      <a:r>
                        <a:rPr sz="1200" b="0">
                          <a:solidFill>
                            <a:srgbClr val="1F2937"/>
                          </a:solidFill>
                        </a:rPr>
                        <a:t>T-hujayra</a:t>
                      </a:r>
                    </a:p>
                  </a:txBody>
                  <a:tcPr marL="73152" marR="73152" marT="36576" marB="36576">
                    <a:solidFill>
                      <a:srgbClr val="E8EEF6"/>
                    </a:solidFill>
                  </a:tcPr>
                </a:tc>
                <a:tc>
                  <a:txBody>
                    <a:bodyPr/>
                    <a:lstStyle/>
                    <a:p>
                      <a:r>
                        <a:rPr sz="1200" b="0">
                          <a:solidFill>
                            <a:srgbClr val="1F2937"/>
                          </a:solidFill>
                        </a:rPr>
                        <a:t>Kechikkan sezgirlik, ko‘payish susayadi</a:t>
                      </a:r>
                    </a:p>
                  </a:txBody>
                  <a:tcPr marL="73152" marR="73152" marT="36576" marB="36576">
                    <a:solidFill>
                      <a:srgbClr val="E8EEF6"/>
                    </a:solidFill>
                  </a:tcPr>
                </a:tc>
                <a:tc>
                  <a:txBody>
                    <a:bodyPr/>
                    <a:lstStyle/>
                    <a:p>
                      <a:r>
                        <a:rPr sz="1200" b="0">
                          <a:solidFill>
                            <a:srgbClr val="1F2937"/>
                          </a:solidFill>
                        </a:rPr>
                        <a:t>Muddat manbada ko‘rsatilmagan</a:t>
                      </a:r>
                    </a:p>
                  </a:txBody>
                  <a:tcPr marL="73152" marR="73152" marT="36576" marB="36576">
                    <a:solidFill>
                      <a:srgbClr val="E8EEF6"/>
                    </a:solidFill>
                  </a:tcPr>
                </a:tc>
              </a:tr>
              <a:tr h="411480">
                <a:tc>
                  <a:txBody>
                    <a:bodyPr/>
                    <a:lstStyle/>
                    <a:p>
                      <a:r>
                        <a:rPr sz="1200" b="0">
                          <a:solidFill>
                            <a:srgbClr val="1F2937"/>
                          </a:solidFill>
                        </a:rPr>
                        <a:t>Th1/Th2</a:t>
                      </a:r>
                    </a:p>
                  </a:txBody>
                  <a:tcPr marL="73152" marR="73152" marT="36576" marB="36576">
                    <a:solidFill>
                      <a:srgbClr val="FFFFFF"/>
                    </a:solidFill>
                  </a:tcPr>
                </a:tc>
                <a:tc>
                  <a:txBody>
                    <a:bodyPr/>
                    <a:lstStyle/>
                    <a:p>
                      <a:r>
                        <a:rPr sz="1200" b="0">
                          <a:solidFill>
                            <a:srgbClr val="1F2937"/>
                          </a:solidFill>
                        </a:rPr>
                        <a:t>Th2 tomonga siljish (IL-4, IL-10)</a:t>
                      </a:r>
                    </a:p>
                  </a:txBody>
                  <a:tcPr marL="73152" marR="73152" marT="36576" marB="36576">
                    <a:solidFill>
                      <a:srgbClr val="FFFFFF"/>
                    </a:solidFill>
                  </a:tcPr>
                </a:tc>
                <a:tc>
                  <a:txBody>
                    <a:bodyPr/>
                    <a:lstStyle/>
                    <a:p>
                      <a:r>
                        <a:rPr sz="1200" b="0">
                          <a:solidFill>
                            <a:srgbClr val="1F2937"/>
                          </a:solidFill>
                        </a:rPr>
                        <a:t>Hujayra immuniteti pasayadi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Hujayralar taqqosi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sitokinlarning ikkinchi cho‘qqisi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og‘ir jarohatdan keyin dastlabki soatlarda sitokinlar va o‘tkir faza oqsillari (masalan, C-reaktiv oqsil) yuqori bo‘ldi, so‘ng pasaydi.</a:t>
            </a:r>
          </a:p>
          <a:p>
            <a:pPr>
              <a:spcAft>
                <a:spcPts val="1200"/>
              </a:spcAft>
            </a:pPr>
            <a:r>
              <a:rPr sz="2200">
                <a:solidFill>
                  <a:srgbClr val="1F2937"/>
                </a:solidFill>
                <a:latin typeface="Calibri"/>
              </a:rPr>
              <a:t>▸  Keyinroq qonda proyallig‘lanish sitokinlari va o‘tkir faza oqsillari yana ko‘tarildi.</a:t>
            </a:r>
          </a:p>
          <a:p>
            <a:pPr>
              <a:spcAft>
                <a:spcPts val="1200"/>
              </a:spcAft>
            </a:pPr>
            <a:r>
              <a:rPr sz="2200">
                <a:solidFill>
                  <a:srgbClr val="1F2937"/>
                </a:solidFill>
                <a:latin typeface="Calibri"/>
              </a:rPr>
              <a:t>▸  Ikkinchi cho‘qqi asorat, masalan infeksiya, borligini ko‘rsatishi mumkin; ikkinchi zarba operatsiya yoki kasalxona infeksiyasi bo‘lishi mumkin.</a:t>
            </a:r>
          </a:p>
          <a:p>
            <a:pPr>
              <a:spcAft>
                <a:spcPts val="1200"/>
              </a:spcAft>
            </a:pPr>
            <a:r>
              <a:rPr sz="2200">
                <a:solidFill>
                  <a:srgbClr val="1F2937"/>
                </a:solidFill>
                <a:latin typeface="Calibri"/>
              </a:rPr>
              <a:t>▸  Savol: ikkinchi cho‘qqi nimani anglatadi va asoratsiz kechishda sitokinlarga nima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DAMPs: ta’rifi va alarminlar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DAMPs — hujayra ichidagi yadro, mitoxondriya yoki sitozol molekulalari. Hujayradan tashqariga chiqsa, tug‘ma va adaptiv immunitetni faollashtiradi.</a:t>
            </a:r>
          </a:p>
          <a:p>
            <a:pPr>
              <a:spcAft>
                <a:spcPts val="1200"/>
              </a:spcAft>
            </a:pPr>
            <a:r>
              <a:rPr sz="2000">
                <a:solidFill>
                  <a:srgbClr val="1F2937"/>
                </a:solidFill>
                <a:latin typeface="Calibri"/>
              </a:rPr>
              <a:t>▸  Dendritik hujayralar va neytrofillar DAMPsni tanish retseptorlari (PRR, pattern recognition receptors) orqali taniydi. Keyin sitokin va xemokinlar ishlab chiqariladi.</a:t>
            </a:r>
          </a:p>
          <a:p>
            <a:pPr>
              <a:spcAft>
                <a:spcPts val="1200"/>
              </a:spcAft>
            </a:pPr>
            <a:r>
              <a:rPr sz="2000">
                <a:solidFill>
                  <a:srgbClr val="1F2937"/>
                </a:solidFill>
                <a:latin typeface="Calibri"/>
              </a:rPr>
              <a:t>▸  Travmadan keyin chiqqan DAMPs alarminlar deb ham ataladi. Mahalliy yallig‘lanish to‘qima tiklanishiga xizmat qiladi, nazoratsiz bo‘lsa uzoq a’zolar yetishmovchiligini keltiradi.</a:t>
            </a:r>
          </a:p>
          <a:p>
            <a:pPr>
              <a:spcAft>
                <a:spcPts val="1200"/>
              </a:spcAft>
            </a:pPr>
            <a:r>
              <a:rPr sz="2000">
                <a:solidFill>
                  <a:srgbClr val="1F2937"/>
                </a:solidFill>
                <a:latin typeface="Calibri"/>
              </a:rPr>
              <a:t>▸  2006 yilgi konsensusga ko‘ra klinik alarmin travmadan darhol chiqadi, miqdori jarohat og‘irligini aks ettiradi va plazma darajasi yallig‘lanish bilan bog‘liq.</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Vourc'h et al., Trauma-Induced Damage-Associated Molecular Patterns-Mediated Remote Organ Injury and Immunosuppression in the Acutely Ill Patient, betlar: PMID 29963048; DOI 10.3389/fimmu.2018.01330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DAMPs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HMGB1 (high-mobility group box 1) darajasi 30 daqiqada jarohat og‘irligiga mos keladi.</a:t>
            </a:r>
          </a:p>
          <a:p>
            <a:pPr>
              <a:spcAft>
                <a:spcPts val="800"/>
              </a:spcAft>
            </a:pPr>
            <a:r>
              <a:rPr sz="1800">
                <a:solidFill>
                  <a:srgbClr val="1F2937"/>
                </a:solidFill>
                <a:latin typeface="Calibri"/>
              </a:rPr>
              <a:t>▸  Plazmada DNK jarohat og‘irligiga parallel oshadi; mtDNA (mitoxondrial DNK) o‘pka shikasti bilan bog‘liq.</a:t>
            </a:r>
          </a:p>
          <a:p>
            <a:pPr>
              <a:spcAft>
                <a:spcPts val="800"/>
              </a:spcAft>
            </a:pPr>
            <a:r>
              <a:rPr sz="1800">
                <a:solidFill>
                  <a:srgbClr val="1F2937"/>
                </a:solidFill>
                <a:latin typeface="Calibri"/>
              </a:rPr>
              <a:t>▸  Diqqat: HSP72 yuqori bo‘lsa omon qolish yaxshiroq, HMGB1 yuqori bo‘lsa — yomon oqibat.</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419919"/>
                <a:gridCol w="1909546"/>
                <a:gridCol w="1958509"/>
              </a:tblGrid>
              <a:tr h="411480">
                <a:tc>
                  <a:txBody>
                    <a:bodyPr/>
                    <a:lstStyle/>
                    <a:p>
                      <a:r>
                        <a:rPr sz="1300" b="1">
                          <a:solidFill>
                            <a:srgbClr val="FFFFFF"/>
                          </a:solidFill>
                        </a:rPr>
                        <a:t>DAMP</a:t>
                      </a:r>
                    </a:p>
                  </a:txBody>
                  <a:tcPr marL="73152" marR="73152" marT="36576" marB="36576">
                    <a:solidFill>
                      <a:srgbClr val="0B1F3A"/>
                    </a:solidFill>
                  </a:tcPr>
                </a:tc>
                <a:tc>
                  <a:txBody>
                    <a:bodyPr/>
                    <a:lstStyle/>
                    <a:p>
                      <a:r>
                        <a:rPr sz="1300" b="1">
                          <a:solidFill>
                            <a:srgbClr val="FFFFFF"/>
                          </a:solidFill>
                        </a:rPr>
                        <a:t>Tavsif</a:t>
                      </a:r>
                    </a:p>
                  </a:txBody>
                  <a:tcPr marL="73152" marR="73152" marT="36576" marB="36576">
                    <a:solidFill>
                      <a:srgbClr val="0B1F3A"/>
                    </a:solidFill>
                  </a:tcPr>
                </a:tc>
                <a:tc>
                  <a:txBody>
                    <a:bodyPr/>
                    <a:lstStyle/>
                    <a:p>
                      <a:r>
                        <a:rPr sz="1300" b="1">
                          <a:solidFill>
                            <a:srgbClr val="FFFFFF"/>
                          </a:solidFill>
                        </a:rPr>
                        <a:t>Ahamiyati</a:t>
                      </a:r>
                    </a:p>
                  </a:txBody>
                  <a:tcPr marL="73152" marR="73152" marT="36576" marB="36576">
                    <a:solidFill>
                      <a:srgbClr val="0B1F3A"/>
                    </a:solidFill>
                  </a:tcPr>
                </a:tc>
              </a:tr>
              <a:tr h="411480">
                <a:tc>
                  <a:txBody>
                    <a:bodyPr/>
                    <a:lstStyle/>
                    <a:p>
                      <a:r>
                        <a:rPr sz="1200" b="0">
                          <a:solidFill>
                            <a:srgbClr val="1F2937"/>
                          </a:solidFill>
                        </a:rPr>
                        <a:t>Nuklein kislotalar</a:t>
                      </a:r>
                    </a:p>
                  </a:txBody>
                  <a:tcPr marL="73152" marR="73152" marT="36576" marB="36576">
                    <a:solidFill>
                      <a:srgbClr val="E8EEF6"/>
                    </a:solidFill>
                  </a:tcPr>
                </a:tc>
                <a:tc>
                  <a:txBody>
                    <a:bodyPr/>
                    <a:lstStyle/>
                    <a:p>
                      <a:r>
                        <a:rPr sz="1200" b="0">
                          <a:solidFill>
                            <a:srgbClr val="1F2937"/>
                          </a:solidFill>
                        </a:rPr>
                        <a:t>DNK va mtDNK qonga chiqadi</a:t>
                      </a:r>
                    </a:p>
                  </a:txBody>
                  <a:tcPr marL="73152" marR="73152" marT="36576" marB="36576">
                    <a:solidFill>
                      <a:srgbClr val="E8EEF6"/>
                    </a:solidFill>
                  </a:tcPr>
                </a:tc>
                <a:tc>
                  <a:txBody>
                    <a:bodyPr/>
                    <a:lstStyle/>
                    <a:p>
                      <a:r>
                        <a:rPr sz="1200" b="0">
                          <a:solidFill>
                            <a:srgbClr val="1F2937"/>
                          </a:solidFill>
                        </a:rPr>
                        <a:t>Jarohat og‘irligi va a’zo shikasti bilan</a:t>
                      </a:r>
                    </a:p>
                  </a:txBody>
                  <a:tcPr marL="73152" marR="73152" marT="36576" marB="36576">
                    <a:solidFill>
                      <a:srgbClr val="E8EEF6"/>
                    </a:solidFill>
                  </a:tcPr>
                </a:tc>
              </a:tr>
              <a:tr h="411480">
                <a:tc>
                  <a:txBody>
                    <a:bodyPr/>
                    <a:lstStyle/>
                    <a:p>
                      <a:r>
                        <a:rPr sz="1200" b="0">
                          <a:solidFill>
                            <a:srgbClr val="1F2937"/>
                          </a:solidFill>
                        </a:rPr>
                        <a:t>HMGB1</a:t>
                      </a:r>
                    </a:p>
                  </a:txBody>
                  <a:tcPr marL="73152" marR="73152" marT="36576" marB="36576">
                    <a:solidFill>
                      <a:srgbClr val="FFFFFF"/>
                    </a:solidFill>
                  </a:tcPr>
                </a:tc>
                <a:tc>
                  <a:txBody>
                    <a:bodyPr/>
                    <a:lstStyle/>
                    <a:p>
                      <a:r>
                        <a:rPr sz="1200" b="0">
                          <a:solidFill>
                            <a:srgbClr val="1F2937"/>
                          </a:solidFill>
                        </a:rPr>
                        <a:t>Yadro oqsili, o‘lgan hujayradan chiqadi</a:t>
                      </a:r>
                    </a:p>
                  </a:txBody>
                  <a:tcPr marL="73152" marR="73152" marT="36576" marB="36576">
                    <a:solidFill>
                      <a:srgbClr val="FFFFFF"/>
                    </a:solidFill>
                  </a:tcPr>
                </a:tc>
                <a:tc>
                  <a:txBody>
                    <a:bodyPr/>
                    <a:lstStyle/>
                    <a:p>
                      <a:r>
                        <a:rPr sz="1200" b="0">
                          <a:solidFill>
                            <a:srgbClr val="1F2937"/>
                          </a:solidFill>
                        </a:rPr>
                        <a:t>6 soatda eng yuqori; o‘lim bilan bog‘liq</a:t>
                      </a:r>
                    </a:p>
                  </a:txBody>
                  <a:tcPr marL="73152" marR="73152" marT="36576" marB="36576">
                    <a:solidFill>
                      <a:srgbClr val="FFFFFF"/>
                    </a:solidFill>
                  </a:tcPr>
                </a:tc>
              </a:tr>
              <a:tr h="411480">
                <a:tc>
                  <a:txBody>
                    <a:bodyPr/>
                    <a:lstStyle/>
                    <a:p>
                      <a:r>
                        <a:rPr sz="1200" b="0">
                          <a:solidFill>
                            <a:srgbClr val="1F2937"/>
                          </a:solidFill>
                        </a:rPr>
                        <a:t>Issiqlik shok oqsillari (HSP)</a:t>
                      </a:r>
                    </a:p>
                  </a:txBody>
                  <a:tcPr marL="73152" marR="73152" marT="36576" marB="36576">
                    <a:solidFill>
                      <a:srgbClr val="E8EEF6"/>
                    </a:solidFill>
                  </a:tcPr>
                </a:tc>
                <a:tc>
                  <a:txBody>
                    <a:bodyPr/>
                    <a:lstStyle/>
                    <a:p>
                      <a:r>
                        <a:rPr sz="1200" b="0">
                          <a:solidFill>
                            <a:srgbClr val="1F2937"/>
                          </a:solidFill>
                        </a:rPr>
                        <a:t>Chaperon oqsil, stressda ko‘payadi</a:t>
                      </a:r>
                    </a:p>
                  </a:txBody>
                  <a:tcPr marL="73152" marR="73152" marT="36576" marB="36576">
                    <a:solidFill>
                      <a:srgbClr val="E8EEF6"/>
                    </a:solidFill>
                  </a:tcPr>
                </a:tc>
                <a:tc>
                  <a:txBody>
                    <a:bodyPr/>
                    <a:lstStyle/>
                    <a:p>
                      <a:r>
                        <a:rPr sz="1200" b="0">
                          <a:solidFill>
                            <a:srgbClr val="1F2937"/>
                          </a:solidFill>
                        </a:rPr>
                        <a:t>Dendritik hujayralar yetilishini kuchaytiradi</a:t>
                      </a:r>
                    </a:p>
                  </a:txBody>
                  <a:tcPr marL="73152" marR="73152" marT="36576" marB="36576">
                    <a:solidFill>
                      <a:srgbClr val="E8EEF6"/>
                    </a:solidFill>
                  </a:tcPr>
                </a:tc>
              </a:tr>
              <a:tr h="411480">
                <a:tc>
                  <a:txBody>
                    <a:bodyPr/>
                    <a:lstStyle/>
                    <a:p>
                      <a:r>
                        <a:rPr sz="1200" b="0">
                          <a:solidFill>
                            <a:srgbClr val="1F2937"/>
                          </a:solidFill>
                        </a:rPr>
                        <a:t>S100 oqsillari</a:t>
                      </a:r>
                    </a:p>
                  </a:txBody>
                  <a:tcPr marL="73152" marR="73152" marT="36576" marB="36576">
                    <a:solidFill>
                      <a:srgbClr val="FFFFFF"/>
                    </a:solidFill>
                  </a:tcPr>
                </a:tc>
                <a:tc>
                  <a:txBody>
                    <a:bodyPr/>
                    <a:lstStyle/>
                    <a:p>
                      <a:r>
                        <a:rPr sz="1200" b="0">
                          <a:solidFill>
                            <a:srgbClr val="1F2937"/>
                          </a:solidFill>
                        </a:rPr>
                        <a:t>Kaltsiy bog‘lovchi, 20 dan ortiq oqsil</a:t>
                      </a:r>
                    </a:p>
                  </a:txBody>
                  <a:tcPr marL="73152" marR="73152" marT="36576" marB="36576">
                    <a:solidFill>
                      <a:srgbClr val="FFFFFF"/>
                    </a:solidFill>
                  </a:tcPr>
                </a:tc>
                <a:tc>
                  <a:txBody>
                    <a:bodyPr/>
                    <a:lstStyle/>
                    <a:p>
                      <a:r>
                        <a:rPr sz="1200" b="0">
                          <a:solidFill>
                            <a:srgbClr val="1F2937"/>
                          </a:solidFill>
                        </a:rPr>
                        <a:t>Kuyishdan keyin yuqori daraja — yomon oqibat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DAMPs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Vourc'h et al., Trauma-Induced Damage-Associated Molecular Patterns-Mediated Remote Organ Injury and Immunosuppression in the Acutely Ill Patient, betlar: PMID 29963048; DOI 10.3389/fimmu.2018.01330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DAMPs retseptorlari va signal yo‘llari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TLR (toll-like retseptor) yuzada, NLR (NOD-like) ichkarida; NF-κB (yadro omili κB) yo‘lini ishga soladi.</a:t>
            </a:r>
          </a:p>
          <a:p>
            <a:pPr>
              <a:spcAft>
                <a:spcPts val="800"/>
              </a:spcAft>
            </a:pPr>
            <a:r>
              <a:rPr sz="1800">
                <a:solidFill>
                  <a:srgbClr val="1F2937"/>
                </a:solidFill>
                <a:latin typeface="Calibri"/>
              </a:rPr>
              <a:t>▸  MyD88 yo‘li NF-κB ni, TRIF yo‘li IRF (interferon regulyator omil) orqali I tur interferonni oshiradi.</a:t>
            </a:r>
          </a:p>
          <a:p>
            <a:pPr>
              <a:spcAft>
                <a:spcPts val="800"/>
              </a:spcAft>
            </a:pPr>
            <a:r>
              <a:rPr sz="1800">
                <a:solidFill>
                  <a:srgbClr val="1F2937"/>
                </a:solidFill>
                <a:latin typeface="Calibri"/>
              </a:rPr>
              <a:t>▸  RAGE faqat DAMPga javob beradi, PAMPga emas; TREM-1 TLR4 bilan HMGB1 ta’sirini kuchaytiradi.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DAMP (HMGB1, HSP, DNK, S100)</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TLR, NLR, RAGE, TREM-1</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MyD88–NF-κB yoki TRIF–IRF</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Sitokin: TNF-α, IL-6, IL-8, IFN</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DAMP signali (soddalashtirilgan)</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Vourc'h et al., Trauma-Induced Damage-Associated Molecular Patterns-Mediated Remote Organ Injury and Immunosuppression in the Acutely Ill Patient, betlar: PMID 29963048; DOI 10.3389/fimmu.2018.01330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 DAMPs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nega travmada ajralgan DAMPlar (shikast bilan bog‘liq molekulyar andozalar) “alarminlar” deb ataladi?</a:t>
            </a:r>
          </a:p>
          <a:p>
            <a:pPr>
              <a:spcAft>
                <a:spcPts val="1200"/>
              </a:spcAft>
            </a:pPr>
            <a:r>
              <a:rPr sz="2200">
                <a:solidFill>
                  <a:srgbClr val="1F2937"/>
                </a:solidFill>
                <a:latin typeface="Calibri"/>
              </a:rPr>
              <a:t>▸  Javob: ular shikastdan so‘ng darhol ajraladi, immun hujayralarni faollashtiradi va konsentratsiyasi travma og‘irligini aks ettiradi.</a:t>
            </a:r>
          </a:p>
          <a:p>
            <a:pPr>
              <a:spcAft>
                <a:spcPts val="1200"/>
              </a:spcAft>
            </a:pPr>
            <a:r>
              <a:rPr sz="2200">
                <a:solidFill>
                  <a:srgbClr val="1F2937"/>
                </a:solidFill>
                <a:latin typeface="Calibri"/>
              </a:rPr>
              <a:t>▸  Savol 2: RAGE (ilg‘or glikatsiya mahsulotlari retseptori) bilan TLR (toll-simon retseptor) farqi nimada?</a:t>
            </a:r>
          </a:p>
          <a:p>
            <a:pPr>
              <a:spcAft>
                <a:spcPts val="1200"/>
              </a:spcAft>
            </a:pPr>
            <a:r>
              <a:rPr sz="2200">
                <a:solidFill>
                  <a:srgbClr val="1F2937"/>
                </a:solidFill>
                <a:latin typeface="Calibri"/>
              </a:rPr>
              <a:t>▸  Diqqat: xato qilish xavfi — TLR ≠ RAGE. TLR mikrob andozalarini (PAMP) ham, DAMPni ham taniydi; RAGE faqat DAMPga xos, PAMP bilan faollashmaydi.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Vourc'h et al., Trauma-Induced Damage-Associated Molecular Patterns-Mediated Remote Organ Injury and Immunosuppression in the Acutely Ill Patient, betlar: PMID 29963048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DAMPs va HLA-DR pasayishi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travma olgan 166 nafar kattada plazmadagi yadro DNK va HSP70 (issiqlik shok oqsili) darajasi HLA-DR ekspressiyasi bilan teskari bog‘langan.</a:t>
            </a:r>
          </a:p>
          <a:p>
            <a:pPr>
              <a:spcAft>
                <a:spcPts val="1200"/>
              </a:spcAft>
            </a:pPr>
            <a:r>
              <a:rPr sz="2200">
                <a:solidFill>
                  <a:srgbClr val="1F2937"/>
                </a:solidFill>
                <a:latin typeface="Calibri"/>
              </a:rPr>
              <a:t>▸  Yadro DNK darajasi yuqori va monotsitlarda HLA-DR yana pasaygan bemorlarda infeksiya ko‘proq qayd etilgan.</a:t>
            </a:r>
          </a:p>
          <a:p>
            <a:pPr>
              <a:spcAft>
                <a:spcPts val="1200"/>
              </a:spcAft>
            </a:pPr>
            <a:r>
              <a:rPr sz="2200">
                <a:solidFill>
                  <a:srgbClr val="1F2937"/>
                </a:solidFill>
                <a:latin typeface="Calibri"/>
              </a:rPr>
              <a:t>▸  Savol: bu bemorda qanday immun holat va qanday xavf kutiladi? Bu ish DAMP darajasini immunosupressiya va infeksiya bilan bog‘lagan dastlabki tadqiqotlardan biri.</a:t>
            </a:r>
          </a:p>
          <a:p>
            <a:pPr>
              <a:spcAft>
                <a:spcPts val="1200"/>
              </a:spcAft>
            </a:pPr>
            <a:r>
              <a:rPr sz="2200">
                <a:solidFill>
                  <a:srgbClr val="1F2937"/>
                </a:solidFill>
                <a:latin typeface="Calibri"/>
              </a:rPr>
              <a:t>▸  Monotsitlarda MHC II ekspressiyasining pasayishi shikast hajmiga mos keladi va immun falajni kuzatish uchun qo‘llangan.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Vourc'h et al., Trauma-Induced Damage-Associated Molecular Patterns-Mediated Remote Organ Injury and Immunosuppression in the Acutely Ill Patient, betlar: PMID 29963048; Brøchner et al., Pathophysiology of the systemic inflammatory response after major accidental trauma, betlar: PMID 19754938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Gemorragik shok, ishemiya va reperfuziya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Gemorragik shok travmadan keyingi o‘limning ikki asosiy sababidan biri; o‘lim cho‘qqilaridan biri dastlabki 24 soatga to‘g‘ri keladi.</a:t>
            </a:r>
          </a:p>
          <a:p>
            <a:pPr>
              <a:spcAft>
                <a:spcPts val="1200"/>
              </a:spcAft>
            </a:pPr>
            <a:r>
              <a:rPr sz="2000">
                <a:solidFill>
                  <a:srgbClr val="1F2937"/>
                </a:solidFill>
                <a:latin typeface="Calibri"/>
              </a:rPr>
              <a:t>▸  Qon ketgach leykotsitlar faol endoteliy bo‘ylab dumalaydi, komplement faollashadi, HMGB1 va sitokinlar ajraladi. IL-6 ning doimiy yuqoriligi o‘lim bilan bog‘liq.</a:t>
            </a:r>
          </a:p>
          <a:p>
            <a:pPr>
              <a:spcAft>
                <a:spcPts val="1200"/>
              </a:spcAft>
            </a:pPr>
            <a:r>
              <a:rPr sz="2000">
                <a:solidFill>
                  <a:srgbClr val="1F2937"/>
                </a:solidFill>
                <a:latin typeface="Calibri"/>
              </a:rPr>
              <a:t>▸  Reperfuziya yallig‘lanishning asosiy qo‘zg‘atuvchisi: neytrofillar shikastlangan joyda ham, uzoq a’zolarda ham (buyrak, jigar, o‘pka) to‘planadi.</a:t>
            </a:r>
          </a:p>
          <a:p>
            <a:pPr>
              <a:spcAft>
                <a:spcPts val="1200"/>
              </a:spcAft>
            </a:pPr>
            <a:r>
              <a:rPr sz="2000">
                <a:solidFill>
                  <a:srgbClr val="1F2937"/>
                </a:solidFill>
                <a:latin typeface="Calibri"/>
              </a:rPr>
              <a:t>▸  Uzoq a’zolar: yuqori HMGB1 o‘pkada o‘tkazuvchanlikni oshirib, interstitsial shishga olib keladi. Erta MODS (ko‘p a’zo disfunksiyasi) ko‘pincha nazoratsiz SIRS bilan bog‘liq.</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 Vourc'h et al., Trauma-Induced Damage-Associated Molecular Patterns-Mediated Remote Organ Injury and Immunosuppression in the Acutely Ill Patient, betlar: PMID 29963048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quyish va DAMPs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Qon quyish tug‘ma immunitetni susaytirishi mumkin va jarrohlik paytida o‘lim xavfi bilan bog‘liq. Infeksiya xavfi quyilgan qon hajmiga qarab oshadi.</a:t>
            </a:r>
          </a:p>
          <a:p>
            <a:pPr>
              <a:spcAft>
                <a:spcPts val="1200"/>
              </a:spcAft>
            </a:pPr>
            <a:r>
              <a:rPr sz="2200">
                <a:solidFill>
                  <a:srgbClr val="1F2937"/>
                </a:solidFill>
                <a:latin typeface="Calibri"/>
              </a:rPr>
              <a:t>▸  Quyilgan eritrotsitlarning 25% gachasi 24 soat ichida gemolizga uchrashi mumkin. Buning uchun guruh nomuvofiqligi yoki immun reaksiya shart emas.</a:t>
            </a:r>
          </a:p>
          <a:p>
            <a:pPr>
              <a:spcAft>
                <a:spcPts val="1200"/>
              </a:spcAft>
            </a:pPr>
            <a:r>
              <a:rPr sz="2200">
                <a:solidFill>
                  <a:srgbClr val="1F2937"/>
                </a:solidFill>
                <a:latin typeface="Calibri"/>
              </a:rPr>
              <a:t>▸  Eritrotsitda DAMPs (zarar bilan bog‘liq molekulyar andozalar) ko‘p. Gemolizda gem, HSP70, RBP-4, IL-33, S100 oqsillari va adenozin qonga chiqadi.</a:t>
            </a:r>
          </a:p>
          <a:p>
            <a:pPr>
              <a:spcAft>
                <a:spcPts val="1200"/>
              </a:spcAft>
            </a:pPr>
            <a:r>
              <a:rPr sz="2200">
                <a:solidFill>
                  <a:srgbClr val="1F2937"/>
                </a:solidFill>
                <a:latin typeface="Calibri"/>
              </a:rPr>
              <a:t>▸  Diqqat: saqlash muddati bir xil bo‘lsa ham eritrotsit massasi (PRBC) tarkibi farq qiladi. Muddat bo‘yicha yirik tadqiqotlar qarama-qarshi natija bergan.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Vourc'h et al., Trauma-Induced Damage-Associated Molecular Patterns-Mediated Remote Organ Injury and Immunosuppression in the Acutely Ill Patient, betlar: PMID 29963048; DOI 10.3389/fimmu.2018.01330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Postravmatik immunosupressiya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CARS (kompensator yallig‘lanishga qarshi javob) travmadan 5–15 kun keyin immunosupressiyaga olib keladi.</a:t>
            </a:r>
          </a:p>
          <a:p>
            <a:pPr>
              <a:spcAft>
                <a:spcPts val="800"/>
              </a:spcAft>
            </a:pPr>
            <a:r>
              <a:rPr sz="1800">
                <a:solidFill>
                  <a:srgbClr val="1F2937"/>
                </a:solidFill>
                <a:latin typeface="Calibri"/>
              </a:rPr>
              <a:t>▸  Endotoksin tolerantligida monotsitlar sitokinni kam ishlab chiqaradi; epigenetik o‘zgarishlar ham sabab bo‘ladi.</a:t>
            </a:r>
          </a:p>
          <a:p>
            <a:pPr>
              <a:spcAft>
                <a:spcPts val="800"/>
              </a:spcAft>
            </a:pPr>
            <a:r>
              <a:rPr sz="1800">
                <a:solidFill>
                  <a:srgbClr val="1F2937"/>
                </a:solidFill>
                <a:latin typeface="Calibri"/>
              </a:rPr>
              <a:t>▸  Adenozin A2AR retseptori orqali Th2 javobini bevosita yoqishi mumkin; oldin kuchli yallig‘lanish shart emas.</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Hujayra shikasti: ATP ajraladi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CD39: ATP → adenozin</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A2AR → IL-33 ishlanadi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ILC-2/Th2: IL-4, IL-13</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Immunosupressiya (IS)</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Adenozin–Th2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Vourc'h et al., Trauma-Induced Damage-Associated Molecular Patterns-Mediated Remote Organ Injury and Immunosuppression in the Acutely Ill Patient, betlar: PMID 29963048; DOI 10.3389/fimmu.2018.01330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Klinik oqibatlar: erta va kech MODS, DIC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Erta MODS (ko‘p a’zo disfunksiyasi) nazoratsiz SIRS (tizimli yallig‘lanish sindromi) bilan bog‘liq.</a:t>
            </a:r>
          </a:p>
          <a:p>
            <a:pPr>
              <a:spcAft>
                <a:spcPts val="800"/>
              </a:spcAft>
            </a:pPr>
            <a:r>
              <a:rPr sz="1800">
                <a:solidFill>
                  <a:srgbClr val="1F2937"/>
                </a:solidFill>
                <a:latin typeface="Calibri"/>
              </a:rPr>
              <a:t>▸  Kech MODSda asosiy xavf — immunosupressiyadan keyingi kasalxona pnevmoniyasi; u 40% gacha yetishi mumkin.</a:t>
            </a:r>
          </a:p>
          <a:p>
            <a:pPr>
              <a:spcAft>
                <a:spcPts val="800"/>
              </a:spcAft>
            </a:pPr>
            <a:r>
              <a:rPr sz="1800">
                <a:solidFill>
                  <a:srgbClr val="1F2937"/>
                </a:solidFill>
                <a:latin typeface="Calibri"/>
              </a:rPr>
              <a:t>▸  DIC (tarqoq tomir ichi ivish) tez uchraydi; HMGB1 va DNK–gistone kompleksi uning mustaqil bashorat omillari.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72501"/>
                <a:gridCol w="2127346"/>
                <a:gridCol w="2188127"/>
              </a:tblGrid>
              <a:tr h="411480">
                <a:tc>
                  <a:txBody>
                    <a:bodyPr/>
                    <a:lstStyle/>
                    <a:p>
                      <a:r>
                        <a:rPr sz="1300" b="1">
                          <a:solidFill>
                            <a:srgbClr val="FFFFFF"/>
                          </a:solidFill>
                        </a:rPr>
                        <a:t>Holat</a:t>
                      </a:r>
                    </a:p>
                  </a:txBody>
                  <a:tcPr marL="73152" marR="73152" marT="36576" marB="36576">
                    <a:solidFill>
                      <a:srgbClr val="0B1F3A"/>
                    </a:solidFill>
                  </a:tcPr>
                </a:tc>
                <a:tc>
                  <a:txBody>
                    <a:bodyPr/>
                    <a:lstStyle/>
                    <a:p>
                      <a:r>
                        <a:rPr sz="1300" b="1">
                          <a:solidFill>
                            <a:srgbClr val="FFFFFF"/>
                          </a:solidFill>
                        </a:rPr>
                        <a:t>Mexanizm</a:t>
                      </a:r>
                    </a:p>
                  </a:txBody>
                  <a:tcPr marL="73152" marR="73152" marT="36576" marB="36576">
                    <a:solidFill>
                      <a:srgbClr val="0B1F3A"/>
                    </a:solidFill>
                  </a:tcPr>
                </a:tc>
                <a:tc>
                  <a:txBody>
                    <a:bodyPr/>
                    <a:lstStyle/>
                    <a:p>
                      <a:r>
                        <a:rPr sz="1300" b="1">
                          <a:solidFill>
                            <a:srgbClr val="FFFFFF"/>
                          </a:solidFill>
                        </a:rPr>
                        <a:t>Natija</a:t>
                      </a:r>
                    </a:p>
                  </a:txBody>
                  <a:tcPr marL="73152" marR="73152" marT="36576" marB="36576">
                    <a:solidFill>
                      <a:srgbClr val="0B1F3A"/>
                    </a:solidFill>
                  </a:tcPr>
                </a:tc>
              </a:tr>
              <a:tr h="411480">
                <a:tc>
                  <a:txBody>
                    <a:bodyPr/>
                    <a:lstStyle/>
                    <a:p>
                      <a:r>
                        <a:rPr sz="1200" b="0">
                          <a:solidFill>
                            <a:srgbClr val="1F2937"/>
                          </a:solidFill>
                        </a:rPr>
                        <a:t>Erta MODS</a:t>
                      </a:r>
                    </a:p>
                  </a:txBody>
                  <a:tcPr marL="73152" marR="73152" marT="36576" marB="36576">
                    <a:solidFill>
                      <a:srgbClr val="E8EEF6"/>
                    </a:solidFill>
                  </a:tcPr>
                </a:tc>
                <a:tc>
                  <a:txBody>
                    <a:bodyPr/>
                    <a:lstStyle/>
                    <a:p>
                      <a:r>
                        <a:rPr sz="1200" b="0">
                          <a:solidFill>
                            <a:srgbClr val="1F2937"/>
                          </a:solidFill>
                        </a:rPr>
                        <a:t>Nazoratsiz SIRS, ko‘p DAMPs</a:t>
                      </a:r>
                    </a:p>
                  </a:txBody>
                  <a:tcPr marL="73152" marR="73152" marT="36576" marB="36576">
                    <a:solidFill>
                      <a:srgbClr val="E8EEF6"/>
                    </a:solidFill>
                  </a:tcPr>
                </a:tc>
                <a:tc>
                  <a:txBody>
                    <a:bodyPr/>
                    <a:lstStyle/>
                    <a:p>
                      <a:r>
                        <a:rPr sz="1200" b="0">
                          <a:solidFill>
                            <a:srgbClr val="1F2937"/>
                          </a:solidFill>
                        </a:rPr>
                        <a:t>Buyrak, o‘pka shikasti, DIC</a:t>
                      </a:r>
                    </a:p>
                  </a:txBody>
                  <a:tcPr marL="73152" marR="73152" marT="36576" marB="36576">
                    <a:solidFill>
                      <a:srgbClr val="E8EEF6"/>
                    </a:solidFill>
                  </a:tcPr>
                </a:tc>
              </a:tr>
              <a:tr h="411480">
                <a:tc>
                  <a:txBody>
                    <a:bodyPr/>
                    <a:lstStyle/>
                    <a:p>
                      <a:r>
                        <a:rPr sz="1200" b="0">
                          <a:solidFill>
                            <a:srgbClr val="1F2937"/>
                          </a:solidFill>
                        </a:rPr>
                        <a:t>Kech MODS</a:t>
                      </a:r>
                    </a:p>
                  </a:txBody>
                  <a:tcPr marL="73152" marR="73152" marT="36576" marB="36576">
                    <a:solidFill>
                      <a:srgbClr val="FFFFFF"/>
                    </a:solidFill>
                  </a:tcPr>
                </a:tc>
                <a:tc>
                  <a:txBody>
                    <a:bodyPr/>
                    <a:lstStyle/>
                    <a:p>
                      <a:r>
                        <a:rPr sz="1200" b="0">
                          <a:solidFill>
                            <a:srgbClr val="1F2937"/>
                          </a:solidFill>
                        </a:rPr>
                        <a:t>IS tufayli nozokomial infeksiya</a:t>
                      </a:r>
                    </a:p>
                  </a:txBody>
                  <a:tcPr marL="73152" marR="73152" marT="36576" marB="36576">
                    <a:solidFill>
                      <a:srgbClr val="FFFFFF"/>
                    </a:solidFill>
                  </a:tcPr>
                </a:tc>
                <a:tc>
                  <a:txBody>
                    <a:bodyPr/>
                    <a:lstStyle/>
                    <a:p>
                      <a:r>
                        <a:rPr sz="1200" b="0">
                          <a:solidFill>
                            <a:srgbClr val="1F2937"/>
                          </a:solidFill>
                        </a:rPr>
                        <a:t>Pnevmoniya, uzoq ventilyatsiya</a:t>
                      </a:r>
                    </a:p>
                  </a:txBody>
                  <a:tcPr marL="73152" marR="73152" marT="36576" marB="36576">
                    <a:solidFill>
                      <a:srgbClr val="FFFFFF"/>
                    </a:solidFill>
                  </a:tcPr>
                </a:tc>
              </a:tr>
              <a:tr h="411480">
                <a:tc>
                  <a:txBody>
                    <a:bodyPr/>
                    <a:lstStyle/>
                    <a:p>
                      <a:r>
                        <a:rPr sz="1200" b="0">
                          <a:solidFill>
                            <a:srgbClr val="1F2937"/>
                          </a:solidFill>
                        </a:rPr>
                        <a:t>DIC: HMGB1</a:t>
                      </a:r>
                    </a:p>
                  </a:txBody>
                  <a:tcPr marL="73152" marR="73152" marT="36576" marB="36576">
                    <a:solidFill>
                      <a:srgbClr val="E8EEF6"/>
                    </a:solidFill>
                  </a:tcPr>
                </a:tc>
                <a:tc>
                  <a:txBody>
                    <a:bodyPr/>
                    <a:lstStyle/>
                    <a:p>
                      <a:r>
                        <a:rPr sz="1200" b="0">
                          <a:solidFill>
                            <a:srgbClr val="1F2937"/>
                          </a:solidFill>
                        </a:rPr>
                        <a:t>To‘qima omili ↑, NET ajralishi</a:t>
                      </a:r>
                    </a:p>
                  </a:txBody>
                  <a:tcPr marL="73152" marR="73152" marT="36576" marB="36576">
                    <a:solidFill>
                      <a:srgbClr val="E8EEF6"/>
                    </a:solidFill>
                  </a:tcPr>
                </a:tc>
                <a:tc>
                  <a:txBody>
                    <a:bodyPr/>
                    <a:lstStyle/>
                    <a:p>
                      <a:r>
                        <a:rPr sz="1200" b="0">
                          <a:solidFill>
                            <a:srgbClr val="1F2937"/>
                          </a:solidFill>
                        </a:rPr>
                        <a:t>Ivish kuchayadi</a:t>
                      </a:r>
                    </a:p>
                  </a:txBody>
                  <a:tcPr marL="73152" marR="73152" marT="36576" marB="36576">
                    <a:solidFill>
                      <a:srgbClr val="E8EEF6"/>
                    </a:solidFill>
                  </a:tcPr>
                </a:tc>
              </a:tr>
              <a:tr h="411480">
                <a:tc>
                  <a:txBody>
                    <a:bodyPr/>
                    <a:lstStyle/>
                    <a:p>
                      <a:r>
                        <a:rPr sz="1200" b="0">
                          <a:solidFill>
                            <a:srgbClr val="1F2937"/>
                          </a:solidFill>
                        </a:rPr>
                        <a:t>DIC: gistonlar</a:t>
                      </a:r>
                    </a:p>
                  </a:txBody>
                  <a:tcPr marL="73152" marR="73152" marT="36576" marB="36576">
                    <a:solidFill>
                      <a:srgbClr val="FFFFFF"/>
                    </a:solidFill>
                  </a:tcPr>
                </a:tc>
                <a:tc>
                  <a:txBody>
                    <a:bodyPr/>
                    <a:lstStyle/>
                    <a:p>
                      <a:r>
                        <a:rPr sz="1200" b="0">
                          <a:solidFill>
                            <a:srgbClr val="1F2937"/>
                          </a:solidFill>
                        </a:rPr>
                        <a:t>Trombin va trombotsit agregatsiyasi</a:t>
                      </a:r>
                    </a:p>
                  </a:txBody>
                  <a:tcPr marL="73152" marR="73152" marT="36576" marB="36576">
                    <a:solidFill>
                      <a:srgbClr val="FFFFFF"/>
                    </a:solidFill>
                  </a:tcPr>
                </a:tc>
                <a:tc>
                  <a:txBody>
                    <a:bodyPr/>
                    <a:lstStyle/>
                    <a:p>
                      <a:r>
                        <a:rPr sz="1200" b="0">
                          <a:solidFill>
                            <a:srgbClr val="1F2937"/>
                          </a:solidFill>
                        </a:rPr>
                        <a:t>Protein C to‘silishi, ivish buziladi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MODS va DIC mexanizmi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Vourc'h et al., Trauma-Induced Damage-Associated Molecular Patterns-Mediated Remote Organ Injury and Immunosuppression in the Acutely Ill Patient, betlar: PMID 29963048; DOI 10.3389/fimmu.2018.01330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qon quyish va pnevmoniya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ko‘p jarohatli bemorga ommaviy qon quyildi, keyin u reanimatsiyada sun’iy nafas apparatida yotibdi.</a:t>
            </a:r>
          </a:p>
          <a:p>
            <a:pPr>
              <a:spcAft>
                <a:spcPts val="1200"/>
              </a:spcAft>
            </a:pPr>
            <a:r>
              <a:rPr sz="2200">
                <a:solidFill>
                  <a:srgbClr val="1F2937"/>
                </a:solidFill>
                <a:latin typeface="Calibri"/>
              </a:rPr>
              <a:t>▸  Qon quyish infeksiya bilan doza bo‘yicha bog‘liq. Gemolizga uchragan eritrotsitlardan DAMPlar (shikastlanish bilan bog‘liq molekulyar obrazlar: gem, HSP70 va b.) ajraladi.</a:t>
            </a:r>
          </a:p>
          <a:p>
            <a:pPr>
              <a:spcAft>
                <a:spcPts val="1200"/>
              </a:spcAft>
            </a:pPr>
            <a:r>
              <a:rPr sz="2200">
                <a:solidFill>
                  <a:srgbClr val="1F2937"/>
                </a:solidFill>
                <a:latin typeface="Calibri"/>
              </a:rPr>
              <a:t>▸  Immunosupressiya kasalxona pnevmoniyasi (HAP) xavfini oshiradi. Og‘ir jarohatdan keyin uning ulushi 40% gacha yetishi mumkin.</a:t>
            </a:r>
          </a:p>
          <a:p>
            <a:pPr>
              <a:spcAft>
                <a:spcPts val="1200"/>
              </a:spcAft>
            </a:pPr>
            <a:r>
              <a:rPr sz="2200">
                <a:solidFill>
                  <a:srgbClr val="1F2937"/>
                </a:solidFill>
                <a:latin typeface="Calibri"/>
              </a:rPr>
              <a:t>▸  Savol: qon quyish pnevmoniyaga qanday olib kelishi mumkin? Sabab qon quyishning o‘zimi yoki jarohat og‘irligimi?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Vourc'h et al., Trauma-Induced Damage-Associated Molecular Patterns-Mediated Remote Organ Injury and Immunosuppression in the Acutely Ill Patient, betlar: PMID 29963048; Brøchner et al., Pathophysiology of the systemic inflammatory response after major accidental trauma, betlar: PMID 19754938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Jarrohlik muddati va xulosa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Damage-control: 1-kun faqat qisqa amallar; gipotermiya, atsidoz, koagulopatiya xavfi oldi olinadi.</a:t>
            </a:r>
          </a:p>
          <a:p>
            <a:pPr>
              <a:spcAft>
                <a:spcPts val="800"/>
              </a:spcAft>
            </a:pPr>
            <a:r>
              <a:rPr sz="1800">
                <a:solidFill>
                  <a:srgbClr val="1F2937"/>
                </a:solidFill>
                <a:latin typeface="Calibri"/>
              </a:rPr>
              <a:t>▸  Rekonstruktiv jarrohlik pH, harorat, koagulyatsiya me’yorlashgach; laktat &lt;2, trombosit &gt;100 000/μl.</a:t>
            </a:r>
          </a:p>
          <a:p>
            <a:pPr>
              <a:spcAft>
                <a:spcPts val="800"/>
              </a:spcAft>
            </a:pPr>
            <a:r>
              <a:rPr sz="1800">
                <a:solidFill>
                  <a:srgbClr val="1F2937"/>
                </a:solidFill>
                <a:latin typeface="Calibri"/>
              </a:rPr>
              <a:t>▸  Xulosa: kechiktirish bahsli — 3 hafta tavsiyasi sinovlarga asoslanmagan, kechiktirish xavfi ham bor.</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Dastlabki soat: hayotiy amallar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1-kun: damage-control jarrohlik</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Reanimatsiya: me’yorlashtirish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Rekonstruktiv jarrohlik</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Kechiktirish: 3 hafta bahsli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Jarrohlik muddati ketma-ketligi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Brøchner et al., Pathophysiology of the systemic inflammatory response after major accidental trauma, betlar: PMID 19754938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79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Travmadan keyin o‘lim uch cho‘qqi beradi: birinchi soat ichida, keyingi 24 soatda (gemorragik shok katta rol o‘ynaydi) va kunlar yoki haftalar o‘tib (ko‘pincha SIRS yoki MODS sabab bo‘ladi). Eslab qolish usuli: «1 soat – 24 soat – kunlar/haftalar». SIRS – tizimli yallig‘lanish javobi sindromi, MODS – ko‘p a’zolar disfunksiyasi sindromi.</a:t>
            </a:r>
          </a:p>
          <a:p>
            <a:pPr>
              <a:spcAft>
                <a:spcPts val="1200"/>
              </a:spcAft>
            </a:pPr>
            <a:r>
              <a:rPr sz="1800">
                <a:solidFill>
                  <a:srgbClr val="1F2937"/>
                </a:solidFill>
                <a:latin typeface="Calibri"/>
              </a:rPr>
              <a:t>▸  «Ikki zarba» tahlili: birinchi zarba – travmaning o‘zi, ikkinchisi – zarur damage-control (shikastni cheklovchi) jarrohlik. Yakuniy tiklovchi operatsiya ko‘pincha kechiktiriladi, chunki gipotermiya, atsidoz va koagulopatiya xavfli uchligi hamda immun tizimga yangi zarba oldini olinadi. Eslab qolish: «sovuq – kislota – qon ivishi buzilishi».</a:t>
            </a:r>
          </a:p>
          <a:p>
            <a:pPr>
              <a:spcAft>
                <a:spcPts val="1200"/>
              </a:spcAft>
            </a:pPr>
            <a:r>
              <a:rPr sz="1800">
                <a:solidFill>
                  <a:srgbClr val="1F2937"/>
                </a:solidFill>
                <a:latin typeface="Calibri"/>
              </a:rPr>
              <a:t>▸  Gemodinamik javob ikki fazali. Shok fazasida qon tomirlar toraygan bo‘ladi, qon markaziy a’zolarga o‘tadi. Suyuqlik bilan reanimatsiyadan keyin oqim (giperметаболик) fazasi boshlanadi: tomirlar kengayadi, kislorod sarfi oshadi. Taxikardiya, tez nafas olish, leykotsitoz va harorat 4–5 kunda me’yorlashmasa, asoratdan shubha qilinadi.</a:t>
            </a:r>
          </a:p>
          <a:p>
            <a:pPr>
              <a:spcAft>
                <a:spcPts val="1200"/>
              </a:spcAft>
            </a:pPr>
            <a:r>
              <a:rPr sz="1800">
                <a:solidFill>
                  <a:srgbClr val="1F2937"/>
                </a:solidFill>
                <a:latin typeface="Calibri"/>
              </a:rPr>
              <a:t>▸  DAMPs – shikastlangan to‘qimalardan qonga chiqadigan hujayra ichidagi molekulalar. Ular avval sterril SIRS va a’zolar yetishmovchiligini keltiradi. Keyin, taxminan 5–15-kunlarda, CARS orqali immunosupressiya rivojlanadi va kasalxona infeksiyalari, asosan pnevmoniya xavfi oshadi. Diqqat: SIRS (yallig‘lanish) ≠ CARS (yallig‘lanishga qarshi javob).</a:t>
            </a:r>
          </a:p>
          <a:p>
            <a:pPr>
              <a:spcAft>
                <a:spcPts val="1200"/>
              </a:spcAft>
            </a:pPr>
            <a:r>
              <a:rPr sz="1800">
                <a:solidFill>
                  <a:srgbClr val="1F2937"/>
                </a:solidFill>
                <a:latin typeface="Calibri"/>
              </a:rPr>
              <a:t>▸  Qon quyish ham DAMPs manbai bo‘lishi mumkin. Transfuziyadan keyin 24 soat ichida eritrotsitlarning 25% gacha qismi gemolizga uchrashi mumkin. Bunda gem, HSP70, adenozin va boshqa DAMPs qonga chiqadi. Infeksiya xavfi quyilgan qon miqdoriga bog‘liq holda ortadi.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kichik to‘qima jarohati oldi. Jarohatga javoban har doim qaysi reaksiya kuzatiladi?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Immun falaj va ikkilamchi infeksiya rivojlanishi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Jarohat sohasida mahalliy yallig‘lanish javobi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Butun organizmni qamragan tizimli yallig‘lanish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Sepsis bilan kechuvchi ko‘p a’zo disfunksiyasi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Asoratsiz travmada tizimli yallig‘lanish javobi qanday xususiyatga ega?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Doimiy, oldindan aytib bo‘lmaydigan, faqat yallig‘lantiruvchi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yallig‘lanishga qarshi mediatorlar hisobiga kechadi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og‘ir jarohatda chiqadi va doim zararli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Vaqtinchalik, bashoratli, mediatorlar o‘rtasida muvozanatli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Og‘ir travma olgan bemorga zudlik bilan zarur shikastni nazorat qilish jarrohligi (damage-control) o‘tkazildi. Ko‘p zarba nazariyasida bu jarrohlik nima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Immunitetga ikkinchi zarba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Immunitetga birinchi zarba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Immunitetga uchinchi zarba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Immunitetga zarba bo‘lmaydi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reanimatsiyada barqarorlashtirilmoqda, yakuniy tiklovchi jarrohlik kechiktirilmoqda. Qaysi uchlik xavfdan saqlanish ko‘zda tutiladi?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Giperglikemiya, leykotsitoz va taxikardiya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Gipoksiya, giperkapniya va gipovolemiya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Gipotermiya, atsidoz va koagulopatiya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Vazokonstriksiya, oliguriya va gipernatriemiya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Travmadan 10 kun o‘tgach bemorda dastlabki yallig‘lanish pasaydi, ammo kasalxona pnevmoniyasi rivojlandi. Bu qaysi davrga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Dastlabki shok fazasi va periferik vazokonstriksiya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Kompensator yallig‘lanishga qarshi javob va immunosupressiya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Birinchi soatlardagi gemorragik shok bosqichi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Erta steril SIRS va undan kelgan a’zo yetishmovchiligi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Qon yo‘qotgan, hali infuziya olmagan bemorda shok fazasining qaysi gemodinamik belgisi kutiladi?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Perifer vazokonstriksiya, qonning markaziy a’zolarga ko‘chishi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Perifer vazodilatatsiya, mushak va jarohatga qon oqimi ortishi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Kislorod iste’moli va CO2 hosil bo‘lishining kuchli ortishi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Natriy va suv chiqib ketishi, qon bosimining ko‘tarilishi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Og‘ir travmadan 5 kun o‘tgach bemorda taxikardiya, tezlashgan nafas, leykotsitoz va isitma saqlanmoqda. Qanday xulosa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Bu normal oqim fazasi, faqat kuzatishning o‘zi yetarli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Asoratlar, masalan infeksiya, bo‘lishi mumkinligi shubha qilinadi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Shok fazasi qaytadan boshlangan, vazokonstriksiya kutiladi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Gormonal davo natijani yaxshilashi isbotlangan, uni boshlash kerak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rekonstruktiv operatsiyadan oldin neytrofillar apoptozi kamayishining ham tiklanishini kutmoqchi. Taxminan qancha kutiladi?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Taxminan 1 hafta, MHCII ekspressiyasi tiklanishi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Taxminan 2 hafta, oksidlovchi portlash tiklanishi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Taxminan 3 hafta, neytrofil apoptozi tiklanishi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Taxminan 6 soat, oksidlovchi portlash cho‘qqisi bilan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Travmadan keyingi o‘limning ikkinchi cho‘qqisiga (dastlabki 24 soat) eng katta hissa qo‘shadigan holat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Ventilyator bilan bog‘liq pnevmoniya rivojlanishi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Ko‘p a’zolar disfunksiyasi sindromi (MODS)</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Kech rivojlangan sepsis va infeksiyalar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Gemorragik shok va qon yo‘qotish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Dastlabki SIRS (tizimli yallig‘lanish javobi sindromi)dan keyin CARS (kompensator yallig‘lanishga qarshi javob sindromi) travmadan qancha vaqt o‘tgach rivojlanadi?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Travmadan keyingi dastlabki 30 daqiqa ichida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Travmadan 5-15 kun o‘tgandan keyin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Travmadan keyingi dastlabki 24 soat ichida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travmadan 3 hafta o‘tgandan keyin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og‘ir travmadan keyin ikki haftadan ortiq giper metabolik holatda turibdi. Bu holatda nimadan shubhalanish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Og‘ir SIRS va yashirin infeksiya yoki sepsis</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Asoratsiz tuzalishning odatiy davom etishi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gormonal davo zarurligi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Moddalar almashinuvining me’yoriga qaytishi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Asoratsiz travmadan 6 kun o‘tgach bemorda taxikardiya, tez nafas olish, leykotsitoz va yuqori harorat saqlanib qolgan. Qanday xulosa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Bu oqim fazasining odatiy davom etishi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Asoratlar rivojlanganidan shubhalanish kerak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Shok fazasi endi boshlanayotgani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Mikrosirkulyatsiya to‘liq tiklangani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Travmadan keyin plazmada bir soat ichida aniqlanadigan va jigarda o‘tkir faza oqsillari (CRP) sintezini qo‘zg‘atadigan sitokin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IL-1</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IL-8</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IL-6</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IL-10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Travma joyida neytrofil qon tomir devori bo‘ylab dumalab, so‘ng to‘xtab, mustahkam yopishdi. Aynan shu mustahkam yopishishni qaysi molekulalar ta’minlaydi?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Selektinlar, masalan CD62L</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HMGB1 oqsili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MHCII molekulalari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Integrinlar, masalan CD11b/CD18</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Travmadan keyin sitokinlar va o‘tkir faza oqsillarining yuqori darajasi pasaydi, keyin qonda ularning ikkinchi cho‘qqisi aniqlandi. Bu nimani anglatishi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Tiklanish bosqichi tugaganini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Infeksiya kabi asorat rivojlanganini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shikast kuchayganini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Immunitet to‘liq me’yorlashganini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2006-yilgi konsensusga ko‘ra, travmada klinik ahamiyatli alarmin qaysi belgi bilan ta’riflanadi?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Travmadan so‘ng darhol ajralib chiqadi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Travmadan 5–15 kun o‘tgach paydo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Plazmadagi miqdori yallig‘lanishga bog‘liq emas</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patogen mikroblardan hosil bo‘ladi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Travmadan keyin bemor plazmasida yadro DNK va HSP70 (issiqlik zarbi oqsili 70) darajasi yuqori. Monotsitlardagi HLA-DR ifodasi qanday o‘zgaradi?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Ifodasi keskin ortadi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Ifodasi pasayadi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Ifodasi deyarli o‘zgarmaydi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Ifodasi faqat T-hujayrada pasayadi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Og‘ir travmali bemorda gipotermiya, atsidoz va koagulopatiya bor. Birinchi kunda qaysi taktika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Rekonstruktiv jarrohlik darhol o‘tkaziladi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Jarrohlik cheklanadi, holat barqarorlashtiriladi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Barcha operatsiyalar uch haftaga qoldiriladi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Gormonal davo asosiy usul sifatida tanlanadi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Travmadan 8 kun o‘tgach bemorda kasalxona pnevmoniyasi rivojlanib, organ yetishmovchiligi boshlandi. Kech MODS (ko‘p organ disfunksiyasi sindromi) asosiy sababi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Boshlang‘ich nazoratsiz SIRS</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gipovolemik shok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Immunosupressiya tufayli nozokomial infeksiya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reperfuziya shikasti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Ko‘p travmali bemorga massiv qon quyildi. Gemolizga uchragan eritrotsitlar qaysi molekulani DAMP sifatida qon oqimiga chiqaradi?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Glyukagon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Aldosteron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Kortizol</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Gem (heme)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Jarohat sohasida mahalliy yallig‘lanish javobi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Har qanday to‘qima shikastida mahalliy yallig‘lanish javobi doim bo‘ladi. Tizimli javob faqat og‘ir yoki ko‘p jarohatda qo‘shiladi.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Brøchner et al., Pathophysiology of the systemic inflammatory response after major accidental trauma, PMID 19754938-bet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Vaqtinchalik, bashoratli, mediatorlar o‘rtasida muvozanatli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Asoratsiz jarohatda javob vaqtinchalik, bashorat qilinadigan va yallig‘lantiruvchi hamda yallig‘lanishga qarshi mediatorlar orasida muvozanatli bo‘ladi. U to‘qima tiklanishi uchun zarur.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Brøchner et al., Pathophysiology of the systemic inflammatory response after major accidental trauma, PMID 19754938-bet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Immunitetga ikkinchi zarba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Birinchi zarba travmaning o‘zi, ikkinchisi zarur damage-control jarrohligi. Takroriy zarbalar immun tizimni charchatib, infeksiya va sepsis xavfini oshirishi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Brøchner et al., Pathophysiology of the systemic inflammatory response after major accidental trauma, PMID 19754938-bet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Gipotermiya, atsidoz va koagulopatiya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Yakuniy jarrohlik gipotermiya, atsidoz va koagulopatiyadan iborat zararli uchlikdan hamda immun tizimga yana bir zarbadan saqlanish uchun kechiktiriladi.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Brøchner et al., Pathophysiology of the systemic inflammatory response after major accidental trauma, PMID 19754938-bet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Kompensator yallig‘lanishga qarshi javob va immunosupressiya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Erta bosqichda SIRS a’zo yetishmovchiligiga olib keladi. Travmadan taxminan 5-15 kun o‘tgach CARS immunosupressiyani keltirib chiqaradi va nozokomial infeksiyaga moyillikni oshiradi.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Vourc'h et al., Trauma-Induced Damage-Associated Molecular Patterns-Mediated Remote Organ Injury and Immunosuppression in the Acutely Ill Patient, PMID 29963048-bet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Perifer vazokonstriksiya, qonning markaziy a’zolarga ko‘chishi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Shok fazasida gemorragiya gipovolemiya chaqiradi. Bunda perifer vazokonstriksiya, natriy xlorid va suvning ushlanishi hamda qonning periferiyadan markaziy hayotiy a’zolarga ko‘chishi kuzatiladi. Vazodilatatsiya va oqim ortishi esa suyuqlik bilan reanimatsiyadan keyingi oqim (flow) fazasiga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Brøchner et al., Pathophysiology of the systemic inflammatory response after major accidental trauma, PMID 19754938-bet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Asoratlar, masalan infeksiya, bo‘lishi mumkinligi shubha qilinadi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Asoratsiz travmada oqim fazasi belgilari bir necha kun davom etadi. Taxikardiya, tezlashgan nafas, leykotsitoz va harorat 4-5 kun ichida normallashmasa, asoratlar shubha qilinadi. Odamlarda gormonal davo natijani yaxshilashi isbotlanmagan.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Brøchner et al., Pathophysiology of the systemic inflammatory response after major accidental trauma, PMID 19754938-bet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Taxminan 3 hafta, neytrofil apoptozi tiklanishi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Asoratsiz travmada monotsitlarda MHCII taxminan 1 haftada normallashadi. Neytrofillar apoptozining kamayishi esa 3 hafta davom etadi. Immun tizim normallashishi talab qilinsa, operatsiya 3 haftaga qoldirilardi. Bu yondashuv randomizatsiyalangan sinovlarga asoslanmagan.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Brøchner et al., Pathophysiology of the systemic inflammatory response after major accidental trauma, PMID 19754938-bet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Gemorragik shok va qon yo‘qotish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Travmada o‘lim uch cho‘qqiga ega: birinchi soat ichida, keyingi 24 soat ichida va kunlar-haftalardan so‘ng. Ikkinchi cho‘qqida gemorragik shok yuqori o‘limga sezilarli hissa qo‘shadi. Uchinchi cho‘qqida sabab ko‘pincha SIRS yoki MODS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Brøchner et al., Pathophysiology of the systemic inflammatory response after major accidental trauma, PMID 19754938-bet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Travmadan 5-15 kun o‘tgandan keyin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Erta bosqichda yallig‘lanish javobi a’zolar yetishmovchiligiga olib kelishi mumkin. Travmadan 5-15 kun o‘tgach CARS rivojlanib, immunosupressiya va nozokomial infeksiyaga moyillikni oshiradi.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Vourc'h et al., Trauma-Induced Damage-Associated Molecular Patterns-Mediated Remote Organ Injury and Immunosuppression in the Acutely Ill Patient, PMID 29963048-bet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Og‘ir SIRS va yashirin infeksiya yoki sepsis</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Asoratsiz og‘ir travmada giper metabolik faza odatda bir haftadan kam davom etadi. Agar u 1-2 haftadan oshsa, og‘ir sistemali yallig‘lanish javobi (SIRS) rivojlangan bo‘lishi mumkin. Shunda yashirin infeksiya va sepsisni ham o‘ylash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Brøchner et al., Pathophysiology of the systemic inflammatory response after major accidental trauma, PMID 19754938-bet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Asoratlar rivojlanganidan shubhalanish kerak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Asoratsiz bemorda oqim fazasi belgilari bir necha kun davom etadi. Agar taxikardiya, tez nafas, leykotsitoz va harorat 4-5 kunda me’yorlashmasa, asoratlardan shubhalanish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Brøchner et al., Pathophysiology of the systemic inflammatory response after major accidental trauma, PMID 19754938-bet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IL-6</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IL-6 travmadan keyin bir soat ichida plazmada aniqlanadi va jigarda CRP hamda prokaltsitonin sintezini rag‘batlantiradi. IL-1 isitma chaqiradi, IL-8 neytrofillarni shikast joyiga tortadi, IL-10 esa yallig‘lanishga qarshi sitokindir.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Brøchner et al., Pathophysiology of the systemic inflammatory response after major accidental trauma, PMID 19754938-bet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Integrinlar, masalan CD11b/CD18</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Neytrofil ko‘chib o‘tishi uch bosqichda kechadi: dumalash, to‘xtash va to‘qimaga o‘tish. Dumalashda selektinlar (CD62L) qatnashadi, mustahkam yopishishni esa integrinlar (CD11b/CD18) ta’minlaydi.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Brøchner et al., Pathophysiology of the systemic inflammatory response after major accidental trauma, PMID 19754938-bet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Infeksiya kabi asorat rivojlanganini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Dastlabki yuqori sitokin darajasi asta-sekin me’yorlashadi va yallig‘lanishga qarshi javob bilan muvozanatlanadi. Ikkinchi cho‘qqi aniqlansa, infeksiya kabi asoratdan shubhalanish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Brøchner et al., Pathophysiology of the systemic inflammatory response after major accidental trauma, PMID 19754938-bet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Travmadan so‘ng darhol ajralib chiqadi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Konsensusga ko‘ra klinik ahamiyatli alarmin travmadan keyin darhol ajraladi. Uning miqdori travma og‘irligini va yallig‘lanish darajasini aks ettiradi. Mikrob mahsulotlari PAMP deyiladi, alarminlar esa organizmning o‘z molekulalaridir.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Vourc'h et al., Trauma-Induced Damage-Associated Molecular Patterns-Mediated Remote Organ Injury and Immunosuppression in the Acutely Ill Patient, PMID 29963048; DOI 10.3389/fimmu.2018.01330-bet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Ifodasi pasayadi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Timmermans tadqiqotida (166 bemor) yadro DNK va HSP70 darajasi HLA-DR ifodasi bilan teskari bog‘langan. Yadro DNK yuqori bo‘lib HLA-DR yanada pasaygan bemorlarda infeksiya ko‘proq uchragan. Bu DAMPlarning postravmatik immunosupressiyadagi rolini ko‘rsatadi.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Vourc'h et al., Trauma-Induced Damage-Associated Molecular Patterns-Mediated Remote Organ Injury and Immunosuppression in the Acutely Ill Patient, PMID 29963048; DOI 10.3389/fimmu.2018.01330-bet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Jarrohlik cheklanadi, holat barqarorlashtiriladi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Birinchi kuni jarrohlik nazoratli (damage control) bo‘ladi: uzun suyak sinishini stabillash, dekompressiya, debridment. Bu gipotermiya, atsidoz va koagulopatiya uchligini hamda yana bir yallig‘lanish zarbasini oldini oladi. Hayotni saqlovchi aralashuvlar kechiktirilmaydi, gormonal davoning foydasi isbotlanmagan.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Brøchner et al., Pathophysiology of the systemic inflammatory response after major accidental trauma, PMID 19754938; DOI 10.1186/1757-7241-17-43-bet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Immunosupressiya tufayli nozokomial infeksiya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Erta MODS odatda nazoratsiz SIRS bilan bog‘liq. Kech MODSda esa immunosupressiya tufayli nozokomial infeksiyalar, asosan pnevmoniya, asosiy rol o‘ynaydi. Kompensator yallig‘lanishga qarshi javob (CARS) travmadan 5–15 kun o‘tgach rivojlanadi.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Vourc'h et al., Trauma-Induced Damage-Associated Molecular Patterns-Mediated Remote Organ Injury and Immunosuppression in the Acutely Ill Patient, PMID 29963048; DOI 10.3389/fimmu.2018.01330-bet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Gem (heme)</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Gemolizlangan eritrotsitlar qon oqimiga ko‘p DAMP chiqaradi: gem, HSP70, RBP-4, IL-33, S100 oqsillari va adenozin. Gem TLR4 orqali makrofaglarda inflammasoma hosil bo‘lishini kuchaytiradi. Glyukagon, aldosteron va kortizol esa stress gormonlari bo‘lib, DAMP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Vourc'h et al., Trauma-Induced Damage-Associated Molecular Patterns-Mediated Remote Organ Injury and Immunosuppression in the Acutely Ill Patient, PMID 29963048; DOI 10.3389/fimmu.2018.01330-bet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Travmatik kasallik: tushunchasi, davrlari, asosiy komponentlari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79</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Brøchner et al. Pathophysiology of the systemic inflammatory response after major accidental trauma, Scandinavian Journal of Trauma, Resuscitation and Emergency Medicine. 2009. PMID 19754938; DOI 10.1186/1757-7241-17-43</a:t>
            </a:r>
          </a:p>
          <a:p>
            <a:pPr>
              <a:spcAft>
                <a:spcPts val="1200"/>
              </a:spcAft>
            </a:pPr>
            <a:r>
              <a:rPr sz="2000">
                <a:solidFill>
                  <a:srgbClr val="1F2937"/>
                </a:solidFill>
                <a:latin typeface="Calibri"/>
              </a:rPr>
              <a:t>▸  Vourc'h et al. Trauma-Induced Damage-Associated Molecular Patterns-Mediated Remote Organ Injury and Immunosuppression in the Acutely Ill Patient, Frontiers in Immunology. 2018. PMID 29963048; DOI 10.3389/fimmu.2018.01330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