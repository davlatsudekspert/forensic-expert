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Nima uchun hayot boshlanishiga aralashuv axloqiy muammo bo‘lib qoldi? 2) Reproduktiv etika qaysi masalalarni o‘rganadi? Doskada chizish: mavzu rejasini 6 bo‘limli «quyosh» sxemasi ko‘rinishida chizdiring. Tipik xato: reproduktiv etikani bioetikadan alohida fan deb o‘ylash; u bioetikaning tarkibiy qismi.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«Ayol tanasining qismi» va «axloqiy munosabatlar sub’ekti» ifodalari qanday farqlanadi? 2) Nima uchun maqom masalasi abort masalasi bilan bog‘liq? Doskada chizish: «maqom → abort muddati» o‘qli sxemasini chizing. Tipik xato: ikkinchi trimestrdagi reaksiya shakllanishini abortni to‘liq taqiqlovchi dalil deb talqin qilish; matnda bu faqat ayrimlarning fikri sifatida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«Potensial shaxs» tushunchasi nimani anglatadi? 2) Qaysi qarash abortga nisbatan qat’iyroq xulosaga olib keladi va nima uchun? Doskada chizish: jadvalni talabalar bilan birga to‘ldirib, har ustun uchun bittadan misol-argument yozdiring. Tipik xato: «potensial shaxs» ni «shaxs emas, demak ahamiyatsiz» deb tushunish; matnda faqat axloqiy maqom bahsi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ruhning kirish vaqti abort masalasida hal qiluvchi hisoblanadi? 2) Islom bo‘yicha manbadagi ikki xil muddatni qanday izohlash mumkin? Doskada jadvalni chizdiring va islom qatoriga «?» belgisini qo‘ying. Tipik xato: talabalar 4-oy va 5-oyni aralashtiradi yoki barcha dinlarni bir xil muddatli deb o‘ylaydi. Manbadagi nomuvofiqlikni ochiq ayting.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qadimgi Rimda va xristianlikda homilaga munosabat farq qilgan? 2) Aristotelning «demografik» yondashuvi bugungi qarashlardan nimasi bilan farq qiladi? Doskada vaqt chizig‘ini besh tugun bilan chizdiring. Tipik xato: Gippokrat va Aristotelning pozitsiyalarini bir xil deb o‘ylash; aslida Gippokrat taqiqlagan, Aristotel esa muayyan shartda ruxsat bergan.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Nima uchun bir mamlakatda abort taqiqi va ruxsati bir necha marta almashgan? 2) Argentina misolida qonun o‘zgarishining sabablari nima bo‘lishi mumkin? Doskada 1869, 1880, 1920, 1955, 2020 sanalarini ketma-ket yozdiring. Tipik xato: sanalarni va mamlakatlarni aralashtirish (AQSh 1880 ≠ Britaniya 1869); sobiq ittifoqda taqiq yilini manbada ko‘rsatilmagan holda o‘ylab topish.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so‘rang, javoblarni keyin oching. Muhokama: nega dinlar ruhning kirish muddatini abort chegarasi bilan bog‘laydi? Doskaga ikki ustun chizing: ‘shaxs’ va ‘potensial shaxs’, har biriga tarafdorlarni yozing. Tipik xato: talabalar ruh muddatlarini aralashtiradi. Eslatma: 102-betda islom uchun 5-oy ko‘rsatilgan, 87-betda esa 4-oy. Bu nomuvofiqlikni talabalarga ochiq ayting.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liberal pozitsiya tibbiy ko‘rsatmada nimani ustun qo‘yadi (ayol hayotini)? Oraliq pozitsiya nima uchun ikkala chekkadan farq qiladi? Doskada: jadvalni daftarga ko‘chirtiring va har pozitsiyaga bittadan dalil qo‘shtiring. Tipik xato: oraliq pozitsiyani liberal bilan aralashtirish. Oraliq pozitsiya abortni ayol huquqi deb tan olmaydi. Eslatma: 70 ming va ‘1000 ayolga 30’ raqamlari OCR matnida noaniq, tekshirib oling.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Talabalarni uchta guruhga bo‘ling, har guruh bitta pozitsiyadan javob bersin. Muhokama: xavfsiz bo‘lmagan abort xavfi qaysi pozitsiyaning dalilini kuchaytiradi? Ayolga javob berishda qanday axloqiy ziddiyat bor? Doskada: ‘pozitsiya → javob’ sxemasini chizing. Tipik xato: talabalar shaxsiy fikrini manbadagi dalil o‘rniga aytadi. Har javobni 89-betdagi dalil bilan asoslashni talab qiling.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Qaysi model ayol huquqi va homila himoyasini yaxshiroq muvozanatlaydi? 2) Nega Irlandiya va Polsha qoidalari bir xil emas? Doskada: uch modelni ustun ko‘rinishida chizib, har biriga bitta mamlakat yozdiring. Tipik xato: talabalar «ko‘rsatmalar» va «muddatlar» tizimlarini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Nima uchun ijtimoiy ko‘rsatmada muddat cheklangan, tibbiy ko‘rsatmada esa yo‘q? 2) Qarshi ko‘rsatma nimani anglatadi? Doskada: 12 — 22 hafta vaqt chizig‘ini chizib, har bosqichga asosni yozdiring. Tipik xato: 12 va 22 haftani aralashtirish; 22 hafta faqat ijtimoiy ko‘rsatmaga tegishli.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«Abort bepul va oson» degan fikr nega xavfli? 2) Ayolga abortdan oldin qanday ma’lumot berilishi kerak? Doskada: asoratlarni ikki ustunga ajrating: abort paytidagi va keyingi (uzoq muddatli). Tipik xato: abortni oddiy muolaja deb baholash va uzoq muddatli oqibatlarni (bepushtlik, tug‘ruq asoratlari) unutish.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Kontratsepsiya abortlar sonini nega kamaytiradi? 2) Kontratsepsiyaga qanday etik va diniy e’tirozlar bo‘lishi mumkin? Doskaga chizish: «kontratsepsiya → istalmagan homiladorlik kamayadi → abort kamayadi» zanjirini chizing. Tipik xato: JTA bayonotini abortni ma’qullash deb tushunish; u kontratsepsiya huquqi haqida.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ayol jinoiy javobgarlikka tortilmaydi? 2) Majburlashni jinoyat deb belgilashning etik asosi nima? Doskaga chizish: 114-modda va 115-moddani ikki ustunda yozing (nima jinoyat). Tipik xato: 114- va 115-moddani aralashtirish. 114 — noqonuniy homila tushirish, 115 — majburlash. Olti oylik taqiq bandi OCR matnida noaniq, shuning uchun darslikdan tekshirib oling.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Bu vaziyatda kim javobgar? 2) Majburlash qo‘shilsa, qaysi moddaga o‘tamiz (115)? Doskaga chizish: qonuniy abort belgilari va jinoiy abort belgilarini ikki ustunda yozing. Tipik xato: talaba ayolni ham javobgar deb hisoblaydi. Kitobga ko‘ra, ayol javobgarlikka tortilmaydi.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tibbiy muolajalar yozma rozilik bilan o‘tkaziladi? 2) Reproduktiv huquqlardan qaysi biri talabaga eng muhim ko‘rinadi? Doskada: reproduktiv huquqlar ro‘yxatini chizing. Qo‘shimcha: manbada bepushtlik oilalarning taxminan 10-20 foizida uchrashi (turli manbalar) aytilgan. Tipik xato: reproduktiv salomatlikni faqat kasallik yo‘qligi deb tushunish; ta’rifda ijtimoiy farovonlik ham bor.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surrogatlik nizomda yo‘qligi muhim? 2) Qaysi usul embrionga ko‘proq aralashadi? Doskada: 5 usulni ro‘yxat qilib, surrogatlikni alohida yozing. Tipik xato: surrogatlikni nizomdagi ART turi deb hisoblash. ICSI — spermatozoidning intratsitoplazmatik inyeksiyasi; EKU — in vitro urug‘lantirish.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Ikki ota (biologik va ijtimoiy) oila butunligiga qanday ta’sir qiladi? 2) Donorni belgilariga qarab tanlash nega etik muammo? Doskada: ikki ustunli A vs B jadvalini chizing. Qo‘shimcha: bu texnologiyada “ortiqcha” embrionlar muammosi yo‘q; samara turli ma’lumotlarda 10-20 foiz. Tipik xato: homologik va heterologik so‘zlarini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bittadan o‘qing, talabalar yozma javob bersin, so‘ng birga tekshiring. Muhokama: nega ijtimoiy va tibbiy ko‘rsatmalar uchun muddatlar farq qiladi? Nega geterologik inseminatsiya ko‘proq etik savol tug‘diradi? Doskada chizing: 12 hafta / 22 hafta / tibbiy ko‘rsatma muddat chizig‘i. Tipik xato: surrogatlikni ART nizomidagi ro‘yxatga kiritib yuborish yoki 12 va 22 haftani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qaysi bosqichda ortiqcha embrionlar paydo bo‘ladi va nima uchun bu etik muammo? Giperstimulyatsiya ayol salomatligiga qanday xavf tug‘diradi? Doskada chizing: 5 bosqichli zanjirni, har bosqich yoniga bitta etik yoki tibbiy xavfni yozing. Tipik xato: urug‘lantirishni ayol tanasi ichida o‘tadi deb o‘ylash yoki reduksiyani oddiy abort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Nobel mukofoti kashfiyotdan 30 yildan ko‘proq vaqt o‘tib berildi deb o‘ylaysiz? 23-25 foiz samaradorlik bemorga qanday aytilishi kerak? Doskada chizing: 1968-1978-2010 vaqt chizig‘ini. Tipik xato: 1968 yilni (laboratoriyada urug‘lantirish) 1978 yil (birinchi tug‘ilgan bola)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Ortiqcha embrionlar taqdiri axloqan qanday hal etilishi kerak? 2) Redukciyani abortga tenglash mumkinmi? Doskada: EKU axloqiy muammolarining 6 bandli ro‘yxatini chizing. Tipik xato: redukciya va abort bir xil deb o‘ylash; manbada bu faqat «ba’zi tadqiqotchilar» fikri.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Tibbiy xavflar haqida er-xotinga qanday ma’lumot berish kerak? 2) Axloqiy va tibbiy muammolar bir-biridan nimasi bilan farq qiladi? Doskada: EKU bosqichlari zanjirini chizib, har bosqichga tibbiy xavfni yozing. Tipik xato: tibbiy muammolarni axloqiy muammolar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cheklov embrion himoyasiga, qaysi biri oila yaxlitligiga qaratilgan? 2) Yumshatuvchi tavsiyalar muammoni to‘liq hal qiladimi? Doskada: jadvalni o‘zlari davom ettirsin. Tipik xato: tavsiyalar axloqiy muammolarni to‘liq yo‘qotadi deb o‘ylash (manbada «bir oz yumshatadi»). Eslatma: Germaniya va Kosta-Rika qatori OCR matnida uzilgan, o‘qituvchi asl matn bilan tekshirib olsin.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Ortiqcha embrionlar paydo bo‘lishining oldini olish uchun qaysi tavsiya eng samarali? 2) Reduksiyani abortga tenglashtirish to‘g‘rimi? Doskada: vaziyatdan yechimgacha zanjir chizing (giperstimulyatsiya → ortiqcha embrion → variantlar). Tipik xato: reduksiya va abortni to‘liq bir xil hodisa deb o‘ylash. Manbada buni faqat ba’zi tadqiqotchilar shunday baholashi aytilgan.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Muzlatilgan embrionlardan yillar o‘tib tug‘ilgan bolalar qanday etik savollar tug‘diradi? 2) Nega har bir usulda ko‘rsatma talab qilinadi? Doskada: uch usulni jadvalga ‘usul – mohiyat – ko‘rsatma’ tartibida yozdiring. Tipik xato: xetching va SII ni aralashtirish; xetchingda qobiq yoriladi, SII da spermatozoid oosit ichiga kiritiladi.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Tijoriy va altruistik surrogatlikning axloqiy farqi nimada? 2) Kimni ona deb hisoblash kerak: genetik yoki tug‘gan ayolnimi? Doskada: 5 bosqichli zanjirni chizib, har bosqichda kim ishtirok etishini yozdiring. Diqqat: genetik ona ≠ surrogat ona; tug‘gan ayol odatda biologik ona hisoblanadi. Eslatma: O‘zbekistondagi nizomda surrogat onalik keltirilmagan.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Bolaning ota-onasi kim bo‘lishi kerak: tuxum egasimi yoki tuqqan ayolmi? 2) Tijoriy va altruistik surrogatlik axloqan farq qiladimi? Doskada chizish: besh ota-ona (er, xotin, tuxum donori, sperma donori, surrogat ona) sxemasini chizing. Tipik xato: genetik ona bilan biologik onani aralashtirish. Kitobga ko‘ra, bola kelib chiqishini bilsa, unda psixologik va axloqiy muammolar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ba’zi davlatlar surrogatlikni taqiqlaydi, boshqalari talablar bilan ruxsat beradi? 2) Nima uchun JTA gameta va embrion oldi-sotdisini rad etadi? Doskada chizish: mamlakatlar bo‘yicha ‘taqiq / ruxsat + talablar’ ikki ustunli ro‘yxat. Tipik xato: O‘zbekiston nizomida surrogatlik bor deb o‘ylash; manbada u keltirilmagan. Xalqaro etik tavsiyaga ko‘ra, surrogatlik imkon qadar cheklanishi, surrogat onaning huquqlari himoyalanishi kerak, tijoriy asosi esa nomaqbul.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 javobni daftarga yozadi, so‘ng juftlikda tekshiradi. Muhokama: 1) EKUning qaysi bosqichida ortiqcha embrionlar muammosi tug‘iladi? 2) Qaysi hollarda SII qo‘llanadi? Doskada chizish: EKUning 6 bosqichli zanjiri. Tipik xato: xetching bilan SIIni aralashtirish va ‘qisman surrogatlik’ni genetik onaning tuxumi bilan bog‘lash.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Ruh kirishi muddati embrion maqomiga qanday ta’sir qiladi? 2) Nega tadqiqot uchun embrion yaratish taqiqlanadi? Doskada: jadvalni ko‘chirib, har guruhga mamlakat qo‘shing. AQSh — Amerika Qo‘shma Shtatlari. Tipik xato: 14 kunlik ruxsatni barcha mamlakatlarga tegishli deb o‘ylash. Eslatma: kitobda islomda ruh kirishi 87-betda 4-oy, 102-betda 5-oy deb berilgan — talabalarga bu farqni aytib, aniqlashtirishni so‘rang.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Bir xil tadqiqot turli mamlakatda nega turlicha baholanadi? 2) Embrionni himoya qilish va ilm manfaatini qanday muvozanatlash mumkin? Doskada: ikki ustunli ‘ruxsat/taqiq’ sxemasini chizdiring. Tipik xato: ‘ruxsat etilgan’ degani ‘cheklovsiz’ deb tushunilishi; manbada tartib qonun bilan belgilangani aytilgan.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Prenatal diagnostika bilan evgenika o‘rtasidagi chegara qayerda? 2) Genetik maslahatda tanlov kimning qo‘lida bo‘lishi kerak? Doskada: ‘diagnostika → natija → shaxsiy tanlov’ zanjirini chizdiring. Tipik xato: evgenikani faqat salbiy tarixiy hodisa deb bilish; kitobda uning maqsadlari bugun ham dolzarb ekani aytilgan.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Salbiy va ijobiy evgenika nima bilan farq qiladi? 2) Nega bunday qonunlar tez tarqalgan? Doskada: to‘rt sanali vaqt chizig‘ini chizdiring. Tipik xato: salbiy evgenikani (sterilizatsiya) ijobiy evgenika (rag‘batlantirish, selektsiya)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Talabalar 3-4 kishilik guruhda ishlaydi. Muhokama: 1) Davlat qarori kimning manfaatini ifodalaydi? 2) Suiiste’mol xavfi qayerda paydo bo‘ladi? Doskada: sabab–oqibat zanjirini chizdiring (evgenika g‘oyasi → qonun → suiiste’mol). Javob: kitobga ko‘ra, bu aralashuv suiiste’mol va zo‘ravonlikka olib keladi. Tipik xato: sterilizatsiyani tibbiy ko‘rsatma bilan qilinadigan ixtiyoriy muolaja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Takrorlash savollari: 1) Embrionning axloqiy maqomi bo‘yicha qanday qarashlar bor? 2) Abort bo‘yicha uch pozitsiyani ayting. 3) EKU bosqichlari va muammolari nima? 4) Surrogatlikka qanday etik tavsiyalar berilgan? 5) Embrionlarda tadqiqotga dunyoda qanday ikki yondashuv bor? 6) Sterilizatsiya qachon yo‘l qo‘yib bo‘lmas aralashuv bo‘ladi? Doskada: to‘rt blokli xulosa sxemasini chizdiring. Tipik xato: O‘zbekiston muddatlarini (12 va 22 hafta)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Abort, sterilizatsiya, yangi reproduktiv texnologiyalar: abort bo‘yicha pozitsiyalar, sun’iy va in vitro urug‘lantirish, surrogatlik, prenatal diagnostika, embrionlar ustida tadqiqotlar (M5; A4)</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XX asrda biologiya va tibbiyot jadal rivojlandi. Endi inson hayotining boshlanishiga aralashish mumkin, bu esa yangi axloqiy muammolarni keltirib chiqardi.</a:t>
            </a:r>
          </a:p>
          <a:p>
            <a:pPr>
              <a:spcAft>
                <a:spcPts val="1200"/>
              </a:spcAft>
            </a:pPr>
            <a:r>
              <a:rPr sz="2200">
                <a:solidFill>
                  <a:srgbClr val="1F2937"/>
                </a:solidFill>
                <a:latin typeface="Calibri"/>
              </a:rPr>
              <a:t>▸  Yangi texnologiyalar nazoratsiz va axloq me’yorlarisiz qo‘llansa, inson va avlodlarga ta’sir qilib, oilaviy munosabatlarga putur yetkazishi mumkin.</a:t>
            </a:r>
          </a:p>
          <a:p>
            <a:pPr>
              <a:spcAft>
                <a:spcPts val="1200"/>
              </a:spcAft>
            </a:pPr>
            <a:r>
              <a:rPr sz="2200">
                <a:solidFill>
                  <a:srgbClr val="1F2937"/>
                </a:solidFill>
                <a:latin typeface="Calibri"/>
              </a:rPr>
              <a:t>▸  Reproduktiv etika bioetikaning bir qismi. U inson reproduksiyasiga aralashuvning etik muammolarini o‘rganadi.</a:t>
            </a:r>
          </a:p>
          <a:p>
            <a:pPr>
              <a:spcAft>
                <a:spcPts val="1200"/>
              </a:spcAft>
            </a:pPr>
            <a:r>
              <a:rPr sz="2200">
                <a:solidFill>
                  <a:srgbClr val="1F2937"/>
                </a:solidFill>
                <a:latin typeface="Calibri"/>
              </a:rPr>
              <a:t>▸  Reja: abort, ART (yordamchi reproduktiv texnologiyalar), surrogatlik, embrion tadqiqotlari, prenatal diagnostika, evgenika va sterilizatsiya.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93, 94, 87; 93; 170-173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Embrion va homilaning axloqiy maqomi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Hali tug‘ilmagan tirik jonzot (embrion, homila) ayol tanasining qismi emas, axloqiy munosabatlarning ijtimoiy tan olingan sub’ekti sifatida ko‘riladi.</a:t>
            </a:r>
          </a:p>
          <a:p>
            <a:pPr>
              <a:spcAft>
                <a:spcPts val="1200"/>
              </a:spcAft>
            </a:pPr>
            <a:r>
              <a:rPr sz="2200">
                <a:solidFill>
                  <a:srgbClr val="1F2937"/>
                </a:solidFill>
                <a:latin typeface="Calibri"/>
              </a:rPr>
              <a:t>▸  Shuning uchun embrion va homilada inson mohiyati borligining ijtimoiy tan olingan chegarasini belgilash juda muhim.</a:t>
            </a:r>
          </a:p>
          <a:p>
            <a:pPr>
              <a:spcAft>
                <a:spcPts val="1200"/>
              </a:spcAft>
            </a:pPr>
            <a:r>
              <a:rPr sz="2200">
                <a:solidFill>
                  <a:srgbClr val="1F2937"/>
                </a:solidFill>
                <a:latin typeface="Calibri"/>
              </a:rPr>
              <a:t>▸  Embrion va homilaning axloqiy maqomini aniqlash homiladorlikni to‘xtatish masalasining yechimi bilan chambarchas bog‘liq.</a:t>
            </a:r>
          </a:p>
          <a:p>
            <a:pPr>
              <a:spcAft>
                <a:spcPts val="1200"/>
              </a:spcAft>
            </a:pPr>
            <a:r>
              <a:rPr sz="2200">
                <a:solidFill>
                  <a:srgbClr val="1F2937"/>
                </a:solidFill>
                <a:latin typeface="Calibri"/>
              </a:rPr>
              <a:t>▸  Ikkinchi trimestrda (4–6 oy) turli ta’sirlarga reaksiya shakllanadi. Shu sababli ayrimlar abortni erta muddatda, asosan birinchi trimestrda mumkin deb biladi.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87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Ikki yondashuv: shaxs yoki potensial shaxs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Masalada ikki yondashuv bor: embrionni shaxs deb biladiganlar va uni potensial shaxs deb biladiganlar.</a:t>
            </a:r>
          </a:p>
          <a:p>
            <a:pPr>
              <a:spcAft>
                <a:spcPts val="800"/>
              </a:spcAft>
            </a:pPr>
            <a:r>
              <a:rPr sz="1800">
                <a:solidFill>
                  <a:srgbClr val="1F2937"/>
                </a:solidFill>
                <a:latin typeface="Calibri"/>
              </a:rPr>
              <a:t>▸  Birinchi qarash embrionga axloqiy maqom beradi; ikkinchisi tug‘ilgunga qadar bunday maqomni tan olmaydi.</a:t>
            </a:r>
          </a:p>
          <a:p>
            <a:pPr>
              <a:spcAft>
                <a:spcPts val="800"/>
              </a:spcAft>
            </a:pPr>
            <a:r>
              <a:rPr sz="1800">
                <a:solidFill>
                  <a:srgbClr val="1F2937"/>
                </a:solidFill>
                <a:latin typeface="Calibri"/>
              </a:rPr>
              <a:t>▸  Diqqat: «potensial shaxs» ≠ «haqiqiy shaxs». Bahsning asosiy tafovuti shu.</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175105"/>
                <a:gridCol w="2056434"/>
                <a:gridCol w="2056434"/>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Hayot himoyasi</a:t>
                      </a:r>
                    </a:p>
                  </a:txBody>
                  <a:tcPr marL="73152" marR="73152" marT="36576" marB="36576">
                    <a:solidFill>
                      <a:srgbClr val="0B1F3A"/>
                    </a:solidFill>
                  </a:tcPr>
                </a:tc>
                <a:tc>
                  <a:txBody>
                    <a:bodyPr/>
                    <a:lstStyle/>
                    <a:p>
                      <a:r>
                        <a:rPr sz="1300" b="1">
                          <a:solidFill>
                            <a:srgbClr val="FFFFFF"/>
                          </a:solidFill>
                        </a:rPr>
                        <a:t>Erkin tanlov</a:t>
                      </a:r>
                    </a:p>
                  </a:txBody>
                  <a:tcPr marL="73152" marR="73152" marT="36576" marB="36576">
                    <a:solidFill>
                      <a:srgbClr val="0B1F3A"/>
                    </a:solidFill>
                  </a:tcPr>
                </a:tc>
              </a:tr>
              <a:tr h="411480">
                <a:tc>
                  <a:txBody>
                    <a:bodyPr/>
                    <a:lstStyle/>
                    <a:p>
                      <a:r>
                        <a:rPr sz="1200" b="0">
                          <a:solidFill>
                            <a:srgbClr val="1F2937"/>
                          </a:solidFill>
                        </a:rPr>
                        <a:t>Tarafdorlar</a:t>
                      </a:r>
                    </a:p>
                  </a:txBody>
                  <a:tcPr marL="73152" marR="73152" marT="36576" marB="36576">
                    <a:solidFill>
                      <a:srgbClr val="E8EEF6"/>
                    </a:solidFill>
                  </a:tcPr>
                </a:tc>
                <a:tc>
                  <a:txBody>
                    <a:bodyPr/>
                    <a:lstStyle/>
                    <a:p>
                      <a:r>
                        <a:rPr sz="1200" b="0">
                          <a:solidFill>
                            <a:srgbClr val="1F2937"/>
                          </a:solidFill>
                        </a:rPr>
                        <a:t>Hayotni saqlash tarafdorlari</a:t>
                      </a:r>
                    </a:p>
                  </a:txBody>
                  <a:tcPr marL="73152" marR="73152" marT="36576" marB="36576">
                    <a:solidFill>
                      <a:srgbClr val="E8EEF6"/>
                    </a:solidFill>
                  </a:tcPr>
                </a:tc>
                <a:tc>
                  <a:txBody>
                    <a:bodyPr/>
                    <a:lstStyle/>
                    <a:p>
                      <a:r>
                        <a:rPr sz="1200" b="0">
                          <a:solidFill>
                            <a:srgbClr val="1F2937"/>
                          </a:solidFill>
                        </a:rPr>
                        <a:t>«Erkin tanlov» tarafdorlari</a:t>
                      </a:r>
                    </a:p>
                  </a:txBody>
                  <a:tcPr marL="73152" marR="73152" marT="36576" marB="36576">
                    <a:solidFill>
                      <a:srgbClr val="E8EEF6"/>
                    </a:solidFill>
                  </a:tcPr>
                </a:tc>
              </a:tr>
              <a:tr h="411480">
                <a:tc>
                  <a:txBody>
                    <a:bodyPr/>
                    <a:lstStyle/>
                    <a:p>
                      <a:r>
                        <a:rPr sz="1200" b="0">
                          <a:solidFill>
                            <a:srgbClr val="1F2937"/>
                          </a:solidFill>
                        </a:rPr>
                        <a:t>Embrion kim?</a:t>
                      </a:r>
                    </a:p>
                  </a:txBody>
                  <a:tcPr marL="73152" marR="73152" marT="36576" marB="36576">
                    <a:solidFill>
                      <a:srgbClr val="FFFFFF"/>
                    </a:solidFill>
                  </a:tcPr>
                </a:tc>
                <a:tc>
                  <a:txBody>
                    <a:bodyPr/>
                    <a:lstStyle/>
                    <a:p>
                      <a:r>
                        <a:rPr sz="1200" b="0">
                          <a:solidFill>
                            <a:srgbClr val="1F2937"/>
                          </a:solidFill>
                        </a:rPr>
                        <a:t>Shaxs</a:t>
                      </a:r>
                    </a:p>
                  </a:txBody>
                  <a:tcPr marL="73152" marR="73152" marT="36576" marB="36576">
                    <a:solidFill>
                      <a:srgbClr val="FFFFFF"/>
                    </a:solidFill>
                  </a:tcPr>
                </a:tc>
                <a:tc>
                  <a:txBody>
                    <a:bodyPr/>
                    <a:lstStyle/>
                    <a:p>
                      <a:r>
                        <a:rPr sz="1200" b="0">
                          <a:solidFill>
                            <a:srgbClr val="1F2937"/>
                          </a:solidFill>
                        </a:rPr>
                        <a:t>Faqat potensial shaxs</a:t>
                      </a:r>
                    </a:p>
                  </a:txBody>
                  <a:tcPr marL="73152" marR="73152" marT="36576" marB="36576">
                    <a:solidFill>
                      <a:srgbClr val="FFFFFF"/>
                    </a:solidFill>
                  </a:tcPr>
                </a:tc>
              </a:tr>
              <a:tr h="411480">
                <a:tc>
                  <a:txBody>
                    <a:bodyPr/>
                    <a:lstStyle/>
                    <a:p>
                      <a:r>
                        <a:rPr sz="1200" b="0">
                          <a:solidFill>
                            <a:srgbClr val="1F2937"/>
                          </a:solidFill>
                        </a:rPr>
                        <a:t>Axloqiy maqom</a:t>
                      </a:r>
                    </a:p>
                  </a:txBody>
                  <a:tcPr marL="73152" marR="73152" marT="36576" marB="36576">
                    <a:solidFill>
                      <a:srgbClr val="E8EEF6"/>
                    </a:solidFill>
                  </a:tcPr>
                </a:tc>
                <a:tc>
                  <a:txBody>
                    <a:bodyPr/>
                    <a:lstStyle/>
                    <a:p>
                      <a:r>
                        <a:rPr sz="1200" b="0">
                          <a:solidFill>
                            <a:srgbClr val="1F2937"/>
                          </a:solidFill>
                        </a:rPr>
                        <a:t>Shaxsga xos maqomga ega</a:t>
                      </a:r>
                    </a:p>
                  </a:txBody>
                  <a:tcPr marL="73152" marR="73152" marT="36576" marB="36576">
                    <a:solidFill>
                      <a:srgbClr val="E8EEF6"/>
                    </a:solidFill>
                  </a:tcPr>
                </a:tc>
                <a:tc>
                  <a:txBody>
                    <a:bodyPr/>
                    <a:lstStyle/>
                    <a:p>
                      <a:r>
                        <a:rPr sz="1200" b="0">
                          <a:solidFill>
                            <a:srgbClr val="1F2937"/>
                          </a:solidFill>
                        </a:rPr>
                        <a:t>Shaxsga xos maqomga ega emas</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yondashuv</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87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Dinlarda ruhning tanaga kirish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Dinlarda abort ruhning tanaga kirishi bilan bog‘lanadi; shu muddatgacha istisno hollarda ruxsat beriladi.</a:t>
            </a:r>
          </a:p>
          <a:p>
            <a:pPr>
              <a:spcAft>
                <a:spcPts val="800"/>
              </a:spcAft>
            </a:pPr>
            <a:r>
              <a:rPr sz="1800">
                <a:solidFill>
                  <a:srgbClr val="1F2937"/>
                </a:solidFill>
                <a:latin typeface="Calibri"/>
              </a:rPr>
              <a:t>▸  Diqqat: islomda muddat manbada ikki xil — 87-betda 4-oy, 102-betda 5-oy deyilgan (4-oy ≠ 5-oy). (?)</a:t>
            </a:r>
          </a:p>
          <a:p>
            <a:pPr>
              <a:spcAft>
                <a:spcPts val="800"/>
              </a:spcAft>
            </a:pPr>
            <a:r>
              <a:rPr sz="1800">
                <a:solidFill>
                  <a:srgbClr val="1F2937"/>
                </a:solidFill>
                <a:latin typeface="Calibri"/>
              </a:rPr>
              <a:t>▸  Asosiy diniy konfessiyalar abortga umuman salbiy munosabatda bo‘ladi.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2266275"/>
                <a:gridCol w="1510850"/>
              </a:tblGrid>
              <a:tr h="411480">
                <a:tc>
                  <a:txBody>
                    <a:bodyPr/>
                    <a:lstStyle/>
                    <a:p>
                      <a:r>
                        <a:rPr sz="1300" b="1">
                          <a:solidFill>
                            <a:srgbClr val="FFFFFF"/>
                          </a:solidFill>
                        </a:rPr>
                        <a:t>Din</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Bet</a:t>
                      </a:r>
                    </a:p>
                  </a:txBody>
                  <a:tcPr marL="73152" marR="73152" marT="36576" marB="36576">
                    <a:solidFill>
                      <a:srgbClr val="0B1F3A"/>
                    </a:solidFill>
                  </a:tcPr>
                </a:tc>
              </a:tr>
              <a:tr h="411480">
                <a:tc>
                  <a:txBody>
                    <a:bodyPr/>
                    <a:lstStyle/>
                    <a:p>
                      <a:r>
                        <a:rPr sz="1200" b="0">
                          <a:solidFill>
                            <a:srgbClr val="1F2937"/>
                          </a:solidFill>
                        </a:rPr>
                        <a:t>Angliya cherkovi</a:t>
                      </a:r>
                    </a:p>
                  </a:txBody>
                  <a:tcPr marL="73152" marR="73152" marT="36576" marB="36576">
                    <a:solidFill>
                      <a:srgbClr val="E8EEF6"/>
                    </a:solidFill>
                  </a:tcPr>
                </a:tc>
                <a:tc>
                  <a:txBody>
                    <a:bodyPr/>
                    <a:lstStyle/>
                    <a:p>
                      <a:r>
                        <a:rPr sz="1200" b="0">
                          <a:solidFill>
                            <a:srgbClr val="1F2937"/>
                          </a:solidFill>
                        </a:rPr>
                        <a:t>Homiladorlikning 16-kuni</a:t>
                      </a:r>
                    </a:p>
                  </a:txBody>
                  <a:tcPr marL="73152" marR="73152" marT="36576" marB="36576">
                    <a:solidFill>
                      <a:srgbClr val="E8EEF6"/>
                    </a:solidFill>
                  </a:tcPr>
                </a:tc>
                <a:tc>
                  <a:txBody>
                    <a:bodyPr/>
                    <a:lstStyle/>
                    <a:p>
                      <a:r>
                        <a:rPr sz="1200" b="0">
                          <a:solidFill>
                            <a:srgbClr val="1F2937"/>
                          </a:solidFill>
                        </a:rPr>
                        <a:t>87</a:t>
                      </a:r>
                    </a:p>
                  </a:txBody>
                  <a:tcPr marL="73152" marR="73152" marT="36576" marB="36576">
                    <a:solidFill>
                      <a:srgbClr val="E8EEF6"/>
                    </a:solidFill>
                  </a:tcPr>
                </a:tc>
              </a:tr>
              <a:tr h="411480">
                <a:tc>
                  <a:txBody>
                    <a:bodyPr/>
                    <a:lstStyle/>
                    <a:p>
                      <a:r>
                        <a:rPr sz="1200" b="0">
                          <a:solidFill>
                            <a:srgbClr val="1F2937"/>
                          </a:solidFill>
                        </a:rPr>
                        <a:t>Islom</a:t>
                      </a:r>
                    </a:p>
                  </a:txBody>
                  <a:tcPr marL="73152" marR="73152" marT="36576" marB="36576">
                    <a:solidFill>
                      <a:srgbClr val="FFFFFF"/>
                    </a:solidFill>
                  </a:tcPr>
                </a:tc>
                <a:tc>
                  <a:txBody>
                    <a:bodyPr/>
                    <a:lstStyle/>
                    <a:p>
                      <a:r>
                        <a:rPr sz="1200" b="0">
                          <a:solidFill>
                            <a:srgbClr val="1F2937"/>
                          </a:solidFill>
                        </a:rPr>
                        <a:t>4-oy (87); 5-oy (102)</a:t>
                      </a:r>
                    </a:p>
                  </a:txBody>
                  <a:tcPr marL="73152" marR="73152" marT="36576" marB="36576">
                    <a:solidFill>
                      <a:srgbClr val="FFFFFF"/>
                    </a:solidFill>
                  </a:tcPr>
                </a:tc>
                <a:tc>
                  <a:txBody>
                    <a:bodyPr/>
                    <a:lstStyle/>
                    <a:p>
                      <a:r>
                        <a:rPr sz="1200" b="0">
                          <a:solidFill>
                            <a:srgbClr val="1F2937"/>
                          </a:solidFill>
                        </a:rPr>
                        <a:t>87, 102</a:t>
                      </a:r>
                    </a:p>
                  </a:txBody>
                  <a:tcPr marL="73152" marR="73152" marT="36576" marB="36576">
                    <a:solidFill>
                      <a:srgbClr val="FFFFFF"/>
                    </a:solidFill>
                  </a:tcPr>
                </a:tc>
              </a:tr>
              <a:tr h="411480">
                <a:tc>
                  <a:txBody>
                    <a:bodyPr/>
                    <a:lstStyle/>
                    <a:p>
                      <a:r>
                        <a:rPr sz="1200" b="0">
                          <a:solidFill>
                            <a:srgbClr val="1F2937"/>
                          </a:solidFill>
                        </a:rPr>
                        <a:t>Yahudiylik</a:t>
                      </a:r>
                    </a:p>
                  </a:txBody>
                  <a:tcPr marL="73152" marR="73152" marT="36576" marB="36576">
                    <a:solidFill>
                      <a:srgbClr val="E8EEF6"/>
                    </a:solidFill>
                  </a:tcPr>
                </a:tc>
                <a:tc>
                  <a:txBody>
                    <a:bodyPr/>
                    <a:lstStyle/>
                    <a:p>
                      <a:r>
                        <a:rPr sz="1200" b="0">
                          <a:solidFill>
                            <a:srgbClr val="1F2937"/>
                          </a:solidFill>
                        </a:rPr>
                        <a:t>40-kun</a:t>
                      </a:r>
                    </a:p>
                  </a:txBody>
                  <a:tcPr marL="73152" marR="73152" marT="36576" marB="36576">
                    <a:solidFill>
                      <a:srgbClr val="E8EEF6"/>
                    </a:solidFill>
                  </a:tcPr>
                </a:tc>
                <a:tc>
                  <a:txBody>
                    <a:bodyPr/>
                    <a:lstStyle/>
                    <a:p>
                      <a:r>
                        <a:rPr sz="1200" b="0">
                          <a:solidFill>
                            <a:srgbClr val="1F2937"/>
                          </a:solidFill>
                        </a:rPr>
                        <a:t>102</a:t>
                      </a:r>
                    </a:p>
                  </a:txBody>
                  <a:tcPr marL="73152" marR="73152" marT="36576" marB="36576">
                    <a:solidFill>
                      <a:srgbClr val="E8EEF6"/>
                    </a:solidFill>
                  </a:tcPr>
                </a:tc>
              </a:tr>
              <a:tr h="411480">
                <a:tc>
                  <a:txBody>
                    <a:bodyPr/>
                    <a:lstStyle/>
                    <a:p>
                      <a:r>
                        <a:rPr sz="1200" b="0">
                          <a:solidFill>
                            <a:srgbClr val="1F2937"/>
                          </a:solidFill>
                        </a:rPr>
                        <a:t>Xristianlik</a:t>
                      </a:r>
                    </a:p>
                  </a:txBody>
                  <a:tcPr marL="73152" marR="73152" marT="36576" marB="36576">
                    <a:solidFill>
                      <a:srgbClr val="FFFFFF"/>
                    </a:solidFill>
                  </a:tcPr>
                </a:tc>
                <a:tc>
                  <a:txBody>
                    <a:bodyPr/>
                    <a:lstStyle/>
                    <a:p>
                      <a:r>
                        <a:rPr sz="1200" b="0">
                          <a:solidFill>
                            <a:srgbClr val="1F2937"/>
                          </a:solidFill>
                        </a:rPr>
                        <a:t>Tuxum urug‘langan zahoti</a:t>
                      </a:r>
                    </a:p>
                  </a:txBody>
                  <a:tcPr marL="73152" marR="73152" marT="36576" marB="36576">
                    <a:solidFill>
                      <a:srgbClr val="FFFFFF"/>
                    </a:solidFill>
                  </a:tcPr>
                </a:tc>
                <a:tc>
                  <a:txBody>
                    <a:bodyPr/>
                    <a:lstStyle/>
                    <a:p>
                      <a:r>
                        <a:rPr sz="1200" b="0">
                          <a:solidFill>
                            <a:srgbClr val="1F2937"/>
                          </a:solidFill>
                        </a:rPr>
                        <a:t>102</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Ruh kirishi: dinlar bo‘yicha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87, 87, 102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Abort munosabatining tarixiy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Aristotel abortni homilada sezuvchanlik va harakat faolligi shakllanishidan oldin o‘tkazishni aytgan.</a:t>
            </a:r>
          </a:p>
          <a:p>
            <a:pPr>
              <a:spcAft>
                <a:spcPts val="800"/>
              </a:spcAft>
            </a:pPr>
            <a:r>
              <a:rPr sz="1800">
                <a:solidFill>
                  <a:srgbClr val="1F2937"/>
                </a:solidFill>
                <a:latin typeface="Calibri"/>
              </a:rPr>
              <a:t>▸  XVI asrda Germaniyada «Karolina» kodeksi abort uchun o‘lim jazosini belgilagan.</a:t>
            </a:r>
          </a:p>
          <a:p>
            <a:pPr>
              <a:spcAft>
                <a:spcPts val="800"/>
              </a:spcAft>
            </a:pPr>
            <a:r>
              <a:rPr sz="1800">
                <a:solidFill>
                  <a:srgbClr val="1F2937"/>
                </a:solidFill>
                <a:latin typeface="Calibri"/>
              </a:rPr>
              <a:t>▸  1852-yil Parij tibbiyot akademiyasi munozarasi: tibbiy ko‘rsatma bilan abort qilish mumkin degan xulosa chiqdi.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Gippokrat: qat’iy taqiq</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Aristotel: demografik maqsad</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Rim: homila — ona tanasi qismi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Xristianlik: homila qadrlandi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1852 Parij: tibbiy ko‘rsatma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Tarixiy qarashlar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87, 87-88, 88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XIX–XX asrlar: taqiqlar, qonunlar, liberallashuv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AQShda 1880-yilda abort taqiqlandi, ona hayotiga xavf bo‘lsa ruxsat berildi. Britaniyada 1869-yilgi Akt erta muddatdagi abortni ham og‘ir jinoyat deb topdi.</a:t>
            </a:r>
          </a:p>
          <a:p>
            <a:pPr>
              <a:spcAft>
                <a:spcPts val="1200"/>
              </a:spcAft>
            </a:pPr>
            <a:r>
              <a:rPr sz="2000">
                <a:solidFill>
                  <a:srgbClr val="1F2937"/>
                </a:solidFill>
                <a:latin typeface="Calibri"/>
              </a:rPr>
              <a:t>▸  XX asrda munozarada feministik harakat asosiy o‘rin tutdi. M. Sanger «tug‘ilishni nazorat qilish» tushunchasini kiritdi, keyin u evgenik ma’noda ham ishlatildi.</a:t>
            </a:r>
          </a:p>
          <a:p>
            <a:pPr>
              <a:spcAft>
                <a:spcPts val="1200"/>
              </a:spcAft>
            </a:pPr>
            <a:r>
              <a:rPr sz="2000">
                <a:solidFill>
                  <a:srgbClr val="1F2937"/>
                </a:solidFill>
                <a:latin typeface="Calibri"/>
              </a:rPr>
              <a:t>▸  Sobiq ittifoqda 1920-yilda abortga ruxsat berildi, keyin u taqiqlandi. 1955-yilda taqiq olib tashlandi, ayollar 12-haftagacha o‘z xohishiga ko‘ra abort qildira oldi.</a:t>
            </a:r>
          </a:p>
          <a:p>
            <a:pPr>
              <a:spcAft>
                <a:spcPts val="1200"/>
              </a:spcAft>
            </a:pPr>
            <a:r>
              <a:rPr sz="2000">
                <a:solidFill>
                  <a:srgbClr val="1F2937"/>
                </a:solidFill>
                <a:latin typeface="Calibri"/>
              </a:rPr>
              <a:t>▸  2020-yil dekabrida Argentina Senati 14-haftagacha ayol xohishiga ko‘ra abortga ruxsat berdi. Avval faqat zo‘rlash va ayol hayotiga xavf holatlarida mumkin edi.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88, 88-89, 89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abort tarixi va maqom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Angliya cherkovi va islom bo‘yicha ruh tanaga qachon kiradi? Javob: Angliya cherkovida 16-kuni, islomda 4-oyda. (?)</a:t>
            </a:r>
          </a:p>
          <a:p>
            <a:pPr>
              <a:spcAft>
                <a:spcPts val="1200"/>
              </a:spcAft>
            </a:pPr>
            <a:r>
              <a:rPr sz="2200">
                <a:solidFill>
                  <a:srgbClr val="1F2937"/>
                </a:solidFill>
                <a:latin typeface="Calibri"/>
              </a:rPr>
              <a:t>▸  Savol: sobiq ittifoqda abort qachon ruxsat etilgan? Javob: 1920 yilda. Taqiq 1955 yilda olib tashlangan, ayol xohishiga ko‘ra 12-haftagacha.</a:t>
            </a:r>
          </a:p>
          <a:p>
            <a:pPr>
              <a:spcAft>
                <a:spcPts val="1200"/>
              </a:spcAft>
            </a:pPr>
            <a:r>
              <a:rPr sz="2200">
                <a:solidFill>
                  <a:srgbClr val="1F2937"/>
                </a:solidFill>
                <a:latin typeface="Calibri"/>
              </a:rPr>
              <a:t>▸  Savol: Argentina Senati ayol xohishiga ko‘ra abortni qaysi muddatgacha ruxsat etdi? Javob: 2020 yil dekabrda, 14-haftagacha.</a:t>
            </a:r>
          </a:p>
          <a:p>
            <a:pPr>
              <a:spcAft>
                <a:spcPts val="1200"/>
              </a:spcAft>
            </a:pPr>
            <a:r>
              <a:rPr sz="2200">
                <a:solidFill>
                  <a:srgbClr val="1F2937"/>
                </a:solidFill>
                <a:latin typeface="Calibri"/>
              </a:rPr>
              <a:t>▸  Diqqat: xato qilish xavfi — shaxs ≠ potensial shaxs. Hayot tarafdorlari embrionni shaxs, ‘Erkin tanlov’ tarafdorlari esa faqat potensial shaxs deb biladi.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87, 88-89, 89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Abort bo‘yicha uch pozitsiya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JSST (Jahon sog‘liqni saqlash tashkiloti) ma’lumoti: abort asoratlaridan yiliga taxminan 70 ming ayol vafot etadi. (?)</a:t>
            </a:r>
          </a:p>
          <a:p>
            <a:pPr>
              <a:spcAft>
                <a:spcPts val="800"/>
              </a:spcAft>
            </a:pPr>
            <a:r>
              <a:rPr sz="1800">
                <a:solidFill>
                  <a:srgbClr val="1F2937"/>
                </a:solidFill>
                <a:latin typeface="Calibri"/>
              </a:rPr>
              <a:t>▸  Dunyoda har 1000 ayolga yiliga 30 ta xavfi bartaraf etilmagan abort to‘g‘ri keladi. (?)</a:t>
            </a:r>
          </a:p>
          <a:p>
            <a:pPr>
              <a:spcAft>
                <a:spcPts val="800"/>
              </a:spcAft>
            </a:pPr>
            <a:r>
              <a:rPr sz="1800">
                <a:solidFill>
                  <a:srgbClr val="1F2937"/>
                </a:solidFill>
                <a:latin typeface="Calibri"/>
              </a:rPr>
              <a:t>▸  Konservativlar uchun asosiy masala — homilaning hayotga layoqatliligini aniqlash.</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50647"/>
                <a:gridCol w="1960709"/>
                <a:gridCol w="2376617"/>
              </a:tblGrid>
              <a:tr h="411480">
                <a:tc>
                  <a:txBody>
                    <a:bodyPr/>
                    <a:lstStyle/>
                    <a:p>
                      <a:r>
                        <a:rPr sz="1300" b="1">
                          <a:solidFill>
                            <a:srgbClr val="FFFFFF"/>
                          </a:solidFill>
                        </a:rPr>
                        <a:t>Pozitsiya</a:t>
                      </a:r>
                    </a:p>
                  </a:txBody>
                  <a:tcPr marL="73152" marR="73152" marT="36576" marB="36576">
                    <a:solidFill>
                      <a:srgbClr val="0B1F3A"/>
                    </a:solidFill>
                  </a:tcPr>
                </a:tc>
                <a:tc>
                  <a:txBody>
                    <a:bodyPr/>
                    <a:lstStyle/>
                    <a:p>
                      <a:r>
                        <a:rPr sz="1300" b="1">
                          <a:solidFill>
                            <a:srgbClr val="FFFFFF"/>
                          </a:solidFill>
                        </a:rPr>
                        <a:t>Talab</a:t>
                      </a:r>
                    </a:p>
                  </a:txBody>
                  <a:tcPr marL="73152" marR="73152" marT="36576" marB="36576">
                    <a:solidFill>
                      <a:srgbClr val="0B1F3A"/>
                    </a:solidFill>
                  </a:tcPr>
                </a:tc>
                <a:tc>
                  <a:txBody>
                    <a:bodyPr/>
                    <a:lstStyle/>
                    <a:p>
                      <a:r>
                        <a:rPr sz="1300" b="1">
                          <a:solidFill>
                            <a:srgbClr val="FFFFFF"/>
                          </a:solidFill>
                        </a:rPr>
                        <a:t>Asosiy dalil</a:t>
                      </a:r>
                    </a:p>
                  </a:txBody>
                  <a:tcPr marL="73152" marR="73152" marT="36576" marB="36576">
                    <a:solidFill>
                      <a:srgbClr val="0B1F3A"/>
                    </a:solidFill>
                  </a:tcPr>
                </a:tc>
              </a:tr>
              <a:tr h="411480">
                <a:tc>
                  <a:txBody>
                    <a:bodyPr/>
                    <a:lstStyle/>
                    <a:p>
                      <a:r>
                        <a:rPr sz="1200" b="0">
                          <a:solidFill>
                            <a:srgbClr val="1F2937"/>
                          </a:solidFill>
                        </a:rPr>
                        <a:t>Liberal</a:t>
                      </a:r>
                    </a:p>
                  </a:txBody>
                  <a:tcPr marL="73152" marR="73152" marT="36576" marB="36576">
                    <a:solidFill>
                      <a:srgbClr val="E8EEF6"/>
                    </a:solidFill>
                  </a:tcPr>
                </a:tc>
                <a:tc>
                  <a:txBody>
                    <a:bodyPr/>
                    <a:lstStyle/>
                    <a:p>
                      <a:r>
                        <a:rPr sz="1200" b="0">
                          <a:solidFill>
                            <a:srgbClr val="1F2937"/>
                          </a:solidFill>
                        </a:rPr>
                        <a:t>Abort ruxsat etilsin</a:t>
                      </a:r>
                    </a:p>
                  </a:txBody>
                  <a:tcPr marL="73152" marR="73152" marT="36576" marB="36576">
                    <a:solidFill>
                      <a:srgbClr val="E8EEF6"/>
                    </a:solidFill>
                  </a:tcPr>
                </a:tc>
                <a:tc>
                  <a:txBody>
                    <a:bodyPr/>
                    <a:lstStyle/>
                    <a:p>
                      <a:r>
                        <a:rPr sz="1200" b="0">
                          <a:solidFill>
                            <a:srgbClr val="1F2937"/>
                          </a:solidFill>
                        </a:rPr>
                        <a:t>Ayol o‘z tanasi xo‘jayini, avtonom qaror</a:t>
                      </a:r>
                    </a:p>
                  </a:txBody>
                  <a:tcPr marL="73152" marR="73152" marT="36576" marB="36576">
                    <a:solidFill>
                      <a:srgbClr val="E8EEF6"/>
                    </a:solidFill>
                  </a:tcPr>
                </a:tc>
              </a:tr>
              <a:tr h="411480">
                <a:tc>
                  <a:txBody>
                    <a:bodyPr/>
                    <a:lstStyle/>
                    <a:p>
                      <a:r>
                        <a:rPr sz="1200" b="0">
                          <a:solidFill>
                            <a:srgbClr val="1F2937"/>
                          </a:solidFill>
                        </a:rPr>
                        <a:t>Konservativ</a:t>
                      </a:r>
                    </a:p>
                  </a:txBody>
                  <a:tcPr marL="73152" marR="73152" marT="36576" marB="36576">
                    <a:solidFill>
                      <a:srgbClr val="FFFFFF"/>
                    </a:solidFill>
                  </a:tcPr>
                </a:tc>
                <a:tc>
                  <a:txBody>
                    <a:bodyPr/>
                    <a:lstStyle/>
                    <a:p>
                      <a:r>
                        <a:rPr sz="1200" b="0">
                          <a:solidFill>
                            <a:srgbClr val="1F2937"/>
                          </a:solidFill>
                        </a:rPr>
                        <a:t>Abort taqiqlansin</a:t>
                      </a:r>
                    </a:p>
                  </a:txBody>
                  <a:tcPr marL="73152" marR="73152" marT="36576" marB="36576">
                    <a:solidFill>
                      <a:srgbClr val="FFFFFF"/>
                    </a:solidFill>
                  </a:tcPr>
                </a:tc>
                <a:tc>
                  <a:txBody>
                    <a:bodyPr/>
                    <a:lstStyle/>
                    <a:p>
                      <a:r>
                        <a:rPr sz="1200" b="0">
                          <a:solidFill>
                            <a:srgbClr val="1F2937"/>
                          </a:solidFill>
                        </a:rPr>
                        <a:t>Embrion shaxs; asoratlar jiddiy</a:t>
                      </a:r>
                    </a:p>
                  </a:txBody>
                  <a:tcPr marL="73152" marR="73152" marT="36576" marB="36576">
                    <a:solidFill>
                      <a:srgbClr val="FFFFFF"/>
                    </a:solidFill>
                  </a:tcPr>
                </a:tc>
              </a:tr>
              <a:tr h="411480">
                <a:tc>
                  <a:txBody>
                    <a:bodyPr/>
                    <a:lstStyle/>
                    <a:p>
                      <a:r>
                        <a:rPr sz="1200" b="0">
                          <a:solidFill>
                            <a:srgbClr val="1F2937"/>
                          </a:solidFill>
                        </a:rPr>
                        <a:t>Oraliq</a:t>
                      </a:r>
                    </a:p>
                  </a:txBody>
                  <a:tcPr marL="73152" marR="73152" marT="36576" marB="36576">
                    <a:solidFill>
                      <a:srgbClr val="E8EEF6"/>
                    </a:solidFill>
                  </a:tcPr>
                </a:tc>
                <a:tc>
                  <a:txBody>
                    <a:bodyPr/>
                    <a:lstStyle/>
                    <a:p>
                      <a:r>
                        <a:rPr sz="1200" b="0">
                          <a:solidFill>
                            <a:srgbClr val="1F2937"/>
                          </a:solidFill>
                        </a:rPr>
                        <a:t>Faqat tibbiy/ijtimoiy ko‘rsatmada</a:t>
                      </a:r>
                    </a:p>
                  </a:txBody>
                  <a:tcPr marL="73152" marR="73152" marT="36576" marB="36576">
                    <a:solidFill>
                      <a:srgbClr val="E8EEF6"/>
                    </a:solidFill>
                  </a:tcPr>
                </a:tc>
                <a:tc>
                  <a:txBody>
                    <a:bodyPr/>
                    <a:lstStyle/>
                    <a:p>
                      <a:r>
                        <a:rPr sz="1200" b="0">
                          <a:solidFill>
                            <a:srgbClr val="1F2937"/>
                          </a:solidFill>
                        </a:rPr>
                        <a:t>Abort ayol huquqi sifatida ma’qullanmaydi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pozitsiya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89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pozitsiyalar to‘qnashuvi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ayol xavfsiz bo‘lmagan sharoitda abort qilishni o‘ylamoqda. Uch pozitsiya unga qanday javob beradi?</a:t>
            </a:r>
          </a:p>
          <a:p>
            <a:pPr>
              <a:spcAft>
                <a:spcPts val="1200"/>
              </a:spcAft>
            </a:pPr>
            <a:r>
              <a:rPr sz="2200">
                <a:solidFill>
                  <a:srgbClr val="1F2937"/>
                </a:solidFill>
                <a:latin typeface="Calibri"/>
              </a:rPr>
              <a:t>▸  Liberal: ayol o‘z tanasi xo‘jayini, qaror avtonom. Zarurat bo‘lsa homila emas, ayol hayoti saqlanadi.</a:t>
            </a:r>
          </a:p>
          <a:p>
            <a:pPr>
              <a:spcAft>
                <a:spcPts val="1200"/>
              </a:spcAft>
            </a:pPr>
            <a:r>
              <a:rPr sz="2200">
                <a:solidFill>
                  <a:srgbClr val="1F2937"/>
                </a:solidFill>
                <a:latin typeface="Calibri"/>
              </a:rPr>
              <a:t>▸  Konservativ: embrion shaxs, abort taqiqlanishi kerak. JSST ma’lumoti: abort asoratlari ayollar o‘limiga olib keladi. (?)</a:t>
            </a:r>
          </a:p>
          <a:p>
            <a:pPr>
              <a:spcAft>
                <a:spcPts val="1200"/>
              </a:spcAft>
            </a:pPr>
            <a:r>
              <a:rPr sz="2200">
                <a:solidFill>
                  <a:srgbClr val="1F2937"/>
                </a:solidFill>
                <a:latin typeface="Calibri"/>
              </a:rPr>
              <a:t>▸  Oraliq: abort faqat tibbiy yoki ijtimoiy ko‘rsatma bilan. Savol: qaysi pozitsiya ayol xavfsizligini birinchi qo‘yadi?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89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G‘arbiy Yevropada abort modellari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Polshada (2021) homilada Daun kasalligi kabi nuqson bo‘lsa ham abort mumkin emas.</a:t>
            </a:r>
          </a:p>
          <a:p>
            <a:pPr>
              <a:spcAft>
                <a:spcPts val="800"/>
              </a:spcAft>
            </a:pPr>
            <a:r>
              <a:rPr sz="1800">
                <a:solidFill>
                  <a:srgbClr val="1F2937"/>
                </a:solidFill>
                <a:latin typeface="Calibri"/>
              </a:rPr>
              <a:t>▸  Buyuk Britaniyada abort aniq ko‘rsatmalar ro‘yxati bo‘yicha ruxsat etiladi.</a:t>
            </a:r>
          </a:p>
          <a:p>
            <a:pPr>
              <a:spcAft>
                <a:spcPts val="800"/>
              </a:spcAft>
            </a:pPr>
            <a:r>
              <a:rPr sz="1800">
                <a:solidFill>
                  <a:srgbClr val="1F2937"/>
                </a:solidFill>
                <a:latin typeface="Calibri"/>
              </a:rPr>
              <a:t>▸  Diqqat: ko‘rsatmalar tizimi ≠ muddatlar tizimi. Birida sabab, ikkinchisida muddat hal qiladi.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014863"/>
                <a:gridCol w="2136555"/>
                <a:gridCol w="2136555"/>
              </a:tblGrid>
              <a:tr h="411480">
                <a:tc>
                  <a:txBody>
                    <a:bodyPr/>
                    <a:lstStyle/>
                    <a:p>
                      <a:r>
                        <a:rPr sz="1300" b="1">
                          <a:solidFill>
                            <a:srgbClr val="FFFFFF"/>
                          </a:solidFill>
                        </a:rPr>
                        <a:t>Model</a:t>
                      </a:r>
                    </a:p>
                  </a:txBody>
                  <a:tcPr marL="73152" marR="73152" marT="36576" marB="36576">
                    <a:solidFill>
                      <a:srgbClr val="0B1F3A"/>
                    </a:solidFill>
                  </a:tcPr>
                </a:tc>
                <a:tc>
                  <a:txBody>
                    <a:bodyPr/>
                    <a:lstStyle/>
                    <a:p>
                      <a:r>
                        <a:rPr sz="1300" b="1">
                          <a:solidFill>
                            <a:srgbClr val="FFFFFF"/>
                          </a:solidFill>
                        </a:rPr>
                        <a:t>Mamlakat</a:t>
                      </a:r>
                    </a:p>
                  </a:txBody>
                  <a:tcPr marL="73152" marR="73152" marT="36576" marB="36576">
                    <a:solidFill>
                      <a:srgbClr val="0B1F3A"/>
                    </a:solidFill>
                  </a:tcPr>
                </a:tc>
                <a:tc>
                  <a:txBody>
                    <a:bodyPr/>
                    <a:lstStyle/>
                    <a:p>
                      <a:r>
                        <a:rPr sz="1300" b="1">
                          <a:solidFill>
                            <a:srgbClr val="FFFFFF"/>
                          </a:solidFill>
                        </a:rPr>
                        <a:t>Asosiy qoida</a:t>
                      </a:r>
                    </a:p>
                  </a:txBody>
                  <a:tcPr marL="73152" marR="73152" marT="36576" marB="36576">
                    <a:solidFill>
                      <a:srgbClr val="0B1F3A"/>
                    </a:solidFill>
                  </a:tcPr>
                </a:tc>
              </a:tr>
              <a:tr h="411480">
                <a:tc>
                  <a:txBody>
                    <a:bodyPr/>
                    <a:lstStyle/>
                    <a:p>
                      <a:r>
                        <a:rPr sz="1200" b="0">
                          <a:solidFill>
                            <a:srgbClr val="1F2937"/>
                          </a:solidFill>
                        </a:rPr>
                        <a:t>To‘liq taqiq</a:t>
                      </a:r>
                    </a:p>
                  </a:txBody>
                  <a:tcPr marL="73152" marR="73152" marT="36576" marB="36576">
                    <a:solidFill>
                      <a:srgbClr val="E8EEF6"/>
                    </a:solidFill>
                  </a:tcPr>
                </a:tc>
                <a:tc>
                  <a:txBody>
                    <a:bodyPr/>
                    <a:lstStyle/>
                    <a:p>
                      <a:r>
                        <a:rPr sz="1200" b="0">
                          <a:solidFill>
                            <a:srgbClr val="1F2937"/>
                          </a:solidFill>
                        </a:rPr>
                        <a:t>Irlandiya, Polsha</a:t>
                      </a:r>
                    </a:p>
                  </a:txBody>
                  <a:tcPr marL="73152" marR="73152" marT="36576" marB="36576">
                    <a:solidFill>
                      <a:srgbClr val="E8EEF6"/>
                    </a:solidFill>
                  </a:tcPr>
                </a:tc>
                <a:tc>
                  <a:txBody>
                    <a:bodyPr/>
                    <a:lstStyle/>
                    <a:p>
                      <a:r>
                        <a:rPr sz="1200" b="0">
                          <a:solidFill>
                            <a:srgbClr val="1F2937"/>
                          </a:solidFill>
                        </a:rPr>
                        <a:t>Hayot xavfi; Polshada zo‘rlash, intsest ham</a:t>
                      </a:r>
                    </a:p>
                  </a:txBody>
                  <a:tcPr marL="73152" marR="73152" marT="36576" marB="36576">
                    <a:solidFill>
                      <a:srgbClr val="E8EEF6"/>
                    </a:solidFill>
                  </a:tcPr>
                </a:tc>
              </a:tr>
              <a:tr h="411480">
                <a:tc>
                  <a:txBody>
                    <a:bodyPr/>
                    <a:lstStyle/>
                    <a:p>
                      <a:r>
                        <a:rPr sz="1200" b="0">
                          <a:solidFill>
                            <a:srgbClr val="1F2937"/>
                          </a:solidFill>
                        </a:rPr>
                        <a:t>Ko‘rsatmalar tizimi</a:t>
                      </a:r>
                    </a:p>
                  </a:txBody>
                  <a:tcPr marL="73152" marR="73152" marT="36576" marB="36576">
                    <a:solidFill>
                      <a:srgbClr val="FFFFFF"/>
                    </a:solidFill>
                  </a:tcPr>
                </a:tc>
                <a:tc>
                  <a:txBody>
                    <a:bodyPr/>
                    <a:lstStyle/>
                    <a:p>
                      <a:r>
                        <a:rPr sz="1200" b="0">
                          <a:solidFill>
                            <a:srgbClr val="1F2937"/>
                          </a:solidFill>
                        </a:rPr>
                        <a:t>Buyuk Britaniya</a:t>
                      </a:r>
                    </a:p>
                  </a:txBody>
                  <a:tcPr marL="73152" marR="73152" marT="36576" marB="36576">
                    <a:solidFill>
                      <a:srgbClr val="FFFFFF"/>
                    </a:solidFill>
                  </a:tcPr>
                </a:tc>
                <a:tc>
                  <a:txBody>
                    <a:bodyPr/>
                    <a:lstStyle/>
                    <a:p>
                      <a:r>
                        <a:rPr sz="1200" b="0">
                          <a:solidFill>
                            <a:srgbClr val="1F2937"/>
                          </a:solidFill>
                        </a:rPr>
                        <a:t>Hayot xavfi, genetik, ruhiy-jismoniy sog‘liq</a:t>
                      </a:r>
                    </a:p>
                  </a:txBody>
                  <a:tcPr marL="73152" marR="73152" marT="36576" marB="36576">
                    <a:solidFill>
                      <a:srgbClr val="FFFFFF"/>
                    </a:solidFill>
                  </a:tcPr>
                </a:tc>
              </a:tr>
              <a:tr h="411480">
                <a:tc>
                  <a:txBody>
                    <a:bodyPr/>
                    <a:lstStyle/>
                    <a:p>
                      <a:r>
                        <a:rPr sz="1200" b="0">
                          <a:solidFill>
                            <a:srgbClr val="1F2937"/>
                          </a:solidFill>
                        </a:rPr>
                        <a:t>Muddatlar tizimi</a:t>
                      </a:r>
                    </a:p>
                  </a:txBody>
                  <a:tcPr marL="73152" marR="73152" marT="36576" marB="36576">
                    <a:solidFill>
                      <a:srgbClr val="E8EEF6"/>
                    </a:solidFill>
                  </a:tcPr>
                </a:tc>
                <a:tc>
                  <a:txBody>
                    <a:bodyPr/>
                    <a:lstStyle/>
                    <a:p>
                      <a:r>
                        <a:rPr sz="1200" b="0">
                          <a:solidFill>
                            <a:srgbClr val="1F2937"/>
                          </a:solidFill>
                        </a:rPr>
                        <a:t>Avstriya, Fransiya, Norvegiya, Shvetsiya</a:t>
                      </a:r>
                    </a:p>
                  </a:txBody>
                  <a:tcPr marL="73152" marR="73152" marT="36576" marB="36576">
                    <a:solidFill>
                      <a:srgbClr val="E8EEF6"/>
                    </a:solidFill>
                  </a:tcPr>
                </a:tc>
                <a:tc>
                  <a:txBody>
                    <a:bodyPr/>
                    <a:lstStyle/>
                    <a:p>
                      <a:r>
                        <a:rPr sz="1200" b="0">
                          <a:solidFill>
                            <a:srgbClr val="1F2937"/>
                          </a:solidFill>
                        </a:rPr>
                        <a:t>Muayyan muddatgacha ayol xohishi bilan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Abort modellari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abort muddatlari va ko‘rsatmalari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Qarshi ko‘rsatma bo‘lmasa, 12 haftagacha abort ayolning xohishi bilan qilinadi.</a:t>
            </a:r>
          </a:p>
          <a:p>
            <a:pPr>
              <a:spcAft>
                <a:spcPts val="800"/>
              </a:spcAft>
            </a:pPr>
            <a:r>
              <a:rPr sz="1800">
                <a:solidFill>
                  <a:srgbClr val="1F2937"/>
                </a:solidFill>
                <a:latin typeface="Calibri"/>
              </a:rPr>
              <a:t>▸  Ijtimoiy ko‘rsatma bo‘yicha 22 haftagacha, tibbiy ko‘rsatma bo‘yicha muddatdan qat‘i nazar.</a:t>
            </a:r>
          </a:p>
          <a:p>
            <a:pPr>
              <a:spcAft>
                <a:spcPts val="800"/>
              </a:spcAft>
            </a:pPr>
            <a:r>
              <a:rPr sz="1800">
                <a:solidFill>
                  <a:srgbClr val="1F2937"/>
                </a:solidFill>
                <a:latin typeface="Calibri"/>
              </a:rPr>
              <a:t>▸  Ko‘rsatmalar ro‘yxati tegishli qonun hujjatlarida keltirilgan.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Qarshi ko‘rsatma yo‘q bo‘lsa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12 hafta: ayol xohishi bilan</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22 hafta: ijtimoiy ko‘rsatma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 muddatdan qat‘i nazar</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Muddatlar zanjiri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Abort asoratlari va xavfi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Abort oddiy, qulay va bepul bo‘lgani uchun xavfsiz degan noto‘g‘ri tasavvur paydo bo‘ladi.</a:t>
            </a:r>
          </a:p>
          <a:p>
            <a:pPr>
              <a:spcAft>
                <a:spcPts val="1200"/>
              </a:spcAft>
            </a:pPr>
            <a:r>
              <a:rPr sz="2200">
                <a:solidFill>
                  <a:srgbClr val="1F2937"/>
                </a:solidFill>
                <a:latin typeface="Calibri"/>
              </a:rPr>
              <a:t>▸  Oqibatlar: keyingi homiladorlik va tug‘ruq kechishida muammolar, turli ginekologik kasalliklar, yallig‘lanish va bepushtlik.</a:t>
            </a:r>
          </a:p>
          <a:p>
            <a:pPr>
              <a:spcAft>
                <a:spcPts val="1200"/>
              </a:spcAft>
            </a:pPr>
            <a:r>
              <a:rPr sz="2200">
                <a:solidFill>
                  <a:srgbClr val="1F2937"/>
                </a:solidFill>
                <a:latin typeface="Calibri"/>
              </a:rPr>
              <a:t>▸  Abort paytida anesteziya asoratlari, bachadon perforatsiyasi (teshilishi), tashqi va ichki qon ketish bo‘lishi mumkin.</a:t>
            </a:r>
          </a:p>
          <a:p>
            <a:pPr>
              <a:spcAft>
                <a:spcPts val="1200"/>
              </a:spcAft>
            </a:pPr>
            <a:r>
              <a:rPr sz="2200">
                <a:solidFill>
                  <a:srgbClr val="1F2937"/>
                </a:solidFill>
                <a:latin typeface="Calibri"/>
              </a:rPr>
              <a:t>▸  Oldin abort qildirgan ayollarda chaqaloq nuqson bilan, og‘ir asfiksiyada yoki o‘lik tug‘ilishi ko‘proq uchraydi.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90, 90-91, 91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Kontratsepsiya va JTA 1994 bayonoti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Kontratseptiv vositalarni qo‘llashda ayrim etik va diniy muammolar bor. Ammo ular istalmagan homiladorlikning oldini olib, abortlarni kamaytirishda muhim o‘rin tutadi.</a:t>
            </a:r>
          </a:p>
          <a:p>
            <a:pPr>
              <a:spcAft>
                <a:spcPts val="1200"/>
              </a:spcAft>
            </a:pPr>
            <a:r>
              <a:rPr sz="2000">
                <a:solidFill>
                  <a:srgbClr val="1F2937"/>
                </a:solidFill>
                <a:latin typeface="Calibri"/>
              </a:rPr>
              <a:t>▸  1994-yil sentabrda Jahon tibbiyot assotsiatsiyasi (JTA) 46-Assambleyasida ayollarning kontratsepsiya vositalarini qo‘llash huquqi haqida bayonot qabul qilingan.</a:t>
            </a:r>
          </a:p>
          <a:p>
            <a:pPr>
              <a:spcAft>
                <a:spcPts val="1200"/>
              </a:spcAft>
            </a:pPr>
            <a:r>
              <a:rPr sz="2000">
                <a:solidFill>
                  <a:srgbClr val="1F2937"/>
                </a:solidFill>
                <a:latin typeface="Calibri"/>
              </a:rPr>
              <a:t>▸  Bayonotda fertillikni tartibga solish imkoniyati ayolning jismoniy va ruhiy salomatligi, ijtimoiy farovonligini saqlashning muhim qismi deb tan olingan.</a:t>
            </a:r>
          </a:p>
          <a:p>
            <a:pPr>
              <a:spcAft>
                <a:spcPts val="1200"/>
              </a:spcAft>
            </a:pPr>
            <a:r>
              <a:rPr sz="2000">
                <a:solidFill>
                  <a:srgbClr val="1F2937"/>
                </a:solidFill>
                <a:latin typeface="Calibri"/>
              </a:rPr>
              <a:t>▸  JTA fikricha, millati, dini va ijtimoiy maqomidan qat’i nazar barcha ayollar ongli tanlov asosida kontratseptivlardan foydalanish huquqiga ega bo‘lishi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Jinoyat kodeksi 114- va 115-moddalari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114-modda bo‘yicha shifokor-akusher yoki ginekolog tomonidan davolash muassasasidan tashqarida yoki tibbiy jihatdan mumkin bo‘lmagan holda homila tushirish jinoiy abort sanaladi.</a:t>
            </a:r>
          </a:p>
          <a:p>
            <a:pPr>
              <a:spcAft>
                <a:spcPts val="1200"/>
              </a:spcAft>
            </a:pPr>
            <a:r>
              <a:rPr sz="2200">
                <a:solidFill>
                  <a:srgbClr val="1F2937"/>
                </a:solidFill>
                <a:latin typeface="Calibri"/>
              </a:rPr>
              <a:t>▸  Taqiqlangan holatlar: jinsiy a’zolar yallig‘lanishi, yiring o‘choqlari, o‘tkir yuqumli kasalliklar, 12 haftadan ortiq muddat. Oldingi abortdan keyin olti oy ichida ham taqiqlangan. (?)</a:t>
            </a:r>
          </a:p>
          <a:p>
            <a:pPr>
              <a:spcAft>
                <a:spcPts val="1200"/>
              </a:spcAft>
            </a:pPr>
            <a:r>
              <a:rPr sz="2200">
                <a:solidFill>
                  <a:srgbClr val="1F2937"/>
                </a:solidFill>
                <a:latin typeface="Calibri"/>
              </a:rPr>
              <a:t>▸  Jinoiy abortda muddat va usul ahamiyatsiz. Homilador ayol o‘zi tushirsa yoki boshqa shaxslar tushirsa, ayolning o‘zi jinoiy javobgarlikka tortilmaydi.</a:t>
            </a:r>
          </a:p>
          <a:p>
            <a:pPr>
              <a:spcAft>
                <a:spcPts val="1200"/>
              </a:spcAft>
            </a:pPr>
            <a:r>
              <a:rPr sz="2200">
                <a:solidFill>
                  <a:srgbClr val="1F2937"/>
                </a:solidFill>
                <a:latin typeface="Calibri"/>
              </a:rPr>
              <a:t>▸  Ayolni homilasini sun’iy tushirishga majburlash ham jinoyat hisoblanadi (115-modda).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91, 91-92, 92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qonuniy va jinoiy abort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shifokor-akusher yoki ginekolog bo‘lmagan shaxs tibbiy muassasadan tashqarida ayolning homilasini tushirdi. Ayolning o‘zi bunga rozi bo‘lgan.</a:t>
            </a:r>
          </a:p>
          <a:p>
            <a:pPr>
              <a:spcAft>
                <a:spcPts val="1200"/>
              </a:spcAft>
            </a:pPr>
            <a:r>
              <a:rPr sz="2000">
                <a:solidFill>
                  <a:srgbClr val="1F2937"/>
                </a:solidFill>
                <a:latin typeface="Calibri"/>
              </a:rPr>
              <a:t>▸  Tahlil: huquqi bo‘lmagan shaxsning bunday ishi va muassasadan tashqarida tushirish 114-modda bo‘yicha jinoiy abort sanaladi. Muddat va usul ahamiyatsiz.</a:t>
            </a:r>
          </a:p>
          <a:p>
            <a:pPr>
              <a:spcAft>
                <a:spcPts val="1200"/>
              </a:spcAft>
            </a:pPr>
            <a:r>
              <a:rPr sz="2000">
                <a:solidFill>
                  <a:srgbClr val="1F2937"/>
                </a:solidFill>
                <a:latin typeface="Calibri"/>
              </a:rPr>
              <a:t>▸  Ayolning maqomi: homilasi boshqa shaxs tomonidan jinoiy tushirilgan bo‘lsa, u jinoiy javobgarlikka tortilmaydi. Jinoiy javobgarlik tushirgan shaxsga tegishli.</a:t>
            </a:r>
          </a:p>
          <a:p>
            <a:pPr>
              <a:spcAft>
                <a:spcPts val="1200"/>
              </a:spcAft>
            </a:pPr>
            <a:r>
              <a:rPr sz="2000">
                <a:solidFill>
                  <a:srgbClr val="1F2937"/>
                </a:solidFill>
                <a:latin typeface="Calibri"/>
              </a:rPr>
              <a:t>▸  Diqqat: xato qilish xavfi. Qonuniy abort (12 haftagacha, muassasada) ≠ jinoiy abort (114-modda). Savol: ayolga bosim o‘tkazilgan bo‘lsa, qaysi modda qo‘shiladi?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91-92, 92, 90-92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Reproduktiv salomatlik, huquqlar va ART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2019 yilgi qonunning 3-moddasi: reproduktiv salomatlik — farzand ko‘rish imkonini belgilovchi reproduktiv tizim va uning faoliyati bilan bog‘liq jismoniy, aqliy, ijtimoiy farovonlik.</a:t>
            </a:r>
          </a:p>
          <a:p>
            <a:pPr>
              <a:spcAft>
                <a:spcPts val="1200"/>
              </a:spcAft>
            </a:pPr>
            <a:r>
              <a:rPr sz="2000">
                <a:solidFill>
                  <a:srgbClr val="1F2937"/>
                </a:solidFill>
                <a:latin typeface="Calibri"/>
              </a:rPr>
              <a:t>▸  Huquqlar: xavfsiz texnologiya bilan farzand ko‘rish haqida mustaqil qaror, ishonchli ma’lumot olish, kontrasepsiya va yordamchi reproduktiv texnologiyalardan foydalanish.</a:t>
            </a:r>
          </a:p>
          <a:p>
            <a:pPr>
              <a:spcAft>
                <a:spcPts val="1200"/>
              </a:spcAft>
            </a:pPr>
            <a:r>
              <a:rPr sz="2000">
                <a:solidFill>
                  <a:srgbClr val="1F2937"/>
                </a:solidFill>
                <a:latin typeface="Calibri"/>
              </a:rPr>
              <a:t>▸  Yuridik va jismoniy shaxslar fuqaroning reproduktiv huquqlariga oid ma’lumotni sir saqlaydi. Homiladorlik, abort yoki kontrasepsiyaga majburlash mumkin emas.</a:t>
            </a:r>
          </a:p>
          <a:p>
            <a:pPr>
              <a:spcAft>
                <a:spcPts val="1200"/>
              </a:spcAft>
            </a:pPr>
            <a:r>
              <a:rPr sz="2000">
                <a:solidFill>
                  <a:srgbClr val="1F2937"/>
                </a:solidFill>
                <a:latin typeface="Calibri"/>
              </a:rPr>
              <a:t>▸  Reproduktiv etika bioetikaning bir qismi. ART (yordamchi reproduktiv texnologiyalar) urug‘lanish va embrion rivojining dastlabki bosqichlariga biotibbiy aralashuvdir.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93, 94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tasdiqlangan ART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Sog‘liqni saqlash vazirligi nizomining 14-bandida beshta ART usuli sanalgan.</a:t>
            </a:r>
          </a:p>
          <a:p>
            <a:pPr>
              <a:spcAft>
                <a:spcPts val="800"/>
              </a:spcAft>
            </a:pPr>
            <a:r>
              <a:rPr sz="1800">
                <a:solidFill>
                  <a:srgbClr val="1F2937"/>
                </a:solidFill>
                <a:latin typeface="Calibri"/>
              </a:rPr>
              <a:t>▸  Surrogat onalik bu nizomda keltirilmagan.</a:t>
            </a:r>
          </a:p>
          <a:p>
            <a:pPr>
              <a:spcAft>
                <a:spcPts val="800"/>
              </a:spcAft>
            </a:pPr>
            <a:r>
              <a:rPr sz="1800">
                <a:solidFill>
                  <a:srgbClr val="1F2937"/>
                </a:solidFill>
                <a:latin typeface="Calibri"/>
              </a:rPr>
              <a:t>▸  Diqqat: ART — umumiy nom; EKU, ICSI kabi usullar uning alohida turlari.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2540975"/>
                <a:gridCol w="2747000"/>
              </a:tblGrid>
              <a:tr h="411480">
                <a:tc>
                  <a:txBody>
                    <a:bodyPr/>
                    <a:lstStyle/>
                    <a:p>
                      <a:r>
                        <a:rPr sz="1400" b="1">
                          <a:solidFill>
                            <a:srgbClr val="FFFFFF"/>
                          </a:solidFill>
                        </a:rPr>
                        <a:t>Usul</a:t>
                      </a:r>
                    </a:p>
                  </a:txBody>
                  <a:tcPr marL="73152" marR="73152" marT="36576" marB="36576">
                    <a:solidFill>
                      <a:srgbClr val="0B1F3A"/>
                    </a:solidFill>
                  </a:tcPr>
                </a:tc>
                <a:tc>
                  <a:txBody>
                    <a:bodyPr/>
                    <a:lstStyle/>
                    <a:p>
                      <a:r>
                        <a:rPr sz="1400" b="1">
                          <a:solidFill>
                            <a:srgbClr val="FFFFFF"/>
                          </a:solidFill>
                        </a:rPr>
                        <a:t>Qisqa mohiyati</a:t>
                      </a:r>
                    </a:p>
                  </a:txBody>
                  <a:tcPr marL="73152" marR="73152" marT="36576" marB="36576">
                    <a:solidFill>
                      <a:srgbClr val="0B1F3A"/>
                    </a:solidFill>
                  </a:tcPr>
                </a:tc>
              </a:tr>
              <a:tr h="411480">
                <a:tc>
                  <a:txBody>
                    <a:bodyPr/>
                    <a:lstStyle/>
                    <a:p>
                      <a:r>
                        <a:rPr sz="1300" b="0">
                          <a:solidFill>
                            <a:srgbClr val="1F2937"/>
                          </a:solidFill>
                        </a:rPr>
                        <a:t>Insemenatsiya (sun’iy urug‘lantirish)</a:t>
                      </a:r>
                    </a:p>
                  </a:txBody>
                  <a:tcPr marL="73152" marR="73152" marT="36576" marB="36576">
                    <a:solidFill>
                      <a:srgbClr val="E8EEF6"/>
                    </a:solidFill>
                  </a:tcPr>
                </a:tc>
                <a:tc>
                  <a:txBody>
                    <a:bodyPr/>
                    <a:lstStyle/>
                    <a:p>
                      <a:r>
                        <a:rPr sz="1300" b="0">
                          <a:solidFill>
                            <a:srgbClr val="1F2937"/>
                          </a:solidFill>
                        </a:rPr>
                        <a:t>Sperma bachadon bo‘shlig‘iga yuboriladi</a:t>
                      </a:r>
                    </a:p>
                  </a:txBody>
                  <a:tcPr marL="73152" marR="73152" marT="36576" marB="36576">
                    <a:solidFill>
                      <a:srgbClr val="E8EEF6"/>
                    </a:solidFill>
                  </a:tcPr>
                </a:tc>
              </a:tr>
              <a:tr h="411480">
                <a:tc>
                  <a:txBody>
                    <a:bodyPr/>
                    <a:lstStyle/>
                    <a:p>
                      <a:r>
                        <a:rPr sz="1300" b="0">
                          <a:solidFill>
                            <a:srgbClr val="1F2937"/>
                          </a:solidFill>
                        </a:rPr>
                        <a:t>EKU (ekstrakorporal urug‘lantirish)</a:t>
                      </a:r>
                    </a:p>
                  </a:txBody>
                  <a:tcPr marL="73152" marR="73152" marT="36576" marB="36576">
                    <a:solidFill>
                      <a:srgbClr val="FFFFFF"/>
                    </a:solidFill>
                  </a:tcPr>
                </a:tc>
                <a:tc>
                  <a:txBody>
                    <a:bodyPr/>
                    <a:lstStyle/>
                    <a:p>
                      <a:r>
                        <a:rPr sz="1300" b="0">
                          <a:solidFill>
                            <a:srgbClr val="1F2937"/>
                          </a:solidFill>
                        </a:rPr>
                        <a:t>Urug‘lanish organizmdan tashqarida o‘tadi</a:t>
                      </a:r>
                    </a:p>
                  </a:txBody>
                  <a:tcPr marL="73152" marR="73152" marT="36576" marB="36576">
                    <a:solidFill>
                      <a:srgbClr val="FFFFFF"/>
                    </a:solidFill>
                  </a:tcPr>
                </a:tc>
              </a:tr>
              <a:tr h="411480">
                <a:tc>
                  <a:txBody>
                    <a:bodyPr/>
                    <a:lstStyle/>
                    <a:p>
                      <a:r>
                        <a:rPr sz="1300" b="0">
                          <a:solidFill>
                            <a:srgbClr val="1F2937"/>
                          </a:solidFill>
                        </a:rPr>
                        <a:t>Xetching va ICSI</a:t>
                      </a:r>
                    </a:p>
                  </a:txBody>
                  <a:tcPr marL="73152" marR="73152" marT="36576" marB="36576">
                    <a:solidFill>
                      <a:srgbClr val="E8EEF6"/>
                    </a:solidFill>
                  </a:tcPr>
                </a:tc>
                <a:tc>
                  <a:txBody>
                    <a:bodyPr/>
                    <a:lstStyle/>
                    <a:p>
                      <a:r>
                        <a:rPr sz="1300" b="0">
                          <a:solidFill>
                            <a:srgbClr val="1F2937"/>
                          </a:solidFill>
                        </a:rPr>
                        <a:t>Qobiqni yorish / spermani oositga yuborish</a:t>
                      </a:r>
                    </a:p>
                  </a:txBody>
                  <a:tcPr marL="73152" marR="73152" marT="36576" marB="36576">
                    <a:solidFill>
                      <a:srgbClr val="E8EEF6"/>
                    </a:solidFill>
                  </a:tcPr>
                </a:tc>
              </a:tr>
              <a:tr h="411480">
                <a:tc>
                  <a:txBody>
                    <a:bodyPr/>
                    <a:lstStyle/>
                    <a:p>
                      <a:r>
                        <a:rPr sz="1300" b="0">
                          <a:solidFill>
                            <a:srgbClr val="1F2937"/>
                          </a:solidFill>
                        </a:rPr>
                        <a:t>Kriokonservatsiya</a:t>
                      </a:r>
                    </a:p>
                  </a:txBody>
                  <a:tcPr marL="73152" marR="73152" marT="36576" marB="36576">
                    <a:solidFill>
                      <a:srgbClr val="FFFFFF"/>
                    </a:solidFill>
                  </a:tcPr>
                </a:tc>
                <a:tc>
                  <a:txBody>
                    <a:bodyPr/>
                    <a:lstStyle/>
                    <a:p>
                      <a:r>
                        <a:rPr sz="1300" b="0">
                          <a:solidFill>
                            <a:srgbClr val="1F2937"/>
                          </a:solidFill>
                        </a:rPr>
                        <a:t>Gametalarni muzlatib saqlash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Nizomdagi ART usullari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95, 94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Sun’iy urug‘lantirish: gomologik va geterologik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Ayol bachadon bo‘shlig‘iga eri yoki boshqa donor-erkakning spermatozoidi yuboriladi.</a:t>
            </a:r>
          </a:p>
          <a:p>
            <a:pPr>
              <a:spcAft>
                <a:spcPts val="800"/>
              </a:spcAft>
            </a:pPr>
            <a:r>
              <a:rPr sz="1800">
                <a:solidFill>
                  <a:srgbClr val="1F2937"/>
                </a:solidFill>
                <a:latin typeface="Calibri"/>
              </a:rPr>
              <a:t>▸  Diqqat: gomologik ≠ geterologik. Asosiy etik muammolar geterologik usulda yuzaga keladi.</a:t>
            </a:r>
          </a:p>
          <a:p>
            <a:pPr>
              <a:spcAft>
                <a:spcPts val="800"/>
              </a:spcAft>
            </a:pPr>
            <a:r>
              <a:rPr sz="1800">
                <a:solidFill>
                  <a:srgbClr val="1F2937"/>
                </a:solidFill>
                <a:latin typeface="Calibri"/>
              </a:rPr>
              <a:t>▸  Donor tanlansa, bola donor belgilariga qarab “buyurtma bo‘yicha” tanlanishi mumkin.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44538"/>
                <a:gridCol w="1893225"/>
                <a:gridCol w="2350211"/>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Gomologik</a:t>
                      </a:r>
                    </a:p>
                  </a:txBody>
                  <a:tcPr marL="73152" marR="73152" marT="36576" marB="36576">
                    <a:solidFill>
                      <a:srgbClr val="0B1F3A"/>
                    </a:solidFill>
                  </a:tcPr>
                </a:tc>
                <a:tc>
                  <a:txBody>
                    <a:bodyPr/>
                    <a:lstStyle/>
                    <a:p>
                      <a:r>
                        <a:rPr sz="1300" b="1">
                          <a:solidFill>
                            <a:srgbClr val="FFFFFF"/>
                          </a:solidFill>
                        </a:rPr>
                        <a:t>Geterologik</a:t>
                      </a:r>
                    </a:p>
                  </a:txBody>
                  <a:tcPr marL="73152" marR="73152" marT="36576" marB="36576">
                    <a:solidFill>
                      <a:srgbClr val="0B1F3A"/>
                    </a:solidFill>
                  </a:tcPr>
                </a:tc>
              </a:tr>
              <a:tr h="411480">
                <a:tc>
                  <a:txBody>
                    <a:bodyPr/>
                    <a:lstStyle/>
                    <a:p>
                      <a:r>
                        <a:rPr sz="1200" b="0">
                          <a:solidFill>
                            <a:srgbClr val="1F2937"/>
                          </a:solidFill>
                        </a:rPr>
                        <a:t>Sperma manbai</a:t>
                      </a:r>
                    </a:p>
                  </a:txBody>
                  <a:tcPr marL="73152" marR="73152" marT="36576" marB="36576">
                    <a:solidFill>
                      <a:srgbClr val="E8EEF6"/>
                    </a:solidFill>
                  </a:tcPr>
                </a:tc>
                <a:tc>
                  <a:txBody>
                    <a:bodyPr/>
                    <a:lstStyle/>
                    <a:p>
                      <a:r>
                        <a:rPr sz="1200" b="0">
                          <a:solidFill>
                            <a:srgbClr val="1F2937"/>
                          </a:solidFill>
                        </a:rPr>
                        <a:t>Er spermasi</a:t>
                      </a:r>
                    </a:p>
                  </a:txBody>
                  <a:tcPr marL="73152" marR="73152" marT="36576" marB="36576">
                    <a:solidFill>
                      <a:srgbClr val="E8EEF6"/>
                    </a:solidFill>
                  </a:tcPr>
                </a:tc>
                <a:tc>
                  <a:txBody>
                    <a:bodyPr/>
                    <a:lstStyle/>
                    <a:p>
                      <a:r>
                        <a:rPr sz="1200" b="0">
                          <a:solidFill>
                            <a:srgbClr val="1F2937"/>
                          </a:solidFill>
                        </a:rPr>
                        <a:t>Donor-erkak spermasi</a:t>
                      </a:r>
                    </a:p>
                  </a:txBody>
                  <a:tcPr marL="73152" marR="73152" marT="36576" marB="36576">
                    <a:solidFill>
                      <a:srgbClr val="E8EEF6"/>
                    </a:solidFill>
                  </a:tcPr>
                </a:tc>
              </a:tr>
              <a:tr h="411480">
                <a:tc>
                  <a:txBody>
                    <a:bodyPr/>
                    <a:lstStyle/>
                    <a:p>
                      <a:r>
                        <a:rPr sz="1200" b="0">
                          <a:solidFill>
                            <a:srgbClr val="1F2937"/>
                          </a:solidFill>
                        </a:rPr>
                        <a:t>Etik muammo</a:t>
                      </a:r>
                    </a:p>
                  </a:txBody>
                  <a:tcPr marL="73152" marR="73152" marT="36576" marB="36576">
                    <a:solidFill>
                      <a:srgbClr val="FFFFFF"/>
                    </a:solidFill>
                  </a:tcPr>
                </a:tc>
                <a:tc>
                  <a:txBody>
                    <a:bodyPr/>
                    <a:lstStyle/>
                    <a:p>
                      <a:r>
                        <a:rPr sz="1200" b="0">
                          <a:solidFill>
                            <a:srgbClr val="1F2937"/>
                          </a:solidFill>
                        </a:rPr>
                        <a:t>Jiddiy muammo yuzaga kelmaydi</a:t>
                      </a:r>
                    </a:p>
                  </a:txBody>
                  <a:tcPr marL="73152" marR="73152" marT="36576" marB="36576">
                    <a:solidFill>
                      <a:srgbClr val="FFFFFF"/>
                    </a:solidFill>
                  </a:tcPr>
                </a:tc>
                <a:tc>
                  <a:txBody>
                    <a:bodyPr/>
                    <a:lstStyle/>
                    <a:p>
                      <a:r>
                        <a:rPr sz="1200" b="0">
                          <a:solidFill>
                            <a:srgbClr val="1F2937"/>
                          </a:solidFill>
                        </a:rPr>
                        <a:t>Asosiy muammolar shu usulda</a:t>
                      </a:r>
                    </a:p>
                  </a:txBody>
                  <a:tcPr marL="73152" marR="73152" marT="36576" marB="36576">
                    <a:solidFill>
                      <a:srgbClr val="FFFFFF"/>
                    </a:solidFill>
                  </a:tcPr>
                </a:tc>
              </a:tr>
              <a:tr h="411480">
                <a:tc>
                  <a:txBody>
                    <a:bodyPr/>
                    <a:lstStyle/>
                    <a:p>
                      <a:r>
                        <a:rPr sz="1200" b="0">
                          <a:solidFill>
                            <a:srgbClr val="1F2937"/>
                          </a:solidFill>
                        </a:rPr>
                        <a:t>Ota-onalik</a:t>
                      </a:r>
                    </a:p>
                  </a:txBody>
                  <a:tcPr marL="73152" marR="73152" marT="36576" marB="36576">
                    <a:solidFill>
                      <a:srgbClr val="E8EEF6"/>
                    </a:solidFill>
                  </a:tcPr>
                </a:tc>
                <a:tc>
                  <a:txBody>
                    <a:bodyPr/>
                    <a:lstStyle/>
                    <a:p>
                      <a:r>
                        <a:rPr sz="1200" b="0">
                          <a:solidFill>
                            <a:srgbClr val="1F2937"/>
                          </a:solidFill>
                        </a:rPr>
                        <a:t>Muammo tilga olinmagan</a:t>
                      </a:r>
                    </a:p>
                  </a:txBody>
                  <a:tcPr marL="73152" marR="73152" marT="36576" marB="36576">
                    <a:solidFill>
                      <a:srgbClr val="E8EEF6"/>
                    </a:solidFill>
                  </a:tcPr>
                </a:tc>
                <a:tc>
                  <a:txBody>
                    <a:bodyPr/>
                    <a:lstStyle/>
                    <a:p>
                      <a:r>
                        <a:rPr sz="1200" b="0">
                          <a:solidFill>
                            <a:srgbClr val="1F2937"/>
                          </a:solidFill>
                        </a:rPr>
                        <a:t>Biologik va ijtimoiy ota farq qiladi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turni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abort qonunlari va ART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ayol xohishiga ko‘ra abort necha haftagacha mumkin? Javob: 12-haftagacha; ijtimoiy ko‘rsatma bo‘yicha 22-haftagacha, tibbiy ko‘rsatma bo‘yicha muddatdan qat’i nazar.</a:t>
            </a:r>
          </a:p>
          <a:p>
            <a:pPr>
              <a:spcAft>
                <a:spcPts val="1200"/>
              </a:spcAft>
            </a:pPr>
            <a:r>
              <a:rPr sz="2000">
                <a:solidFill>
                  <a:srgbClr val="1F2937"/>
                </a:solidFill>
                <a:latin typeface="Calibri"/>
              </a:rPr>
              <a:t>▸  Savol: Jinoyat kodeksining 114- va 115-moddalari nimani jinoyat deydi? Javob: noqonuniy homila tushirishni va ayolni homila tushirishga majburlashni.</a:t>
            </a:r>
          </a:p>
          <a:p>
            <a:pPr>
              <a:spcAft>
                <a:spcPts val="1200"/>
              </a:spcAft>
            </a:pPr>
            <a:r>
              <a:rPr sz="2000">
                <a:solidFill>
                  <a:srgbClr val="1F2937"/>
                </a:solidFill>
                <a:latin typeface="Calibri"/>
              </a:rPr>
              <a:t>▸  Savol: gomologik va geterologik inseminatsiya farqi nima? Javob: birinchisida eri, ikkinchisida donor spermasi ishlatiladi; asosiy etik muammo geterologik turida.</a:t>
            </a:r>
          </a:p>
          <a:p>
            <a:pPr>
              <a:spcAft>
                <a:spcPts val="1200"/>
              </a:spcAft>
            </a:pPr>
            <a:r>
              <a:rPr sz="2000">
                <a:solidFill>
                  <a:srgbClr val="1F2937"/>
                </a:solidFill>
                <a:latin typeface="Calibri"/>
              </a:rPr>
              <a:t>▸  Diqqat: ekstrakorporal urug‘lantirish (EKU) ≠ surrogat onalik. Yordamchi reproduktiv texnologiyalar (ART) nizomida surrogatlik ko‘rsatilmagan.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90, 91-92, 95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EKU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Giperstimulyatsiyada bir yo‘la bir necha tuxum hujayra yetiladi; bu samarani kafolatlash uchun qilinadi.</a:t>
            </a:r>
          </a:p>
          <a:p>
            <a:pPr>
              <a:spcAft>
                <a:spcPts val="800"/>
              </a:spcAft>
            </a:pPr>
            <a:r>
              <a:rPr sz="1800">
                <a:solidFill>
                  <a:srgbClr val="1F2937"/>
                </a:solidFill>
                <a:latin typeface="Calibri"/>
              </a:rPr>
              <a:t>▸  EKU erkak va ayol bepushtligida qo‘llanadi; urug‘lanish va dastlabki o‘sish ayol tanasidan tashqarida o‘tadi.</a:t>
            </a:r>
          </a:p>
          <a:p>
            <a:pPr>
              <a:spcAft>
                <a:spcPts val="800"/>
              </a:spcAft>
            </a:pPr>
            <a:r>
              <a:rPr sz="1800">
                <a:solidFill>
                  <a:srgbClr val="1F2937"/>
                </a:solidFill>
                <a:latin typeface="Calibri"/>
              </a:rPr>
              <a:t>▸  Ko‘p homilali holatda ortiqcha embrionlar ultratovush nazoratida yo‘qotiladi; bu reduksiya deyiladi.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Tuxumdon giperstimulyatsiyasi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Tuxum hujayrani olish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Sperma tanlash va urug‘lantirish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Inkubatorda o‘stirish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Embrionni bachadonga o‘tkazish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EKU jarayon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95, 96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EKU tarixi va statistikasi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Birinchi muvaffaqiyatli EKUni Robert Edvards va Patrik Kristofer Steptou amalga oshirgan.</a:t>
            </a:r>
          </a:p>
          <a:p>
            <a:pPr>
              <a:spcAft>
                <a:spcPts val="800"/>
              </a:spcAft>
            </a:pPr>
            <a:r>
              <a:rPr sz="1800">
                <a:solidFill>
                  <a:srgbClr val="1F2937"/>
                </a:solidFill>
                <a:latin typeface="Calibri"/>
              </a:rPr>
              <a:t>▸  Hozir dunyoda yiliga taxminan 1,5 mln EKU o‘tkaziladi; ularning 23-25 foizi samarali bo‘ladi.</a:t>
            </a:r>
          </a:p>
          <a:p>
            <a:pPr>
              <a:spcAft>
                <a:spcPts val="800"/>
              </a:spcAft>
            </a:pPr>
            <a:r>
              <a:rPr sz="1800">
                <a:solidFill>
                  <a:srgbClr val="1F2937"/>
                </a:solidFill>
                <a:latin typeface="Calibri"/>
              </a:rPr>
              <a:t>▸  EKU asosan 30-39 yoshli ayollarda qo‘llanadi; jahon EKUsining yarmidan ko‘pi Yevropa ulushiga to‘g‘ri keladi.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Yil</a:t>
                      </a:r>
                    </a:p>
                  </a:txBody>
                  <a:tcPr marL="73152" marR="73152" marT="36576" marB="36576">
                    <a:solidFill>
                      <a:srgbClr val="0B1F3A"/>
                    </a:solidFill>
                  </a:tcPr>
                </a:tc>
                <a:tc>
                  <a:txBody>
                    <a:bodyPr/>
                    <a:lstStyle/>
                    <a:p>
                      <a:r>
                        <a:rPr sz="1400" b="1">
                          <a:solidFill>
                            <a:srgbClr val="FFFFFF"/>
                          </a:solidFill>
                        </a:rPr>
                        <a:t>Voqea</a:t>
                      </a:r>
                    </a:p>
                  </a:txBody>
                  <a:tcPr marL="73152" marR="73152" marT="36576" marB="36576">
                    <a:solidFill>
                      <a:srgbClr val="0B1F3A"/>
                    </a:solidFill>
                  </a:tcPr>
                </a:tc>
              </a:tr>
              <a:tr h="411480">
                <a:tc>
                  <a:txBody>
                    <a:bodyPr/>
                    <a:lstStyle/>
                    <a:p>
                      <a:r>
                        <a:rPr sz="1300" b="0">
                          <a:solidFill>
                            <a:srgbClr val="1F2937"/>
                          </a:solidFill>
                        </a:rPr>
                        <a:t>1968</a:t>
                      </a:r>
                    </a:p>
                  </a:txBody>
                  <a:tcPr marL="73152" marR="73152" marT="36576" marB="36576">
                    <a:solidFill>
                      <a:srgbClr val="E8EEF6"/>
                    </a:solidFill>
                  </a:tcPr>
                </a:tc>
                <a:tc>
                  <a:txBody>
                    <a:bodyPr/>
                    <a:lstStyle/>
                    <a:p>
                      <a:r>
                        <a:rPr sz="1300" b="0">
                          <a:solidFill>
                            <a:srgbClr val="1F2937"/>
                          </a:solidFill>
                        </a:rPr>
                        <a:t>Edvards tuxumni laboratoriyada urug‘lantirdi</a:t>
                      </a:r>
                    </a:p>
                  </a:txBody>
                  <a:tcPr marL="73152" marR="73152" marT="36576" marB="36576">
                    <a:solidFill>
                      <a:srgbClr val="E8EEF6"/>
                    </a:solidFill>
                  </a:tcPr>
                </a:tc>
              </a:tr>
              <a:tr h="411480">
                <a:tc>
                  <a:txBody>
                    <a:bodyPr/>
                    <a:lstStyle/>
                    <a:p>
                      <a:r>
                        <a:rPr sz="1300" b="0">
                          <a:solidFill>
                            <a:srgbClr val="1F2937"/>
                          </a:solidFill>
                        </a:rPr>
                        <a:t>1978</a:t>
                      </a:r>
                    </a:p>
                  </a:txBody>
                  <a:tcPr marL="73152" marR="73152" marT="36576" marB="36576">
                    <a:solidFill>
                      <a:srgbClr val="FFFFFF"/>
                    </a:solidFill>
                  </a:tcPr>
                </a:tc>
                <a:tc>
                  <a:txBody>
                    <a:bodyPr/>
                    <a:lstStyle/>
                    <a:p>
                      <a:r>
                        <a:rPr sz="1300" b="0">
                          <a:solidFill>
                            <a:srgbClr val="1F2937"/>
                          </a:solidFill>
                        </a:rPr>
                        <a:t>Kembrijda Luiz Djoy Braun tug‘ildi</a:t>
                      </a:r>
                    </a:p>
                  </a:txBody>
                  <a:tcPr marL="73152" marR="73152" marT="36576" marB="36576">
                    <a:solidFill>
                      <a:srgbClr val="FFFFFF"/>
                    </a:solidFill>
                  </a:tcPr>
                </a:tc>
              </a:tr>
              <a:tr h="411480">
                <a:tc>
                  <a:txBody>
                    <a:bodyPr/>
                    <a:lstStyle/>
                    <a:p>
                      <a:r>
                        <a:rPr sz="1300" b="0">
                          <a:solidFill>
                            <a:srgbClr val="1F2937"/>
                          </a:solidFill>
                        </a:rPr>
                        <a:t>2010</a:t>
                      </a:r>
                    </a:p>
                  </a:txBody>
                  <a:tcPr marL="73152" marR="73152" marT="36576" marB="36576">
                    <a:solidFill>
                      <a:srgbClr val="E8EEF6"/>
                    </a:solidFill>
                  </a:tcPr>
                </a:tc>
                <a:tc>
                  <a:txBody>
                    <a:bodyPr/>
                    <a:lstStyle/>
                    <a:p>
                      <a:r>
                        <a:rPr sz="1300" b="0">
                          <a:solidFill>
                            <a:srgbClr val="1F2937"/>
                          </a:solidFill>
                        </a:rPr>
                        <a:t>Edvards Nobel mukofotiga sazovor bo‘ldi</a:t>
                      </a:r>
                    </a:p>
                  </a:txBody>
                  <a:tcPr marL="73152" marR="73152" marT="36576" marB="36576">
                    <a:solidFill>
                      <a:srgbClr val="E8EEF6"/>
                    </a:solidFill>
                  </a:tcPr>
                </a:tc>
              </a:tr>
              <a:tr h="411480">
                <a:tc>
                  <a:txBody>
                    <a:bodyPr/>
                    <a:lstStyle/>
                    <a:p>
                      <a:r>
                        <a:rPr sz="1300" b="0">
                          <a:solidFill>
                            <a:srgbClr val="1F2937"/>
                          </a:solidFill>
                        </a:rPr>
                        <a:t>Hozir</a:t>
                      </a:r>
                    </a:p>
                  </a:txBody>
                  <a:tcPr marL="73152" marR="73152" marT="36576" marB="36576">
                    <a:solidFill>
                      <a:srgbClr val="FFFFFF"/>
                    </a:solidFill>
                  </a:tcPr>
                </a:tc>
                <a:tc>
                  <a:txBody>
                    <a:bodyPr/>
                    <a:lstStyle/>
                    <a:p>
                      <a:r>
                        <a:rPr sz="1300" b="0">
                          <a:solidFill>
                            <a:srgbClr val="1F2937"/>
                          </a:solidFill>
                        </a:rPr>
                        <a:t>5 mln+ bola; yiliga ~1,5 mln EKU</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EKU vaqt chizig‘i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EKU: asosiy axloqiy-etik muammolar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Ekstrakorporal urug‘lantirish (EKU) da jinsiy aloqasiz homiladorlik yuzaga keladi. Bolada ijtimoiy otadan tashqari genetik ota ham bo‘ladi.</a:t>
            </a:r>
          </a:p>
          <a:p>
            <a:pPr>
              <a:spcAft>
                <a:spcPts val="1200"/>
              </a:spcAft>
            </a:pPr>
            <a:r>
              <a:rPr sz="2200">
                <a:solidFill>
                  <a:srgbClr val="1F2937"/>
                </a:solidFill>
                <a:latin typeface="Calibri"/>
              </a:rPr>
              <a:t>▸  Giperstimulyatsiyada ba’zan 10 tagacha tuxum hujayra olinadi. Ortiqcha embrionlar yo‘q qilinishi mumkin; redukciyani ayrimlar «tanlov asosida abort» deydi.</a:t>
            </a:r>
          </a:p>
          <a:p>
            <a:pPr>
              <a:spcAft>
                <a:spcPts val="1200"/>
              </a:spcAft>
            </a:pPr>
            <a:r>
              <a:rPr sz="2200">
                <a:solidFill>
                  <a:srgbClr val="1F2937"/>
                </a:solidFill>
                <a:latin typeface="Calibri"/>
              </a:rPr>
              <a:t>▸  Implantatsiyadan oldingi tekshiruv bola jinsi va boshqa belgilari bo‘yicha diskriminatsiya qilish imkonini beradi.</a:t>
            </a:r>
          </a:p>
          <a:p>
            <a:pPr>
              <a:spcAft>
                <a:spcPts val="1200"/>
              </a:spcAft>
            </a:pPr>
            <a:r>
              <a:rPr sz="2200">
                <a:solidFill>
                  <a:srgbClr val="1F2937"/>
                </a:solidFill>
                <a:latin typeface="Calibri"/>
              </a:rPr>
              <a:t>▸  Muzlatilgan embrionlar sanoat maqsadida ishlatilishi mumkin. Bunda «ayol – inkubator» muammosi va kam uchraydigan genetik insest xavfi bor.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96, 96-97, 97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EKU: tibbiy muammolar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Yetilgan tuxum olish uchun ovulyatsiya provokatsiya qilinadi. Bu ayol uchun xavfli tuxumdonlar giperstimulyatsiyasi sindromiga olib kelishi mumkin.</a:t>
            </a:r>
          </a:p>
          <a:p>
            <a:pPr>
              <a:spcAft>
                <a:spcPts val="1200"/>
              </a:spcAft>
            </a:pPr>
            <a:r>
              <a:rPr sz="2200">
                <a:solidFill>
                  <a:srgbClr val="1F2937"/>
                </a:solidFill>
                <a:latin typeface="Calibri"/>
              </a:rPr>
              <a:t>▸  Tuxum hujayra mexanik va kimyoviy tozalanganda yaltiroq zonasi (zona pellucida) emirilishi mumkin. Bu embrionda neoplastik o‘zgarishlarga olib kelishi mumkin.</a:t>
            </a:r>
          </a:p>
          <a:p>
            <a:pPr>
              <a:spcAft>
                <a:spcPts val="1200"/>
              </a:spcAft>
            </a:pPr>
            <a:r>
              <a:rPr sz="2200">
                <a:solidFill>
                  <a:srgbClr val="1F2937"/>
                </a:solidFill>
                <a:latin typeface="Calibri"/>
              </a:rPr>
              <a:t>▸  Spermatozoid tabiiy ko‘p pog‘onali tanlovni chetlab o‘tadi. Natijada irsiy kasalliklarning bolaga o‘tish darajasi ortadi.</a:t>
            </a:r>
          </a:p>
          <a:p>
            <a:pPr>
              <a:spcAft>
                <a:spcPts val="1200"/>
              </a:spcAft>
            </a:pPr>
            <a:r>
              <a:rPr sz="2200">
                <a:solidFill>
                  <a:srgbClr val="1F2937"/>
                </a:solidFill>
                <a:latin typeface="Calibri"/>
              </a:rPr>
              <a:t>▸  Dastlabki kunlarda embrion organizmdan tashqarida rivojlanadi. Shu sababli u tabiiy ichki omillarning ko‘pidan mahrum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EKU qonunchiligi va etik tavsiyalar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Ayrim mamlakatlarda redukciya taqiqlangan yoki cheklangan, ko‘chiriladigan embrionlar soni chegaralangan.</a:t>
            </a:r>
          </a:p>
          <a:p>
            <a:pPr>
              <a:spcAft>
                <a:spcPts val="800"/>
              </a:spcAft>
            </a:pPr>
            <a:r>
              <a:rPr sz="1800">
                <a:solidFill>
                  <a:srgbClr val="1F2937"/>
                </a:solidFill>
                <a:latin typeface="Calibri"/>
              </a:rPr>
              <a:t>▸  Yumshatuvchi tavsiyalar: ehtiyotkor stimulyatsiya, kamroq embrion ko‘chirish, ortiqchasini bepul berish.</a:t>
            </a:r>
          </a:p>
          <a:p>
            <a:pPr>
              <a:spcAft>
                <a:spcPts val="800"/>
              </a:spcAft>
            </a:pPr>
            <a:r>
              <a:rPr sz="1800">
                <a:solidFill>
                  <a:srgbClr val="1F2937"/>
                </a:solidFill>
                <a:latin typeface="Calibri"/>
              </a:rPr>
              <a:t>▸  Sanoat maqsadida embrion yetishtirish mumkin emas; EKU oldidan to‘liq ma’lumot berish shart.</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20450"/>
                <a:gridCol w="3467524"/>
              </a:tblGrid>
              <a:tr h="411480">
                <a:tc>
                  <a:txBody>
                    <a:bodyPr/>
                    <a:lstStyle/>
                    <a:p>
                      <a:r>
                        <a:rPr sz="1400" b="1">
                          <a:solidFill>
                            <a:srgbClr val="FFFFFF"/>
                          </a:solidFill>
                        </a:rPr>
                        <a:t>Mamlakat</a:t>
                      </a:r>
                    </a:p>
                  </a:txBody>
                  <a:tcPr marL="73152" marR="73152" marT="36576" marB="36576">
                    <a:solidFill>
                      <a:srgbClr val="0B1F3A"/>
                    </a:solidFill>
                  </a:tcPr>
                </a:tc>
                <a:tc>
                  <a:txBody>
                    <a:bodyPr/>
                    <a:lstStyle/>
                    <a:p>
                      <a:r>
                        <a:rPr sz="1400" b="1">
                          <a:solidFill>
                            <a:srgbClr val="FFFFFF"/>
                          </a:solidFill>
                        </a:rPr>
                        <a:t>Cheklov</a:t>
                      </a:r>
                    </a:p>
                  </a:txBody>
                  <a:tcPr marL="73152" marR="73152" marT="36576" marB="36576">
                    <a:solidFill>
                      <a:srgbClr val="0B1F3A"/>
                    </a:solidFill>
                  </a:tcPr>
                </a:tc>
              </a:tr>
              <a:tr h="411480">
                <a:tc>
                  <a:txBody>
                    <a:bodyPr/>
                    <a:lstStyle/>
                    <a:p>
                      <a:r>
                        <a:rPr sz="1300" b="0">
                          <a:solidFill>
                            <a:srgbClr val="1F2937"/>
                          </a:solidFill>
                        </a:rPr>
                        <a:t>Italiya</a:t>
                      </a:r>
                    </a:p>
                  </a:txBody>
                  <a:tcPr marL="73152" marR="73152" marT="36576" marB="36576">
                    <a:solidFill>
                      <a:srgbClr val="E8EEF6"/>
                    </a:solidFill>
                  </a:tcPr>
                </a:tc>
                <a:tc>
                  <a:txBody>
                    <a:bodyPr/>
                    <a:lstStyle/>
                    <a:p>
                      <a:r>
                        <a:rPr sz="1300" b="0">
                          <a:solidFill>
                            <a:srgbClr val="1F2937"/>
                          </a:solidFill>
                        </a:rPr>
                        <a:t>Faqat er-xotin gametalaridan foydalaniladi</a:t>
                      </a:r>
                    </a:p>
                  </a:txBody>
                  <a:tcPr marL="73152" marR="73152" marT="36576" marB="36576">
                    <a:solidFill>
                      <a:srgbClr val="E8EEF6"/>
                    </a:solidFill>
                  </a:tcPr>
                </a:tc>
              </a:tr>
              <a:tr h="411480">
                <a:tc>
                  <a:txBody>
                    <a:bodyPr/>
                    <a:lstStyle/>
                    <a:p>
                      <a:r>
                        <a:rPr sz="1300" b="0">
                          <a:solidFill>
                            <a:srgbClr val="1F2937"/>
                          </a:solidFill>
                        </a:rPr>
                        <a:t>Germaniya, Kosta-Rika</a:t>
                      </a:r>
                    </a:p>
                  </a:txBody>
                  <a:tcPr marL="73152" marR="73152" marT="36576" marB="36576">
                    <a:solidFill>
                      <a:srgbClr val="FFFFFF"/>
                    </a:solidFill>
                  </a:tcPr>
                </a:tc>
                <a:tc>
                  <a:txBody>
                    <a:bodyPr/>
                    <a:lstStyle/>
                    <a:p>
                      <a:r>
                        <a:rPr sz="1300" b="0">
                          <a:solidFill>
                            <a:srgbClr val="1F2937"/>
                          </a:solidFill>
                        </a:rPr>
                        <a:t>EKU qonun bilan taqiqlangan</a:t>
                      </a:r>
                    </a:p>
                  </a:txBody>
                  <a:tcPr marL="73152" marR="73152" marT="36576" marB="36576">
                    <a:solidFill>
                      <a:srgbClr val="FFFFFF"/>
                    </a:solidFill>
                  </a:tcPr>
                </a:tc>
              </a:tr>
              <a:tr h="411480">
                <a:tc>
                  <a:txBody>
                    <a:bodyPr/>
                    <a:lstStyle/>
                    <a:p>
                      <a:r>
                        <a:rPr sz="1300" b="0">
                          <a:solidFill>
                            <a:srgbClr val="1F2937"/>
                          </a:solidFill>
                        </a:rPr>
                        <a:t>Rossiya</a:t>
                      </a:r>
                    </a:p>
                  </a:txBody>
                  <a:tcPr marL="73152" marR="73152" marT="36576" marB="36576">
                    <a:solidFill>
                      <a:srgbClr val="E8EEF6"/>
                    </a:solidFill>
                  </a:tcPr>
                </a:tc>
                <a:tc>
                  <a:txBody>
                    <a:bodyPr/>
                    <a:lstStyle/>
                    <a:p>
                      <a:r>
                        <a:rPr sz="1300" b="0">
                          <a:solidFill>
                            <a:srgbClr val="1F2937"/>
                          </a:solidFill>
                        </a:rPr>
                        <a:t>Jins tanlash cheklangan; 2 tagacha embrion</a:t>
                      </a:r>
                    </a:p>
                  </a:txBody>
                  <a:tcPr marL="73152" marR="73152" marT="36576" marB="36576">
                    <a:solidFill>
                      <a:srgbClr val="E8EEF6"/>
                    </a:solidFill>
                  </a:tcPr>
                </a:tc>
              </a:tr>
              <a:tr h="411480">
                <a:tc>
                  <a:txBody>
                    <a:bodyPr/>
                    <a:lstStyle/>
                    <a:p>
                      <a:r>
                        <a:rPr sz="1300" b="0">
                          <a:solidFill>
                            <a:srgbClr val="1F2937"/>
                          </a:solidFill>
                        </a:rPr>
                        <a:t>Rossiya (redukciya)</a:t>
                      </a:r>
                    </a:p>
                  </a:txBody>
                  <a:tcPr marL="73152" marR="73152" marT="36576" marB="36576">
                    <a:solidFill>
                      <a:srgbClr val="FFFFFF"/>
                    </a:solidFill>
                  </a:tcPr>
                </a:tc>
                <a:tc>
                  <a:txBody>
                    <a:bodyPr/>
                    <a:lstStyle/>
                    <a:p>
                      <a:r>
                        <a:rPr sz="1300" b="0">
                          <a:solidFill>
                            <a:srgbClr val="1F2937"/>
                          </a:solidFill>
                        </a:rPr>
                        <a:t>Ayolning ma’lumotli roziligi bilan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EKU: davlat cheklovlari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97, 98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ortiqcha embrionlar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er-xotinda giperstimulyatsiyadan bir necha (ba’zan 10 tagacha) tuxum hujayra olindi va urug‘lantirildi; ortiqcha embrionlar paydo bo‘ldi.</a:t>
            </a:r>
          </a:p>
          <a:p>
            <a:pPr>
              <a:spcAft>
                <a:spcPts val="1200"/>
              </a:spcAft>
            </a:pPr>
            <a:r>
              <a:rPr sz="2200">
                <a:solidFill>
                  <a:srgbClr val="1F2937"/>
                </a:solidFill>
                <a:latin typeface="Calibri"/>
              </a:rPr>
              <a:t>▸  Muammo: ortiqcha embrionlar yo‘q qilinishi yoki boshqa maqsadda ishlatilishi mumkin; embrion hayot kurtagi deb qaralsa, bu jiddiy axloqiy masala.</a:t>
            </a:r>
          </a:p>
          <a:p>
            <a:pPr>
              <a:spcAft>
                <a:spcPts val="1200"/>
              </a:spcAft>
            </a:pPr>
            <a:r>
              <a:rPr sz="2200">
                <a:solidFill>
                  <a:srgbClr val="1F2937"/>
                </a:solidFill>
                <a:latin typeface="Calibri"/>
              </a:rPr>
              <a:t>▸  Tavsiyalar: ehtiyotkor stimulyatsiya, ortiqcha embrionni yo‘q qilmay bepusht er-xotinga bepul berish, bachadonga kamroq embrion o‘tkazish.</a:t>
            </a:r>
          </a:p>
          <a:p>
            <a:pPr>
              <a:spcAft>
                <a:spcPts val="1200"/>
              </a:spcAft>
            </a:pPr>
            <a:r>
              <a:rPr sz="2200">
                <a:solidFill>
                  <a:srgbClr val="1F2937"/>
                </a:solidFill>
                <a:latin typeface="Calibri"/>
              </a:rPr>
              <a:t>▸  Savol: ko‘p homilalikda reduksiyani ba’zi tadqiqotchilar tanlov asosida abort deydi. Rossiyada ikkitadan ortiq embrion o‘tkazilmaydi. Qaysi yechim maqbul?</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96, 98, 97-98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Kriokonservatsiya, xetching va ICSI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Gameta va embrionlar suyuq azotda, maxsus markirovkali konteynerlarda saqlanadi; muddat 10 yilgacha va undan ko‘p.</a:t>
            </a:r>
          </a:p>
          <a:p>
            <a:pPr>
              <a:spcAft>
                <a:spcPts val="800"/>
              </a:spcAft>
            </a:pPr>
            <a:r>
              <a:rPr sz="1800">
                <a:solidFill>
                  <a:srgbClr val="1F2937"/>
                </a:solidFill>
                <a:latin typeface="Calibri"/>
              </a:rPr>
              <a:t>▸  Emma (2017) va Molli (2020) — 1992-yilda muzlatilgan embrionlardan tug‘ilgan genetik opa-singil.</a:t>
            </a:r>
          </a:p>
          <a:p>
            <a:pPr>
              <a:spcAft>
                <a:spcPts val="800"/>
              </a:spcAft>
            </a:pPr>
            <a:r>
              <a:rPr sz="1800">
                <a:solidFill>
                  <a:srgbClr val="1F2937"/>
                </a:solidFill>
                <a:latin typeface="Calibri"/>
              </a:rPr>
              <a:t>▸  Barcha muolajalar fuqarolarning ma’lumotli roziligi asosida o‘tkaziladi.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667379"/>
                <a:gridCol w="1715018"/>
                <a:gridCol w="1905576"/>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Ko‘rsatma</a:t>
                      </a:r>
                    </a:p>
                  </a:txBody>
                  <a:tcPr marL="73152" marR="73152" marT="36576" marB="36576">
                    <a:solidFill>
                      <a:srgbClr val="0B1F3A"/>
                    </a:solidFill>
                  </a:tcPr>
                </a:tc>
              </a:tr>
              <a:tr h="411480">
                <a:tc>
                  <a:txBody>
                    <a:bodyPr/>
                    <a:lstStyle/>
                    <a:p>
                      <a:r>
                        <a:rPr sz="1200" b="0">
                          <a:solidFill>
                            <a:srgbClr val="1F2937"/>
                          </a:solidFill>
                        </a:rPr>
                        <a:t>Kriokonservatsiya</a:t>
                      </a:r>
                    </a:p>
                  </a:txBody>
                  <a:tcPr marL="73152" marR="73152" marT="36576" marB="36576">
                    <a:solidFill>
                      <a:srgbClr val="E8EEF6"/>
                    </a:solidFill>
                  </a:tcPr>
                </a:tc>
                <a:tc>
                  <a:txBody>
                    <a:bodyPr/>
                    <a:lstStyle/>
                    <a:p>
                      <a:r>
                        <a:rPr sz="1200" b="0">
                          <a:solidFill>
                            <a:srgbClr val="1F2937"/>
                          </a:solidFill>
                        </a:rPr>
                        <a:t>Muzlatib saqlash (suyuq azot)</a:t>
                      </a:r>
                    </a:p>
                  </a:txBody>
                  <a:tcPr marL="73152" marR="73152" marT="36576" marB="36576">
                    <a:solidFill>
                      <a:srgbClr val="E8EEF6"/>
                    </a:solidFill>
                  </a:tcPr>
                </a:tc>
                <a:tc>
                  <a:txBody>
                    <a:bodyPr/>
                    <a:lstStyle/>
                    <a:p>
                      <a:r>
                        <a:rPr sz="1200" b="0">
                          <a:solidFill>
                            <a:srgbClr val="1F2937"/>
                          </a:solidFill>
                        </a:rPr>
                        <a:t>Gameta, embrion, gonada to‘qimasini saqlash</a:t>
                      </a:r>
                    </a:p>
                  </a:txBody>
                  <a:tcPr marL="73152" marR="73152" marT="36576" marB="36576">
                    <a:solidFill>
                      <a:srgbClr val="E8EEF6"/>
                    </a:solidFill>
                  </a:tcPr>
                </a:tc>
              </a:tr>
              <a:tr h="411480">
                <a:tc>
                  <a:txBody>
                    <a:bodyPr/>
                    <a:lstStyle/>
                    <a:p>
                      <a:r>
                        <a:rPr sz="1200" b="0">
                          <a:solidFill>
                            <a:srgbClr val="1F2937"/>
                          </a:solidFill>
                        </a:rPr>
                        <a:t>Xetching</a:t>
                      </a:r>
                    </a:p>
                  </a:txBody>
                  <a:tcPr marL="73152" marR="73152" marT="36576" marB="36576">
                    <a:solidFill>
                      <a:srgbClr val="FFFFFF"/>
                    </a:solidFill>
                  </a:tcPr>
                </a:tc>
                <a:tc>
                  <a:txBody>
                    <a:bodyPr/>
                    <a:lstStyle/>
                    <a:p>
                      <a:r>
                        <a:rPr sz="1200" b="0">
                          <a:solidFill>
                            <a:srgbClr val="1F2937"/>
                          </a:solidFill>
                        </a:rPr>
                        <a:t>Yaltiroq qobiqni yorish</a:t>
                      </a:r>
                    </a:p>
                  </a:txBody>
                  <a:tcPr marL="73152" marR="73152" marT="36576" marB="36576">
                    <a:solidFill>
                      <a:srgbClr val="FFFFFF"/>
                    </a:solidFill>
                  </a:tcPr>
                </a:tc>
                <a:tc>
                  <a:txBody>
                    <a:bodyPr/>
                    <a:lstStyle/>
                    <a:p>
                      <a:r>
                        <a:rPr sz="1200" b="0">
                          <a:solidFill>
                            <a:srgbClr val="1F2937"/>
                          </a:solidFill>
                        </a:rPr>
                        <a:t>35+ yosh; 3 marta va ko‘p urinish natijasiz</a:t>
                      </a:r>
                    </a:p>
                  </a:txBody>
                  <a:tcPr marL="73152" marR="73152" marT="36576" marB="36576">
                    <a:solidFill>
                      <a:srgbClr val="FFFFFF"/>
                    </a:solidFill>
                  </a:tcPr>
                </a:tc>
              </a:tr>
              <a:tr h="411480">
                <a:tc>
                  <a:txBody>
                    <a:bodyPr/>
                    <a:lstStyle/>
                    <a:p>
                      <a:r>
                        <a:rPr sz="1200" b="0">
                          <a:solidFill>
                            <a:srgbClr val="1F2937"/>
                          </a:solidFill>
                        </a:rPr>
                        <a:t>Intratsitoplazmatik inyeksiya (SII)</a:t>
                      </a:r>
                    </a:p>
                  </a:txBody>
                  <a:tcPr marL="73152" marR="73152" marT="36576" marB="36576">
                    <a:solidFill>
                      <a:srgbClr val="E8EEF6"/>
                    </a:solidFill>
                  </a:tcPr>
                </a:tc>
                <a:tc>
                  <a:txBody>
                    <a:bodyPr/>
                    <a:lstStyle/>
                    <a:p>
                      <a:r>
                        <a:rPr sz="1200" b="0">
                          <a:solidFill>
                            <a:srgbClr val="1F2937"/>
                          </a:solidFill>
                        </a:rPr>
                        <a:t>Spermatozoidni oosit ichiga kiritish</a:t>
                      </a:r>
                    </a:p>
                  </a:txBody>
                  <a:tcPr marL="73152" marR="73152" marT="36576" marB="36576">
                    <a:solidFill>
                      <a:srgbClr val="E8EEF6"/>
                    </a:solidFill>
                  </a:tcPr>
                </a:tc>
                <a:tc>
                  <a:txBody>
                    <a:bodyPr/>
                    <a:lstStyle/>
                    <a:p>
                      <a:r>
                        <a:rPr sz="1200" b="0">
                          <a:solidFill>
                            <a:srgbClr val="1F2937"/>
                          </a:solidFill>
                        </a:rPr>
                        <a:t>Spermatogenez buzilishi, oosit 4 tadan kam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va ko‘rsatmalar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98-99, 99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Surrogat onalik: mohiyati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Genetik ona tuxum beradi, surrogat ona homilani ko‘tarib tug‘adi; tuxum surrogatdan olinsa — qisman.</a:t>
            </a:r>
          </a:p>
          <a:p>
            <a:pPr>
              <a:spcAft>
                <a:spcPts val="800"/>
              </a:spcAft>
            </a:pPr>
            <a:r>
              <a:rPr sz="1800">
                <a:solidFill>
                  <a:srgbClr val="1F2937"/>
                </a:solidFill>
                <a:latin typeface="Calibri"/>
              </a:rPr>
              <a:t>▸  Rozilik tijoriy (pul evaziga) yoki altruistik (qarindosh, do‘st yordami) bo‘lishi mumkin.</a:t>
            </a:r>
          </a:p>
          <a:p>
            <a:pPr>
              <a:spcAft>
                <a:spcPts val="800"/>
              </a:spcAft>
            </a:pPr>
            <a:r>
              <a:rPr sz="1800">
                <a:solidFill>
                  <a:srgbClr val="1F2937"/>
                </a:solidFill>
                <a:latin typeface="Calibri"/>
              </a:rPr>
              <a:t>▸  Ko‘rsatma: bachadon nuqsoni, chandiq-bitishmalar, homiladorlikka to‘sqinlik qiluvchi ichki kasalliklar.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Genetik onaning tuxum hujayrasi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Urug‘lantirish (in vitro)</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Embrion surrogat ona bachadoniga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Surrogat ona homilani tashiydi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Bola genetik onaga beriladi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Surrogatlik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Surrogatlikning axloqiy-huquqiy muammolari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Oila yaxlitligi buziladi: oila doirasiga tashqaridan boshqa ayol kiradi, oilaviy qadriyatlar haqidagi an’anaviy tasavvurga putur yetadi.</a:t>
            </a:r>
          </a:p>
          <a:p>
            <a:pPr>
              <a:spcAft>
                <a:spcPts val="1200"/>
              </a:spcAft>
            </a:pPr>
            <a:r>
              <a:rPr sz="2200">
                <a:solidFill>
                  <a:srgbClr val="1F2937"/>
                </a:solidFill>
                <a:latin typeface="Calibri"/>
              </a:rPr>
              <a:t>▸  Genetik ona va surrogat ona farqlanadi. Odatda biologik ona deb homilani saqlagan va tuqqan ayol, ya’ni surrogat ona hisoblanadi.</a:t>
            </a:r>
          </a:p>
          <a:p>
            <a:pPr>
              <a:spcAft>
                <a:spcPts val="1200"/>
              </a:spcAft>
            </a:pPr>
            <a:r>
              <a:rPr sz="2200">
                <a:solidFill>
                  <a:srgbClr val="1F2937"/>
                </a:solidFill>
                <a:latin typeface="Calibri"/>
              </a:rPr>
              <a:t>▸  Oila kodeksining 207-moddasi: nikohdagi er-xotin homilani boshqa ayolga ko‘chirishga rozilik bersa, ota-ona deb yozilishi uchun tuqqan ayolning roziligi shart.</a:t>
            </a:r>
          </a:p>
          <a:p>
            <a:pPr>
              <a:spcAft>
                <a:spcPts val="1200"/>
              </a:spcAft>
            </a:pPr>
            <a:r>
              <a:rPr sz="2200">
                <a:solidFill>
                  <a:srgbClr val="1F2937"/>
                </a:solidFill>
                <a:latin typeface="Calibri"/>
              </a:rPr>
              <a:t>▸  Ota-onalar soni beshtagacha ko‘payishi mumkin. Haq evaziga surrogatlik bola tug‘ilishini tijoratlashtiradi, ayol esa tovarga, inkubatorga o‘xshab qoladi.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100, 100-101, 101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Surrogatlik: taqiq, talablar va JTA 1987 bayonoti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Avstriya, Germaniya va Fransiyada surrogatlik taqiqlangan. Ruxsat etilgan ko‘pchilik mamlakatlarda surrogat ona sog‘lom, 20-35 yoshda va kamida bitta sog‘lom farzandli bo‘lishi kerak.</a:t>
            </a:r>
          </a:p>
          <a:p>
            <a:pPr>
              <a:spcAft>
                <a:spcPts val="1200"/>
              </a:spcAft>
            </a:pPr>
            <a:r>
              <a:rPr sz="2000">
                <a:solidFill>
                  <a:srgbClr val="1F2937"/>
                </a:solidFill>
                <a:latin typeface="Calibri"/>
              </a:rPr>
              <a:t>▸  Rossiyada haq evaziga ham ruxsat: 20-30 yosh, kamida bitta sog‘lom farzand va tibbiy xulosa kerak. Surrogat ona bir vaqtda tuxum hujayra donori bo‘lishi taqiqlangan.</a:t>
            </a:r>
          </a:p>
          <a:p>
            <a:pPr>
              <a:spcAft>
                <a:spcPts val="1200"/>
              </a:spcAft>
            </a:pPr>
            <a:r>
              <a:rPr sz="2000">
                <a:solidFill>
                  <a:srgbClr val="1F2937"/>
                </a:solidFill>
                <a:latin typeface="Calibri"/>
              </a:rPr>
              <a:t>▸  O‘zbekistonda Sog‘liqni saqlash vazirligi tasdiqlagan yordamchi reproduktiv texnologiyalar nizomida surrogatlik keltirilmagan.</a:t>
            </a:r>
          </a:p>
          <a:p>
            <a:pPr>
              <a:spcAft>
                <a:spcPts val="1200"/>
              </a:spcAft>
            </a:pPr>
            <a:r>
              <a:rPr sz="2000">
                <a:solidFill>
                  <a:srgbClr val="1F2937"/>
                </a:solidFill>
                <a:latin typeface="Calibri"/>
              </a:rPr>
              <a:t>▸  JTA (Jahon tibbiyot assotsiatsiyasi) 1987 yil Madrid bayonoti: bepushtlikni boshqacha davolab bo‘lmasa, usullar oqlanadi; haq evaziga surrogatlik to‘liq qo‘llanmaydi, gameta va embrion savdosi rad etiladi.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101, 102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EKU, surrogatlik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1-savol: EKUning 6 bosqichini ayting. Javob: tuxumdonni giperstimulyatsiya, tuxum olish, sperma tanlash, urug‘lantirish, inkubatorda o‘stirish, bachadonga ko‘chirish.</a:t>
            </a:r>
          </a:p>
          <a:p>
            <a:pPr>
              <a:spcAft>
                <a:spcPts val="1200"/>
              </a:spcAft>
            </a:pPr>
            <a:r>
              <a:rPr sz="2000">
                <a:solidFill>
                  <a:srgbClr val="1F2937"/>
                </a:solidFill>
                <a:latin typeface="Calibri"/>
              </a:rPr>
              <a:t>▸  2-savol: xetching va SII (spermatozoidning intratsitoplazmatik in’ektsiyasi) farqi? Xetching — yaltiroq qobiqni yorish; SII — spermatozoidni oosit sitoplazmasiga kiritish.</a:t>
            </a:r>
          </a:p>
          <a:p>
            <a:pPr>
              <a:spcAft>
                <a:spcPts val="1200"/>
              </a:spcAft>
            </a:pPr>
            <a:r>
              <a:rPr sz="2000">
                <a:solidFill>
                  <a:srgbClr val="1F2937"/>
                </a:solidFill>
                <a:latin typeface="Calibri"/>
              </a:rPr>
              <a:t>▸  3-savol: surrogatlik qanday bo‘ladi? Tuxum surrogat onadan olinsa, qisman surrogatlik; rozilik tijoriy yoki altruistik (beg‘araz) asosda beriladi.</a:t>
            </a:r>
          </a:p>
          <a:p>
            <a:pPr>
              <a:spcAft>
                <a:spcPts val="1200"/>
              </a:spcAft>
            </a:pPr>
            <a:r>
              <a:rPr sz="2000">
                <a:solidFill>
                  <a:srgbClr val="1F2937"/>
                </a:solidFill>
                <a:latin typeface="Calibri"/>
              </a:rPr>
              <a:t>▸  Diqqat: genetik ona ≠ biologik ona. Odatda biologik ona deb tuqqan ayol (surrogat) hisoblanadi, tuxum hujayra egasi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95, 99, 100, 100-101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Embrionlarda tadqiqotlar: Oviedo konvensiyasi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Ruh kirishi haqida qarashlar: islomda 5-oy, yahudiylikda 40-kun, xristianlikda tuxum urug‘langan zahoti. (?)</a:t>
            </a:r>
          </a:p>
          <a:p>
            <a:pPr>
              <a:spcAft>
                <a:spcPts val="800"/>
              </a:spcAft>
            </a:pPr>
            <a:r>
              <a:rPr sz="1800">
                <a:solidFill>
                  <a:srgbClr val="1F2937"/>
                </a:solidFill>
                <a:latin typeface="Calibri"/>
              </a:rPr>
              <a:t>▸  Yevropa Kengashining 1997-yilgi Oviedo konvensiyasi tadqiqot uchun embrion yaratishni taqiqlaydi.</a:t>
            </a:r>
          </a:p>
          <a:p>
            <a:pPr>
              <a:spcAft>
                <a:spcPts val="800"/>
              </a:spcAft>
            </a:pPr>
            <a:r>
              <a:rPr sz="1800">
                <a:solidFill>
                  <a:srgbClr val="1F2937"/>
                </a:solidFill>
                <a:latin typeface="Calibri"/>
              </a:rPr>
              <a:t>▸  1998-yilgi qo‘shimcha bayonnomada insonni klonlash taqiqlangan.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159008"/>
                <a:gridCol w="2028264"/>
                <a:gridCol w="2100702"/>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Mamlakatlar</a:t>
                      </a:r>
                    </a:p>
                  </a:txBody>
                  <a:tcPr marL="73152" marR="73152" marT="36576" marB="36576">
                    <a:solidFill>
                      <a:srgbClr val="0B1F3A"/>
                    </a:solidFill>
                  </a:tcPr>
                </a:tc>
                <a:tc>
                  <a:txBody>
                    <a:bodyPr/>
                    <a:lstStyle/>
                    <a:p>
                      <a:r>
                        <a:rPr sz="1300" b="1">
                          <a:solidFill>
                            <a:srgbClr val="FFFFFF"/>
                          </a:solidFill>
                        </a:rPr>
                        <a:t>Yondashuv</a:t>
                      </a:r>
                    </a:p>
                  </a:txBody>
                  <a:tcPr marL="73152" marR="73152" marT="36576" marB="36576">
                    <a:solidFill>
                      <a:srgbClr val="0B1F3A"/>
                    </a:solidFill>
                  </a:tcPr>
                </a:tc>
              </a:tr>
              <a:tr h="411480">
                <a:tc>
                  <a:txBody>
                    <a:bodyPr/>
                    <a:lstStyle/>
                    <a:p>
                      <a:r>
                        <a:rPr sz="1200" b="0">
                          <a:solidFill>
                            <a:srgbClr val="1F2937"/>
                          </a:solidFill>
                        </a:rPr>
                        <a:t>1-guruh</a:t>
                      </a:r>
                    </a:p>
                  </a:txBody>
                  <a:tcPr marL="73152" marR="73152" marT="36576" marB="36576">
                    <a:solidFill>
                      <a:srgbClr val="E8EEF6"/>
                    </a:solidFill>
                  </a:tcPr>
                </a:tc>
                <a:tc>
                  <a:txBody>
                    <a:bodyPr/>
                    <a:lstStyle/>
                    <a:p>
                      <a:r>
                        <a:rPr sz="1200" b="0">
                          <a:solidFill>
                            <a:srgbClr val="1F2937"/>
                          </a:solidFill>
                        </a:rPr>
                        <a:t>AQSh, Norvegiya, Shveysariya</a:t>
                      </a:r>
                    </a:p>
                  </a:txBody>
                  <a:tcPr marL="73152" marR="73152" marT="36576" marB="36576">
                    <a:solidFill>
                      <a:srgbClr val="E8EEF6"/>
                    </a:solidFill>
                  </a:tcPr>
                </a:tc>
                <a:tc>
                  <a:txBody>
                    <a:bodyPr/>
                    <a:lstStyle/>
                    <a:p>
                      <a:r>
                        <a:rPr sz="1200" b="0">
                          <a:solidFill>
                            <a:srgbClr val="1F2937"/>
                          </a:solidFill>
                        </a:rPr>
                        <a:t>Tadqiqot qat’iy taqiqlangan</a:t>
                      </a:r>
                    </a:p>
                  </a:txBody>
                  <a:tcPr marL="73152" marR="73152" marT="36576" marB="36576">
                    <a:solidFill>
                      <a:srgbClr val="E8EEF6"/>
                    </a:solidFill>
                  </a:tcPr>
                </a:tc>
              </a:tr>
              <a:tr h="411480">
                <a:tc>
                  <a:txBody>
                    <a:bodyPr/>
                    <a:lstStyle/>
                    <a:p>
                      <a:r>
                        <a:rPr sz="1200" b="0">
                          <a:solidFill>
                            <a:srgbClr val="1F2937"/>
                          </a:solidFill>
                        </a:rPr>
                        <a:t>2-guruh</a:t>
                      </a:r>
                    </a:p>
                  </a:txBody>
                  <a:tcPr marL="73152" marR="73152" marT="36576" marB="36576">
                    <a:solidFill>
                      <a:srgbClr val="FFFFFF"/>
                    </a:solidFill>
                  </a:tcPr>
                </a:tc>
                <a:tc>
                  <a:txBody>
                    <a:bodyPr/>
                    <a:lstStyle/>
                    <a:p>
                      <a:r>
                        <a:rPr sz="1200" b="0">
                          <a:solidFill>
                            <a:srgbClr val="1F2937"/>
                          </a:solidFill>
                        </a:rPr>
                        <a:t>Avstraliya, Buyuk Britaniya</a:t>
                      </a:r>
                    </a:p>
                  </a:txBody>
                  <a:tcPr marL="73152" marR="73152" marT="36576" marB="36576">
                    <a:solidFill>
                      <a:srgbClr val="FFFFFF"/>
                    </a:solidFill>
                  </a:tcPr>
                </a:tc>
                <a:tc>
                  <a:txBody>
                    <a:bodyPr/>
                    <a:lstStyle/>
                    <a:p>
                      <a:r>
                        <a:rPr sz="1200" b="0">
                          <a:solidFill>
                            <a:srgbClr val="1F2937"/>
                          </a:solidFill>
                        </a:rPr>
                        <a:t>Qonun bilan tartibga solingan</a:t>
                      </a:r>
                    </a:p>
                  </a:txBody>
                  <a:tcPr marL="73152" marR="73152" marT="36576" marB="36576">
                    <a:solidFill>
                      <a:srgbClr val="FFFFFF"/>
                    </a:solidFill>
                  </a:tcPr>
                </a:tc>
              </a:tr>
              <a:tr h="411480">
                <a:tc>
                  <a:txBody>
                    <a:bodyPr/>
                    <a:lstStyle/>
                    <a:p>
                      <a:r>
                        <a:rPr sz="1200" b="0">
                          <a:solidFill>
                            <a:srgbClr val="1F2937"/>
                          </a:solidFill>
                        </a:rPr>
                        <a:t>2-guruh</a:t>
                      </a:r>
                    </a:p>
                  </a:txBody>
                  <a:tcPr marL="73152" marR="73152" marT="36576" marB="36576">
                    <a:solidFill>
                      <a:srgbClr val="E8EEF6"/>
                    </a:solidFill>
                  </a:tcPr>
                </a:tc>
                <a:tc>
                  <a:txBody>
                    <a:bodyPr/>
                    <a:lstStyle/>
                    <a:p>
                      <a:r>
                        <a:rPr sz="1200" b="0">
                          <a:solidFill>
                            <a:srgbClr val="1F2937"/>
                          </a:solidFill>
                        </a:rPr>
                        <a:t>Ispaniya, Shvetsiya</a:t>
                      </a:r>
                    </a:p>
                  </a:txBody>
                  <a:tcPr marL="73152" marR="73152" marT="36576" marB="36576">
                    <a:solidFill>
                      <a:srgbClr val="E8EEF6"/>
                    </a:solidFill>
                  </a:tcPr>
                </a:tc>
                <a:tc>
                  <a:txBody>
                    <a:bodyPr/>
                    <a:lstStyle/>
                    <a:p>
                      <a:r>
                        <a:rPr sz="1200" b="0">
                          <a:solidFill>
                            <a:srgbClr val="1F2937"/>
                          </a:solidFill>
                        </a:rPr>
                        <a:t>Urug‘lanishdan 14-kungacha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Mamlakatlarning ikki guruhi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102, 102-103, 103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14 kunlik embrion tadqiqoti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Ispaniyadagi laboratoriyada tuxum hujayrasi urug‘langan, 14-kun hali o‘tmagan. Diagnostik muolaja rejalashtirilgan.</a:t>
            </a:r>
          </a:p>
          <a:p>
            <a:pPr>
              <a:spcAft>
                <a:spcPts val="1200"/>
              </a:spcAft>
            </a:pPr>
            <a:r>
              <a:rPr sz="2200">
                <a:solidFill>
                  <a:srgbClr val="1F2937"/>
                </a:solidFill>
                <a:latin typeface="Calibri"/>
              </a:rPr>
              <a:t>▸  Xuddi shu reja AQSh (Amerika Qo‘shma Shtatlari), Norvegiya yoki Shveysariyada bo‘lsa, tadqiqot qat’iy taqiqlangan guruhga tushadi.</a:t>
            </a:r>
          </a:p>
          <a:p>
            <a:pPr>
              <a:spcAft>
                <a:spcPts val="1200"/>
              </a:spcAft>
            </a:pPr>
            <a:r>
              <a:rPr sz="2200">
                <a:solidFill>
                  <a:srgbClr val="1F2937"/>
                </a:solidFill>
                <a:latin typeface="Calibri"/>
              </a:rPr>
              <a:t>▸  Savol: faqat tadqiqot uchun yangi embrion yaratish mumkinmi? Oviedo konvensiyasi bunga qanday qaraydi?</a:t>
            </a:r>
          </a:p>
          <a:p>
            <a:pPr>
              <a:spcAft>
                <a:spcPts val="1200"/>
              </a:spcAft>
            </a:pPr>
            <a:r>
              <a:rPr sz="2200">
                <a:solidFill>
                  <a:srgbClr val="1F2937"/>
                </a:solidFill>
                <a:latin typeface="Calibri"/>
              </a:rPr>
              <a:t>▸  Diqqat: xato qilish xavfi — 14 kunlik ruxsat hamma joyda amal qilmaydi; ba’zi mamlakatlarda taqiq bor.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103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Prenatal diagnostika va evgenika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Xorion biopsiyasi — invaziv usul: xorion epiteliy vorsinkalari olinib tekshiriladi, 9-11 haftada o‘tkaziladi. Sitogenetik tahlil xromosoma kasalliklari va jinsni ko‘rsatadi. Ayolning yozma roziligi olinadi.</a:t>
            </a:r>
          </a:p>
          <a:p>
            <a:pPr>
              <a:spcAft>
                <a:spcPts val="1200"/>
              </a:spcAft>
            </a:pPr>
            <a:r>
              <a:rPr sz="2000">
                <a:solidFill>
                  <a:srgbClr val="1F2937"/>
                </a:solidFill>
                <a:latin typeface="Calibri"/>
              </a:rPr>
              <a:t>▸  Galton (1883) evgenikani avlod fazilatlariga ta’sir etuvchi, jamoat nazorati talab qiladigan omillarni o‘rganish deb atagan. Meller mezonlari: zehn, uyushqoqlik, salomatlik.</a:t>
            </a:r>
          </a:p>
          <a:p>
            <a:pPr>
              <a:spcAft>
                <a:spcPts val="1200"/>
              </a:spcAft>
            </a:pPr>
            <a:r>
              <a:rPr sz="2000">
                <a:solidFill>
                  <a:srgbClr val="1F2937"/>
                </a:solidFill>
                <a:latin typeface="Calibri"/>
              </a:rPr>
              <a:t>▸  Evgenika AQSh (Amerika Qo‘shma Shtatlari) va Germaniyada majburiy sterilizatsiya, irqchilik g‘oyalari va fashizm jinoyatlariga olib kelgan.</a:t>
            </a:r>
          </a:p>
          <a:p>
            <a:pPr>
              <a:spcAft>
                <a:spcPts val="1200"/>
              </a:spcAft>
            </a:pPr>
            <a:r>
              <a:rPr sz="2000">
                <a:solidFill>
                  <a:srgbClr val="1F2937"/>
                </a:solidFill>
                <a:latin typeface="Calibri"/>
              </a:rPr>
              <a:t>▸  Hozirgi prenatal tanlov muammolari: xavf bo‘lsa tug‘ish kerakmi, homila kasal bo‘lsa to‘xtatish kerakmi, donor spermasiga rozilik berishmi?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170, 170-171, 173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Sterilizatsiya: salbiy va ijobiy evgenika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Salbiy evgenika sterilizatsiya bilan, ijobiy evgenika rag‘batlantirish va selektsiya bilan irsiyatni yaxshilashga urinadi.</a:t>
            </a:r>
          </a:p>
          <a:p>
            <a:pPr>
              <a:spcAft>
                <a:spcPts val="800"/>
              </a:spcAft>
            </a:pPr>
            <a:r>
              <a:rPr sz="1800">
                <a:solidFill>
                  <a:srgbClr val="1F2937"/>
                </a:solidFill>
                <a:latin typeface="Calibri"/>
              </a:rPr>
              <a:t>▸  AQShda majburiy sterilizatsiya qonunlari amalda bo‘lgan davrda 100 mingdan ortiq odam sterilizatsiya qilingan.</a:t>
            </a:r>
          </a:p>
          <a:p>
            <a:pPr>
              <a:spcAft>
                <a:spcPts val="800"/>
              </a:spcAft>
            </a:pPr>
            <a:r>
              <a:rPr sz="1800">
                <a:solidFill>
                  <a:srgbClr val="1F2937"/>
                </a:solidFill>
                <a:latin typeface="Calibri"/>
              </a:rPr>
              <a:t>▸  Ijobiy evgenika: R. Grem Nobel sovrindorlari spermasini saqlash uchun bank tashkil etgan.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Yil</a:t>
                      </a:r>
                    </a:p>
                  </a:txBody>
                  <a:tcPr marL="73152" marR="73152" marT="36576" marB="36576">
                    <a:solidFill>
                      <a:srgbClr val="0B1F3A"/>
                    </a:solidFill>
                  </a:tcPr>
                </a:tc>
                <a:tc>
                  <a:txBody>
                    <a:bodyPr/>
                    <a:lstStyle/>
                    <a:p>
                      <a:r>
                        <a:rPr sz="1400" b="1">
                          <a:solidFill>
                            <a:srgbClr val="FFFFFF"/>
                          </a:solidFill>
                        </a:rPr>
                        <a:t>Voqea</a:t>
                      </a:r>
                    </a:p>
                  </a:txBody>
                  <a:tcPr marL="73152" marR="73152" marT="36576" marB="36576">
                    <a:solidFill>
                      <a:srgbClr val="0B1F3A"/>
                    </a:solidFill>
                  </a:tcPr>
                </a:tc>
              </a:tr>
              <a:tr h="411480">
                <a:tc>
                  <a:txBody>
                    <a:bodyPr/>
                    <a:lstStyle/>
                    <a:p>
                      <a:r>
                        <a:rPr sz="1300" b="0">
                          <a:solidFill>
                            <a:srgbClr val="1F2937"/>
                          </a:solidFill>
                        </a:rPr>
                        <a:t>1883</a:t>
                      </a:r>
                    </a:p>
                  </a:txBody>
                  <a:tcPr marL="73152" marR="73152" marT="36576" marB="36576">
                    <a:solidFill>
                      <a:srgbClr val="E8EEF6"/>
                    </a:solidFill>
                  </a:tcPr>
                </a:tc>
                <a:tc>
                  <a:txBody>
                    <a:bodyPr/>
                    <a:lstStyle/>
                    <a:p>
                      <a:r>
                        <a:rPr sz="1300" b="0">
                          <a:solidFill>
                            <a:srgbClr val="1F2937"/>
                          </a:solidFill>
                        </a:rPr>
                        <a:t>Galton “evgenika” atamasini taklif qildi</a:t>
                      </a:r>
                    </a:p>
                  </a:txBody>
                  <a:tcPr marL="73152" marR="73152" marT="36576" marB="36576">
                    <a:solidFill>
                      <a:srgbClr val="E8EEF6"/>
                    </a:solidFill>
                  </a:tcPr>
                </a:tc>
              </a:tr>
              <a:tr h="411480">
                <a:tc>
                  <a:txBody>
                    <a:bodyPr/>
                    <a:lstStyle/>
                    <a:p>
                      <a:r>
                        <a:rPr sz="1300" b="0">
                          <a:solidFill>
                            <a:srgbClr val="1F2937"/>
                          </a:solidFill>
                        </a:rPr>
                        <a:t>1907</a:t>
                      </a:r>
                    </a:p>
                  </a:txBody>
                  <a:tcPr marL="73152" marR="73152" marT="36576" marB="36576">
                    <a:solidFill>
                      <a:srgbClr val="FFFFFF"/>
                    </a:solidFill>
                  </a:tcPr>
                </a:tc>
                <a:tc>
                  <a:txBody>
                    <a:bodyPr/>
                    <a:lstStyle/>
                    <a:p>
                      <a:r>
                        <a:rPr sz="1300" b="0">
                          <a:solidFill>
                            <a:srgbClr val="1F2937"/>
                          </a:solidFill>
                        </a:rPr>
                        <a:t>Indiana: majburiy sterilizatsiya qonuni</a:t>
                      </a:r>
                    </a:p>
                  </a:txBody>
                  <a:tcPr marL="73152" marR="73152" marT="36576" marB="36576">
                    <a:solidFill>
                      <a:srgbClr val="FFFFFF"/>
                    </a:solidFill>
                  </a:tcPr>
                </a:tc>
              </a:tr>
              <a:tr h="411480">
                <a:tc>
                  <a:txBody>
                    <a:bodyPr/>
                    <a:lstStyle/>
                    <a:p>
                      <a:r>
                        <a:rPr sz="1300" b="0">
                          <a:solidFill>
                            <a:srgbClr val="1F2937"/>
                          </a:solidFill>
                        </a:rPr>
                        <a:t>1933</a:t>
                      </a:r>
                    </a:p>
                  </a:txBody>
                  <a:tcPr marL="73152" marR="73152" marT="36576" marB="36576">
                    <a:solidFill>
                      <a:srgbClr val="E8EEF6"/>
                    </a:solidFill>
                  </a:tcPr>
                </a:tc>
                <a:tc>
                  <a:txBody>
                    <a:bodyPr/>
                    <a:lstStyle/>
                    <a:p>
                      <a:r>
                        <a:rPr sz="1300" b="0">
                          <a:solidFill>
                            <a:srgbClr val="1F2937"/>
                          </a:solidFill>
                        </a:rPr>
                        <a:t>Gitler hokimiyatga keldi, irqchilik kuchaydi</a:t>
                      </a:r>
                    </a:p>
                  </a:txBody>
                  <a:tcPr marL="73152" marR="73152" marT="36576" marB="36576">
                    <a:solidFill>
                      <a:srgbClr val="E8EEF6"/>
                    </a:solidFill>
                  </a:tcPr>
                </a:tc>
              </a:tr>
              <a:tr h="411480">
                <a:tc>
                  <a:txBody>
                    <a:bodyPr/>
                    <a:lstStyle/>
                    <a:p>
                      <a:r>
                        <a:rPr sz="1300" b="0">
                          <a:solidFill>
                            <a:srgbClr val="1F2937"/>
                          </a:solidFill>
                        </a:rPr>
                        <a:t>1937</a:t>
                      </a:r>
                    </a:p>
                  </a:txBody>
                  <a:tcPr marL="73152" marR="73152" marT="36576" marB="36576">
                    <a:solidFill>
                      <a:srgbClr val="FFFFFF"/>
                    </a:solidFill>
                  </a:tcPr>
                </a:tc>
                <a:tc>
                  <a:txBody>
                    <a:bodyPr/>
                    <a:lstStyle/>
                    <a:p>
                      <a:r>
                        <a:rPr sz="1300" b="0">
                          <a:solidFill>
                            <a:srgbClr val="1F2937"/>
                          </a:solidFill>
                        </a:rPr>
                        <a:t>Jorjiyada oxirgi qonun qabul qilindi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Evgenika vaqt chizig‘i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171, 172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majburiy sterilizatsiya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1907-yil Indiana qonuni ruhiy kasallar, aqli zaiflar, surunkali ichkilikbozlar, yetimlar va boshqalarni sterilizatsiya qilishni nazarda tutgan.</a:t>
            </a:r>
          </a:p>
          <a:p>
            <a:pPr>
              <a:spcAft>
                <a:spcPts val="1200"/>
              </a:spcAft>
            </a:pPr>
            <a:r>
              <a:rPr sz="2200">
                <a:solidFill>
                  <a:srgbClr val="1F2937"/>
                </a:solidFill>
                <a:latin typeface="Calibri"/>
              </a:rPr>
              <a:t>▸  Oxirgi qonun 1937-yilda Jorjiyada qabul qilingan. Ko‘plab habashlar ham majburan sterilizatsiya qilingan.</a:t>
            </a:r>
          </a:p>
          <a:p>
            <a:pPr>
              <a:spcAft>
                <a:spcPts val="1200"/>
              </a:spcAft>
            </a:pPr>
            <a:r>
              <a:rPr sz="2200">
                <a:solidFill>
                  <a:srgbClr val="1F2937"/>
                </a:solidFill>
                <a:latin typeface="Calibri"/>
              </a:rPr>
              <a:t>▸  Germaniyada 1933-yildan keyin irqchilik davlat dasturiga aylandi. Ruhiy kasallar va metislar sterilizatsiya qilindi.</a:t>
            </a:r>
          </a:p>
          <a:p>
            <a:pPr>
              <a:spcAft>
                <a:spcPts val="1200"/>
              </a:spcAft>
            </a:pPr>
            <a:r>
              <a:rPr sz="2200">
                <a:solidFill>
                  <a:srgbClr val="1F2937"/>
                </a:solidFill>
                <a:latin typeface="Calibri"/>
              </a:rPr>
              <a:t>▸  Savol: nega davlat qarori bilan sterilizatsiya inson hayotiga yo‘l qo‘yib bo‘lmas aralashuv hisoblanadi?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171, 172, 173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tamoyillar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Embrion maqomi: hayotni saqlash tarafdorlari embrionni shaxs deydi. “Erkin tanlov” tarafdorlari esa uni faqat potensial shaxs deb biladi.</a:t>
            </a:r>
          </a:p>
          <a:p>
            <a:pPr>
              <a:spcAft>
                <a:spcPts val="1200"/>
              </a:spcAft>
            </a:pPr>
            <a:r>
              <a:rPr sz="2200">
                <a:solidFill>
                  <a:srgbClr val="1F2937"/>
                </a:solidFill>
                <a:latin typeface="Calibri"/>
              </a:rPr>
              <a:t>▸  Abort bo‘yicha liberal, konservativ va oraliq pozitsiya bor. O‘zbekistonda xohishga ko‘ra 12 haftagacha, ijtimoiy ko‘rsatma bilan 22 haftagacha mumkin.</a:t>
            </a:r>
          </a:p>
          <a:p>
            <a:pPr>
              <a:spcAft>
                <a:spcPts val="1200"/>
              </a:spcAft>
            </a:pPr>
            <a:r>
              <a:rPr sz="2200">
                <a:solidFill>
                  <a:srgbClr val="1F2937"/>
                </a:solidFill>
                <a:latin typeface="Calibri"/>
              </a:rPr>
              <a:t>▸  Yordamchi reproduktiv texnologiyalar (ART): ekstrakorporal urug‘lantirish (EKU)da ortiqcha embrionlar, surrogatlikda ona kimligi va tijoratlashuv muammosi.</a:t>
            </a:r>
          </a:p>
          <a:p>
            <a:pPr>
              <a:spcAft>
                <a:spcPts val="1200"/>
              </a:spcAft>
            </a:pPr>
            <a:r>
              <a:rPr sz="2200">
                <a:solidFill>
                  <a:srgbClr val="1F2937"/>
                </a:solidFill>
                <a:latin typeface="Calibri"/>
              </a:rPr>
              <a:t>▸  Evgenika saboqlari: majburiy sterilizatsiya suiiste’molga olib keladi. Diqqat: salbiy evgenika ≠ ijobiy evgenika.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87, 89-90, 96-101, 171-173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Qiziqarli fakt: AQShning Tennesi shtatida 1992-yil oktabrda muzlatilgan embrionlardan 2017-yilda Emma, 2020-yil fevralda Molli tug‘ilgan. Ular genetik opa-singil. Bu holat kriokonservatsiya muddatining uzoqligini va “ortiqcha” embrionlar taqdiri savolini ko‘rsatadi.</a:t>
            </a:r>
          </a:p>
          <a:p>
            <a:pPr>
              <a:spcAft>
                <a:spcPts val="1200"/>
              </a:spcAft>
            </a:pPr>
            <a:r>
              <a:rPr sz="1800">
                <a:solidFill>
                  <a:srgbClr val="1F2937"/>
                </a:solidFill>
                <a:latin typeface="Calibri"/>
              </a:rPr>
              <a:t>▸  Eslab qolish usuli: abort qonunchiligining uch modeli — “Taqiq – Ko‘rsatma – Muddat”. Irlandiya va Polsha taqiq tomonga yaqin, Buyuk Britaniya ko‘rsatmalar tizimida, Fransiya va Shvetsiya muddatlar tizimida. O‘zbekistonda 12-haftagacha ayol xohishi bilan, ijtimoiy ko‘rsatma bilan 22-haftagacha, tibbiy ko‘rsatma bilan muddatdan qat’i nazar.</a:t>
            </a:r>
          </a:p>
          <a:p>
            <a:pPr>
              <a:spcAft>
                <a:spcPts val="1200"/>
              </a:spcAft>
            </a:pPr>
            <a:r>
              <a:rPr sz="1800">
                <a:solidFill>
                  <a:srgbClr val="1F2937"/>
                </a:solidFill>
                <a:latin typeface="Calibri"/>
              </a:rPr>
              <a:t>▸  Eslab qolish usuli: EKU (ekstrakorporal urug‘lantirish) 6 bosqichi — “Giper–Olish–Tanlash–Urug‘lantirish–O‘stirish–Ko‘chirish”. Tarix: 1978-yilda Kembrijda Luiz Joy Braun tug‘ilgan, R. Edvards bu kashfiyot uchun 2010-yilda Nobel mukofotini olgan.</a:t>
            </a:r>
          </a:p>
          <a:p>
            <a:pPr>
              <a:spcAft>
                <a:spcPts val="1200"/>
              </a:spcAft>
            </a:pPr>
            <a:r>
              <a:rPr sz="1800">
                <a:solidFill>
                  <a:srgbClr val="1F2937"/>
                </a:solidFill>
                <a:latin typeface="Calibri"/>
              </a:rPr>
              <a:t>▸  Hodisa tahlili: surrogat onalikda bola ota-onasi “ikkitadan” beshtagacha ko‘payishi mumkin: er, xotin, ikki gameta donori va surrogat ona. Shu sabab onalik masalasi yuridik nizoga aylanadi. O‘zbekiston Oila kodeksi 207-moddasi bola tuqqan ayolning roziligini talab qiladi. Tibbiy ART nizomida esa surrogatlik ko‘rsatilmagan.</a:t>
            </a:r>
          </a:p>
          <a:p>
            <a:pPr>
              <a:spcAft>
                <a:spcPts val="1200"/>
              </a:spcAft>
            </a:pPr>
            <a:r>
              <a:rPr sz="1800">
                <a:solidFill>
                  <a:srgbClr val="1F2937"/>
                </a:solidFill>
                <a:latin typeface="Calibri"/>
              </a:rPr>
              <a:t>▸  Eslab qolish usuli: salbiy evgenika = taqiqlash = sterilizatsiya; ijobiy evgenika = rag‘batlantirish = seleksiya. “Evgenika” atamasini 1883-yilda F. Galton kiritgan. Sterilizatsiya bo‘yicha birinchi majburiy qonun AQShda 1907-yilda qabul qilingan. Layoqat poligen xususiyat bo‘lgani uchun evgenika g‘oyasi ilmiy jihatdan ham asossiz chiqqan.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islom ta’limotida ruhning tanaga kirishi muddatini aniqlamoqchi. Kitobning abort bobiga ko‘ra bu qaysi muddat?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Homiladorlikning 16-kuni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Homiladorlikning 4-oyi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Homiladorlikning 12-haftasi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Homiladorlikning 22-haftasi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Munozarada bir ishtirokchi: «Embrion tug‘ilgunga qadar real emas, faqat potensial shaxs, shuning uchun shaxsga xos axloqiy maqomga ega emas», dedi. Bu kimning fikri?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“Hayotni saqlash” tarafdorlari fikri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Konservativ pozitsiya vakillari fikri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Oraliq pozitsiya vakillari fikri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“Erkin tanlov” tarafdorlari fikri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Seminarda Aristotelning abortga qarashi muhokama qilinmoqda. U demografik maqsadda abortni qachon o‘tkazish kerak, degan?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Sezuvchanlik va harakat faolligi shakllanishidan oldin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Sezuvchanlik va harakat faolligi shakllangandan keyin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ona hayoti xavf ostida bo‘lgan holatlarda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homiladorlikning ikkinchi trimestrida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shifokor: «Abort faqat tibbiy yoki ijtimoiy ko‘rsatmalar bo‘yicha mumkin, lekin ayolning huquqi sifatida axloqan qo‘llab-quvvatlanmaydi», deydi. U qaysi pozitsiyani bildirmoqda?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Liberal pozitsiyani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Konservativ pozitsiyani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Oraliq pozitsiyani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To‘liq taqiqlash pozitsiyasini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AQShda 1880 yilda abort taqiqlanganda u qaysi holatda ruxsat etilgan?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Ayol o‘z xohishi bilan murojaat qilganda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Homila rivojlanishida nuqson aniqlanganda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Homiladorlik yoki tug‘ruq ayol hayotiga tahdid solganda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Homiladorlik zo‘rlash oqibatida bo‘lganda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Ayolda ijtimoiy ko‘rsatma bor, homiladorlik 20 haftalik. O‘zbekistondagi tartibga ko‘ra qanday qaror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12-haftadan keyin mumkin emas, abort rad etiladi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22-haftagacha mumkin, abortga ruxsat beriladi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Muddatdan qat’i nazar mumkin, ruxsat beriladi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tibbiy ko‘rsatmada mumkin, rad etiladi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Mamlakatda abort faqat zo‘rlash, intsest yoki ayol hayotiga xavf holatida mumkin. Homilada Daun kasalligi bo‘lsa ham ruxsat yo‘q. Bu qaysi yondashuv?</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To‘liq yoki deyarli to‘liq taqiq tizimi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Kengaytirilgan tibbiy ko‘rsatmalar tizimi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Muddatlar tizimi, xohish bo‘yicha abort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Ayolning xohishiga tayanuvchi erkin tizim</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Quyidagilardan qaysi biri abort o‘tkazish jarayonida yuz berishi mumkin bo‘lgan asorat sifatida keltirilgan?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Buyrak usti bezining o‘tkir yetishmovchiligi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O‘pka arteriyasi emboliyasi, nafas to‘xtashi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Jigar yallig‘lanishi va sariqlik rivojlanishi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Bachadon perforatsiyasi (teshilib ketishi)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Jahon tibbiyot assotsiatsiyasining 1994-yilgi bayonotiga ko‘ra, kontratsepsiyadan foydalanish huquqi kimlarga tegishli?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nikohdagi va ijtimoiy ta’minlangan ayollarga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rivojlanayotgan mamlakatlardagi ayollarga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tibbiy ko‘rsatmasi bor kasal ayollarga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Millati, dini va mavqeidan qat’i nazar barcha ayollarga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Er xotinini homilasini sun’iy tushirishga majburlagan. Bu harakat Jinoyat kodeksiga ko‘ra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Oilaviy masala, jinoyat hisoblanmaydi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JK 115-moddasiga ko‘ra jinoyat hisoblanadi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JK 114-moddasiga ko‘ra jinoyat hisoblanadi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ma’muriy javobgarlik bilan jazolanadi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Klinikada EKU (ekstrakorporal urug‘lantirish) rejalashtirilgan ayolga tuxumdonlar giperstimulyatsiyasi tayinlandi. Bu bosqich nima uchun o‘tkaziladi?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 yo‘la bir nechta tuxum hujayrasi yetilishi uchun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Tuxum hujayrasining yaltiroq qobig‘ini yorish uchun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Embrionni muzlatib saqlash muddatini uzaytirish uchun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Ortiqcha embrionlarni ultratovush ostida yo‘qotish uchun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Birinchi marta EKU va embrionni ko‘chirib o‘tkazish texnologiyasi yordamida Luiz Joy Braun qaysi yilda tug‘ilgan?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1968-yilda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1978-yilda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1981-yilda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2010-yilda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EKUda giperstimulyatsiya natijasida ko‘p tuxum urug‘landi va ortiqcha urug‘langan hujayralar qoldi. Bu holatda qaysi axloqiy muammo asosiy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Ayolning jinsiy aloqasiz homilador bo‘lishi muammosi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Donor tuxum hujayrasidan foydalanishning taqiqlanishi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Ortiqcha hujayralarni yo‘qotish yoki boshqa maqsadda ishlatish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Zona pellucidaning kimyoviy ishlov bilan yemirilishi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EKUda yetilgan tuxum hujayrasini olish uchun ayolda ovulyatsiya provokatsiya yo‘li bilan chaqirildi. Qaysi tibbiy xavf bevosita shu bilan bog‘liq?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Spermatozoid tabiiy tanlovni chetlab o‘tishi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Zona pellucidaning mexanik emirilishi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Embrionning ichki omillardan mahrum bo‘lishi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Tuxumdonlar giperstimulyatsiyasi sindromi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Erkakda spermatogenez buzilgan. Avvalgi EKUda oositlarning urug‘lanmagani yoki 20 foizdan kam urug‘langani aniqlangan. Qaysi usul qo‘llanadi?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Spermatozoid intratsitoplazmatik inyeksiyasi (ICSI)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Yordamchi xetching (yaltiroq qobiqni yorish)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Gomologik inseminatsiya (er spermasi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Gametalarni suyuq azotda kriokonservatsiya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Er-xotin genetik ona tuxum hujayrasini boshqa ayol bachadoniga ko‘chirdi. Bola tug‘ilgach, ular ota-ona deb yozilishi uchun nima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Surrogat ona tug‘ruqdan keyin bolani o‘z ixtiyori bilan topshirishi yetarli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Sog‘liqni saqlash vazirligining maxsus ruxsatnomasi olinishi shart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Bolani tug‘gan ayolning (qondosh onaning) roziligi olinishi shart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Gameta donorlarining yozma roziligi olinishi shart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Klinika bemorga donor embrionlari va tuxum hujayralarini pulga sotishni taklif qildi. Jahon tibbiyot assotsiatsiyasining 1987-yilgi bayonotiga ko‘ra bu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Embrion, sperma va tuxum hujayra oldi-sotdi predmeti bo‘lishi qat‘iyan inkor etilgan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Embrionlar faqat chet elga sotilsa, bu axloqan joiz deb hisoblangan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Donorlar hujayralarini sotishi cheklovsiz qo‘llab-quvvatlangan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ortiqcha embrionlarni sotishga ruxsat berilgan, spermani sotish esa man etilgan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Embriolog urug‘langandan 10 kun o‘tgan embrionda diagnostik muolaja o‘tkazmoqchi. Qaysi davlatda bu qonun belgilagan ruxsat doirasida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Norvegiyada, chunki u embrion tadqiqotlariga ruxsat beradi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Shveysariyada, chunki u 14-kungacha ruxsat beradi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AQShda, chunki u diagnostik tadqiqotlarni cheklamaydi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Ispaniyada, chunki u 14-kungacha ruxsat beradi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homilador ayolga prenatal diagnostika uchun xorion biopsiyasini tushuntirmoqda. Bu muolaja homiladorlikning qaysi haftalarida o‘tkaziladi?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5-7-haftalarda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9-11-haftalarda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14-16-haftalarda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20-22-haftalarda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Bank Nobel mukofoti sohiblaridan olingan spermani saqlab, uni alohida aqliy qobiliyatli ayollarni ixtiyoriy urug‘lantirish uchun ishlatishni mo‘ljallaydi. Bu evgenikaning qaysi turi?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Salbiy evgenika, chunki u taqiqlash choralariga tayanadi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Salbiy evgenika, chunki u majburiy sterilizatsiyani ko‘zda tutadi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Ijobiy evgenika, chunki u rag‘batlantirish va seleksiyaga tayanadi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Ijobiy evgenika, chunki u faqat davlat majburlovi orqali amalga oshadi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Homiladorlikning 4-oyi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Kitobda diniy nuqtai nazardan masala ruhning tanaga kirishi bilan bog‘lanadi. Islom dini bo‘yicha ruh 4-oyda kiradi, Angliya cherkovi bo‘yicha esa 16-kunda. 12 va 22 hafta esa O‘zbekistondagi abort muddatlari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87-bet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“Erkin tanlov” tarafdorlari fikri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Embrion faqat potensial shaxs, degan qarash “Erkin tanlov” tarafdorlariga xos. Hayotni saqlash tarafdorlari esa embrionni shaxs deb hisoblab, unga axloqiy maqom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87-bet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Sezuvchanlik va harakat faolligi shakllanishidan oldin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Aristotel tug‘ilishni tartibga solish uchun abortni mumkin deb bilgan. Biroq uni homilada sezuvchanlik va harakat faolligi shakllanishidan oldin o‘tkazish kerakligini ta’kidlagan. Gippokrat qasamyodi esa abortni qat’iy taqiqlagan.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87-bet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Oraliq pozitsiyani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Oraliq pozitsiya abortga faqat tibbiy yoki ijtimoiy ko‘rsatma bo‘lganda yo‘l qo‘yadi, ammo uni ayolning huquqi deb hisoblamaydi. Liberal pozitsiya abortni ruxsat etishni, konservativ pozitsiya esa taqiqlashni talab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89-bet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Homiladorlik yoki tug‘ruq ayol hayotiga tahdid solganda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Kitobga ko‘ra 1880 yilda AQShda abort taqiqlangan va faqat homiladorlik yoki tug‘ruq ayol hayotiga tahdid solgandagina ruxsat berilgan. Bu qonun XX asrning 60-yillarigacha amal qilgan.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88-bet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22-haftagacha mumkin, abortga ruxsat beriladi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Qarshi ko‘rsatma bo‘lmasa, ayol xohishiga ko‘ra abort 12-haftagacha mumkin. Ijtimoiy ko‘rsatma bo‘yicha 22-haftagacha, tibbiy ko‘rsatma bo‘yicha esa muddatdan qat’i nazar mumkin. Shuning uchun 20 haftalik homiladorlikda ijtimoiy ko‘rsatma asos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90-bet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To‘liq yoki deyarli to‘liq taqiq tizimi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Kitobda Polsha (2021-yil qonuni) shunday misol sifatida keltirilgan. Unda homila ogirligi yoki Daun kasalligi abortga asos bo‘lmaydi. Bu Yevropadagi to‘liq yoki deyarli to‘liq taqiq yondashuviga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90-bet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Bachadon perforatsiyasi (teshilib ketishi)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Kitobda abort jarayonidagi asoratlar sifatida anesteziya asoratlari, bachadon perforatsiyasi, tashqi va ichki qon ketish sanalgan. Boshqa variantlar manbada keltirilmagan.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91-bet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Millati, dini va mavqeidan qat’i nazar barcha ayollarga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Assotsiatsiya millati, dini va ijtimoiy mavqeidan qat’i nazar barcha ayollar onglı tanlov asosida fertillikni nazorat qilish va kontratsepsiyadan foydalanish huquqiga ega bo‘lishi kerakligini ta’kidlagan.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91-bet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JK 115-moddasiga ko‘ra jinoyat hisoblanadi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Ayolni homilasini sun’iy tushirishga majburlash ham jinoyat bo‘lib, JK 115-moddasida ko‘rsatilgan. 114-modda esa muassasadan tashqarida yoki huquqi bo‘lmagan shaxs tomonidan homila tushirishga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92-bet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Bir yo‘la bir nechta tuxum hujayrasi yetilishi uchun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Odatda bitta tuxum hujayrasi yetiladi. Giperstimulyatsiyada bir yo‘la bir nechta hujayra yetiladi va bu samarali natijani kafolatlash uchun qilinadi. Qobiqni yorish xetching, ortiqcha embrionlarni yo‘qotish esa reduksiya deyiladi.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95-bet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1978-yilda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Luiz Joy Braun 1978-yilda Kembrijda (Angliya) tug‘ilgan. 1968-yil Edvards tuxum hujayrasini laboratoriyada urug‘lantirgan yil, 1981-yil AQShda birinchi samarali surrogat onalik qayd etilgan yil, 2010-yil esa Edvardsga Nobel mukofoti berilgan yil.</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96-bet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Ortiqcha hujayralarni yo‘qotish yoki boshqa maqsadda ishlatish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Ortiqcha urug‘langan tuxum hujayralari yo‘qotilishi yoki boshqa maqsadda ishlatilishi mumkin. Ular inson hayotining boshlanishi, ya’ni kurtagi hisoblangani uchun bu jiddiy axloqiy muammo tug‘diradi.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96-bet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Tuxumdonlar giperstimulyatsiyasi sindromi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Ovulyatsiyani provokatsiya yo‘li bilan chaqirish ayol salomatligi uchun xavfli bo‘lgan tuxumdonlar giperstimulyatsiyasi sindromini keltirib chiqarishi mumkin. Qolgan variantlar EKUning boshqa tibbiy muammolari bo‘lib, ovulyatsiyani chaqirish bilan bog‘liq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97-bet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Spermatozoid intratsitoplazmatik inyeksiyasi (ICSI)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Spermatozoidning intratsitoplazmatik inyeksiyasida spermatozoid oosit sitoplazmasiga yuboriladi. Usul spermatogenez buzilishi, ejakulyator disfunksiya, oldingi EKUda oositlar urug‘lanmagani yoki 20 foizdan kam urug‘lanishida qo‘llanadi.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99-bet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Bolani tug‘gan ayolning (qondosh onaning) roziligi olinishi shart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Oila kodeksiga ko‘ra, o‘zaro nikohda bo‘lgan va homilani boshqa ayolga ko‘chirishga yozma rozilik bergan shaxslar bolani tug‘gan ayolning roziligi bilangina ota-ona deb yozilishi mumkin. Odatda biologik ona deb homilani saqlagan va tuqqan surrogat ona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100-101-bet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Embrion, sperma va tuxum hujayra oldi-sotdi predmeti bo‘lishi qat‘iyan inkor etilgan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Madridda 1987-yilda qabul qilingan bayonotda sperma, tuxum hujayra va embrionlarning oldi-sotdi predmeti bo‘lishi qat‘iyan inkor etilgan. Haq evaziga surrogatlik ham shartsiz, to‘liq qo‘llab-quvvatlanmagan.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102-bet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Ispaniyada, chunki u 14-kungacha ruxsat beradi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Avstraliya, Buyuk Britaniya, Ispaniya va Shvetsiyada tuxum hujayra urug‘langandan keyin 14-kungacha diagnostik va terapevtik muolajalar mumkin. AQSh, Norvegiya va Shveysariyada bunday tadqiqotlar qat‘iyan man etilgan.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103-bet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9-11-haftalarda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Xorion biopsiyasida xorion epiteliy vorsinkalari olinib tekshiriladi va muolaja homiladorlikning 9-11-haftalarida o‘tkaziladi. Olingan material sitogenetik tahlil qilinib, xromosoma kasalliklari va homila jinsi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170-bet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Ijobiy evgenika, chunki u rag‘batlantirish va seleksiyaga tayanadi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Irsiyatni yaxshilash taqiqlash choralari (salbiy evgenika, sterilizatsiya) yoki rag‘batlantirish choralari (ijobiy evgenika, seleksiya) orqali amalga oshiriladi. Robert Grexemning Nobel laureatlari spermasi banki ijobiy evgenika namunasidir.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171-172-bet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Abort, sterilizatsiya, yangi reproduktiv texnologiyalar: abort bo‘yicha pozitsiyalar, sun’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Indiaminov S.I. Bioetika (o‘quv qo‘llanma), Samarqand. 2022. IX bob (abort) va X bob; XVI bob (sterilizatsiya), kitob betlari 87-104; 170-173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