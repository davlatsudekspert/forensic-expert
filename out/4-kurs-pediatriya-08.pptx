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daqiqa. Muhokama: 1) Nega sud tibbiyotida yangi tug‘ilganlik davri pediatriyadagidan qisqa? 2) Pediatr uchun bu ekspertiza nima uchun muhim? Doskada: uch fanning (pediatriya, akusherlik, sud tibbiyoti) davrlarini yonma-yon yozing. Tipik xato: talabalar yangi tug‘ilganlikni 4 hafta deb javob beradi.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Nega onasi noma’lum go‘dak murdasi topilganda ekspertiza majburiy? 2) Tibbiy yordamga shikoyat bo‘lsa, pediatr nimani hujjatlashtirishi kerak? Doskada: uchta holatni uch qatorda yozing. Tipik xato: faqat o‘lik topilgan holatlarni eslab, tibbiy yordamga shikoyatni unutish.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daqiqa. Muhokama: 1) Nega tirik tug‘ilganlikni aniqlashda nafas olish asosiy mezon? 2) Gestatsion yosh va hayotga layoqat o‘zaro qanday bog‘liq? Doskada: oltita savolni zanjir shaklida chizing. Tipik xato: yangi tug‘ilganlik va tirik tug‘ilganlikni bir xil tushuncha deb hisoblash. Tezkor savol: oltita savolni xotiradan sanab bering.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holatlarda go‘dak murdasi ekspertizasi tayinlanadi? 2) Nega jarohat mexanizmini aniqlash muhim? Doskada chizish: chap ustunda umumiy savollar (sabab, muddat, jarohat, mexanizm), o‘ng ustunda maxsus savollar. Tipik xato: talabalar faqat maxsus savollarni sanab, o‘lim sababi va jarohatlarni unutadi.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sud tibbiyotida davr 24 soat bilan cheklanadi? 2) Pediatr va sud-tibbiy ekspert bir go‘dakka turlicha baho berishi mumkinmi? Doskada chizish: uch fanning vaqt chizig‘ini (24 soat, 7 kun, 4 hafta) bir o‘qda tasvirlang. Tipik xato: pediatriyadagi 4 haftalik davrni sud tibbiyotiga ham qo‘llash.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qonun onaning tug‘ish vaqtidagi harakatini alohida ajratgan? 2) 99- va 97-moddalar farqi nimada? Doskada chizish: ikki ustunli solishtirish (kim sodir etgan, qachon, modda, jazo og‘irligi). Tipik xato: moddani faqat jabrlanuvchining yoshiga qarab tanlash, sodir etgan shaxs va vaqtni hisobga olmaslik. Eslatma: ekspert huquqiy baho bermaydi, tibbiy faktlarni aniqlaydi.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qonun onaning holatini alohida ajratgan (og‘riq, psixo-emotsional holat)? 2) Bir xil atama uch fanda nega turlicha? Doskada chizish: uchta fan uchun vaqt o‘qini (24 soat, 7 kun, 4 hafta) chizdiring. Tipik xato: talabalar sud tibbiyotidagi davrni pediatriyadagi 4 hafta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Absolyut va nisbiy belgi o‘rtasida qanday farq bor? 2) Nega nisbiy belgilar ikkinchi kunda ham uchraydi? Doskada chizish: belgilarni ikki ustunga (absolyut / nisbiy) ajratib yozdiring. Tipik xato: mekoniy yoki mo‘msimon qoplamani absolyut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tashqi jarohat bo‘lmasligi sharti muhim? 2) Qon izlari yo‘qligini qarov belgisi sifatida qanday izohlash mumkin? Doskada chizish: ‘tug‘ruq yo‘llari yorilishi → qon izlari → yuvilganda yo‘qolishi’ zanjirini chizdiring. Tipik xato: har qanday qon izini tug‘ruq bilan bog‘lash, jarohat bo‘lishi mumkinligini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qoplama burmalarda uzoqroq saqlanadi? 2) Qoplamaning bo‘lmasligi go‘dakka qarov bo‘lganini bildiradimi? Doskaga chizish: qoplama tarkibining 4 ta komponentini sxema qilib yozing. Tipik xato: mo‘msimon qoplamani yangi tug‘ilganlikning mutlaq (absolyut) belgisi deb hisoblash. Aslida u nisbiy belgi, ikkinchi va keyingi kunlarda ham topilishi mumkin (darslik, 259-bet). Tana yuvilganda qoplama ketadi, shuning uchun u go‘dakka qarov bo‘lganini ham ko‘rsatishi mumkin (darslik, 263-bet).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Shish nega aynan boshda ko‘p uchraydi? 2) So‘rilish muddati go‘dak yoshini baholashda qanday yordam beradi (darslik, 264-bet: shish 2-3-kunlarda so‘riladi)? Doskaga chizish: mexanizm zanjiri — tos halqasiga qisilish, qon aylanishi buzilishi, to‘qima shishishi. Tipik xato: tug‘ruq shishini jarohat yoki qon quyilish deb qabul qilish. Bu seroz suyuqlik singishi, u tez so‘riladi.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Tekshiruvda chok ustidan o‘tuvchi shish topilsa, qaysi biri haqida o‘ylaysiz? 2) So‘rilish muddati farqi go‘dak hayotining davomiyligini baholashda nimani anglatadi? Doskaga chizish: bosh suyaklari va choklar sxemasini chizib, ikkala shishning chegarasini turli rangda belgilang. Tipik xato: kefalogematomani ham chok orqali o‘tadi deb o‘ylash. Aslida u suyak chegarasida to‘xtaydi.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Chok chegarasi nima uchun asosiy farqlash belgisi? 2) So‘rilish muddati farqi qaysi savolga yordam beradi? Doskada: bosh suyaklari va choklarini chizib, shish va kefalogematoma chegarasini ikki rangda ko‘rsating. Tipik xato: talabalar ikkala holatni bir xil "bosh shishi" deb yozadi va chok bilan bog‘liqlikni, so‘rilish muddatini ko‘rsatmaydi.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Mekoniy topilishi nima uchun yangi tug‘ilganlik belgisi hisoblanadi? 2) Norasoda mekoniyning kechikib chiqishi ekspertiza xulosasiga qanday ta’sir qiladi? Doskada: mekoniyning 5 ta tarkibiy qismini va uning topiladigan joylarini sxema qilib yozing. Tipik xato: mekoniyni oddiy najas deb tushunish va norasolarda muddat uzoqroq bo‘lishini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Demarkatsion halqa tirik tug‘ilganlikni qanday ko‘rsatadi? 2) Nima uchun ajratilmagan kindik mutloq ishonchli belgi? Doskada: kindik o‘zgarishlari zanjirini vaqt o‘qida chizing. Tipik xato: demarkatsion halqani birinchi sutka oxirigacha shakllanmaydi deb o‘ylash yoki kindik ajralish muddatini (5-7 kun) halqa paydo bo‘lish muddati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Nima uchun birlamchi atelektaz go‘dakning nafas olmaganini ko‘rsatadi? 2) Ikkilamchi atelektaz o‘pka sinamasini qanday buzadi? Doskada: ikki o‘pkani yonma-yon chizing (nafas olmagan va nafas olgan), hajmi, rangi va vaznini yozing. Tipik xato: birlamchi va ikkilamchi atelektazni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7-8 daq. Muhokama: 1) Nima uchun faqat uchta belgi absolyut hisoblanadi? 2) Mekoniy bor, lekin kindik ajralgan bo‘lsa, qanday xulosa qilasiz? Doskada: jadvalni talabalar bilan birga to‘ldiring. Tipik xato: barcha belgilarni teng ishonchli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6-8 daq. Muhokama: 1) Yangi tug‘ilganlik bo‘yicha qaysi belgilar yetarli? 2) Sinama manfiy bo‘lsa, tirik tug‘ilmaganlik haqida qachon qat’iy xulosa qilish mumkin? Doskada: belgilarni ikki ustunga yozing: yangi tug‘ilganlik va tirik tug‘ilganlik. Tipik xato: yangi tug‘ilganlikni tirik tug‘ilganlik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 tibbiyotida asosiy mezon nafas olish? 2) Tirik tug‘ilganlik va hayotga layoqatlilik qanday farqlanadi? Doskada: JSST mezonlarining 4 tomonli sxemasini chizing, nafas olishni belgilang. Tipik xato: talabalar “tirik tug‘ilgan = yashashga qodir”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avval butun kompleks, keyin bo‘laklar suvga solinadi? 2) Solishtirma og‘irlik nimani bildiradi? Doskada: to‘rt bosqichli zanjirni chizing va har bosqichda cho‘kish/suzish natijasini yozing. Tipik xato: ligaturalar qo‘yilishini unutish yoki musbat natijadan keyin ham davom ettirish.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Chirish gazini haqiqiy nafasdan qanday farqlaysiz? 2) Qaysi holatda Taranuxin usuli kerak? Doskada: ikki ustunli ro‘yxat chizing: soxta musbat sabablari va soxta manfiy sababi. Tipik xato: ikkilamchi atelektazni birlamchi atelektaz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oddiy o‘pka sinamasi ikkilamchi atelektazda soxta manfiy beradi? 2) Past bosimda bo‘lakcha nega qalqib chiqadi? Doskada: kolba sxemasini chizing, ikki holatni (oddiy va past bosim) yonma-yon ko‘rsating. Tipik xato: soxta manfiy (ikkilamchi atelektaz) bilan soxta musbat (chirish gazlari, sun’iy nafas oldirish) ni aralashtirish. Diqqat: Taranuxin usuli faqat o‘pka bo‘lakchasi bilan o‘tkaziladi.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Havo oshqozonga qanday yo‘l bilan o‘tadi va nega bu tirik tug‘ilganlikni ko‘rsatadi? 2) Qaysi holatlarda sinamani qo‘llamaymiz va nima uchun? Doskada: ligaturalar qo‘yiladigan joylarni (oshqozon kirishi, chiqishi, ichak, to‘g‘ri ichak) sxemada belgilang. Tipik xato: chirigan yoki sun’iy nafas oldirilgan murdada shu sinamaga tayanib tirik tug‘ilgan deb xulosa qilish. Diqqat: havo borligi har doim mustaqil nafas olganini bildirmaydi.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Rentgen nima uchun faqat havo borligini ko‘rsatadi, havo manbasini emas? 2) Suzish sinamalari bilan solishtirganda qanday ustunlik va kamchilik bor? Doskada: uch sababni (nafas, sun’iy ventilyatsiya, chirish gazi) bitta natijaga (rentgenda havo) olib keluvchi strelkalar bilan chizing. Tipik xato: rentgenda havo ko‘rinsa, go‘dak tirik tug‘ilgan deb qabul qilish. Sinama tarixiy ahamiyatga ega, amaliyotda qo‘llanmaydi.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muzlagan o‘pka sinamasidan oldin to‘liq eritiladi? 2) Soxta manfiy natija qachon kutiladi? Doskaga chizing: suvli idish va unda ikki bo‘lakcha (nafas olgan va nafas olmagan). Tipik xato: talabalar suzib chiqishni har doim tirik tug‘ilganlik deb hisoblaydi, chirish va sun’iy nafasni unutadi.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nafas olgach o‘pka vazni oshadi? 2) Marmarsimon tus nimani bildiradi? Doskada ikki ko‘krak qafasini yonma-yon chizing va diafragma sathini belgilang. Tipik xato: diafragma sathlarini (VI–VII va IV–V)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Gialin membranalari topilsa, go‘dak kamida qancha yashagan (manbaning keyingi bo‘limiga qarang)? 2) Epiteliy shakli nimani ko‘rsatadi? Doskada ikki alveolani chizing: yoyilmagan (kubsimon epiteliy) va yoyilgan (yassi epiteliy). Tipik xato: gialin membranasini nafas olmagan o‘pka belgisi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chirigan murdada suzish sinamasi yolg‘iz hal qiluvchi emas? 2) Siqish usuli nimani ko‘rsatadi? Doskaga: «qalqidi → siqish → qayta suzdimi?» zanjirini chizdiring. Tipik xato: talabalar qalqigan o‘pkani avtomatik tirik tug‘ilganlik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Raso, yetuk va hayotga layoqatli tushunchalari qanday farqlanadi? 2) Nega tergovchiga aynan muddat va layoqat kerak? Doskaga: ikki ustunli ro‘yxat (rasolik / yetuklik) o‘lchamlari bilan. Tipik xato: bu ikki tushunchani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formulada natija kunlarda chiqadi? 2) Nega bir nechta usulni solishtirgan ma’qul? Doskaga: 16 sm, 40 sm va 34 sm uchun hisobni talabalar mustaqil bajarsin. Tipik xato: Gaaze formulasida yarimlarni almashtirib yuborish (ildiz yoki ÷ 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bitta belgi emas, bir nechta belgi birga baholanadi? 2) Homiladorlikdagi zararli odatlar suyaklanish o‘zaklariga qanday ta’sir qiladi? Doskada: V, VII, IX oylarni vaqt chizig‘i qilib, tegishli o‘zaklarni yozdiring. Tipik xato: Beklyar yadrosini tovon suyagi bilan adashtirish (u sonning pastki epifizida, IX oyda).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tashqi nuqson topilganda ichki a’zolar sinchiklab ko‘riladi? 2) Tirik tug‘ilganlik va layoqatlilik nima bilan farqlanadi? Doskada: layoqatsizlik sabablarining uch guruhini (norasolik, nuqson, travma) chizdiring. Tipik xato: layoqatsiz go‘dakni o‘lik tug‘ilgan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Bu go‘dak uchun nega faqat tashqi tekshiruv o‘tkaziladi? 2) 47 sm va 2600 g go‘dak yetuk hisoblanadimi, rasomi? Doskada: uch tushunchani uch ustunli tartibda yozdiring (muddat, o‘lcham, yashash qobiliyati). Tipik xato: rasolik va yetuklikni bir narsa deb o‘ylash; 25 sm va 500 g chegarasini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Oshqozonda havo bor, yo‘g‘on ichakda yo‘q — go‘dak taxminan qancha yashagan? 2) Nega bitta belgiga tayanib bo‘lmaydi? Doskada: soat o‘qini (1-2 soat — 3 soat — 5-6 soat — 1 sutka — 2-3 kun) chizdiring va belgilarni joylashtiring. Tipik xato: gialin membrana va ikkilamchi atelektaz muddatlarini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belgilar tashqi, qaysi biri ichki tekshiruvda aniqlanadi? 2) Qarov masalasi tergov uchun nega muhim? Doskada: ikki ustunli ro‘yxat chizdiring (tashqi belgilar / ichki belgi). Tipik xato: tozalangan tanani ‘yuvilgan, demak qarov bor’ deb bitta belgiga tayanib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antenatal o‘limda yo‘ldosh va kindik ham ochib ko‘riladi? 2) Tug‘ruq travmasini onaning o‘ziga yordamidan qaysi belgilar bilan ajratamiz? Doskada: ‘antenatal — intranatal — postnatal’ davrlar chizig‘ini chizib, har davr sababini yozdiring. Tipik xato: tug‘ruq travmasida tashqi yara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o‘lim sababini aniq ko‘rsatish aktiv/passiv turini aniqlashdan muhimroq? 2) Antenatal va intranatal zo‘raki o‘lim nega kam uchraydi? Doskada: aktiv va passiv usullarning ikki ustunli jadvalini chizdiring. Tipik xato: sovuq qotish va ochlikdan o‘limni aktiv usul deb yozish; nozo‘raki sabablarni zo‘raki o‘limga qo‘shib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kalla gumbazida darchalar ochiladi? 2) Yo‘ldosh va kindikni murda bilan birga tekshirish nima uchun kerak? Doskada: tashqi tekshiruv, ichki tekshiruv va laboratoriya bosqichlarini ketma-ketlikda yozdiring. Tipik xato: og‘iz bo‘shlig‘ida kesmani iyakdan boshlash; kesma kindik tomirlarini buzishi mumkinligini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absolyut belgilar boshqalaridan ishonchliroq? 2) Pediatriya, akusherlik va sud tibbiyotida yangi tug‘ilganlik muddatlarini solishtiring. Doskada: uch fandagi muddatlarni (4 hafta, 7 kun, 24 soat) yozdiring. Tipik xato: pediatriyadagi 4 haftalik muddatni sud tibbiyotiga ham tatbiq etish.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mashgʻulot: Yangi tug‘ilgan chaqaloqlar murdasining sud-tibbiy ekspertizasi. Go‘dak o‘ldirish. Ekspertiza tomonidan hal etiladigan savollar. Yangi tug‘ilganlik, rasolik, hayotga layoqatlilik, tirik tug‘ilganlik be</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Mavzuga kirish va mashg‘ulot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Go‘dak murdasi ekspertizasi zo‘raki o‘lim alomatlari yoki unga shubha bo‘lgan holatlarda o‘tkaziladi. Unda o‘ziga xos, maxsus savollar qo‘yiladi.</a:t>
            </a:r>
          </a:p>
          <a:p>
            <a:pPr>
              <a:spcAft>
                <a:spcPts val="1200"/>
              </a:spcAft>
            </a:pPr>
            <a:r>
              <a:rPr sz="2200">
                <a:solidFill>
                  <a:srgbClr val="1F2937"/>
                </a:solidFill>
                <a:latin typeface="Calibri"/>
              </a:rPr>
              <a:t>▸  Sud tibbiyotida “yangi tug‘ilganlik” dastlabki 24 soatni bildiradi. Pediatriyada bu davr 4 hafta, akusherlikda 7 kun.</a:t>
            </a:r>
          </a:p>
          <a:p>
            <a:pPr>
              <a:spcAft>
                <a:spcPts val="1200"/>
              </a:spcAft>
            </a:pPr>
            <a:r>
              <a:rPr sz="2200">
                <a:solidFill>
                  <a:srgbClr val="1F2937"/>
                </a:solidFill>
                <a:latin typeface="Calibri"/>
              </a:rPr>
              <a:t>▸  Reja: yangi tug‘ilganlik belgilari, tirik tug‘ilganlik sinamalari, gestatsion yosh, hayotga layoqat, yashash muddati, qarov va o‘lim sabablari.</a:t>
            </a:r>
          </a:p>
          <a:p>
            <a:pPr>
              <a:spcAft>
                <a:spcPts val="1200"/>
              </a:spcAft>
            </a:pPr>
            <a:r>
              <a:rPr sz="2200">
                <a:solidFill>
                  <a:srgbClr val="1F2937"/>
                </a:solidFill>
                <a:latin typeface="Calibri"/>
              </a:rPr>
              <a:t>▸  Diqqat: xato qilish xavfi. Pediatrdagi 4 haftalik neonatal davrni sud-tibbiy 24 soatlik davr bilan aralashtirmang. Bu farq qonun talabiga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 256-267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o‘tkaziladigan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Onasi noma’lum go‘dakning murdasi topilganda ekspertiza tayinlanadi.</a:t>
            </a:r>
          </a:p>
          <a:p>
            <a:pPr>
              <a:spcAft>
                <a:spcPts val="1200"/>
              </a:spcAft>
            </a:pPr>
            <a:r>
              <a:rPr sz="2200">
                <a:solidFill>
                  <a:srgbClr val="1F2937"/>
                </a:solidFill>
                <a:latin typeface="Calibri"/>
              </a:rPr>
              <a:t>▸  Davolash muassasasidan tashqarida ro‘y bergan tug‘ruqda o‘lik bola tug‘ilgan hollarda ham ekspertiza o‘tkaziladi.</a:t>
            </a:r>
          </a:p>
          <a:p>
            <a:pPr>
              <a:spcAft>
                <a:spcPts val="1200"/>
              </a:spcAft>
            </a:pPr>
            <a:r>
              <a:rPr sz="2200">
                <a:solidFill>
                  <a:srgbClr val="1F2937"/>
                </a:solidFill>
                <a:latin typeface="Calibri"/>
              </a:rPr>
              <a:t>▸  Homilador ayolga ko‘rsatilgan tibbiy yordamga nisbatan shikoyat bo‘lganda ham ekspertiza o‘tkaziladi.</a:t>
            </a:r>
          </a:p>
          <a:p>
            <a:pPr>
              <a:spcAft>
                <a:spcPts val="1200"/>
              </a:spcAft>
            </a:pPr>
            <a:r>
              <a:rPr sz="2200">
                <a:solidFill>
                  <a:srgbClr val="1F2937"/>
                </a:solidFill>
                <a:latin typeface="Calibri"/>
              </a:rPr>
              <a:t>▸  Maxsus savollardan tashqari, o‘lim sababi, muddati, jarohatlar va ularning yetkazilish mexanizmi ham aniqlanadi.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hal etadigan maxsus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savollardan tashqari o‘lim sababi, muddati va jarohat mexanizmi ham aniqlanadi.</a:t>
            </a:r>
          </a:p>
          <a:p>
            <a:pPr>
              <a:spcAft>
                <a:spcPts val="800"/>
              </a:spcAft>
            </a:pPr>
            <a:r>
              <a:rPr sz="1800">
                <a:solidFill>
                  <a:srgbClr val="1F2937"/>
                </a:solidFill>
                <a:latin typeface="Calibri"/>
              </a:rPr>
              <a:t>▸  Tirik tug‘ilganlik masalasi asosan go‘dak nafas olgan-olmaganligi orqali hal etiladi.</a:t>
            </a:r>
          </a:p>
          <a:p>
            <a:pPr>
              <a:spcAft>
                <a:spcPts val="800"/>
              </a:spcAft>
            </a:pPr>
            <a:r>
              <a:rPr sz="1800">
                <a:solidFill>
                  <a:srgbClr val="1F2937"/>
                </a:solidFill>
                <a:latin typeface="Calibri"/>
              </a:rPr>
              <a:t>▸  Diqqat: yangi tug‘ilgan ≠ tirik tug‘ilgan. Bular alohida savollar.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Yangi tug‘ilganmi?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Tirik tug‘ilganmi?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Gestatsion yosh, layoqat</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Qancha muddat yashagan?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Go‘dakka qarov bo‘lganmi?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Maxsus savollar tartibi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 259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Umumiy savollar: o‘lim sababi va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Go‘dak murdasi ekspertizasida maxsus savollardan tashqari, boshqa murda ekspertizalaridagi kabi o‘lim sababi va muddati aniqlanadi.</a:t>
            </a:r>
          </a:p>
          <a:p>
            <a:pPr>
              <a:spcAft>
                <a:spcPts val="1200"/>
              </a:spcAft>
            </a:pPr>
            <a:r>
              <a:rPr sz="2200">
                <a:solidFill>
                  <a:srgbClr val="1F2937"/>
                </a:solidFill>
                <a:latin typeface="Calibri"/>
              </a:rPr>
              <a:t>▸  Tan jarohatlari bor-yo‘qligi va ularning yetkazilish mexanizmi ham ekspertiza oldiga qo‘yiladigan savollar qatoriga kiradi.</a:t>
            </a:r>
          </a:p>
          <a:p>
            <a:pPr>
              <a:spcAft>
                <a:spcPts val="1200"/>
              </a:spcAft>
            </a:pPr>
            <a:r>
              <a:rPr sz="2200">
                <a:solidFill>
                  <a:srgbClr val="1F2937"/>
                </a:solidFill>
                <a:latin typeface="Calibri"/>
              </a:rPr>
              <a:t>▸  Ekspertiza onasi noma’lum go‘dak murdasi topilganda, davolash muassasasidan tashqari o‘lik tug‘ilganda yoki tibbiy yordamdan shikoyat bo‘lganda o‘tkaziladi.</a:t>
            </a:r>
          </a:p>
          <a:p>
            <a:pPr>
              <a:spcAft>
                <a:spcPts val="1200"/>
              </a:spcAft>
            </a:pPr>
            <a:r>
              <a:rPr sz="2200">
                <a:solidFill>
                  <a:srgbClr val="1F2937"/>
                </a:solidFill>
                <a:latin typeface="Calibri"/>
              </a:rPr>
              <a:t>▸  Diqqat: maxsus savollar (yangi tug‘ilganlik, tirik tug‘ilganlik, qarov va h.k.) umumiy savollarga qo‘shimcha bo‘lib, ularning o‘rnini bosmaydi.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 255-256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uch fan nuqtai nazari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tibbiyotida “yangi tug‘ilganlik” tushunchasi pediatriya va akusherlik-ginekologiyadagidan farq qiladi.</a:t>
            </a:r>
          </a:p>
          <a:p>
            <a:pPr>
              <a:spcAft>
                <a:spcPts val="800"/>
              </a:spcAft>
            </a:pPr>
            <a:r>
              <a:rPr sz="1800">
                <a:solidFill>
                  <a:srgbClr val="1F2937"/>
                </a:solidFill>
                <a:latin typeface="Calibri"/>
              </a:rPr>
              <a:t>▸  Bu farq qonunchilik talablari bilan uzviy bog‘liq, shuning uchun sud tibbiyoti davrni eng qisqa qilib oladi.</a:t>
            </a:r>
          </a:p>
          <a:p>
            <a:pPr>
              <a:spcAft>
                <a:spcPts val="800"/>
              </a:spcAft>
            </a:pPr>
            <a:r>
              <a:rPr sz="1800">
                <a:solidFill>
                  <a:srgbClr val="1F2937"/>
                </a:solidFill>
                <a:latin typeface="Calibri"/>
              </a:rPr>
              <a:t>▸  Diqqat: sud-tibbiy yangi tug‘ilganlik (24 soat) ≠ pediatrik neonatal davr (4 hafta).</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930530"/>
                <a:gridCol w="3357444"/>
              </a:tblGrid>
              <a:tr h="411480">
                <a:tc>
                  <a:txBody>
                    <a:bodyPr/>
                    <a:lstStyle/>
                    <a:p>
                      <a:r>
                        <a:rPr sz="1400" b="1">
                          <a:solidFill>
                            <a:srgbClr val="FFFFFF"/>
                          </a:solidFill>
                        </a:rPr>
                        <a:t>Fan</a:t>
                      </a:r>
                    </a:p>
                  </a:txBody>
                  <a:tcPr marL="73152" marR="73152" marT="36576" marB="36576">
                    <a:solidFill>
                      <a:srgbClr val="0B1F3A"/>
                    </a:solidFill>
                  </a:tcPr>
                </a:tc>
                <a:tc>
                  <a:txBody>
                    <a:bodyPr/>
                    <a:lstStyle/>
                    <a:p>
                      <a:r>
                        <a:rPr sz="1400" b="1">
                          <a:solidFill>
                            <a:srgbClr val="FFFFFF"/>
                          </a:solidFill>
                        </a:rPr>
                        <a:t>Davr muddati</a:t>
                      </a:r>
                    </a:p>
                  </a:txBody>
                  <a:tcPr marL="73152" marR="73152" marT="36576" marB="36576">
                    <a:solidFill>
                      <a:srgbClr val="0B1F3A"/>
                    </a:solidFill>
                  </a:tcPr>
                </a:tc>
              </a:tr>
              <a:tr h="411480">
                <a:tc>
                  <a:txBody>
                    <a:bodyPr/>
                    <a:lstStyle/>
                    <a:p>
                      <a:r>
                        <a:rPr sz="1300" b="0">
                          <a:solidFill>
                            <a:srgbClr val="1F2937"/>
                          </a:solidFill>
                        </a:rPr>
                        <a:t>Pediatriya</a:t>
                      </a:r>
                    </a:p>
                  </a:txBody>
                  <a:tcPr marL="73152" marR="73152" marT="36576" marB="36576">
                    <a:solidFill>
                      <a:srgbClr val="E8EEF6"/>
                    </a:solidFill>
                  </a:tcPr>
                </a:tc>
                <a:tc>
                  <a:txBody>
                    <a:bodyPr/>
                    <a:lstStyle/>
                    <a:p>
                      <a:r>
                        <a:rPr sz="1300" b="0">
                          <a:solidFill>
                            <a:srgbClr val="1F2937"/>
                          </a:solidFill>
                        </a:rPr>
                        <a:t>Tug‘ruqdan keyin 4 hafta (neonatal davr)</a:t>
                      </a:r>
                    </a:p>
                  </a:txBody>
                  <a:tcPr marL="73152" marR="73152" marT="36576" marB="36576">
                    <a:solidFill>
                      <a:srgbClr val="E8EEF6"/>
                    </a:solidFill>
                  </a:tcPr>
                </a:tc>
              </a:tr>
              <a:tr h="411480">
                <a:tc>
                  <a:txBody>
                    <a:bodyPr/>
                    <a:lstStyle/>
                    <a:p>
                      <a:r>
                        <a:rPr sz="1300" b="0">
                          <a:solidFill>
                            <a:srgbClr val="1F2937"/>
                          </a:solidFill>
                        </a:rPr>
                        <a:t>Akusherlik-ginekologiya</a:t>
                      </a:r>
                    </a:p>
                  </a:txBody>
                  <a:tcPr marL="73152" marR="73152" marT="36576" marB="36576">
                    <a:solidFill>
                      <a:srgbClr val="FFFFFF"/>
                    </a:solidFill>
                  </a:tcPr>
                </a:tc>
                <a:tc>
                  <a:txBody>
                    <a:bodyPr/>
                    <a:lstStyle/>
                    <a:p>
                      <a:r>
                        <a:rPr sz="1300" b="0">
                          <a:solidFill>
                            <a:srgbClr val="1F2937"/>
                          </a:solidFill>
                        </a:rPr>
                        <a:t>7 kun</a:t>
                      </a:r>
                    </a:p>
                  </a:txBody>
                  <a:tcPr marL="73152" marR="73152" marT="36576" marB="36576">
                    <a:solidFill>
                      <a:srgbClr val="FFFFFF"/>
                    </a:solidFill>
                  </a:tcPr>
                </a:tc>
              </a:tr>
              <a:tr h="411480">
                <a:tc>
                  <a:txBody>
                    <a:bodyPr/>
                    <a:lstStyle/>
                    <a:p>
                      <a:r>
                        <a:rPr sz="1300" b="0">
                          <a:solidFill>
                            <a:srgbClr val="1F2937"/>
                          </a:solidFill>
                        </a:rPr>
                        <a:t>Sud tibbiyoti</a:t>
                      </a:r>
                    </a:p>
                  </a:txBody>
                  <a:tcPr marL="73152" marR="73152" marT="36576" marB="36576">
                    <a:solidFill>
                      <a:srgbClr val="E8EEF6"/>
                    </a:solidFill>
                  </a:tcPr>
                </a:tc>
                <a:tc>
                  <a:txBody>
                    <a:bodyPr/>
                    <a:lstStyle/>
                    <a:p>
                      <a:r>
                        <a:rPr sz="1300" b="0">
                          <a:solidFill>
                            <a:srgbClr val="1F2937"/>
                          </a:solidFill>
                        </a:rPr>
                        <a:t>Dastlabki 24 soat</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Yangi tug‘ilganlik davri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tug‘ilganlikning huquqiy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O‘zbekiston Respublikasi Jinoyat kodeksida (JK) onaning o‘z go‘dagini tug‘ish vaqtida yoki tug‘ilishi hamon qasddan o‘ldirishi 99-moddada alohida ajratilgan.</a:t>
            </a:r>
          </a:p>
          <a:p>
            <a:pPr>
              <a:spcAft>
                <a:spcPts val="1200"/>
              </a:spcAft>
            </a:pPr>
            <a:r>
              <a:rPr sz="2200">
                <a:solidFill>
                  <a:srgbClr val="1F2937"/>
                </a:solidFill>
                <a:latin typeface="Calibri"/>
              </a:rPr>
              <a:t>▸  Bu modda bo‘yicha jazo qasddan odam o‘ldirishga nisbatan ancha yengil belgilangan.</a:t>
            </a:r>
          </a:p>
          <a:p>
            <a:pPr>
              <a:spcAft>
                <a:spcPts val="1200"/>
              </a:spcAft>
            </a:pPr>
            <a:r>
              <a:rPr sz="2200">
                <a:solidFill>
                  <a:srgbClr val="1F2937"/>
                </a:solidFill>
                <a:latin typeface="Calibri"/>
              </a:rPr>
              <a:t>▸  Tug‘ruq taxminan bir sutka davom etadi. Og‘riq va psixo-emotsional holat tufayli ona o‘zi to‘liq anglamagan holda go‘dakka shikast yetkazishi mumkin.</a:t>
            </a:r>
          </a:p>
          <a:p>
            <a:pPr>
              <a:spcAft>
                <a:spcPts val="1200"/>
              </a:spcAft>
            </a:pPr>
            <a:r>
              <a:rPr sz="2200">
                <a:solidFill>
                  <a:srgbClr val="1F2937"/>
                </a:solidFill>
                <a:latin typeface="Calibri"/>
              </a:rPr>
              <a:t>▸  Diqqat: xuddi shu harakat boshqa shaxs tomonidan qilinsa, u qasddan odam o‘ldirish (97-modda) deb baholanadi. 99-modda ≠ 97-modda.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yangi tug‘ilganlik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sud tibbiyotida yangi tug‘ilganlik davri qancha davom etadi? Javob: tug‘ilgandan keyingi dastlabki 24 soat.</a:t>
            </a:r>
          </a:p>
          <a:p>
            <a:pPr>
              <a:spcAft>
                <a:spcPts val="1200"/>
              </a:spcAft>
            </a:pPr>
            <a:r>
              <a:rPr sz="2200">
                <a:solidFill>
                  <a:srgbClr val="1F2937"/>
                </a:solidFill>
                <a:latin typeface="Calibri"/>
              </a:rPr>
              <a:t>▸  Savol: pediatriya va akusherlikda bu davr qancha? Javob: pediatriyada 4 hafta (neonatal davr), akusherlikda 7 kun.</a:t>
            </a:r>
          </a:p>
          <a:p>
            <a:pPr>
              <a:spcAft>
                <a:spcPts val="1200"/>
              </a:spcAft>
            </a:pPr>
            <a:r>
              <a:rPr sz="2200">
                <a:solidFill>
                  <a:srgbClr val="1F2937"/>
                </a:solidFill>
                <a:latin typeface="Calibri"/>
              </a:rPr>
              <a:t>▸  Savol: ona go‘dagini tug‘ish paytida yoki tug‘ilishi hamon o‘ldirsa, qaysi modda qo‘llanadi? Javob: JKning 99-moddasi, jazo yengilroq.</a:t>
            </a:r>
          </a:p>
          <a:p>
            <a:pPr>
              <a:spcAft>
                <a:spcPts val="1200"/>
              </a:spcAft>
            </a:pPr>
            <a:r>
              <a:rPr sz="2200">
                <a:solidFill>
                  <a:srgbClr val="1F2937"/>
                </a:solidFill>
                <a:latin typeface="Calibri"/>
              </a:rPr>
              <a:t>▸  Diqqat: xato qilish xavfi: 24 soat ≠ 7 kun ≠ 4 hafta. Boshqa shaxs o‘ldirsa, bu 97-modda (qasddan odam o‘ldirish) bo‘yicha baholanadi.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belgilari: umumiy tavsif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Belgilar: tanada qon izlari, mo‘msimon qoplama, tug‘ruq shishi, mekoniy, kindikning holati va o‘pkaning birlamchi atelektazi.</a:t>
            </a:r>
          </a:p>
          <a:p>
            <a:pPr>
              <a:spcAft>
                <a:spcPts val="1200"/>
              </a:spcAft>
            </a:pPr>
            <a:r>
              <a:rPr sz="2200">
                <a:solidFill>
                  <a:srgbClr val="1F2937"/>
                </a:solidFill>
                <a:latin typeface="Calibri"/>
              </a:rPr>
              <a:t>▸  Absolyut (mutlaq ishonchli) belgilar uchta: o‘pkaning birlamchi atelektazi, kindikda demarkatsion halqaning yo‘qligi yoki dastlabki belgilari, tana va yo‘ldoshdan ajratilmagan kindik.</a:t>
            </a:r>
          </a:p>
          <a:p>
            <a:pPr>
              <a:spcAft>
                <a:spcPts val="1200"/>
              </a:spcAft>
            </a:pPr>
            <a:r>
              <a:rPr sz="2200">
                <a:solidFill>
                  <a:srgbClr val="1F2937"/>
                </a:solidFill>
                <a:latin typeface="Calibri"/>
              </a:rPr>
              <a:t>▸  Qolgan belgilar nisbiy. Ular go‘dak hayotining ikkinchi va keyingi kunlarida ham topilishi mumkin.</a:t>
            </a:r>
          </a:p>
          <a:p>
            <a:pPr>
              <a:spcAft>
                <a:spcPts val="1200"/>
              </a:spcAft>
            </a:pPr>
            <a:r>
              <a:rPr sz="2200">
                <a:solidFill>
                  <a:srgbClr val="1F2937"/>
                </a:solidFill>
                <a:latin typeface="Calibri"/>
              </a:rPr>
              <a:t>▸  Diqqat: xato qilish xavfi: nisbiy belgining topilishi go‘dakning aynan yangi tug‘ilganini mutlaq isbotlamaydi. Faqat absolyut belgilar ishonchli.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257-258, 258-259, 259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Tanada qon izlari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Tashqi jarohat bo‘lmasa, tanada qon izlarining topilishi yangi tug‘ilganlik belgisi hisoblanadi.</a:t>
            </a:r>
          </a:p>
          <a:p>
            <a:pPr>
              <a:spcAft>
                <a:spcPts val="1200"/>
              </a:spcAft>
            </a:pPr>
            <a:r>
              <a:rPr sz="2200">
                <a:solidFill>
                  <a:srgbClr val="1F2937"/>
                </a:solidFill>
                <a:latin typeface="Calibri"/>
              </a:rPr>
              <a:t>▸  Qon izlari tug‘ruq yo‘llaridagi yumshoq to‘qimalarning yorilishi va darz ketishidan hosil bo‘ladi.</a:t>
            </a:r>
          </a:p>
          <a:p>
            <a:pPr>
              <a:spcAft>
                <a:spcPts val="1200"/>
              </a:spcAft>
            </a:pPr>
            <a:r>
              <a:rPr sz="2200">
                <a:solidFill>
                  <a:srgbClr val="1F2937"/>
                </a:solidFill>
                <a:latin typeface="Calibri"/>
              </a:rPr>
              <a:t>▸  Tug‘ilgandan keyin go‘dak tanasi yuvilsa, qon izlari yo‘qoladi.</a:t>
            </a:r>
          </a:p>
          <a:p>
            <a:pPr>
              <a:spcAft>
                <a:spcPts val="1200"/>
              </a:spcAft>
            </a:pPr>
            <a:r>
              <a:rPr sz="2200">
                <a:solidFill>
                  <a:srgbClr val="1F2937"/>
                </a:solidFill>
                <a:latin typeface="Calibri"/>
              </a:rPr>
              <a:t>▸  Qon izlari va mo‘msimon qoplamadan tozalanganlik go‘dakka qarov bo‘lganini ko‘rsatadi. Bu qarov masalasi uchun muhim.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257, 264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Mo‘msimon qoplama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Yangi tug‘ilgan go‘dak tanasi oqimtir-kulrang, yarim quyuq-yarim qattiq mo‘msimon massa bilan qoplangan bo‘ladi.</a:t>
            </a:r>
          </a:p>
          <a:p>
            <a:pPr>
              <a:spcAft>
                <a:spcPts val="1200"/>
              </a:spcAft>
            </a:pPr>
            <a:r>
              <a:rPr sz="2200">
                <a:solidFill>
                  <a:srgbClr val="1F2937"/>
                </a:solidFill>
                <a:latin typeface="Calibri"/>
              </a:rPr>
              <a:t>▸  Tarkibi: teri yog‘ bezlari sekreti (bezlar V homila oyidan ishlaydi), ko‘chgan epidermis hujayralari, tuklar va qog‘onoq suvlari.</a:t>
            </a:r>
          </a:p>
          <a:p>
            <a:pPr>
              <a:spcAft>
                <a:spcPts val="1200"/>
              </a:spcAft>
            </a:pPr>
            <a:r>
              <a:rPr sz="2200">
                <a:solidFill>
                  <a:srgbClr val="1F2937"/>
                </a:solidFill>
                <a:latin typeface="Calibri"/>
              </a:rPr>
              <a:t>▸  Vazifasi: bachadon ichida homila terisini qog‘onoq suvlari ta’siridagi maseratsiyadan (terining yumshab ketishidan) himoya qiladi.</a:t>
            </a:r>
          </a:p>
          <a:p>
            <a:pPr>
              <a:spcAft>
                <a:spcPts val="1200"/>
              </a:spcAft>
            </a:pPr>
            <a:r>
              <a:rPr sz="2200">
                <a:solidFill>
                  <a:srgbClr val="1F2937"/>
                </a:solidFill>
                <a:latin typeface="Calibri"/>
              </a:rPr>
              <a:t>▸  Ayniqsa teri burmalarida, qo‘ltiq ostida va oraliqda ko‘p bo‘lib, uzoq saqlanadi. Yuvilmasa bir haftagacha turishi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shishi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Tug‘ruqda homila tanasining oldingi qismi tos halqasiga qisiladi. Mahalliy qon aylanishi buzilib, yumshoq to‘qimalar shishadi.</a:t>
            </a:r>
          </a:p>
          <a:p>
            <a:pPr>
              <a:spcAft>
                <a:spcPts val="1200"/>
              </a:spcAft>
            </a:pPr>
            <a:r>
              <a:rPr sz="2200">
                <a:solidFill>
                  <a:srgbClr val="1F2937"/>
                </a:solidFill>
                <a:latin typeface="Calibri"/>
              </a:rPr>
              <a:t>▸  Shish asosan tor tos va turli sabablarga ko‘ra tug‘ruq faoliyati sust bo‘lgan holatlarda ro‘y beradi.</a:t>
            </a:r>
          </a:p>
          <a:p>
            <a:pPr>
              <a:spcAft>
                <a:spcPts val="1200"/>
              </a:spcAft>
            </a:pPr>
            <a:r>
              <a:rPr sz="2200">
                <a:solidFill>
                  <a:srgbClr val="1F2937"/>
                </a:solidFill>
                <a:latin typeface="Calibri"/>
              </a:rPr>
              <a:t>▸  Ko‘pincha bosh, ba’zan dumba sohasida topiladi. Konsistensiyasi yumshoq, kesib ko‘rilsa qizg‘ish-sarg‘ish (qon aralash seroz suyuqlik).</a:t>
            </a:r>
          </a:p>
          <a:p>
            <a:pPr>
              <a:spcAft>
                <a:spcPts val="1200"/>
              </a:spcAft>
            </a:pPr>
            <a:r>
              <a:rPr sz="2200">
                <a:solidFill>
                  <a:srgbClr val="1F2937"/>
                </a:solidFill>
                <a:latin typeface="Calibri"/>
              </a:rPr>
              <a:t>▸  Tug‘ruq shishi odatda 2-3 kun davomida o‘z-o‘zidan so‘rilib ketadi.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shishi va kefalogematoma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Tug‘ruq shishi chok chegarasini tan olmaydi, kefalogematoma esa suyaklararo choklar bilan chegaralanadi.</a:t>
            </a:r>
          </a:p>
          <a:p>
            <a:pPr>
              <a:spcAft>
                <a:spcPts val="800"/>
              </a:spcAft>
            </a:pPr>
            <a:r>
              <a:rPr sz="1800">
                <a:solidFill>
                  <a:srgbClr val="1F2937"/>
                </a:solidFill>
                <a:latin typeface="Calibri"/>
              </a:rPr>
              <a:t>▸  Kefalogematoma tug‘ruq travmasida kalla gumbazi suyaklarining suyak usti pardasi ostiga qon quyilishidan hosil bo‘ladi.</a:t>
            </a:r>
          </a:p>
          <a:p>
            <a:pPr>
              <a:spcAft>
                <a:spcPts val="800"/>
              </a:spcAft>
            </a:pPr>
            <a:r>
              <a:rPr sz="1800">
                <a:solidFill>
                  <a:srgbClr val="1F2937"/>
                </a:solidFill>
                <a:latin typeface="Calibri"/>
              </a:rPr>
              <a:t>▸  Diqqat: tug‘ruq shishi ≠ kefalogematoma, ularni farqlash lozim.</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90304"/>
                <a:gridCol w="2071577"/>
                <a:gridCol w="2126093"/>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Tug‘ruq shishi</a:t>
                      </a:r>
                    </a:p>
                  </a:txBody>
                  <a:tcPr marL="73152" marR="73152" marT="36576" marB="36576">
                    <a:solidFill>
                      <a:srgbClr val="0B1F3A"/>
                    </a:solidFill>
                  </a:tcPr>
                </a:tc>
                <a:tc>
                  <a:txBody>
                    <a:bodyPr/>
                    <a:lstStyle/>
                    <a:p>
                      <a:r>
                        <a:rPr sz="1300" b="1">
                          <a:solidFill>
                            <a:srgbClr val="FFFFFF"/>
                          </a:solidFill>
                        </a:rPr>
                        <a:t>Kefalogematoma</a:t>
                      </a:r>
                    </a:p>
                  </a:txBody>
                  <a:tcPr marL="73152" marR="73152" marT="36576" marB="36576">
                    <a:solidFill>
                      <a:srgbClr val="0B1F3A"/>
                    </a:solidFill>
                  </a:tcPr>
                </a:tc>
              </a:tr>
              <a:tr h="411480">
                <a:tc>
                  <a:txBody>
                    <a:bodyPr/>
                    <a:lstStyle/>
                    <a:p>
                      <a:r>
                        <a:rPr sz="1200" b="0">
                          <a:solidFill>
                            <a:srgbClr val="1F2937"/>
                          </a:solidFill>
                        </a:rPr>
                        <a:t>Hosil bo‘lishi</a:t>
                      </a:r>
                    </a:p>
                  </a:txBody>
                  <a:tcPr marL="73152" marR="73152" marT="36576" marB="36576">
                    <a:solidFill>
                      <a:srgbClr val="E8EEF6"/>
                    </a:solidFill>
                  </a:tcPr>
                </a:tc>
                <a:tc>
                  <a:txBody>
                    <a:bodyPr/>
                    <a:lstStyle/>
                    <a:p>
                      <a:r>
                        <a:rPr sz="1200" b="0">
                          <a:solidFill>
                            <a:srgbClr val="1F2937"/>
                          </a:solidFill>
                        </a:rPr>
                        <a:t>Qon aylanishi buzilib to‘qima shishadi</a:t>
                      </a:r>
                    </a:p>
                  </a:txBody>
                  <a:tcPr marL="73152" marR="73152" marT="36576" marB="36576">
                    <a:solidFill>
                      <a:srgbClr val="E8EEF6"/>
                    </a:solidFill>
                  </a:tcPr>
                </a:tc>
                <a:tc>
                  <a:txBody>
                    <a:bodyPr/>
                    <a:lstStyle/>
                    <a:p>
                      <a:r>
                        <a:rPr sz="1200" b="0">
                          <a:solidFill>
                            <a:srgbClr val="1F2937"/>
                          </a:solidFill>
                        </a:rPr>
                        <a:t>Suyak usti pardasi ostiga qon quyiladi</a:t>
                      </a:r>
                    </a:p>
                  </a:txBody>
                  <a:tcPr marL="73152" marR="73152" marT="36576" marB="36576">
                    <a:solidFill>
                      <a:srgbClr val="E8EEF6"/>
                    </a:solidFill>
                  </a:tcPr>
                </a:tc>
              </a:tr>
              <a:tr h="411480">
                <a:tc>
                  <a:txBody>
                    <a:bodyPr/>
                    <a:lstStyle/>
                    <a:p>
                      <a:r>
                        <a:rPr sz="1200" b="0">
                          <a:solidFill>
                            <a:srgbClr val="1F2937"/>
                          </a:solidFill>
                        </a:rPr>
                        <a:t>Joylashuvi</a:t>
                      </a:r>
                    </a:p>
                  </a:txBody>
                  <a:tcPr marL="73152" marR="73152" marT="36576" marB="36576">
                    <a:solidFill>
                      <a:srgbClr val="FFFFFF"/>
                    </a:solidFill>
                  </a:tcPr>
                </a:tc>
                <a:tc>
                  <a:txBody>
                    <a:bodyPr/>
                    <a:lstStyle/>
                    <a:p>
                      <a:r>
                        <a:rPr sz="1200" b="0">
                          <a:solidFill>
                            <a:srgbClr val="1F2937"/>
                          </a:solidFill>
                        </a:rPr>
                        <a:t>Ko‘pincha bosh, ba’zan dumba</a:t>
                      </a:r>
                    </a:p>
                  </a:txBody>
                  <a:tcPr marL="73152" marR="73152" marT="36576" marB="36576">
                    <a:solidFill>
                      <a:srgbClr val="FFFFFF"/>
                    </a:solidFill>
                  </a:tcPr>
                </a:tc>
                <a:tc>
                  <a:txBody>
                    <a:bodyPr/>
                    <a:lstStyle/>
                    <a:p>
                      <a:r>
                        <a:rPr sz="1200" b="0">
                          <a:solidFill>
                            <a:srgbClr val="1F2937"/>
                          </a:solidFill>
                        </a:rPr>
                        <a:t>Bir yoki bir necha suyak ustida</a:t>
                      </a:r>
                    </a:p>
                  </a:txBody>
                  <a:tcPr marL="73152" marR="73152" marT="36576" marB="36576">
                    <a:solidFill>
                      <a:srgbClr val="FFFFFF"/>
                    </a:solidFill>
                  </a:tcPr>
                </a:tc>
              </a:tr>
              <a:tr h="411480">
                <a:tc>
                  <a:txBody>
                    <a:bodyPr/>
                    <a:lstStyle/>
                    <a:p>
                      <a:r>
                        <a:rPr sz="1200" b="0">
                          <a:solidFill>
                            <a:srgbClr val="1F2937"/>
                          </a:solidFill>
                        </a:rPr>
                        <a:t>Choklarga munosabati</a:t>
                      </a:r>
                    </a:p>
                  </a:txBody>
                  <a:tcPr marL="73152" marR="73152" marT="36576" marB="36576">
                    <a:solidFill>
                      <a:srgbClr val="E8EEF6"/>
                    </a:solidFill>
                  </a:tcPr>
                </a:tc>
                <a:tc>
                  <a:txBody>
                    <a:bodyPr/>
                    <a:lstStyle/>
                    <a:p>
                      <a:r>
                        <a:rPr sz="1200" b="0">
                          <a:solidFill>
                            <a:srgbClr val="1F2937"/>
                          </a:solidFill>
                        </a:rPr>
                        <a:t>Chok proeksiyasida ham aniqlanadi</a:t>
                      </a:r>
                    </a:p>
                  </a:txBody>
                  <a:tcPr marL="73152" marR="73152" marT="36576" marB="36576">
                    <a:solidFill>
                      <a:srgbClr val="E8EEF6"/>
                    </a:solidFill>
                  </a:tcPr>
                </a:tc>
                <a:tc>
                  <a:txBody>
                    <a:bodyPr/>
                    <a:lstStyle/>
                    <a:p>
                      <a:r>
                        <a:rPr sz="1200" b="0">
                          <a:solidFill>
                            <a:srgbClr val="1F2937"/>
                          </a:solidFill>
                        </a:rPr>
                        <a:t>Suyaklararo choklar bilan chegaralangan</a:t>
                      </a:r>
                    </a:p>
                  </a:txBody>
                  <a:tcPr marL="73152" marR="73152" marT="36576" marB="36576">
                    <a:solidFill>
                      <a:srgbClr val="E8EEF6"/>
                    </a:solidFill>
                  </a:tcPr>
                </a:tc>
              </a:tr>
              <a:tr h="411480">
                <a:tc>
                  <a:txBody>
                    <a:bodyPr/>
                    <a:lstStyle/>
                    <a:p>
                      <a:r>
                        <a:rPr sz="1200" b="0">
                          <a:solidFill>
                            <a:srgbClr val="1F2937"/>
                          </a:solidFill>
                        </a:rPr>
                        <a:t>So‘rilishi</a:t>
                      </a:r>
                    </a:p>
                  </a:txBody>
                  <a:tcPr marL="73152" marR="73152" marT="36576" marB="36576">
                    <a:solidFill>
                      <a:srgbClr val="FFFFFF"/>
                    </a:solidFill>
                  </a:tcPr>
                </a:tc>
                <a:tc>
                  <a:txBody>
                    <a:bodyPr/>
                    <a:lstStyle/>
                    <a:p>
                      <a:r>
                        <a:rPr sz="1200" b="0">
                          <a:solidFill>
                            <a:srgbClr val="1F2937"/>
                          </a:solidFill>
                        </a:rPr>
                        <a:t>Odatda 2-3 kunda</a:t>
                      </a:r>
                    </a:p>
                  </a:txBody>
                  <a:tcPr marL="73152" marR="73152" marT="36576" marB="36576">
                    <a:solidFill>
                      <a:srgbClr val="FFFFFF"/>
                    </a:solidFill>
                  </a:tcPr>
                </a:tc>
                <a:tc>
                  <a:txBody>
                    <a:bodyPr/>
                    <a:lstStyle/>
                    <a:p>
                      <a:r>
                        <a:rPr sz="1200" b="0">
                          <a:solidFill>
                            <a:srgbClr val="1F2937"/>
                          </a:solidFill>
                        </a:rPr>
                        <a:t>2 hafta va undan ortiq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shishning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shish va kefalogematomani adashtirmang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Tug‘ruq shishi tug‘ruqda homila tanasining oldingi qismi tos halqasiga qisilishi tufayli yumshoq to‘qimalarning shishishidir. Ko‘pincha boshda, ba’zan dumbada uchraydi.</a:t>
            </a:r>
          </a:p>
          <a:p>
            <a:pPr>
              <a:spcAft>
                <a:spcPts val="1200"/>
              </a:spcAft>
            </a:pPr>
            <a:r>
              <a:rPr sz="2000">
                <a:solidFill>
                  <a:srgbClr val="1F2937"/>
                </a:solidFill>
                <a:latin typeface="Calibri"/>
              </a:rPr>
              <a:t>▸  Kesib ko‘rilganda shish qizg‘ish-sariq bo‘ladi va odatda 2-3 kunda so‘riladi. U suyaklararo choklar proeksiyasida ham aniqlanadi.</a:t>
            </a:r>
          </a:p>
          <a:p>
            <a:pPr>
              <a:spcAft>
                <a:spcPts val="1200"/>
              </a:spcAft>
            </a:pPr>
            <a:r>
              <a:rPr sz="2000">
                <a:solidFill>
                  <a:srgbClr val="1F2937"/>
                </a:solidFill>
                <a:latin typeface="Calibri"/>
              </a:rPr>
              <a:t>▸  Kefalogematoma kalla gumbazi suyaklarining suyak usti pardasi ostiga qon quyilishidan hosil bo‘ladi. U bir yoki bir necha suyak proeksiyasida bo‘lib, choklar bilan chegaralanadi.</a:t>
            </a:r>
          </a:p>
          <a:p>
            <a:pPr>
              <a:spcAft>
                <a:spcPts val="1200"/>
              </a:spcAft>
            </a:pPr>
            <a:r>
              <a:rPr sz="2000">
                <a:solidFill>
                  <a:srgbClr val="1F2937"/>
                </a:solidFill>
                <a:latin typeface="Calibri"/>
              </a:rPr>
              <a:t>▸  Diqqat: tug‘ruq shishi ≠ kefalogematoma. Shish chok ustidan o‘tadi va 2-3 kunda so‘riladi. Kefalogematoma chok bilan chegaralanadi va 2 hafta yoki undan uzoq so‘riladi.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Mekoniy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Mekoniy (birlamchi najas) to‘q-yashil yoki qo‘ng‘ir-yashil, yarim suyuq, bir xil massadir.</a:t>
            </a:r>
          </a:p>
          <a:p>
            <a:pPr>
              <a:spcAft>
                <a:spcPts val="1200"/>
              </a:spcAft>
            </a:pPr>
            <a:r>
              <a:rPr sz="2200">
                <a:solidFill>
                  <a:srgbClr val="1F2937"/>
                </a:solidFill>
                <a:latin typeface="Calibri"/>
              </a:rPr>
              <a:t>▸  U yo‘g‘on ichakda, orqa chiqaruv teshigi atrofida, dumba va son sohalarida topiladi.</a:t>
            </a:r>
          </a:p>
          <a:p>
            <a:pPr>
              <a:spcAft>
                <a:spcPts val="1200"/>
              </a:spcAft>
            </a:pPr>
            <a:r>
              <a:rPr sz="2200">
                <a:solidFill>
                  <a:srgbClr val="1F2937"/>
                </a:solidFill>
                <a:latin typeface="Calibri"/>
              </a:rPr>
              <a:t>▸  Tarkibida shilliq, o‘t pigmentlari, ko‘chgan ichak epiteliysi, qog‘onoq suvlari va tuk sochlar bor. Tarkibi homiladorlik muddatiga qarab o‘zgargani uchun homila yoshini aniqlashda ishlatiladi.</a:t>
            </a:r>
          </a:p>
          <a:p>
            <a:pPr>
              <a:spcAft>
                <a:spcPts val="1200"/>
              </a:spcAft>
            </a:pPr>
            <a:r>
              <a:rPr sz="2200">
                <a:solidFill>
                  <a:srgbClr val="1F2937"/>
                </a:solidFill>
                <a:latin typeface="Calibri"/>
              </a:rPr>
              <a:t>▸  Odatda tug‘ruqdan keyin 1-2 kunda mekoniy ichakdan to‘liq chiqib ketadi. Norasolarda bu muddat uzoqroq, 3-4 kungacha cho‘ziladi.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tuzilishi va o‘zgarishlari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Kindik homilani yo‘ldosh bilan bog‘laydi. Raso go‘dakda uzunligi 50-60 sm, qalinligi 1,5-2 sm bo‘ladi.</a:t>
            </a:r>
          </a:p>
          <a:p>
            <a:pPr>
              <a:spcAft>
                <a:spcPts val="800"/>
              </a:spcAft>
            </a:pPr>
            <a:r>
              <a:rPr sz="1800">
                <a:solidFill>
                  <a:srgbClr val="1F2937"/>
                </a:solidFill>
                <a:latin typeface="Calibri"/>
              </a:rPr>
              <a:t>▸  Tirik tug‘ilganda kindik bir tekis quriydi, asosida qizg‘ish hoshiya (demarkatsion halqa) paydo bo‘ladi.</a:t>
            </a:r>
          </a:p>
          <a:p>
            <a:pPr>
              <a:spcAft>
                <a:spcPts val="800"/>
              </a:spcAft>
            </a:pPr>
            <a:r>
              <a:rPr sz="1800">
                <a:solidFill>
                  <a:srgbClr val="1F2937"/>
                </a:solidFill>
                <a:latin typeface="Calibri"/>
              </a:rPr>
              <a:t>▸  Halqaning yo‘qligi yoki dastlabki belgilari hamda tana va yo‘ldoshdan ajratilmagan kindik absolyut belgidir.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Nam, yaltiroq, oqimtir-qizg‘ish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Qurib bujmayadi, qo‘ng‘ir-sariq</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Soatlarda demarkatsion halqa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Keyin qo‘ng‘ir-qora tus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5-7 kunda kindik ajraladi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Kindik o‘zgarishlari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258, 258-259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O‘pkaning birlamchi atelektazi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Nafas olmagan o‘pka birlamchi atelektaz holatida bo‘ladi. Bunday go‘dak faqat bir necha soniya yashashi mumkin.</a:t>
            </a:r>
          </a:p>
          <a:p>
            <a:pPr>
              <a:spcAft>
                <a:spcPts val="1200"/>
              </a:spcAft>
            </a:pPr>
            <a:r>
              <a:rPr sz="2200">
                <a:solidFill>
                  <a:srgbClr val="1F2937"/>
                </a:solidFill>
                <a:latin typeface="Calibri"/>
              </a:rPr>
              <a:t>▸  Makroskopik ko‘rinish: o‘pka hajmi kichik, zich, umurtqa pog‘onasiga yaqin. Yuzasi tekis, ko‘kimtir-to‘q qizil rangda.</a:t>
            </a:r>
          </a:p>
          <a:p>
            <a:pPr>
              <a:spcAft>
                <a:spcPts val="1200"/>
              </a:spcAft>
            </a:pPr>
            <a:r>
              <a:rPr sz="2200">
                <a:solidFill>
                  <a:srgbClr val="1F2937"/>
                </a:solidFill>
                <a:latin typeface="Calibri"/>
              </a:rPr>
              <a:t>▸  Nafas olmagan o‘pka vazni 55-60 g. Nafas olgach qon aylanishi boshlanib, vazni 85-90 g ga yetadi. Nafas olmagan o‘pka suvda cho‘kadi.</a:t>
            </a:r>
          </a:p>
          <a:p>
            <a:pPr>
              <a:spcAft>
                <a:spcPts val="1200"/>
              </a:spcAft>
            </a:pPr>
            <a:r>
              <a:rPr sz="2200">
                <a:solidFill>
                  <a:srgbClr val="1F2937"/>
                </a:solidFill>
                <a:latin typeface="Calibri"/>
              </a:rPr>
              <a:t>▸  Diqqat: birlamchi atelektaz ≠ ikkilamchi atelektaz. Ikkilamchi atelektazda o‘pka avval nafas olgan, keyin yana bosilib qolgan.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258, 260, 259-260, 259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Absolyut va nisbiy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Absolyut belgi mutloq ishonchli hisoblanadi: u yangi tug‘ilganlikni aniq isbotlaydi.</a:t>
            </a:r>
          </a:p>
          <a:p>
            <a:pPr>
              <a:spcAft>
                <a:spcPts val="800"/>
              </a:spcAft>
            </a:pPr>
            <a:r>
              <a:rPr sz="1800">
                <a:solidFill>
                  <a:srgbClr val="1F2937"/>
                </a:solidFill>
                <a:latin typeface="Calibri"/>
              </a:rPr>
              <a:t>▸  Nisbiy belgilar go‘dak hayotining ikkinchi va keyingi kunlarida ham topilishi mumkin.</a:t>
            </a:r>
          </a:p>
          <a:p>
            <a:pPr>
              <a:spcAft>
                <a:spcPts val="800"/>
              </a:spcAft>
            </a:pPr>
            <a:r>
              <a:rPr sz="1800">
                <a:solidFill>
                  <a:srgbClr val="1F2937"/>
                </a:solidFill>
                <a:latin typeface="Calibri"/>
              </a:rPr>
              <a:t>▸  Diqqat: mo‘msimon qoplama yuvilmasa bir haftagacha saqlanadi, shuning uchun u yagona dalil bo‘la 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515012"/>
                <a:gridCol w="1031800"/>
                <a:gridCol w="174116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Xarakter</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O‘pkaning birlamchi atelektazi</a:t>
                      </a:r>
                    </a:p>
                  </a:txBody>
                  <a:tcPr marL="73152" marR="73152" marT="36576" marB="36576">
                    <a:solidFill>
                      <a:srgbClr val="E8EEF6"/>
                    </a:solidFill>
                  </a:tcPr>
                </a:tc>
                <a:tc>
                  <a:txBody>
                    <a:bodyPr/>
                    <a:lstStyle/>
                    <a:p>
                      <a:r>
                        <a:rPr sz="1200" b="0">
                          <a:solidFill>
                            <a:srgbClr val="1F2937"/>
                          </a:solidFill>
                        </a:rPr>
                        <a:t>Absolyut</a:t>
                      </a:r>
                    </a:p>
                  </a:txBody>
                  <a:tcPr marL="73152" marR="73152" marT="36576" marB="36576">
                    <a:solidFill>
                      <a:srgbClr val="E8EEF6"/>
                    </a:solidFill>
                  </a:tcPr>
                </a:tc>
                <a:tc>
                  <a:txBody>
                    <a:bodyPr/>
                    <a:lstStyle/>
                    <a:p>
                      <a:r>
                        <a:rPr sz="1200" b="0">
                          <a:solidFill>
                            <a:srgbClr val="1F2937"/>
                          </a:solidFill>
                        </a:rPr>
                        <a:t>Mutloq ishonchli</a:t>
                      </a:r>
                    </a:p>
                  </a:txBody>
                  <a:tcPr marL="73152" marR="73152" marT="36576" marB="36576">
                    <a:solidFill>
                      <a:srgbClr val="E8EEF6"/>
                    </a:solidFill>
                  </a:tcPr>
                </a:tc>
              </a:tr>
              <a:tr h="411480">
                <a:tc>
                  <a:txBody>
                    <a:bodyPr/>
                    <a:lstStyle/>
                    <a:p>
                      <a:r>
                        <a:rPr sz="1200" b="0">
                          <a:solidFill>
                            <a:srgbClr val="1F2937"/>
                          </a:solidFill>
                        </a:rPr>
                        <a:t>Demarkatsion halqa yo‘qligi/boshlanishi</a:t>
                      </a:r>
                    </a:p>
                  </a:txBody>
                  <a:tcPr marL="73152" marR="73152" marT="36576" marB="36576">
                    <a:solidFill>
                      <a:srgbClr val="FFFFFF"/>
                    </a:solidFill>
                  </a:tcPr>
                </a:tc>
                <a:tc>
                  <a:txBody>
                    <a:bodyPr/>
                    <a:lstStyle/>
                    <a:p>
                      <a:r>
                        <a:rPr sz="1200" b="0">
                          <a:solidFill>
                            <a:srgbClr val="1F2937"/>
                          </a:solidFill>
                        </a:rPr>
                        <a:t>Absolyut</a:t>
                      </a:r>
                    </a:p>
                  </a:txBody>
                  <a:tcPr marL="73152" marR="73152" marT="36576" marB="36576">
                    <a:solidFill>
                      <a:srgbClr val="FFFFFF"/>
                    </a:solidFill>
                  </a:tcPr>
                </a:tc>
                <a:tc>
                  <a:txBody>
                    <a:bodyPr/>
                    <a:lstStyle/>
                    <a:p>
                      <a:r>
                        <a:rPr sz="1200" b="0">
                          <a:solidFill>
                            <a:srgbClr val="1F2937"/>
                          </a:solidFill>
                        </a:rPr>
                        <a:t>Mutloq ishonchli</a:t>
                      </a:r>
                    </a:p>
                  </a:txBody>
                  <a:tcPr marL="73152" marR="73152" marT="36576" marB="36576">
                    <a:solidFill>
                      <a:srgbClr val="FFFFFF"/>
                    </a:solidFill>
                  </a:tcPr>
                </a:tc>
              </a:tr>
              <a:tr h="411480">
                <a:tc>
                  <a:txBody>
                    <a:bodyPr/>
                    <a:lstStyle/>
                    <a:p>
                      <a:r>
                        <a:rPr sz="1200" b="0">
                          <a:solidFill>
                            <a:srgbClr val="1F2937"/>
                          </a:solidFill>
                        </a:rPr>
                        <a:t>Tana va yo‘ldoshdan ajratilmagan kindik</a:t>
                      </a:r>
                    </a:p>
                  </a:txBody>
                  <a:tcPr marL="73152" marR="73152" marT="36576" marB="36576">
                    <a:solidFill>
                      <a:srgbClr val="E8EEF6"/>
                    </a:solidFill>
                  </a:tcPr>
                </a:tc>
                <a:tc>
                  <a:txBody>
                    <a:bodyPr/>
                    <a:lstStyle/>
                    <a:p>
                      <a:r>
                        <a:rPr sz="1200" b="0">
                          <a:solidFill>
                            <a:srgbClr val="1F2937"/>
                          </a:solidFill>
                        </a:rPr>
                        <a:t>Absolyut</a:t>
                      </a:r>
                    </a:p>
                  </a:txBody>
                  <a:tcPr marL="73152" marR="73152" marT="36576" marB="36576">
                    <a:solidFill>
                      <a:srgbClr val="E8EEF6"/>
                    </a:solidFill>
                  </a:tcPr>
                </a:tc>
                <a:tc>
                  <a:txBody>
                    <a:bodyPr/>
                    <a:lstStyle/>
                    <a:p>
                      <a:r>
                        <a:rPr sz="1200" b="0">
                          <a:solidFill>
                            <a:srgbClr val="1F2937"/>
                          </a:solidFill>
                        </a:rPr>
                        <a:t>Mutloq ishonchli</a:t>
                      </a:r>
                    </a:p>
                  </a:txBody>
                  <a:tcPr marL="73152" marR="73152" marT="36576" marB="36576">
                    <a:solidFill>
                      <a:srgbClr val="E8EEF6"/>
                    </a:solidFill>
                  </a:tcPr>
                </a:tc>
              </a:tr>
              <a:tr h="411480">
                <a:tc>
                  <a:txBody>
                    <a:bodyPr/>
                    <a:lstStyle/>
                    <a:p>
                      <a:r>
                        <a:rPr sz="1200" b="0">
                          <a:solidFill>
                            <a:srgbClr val="1F2937"/>
                          </a:solidFill>
                        </a:rPr>
                        <a:t>Qon izi, qoplama, shish, mekoniy</a:t>
                      </a:r>
                    </a:p>
                  </a:txBody>
                  <a:tcPr marL="73152" marR="73152" marT="36576" marB="36576">
                    <a:solidFill>
                      <a:srgbClr val="FFFFFF"/>
                    </a:solidFill>
                  </a:tcPr>
                </a:tc>
                <a:tc>
                  <a:txBody>
                    <a:bodyPr/>
                    <a:lstStyle/>
                    <a:p>
                      <a:r>
                        <a:rPr sz="1200" b="0">
                          <a:solidFill>
                            <a:srgbClr val="1F2937"/>
                          </a:solidFill>
                        </a:rPr>
                        <a:t>Nisbiy</a:t>
                      </a:r>
                    </a:p>
                  </a:txBody>
                  <a:tcPr marL="73152" marR="73152" marT="36576" marB="36576">
                    <a:solidFill>
                      <a:srgbClr val="FFFFFF"/>
                    </a:solidFill>
                  </a:tcPr>
                </a:tc>
                <a:tc>
                  <a:txBody>
                    <a:bodyPr/>
                    <a:lstStyle/>
                    <a:p>
                      <a:r>
                        <a:rPr sz="1200" b="0">
                          <a:solidFill>
                            <a:srgbClr val="1F2937"/>
                          </a:solidFill>
                        </a:rPr>
                        <a:t>2-kunda ham bo‘lishi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Belgilar xarakteri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 257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yangi tug‘ilganlik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onasi noma’lum go‘dak murdasi topildi. Kindik yo‘ldoshdan ajratilmagan, tanada mo‘msimon qoplama va qon izlari bor.</a:t>
            </a:r>
          </a:p>
          <a:p>
            <a:pPr>
              <a:spcAft>
                <a:spcPts val="1200"/>
              </a:spcAft>
            </a:pPr>
            <a:r>
              <a:rPr sz="2200">
                <a:solidFill>
                  <a:srgbClr val="1F2937"/>
                </a:solidFill>
                <a:latin typeface="Calibri"/>
              </a:rPr>
              <a:t>▸  Ichki tekshiruvda ko‘krak qafasi yassi, o‘pkalar kichik, zich, ko‘kimtir-to‘q qizil. Suv sinamasida o‘pka cho‘kadi.</a:t>
            </a:r>
          </a:p>
          <a:p>
            <a:pPr>
              <a:spcAft>
                <a:spcPts val="1200"/>
              </a:spcAft>
            </a:pPr>
            <a:r>
              <a:rPr sz="2200">
                <a:solidFill>
                  <a:srgbClr val="1F2937"/>
                </a:solidFill>
                <a:latin typeface="Calibri"/>
              </a:rPr>
              <a:t>▸  Savol: bu go‘dak yangi tug‘ilganmi va tirik tug‘ilganmi? Qaysi belgilar absolyut, qaysilari nisbiy?</a:t>
            </a:r>
          </a:p>
          <a:p>
            <a:pPr>
              <a:spcAft>
                <a:spcPts val="1200"/>
              </a:spcAft>
            </a:pPr>
            <a:r>
              <a:rPr sz="2200">
                <a:solidFill>
                  <a:srgbClr val="1F2937"/>
                </a:solidFill>
                <a:latin typeface="Calibri"/>
              </a:rPr>
              <a:t>▸  Yo‘nalish: ajratilmagan kindik va birlamchi atelektaz absolyut belgilar. Sinama manfiy bo‘lsa, ikkilamchi atelektazni ham istisno qiling.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256-258, 259-260, 256-259, 258-259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tug‘ilganlik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JSST tavsiyasiga ko‘ra tirik tug‘ilganlik mezonlari: ona organizmidan tashqarida nafas olish, yurak urishi, kindik pulsatsiyasi yoki ixtiyoriy harakatlar.</a:t>
            </a:r>
          </a:p>
          <a:p>
            <a:pPr>
              <a:spcAft>
                <a:spcPts val="1200"/>
              </a:spcAft>
            </a:pPr>
            <a:r>
              <a:rPr sz="2200">
                <a:solidFill>
                  <a:srgbClr val="1F2937"/>
                </a:solidFill>
                <a:latin typeface="Calibri"/>
              </a:rPr>
              <a:t>▸  Sud tibbiyotida o‘limdan keyin yurak urishi, kindik pulsatsiyasi va ixtiyoriy harakatlarni aniqlash usullari hali ishlab chiqilmagan.</a:t>
            </a:r>
          </a:p>
          <a:p>
            <a:pPr>
              <a:spcAft>
                <a:spcPts val="1200"/>
              </a:spcAft>
            </a:pPr>
            <a:r>
              <a:rPr sz="2200">
                <a:solidFill>
                  <a:srgbClr val="1F2937"/>
                </a:solidFill>
                <a:latin typeface="Calibri"/>
              </a:rPr>
              <a:t>▸  Shu sababli tirik tug‘ilganlik masalasi asosan go‘dak nafas olgan yoki olmaganini aniqlash orqali hal etiladi. Bunda sinamalar va mikroskopik tekshiruvlardan foydalaniladi.</a:t>
            </a:r>
          </a:p>
          <a:p>
            <a:pPr>
              <a:spcAft>
                <a:spcPts val="1200"/>
              </a:spcAft>
            </a:pPr>
            <a:r>
              <a:rPr sz="2200">
                <a:solidFill>
                  <a:srgbClr val="1F2937"/>
                </a:solidFill>
                <a:latin typeface="Calibri"/>
              </a:rPr>
              <a:t>▸  Diqqat: tirik tug‘ilganlik ≠ hayotga layoqatlilik. Tirik tug‘ilgan go‘dak ayrim hollarda hayotga layoqatsiz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 263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(Galen–Rauger–Shreer) sinamasi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Sinamani sud-tibbiy amaliyotda birinchi marta 1681-yilda I. Shreer qo‘llagan.</a:t>
            </a:r>
          </a:p>
          <a:p>
            <a:pPr>
              <a:spcAft>
                <a:spcPts val="800"/>
              </a:spcAft>
            </a:pPr>
            <a:r>
              <a:rPr sz="1800">
                <a:solidFill>
                  <a:srgbClr val="1F2937"/>
                </a:solidFill>
                <a:latin typeface="Calibri"/>
              </a:rPr>
              <a:t>▸  Nafas olmagan o‘pkaning solishtirma og‘irligi 1,05–1,06, ya’ni suvdan katta. Shuning uchun u cho‘kadi.</a:t>
            </a:r>
          </a:p>
          <a:p>
            <a:pPr>
              <a:spcAft>
                <a:spcPts val="800"/>
              </a:spcAft>
            </a:pPr>
            <a:r>
              <a:rPr sz="1800">
                <a:solidFill>
                  <a:srgbClr val="1F2937"/>
                </a:solidFill>
                <a:latin typeface="Calibri"/>
              </a:rPr>
              <a:t>▸  Nafas olgan o‘pkada havo hisobiga solishtirma og‘irlik 1,0 dan past bo‘ladi va o‘pka suzadi.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Ligaturalar qo‘yiladi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Kompleks suvli idishga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Cho‘ksa: o‘pka bo‘laklari suvga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Musbat natijada to‘xtatiladi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Sinama bosqichlari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sinamasida soxta natijalar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Soxta musbat natija chirigan murdalarda, sun’iy nafas oldirilganda va yaxshi erimagan muzlagan o‘pkalarda chiqishi mumkin.</a:t>
            </a:r>
          </a:p>
          <a:p>
            <a:pPr>
              <a:spcAft>
                <a:spcPts val="1200"/>
              </a:spcAft>
            </a:pPr>
            <a:r>
              <a:rPr sz="2200">
                <a:solidFill>
                  <a:srgbClr val="1F2937"/>
                </a:solidFill>
                <a:latin typeface="Calibri"/>
              </a:rPr>
              <a:t>▸  Chirish gazidan qalqigan bo‘lakchalar suv ostida siqilsa, qayta suzib chiqmaydi. To‘liq erigan muzlagan o‘pka esa cho‘kadi.</a:t>
            </a:r>
          </a:p>
          <a:p>
            <a:pPr>
              <a:spcAft>
                <a:spcPts val="1200"/>
              </a:spcAft>
            </a:pPr>
            <a:r>
              <a:rPr sz="2200">
                <a:solidFill>
                  <a:srgbClr val="1F2937"/>
                </a:solidFill>
                <a:latin typeface="Calibri"/>
              </a:rPr>
              <a:t>▸  Soxta manfiy natija ikkilamchi atelektazda chiqadi: avval nafas olgan o‘pka yallig‘lanish yoki nafas yo‘llari yopilishi tufayli atelektazga uchraydi.</a:t>
            </a:r>
          </a:p>
          <a:p>
            <a:pPr>
              <a:spcAft>
                <a:spcPts val="1200"/>
              </a:spcAft>
            </a:pPr>
            <a:r>
              <a:rPr sz="2200">
                <a:solidFill>
                  <a:srgbClr val="1F2937"/>
                </a:solidFill>
                <a:latin typeface="Calibri"/>
              </a:rPr>
              <a:t>▸  Bunda Taranuxin usuli (1907) yoki Traxtenberg modifikatsiyasi (1958) qo‘llanadi: bo‘lakcha past bosimli kolbada suv yuziga qalqib chiqadi.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Taranuxin usuli va uning modifikatsiyasi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Ikkilamchi atelektazda avval nafas olgan o‘pka yallig‘lanish yoki nafas yo‘llarining yopilishi tufayli keyin yana havosiz holatga tushadi.</a:t>
            </a:r>
          </a:p>
          <a:p>
            <a:pPr>
              <a:spcAft>
                <a:spcPts val="1200"/>
              </a:spcAft>
            </a:pPr>
            <a:r>
              <a:rPr sz="2200">
                <a:solidFill>
                  <a:srgbClr val="1F2937"/>
                </a:solidFill>
                <a:latin typeface="Calibri"/>
              </a:rPr>
              <a:t>▸  Oddiy o‘pka sinamasi bunda soxta manfiy natija berishi mumkin. Shuning uchun V. Taranuxin usuli (1907) yoki L.Y. Traxtenberg modifikatsiyasi (1958) tavsiya etiladi.</a:t>
            </a:r>
          </a:p>
          <a:p>
            <a:pPr>
              <a:spcAft>
                <a:spcPts val="1200"/>
              </a:spcAft>
            </a:pPr>
            <a:r>
              <a:rPr sz="2200">
                <a:solidFill>
                  <a:srgbClr val="1F2937"/>
                </a:solidFill>
                <a:latin typeface="Calibri"/>
              </a:rPr>
              <a:t>▸  O‘pka bo‘lakchasi suvli kolbaga solinadi. Havo tortib olinib, kolbada past bosimli sharoit yaratiladi.</a:t>
            </a:r>
          </a:p>
          <a:p>
            <a:pPr>
              <a:spcAft>
                <a:spcPts val="1200"/>
              </a:spcAft>
            </a:pPr>
            <a:r>
              <a:rPr sz="2200">
                <a:solidFill>
                  <a:srgbClr val="1F2937"/>
                </a:solidFill>
                <a:latin typeface="Calibri"/>
              </a:rPr>
              <a:t>▸  Odatdagi bosimda cho‘kkan bo‘lakcha past bosimda suv yuziga qalqib chiqsa, unda qolgan havo bor. Bu ikkilamchi atelektazni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Oshqozon-ichak (Breslau) sinamasi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Sinama V. Breslau (1865) nomi bilan bog‘liq. U nafas olganda havoning bir qismi qizilo‘ngach orqali oshqozon va ichaklarga o‘tishiga asoslanadi.</a:t>
            </a:r>
          </a:p>
          <a:p>
            <a:pPr>
              <a:spcAft>
                <a:spcPts val="1200"/>
              </a:spcAft>
            </a:pPr>
            <a:r>
              <a:rPr sz="2000">
                <a:solidFill>
                  <a:srgbClr val="1F2937"/>
                </a:solidFill>
                <a:latin typeface="Calibri"/>
              </a:rPr>
              <a:t>▸  Oshqozonning kirish-chiqish qismlariga, havo gumon qilingan ichak sohalariga va to‘g‘ri ichakka ligatura qo‘yiladi. A’zolar tutqichdan ajratib olinib, suvli idishga solinadi.</a:t>
            </a:r>
          </a:p>
          <a:p>
            <a:pPr>
              <a:spcAft>
                <a:spcPts val="1200"/>
              </a:spcAft>
            </a:pPr>
            <a:r>
              <a:rPr sz="2000">
                <a:solidFill>
                  <a:srgbClr val="1F2937"/>
                </a:solidFill>
                <a:latin typeface="Calibri"/>
              </a:rPr>
              <a:t>▸  Havoli sohalar suv yuzasiga suzib chiqadi. Suv ostida teshilganda havo pufakchalari chiqadi. Tirik tug‘ilganda havo asta-sekin o‘tgani uchun sinama yashash muddatini baholashda ham foydali.</a:t>
            </a:r>
          </a:p>
          <a:p>
            <a:pPr>
              <a:spcAft>
                <a:spcPts val="1200"/>
              </a:spcAft>
            </a:pPr>
            <a:r>
              <a:rPr sz="2000">
                <a:solidFill>
                  <a:srgbClr val="1F2937"/>
                </a:solidFill>
                <a:latin typeface="Calibri"/>
              </a:rPr>
              <a:t>▸  Cheklov: chirish gazlari va o‘pkani sun’iy ventilyatsiya qilish soxta musbat natija beradi. Bunday holatlarda sinamadan foydalanish tavsiya etilmaydi.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Rentgenologik sinama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Sinama murdani ochishdan oldin o‘pkalar, oshqozon va ichaklarda havo borligini aniqlashga asoslanadi.</a:t>
            </a:r>
          </a:p>
          <a:p>
            <a:pPr>
              <a:spcAft>
                <a:spcPts val="1200"/>
              </a:spcAft>
            </a:pPr>
            <a:r>
              <a:rPr sz="2200">
                <a:solidFill>
                  <a:srgbClr val="1F2937"/>
                </a:solidFill>
                <a:latin typeface="Calibri"/>
              </a:rPr>
              <a:t>▸  Uni 1939 yilda Y.G. Dillon taklif etgan.</a:t>
            </a:r>
          </a:p>
          <a:p>
            <a:pPr>
              <a:spcAft>
                <a:spcPts val="1200"/>
              </a:spcAft>
            </a:pPr>
            <a:r>
              <a:rPr sz="2200">
                <a:solidFill>
                  <a:srgbClr val="1F2937"/>
                </a:solidFill>
                <a:latin typeface="Calibri"/>
              </a:rPr>
              <a:t>▸  Asosiy kamchilik: rentgen nafas olgan o‘pkani sun’iy ventilyatsiya qilingan yoki chirish gazlari bor holatdan ajrata olmaydi.</a:t>
            </a:r>
          </a:p>
          <a:p>
            <a:pPr>
              <a:spcAft>
                <a:spcPts val="1200"/>
              </a:spcAft>
            </a:pPr>
            <a:r>
              <a:rPr sz="2200">
                <a:solidFill>
                  <a:srgbClr val="1F2937"/>
                </a:solidFill>
                <a:latin typeface="Calibri"/>
              </a:rPr>
              <a:t>▸  Maxsus jihoz kerak va diagnostik imkoniyati cheklangan. Shuning uchun hozir sud-tibbiy ekspertiza amaliyotida qo‘llanmaydi.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sinamalar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nafas olmagan o‘pka suvda suzadimi yoki cho‘kadimi? Uning solishtirma og‘irligi 1,05–1,06, ya’ni suvdan katta. Nafas olgan o‘pkada esa 1,0 dan past.</a:t>
            </a:r>
          </a:p>
          <a:p>
            <a:pPr>
              <a:spcAft>
                <a:spcPts val="1200"/>
              </a:spcAft>
            </a:pPr>
            <a:r>
              <a:rPr sz="2200">
                <a:solidFill>
                  <a:srgbClr val="1F2937"/>
                </a:solidFill>
                <a:latin typeface="Calibri"/>
              </a:rPr>
              <a:t>▸  Savol: o‘pka sinamasi qaysi holatlarda soxta musbat bo‘lishi mumkin? Chirigan murdada, sun’iy nafas oldirilganda va yaxshi erimagan muzlagan o‘pkada.</a:t>
            </a:r>
          </a:p>
          <a:p>
            <a:pPr>
              <a:spcAft>
                <a:spcPts val="1200"/>
              </a:spcAft>
            </a:pPr>
            <a:r>
              <a:rPr sz="2200">
                <a:solidFill>
                  <a:srgbClr val="1F2937"/>
                </a:solidFill>
                <a:latin typeface="Calibri"/>
              </a:rPr>
              <a:t>▸  Savol: chirish gazini nafas havosidan qanday ajratamiz? Suv ostida qo‘l bilan siqilganda chirish gazli bo‘lakcha qayta suzib chiqmaydi.</a:t>
            </a:r>
          </a:p>
          <a:p>
            <a:pPr>
              <a:spcAft>
                <a:spcPts val="1200"/>
              </a:spcAft>
            </a:pPr>
            <a:r>
              <a:rPr sz="2200">
                <a:solidFill>
                  <a:srgbClr val="1F2937"/>
                </a:solidFill>
                <a:latin typeface="Calibri"/>
              </a:rPr>
              <a:t>▸  Diqqat: soxta musbat ≠ soxta manfiy. Ikkilamchi atelektazda natija soxta manfiy bo‘ladi; Taranuxin usulida bo‘lakcha past bosimda suv yuziga qalqib chiqadi.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Makroskopik belgilar: nafas olgan va olmagan o‘pka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Nafas olgan o‘pka ko‘krak qafasini deyarli to‘ldiradi, elastik. Qisilganda kesmadan ko‘pikli qon ajraladi.</a:t>
            </a:r>
          </a:p>
          <a:p>
            <a:pPr>
              <a:spcAft>
                <a:spcPts val="800"/>
              </a:spcAft>
            </a:pPr>
            <a:r>
              <a:rPr sz="1800">
                <a:solidFill>
                  <a:srgbClr val="1F2937"/>
                </a:solidFill>
                <a:latin typeface="Calibri"/>
              </a:rPr>
              <a:t>▸  Nafas olmagan o‘pka kichik, zichroq va umurtqa pog‘onasiga yaqin. Qisilganda kesmadan ozroq qon ajraladi.</a:t>
            </a:r>
          </a:p>
          <a:p>
            <a:pPr>
              <a:spcAft>
                <a:spcPts val="800"/>
              </a:spcAft>
            </a:pPr>
            <a:r>
              <a:rPr sz="1800">
                <a:solidFill>
                  <a:srgbClr val="1F2937"/>
                </a:solidFill>
                <a:latin typeface="Calibri"/>
              </a:rPr>
              <a:t>▸  Chirish tirik tug‘ilganda nafas a’zolaridan, o‘lik tug‘ilganda odatda tabiiy teshiklar sohasidan boshlanadi.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94063"/>
                <a:gridCol w="2309690"/>
                <a:gridCol w="1884220"/>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Nafas olgan</a:t>
                      </a:r>
                    </a:p>
                  </a:txBody>
                  <a:tcPr marL="73152" marR="73152" marT="36576" marB="36576">
                    <a:solidFill>
                      <a:srgbClr val="0B1F3A"/>
                    </a:solidFill>
                  </a:tcPr>
                </a:tc>
                <a:tc>
                  <a:txBody>
                    <a:bodyPr/>
                    <a:lstStyle/>
                    <a:p>
                      <a:r>
                        <a:rPr sz="1300" b="1">
                          <a:solidFill>
                            <a:srgbClr val="FFFFFF"/>
                          </a:solidFill>
                        </a:rPr>
                        <a:t>Nafas olmagan</a:t>
                      </a:r>
                    </a:p>
                  </a:txBody>
                  <a:tcPr marL="73152" marR="73152" marT="36576" marB="36576">
                    <a:solidFill>
                      <a:srgbClr val="0B1F3A"/>
                    </a:solidFill>
                  </a:tcPr>
                </a:tc>
              </a:tr>
              <a:tr h="411480">
                <a:tc>
                  <a:txBody>
                    <a:bodyPr/>
                    <a:lstStyle/>
                    <a:p>
                      <a:r>
                        <a:rPr sz="1200" b="0">
                          <a:solidFill>
                            <a:srgbClr val="1F2937"/>
                          </a:solidFill>
                        </a:rPr>
                        <a:t>Ko‘krak qafasi</a:t>
                      </a:r>
                    </a:p>
                  </a:txBody>
                  <a:tcPr marL="73152" marR="73152" marT="36576" marB="36576">
                    <a:solidFill>
                      <a:srgbClr val="E8EEF6"/>
                    </a:solidFill>
                  </a:tcPr>
                </a:tc>
                <a:tc>
                  <a:txBody>
                    <a:bodyPr/>
                    <a:lstStyle/>
                    <a:p>
                      <a:r>
                        <a:rPr sz="1200" b="0">
                          <a:solidFill>
                            <a:srgbClr val="1F2937"/>
                          </a:solidFill>
                        </a:rPr>
                        <a:t>Bochkasimon, qobirg‘alar oralig‘i keng</a:t>
                      </a:r>
                    </a:p>
                  </a:txBody>
                  <a:tcPr marL="73152" marR="73152" marT="36576" marB="36576">
                    <a:solidFill>
                      <a:srgbClr val="E8EEF6"/>
                    </a:solidFill>
                  </a:tcPr>
                </a:tc>
                <a:tc>
                  <a:txBody>
                    <a:bodyPr/>
                    <a:lstStyle/>
                    <a:p>
                      <a:r>
                        <a:rPr sz="1200" b="0">
                          <a:solidFill>
                            <a:srgbClr val="1F2937"/>
                          </a:solidFill>
                        </a:rPr>
                        <a:t>Yassi, qobirg‘alar oralig‘i tor</a:t>
                      </a:r>
                    </a:p>
                  </a:txBody>
                  <a:tcPr marL="73152" marR="73152" marT="36576" marB="36576">
                    <a:solidFill>
                      <a:srgbClr val="E8EEF6"/>
                    </a:solidFill>
                  </a:tcPr>
                </a:tc>
              </a:tr>
              <a:tr h="411480">
                <a:tc>
                  <a:txBody>
                    <a:bodyPr/>
                    <a:lstStyle/>
                    <a:p>
                      <a:r>
                        <a:rPr sz="1200" b="0">
                          <a:solidFill>
                            <a:srgbClr val="1F2937"/>
                          </a:solidFill>
                        </a:rPr>
                        <a:t>Diafragma gumbazi</a:t>
                      </a:r>
                    </a:p>
                  </a:txBody>
                  <a:tcPr marL="73152" marR="73152" marT="36576" marB="36576">
                    <a:solidFill>
                      <a:srgbClr val="FFFFFF"/>
                    </a:solidFill>
                  </a:tcPr>
                </a:tc>
                <a:tc>
                  <a:txBody>
                    <a:bodyPr/>
                    <a:lstStyle/>
                    <a:p>
                      <a:r>
                        <a:rPr sz="1200" b="0">
                          <a:solidFill>
                            <a:srgbClr val="1F2937"/>
                          </a:solidFill>
                        </a:rPr>
                        <a:t>VI–VII qobirg‘a sathida</a:t>
                      </a:r>
                    </a:p>
                  </a:txBody>
                  <a:tcPr marL="73152" marR="73152" marT="36576" marB="36576">
                    <a:solidFill>
                      <a:srgbClr val="FFFFFF"/>
                    </a:solidFill>
                  </a:tcPr>
                </a:tc>
                <a:tc>
                  <a:txBody>
                    <a:bodyPr/>
                    <a:lstStyle/>
                    <a:p>
                      <a:r>
                        <a:rPr sz="1200" b="0">
                          <a:solidFill>
                            <a:srgbClr val="1F2937"/>
                          </a:solidFill>
                        </a:rPr>
                        <a:t>IV–V qobirg‘a sathida</a:t>
                      </a:r>
                    </a:p>
                  </a:txBody>
                  <a:tcPr marL="73152" marR="73152" marT="36576" marB="36576">
                    <a:solidFill>
                      <a:srgbClr val="FFFFFF"/>
                    </a:solidFill>
                  </a:tcPr>
                </a:tc>
              </a:tr>
              <a:tr h="411480">
                <a:tc>
                  <a:txBody>
                    <a:bodyPr/>
                    <a:lstStyle/>
                    <a:p>
                      <a:r>
                        <a:rPr sz="1200" b="0">
                          <a:solidFill>
                            <a:srgbClr val="1F2937"/>
                          </a:solidFill>
                        </a:rPr>
                        <a:t>O‘pka yuzasi rangi</a:t>
                      </a:r>
                    </a:p>
                  </a:txBody>
                  <a:tcPr marL="73152" marR="73152" marT="36576" marB="36576">
                    <a:solidFill>
                      <a:srgbClr val="E8EEF6"/>
                    </a:solidFill>
                  </a:tcPr>
                </a:tc>
                <a:tc>
                  <a:txBody>
                    <a:bodyPr/>
                    <a:lstStyle/>
                    <a:p>
                      <a:r>
                        <a:rPr sz="1200" b="0">
                          <a:solidFill>
                            <a:srgbClr val="1F2937"/>
                          </a:solidFill>
                        </a:rPr>
                        <a:t>Marmarsimon (Bush–Xaberda belgisi)</a:t>
                      </a:r>
                    </a:p>
                  </a:txBody>
                  <a:tcPr marL="73152" marR="73152" marT="36576" marB="36576">
                    <a:solidFill>
                      <a:srgbClr val="E8EEF6"/>
                    </a:solidFill>
                  </a:tcPr>
                </a:tc>
                <a:tc>
                  <a:txBody>
                    <a:bodyPr/>
                    <a:lstStyle/>
                    <a:p>
                      <a:r>
                        <a:rPr sz="1200" b="0">
                          <a:solidFill>
                            <a:srgbClr val="1F2937"/>
                          </a:solidFill>
                        </a:rPr>
                        <a:t>Bir xil ko‘kimtir-to‘q qizil</a:t>
                      </a:r>
                    </a:p>
                  </a:txBody>
                  <a:tcPr marL="73152" marR="73152" marT="36576" marB="36576">
                    <a:solidFill>
                      <a:srgbClr val="E8EEF6"/>
                    </a:solidFill>
                  </a:tcPr>
                </a:tc>
              </a:tr>
              <a:tr h="411480">
                <a:tc>
                  <a:txBody>
                    <a:bodyPr/>
                    <a:lstStyle/>
                    <a:p>
                      <a:r>
                        <a:rPr sz="1200" b="0">
                          <a:solidFill>
                            <a:srgbClr val="1F2937"/>
                          </a:solidFill>
                        </a:rPr>
                        <a:t>O‘pka vazni</a:t>
                      </a:r>
                    </a:p>
                  </a:txBody>
                  <a:tcPr marL="73152" marR="73152" marT="36576" marB="36576">
                    <a:solidFill>
                      <a:srgbClr val="FFFFFF"/>
                    </a:solidFill>
                  </a:tcPr>
                </a:tc>
                <a:tc>
                  <a:txBody>
                    <a:bodyPr/>
                    <a:lstStyle/>
                    <a:p>
                      <a:r>
                        <a:rPr sz="1200" b="0">
                          <a:solidFill>
                            <a:srgbClr val="1F2937"/>
                          </a:solidFill>
                        </a:rPr>
                        <a:t>85–90 g</a:t>
                      </a:r>
                    </a:p>
                  </a:txBody>
                  <a:tcPr marL="73152" marR="73152" marT="36576" marB="36576">
                    <a:solidFill>
                      <a:srgbClr val="FFFFFF"/>
                    </a:solidFill>
                  </a:tcPr>
                </a:tc>
                <a:tc>
                  <a:txBody>
                    <a:bodyPr/>
                    <a:lstStyle/>
                    <a:p>
                      <a:r>
                        <a:rPr sz="1200" b="0">
                          <a:solidFill>
                            <a:srgbClr val="1F2937"/>
                          </a:solidFill>
                        </a:rPr>
                        <a:t>55–60 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Makroskopik solishtirma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260, 260-261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Mikroskopik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O‘lik tug‘ilganda alveolalar yoyilmagan, epiteliy kubsimon, to‘siqlar qalin. Elastik tolalar tutamsimon, kapillyarlarda qon bo‘lmaydi.</a:t>
            </a:r>
          </a:p>
          <a:p>
            <a:pPr>
              <a:spcAft>
                <a:spcPts val="1200"/>
              </a:spcAft>
            </a:pPr>
            <a:r>
              <a:rPr sz="2200">
                <a:solidFill>
                  <a:srgbClr val="1F2937"/>
                </a:solidFill>
                <a:latin typeface="Calibri"/>
              </a:rPr>
              <a:t>▸  Nafas olgan o‘pkada alveolalar yoyilgan, epiteliy yassi, to‘siqlar ingichka. Kapillyarlar to‘laqon, elastik tolalar maromli joylashgan.</a:t>
            </a:r>
          </a:p>
          <a:p>
            <a:pPr>
              <a:spcAft>
                <a:spcPts val="1200"/>
              </a:spcAft>
            </a:pPr>
            <a:r>
              <a:rPr sz="2200">
                <a:solidFill>
                  <a:srgbClr val="1F2937"/>
                </a:solidFill>
                <a:latin typeface="Calibri"/>
              </a:rPr>
              <a:t>▸  Gialin membranalari qon oqsillaridan (albumin, globulin, fibrin) iborat. Asosan tirik tug‘ilgan norasolarda, bir necha soat yashaganda topiladi; nafas olmaganda yo‘q.</a:t>
            </a:r>
          </a:p>
          <a:p>
            <a:pPr>
              <a:spcAft>
                <a:spcPts val="1200"/>
              </a:spcAft>
            </a:pPr>
            <a:r>
              <a:rPr sz="2200">
                <a:solidFill>
                  <a:srgbClr val="1F2937"/>
                </a:solidFill>
                <a:latin typeface="Calibri"/>
              </a:rPr>
              <a:t>▸  O‘lik tug‘ilganlarda kichik va o‘rta o‘pka arteriyalari ichida “kurtaksimon”, “yostiqsimon” bo‘rtiqlar bo‘ladi. Nafas olgan o‘pkada ular kuzatilmaydi.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tirik tug‘ilganlikni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chirigan chaqaloq murdasida o‘pka bo‘lakchalari suv yuzasiga qalqib chiqdi. Bu go‘dak tirik tug‘ilganini isbotlaydimi?</a:t>
            </a:r>
          </a:p>
          <a:p>
            <a:pPr>
              <a:spcAft>
                <a:spcPts val="1200"/>
              </a:spcAft>
            </a:pPr>
            <a:r>
              <a:rPr sz="2200">
                <a:solidFill>
                  <a:srgbClr val="1F2937"/>
                </a:solidFill>
                <a:latin typeface="Calibri"/>
              </a:rPr>
              <a:t>▸  Chirish gazlari o‘pka sinamasida soxta musbat natija berishi mumkin. Sun’iy nafas oldirish va yaxshi erimagan muzlagan o‘pka ham shunday natija beradi.</a:t>
            </a:r>
          </a:p>
          <a:p>
            <a:pPr>
              <a:spcAft>
                <a:spcPts val="1200"/>
              </a:spcAft>
            </a:pPr>
            <a:r>
              <a:rPr sz="2200">
                <a:solidFill>
                  <a:srgbClr val="1F2937"/>
                </a:solidFill>
                <a:latin typeface="Calibri"/>
              </a:rPr>
              <a:t>▸  Farqlash usuli: qalqigan bo‘lakchani suv ostida qo‘l bilan siqamiz. Gaz hisobiga qalqigan bo‘lakcha yuzaga qayta suzib chiqmaydi.</a:t>
            </a:r>
          </a:p>
          <a:p>
            <a:pPr>
              <a:spcAft>
                <a:spcPts val="1200"/>
              </a:spcAft>
            </a:pPr>
            <a:r>
              <a:rPr sz="2200">
                <a:solidFill>
                  <a:srgbClr val="1F2937"/>
                </a:solidFill>
                <a:latin typeface="Calibri"/>
              </a:rPr>
              <a:t>▸  Diqqat: xato qilish xavfi. Chirish yoki sun’iy nafas holatida oshqozon-ichak sinamasi ham soxta musbat beradi, shuning uchun tavsiya etilmaydi.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 260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Rasolik va yetuklik tushunchalari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Rasolik: homiladorlik o‘rtacha 10 homila oyi yoki 280 kun davom etganini ko‘rsatuvchi belgilar majmui.</a:t>
            </a:r>
          </a:p>
          <a:p>
            <a:pPr>
              <a:spcAft>
                <a:spcPts val="1200"/>
              </a:spcAft>
            </a:pPr>
            <a:r>
              <a:rPr sz="2200">
                <a:solidFill>
                  <a:srgbClr val="1F2937"/>
                </a:solidFill>
                <a:latin typeface="Calibri"/>
              </a:rPr>
              <a:t>▸  Jahon sog‘liqni saqlash tashkiloti bo‘yicha 37-42 haftada tug‘ish o‘z muddatida hisoblanadi. Raso go‘dakning bo‘yi o‘rtacha 50-54 sm, vazni 3000-3500 g.</a:t>
            </a:r>
          </a:p>
          <a:p>
            <a:pPr>
              <a:spcAft>
                <a:spcPts val="1200"/>
              </a:spcAft>
            </a:pPr>
            <a:r>
              <a:rPr sz="2200">
                <a:solidFill>
                  <a:srgbClr val="1F2937"/>
                </a:solidFill>
                <a:latin typeface="Calibri"/>
              </a:rPr>
              <a:t>▸  Yetuklik: ona tanasidan tashqarida yashashga yetarli jismoniy rivojlanish. Tana uzunligi 45 sm va undan ortiq, vazni 2500 g dan kam emas.</a:t>
            </a:r>
          </a:p>
          <a:p>
            <a:pPr>
              <a:spcAft>
                <a:spcPts val="1200"/>
              </a:spcAft>
            </a:pPr>
            <a:r>
              <a:rPr sz="2200">
                <a:solidFill>
                  <a:srgbClr val="1F2937"/>
                </a:solidFill>
                <a:latin typeface="Calibri"/>
              </a:rPr>
              <a:t>▸  Diqqat: rasolik ≠ yetuklik. Tergov idoralari uchun ular homiladorlik muddati va hayotga layoqat masalalarini hal etishda muhim.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261, 262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Gestatsion yoshni formulalar bilan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Gaaze formulasi yoshni homila oylarida beradi. Hisob homiladorlikning birinchi va ikkinchi yarmida har xil bajariladi.</a:t>
            </a:r>
          </a:p>
          <a:p>
            <a:pPr>
              <a:spcAft>
                <a:spcPts val="800"/>
              </a:spcAft>
            </a:pPr>
            <a:r>
              <a:rPr sz="1800">
                <a:solidFill>
                  <a:srgbClr val="1F2937"/>
                </a:solidFill>
                <a:latin typeface="Calibri"/>
              </a:rPr>
              <a:t>▸  Baltazar-Derve indeksi 5,6 ga teng. U tana uzunligiga ko‘paytirilib, yosh kunlarda topiladi.</a:t>
            </a:r>
          </a:p>
          <a:p>
            <a:pPr>
              <a:spcAft>
                <a:spcPts val="800"/>
              </a:spcAft>
            </a:pPr>
            <a:r>
              <a:rPr sz="1800">
                <a:solidFill>
                  <a:srgbClr val="1F2937"/>
                </a:solidFill>
                <a:latin typeface="Calibri"/>
              </a:rPr>
              <a:t>▸  Yakupov usulida bosh aylanasi 3,4 ga bo‘linadi va natija homila oylarini beradi.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191656"/>
                <a:gridCol w="2234355"/>
                <a:gridCol w="1861963"/>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Amal</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Gaaze, 1-yarim</a:t>
                      </a:r>
                    </a:p>
                  </a:txBody>
                  <a:tcPr marL="73152" marR="73152" marT="36576" marB="36576">
                    <a:solidFill>
                      <a:srgbClr val="E8EEF6"/>
                    </a:solidFill>
                  </a:tcPr>
                </a:tc>
                <a:tc>
                  <a:txBody>
                    <a:bodyPr/>
                    <a:lstStyle/>
                    <a:p>
                      <a:r>
                        <a:rPr sz="1200" b="0">
                          <a:solidFill>
                            <a:srgbClr val="1F2937"/>
                          </a:solidFill>
                        </a:rPr>
                        <a:t>Tana uzunligidan kvadrat ildiz</a:t>
                      </a:r>
                    </a:p>
                  </a:txBody>
                  <a:tcPr marL="73152" marR="73152" marT="36576" marB="36576">
                    <a:solidFill>
                      <a:srgbClr val="E8EEF6"/>
                    </a:solidFill>
                  </a:tcPr>
                </a:tc>
                <a:tc>
                  <a:txBody>
                    <a:bodyPr/>
                    <a:lstStyle/>
                    <a:p>
                      <a:r>
                        <a:rPr sz="1200" b="0">
                          <a:solidFill>
                            <a:srgbClr val="1F2937"/>
                          </a:solidFill>
                        </a:rPr>
                        <a:t>16 sm → 4 oy</a:t>
                      </a:r>
                    </a:p>
                  </a:txBody>
                  <a:tcPr marL="73152" marR="73152" marT="36576" marB="36576">
                    <a:solidFill>
                      <a:srgbClr val="E8EEF6"/>
                    </a:solidFill>
                  </a:tcPr>
                </a:tc>
              </a:tr>
              <a:tr h="411480">
                <a:tc>
                  <a:txBody>
                    <a:bodyPr/>
                    <a:lstStyle/>
                    <a:p>
                      <a:r>
                        <a:rPr sz="1200" b="0">
                          <a:solidFill>
                            <a:srgbClr val="1F2937"/>
                          </a:solidFill>
                        </a:rPr>
                        <a:t>Gaaze, 2-yarim</a:t>
                      </a:r>
                    </a:p>
                  </a:txBody>
                  <a:tcPr marL="73152" marR="73152" marT="36576" marB="36576">
                    <a:solidFill>
                      <a:srgbClr val="FFFFFF"/>
                    </a:solidFill>
                  </a:tcPr>
                </a:tc>
                <a:tc>
                  <a:txBody>
                    <a:bodyPr/>
                    <a:lstStyle/>
                    <a:p>
                      <a:r>
                        <a:rPr sz="1200" b="0">
                          <a:solidFill>
                            <a:srgbClr val="1F2937"/>
                          </a:solidFill>
                        </a:rPr>
                        <a:t>Tana uzunligi ÷ 5</a:t>
                      </a:r>
                    </a:p>
                  </a:txBody>
                  <a:tcPr marL="73152" marR="73152" marT="36576" marB="36576">
                    <a:solidFill>
                      <a:srgbClr val="FFFFFF"/>
                    </a:solidFill>
                  </a:tcPr>
                </a:tc>
                <a:tc>
                  <a:txBody>
                    <a:bodyPr/>
                    <a:lstStyle/>
                    <a:p>
                      <a:r>
                        <a:rPr sz="1200" b="0">
                          <a:solidFill>
                            <a:srgbClr val="1F2937"/>
                          </a:solidFill>
                        </a:rPr>
                        <a:t>40 sm → 8 oy</a:t>
                      </a:r>
                    </a:p>
                  </a:txBody>
                  <a:tcPr marL="73152" marR="73152" marT="36576" marB="36576">
                    <a:solidFill>
                      <a:srgbClr val="FFFFFF"/>
                    </a:solidFill>
                  </a:tcPr>
                </a:tc>
              </a:tr>
              <a:tr h="411480">
                <a:tc>
                  <a:txBody>
                    <a:bodyPr/>
                    <a:lstStyle/>
                    <a:p>
                      <a:r>
                        <a:rPr sz="1200" b="0">
                          <a:solidFill>
                            <a:srgbClr val="1F2937"/>
                          </a:solidFill>
                        </a:rPr>
                        <a:t>Baltazar-Derve</a:t>
                      </a:r>
                    </a:p>
                  </a:txBody>
                  <a:tcPr marL="73152" marR="73152" marT="36576" marB="36576">
                    <a:solidFill>
                      <a:srgbClr val="E8EEF6"/>
                    </a:solidFill>
                  </a:tcPr>
                </a:tc>
                <a:tc>
                  <a:txBody>
                    <a:bodyPr/>
                    <a:lstStyle/>
                    <a:p>
                      <a:r>
                        <a:rPr sz="1200" b="0">
                          <a:solidFill>
                            <a:srgbClr val="1F2937"/>
                          </a:solidFill>
                        </a:rPr>
                        <a:t>Uzunlik × 5,6 = kun</a:t>
                      </a:r>
                    </a:p>
                  </a:txBody>
                  <a:tcPr marL="73152" marR="73152" marT="36576" marB="36576">
                    <a:solidFill>
                      <a:srgbClr val="E8EEF6"/>
                    </a:solidFill>
                  </a:tcPr>
                </a:tc>
                <a:tc>
                  <a:txBody>
                    <a:bodyPr/>
                    <a:lstStyle/>
                    <a:p>
                      <a:r>
                        <a:rPr sz="1200" b="0">
                          <a:solidFill>
                            <a:srgbClr val="1F2937"/>
                          </a:solidFill>
                        </a:rPr>
                        <a:t>40 × 5,6 = 224 kun (8 oy)</a:t>
                      </a:r>
                    </a:p>
                  </a:txBody>
                  <a:tcPr marL="73152" marR="73152" marT="36576" marB="36576">
                    <a:solidFill>
                      <a:srgbClr val="E8EEF6"/>
                    </a:solidFill>
                  </a:tcPr>
                </a:tc>
              </a:tr>
              <a:tr h="411480">
                <a:tc>
                  <a:txBody>
                    <a:bodyPr/>
                    <a:lstStyle/>
                    <a:p>
                      <a:r>
                        <a:rPr sz="1200" b="0">
                          <a:solidFill>
                            <a:srgbClr val="1F2937"/>
                          </a:solidFill>
                        </a:rPr>
                        <a:t>Yakupov</a:t>
                      </a:r>
                    </a:p>
                  </a:txBody>
                  <a:tcPr marL="73152" marR="73152" marT="36576" marB="36576">
                    <a:solidFill>
                      <a:srgbClr val="FFFFFF"/>
                    </a:solidFill>
                  </a:tcPr>
                </a:tc>
                <a:tc>
                  <a:txBody>
                    <a:bodyPr/>
                    <a:lstStyle/>
                    <a:p>
                      <a:r>
                        <a:rPr sz="1200" b="0">
                          <a:solidFill>
                            <a:srgbClr val="1F2937"/>
                          </a:solidFill>
                        </a:rPr>
                        <a:t>Bosh aylanasi ÷ 3,4</a:t>
                      </a:r>
                    </a:p>
                  </a:txBody>
                  <a:tcPr marL="73152" marR="73152" marT="36576" marB="36576">
                    <a:solidFill>
                      <a:srgbClr val="FFFFFF"/>
                    </a:solidFill>
                  </a:tcPr>
                </a:tc>
                <a:tc>
                  <a:txBody>
                    <a:bodyPr/>
                    <a:lstStyle/>
                    <a:p>
                      <a:r>
                        <a:rPr sz="1200" b="0">
                          <a:solidFill>
                            <a:srgbClr val="1F2937"/>
                          </a:solidFill>
                        </a:rPr>
                        <a:t>34 sm → 10 oy</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Gestatsion yosh formulalari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yo‘ldosh va suyaklanish o‘zaklari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Homila oyi ortgani sari kindik uzunligi va yo‘ldosh massasi ham ortadi; jadvalda tanlangan oylar keltirilgan.</a:t>
            </a:r>
          </a:p>
          <a:p>
            <a:pPr>
              <a:spcAft>
                <a:spcPts val="800"/>
              </a:spcAft>
            </a:pPr>
            <a:r>
              <a:rPr sz="1800">
                <a:solidFill>
                  <a:srgbClr val="1F2937"/>
                </a:solidFill>
                <a:latin typeface="Calibri"/>
              </a:rPr>
              <a:t>▸  Suyaklanish o‘zagi: tovonda V, g‘altaksimon suyakda VII, sonning pastki epifizida (Beklyar yadrosi) IX oyda paydo bo‘ladi.</a:t>
            </a:r>
          </a:p>
          <a:p>
            <a:pPr>
              <a:spcAft>
                <a:spcPts val="800"/>
              </a:spcAft>
            </a:pPr>
            <a:r>
              <a:rPr sz="1800">
                <a:solidFill>
                  <a:srgbClr val="1F2937"/>
                </a:solidFill>
                <a:latin typeface="Calibri"/>
              </a:rPr>
              <a:t>▸  Yutish refleksi VIII homila oyida paydo bo‘ladi; shu sababli mekoniyda tuk-soch topiladi.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726685"/>
                <a:gridCol w="1726685"/>
                <a:gridCol w="1834603"/>
              </a:tblGrid>
              <a:tr h="411480">
                <a:tc>
                  <a:txBody>
                    <a:bodyPr/>
                    <a:lstStyle/>
                    <a:p>
                      <a:r>
                        <a:rPr sz="1300" b="1">
                          <a:solidFill>
                            <a:srgbClr val="FFFFFF"/>
                          </a:solidFill>
                        </a:rPr>
                        <a:t>Homila oyi</a:t>
                      </a:r>
                    </a:p>
                  </a:txBody>
                  <a:tcPr marL="73152" marR="73152" marT="36576" marB="36576">
                    <a:solidFill>
                      <a:srgbClr val="0B1F3A"/>
                    </a:solidFill>
                  </a:tcPr>
                </a:tc>
                <a:tc>
                  <a:txBody>
                    <a:bodyPr/>
                    <a:lstStyle/>
                    <a:p>
                      <a:r>
                        <a:rPr sz="1300" b="1">
                          <a:solidFill>
                            <a:srgbClr val="FFFFFF"/>
                          </a:solidFill>
                        </a:rPr>
                        <a:t>Kindik, sm</a:t>
                      </a:r>
                    </a:p>
                  </a:txBody>
                  <a:tcPr marL="73152" marR="73152" marT="36576" marB="36576">
                    <a:solidFill>
                      <a:srgbClr val="0B1F3A"/>
                    </a:solidFill>
                  </a:tcPr>
                </a:tc>
                <a:tc>
                  <a:txBody>
                    <a:bodyPr/>
                    <a:lstStyle/>
                    <a:p>
                      <a:r>
                        <a:rPr sz="1300" b="1">
                          <a:solidFill>
                            <a:srgbClr val="FFFFFF"/>
                          </a:solidFill>
                        </a:rPr>
                        <a:t>Yo‘ldosh, g</a:t>
                      </a:r>
                    </a:p>
                  </a:txBody>
                  <a:tcPr marL="73152" marR="73152" marT="36576" marB="36576">
                    <a:solidFill>
                      <a:srgbClr val="0B1F3A"/>
                    </a:solidFill>
                  </a:tcPr>
                </a:tc>
              </a:tr>
              <a:tr h="411480">
                <a:tc>
                  <a:txBody>
                    <a:bodyPr/>
                    <a:lstStyle/>
                    <a:p>
                      <a:r>
                        <a:rPr sz="1200" b="0">
                          <a:solidFill>
                            <a:srgbClr val="1F2937"/>
                          </a:solidFill>
                        </a:rPr>
                        <a:t>VI</a:t>
                      </a:r>
                    </a:p>
                  </a:txBody>
                  <a:tcPr marL="73152" marR="73152" marT="36576" marB="36576">
                    <a:solidFill>
                      <a:srgbClr val="E8EEF6"/>
                    </a:solidFill>
                  </a:tcPr>
                </a:tc>
                <a:tc>
                  <a:txBody>
                    <a:bodyPr/>
                    <a:lstStyle/>
                    <a:p>
                      <a:r>
                        <a:rPr sz="1200" b="0">
                          <a:solidFill>
                            <a:srgbClr val="1F2937"/>
                          </a:solidFill>
                        </a:rPr>
                        <a:t>38</a:t>
                      </a:r>
                    </a:p>
                  </a:txBody>
                  <a:tcPr marL="73152" marR="73152" marT="36576" marB="36576">
                    <a:solidFill>
                      <a:srgbClr val="E8EEF6"/>
                    </a:solidFill>
                  </a:tcPr>
                </a:tc>
                <a:tc>
                  <a:txBody>
                    <a:bodyPr/>
                    <a:lstStyle/>
                    <a:p>
                      <a:r>
                        <a:rPr sz="1200" b="0">
                          <a:solidFill>
                            <a:srgbClr val="1F2937"/>
                          </a:solidFill>
                        </a:rPr>
                        <a:t>250</a:t>
                      </a:r>
                    </a:p>
                  </a:txBody>
                  <a:tcPr marL="73152" marR="73152" marT="36576" marB="36576">
                    <a:solidFill>
                      <a:srgbClr val="E8EEF6"/>
                    </a:solidFill>
                  </a:tcPr>
                </a:tc>
              </a:tr>
              <a:tr h="411480">
                <a:tc>
                  <a:txBody>
                    <a:bodyPr/>
                    <a:lstStyle/>
                    <a:p>
                      <a:r>
                        <a:rPr sz="1200" b="0">
                          <a:solidFill>
                            <a:srgbClr val="1F2937"/>
                          </a:solidFill>
                        </a:rPr>
                        <a:t>VII</a:t>
                      </a:r>
                    </a:p>
                  </a:txBody>
                  <a:tcPr marL="73152" marR="73152" marT="36576" marB="36576">
                    <a:solidFill>
                      <a:srgbClr val="FFFFFF"/>
                    </a:solidFill>
                  </a:tcPr>
                </a:tc>
                <a:tc>
                  <a:txBody>
                    <a:bodyPr/>
                    <a:lstStyle/>
                    <a:p>
                      <a:r>
                        <a:rPr sz="1200" b="0">
                          <a:solidFill>
                            <a:srgbClr val="1F2937"/>
                          </a:solidFill>
                        </a:rPr>
                        <a:t>42</a:t>
                      </a:r>
                    </a:p>
                  </a:txBody>
                  <a:tcPr marL="73152" marR="73152" marT="36576" marB="36576">
                    <a:solidFill>
                      <a:srgbClr val="FFFFFF"/>
                    </a:solidFill>
                  </a:tcPr>
                </a:tc>
                <a:tc>
                  <a:txBody>
                    <a:bodyPr/>
                    <a:lstStyle/>
                    <a:p>
                      <a:r>
                        <a:rPr sz="1200" b="0">
                          <a:solidFill>
                            <a:srgbClr val="1F2937"/>
                          </a:solidFill>
                        </a:rPr>
                        <a:t>340</a:t>
                      </a:r>
                    </a:p>
                  </a:txBody>
                  <a:tcPr marL="73152" marR="73152" marT="36576" marB="36576">
                    <a:solidFill>
                      <a:srgbClr val="FFFFFF"/>
                    </a:solidFill>
                  </a:tcPr>
                </a:tc>
              </a:tr>
              <a:tr h="411480">
                <a:tc>
                  <a:txBody>
                    <a:bodyPr/>
                    <a:lstStyle/>
                    <a:p>
                      <a:r>
                        <a:rPr sz="1200" b="0">
                          <a:solidFill>
                            <a:srgbClr val="1F2937"/>
                          </a:solidFill>
                        </a:rPr>
                        <a:t>VIII</a:t>
                      </a:r>
                    </a:p>
                  </a:txBody>
                  <a:tcPr marL="73152" marR="73152" marT="36576" marB="36576">
                    <a:solidFill>
                      <a:srgbClr val="E8EEF6"/>
                    </a:solidFill>
                  </a:tcPr>
                </a:tc>
                <a:tc>
                  <a:txBody>
                    <a:bodyPr/>
                    <a:lstStyle/>
                    <a:p>
                      <a:r>
                        <a:rPr sz="1200" b="0">
                          <a:solidFill>
                            <a:srgbClr val="1F2937"/>
                          </a:solidFill>
                        </a:rPr>
                        <a:t>46</a:t>
                      </a:r>
                    </a:p>
                  </a:txBody>
                  <a:tcPr marL="73152" marR="73152" marT="36576" marB="36576">
                    <a:solidFill>
                      <a:srgbClr val="E8EEF6"/>
                    </a:solidFill>
                  </a:tcPr>
                </a:tc>
                <a:tc>
                  <a:txBody>
                    <a:bodyPr/>
                    <a:lstStyle/>
                    <a:p>
                      <a:r>
                        <a:rPr sz="1200" b="0">
                          <a:solidFill>
                            <a:srgbClr val="1F2937"/>
                          </a:solidFill>
                        </a:rPr>
                        <a:t>410</a:t>
                      </a:r>
                    </a:p>
                  </a:txBody>
                  <a:tcPr marL="73152" marR="73152" marT="36576" marB="36576">
                    <a:solidFill>
                      <a:srgbClr val="E8EEF6"/>
                    </a:solidFill>
                  </a:tcPr>
                </a:tc>
              </a:tr>
              <a:tr h="411480">
                <a:tc>
                  <a:txBody>
                    <a:bodyPr/>
                    <a:lstStyle/>
                    <a:p>
                      <a:r>
                        <a:rPr sz="1200" b="0">
                          <a:solidFill>
                            <a:srgbClr val="1F2937"/>
                          </a:solidFill>
                        </a:rPr>
                        <a:t>X</a:t>
                      </a:r>
                    </a:p>
                  </a:txBody>
                  <a:tcPr marL="73152" marR="73152" marT="36576" marB="36576">
                    <a:solidFill>
                      <a:srgbClr val="FFFFFF"/>
                    </a:solidFill>
                  </a:tcPr>
                </a:tc>
                <a:tc>
                  <a:txBody>
                    <a:bodyPr/>
                    <a:lstStyle/>
                    <a:p>
                      <a:r>
                        <a:rPr sz="1200" b="0">
                          <a:solidFill>
                            <a:srgbClr val="1F2937"/>
                          </a:solidFill>
                        </a:rPr>
                        <a:t>50</a:t>
                      </a:r>
                    </a:p>
                  </a:txBody>
                  <a:tcPr marL="73152" marR="73152" marT="36576" marB="36576">
                    <a:solidFill>
                      <a:srgbClr val="FFFFFF"/>
                    </a:solidFill>
                  </a:tcPr>
                </a:tc>
                <a:tc>
                  <a:txBody>
                    <a:bodyPr/>
                    <a:lstStyle/>
                    <a:p>
                      <a:r>
                        <a:rPr sz="1200" b="0">
                          <a:solidFill>
                            <a:srgbClr val="1F2937"/>
                          </a:solidFill>
                        </a:rPr>
                        <a:t>500</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Kindik va yo‘ldosh bo‘yicha gestatsion yosh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262, 263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Hayotga layoqatlilik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Hayotga layoqatlilik – go‘dakning ona organizmidan tashqarida yashash qobiliyati. Tirik tug‘ilgan go‘dak ham layoqatsiz bo‘lishi mumkin.</a:t>
            </a:r>
          </a:p>
          <a:p>
            <a:pPr>
              <a:spcAft>
                <a:spcPts val="1200"/>
              </a:spcAft>
            </a:pPr>
            <a:r>
              <a:rPr sz="2000">
                <a:solidFill>
                  <a:srgbClr val="1F2937"/>
                </a:solidFill>
                <a:latin typeface="Calibri"/>
              </a:rPr>
              <a:t>▸  Jahon sog‘liqni saqlash tashkiloti (JSST) mezoni: uzunligi 25 sm dan, vazni 500 g dan kam go‘dak o‘ta norasolik tufayli layoqatsiz. Murda ochilmaydi, faqat tashqi tekshiruv, vazn va uzunlik o‘lchanadi.</a:t>
            </a:r>
          </a:p>
          <a:p>
            <a:pPr>
              <a:spcAft>
                <a:spcPts val="1200"/>
              </a:spcAft>
            </a:pPr>
            <a:r>
              <a:rPr sz="2000">
                <a:solidFill>
                  <a:srgbClr val="1F2937"/>
                </a:solidFill>
                <a:latin typeface="Calibri"/>
              </a:rPr>
              <a:t>▸  Hayotga monelik qiluvchi nuqsonlar: anensefaliya, ikki kamerali yurak. Tashqi nuqson (oltinchi barmoq, quyon lab) bo‘lsa, ichki nuqsonlarni istisno qilish uchun miya va a’zolar tekshiriladi.</a:t>
            </a:r>
          </a:p>
          <a:p>
            <a:pPr>
              <a:spcAft>
                <a:spcPts val="1200"/>
              </a:spcAft>
            </a:pPr>
            <a:r>
              <a:rPr sz="2000">
                <a:solidFill>
                  <a:srgbClr val="1F2937"/>
                </a:solidFill>
                <a:latin typeface="Calibri"/>
              </a:rPr>
              <a:t>▸  Tug‘ruq travmasi ham layoqatni yo‘qotadi: hayot bilan nomutanosib jarohatlar, masalan, bosh miya majaqlanishi yoki bo‘yin umurtqalari sinishi bilan orqa miya shikasti.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rasolik va layoqat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tirik tug‘ilgan go‘dak topildi, tana uzunligi 24 sm, vazni 480 g. Layoqati qanday baholanadi?</a:t>
            </a:r>
          </a:p>
          <a:p>
            <a:pPr>
              <a:spcAft>
                <a:spcPts val="1200"/>
              </a:spcAft>
            </a:pPr>
            <a:r>
              <a:rPr sz="2200">
                <a:solidFill>
                  <a:srgbClr val="1F2937"/>
                </a:solidFill>
                <a:latin typeface="Calibri"/>
              </a:rPr>
              <a:t>▸  JSST mezoniga ko‘ra uzunlik 25 sm dan, vazn 500 g dan kam: o‘ta norasolik tufayli go‘dak hayotga layoqatsiz. Murda ochilmaydi.</a:t>
            </a:r>
          </a:p>
          <a:p>
            <a:pPr>
              <a:spcAft>
                <a:spcPts val="1200"/>
              </a:spcAft>
            </a:pPr>
            <a:r>
              <a:rPr sz="2200">
                <a:solidFill>
                  <a:srgbClr val="1F2937"/>
                </a:solidFill>
                <a:latin typeface="Calibri"/>
              </a:rPr>
              <a:t>▸  Solishtiring: raso go‘dak 37–42 haftada tug‘iladi, 50–54 sm, 3000–3500 g. Yetuk go‘dak kamida 45 sm va 2500 g.</a:t>
            </a:r>
          </a:p>
          <a:p>
            <a:pPr>
              <a:spcAft>
                <a:spcPts val="1200"/>
              </a:spcAft>
            </a:pPr>
            <a:r>
              <a:rPr sz="2200">
                <a:solidFill>
                  <a:srgbClr val="1F2937"/>
                </a:solidFill>
                <a:latin typeface="Calibri"/>
              </a:rPr>
              <a:t>▸  Diqqat: rasolik ≠ yetuklik ≠ hayotga layoqatlilik. Bu uch tushuncha alohida baholanadi. Savol: nega vazn va uzunlik birga olinadi?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263, 262, 262–263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Ona organizmidan tashqari hayot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Tug‘ruq shishi 2-3-kunda so‘riladi; chaqaloqlar sariqligi 2-3-kunda paydo bo‘lib, 1-10-kunlarda o‘tadi.</a:t>
            </a:r>
          </a:p>
          <a:p>
            <a:pPr>
              <a:spcAft>
                <a:spcPts val="800"/>
              </a:spcAft>
            </a:pPr>
            <a:r>
              <a:rPr sz="1800">
                <a:solidFill>
                  <a:srgbClr val="1F2937"/>
                </a:solidFill>
                <a:latin typeface="Calibri"/>
              </a:rPr>
              <a:t>▸  5-6 soatda havo ingichka ichakni to‘ldiradi, 6 soatdan so‘ng yo‘g‘on ichakka o‘tadi.</a:t>
            </a:r>
          </a:p>
          <a:p>
            <a:pPr>
              <a:spcAft>
                <a:spcPts val="800"/>
              </a:spcAft>
            </a:pPr>
            <a:r>
              <a:rPr sz="1800">
                <a:solidFill>
                  <a:srgbClr val="1F2937"/>
                </a:solidFill>
                <a:latin typeface="Calibri"/>
              </a:rPr>
              <a:t>▸  Diqqat: muddatlar taxminiy. Ekspert imkon qadar ko‘p belgini inobatga olib xulosa chiqaradi.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304984"/>
                <a:gridCol w="1982990"/>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Muddat</a:t>
                      </a:r>
                    </a:p>
                  </a:txBody>
                  <a:tcPr marL="73152" marR="73152" marT="36576" marB="36576">
                    <a:solidFill>
                      <a:srgbClr val="0B1F3A"/>
                    </a:solidFill>
                  </a:tcPr>
                </a:tc>
              </a:tr>
              <a:tr h="411480">
                <a:tc>
                  <a:txBody>
                    <a:bodyPr/>
                    <a:lstStyle/>
                    <a:p>
                      <a:r>
                        <a:rPr sz="1300" b="0">
                          <a:solidFill>
                            <a:srgbClr val="1F2937"/>
                          </a:solidFill>
                        </a:rPr>
                        <a:t>Gialin membranalar (o‘pka alveolalarida)</a:t>
                      </a:r>
                    </a:p>
                  </a:txBody>
                  <a:tcPr marL="73152" marR="73152" marT="36576" marB="36576">
                    <a:solidFill>
                      <a:srgbClr val="E8EEF6"/>
                    </a:solidFill>
                  </a:tcPr>
                </a:tc>
                <a:tc>
                  <a:txBody>
                    <a:bodyPr/>
                    <a:lstStyle/>
                    <a:p>
                      <a:r>
                        <a:rPr sz="1300" b="0">
                          <a:solidFill>
                            <a:srgbClr val="1F2937"/>
                          </a:solidFill>
                        </a:rPr>
                        <a:t>kamida 1-2 soat</a:t>
                      </a:r>
                    </a:p>
                  </a:txBody>
                  <a:tcPr marL="73152" marR="73152" marT="36576" marB="36576">
                    <a:solidFill>
                      <a:srgbClr val="E8EEF6"/>
                    </a:solidFill>
                  </a:tcPr>
                </a:tc>
              </a:tr>
              <a:tr h="411480">
                <a:tc>
                  <a:txBody>
                    <a:bodyPr/>
                    <a:lstStyle/>
                    <a:p>
                      <a:r>
                        <a:rPr sz="1300" b="0">
                          <a:solidFill>
                            <a:srgbClr val="1F2937"/>
                          </a:solidFill>
                        </a:rPr>
                        <a:t>Havo faqat oshqozonda</a:t>
                      </a:r>
                    </a:p>
                  </a:txBody>
                  <a:tcPr marL="73152" marR="73152" marT="36576" marB="36576">
                    <a:solidFill>
                      <a:srgbClr val="FFFFFF"/>
                    </a:solidFill>
                  </a:tcPr>
                </a:tc>
                <a:tc>
                  <a:txBody>
                    <a:bodyPr/>
                    <a:lstStyle/>
                    <a:p>
                      <a:r>
                        <a:rPr sz="1300" b="0">
                          <a:solidFill>
                            <a:srgbClr val="1F2937"/>
                          </a:solidFill>
                        </a:rPr>
                        <a:t>3 soatdan kam yashagan</a:t>
                      </a:r>
                    </a:p>
                  </a:txBody>
                  <a:tcPr marL="73152" marR="73152" marT="36576" marB="36576">
                    <a:solidFill>
                      <a:srgbClr val="FFFFFF"/>
                    </a:solidFill>
                  </a:tcPr>
                </a:tc>
              </a:tr>
              <a:tr h="411480">
                <a:tc>
                  <a:txBody>
                    <a:bodyPr/>
                    <a:lstStyle/>
                    <a:p>
                      <a:r>
                        <a:rPr sz="1300" b="0">
                          <a:solidFill>
                            <a:srgbClr val="1F2937"/>
                          </a:solidFill>
                        </a:rPr>
                        <a:t>O‘pkaning ikkilamchi atelektazi</a:t>
                      </a:r>
                    </a:p>
                  </a:txBody>
                  <a:tcPr marL="73152" marR="73152" marT="36576" marB="36576">
                    <a:solidFill>
                      <a:srgbClr val="E8EEF6"/>
                    </a:solidFill>
                  </a:tcPr>
                </a:tc>
                <a:tc>
                  <a:txBody>
                    <a:bodyPr/>
                    <a:lstStyle/>
                    <a:p>
                      <a:r>
                        <a:rPr sz="1300" b="0">
                          <a:solidFill>
                            <a:srgbClr val="1F2937"/>
                          </a:solidFill>
                        </a:rPr>
                        <a:t>kamida 5-6 soatdan so‘ng</a:t>
                      </a:r>
                    </a:p>
                  </a:txBody>
                  <a:tcPr marL="73152" marR="73152" marT="36576" marB="36576">
                    <a:solidFill>
                      <a:srgbClr val="E8EEF6"/>
                    </a:solidFill>
                  </a:tcPr>
                </a:tc>
              </a:tr>
              <a:tr h="411480">
                <a:tc>
                  <a:txBody>
                    <a:bodyPr/>
                    <a:lstStyle/>
                    <a:p>
                      <a:r>
                        <a:rPr sz="1300" b="0">
                          <a:solidFill>
                            <a:srgbClr val="1F2937"/>
                          </a:solidFill>
                        </a:rPr>
                        <a:t>Kindikda demarkatsion halqa; mekoniy chiqishi</a:t>
                      </a:r>
                    </a:p>
                  </a:txBody>
                  <a:tcPr marL="73152" marR="73152" marT="36576" marB="36576">
                    <a:solidFill>
                      <a:srgbClr val="FFFFFF"/>
                    </a:solidFill>
                  </a:tcPr>
                </a:tc>
                <a:tc>
                  <a:txBody>
                    <a:bodyPr/>
                    <a:lstStyle/>
                    <a:p>
                      <a:r>
                        <a:rPr sz="1300" b="0">
                          <a:solidFill>
                            <a:srgbClr val="1F2937"/>
                          </a:solidFill>
                        </a:rPr>
                        <a:t>birinchi sutka oxiri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Vaqt chizig‘i: belgilar paydo bo‘lishi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263-264, 264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Go‘dakka qarov bo‘lganligini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Qarov bo‘lgan yoki bo‘lmaganini aniqlash surishtiruv va tergov uchun holatga huquqiy baho berishda muhim ahamiyatga ega.</a:t>
            </a:r>
          </a:p>
          <a:p>
            <a:pPr>
              <a:spcAft>
                <a:spcPts val="1200"/>
              </a:spcAft>
            </a:pPr>
            <a:r>
              <a:rPr sz="2200">
                <a:solidFill>
                  <a:srgbClr val="1F2937"/>
                </a:solidFill>
                <a:latin typeface="Calibri"/>
              </a:rPr>
              <a:t>▸  Qarov belgilari: go‘dak yo‘rgaklangan, ustida kiyim-bosh bor, kindigi kesilib boylangan.</a:t>
            </a:r>
          </a:p>
          <a:p>
            <a:pPr>
              <a:spcAft>
                <a:spcPts val="1200"/>
              </a:spcAft>
            </a:pPr>
            <a:r>
              <a:rPr sz="2200">
                <a:solidFill>
                  <a:srgbClr val="1F2937"/>
                </a:solidFill>
                <a:latin typeface="Calibri"/>
              </a:rPr>
              <a:t>▸  Tana qon izlari va mo‘msimon qoplamadan tozalangan bo‘lsa, bu ham go‘dakka qarov bo‘lganini ko‘rsatadi.</a:t>
            </a:r>
          </a:p>
          <a:p>
            <a:pPr>
              <a:spcAft>
                <a:spcPts val="1200"/>
              </a:spcAft>
            </a:pPr>
            <a:r>
              <a:rPr sz="2200">
                <a:solidFill>
                  <a:srgbClr val="1F2937"/>
                </a:solidFill>
                <a:latin typeface="Calibri"/>
              </a:rPr>
              <a:t>▸  Ichki tekshiruvda oshqozonda sut yoki unga o‘xshash massa topilishi tug‘ilgandan so‘ng qarov bo‘lganidan dalolat beradi.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 va go‘dak o‘limi sabablari: antenatal va intranatal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Antenatal nozo‘raki o‘lim ko‘pincha homila ichi asfiksiyadan: yo‘ldosh oldin joylashishi, infarkti yoki ko‘chishi, kindik siqilishi, bo‘yinga o‘ralishi yoki chin tugun.</a:t>
            </a:r>
          </a:p>
          <a:p>
            <a:pPr>
              <a:spcAft>
                <a:spcPts val="1200"/>
              </a:spcAft>
            </a:pPr>
            <a:r>
              <a:rPr sz="2000">
                <a:solidFill>
                  <a:srgbClr val="1F2937"/>
                </a:solidFill>
                <a:latin typeface="Calibri"/>
              </a:rPr>
              <a:t>▸  Murdada tez o‘lim belgilari, qog‘onoq suvi aspiratsiyasi va undagi ko‘p mekoniy topiladi. Yo‘ldosh va kindik ham tekshiriladi.</a:t>
            </a:r>
          </a:p>
          <a:p>
            <a:pPr>
              <a:spcAft>
                <a:spcPts val="1200"/>
              </a:spcAft>
            </a:pPr>
            <a:r>
              <a:rPr sz="2000">
                <a:solidFill>
                  <a:srgbClr val="1F2937"/>
                </a:solidFill>
                <a:latin typeface="Calibri"/>
              </a:rPr>
              <a:t>▸  Intranatal o‘limning asosiy sababi tug‘ruq travmasi: tor tos, yirik homila, sust tug‘ruq faoliyatida bosh qisilib, kalla suyaklari sinadi, kalla ichiga qon quyiladi.</a:t>
            </a:r>
          </a:p>
          <a:p>
            <a:pPr>
              <a:spcAft>
                <a:spcPts val="1200"/>
              </a:spcAft>
            </a:pPr>
            <a:r>
              <a:rPr sz="2000">
                <a:solidFill>
                  <a:srgbClr val="1F2937"/>
                </a:solidFill>
                <a:latin typeface="Calibri"/>
              </a:rPr>
              <a:t>▸  Tug‘ruq travmasida tashqi jarohat va yara bo‘lmaydi. Ona qo‘li bilan yordam bersa, yuz-bo‘yinda shilinma, qontalash, og‘iz burchagi yoriladi.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264, 264-265, 265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 o‘ldirish: aktiv va passiv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Zo‘raki o‘lim asosan postnatal (tug‘ruqdan keyingi) davrda uchraydi; aktiv va passiv go‘dak o‘ldirish farqlanadi.</a:t>
            </a:r>
          </a:p>
          <a:p>
            <a:pPr>
              <a:spcAft>
                <a:spcPts val="800"/>
              </a:spcAft>
            </a:pPr>
            <a:r>
              <a:rPr sz="1800">
                <a:solidFill>
                  <a:srgbClr val="1F2937"/>
                </a:solidFill>
                <a:latin typeface="Calibri"/>
              </a:rPr>
              <a:t>▸  Nozo‘raki o‘lim sababi: o‘ta norasolik, hayotga mos kelmas nuqsonlar, gemolitik kasallik.</a:t>
            </a:r>
          </a:p>
          <a:p>
            <a:pPr>
              <a:spcAft>
                <a:spcPts val="800"/>
              </a:spcAft>
            </a:pPr>
            <a:r>
              <a:rPr sz="1800">
                <a:solidFill>
                  <a:srgbClr val="1F2937"/>
                </a:solidFill>
                <a:latin typeface="Calibri"/>
              </a:rPr>
              <a:t>▸  Diqqat: aktiv ≠ passiv. Huquq idoralari uchun turi emas, o‘limning aniq sababi muhim.</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09759"/>
                <a:gridCol w="2274397"/>
                <a:gridCol w="2103818"/>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Aktiv</a:t>
                      </a:r>
                    </a:p>
                  </a:txBody>
                  <a:tcPr marL="73152" marR="73152" marT="36576" marB="36576">
                    <a:solidFill>
                      <a:srgbClr val="0B1F3A"/>
                    </a:solidFill>
                  </a:tcPr>
                </a:tc>
                <a:tc>
                  <a:txBody>
                    <a:bodyPr/>
                    <a:lstStyle/>
                    <a:p>
                      <a:r>
                        <a:rPr sz="1300" b="1">
                          <a:solidFill>
                            <a:srgbClr val="FFFFFF"/>
                          </a:solidFill>
                        </a:rPr>
                        <a:t>Passiv</a:t>
                      </a:r>
                    </a:p>
                  </a:txBody>
                  <a:tcPr marL="73152" marR="73152" marT="36576" marB="36576">
                    <a:solidFill>
                      <a:srgbClr val="0B1F3A"/>
                    </a:solidFill>
                  </a:tcPr>
                </a:tc>
              </a:tr>
              <a:tr h="411480">
                <a:tc>
                  <a:txBody>
                    <a:bodyPr/>
                    <a:lstStyle/>
                    <a:p>
                      <a:r>
                        <a:rPr sz="1200" b="0">
                          <a:solidFill>
                            <a:srgbClr val="1F2937"/>
                          </a:solidFill>
                        </a:rPr>
                        <a:t>Mohiyati</a:t>
                      </a:r>
                    </a:p>
                  </a:txBody>
                  <a:tcPr marL="73152" marR="73152" marT="36576" marB="36576">
                    <a:solidFill>
                      <a:srgbClr val="E8EEF6"/>
                    </a:solidFill>
                  </a:tcPr>
                </a:tc>
                <a:tc>
                  <a:txBody>
                    <a:bodyPr/>
                    <a:lstStyle/>
                    <a:p>
                      <a:r>
                        <a:rPr sz="1200" b="0">
                          <a:solidFill>
                            <a:srgbClr val="1F2937"/>
                          </a:solidFill>
                        </a:rPr>
                        <a:t>Go‘dakka nisbatan harakat qilinadi</a:t>
                      </a:r>
                    </a:p>
                  </a:txBody>
                  <a:tcPr marL="73152" marR="73152" marT="36576" marB="36576">
                    <a:solidFill>
                      <a:srgbClr val="E8EEF6"/>
                    </a:solidFill>
                  </a:tcPr>
                </a:tc>
                <a:tc>
                  <a:txBody>
                    <a:bodyPr/>
                    <a:lstStyle/>
                    <a:p>
                      <a:r>
                        <a:rPr sz="1200" b="0">
                          <a:solidFill>
                            <a:srgbClr val="1F2937"/>
                          </a:solidFill>
                        </a:rPr>
                        <a:t>Go‘dak qarovsiz qoldiriladi</a:t>
                      </a:r>
                    </a:p>
                  </a:txBody>
                  <a:tcPr marL="73152" marR="73152" marT="36576" marB="36576">
                    <a:solidFill>
                      <a:srgbClr val="E8EEF6"/>
                    </a:solidFill>
                  </a:tcPr>
                </a:tc>
              </a:tr>
              <a:tr h="411480">
                <a:tc>
                  <a:txBody>
                    <a:bodyPr/>
                    <a:lstStyle/>
                    <a:p>
                      <a:r>
                        <a:rPr sz="1200" b="0">
                          <a:solidFill>
                            <a:srgbClr val="1F2937"/>
                          </a:solidFill>
                        </a:rPr>
                        <a:t>Usul</a:t>
                      </a:r>
                    </a:p>
                  </a:txBody>
                  <a:tcPr marL="73152" marR="73152" marT="36576" marB="36576">
                    <a:solidFill>
                      <a:srgbClr val="FFFFFF"/>
                    </a:solidFill>
                  </a:tcPr>
                </a:tc>
                <a:tc>
                  <a:txBody>
                    <a:bodyPr/>
                    <a:lstStyle/>
                    <a:p>
                      <a:r>
                        <a:rPr sz="1200" b="0">
                          <a:solidFill>
                            <a:srgbClr val="1F2937"/>
                          </a:solidFill>
                        </a:rPr>
                        <a:t>Qo‘l/sirtmoq bilan bo‘g‘ish, cho‘ktirish</a:t>
                      </a:r>
                    </a:p>
                  </a:txBody>
                  <a:tcPr marL="73152" marR="73152" marT="36576" marB="36576">
                    <a:solidFill>
                      <a:srgbClr val="FFFFFF"/>
                    </a:solidFill>
                  </a:tcPr>
                </a:tc>
                <a:tc>
                  <a:txBody>
                    <a:bodyPr/>
                    <a:lstStyle/>
                    <a:p>
                      <a:r>
                        <a:rPr sz="1200" b="0">
                          <a:solidFill>
                            <a:srgbClr val="1F2937"/>
                          </a:solidFill>
                        </a:rPr>
                        <a:t>Sovuq qotish, ochlik</a:t>
                      </a:r>
                    </a:p>
                  </a:txBody>
                  <a:tcPr marL="73152" marR="73152" marT="36576" marB="36576">
                    <a:solidFill>
                      <a:srgbClr val="FFFFFF"/>
                    </a:solidFill>
                  </a:tcPr>
                </a:tc>
              </a:tr>
              <a:tr h="411480">
                <a:tc>
                  <a:txBody>
                    <a:bodyPr/>
                    <a:lstStyle/>
                    <a:p>
                      <a:r>
                        <a:rPr sz="1200" b="0">
                          <a:solidFill>
                            <a:srgbClr val="1F2937"/>
                          </a:solidFill>
                        </a:rPr>
                        <a:t>Boshqa</a:t>
                      </a:r>
                    </a:p>
                  </a:txBody>
                  <a:tcPr marL="73152" marR="73152" marT="36576" marB="36576">
                    <a:solidFill>
                      <a:srgbClr val="E8EEF6"/>
                    </a:solidFill>
                  </a:tcPr>
                </a:tc>
                <a:tc>
                  <a:txBody>
                    <a:bodyPr/>
                    <a:lstStyle/>
                    <a:p>
                      <a:r>
                        <a:rPr sz="1200" b="0">
                          <a:solidFill>
                            <a:srgbClr val="1F2937"/>
                          </a:solidFill>
                        </a:rPr>
                        <a:t>Mexanik jarohat, olovga tashlash</a:t>
                      </a:r>
                    </a:p>
                  </a:txBody>
                  <a:tcPr marL="73152" marR="73152" marT="36576" marB="36576">
                    <a:solidFill>
                      <a:srgbClr val="E8EEF6"/>
                    </a:solidFill>
                  </a:tcPr>
                </a:tc>
                <a:tc>
                  <a:txBody>
                    <a:bodyPr/>
                    <a:lstStyle/>
                    <a:p>
                      <a:r>
                        <a:rPr sz="1200" b="0">
                          <a:solidFill>
                            <a:srgbClr val="1F2937"/>
                          </a:solidFill>
                        </a:rPr>
                        <a:t>Kindik bog‘lanmasa: tashqi qon ketish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Aktiv va passiv go‘dak o‘ldirish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265, 266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o‘tkazish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Tashqi tekshiruvda yo‘rgak va kiyim ko‘riladi; uzunlik, vazn, bosh, ko‘krak va yelka aylanasi o‘lchanadi, qon izi, mo‘msimon qoplama, tug‘ruq shishi, mekoniy va nuqsonlarga e’tibor beriladi.</a:t>
            </a:r>
          </a:p>
          <a:p>
            <a:pPr>
              <a:spcAft>
                <a:spcPts val="1200"/>
              </a:spcAft>
            </a:pPr>
            <a:r>
              <a:rPr sz="2000">
                <a:solidFill>
                  <a:srgbClr val="1F2937"/>
                </a:solidFill>
                <a:latin typeface="Calibri"/>
              </a:rPr>
              <a:t>▸  Ichki tekshiruv ko‘krak va qorin bo‘shlig‘idan boshlanadi; og‘iz bo‘shlig‘ida o‘rta kesma iyakdan emas, pastki labdan boshlanadi, kindik tomirlari butunligi saqlanadi.</a:t>
            </a:r>
          </a:p>
          <a:p>
            <a:pPr>
              <a:spcAft>
                <a:spcPts val="1200"/>
              </a:spcAft>
            </a:pPr>
            <a:r>
              <a:rPr sz="2000">
                <a:solidFill>
                  <a:srgbClr val="1F2937"/>
                </a:solidFill>
                <a:latin typeface="Calibri"/>
              </a:rPr>
              <a:t>▸  Kalla bo‘shlig‘ida o‘roqsimon o‘simta, sinuslar va miyacha chodiri butun qolishi uchun suyaklar qaychi bilan kesilib, kalla gumbazida darchalar ochiladi.</a:t>
            </a:r>
          </a:p>
          <a:p>
            <a:pPr>
              <a:spcAft>
                <a:spcPts val="1200"/>
              </a:spcAft>
            </a:pPr>
            <a:r>
              <a:rPr sz="2000">
                <a:solidFill>
                  <a:srgbClr val="1F2937"/>
                </a:solidFill>
                <a:latin typeface="Calibri"/>
              </a:rPr>
              <a:t>▸  Tirik tug‘ilganlik uchun o‘pka va oshqozon-ichak suzish sinamalari qilinadi; oxirida gistologik va qon guruhi (sud-biologik) uchun yo‘ldosh va kindikdan ham bo‘lakchalar olinadi.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266, 266-267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Absolyut (mutloq ishonchli) belgilar: o‘pkaning birlamchi atelektazi, demarkatsion halqaning yo‘qligi yoki dastlabki belgilari, tana va yo‘ldoshdan ajratilmagan kindik.</a:t>
            </a:r>
          </a:p>
          <a:p>
            <a:pPr>
              <a:spcAft>
                <a:spcPts val="1200"/>
              </a:spcAft>
            </a:pPr>
            <a:r>
              <a:rPr sz="2000">
                <a:solidFill>
                  <a:srgbClr val="1F2937"/>
                </a:solidFill>
                <a:latin typeface="Calibri"/>
              </a:rPr>
              <a:t>▸  Sud tibbiyotida yangi tug‘ilganlik dastlabki 24 soat. Tirik tug‘ilganlik asosan go‘dak nafas olgan yoki olmaganligi orqali hal etiladi.</a:t>
            </a:r>
          </a:p>
          <a:p>
            <a:pPr>
              <a:spcAft>
                <a:spcPts val="1200"/>
              </a:spcAft>
            </a:pPr>
            <a:r>
              <a:rPr sz="2000">
                <a:solidFill>
                  <a:srgbClr val="1F2937"/>
                </a:solidFill>
                <a:latin typeface="Calibri"/>
              </a:rPr>
              <a:t>▸  Rasolik: 37-42 haftada tug‘ilish, uzunlik 50-54 sm, vazn 3000-3500 g. Uzunligi 25 sm dan, vazni 500 g dan kam go‘dak hayotga layoqatsiz.</a:t>
            </a:r>
          </a:p>
          <a:p>
            <a:pPr>
              <a:spcAft>
                <a:spcPts val="1200"/>
              </a:spcAft>
            </a:pPr>
            <a:r>
              <a:rPr sz="2000">
                <a:solidFill>
                  <a:srgbClr val="1F2937"/>
                </a:solidFill>
                <a:latin typeface="Calibri"/>
              </a:rPr>
              <a:t>▸  Nazorat: ekspertiza savollari qanday? Yangi tug‘ilganlik farqi nima? Absolyut belgilar qaysilar? Soxta musbat o‘pka sinamasi va ikkilamchi atelektazda sinama qanday o‘tkaziladi?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259, 256, 259, 261-263, 267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Yangi tug‘ilganlik muddati fanlarda har xil. Pediatriyada u 4 hafta (neonatal davr), akusherlikda 7 kun, sud tibbiyotida esa dastlabki 24 soat. Sababi qonunchilikda: O‘zbekiston Respublikasi Jinoyat kodeksining 99-moddasi onaning tug‘ish vaqtida yoki tug‘ilishi hamon go‘dagini qasddan o‘ldirishini alohida ajratadi, jazosi qasddan odam o‘ldirishdan ancha yengil. Eslab qolish: sud tibbiyoti = 1 sutka.</a:t>
            </a:r>
          </a:p>
          <a:p>
            <a:pPr>
              <a:spcAft>
                <a:spcPts val="1200"/>
              </a:spcAft>
            </a:pPr>
            <a:r>
              <a:rPr sz="1800">
                <a:solidFill>
                  <a:srgbClr val="1F2937"/>
                </a:solidFill>
                <a:latin typeface="Calibri"/>
              </a:rPr>
              <a:t>▸  Eslab qolish usuli: yangi tug‘ilganlikning mutlaq ishonchli (absolyut) belgilari uchta. Birinchisi: o‘pkaning birlamchi atelektazi. Ikkinchisi: kindikda demarkatsion halqaning yo‘qligi yoki uning dastlabki belgilari. Uchinchisi: tana va yo‘ldoshdan ajratilmagan kindik. Qolgan belgilar (mo‘msimon qoplama, tug‘ruq shishi, mekoniy va b.) nisbiy, ular 2-kunda va keyin ham topilishi mumkin.</a:t>
            </a:r>
          </a:p>
          <a:p>
            <a:pPr>
              <a:spcAft>
                <a:spcPts val="1200"/>
              </a:spcAft>
            </a:pPr>
            <a:r>
              <a:rPr sz="1800">
                <a:solidFill>
                  <a:srgbClr val="1F2937"/>
                </a:solidFill>
                <a:latin typeface="Calibri"/>
              </a:rPr>
              <a:t>▸  Gaaze formulasi bilan hisoblash. Homiladorlikning birinchi yarmida tana uzunligidan kvadrat ildiz olinadi, ikkinchi yarmida uzunlik 5 ga bo‘linadi. Masalan, 16 sm uzunlikda gestatsion yosh 4 homila oyi, 40 sm uzunlikda 8 homila oyi. Baltazar-Derve usulida uzunlik 5,6 ga ko‘paytirilsa, yosh kunlarda chiqadi: 40 sm uchun 224 kun. Bu mashq talabalar uchun qulay.</a:t>
            </a:r>
          </a:p>
          <a:p>
            <a:pPr>
              <a:spcAft>
                <a:spcPts val="1200"/>
              </a:spcAft>
            </a:pPr>
            <a:r>
              <a:rPr sz="1800">
                <a:solidFill>
                  <a:srgbClr val="1F2937"/>
                </a:solidFill>
                <a:latin typeface="Calibri"/>
              </a:rPr>
              <a:t>▸  O‘pka sinamasi tarixi va tuzoqlari. Uni sud-tibbiy amaliyotda birinchi marta 1681 yilda I. Shreer qo‘llagan. Chirish gazlari, sun’iy nafas oldirish yoki muzlatish soxta musbat natija berishi mumkin. Ikkilamchi atelektazda esa soxta manfiy natija chiqadi. Shunda Taranuxin usuli (1907) yoki Traxtenberg modifikatsiyasi (1958) qo‘llanadi: past bosimda o‘pka bo‘lakchasi suv yuziga qalqib chiqadi.</a:t>
            </a:r>
          </a:p>
          <a:p>
            <a:pPr>
              <a:spcAft>
                <a:spcPts val="1200"/>
              </a:spcAft>
            </a:pPr>
            <a:r>
              <a:rPr sz="1800">
                <a:solidFill>
                  <a:srgbClr val="1F2937"/>
                </a:solidFill>
                <a:latin typeface="Calibri"/>
              </a:rPr>
              <a:t>▸  Go‘dak necha soat yashaganini havo “yo‘li” ko‘rsatadi. Havo faqat oshqozonda bo‘lsa, go‘dak 3 soatdan kam yashagan. 5-6 soatga kelib havo ingichka ichakni to‘ldiradi, 6 soatdan keyin yo‘g‘on ichakka o‘tadi. Gialin membranalari uchun kamida 1-2 soat yashash kerak, ikkilamchi atelektaz kamida 5-6 soatdan so‘ng rivojlanadi. Bu muddatlar taxminiy, shuning uchun belgilar jamlab baholanadi.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Daladan onasi noma’lum chaqaloq murdasi topildi. Sud-tibbiy ekspertiza qaysi asosda tayinlanadi?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ona yozma ariza bergandagina tayinlanadi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go‘dak shifoxonada tug‘ilganda tayinlanadi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tanada aniq jarohat ko‘ringanda tayinlanadi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Onasi noma’lum go‘dak murdasi topilganda tayinlanadi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Sud tibbiyotida “yangi tug‘ilganlik” davri qancha vaqtni tashkil 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Tug‘ruqdan keyingi birinchi 7 kunni tashkil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Tug‘ruqdan keyingi dastlabki 24 soatni tashkil 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Tug‘ruqdan keyingi to‘rt haftani tashkil 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Tug‘ruqdan keyingi birinchi 48 soatni tashkil etadi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Ona tug‘ish vaqtida o‘z go‘dagini qasddan o‘ldirdi. Bu O‘zbekiston JKning qaysi moddasi bilan alohida ajratilgan?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Jinoyat emas, chunki go‘dak yangi tug‘ilgan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JK 97-moddasi: qasddan odam o‘ldirish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JK 99-moddasi: onaning go‘dak o‘ldirishi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ma’muriy javobgarlik belgilanadi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Yuvilmagan chaqaloq tanasida tashqi jarohatlarsiz qon izlari topildi. Bu belgi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Yangi tug‘ilganlik belgisi sifatida baholanadi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Zo‘raki o‘limning ishonchli isboti sifatida baholanadi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chirishi boshlanganining belgisi sifatida baholanadi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Go‘dakka qarov bo‘lganining belgisi sifatida baholanadi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Quyidagilardan qaysi biri chaqaloq murdasi ekspertizasiga xos maxsus savol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Go‘dak hayotga layoqatlimi degan savol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Go‘dakning otasi kimligi aniqlanganmi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Ona qaysi muassasada ishlaydi degan savol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Tug‘ruq uyi qachon qurilgan degan savol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Chaqaloq tug‘ilgach yuvilmagan. Ekspert uning qo‘ltiq osti va teri burmalarida oqimtir-kulrang, yarim quyuq massani topdi. Bu mo‘msimon qoplama tanada qancha muddat saqlanishi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tug‘ilgandan keyingi birinchi 24 soat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 haftagacha saqlanishi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 haftagacha saqlanishi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Tug‘ilgach darhol butunlay yo‘qoladi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Tug‘ruq shishi odatda qancha vaqt ichida so‘rilib ketadi?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5-7 kun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 haftagacha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 hafta va undan ko‘p</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2-3 kun ichida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Yangi tug‘ilgan go‘dakning boshida shish bor. U faqat bitta suyak proeksiyasida joylashgan va suyaklararo choklar bilan chegaralangan. Bu qaysi holatga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Kefalogematomaga xos belgi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Tug‘ruq shishiga xos belgi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Mo‘msimon qoplamaga xos belgi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Demarkatsion halqaga xos belgi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Noraso tug‘ilgan go‘dak murdasining ichagida hali mekoniy qolgan. Bunday go‘dakda mekoniy ichakdan to‘liq chiqishi qancha vaqtgacha cho‘ziladi?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sutka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kun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3-4 kungacha davom 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Bir haftadan keyin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Ekspertizada go‘dakning kindigi tana va yo‘ldoshdan ajratilmagani aniqlandi. Bu belgi yangi tug‘ilganlik uchun qanday xarakterga ega?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Nisbiy, ikkinchi kunda ham uchraydi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Taxminiy, boshqa belgilarsiz hisobga olinmaydi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Absolyut, mutloq ishonchli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noraso go‘dakka xos belgi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Chirigan chaqaloq murdasida o‘pka bo‘lakchalari suv yuzasiga qalqib chiqdi. Chirish gazini nafasdan qaysi usulda ajratiladi?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Bo‘lakchalar muzlatilib, qaytadan suvga solinadi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Bo‘lakchalar rentgen nurida tekshirib ko‘riladi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Bo‘lakchalar suv ostida qo‘l bilan siqib ko‘riladi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Bo‘lakchalar past bosimli kolbaga solib qo‘yiladi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O‘pka avval nafas olgan, keyin ikkilamchi atelektazga uchragan. Odatdagi sinama manfiy chiqdi. Qaysi usul tavsiya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Taranuxin usuli yoki uning Traxtenberg modifikatsiyasi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Breslau sinamasi, ya’ni oshqozon-ichakni suvga solish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Dillon rentgenologik sinamasi, murdani ochishdan oldin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Shreer sinamasini o‘sha usulda yana bir bor takrorlash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Chaqaloq murdasida havo faqat oshqozonda topildi, ichaklarda yo‘q. Go‘dak ona organizmidan tashqarida qancha yashagan?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6 soatdan ko‘proq, havo yo‘g‘on ichakka o‘tgan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5–6 soat, havo ingichka ichakni to‘ldirgan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1–2 kun, mekoniy to‘liq chiqib ketgan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 soatdan kam, havo hali ichakka o‘tib ulgurmagan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Quyidagilardan qaysi biri nafas olgan o‘pkaga xos makroskopik belgi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Yuzasi tekis va bir xil ko‘kimtir-to‘q qizil rangda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Yuzasi marmarsimon, qisilganda ko‘pikli qon ajraladi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Diafragma gumbazi IV–V qobirg‘alar sathida turadi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Hajmi kichik, zich bo‘lib, umurtqa yaqinida turadi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Sud-tibbiy ekspertizada tirik tug‘ilganlik masalasi asosan nimani aniqlash orqali hal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O‘limdan keyin yurak urishi bo‘lganligini aniqlash orqali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O‘limdan keyin kindik pulsatsiyasini aniqlash orqali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Go‘dak nafas olgan yoki olmaganligini aniqlash orqali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O‘limdan keyin ixtiyoriy harakatlarni aniqlash orqali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Homilaning ikkinchi yarmida tug‘ilgan go‘dakning tana uzunligi 45 sm. Gaaze formulasi bo‘yicha gestatsion yosh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 homila oyi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Tirik tug‘ilgan go‘dakning tana uzunligi 24 sm, vazni 480 g. Jahon sog‘liqni saqlash tashkiloti mezoniga ko‘ra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O‘ta norasolik tufayli hayotga layoqatsiz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Rasoligi tufayli hayotga layoqatli deb topiladi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Yetuk bo‘lgani uchun layoqatli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ichki nuqson topilsagina layoqatsiz bo‘ladi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Chaqaloq murdasini tekshirishda havo faqat oshqozonda topildi, ichaklarda yo‘q. Go‘dak qancha yashagan?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bir sutka yashagan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5-6 soat yashagan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 soatdan ko‘proq yashagan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 soatdan kam yashagan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Tergovchi go‘dakka tug‘ilgandan keyin qarov bo‘lganmi, deb so‘radi. Qaysi topilma qarov bo‘lganini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Teri burmalarida mo‘msimon qoplamaning saqlanishi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Kindigi kesilib boylangani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Yo‘g‘on ichakda mekoniyning topilishi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 sohasida tug‘ruq shishining bo‘lishi</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83</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Yangi tug‘ilgan go‘dak qarovsiz qoldirilgan, kindigi boylanmagan va tashqi qon ketishdan o‘lgan. Bu qaysi holatga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Qo‘l bilan bo‘g‘ish orqali aktiv go‘dak o‘ldirish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Antenatal davrda nozo‘raki o‘lim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Tug‘ruq travmasidan intranatal o‘lim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Passiv go‘dak o‘ldirish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Onasi noma’lum go‘dak murdasi topilganda tayinlanadi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Ekspertiza zo‘raki o‘lim alomatlari yoki shubha bo‘lgan holatlarda o‘tkaziladi. Onasi noma’lum go‘dak murdasi topilishi shu holatlardan biridir. Ariza, shifoxonada tug‘ilish yoki jarohat ko‘rinishi shart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256-bet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Tug‘ruqdan keyingi dastlabki 24 soatni tashkil etadi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Sud tibbiyotida bu davr dastlabki 24 soat. Pediatriyada u to‘rt hafta (neonatal davr), akusherlik-ginekologiyada esa etti kun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256-bet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JK 99-moddasi: onaning go‘dak o‘ldirishi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Onaning go‘dagini tug‘ish vaqtida yoki tug‘ilishi hamon qasddan o‘ldirishi 99-moddada alohida ajratilgan, jazosi esa ancha yengil. Agar buni boshqa shaxs qilsa, 97-modda qo‘llaniladi.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256-bet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Yangi tug‘ilganlik belgisi sifatida baholanadi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Tashqi jarohat bo‘lmasa, qon izlari tug‘ruq yo‘llari yumshoq to‘qimalari yorilishidan hosil bo‘ladi va yangi tug‘ilganlik belgisi hisoblanadi. Tana yuvilsa ular yo‘qoladi; qon izlaridan tozalanganlik esa qarov belgisidir.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Go‘dak hayotga layoqatlimi degan savol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Maxsus savollar qatorida go‘dak yangi tug‘ilganmi, tirik tug‘ilganmi, gestatsion yoshi, hayotga layoqati, qancha yashagani va qarov bo‘lgan-bo‘lmagani bor. Boshqa variantlar ekspertiza savollari ro‘yxatida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256-bet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Bir haftagacha saqlanishi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Mo‘msimon qoplama ayniqsa teri burmalarida, qo‘ltiq osti va oraliq sohalarida ko‘proq bo‘ladi va uzoqroq saqlanadi. Go‘dak tanasi yuvilmasa, u bir haftagacha turishi mumkin. Shuning uchun uning borligi yangi tug‘ilganlikning nisbiy belgisi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2-3 kun ichida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Tug‘ruq shishi yumshoq to‘qimalarning shishi bo‘lib, odatda 2-3 kun davomida so‘riladi. Kesib ko‘rilganda u qizgish-sarg‘ish rangda bo‘ladi, chunki to‘qimaga qon aralash seroz suyuqlik singadi. 2 hafta va undan ortiq muddatda so‘riladigan jarayon kefalogematomaga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Kefalogematomaga xos belgi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Kefalogematomada qon kalla suyagining suyak usti pardasi ostiga quyiladi. Shish bir yoki bir necha suyak proeksiyasida bo‘ladi va suyaklararo choklar bilan chegaralanadi. Tug‘ruq shishi esa suyaklararo choklar proeksiyasida ham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3-4 kungacha davom etadi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Odatda mekoniy tug‘ruqdan keyin 1-2 kun ichida ichakdan to‘liq chiqariladi. Noraso tug‘ilgan go‘daklarda bu muddat uzoqroq, ya’ni 3-4 kungacha bo‘ladi. Shuning uchun mekoniyning topilishi yangi tug‘ilganlikning nisbiy belgisi sanaladi.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Absolyut, mutloq ishonchli hisoblanadi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Faqat o‘pkaning birlamchi atelektazi, kindikda demarkatsion halqaning yo‘qligi yoki uning dastlabki belgilari va kindikning ajratilmaganligi absolyut belgilar sanaladi. Qolgan belgilar nisbiy bo‘lib, go‘dak hayotining ikkinchi va keyingi kunlarida ham uchrashi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259-bet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Bo‘lakchalar suv ostida qo‘l bilan siqib ko‘riladi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Chirish gazi hisobiga qalqib chiqqan bo‘lakchalar suv ostida yaxshi siqilganda yuzaga qayta suzib chiqmaydi. Nafas olgan o‘pkada bunday bo‘lmaydi. Shu usul soxta musbat natijani aniqlashga yordam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259-bet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Taranuxin usuli yoki uning Traxtenberg modifikatsiyasi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Ikkilamchi atelektazda o‘pka sinamasi soxta manfiy bo‘lishi mumkin. Bunda o‘pka bo‘lakchasi suvli kolbaga solinib, havo tortib olinadi va past bosim hosil qilinadi. Bo‘lakcha past bosimda suv yuziga qalqib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259-bet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3 soatdan kam, havo hali ichakka o‘tib ulgurmagan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Havo faqat oshqozonda bo‘lsa, go‘dak 3 soatdan kam yashagan. 5–6 soatda havo ingichka ichakni to‘ldiradi, 6 soatdan keyin yo‘g‘on ichakka o‘tadi. Bu muddatlar taxminiydir.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Yuzasi marmarsimon, qisilganda ko‘pikli qon ajraladi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Nafas olgan o‘pka ko‘krak qafasini deyarli to‘ldiradi, yuzasi marmarsimon (Bush-Xaberda belgisi) bo‘ladi. Qisilganda kesmadan ko‘pik aralash qon ajraladi. Qolgan variantlar o‘lik tug‘ilgan go‘dakka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Go‘dak nafas olgan yoki olmaganligini aniqlash orqali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JSST mezonlari: nafas olish, yurak urishi, kindik pulsatsiyasi, ixtiyoriy harakat. Lekin o‘limdan keyin yurak urishi, pulsatsiya va harakatni aniqlash usullari ishlab chiqilmagan. Shuning uchun asosan nafas olganlik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259-bet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9 homila oyi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Gaaze formulasida homiladorlikning ikkinchi yarmida tana uzunligi beshga bo‘linadi: 45 : 5 = 9 homila oyi. Birinchi yarmida kvadrat ildiz chiqariladi, bu holatda u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O‘ta norasolik tufayli hayotga layoqatsiz</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Uzunligi 25 sm dan, vazni 500 g dan kam go‘daklar o‘ta norasolik tufayli hayotga layoqatsiz hisoblanadi. Bunday holatda murda ochilmaydi, faqat tashqi tekshiruv o‘tkaziladi.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3 soatdan kam yashagan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Havo faqat oshqozonda bo‘lsa, go‘dak 3 soatdan kam yashagan. 5-6 soatda havo ingichka ichakni to‘ldiradi, 6 soatdan keyin yo‘g‘on ichakka o‘tadi. Muddatlar taxminiy.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264-bet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81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Kindigi kesilib boylangani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Qarovdan kindikning kesilib boylangani, yo‘rgaklanganlik, kiyim-bosh, tananing tozalanganligi va oshqozonda sut topilishi dalolat beradi. Mo‘msimon qoplama, mekoniy va tug‘ruq shishi qarovni isbotlamaydi.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264-bet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82 / 83</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Passiv go‘dak o‘ldirish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Passiv go‘dak o‘ldirishda go‘dak qarovsiz qoldiriladi. Kindik boylanmaganda o‘lim tashqi qon ketishdan, boshqa hollarda sovuq qotish yoki ochlikdan sodir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265-bet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ekspertizasi. Go‘dak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83 / 83</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10. Homila va yangi tug'ilgan go'daklar murdasi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