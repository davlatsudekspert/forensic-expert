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tirik shaxslar ekspertizasi eng ko‘p uchraydi, pediatr uni qayerda uchratishi mumkin? 2) Ekspert xulosasida qaysi 5 masala yoritiladi? Doskada: mashg‘ulot rejasining 3 qismini (tashkiliy tartib, huquqiy tasnif, tibbiy mezonlar) yozing. Tipik xato: talabalar sud-tibbiy ekspertizani faqat murda ko‘rigi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Jinsiy holat va jinsiy jinoyat ekspertizasi qanday farqlanadi? 2) Simulyasiya va aggravatsiya nimasi bilan farq qiladi? Doskada: jadvaldagi 4 turni ro‘yxat qilib, har biriga bittadan misol yozdiring. Tipik xato: bokiralikni aniqlashni jinsiy jinoyat ekspertizasi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Ekspertiza nega ba’zan davolash muassasasida o‘tkaziladi? 2) Bemor ko‘rigida qaysi shaxslar qatnashadi? Doskada: ekspertiza o‘tkaziladigan joylarning sxemasini (ambulatoriya, bo‘limlar, davolash muassasasi) chizdiring. Tipik xato: ekspertiza faqat shifoxonada o‘tkaziladi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jarohat yetkazilish muddatini aniqlash muhim? 2) Mexanizm va qurol turi bir xil tushunchami? Doskada besh masalali zanjirni talabalar bilan birga chizing. Tipik xato: og‘irlik darajasini tasniflovchi belgisiz, faqat so‘z bilan yozish.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Avval javobni yopib, talabalardan og‘zaki so‘rang. Muhokama: nima uchun «og‘ir» deyish yetarli emas, belgi ham keltiriladi? Doskada beshta masalani ro‘yxat qilib yozdiring. Tipik xato: jarohat quroli bilan hosil bo‘lish mexanizmini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Sog‘liq buzilishi 22 kun bo‘lsa, qaysi daraja? 2) Nima uchun klinik og‘irlik va sud-tibbiy daraja farq qilishi mumkin? Doskada jadvalni ko‘chirtiring. Tipik xato: o‘rtacha og‘ir uchun «21 kun va undan ortiq» deb yozish; to‘g‘risi — 21 kundan ortiq.</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klinik og‘irlik bilan sud-tibbiy og‘irlik bir xil emas? 2) Hayot uchun xavf belgisi qaysi jarohatlarda uchraydi? Doskada: 104-moddaning 6 ta tasniflovchi belgisini ro‘yxat qilib chizing. Tipik xato: talaba “jarohatni davolab yuborilsa, og‘ir emas” deb o‘ylaydi; aslida tibbiy yordam hisobga olinmaydi.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Davolanish muddati va sog‘liq buzilish davomiyligi nega aynan bir narsa emas? 2) Kech murojaat qilish baholashga ta’sir qiladimi? Doskada: 6 kun, 21 kun, 10% va 33% chegaralarini sonlar o‘qida belgilang. Tipik xato: 21 kunning o‘zi o‘rtacha og‘ir deb o‘ylash; “21 kundan ortiq”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6 kun chegarasi nega muhim? 2) Yengil va o‘rtacha og‘ir jarohat farqi nimada? Doskada: jadvalni talabalar bilan birga to‘ldiring. Tipik xato: “yengil” hamma yengil jarohatni anglatadi deb o‘ylash; aslida ikki tur bor.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davolanish muddati va sog‘liq buzilishi davomiyligi aynan bir narsa emas? 2) Murojaat qilmaslik buzilish holatini istisno qiladimi? Doskaga chizish: 6 kun va 21 kun chegaralari bilan sodda vaqt o‘qi. Tipik xato: davolanish kunlarini ongsiz ravishda sog‘liq buzilishi kunlariga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mezonlar qonun bilan bog‘lanadi? 2) Talabalar ro‘yxatdan nechta mezonni xotiradan sanab bera oladi? Doskaga chizish: 7 ta mezonni ikki ustunga ajratib yozing (davomiylik/oqibat va a’zo/funksiya). Tipik xato: kasbiy mehnat qobiliyatini ham mezon deb o‘ylash (darslikda faqat umumiy mehnat qobiliyati olinadi).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Shifokor tarixida “og‘ir ahvol” yozilgan bo‘lsa, ekspert uni avtomatik og‘ir tan jarohati deydimi? 2) Nega buni bilish pediatr uchun muhim? Doskaga chizish: ikki ustunli solishtirish jadvalini talabalar o‘zlari to‘ldirsin. Tipik xato: klinik ahvol og‘irligini to‘g‘ridan-to‘g‘ri huquqiy daraja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yopiq jarohat ham hayot uchun xavfli bo‘lishi mumkin? 2) Qaysi jarohatlar jarrohlik yordamisiz o‘limga olib kelishi mumkin? Doskada: tananing 4 sohasi (bosh, bo‘yin-orqa miya, ko‘krak-qorin, yirik tomirlar) bo‘yicha ro‘yxat chizdiring. Tipik xato: tibbiy yordam xavfni bartaraf etdi deb jarohatni xavfli emas deb baholash. Kitobga ko‘ra, yordam ko‘rsatilishi (279-bet) baholashda inobatga olinmaydi.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chuqur kuyishda chegara past? 2) Kuyish yuzasi qanday aniqlanadi? Doskada: 3 qatorli jadvalni talabalar bilan to‘ldiring. Tipik xato: raqamlarni darajalarga noto‘g‘ri moslash (III-IV — 10%, III — 15%, II — 20%). Jadvalni yodlash uchun darajani yuzaga bog‘lab takrorlang.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shok va koma hayotga tahdid sanaladi? 2) Emboliya turlarini sanang (havo, gaz, yog‘, to‘qima, tromboemboliya). Doskada: jarohat → hayotga tahdid soluvchi holat → og‘ir tan jarohati zanjirini chizing. Tipik xato: tahdid va jarohat o‘rtasida bevosita bog‘liqlik shartini unutish; bu bog‘liq tasodifiy bo‘lmasligi kerak (279-bet).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tibbiy yordam jarohat og‘irligini kamaytirmaydi? 2) Sababiy bog‘liqlik nima uchun muhim? Doskada chizish: jarohat → hayotga tahdid → og‘ir tan jarohati zanjirini chizing. Tipik xato: talaba davolanish natijasida tahdid yo‘qolgan bo‘lsa, jarohatni yengilroq deb baholaydi.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savollarni og‘zaki bering, javobni slaydda keyin oching. Muhokama: yana qaysi jarohatlar hayot uchun xavfli sanaladi? Doskada chizish: 3 ta misolni ustun shaklida yozing. Tipik xato: yirik qon tomirlar va yopiq ichki a’zo jarohatlarini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Pianinochi barmog‘ini jarohatlasa, qaysi qobiliyat baholanadi? 2) Kasbiy qobiliyat qayerda ko‘riladi? Doskada chizish: ikki ustunli solishtirma jadvalni o‘zi chizsin. Tipik xato: kasbiy qobiliyat yo‘qotilishini og‘irlik mezoni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Vaqtincha va turg‘un yo‘qotilish nima bilan o‘lchanadi? 2) Nega kasbiy mehnat qobiliyati og‘irlik darajasiga ta’sir qilmaydi? Doskada: ikki ustunli sodda chizma (vaqtincha – kunlar; turg‘un – foiz). Tipik xato: kasbiy va umumiy mehnat qobiliyatini aralashtirish. Qo‘shimcha: sog‘liq buzilishi 120 kundan ortiq bo‘lsa, u shartli ravishda turg‘un yo‘qotilish hisoblanadi, 4 oydan keyin qobiliyat tiklanishi yoki pasayishi mumkin (G‘iyosov Z.A., 280-bet).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ayrim suyak sinishlari ro‘yxatda real oqibatga qaramay og‘ir deb olinadi? 2) Qachon mehnat ekspertizasi mutaxassisi kerak bo‘ladi? Doskada: 10% va 33% chegaralari bilan sonlar o‘qini chizing. Tipik xato: 33% dan kam bo‘lmagan qismni ‘33% dan kam’ deb noto‘g‘ri o‘qish. Ro‘yxatdagi qo‘shimcha jarohatlar: bilak suyaklarining sinishi-chiqishi, ikki va undan ortiq qo‘shni umurtqaning kompression sinishi.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Sog‘liq buzilishi davomiyligi bilan davolanish muddati qanday farqlanadi? 2) Shifokorga bormagan jabrlanuvchida buzilish davomiyligi qanday baholanadi? Doskada: 6 va 21 kun chegaralari bilan vaqt o‘qi. Tipik xato: kasalxonada yotgan kunlar sonini to‘g‘ridan-to‘g‘ri sog‘liq buzilishi davomiyligi deb olish. Davolovchi shifokorlar davolanish muddatlarining asoslanganligiga e’tibor berishi lozim.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davolanish muddati va buzilish davomiyligi bir xil emas? 2) Chegara kunlarda (6 va 21) qaysi daraja qo‘yiladi? Doskada: kun o‘qini chizib, 6, 21 va 120 kunlarni belgilang, har oraliqqa darajani yozing. Tipik xato: 21 kunning o‘zini o‘rtacha og‘ir deb olish; manbada 21 kundan ortiq bo‘lsa o‘rtacha og‘ir deyiladi.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omillar muddatni sun’iy cho‘zadi? 2) Murojaat qilmagan shaxsda sog‘liq buzilishi bo‘lishi mumkinmi? Doskada: ikki ustun chizing: ‘hisobga olinadi’ (jarohatning o‘zi keltirgan buzilish) va ‘olinmaydi’ (kasallik, kech murojaat, davo kamchiligi). Tipik xato: davolanish uzoq bo‘lsa, daraja ham albatta og‘ir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ko‘zning yo‘qotilishi og‘ir hisoblanadi? 2) Ko‘rmaydigan ko‘z olib tashlansa, qaysi mezon qo‘llanadi? Doskada: to‘rt qatorli jadvalni talabalar bilan to‘ldiring. Tipik xato: bir ko‘z yo‘qotilishini ikki ko‘z ko‘rligi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ikkala quloq karligi og‘ir, bir quloq esa o‘rtacha og‘ir? 2) Nasl qoldirish qobiliyati erkak va ayolda nimani qamraydi? Doskada: ‘ikkala quloq’ va ‘bir quloq’ ustunli ikki ustunli taqqoslash chizdiring. Tipik xato: bir quloq karligini ham og‘ir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daftarga yozib, so‘ng juftlikda tekshiradi. Muhokama: 1) Ko‘rish qobiliyati bo‘lmagan ko‘z yo‘qotilsa, qaysi mezon qo‘llanadi? 2) Ikkala ko‘z holatida nima o‘zgaradi? Doskada: ‘bir ko‘z – og‘ir; bir quloq – o‘rtacha og‘ir’ qisqa jadvalini chizdiring. Tipik xato: ko‘z va quloq mezonlarini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Ekspertiza jarayonida nimalar isbotlanishi kerak? 2) Nega homilaning oldingi kasalliklari bu mezonni bekor qiladi? Doskada: jarohat → homiladorlik uzilishi sabab-oqibat strelkasini chizdiring. Tipik xato: erta tug‘ruqdan tirik, hayotga layoqatli go‘dak tug‘ilganda ham shu mezonni qo‘llash.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komissiyaga psixiatr kiritiladi? Ruhiy buzilish travmadan emasligini istisno qilish uchun kim jalb qilinadi? Doskada chizish: «jarohat → ruhiy buzilish» zanjiri va uning ustiga «sababiy bog‘liqlik» deb yozing. Tipik xato: ruhiy buzilish bor ekan, uni avtomatik ravishda og‘ir jarohat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«badburushlik» va «silliqlanmaydigan badburushlik» farqi nimada? Ekspert va sud vazifalari qanday taqsimlangan? Doskada chizish: ikki ustunli sxema (ekspert: silliqlanish xususiyati; sud: badburushlikni aniqlash). Tipik xato: ekspertning o‘zi badburushlik borligini hal qiladi deb o‘ylash. Bu sudning vakolati.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bir vaqtdagi jarohatlar majmui baholanadi, turli muddatdagilari esa alohida? Mezonlar to‘qnashsa, qaysi biri tanlanadi? Doskada chizish: jadvalni talabalar bilan birga to‘ldiring. Tipik xato: har bir jarohatni doim alohida baholash yoki yengil mezonni tanlash.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bemorning kasalligi jarohat og‘irligini oshirmaydi? 2) Qachon darajani aniqlab bo‘lmaydi? Doskada chizing: ikki ustunli ro‘yxat — «hisobga olinadi» (yangi jarohat va sababiy oqibat) va «hisobga olinmaydi» (kasallik, kech murojaat, davo nuqsoni). Tipik xato: talabalar klinik og‘irlikni sud-tibbiy og‘irlik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Sababiy bog‘liqlik bo‘lmasa nima bo‘ladi? 2) Davolovchi vrach hujjatlarni nega xolis yozishi kerak? Doskada chizing: «jarohat → oqibat» sababiy zanjiri va unga aloqasiz omillar (kasallik, kech murojaat). Tipik xato: bemor ahvoli og‘irlashganini avtomatik «og‘ir jarohat» deb baholash. Vaziyat manbadagi qoidalar asosida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qonun emas, bir nechta kodeks va qonun qo‘llaniladi? 2) Metodika nimaga qarab o‘zgaradi? Doskada chizing: markazda «ekspertiza», atrofida kodekslar, qonunlar va Yo‘riqnoma. Tipik xato: talabalar faqat Jinoyat kodeksini asos deb hisoblaydi, fuqarolik va ma’muriy ishlarni unutadi.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hujjatlar ko‘rikdan oldin o‘rganiladi? 2) Qaysi bosqichda mutaxassis maslahati kerak bo‘ladi? Doskada: 6 bosqichni strelkalar bilan chizdiring. Tipik xato: talabalar so‘rovni ko‘rikdan keyin qo‘yadi yoki 5-bosqichni majburiy deb o‘ylaydi (u faqat zarurat hollarida o‘tkaziladi).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nusxa emas, asl nusxa talab qilinadi? 2) Pediatr shifokor kasallik tarixini yuritganda hujjatlarni xolisona to‘ldirishi nimaga muhim? Doskada: shaxsni tasdiqlash hujjatlari ro‘yxatini yozdiring. Tipik xato: ikkita fotosurat talabini barcha ekspertizalarga tatbiq etish; u faqat jinsiy holat va jinoyatlar bo‘yicha ekspertizalarga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So‘rovda qaysi 6 savol jarohat tafsilotini ochadi? 2) Qaysi holatda ko‘rikda ota-ona yoki pedagog bo‘lishi kerak? Doskada: jarohatni tavsiflash sxemasini (tur, joy, shakl, o‘lcham, rang, atrofi) chizdiring. Tipik xato: jarohatni rasmga olish uchun shaxsning ruxsati shart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o‘zga jinsli shaxs ko‘rigida tergovchi chiqib turadi? 2) Kasalxonadagi bemorni ko‘rishda kimlar ishtirok etadi? Doskada chizish: ko‘rikda ishtirokchilar jadvali (shaxs toifasi – kim qatnashadi). Tipik xato: kasalxonadagi bemor ko‘rigini uning ruxsatisiz va shifokorsiz o‘tkazish mumkin deb o‘ylash; shuningdek ko‘rik faktini kasallik tarixiga yozishni unutish.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Klinik og‘ir ahvol nega har doim ham og‘ir tan jarohati bo‘lmaydi? 2) Ekspertiza algoritmining qaysi bosqichi eng muhim va nega? Doskada chizish: 6 bosqichli algoritm zanjiri va yonida og‘irlik darajalarining muddat bo‘yicha chegaralari. Tipik xato: 6 va 21 kun chegaralarini chalkashtirish; klinik og‘irlikni sud-tibbiy og‘irlik bilan aynan deb hisoblash. Mustahkamlash: 3 ta og‘zaki savol bering.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Tirik shaxslarning sud-tibbiy ekspertizasi. Tirik shaxslar ekspertizalarining tashkiliy va protsessual xususiyatlari. Tan jarohatlarning og‘irlik darajasining huquqiy tasnifi va sud-tibbiy aniqlash mez</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mashg‘ulot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Tirik shaxslarning sud-tibbiy ekspertizasi amaliyotda eng ko‘p o‘tkaziladigan ekspertizalardan biri. U jinoiy, fuqarolik va ma’muriy ishlarda tayinlanadi.</a:t>
            </a:r>
          </a:p>
          <a:p>
            <a:pPr>
              <a:spcAft>
                <a:spcPts val="1200"/>
              </a:spcAft>
            </a:pPr>
            <a:r>
              <a:rPr sz="2000">
                <a:solidFill>
                  <a:srgbClr val="1F2937"/>
                </a:solidFill>
                <a:latin typeface="Calibri"/>
              </a:rPr>
              <a:t>▸  Tan jarohatlari bo‘yicha ekspertiza O‘zbekiston Respublikasi Jinoyat kodeksi va “Tan jarohatlarining og‘irlik darajasini sud-tibbiy aniqlash qoidalari”ga ko‘ra o‘tkaziladi.</a:t>
            </a:r>
          </a:p>
          <a:p>
            <a:pPr>
              <a:spcAft>
                <a:spcPts val="1200"/>
              </a:spcAft>
            </a:pPr>
            <a:r>
              <a:rPr sz="2000">
                <a:solidFill>
                  <a:srgbClr val="1F2937"/>
                </a:solidFill>
                <a:latin typeface="Calibri"/>
              </a:rPr>
              <a:t>▸  Ekspert xulosasida jarohatning turi, joylashuvi, quroli, vujudga kelish mexanizmi, yetkazilish muddati va og‘irlik darajasi qayd etiladi.</a:t>
            </a:r>
          </a:p>
          <a:p>
            <a:pPr>
              <a:spcAft>
                <a:spcPts val="1200"/>
              </a:spcAft>
            </a:pPr>
            <a:r>
              <a:rPr sz="2000">
                <a:solidFill>
                  <a:srgbClr val="1F2937"/>
                </a:solidFill>
                <a:latin typeface="Calibri"/>
              </a:rPr>
              <a:t>▸  Mashg‘ulotda ekspertizaning umumiy algoritmi o‘rganiladi: hodisa bilan tanishish, tibbiy hujjatlar, so‘rov, ko‘rik, qo‘shimcha tekshiruv va xulosa.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275, 275-276, 276, 299-300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shaxslar ekspertizasi qachon tayinlanadi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jinoiy, fuqarolik va ma’muriy ishlar bo‘yicha tayinlanadi.</a:t>
            </a:r>
          </a:p>
          <a:p>
            <a:pPr>
              <a:spcAft>
                <a:spcPts val="800"/>
              </a:spcAft>
            </a:pPr>
            <a:r>
              <a:rPr sz="1800">
                <a:solidFill>
                  <a:srgbClr val="1F2937"/>
                </a:solidFill>
                <a:latin typeface="Calibri"/>
              </a:rPr>
              <a:t>▸  Eng ko‘p ekspertiza tan jarohatlari yetkazilishi bilan bog‘liq bo‘ladi.</a:t>
            </a:r>
          </a:p>
          <a:p>
            <a:pPr>
              <a:spcAft>
                <a:spcPts val="800"/>
              </a:spcAft>
            </a:pPr>
            <a:r>
              <a:rPr sz="1800">
                <a:solidFill>
                  <a:srgbClr val="1F2937"/>
                </a:solidFill>
                <a:latin typeface="Calibri"/>
              </a:rPr>
              <a:t>▸  Diqqat: jinsiy holat ekspertizasi ≠ jinsiy jinoyat ekspertizasi; bular alohida turlar.</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Maqsad</a:t>
                      </a:r>
                    </a:p>
                  </a:txBody>
                  <a:tcPr marL="73152" marR="73152" marT="36576" marB="36576">
                    <a:solidFill>
                      <a:srgbClr val="0B1F3A"/>
                    </a:solidFill>
                  </a:tcPr>
                </a:tc>
              </a:tr>
              <a:tr h="411480">
                <a:tc>
                  <a:txBody>
                    <a:bodyPr/>
                    <a:lstStyle/>
                    <a:p>
                      <a:r>
                        <a:rPr sz="1300" b="0">
                          <a:solidFill>
                            <a:srgbClr val="1F2937"/>
                          </a:solidFill>
                        </a:rPr>
                        <a:t>Tan jarohatlari</a:t>
                      </a:r>
                    </a:p>
                  </a:txBody>
                  <a:tcPr marL="73152" marR="73152" marT="36576" marB="36576">
                    <a:solidFill>
                      <a:srgbClr val="E8EEF6"/>
                    </a:solidFill>
                  </a:tcPr>
                </a:tc>
                <a:tc>
                  <a:txBody>
                    <a:bodyPr/>
                    <a:lstStyle/>
                    <a:p>
                      <a:r>
                        <a:rPr sz="1300" b="0">
                          <a:solidFill>
                            <a:srgbClr val="1F2937"/>
                          </a:solidFill>
                        </a:rPr>
                        <a:t>Xarakteri va og‘irlik darajasi</a:t>
                      </a:r>
                    </a:p>
                  </a:txBody>
                  <a:tcPr marL="73152" marR="73152" marT="36576" marB="36576">
                    <a:solidFill>
                      <a:srgbClr val="E8EEF6"/>
                    </a:solidFill>
                  </a:tcPr>
                </a:tc>
              </a:tr>
              <a:tr h="411480">
                <a:tc>
                  <a:txBody>
                    <a:bodyPr/>
                    <a:lstStyle/>
                    <a:p>
                      <a:r>
                        <a:rPr sz="1300" b="0">
                          <a:solidFill>
                            <a:srgbClr val="1F2937"/>
                          </a:solidFill>
                        </a:rPr>
                        <a:t>Jinsiy holatlar</a:t>
                      </a:r>
                    </a:p>
                  </a:txBody>
                  <a:tcPr marL="73152" marR="73152" marT="36576" marB="36576">
                    <a:solidFill>
                      <a:srgbClr val="FFFFFF"/>
                    </a:solidFill>
                  </a:tcPr>
                </a:tc>
                <a:tc>
                  <a:txBody>
                    <a:bodyPr/>
                    <a:lstStyle/>
                    <a:p>
                      <a:r>
                        <a:rPr sz="1300" b="0">
                          <a:solidFill>
                            <a:srgbClr val="1F2937"/>
                          </a:solidFill>
                        </a:rPr>
                        <a:t>Jins, bokiralik, homiladorlik, tug‘ruq, abort</a:t>
                      </a:r>
                    </a:p>
                  </a:txBody>
                  <a:tcPr marL="73152" marR="73152" marT="36576" marB="36576">
                    <a:solidFill>
                      <a:srgbClr val="FFFFFF"/>
                    </a:solidFill>
                  </a:tcPr>
                </a:tc>
              </a:tr>
              <a:tr h="411480">
                <a:tc>
                  <a:txBody>
                    <a:bodyPr/>
                    <a:lstStyle/>
                    <a:p>
                      <a:r>
                        <a:rPr sz="1300" b="0">
                          <a:solidFill>
                            <a:srgbClr val="1F2937"/>
                          </a:solidFill>
                        </a:rPr>
                        <a:t>Jinsiy jinoyatlar</a:t>
                      </a:r>
                    </a:p>
                  </a:txBody>
                  <a:tcPr marL="73152" marR="73152" marT="36576" marB="36576">
                    <a:solidFill>
                      <a:srgbClr val="E8EEF6"/>
                    </a:solidFill>
                  </a:tcPr>
                </a:tc>
                <a:tc>
                  <a:txBody>
                    <a:bodyPr/>
                    <a:lstStyle/>
                    <a:p>
                      <a:r>
                        <a:rPr sz="1300" b="0">
                          <a:solidFill>
                            <a:srgbClr val="1F2937"/>
                          </a:solidFill>
                        </a:rPr>
                        <a:t>Zo‘rlash, besoqolbozlik, fahsh harakatlari</a:t>
                      </a:r>
                    </a:p>
                  </a:txBody>
                  <a:tcPr marL="73152" marR="73152" marT="36576" marB="36576">
                    <a:solidFill>
                      <a:srgbClr val="E8EEF6"/>
                    </a:solidFill>
                  </a:tcPr>
                </a:tc>
              </a:tr>
              <a:tr h="411480">
                <a:tc>
                  <a:txBody>
                    <a:bodyPr/>
                    <a:lstStyle/>
                    <a:p>
                      <a:r>
                        <a:rPr sz="1300" b="0">
                          <a:solidFill>
                            <a:srgbClr val="1F2937"/>
                          </a:solidFill>
                        </a:rPr>
                        <a:t>Salomatlik, yosh</a:t>
                      </a:r>
                    </a:p>
                  </a:txBody>
                  <a:tcPr marL="73152" marR="73152" marT="36576" marB="36576">
                    <a:solidFill>
                      <a:srgbClr val="FFFFFF"/>
                    </a:solidFill>
                  </a:tcPr>
                </a:tc>
                <a:tc>
                  <a:txBody>
                    <a:bodyPr/>
                    <a:lstStyle/>
                    <a:p>
                      <a:r>
                        <a:rPr sz="1300" b="0">
                          <a:solidFill>
                            <a:srgbClr val="1F2937"/>
                          </a:solidFill>
                        </a:rPr>
                        <a:t>Simulyasiya, a’zobuzarlik, yoshni aniqlash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275, 275-276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joylar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ekspertizalar sud-tibbiy ekspertiza muassasalarining ambulatoriyasida o‘tkaziladi.</a:t>
            </a:r>
          </a:p>
          <a:p>
            <a:pPr>
              <a:spcAft>
                <a:spcPts val="1200"/>
              </a:spcAft>
            </a:pPr>
            <a:r>
              <a:rPr sz="2200">
                <a:solidFill>
                  <a:srgbClr val="1F2937"/>
                </a:solidFill>
                <a:latin typeface="Calibri"/>
              </a:rPr>
              <a:t>▸  Ular tuman, shahar va tumanlararo bo‘limlarda ham o‘tkaziladi.</a:t>
            </a:r>
          </a:p>
          <a:p>
            <a:pPr>
              <a:spcAft>
                <a:spcPts val="1200"/>
              </a:spcAft>
            </a:pPr>
            <a:r>
              <a:rPr sz="2200">
                <a:solidFill>
                  <a:srgbClr val="1F2937"/>
                </a:solidFill>
                <a:latin typeface="Calibri"/>
              </a:rPr>
              <a:t>▸  Ayrim holatlarda zarur sharoit bo‘lgan davolash muassasalarida va boshqa joylarda ham o‘tkazish mumkin.</a:t>
            </a:r>
          </a:p>
          <a:p>
            <a:pPr>
              <a:spcAft>
                <a:spcPts val="1200"/>
              </a:spcAft>
            </a:pPr>
            <a:r>
              <a:rPr sz="2200">
                <a:solidFill>
                  <a:srgbClr val="1F2937"/>
                </a:solidFill>
                <a:latin typeface="Calibri"/>
              </a:rPr>
              <a:t>▸  Davolanayotgan bemorni ko‘rish faqat uning sog‘lig‘i imkon bergandagina mumkin. Ko‘rik haqida kasallik tarixiga yoziladi.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275, 301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jarohatlari ekspertizasida hal etiladigan masalalar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muassasalarda eng ko‘p o‘tkaziladigan ekspertiza tan jarohatlari bilan bog‘liq ekspertizadir.</a:t>
            </a:r>
          </a:p>
          <a:p>
            <a:pPr>
              <a:spcAft>
                <a:spcPts val="800"/>
              </a:spcAft>
            </a:pPr>
            <a:r>
              <a:rPr sz="1800">
                <a:solidFill>
                  <a:srgbClr val="1F2937"/>
                </a:solidFill>
                <a:latin typeface="Calibri"/>
              </a:rPr>
              <a:t>▸  U Jinoyat kodeksi va og‘irlik darajasini sud-tibbiy aniqlash qoidalari asosida o‘tkaziladi.</a:t>
            </a:r>
          </a:p>
          <a:p>
            <a:pPr>
              <a:spcAft>
                <a:spcPts val="800"/>
              </a:spcAft>
            </a:pPr>
            <a:r>
              <a:rPr sz="1800">
                <a:solidFill>
                  <a:srgbClr val="1F2937"/>
                </a:solidFill>
                <a:latin typeface="Calibri"/>
              </a:rPr>
              <a:t>▸  Barcha masalalar bo‘yicha ma’lumotlar “Ekspert xulosasi”da qayd etilishi lozim.</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turi va joylashuvi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Qurol yoki vosita turi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Hosil bo‘lish mexanizmi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Yetkazilish muddati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Og‘irlik darajasi + belgi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hal etadigan masalalar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ekspertiza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tan jarohatlari ekspertizasida jarohat turi va joylashuvidan tashqari yana qaysi to‘rt masala hal etiladi?</a:t>
            </a:r>
          </a:p>
          <a:p>
            <a:pPr>
              <a:spcAft>
                <a:spcPts val="1200"/>
              </a:spcAft>
            </a:pPr>
            <a:r>
              <a:rPr sz="2200">
                <a:solidFill>
                  <a:srgbClr val="1F2937"/>
                </a:solidFill>
                <a:latin typeface="Calibri"/>
              </a:rPr>
              <a:t>▸  2-savol: og‘irlik darajasi ekspert xulosasida qanday ko‘rsatilishi kerak?</a:t>
            </a:r>
          </a:p>
          <a:p>
            <a:pPr>
              <a:spcAft>
                <a:spcPts val="1200"/>
              </a:spcAft>
            </a:pPr>
            <a:r>
              <a:rPr sz="2200">
                <a:solidFill>
                  <a:srgbClr val="1F2937"/>
                </a:solidFill>
                <a:latin typeface="Calibri"/>
              </a:rPr>
              <a:t>▸  3-savol: bu masalalar bo‘yicha ma’lumotlar qaysi hujjatda qayd etiladi?</a:t>
            </a:r>
          </a:p>
          <a:p>
            <a:pPr>
              <a:spcAft>
                <a:spcPts val="1200"/>
              </a:spcAft>
            </a:pPr>
            <a:r>
              <a:rPr sz="2200">
                <a:solidFill>
                  <a:srgbClr val="1F2937"/>
                </a:solidFill>
                <a:latin typeface="Calibri"/>
              </a:rPr>
              <a:t>▸  Javob: quroli, mexanizmi, muddati, og‘irlik darajasi; daraja tasniflovchi belgi bilan; hujjat — “Ekspert xulosasi”.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tasnif: uch daraja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Jinoyat kodeksida og‘ir, o‘rtacha og‘ir va yengil tan jarohatlari farqlanadi.</a:t>
            </a:r>
          </a:p>
          <a:p>
            <a:pPr>
              <a:spcAft>
                <a:spcPts val="800"/>
              </a:spcAft>
            </a:pPr>
            <a:r>
              <a:rPr sz="1800">
                <a:solidFill>
                  <a:srgbClr val="1F2937"/>
                </a:solidFill>
                <a:latin typeface="Calibri"/>
              </a:rPr>
              <a:t>▸  Yengil jarohat ikki turga bo‘linadi: oddiy va sog‘liqning qisqa muddatga buzilishiga olib kelgan.</a:t>
            </a:r>
          </a:p>
          <a:p>
            <a:pPr>
              <a:spcAft>
                <a:spcPts val="800"/>
              </a:spcAft>
            </a:pPr>
            <a:r>
              <a:rPr sz="1800">
                <a:solidFill>
                  <a:srgbClr val="1F2937"/>
                </a:solidFill>
                <a:latin typeface="Calibri"/>
              </a:rPr>
              <a:t>▸  Diqqat: sud-tibbiy baho bemorning klinik og‘irligi bilan bir xil emas, natijalar mos kelmasligi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01523"/>
                <a:gridCol w="2350211"/>
                <a:gridCol w="1436240"/>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Yo‘qotilish</a:t>
                      </a:r>
                    </a:p>
                  </a:txBody>
                  <a:tcPr marL="73152" marR="73152" marT="36576" marB="36576">
                    <a:solidFill>
                      <a:srgbClr val="0B1F3A"/>
                    </a:solidFill>
                  </a:tcPr>
                </a:tc>
              </a:tr>
              <a:tr h="411480">
                <a:tc>
                  <a:txBody>
                    <a:bodyPr/>
                    <a:lstStyle/>
                    <a:p>
                      <a:r>
                        <a:rPr sz="1200" b="0">
                          <a:solidFill>
                            <a:srgbClr val="1F2937"/>
                          </a:solidFill>
                        </a:rPr>
                        <a:t>Og‘ir</a:t>
                      </a:r>
                    </a:p>
                  </a:txBody>
                  <a:tcPr marL="73152" marR="73152" marT="36576" marB="36576">
                    <a:solidFill>
                      <a:srgbClr val="E8EEF6"/>
                    </a:solidFill>
                  </a:tcPr>
                </a:tc>
                <a:tc>
                  <a:txBody>
                    <a:bodyPr/>
                    <a:lstStyle/>
                    <a:p>
                      <a:r>
                        <a:rPr sz="1200" b="0">
                          <a:solidFill>
                            <a:srgbClr val="1F2937"/>
                          </a:solidFill>
                        </a:rPr>
                        <a:t>Asosiy belgi: hayot uchun xavf va b.</a:t>
                      </a:r>
                    </a:p>
                  </a:txBody>
                  <a:tcPr marL="73152" marR="73152" marT="36576" marB="36576">
                    <a:solidFill>
                      <a:srgbClr val="E8EEF6"/>
                    </a:solidFill>
                  </a:tcPr>
                </a:tc>
                <a:tc>
                  <a:txBody>
                    <a:bodyPr/>
                    <a:lstStyle/>
                    <a:p>
                      <a:r>
                        <a:rPr sz="1200" b="0">
                          <a:solidFill>
                            <a:srgbClr val="1F2937"/>
                          </a:solidFill>
                        </a:rPr>
                        <a:t>33% dan kam bo‘lmagan</a:t>
                      </a:r>
                    </a:p>
                  </a:txBody>
                  <a:tcPr marL="73152" marR="73152" marT="36576" marB="36576">
                    <a:solidFill>
                      <a:srgbClr val="E8EEF6"/>
                    </a:solidFill>
                  </a:tcPr>
                </a:tc>
              </a:tr>
              <a:tr h="411480">
                <a:tc>
                  <a:txBody>
                    <a:bodyPr/>
                    <a:lstStyle/>
                    <a:p>
                      <a:r>
                        <a:rPr sz="1200" b="0">
                          <a:solidFill>
                            <a:srgbClr val="1F2937"/>
                          </a:solidFill>
                        </a:rPr>
                        <a:t>O‘rtacha og‘ir</a:t>
                      </a:r>
                    </a:p>
                  </a:txBody>
                  <a:tcPr marL="73152" marR="73152" marT="36576" marB="36576">
                    <a:solidFill>
                      <a:srgbClr val="FFFFFF"/>
                    </a:solidFill>
                  </a:tcPr>
                </a:tc>
                <a:tc>
                  <a:txBody>
                    <a:bodyPr/>
                    <a:lstStyle/>
                    <a:p>
                      <a:r>
                        <a:rPr sz="1200" b="0">
                          <a:solidFill>
                            <a:srgbClr val="1F2937"/>
                          </a:solidFill>
                        </a:rPr>
                        <a:t>21 kundan ortiq</a:t>
                      </a:r>
                    </a:p>
                  </a:txBody>
                  <a:tcPr marL="73152" marR="73152" marT="36576" marB="36576">
                    <a:solidFill>
                      <a:srgbClr val="FFFFFF"/>
                    </a:solidFill>
                  </a:tcPr>
                </a:tc>
                <a:tc>
                  <a:txBody>
                    <a:bodyPr/>
                    <a:lstStyle/>
                    <a:p>
                      <a:r>
                        <a:rPr sz="1200" b="0">
                          <a:solidFill>
                            <a:srgbClr val="1F2937"/>
                          </a:solidFill>
                        </a:rPr>
                        <a:t>10% dan 33% gacha</a:t>
                      </a:r>
                    </a:p>
                  </a:txBody>
                  <a:tcPr marL="73152" marR="73152" marT="36576" marB="36576">
                    <a:solidFill>
                      <a:srgbClr val="FFFFFF"/>
                    </a:solidFill>
                  </a:tcPr>
                </a:tc>
              </a:tr>
              <a:tr h="411480">
                <a:tc>
                  <a:txBody>
                    <a:bodyPr/>
                    <a:lstStyle/>
                    <a:p>
                      <a:r>
                        <a:rPr sz="1200" b="0">
                          <a:solidFill>
                            <a:srgbClr val="1F2937"/>
                          </a:solidFill>
                        </a:rPr>
                        <a:t>Yengil (qisqa muddatli)</a:t>
                      </a:r>
                    </a:p>
                  </a:txBody>
                  <a:tcPr marL="73152" marR="73152" marT="36576" marB="36576">
                    <a:solidFill>
                      <a:srgbClr val="E8EEF6"/>
                    </a:solidFill>
                  </a:tcPr>
                </a:tc>
                <a:tc>
                  <a:txBody>
                    <a:bodyPr/>
                    <a:lstStyle/>
                    <a:p>
                      <a:r>
                        <a:rPr sz="1200" b="0">
                          <a:solidFill>
                            <a:srgbClr val="1F2937"/>
                          </a:solidFill>
                        </a:rPr>
                        <a:t>6 kundan ortiq, 21 kundan oshmaydi</a:t>
                      </a:r>
                    </a:p>
                  </a:txBody>
                  <a:tcPr marL="73152" marR="73152" marT="36576" marB="36576">
                    <a:solidFill>
                      <a:srgbClr val="E8EEF6"/>
                    </a:solidFill>
                  </a:tcPr>
                </a:tc>
                <a:tc>
                  <a:txBody>
                    <a:bodyPr/>
                    <a:lstStyle/>
                    <a:p>
                      <a:r>
                        <a:rPr sz="1200" b="0">
                          <a:solidFill>
                            <a:srgbClr val="1F2937"/>
                          </a:solidFill>
                        </a:rPr>
                        <a:t>10% gacha</a:t>
                      </a:r>
                    </a:p>
                  </a:txBody>
                  <a:tcPr marL="73152" marR="73152" marT="36576" marB="36576">
                    <a:solidFill>
                      <a:srgbClr val="E8EEF6"/>
                    </a:solidFill>
                  </a:tcPr>
                </a:tc>
              </a:tr>
              <a:tr h="411480">
                <a:tc>
                  <a:txBody>
                    <a:bodyPr/>
                    <a:lstStyle/>
                    <a:p>
                      <a:r>
                        <a:rPr sz="1200" b="0">
                          <a:solidFill>
                            <a:srgbClr val="1F2937"/>
                          </a:solidFill>
                        </a:rPr>
                        <a:t>Yengil</a:t>
                      </a:r>
                    </a:p>
                  </a:txBody>
                  <a:tcPr marL="73152" marR="73152" marT="36576" marB="36576">
                    <a:solidFill>
                      <a:srgbClr val="FFFFFF"/>
                    </a:solidFill>
                  </a:tcPr>
                </a:tc>
                <a:tc>
                  <a:txBody>
                    <a:bodyPr/>
                    <a:lstStyle/>
                    <a:p>
                      <a:r>
                        <a:rPr sz="1200" b="0">
                          <a:solidFill>
                            <a:srgbClr val="1F2937"/>
                          </a:solidFill>
                        </a:rPr>
                        <a:t>6 kungacha</a:t>
                      </a:r>
                    </a:p>
                  </a:txBody>
                  <a:tcPr marL="73152" marR="73152" marT="36576" marB="36576">
                    <a:solidFill>
                      <a:srgbClr val="FFFFFF"/>
                    </a:solidFill>
                  </a:tcPr>
                </a:tc>
                <a:tc>
                  <a:txBody>
                    <a:bodyPr/>
                    <a:lstStyle/>
                    <a:p>
                      <a:r>
                        <a:rPr sz="1200" b="0">
                          <a:solidFill>
                            <a:srgbClr val="1F2937"/>
                          </a:solidFill>
                        </a:rPr>
                        <a:t>Turg‘un yo‘qotish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Darajalar va mezonlar (turg‘un yo‘qotish)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 277, 278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Og‘ir tan jarohati (104-modda)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104-modda: yetkazilish paytida hayot uchun xavfli bo‘lgan shikastlanish og‘ir tan jarohati hisoblanadi.</a:t>
            </a:r>
          </a:p>
          <a:p>
            <a:pPr>
              <a:spcAft>
                <a:spcPts val="1200"/>
              </a:spcAft>
            </a:pPr>
            <a:r>
              <a:rPr sz="2200">
                <a:solidFill>
                  <a:srgbClr val="1F2937"/>
                </a:solidFill>
                <a:latin typeface="Calibri"/>
              </a:rPr>
              <a:t>▸  Umumiy mehnat qobiliyatining o‘ttiz uch foizidan kam bo‘lmagan qismi turg‘un yo‘qotilsa, jarohat og‘ir deb baholanadi.</a:t>
            </a:r>
          </a:p>
          <a:p>
            <a:pPr>
              <a:spcAft>
                <a:spcPts val="1200"/>
              </a:spcAft>
            </a:pPr>
            <a:r>
              <a:rPr sz="2200">
                <a:solidFill>
                  <a:srgbClr val="1F2937"/>
                </a:solidFill>
                <a:latin typeface="Calibri"/>
              </a:rPr>
              <a:t>▸  Og‘ir jarohatga yana kiradi: ko‘rish, so‘zlash, eshitish yoki a’zo funksiyasining to‘liq yo‘qotilishi, homiladorlikning uzilishi, ruhiy buzilish, tiklanmas badburushlik.</a:t>
            </a:r>
          </a:p>
          <a:p>
            <a:pPr>
              <a:spcAft>
                <a:spcPts val="1200"/>
              </a:spcAft>
            </a:pPr>
            <a:r>
              <a:rPr sz="2200">
                <a:solidFill>
                  <a:srgbClr val="1F2937"/>
                </a:solidFill>
                <a:latin typeface="Calibri"/>
              </a:rPr>
              <a:t>▸  Diqqat: tibbiy yordam hayotga tahdidni bartaraf etgan bo‘lsa ham, jarohat baribir “hayot uchun xavfli” deb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276-277, 276-277, 280, 277-278, 279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O‘rtacha og‘ir tan jarohati (105-modda)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105-modda: 104-moddadagi oqibatlarga olib kelmagan, lekin quyidagi belgilardan biri bor jarohat o‘rtacha og‘ir hisoblanadi.</a:t>
            </a:r>
          </a:p>
          <a:p>
            <a:pPr>
              <a:spcAft>
                <a:spcPts val="1200"/>
              </a:spcAft>
            </a:pPr>
            <a:r>
              <a:rPr sz="2200">
                <a:solidFill>
                  <a:srgbClr val="1F2937"/>
                </a:solidFill>
                <a:latin typeface="Calibri"/>
              </a:rPr>
              <a:t>▸  Sog‘liq 21 kundan ortiq muddatga buzilgan bo‘lsa, jarohat o‘rtacha og‘ir deb baholanadi.</a:t>
            </a:r>
          </a:p>
          <a:p>
            <a:pPr>
              <a:spcAft>
                <a:spcPts val="1200"/>
              </a:spcAft>
            </a:pPr>
            <a:r>
              <a:rPr sz="2200">
                <a:solidFill>
                  <a:srgbClr val="1F2937"/>
                </a:solidFill>
                <a:latin typeface="Calibri"/>
              </a:rPr>
              <a:t>▸  Umumiy mehnat qobiliyatining 10 foizdan 33 foizgacha qismi turg‘un yo‘qotilsa ham, jarohat o‘rtacha og‘ir hisoblanadi.</a:t>
            </a:r>
          </a:p>
          <a:p>
            <a:pPr>
              <a:spcAft>
                <a:spcPts val="1200"/>
              </a:spcAft>
            </a:pPr>
            <a:r>
              <a:rPr sz="2200">
                <a:solidFill>
                  <a:srgbClr val="1F2937"/>
                </a:solidFill>
                <a:latin typeface="Calibri"/>
              </a:rPr>
              <a:t>▸  Diqqat: bir quloqda eshitish yo‘qotilishi o‘rtacha og‘ir; ikkala quloqda to‘liq karlik esa og‘ir tan jarohatidir.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277, 277, 281, 277, 280, 282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Yengil tan jarohati (109-modda)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109-modda yengil jarohatning ikki turini ajratadi.</a:t>
            </a:r>
          </a:p>
          <a:p>
            <a:pPr>
              <a:spcAft>
                <a:spcPts val="800"/>
              </a:spcAft>
            </a:pPr>
            <a:r>
              <a:rPr sz="1800">
                <a:solidFill>
                  <a:srgbClr val="1F2937"/>
                </a:solidFill>
                <a:latin typeface="Calibri"/>
              </a:rPr>
              <a:t>▸  Birinchi tur sog‘liqning qisqa muddatga buzilishiga sabab bo‘ladi; ikkinchisida bunday buzilish yo‘q.</a:t>
            </a:r>
          </a:p>
          <a:p>
            <a:pPr>
              <a:spcAft>
                <a:spcPts val="800"/>
              </a:spcAft>
            </a:pPr>
            <a:r>
              <a:rPr sz="1800">
                <a:solidFill>
                  <a:srgbClr val="1F2937"/>
                </a:solidFill>
                <a:latin typeface="Calibri"/>
              </a:rPr>
              <a:t>▸  Diqqat: 6 kungacha — oddiy yengil; 6 kundan ortiq — qisqa muddatga buzilish bilan yengil.</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100702"/>
                <a:gridCol w="1955826"/>
                <a:gridCol w="1231446"/>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Yo‘qotilish</a:t>
                      </a:r>
                    </a:p>
                  </a:txBody>
                  <a:tcPr marL="73152" marR="73152" marT="36576" marB="36576">
                    <a:solidFill>
                      <a:srgbClr val="0B1F3A"/>
                    </a:solidFill>
                  </a:tcPr>
                </a:tc>
              </a:tr>
              <a:tr h="411480">
                <a:tc>
                  <a:txBody>
                    <a:bodyPr/>
                    <a:lstStyle/>
                    <a:p>
                      <a:r>
                        <a:rPr sz="1200" b="0">
                          <a:solidFill>
                            <a:srgbClr val="1F2937"/>
                          </a:solidFill>
                        </a:rPr>
                        <a:t>Qisqa muddatli buzilish bilan</a:t>
                      </a:r>
                    </a:p>
                  </a:txBody>
                  <a:tcPr marL="73152" marR="73152" marT="36576" marB="36576">
                    <a:solidFill>
                      <a:srgbClr val="E8EEF6"/>
                    </a:solidFill>
                  </a:tcPr>
                </a:tc>
                <a:tc>
                  <a:txBody>
                    <a:bodyPr/>
                    <a:lstStyle/>
                    <a:p>
                      <a:r>
                        <a:rPr sz="1200" b="0">
                          <a:solidFill>
                            <a:srgbClr val="1F2937"/>
                          </a:solidFill>
                        </a:rPr>
                        <a:t>6 kundan ortiq, 21 kungacha</a:t>
                      </a:r>
                    </a:p>
                  </a:txBody>
                  <a:tcPr marL="73152" marR="73152" marT="36576" marB="36576">
                    <a:solidFill>
                      <a:srgbClr val="E8EEF6"/>
                    </a:solidFill>
                  </a:tcPr>
                </a:tc>
                <a:tc>
                  <a:txBody>
                    <a:bodyPr/>
                    <a:lstStyle/>
                    <a:p>
                      <a:r>
                        <a:rPr sz="1200" b="0">
                          <a:solidFill>
                            <a:srgbClr val="1F2937"/>
                          </a:solidFill>
                        </a:rPr>
                        <a:t>10% gacha turg‘un</a:t>
                      </a:r>
                    </a:p>
                  </a:txBody>
                  <a:tcPr marL="73152" marR="73152" marT="36576" marB="36576">
                    <a:solidFill>
                      <a:srgbClr val="E8EEF6"/>
                    </a:solidFill>
                  </a:tcPr>
                </a:tc>
              </a:tr>
              <a:tr h="411480">
                <a:tc>
                  <a:txBody>
                    <a:bodyPr/>
                    <a:lstStyle/>
                    <a:p>
                      <a:r>
                        <a:rPr sz="1200" b="0">
                          <a:solidFill>
                            <a:srgbClr val="1F2937"/>
                          </a:solidFill>
                        </a:rPr>
                        <a:t>Oddiy yengil</a:t>
                      </a:r>
                    </a:p>
                  </a:txBody>
                  <a:tcPr marL="73152" marR="73152" marT="36576" marB="36576">
                    <a:solidFill>
                      <a:srgbClr val="FFFFFF"/>
                    </a:solidFill>
                  </a:tcPr>
                </a:tc>
                <a:tc>
                  <a:txBody>
                    <a:bodyPr/>
                    <a:lstStyle/>
                    <a:p>
                      <a:r>
                        <a:rPr sz="1200" b="0">
                          <a:solidFill>
                            <a:srgbClr val="1F2937"/>
                          </a:solidFill>
                        </a:rPr>
                        <a:t>6 kungacha</a:t>
                      </a:r>
                    </a:p>
                  </a:txBody>
                  <a:tcPr marL="73152" marR="73152" marT="36576" marB="36576">
                    <a:solidFill>
                      <a:srgbClr val="FFFFFF"/>
                    </a:solidFill>
                  </a:tcPr>
                </a:tc>
                <a:tc>
                  <a:txBody>
                    <a:bodyPr/>
                    <a:lstStyle/>
                    <a:p>
                      <a:r>
                        <a:rPr sz="1200" b="0">
                          <a:solidFill>
                            <a:srgbClr val="1F2937"/>
                          </a:solidFill>
                        </a:rPr>
                        <a:t>Yo‘q</a:t>
                      </a:r>
                    </a:p>
                  </a:txBody>
                  <a:tcPr marL="73152" marR="73152" marT="36576" marB="36576">
                    <a:solidFill>
                      <a:srgbClr val="FFFFFF"/>
                    </a:solidFill>
                  </a:tcPr>
                </a:tc>
              </a:tr>
              <a:tr h="411480">
                <a:tc>
                  <a:txBody>
                    <a:bodyPr/>
                    <a:lstStyle/>
                    <a:p>
                      <a:r>
                        <a:rPr sz="1200" b="0">
                          <a:solidFill>
                            <a:srgbClr val="1F2937"/>
                          </a:solidFill>
                        </a:rPr>
                        <a:t>O‘rtacha og‘ir (solishtirish)</a:t>
                      </a:r>
                    </a:p>
                  </a:txBody>
                  <a:tcPr marL="73152" marR="73152" marT="36576" marB="36576">
                    <a:solidFill>
                      <a:srgbClr val="E8EEF6"/>
                    </a:solidFill>
                  </a:tcPr>
                </a:tc>
                <a:tc>
                  <a:txBody>
                    <a:bodyPr/>
                    <a:lstStyle/>
                    <a:p>
                      <a:r>
                        <a:rPr sz="1200" b="0">
                          <a:solidFill>
                            <a:srgbClr val="1F2937"/>
                          </a:solidFill>
                        </a:rPr>
                        <a:t>21 kundan ortiq</a:t>
                      </a:r>
                    </a:p>
                  </a:txBody>
                  <a:tcPr marL="73152" marR="73152" marT="36576" marB="36576">
                    <a:solidFill>
                      <a:srgbClr val="E8EEF6"/>
                    </a:solidFill>
                  </a:tcPr>
                </a:tc>
                <a:tc>
                  <a:txBody>
                    <a:bodyPr/>
                    <a:lstStyle/>
                    <a:p>
                      <a:r>
                        <a:rPr sz="1200" b="0">
                          <a:solidFill>
                            <a:srgbClr val="1F2937"/>
                          </a:solidFill>
                        </a:rPr>
                        <a:t>10–33% turg‘un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Yengil jarohat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277, 277, 281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jarohat darajasini belgilash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jabrlanuvchida sog‘liqning buzilishi 21 kundan ortiq davom etgan. Hayot uchun xavf va a’zo yo‘qotilishi kabi og‘ir belgilar yo‘q.</a:t>
            </a:r>
          </a:p>
          <a:p>
            <a:pPr>
              <a:spcAft>
                <a:spcPts val="1200"/>
              </a:spcAft>
            </a:pPr>
            <a:r>
              <a:rPr sz="2200">
                <a:solidFill>
                  <a:srgbClr val="1F2937"/>
                </a:solidFill>
                <a:latin typeface="Calibri"/>
              </a:rPr>
              <a:t>▸  Qoida: sog‘liq buzilishi davomiyligi 21 kundan ortiq bo‘lsa, tan jarohati o‘rtacha og‘ir deb baholanadi.</a:t>
            </a:r>
          </a:p>
          <a:p>
            <a:pPr>
              <a:spcAft>
                <a:spcPts val="1200"/>
              </a:spcAft>
            </a:pPr>
            <a:r>
              <a:rPr sz="2200">
                <a:solidFill>
                  <a:srgbClr val="1F2937"/>
                </a:solidFill>
                <a:latin typeface="Calibri"/>
              </a:rPr>
              <a:t>▸  Davolanish muddati shaxsning kasalligi yoki tibbiy yordamga kech murojaat tufayli cho‘zilsa, bu inobatga olinmaydi.</a:t>
            </a:r>
          </a:p>
          <a:p>
            <a:pPr>
              <a:spcAft>
                <a:spcPts val="1200"/>
              </a:spcAft>
            </a:pPr>
            <a:r>
              <a:rPr sz="2200">
                <a:solidFill>
                  <a:srgbClr val="1F2937"/>
                </a:solidFill>
                <a:latin typeface="Calibri"/>
              </a:rPr>
              <a:t>▸  Savol: bu jarohat qaysi og‘irlik darajasiga kiradi? Jabrlanuvchi tibbiy yordamga umuman murojaat qilmagan bo‘lsa, baho o‘zgaradimi?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mezonlar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 jarohatlari og‘irligini aniqlashda tasniflovchi belgilarning tibbiy tavsiflari tibbiy mezonlar vazifasini bajaradi.</a:t>
            </a:r>
          </a:p>
          <a:p>
            <a:pPr>
              <a:spcAft>
                <a:spcPts val="1200"/>
              </a:spcAft>
            </a:pPr>
            <a:r>
              <a:rPr sz="2200">
                <a:solidFill>
                  <a:srgbClr val="1F2937"/>
                </a:solidFill>
                <a:latin typeface="Calibri"/>
              </a:rPr>
              <a:t>▸  Mezonlar O‘zbekiston Respublikasi Jinoyat kodeksi talablaridan kelib chiqqan holda qabul qilingan.</a:t>
            </a:r>
          </a:p>
          <a:p>
            <a:pPr>
              <a:spcAft>
                <a:spcPts val="1200"/>
              </a:spcAft>
            </a:pPr>
            <a:r>
              <a:rPr sz="2200">
                <a:solidFill>
                  <a:srgbClr val="1F2937"/>
                </a:solidFill>
                <a:latin typeface="Calibri"/>
              </a:rPr>
              <a:t>▸  Asosiy mezonlar: hayot uchun xavf, sog‘liq buzilishining davomiyligi, umumiy mehnat qobiliyatining turg‘un yo‘qotilishi darajasi.</a:t>
            </a:r>
          </a:p>
          <a:p>
            <a:pPr>
              <a:spcAft>
                <a:spcPts val="1200"/>
              </a:spcAft>
            </a:pPr>
            <a:r>
              <a:rPr sz="2200">
                <a:solidFill>
                  <a:srgbClr val="1F2937"/>
                </a:solidFill>
                <a:latin typeface="Calibri"/>
              </a:rPr>
              <a:t>▸  Yana: a’zo yoki uning funksiyasi yo‘qotilishi, ruhiy buzilish, homiladorlikning uzilishi, tananing tiklanmaydigan badburushligi.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va sud-tibbiy baholash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baholash va bemor ahvolining klinik og‘irligi bir xil tushunchalar emas.</a:t>
            </a:r>
          </a:p>
          <a:p>
            <a:pPr>
              <a:spcAft>
                <a:spcPts val="800"/>
              </a:spcAft>
            </a:pPr>
            <a:r>
              <a:rPr sz="1800">
                <a:solidFill>
                  <a:srgbClr val="1F2937"/>
                </a:solidFill>
                <a:latin typeface="Calibri"/>
              </a:rPr>
              <a:t>▸  Maqsad va mezonlar turlicha, shu sabab natijalar bir-biriga mos kelmasligi mumkin.</a:t>
            </a:r>
          </a:p>
          <a:p>
            <a:pPr>
              <a:spcAft>
                <a:spcPts val="800"/>
              </a:spcAft>
            </a:pPr>
            <a:r>
              <a:rPr sz="1800">
                <a:solidFill>
                  <a:srgbClr val="1F2937"/>
                </a:solidFill>
                <a:latin typeface="Calibri"/>
              </a:rPr>
              <a:t>▸  Diqqat: klinikadagi “og‘ir” ahvol ≠ sud-tibbiyotdagi “og‘ir” tan jarohati.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208680"/>
                <a:gridCol w="1964105"/>
                <a:gridCol w="211519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Klinik</a:t>
                      </a:r>
                    </a:p>
                  </a:txBody>
                  <a:tcPr marL="73152" marR="73152" marT="36576" marB="36576">
                    <a:solidFill>
                      <a:srgbClr val="0B1F3A"/>
                    </a:solidFill>
                  </a:tcPr>
                </a:tc>
                <a:tc>
                  <a:txBody>
                    <a:bodyPr/>
                    <a:lstStyle/>
                    <a:p>
                      <a:r>
                        <a:rPr sz="1300" b="1">
                          <a:solidFill>
                            <a:srgbClr val="FFFFFF"/>
                          </a:solidFill>
                        </a:rPr>
                        <a:t>Sud-tibbiy</a:t>
                      </a:r>
                    </a:p>
                  </a:txBody>
                  <a:tcPr marL="73152" marR="73152" marT="36576" marB="36576">
                    <a:solidFill>
                      <a:srgbClr val="0B1F3A"/>
                    </a:solidFill>
                  </a:tcPr>
                </a:tc>
              </a:tr>
              <a:tr h="411480">
                <a:tc>
                  <a:txBody>
                    <a:bodyPr/>
                    <a:lstStyle/>
                    <a:p>
                      <a:r>
                        <a:rPr sz="1200" b="0">
                          <a:solidFill>
                            <a:srgbClr val="1F2937"/>
                          </a:solidFill>
                        </a:rPr>
                        <a:t>Nimani baholaydi</a:t>
                      </a:r>
                    </a:p>
                  </a:txBody>
                  <a:tcPr marL="73152" marR="73152" marT="36576" marB="36576">
                    <a:solidFill>
                      <a:srgbClr val="E8EEF6"/>
                    </a:solidFill>
                  </a:tcPr>
                </a:tc>
                <a:tc>
                  <a:txBody>
                    <a:bodyPr/>
                    <a:lstStyle/>
                    <a:p>
                      <a:r>
                        <a:rPr sz="1200" b="0">
                          <a:solidFill>
                            <a:srgbClr val="1F2937"/>
                          </a:solidFill>
                        </a:rPr>
                        <a:t>Shikastdagi bemor ahvolini</a:t>
                      </a:r>
                    </a:p>
                  </a:txBody>
                  <a:tcPr marL="73152" marR="73152" marT="36576" marB="36576">
                    <a:solidFill>
                      <a:srgbClr val="E8EEF6"/>
                    </a:solidFill>
                  </a:tcPr>
                </a:tc>
                <a:tc>
                  <a:txBody>
                    <a:bodyPr/>
                    <a:lstStyle/>
                    <a:p>
                      <a:r>
                        <a:rPr sz="1200" b="0">
                          <a:solidFill>
                            <a:srgbClr val="1F2937"/>
                          </a:solidFill>
                        </a:rPr>
                        <a:t>Jarohat og‘irlik darajasini</a:t>
                      </a:r>
                    </a:p>
                  </a:txBody>
                  <a:tcPr marL="73152" marR="73152" marT="36576" marB="36576">
                    <a:solidFill>
                      <a:srgbClr val="E8EEF6"/>
                    </a:solidFill>
                  </a:tcPr>
                </a:tc>
              </a:tr>
              <a:tr h="411480">
                <a:tc>
                  <a:txBody>
                    <a:bodyPr/>
                    <a:lstStyle/>
                    <a:p>
                      <a:r>
                        <a:rPr sz="1200" b="0">
                          <a:solidFill>
                            <a:srgbClr val="1F2937"/>
                          </a:solidFill>
                        </a:rPr>
                        <a:t>Mezonlar</a:t>
                      </a:r>
                    </a:p>
                  </a:txBody>
                  <a:tcPr marL="73152" marR="73152" marT="36576" marB="36576">
                    <a:solidFill>
                      <a:srgbClr val="FFFFFF"/>
                    </a:solidFill>
                  </a:tcPr>
                </a:tc>
                <a:tc>
                  <a:txBody>
                    <a:bodyPr/>
                    <a:lstStyle/>
                    <a:p>
                      <a:r>
                        <a:rPr sz="1200" b="0">
                          <a:solidFill>
                            <a:srgbClr val="1F2937"/>
                          </a:solidFill>
                        </a:rPr>
                        <a:t>Klinik mezonlar</a:t>
                      </a:r>
                    </a:p>
                  </a:txBody>
                  <a:tcPr marL="73152" marR="73152" marT="36576" marB="36576">
                    <a:solidFill>
                      <a:srgbClr val="FFFFFF"/>
                    </a:solidFill>
                  </a:tcPr>
                </a:tc>
                <a:tc>
                  <a:txBody>
                    <a:bodyPr/>
                    <a:lstStyle/>
                    <a:p>
                      <a:r>
                        <a:rPr sz="1200" b="0">
                          <a:solidFill>
                            <a:srgbClr val="1F2937"/>
                          </a:solidFill>
                        </a:rPr>
                        <a:t>Jinoyat kodeksiga asoslangan</a:t>
                      </a:r>
                    </a:p>
                  </a:txBody>
                  <a:tcPr marL="73152" marR="73152" marT="36576" marB="36576">
                    <a:solidFill>
                      <a:srgbClr val="FFFFFF"/>
                    </a:solidFill>
                  </a:tcPr>
                </a:tc>
              </a:tr>
              <a:tr h="411480">
                <a:tc>
                  <a:txBody>
                    <a:bodyPr/>
                    <a:lstStyle/>
                    <a:p>
                      <a:r>
                        <a:rPr sz="1200" b="0">
                          <a:solidFill>
                            <a:srgbClr val="1F2937"/>
                          </a:solidFill>
                        </a:rPr>
                        <a:t>Natija</a:t>
                      </a:r>
                    </a:p>
                  </a:txBody>
                  <a:tcPr marL="73152" marR="73152" marT="36576" marB="36576">
                    <a:solidFill>
                      <a:srgbClr val="E8EEF6"/>
                    </a:solidFill>
                  </a:tcPr>
                </a:tc>
                <a:tc>
                  <a:txBody>
                    <a:bodyPr/>
                    <a:lstStyle/>
                    <a:p>
                      <a:r>
                        <a:rPr sz="1200" b="0">
                          <a:solidFill>
                            <a:srgbClr val="1F2937"/>
                          </a:solidFill>
                        </a:rPr>
                        <a:t>Mos kelmasligi mumkin</a:t>
                      </a:r>
                    </a:p>
                  </a:txBody>
                  <a:tcPr marL="73152" marR="73152" marT="36576" marB="36576">
                    <a:solidFill>
                      <a:srgbClr val="E8EEF6"/>
                    </a:solidFill>
                  </a:tcPr>
                </a:tc>
                <a:tc>
                  <a:txBody>
                    <a:bodyPr/>
                    <a:lstStyle/>
                    <a:p>
                      <a:r>
                        <a:rPr sz="1200" b="0">
                          <a:solidFill>
                            <a:srgbClr val="1F2937"/>
                          </a:solidFill>
                        </a:rPr>
                        <a:t>Mos kelmasligi mumkin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xil baholash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uchun xavfli jarohatlar: a’zolar jarohati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Kalla, ko‘krak yoki qorin bo‘shlig‘iga o‘tuvchi yaralar hayot uchun xavfli jarohatlar qatoriga kiradi.</a:t>
            </a:r>
          </a:p>
          <a:p>
            <a:pPr>
              <a:spcAft>
                <a:spcPts val="1200"/>
              </a:spcAft>
            </a:pPr>
            <a:r>
              <a:rPr sz="2200">
                <a:solidFill>
                  <a:srgbClr val="1F2937"/>
                </a:solidFill>
                <a:latin typeface="Calibri"/>
              </a:rPr>
              <a:t>▸  Kalla asosi va gumbazi suyaklarining sinishi, bosh miyaning og‘ir lat eyishi va diffuz aksonal shikastlanishi ham shu guruhga kiradi.</a:t>
            </a:r>
          </a:p>
          <a:p>
            <a:pPr>
              <a:spcAft>
                <a:spcPts val="1200"/>
              </a:spcAft>
            </a:pPr>
            <a:r>
              <a:rPr sz="2200">
                <a:solidFill>
                  <a:srgbClr val="1F2937"/>
                </a:solidFill>
                <a:latin typeface="Calibri"/>
              </a:rPr>
              <a:t>▸  Bo‘yin umurtqalarining sinishi yoki chiqishi, shuningdek funksiyasi buzilgan bo‘yin va ko‘krak qismi orqa miya lat eyishi xavfli sanaladi.</a:t>
            </a:r>
          </a:p>
          <a:p>
            <a:pPr>
              <a:spcAft>
                <a:spcPts val="1200"/>
              </a:spcAft>
            </a:pPr>
            <a:r>
              <a:rPr sz="2200">
                <a:solidFill>
                  <a:srgbClr val="1F2937"/>
                </a:solidFill>
                <a:latin typeface="Calibri"/>
              </a:rPr>
              <a:t>▸  Ko‘krak, qorin va qorinparda orti a’zolarining yopiq jarohatlari hamda yirik arteriyalar (aorta, uyqu, son, taqim va b.) va hamroh venalar jarohatlari ham kiradi.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va sovuq urishi: yuza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Termik, kimyoviy, elektr va nurdan kuyish hamda sovuq urishi yuzasi va darajasiga qarab baholanadi.</a:t>
            </a:r>
          </a:p>
          <a:p>
            <a:pPr>
              <a:spcAft>
                <a:spcPts val="800"/>
              </a:spcAft>
            </a:pPr>
            <a:r>
              <a:rPr sz="1800">
                <a:solidFill>
                  <a:srgbClr val="1F2937"/>
                </a:solidFill>
                <a:latin typeface="Calibri"/>
              </a:rPr>
              <a:t>▸  Daraja yuqori bo‘lsa, xavfli deb sanaladigan yuza chegarasi kichikroq bo‘ladi.</a:t>
            </a:r>
          </a:p>
          <a:p>
            <a:pPr>
              <a:spcAft>
                <a:spcPts val="800"/>
              </a:spcAft>
            </a:pPr>
            <a:r>
              <a:rPr sz="1800">
                <a:solidFill>
                  <a:srgbClr val="1F2937"/>
                </a:solidFill>
                <a:latin typeface="Calibri"/>
              </a:rPr>
              <a:t>▸  Diqqat: har daraja uchun chegara alohida — 10%, 15% va 20%ni aralashtirmang.</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563866"/>
                <a:gridCol w="2724108"/>
              </a:tblGrid>
              <a:tr h="411480">
                <a:tc>
                  <a:txBody>
                    <a:bodyPr/>
                    <a:lstStyle/>
                    <a:p>
                      <a:r>
                        <a:rPr sz="1400" b="1">
                          <a:solidFill>
                            <a:srgbClr val="FFFFFF"/>
                          </a:solidFill>
                        </a:rPr>
                        <a:t>Daraja</a:t>
                      </a:r>
                    </a:p>
                  </a:txBody>
                  <a:tcPr marL="73152" marR="73152" marT="36576" marB="36576">
                    <a:solidFill>
                      <a:srgbClr val="0B1F3A"/>
                    </a:solidFill>
                  </a:tcPr>
                </a:tc>
                <a:tc>
                  <a:txBody>
                    <a:bodyPr/>
                    <a:lstStyle/>
                    <a:p>
                      <a:r>
                        <a:rPr sz="1400" b="1">
                          <a:solidFill>
                            <a:srgbClr val="FFFFFF"/>
                          </a:solidFill>
                        </a:rPr>
                        <a:t>Tana yuzasi</a:t>
                      </a:r>
                    </a:p>
                  </a:txBody>
                  <a:tcPr marL="73152" marR="73152" marT="36576" marB="36576">
                    <a:solidFill>
                      <a:srgbClr val="0B1F3A"/>
                    </a:solidFill>
                  </a:tcPr>
                </a:tc>
              </a:tr>
              <a:tr h="411480">
                <a:tc>
                  <a:txBody>
                    <a:bodyPr/>
                    <a:lstStyle/>
                    <a:p>
                      <a:r>
                        <a:rPr sz="1300" b="0">
                          <a:solidFill>
                            <a:srgbClr val="1F2937"/>
                          </a:solidFill>
                        </a:rPr>
                        <a:t>III-IV darajali</a:t>
                      </a:r>
                    </a:p>
                  </a:txBody>
                  <a:tcPr marL="73152" marR="73152" marT="36576" marB="36576">
                    <a:solidFill>
                      <a:srgbClr val="E8EEF6"/>
                    </a:solidFill>
                  </a:tcPr>
                </a:tc>
                <a:tc>
                  <a:txBody>
                    <a:bodyPr/>
                    <a:lstStyle/>
                    <a:p>
                      <a:r>
                        <a:rPr sz="1300" b="0">
                          <a:solidFill>
                            <a:srgbClr val="1F2937"/>
                          </a:solidFill>
                        </a:rPr>
                        <a:t>10% dan ortiq</a:t>
                      </a:r>
                    </a:p>
                  </a:txBody>
                  <a:tcPr marL="73152" marR="73152" marT="36576" marB="36576">
                    <a:solidFill>
                      <a:srgbClr val="E8EEF6"/>
                    </a:solidFill>
                  </a:tcPr>
                </a:tc>
              </a:tr>
              <a:tr h="411480">
                <a:tc>
                  <a:txBody>
                    <a:bodyPr/>
                    <a:lstStyle/>
                    <a:p>
                      <a:r>
                        <a:rPr sz="1300" b="0">
                          <a:solidFill>
                            <a:srgbClr val="1F2937"/>
                          </a:solidFill>
                        </a:rPr>
                        <a:t>III darajali</a:t>
                      </a:r>
                    </a:p>
                  </a:txBody>
                  <a:tcPr marL="73152" marR="73152" marT="36576" marB="36576">
                    <a:solidFill>
                      <a:srgbClr val="FFFFFF"/>
                    </a:solidFill>
                  </a:tcPr>
                </a:tc>
                <a:tc>
                  <a:txBody>
                    <a:bodyPr/>
                    <a:lstStyle/>
                    <a:p>
                      <a:r>
                        <a:rPr sz="1300" b="0">
                          <a:solidFill>
                            <a:srgbClr val="1F2937"/>
                          </a:solidFill>
                        </a:rPr>
                        <a:t>15% dan ortiq</a:t>
                      </a:r>
                    </a:p>
                  </a:txBody>
                  <a:tcPr marL="73152" marR="73152" marT="36576" marB="36576">
                    <a:solidFill>
                      <a:srgbClr val="FFFFFF"/>
                    </a:solidFill>
                  </a:tcPr>
                </a:tc>
              </a:tr>
              <a:tr h="411480">
                <a:tc>
                  <a:txBody>
                    <a:bodyPr/>
                    <a:lstStyle/>
                    <a:p>
                      <a:r>
                        <a:rPr sz="1300" b="0">
                          <a:solidFill>
                            <a:srgbClr val="1F2937"/>
                          </a:solidFill>
                        </a:rPr>
                        <a:t>II darajali</a:t>
                      </a:r>
                    </a:p>
                  </a:txBody>
                  <a:tcPr marL="73152" marR="73152" marT="36576" marB="36576">
                    <a:solidFill>
                      <a:srgbClr val="E8EEF6"/>
                    </a:solidFill>
                  </a:tcPr>
                </a:tc>
                <a:tc>
                  <a:txBody>
                    <a:bodyPr/>
                    <a:lstStyle/>
                    <a:p>
                      <a:r>
                        <a:rPr sz="1300" b="0">
                          <a:solidFill>
                            <a:srgbClr val="1F2937"/>
                          </a:solidFill>
                        </a:rPr>
                        <a:t>20% dan ortiq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uchun xavfli kuyish yuzalari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278-279, 279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tahdid soluvchi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Organizm o‘zi tiklay olmaydigan va odatda o‘limga olib boradigan hayotiy faoliyat buzilishi hayotga tahdid deb baholanadi.</a:t>
            </a:r>
          </a:p>
          <a:p>
            <a:pPr>
              <a:spcAft>
                <a:spcPts val="1200"/>
              </a:spcAft>
            </a:pPr>
            <a:r>
              <a:rPr sz="2200">
                <a:solidFill>
                  <a:srgbClr val="1F2937"/>
                </a:solidFill>
                <a:latin typeface="Calibri"/>
              </a:rPr>
              <a:t>▸  Misollar: og‘ir darajali (III-IV) shok, II-III darajali koma va o‘tkir, ko‘p miqdorda qon yo‘qotish.</a:t>
            </a:r>
          </a:p>
          <a:p>
            <a:pPr>
              <a:spcAft>
                <a:spcPts val="1200"/>
              </a:spcAft>
            </a:pPr>
            <a:r>
              <a:rPr sz="2200">
                <a:solidFill>
                  <a:srgbClr val="1F2937"/>
                </a:solidFill>
                <a:latin typeface="Calibri"/>
              </a:rPr>
              <a:t>▸  Og‘ir yurak va qon tomir, nafas, o‘tkir jigar, buyrak va buyrak usti bezi yetishmovchiligi hamda miyada qon aylanishining og‘ir buzilishi.</a:t>
            </a:r>
          </a:p>
          <a:p>
            <a:pPr>
              <a:spcAft>
                <a:spcPts val="1200"/>
              </a:spcAft>
            </a:pPr>
            <a:r>
              <a:rPr sz="2200">
                <a:solidFill>
                  <a:srgbClr val="1F2937"/>
                </a:solidFill>
                <a:latin typeface="Calibri"/>
              </a:rPr>
              <a:t>▸  Sepsis, peritonit, flegmona, emboliya hamda infarkt yoki gangrenaga olib keluvchi qon aylanishi buzilishi ham tahdid soladi.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Sababiy bog‘liqlik va tibbiy yordam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Hayotga tahdid soluvchi holat shaxsga yetkazilgan tan jarohati bilan bevosita bog‘liq bo‘lishi lozim.</a:t>
            </a:r>
          </a:p>
          <a:p>
            <a:pPr>
              <a:spcAft>
                <a:spcPts val="1200"/>
              </a:spcAft>
            </a:pPr>
            <a:r>
              <a:rPr sz="2200">
                <a:solidFill>
                  <a:srgbClr val="1F2937"/>
                </a:solidFill>
                <a:latin typeface="Calibri"/>
              </a:rPr>
              <a:t>▸  Bu bog‘liqlik tasodifiy ko‘rinishga ega bo‘lmasligi kerak.</a:t>
            </a:r>
          </a:p>
          <a:p>
            <a:pPr>
              <a:spcAft>
                <a:spcPts val="1200"/>
              </a:spcAft>
            </a:pPr>
            <a:r>
              <a:rPr sz="2200">
                <a:solidFill>
                  <a:srgbClr val="1F2937"/>
                </a:solidFill>
                <a:latin typeface="Calibri"/>
              </a:rPr>
              <a:t>▸  Yetkazilish vaqtida hayot uchun xavfli bo‘lgan yoki keyin hayotga tahdid soluvchi holatni keltirgan jarohat og‘ir deb baholanadi.</a:t>
            </a:r>
          </a:p>
          <a:p>
            <a:pPr>
              <a:spcAft>
                <a:spcPts val="1200"/>
              </a:spcAft>
            </a:pPr>
            <a:r>
              <a:rPr sz="2200">
                <a:solidFill>
                  <a:srgbClr val="1F2937"/>
                </a:solidFill>
                <a:latin typeface="Calibri"/>
              </a:rPr>
              <a:t>▸  Diqqat: tibbiy yordam bilan tahdid bartaraf etilgan bo‘lsa ham, bu jarohatni xavfli deb baholashda inobatga olinmaydi.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hayot uchun xavf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jabrlanuvchiga o‘z vaqtida yordam berildi va hayotiga tahdid bartaraf etildi. Jarohat og‘irligi o‘zgaradimi?</a:t>
            </a:r>
          </a:p>
          <a:p>
            <a:pPr>
              <a:spcAft>
                <a:spcPts val="1200"/>
              </a:spcAft>
            </a:pPr>
            <a:r>
              <a:rPr sz="2200">
                <a:solidFill>
                  <a:srgbClr val="1F2937"/>
                </a:solidFill>
                <a:latin typeface="Calibri"/>
              </a:rPr>
              <a:t>▸  Javob: yo‘q. Tibbiy yordam orqali tahdidning bartaraf etilishi jarohatni baholashda hisobga olinmaydi.</a:t>
            </a:r>
          </a:p>
          <a:p>
            <a:pPr>
              <a:spcAft>
                <a:spcPts val="1200"/>
              </a:spcAft>
            </a:pPr>
            <a:r>
              <a:rPr sz="2200">
                <a:solidFill>
                  <a:srgbClr val="1F2937"/>
                </a:solidFill>
                <a:latin typeface="Calibri"/>
              </a:rPr>
              <a:t>▸  Savol: hayot uchun xavfli jarohatlarga qaysi misollarni keltira olasiz?</a:t>
            </a:r>
          </a:p>
          <a:p>
            <a:pPr>
              <a:spcAft>
                <a:spcPts val="1200"/>
              </a:spcAft>
            </a:pPr>
            <a:r>
              <a:rPr sz="2200">
                <a:solidFill>
                  <a:srgbClr val="1F2937"/>
                </a:solidFill>
                <a:latin typeface="Calibri"/>
              </a:rPr>
              <a:t>▸  Javob: kalla, ko‘krak, qorin bo‘shlig‘iga o‘tuvchi yaralar; kalla asosi va gumbazi suyaklarining sinishi; bo‘yin umurtqalarining sinishi yoki chiqishi.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279, 278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mehnat qobiliyatining yo‘qotilishi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Umumiy mehnat qobiliyati — o‘z-o‘ziga xizmat qilish va malaka talab qilmaydigan ishlarni bajara olish.</a:t>
            </a:r>
          </a:p>
          <a:p>
            <a:pPr>
              <a:spcAft>
                <a:spcPts val="800"/>
              </a:spcAft>
            </a:pPr>
            <a:r>
              <a:rPr sz="1800">
                <a:solidFill>
                  <a:srgbClr val="1F2937"/>
                </a:solidFill>
                <a:latin typeface="Calibri"/>
              </a:rPr>
              <a:t>▸  Kasbiy mehnat qobiliyati — muayyan kasb sohasidagi faoliyatni olib borish qobiliyati.</a:t>
            </a:r>
          </a:p>
          <a:p>
            <a:pPr>
              <a:spcAft>
                <a:spcPts val="800"/>
              </a:spcAft>
            </a:pPr>
            <a:r>
              <a:rPr sz="1800">
                <a:solidFill>
                  <a:srgbClr val="1F2937"/>
                </a:solidFill>
                <a:latin typeface="Calibri"/>
              </a:rPr>
              <a:t>▸  Diqqat: umumiy ≠ kasbiy; og‘irlikni faqat umumiy yo‘qotilish belgilaydi.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82017"/>
                <a:gridCol w="1928555"/>
                <a:gridCol w="217740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Umumiy</a:t>
                      </a:r>
                    </a:p>
                  </a:txBody>
                  <a:tcPr marL="73152" marR="73152" marT="36576" marB="36576">
                    <a:solidFill>
                      <a:srgbClr val="0B1F3A"/>
                    </a:solidFill>
                  </a:tcPr>
                </a:tc>
                <a:tc>
                  <a:txBody>
                    <a:bodyPr/>
                    <a:lstStyle/>
                    <a:p>
                      <a:r>
                        <a:rPr sz="1300" b="1">
                          <a:solidFill>
                            <a:srgbClr val="FFFFFF"/>
                          </a:solidFill>
                        </a:rPr>
                        <a:t>Kasbiy</a:t>
                      </a:r>
                    </a:p>
                  </a:txBody>
                  <a:tcPr marL="73152" marR="73152" marT="36576" marB="36576">
                    <a:solidFill>
                      <a:srgbClr val="0B1F3A"/>
                    </a:solidFill>
                  </a:tcPr>
                </a:tc>
              </a:tr>
              <a:tr h="411480">
                <a:tc>
                  <a:txBody>
                    <a:bodyPr/>
                    <a:lstStyle/>
                    <a:p>
                      <a:r>
                        <a:rPr sz="1200" b="0">
                          <a:solidFill>
                            <a:srgbClr val="1F2937"/>
                          </a:solidFill>
                        </a:rPr>
                        <a:t>Mazmuni</a:t>
                      </a:r>
                    </a:p>
                  </a:txBody>
                  <a:tcPr marL="73152" marR="73152" marT="36576" marB="36576">
                    <a:solidFill>
                      <a:srgbClr val="E8EEF6"/>
                    </a:solidFill>
                  </a:tcPr>
                </a:tc>
                <a:tc>
                  <a:txBody>
                    <a:bodyPr/>
                    <a:lstStyle/>
                    <a:p>
                      <a:r>
                        <a:rPr sz="1200" b="0">
                          <a:solidFill>
                            <a:srgbClr val="1F2937"/>
                          </a:solidFill>
                        </a:rPr>
                        <a:t>O‘z-o‘ziga xizmat, oddiy ishlar</a:t>
                      </a:r>
                    </a:p>
                  </a:txBody>
                  <a:tcPr marL="73152" marR="73152" marT="36576" marB="36576">
                    <a:solidFill>
                      <a:srgbClr val="E8EEF6"/>
                    </a:solidFill>
                  </a:tcPr>
                </a:tc>
                <a:tc>
                  <a:txBody>
                    <a:bodyPr/>
                    <a:lstStyle/>
                    <a:p>
                      <a:r>
                        <a:rPr sz="1200" b="0">
                          <a:solidFill>
                            <a:srgbClr val="1F2937"/>
                          </a:solidFill>
                        </a:rPr>
                        <a:t>Muayyan kasbdagi faoliyat</a:t>
                      </a:r>
                    </a:p>
                  </a:txBody>
                  <a:tcPr marL="73152" marR="73152" marT="36576" marB="36576">
                    <a:solidFill>
                      <a:srgbClr val="E8EEF6"/>
                    </a:solidFill>
                  </a:tcPr>
                </a:tc>
              </a:tr>
              <a:tr h="411480">
                <a:tc>
                  <a:txBody>
                    <a:bodyPr/>
                    <a:lstStyle/>
                    <a:p>
                      <a:r>
                        <a:rPr sz="1200" b="0">
                          <a:solidFill>
                            <a:srgbClr val="1F2937"/>
                          </a:solidFill>
                        </a:rPr>
                        <a:t>Og‘irlikni baholash</a:t>
                      </a:r>
                    </a:p>
                  </a:txBody>
                  <a:tcPr marL="73152" marR="73152" marT="36576" marB="36576">
                    <a:solidFill>
                      <a:srgbClr val="FFFFFF"/>
                    </a:solidFill>
                  </a:tcPr>
                </a:tc>
                <a:tc>
                  <a:txBody>
                    <a:bodyPr/>
                    <a:lstStyle/>
                    <a:p>
                      <a:r>
                        <a:rPr sz="1200" b="0">
                          <a:solidFill>
                            <a:srgbClr val="1F2937"/>
                          </a:solidFill>
                        </a:rPr>
                        <a:t>Hisobga olinadi</a:t>
                      </a:r>
                    </a:p>
                  </a:txBody>
                  <a:tcPr marL="73152" marR="73152" marT="36576" marB="36576">
                    <a:solidFill>
                      <a:srgbClr val="FFFFFF"/>
                    </a:solidFill>
                  </a:tcPr>
                </a:tc>
                <a:tc>
                  <a:txBody>
                    <a:bodyPr/>
                    <a:lstStyle/>
                    <a:p>
                      <a:r>
                        <a:rPr sz="1200" b="0">
                          <a:solidFill>
                            <a:srgbClr val="1F2937"/>
                          </a:solidFill>
                        </a:rPr>
                        <a:t>Hisobga olinmaydi</a:t>
                      </a:r>
                    </a:p>
                  </a:txBody>
                  <a:tcPr marL="73152" marR="73152" marT="36576" marB="36576">
                    <a:solidFill>
                      <a:srgbClr val="FFFFFF"/>
                    </a:solidFill>
                  </a:tcPr>
                </a:tc>
              </a:tr>
              <a:tr h="411480">
                <a:tc>
                  <a:txBody>
                    <a:bodyPr/>
                    <a:lstStyle/>
                    <a:p>
                      <a:r>
                        <a:rPr sz="1200" b="0">
                          <a:solidFill>
                            <a:srgbClr val="1F2937"/>
                          </a:solidFill>
                        </a:rPr>
                        <a:t>Qayerda ko‘riladi</a:t>
                      </a:r>
                    </a:p>
                  </a:txBody>
                  <a:tcPr marL="73152" marR="73152" marT="36576" marB="36576">
                    <a:solidFill>
                      <a:srgbClr val="E8EEF6"/>
                    </a:solidFill>
                  </a:tcPr>
                </a:tc>
                <a:tc>
                  <a:txBody>
                    <a:bodyPr/>
                    <a:lstStyle/>
                    <a:p>
                      <a:r>
                        <a:rPr sz="1200" b="0">
                          <a:solidFill>
                            <a:srgbClr val="1F2937"/>
                          </a:solidFill>
                        </a:rPr>
                        <a:t>Tan jarohati og‘irligida</a:t>
                      </a:r>
                    </a:p>
                  </a:txBody>
                  <a:tcPr marL="73152" marR="73152" marT="36576" marB="36576">
                    <a:solidFill>
                      <a:srgbClr val="E8EEF6"/>
                    </a:solidFill>
                  </a:tcPr>
                </a:tc>
                <a:tc>
                  <a:txBody>
                    <a:bodyPr/>
                    <a:lstStyle/>
                    <a:p>
                      <a:r>
                        <a:rPr sz="1200" b="0">
                          <a:solidFill>
                            <a:srgbClr val="1F2937"/>
                          </a:solidFill>
                        </a:rPr>
                        <a:t>Fuqarolik ishlarida ziyonni qoplash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Umumiy va kasbiy qobiliyat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Vaqtincha va turg‘un yo‘qotilish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Umumiy mehnat qobiliyatining yo‘qotilishi vaqtincha, turg‘un yoki doimiy bo‘lishi mumkin.</a:t>
            </a:r>
          </a:p>
          <a:p>
            <a:pPr>
              <a:spcAft>
                <a:spcPts val="1200"/>
              </a:spcAft>
            </a:pPr>
            <a:r>
              <a:rPr sz="2200">
                <a:solidFill>
                  <a:srgbClr val="1F2937"/>
                </a:solidFill>
                <a:latin typeface="Calibri"/>
              </a:rPr>
              <a:t>▸  Vaqtincha yo‘qotilish sog‘liq buzilgan kunlar bilan, turg‘un va doimiy yo‘qotilish esa foizlar bilan ifodalanadi.</a:t>
            </a:r>
          </a:p>
          <a:p>
            <a:pPr>
              <a:spcAft>
                <a:spcPts val="1200"/>
              </a:spcAft>
            </a:pPr>
            <a:r>
              <a:rPr sz="2200">
                <a:solidFill>
                  <a:srgbClr val="1F2937"/>
                </a:solidFill>
                <a:latin typeface="Calibri"/>
              </a:rPr>
              <a:t>▸  Doimiy yo‘qotilishda qobiliyat va uning darajasi keyinchalik vaqt o‘tishi bilan o‘zgarmaydi.</a:t>
            </a:r>
          </a:p>
          <a:p>
            <a:pPr>
              <a:spcAft>
                <a:spcPts val="1200"/>
              </a:spcAft>
            </a:pPr>
            <a:r>
              <a:rPr sz="2200">
                <a:solidFill>
                  <a:srgbClr val="1F2937"/>
                </a:solidFill>
                <a:latin typeface="Calibri"/>
              </a:rPr>
              <a:t>▸  Diqqat: og‘irlik darajasida faqat umumiy mehnat qobiliyati hisobga olinadi. Kasbiy qobiliyat fuqarolik ishlarida ko‘riladi.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279, 279-280, 280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Foizni aniqlash jadvali va 1/3 dan ortiq ro‘yxat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Turg‘un yo‘qotilish foizini belgilash uchun maxsus ishlab chiqilgan aniqlash jadvalidan foydalaniladi.</a:t>
            </a:r>
          </a:p>
          <a:p>
            <a:pPr>
              <a:spcAft>
                <a:spcPts val="1200"/>
              </a:spcAft>
            </a:pPr>
            <a:r>
              <a:rPr sz="2200">
                <a:solidFill>
                  <a:srgbClr val="1F2937"/>
                </a:solidFill>
                <a:latin typeface="Calibri"/>
              </a:rPr>
              <a:t>▸  Zarur bo‘lsa, ekspertizaga tegishli klinik soha va vrach-mehnat ekspertizasi mutaxassislari jalb qilinadi.</a:t>
            </a:r>
          </a:p>
          <a:p>
            <a:pPr>
              <a:spcAft>
                <a:spcPts val="1200"/>
              </a:spcAft>
            </a:pPr>
            <a:r>
              <a:rPr sz="2200">
                <a:solidFill>
                  <a:srgbClr val="1F2937"/>
                </a:solidFill>
                <a:latin typeface="Calibri"/>
              </a:rPr>
              <a:t>▸  Yo‘qotilish 33% dan kam bo‘lmasa jarohat og‘ir, 10–33% bo‘lsa o‘rtacha og‘ir, 10% gacha bo‘lsa yengil (qisqa muddatli) deb baholanadi.</a:t>
            </a:r>
          </a:p>
          <a:p>
            <a:pPr>
              <a:spcAft>
                <a:spcPts val="1200"/>
              </a:spcAft>
            </a:pPr>
            <a:r>
              <a:rPr sz="2200">
                <a:solidFill>
                  <a:srgbClr val="1F2937"/>
                </a:solidFill>
                <a:latin typeface="Calibri"/>
              </a:rPr>
              <a:t>▸  Yelka, son, katta boldir, tirsak va tizza bo‘g‘imi suyaklari sinishi, quymich kosasi sinishi siljish bilan – tibbiy yordamdan qat’i nazar og‘ir.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Sog‘liq buzilishi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eng ko‘p qo‘llaniladigan mezon bo‘lib, ob’ektiv ma’lumotlar asosida kunlarda belgilanadi. 6 kungacha – yengil, 6–21 kun – qisqa muddatli yengil, 21 kundan ortiq – o‘rtacha og‘ir.</a:t>
            </a:r>
          </a:p>
          <a:p>
            <a:pPr>
              <a:spcAft>
                <a:spcPts val="1200"/>
              </a:spcAft>
            </a:pPr>
            <a:r>
              <a:rPr sz="2200">
                <a:solidFill>
                  <a:srgbClr val="1F2937"/>
                </a:solidFill>
                <a:latin typeface="Calibri"/>
              </a:rPr>
              <a:t>▸  Davolanish muddati sog‘liq buzilishi davomiyligi bilan aynan bir narsa emas, ular mos kelmasligi mumkin.</a:t>
            </a:r>
          </a:p>
          <a:p>
            <a:pPr>
              <a:spcAft>
                <a:spcPts val="1200"/>
              </a:spcAft>
            </a:pPr>
            <a:r>
              <a:rPr sz="2200">
                <a:solidFill>
                  <a:srgbClr val="1F2937"/>
                </a:solidFill>
                <a:latin typeface="Calibri"/>
              </a:rPr>
              <a:t>▸  Tibbiy yordamga murojaat qilmaslik yoki davolanmaslik jarohatdan sog‘liq buzilganini istisno qilmaydi.</a:t>
            </a:r>
          </a:p>
          <a:p>
            <a:pPr>
              <a:spcAft>
                <a:spcPts val="1200"/>
              </a:spcAft>
            </a:pPr>
            <a:r>
              <a:rPr sz="2200">
                <a:solidFill>
                  <a:srgbClr val="1F2937"/>
                </a:solidFill>
                <a:latin typeface="Calibri"/>
              </a:rPr>
              <a:t>▸  Diqqat: kasalliklar, kech murojaat yoki yordamdagi kamchiliklar tufayli cho‘zilgan davolanish muddati hisobga olinmaydi.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280-281, 281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Davomiylikni hisoblash: kunlar bo‘yicha daraja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Sog‘liq buzilishi davomiyligi ob’ektiv tibbiy ma’lumotlar asosida kunlarda belgilanadi.</a:t>
            </a:r>
          </a:p>
          <a:p>
            <a:pPr>
              <a:spcAft>
                <a:spcPts val="800"/>
              </a:spcAft>
            </a:pPr>
            <a:r>
              <a:rPr sz="1800">
                <a:solidFill>
                  <a:srgbClr val="1F2937"/>
                </a:solidFill>
                <a:latin typeface="Calibri"/>
              </a:rPr>
              <a:t>▸  Diqqat: buzilish davomiyligi anatomik tuzalish va davolanish muddatiga o‘xshaydi, lekin aynan emas.</a:t>
            </a:r>
          </a:p>
          <a:p>
            <a:pPr>
              <a:spcAft>
                <a:spcPts val="800"/>
              </a:spcAft>
            </a:pPr>
            <a:r>
              <a:rPr sz="1800">
                <a:solidFill>
                  <a:srgbClr val="1F2937"/>
                </a:solidFill>
                <a:latin typeface="Calibri"/>
              </a:rPr>
              <a:t>▸  Amaliyotda bu eng ko‘p qo‘llaniladigan mezon hisoblanadi.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40579"/>
                <a:gridCol w="2947395"/>
              </a:tblGrid>
              <a:tr h="411480">
                <a:tc>
                  <a:txBody>
                    <a:bodyPr/>
                    <a:lstStyle/>
                    <a:p>
                      <a:r>
                        <a:rPr sz="1400" b="1">
                          <a:solidFill>
                            <a:srgbClr val="FFFFFF"/>
                          </a:solidFill>
                        </a:rPr>
                        <a:t>Muddat</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6 kungacha</a:t>
                      </a:r>
                    </a:p>
                  </a:txBody>
                  <a:tcPr marL="73152" marR="73152" marT="36576" marB="36576">
                    <a:solidFill>
                      <a:srgbClr val="E8EEF6"/>
                    </a:solidFill>
                  </a:tcPr>
                </a:tc>
                <a:tc>
                  <a:txBody>
                    <a:bodyPr/>
                    <a:lstStyle/>
                    <a:p>
                      <a:r>
                        <a:rPr sz="1300" b="0">
                          <a:solidFill>
                            <a:srgbClr val="1F2937"/>
                          </a:solidFill>
                        </a:rPr>
                        <a:t>Yengil</a:t>
                      </a:r>
                    </a:p>
                  </a:txBody>
                  <a:tcPr marL="73152" marR="73152" marT="36576" marB="36576">
                    <a:solidFill>
                      <a:srgbClr val="E8EEF6"/>
                    </a:solidFill>
                  </a:tcPr>
                </a:tc>
              </a:tr>
              <a:tr h="411480">
                <a:tc>
                  <a:txBody>
                    <a:bodyPr/>
                    <a:lstStyle/>
                    <a:p>
                      <a:r>
                        <a:rPr sz="1300" b="0">
                          <a:solidFill>
                            <a:srgbClr val="1F2937"/>
                          </a:solidFill>
                        </a:rPr>
                        <a:t>6 kundan ortiq, 21 kungacha</a:t>
                      </a:r>
                    </a:p>
                  </a:txBody>
                  <a:tcPr marL="73152" marR="73152" marT="36576" marB="36576">
                    <a:solidFill>
                      <a:srgbClr val="FFFFFF"/>
                    </a:solidFill>
                  </a:tcPr>
                </a:tc>
                <a:tc>
                  <a:txBody>
                    <a:bodyPr/>
                    <a:lstStyle/>
                    <a:p>
                      <a:r>
                        <a:rPr sz="1300" b="0">
                          <a:solidFill>
                            <a:srgbClr val="1F2937"/>
                          </a:solidFill>
                        </a:rPr>
                        <a:t>Qisqa muddatli buzilishli yengil</a:t>
                      </a:r>
                    </a:p>
                  </a:txBody>
                  <a:tcPr marL="73152" marR="73152" marT="36576" marB="36576">
                    <a:solidFill>
                      <a:srgbClr val="FFFFFF"/>
                    </a:solidFill>
                  </a:tcPr>
                </a:tc>
              </a:tr>
              <a:tr h="411480">
                <a:tc>
                  <a:txBody>
                    <a:bodyPr/>
                    <a:lstStyle/>
                    <a:p>
                      <a:r>
                        <a:rPr sz="1300" b="0">
                          <a:solidFill>
                            <a:srgbClr val="1F2937"/>
                          </a:solidFill>
                        </a:rPr>
                        <a:t>21 kundan ortiq</a:t>
                      </a:r>
                    </a:p>
                  </a:txBody>
                  <a:tcPr marL="73152" marR="73152" marT="36576" marB="36576">
                    <a:solidFill>
                      <a:srgbClr val="E8EEF6"/>
                    </a:solidFill>
                  </a:tcPr>
                </a:tc>
                <a:tc>
                  <a:txBody>
                    <a:bodyPr/>
                    <a:lstStyle/>
                    <a:p>
                      <a:r>
                        <a:rPr sz="1300" b="0">
                          <a:solidFill>
                            <a:srgbClr val="1F2937"/>
                          </a:solidFill>
                        </a:rPr>
                        <a:t>O‘rtacha og‘ir</a:t>
                      </a:r>
                    </a:p>
                  </a:txBody>
                  <a:tcPr marL="73152" marR="73152" marT="36576" marB="36576">
                    <a:solidFill>
                      <a:srgbClr val="E8EEF6"/>
                    </a:solidFill>
                  </a:tcPr>
                </a:tc>
              </a:tr>
              <a:tr h="411480">
                <a:tc>
                  <a:txBody>
                    <a:bodyPr/>
                    <a:lstStyle/>
                    <a:p>
                      <a:r>
                        <a:rPr sz="1300" b="0">
                          <a:solidFill>
                            <a:srgbClr val="1F2937"/>
                          </a:solidFill>
                        </a:rPr>
                        <a:t>120 kundan ortiq</a:t>
                      </a:r>
                    </a:p>
                  </a:txBody>
                  <a:tcPr marL="73152" marR="73152" marT="36576" marB="36576">
                    <a:solidFill>
                      <a:srgbClr val="FFFFFF"/>
                    </a:solidFill>
                  </a:tcPr>
                </a:tc>
                <a:tc>
                  <a:txBody>
                    <a:bodyPr/>
                    <a:lstStyle/>
                    <a:p>
                      <a:r>
                        <a:rPr sz="1300" b="0">
                          <a:solidFill>
                            <a:srgbClr val="1F2937"/>
                          </a:solidFill>
                        </a:rPr>
                        <a:t>Shartli turg‘un yo‘qotish deyiladi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Kunlar va og‘irlik darajasi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280, 281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kech murojaat holati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jabrlanuvchida surunkali kasallik bor, shifokorga kech murojaat qilgan va davolanishi cho‘zilib ketgan.</a:t>
            </a:r>
          </a:p>
          <a:p>
            <a:pPr>
              <a:spcAft>
                <a:spcPts val="1200"/>
              </a:spcAft>
            </a:pPr>
            <a:r>
              <a:rPr sz="2200">
                <a:solidFill>
                  <a:srgbClr val="1F2937"/>
                </a:solidFill>
                <a:latin typeface="Calibri"/>
              </a:rPr>
              <a:t>▸  Savol: cho‘zilgan davolanish muddati jarohat og‘irligini baholashda to‘liq hisobga olinadimi?</a:t>
            </a:r>
          </a:p>
          <a:p>
            <a:pPr>
              <a:spcAft>
                <a:spcPts val="1200"/>
              </a:spcAft>
            </a:pPr>
            <a:r>
              <a:rPr sz="2200">
                <a:solidFill>
                  <a:srgbClr val="1F2937"/>
                </a:solidFill>
                <a:latin typeface="Calibri"/>
              </a:rPr>
              <a:t>▸  Javob: shaxsning kasalliklari, kech murojaati va tibbiy yordamdagi kamchiliklar tufayli cho‘zilgan muddat inobatga olinmaydi.</a:t>
            </a:r>
          </a:p>
          <a:p>
            <a:pPr>
              <a:spcAft>
                <a:spcPts val="1200"/>
              </a:spcAft>
            </a:pPr>
            <a:r>
              <a:rPr sz="2200">
                <a:solidFill>
                  <a:srgbClr val="1F2937"/>
                </a:solidFill>
                <a:latin typeface="Calibri"/>
              </a:rPr>
              <a:t>▸  Diqqat: tibbiy yordamga murojaat qilmaslik yoki davolanmaslik sog‘liq buzilganligini istisno qilmaydi.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Ko‘rish va so‘zlash qobiliyatining yo‘qotilishi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Ikkala ko‘zdagi qaytmas ko‘rlik yoki o‘tkirlik 0,04 va past bo‘lsa, jarohat og‘ir hisoblanadi.</a:t>
            </a:r>
          </a:p>
          <a:p>
            <a:pPr>
              <a:spcAft>
                <a:spcPts val="800"/>
              </a:spcAft>
            </a:pPr>
            <a:r>
              <a:rPr sz="1800">
                <a:solidFill>
                  <a:srgbClr val="1F2937"/>
                </a:solidFill>
                <a:latin typeface="Calibri"/>
              </a:rPr>
              <a:t>▸  So‘zlash qobiliyati — atrofdagilarga tushunarli tarzda fikr yetkazishning qaytmas yo‘qotilishi.</a:t>
            </a:r>
          </a:p>
          <a:p>
            <a:pPr>
              <a:spcAft>
                <a:spcPts val="800"/>
              </a:spcAft>
            </a:pPr>
            <a:r>
              <a:rPr sz="1800">
                <a:solidFill>
                  <a:srgbClr val="1F2937"/>
                </a:solidFill>
                <a:latin typeface="Calibri"/>
              </a:rPr>
              <a:t>▸  Diqqat: sog‘ ko‘z — mehnat qobiliyati foizi; ko‘rmaydigan ko‘z — buzilish kunlari.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3021700"/>
                <a:gridCol w="2266275"/>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Ikki ko‘zda ko‘rlik yoki o‘tkirlik ≤0,04</a:t>
                      </a:r>
                    </a:p>
                  </a:txBody>
                  <a:tcPr marL="73152" marR="73152" marT="36576" marB="36576">
                    <a:solidFill>
                      <a:srgbClr val="E8EEF6"/>
                    </a:solidFill>
                  </a:tcPr>
                </a:tc>
                <a:tc>
                  <a:txBody>
                    <a:bodyPr/>
                    <a:lstStyle/>
                    <a:p>
                      <a:r>
                        <a:rPr sz="1300" b="0">
                          <a:solidFill>
                            <a:srgbClr val="1F2937"/>
                          </a:solidFill>
                        </a:rPr>
                        <a:t>Og‘ir</a:t>
                      </a:r>
                    </a:p>
                  </a:txBody>
                  <a:tcPr marL="73152" marR="73152" marT="36576" marB="36576">
                    <a:solidFill>
                      <a:srgbClr val="E8EEF6"/>
                    </a:solidFill>
                  </a:tcPr>
                </a:tc>
              </a:tr>
              <a:tr h="411480">
                <a:tc>
                  <a:txBody>
                    <a:bodyPr/>
                    <a:lstStyle/>
                    <a:p>
                      <a:r>
                        <a:rPr sz="1300" b="0">
                          <a:solidFill>
                            <a:srgbClr val="1F2937"/>
                          </a:solidFill>
                        </a:rPr>
                        <a:t>Sog‘ bir ko‘zning yo‘qotilishi</a:t>
                      </a:r>
                    </a:p>
                  </a:txBody>
                  <a:tcPr marL="73152" marR="73152" marT="36576" marB="36576">
                    <a:solidFill>
                      <a:srgbClr val="FFFFFF"/>
                    </a:solidFill>
                  </a:tcPr>
                </a:tc>
                <a:tc>
                  <a:txBody>
                    <a:bodyPr/>
                    <a:lstStyle/>
                    <a:p>
                      <a:r>
                        <a:rPr sz="1300" b="0">
                          <a:solidFill>
                            <a:srgbClr val="1F2937"/>
                          </a:solidFill>
                        </a:rPr>
                        <a:t>Og‘ir: 1/3 dan ortiq yo‘qotish</a:t>
                      </a:r>
                    </a:p>
                  </a:txBody>
                  <a:tcPr marL="73152" marR="73152" marT="36576" marB="36576">
                    <a:solidFill>
                      <a:srgbClr val="FFFFFF"/>
                    </a:solidFill>
                  </a:tcPr>
                </a:tc>
              </a:tr>
              <a:tr h="411480">
                <a:tc>
                  <a:txBody>
                    <a:bodyPr/>
                    <a:lstStyle/>
                    <a:p>
                      <a:r>
                        <a:rPr sz="1300" b="0">
                          <a:solidFill>
                            <a:srgbClr val="1F2937"/>
                          </a:solidFill>
                        </a:rPr>
                        <a:t>Ko‘rmaydigan ko‘zning yo‘qotilishi</a:t>
                      </a:r>
                    </a:p>
                  </a:txBody>
                  <a:tcPr marL="73152" marR="73152" marT="36576" marB="36576">
                    <a:solidFill>
                      <a:srgbClr val="E8EEF6"/>
                    </a:solidFill>
                  </a:tcPr>
                </a:tc>
                <a:tc>
                  <a:txBody>
                    <a:bodyPr/>
                    <a:lstStyle/>
                    <a:p>
                      <a:r>
                        <a:rPr sz="1300" b="0">
                          <a:solidFill>
                            <a:srgbClr val="1F2937"/>
                          </a:solidFill>
                        </a:rPr>
                        <a:t>Buzilish davomiyligi bo‘yicha</a:t>
                      </a:r>
                    </a:p>
                  </a:txBody>
                  <a:tcPr marL="73152" marR="73152" marT="36576" marB="36576">
                    <a:solidFill>
                      <a:srgbClr val="E8EEF6"/>
                    </a:solidFill>
                  </a:tcPr>
                </a:tc>
              </a:tr>
              <a:tr h="411480">
                <a:tc>
                  <a:txBody>
                    <a:bodyPr/>
                    <a:lstStyle/>
                    <a:p>
                      <a:r>
                        <a:rPr sz="1300" b="0">
                          <a:solidFill>
                            <a:srgbClr val="1F2937"/>
                          </a:solidFill>
                        </a:rPr>
                        <a:t>Tilning to‘liq yoki yarmi yo‘qligi</a:t>
                      </a:r>
                    </a:p>
                  </a:txBody>
                  <a:tcPr marL="73152" marR="73152" marT="36576" marB="36576">
                    <a:solidFill>
                      <a:srgbClr val="FFFFFF"/>
                    </a:solidFill>
                  </a:tcPr>
                </a:tc>
                <a:tc>
                  <a:txBody>
                    <a:bodyPr/>
                    <a:lstStyle/>
                    <a:p>
                      <a:r>
                        <a:rPr sz="1300" b="0">
                          <a:solidFill>
                            <a:srgbClr val="1F2937"/>
                          </a:solidFill>
                        </a:rPr>
                        <a:t>Og‘ir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Ko‘rish va til: baholash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Eshitish va a’zo funksiyasi yo‘qotilishi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Ikkala quloqda tiklanmas to‘liq karlik yoki odatdagi nutqni quloq chanog‘idan 3-5 sm masofada eshitmaslik og‘ir tan jarohati hisoblanadi.</a:t>
            </a:r>
          </a:p>
          <a:p>
            <a:pPr>
              <a:spcAft>
                <a:spcPts val="1200"/>
              </a:spcAft>
            </a:pPr>
            <a:r>
              <a:rPr sz="2200">
                <a:solidFill>
                  <a:srgbClr val="1F2937"/>
                </a:solidFill>
                <a:latin typeface="Calibri"/>
              </a:rPr>
              <a:t>▸  Faqat bir quloqda eshitish yo‘qolsa, mehnat qobiliyatining uchdan biridan kami yo‘qoladi. Bunday jarohat o‘rtacha og‘ir deb baholanadi.</a:t>
            </a:r>
          </a:p>
          <a:p>
            <a:pPr>
              <a:spcAft>
                <a:spcPts val="1200"/>
              </a:spcAft>
            </a:pPr>
            <a:r>
              <a:rPr sz="2200">
                <a:solidFill>
                  <a:srgbClr val="1F2937"/>
                </a:solidFill>
                <a:latin typeface="Calibri"/>
              </a:rPr>
              <a:t>▸  Qo‘l yoki oyoqning yo‘qotilishi – tanadan uzilishi yoki faoliyatining turg‘un yo‘qolishi (falajlik). Kaft yoki tovon yo‘qotilishi ularga tenglashtiriladi.</a:t>
            </a:r>
          </a:p>
          <a:p>
            <a:pPr>
              <a:spcAft>
                <a:spcPts val="1200"/>
              </a:spcAft>
            </a:pPr>
            <a:r>
              <a:rPr sz="2200">
                <a:solidFill>
                  <a:srgbClr val="1F2937"/>
                </a:solidFill>
                <a:latin typeface="Calibri"/>
              </a:rPr>
              <a:t>▸  Nasl qoldirish qobiliyati yoki a’zo funksiyasi yo‘qolsa, jarohat og‘ir bo‘ladi. Bitta urug‘don, tuxumdon yoki buyrak yo‘qotilishi ham og‘ir sanaladi.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ko‘rish va eshitish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bir ko‘zda ko‘rish to‘liq yo‘qolsa, jarohat qaysi darajada baholanadi va nima uchun?</a:t>
            </a:r>
          </a:p>
          <a:p>
            <a:pPr>
              <a:spcAft>
                <a:spcPts val="1200"/>
              </a:spcAft>
            </a:pPr>
            <a:r>
              <a:rPr sz="2200">
                <a:solidFill>
                  <a:srgbClr val="1F2937"/>
                </a:solidFill>
                <a:latin typeface="Calibri"/>
              </a:rPr>
              <a:t>▸  Javob: og‘ir. Mehnat qobiliyatining uchdan biridan ortig‘i yo‘qoladi, shuning uchun mezon shu belgi bo‘yicha qo‘llanadi.</a:t>
            </a:r>
          </a:p>
          <a:p>
            <a:pPr>
              <a:spcAft>
                <a:spcPts val="1200"/>
              </a:spcAft>
            </a:pPr>
            <a:r>
              <a:rPr sz="2200">
                <a:solidFill>
                  <a:srgbClr val="1F2937"/>
                </a:solidFill>
                <a:latin typeface="Calibri"/>
              </a:rPr>
              <a:t>▸  Savol: bir quloq eshitmay qolsa-chi? Javob: o‘rtacha og‘ir, chunki yo‘qotish mehnat qobiliyatining uchdan biridan kam.</a:t>
            </a:r>
          </a:p>
          <a:p>
            <a:pPr>
              <a:spcAft>
                <a:spcPts val="1200"/>
              </a:spcAft>
            </a:pPr>
            <a:r>
              <a:rPr sz="2200">
                <a:solidFill>
                  <a:srgbClr val="1F2937"/>
                </a:solidFill>
                <a:latin typeface="Calibri"/>
              </a:rPr>
              <a:t>▸  Diqqat: xato qilish xavfi – bir ko‘z ≠ bir quloq. Bir ko‘z yo‘qolsa og‘ir, bir quloq yo‘qolsa o‘rtacha og‘ir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281, 282, 281-282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Homiladorlikning 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tufayli homila tushishi, onasi qornida o‘lishi yoki erta tug‘ruq bilan homiladorlik to‘xtashi shu mezonga kiradi. Muddat ahamiyatsiz.</a:t>
            </a:r>
          </a:p>
          <a:p>
            <a:pPr>
              <a:spcAft>
                <a:spcPts val="1200"/>
              </a:spcAft>
            </a:pPr>
            <a:r>
              <a:rPr sz="2200">
                <a:solidFill>
                  <a:srgbClr val="1F2937"/>
                </a:solidFill>
                <a:latin typeface="Calibri"/>
              </a:rPr>
              <a:t>▸  Mezon faqat o‘lik yoki tirik, ammo hayotga layoqatsiz go‘dak tug‘ilganda qo‘llanadi. Sabab bo‘lgan jarohat og‘ir baholanadi.</a:t>
            </a:r>
          </a:p>
          <a:p>
            <a:pPr>
              <a:spcAft>
                <a:spcPts val="1200"/>
              </a:spcAft>
            </a:pPr>
            <a:r>
              <a:rPr sz="2200">
                <a:solidFill>
                  <a:srgbClr val="1F2937"/>
                </a:solidFill>
                <a:latin typeface="Calibri"/>
              </a:rPr>
              <a:t>▸  Uzilish jarohat bilan bevosita bog‘liq bo‘lishi kerak. U ayol yoki homilaning oldingi kasalliklariga aloqador bo‘lmasligi lozim.</a:t>
            </a:r>
          </a:p>
          <a:p>
            <a:pPr>
              <a:spcAft>
                <a:spcPts val="1200"/>
              </a:spcAft>
            </a:pPr>
            <a:r>
              <a:rPr sz="2200">
                <a:solidFill>
                  <a:srgbClr val="1F2937"/>
                </a:solidFill>
                <a:latin typeface="Calibri"/>
              </a:rPr>
              <a:t>▸  Ekspertiza akusher-ginekologlar ishtirokida o‘tadi. Hayotga layoqatli go‘dak yoki bachadondan tashqari homiladorlikda boshqa mezonlar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282, 282-283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Ruhiy buzilish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Ruhiy buzilish ba’zan tan jarohati, birinchi navbatda bosh sohasi shikastlanishi oqibatida paydo bo‘ladi.</a:t>
            </a:r>
          </a:p>
          <a:p>
            <a:pPr>
              <a:spcAft>
                <a:spcPts val="1200"/>
              </a:spcAft>
            </a:pPr>
            <a:r>
              <a:rPr sz="2200">
                <a:solidFill>
                  <a:srgbClr val="1F2937"/>
                </a:solidFill>
                <a:latin typeface="Calibri"/>
              </a:rPr>
              <a:t>▸  Ekspertlar komissiyasiga sud-psixiatriya eksperti yoki vrach-psixiatrlar kiritiladi. Zarur bo‘lsa, nevrolog va neyroxirurg ham jalb qilinadi.</a:t>
            </a:r>
          </a:p>
          <a:p>
            <a:pPr>
              <a:spcAft>
                <a:spcPts val="1200"/>
              </a:spcAft>
            </a:pPr>
            <a:r>
              <a:rPr sz="2200">
                <a:solidFill>
                  <a:srgbClr val="1F2937"/>
                </a:solidFill>
                <a:latin typeface="Calibri"/>
              </a:rPr>
              <a:t>▸  Aniqlanadi: buzilish bormi, shikastlanishgacha bo‘lmaganmi, hodisaga aloqador jarohat nima va ular o‘rtasida sabab-oqibat bog‘lanish bormi.</a:t>
            </a:r>
          </a:p>
          <a:p>
            <a:pPr>
              <a:spcAft>
                <a:spcPts val="1200"/>
              </a:spcAft>
            </a:pPr>
            <a:r>
              <a:rPr sz="2200">
                <a:solidFill>
                  <a:srgbClr val="1F2937"/>
                </a:solidFill>
                <a:latin typeface="Calibri"/>
              </a:rPr>
              <a:t>▸  Diqqat: jarohat og‘ir deb baholanishi uchun faqat bevosita sababiy bog‘liqlik kerak. Boshqa kasallik tufayli buzilish bunga kirmaydi.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Silliqlanmaydigan badburushlik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Badburushlik mavjudligini aniqlash sudning vakolatiga kiradi. Ekspert uni hal qilmaydi.</a:t>
            </a:r>
          </a:p>
          <a:p>
            <a:pPr>
              <a:spcAft>
                <a:spcPts val="1200"/>
              </a:spcAft>
            </a:pPr>
            <a:r>
              <a:rPr sz="2200">
                <a:solidFill>
                  <a:srgbClr val="1F2937"/>
                </a:solidFill>
                <a:latin typeface="Calibri"/>
              </a:rPr>
              <a:t>▸  Sud-tibbiy ekspertiza jarohat va uning izlari silliqlanadimi yoki yo‘qmi, shuni aniqlaydi.</a:t>
            </a:r>
          </a:p>
          <a:p>
            <a:pPr>
              <a:spcAft>
                <a:spcPts val="1200"/>
              </a:spcAft>
            </a:pPr>
            <a:r>
              <a:rPr sz="2200">
                <a:solidFill>
                  <a:srgbClr val="1F2937"/>
                </a:solidFill>
                <a:latin typeface="Calibri"/>
              </a:rPr>
              <a:t>▸  Silliqlanmaydigan o‘zgarish vaqt o‘tishi yoki konservativ muolaja bilan yo‘qolmaydi. Uni bartaraf etish uchun jarrohlik (masalan, plastik operatsiya) kerak bo‘ladi.</a:t>
            </a:r>
          </a:p>
          <a:p>
            <a:pPr>
              <a:spcAft>
                <a:spcPts val="1200"/>
              </a:spcAft>
            </a:pPr>
            <a:r>
              <a:rPr sz="2200">
                <a:solidFill>
                  <a:srgbClr val="1F2937"/>
                </a:solidFill>
                <a:latin typeface="Calibri"/>
              </a:rPr>
              <a:t>▸  Ekspertiza tegishli klinitsist-mutaxassislar (kosmetolog, plastik jarroh va b.) ishtirokida o‘tkaziladi. Bunday jarohat og‘ir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 nechta mezon va ko‘p jarohat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Bitta tibbiy mezon yetarli. Bir nechtasi bo‘lsa, og‘irroq darajadagi mezon tanlanadi.</a:t>
            </a:r>
          </a:p>
          <a:p>
            <a:pPr>
              <a:spcAft>
                <a:spcPts val="800"/>
              </a:spcAft>
            </a:pPr>
            <a:r>
              <a:rPr sz="1800">
                <a:solidFill>
                  <a:srgbClr val="1F2937"/>
                </a:solidFill>
                <a:latin typeface="Calibri"/>
              </a:rPr>
              <a:t>▸  Bir hodisadagi jarohatlar bir-birining kechishini og‘irlashtirsa, daraja ularning majmui uchun aniqlanadi.</a:t>
            </a:r>
          </a:p>
          <a:p>
            <a:pPr>
              <a:spcAft>
                <a:spcPts val="800"/>
              </a:spcAft>
            </a:pPr>
            <a:r>
              <a:rPr sz="1800">
                <a:solidFill>
                  <a:srgbClr val="1F2937"/>
                </a:solidFill>
                <a:latin typeface="Calibri"/>
              </a:rPr>
              <a:t>▸  Turli muddatda yetkazilgan jarohatlar har biri uchun alohida baholanadi.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766017"/>
                <a:gridCol w="2521957"/>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Baholash</a:t>
                      </a:r>
                    </a:p>
                  </a:txBody>
                  <a:tcPr marL="73152" marR="73152" marT="36576" marB="36576">
                    <a:solidFill>
                      <a:srgbClr val="0B1F3A"/>
                    </a:solidFill>
                  </a:tcPr>
                </a:tc>
              </a:tr>
              <a:tr h="411480">
                <a:tc>
                  <a:txBody>
                    <a:bodyPr/>
                    <a:lstStyle/>
                    <a:p>
                      <a:r>
                        <a:rPr sz="1300" b="0">
                          <a:solidFill>
                            <a:srgbClr val="1F2937"/>
                          </a:solidFill>
                        </a:rPr>
                        <a:t>Bitta mezon mavjud</a:t>
                      </a:r>
                    </a:p>
                  </a:txBody>
                  <a:tcPr marL="73152" marR="73152" marT="36576" marB="36576">
                    <a:solidFill>
                      <a:srgbClr val="E8EEF6"/>
                    </a:solidFill>
                  </a:tcPr>
                </a:tc>
                <a:tc>
                  <a:txBody>
                    <a:bodyPr/>
                    <a:lstStyle/>
                    <a:p>
                      <a:r>
                        <a:rPr sz="1300" b="0">
                          <a:solidFill>
                            <a:srgbClr val="1F2937"/>
                          </a:solidFill>
                        </a:rPr>
                        <a:t>Shu mezon yetarli</a:t>
                      </a:r>
                    </a:p>
                  </a:txBody>
                  <a:tcPr marL="73152" marR="73152" marT="36576" marB="36576">
                    <a:solidFill>
                      <a:srgbClr val="E8EEF6"/>
                    </a:solidFill>
                  </a:tcPr>
                </a:tc>
              </a:tr>
              <a:tr h="411480">
                <a:tc>
                  <a:txBody>
                    <a:bodyPr/>
                    <a:lstStyle/>
                    <a:p>
                      <a:r>
                        <a:rPr sz="1300" b="0">
                          <a:solidFill>
                            <a:srgbClr val="1F2937"/>
                          </a:solidFill>
                        </a:rPr>
                        <a:t>Bir nechta mezon mavjud</a:t>
                      </a:r>
                    </a:p>
                  </a:txBody>
                  <a:tcPr marL="73152" marR="73152" marT="36576" marB="36576">
                    <a:solidFill>
                      <a:srgbClr val="FFFFFF"/>
                    </a:solidFill>
                  </a:tcPr>
                </a:tc>
                <a:tc>
                  <a:txBody>
                    <a:bodyPr/>
                    <a:lstStyle/>
                    <a:p>
                      <a:r>
                        <a:rPr sz="1300" b="0">
                          <a:solidFill>
                            <a:srgbClr val="1F2937"/>
                          </a:solidFill>
                        </a:rPr>
                        <a:t>Og‘irroq darajali mezon olinadi</a:t>
                      </a:r>
                    </a:p>
                  </a:txBody>
                  <a:tcPr marL="73152" marR="73152" marT="36576" marB="36576">
                    <a:solidFill>
                      <a:srgbClr val="FFFFFF"/>
                    </a:solidFill>
                  </a:tcPr>
                </a:tc>
              </a:tr>
              <a:tr h="411480">
                <a:tc>
                  <a:txBody>
                    <a:bodyPr/>
                    <a:lstStyle/>
                    <a:p>
                      <a:r>
                        <a:rPr sz="1300" b="0">
                          <a:solidFill>
                            <a:srgbClr val="1F2937"/>
                          </a:solidFill>
                        </a:rPr>
                        <a:t>Bir vaqtda, o‘zaro og‘irlashtirgan</a:t>
                      </a:r>
                    </a:p>
                  </a:txBody>
                  <a:tcPr marL="73152" marR="73152" marT="36576" marB="36576">
                    <a:solidFill>
                      <a:srgbClr val="E8EEF6"/>
                    </a:solidFill>
                  </a:tcPr>
                </a:tc>
                <a:tc>
                  <a:txBody>
                    <a:bodyPr/>
                    <a:lstStyle/>
                    <a:p>
                      <a:r>
                        <a:rPr sz="1300" b="0">
                          <a:solidFill>
                            <a:srgbClr val="1F2937"/>
                          </a:solidFill>
                        </a:rPr>
                        <a:t>Majmui uchun umumiy daraja</a:t>
                      </a:r>
                    </a:p>
                  </a:txBody>
                  <a:tcPr marL="73152" marR="73152" marT="36576" marB="36576">
                    <a:solidFill>
                      <a:srgbClr val="E8EEF6"/>
                    </a:solidFill>
                  </a:tcPr>
                </a:tc>
              </a:tr>
              <a:tr h="411480">
                <a:tc>
                  <a:txBody>
                    <a:bodyPr/>
                    <a:lstStyle/>
                    <a:p>
                      <a:r>
                        <a:rPr sz="1300" b="0">
                          <a:solidFill>
                            <a:srgbClr val="1F2937"/>
                          </a:solidFill>
                        </a:rPr>
                        <a:t>Turli muddatdagi jarohatlar</a:t>
                      </a:r>
                    </a:p>
                  </a:txBody>
                  <a:tcPr marL="73152" marR="73152" marT="36576" marB="36576">
                    <a:solidFill>
                      <a:srgbClr val="FFFFFF"/>
                    </a:solidFill>
                  </a:tcPr>
                </a:tc>
                <a:tc>
                  <a:txBody>
                    <a:bodyPr/>
                    <a:lstStyle/>
                    <a:p>
                      <a:r>
                        <a:rPr sz="1300" b="0">
                          <a:solidFill>
                            <a:srgbClr val="1F2937"/>
                          </a:solidFill>
                        </a:rPr>
                        <a:t>Har biri alohida baholanadi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Mezonlarni qo‘llash tartibi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Ilgari mavjud kasallik va daraja aniqlanmaydigan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Ilgari kasalligi bo‘lgan yoki a’zosi faoliyati yo‘qotilgan shaxsda faqat yangi jarohatdan kelib chiqqan va u bilan sababiy bog‘langan oqibat baholanadi.</a:t>
            </a:r>
          </a:p>
          <a:p>
            <a:pPr>
              <a:spcAft>
                <a:spcPts val="1200"/>
              </a:spcAft>
            </a:pPr>
            <a:r>
              <a:rPr sz="2200">
                <a:solidFill>
                  <a:srgbClr val="1F2937"/>
                </a:solidFill>
                <a:latin typeface="Calibri"/>
              </a:rPr>
              <a:t>▸  Diqqat: yosh va kasallik kabi individual xususiyatlar tufayli yomonlashgan salomatlik og‘irlik darajasini aniqlashda hisobga olinmaydi.</a:t>
            </a:r>
          </a:p>
          <a:p>
            <a:pPr>
              <a:spcAft>
                <a:spcPts val="1200"/>
              </a:spcAft>
            </a:pPr>
            <a:r>
              <a:rPr sz="2200">
                <a:solidFill>
                  <a:srgbClr val="1F2937"/>
                </a:solidFill>
                <a:latin typeface="Calibri"/>
              </a:rPr>
              <a:t>▸  Kech murojaat, noto‘g‘ri tashxis yoki davodagi kamchiliklar tufayli yuzaga kelgan yomonlashuv ham jarohat og‘irligiga qo‘shilmaydi.</a:t>
            </a:r>
          </a:p>
          <a:p>
            <a:pPr>
              <a:spcAft>
                <a:spcPts val="1200"/>
              </a:spcAft>
            </a:pPr>
            <a:r>
              <a:rPr sz="2200">
                <a:solidFill>
                  <a:srgbClr val="1F2937"/>
                </a:solidFill>
                <a:latin typeface="Calibri"/>
              </a:rPr>
              <a:t>▸  Materiallar va tekshiruvlar jarohat mohiyatini aniqlashga imkon bermasa yoki oqibat mavhum bo‘lsa, og‘irlik darajasi aniqlanmaydi.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ilgari kasal shaxs jarohati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surunkali kasalligi bor shaxsga jarohat yetkazildi. U shifokorga kech murojaat qildi va holati yomonlashdi.</a:t>
            </a:r>
          </a:p>
          <a:p>
            <a:pPr>
              <a:spcAft>
                <a:spcPts val="1200"/>
              </a:spcAft>
            </a:pPr>
            <a:r>
              <a:rPr sz="2200">
                <a:solidFill>
                  <a:srgbClr val="1F2937"/>
                </a:solidFill>
                <a:latin typeface="Calibri"/>
              </a:rPr>
              <a:t>▸  Savol 1: holatning yomonlashuvi jarohat og‘irligini aniqlashda hisobga olinadimi? Qaysi ikki omil bunga to‘sqinlik qiladi?</a:t>
            </a:r>
          </a:p>
          <a:p>
            <a:pPr>
              <a:spcAft>
                <a:spcPts val="1200"/>
              </a:spcAft>
            </a:pPr>
            <a:r>
              <a:rPr sz="2200">
                <a:solidFill>
                  <a:srgbClr val="1F2937"/>
                </a:solidFill>
                <a:latin typeface="Calibri"/>
              </a:rPr>
              <a:t>▸  Savol 2: ekspert aynan nimani baholaydi — mavjud kasallikni yoki yangi jarohat bilan sababiy bog‘langan oqibatni?</a:t>
            </a:r>
          </a:p>
          <a:p>
            <a:pPr>
              <a:spcAft>
                <a:spcPts val="1200"/>
              </a:spcAft>
            </a:pPr>
            <a:r>
              <a:rPr sz="2200">
                <a:solidFill>
                  <a:srgbClr val="1F2937"/>
                </a:solidFill>
                <a:latin typeface="Calibri"/>
              </a:rPr>
              <a:t>▸  Javob yo‘nalishi: individual xususiyat va kech murojaat hisobga olinmaydi; faqat jarohat bilan bog‘liq oqibat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o‘tkazishning huquqiy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Tirik shaxslar ekspertizasi Jinoyat, Jinoyat-protsessual, Fuqarolik, Fuqarolik protsessual va Ma’muriy javobgarlik kodekslari talablariga rioya qilib o‘tkaziladi.</a:t>
            </a:r>
          </a:p>
          <a:p>
            <a:pPr>
              <a:spcAft>
                <a:spcPts val="1200"/>
              </a:spcAft>
            </a:pPr>
            <a:r>
              <a:rPr sz="2000">
                <a:solidFill>
                  <a:srgbClr val="1F2937"/>
                </a:solidFill>
                <a:latin typeface="Calibri"/>
              </a:rPr>
              <a:t>▸  Shuningdek, “Fuqarolar sog‘lig‘ini saqlash to‘g‘risida” va “Sud ekspertizasi to‘g‘risida” qonunlari hamda Yo‘riqnoma va tegishli qoidalar qo‘llaniladi.</a:t>
            </a:r>
          </a:p>
          <a:p>
            <a:pPr>
              <a:spcAft>
                <a:spcPts val="1200"/>
              </a:spcAft>
            </a:pPr>
            <a:r>
              <a:rPr sz="2000">
                <a:solidFill>
                  <a:srgbClr val="1F2937"/>
                </a:solidFill>
                <a:latin typeface="Calibri"/>
              </a:rPr>
              <a:t>▸  Tartib va metodika ekspertiza tayinlanishiga olib kelgan hodisaning xususiyatlari hamda ekspertiza oldiga qo‘yilgan vazifalarga bog‘liq.</a:t>
            </a:r>
          </a:p>
          <a:p>
            <a:pPr>
              <a:spcAft>
                <a:spcPts val="1200"/>
              </a:spcAft>
            </a:pPr>
            <a:r>
              <a:rPr sz="2000">
                <a:solidFill>
                  <a:srgbClr val="1F2937"/>
                </a:solidFill>
                <a:latin typeface="Calibri"/>
              </a:rPr>
              <a:t>▸  Shu sababli tirik shaxslar ekspertizasining har bir turi o‘ziga xos xususiyatga ega, ammo umumiy algoritm mavjud: hodisa tafsilotlari va tibbiy hujjatlarni o‘rganishdan boshlanadi.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algoritmi: 6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shaxslar ekspertizasi umumiy algoritm bo‘yicha olti bosqichda o‘tkaziladi.</a:t>
            </a:r>
          </a:p>
          <a:p>
            <a:pPr>
              <a:spcAft>
                <a:spcPts val="800"/>
              </a:spcAft>
            </a:pPr>
            <a:r>
              <a:rPr sz="1800">
                <a:solidFill>
                  <a:srgbClr val="1F2937"/>
                </a:solidFill>
                <a:latin typeface="Calibri"/>
              </a:rPr>
              <a:t>▸  Avval hodisa tafsilotlari va tibbiy hujjatlar o‘rganiladi, so‘ng shaxs so‘raladi va ko‘rikdan o‘tadi.</a:t>
            </a:r>
          </a:p>
          <a:p>
            <a:pPr>
              <a:spcAft>
                <a:spcPts val="800"/>
              </a:spcAft>
            </a:pPr>
            <a:r>
              <a:rPr sz="1800">
                <a:solidFill>
                  <a:srgbClr val="1F2937"/>
                </a:solidFill>
                <a:latin typeface="Calibri"/>
              </a:rPr>
              <a:t>▸  Zarur bo‘lsa, qo‘shimcha tekshiruv va mutaxassis maslahati olinadi; yakunda ekspert xulosasi tuziladi.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Hodisa va hujjatlar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Shaxsning so‘rovi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Ko‘rik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Qo‘shimcha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 Ekspert xulosasi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299-300, 300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hujjatlar va shaxsni tasdiqlash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hujjatlarning asl nusxalari berilishi kerak. Ularning ishonchliligi uchun ekspertizani tayinlagan shaxs javob beradi.</a:t>
            </a:r>
          </a:p>
          <a:p>
            <a:pPr>
              <a:spcAft>
                <a:spcPts val="1200"/>
              </a:spcAft>
            </a:pPr>
            <a:r>
              <a:rPr sz="2200">
                <a:solidFill>
                  <a:srgbClr val="1F2937"/>
                </a:solidFill>
                <a:latin typeface="Calibri"/>
              </a:rPr>
              <a:t>▸  Hujjatlarni ko‘rikdan oldin o‘rganish so‘rov va ko‘rikda nimaga e’tibor berishni belgilaydi. Jarohatning ilk holatini aniqlashda ayniqsa muhim.</a:t>
            </a:r>
          </a:p>
          <a:p>
            <a:pPr>
              <a:spcAft>
                <a:spcPts val="1200"/>
              </a:spcAft>
            </a:pPr>
            <a:r>
              <a:rPr sz="2200">
                <a:solidFill>
                  <a:srgbClr val="1F2937"/>
                </a:solidFill>
                <a:latin typeface="Calibri"/>
              </a:rPr>
              <a:t>▸  Shaxs pasport, harbiy bilet yoki tug‘ilganlik guvohnomasi bilan tasdiqlanadi. Istisno holda uni ekspertiza tayinlagan shaxs tasdiqlaydi.</a:t>
            </a:r>
          </a:p>
          <a:p>
            <a:pPr>
              <a:spcAft>
                <a:spcPts val="1200"/>
              </a:spcAft>
            </a:pPr>
            <a:r>
              <a:rPr sz="2200">
                <a:solidFill>
                  <a:srgbClr val="1F2937"/>
                </a:solidFill>
                <a:latin typeface="Calibri"/>
              </a:rPr>
              <a:t>▸  Jinsiy holat va jinoyatlar bo‘yicha ekspertizada shaxsni tasdiqlovchi hujjatdan tashqari ikkita fotosurat ham taqdim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So‘rov va ko‘rik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 jarohatlarida so‘rovda shikast qachon, qayerda, kim tomonidan, nima bilan, tananing qaysi sohasiga va necha marta ta’sir etgani aniqlanadi.</a:t>
            </a:r>
          </a:p>
          <a:p>
            <a:pPr>
              <a:spcAft>
                <a:spcPts val="1200"/>
              </a:spcAft>
            </a:pPr>
            <a:r>
              <a:rPr sz="2200">
                <a:solidFill>
                  <a:srgbClr val="1F2937"/>
                </a:solidFill>
                <a:latin typeface="Calibri"/>
              </a:rPr>
              <a:t>▸  Shikastlanishdan keyingi holat va tibbiy yordamga murojaat so‘raladi. So‘rov ko‘rik vaqtidagi shikoyatlar bilan yakunlanadi.</a:t>
            </a:r>
          </a:p>
          <a:p>
            <a:pPr>
              <a:spcAft>
                <a:spcPts val="1200"/>
              </a:spcAft>
            </a:pPr>
            <a:r>
              <a:rPr sz="2200">
                <a:solidFill>
                  <a:srgbClr val="1F2937"/>
                </a:solidFill>
                <a:latin typeface="Calibri"/>
              </a:rPr>
              <a:t>▸  Ko‘rikda jarohatning turi, joyi, shakli, o‘lchami, rangi va atrofidagi teri holati o‘rganiladi. Rasmga faqat shaxsning ruxsati bilan olinadi.</a:t>
            </a:r>
          </a:p>
          <a:p>
            <a:pPr>
              <a:spcAft>
                <a:spcPts val="1200"/>
              </a:spcAft>
            </a:pPr>
            <a:r>
              <a:rPr sz="2200">
                <a:solidFill>
                  <a:srgbClr val="1F2937"/>
                </a:solidFill>
                <a:latin typeface="Calibri"/>
              </a:rPr>
              <a:t>▸  Zarur bo‘lsa, ko‘rik nevropatolog, akusher-ginekolog, urolog, proktolog yoki androlog bilan birga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300, 301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Ko‘rikda ishtirok etuvchilar va davolanayotganlar ko‘rigi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Ekspertiza tayinlagan shaxs (tergovchi, surishtiruvchi) ko‘rikda qatnashishi mumkin. Faqat o‘zga jinsli shaxs yalang‘ochlanganda u ko‘rik xonasidan chiqib turishi shart.</a:t>
            </a:r>
          </a:p>
          <a:p>
            <a:pPr>
              <a:spcAft>
                <a:spcPts val="1200"/>
              </a:spcAft>
            </a:pPr>
            <a:r>
              <a:rPr sz="2000">
                <a:solidFill>
                  <a:srgbClr val="1F2937"/>
                </a:solidFill>
                <a:latin typeface="Calibri"/>
              </a:rPr>
              <a:t>▸  Balog‘atga yetmaganlar ko‘rigi ota-onasi yoki pedagoglari ishtirokida o‘tadi. Muomalaga layoqatsizlar ko‘rigi esa qonuniy vakili ishtirokida o‘tkaziladi.</a:t>
            </a:r>
          </a:p>
          <a:p>
            <a:pPr>
              <a:spcAft>
                <a:spcPts val="1200"/>
              </a:spcAft>
            </a:pPr>
            <a:r>
              <a:rPr sz="2000">
                <a:solidFill>
                  <a:srgbClr val="1F2937"/>
                </a:solidFill>
                <a:latin typeface="Calibri"/>
              </a:rPr>
              <a:t>▸  Davolanayotgan bemor ko‘rigi faqat sog‘lig‘i ruxsat bersa o‘tkaziladi. Unda ekspertiza tayinlagan shaxs yoki vakili hamda bo‘lim mudiri yoki davolovchi vrach qatnashadi.</a:t>
            </a:r>
          </a:p>
          <a:p>
            <a:pPr>
              <a:spcAft>
                <a:spcPts val="1200"/>
              </a:spcAft>
            </a:pPr>
            <a:r>
              <a:rPr sz="2000">
                <a:solidFill>
                  <a:srgbClr val="1F2937"/>
                </a:solidFill>
                <a:latin typeface="Calibri"/>
              </a:rPr>
              <a:t>▸  Diqqat: ko‘rik o‘tkazilgani haqidagi ma’lumot kasallik tarixiga yoziladi. Aniqlangan jarohatlar faqat shaxsning ruxsati bilan suratga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yakuniy muhokama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 kodeksi (104, 105, 109-moddalar) bo‘yicha tan jarohatlari og‘ir, o‘rtacha og‘ir va yengil darajalarga bo‘linadi. Yengilning ikki turi ajratiladi.</a:t>
            </a:r>
          </a:p>
          <a:p>
            <a:pPr>
              <a:spcAft>
                <a:spcPts val="1200"/>
              </a:spcAft>
            </a:pPr>
            <a:r>
              <a:rPr sz="2200">
                <a:solidFill>
                  <a:srgbClr val="1F2937"/>
                </a:solidFill>
                <a:latin typeface="Calibri"/>
              </a:rPr>
              <a:t>▸  Sog‘liq buzilishi muddati: 6 kungacha – yengil; 6 dan 21 kungacha – qisqa muddatli yengil; 21 kundan ortiq – o‘rtacha og‘ir.</a:t>
            </a:r>
          </a:p>
          <a:p>
            <a:pPr>
              <a:spcAft>
                <a:spcPts val="1200"/>
              </a:spcAft>
            </a:pPr>
            <a:r>
              <a:rPr sz="2200">
                <a:solidFill>
                  <a:srgbClr val="1F2937"/>
                </a:solidFill>
                <a:latin typeface="Calibri"/>
              </a:rPr>
              <a:t>▸  Diqqat: sud-tibbiy baholash klinik baholash bilan bir xil emas. Maqsad va mezonlari farq qilgani uchun natijalari mos kelmasligi mumkin. Bir nechta mezon bo‘lsa, og‘irrog‘i olinadi.</a:t>
            </a:r>
          </a:p>
          <a:p>
            <a:pPr>
              <a:spcAft>
                <a:spcPts val="1200"/>
              </a:spcAft>
            </a:pPr>
            <a:r>
              <a:rPr sz="2200">
                <a:solidFill>
                  <a:srgbClr val="1F2937"/>
                </a:solidFill>
                <a:latin typeface="Calibri"/>
              </a:rPr>
              <a:t>▸  Ekspertiza algoritmi: hodisa tafsiloti, tibbiy hujjatlar, so‘rov, ko‘rik, qo‘shimcha tekshiruvlar va maslahatlar, oxirida ekspert xulosasi.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276-277, 281, 278, 283, 299-300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sog‘liq buzilishi kunlari bo‘yicha “6 va 21” chegaralari. 6 kungacha – yengil; 6 kundan ortiq, 21 kungacha – qisqa muddatli buzilish bilan yengil; 21 kundan ortiq – o‘rtacha og‘ir.</a:t>
            </a:r>
          </a:p>
          <a:p>
            <a:pPr>
              <a:spcAft>
                <a:spcPts val="1200"/>
              </a:spcAft>
            </a:pPr>
            <a:r>
              <a:rPr sz="1800">
                <a:solidFill>
                  <a:srgbClr val="1F2937"/>
                </a:solidFill>
                <a:latin typeface="Calibri"/>
              </a:rPr>
              <a:t>▸  Qiziq farq: bir ko‘zning to‘liq ko‘rmay qolishi umumiy mehnat qobiliyatining uchdan biridan ortig‘ini yo‘qotadi va og‘ir jarohat sanaladi. Bir quloqning eshitishini yo‘qotish esa o‘rtacha og‘ir jarohat hisoblanadi.</a:t>
            </a:r>
          </a:p>
          <a:p>
            <a:pPr>
              <a:spcAft>
                <a:spcPts val="1200"/>
              </a:spcAft>
            </a:pPr>
            <a:r>
              <a:rPr sz="1800">
                <a:solidFill>
                  <a:srgbClr val="1F2937"/>
                </a:solidFill>
                <a:latin typeface="Calibri"/>
              </a:rPr>
              <a:t>▸  Hodisa tahlili: shifokorlar “klinik og‘ir ahvol” va “sud-tibbiy og‘ir jarohat”ni aralashtirmasligi kerak. Maqsad va mezonlar boshqa bo‘lgani uchun ikki baho bir-biriga mos kelmasligi mumkin.</a:t>
            </a:r>
          </a:p>
          <a:p>
            <a:pPr>
              <a:spcAft>
                <a:spcPts val="1200"/>
              </a:spcAft>
            </a:pPr>
            <a:r>
              <a:rPr sz="1800">
                <a:solidFill>
                  <a:srgbClr val="1F2937"/>
                </a:solidFill>
                <a:latin typeface="Calibri"/>
              </a:rPr>
              <a:t>▸  Vaqt omili: qizlik pardasi jarohati chandiqlanishi bilan uch haftadan so‘ng uning muddatini aniqlab bo‘lmaydi. Maniy qinda odatda 3-5 kun saqlanadi, shuning uchun murojaat qancha tez bo‘lsa, natija shuncha ishonchli.</a:t>
            </a:r>
          </a:p>
          <a:p>
            <a:pPr>
              <a:spcAft>
                <a:spcPts val="1200"/>
              </a:spcAft>
            </a:pPr>
            <a:r>
              <a:rPr sz="1800">
                <a:solidFill>
                  <a:srgbClr val="1F2937"/>
                </a:solidFill>
                <a:latin typeface="Calibri"/>
              </a:rPr>
              <a:t>▸  A’zobuzarlik belgilari: bir necha yuzaki yara, barmoqlarning turli sathdagi amputatsiyasi va chap tomondagi jarohat. Baxtsiz hodisada amputatsiya odatda bir sathda bo‘ladi, bu esa farqlashga yordam beradi.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 og‘ir ahvolda davolash muassasasida yotibdi, ekspertiza tayinlandi. Ko‘rik qayerda o‘tkazilishi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murdaxona xonalarida o‘tkaziladi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sud majlisi zalida o‘tkaziladi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Zarur sharoit bor davolash muassasasida o‘tkaziladi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tergov hibsxonasida o‘tkaziladi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 jarohatlari bo‘yicha sud-tibbiy ekspertizada quyidagilardan qaysi biri hal etiladigan masalalar qatoriga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yetkazish quroli yoki vositasi turi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Aybdorga tayinlanadigan jazo turi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Guvohlar ko‘rsatmasining haqqoniyligi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Ayb shaklining huquqiy bahosi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sog‘liqning buzilishi 12 kun davom etdi, boshqa og‘irlashtiruvchi belgi yo‘q. Jarohat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Og‘ir tan jarohati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O‘rtacha og‘ir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Oddiy yengil jarohat deb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Qisqa muddatli yengil jarohat deb baholanadi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Jarohat oqibatida sog‘liq 25 kun buzildi, 104-moddadagi oqibatlar yo‘q. Jarohat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Qisqa muddatli yengil jarohat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O‘rtacha og‘ir tan jarohati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Og‘ir tan jarohati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Oddiy yengil tan jarohati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Jarohat yetkazilganda hayot uchun xavfli bo‘lgan, keyin tibbiy yordam bilan xavf bartaraf etildi. Jarohat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tan jarohati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O‘rtacha og‘ir tan jarohati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Og‘ir tan jarohati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Baholanmaydi, xavf bartaraf bo‘lgan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tananing 12% yuzasida III-IV darajali termik kuyish aniqlangan. Sud-tibbiy ekspertizada 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Og‘ir tan jarohati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O‘rtacha og‘ir tan jarohati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Yengil tan jarohati deb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Qisqa muddatli yengil jarohat deb baholanadi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Ko‘krak bo‘shlig‘iga o‘tuvchi pichoq yarasi olgan bemor o‘z vaqtida operatsiya qilindi va hayotga tahdid bartaraf etildi. Jarohat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chunki bemor tez tuzalib ketdi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Hayot uchun xavfli, ya’ni og‘ir tan jarohati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O‘rtacha og‘ir, chunki tahdid bartaraf etildi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Baholanmaydi, chunki yordam ko‘rsatilgan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Kasalxonada bemor ahvoli «og‘ir» deb yozilgan. Sud-tibbiy ekspertning baholashi bilan klinik baholash o‘rtasidagi munosabat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Klinik ahvol og‘irligi sud-tibbiy darajaga aynan teng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Sud-tibbiy daraja har doim klinik ahvolga qarab belgilanadi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Maqsad va mezonlari turlicha, natijalar mos kelmasligi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Klinik baholash sud-tibbiy baholashni to‘liq almashtirib turadi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Ekspertiza natijasida jabrlanuvchida umumiy mehnat qobiliyatining 25% turg‘un yo‘qotilishi aniqlandi. Tan jarohati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tan jarohati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Og‘ir tan jarohati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Qisqa muddatli yengil jarohat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O‘rtacha og‘ir tan jarohati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 jarohatlarining og‘irlik darajasini aniqlashda «tibbiy mezonlar» nimani anglatadi?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yetkazgan shaxsning aybini belgilovchi huquqiy hukm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Tasniflovchi belgilarning tibbiy tavsiflari, ya’ni aniqlash asosi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Kasallik tarixiga yozilgan davolash tavsiyalarining umumiy ro‘yxati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Klinik ahvolni baholashda ishlatiladigan shifokorlar shkalasi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shikastlanish tufayli sog‘liqning buzilishi 130 kun davom etdi. Sud-tibbiy ekspertizada mehnat qobiliyatining yo‘qotilishi qanday belgilanadi?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Vaqtinchalik yo‘qotilish deb belgilanadi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Shartli turg‘un yo‘qotilish deb belgilanadi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Mehnat qobiliyati saqlangan deb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kasbiy qobiliyat yo‘qolgan deb olinadi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son suyagining yopiq sinishi aniqlangan. Tibbiy yordam to‘liq ko‘rsatilgan, haqiqiy oqibati yengil kechgan. Tan jarohati og‘irligi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darajadagi tan jarohati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O‘rtacha og‘ir tan jarohati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Og‘ir darajadagi tan jarohati deb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Qisqa muddatli yengil tan jarohati deb baholanadi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Surunkali kasalligi bor shaxs jarohatdan keyin tibbiy yordamga kech murojaat qildi va davolanish muddati cho‘zildi. Cho‘zilgan qismga nisbatan qanday yondashiladi?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Cho‘zilgan qismi inobatga olinmaydi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Cho‘zilgan qismi to‘liq hisobga olinadi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Cho‘zilgan qismi yarmicha hisobga olinadi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og‘irligi darajasi aniqlanmaydi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jarohat tufayli bitta quloqda eshitish qayta tiklanmas yo‘qotilgan, ikkinchi quloq sog‘. Tan jarohati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Og‘ir tan jarohati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Yengil tan jarohati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Qisqa muddatli yengil jarohat deb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O‘rtacha og‘ir tan jarohati deb baholanadi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Travma natijasida erta tug‘ruq bo‘ldi va noyetuk, lekin hayotga layoqatli tirik go‘dak tug‘ildi. Tan jarohati og‘irligi qaysi asosda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Avtomatik ravishda og‘ir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homiladorlik uzilishi mezoni bo‘yicha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Boshqa mezonlar bo‘yicha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Og‘irlik darajasi baholanmaydi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Bosh sohasi shikastlangan shaxsda ruhiy buzilish aniqlandi. Jarohat og‘ir deb baholanishi uchun qaysi shart albatta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Ruhiy buzilish kamida bir oy davom etgan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Shaxs sud-psixiatriya hisobiga qo‘yilgan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va ruhiy buzilish o‘rtasida bevosita sababiy bog‘liqlik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Jabrlanuvchi kamida bir marta statsionarda yotgan bo‘lishi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Tananing qaysi o‘zgarishi “silliqlanmaydigan badburushlik” deb tushuniladi?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jarrohlik amaliyoti (masalan, plastik operatsiya) bilan bartaraf etiladigan 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Konservativ muolajalar bilan bilinar-bilinmas holatga keladigan iz</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Vaqt o‘tishi bilan o‘z-o‘zidan yo‘qoladigan yuzaki shilinma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necha kun ichida so‘riladigan teri ostidagi qontalash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jarohat bo‘yicha ikkita tibbiy mezon qo‘llanishi mumkin: birinchisi o‘rtacha og‘irlikka, ikkinchisi og‘ir darajaga mos. Qaysi daraja belgilanadi?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O‘rtacha og‘ir, chunki ikki mezonning o‘rtacha darajasi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Birinchi aniqlangan mezonga mos daraja belgilanadi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Yengilroq mezonga mos daraja belgilanadi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Og‘irroq darajaga mos mezon bo‘yicha belgilanadi, ya’ni og‘ir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Surunkali kasalligi bor shaxs jarohat olgandan keyin ahvoli yomonlashdi. Yomonlashuv asosan uning yoshi va kasalligi bilan bog‘liq edi. Bu daraja aniqlashda qanday hisobga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Yomonlashuv to‘liq hisobga olinib, daraja bir pog‘ona oshiriladi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jarohat bilan sababiy bog‘liq oqibatlar hisobga olinadi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Kasallik tufayli yomonlashuv ham jarohat oqibati sifatida olinadi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Daraja faqat davolovchi vrach xulosasiga ko‘ra belgilanadi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 ekspertizasi algoritmida shaxsni ko‘rikdan o‘tkazishdan keyingi bosqich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tayinlash to‘g‘risidagi qarorni qayta o‘rganish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 hujjatlarni birinchi marta o‘rganish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Zarur hollarda qo‘shimcha maxsus tekshiruvlar va mutaxassis maslahati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Ekspertizadan o‘tayotgan shaxsning so‘rovi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Zarur sharoit bor davolash muassasasida o‘tkaziladi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Tirik shaxslar ekspertizasi odatda sud-tibbiy muassasalarning ambulatoriyasi va bo‘limlarida o‘tkaziladi. Ayrim hollarda zarur shart-sharoit mavjud bo‘lgan davolash muassasalarida ham o‘tkazilishi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275-276-bet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Jarohat yetkazish quroli yoki vositasi turi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Ekspertizada jarohatning turi va joylashuvi, jarohat yetkazish quroli yoki vositasi, hosil bo‘lish mexanizmi, yetkazilish muddati va og‘irlik darajasi aniqlanadi. Jazo, ayb va guvohlar ko‘rsatmasi ekspertning vazifasi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Qisqa muddatli yengil jarohat deb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Sog‘liq olti kundan ortiq, ammo yigirma bir kundan ko‘p bo‘lmagan muddatga buzilsa, jarohat sog‘liqning qisqa muddatga buzilishiga olib kelgan yengil jarohat hisoblanadi (109-modda). Oddiy yengil jarohatda buzilish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277-bet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O‘rtacha og‘ir tan jarohati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Sog‘liq yigirma bir kundan ortiq buzilsa va 104-moddadagi oqibatlar bo‘lmasa, jarohat o‘rtacha og‘ir tan jarohati hisoblanadi (105-modda).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277-bet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Og‘ir tan jarohati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Yetkazilish paytida hayot uchun xavfli bo‘lgan jarohat og‘ir hisoblanadi (104-modda). Tibbiy yordam bilan xavfning bartaraf etilishi bu baholashda inobatga olinmaydi.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Og‘ir tan jarohati deb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Tananing 10%dan ortiq yuzasining III-IV darajali kuyishi hayot uchun xavfli jarohatlar ro‘yxatiga kiradi. Hayot uchun xavfli jarohat og‘ir tan jarohati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278-279-bet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Hayot uchun xavfli, ya’ni og‘ir tan jarohati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 yordam bilan hayotga tahdidning bartaraf etilishi jarohatni hayot uchun xavfli deb baholashda hisobga olinmaydi. Kalla, ko‘krak, qorin bo‘shlig‘iga o‘tuvchi yaralar og‘ir jarohat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278-279-bet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Maqsad va mezonlari turlicha, natijalar mos kelmasligi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va klinik baholash bir xil tushunchalar emas. Ularning maqsadlari va mezonlari turlicha, shuning uchun natijalari bir-biriga mos kelmasligi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O‘rtacha og‘ir tan jarohati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Umumiy mehnat qobiliyatining o‘n foizdan o‘ttiz uch foizgacha turg‘un yo‘qotilishi o‘rtacha og‘ir tan jarohati hisoblanadi. O‘n foizgacha yo‘qotilish yengil, o‘ttiz uch foiz va undan ortiq yo‘qotilish og‘ir jarohatga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277, 280-bet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Tasniflovchi belgilarning tibbiy tavsiflari, ya’ni aniqlash asosi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Tasniflovchi belgilarning tibbiy tavsiflari tibbiy mezonlar bo‘lib xizmat qiladi. Ular hayot uchun xavf, sog‘liq buzilishi davomiyligi, mehnat qobiliyati yo‘qotilishi va boshqalardir.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Shartli turg‘un yo‘qotilish deb belgilanadi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Sog‘liq buzilishi davomiyligi 120 kundan ortiq bo‘lsa, holat shartli ravishda mehnat qobiliyatining turg‘un yo‘qotilishi deb belgilanadi. Vaqtinchalik yo‘qotilish kunlarda, turg‘un yo‘qotilish esa foizlarda ifodalanadi. Og‘irlik darajasini aniqlashda faqat umumiy mehnat qobiliyati inobatga olinadi, kasbiy qobiliyat olinmaydi.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279-280-bet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Og‘ir darajadagi tan jarohati deb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Qoidalarda alohida ro‘yxat bor: real oqibati va tibbiy yordam ko‘rsatilgan-ko‘rsatilmaganidan qat’iy nazar mehnat qobiliyatining uchdan biridan ko‘progi yo‘qotilishiga olib keladigan shikastlanishlar. Yelka, son, katta boldir suyaklarining ochiq yoki yopiq sinishlari shu ro‘yxatga kiradi va og‘ir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Cho‘zilgan qismi inobatga olinmaydi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Shaxsning individual xususiyatlari (mavjud kasalliklari), tibbiy yordamga kech murojaat qilish yoki ko‘rsatilgan yordamdagi kamchiliklar tufayli davolanish muddatining cho‘zilishi sog‘liq buzilishi davomiyligini aniqlashda inobatga olinmaydi.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O‘rtacha og‘ir tan jarohati deb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Og‘ir jarohat deb faqat ikkala quloqda to‘liq karlik (yoki so‘zlashuv nutqini quloq chag‘anog‘idan 3-5 sm masofada eshita olmaslik) hisoblanadi. Bir quloqning eshitishini yo‘qotish umumiy mehnat qobiliyatining uchdan biridan kamrog‘ini yo‘qotishga olib keladi va o‘rtacha og‘ir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Boshqa mezonlar bo‘yicha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Homiladorlikning uzilishi mezoni faqat travmadan keyin o‘lik yoki hayotga layoqatsiz go‘dak tug‘ilganda qo‘llanadi. Hayotga layoqatli tirik go‘dak tug‘ilganda, shuningdek bachadondan tashqari homiladorlik uzilganda og‘irlik hayot uchun xavf, sog‘liq buzilishi davomiyligi yoki mehnat qobiliyati yo‘qotilishi mezonlari bo‘yicha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Jarohat va ruhiy buzilish o‘rtasida bevosita sababiy bog‘liqlik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Jarohat faqat shikastlanish va ruhiy buzilish o‘rtasida bevosita sababiy bog‘liqlik bo‘lgandagina og‘ir deb baholanadi. Ruhiy buzilishning davomiyligi, hisobga qo‘yilishi yoki statsionarda yotish bunday shart sifatida ko‘rsatilmagan.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Faqat jarrohlik amaliyoti (masalan, plastik operatsiya) bilan bartaraf etiladigan iz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Silliqlanmaydigan o‘zgarish vaqt o‘tishi bilan ham, konservativ muolajalar bilan ham yo‘qolmaydi yoki bilinmas holatga kelmaydi. Uni bartaraf etish uchun jarrohlik amaliyoti, masalan plastik operatsiya, talab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283-bet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Og‘irroq darajaga mos mezon bo‘yicha belgilanadi, ya’ni og‘ir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Og‘irlik darajasini aniqlashda bitta mezon yetarli. Bir necha mezon qo‘llanishi mumkin bo‘lsa, daraja og‘irroq darajaga mos mezon bo‘yicha belgilanadi, ya’ni bu holatda jarohat og‘ir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283-bet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Faqat jarohat bilan sababiy bog‘liq oqibatlar hisobga olinadi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Ilgari kasalligi bo‘lgan shaxslarda faqat keyin yetkazilgan jarohat ta’sirida paydo bo‘lgan va u bilan sababiy bog‘liq oqibatlar inobatga olinadi. Yosh va kasalliklar bilan bog‘liq yomonlashuv hisobga olinmaydi.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284-bet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Zarur hollarda qo‘shimcha maxsus tekshiruvlar va mutaxassis maslahati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Algoritm tartibi: hodisa tafsilotlari, tibbiy hujjatlar, so‘rov, ko‘rik, zarurat bo‘lsa qo‘shimcha maxsus tekshiruvlar va mutaxassislar maslahati, so‘ng ekspert xulosasi.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299–300-bet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Tirik shaxslarning sud-tibbiy ekspertizasi. Tirik shaxslar ekspertizala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82</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12. Tirik shaxslar sud-tibbiy ekspertizasi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