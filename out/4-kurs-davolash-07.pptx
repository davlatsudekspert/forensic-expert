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Nega go‘dak murdasi ekspertizasi oddiy murda ekspertizasidan farq qiladi? Talabalar bu bobdan amaliyotda nimani bilishi kerak? Doskada: mashg‘ulot rejasini 8-9 qadamli ro‘yxat qilib yozing. Tipik xato: talabalar bobni faqat ’o‘pka sinamasi’ deb tushunadi, aslida mavzu ancha keng.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Nima uchun onasi noma’lum go‘dak topilishi ekspertiza uchun asos bo‘ladi? Uyda tug‘ilgan o‘lik bola holatida qanday savollar tug‘iladi? Doskada: uch holatni uchta ustun qilib chizing. Tipik xato: talabalar faqat jinoyat shubhasi bo‘lgandagina ekspertiza o‘tkaziladi deb o‘ylaydi, shikoyat holatini unutadi.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Oltita savolning qaysi biri jinoyatga huquqiy baho berishda eng muhim? Nega sud tibbiyotida yangi tug‘ilganlik muddati qisqa (JK 99-modda bilan bog‘lang)? Doskada: oltita savolni ketma-ket zanjir qilib chizing. Tipik xato: sud-tibbiy yangi tug‘ilganlik muddatini pediatriyadagi 4 hafta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nima uchun sud tibbiyotida muddat shunchalik qisqa? Fanlar bo‘yicha muddat farqi talabaga nima beradi? Doskada: uch fan va ularning muddatini jadval ko‘rinishida chizdiring. Tipik xato: talabalar pediatriyadagi 4 haftani sud-tibbiy muddat deb oladi.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nima uchun qonun onaning qilmishiga yengilroq jazo belgilagan? Ona bo‘lmagan shaxs sodir etsa, modda qanday o‘zgaradi? Doskada: ikki shoxli sxema — ona → 99-modda, boshqa shaxs → 97-modda. Tipik xato: 99- va 97-moddalarni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vaziyatda yangi tug‘ilganlik masalasi ekspertiza oldiga nima uchun qo‘yiladi? Muddat huquqiy baholashga qanday ta’sir qiladi? Doskada: vaqt chizig‘i — tug‘ilish, 24 soat, 7 kun, 4 hafta. Tipik xato: akusherlik yoki pediatriya muddatini qo‘llash.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yuvilgan go‘dakda qon izi topilmasligi mumkin? 2) Mo‘msimon qoplama nima uchun burmalarda uzoqroq turadi? Doskada: jadvalni (qon izlari va qoplama) o‘quvchilar bilan birga chizing. Tipik xato: qon izini har doim jarohat qoni deb o‘ylash yoki yuvilgan go‘dakda qoplama yo‘q, demak yangi tug‘ilgan emas, deb xulosa qilish.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Chaqaloq boshida shish choklardan o‘tib ketgan; bu qaysi holatga mos? 2) So‘rilish muddati go‘dak yashagan vaqtni baholashda qanday yordam beradi? Doskada: bosh suyaklari va choklarni sxematik chizib, ikkala shishning chegarasini belgilang. Tipik xato: ikkala holatni bir xil deb olish va so‘rilish muddatlarini (2-3 kun va 2 hafta)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mekoniy chiqish muddati norasolarda uzoqroq bo‘ladi deb o‘ylaysiz? 2) Mekoniy tarkibi sud-tibbiy ekspertizada qanday masalani hal qilishga yordam beradi? Doskada: mekoniyning joylashuvi (yo‘g‘on ichak, orqa chiqaruv teshigi, dumba, son) va muddatlarini ro‘yxat qilib yozing. Tipik xato: mekoniyni oddiy najas bilan aralashtirish va 1-2 kun muddatini norasolarga ham qo‘llash.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Demarkatsion halqa nima haqida dalolat beradi? 2) Halqa nega faqat tirik tug‘ilganda hosil bo‘ladi? Doskada kindik o‘zgarishlari zanjirini muddatlari bilan chizdiring. Tipik xato: kindikning qurishini demarkatsion halqa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nisbiy belgilar yolg‘iz o‘zi yetarli emas? 2) Absolyut belgilarni qanday eslab qolish mumkin? Doskada ikki ustunli jadval chizdiring: absolyut va nisbiy. Tipik xato: mo‘msimon qoplama yoki mekoniyni absolyut belgi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Savollarni og‘zaki so‘rang, javobni talabalar aytsin. Muhokama: nega pediatriya, akusherlik va sud tibbiyotida yangi tug‘ilganlik davri turlicha? Doskada har savolga bitta kalit so‘z yozdiring. Tipik xato: 24 soat o‘rniga 7 kun yoki 4 hafta deb javob berish.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kindik absolyut belgi hisoblanadi? 2) Nisbiy belgilar nega yetarli emas? Doskaga: absolyut va nisbiy belgilar ro‘yxatini ikki ustunda yozdiring. Tipik xato: mo‘msimon qoplamani yoki mekoniyni absolyut belgi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JSST mezonlaridan nega faqat nafas olish tekshiriladi? 2) Nafas olishni qaysi sinamalar ko‘rsatadi? Doskaga: JSSTning 4 mezonini yozib, sud tibbiyotida tekshiriladiganini belgilang. Tipik xato: to‘rtala mezonni murdada tekshirish mumkin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avval ko‘krak a’zolari kompleksi, so‘ng alohida o‘pkalar suvga solinadi? 2) Qaysi holatlarda natija ishonchsiz? Doskaga: sinama bosqichlari sxemasini chizdiring. Tipik xato: musbat natijani har doim tirik tug‘ilganlik isboti deb olish.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Chirish gazlaridan hosil bo‘lgan qalqishni nafas olgan o‘pkadan qanday farqlaymiz? 2) Ikkilamchi atelektazda nega sinama manfiy chiqadi? Doskada: sinama bosqichlarini (butun kompleks, so‘ng o‘pkalar, bo‘laklar, bo‘lakchalar) chizdirib, musbat natijada to‘xtashini belgilating. Tezkor savol: musbat natija olingan bosqichda nima qilinadi? Tipik xato: suzishni har doim tirik tug‘ilganlik deb hisoblash; Traxtenberg modifikatsiyasi (1958) ham Taranuxin usulining varianti ekanini eslatib o‘ting.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oshqozon-ichak sinamasi yashash muddatini aniqlashda foydali? 2) Rentgen sinamasi nega amaliyotdan chiqib ketdi? Doskada: ligatura qo‘yiladigan joylarni (oshqozonning kirish-chiqish qismi, ichak, to‘g‘ri ichak) sxematik chizdiring. Tipik xato: sun’iy nafas oldirilgan chaqaloqda Breslau sinamasini ishonchli deb hisoblash. Tezkor savol: qaysi ikki holatda sinama soxta musbat beradi?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daqiqa. Muhokama: nega chirishda bu sinama tavsiya etilmaydi? (chirish gazlari — soxta musbat). Tipik xato: sinamani o‘pka sinamasi o‘rnida qo‘llash.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O‘pka vazni nega nafas olgandan keyin oshadi? 2) Marmarsimon tus (Bush-Xaberda belgisi) nimani ko‘rsatadi? Doskada: ikki ustunli solishtirma jadvalni talabalar o‘zlari to‘ldirsin. Tipik xato: diafragma sathini (VI-VII va IV-V qobirg‘a) chalkashtirish. Tezkor savol: nafas olmagan o‘pkaning vazni qancha?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alveolyar epiteliy nafas olgach yassi bo‘lib qoladi? Gialin membranalar qaysi go‘daklarda uchraydi (norasolarda, bir necha soat yashaganlarda)? Doskada: ikki ustunli jadvalni talabalar bilan birga chizdiring. Tipik xato: gialin membranalarni nafas olmagan o‘pkaning belgisi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Javoblar: 1) go‘dak nafas olgan yoki olmaganligi; 2) nafas olmagan o‘pka suvdan og‘ir (1,05-1,06), nafas olgan o‘pka 1,0 dan past; 3) Taranuxin usuli yoki Traxtenberg modifikatsiyasi (past bosimda qalqib chiqadi); 4) rentgenologik sinama: nafas olgan o‘pkani sun’iy ventilyatsiya va chirish gazlaridan farqlab bo‘lmaydi, maxsus jihoz kerak. Muhokama: nega bu savollar ekspert uchun muhim? Doskada: sinamalar ro‘yxatini yozdiring. Tipik xato: o‘pka sinamasi musbat bo‘lsa, albatta tirik tug‘ilgan deb xulosa qilish.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chirigan murdada o‘pka sinamasi natijasini qanday baholaysiz? Qaysi qo‘shimcha belgilar (makro-, mikroskopik) yordam beradi? Doskada: musbat natija chirish gazidan bo‘lsa va haqiqiy nafasdan bo‘lsa, siqish sinovida nima bo‘lishini ikki ustunda chizdiring. Tipik xato: suvda qalqish = nafas olgan deb qabul qilish.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tergov idoralari uchun muddat va hayotga layoqat muhimroq? 2) Jahon sog‘liqni saqlash tashkiloti (JSST) tavsiyasida o‘z muddatida tug‘ish qaysi haftalar? Doskada: ikki ustunli “Raso | Yetuk” solishtirma jadvalini chizdiring. Tipik xato: talaba rasolik va yetuklik mezonlarini bir-biriga almashtirib yuboradi. Tezkor savol: 45 sm va 2500 g qaysi tushunchaning chegarasi?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daqiqa. Muhokama: 1) Nega gestatsion yoshni bir usulga tayanmay, bir nechta usulda tekshirgan ma’qul? 2) Gaaze formulasida birinchi va ikkinchi yarmi qanday farqlanadi? Doskada: har bir formulaga o‘zingiz tana uzunligi tanlab, hisoblab ko‘rsating (talabalar bilan birga). Tipik xato: Gaaze formulasida kvadrat ildiz va bo‘lishni almashtirib qo‘yish; Baltazar-Derve natijasi kunda, Gaaze va Yakupov natijasi oyda ekanini unutish. Tezkor savol: 224 kun necha homila oyiga to‘g‘ri keladi?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Chekish, alkogol va narkotik suyaklanish o‘zaklariga qanday ta’sir qiladi? 2) Mekoniyda tuk sochlarining topilishi nimadan dalolat beradi (Shibkov-Markovin belgisi)? Doskada: V–IX oylar bo‘yicha vaqt chizig‘ini chizib, o‘zaklarni joylashtiring. Tipik xato: Beklyar yadrosi (son epifizi) IX oyda paydo bo‘lishini tovon suyagi (V oy) bilan adashtirish. Tezkor savol: qaysi o‘zak eng erta paydo bo‘ladi?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Nima uchun 40 sm uchun ildiz emas, 5 ga bo‘lish qo‘llanadi? 2) Ikki usul natijasi mos keladimi? Doskada: ikki formulani yonma-yon yozib, 16 sm va 40 sm misollarini hisoblang. Tipik xato: homiladorlikning birinchi va ikkinchi yarmidagi formulalarni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Layoqatsiz go‘dak murdasi nima uchun ochilmaydi? 2) Tashqi nuqsonlar nimadan darak beradi? Doskada: uch sababli sxemani chizing va har biriga misol yozing. Tipik xato: hayotga layoqatsizlikni o‘lik tug‘ilganlik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Havo faqat oshqozonda topilsa, go‘dak qancha yashagan? 2) Nima uchun bir belgiga tayanib bo‘lmaydi? Doskada: vaqt o‘qini chizib, belgilarni joylashtiring. Tipik xato: taxminiy muddatlarni mutlaq aniq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Qarov belgilarini tashqi va ichki guruhlarga ajrating. 2) Qarov belgilari tergov uchun nima uchun muhim? Doskada: qarov belgilari ro‘yxatini ikki ustunga (tashqi / ichki) chizdiring. Tipik xato: talabalar kindikning kesilib bog‘langanligini kindikning o‘z-o‘zidan ajralishi bilan adashtiradi.</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Havo faqat oshqozonda bo‘lsa, yashash muddati haqida qanday xulosa qilinadi? 2) Nega bitta belgiga tayanib bo‘lmaydi (muddatlar taxminiy)? Doskada: soatlar bo‘yicha vaqt chizig‘ini chizdiring (3 soat, 5-6 soat, 6 soatdan keyin, 1-sutka oxiri). Tipik xato: oshqozon-ichak sinamasini chirigan yoki sun’iy nafas oldirilgan murdada ham ishonchli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Javoblar: 1) uzunligi 25 sm dan va vazni 500 g dan kam; 2) kamida 1-2 soat; 3) kamida 5-6 soatdan keyin; 4) yo‘rgak va kiyim-bosh, kindik kesilib bog‘langanligi, tananing tozalanganligi, oshqozonda sut. Muhokama: layoqatsiz go‘dakda ichki a’zolar ochib tekshirilmaydi (faqat tashqi tekshiruv) — buning sababi nima? Doskada: to‘g‘ri javoblarni jadvalga yozing. Tipik xato: 1-2 soat (gialin) va 5-6 soat (ikkilamchi atelektaz) muddatlarini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Homila ichi asfiksiyasida nega yo‘ldosh va kindik ham tekshiriladi? 2) Tug‘ruq travmasi bilan tashqi zo‘ravonlik izini qanday farqlaysiz? Doskada: antenatal–intranatal–postnatal vaqt chizig‘ini chizing. Tipik xato: tug‘ruq travmasida tashqi yara bo‘ladi deb o‘ylash; aslida u hosil bo‘lmaydi. Diqqat: ona qo‘li bilan yetkazilgan shilinma tug‘ruq paytidagi shikast, uni tug‘ruq travmasi bilan adashtirmang.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daqiqa. Doskada: uch davrni vaqt o‘qida chizing. Tipik xato: zo‘raki o‘limni antenatal davrda ko‘p uchraydi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daqiqa. Muhokama: nega yo‘ldosh va kindik ekspertizaga murda bilan birga taqdim etilishi kerak? Tipik xato: asfiksiyani faqat o‘pka belgilari bo‘yicha baholash.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Kindik boylanmagan chaqaloqda o‘lim sababi nima bo‘lishi mumkin? 2) Ekspert nima uchun aktiv/passiv emas, aniq sababni yozadi? Doskada: aktiv–passiv ikki ustunli jadvalni talabalar bilan to‘ldiring. Tipik xato: ekspert vazifasini ‘qasd bor-yo‘q’ni hal qilish deb tushunish; ekspert sababni ko‘rsatadi. Diqqat: aktiv ≠ passiv, ikkalasi ham zo‘raki o‘lim.</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kalla suyaklari darchalar shaklida ochiladi? 2) Qaysi bosqichda tirik tug‘ilganlik sinamalari o‘tkaziladi? Doskada: bosqichlar zanjirini chizing va har biriga bittadan tekshiriladigan ob’ekt yozing. Tipik xato: og‘iz kesmasini iyakdan boshlash va kindik tomirlarini kesib yuborish.</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daqiqa. Muhokama: yo‘ldosh va kindik ma’lumoti gestatsion yoshni qanday aniqlaydi? Tipik xato: faqat murdaning tana uzunligiga tayanish.</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Tug‘ruq travmasini boshqa jarohatdan qaysi belgilar bilan ajratasiz? 2) Jarohat mexanizmini aniqlash nega muhim? Doskada: ustunli taqqoslash (tug‘ruq travmasi / ona yordami) chizdiring. Tipik xato: talabalar tug‘ruq travmasida ham tashqi yara bo‘ladi deb o‘ylaydi.</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Savollarga juftlikda og‘zaki javob bering. 2) Qaysi savol eng qiyin bo‘ldi? Doskada: yangi tug‘ilganlik belgilarining ro‘yxatini chizib, absolyutlarini belgilang. Tipik xato: barcha belgilarni absolyut deb hisoblash, aslida ko‘pi nisbiy.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Ekspert har bir savolga qaysi belgilar asosida javob beradi? 2) Qaysi belgilar ishonchli, qaysilari taxminiy? Doskada: ekspertiza savollari va javob usullarini bog‘lovchi sxema chizdiring. Tipik xato: davomiylik muddatlarini aniq qiymat deb olish, aslida ular taxminiy.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Amaliy mashg’ulot: Yangi tug‘ilgan chaqalok</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 maqsad va reja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Mavzu: homila va yangi tug‘ilgan go‘daklar murdasining sud-tibbiy ekspertizasi (darslikning 10-bobi).</a:t>
            </a:r>
          </a:p>
          <a:p>
            <a:pPr>
              <a:spcAft>
                <a:spcPts val="1200"/>
              </a:spcAft>
            </a:pPr>
            <a:r>
              <a:rPr sz="2200">
                <a:solidFill>
                  <a:srgbClr val="1F2937"/>
                </a:solidFill>
                <a:latin typeface="Calibri"/>
              </a:rPr>
              <a:t>▸  Maqsad: ekspertiza savollarini, yangi va tirik tug‘ilganlik belgilarini hamda go‘dak yashagan muddatni aniqlashni o‘rganish.</a:t>
            </a:r>
          </a:p>
          <a:p>
            <a:pPr>
              <a:spcAft>
                <a:spcPts val="1200"/>
              </a:spcAft>
            </a:pPr>
            <a:r>
              <a:rPr sz="2200">
                <a:solidFill>
                  <a:srgbClr val="1F2937"/>
                </a:solidFill>
                <a:latin typeface="Calibri"/>
              </a:rPr>
              <a:t>▸  Reja: yangi tug‘ilganlik, tirik tug‘ilganlik, gestatsion yosh, hayotga layoqat, yashagan muddat, qarov va o‘lim sabablari.</a:t>
            </a:r>
          </a:p>
          <a:p>
            <a:pPr>
              <a:spcAft>
                <a:spcPts val="1200"/>
              </a:spcAft>
            </a:pPr>
            <a:r>
              <a:rPr sz="2200">
                <a:solidFill>
                  <a:srgbClr val="1F2937"/>
                </a:solidFill>
                <a:latin typeface="Calibri"/>
              </a:rPr>
              <a:t>▸  Yakunda murda ekspertizasining xususiyatlari va nazorat savollari ko‘rib chiqiladi.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256, 256-267, 256-266, 266-267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Ekspertiza o‘tkaziladigan holatlar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Onasi noma’lum go‘dakning murdasi topilganda sud-tibbiy ekspertiza tayinlanadi.</a:t>
            </a:r>
          </a:p>
          <a:p>
            <a:pPr>
              <a:spcAft>
                <a:spcPts val="1200"/>
              </a:spcAft>
            </a:pPr>
            <a:r>
              <a:rPr sz="2200">
                <a:solidFill>
                  <a:srgbClr val="1F2937"/>
                </a:solidFill>
                <a:latin typeface="Calibri"/>
              </a:rPr>
              <a:t>▸  Davolash muassasasidan tashqarida tug‘ruq bo‘lib, bola o‘lik tug‘ilgan hollarda ham ekspertiza o‘tkaziladi.</a:t>
            </a:r>
          </a:p>
          <a:p>
            <a:pPr>
              <a:spcAft>
                <a:spcPts val="1200"/>
              </a:spcAft>
            </a:pPr>
            <a:r>
              <a:rPr sz="2200">
                <a:solidFill>
                  <a:srgbClr val="1F2937"/>
                </a:solidFill>
                <a:latin typeface="Calibri"/>
              </a:rPr>
              <a:t>▸  Homilador ayolga ko‘rsatilgan tibbiy yordamga nisbatan shikoyatlar bo‘lganda ham o‘tkaziladi.</a:t>
            </a:r>
          </a:p>
          <a:p>
            <a:pPr>
              <a:spcAft>
                <a:spcPts val="1200"/>
              </a:spcAft>
            </a:pPr>
            <a:r>
              <a:rPr sz="2200">
                <a:solidFill>
                  <a:srgbClr val="1F2937"/>
                </a:solidFill>
                <a:latin typeface="Calibri"/>
              </a:rPr>
              <a:t>▸  Umumiy shart: zo‘raki o‘lim alomatlari yoki unga shubha bo‘lishi kerak.</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Ekspertiza oldiga qo‘yiladigan savollar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Bu turdagi ekspertizada oltita maxsus savol qo‘yiladi (jadvalda guruhlab berilgan).</a:t>
            </a:r>
          </a:p>
          <a:p>
            <a:pPr>
              <a:spcAft>
                <a:spcPts val="800"/>
              </a:spcAft>
            </a:pPr>
            <a:r>
              <a:rPr sz="1800">
                <a:solidFill>
                  <a:srgbClr val="1F2937"/>
                </a:solidFill>
                <a:latin typeface="Calibri"/>
              </a:rPr>
              <a:t>▸  Umumiy savollar ham beriladi: o‘lim sababi, muddati, jarohatlar va ularning yetkazilish mexanizmi.</a:t>
            </a:r>
          </a:p>
          <a:p>
            <a:pPr>
              <a:spcAft>
                <a:spcPts val="800"/>
              </a:spcAft>
            </a:pPr>
            <a:r>
              <a:rPr sz="1800">
                <a:solidFill>
                  <a:srgbClr val="1F2937"/>
                </a:solidFill>
                <a:latin typeface="Calibri"/>
              </a:rPr>
              <a:t>▸  Diqqat: sud tibbiyotida yangi tug‘ilganlik 24 soat, pediatriyada 4 hafta, akusherlikda 7 kun (farqlang!).</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Ekspertiza savollari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Yangi tug‘ilganmi?</a:t>
            </a:r>
          </a:p>
          <a:p>
            <a:pPr algn="l">
              <a:spcAft>
                <a:spcPts val="0"/>
              </a:spcAft>
            </a:pPr>
            <a:r>
              <a:rPr sz="1200" b="0">
                <a:solidFill>
                  <a:srgbClr val="1F2937"/>
                </a:solidFill>
                <a:latin typeface="Calibri"/>
              </a:rPr>
              <a:t>Sud tibbiyotida dastlabki 24 soat</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Tirik tug‘ilganmi?</a:t>
            </a:r>
          </a:p>
          <a:p>
            <a:pPr algn="l">
              <a:spcAft>
                <a:spcPts val="0"/>
              </a:spcAft>
            </a:pPr>
            <a:r>
              <a:rPr sz="1200" b="0">
                <a:solidFill>
                  <a:srgbClr val="1F2937"/>
                </a:solidFill>
                <a:latin typeface="Calibri"/>
              </a:rPr>
              <a:t>Asosan nafas olgan-olmagani hal etiladi</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Gestatsion yosh, layoqat</a:t>
            </a:r>
          </a:p>
          <a:p>
            <a:pPr algn="l">
              <a:spcAft>
                <a:spcPts val="0"/>
              </a:spcAft>
            </a:pPr>
            <a:r>
              <a:rPr sz="1200" b="0">
                <a:solidFill>
                  <a:srgbClr val="1F2937"/>
                </a:solidFill>
                <a:latin typeface="Calibri"/>
              </a:rPr>
              <a:t>Homila yoshi  ·  Hayotga layoqatlimi</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Yashagan muddat, qarov</a:t>
            </a:r>
          </a:p>
          <a:p>
            <a:pPr algn="l">
              <a:spcAft>
                <a:spcPts val="0"/>
              </a:spcAft>
            </a:pPr>
            <a:r>
              <a:rPr sz="1200" b="0">
                <a:solidFill>
                  <a:srgbClr val="1F2937"/>
                </a:solidFill>
                <a:latin typeface="Calibri"/>
              </a:rPr>
              <a:t>Qancha yashagan  ·  Qarov bo‘lganmi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Maxsus savollar guruhi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Yangi tug‘ilganlik tushunchasi: fanlar kesimida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Sud tibbiyotidagi “yangi tug‘ilganlik” pediatriya va akusherlikdagi tushunchadan farq qiladi.</a:t>
            </a:r>
          </a:p>
          <a:p>
            <a:pPr>
              <a:spcAft>
                <a:spcPts val="800"/>
              </a:spcAft>
            </a:pPr>
            <a:r>
              <a:rPr sz="1800">
                <a:solidFill>
                  <a:srgbClr val="1F2937"/>
                </a:solidFill>
                <a:latin typeface="Calibri"/>
              </a:rPr>
              <a:t>▸  Sud tibbiyotida bu davr tug‘ilgandan keyingi dastlabki 24 soatni tashkil etadi.</a:t>
            </a:r>
          </a:p>
          <a:p>
            <a:pPr>
              <a:spcAft>
                <a:spcPts val="800"/>
              </a:spcAft>
            </a:pPr>
            <a:r>
              <a:rPr sz="1800">
                <a:solidFill>
                  <a:srgbClr val="1F2937"/>
                </a:solidFill>
                <a:latin typeface="Calibri"/>
              </a:rPr>
              <a:t>▸  Bu xususiyat qonunchilik talablari bilan uzviy bog‘liq.</a:t>
            </a:r>
          </a:p>
        </p:txBody>
      </p:sp>
      <p:sp>
        <p:nvSpPr>
          <p:cNvPr id="9" name="Rounded Rectangle 8"/>
          <p:cNvSpPr/>
          <p:nvPr/>
        </p:nvSpPr>
        <p:spPr>
          <a:xfrm>
            <a:off x="5440680"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Pediatriya (neonatal)</a:t>
            </a:r>
          </a:p>
          <a:p>
            <a:pPr algn="l">
              <a:spcAft>
                <a:spcPts val="100"/>
              </a:spcAft>
            </a:pPr>
            <a:r>
              <a:rPr sz="3000" b="1">
                <a:solidFill>
                  <a:srgbClr val="0B1F3A"/>
                </a:solidFill>
                <a:latin typeface="Calibri"/>
              </a:rPr>
              <a:t>4</a:t>
            </a:r>
            <a:r>
              <a:rPr sz="1500" b="0">
                <a:solidFill>
                  <a:srgbClr val="6B7280"/>
                </a:solidFill>
                <a:latin typeface="Calibri"/>
              </a:rPr>
              <a:t>  hafta</a:t>
            </a:r>
          </a:p>
        </p:txBody>
      </p:sp>
      <p:sp>
        <p:nvSpPr>
          <p:cNvPr id="12" name="Rounded Rectangle 11"/>
          <p:cNvSpPr/>
          <p:nvPr/>
        </p:nvSpPr>
        <p:spPr>
          <a:xfrm>
            <a:off x="7532522"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32522"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42250"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Akusherlik-ginekologiya</a:t>
            </a:r>
          </a:p>
          <a:p>
            <a:pPr algn="l">
              <a:spcAft>
                <a:spcPts val="100"/>
              </a:spcAft>
            </a:pPr>
            <a:r>
              <a:rPr sz="3000" b="1">
                <a:solidFill>
                  <a:srgbClr val="0B1F3A"/>
                </a:solidFill>
                <a:latin typeface="Calibri"/>
              </a:rPr>
              <a:t>7</a:t>
            </a:r>
            <a:r>
              <a:rPr sz="1500" b="0">
                <a:solidFill>
                  <a:srgbClr val="6B7280"/>
                </a:solidFill>
                <a:latin typeface="Calibri"/>
              </a:rPr>
              <a:t>  kun</a:t>
            </a:r>
          </a:p>
        </p:txBody>
      </p:sp>
      <p:sp>
        <p:nvSpPr>
          <p:cNvPr id="15" name="Rounded Rectangle 14"/>
          <p:cNvSpPr/>
          <p:nvPr/>
        </p:nvSpPr>
        <p:spPr>
          <a:xfrm>
            <a:off x="9624364"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624364"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34092"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Sud tibbiyoti</a:t>
            </a:r>
          </a:p>
          <a:p>
            <a:pPr algn="l">
              <a:spcAft>
                <a:spcPts val="100"/>
              </a:spcAft>
            </a:pPr>
            <a:r>
              <a:rPr sz="3000" b="1">
                <a:solidFill>
                  <a:srgbClr val="0B1F3A"/>
                </a:solidFill>
                <a:latin typeface="Calibri"/>
              </a:rPr>
              <a:t>24</a:t>
            </a:r>
            <a:r>
              <a:rPr sz="1500" b="0">
                <a:solidFill>
                  <a:srgbClr val="6B7280"/>
                </a:solidFill>
                <a:latin typeface="Calibri"/>
              </a:rPr>
              <a:t>  soat</a:t>
            </a:r>
          </a:p>
        </p:txBody>
      </p:sp>
      <p:sp>
        <p:nvSpPr>
          <p:cNvPr id="18" name="TextBox 17"/>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Yangi tug‘ilganlik davri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Yangi tug‘ilganlikning huquqiy ahamiyati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Jinoyat kodeksi (JK) 99-moddasi: ona go‘dagini tug‘ish vaqtida yoki tug‘ilishi hamon qasddan o‘ldirsa.</a:t>
            </a:r>
          </a:p>
          <a:p>
            <a:pPr>
              <a:spcAft>
                <a:spcPts val="800"/>
              </a:spcAft>
            </a:pPr>
            <a:r>
              <a:rPr sz="1800">
                <a:solidFill>
                  <a:srgbClr val="1F2937"/>
                </a:solidFill>
                <a:latin typeface="Calibri"/>
              </a:rPr>
              <a:t>▸  Og‘riq va psixo-emotsional holat tufayli ona to‘liq anglamagan holda bolasiga shikast yetkazishi mumkin.</a:t>
            </a:r>
          </a:p>
          <a:p>
            <a:pPr>
              <a:spcAft>
                <a:spcPts val="800"/>
              </a:spcAft>
            </a:pPr>
            <a:r>
              <a:rPr sz="1800">
                <a:solidFill>
                  <a:srgbClr val="1F2937"/>
                </a:solidFill>
                <a:latin typeface="Calibri"/>
              </a:rPr>
              <a:t>▸  Diqqat: xato qilish xavfi — pediatriyadagi 4 hafta ≠ sud tibbiyotidagi 24 soat.</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99-modda</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Ona sodir etgan</a:t>
            </a:r>
          </a:p>
          <a:p>
            <a:pPr algn="l">
              <a:spcAft>
                <a:spcPts val="700"/>
              </a:spcAft>
            </a:pPr>
            <a:r>
              <a:rPr sz="1500" b="1">
                <a:solidFill>
                  <a:srgbClr val="C9A227"/>
                </a:solidFill>
                <a:latin typeface="Calibri"/>
              </a:rPr>
              <a:t>●  </a:t>
            </a:r>
            <a:r>
              <a:rPr sz="1500" b="0">
                <a:solidFill>
                  <a:srgbClr val="1F2937"/>
                </a:solidFill>
                <a:latin typeface="Calibri"/>
              </a:rPr>
              <a:t>Tug‘ish vaqtida yoki tug‘ilishi hamon</a:t>
            </a:r>
          </a:p>
          <a:p>
            <a:pPr algn="l">
              <a:spcAft>
                <a:spcPts val="700"/>
              </a:spcAft>
            </a:pPr>
            <a:r>
              <a:rPr sz="1500" b="1">
                <a:solidFill>
                  <a:srgbClr val="C9A227"/>
                </a:solidFill>
                <a:latin typeface="Calibri"/>
              </a:rPr>
              <a:t>●  </a:t>
            </a:r>
            <a:r>
              <a:rPr sz="1500" b="0">
                <a:solidFill>
                  <a:srgbClr val="1F2937"/>
                </a:solidFill>
                <a:latin typeface="Calibri"/>
              </a:rPr>
              <a:t>Jazo ancha yengil</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97-modda</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Boshqa shaxs sodir etgan</a:t>
            </a:r>
          </a:p>
          <a:p>
            <a:pPr algn="l">
              <a:spcAft>
                <a:spcPts val="700"/>
              </a:spcAft>
            </a:pPr>
            <a:r>
              <a:rPr sz="1500" b="1">
                <a:solidFill>
                  <a:srgbClr val="C9A227"/>
                </a:solidFill>
                <a:latin typeface="Calibri"/>
              </a:rPr>
              <a:t>●  </a:t>
            </a:r>
            <a:r>
              <a:rPr sz="1500" b="0">
                <a:solidFill>
                  <a:srgbClr val="1F2937"/>
                </a:solidFill>
                <a:latin typeface="Calibri"/>
              </a:rPr>
              <a:t>Qasddan odam o‘ldirish</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JK 99-modda va 97-modda</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1: yangi tug‘ilganlik muddati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uyda tug‘ruq bo‘lgan; go‘dak tug‘ilganidan bir necha soat o‘tib o‘lik topilgan.</a:t>
            </a:r>
          </a:p>
          <a:p>
            <a:pPr>
              <a:spcAft>
                <a:spcPts val="1200"/>
              </a:spcAft>
            </a:pPr>
            <a:r>
              <a:rPr sz="2200">
                <a:solidFill>
                  <a:srgbClr val="1F2937"/>
                </a:solidFill>
                <a:latin typeface="Calibri"/>
              </a:rPr>
              <a:t>▸  Savol: qaysi tushuncha qo‘llanadi — pediatriyadagi 4 hafta, akusherlikdagi 7 kun yoki sud-tibbiy 24 soat?</a:t>
            </a:r>
          </a:p>
          <a:p>
            <a:pPr>
              <a:spcAft>
                <a:spcPts val="1200"/>
              </a:spcAft>
            </a:pPr>
            <a:r>
              <a:rPr sz="2200">
                <a:solidFill>
                  <a:srgbClr val="1F2937"/>
                </a:solidFill>
                <a:latin typeface="Calibri"/>
              </a:rPr>
              <a:t>▸  Javob: sud tibbiyoti tushunchasi, ya’ni dastlabki 24 soat. Go‘dak shu muddatda, demak yangi tug‘ilgan hisoblanadi.</a:t>
            </a:r>
          </a:p>
          <a:p>
            <a:pPr>
              <a:spcAft>
                <a:spcPts val="1200"/>
              </a:spcAft>
            </a:pPr>
            <a:r>
              <a:rPr sz="2200">
                <a:solidFill>
                  <a:srgbClr val="1F2937"/>
                </a:solidFill>
                <a:latin typeface="Calibri"/>
              </a:rPr>
              <a:t>▸  Keyingi savol: qilmish onadan bo‘lsa 99-modda, boshqa shaxsdan bo‘lsa 97-modda bo‘ladimi?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Qon izlari va mo‘msimon qoplama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Tashqi jarohat bo‘lmasa, tanada qon izi bo‘lishi yangi tug‘ilganlik belgisi; u tug‘ruq yo‘li yorilishidan hosil bo‘ladi.</a:t>
            </a:r>
          </a:p>
          <a:p>
            <a:pPr>
              <a:spcAft>
                <a:spcPts val="800"/>
              </a:spcAft>
            </a:pPr>
            <a:r>
              <a:rPr sz="1800">
                <a:solidFill>
                  <a:srgbClr val="1F2937"/>
                </a:solidFill>
                <a:latin typeface="Calibri"/>
              </a:rPr>
              <a:t>▸  Mo‘msimon qoplama oqimtir-kulrang massa; u homila terisini qog‘onoq suvida yumshab ketishdan asraydi.</a:t>
            </a:r>
          </a:p>
          <a:p>
            <a:pPr>
              <a:spcAft>
                <a:spcPts val="800"/>
              </a:spcAft>
            </a:pPr>
            <a:r>
              <a:rPr sz="1800">
                <a:solidFill>
                  <a:srgbClr val="1F2937"/>
                </a:solidFill>
                <a:latin typeface="Calibri"/>
              </a:rPr>
              <a:t>▸  Diqqat: qon izi ≠ jarohat qoni. Avval tashqi jarohat yo‘qligini aniqlang, so‘ng izni belgi deb baholang.</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Qon izlari</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Tug‘ruq yo‘li to‘qimasi yorilishidan</a:t>
            </a:r>
          </a:p>
          <a:p>
            <a:pPr algn="l">
              <a:spcAft>
                <a:spcPts val="700"/>
              </a:spcAft>
            </a:pPr>
            <a:r>
              <a:rPr sz="1500" b="1">
                <a:solidFill>
                  <a:srgbClr val="C9A227"/>
                </a:solidFill>
                <a:latin typeface="Calibri"/>
              </a:rPr>
              <a:t>●  </a:t>
            </a:r>
            <a:r>
              <a:rPr sz="1500" b="0">
                <a:solidFill>
                  <a:srgbClr val="1F2937"/>
                </a:solidFill>
                <a:latin typeface="Calibri"/>
              </a:rPr>
              <a:t>Tarkibi: qon</a:t>
            </a:r>
          </a:p>
          <a:p>
            <a:pPr algn="l">
              <a:spcAft>
                <a:spcPts val="700"/>
              </a:spcAft>
            </a:pPr>
            <a:r>
              <a:rPr sz="1500" b="1">
                <a:solidFill>
                  <a:srgbClr val="C9A227"/>
                </a:solidFill>
                <a:latin typeface="Calibri"/>
              </a:rPr>
              <a:t>●  </a:t>
            </a:r>
            <a:r>
              <a:rPr sz="1500" b="0">
                <a:solidFill>
                  <a:srgbClr val="1F2937"/>
                </a:solidFill>
                <a:latin typeface="Calibri"/>
              </a:rPr>
              <a:t>Joyi: tana yuzasi</a:t>
            </a:r>
          </a:p>
          <a:p>
            <a:pPr algn="l">
              <a:spcAft>
                <a:spcPts val="700"/>
              </a:spcAft>
            </a:pPr>
            <a:r>
              <a:rPr sz="1500" b="1">
                <a:solidFill>
                  <a:srgbClr val="C9A227"/>
                </a:solidFill>
                <a:latin typeface="Calibri"/>
              </a:rPr>
              <a:t>●  </a:t>
            </a:r>
            <a:r>
              <a:rPr sz="1500" b="0">
                <a:solidFill>
                  <a:srgbClr val="1F2937"/>
                </a:solidFill>
                <a:latin typeface="Calibri"/>
              </a:rPr>
              <a:t>Yuvilsa yo‘qoladi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Mo‘msimon qoplama</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Teri yog‘ bezlari sekreti va b.</a:t>
            </a:r>
          </a:p>
          <a:p>
            <a:pPr algn="l">
              <a:spcAft>
                <a:spcPts val="700"/>
              </a:spcAft>
            </a:pPr>
            <a:r>
              <a:rPr sz="1500" b="1">
                <a:solidFill>
                  <a:srgbClr val="C9A227"/>
                </a:solidFill>
                <a:latin typeface="Calibri"/>
              </a:rPr>
              <a:t>●  </a:t>
            </a:r>
            <a:r>
              <a:rPr sz="1500" b="0">
                <a:solidFill>
                  <a:srgbClr val="1F2937"/>
                </a:solidFill>
                <a:latin typeface="Calibri"/>
              </a:rPr>
              <a:t>Sekret, epidermis, tuk, qog‘onoq suvi</a:t>
            </a:r>
          </a:p>
          <a:p>
            <a:pPr algn="l">
              <a:spcAft>
                <a:spcPts val="700"/>
              </a:spcAft>
            </a:pPr>
            <a:r>
              <a:rPr sz="1500" b="1">
                <a:solidFill>
                  <a:srgbClr val="C9A227"/>
                </a:solidFill>
                <a:latin typeface="Calibri"/>
              </a:rPr>
              <a:t>●  </a:t>
            </a:r>
            <a:r>
              <a:rPr sz="1500" b="0">
                <a:solidFill>
                  <a:srgbClr val="1F2937"/>
                </a:solidFill>
                <a:latin typeface="Calibri"/>
              </a:rPr>
              <a:t>Burmalar, qo‘ltiq osti, oraliq</a:t>
            </a:r>
          </a:p>
          <a:p>
            <a:pPr algn="l">
              <a:spcAft>
                <a:spcPts val="700"/>
              </a:spcAft>
            </a:pPr>
            <a:r>
              <a:rPr sz="1500" b="1">
                <a:solidFill>
                  <a:srgbClr val="C9A227"/>
                </a:solidFill>
                <a:latin typeface="Calibri"/>
              </a:rPr>
              <a:t>●  </a:t>
            </a:r>
            <a:r>
              <a:rPr sz="1500" b="0">
                <a:solidFill>
                  <a:srgbClr val="1F2937"/>
                </a:solidFill>
                <a:latin typeface="Calibri"/>
              </a:rPr>
              <a:t>Yuvilmasa 1 haftagacha</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Qon izlari va mo‘msimon qoplama</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Tug‘ruq shishi va kefalogematoma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Tug‘ruq shishi tor tos va tug‘ruq sustligida uchraydi; kesilganda qizg‘ish-sarg‘ish seroz suyuqlik ko‘rinadi.</a:t>
            </a:r>
          </a:p>
          <a:p>
            <a:pPr>
              <a:spcAft>
                <a:spcPts val="800"/>
              </a:spcAft>
            </a:pPr>
            <a:r>
              <a:rPr sz="1800">
                <a:solidFill>
                  <a:srgbClr val="1F2937"/>
                </a:solidFill>
                <a:latin typeface="Calibri"/>
              </a:rPr>
              <a:t>▸  Asosiy farq chokda: shish choklar proeksiyasida ham aniqlanadi, kefalogematoma esa choklar bilan chegaralanadi.</a:t>
            </a:r>
          </a:p>
          <a:p>
            <a:pPr>
              <a:spcAft>
                <a:spcPts val="800"/>
              </a:spcAft>
            </a:pPr>
            <a:r>
              <a:rPr sz="1800">
                <a:solidFill>
                  <a:srgbClr val="1F2937"/>
                </a:solidFill>
                <a:latin typeface="Calibri"/>
              </a:rPr>
              <a:t>▸  Diqqat: tug‘ruq shishi ≠ kefalogematoma. Biri yumshoq to‘qima shishi, ikkinchisi suyak usti pardasi ostidagi qon.</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Tug‘ruq shishi</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Qisilishdan qon aylanishi buzilishi</a:t>
            </a:r>
          </a:p>
          <a:p>
            <a:pPr algn="l">
              <a:spcAft>
                <a:spcPts val="700"/>
              </a:spcAft>
            </a:pPr>
            <a:r>
              <a:rPr sz="1500" b="1">
                <a:solidFill>
                  <a:srgbClr val="C9A227"/>
                </a:solidFill>
                <a:latin typeface="Calibri"/>
              </a:rPr>
              <a:t>●  </a:t>
            </a:r>
            <a:r>
              <a:rPr sz="1500" b="0">
                <a:solidFill>
                  <a:srgbClr val="1F2937"/>
                </a:solidFill>
                <a:latin typeface="Calibri"/>
              </a:rPr>
              <a:t>Bosh, ba’zan dumba</a:t>
            </a:r>
          </a:p>
          <a:p>
            <a:pPr algn="l">
              <a:spcAft>
                <a:spcPts val="700"/>
              </a:spcAft>
            </a:pPr>
            <a:r>
              <a:rPr sz="1500" b="1">
                <a:solidFill>
                  <a:srgbClr val="C9A227"/>
                </a:solidFill>
                <a:latin typeface="Calibri"/>
              </a:rPr>
              <a:t>●  </a:t>
            </a:r>
            <a:r>
              <a:rPr sz="1500" b="0">
                <a:solidFill>
                  <a:srgbClr val="1F2937"/>
                </a:solidFill>
                <a:latin typeface="Calibri"/>
              </a:rPr>
              <a:t>Odatda 2-3 kunda so‘riladi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Kefalogematoma</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Tug‘ruq travmasi, suyak usti qon quyilishi</a:t>
            </a:r>
          </a:p>
          <a:p>
            <a:pPr algn="l">
              <a:spcAft>
                <a:spcPts val="700"/>
              </a:spcAft>
            </a:pPr>
            <a:r>
              <a:rPr sz="1500" b="1">
                <a:solidFill>
                  <a:srgbClr val="C9A227"/>
                </a:solidFill>
                <a:latin typeface="Calibri"/>
              </a:rPr>
              <a:t>●  </a:t>
            </a:r>
            <a:r>
              <a:rPr sz="1500" b="0">
                <a:solidFill>
                  <a:srgbClr val="1F2937"/>
                </a:solidFill>
                <a:latin typeface="Calibri"/>
              </a:rPr>
              <a:t>Bir yoki bir necha suyak ustida</a:t>
            </a:r>
          </a:p>
          <a:p>
            <a:pPr algn="l">
              <a:spcAft>
                <a:spcPts val="700"/>
              </a:spcAft>
            </a:pPr>
            <a:r>
              <a:rPr sz="1500" b="1">
                <a:solidFill>
                  <a:srgbClr val="C9A227"/>
                </a:solidFill>
                <a:latin typeface="Calibri"/>
              </a:rPr>
              <a:t>●  </a:t>
            </a:r>
            <a:r>
              <a:rPr sz="1500" b="0">
                <a:solidFill>
                  <a:srgbClr val="1F2937"/>
                </a:solidFill>
                <a:latin typeface="Calibri"/>
              </a:rPr>
              <a:t>2 hafta va undan ko‘p so‘riladi</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Shish va gematomani farqlash</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Mekoniy (birlamchi najas)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Mekoniy to‘q-yashil yoki qo‘ng‘ir-yashil, yarim suyuq va bir xil massa ko‘rinishida bo‘ladi.</a:t>
            </a:r>
          </a:p>
          <a:p>
            <a:pPr>
              <a:spcAft>
                <a:spcPts val="1200"/>
              </a:spcAft>
            </a:pPr>
            <a:r>
              <a:rPr sz="2200">
                <a:solidFill>
                  <a:srgbClr val="1F2937"/>
                </a:solidFill>
                <a:latin typeface="Calibri"/>
              </a:rPr>
              <a:t>▸  U yo‘g‘on ichakda, orqa chiqaruv teshigi atrofida, dumba va son sohalarida aniqlanadi.</a:t>
            </a:r>
          </a:p>
          <a:p>
            <a:pPr>
              <a:spcAft>
                <a:spcPts val="1200"/>
              </a:spcAft>
            </a:pPr>
            <a:r>
              <a:rPr sz="2200">
                <a:solidFill>
                  <a:srgbClr val="1F2937"/>
                </a:solidFill>
                <a:latin typeface="Calibri"/>
              </a:rPr>
              <a:t>▸  Tarkibida shilliq, o‘t pigmentlari, ichak epiteliysi, qog‘onoq suvi va tuk bor; tarkibi muddatga qarab o‘zgarib, homila yoshini aniqlashga yordam beradi.</a:t>
            </a:r>
          </a:p>
          <a:p>
            <a:pPr>
              <a:spcAft>
                <a:spcPts val="1200"/>
              </a:spcAft>
            </a:pPr>
            <a:r>
              <a:rPr sz="2200">
                <a:solidFill>
                  <a:srgbClr val="1F2937"/>
                </a:solidFill>
                <a:latin typeface="Calibri"/>
              </a:rPr>
              <a:t>▸  Diqqat: odatda 1-2 kunda ichakdan to‘liq chiqadi, norasolarda esa 3-4 kungacha cho‘ziladi.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Kindik o‘zgarishlari dinamikasi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Kindik homilani yo‘ldosh bilan bog‘laydi. Raso go‘dakda uzunligi 50-60 sm, qalinligi 1,5-2 sm.</a:t>
            </a:r>
          </a:p>
          <a:p>
            <a:pPr>
              <a:spcAft>
                <a:spcPts val="800"/>
              </a:spcAft>
            </a:pPr>
            <a:r>
              <a:rPr sz="1800">
                <a:solidFill>
                  <a:srgbClr val="1F2937"/>
                </a:solidFill>
                <a:latin typeface="Calibri"/>
              </a:rPr>
              <a:t>▸  Tirik tug‘ilganda kindik bir tekisda quriydi: bujmayadi, qo‘ng‘ir-sariq, keyin qo‘ng‘ir-qora tusga kiradi.</a:t>
            </a:r>
          </a:p>
          <a:p>
            <a:pPr>
              <a:spcAft>
                <a:spcPts val="800"/>
              </a:spcAft>
            </a:pPr>
            <a:r>
              <a:rPr sz="1800">
                <a:solidFill>
                  <a:srgbClr val="1F2937"/>
                </a:solidFill>
                <a:latin typeface="Calibri"/>
              </a:rPr>
              <a:t>▸  Asosida bir necha soatdan so‘ng, ba’zan 1-kun oxirida, reaktiv yallig‘lanish — demarkatsion halqa paydo bo‘ladi.</a:t>
            </a:r>
          </a:p>
        </p:txBody>
      </p:sp>
      <p:sp>
        <p:nvSpPr>
          <p:cNvPr id="9" name="Rounded Rectangle 8"/>
          <p:cNvSpPr/>
          <p:nvPr/>
        </p:nvSpPr>
        <p:spPr>
          <a:xfrm>
            <a:off x="5440680"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Yangi</a:t>
            </a:r>
          </a:p>
          <a:p>
            <a:pPr algn="l">
              <a:spcAft>
                <a:spcPts val="200"/>
              </a:spcAft>
            </a:pPr>
            <a:r>
              <a:rPr sz="1400" b="0">
                <a:solidFill>
                  <a:srgbClr val="1F2937"/>
                </a:solidFill>
                <a:latin typeface="Calibri"/>
              </a:rPr>
              <a:t>Nam, yaltiroq, oqimtir-qizg‘ish</a:t>
            </a:r>
          </a:p>
        </p:txBody>
      </p:sp>
      <p:sp>
        <p:nvSpPr>
          <p:cNvPr id="12" name="Rounded Rectangle 11"/>
          <p:cNvSpPr/>
          <p:nvPr/>
        </p:nvSpPr>
        <p:spPr>
          <a:xfrm>
            <a:off x="8578443"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Halqa</a:t>
            </a:r>
          </a:p>
          <a:p>
            <a:pPr algn="l">
              <a:spcAft>
                <a:spcPts val="200"/>
              </a:spcAft>
            </a:pPr>
            <a:r>
              <a:rPr sz="1400" b="0">
                <a:solidFill>
                  <a:srgbClr val="1F2937"/>
                </a:solidFill>
                <a:latin typeface="Calibri"/>
              </a:rPr>
              <a:t>Bir necha soatdan so‘ng qizg‘ish halqa</a:t>
            </a:r>
          </a:p>
        </p:txBody>
      </p:sp>
      <p:sp>
        <p:nvSpPr>
          <p:cNvPr id="15" name="Rounded Rectangle 14"/>
          <p:cNvSpPr/>
          <p:nvPr/>
        </p:nvSpPr>
        <p:spPr>
          <a:xfrm>
            <a:off x="5440680"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Qurish</a:t>
            </a:r>
          </a:p>
          <a:p>
            <a:pPr algn="l">
              <a:spcAft>
                <a:spcPts val="200"/>
              </a:spcAft>
            </a:pPr>
            <a:r>
              <a:rPr sz="1400" b="0">
                <a:solidFill>
                  <a:srgbClr val="1F2937"/>
                </a:solidFill>
                <a:latin typeface="Calibri"/>
              </a:rPr>
              <a:t>Qo‘ng‘ir-sariq, keyin qora</a:t>
            </a:r>
          </a:p>
        </p:txBody>
      </p:sp>
      <p:sp>
        <p:nvSpPr>
          <p:cNvPr id="18" name="Rounded Rectangle 17"/>
          <p:cNvSpPr/>
          <p:nvPr/>
        </p:nvSpPr>
        <p:spPr>
          <a:xfrm>
            <a:off x="8578443"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5-7 kun</a:t>
            </a:r>
          </a:p>
          <a:p>
            <a:pPr algn="l">
              <a:spcAft>
                <a:spcPts val="200"/>
              </a:spcAft>
            </a:pPr>
            <a:r>
              <a:rPr sz="1400" b="0">
                <a:solidFill>
                  <a:srgbClr val="1F2937"/>
                </a:solidFill>
                <a:latin typeface="Calibri"/>
              </a:rPr>
              <a:t>Halqa bo‘ylab ajralish</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Kindik o‘zgarishlari ketma-ketligi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Birlamchi atelektaz; absolyut va nisbiy belgilar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Birlamchi atelektaz — nafas olmagan o‘pka holati. Bunday go‘dak bir necha soniya yashashi mumkin.</a:t>
            </a:r>
          </a:p>
          <a:p>
            <a:pPr>
              <a:spcAft>
                <a:spcPts val="800"/>
              </a:spcAft>
            </a:pPr>
            <a:r>
              <a:rPr sz="1800">
                <a:solidFill>
                  <a:srgbClr val="1F2937"/>
                </a:solidFill>
                <a:latin typeface="Calibri"/>
              </a:rPr>
              <a:t>▸  Mutloq ishonchli (absolyut) belgilar: birlamchi atelektaz, kindikda halqa yo‘qligi yoki dastlabki belgisi, ajratilmagan kindik.</a:t>
            </a:r>
          </a:p>
          <a:p>
            <a:pPr>
              <a:spcAft>
                <a:spcPts val="800"/>
              </a:spcAft>
            </a:pPr>
            <a:r>
              <a:rPr sz="1800">
                <a:solidFill>
                  <a:srgbClr val="1F2937"/>
                </a:solidFill>
                <a:latin typeface="Calibri"/>
              </a:rPr>
              <a:t>▸  Diqqat: qolgan belgilar nisbiy ≠ absolyut; ular 2-kun va keyin ham topilishi mumkin.</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Absolyut belgilar</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O‘pkaning birlamchi atelektazi</a:t>
            </a:r>
          </a:p>
          <a:p>
            <a:pPr algn="l">
              <a:spcAft>
                <a:spcPts val="700"/>
              </a:spcAft>
            </a:pPr>
            <a:r>
              <a:rPr sz="1500" b="1">
                <a:solidFill>
                  <a:srgbClr val="C9A227"/>
                </a:solidFill>
                <a:latin typeface="Calibri"/>
              </a:rPr>
              <a:t>●  </a:t>
            </a:r>
            <a:r>
              <a:rPr sz="1500" b="0">
                <a:solidFill>
                  <a:srgbClr val="1F2937"/>
                </a:solidFill>
                <a:latin typeface="Calibri"/>
              </a:rPr>
              <a:t>Halqa yo‘q yoki dastlabki belgi</a:t>
            </a:r>
          </a:p>
          <a:p>
            <a:pPr algn="l">
              <a:spcAft>
                <a:spcPts val="700"/>
              </a:spcAft>
            </a:pPr>
            <a:r>
              <a:rPr sz="1500" b="1">
                <a:solidFill>
                  <a:srgbClr val="C9A227"/>
                </a:solidFill>
                <a:latin typeface="Calibri"/>
              </a:rPr>
              <a:t>●  </a:t>
            </a:r>
            <a:r>
              <a:rPr sz="1500" b="0">
                <a:solidFill>
                  <a:srgbClr val="1F2937"/>
                </a:solidFill>
                <a:latin typeface="Calibri"/>
              </a:rPr>
              <a:t>Ajratilmagan kindik</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Nisbiy belgilar</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Qon izi, mo‘msimon qoplama</a:t>
            </a:r>
          </a:p>
          <a:p>
            <a:pPr algn="l">
              <a:spcAft>
                <a:spcPts val="700"/>
              </a:spcAft>
            </a:pPr>
            <a:r>
              <a:rPr sz="1500" b="1">
                <a:solidFill>
                  <a:srgbClr val="C9A227"/>
                </a:solidFill>
                <a:latin typeface="Calibri"/>
              </a:rPr>
              <a:t>●  </a:t>
            </a:r>
            <a:r>
              <a:rPr sz="1500" b="0">
                <a:solidFill>
                  <a:srgbClr val="1F2937"/>
                </a:solidFill>
                <a:latin typeface="Calibri"/>
              </a:rPr>
              <a:t>Tug‘ruq shishi, mekoniy</a:t>
            </a:r>
          </a:p>
          <a:p>
            <a:pPr algn="l">
              <a:spcAft>
                <a:spcPts val="700"/>
              </a:spcAft>
            </a:pPr>
            <a:r>
              <a:rPr sz="1500" b="1">
                <a:solidFill>
                  <a:srgbClr val="C9A227"/>
                </a:solidFill>
                <a:latin typeface="Calibri"/>
              </a:rPr>
              <a:t>●  </a:t>
            </a:r>
            <a:r>
              <a:rPr sz="1500" b="0">
                <a:solidFill>
                  <a:srgbClr val="1F2937"/>
                </a:solidFill>
                <a:latin typeface="Calibri"/>
              </a:rPr>
              <a:t>2-kun va keyin ham topiladi</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Absolyut va nisbiy belgilar</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258, 258-259, 259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1</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1: Sud tibbiyotida yangi tug‘ilganlik davri qancha? Javob: dastlabki 24 soat.</a:t>
            </a:r>
          </a:p>
          <a:p>
            <a:pPr>
              <a:spcAft>
                <a:spcPts val="1200"/>
              </a:spcAft>
            </a:pPr>
            <a:r>
              <a:rPr sz="2200">
                <a:solidFill>
                  <a:srgbClr val="1F2937"/>
                </a:solidFill>
                <a:latin typeface="Calibri"/>
              </a:rPr>
              <a:t>▸  Savol 2: Qaysi belgilar absolyut ishonchli? Javob: birlamchi atelektaz va kindikdagi belgilar (halqa yo‘qligi, ajratilmagan kindik).</a:t>
            </a:r>
          </a:p>
          <a:p>
            <a:pPr>
              <a:spcAft>
                <a:spcPts val="1200"/>
              </a:spcAft>
            </a:pPr>
            <a:r>
              <a:rPr sz="2200">
                <a:solidFill>
                  <a:srgbClr val="1F2937"/>
                </a:solidFill>
                <a:latin typeface="Calibri"/>
              </a:rPr>
              <a:t>▸  Savol 3: Tug‘ruq shishi kefalogematomadan nimasi bilan farq qiladi? Javob: shish suyaklararo choklar proeksiyasida ham aniqlanadi; 2-3 kunda so‘riladi.</a:t>
            </a:r>
          </a:p>
          <a:p>
            <a:pPr>
              <a:spcAft>
                <a:spcPts val="1200"/>
              </a:spcAft>
            </a:pPr>
            <a:r>
              <a:rPr sz="2200">
                <a:solidFill>
                  <a:srgbClr val="1F2937"/>
                </a:solidFill>
                <a:latin typeface="Calibri"/>
              </a:rPr>
              <a:t>▸  Savol 4: Mekoniy qachon ichakdan to‘liq chiqadi? Javob: odatda 1-2 kunda; norasolarda 3-4 kungacha.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256, 258-259, 257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2: yangi tug‘ilganlik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chaqaloq murdasida mo‘msimon qoplama, mekoniy izi va tug‘ruq shishi bor. Kindik tana va yo‘ldoshdan ajratilmagan.</a:t>
            </a:r>
          </a:p>
          <a:p>
            <a:pPr>
              <a:spcAft>
                <a:spcPts val="1200"/>
              </a:spcAft>
            </a:pPr>
            <a:r>
              <a:rPr sz="2200">
                <a:solidFill>
                  <a:srgbClr val="1F2937"/>
                </a:solidFill>
                <a:latin typeface="Calibri"/>
              </a:rPr>
              <a:t>▸  Savol: qaysi belgi mutloq ishonchli? Javob: tana va yo‘ldoshdan ajratilmagan kindik. Shuningdek, o‘pkaning birlamchi atelektazi.</a:t>
            </a:r>
          </a:p>
          <a:p>
            <a:pPr>
              <a:spcAft>
                <a:spcPts val="1200"/>
              </a:spcAft>
            </a:pPr>
            <a:r>
              <a:rPr sz="2200">
                <a:solidFill>
                  <a:srgbClr val="1F2937"/>
                </a:solidFill>
                <a:latin typeface="Calibri"/>
              </a:rPr>
              <a:t>▸  Mo‘msimon qoplama, mekoniy va tug‘ruq shishi nisbiy belgilardir. Ular hayotning 2-kunida va undan keyin ham topilishi mumkin.</a:t>
            </a:r>
          </a:p>
          <a:p>
            <a:pPr>
              <a:spcAft>
                <a:spcPts val="1200"/>
              </a:spcAft>
            </a:pPr>
            <a:r>
              <a:rPr sz="2200">
                <a:solidFill>
                  <a:srgbClr val="1F2937"/>
                </a:solidFill>
                <a:latin typeface="Calibri"/>
              </a:rPr>
              <a:t>▸  Diqqat: xato qilish xavfi. Tug‘ruq shishi ≠ kefalogematoma: shish choklar proeksiyasida ham bo‘ladi, kefalogematoma suyak bilan cheklanadi.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257-258, 258-259, 259, 257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Tirik tug‘ilganlik mezonlari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Jahon sog‘liqni saqlash tashkiloti (JSST) mezonlari: nafas olish, yurak urishi, kindik pulsatsiyasi va ixtiyoriy harakatlar.</a:t>
            </a:r>
          </a:p>
          <a:p>
            <a:pPr>
              <a:spcAft>
                <a:spcPts val="1200"/>
              </a:spcAft>
            </a:pPr>
            <a:r>
              <a:rPr sz="2200">
                <a:solidFill>
                  <a:srgbClr val="1F2937"/>
                </a:solidFill>
                <a:latin typeface="Calibri"/>
              </a:rPr>
              <a:t>▸  Sud tibbiyotida yurak urishi, kindik pulsatsiyasi va ixtiyoriy harakatni o‘limdan keyin aniqlash usullari hali ishlab chiqilmagan.</a:t>
            </a:r>
          </a:p>
          <a:p>
            <a:pPr>
              <a:spcAft>
                <a:spcPts val="1200"/>
              </a:spcAft>
            </a:pPr>
            <a:r>
              <a:rPr sz="2200">
                <a:solidFill>
                  <a:srgbClr val="1F2937"/>
                </a:solidFill>
                <a:latin typeface="Calibri"/>
              </a:rPr>
              <a:t>▸  Shu sababli masala asosan go‘dak nafas olgan yoki olmaganini aniqlash orqali hal etiladi.</a:t>
            </a:r>
          </a:p>
          <a:p>
            <a:pPr>
              <a:spcAft>
                <a:spcPts val="1200"/>
              </a:spcAft>
            </a:pPr>
            <a:r>
              <a:rPr sz="2200">
                <a:solidFill>
                  <a:srgbClr val="1F2937"/>
                </a:solidFill>
                <a:latin typeface="Calibri"/>
              </a:rPr>
              <a:t>▸  Tezkor savol: tirik tug‘ilganlik qaysi usullar bilan aniqlanadi? Sinamalar, makro-, mikroskopik va laboratoriya tekshiruvlari bilan.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O‘pka (Galen–Rauger–Shreer) sinamasi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Nafas olmagan o‘pka solishtirma og‘irligi 1,05–1,06, suvdan og‘ir; nafas olganda 1,0 dan past.</a:t>
            </a:r>
          </a:p>
          <a:p>
            <a:pPr>
              <a:spcAft>
                <a:spcPts val="800"/>
              </a:spcAft>
            </a:pPr>
            <a:r>
              <a:rPr sz="1800">
                <a:solidFill>
                  <a:srgbClr val="1F2937"/>
                </a:solidFill>
                <a:latin typeface="Calibri"/>
              </a:rPr>
              <a:t>▸  Soxta musbat: chirish, sun’iy nafas, muzlash; soxta manfiy: ikkilamchi atelektaz.</a:t>
            </a:r>
          </a:p>
          <a:p>
            <a:pPr>
              <a:spcAft>
                <a:spcPts val="800"/>
              </a:spcAft>
            </a:pPr>
            <a:r>
              <a:rPr sz="1800">
                <a:solidFill>
                  <a:srgbClr val="1F2937"/>
                </a:solidFill>
                <a:latin typeface="Calibri"/>
              </a:rPr>
              <a:t>▸  Sinamani sud-tibbiy amaliyotda ilk bor 1681 yilda I. Shreer qo‘llagan.</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Ligatura</a:t>
            </a:r>
          </a:p>
          <a:p>
            <a:pPr algn="l">
              <a:spcAft>
                <a:spcPts val="200"/>
              </a:spcAft>
            </a:pPr>
            <a:r>
              <a:rPr sz="1400" b="0">
                <a:solidFill>
                  <a:srgbClr val="1F2937"/>
                </a:solidFill>
                <a:latin typeface="Calibri"/>
              </a:rPr>
              <a:t>Traxeya, qizilo‘ngachga</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Kompleks</a:t>
            </a:r>
          </a:p>
          <a:p>
            <a:pPr algn="l">
              <a:spcAft>
                <a:spcPts val="200"/>
              </a:spcAft>
            </a:pPr>
            <a:r>
              <a:rPr sz="1400" b="0">
                <a:solidFill>
                  <a:srgbClr val="1F2937"/>
                </a:solidFill>
                <a:latin typeface="Calibri"/>
              </a:rPr>
              <a:t>Suvli idishga solinadi</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Alohida o‘pkalar</a:t>
            </a:r>
          </a:p>
          <a:p>
            <a:pPr algn="l">
              <a:spcAft>
                <a:spcPts val="200"/>
              </a:spcAft>
            </a:pPr>
            <a:r>
              <a:rPr sz="1400" b="0">
                <a:solidFill>
                  <a:srgbClr val="1F2937"/>
                </a:solidFill>
                <a:latin typeface="Calibri"/>
              </a:rPr>
              <a:t>Cho‘ksa — keyingi bosqich</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Bo‘laklar</a:t>
            </a:r>
          </a:p>
          <a:p>
            <a:pPr algn="l">
              <a:spcAft>
                <a:spcPts val="200"/>
              </a:spcAft>
            </a:pPr>
            <a:r>
              <a:rPr sz="1400" b="0">
                <a:solidFill>
                  <a:srgbClr val="1F2937"/>
                </a:solidFill>
                <a:latin typeface="Calibri"/>
              </a:rPr>
              <a:t>Bo‘lak, bo‘lakchalar</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Musbat</a:t>
            </a:r>
          </a:p>
          <a:p>
            <a:pPr algn="l">
              <a:spcAft>
                <a:spcPts val="200"/>
              </a:spcAft>
            </a:pPr>
            <a:r>
              <a:rPr sz="1400" b="0">
                <a:solidFill>
                  <a:srgbClr val="1F2937"/>
                </a:solidFill>
                <a:latin typeface="Calibri"/>
              </a:rPr>
              <a:t>Suzsa — to‘xtatiladi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O‘pka sinamasi bosqichlari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O‘pka sinamasi: soxta natijalar va Taranuxin usuli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Nafas olgan o‘pka suvda qalqiydi (solishtirma og‘irlik 1,0 dan past), nafas olmagan o‘pka esa cho‘kadi.</a:t>
            </a:r>
          </a:p>
          <a:p>
            <a:pPr>
              <a:spcAft>
                <a:spcPts val="800"/>
              </a:spcAft>
            </a:pPr>
            <a:r>
              <a:rPr sz="1800">
                <a:solidFill>
                  <a:srgbClr val="1F2937"/>
                </a:solidFill>
                <a:latin typeface="Calibri"/>
              </a:rPr>
              <a:t>▸  Diqqat: chirish, sun’iy nafas va muzlash soxta musbat, ikkilamchi atelektaz esa soxta manfiy natija berishi mumkin.</a:t>
            </a:r>
          </a:p>
          <a:p>
            <a:pPr>
              <a:spcAft>
                <a:spcPts val="800"/>
              </a:spcAft>
            </a:pPr>
            <a:r>
              <a:rPr sz="1800">
                <a:solidFill>
                  <a:srgbClr val="1F2937"/>
                </a:solidFill>
                <a:latin typeface="Calibri"/>
              </a:rPr>
              <a:t>▸  Ikkilamchi atelektaz: Taranuxin usuli (1907) — kolbada past bosimda o‘pka bo‘lakchasi qalqib chiqadi.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480633"/>
                <a:gridCol w="1128101"/>
                <a:gridCol w="2679240"/>
              </a:tblGrid>
              <a:tr h="614476">
                <a:tc>
                  <a:txBody>
                    <a:bodyPr/>
                    <a:lstStyle/>
                    <a:p>
                      <a:r>
                        <a:rPr sz="1600" b="1">
                          <a:solidFill>
                            <a:srgbClr val="FFFFFF"/>
                          </a:solidFill>
                        </a:rPr>
                        <a:t>Holat</a:t>
                      </a:r>
                    </a:p>
                  </a:txBody>
                  <a:tcPr marL="73152" marR="73152" marT="36576" marB="36576">
                    <a:solidFill>
                      <a:srgbClr val="0B1F3A"/>
                    </a:solidFill>
                  </a:tcPr>
                </a:tc>
                <a:tc>
                  <a:txBody>
                    <a:bodyPr/>
                    <a:lstStyle/>
                    <a:p>
                      <a:r>
                        <a:rPr sz="1600" b="1">
                          <a:solidFill>
                            <a:srgbClr val="FFFFFF"/>
                          </a:solidFill>
                        </a:rPr>
                        <a:t>Natija</a:t>
                      </a:r>
                    </a:p>
                  </a:txBody>
                  <a:tcPr marL="73152" marR="73152" marT="36576" marB="36576">
                    <a:solidFill>
                      <a:srgbClr val="0B1F3A"/>
                    </a:solidFill>
                  </a:tcPr>
                </a:tc>
                <a:tc>
                  <a:txBody>
                    <a:bodyPr/>
                    <a:lstStyle/>
                    <a:p>
                      <a:r>
                        <a:rPr sz="1600" b="1">
                          <a:solidFill>
                            <a:srgbClr val="FFFFFF"/>
                          </a:solidFill>
                        </a:rPr>
                        <a:t>Belgi/yechim</a:t>
                      </a:r>
                    </a:p>
                  </a:txBody>
                  <a:tcPr marL="73152" marR="73152" marT="36576" marB="36576">
                    <a:solidFill>
                      <a:srgbClr val="0B1F3A"/>
                    </a:solidFill>
                  </a:tcPr>
                </a:tc>
              </a:tr>
              <a:tr h="614476">
                <a:tc>
                  <a:txBody>
                    <a:bodyPr/>
                    <a:lstStyle/>
                    <a:p>
                      <a:r>
                        <a:rPr sz="1500" b="0">
                          <a:solidFill>
                            <a:srgbClr val="1F2937"/>
                          </a:solidFill>
                        </a:rPr>
                        <a:t>Chirish gazlari</a:t>
                      </a:r>
                    </a:p>
                  </a:txBody>
                  <a:tcPr marL="73152" marR="73152" marT="36576" marB="36576">
                    <a:solidFill>
                      <a:srgbClr val="E8EEF6"/>
                    </a:solidFill>
                  </a:tcPr>
                </a:tc>
                <a:tc>
                  <a:txBody>
                    <a:bodyPr/>
                    <a:lstStyle/>
                    <a:p>
                      <a:r>
                        <a:rPr sz="1500" b="0">
                          <a:solidFill>
                            <a:srgbClr val="1F2937"/>
                          </a:solidFill>
                        </a:rPr>
                        <a:t>Soxta musbat</a:t>
                      </a:r>
                    </a:p>
                  </a:txBody>
                  <a:tcPr marL="73152" marR="73152" marT="36576" marB="36576">
                    <a:solidFill>
                      <a:srgbClr val="E8EEF6"/>
                    </a:solidFill>
                  </a:tcPr>
                </a:tc>
                <a:tc>
                  <a:txBody>
                    <a:bodyPr/>
                    <a:lstStyle/>
                    <a:p>
                      <a:r>
                        <a:rPr sz="1500" b="0">
                          <a:solidFill>
                            <a:srgbClr val="1F2937"/>
                          </a:solidFill>
                        </a:rPr>
                        <a:t>Suv ostida siqilsa, qayta qalqimaydi</a:t>
                      </a:r>
                    </a:p>
                  </a:txBody>
                  <a:tcPr marL="73152" marR="73152" marT="36576" marB="36576">
                    <a:solidFill>
                      <a:srgbClr val="E8EEF6"/>
                    </a:solidFill>
                  </a:tcPr>
                </a:tc>
              </a:tr>
              <a:tr h="614476">
                <a:tc>
                  <a:txBody>
                    <a:bodyPr/>
                    <a:lstStyle/>
                    <a:p>
                      <a:r>
                        <a:rPr sz="1500" b="0">
                          <a:solidFill>
                            <a:srgbClr val="1F2937"/>
                          </a:solidFill>
                        </a:rPr>
                        <a:t>Sun’iy nafas oldirish</a:t>
                      </a:r>
                    </a:p>
                  </a:txBody>
                  <a:tcPr marL="73152" marR="73152" marT="36576" marB="36576">
                    <a:solidFill>
                      <a:srgbClr val="FFFFFF"/>
                    </a:solidFill>
                  </a:tcPr>
                </a:tc>
                <a:tc>
                  <a:txBody>
                    <a:bodyPr/>
                    <a:lstStyle/>
                    <a:p>
                      <a:r>
                        <a:rPr sz="1500" b="0">
                          <a:solidFill>
                            <a:srgbClr val="1F2937"/>
                          </a:solidFill>
                        </a:rPr>
                        <a:t>Soxta musbat</a:t>
                      </a:r>
                    </a:p>
                  </a:txBody>
                  <a:tcPr marL="73152" marR="73152" marT="36576" marB="36576">
                    <a:solidFill>
                      <a:srgbClr val="FFFFFF"/>
                    </a:solidFill>
                  </a:tcPr>
                </a:tc>
                <a:tc>
                  <a:txBody>
                    <a:bodyPr/>
                    <a:lstStyle/>
                    <a:p>
                      <a:r>
                        <a:rPr sz="1500" b="0">
                          <a:solidFill>
                            <a:srgbClr val="1F2937"/>
                          </a:solidFill>
                        </a:rPr>
                        <a:t>Bo‘lakchalar bir xilda suzmaydi</a:t>
                      </a:r>
                    </a:p>
                  </a:txBody>
                  <a:tcPr marL="73152" marR="73152" marT="36576" marB="36576">
                    <a:solidFill>
                      <a:srgbClr val="FFFFFF"/>
                    </a:solidFill>
                  </a:tcPr>
                </a:tc>
              </a:tr>
              <a:tr h="614476">
                <a:tc>
                  <a:txBody>
                    <a:bodyPr/>
                    <a:lstStyle/>
                    <a:p>
                      <a:r>
                        <a:rPr sz="1500" b="0">
                          <a:solidFill>
                            <a:srgbClr val="1F2937"/>
                          </a:solidFill>
                        </a:rPr>
                        <a:t>Muzlagan o‘pka</a:t>
                      </a:r>
                    </a:p>
                  </a:txBody>
                  <a:tcPr marL="73152" marR="73152" marT="36576" marB="36576">
                    <a:solidFill>
                      <a:srgbClr val="E8EEF6"/>
                    </a:solidFill>
                  </a:tcPr>
                </a:tc>
                <a:tc>
                  <a:txBody>
                    <a:bodyPr/>
                    <a:lstStyle/>
                    <a:p>
                      <a:r>
                        <a:rPr sz="1500" b="0">
                          <a:solidFill>
                            <a:srgbClr val="1F2937"/>
                          </a:solidFill>
                        </a:rPr>
                        <a:t>Soxta musbat</a:t>
                      </a:r>
                    </a:p>
                  </a:txBody>
                  <a:tcPr marL="73152" marR="73152" marT="36576" marB="36576">
                    <a:solidFill>
                      <a:srgbClr val="E8EEF6"/>
                    </a:solidFill>
                  </a:tcPr>
                </a:tc>
                <a:tc>
                  <a:txBody>
                    <a:bodyPr/>
                    <a:lstStyle/>
                    <a:p>
                      <a:r>
                        <a:rPr sz="1500" b="0">
                          <a:solidFill>
                            <a:srgbClr val="1F2937"/>
                          </a:solidFill>
                        </a:rPr>
                        <a:t>To‘liq eritilsa, suvda cho‘kadi</a:t>
                      </a:r>
                    </a:p>
                  </a:txBody>
                  <a:tcPr marL="73152" marR="73152" marT="36576" marB="36576">
                    <a:solidFill>
                      <a:srgbClr val="E8EEF6"/>
                    </a:solidFill>
                  </a:tcPr>
                </a:tc>
              </a:tr>
              <a:tr h="614476">
                <a:tc>
                  <a:txBody>
                    <a:bodyPr/>
                    <a:lstStyle/>
                    <a:p>
                      <a:r>
                        <a:rPr sz="1500" b="0">
                          <a:solidFill>
                            <a:srgbClr val="1F2937"/>
                          </a:solidFill>
                        </a:rPr>
                        <a:t>Ikkilamchi atelektaz</a:t>
                      </a:r>
                    </a:p>
                  </a:txBody>
                  <a:tcPr marL="73152" marR="73152" marT="36576" marB="36576">
                    <a:solidFill>
                      <a:srgbClr val="FFFFFF"/>
                    </a:solidFill>
                  </a:tcPr>
                </a:tc>
                <a:tc>
                  <a:txBody>
                    <a:bodyPr/>
                    <a:lstStyle/>
                    <a:p>
                      <a:r>
                        <a:rPr sz="1500" b="0">
                          <a:solidFill>
                            <a:srgbClr val="1F2937"/>
                          </a:solidFill>
                        </a:rPr>
                        <a:t>Soxta manfiy</a:t>
                      </a:r>
                    </a:p>
                  </a:txBody>
                  <a:tcPr marL="73152" marR="73152" marT="36576" marB="36576">
                    <a:solidFill>
                      <a:srgbClr val="FFFFFF"/>
                    </a:solidFill>
                  </a:tcPr>
                </a:tc>
                <a:tc>
                  <a:txBody>
                    <a:bodyPr/>
                    <a:lstStyle/>
                    <a:p>
                      <a:r>
                        <a:rPr sz="1500" b="0">
                          <a:solidFill>
                            <a:srgbClr val="1F2937"/>
                          </a:solidFill>
                        </a:rPr>
                        <a:t>Taranuxin usuli: past bosimda qalqiydi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O‘pka sinamasidagi xatolar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Oshqozon-ichak (Breslau) va rentgenologik sinama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Breslau sinamasi (1865): nafas olganda havo qizilo‘ngach orqali oshqozon-ichakka o‘tadi. Havoli joylar suvda suzadi, teshilganda pufakchalar chiqadi.</a:t>
            </a:r>
          </a:p>
          <a:p>
            <a:pPr>
              <a:spcAft>
                <a:spcPts val="1200"/>
              </a:spcAft>
            </a:pPr>
            <a:r>
              <a:rPr sz="2200">
                <a:solidFill>
                  <a:srgbClr val="1F2937"/>
                </a:solidFill>
                <a:latin typeface="Calibri"/>
              </a:rPr>
              <a:t>▸  Tirik tug‘ilganda havo asta-sekin o‘tadi, shuning uchun sinama chaqaloq qancha yashaganini baholashga ham yordam beradi.</a:t>
            </a:r>
          </a:p>
          <a:p>
            <a:pPr>
              <a:spcAft>
                <a:spcPts val="1200"/>
              </a:spcAft>
            </a:pPr>
            <a:r>
              <a:rPr sz="2200">
                <a:solidFill>
                  <a:srgbClr val="1F2937"/>
                </a:solidFill>
                <a:latin typeface="Calibri"/>
              </a:rPr>
              <a:t>▸  Diqqat: chirish gazlari va sun’iy nafas oldirishda soxta musbat beradi. Shunday hollarda sinamadan foydalanish tavsiya etilmaydi.</a:t>
            </a:r>
          </a:p>
          <a:p>
            <a:pPr>
              <a:spcAft>
                <a:spcPts val="1200"/>
              </a:spcAft>
            </a:pPr>
            <a:r>
              <a:rPr sz="2200">
                <a:solidFill>
                  <a:srgbClr val="1F2937"/>
                </a:solidFill>
                <a:latin typeface="Calibri"/>
              </a:rPr>
              <a:t>▸  Rentgen sinamasi (Dillon, 1939) nafas olgan o‘pkani sun’iy ventilyatsiya va chirish gazlaridan ajrata olmaydi. Maxsus jihoz kerak, hozir qo‘llanilmaydi.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Oshqozon-ichak sinamasi: bajarish tartibi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Sinama nafas olganda havoning bir qismi qizilo‘ngach orqali oshqozon va ichaklarga o‘tishiga asoslanadi (V. Breslau, 1865).</a:t>
            </a:r>
          </a:p>
          <a:p>
            <a:pPr>
              <a:spcAft>
                <a:spcPts val="800"/>
              </a:spcAft>
            </a:pPr>
            <a:r>
              <a:rPr sz="1600">
                <a:solidFill>
                  <a:srgbClr val="1F2937"/>
                </a:solidFill>
                <a:latin typeface="Calibri"/>
              </a:rPr>
              <a:t>▸  Oshqozonning kirish-chiqish qismiga, ichaklarning havo borligi gumon qilingan sohalariga, to‘g‘ri ichakka ligatura qo‘yiladi.</a:t>
            </a:r>
          </a:p>
          <a:p>
            <a:pPr>
              <a:spcAft>
                <a:spcPts val="800"/>
              </a:spcAft>
            </a:pPr>
            <a:r>
              <a:rPr sz="1600">
                <a:solidFill>
                  <a:srgbClr val="1F2937"/>
                </a:solidFill>
                <a:latin typeface="Calibri"/>
              </a:rPr>
              <a:t>▸  Oshqozon va ichaklar tutqichlaridan ajratib olinib, suvli idishga solinadi; havo bor sohalar suzib chiqadi, suv ostida teshilganda pufakchalar chiqadi.</a:t>
            </a:r>
          </a:p>
          <a:p>
            <a:pPr>
              <a:spcAft>
                <a:spcPts val="800"/>
              </a:spcAft>
            </a:pPr>
            <a:r>
              <a:rPr sz="1600">
                <a:solidFill>
                  <a:srgbClr val="1F2937"/>
                </a:solidFill>
                <a:latin typeface="Calibri"/>
              </a:rPr>
              <a:t>▸  Tirik tug‘ilganda havo asta-sekin o‘tadi, shuning uchun sinama go‘dak qancha yashaganini ham baholashga yordam beradi.</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Ligatura</a:t>
            </a:r>
          </a:p>
          <a:p>
            <a:pPr algn="l">
              <a:spcAft>
                <a:spcPts val="200"/>
              </a:spcAft>
            </a:pPr>
            <a:r>
              <a:rPr sz="1400" b="0">
                <a:solidFill>
                  <a:srgbClr val="1F2937"/>
                </a:solidFill>
                <a:latin typeface="Calibri"/>
              </a:rPr>
              <a:t>Oshqozon kirishi-chiqishi, ichak, to‘g‘ri ichak</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Ajratish</a:t>
            </a:r>
          </a:p>
          <a:p>
            <a:pPr algn="l">
              <a:spcAft>
                <a:spcPts val="200"/>
              </a:spcAft>
            </a:pPr>
            <a:r>
              <a:rPr sz="1400" b="0">
                <a:solidFill>
                  <a:srgbClr val="1F2937"/>
                </a:solidFill>
                <a:latin typeface="Calibri"/>
              </a:rPr>
              <a:t>Tutqichlardan ajratib olinadi</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Idish</a:t>
            </a:r>
          </a:p>
          <a:p>
            <a:pPr algn="l">
              <a:spcAft>
                <a:spcPts val="200"/>
              </a:spcAft>
            </a:pPr>
            <a:r>
              <a:rPr sz="1400" b="0">
                <a:solidFill>
                  <a:srgbClr val="1F2937"/>
                </a:solidFill>
                <a:latin typeface="Calibri"/>
              </a:rPr>
              <a:t>Suvli idishga solinadi</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Suzish</a:t>
            </a:r>
          </a:p>
          <a:p>
            <a:pPr algn="l">
              <a:spcAft>
                <a:spcPts val="200"/>
              </a:spcAft>
            </a:pPr>
            <a:r>
              <a:rPr sz="1400" b="0">
                <a:solidFill>
                  <a:srgbClr val="1F2937"/>
                </a:solidFill>
                <a:latin typeface="Calibri"/>
              </a:rPr>
              <a:t>Havoli joylar suzib chiqadi</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Teshish</a:t>
            </a:r>
          </a:p>
          <a:p>
            <a:pPr algn="l">
              <a:spcAft>
                <a:spcPts val="200"/>
              </a:spcAft>
            </a:pPr>
            <a:r>
              <a:rPr sz="1400" b="0">
                <a:solidFill>
                  <a:srgbClr val="1F2937"/>
                </a:solidFill>
                <a:latin typeface="Calibri"/>
              </a:rPr>
              <a:t>Suv ostida teshilsa — pufakchalar</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Breslau sinamasi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Makroskopik belgilar: tirik va o‘lik tug‘ilgan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Nafas olgan o‘pka ko‘krak qafasini deyarli to‘ldiradi, elastik; qisilganda ko‘pikli qon ajraladi.</a:t>
            </a:r>
          </a:p>
          <a:p>
            <a:pPr>
              <a:spcAft>
                <a:spcPts val="800"/>
              </a:spcAft>
            </a:pPr>
            <a:r>
              <a:rPr sz="1800">
                <a:solidFill>
                  <a:srgbClr val="1F2937"/>
                </a:solidFill>
                <a:latin typeface="Calibri"/>
              </a:rPr>
              <a:t>▸  Nafas olmagan o‘pka kichik, zich, umurtqa pog‘onasiga yaqin; kesmadan ozroq qon ajraladi.</a:t>
            </a:r>
          </a:p>
          <a:p>
            <a:pPr>
              <a:spcAft>
                <a:spcPts val="800"/>
              </a:spcAft>
            </a:pPr>
            <a:r>
              <a:rPr sz="1800">
                <a:solidFill>
                  <a:srgbClr val="1F2937"/>
                </a:solidFill>
                <a:latin typeface="Calibri"/>
              </a:rPr>
              <a:t>▸  Chirish tirik tug‘ilganda nafas a’zolaridan, o‘lik tug‘ilganda odatda tabiiy teshiklardan boshlanadi.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Tirik tug‘ilgan</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Ko‘krak qafasi bochkasimon</a:t>
            </a:r>
          </a:p>
          <a:p>
            <a:pPr algn="l">
              <a:spcAft>
                <a:spcPts val="700"/>
              </a:spcAft>
            </a:pPr>
            <a:r>
              <a:rPr sz="1500" b="1">
                <a:solidFill>
                  <a:srgbClr val="C9A227"/>
                </a:solidFill>
                <a:latin typeface="Calibri"/>
              </a:rPr>
              <a:t>●  </a:t>
            </a:r>
            <a:r>
              <a:rPr sz="1500" b="0">
                <a:solidFill>
                  <a:srgbClr val="1F2937"/>
                </a:solidFill>
                <a:latin typeface="Calibri"/>
              </a:rPr>
              <a:t>Diafragma VI-VII qobirg‘a</a:t>
            </a:r>
          </a:p>
          <a:p>
            <a:pPr algn="l">
              <a:spcAft>
                <a:spcPts val="700"/>
              </a:spcAft>
            </a:pPr>
            <a:r>
              <a:rPr sz="1500" b="1">
                <a:solidFill>
                  <a:srgbClr val="C9A227"/>
                </a:solidFill>
                <a:latin typeface="Calibri"/>
              </a:rPr>
              <a:t>●  </a:t>
            </a:r>
            <a:r>
              <a:rPr sz="1500" b="0">
                <a:solidFill>
                  <a:srgbClr val="1F2937"/>
                </a:solidFill>
                <a:latin typeface="Calibri"/>
              </a:rPr>
              <a:t>Marmarsimon, notekis o‘pka</a:t>
            </a:r>
          </a:p>
          <a:p>
            <a:pPr algn="l">
              <a:spcAft>
                <a:spcPts val="700"/>
              </a:spcAft>
            </a:pPr>
            <a:r>
              <a:rPr sz="1500" b="1">
                <a:solidFill>
                  <a:srgbClr val="C9A227"/>
                </a:solidFill>
                <a:latin typeface="Calibri"/>
              </a:rPr>
              <a:t>●  </a:t>
            </a:r>
            <a:r>
              <a:rPr sz="1500" b="0">
                <a:solidFill>
                  <a:srgbClr val="1F2937"/>
                </a:solidFill>
                <a:latin typeface="Calibri"/>
              </a:rPr>
              <a:t>O‘pka vazni 85-90 g</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O‘lik tug‘ilgan</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Ko‘krak qafasi yassi</a:t>
            </a:r>
          </a:p>
          <a:p>
            <a:pPr algn="l">
              <a:spcAft>
                <a:spcPts val="700"/>
              </a:spcAft>
            </a:pPr>
            <a:r>
              <a:rPr sz="1500" b="1">
                <a:solidFill>
                  <a:srgbClr val="C9A227"/>
                </a:solidFill>
                <a:latin typeface="Calibri"/>
              </a:rPr>
              <a:t>●  </a:t>
            </a:r>
            <a:r>
              <a:rPr sz="1500" b="0">
                <a:solidFill>
                  <a:srgbClr val="1F2937"/>
                </a:solidFill>
                <a:latin typeface="Calibri"/>
              </a:rPr>
              <a:t>Diafragma IV-V qobirg‘a</a:t>
            </a:r>
          </a:p>
          <a:p>
            <a:pPr algn="l">
              <a:spcAft>
                <a:spcPts val="700"/>
              </a:spcAft>
            </a:pPr>
            <a:r>
              <a:rPr sz="1500" b="1">
                <a:solidFill>
                  <a:srgbClr val="C9A227"/>
                </a:solidFill>
                <a:latin typeface="Calibri"/>
              </a:rPr>
              <a:t>●  </a:t>
            </a:r>
            <a:r>
              <a:rPr sz="1500" b="0">
                <a:solidFill>
                  <a:srgbClr val="1F2937"/>
                </a:solidFill>
                <a:latin typeface="Calibri"/>
              </a:rPr>
              <a:t>Bir xil ko‘kimtir-to‘q qizil</a:t>
            </a:r>
          </a:p>
          <a:p>
            <a:pPr algn="l">
              <a:spcAft>
                <a:spcPts val="700"/>
              </a:spcAft>
            </a:pPr>
            <a:r>
              <a:rPr sz="1500" b="1">
                <a:solidFill>
                  <a:srgbClr val="C9A227"/>
                </a:solidFill>
                <a:latin typeface="Calibri"/>
              </a:rPr>
              <a:t>●  </a:t>
            </a:r>
            <a:r>
              <a:rPr sz="1500" b="0">
                <a:solidFill>
                  <a:srgbClr val="1F2937"/>
                </a:solidFill>
                <a:latin typeface="Calibri"/>
              </a:rPr>
              <a:t>O‘pka vazni 55-60 g</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Tirik va o‘lik tug‘ilganni solishtirish</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260, 260-261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Mikroskopik belgilar va gialin membranalar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O‘lik tug‘ilganda alveolalar yoyilmagan, epiteliy kubsimon, to‘siqlar qalin, kapillyarlarda qon yo‘q.</a:t>
            </a:r>
          </a:p>
          <a:p>
            <a:pPr>
              <a:spcAft>
                <a:spcPts val="800"/>
              </a:spcAft>
            </a:pPr>
            <a:r>
              <a:rPr sz="1800">
                <a:solidFill>
                  <a:srgbClr val="1F2937"/>
                </a:solidFill>
                <a:latin typeface="Calibri"/>
              </a:rPr>
              <a:t>▸  Gialin membranalar oqsillardan (albumin, globulin, fibrin) iborat; nafas olmagan o‘pkada bo‘lmaydi.</a:t>
            </a:r>
          </a:p>
          <a:p>
            <a:pPr>
              <a:spcAft>
                <a:spcPts val="800"/>
              </a:spcAft>
            </a:pPr>
            <a:r>
              <a:rPr sz="1800">
                <a:solidFill>
                  <a:srgbClr val="1F2937"/>
                </a:solidFill>
                <a:latin typeface="Calibri"/>
              </a:rPr>
              <a:t>▸  O‘lik tug‘ilganlarda o‘pka arteriyalarida “kurtaksimon”, “yostiqsimon” bo‘rtiqlar bor; nafas olganda yo‘q.</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Nafas olmagan</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Alveolalar yoyilmagan</a:t>
            </a:r>
          </a:p>
          <a:p>
            <a:pPr algn="l">
              <a:spcAft>
                <a:spcPts val="700"/>
              </a:spcAft>
            </a:pPr>
            <a:r>
              <a:rPr sz="1500" b="1">
                <a:solidFill>
                  <a:srgbClr val="C9A227"/>
                </a:solidFill>
                <a:latin typeface="Calibri"/>
              </a:rPr>
              <a:t>●  </a:t>
            </a:r>
            <a:r>
              <a:rPr sz="1500" b="0">
                <a:solidFill>
                  <a:srgbClr val="1F2937"/>
                </a:solidFill>
                <a:latin typeface="Calibri"/>
              </a:rPr>
              <a:t>Epiteliy kubsimon</a:t>
            </a:r>
          </a:p>
          <a:p>
            <a:pPr algn="l">
              <a:spcAft>
                <a:spcPts val="700"/>
              </a:spcAft>
            </a:pPr>
            <a:r>
              <a:rPr sz="1500" b="1">
                <a:solidFill>
                  <a:srgbClr val="C9A227"/>
                </a:solidFill>
                <a:latin typeface="Calibri"/>
              </a:rPr>
              <a:t>●  </a:t>
            </a:r>
            <a:r>
              <a:rPr sz="1500" b="0">
                <a:solidFill>
                  <a:srgbClr val="1F2937"/>
                </a:solidFill>
                <a:latin typeface="Calibri"/>
              </a:rPr>
              <a:t>To‘siq qalin</a:t>
            </a:r>
          </a:p>
          <a:p>
            <a:pPr algn="l">
              <a:spcAft>
                <a:spcPts val="700"/>
              </a:spcAft>
            </a:pPr>
            <a:r>
              <a:rPr sz="1500" b="1">
                <a:solidFill>
                  <a:srgbClr val="C9A227"/>
                </a:solidFill>
                <a:latin typeface="Calibri"/>
              </a:rPr>
              <a:t>●  </a:t>
            </a:r>
            <a:r>
              <a:rPr sz="1500" b="0">
                <a:solidFill>
                  <a:srgbClr val="1F2937"/>
                </a:solidFill>
                <a:latin typeface="Calibri"/>
              </a:rPr>
              <a:t>Kapillyarlarda qon yo‘q</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Nafas olgan</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Alveolalar yoyilgan</a:t>
            </a:r>
          </a:p>
          <a:p>
            <a:pPr algn="l">
              <a:spcAft>
                <a:spcPts val="700"/>
              </a:spcAft>
            </a:pPr>
            <a:r>
              <a:rPr sz="1500" b="1">
                <a:solidFill>
                  <a:srgbClr val="C9A227"/>
                </a:solidFill>
                <a:latin typeface="Calibri"/>
              </a:rPr>
              <a:t>●  </a:t>
            </a:r>
            <a:r>
              <a:rPr sz="1500" b="0">
                <a:solidFill>
                  <a:srgbClr val="1F2937"/>
                </a:solidFill>
                <a:latin typeface="Calibri"/>
              </a:rPr>
              <a:t>Epiteliy yassi</a:t>
            </a:r>
          </a:p>
          <a:p>
            <a:pPr algn="l">
              <a:spcAft>
                <a:spcPts val="700"/>
              </a:spcAft>
            </a:pPr>
            <a:r>
              <a:rPr sz="1500" b="1">
                <a:solidFill>
                  <a:srgbClr val="C9A227"/>
                </a:solidFill>
                <a:latin typeface="Calibri"/>
              </a:rPr>
              <a:t>●  </a:t>
            </a:r>
            <a:r>
              <a:rPr sz="1500" b="0">
                <a:solidFill>
                  <a:srgbClr val="1F2937"/>
                </a:solidFill>
                <a:latin typeface="Calibri"/>
              </a:rPr>
              <a:t>To‘siq ingichkalashgan</a:t>
            </a:r>
          </a:p>
          <a:p>
            <a:pPr algn="l">
              <a:spcAft>
                <a:spcPts val="700"/>
              </a:spcAft>
            </a:pPr>
            <a:r>
              <a:rPr sz="1500" b="1">
                <a:solidFill>
                  <a:srgbClr val="C9A227"/>
                </a:solidFill>
                <a:latin typeface="Calibri"/>
              </a:rPr>
              <a:t>●  </a:t>
            </a:r>
            <a:r>
              <a:rPr sz="1500" b="0">
                <a:solidFill>
                  <a:srgbClr val="1F2937"/>
                </a:solidFill>
                <a:latin typeface="Calibri"/>
              </a:rPr>
              <a:t>Kapillyarlar to‘la qon</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O‘pkaning mikroskopik farqi</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2</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sud-tibbiy ekspertizada tirik tug‘ilganlik masalasi asosan qaysi belgini aniqlash orqali hal etiladi?</a:t>
            </a:r>
          </a:p>
          <a:p>
            <a:pPr>
              <a:spcAft>
                <a:spcPts val="1200"/>
              </a:spcAft>
            </a:pPr>
            <a:r>
              <a:rPr sz="2200">
                <a:solidFill>
                  <a:srgbClr val="1F2937"/>
                </a:solidFill>
                <a:latin typeface="Calibri"/>
              </a:rPr>
              <a:t>▸  2-savol: o‘pka sinamasida nafas olgan va nafas olmagan o‘pkaning solishtirma og‘irligi suvga nisbatan qanday?</a:t>
            </a:r>
          </a:p>
          <a:p>
            <a:pPr>
              <a:spcAft>
                <a:spcPts val="1200"/>
              </a:spcAft>
            </a:pPr>
            <a:r>
              <a:rPr sz="2200">
                <a:solidFill>
                  <a:srgbClr val="1F2937"/>
                </a:solidFill>
                <a:latin typeface="Calibri"/>
              </a:rPr>
              <a:t>▸  3-savol: ikkilamchi atelektazda o‘pka sinamasi soxta manfiy bo‘lsa, qaysi usul tavsiya etiladi?</a:t>
            </a:r>
          </a:p>
          <a:p>
            <a:pPr>
              <a:spcAft>
                <a:spcPts val="1200"/>
              </a:spcAft>
            </a:pPr>
            <a:r>
              <a:rPr sz="2200">
                <a:solidFill>
                  <a:srgbClr val="1F2937"/>
                </a:solidFill>
                <a:latin typeface="Calibri"/>
              </a:rPr>
              <a:t>▸  4-savol: qaysi sinama hozir sud-tibbiy amaliyotda qo‘llanmaydi va buning sababi nima?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259, 260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3: tirik tug‘ilganlikni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yangi tug‘ilgan chaqaloqning chirigan murdasi topildi. O‘pka sinamasida o‘pka bo‘lakchalari suv yuzasiga qalqib chiqdi.</a:t>
            </a:r>
          </a:p>
          <a:p>
            <a:pPr>
              <a:spcAft>
                <a:spcPts val="1200"/>
              </a:spcAft>
            </a:pPr>
            <a:r>
              <a:rPr sz="2200">
                <a:solidFill>
                  <a:srgbClr val="1F2937"/>
                </a:solidFill>
                <a:latin typeface="Calibri"/>
              </a:rPr>
              <a:t>▸  Savol: bu natija go‘dak tirik tug‘ilganini isbotlaydimi? Chirish gazlari natijaga qanday ta’sir qilishi mumkin?</a:t>
            </a:r>
          </a:p>
          <a:p>
            <a:pPr>
              <a:spcAft>
                <a:spcPts val="1200"/>
              </a:spcAft>
            </a:pPr>
            <a:r>
              <a:rPr sz="2200">
                <a:solidFill>
                  <a:srgbClr val="1F2937"/>
                </a:solidFill>
                <a:latin typeface="Calibri"/>
              </a:rPr>
              <a:t>▸  Tekshiruv: qalqigan bo‘lakchalar suv ostida qo‘l bilan siqiladi. Agar gaz chirishdan bo‘lsa, ular qayta suzib chiqmaydi.</a:t>
            </a:r>
          </a:p>
          <a:p>
            <a:pPr>
              <a:spcAft>
                <a:spcPts val="1200"/>
              </a:spcAft>
            </a:pPr>
            <a:r>
              <a:rPr sz="2200">
                <a:solidFill>
                  <a:srgbClr val="1F2937"/>
                </a:solidFill>
                <a:latin typeface="Calibri"/>
              </a:rPr>
              <a:t>▸  Diqqat: chirishda oshqozon-ichak sinamasi ham soxta musbat beradi, shuning uchun uni qo‘llash tavsiya etilmaydi.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259, 260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Rasolik va yetuklik tushunchalari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Rasolik – homiladorlik o‘rtacha 10 homila oyi yoki 280 kun davom etganini ko‘rsatuvchi belgilar majmui.</a:t>
            </a:r>
          </a:p>
          <a:p>
            <a:pPr>
              <a:spcAft>
                <a:spcPts val="800"/>
              </a:spcAft>
            </a:pPr>
            <a:r>
              <a:rPr sz="1800">
                <a:solidFill>
                  <a:srgbClr val="1F2937"/>
                </a:solidFill>
                <a:latin typeface="Calibri"/>
              </a:rPr>
              <a:t>▸  Yetuklik – ona tanasidan tashqarida yashash uchun yetarli bo‘lgan jismoniy rivojlanish darajasi.</a:t>
            </a:r>
          </a:p>
          <a:p>
            <a:pPr>
              <a:spcAft>
                <a:spcPts val="800"/>
              </a:spcAft>
            </a:pPr>
            <a:r>
              <a:rPr sz="1800">
                <a:solidFill>
                  <a:srgbClr val="1F2937"/>
                </a:solidFill>
                <a:latin typeface="Calibri"/>
              </a:rPr>
              <a:t>▸  Diqqat: rasolik ≠ yetuklik. Biri homiladorlik muddatiga, ikkinchisi jismoniy rivojlanishga tayanadi.</a:t>
            </a:r>
          </a:p>
        </p:txBody>
      </p:sp>
      <p:sp>
        <p:nvSpPr>
          <p:cNvPr id="9" name="Rounded Rectangle 8"/>
          <p:cNvSpPr/>
          <p:nvPr/>
        </p:nvSpPr>
        <p:spPr>
          <a:xfrm>
            <a:off x="5440680"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O‘z muddatida tug‘ish</a:t>
            </a:r>
          </a:p>
          <a:p>
            <a:pPr algn="l">
              <a:spcAft>
                <a:spcPts val="100"/>
              </a:spcAft>
            </a:pPr>
            <a:r>
              <a:rPr sz="3000" b="1">
                <a:solidFill>
                  <a:srgbClr val="0B1F3A"/>
                </a:solidFill>
                <a:latin typeface="Calibri"/>
              </a:rPr>
              <a:t>37-42</a:t>
            </a:r>
            <a:r>
              <a:rPr sz="1500" b="0">
                <a:solidFill>
                  <a:srgbClr val="6B7280"/>
                </a:solidFill>
                <a:latin typeface="Calibri"/>
              </a:rPr>
              <a:t>  hafta</a:t>
            </a:r>
          </a:p>
        </p:txBody>
      </p:sp>
      <p:sp>
        <p:nvSpPr>
          <p:cNvPr id="12" name="Rounded Rectangle 11"/>
          <p:cNvSpPr/>
          <p:nvPr/>
        </p:nvSpPr>
        <p:spPr>
          <a:xfrm>
            <a:off x="8578443"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Homiladorlik (o‘rtacha)</a:t>
            </a:r>
          </a:p>
          <a:p>
            <a:pPr algn="l">
              <a:spcAft>
                <a:spcPts val="100"/>
              </a:spcAft>
            </a:pPr>
            <a:r>
              <a:rPr sz="3000" b="1">
                <a:solidFill>
                  <a:srgbClr val="0B1F3A"/>
                </a:solidFill>
                <a:latin typeface="Calibri"/>
              </a:rPr>
              <a:t>280</a:t>
            </a:r>
            <a:r>
              <a:rPr sz="1500" b="0">
                <a:solidFill>
                  <a:srgbClr val="6B7280"/>
                </a:solidFill>
                <a:latin typeface="Calibri"/>
              </a:rPr>
              <a:t>  kun</a:t>
            </a:r>
          </a:p>
        </p:txBody>
      </p:sp>
      <p:sp>
        <p:nvSpPr>
          <p:cNvPr id="15" name="Rounded Rectangle 14"/>
          <p:cNvSpPr/>
          <p:nvPr/>
        </p:nvSpPr>
        <p:spPr>
          <a:xfrm>
            <a:off x="5440680"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Raso: uzunlik</a:t>
            </a:r>
          </a:p>
          <a:p>
            <a:pPr algn="l">
              <a:spcAft>
                <a:spcPts val="100"/>
              </a:spcAft>
            </a:pPr>
            <a:r>
              <a:rPr sz="3000" b="1">
                <a:solidFill>
                  <a:srgbClr val="0B1F3A"/>
                </a:solidFill>
                <a:latin typeface="Calibri"/>
              </a:rPr>
              <a:t>50-54</a:t>
            </a:r>
            <a:r>
              <a:rPr sz="1500" b="0">
                <a:solidFill>
                  <a:srgbClr val="6B7280"/>
                </a:solidFill>
                <a:latin typeface="Calibri"/>
              </a:rPr>
              <a:t>  sm</a:t>
            </a:r>
          </a:p>
        </p:txBody>
      </p:sp>
      <p:sp>
        <p:nvSpPr>
          <p:cNvPr id="18" name="Rounded Rectangle 17"/>
          <p:cNvSpPr/>
          <p:nvPr/>
        </p:nvSpPr>
        <p:spPr>
          <a:xfrm>
            <a:off x="8578443"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Raso: vazn</a:t>
            </a:r>
          </a:p>
          <a:p>
            <a:pPr algn="l">
              <a:spcAft>
                <a:spcPts val="100"/>
              </a:spcAft>
            </a:pPr>
            <a:r>
              <a:rPr sz="3000" b="1">
                <a:solidFill>
                  <a:srgbClr val="0B1F3A"/>
                </a:solidFill>
                <a:latin typeface="Calibri"/>
              </a:rPr>
              <a:t>3000-3500</a:t>
            </a:r>
            <a:r>
              <a:rPr sz="1500" b="0">
                <a:solidFill>
                  <a:srgbClr val="6B7280"/>
                </a:solidFill>
                <a:latin typeface="Calibri"/>
              </a:rPr>
              <a:t>  g</a:t>
            </a:r>
          </a:p>
        </p:txBody>
      </p:sp>
      <p:sp>
        <p:nvSpPr>
          <p:cNvPr id="21" name="Rounded Rectangle 20"/>
          <p:cNvSpPr/>
          <p:nvPr/>
        </p:nvSpPr>
        <p:spPr>
          <a:xfrm>
            <a:off x="5440680"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40680"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50408"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Yetuk: uzunlik</a:t>
            </a:r>
          </a:p>
          <a:p>
            <a:pPr algn="l">
              <a:spcAft>
                <a:spcPts val="100"/>
              </a:spcAft>
            </a:pPr>
            <a:r>
              <a:rPr sz="3000" b="1">
                <a:solidFill>
                  <a:srgbClr val="0B1F3A"/>
                </a:solidFill>
                <a:latin typeface="Calibri"/>
              </a:rPr>
              <a:t>45+</a:t>
            </a:r>
            <a:r>
              <a:rPr sz="1500" b="0">
                <a:solidFill>
                  <a:srgbClr val="6B7280"/>
                </a:solidFill>
                <a:latin typeface="Calibri"/>
              </a:rPr>
              <a:t>  sm</a:t>
            </a:r>
          </a:p>
        </p:txBody>
      </p:sp>
      <p:sp>
        <p:nvSpPr>
          <p:cNvPr id="24" name="Rounded Rectangle 23"/>
          <p:cNvSpPr/>
          <p:nvPr/>
        </p:nvSpPr>
        <p:spPr>
          <a:xfrm>
            <a:off x="8578443"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578443"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8171"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Yetuk: vazn</a:t>
            </a:r>
          </a:p>
          <a:p>
            <a:pPr algn="l">
              <a:spcAft>
                <a:spcPts val="100"/>
              </a:spcAft>
            </a:pPr>
            <a:r>
              <a:rPr sz="3000" b="1">
                <a:solidFill>
                  <a:srgbClr val="0B1F3A"/>
                </a:solidFill>
                <a:latin typeface="Calibri"/>
              </a:rPr>
              <a:t>2500+</a:t>
            </a:r>
            <a:r>
              <a:rPr sz="1500" b="0">
                <a:solidFill>
                  <a:srgbClr val="6B7280"/>
                </a:solidFill>
                <a:latin typeface="Calibri"/>
              </a:rPr>
              <a:t>  g</a:t>
            </a:r>
          </a:p>
        </p:txBody>
      </p:sp>
      <p:sp>
        <p:nvSpPr>
          <p:cNvPr id="27" name="TextBox 26"/>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Raso va yetuk go‘dak</a:t>
            </a:r>
          </a:p>
        </p:txBody>
      </p:sp>
      <p:sp>
        <p:nvSpPr>
          <p:cNvPr id="28" name="TextBox 27"/>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261, 262, 261-262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Gestatsion yoshni formulalar bilan hisoblash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Gaaze formulasi yoshni homila oylarida beradi; homiladorlikning birinchi va ikkinchi yarmida hisob usuli har xil.</a:t>
            </a:r>
          </a:p>
          <a:p>
            <a:pPr>
              <a:spcAft>
                <a:spcPts val="800"/>
              </a:spcAft>
            </a:pPr>
            <a:r>
              <a:rPr sz="1800">
                <a:solidFill>
                  <a:srgbClr val="1F2937"/>
                </a:solidFill>
                <a:latin typeface="Calibri"/>
              </a:rPr>
              <a:t>▸  Baltazar-Derve indeksi 5,6 ga teng; tana uzunligiga ko‘paytirilsa, gestatsion yosh kunlarda chiqadi.</a:t>
            </a:r>
          </a:p>
          <a:p>
            <a:pPr>
              <a:spcAft>
                <a:spcPts val="800"/>
              </a:spcAft>
            </a:pPr>
            <a:r>
              <a:rPr sz="1800">
                <a:solidFill>
                  <a:srgbClr val="1F2937"/>
                </a:solidFill>
                <a:latin typeface="Calibri"/>
              </a:rPr>
              <a:t>▸  Yakupov usulida (1981) homila boshining aylana uzunligi 3,4 ga bo‘linadi va natija homila oyini beradi.</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927859"/>
                <a:gridCol w="1978676"/>
                <a:gridCol w="1381439"/>
              </a:tblGrid>
              <a:tr h="768096">
                <a:tc>
                  <a:txBody>
                    <a:bodyPr/>
                    <a:lstStyle/>
                    <a:p>
                      <a:r>
                        <a:rPr sz="1600" b="1">
                          <a:solidFill>
                            <a:srgbClr val="FFFFFF"/>
                          </a:solidFill>
                        </a:rPr>
                        <a:t>Usul</a:t>
                      </a:r>
                    </a:p>
                  </a:txBody>
                  <a:tcPr marL="73152" marR="73152" marT="36576" marB="36576">
                    <a:solidFill>
                      <a:srgbClr val="0B1F3A"/>
                    </a:solidFill>
                  </a:tcPr>
                </a:tc>
                <a:tc>
                  <a:txBody>
                    <a:bodyPr/>
                    <a:lstStyle/>
                    <a:p>
                      <a:r>
                        <a:rPr sz="1600" b="1">
                          <a:solidFill>
                            <a:srgbClr val="FFFFFF"/>
                          </a:solidFill>
                        </a:rPr>
                        <a:t>Qoida</a:t>
                      </a:r>
                    </a:p>
                  </a:txBody>
                  <a:tcPr marL="73152" marR="73152" marT="36576" marB="36576">
                    <a:solidFill>
                      <a:srgbClr val="0B1F3A"/>
                    </a:solidFill>
                  </a:tcPr>
                </a:tc>
                <a:tc>
                  <a:txBody>
                    <a:bodyPr/>
                    <a:lstStyle/>
                    <a:p>
                      <a:r>
                        <a:rPr sz="1600" b="1">
                          <a:solidFill>
                            <a:srgbClr val="FFFFFF"/>
                          </a:solidFill>
                        </a:rPr>
                        <a:t>Misol</a:t>
                      </a:r>
                    </a:p>
                  </a:txBody>
                  <a:tcPr marL="73152" marR="73152" marT="36576" marB="36576">
                    <a:solidFill>
                      <a:srgbClr val="0B1F3A"/>
                    </a:solidFill>
                  </a:tcPr>
                </a:tc>
              </a:tr>
              <a:tr h="768096">
                <a:tc>
                  <a:txBody>
                    <a:bodyPr/>
                    <a:lstStyle/>
                    <a:p>
                      <a:r>
                        <a:rPr sz="1500" b="0">
                          <a:solidFill>
                            <a:srgbClr val="1F2937"/>
                          </a:solidFill>
                        </a:rPr>
                        <a:t>Gaaze</a:t>
                      </a:r>
                    </a:p>
                  </a:txBody>
                  <a:tcPr marL="73152" marR="73152" marT="36576" marB="36576">
                    <a:solidFill>
                      <a:srgbClr val="E8EEF6"/>
                    </a:solidFill>
                  </a:tcPr>
                </a:tc>
                <a:tc>
                  <a:txBody>
                    <a:bodyPr/>
                    <a:lstStyle/>
                    <a:p>
                      <a:r>
                        <a:rPr sz="1500" b="0">
                          <a:solidFill>
                            <a:srgbClr val="1F2937"/>
                          </a:solidFill>
                        </a:rPr>
                        <a:t>1-yarmida √uzunlik; 2-yarmida uzunlik/5</a:t>
                      </a:r>
                    </a:p>
                  </a:txBody>
                  <a:tcPr marL="73152" marR="73152" marT="36576" marB="36576">
                    <a:solidFill>
                      <a:srgbClr val="E8EEF6"/>
                    </a:solidFill>
                  </a:tcPr>
                </a:tc>
                <a:tc>
                  <a:txBody>
                    <a:bodyPr/>
                    <a:lstStyle/>
                    <a:p>
                      <a:r>
                        <a:rPr sz="1500" b="0">
                          <a:solidFill>
                            <a:srgbClr val="1F2937"/>
                          </a:solidFill>
                        </a:rPr>
                        <a:t>16 sm → 4 oy; 40 sm → 8 oy</a:t>
                      </a:r>
                    </a:p>
                  </a:txBody>
                  <a:tcPr marL="73152" marR="73152" marT="36576" marB="36576">
                    <a:solidFill>
                      <a:srgbClr val="E8EEF6"/>
                    </a:solidFill>
                  </a:tcPr>
                </a:tc>
              </a:tr>
              <a:tr h="768096">
                <a:tc>
                  <a:txBody>
                    <a:bodyPr/>
                    <a:lstStyle/>
                    <a:p>
                      <a:r>
                        <a:rPr sz="1500" b="0">
                          <a:solidFill>
                            <a:srgbClr val="1F2937"/>
                          </a:solidFill>
                        </a:rPr>
                        <a:t>Baltazar-Derve</a:t>
                      </a:r>
                    </a:p>
                  </a:txBody>
                  <a:tcPr marL="73152" marR="73152" marT="36576" marB="36576">
                    <a:solidFill>
                      <a:srgbClr val="FFFFFF"/>
                    </a:solidFill>
                  </a:tcPr>
                </a:tc>
                <a:tc>
                  <a:txBody>
                    <a:bodyPr/>
                    <a:lstStyle/>
                    <a:p>
                      <a:r>
                        <a:rPr sz="1500" b="0">
                          <a:solidFill>
                            <a:srgbClr val="1F2937"/>
                          </a:solidFill>
                        </a:rPr>
                        <a:t>5,6 × tana uzunligi (kun)</a:t>
                      </a:r>
                    </a:p>
                  </a:txBody>
                  <a:tcPr marL="73152" marR="73152" marT="36576" marB="36576">
                    <a:solidFill>
                      <a:srgbClr val="FFFFFF"/>
                    </a:solidFill>
                  </a:tcPr>
                </a:tc>
                <a:tc>
                  <a:txBody>
                    <a:bodyPr/>
                    <a:lstStyle/>
                    <a:p>
                      <a:r>
                        <a:rPr sz="1500" b="0">
                          <a:solidFill>
                            <a:srgbClr val="1F2937"/>
                          </a:solidFill>
                        </a:rPr>
                        <a:t>40 sm × 5,6 = 224 kun (8 oy)</a:t>
                      </a:r>
                    </a:p>
                  </a:txBody>
                  <a:tcPr marL="73152" marR="73152" marT="36576" marB="36576">
                    <a:solidFill>
                      <a:srgbClr val="FFFFFF"/>
                    </a:solidFill>
                  </a:tcPr>
                </a:tc>
              </a:tr>
              <a:tr h="768096">
                <a:tc>
                  <a:txBody>
                    <a:bodyPr/>
                    <a:lstStyle/>
                    <a:p>
                      <a:r>
                        <a:rPr sz="1500" b="0">
                          <a:solidFill>
                            <a:srgbClr val="1F2937"/>
                          </a:solidFill>
                        </a:rPr>
                        <a:t>Yakupov</a:t>
                      </a:r>
                    </a:p>
                  </a:txBody>
                  <a:tcPr marL="73152" marR="73152" marT="36576" marB="36576">
                    <a:solidFill>
                      <a:srgbClr val="E8EEF6"/>
                    </a:solidFill>
                  </a:tcPr>
                </a:tc>
                <a:tc>
                  <a:txBody>
                    <a:bodyPr/>
                    <a:lstStyle/>
                    <a:p>
                      <a:r>
                        <a:rPr sz="1500" b="0">
                          <a:solidFill>
                            <a:srgbClr val="1F2937"/>
                          </a:solidFill>
                        </a:rPr>
                        <a:t>Bosh aylanasi / 3,4</a:t>
                      </a:r>
                    </a:p>
                  </a:txBody>
                  <a:tcPr marL="73152" marR="73152" marT="36576" marB="36576">
                    <a:solidFill>
                      <a:srgbClr val="E8EEF6"/>
                    </a:solidFill>
                  </a:tcPr>
                </a:tc>
                <a:tc>
                  <a:txBody>
                    <a:bodyPr/>
                    <a:lstStyle/>
                    <a:p>
                      <a:r>
                        <a:rPr sz="1500" b="0">
                          <a:solidFill>
                            <a:srgbClr val="1F2937"/>
                          </a:solidFill>
                        </a:rPr>
                        <a:t>34 sm / 3,4 = 10 oy</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Hisoblash misollari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Kindik, yo‘ldosh va suyaklanish o‘zaklari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Jadval 10.1: kindik uzunligi VI oyda 38, VII da 42, VIII da 46, IX da 47, X oyda 50 sm.</a:t>
            </a:r>
          </a:p>
          <a:p>
            <a:pPr>
              <a:spcAft>
                <a:spcPts val="800"/>
              </a:spcAft>
            </a:pPr>
            <a:r>
              <a:rPr sz="1800">
                <a:solidFill>
                  <a:srgbClr val="1F2937"/>
                </a:solidFill>
                <a:latin typeface="Calibri"/>
              </a:rPr>
              <a:t>▸  Yo‘ldosh massasi: VI oyda 250, VII da 340, VIII da 410, IX da 470, X oyda 500 g.</a:t>
            </a:r>
          </a:p>
          <a:p>
            <a:pPr>
              <a:spcAft>
                <a:spcPts val="800"/>
              </a:spcAft>
            </a:pPr>
            <a:r>
              <a:rPr sz="1800">
                <a:solidFill>
                  <a:srgbClr val="1F2937"/>
                </a:solidFill>
                <a:latin typeface="Calibri"/>
              </a:rPr>
              <a:t>▸  Zararli odatlar o‘zaklarni kechiktiradi; VIII oyda yutish refleksi paydo bo‘ladi, mekoniyda tuk topiladi.</a:t>
            </a:r>
          </a:p>
        </p:txBody>
      </p:sp>
      <p:sp>
        <p:nvSpPr>
          <p:cNvPr id="9" name="Rounded Rectangle 8"/>
          <p:cNvSpPr/>
          <p:nvPr/>
        </p:nvSpPr>
        <p:spPr>
          <a:xfrm>
            <a:off x="5440680"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Tovon suyagi</a:t>
            </a:r>
          </a:p>
          <a:p>
            <a:pPr algn="l">
              <a:spcAft>
                <a:spcPts val="100"/>
              </a:spcAft>
            </a:pPr>
            <a:r>
              <a:rPr sz="2500" b="1">
                <a:solidFill>
                  <a:srgbClr val="0B1F3A"/>
                </a:solidFill>
                <a:latin typeface="Calibri"/>
              </a:rPr>
              <a:t>V oy</a:t>
            </a:r>
            <a:r>
              <a:rPr sz="1200" b="0">
                <a:solidFill>
                  <a:srgbClr val="6B7280"/>
                </a:solidFill>
                <a:latin typeface="Calibri"/>
              </a:rPr>
              <a:t>  0,8–1,1 sm</a:t>
            </a:r>
          </a:p>
        </p:txBody>
      </p:sp>
      <p:sp>
        <p:nvSpPr>
          <p:cNvPr id="12" name="Rounded Rectangle 11"/>
          <p:cNvSpPr/>
          <p:nvPr/>
        </p:nvSpPr>
        <p:spPr>
          <a:xfrm>
            <a:off x="8578443"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G‘altaksimon suyak</a:t>
            </a:r>
          </a:p>
          <a:p>
            <a:pPr algn="l">
              <a:spcAft>
                <a:spcPts val="100"/>
              </a:spcAft>
            </a:pPr>
            <a:r>
              <a:rPr sz="2300" b="1">
                <a:solidFill>
                  <a:srgbClr val="0B1F3A"/>
                </a:solidFill>
                <a:latin typeface="Calibri"/>
              </a:rPr>
              <a:t>VII oy</a:t>
            </a:r>
            <a:r>
              <a:rPr sz="1100" b="0">
                <a:solidFill>
                  <a:srgbClr val="6B7280"/>
                </a:solidFill>
                <a:latin typeface="Calibri"/>
              </a:rPr>
              <a:t>  0,7–1,0 sm</a:t>
            </a:r>
          </a:p>
        </p:txBody>
      </p:sp>
      <p:sp>
        <p:nvSpPr>
          <p:cNvPr id="15" name="Rounded Rectangle 14"/>
          <p:cNvSpPr/>
          <p:nvPr/>
        </p:nvSpPr>
        <p:spPr>
          <a:xfrm>
            <a:off x="5440680"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Yutish refleksi</a:t>
            </a:r>
          </a:p>
          <a:p>
            <a:pPr algn="l">
              <a:spcAft>
                <a:spcPts val="100"/>
              </a:spcAft>
            </a:pPr>
            <a:r>
              <a:rPr sz="3000" b="1">
                <a:solidFill>
                  <a:srgbClr val="0B1F3A"/>
                </a:solidFill>
                <a:latin typeface="Calibri"/>
              </a:rPr>
              <a:t>VIII oy</a:t>
            </a:r>
          </a:p>
        </p:txBody>
      </p:sp>
      <p:sp>
        <p:nvSpPr>
          <p:cNvPr id="18" name="Rounded Rectangle 17"/>
          <p:cNvSpPr/>
          <p:nvPr/>
        </p:nvSpPr>
        <p:spPr>
          <a:xfrm>
            <a:off x="8578443"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Son epifizi (Beklyar)</a:t>
            </a:r>
          </a:p>
          <a:p>
            <a:pPr algn="l">
              <a:spcAft>
                <a:spcPts val="100"/>
              </a:spcAft>
            </a:pPr>
            <a:r>
              <a:rPr sz="2300" b="1">
                <a:solidFill>
                  <a:srgbClr val="0B1F3A"/>
                </a:solidFill>
                <a:latin typeface="Calibri"/>
              </a:rPr>
              <a:t>IX oy</a:t>
            </a:r>
            <a:r>
              <a:rPr sz="1100" b="0">
                <a:solidFill>
                  <a:srgbClr val="6B7280"/>
                </a:solidFill>
                <a:latin typeface="Calibri"/>
              </a:rPr>
              <a:t>  0,5–0,7 sm</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Suyaklanish o‘zaklari va refleks</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262, 263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4: gestatsion yosh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ona nomalum go‘dak murdasi topildi, tana uzunligi 40 sm. Ekspert gestatsion yoshni aniqlashi kerak.</a:t>
            </a:r>
          </a:p>
          <a:p>
            <a:pPr>
              <a:spcAft>
                <a:spcPts val="1200"/>
              </a:spcAft>
            </a:pPr>
            <a:r>
              <a:rPr sz="2200">
                <a:solidFill>
                  <a:srgbClr val="1F2937"/>
                </a:solidFill>
                <a:latin typeface="Calibri"/>
              </a:rPr>
              <a:t>▸  Gaaze formulasi: homiladorlikning birinchi yarmida tana uzunligidan kvadrat ildiz olinadi, ikkinchi yarmida uzunlik 5 ga bo‘linadi.</a:t>
            </a:r>
          </a:p>
          <a:p>
            <a:pPr>
              <a:spcAft>
                <a:spcPts val="1200"/>
              </a:spcAft>
            </a:pPr>
            <a:r>
              <a:rPr sz="2200">
                <a:solidFill>
                  <a:srgbClr val="1F2937"/>
                </a:solidFill>
                <a:latin typeface="Calibri"/>
              </a:rPr>
              <a:t>▸  Manbadagi misollar: 16 sm bo‘lsa 4 homila oyi, 40 sm bo‘lsa 8 homila oyi. Baltazar-Derve: 40 sm × 5,6 = 224 kun.</a:t>
            </a:r>
          </a:p>
          <a:p>
            <a:pPr>
              <a:spcAft>
                <a:spcPts val="1200"/>
              </a:spcAft>
            </a:pPr>
            <a:r>
              <a:rPr sz="2200">
                <a:solidFill>
                  <a:srgbClr val="1F2937"/>
                </a:solidFill>
                <a:latin typeface="Calibri"/>
              </a:rPr>
              <a:t>▸  Savol: 40 sm homilaning gestatsion yoshi necha oy? Natijani Baltazar-Derve indeksi bilan solishtiring. Yakupov usulida bosh aylanasi 3,4 ga bo‘linadi.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Go‘dakning hayotga layoqati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JSST (Jahon sog‘liqni saqlash tashkiloti) mezoni: uzunligi 25 sm dan, vazni 500 g dan kam go‘dak hayotga layoqatsiz.</a:t>
            </a:r>
          </a:p>
          <a:p>
            <a:pPr>
              <a:spcAft>
                <a:spcPts val="800"/>
              </a:spcAft>
            </a:pPr>
            <a:r>
              <a:rPr sz="1800">
                <a:solidFill>
                  <a:srgbClr val="1F2937"/>
                </a:solidFill>
                <a:latin typeface="Calibri"/>
              </a:rPr>
              <a:t>▸  Tashqi nuqson (oltinchi barmoq, quyon lab) topilsa, ichki nuqsonlarni istisno qilish uchun miya va a’zolar tekshiriladi.</a:t>
            </a:r>
          </a:p>
          <a:p>
            <a:pPr>
              <a:spcAft>
                <a:spcPts val="800"/>
              </a:spcAft>
            </a:pPr>
            <a:r>
              <a:rPr sz="1800">
                <a:solidFill>
                  <a:srgbClr val="1F2937"/>
                </a:solidFill>
                <a:latin typeface="Calibri"/>
              </a:rPr>
              <a:t>▸  Diqqat: tirik tug‘ilgan go‘dak ham hayotga layoqatsiz bo‘lishi mumkin.</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Hayotga layoqatsizlik</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O‘ta norasolik</a:t>
            </a:r>
          </a:p>
          <a:p>
            <a:pPr algn="l">
              <a:spcAft>
                <a:spcPts val="0"/>
              </a:spcAft>
            </a:pPr>
            <a:r>
              <a:rPr sz="1200" b="0">
                <a:solidFill>
                  <a:srgbClr val="1F2937"/>
                </a:solidFill>
                <a:latin typeface="Calibri"/>
              </a:rPr>
              <a:t>25 sm dan kam  ·  500 g dan kam</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Rivojlanish nuqsoni</a:t>
            </a:r>
          </a:p>
          <a:p>
            <a:pPr algn="l">
              <a:spcAft>
                <a:spcPts val="0"/>
              </a:spcAft>
            </a:pPr>
            <a:r>
              <a:rPr sz="1200" b="0">
                <a:solidFill>
                  <a:srgbClr val="1F2937"/>
                </a:solidFill>
                <a:latin typeface="Calibri"/>
              </a:rPr>
              <a:t>Anensefaliya  ·  Ikki kamerali yurak</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Tug‘ruq travmasi</a:t>
            </a:r>
          </a:p>
          <a:p>
            <a:pPr algn="l">
              <a:spcAft>
                <a:spcPts val="0"/>
              </a:spcAft>
            </a:pPr>
            <a:r>
              <a:rPr sz="1200" b="0">
                <a:solidFill>
                  <a:srgbClr val="1F2937"/>
                </a:solidFill>
                <a:latin typeface="Calibri"/>
              </a:rPr>
              <a:t>Miya majaqlanishi  ·  Orqa miya shikasti</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Layoqatsizlik sabablari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Ona organizmidan tashqarida hayot davomiyligi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Havo faqat oshqozonda bo‘lsa, go‘dak 3 soatdan kam yashagan; 6 soatdan keyin havo yo‘g‘on ichakka o‘tadi.</a:t>
            </a:r>
          </a:p>
          <a:p>
            <a:pPr>
              <a:spcAft>
                <a:spcPts val="800"/>
              </a:spcAft>
            </a:pPr>
            <a:r>
              <a:rPr sz="1800">
                <a:solidFill>
                  <a:srgbClr val="1F2937"/>
                </a:solidFill>
                <a:latin typeface="Calibri"/>
              </a:rPr>
              <a:t>▸  Diqqat: bu muddatlar taxminiy. Ekspertizada imkon qadar ko‘p belgi inobatga olinadi.</a:t>
            </a:r>
          </a:p>
          <a:p>
            <a:pPr>
              <a:spcAft>
                <a:spcPts val="800"/>
              </a:spcAft>
            </a:pPr>
            <a:r>
              <a:rPr sz="1800">
                <a:solidFill>
                  <a:srgbClr val="1F2937"/>
                </a:solidFill>
                <a:latin typeface="Calibri"/>
              </a:rPr>
              <a:t>▸  Sariqlik 2–3-kunlarda rivojlanib, 1–10-kunlarda o‘tib ketadi.</a:t>
            </a:r>
          </a:p>
        </p:txBody>
      </p:sp>
      <p:sp>
        <p:nvSpPr>
          <p:cNvPr id="9" name="Rounded Rectangle 8"/>
          <p:cNvSpPr/>
          <p:nvPr/>
        </p:nvSpPr>
        <p:spPr>
          <a:xfrm>
            <a:off x="5440680"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1-2 soat</a:t>
            </a:r>
          </a:p>
          <a:p>
            <a:pPr algn="l">
              <a:spcAft>
                <a:spcPts val="200"/>
              </a:spcAft>
            </a:pPr>
            <a:r>
              <a:rPr sz="1400" b="0">
                <a:solidFill>
                  <a:srgbClr val="1F2937"/>
                </a:solidFill>
                <a:latin typeface="Calibri"/>
              </a:rPr>
              <a:t>Gialin membranalar vujudga keladi</a:t>
            </a:r>
          </a:p>
        </p:txBody>
      </p:sp>
      <p:sp>
        <p:nvSpPr>
          <p:cNvPr id="12" name="Rounded Rectangle 11"/>
          <p:cNvSpPr/>
          <p:nvPr/>
        </p:nvSpPr>
        <p:spPr>
          <a:xfrm>
            <a:off x="8578443"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5-6 soat</a:t>
            </a:r>
          </a:p>
          <a:p>
            <a:pPr algn="l">
              <a:spcAft>
                <a:spcPts val="200"/>
              </a:spcAft>
            </a:pPr>
            <a:r>
              <a:rPr sz="1400" b="0">
                <a:solidFill>
                  <a:srgbClr val="1F2937"/>
                </a:solidFill>
                <a:latin typeface="Calibri"/>
              </a:rPr>
              <a:t>Havo ingichka ichakda; ikkilamchi atelektaz</a:t>
            </a:r>
          </a:p>
        </p:txBody>
      </p:sp>
      <p:sp>
        <p:nvSpPr>
          <p:cNvPr id="15" name="Rounded Rectangle 14"/>
          <p:cNvSpPr/>
          <p:nvPr/>
        </p:nvSpPr>
        <p:spPr>
          <a:xfrm>
            <a:off x="5440680"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1-sutka oxiri</a:t>
            </a:r>
          </a:p>
          <a:p>
            <a:pPr algn="l">
              <a:spcAft>
                <a:spcPts val="200"/>
              </a:spcAft>
            </a:pPr>
            <a:r>
              <a:rPr sz="1400" b="0">
                <a:solidFill>
                  <a:srgbClr val="1F2937"/>
                </a:solidFill>
                <a:latin typeface="Calibri"/>
              </a:rPr>
              <a:t>Halqa shakllanadi, mekoniy chiqadi</a:t>
            </a:r>
          </a:p>
        </p:txBody>
      </p:sp>
      <p:sp>
        <p:nvSpPr>
          <p:cNvPr id="18" name="Rounded Rectangle 17"/>
          <p:cNvSpPr/>
          <p:nvPr/>
        </p:nvSpPr>
        <p:spPr>
          <a:xfrm>
            <a:off x="8578443"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2-3-kun</a:t>
            </a:r>
          </a:p>
          <a:p>
            <a:pPr algn="l">
              <a:spcAft>
                <a:spcPts val="200"/>
              </a:spcAft>
            </a:pPr>
            <a:r>
              <a:rPr sz="1400" b="0">
                <a:solidFill>
                  <a:srgbClr val="1F2937"/>
                </a:solidFill>
                <a:latin typeface="Calibri"/>
              </a:rPr>
              <a:t>Tug‘ruq shishi so‘riladi</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Hayot davomiyligi vaqt chizig‘i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Go‘dakka qarov bo‘lganligini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Go‘dakka qarov bo‘lgan-bo‘lmaganligi surishtiruv va tergovda holatga huquqiy baho berish uchun muhim.</a:t>
            </a:r>
          </a:p>
          <a:p>
            <a:pPr>
              <a:spcAft>
                <a:spcPts val="1200"/>
              </a:spcAft>
            </a:pPr>
            <a:r>
              <a:rPr sz="2200">
                <a:solidFill>
                  <a:srgbClr val="1F2937"/>
                </a:solidFill>
                <a:latin typeface="Calibri"/>
              </a:rPr>
              <a:t>▸  Tashqi belgilar: go‘dak yo‘rgaklangan, ustida kiyim-bosh bor, kindigi kesilib bog‘langan.</a:t>
            </a:r>
          </a:p>
          <a:p>
            <a:pPr>
              <a:spcAft>
                <a:spcPts val="1200"/>
              </a:spcAft>
            </a:pPr>
            <a:r>
              <a:rPr sz="2200">
                <a:solidFill>
                  <a:srgbClr val="1F2937"/>
                </a:solidFill>
                <a:latin typeface="Calibri"/>
              </a:rPr>
              <a:t>▸  Tana qon izlari va mo‘msimon qoplamadan tozalangan bo‘lsa, bu ham tug‘ilgandan keyin qarov bo‘lganini ko‘rsatadi.</a:t>
            </a:r>
          </a:p>
          <a:p>
            <a:pPr>
              <a:spcAft>
                <a:spcPts val="1200"/>
              </a:spcAft>
            </a:pPr>
            <a:r>
              <a:rPr sz="2200">
                <a:solidFill>
                  <a:srgbClr val="1F2937"/>
                </a:solidFill>
                <a:latin typeface="Calibri"/>
              </a:rPr>
              <a:t>▸  Ichki tekshiruvda oshqozonda sut yoki unga o‘xshash massaning topilishi ham qarovdan dalolat beradi.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5: yashash muddati va qarov</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chaqaloq murdasida havo faqat oshqozonda topildi, ichaklarda yo‘q. Kindik asosida demarkatsion halqa ko‘rinmaydi.</a:t>
            </a:r>
          </a:p>
          <a:p>
            <a:pPr>
              <a:spcAft>
                <a:spcPts val="1200"/>
              </a:spcAft>
            </a:pPr>
            <a:r>
              <a:rPr sz="2200">
                <a:solidFill>
                  <a:srgbClr val="1F2937"/>
                </a:solidFill>
                <a:latin typeface="Calibri"/>
              </a:rPr>
              <a:t>▸  Havo faqat oshqozonda bo‘lsa, go‘dak 3 soatdan kam yashagan. Havo 5-6 soatda ingichka ichakka, 6 soatdan keyin yo‘g‘on ichakka o‘tadi.</a:t>
            </a:r>
          </a:p>
          <a:p>
            <a:pPr>
              <a:spcAft>
                <a:spcPts val="1200"/>
              </a:spcAft>
            </a:pPr>
            <a:r>
              <a:rPr sz="2200">
                <a:solidFill>
                  <a:srgbClr val="1F2937"/>
                </a:solidFill>
                <a:latin typeface="Calibri"/>
              </a:rPr>
              <a:t>▸  Demarkatsion halqa birinchi sutka oxirida shakllanadi. Uning yo‘qligi yoki dastlabki belgilari yangi tug‘ilganlikning mutlaq belgisi.</a:t>
            </a:r>
          </a:p>
          <a:p>
            <a:pPr>
              <a:spcAft>
                <a:spcPts val="1200"/>
              </a:spcAft>
            </a:pPr>
            <a:r>
              <a:rPr sz="2200">
                <a:solidFill>
                  <a:srgbClr val="1F2937"/>
                </a:solidFill>
                <a:latin typeface="Calibri"/>
              </a:rPr>
              <a:t>▸  Diqqat: chirish va sun’iy nafas oldirishda oshqozon-ichak sinamasi soxta musbat berishi mumkin, shuning uchun tavsiya etilmaydi. Savol: go‘dak qancha yashagan?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264, 263, 260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3</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Jahon sog‘liqni saqlash tashkiloti mezoniga ko‘ra, uzunligi va vazni qanday bo‘lgan go‘dak hayotga layoqatsiz hisoblanadi?</a:t>
            </a:r>
          </a:p>
          <a:p>
            <a:pPr>
              <a:spcAft>
                <a:spcPts val="1200"/>
              </a:spcAft>
            </a:pPr>
            <a:r>
              <a:rPr sz="2200">
                <a:solidFill>
                  <a:srgbClr val="1F2937"/>
                </a:solidFill>
                <a:latin typeface="Calibri"/>
              </a:rPr>
              <a:t>▸  2-savol: O‘pka alveolalarida gialin membranalari paydo bo‘lishi uchun go‘dak kamida necha soat yashashi kerak?</a:t>
            </a:r>
          </a:p>
          <a:p>
            <a:pPr>
              <a:spcAft>
                <a:spcPts val="1200"/>
              </a:spcAft>
            </a:pPr>
            <a:r>
              <a:rPr sz="2200">
                <a:solidFill>
                  <a:srgbClr val="1F2937"/>
                </a:solidFill>
                <a:latin typeface="Calibri"/>
              </a:rPr>
              <a:t>▸  3-savol: O‘pkaning ikkilamchi atelektazi kamida necha soatdan keyin rivojlanadi?</a:t>
            </a:r>
          </a:p>
          <a:p>
            <a:pPr>
              <a:spcAft>
                <a:spcPts val="1200"/>
              </a:spcAft>
            </a:pPr>
            <a:r>
              <a:rPr sz="2200">
                <a:solidFill>
                  <a:srgbClr val="1F2937"/>
                </a:solidFill>
                <a:latin typeface="Calibri"/>
              </a:rPr>
              <a:t>▸  4-savol: Go‘dakka qarov bo‘lganini ko‘rsatuvchi uchta belgini ayting (kiyim, kindik, tozalanish, oshqozondagi massa).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263, 264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Homila va chaqaloq o‘limi sabablari: antenatal, intranatal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Antenatal va intranatal o‘lim asosan nozo‘raki; chaqaloq o‘limi postnatal davrga to‘g‘ri keladi.</a:t>
            </a:r>
          </a:p>
          <a:p>
            <a:pPr>
              <a:spcAft>
                <a:spcPts val="800"/>
              </a:spcAft>
            </a:pPr>
            <a:r>
              <a:rPr sz="1800">
                <a:solidFill>
                  <a:srgbClr val="1F2937"/>
                </a:solidFill>
                <a:latin typeface="Calibri"/>
              </a:rPr>
              <a:t>▸  Antenatal o‘lim ko‘pincha homila ichi asfiksiyasidan; ekspertizada yo‘ldosh va kindik ham tekshiriladi.</a:t>
            </a:r>
          </a:p>
          <a:p>
            <a:pPr>
              <a:spcAft>
                <a:spcPts val="800"/>
              </a:spcAft>
            </a:pPr>
            <a:r>
              <a:rPr sz="1800">
                <a:solidFill>
                  <a:srgbClr val="1F2937"/>
                </a:solidFill>
                <a:latin typeface="Calibri"/>
              </a:rPr>
              <a:t>▸  Tug‘ruq travmasida kalla suyagi sinadi, miyaga qon quyiladi, lekin tashqi jarohat hosil bo‘lmaydi.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Antenatal va intranatal</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Antenatal: yo‘ldosh</a:t>
            </a:r>
          </a:p>
          <a:p>
            <a:pPr algn="l">
              <a:spcAft>
                <a:spcPts val="0"/>
              </a:spcAft>
            </a:pPr>
            <a:r>
              <a:rPr sz="1200" b="0">
                <a:solidFill>
                  <a:srgbClr val="1F2937"/>
                </a:solidFill>
                <a:latin typeface="Calibri"/>
              </a:rPr>
              <a:t>Yo‘ldosh, kindik patologiyasi  ·  Homila ichi asfiksiya</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Antenatal: ona</a:t>
            </a:r>
          </a:p>
          <a:p>
            <a:pPr algn="l">
              <a:spcAft>
                <a:spcPts val="0"/>
              </a:spcAft>
            </a:pPr>
            <a:r>
              <a:rPr sz="1200" b="0">
                <a:solidFill>
                  <a:srgbClr val="1F2937"/>
                </a:solidFill>
                <a:latin typeface="Calibri"/>
              </a:rPr>
              <a:t>Ona kasalligi, toksikoz  ·  Rivojlanish nuqsoni</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Intranatal: tug‘ruq</a:t>
            </a:r>
          </a:p>
          <a:p>
            <a:pPr algn="l">
              <a:spcAft>
                <a:spcPts val="0"/>
              </a:spcAft>
            </a:pPr>
            <a:r>
              <a:rPr sz="1200" b="0">
                <a:solidFill>
                  <a:srgbClr val="1F2937"/>
                </a:solidFill>
                <a:latin typeface="Calibri"/>
              </a:rPr>
              <a:t>Tor tos, yirik homila  ·  Tepa, peshona suyagi sinishi</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Intranatal: ona qo‘li</a:t>
            </a:r>
          </a:p>
          <a:p>
            <a:pPr algn="l">
              <a:spcAft>
                <a:spcPts val="0"/>
              </a:spcAft>
            </a:pPr>
            <a:r>
              <a:rPr sz="1200" b="0">
                <a:solidFill>
                  <a:srgbClr val="1F2937"/>
                </a:solidFill>
                <a:latin typeface="Calibri"/>
              </a:rPr>
              <a:t>Yuz, bo‘yinda shilinma  ·  Qontalash</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Nozo‘raki o‘lim davrlari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264, 265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Homila va chaqaloq o‘limi: davrlar va turlar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Homila o‘limi antenatal (tug‘ruqdan oldin) yoki intranatal (tug‘ruq paytida) davrda bo‘ladi.</a:t>
            </a:r>
          </a:p>
          <a:p>
            <a:pPr>
              <a:spcAft>
                <a:spcPts val="800"/>
              </a:spcAft>
            </a:pPr>
            <a:r>
              <a:rPr sz="1800">
                <a:solidFill>
                  <a:srgbClr val="1F2937"/>
                </a:solidFill>
                <a:latin typeface="Calibri"/>
              </a:rPr>
              <a:t>▸  Yangi tug‘ilgan go‘dak o‘limi postnatal (tug‘ruqdan keyin) davrda, pediatrlar nuqtai nazaridan ilk neonatal davrda sodir bo‘ladi.</a:t>
            </a:r>
          </a:p>
          <a:p>
            <a:pPr>
              <a:spcAft>
                <a:spcPts val="800"/>
              </a:spcAft>
            </a:pPr>
            <a:r>
              <a:rPr sz="1800">
                <a:solidFill>
                  <a:srgbClr val="1F2937"/>
                </a:solidFill>
                <a:latin typeface="Calibri"/>
              </a:rPr>
              <a:t>▸  Nozo‘raki o‘lim ante-, intra- va postnatal davrlarda bo‘lishi mumkin; zo‘raki o‘lim esa asosan postnatal davrda kuzatiladi.</a:t>
            </a:r>
          </a:p>
          <a:p>
            <a:pPr>
              <a:spcAft>
                <a:spcPts val="800"/>
              </a:spcAft>
            </a:pPr>
            <a:r>
              <a:rPr sz="1800">
                <a:solidFill>
                  <a:srgbClr val="1F2937"/>
                </a:solidFill>
                <a:latin typeface="Calibri"/>
              </a:rPr>
              <a:t>▸  Homilaning zo‘raki o‘limi, ya’ni ante- va intranatal davrlarda, juda kamdan-kam uchraydi.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Homila va go‘dak o‘limi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Antenatal</a:t>
            </a:r>
          </a:p>
          <a:p>
            <a:pPr algn="l">
              <a:spcAft>
                <a:spcPts val="0"/>
              </a:spcAft>
            </a:pPr>
            <a:r>
              <a:rPr sz="1200" b="0">
                <a:solidFill>
                  <a:srgbClr val="1F2937"/>
                </a:solidFill>
                <a:latin typeface="Calibri"/>
              </a:rPr>
              <a:t>Tug‘ruqdan oldin  ·  Asosan nozo‘raki</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Intranatal</a:t>
            </a:r>
          </a:p>
          <a:p>
            <a:pPr algn="l">
              <a:spcAft>
                <a:spcPts val="0"/>
              </a:spcAft>
            </a:pPr>
            <a:r>
              <a:rPr sz="1200" b="0">
                <a:solidFill>
                  <a:srgbClr val="1F2937"/>
                </a:solidFill>
                <a:latin typeface="Calibri"/>
              </a:rPr>
              <a:t>Tug‘ruq paytida  ·  Asosan nozo‘raki</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Postnatal</a:t>
            </a:r>
          </a:p>
          <a:p>
            <a:pPr algn="l">
              <a:spcAft>
                <a:spcPts val="0"/>
              </a:spcAft>
            </a:pPr>
            <a:r>
              <a:rPr sz="1200" b="0">
                <a:solidFill>
                  <a:srgbClr val="1F2937"/>
                </a:solidFill>
                <a:latin typeface="Calibri"/>
              </a:rPr>
              <a:t>Tug‘ruqdan keyin  ·  Zo‘raki o‘lim asosan shu davrda</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O‘lim davrlari va turlari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Antenatal o‘lim: yo‘ldosh va kindik sabablari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Antenatal nozo‘raki o‘lim asosan homila ichi asfiksiyadan; sabab — yo‘ldoshning oldin joylashishi, infarkti yoki muddatdan oldin ko‘chishi.</a:t>
            </a:r>
          </a:p>
          <a:p>
            <a:pPr>
              <a:spcAft>
                <a:spcPts val="800"/>
              </a:spcAft>
            </a:pPr>
            <a:r>
              <a:rPr sz="1800">
                <a:solidFill>
                  <a:srgbClr val="1F2937"/>
                </a:solidFill>
                <a:latin typeface="Calibri"/>
              </a:rPr>
              <a:t>▸  Boshqa sabablar: kindikning siqilib qolishi, bo‘yin atrofida o‘ralib qolishi yoki unda chin tugun bo‘lishi.</a:t>
            </a:r>
          </a:p>
          <a:p>
            <a:pPr>
              <a:spcAft>
                <a:spcPts val="800"/>
              </a:spcAft>
            </a:pPr>
            <a:r>
              <a:rPr sz="1800">
                <a:solidFill>
                  <a:srgbClr val="1F2937"/>
                </a:solidFill>
                <a:latin typeface="Calibri"/>
              </a:rPr>
              <a:t>▸  Shu sababli homila murdasidan tashqari yo‘ldosh va kindik ham tekshiriladi.</a:t>
            </a:r>
          </a:p>
          <a:p>
            <a:pPr>
              <a:spcAft>
                <a:spcPts val="800"/>
              </a:spcAft>
            </a:pPr>
            <a:r>
              <a:rPr sz="1800">
                <a:solidFill>
                  <a:srgbClr val="1F2937"/>
                </a:solidFill>
                <a:latin typeface="Calibri"/>
              </a:rPr>
              <a:t>▸  Murdada tez sodir bo‘lgan o‘lim belgilari, qog‘onoq suvi aspiratsiyasi va suvlarda ko‘p mekoniy aniqlanadi.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Asfiksiya sabablari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Yo‘ldosh</a:t>
            </a:r>
          </a:p>
          <a:p>
            <a:pPr algn="l">
              <a:spcAft>
                <a:spcPts val="0"/>
              </a:spcAft>
            </a:pPr>
            <a:r>
              <a:rPr sz="1200" b="0">
                <a:solidFill>
                  <a:srgbClr val="1F2937"/>
                </a:solidFill>
                <a:latin typeface="Calibri"/>
              </a:rPr>
              <a:t>Oldin joylashishi  ·  Infarkti  ·  Muddatdan oldin ko‘chishi</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Kindik</a:t>
            </a:r>
          </a:p>
          <a:p>
            <a:pPr algn="l">
              <a:spcAft>
                <a:spcPts val="0"/>
              </a:spcAft>
            </a:pPr>
            <a:r>
              <a:rPr sz="1200" b="0">
                <a:solidFill>
                  <a:srgbClr val="1F2937"/>
                </a:solidFill>
                <a:latin typeface="Calibri"/>
              </a:rPr>
              <a:t>Siqilib qolishi  ·  Bo‘yin atrofida o‘ralishi  ·  Chin tugun</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Murda belgilari</a:t>
            </a:r>
          </a:p>
          <a:p>
            <a:pPr algn="l">
              <a:spcAft>
                <a:spcPts val="0"/>
              </a:spcAft>
            </a:pPr>
            <a:r>
              <a:rPr sz="1200" b="0">
                <a:solidFill>
                  <a:srgbClr val="1F2937"/>
                </a:solidFill>
                <a:latin typeface="Calibri"/>
              </a:rPr>
              <a:t>Tez o‘lim belgilari  ·  Qog‘onoq suvi aspiratsiyasi  ·  Ko‘p mekoniy</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Homila ichi asfiksiya sabablari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Postnatal zo‘raki o‘lim: aktiv va passiv</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Zo‘raki o‘lim asosan postnatal davrda kuzatiladi; aktiv va passiv go‘dak o‘ldirish farqlanadi.</a:t>
            </a:r>
          </a:p>
          <a:p>
            <a:pPr>
              <a:spcAft>
                <a:spcPts val="800"/>
              </a:spcAft>
            </a:pPr>
            <a:r>
              <a:rPr sz="1800">
                <a:solidFill>
                  <a:srgbClr val="1F2937"/>
                </a:solidFill>
                <a:latin typeface="Calibri"/>
              </a:rPr>
              <a:t>▸  Huquq idoralari uchun aktiv yoki passiv ekanini emas, har holda o‘limning aniq sababini ko‘rsatish muhim.</a:t>
            </a:r>
          </a:p>
          <a:p>
            <a:pPr>
              <a:spcAft>
                <a:spcPts val="800"/>
              </a:spcAft>
            </a:pPr>
            <a:r>
              <a:rPr sz="1800">
                <a:solidFill>
                  <a:srgbClr val="1F2937"/>
                </a:solidFill>
                <a:latin typeface="Calibri"/>
              </a:rPr>
              <a:t>▸  Antenatal zo‘raki o‘lim kam uchraydi; ona jarohatlanishi yoki zaharlanishi bilan bog‘liq.</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Aktiv</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Go‘dakka nisbatan harakat qilinadi</a:t>
            </a:r>
          </a:p>
          <a:p>
            <a:pPr algn="l">
              <a:spcAft>
                <a:spcPts val="700"/>
              </a:spcAft>
            </a:pPr>
            <a:r>
              <a:rPr sz="1500" b="1">
                <a:solidFill>
                  <a:srgbClr val="C9A227"/>
                </a:solidFill>
                <a:latin typeface="Calibri"/>
              </a:rPr>
              <a:t>●  </a:t>
            </a:r>
            <a:r>
              <a:rPr sz="1500" b="0">
                <a:solidFill>
                  <a:srgbClr val="1F2937"/>
                </a:solidFill>
                <a:latin typeface="Calibri"/>
              </a:rPr>
              <a:t>Bo‘g‘ish, nafasni yopish, cho‘ktirish</a:t>
            </a:r>
          </a:p>
          <a:p>
            <a:pPr algn="l">
              <a:spcAft>
                <a:spcPts val="700"/>
              </a:spcAft>
            </a:pPr>
            <a:r>
              <a:rPr sz="1500" b="1">
                <a:solidFill>
                  <a:srgbClr val="C9A227"/>
                </a:solidFill>
                <a:latin typeface="Calibri"/>
              </a:rPr>
              <a:t>●  </a:t>
            </a:r>
            <a:r>
              <a:rPr sz="1500" b="0">
                <a:solidFill>
                  <a:srgbClr val="1F2937"/>
                </a:solidFill>
                <a:latin typeface="Calibri"/>
              </a:rPr>
              <a:t>Ko‘krak, qorin qisilishi, jarohat, olov</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Passiv</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Go‘dak qarovsiz qoldiriladi</a:t>
            </a:r>
          </a:p>
          <a:p>
            <a:pPr algn="l">
              <a:spcAft>
                <a:spcPts val="700"/>
              </a:spcAft>
            </a:pPr>
            <a:r>
              <a:rPr sz="1500" b="1">
                <a:solidFill>
                  <a:srgbClr val="C9A227"/>
                </a:solidFill>
                <a:latin typeface="Calibri"/>
              </a:rPr>
              <a:t>●  </a:t>
            </a:r>
            <a:r>
              <a:rPr sz="1500" b="0">
                <a:solidFill>
                  <a:srgbClr val="1F2937"/>
                </a:solidFill>
                <a:latin typeface="Calibri"/>
              </a:rPr>
              <a:t>Kindik boylanmasa — tashqi qon ketish</a:t>
            </a:r>
          </a:p>
          <a:p>
            <a:pPr algn="l">
              <a:spcAft>
                <a:spcPts val="700"/>
              </a:spcAft>
            </a:pPr>
            <a:r>
              <a:rPr sz="1500" b="1">
                <a:solidFill>
                  <a:srgbClr val="C9A227"/>
                </a:solidFill>
                <a:latin typeface="Calibri"/>
              </a:rPr>
              <a:t>●  </a:t>
            </a:r>
            <a:r>
              <a:rPr sz="1500" b="0">
                <a:solidFill>
                  <a:srgbClr val="1F2937"/>
                </a:solidFill>
                <a:latin typeface="Calibri"/>
              </a:rPr>
              <a:t>Sovuq qotish, ochlik</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Aktiv va passiv o‘ldirish</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265, 266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Murda ekspertizasining xususiyatlari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Tashqi ko‘rikda uzunlik, vazn, bosh va ko‘krak o‘lchamlari, yo‘ldosh hamda kindik tekshiriladi.</a:t>
            </a:r>
          </a:p>
          <a:p>
            <a:pPr>
              <a:spcAft>
                <a:spcPts val="800"/>
              </a:spcAft>
            </a:pPr>
            <a:r>
              <a:rPr sz="1800">
                <a:solidFill>
                  <a:srgbClr val="1F2937"/>
                </a:solidFill>
                <a:latin typeface="Calibri"/>
              </a:rPr>
              <a:t>▸  Og‘iz bo‘shlig‘i uchun kesma iyakdan emas, pastki labdan boshlanadi; kindik tomirlari saqlanadi.</a:t>
            </a:r>
          </a:p>
          <a:p>
            <a:pPr>
              <a:spcAft>
                <a:spcPts val="800"/>
              </a:spcAft>
            </a:pPr>
            <a:r>
              <a:rPr sz="1800">
                <a:solidFill>
                  <a:srgbClr val="1F2937"/>
                </a:solidFill>
                <a:latin typeface="Calibri"/>
              </a:rPr>
              <a:t>▸  Kalla suyaklarida darchalar ochiladi; oxirida gistologik va sud-biologik tekshiruv uchun material olinadi.</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Tashqi</a:t>
            </a:r>
          </a:p>
          <a:p>
            <a:pPr algn="l">
              <a:spcAft>
                <a:spcPts val="200"/>
              </a:spcAft>
            </a:pPr>
            <a:r>
              <a:rPr sz="1400" b="0">
                <a:solidFill>
                  <a:srgbClr val="1F2937"/>
                </a:solidFill>
                <a:latin typeface="Calibri"/>
              </a:rPr>
              <a:t>Ko‘rik, antropometriya</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Ichki</a:t>
            </a:r>
          </a:p>
          <a:p>
            <a:pPr algn="l">
              <a:spcAft>
                <a:spcPts val="200"/>
              </a:spcAft>
            </a:pPr>
            <a:r>
              <a:rPr sz="1400" b="0">
                <a:solidFill>
                  <a:srgbClr val="1F2937"/>
                </a:solidFill>
                <a:latin typeface="Calibri"/>
              </a:rPr>
              <a:t>Ko‘krak va qorin</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Kalla</a:t>
            </a:r>
          </a:p>
          <a:p>
            <a:pPr algn="l">
              <a:spcAft>
                <a:spcPts val="200"/>
              </a:spcAft>
            </a:pPr>
            <a:r>
              <a:rPr sz="1400" b="0">
                <a:solidFill>
                  <a:srgbClr val="1F2937"/>
                </a:solidFill>
                <a:latin typeface="Calibri"/>
              </a:rPr>
              <a:t>Gumbazda darchalar</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Sinamalar</a:t>
            </a:r>
          </a:p>
          <a:p>
            <a:pPr algn="l">
              <a:spcAft>
                <a:spcPts val="200"/>
              </a:spcAft>
            </a:pPr>
            <a:r>
              <a:rPr sz="1400" b="0">
                <a:solidFill>
                  <a:srgbClr val="1F2937"/>
                </a:solidFill>
                <a:latin typeface="Calibri"/>
              </a:rPr>
              <a:t>O‘pka va ichak suzish sinamasi</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Material</a:t>
            </a:r>
          </a:p>
          <a:p>
            <a:pPr algn="l">
              <a:spcAft>
                <a:spcPts val="200"/>
              </a:spcAft>
            </a:pPr>
            <a:r>
              <a:rPr sz="1400" b="0">
                <a:solidFill>
                  <a:srgbClr val="1F2937"/>
                </a:solidFill>
                <a:latin typeface="Calibri"/>
              </a:rPr>
              <a:t>Gistologik, sud-biologik</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Ekspertiza bosqichlari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266, 266-267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Yo‘ldosh va kindik tekshiruvi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Murda bilan birga taqdim etilgan yo‘ldosh sinchiklab tekshiriladi: vazni, shakli, o‘lchamlari, chekka va yuzalari, to‘qimasi holati.</a:t>
            </a:r>
          </a:p>
          <a:p>
            <a:pPr>
              <a:spcAft>
                <a:spcPts val="800"/>
              </a:spcAft>
            </a:pPr>
            <a:r>
              <a:rPr sz="1800">
                <a:solidFill>
                  <a:srgbClr val="1F2937"/>
                </a:solidFill>
                <a:latin typeface="Calibri"/>
              </a:rPr>
              <a:t>▸  Kindik tekshiriladi: uzunligi, qalinligi, namligi, yaltiroqligi, tugunning mavjudligi.</a:t>
            </a:r>
          </a:p>
          <a:p>
            <a:pPr>
              <a:spcAft>
                <a:spcPts val="800"/>
              </a:spcAft>
            </a:pPr>
            <a:r>
              <a:rPr sz="1800">
                <a:solidFill>
                  <a:srgbClr val="1F2937"/>
                </a:solidFill>
                <a:latin typeface="Calibri"/>
              </a:rPr>
              <a:t>▸  Gestatsion yoshni kindik uzunligi va yo‘ldosh massasi bo‘yicha ham aniqlash mumkin (jadval 10.1: X oyda 50 sm va 500 g).</a:t>
            </a:r>
          </a:p>
          <a:p>
            <a:pPr>
              <a:spcAft>
                <a:spcPts val="800"/>
              </a:spcAft>
            </a:pPr>
            <a:r>
              <a:rPr sz="1800">
                <a:solidFill>
                  <a:srgbClr val="1F2937"/>
                </a:solidFill>
                <a:latin typeface="Calibri"/>
              </a:rPr>
              <a:t>▸  Gistologik tekshiruv uchun ichki a’zolardan tashqari yo‘ldosh va kindikdan bo‘lakchalar olinadi.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Yo‘ldosh</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Vazni, shakli, o‘lchamlari</a:t>
            </a:r>
          </a:p>
          <a:p>
            <a:pPr algn="l">
              <a:spcAft>
                <a:spcPts val="700"/>
              </a:spcAft>
            </a:pPr>
            <a:r>
              <a:rPr sz="1500" b="1">
                <a:solidFill>
                  <a:srgbClr val="C9A227"/>
                </a:solidFill>
                <a:latin typeface="Calibri"/>
              </a:rPr>
              <a:t>●  </a:t>
            </a:r>
            <a:r>
              <a:rPr sz="1500" b="0">
                <a:solidFill>
                  <a:srgbClr val="1F2937"/>
                </a:solidFill>
                <a:latin typeface="Calibri"/>
              </a:rPr>
              <a:t>Chekka va yuzalari</a:t>
            </a:r>
          </a:p>
          <a:p>
            <a:pPr algn="l">
              <a:spcAft>
                <a:spcPts val="700"/>
              </a:spcAft>
            </a:pPr>
            <a:r>
              <a:rPr sz="1500" b="1">
                <a:solidFill>
                  <a:srgbClr val="C9A227"/>
                </a:solidFill>
                <a:latin typeface="Calibri"/>
              </a:rPr>
              <a:t>●  </a:t>
            </a:r>
            <a:r>
              <a:rPr sz="1500" b="0">
                <a:solidFill>
                  <a:srgbClr val="1F2937"/>
                </a:solidFill>
                <a:latin typeface="Calibri"/>
              </a:rPr>
              <a:t>To‘qima holati</a:t>
            </a:r>
          </a:p>
          <a:p>
            <a:pPr algn="l">
              <a:spcAft>
                <a:spcPts val="700"/>
              </a:spcAft>
            </a:pPr>
            <a:r>
              <a:rPr sz="1500" b="1">
                <a:solidFill>
                  <a:srgbClr val="C9A227"/>
                </a:solidFill>
                <a:latin typeface="Calibri"/>
              </a:rPr>
              <a:t>●  </a:t>
            </a:r>
            <a:r>
              <a:rPr sz="1500" b="0">
                <a:solidFill>
                  <a:srgbClr val="1F2937"/>
                </a:solidFill>
                <a:latin typeface="Calibri"/>
              </a:rPr>
              <a:t>Gistologik bo‘lakcha</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Kindik</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Uzunligi, qalinligi</a:t>
            </a:r>
          </a:p>
          <a:p>
            <a:pPr algn="l">
              <a:spcAft>
                <a:spcPts val="700"/>
              </a:spcAft>
            </a:pPr>
            <a:r>
              <a:rPr sz="1500" b="1">
                <a:solidFill>
                  <a:srgbClr val="C9A227"/>
                </a:solidFill>
                <a:latin typeface="Calibri"/>
              </a:rPr>
              <a:t>●  </a:t>
            </a:r>
            <a:r>
              <a:rPr sz="1500" b="0">
                <a:solidFill>
                  <a:srgbClr val="1F2937"/>
                </a:solidFill>
                <a:latin typeface="Calibri"/>
              </a:rPr>
              <a:t>Namligi, yaltiroqligi</a:t>
            </a:r>
          </a:p>
          <a:p>
            <a:pPr algn="l">
              <a:spcAft>
                <a:spcPts val="700"/>
              </a:spcAft>
            </a:pPr>
            <a:r>
              <a:rPr sz="1500" b="1">
                <a:solidFill>
                  <a:srgbClr val="C9A227"/>
                </a:solidFill>
                <a:latin typeface="Calibri"/>
              </a:rPr>
              <a:t>●  </a:t>
            </a:r>
            <a:r>
              <a:rPr sz="1500" b="0">
                <a:solidFill>
                  <a:srgbClr val="1F2937"/>
                </a:solidFill>
                <a:latin typeface="Calibri"/>
              </a:rPr>
              <a:t>Tugunning mavjudligi</a:t>
            </a:r>
          </a:p>
          <a:p>
            <a:pPr algn="l">
              <a:spcAft>
                <a:spcPts val="700"/>
              </a:spcAft>
            </a:pPr>
            <a:r>
              <a:rPr sz="1500" b="1">
                <a:solidFill>
                  <a:srgbClr val="C9A227"/>
                </a:solidFill>
                <a:latin typeface="Calibri"/>
              </a:rPr>
              <a:t>●  </a:t>
            </a:r>
            <a:r>
              <a:rPr sz="1500" b="0">
                <a:solidFill>
                  <a:srgbClr val="1F2937"/>
                </a:solidFill>
                <a:latin typeface="Calibri"/>
              </a:rPr>
              <a:t>Gistologik bo‘lakcha</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Yo‘ldosh va kindik</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266, 262, 267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6: o‘lim sababi va jarohat mexanizmi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Vaziyat: tor tosli ayolda tug‘ruq uzoq cho‘zilgan. Chaqaloq murdasida tepa suyagida radial sinish va miyacha chodirida qon quyilish bor, tashqi yara yo‘q.</a:t>
            </a:r>
          </a:p>
          <a:p>
            <a:pPr>
              <a:spcAft>
                <a:spcPts val="1200"/>
              </a:spcAft>
            </a:pPr>
            <a:r>
              <a:rPr sz="2000">
                <a:solidFill>
                  <a:srgbClr val="1F2937"/>
                </a:solidFill>
                <a:latin typeface="Calibri"/>
              </a:rPr>
              <a:t>▸  Savol: bu jarohatlar tug‘ruq travmasiga mosmi? Tug‘ruq travmasida tashqi yara hosil bo‘lmaydi, sinishlar esa ko‘pincha tepa va peshona suyaklarida bo‘ladi.</a:t>
            </a:r>
          </a:p>
          <a:p>
            <a:pPr>
              <a:spcAft>
                <a:spcPts val="1200"/>
              </a:spcAft>
            </a:pPr>
            <a:r>
              <a:rPr sz="2000">
                <a:solidFill>
                  <a:srgbClr val="1F2937"/>
                </a:solidFill>
                <a:latin typeface="Calibri"/>
              </a:rPr>
              <a:t>▸  Taqqoslash: tug‘ayotgan ayol qo‘li bilan o‘ziga yordam bersa, homilaning yuz va bo‘yin sohasida shilinma, qontalashlar, og‘iz burchagi yorilishi paydo bo‘ladi.</a:t>
            </a:r>
          </a:p>
          <a:p>
            <a:pPr>
              <a:spcAft>
                <a:spcPts val="1200"/>
              </a:spcAft>
            </a:pPr>
            <a:r>
              <a:rPr sz="2000">
                <a:solidFill>
                  <a:srgbClr val="1F2937"/>
                </a:solidFill>
                <a:latin typeface="Calibri"/>
              </a:rPr>
              <a:t>▸  Diqqat: tug‘ruq travmasi ≠ ona yordami izlari. Huquq idoralari uchun muhimi aktiv yoki passiv o‘ldirish emas, o‘limning aniq sababi.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265, 265, 266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Nazorat savollari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1–2. Yangi tug‘ilgan go‘dak murdasi ekspertizasi yechimiga qanday savollar qo‘yiladi? Sud tibbiyotida “yangi tug‘ilganlik” tushunchasi qanday farqlanadi?</a:t>
            </a:r>
          </a:p>
          <a:p>
            <a:pPr>
              <a:spcAft>
                <a:spcPts val="1200"/>
              </a:spcAft>
            </a:pPr>
            <a:r>
              <a:rPr sz="2200">
                <a:solidFill>
                  <a:srgbClr val="1F2937"/>
                </a:solidFill>
                <a:latin typeface="Calibri"/>
              </a:rPr>
              <a:t>▸  3–4. Yangi tug‘ilganlik belgilarini keltiring. Qaysi belgilar absolyut, ya’ni mutlaq ishonchli xarakterga ega?</a:t>
            </a:r>
          </a:p>
          <a:p>
            <a:pPr>
              <a:spcAft>
                <a:spcPts val="1200"/>
              </a:spcAft>
            </a:pPr>
            <a:r>
              <a:rPr sz="2200">
                <a:solidFill>
                  <a:srgbClr val="1F2937"/>
                </a:solidFill>
                <a:latin typeface="Calibri"/>
              </a:rPr>
              <a:t>▸  5–6. O‘pka sinamasida nafas olingan havoni chirish gazidan qanday farqlash mumkin? Ikkilamchi atelektazda o‘pka sinamasi qanday o‘tkaziladi?</a:t>
            </a:r>
          </a:p>
          <a:p>
            <a:pPr>
              <a:spcAft>
                <a:spcPts val="1200"/>
              </a:spcAft>
            </a:pPr>
            <a:r>
              <a:rPr sz="2200">
                <a:solidFill>
                  <a:srgbClr val="1F2937"/>
                </a:solidFill>
                <a:latin typeface="Calibri"/>
              </a:rPr>
              <a:t>▸  O‘zini tekshirish: javoblaringizni 10.1–10.3 bo‘limlari bilan solishtiring va yetishmagan joylarni qayta o‘qing.</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267, 256-260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Sud tibbiyotida yangi tug‘ilganlik — dastlabki 24 soat. Tirik tug‘ilganlik asosan nafas olgan-olmaganligi bilan hal etiladi: sinamalar, mikroskopiya.</a:t>
            </a:r>
          </a:p>
          <a:p>
            <a:pPr>
              <a:spcAft>
                <a:spcPts val="1200"/>
              </a:spcAft>
            </a:pPr>
            <a:r>
              <a:rPr sz="2000">
                <a:solidFill>
                  <a:srgbClr val="1F2937"/>
                </a:solidFill>
                <a:latin typeface="Calibri"/>
              </a:rPr>
              <a:t>▸  Gestatsion yosh antropometriya, formulalar va suyaklanish o‘zaklari bilan aniqlanadi. Uzunligi 25 sm dan, vazni 500 g dan kam go‘dak hayotga layoqatsiz.</a:t>
            </a:r>
          </a:p>
          <a:p>
            <a:pPr>
              <a:spcAft>
                <a:spcPts val="1200"/>
              </a:spcAft>
            </a:pPr>
            <a:r>
              <a:rPr sz="2000">
                <a:solidFill>
                  <a:srgbClr val="1F2937"/>
                </a:solidFill>
                <a:latin typeface="Calibri"/>
              </a:rPr>
              <a:t>▸  Hayot davomiyligi halqa, mekoniy, gialin membrana va havo tarqalishi bilan baholanadi. Qarov: yo‘rgak, bog‘langan kindik, toza tana, oshqozonda sut.</a:t>
            </a:r>
          </a:p>
          <a:p>
            <a:pPr>
              <a:spcAft>
                <a:spcPts val="1200"/>
              </a:spcAft>
            </a:pPr>
            <a:r>
              <a:rPr sz="2000">
                <a:solidFill>
                  <a:srgbClr val="1F2937"/>
                </a:solidFill>
                <a:latin typeface="Calibri"/>
              </a:rPr>
              <a:t>▸  O‘lim sabablari: antenatalda homila ichi asfiksiya, intranatalda tug‘ruq travmasi, postnatalda norasolik, nuqson yoki zo‘raki (aktiv, passiv) o‘ldirish.</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256, 259, 262, 263, 263, 264, 264, 265</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43</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Eslab qoling: “yangi tug‘ilganlik” muddati fanga qarab farq qiladi. Pediatriyada 4 hafta, akusherlikda 7 kun, sud tibbiyotida esa dastlabki 24 soat. Bu farq jinoyat qonunidagi onaning go‘dakni tug‘ish vaqtida o‘ldirishi moddasi (99-modda) bilan bog‘liq.</a:t>
            </a:r>
          </a:p>
          <a:p>
            <a:pPr>
              <a:spcAft>
                <a:spcPts val="1200"/>
              </a:spcAft>
            </a:pPr>
            <a:r>
              <a:rPr sz="1800">
                <a:solidFill>
                  <a:srgbClr val="1F2937"/>
                </a:solidFill>
                <a:latin typeface="Calibri"/>
              </a:rPr>
              <a:t>▸  Hisoblash usuli: Gaaze formulasi bo‘yicha homiladorlikning birinchi yarmida tana uzunligidan kvadrat ildiz olinadi, ikkinchi yarmida 5 ga bo‘linadi. 16 sm tana 4 oyni, 40 sm tana 8 oyni beradi. Baltazar-Derve usulida 40 sm ni 5,6 ga ko‘paytirsak 224 kun chiqadi.</a:t>
            </a:r>
          </a:p>
          <a:p>
            <a:pPr>
              <a:spcAft>
                <a:spcPts val="1200"/>
              </a:spcAft>
            </a:pPr>
            <a:r>
              <a:rPr sz="1800">
                <a:solidFill>
                  <a:srgbClr val="1F2937"/>
                </a:solidFill>
                <a:latin typeface="Calibri"/>
              </a:rPr>
              <a:t>▸  Eslab qolish usuli: yangi tug‘ilganlikning mutloq ishonchli belgilari uchta. Bular o‘pkaning birlamchi atelektazi, kindikda demarkatsion halqaning yo‘qligi yoki dastlabki belgilari va tana hamda yo‘ldoshdan ajratilmagan kindikdir. Qolgan belgilar nisbiy bo‘lib, 2-kunda va undan keyin ham topilishi mumkin.</a:t>
            </a:r>
          </a:p>
          <a:p>
            <a:pPr>
              <a:spcAft>
                <a:spcPts val="1200"/>
              </a:spcAft>
            </a:pPr>
            <a:r>
              <a:rPr sz="1800">
                <a:solidFill>
                  <a:srgbClr val="1F2937"/>
                </a:solidFill>
                <a:latin typeface="Calibri"/>
              </a:rPr>
              <a:t>▸  Hodisa tahlili: o‘pka sinamasi chirish, sun‘iy nafas oldirish va yaxshi erimagan muzlagan o‘pkada soxta musbat bo‘lishi mumkin. Ikkilamchi atelektazda esa soxta manfiy chiqadi, shunda Taranuxin usuli qo‘llanadi. Shu sababli natijani faqat bitta sinamaga tayanib baholamang.</a:t>
            </a:r>
          </a:p>
          <a:p>
            <a:pPr>
              <a:spcAft>
                <a:spcPts val="1200"/>
              </a:spcAft>
            </a:pPr>
            <a:r>
              <a:rPr sz="1800">
                <a:solidFill>
                  <a:srgbClr val="1F2937"/>
                </a:solidFill>
                <a:latin typeface="Calibri"/>
              </a:rPr>
              <a:t>▸  Vaqt shkalasi: gialin membranalari uchun go‘dak kamida 1-2 soat yashashi kerak. Havo faqat oshqozonda bo‘lsa, go‘dak 3 soatdan kam yashagan. 5-6 soatda havo ingichka ichakka, 6 soatdan keyin yo‘g‘on ichakka o‘tadi. Bu muddatlar taxminiy.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Yangi tug‘ilgan chaqalok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43</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G‘iyosov Z.A. Sud tibbiyoti: darslik, Toshkent: Global Books nashriyoti. 2018. Bob 10. Homila va yangi tug'ilgan go'daklar murdasi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