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pediatr zaharlanish masalalarini bilishi kerak? 2) Zo‘raki o‘limning qaysi turlari zaharlanishdan oldin turadi? Doskada: zo‘raki o‘lim sabablarining uch pog‘onasini chizdiring. Tipik xato: talabalar zaharlanishni faqat qasddan sodir bo‘ladi deb o‘ylaydi, vaholanki baxtsiz hodisalar ham bor.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modda bir sharoitda dori, boshqasida zahar bo‘ladi? 2) Bariy sulfat va bariy xlorid farqi nimada? Doskada: ‘modda – doza – sharoit’ uchburchagini chizdiring. Tipik xato: ‘zahar’ ni doimiy xususiyat deb o‘ylash. Eslab qoling: doza zaharni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Klinik va sud-tibbiy toksikologiyaning maqsadi qanday farqlanadi? 2) Yatrogen zaharlanishga pediatriyadan misol keltiring. Doskada: toksikologiya yo‘nalishlarining daraxtini chizdiring. Tipik xato: sud-tibbiy toksikologiyani davolash fani deb tushunish; u huquqiy savollarga javob beradi.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ekspertizada baxtsiz hodisalar ko‘p uchraydi? Pediatriyada yatrogen xato qanday oqibatga olib kelishi mumkin (dozani kg vazn bo‘yicha hisoblash)? Doskada chizing: uch tur va ularni qasddan/tasodifan ustunlariga ajrating. Tipik xato: yatrogen zaharlanishni qasddan deb o‘ylash; u tasodifiy zaharlanishdir.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so‘rang, javobni talabalar bersin. Muhokama: nima uchun mutlaq zahar yo‘q? Doskada chizing: ‘modda – doza – ta’sir’ zanjiri. Tipik xato: ‘zahar’ va ‘zaharlanish’ so‘zlarini bir ma’noda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bolalarda maishiy zaharlanish qaysi kirish yo‘li bilan ko‘proq bo‘lishi mumkin? Nima uchun kirish yo‘lini bilish birinchi yordamga ta’sir qiladi? Doskada chizing: tasnifning uch tamoyilini daraxt shaklida. Tipik xato: ‘ishlab chiqarish’ va ‘maishiy’ zaharlanishni sabab bilan aralashtirish; bular joy mezoniga kiradi.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zahar turli odamlarda turlicha ta’sir qiladi? 2) Qaysi omillar asosiy, qaysilari qo‘shimcha? Doskada chizish: to‘rt omilni markaziy ’zaharlanish’ atrofida chizing. Tipik xato: tashqi muhitni barcha zaharlar uchun muhim deb o‘ylash; u faqat ayrim moddalarda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bariy sulfat rentgenda xavfsiz, bariy xlorid esa zahar? 2) Vexikulum nima va qanday ta’sir qiladi? Doskada chizish: gaz, suyuqlik, qattiq moddalarni tezlik bo‘yicha strelka bilan joylashtiring. Tipik xato: kimyoviy jihatdan o‘xshash moddalarni bir xil zaharli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bolalar kattalarga nisbatan zaharga sezgirroq? 2) Genetik xususiyat dori tanlashga qanday ta’sir qiladi? Doskada chizish: organizm omillarini ’vazn, yosh/jins, salomatlik, genetika’ deb to‘rt shoxga bo‘ling. Tipik xato: jins bo‘yicha farq bor deb o‘ylash; manbada farq yo‘q, faqat homiladorlikda sezgirlik ortadi.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 organizmi zaharga sezgirroq? 2) Doza nima uchun kg vaznga hisoblanadi? Doskada: ikki ustun chizing – «kichik vazn» va «qarshilik tizimi yetuk emas» – ikkalasi ham «yuqori sezgirlik»ka olib borsin. Tipik xato: talaba bola dozasini kattalar dozasini shunchaki bo‘lib hisoblash mumkin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Abstinensiya sindromi nima uchun xavfli? 2) Idiosinkraziyada nega dozani oshirish kerak emas? Doskada: ikki tomonlama strelka – «tolerantlik: doza ↑, ta’sir ↓» va «idiosinkraziya: kichik doza, kuchli reaksiya». Tipik xato: tolerantlik va idiosinkraziyani bir xil tushuncha deb olish; narkomaniya va toksikomaniyani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nafas yo‘li orqali kirgan zahar og‘iz orqali kirganidan kuchliroq bo‘lishi mumkin? 2) Bolalarda teri orqali zaharlanish xavfi nimaga bog‘liq? Doskada: sxema – kirish yo‘llari → qon → jigar/jigarsiz yo‘l, jigardan o‘tmaydigan yo‘llarni alohida belgilang. Tipik xato: barcha yo‘llarni bir xil kuchli deb hisoblash va eruvchanlikning 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yopiq, issiq va nam xona is gazi xavfini oshiradi? (2) zaharlanish qanchalik tez qonga so‘rilsa, davr shunchalik qisqa bo‘ladimi? Doskada: uch ustunli davrlar jadvalini chizdiring. Tipik xato: surunkali zaharlanishni o‘tkir deb o‘ylash, o‘lim esa haftalar yoki oylardan keyin ham bo‘lishi mumkinligini unutish. Diqqat: Iskandarov (289) past harorat organizmni sovitib, reaktivligini pasaytirgani uchun alkogol zaharlanishiga sabab bo‘lishi mumkinligini ham yozadi. G‘iyosov esa past harorat is gazi va alkogol ta’sirini susaytiradi, deydi. Manbalar shu jihatdan farq qiladi, talabalar bilan muhokama qiling.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Kutilgan javob: bolalar kattalardan sezgirroq, chunki vazni kichik va umumiy qarshilik tizimi to‘liq shakllanmagan (G‘iyosov, 134). Ikkinchi holatda zaharlanish jarohat oqibati deb o‘ylangan, faqat bitta klinik belgiga tayanib tashxis qo‘yish qiyin (Iskandarov, 294). Muhokama: tashxisni qaysi ma’lumotlar o‘zgartirgan bo‘lardi? Doskada: bola sezgirligining ikki sababini (kichik vazn, to‘liq shakllanmagan qarshilik) yozing. Tipik xato: bolaga dozani kattalar kabi baholash.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nima uchun funksional zaharlarda tibbiy hujjatlardagi klinik ma’lumotlar muhim dalil bo‘ladi? Doskada: uch bosqichli zanjirni chizib, har biriga bittadan misol yozdiring. Tipik xato: laboratoriya natijasini yagona isbot deb olish. Iskandarov (298) ko‘rsatishicha, murdada zaharning topilishi har doim ham zaharlanishni isbotlamaydi, chunki zahar murdaga o‘lgandan keyin ham o‘tishi mumkin. Shu sababli barcha bosqichlar yig‘indisi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murda dog‘lari rangi zahar turiga qarab farqlanadi? 2) Qotish kuchli va sust bo‘lgan zaharlarni solishtiring. Doskada: belgi—zahar juftliklari jadvalini talabalar o‘zi to‘ldirsin. Tipik xato: bitta belgiga qarab zaharni aniq deb hisoblash. Eslatma: zaharlanishga shubha bo‘lsa, murdani kesishda suv va antiseptik ishlatilmaydi, zahar yuvilib ketishi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“Uch nuqta” qoidasi nima uchun kerak? 2) Nega materialni formalin yoki spirt bilan qotirib bo‘lmaydi? Doskada: zahar og‘iz orqali kirib jigarga ta’sir etib siydik bilan chiqsa, qaysi uch ob’ekt olinishini chizing. Tipik xato: zahar noma’lum bo‘lganda faqat oshqozon massasini yuborish. Tezkor savol: chuqur chirishda “o‘rta sinama” necha kg olinadi?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Yolg‘on musbat va yolg‘on manfiy natija qanday sabablarga bog‘liq? 2) Nega dastlabki sinov musbat bo‘lsa, xulosa chiqarib bo‘lmaydi? Doskada: 5 bosqichli zanjirni chizib, har bosqichda xato manbasini yozing. Tipik xato: dastlabki sinovning musbat natijasini zaharlanish isboti deb olish. Diqqat: aniqlash va talqin qilish bosqichlarini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Sud-kimyoviy tekshiruvning ijobiy natijasi nega yolg‘iz yetarli emas? 2) Salbiy natija zaharlanishni inkor etadimi? Doskada chizish: 10 ta savolning qisqa ro‘yxati (o‘lim, modda, doza, yo‘l, yo‘qolish, o‘limdan keyin tushish). Tipik xato: talabalar topilgan modda = sabab deb o‘ylaydi. Pediatriya uchun eslatma: bolalar og‘irligi kichik, shuning uchun doza masalasi muhim.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Alkogol hidi qaysi boshqa holatni yashirgan? 2) Bosh jarohati belgilarini qanday qidirish kerak edi? Doskada chizish: ikki ustun — ‘zaharlanish belgilari’ va ‘bosh jarohati belgilari’, umumiy belgisi qusish va xushsizlik. Tipik xato: mast bemorda hamma belgini alkogolga bog‘lab qo‘yish. Bolalar bilan bog‘lang: bolada xushsizlik va talvasada ham faqat bitta belgiga ishonmaslik kerak.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Birlamchi, keyingi va metatoksik ta’sirni sirka kislotasi misolida ayting. 2) Metabolit asl moddadan zaharliroq bo‘lishi mumkinmi (metanol va etilenglikol misoli)? Doskada chizish: besh tugunli zanjirni daftarga ko‘chiring va har tugunga bitta organni yozing. Tipik xato: toksikokinetika bilan toksikodinamikani aralashtirish — birinchisi ‘organizm zaharga nima qiladi’, ikkinchisi ‘zahar organizmga nima qiladi’.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metanol bilan zaharlanishda kechroq belgilar kuchayadi? 2) Zaharning to‘planish joyini bilish toksikologik tekshiruv uchun nega muhim? Doskada: ‘zahar → jigar → metabolit → chiqish’ zanjirini chizing. Tipik xato: biotransformatsiya doim zaharni kamaytiradi deb o‘ylash; letal sintezda toksiklik oshadi.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o‘yuvchi zaharlar alohida guruh? 2) Funksional zaharlarda murdada nega aniq o‘zgarish topilmasligi mumkin? Doskada: tasnif daraxtini (mahalliy/umumiy → kenja guruhlar) chizdiring. Tipik xato: sirka kislotasini faqat o‘yuvchi deb hisoblash; u gemolitik (qon) ta’sir ham ko‘rsatadi.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destruktiv zaharlar. 2) Biotransformatsiyada boshlang‘ichdan toksikroq metabolit hosil bo‘lishi; metanol oksidlanib formaldegid beradi, u kardio-, nefro- va neyrotoksik ta’sirga sabab bo‘ladi. 3) Kechki, zahar ta’siridan keyin rivojlanuvchi ta’sir: avval og‘iz va oshqozon shilliq qavatining kuyishi, so‘ng gemoliz, keyin toksik gepatit va nefroz. 4) Bosh miya, jigar, yog‘ to‘qimasi; o‘t bilan chiqadi. Muhokama: talabalar javobni juftlikda bahslashsin. Tipik xato: metatoksik ta’sirni birlamchi deb aytish.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kislota quruq (koagulyatsion) nekroz beradi? 2) Erta va kech o‘lim sabablari qanday farqlanadi? Doskada: ‘vodorod ionlari → suvsizlanish → oqsil ivishi → quruq nekroz → strup’ zanjirini chizing. Tipik xato: kislota va ishqor nekrozini aralashtirish (quruq nekroz kislotaga, ho‘l nekroz ishqorga xos).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Nitrat kislotada sarg‘ish rang qanday reaksiyadan kelib chiqadi (ksantoprotein)? 2) Nega xlorid va sirka kislotasida hiqildoq shishishi ko‘p? Doskada: jadvalni talabalar bilan birga to‘ldiring. Tipik xato: nitrat kislotada rang konsentratsiyaga bog‘liqligini unutish (30% dan past bo‘lsa qo‘ng‘ir-kulrang).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Sirka kislotasida buyrak nega zararlanadi (gemoliz → gemoglobinuriya)? 2) Fenol bilan zaharlanishda siydik rangi qanday ahamiyatga ega? Doskada: sirka kislotasi uchun ‘gemoliz → gemoglobinuriyali nefroz → buyrak yetishmovchiligi’ zanjirini chizing. Tipik xato: oshxona sirkasi va sirka essensiyasini bir xil xavfli deb hisoblash; hal qiluvchi omil konsentratsiya.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ishqorda to‘qima yumshoq, kislotada zich bo‘ladi? Nashatir spirtini alkogol bilan birga ichish nega xavfli? Doskada: kislota va ishqor ustunli solishtirma jadvalni chizdiring. Diqqat: koagulyatsion (quruq) nekroz ≠ kollikvatsion (ho‘l) nekroz. Tipik xato: talabalar ammoniy gidroksidni kaliy va natriy gidroksid kabi kuchli mahalliy ta’sirli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Savol: kislota yoki ishqorni qaysi belgilar ajratadi (oqma rangi va zichligi, oshqozon devori holati, nekroz turi)? Dastlabki soatlarda o‘lim sabablari nima? Bolalarda hiqildoq shishishi nega ayniqsa xavfli? Doskada: ikki ustunli ‘belgi → ehtimoliy modda’ jadvalini chizdiring. Tipik xato: faqat oqma rangiga qarab modda turini aniq aytish, vaholanki laboratoriya tekshiruvi kerak.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sulema zaharli, kalomel esa deyarli zararsiz? Organik va anorganik simobda klinik farq nimada (stomatit, buyrak, neyrotoksiklik)? Doskada: sulema zaharlanishi zanjirini chizdiring. Diqqat: sulema ≠ kalomel (eruvchanlik va dozasi farq qiladi). Tipik xato: organik simobda ham stomatit va og‘ir buyrak shikastlanishi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Talliy va margimush nega tirnoq va soch tekshiruvi bilan bog‘lanadi? 2) Qo‘rg‘oshin simob zaharlanishidan nimasi bilan farq qiladi? Doskada: uchala zaharni jadvalga chizing (belgi, aniqlanishi). Diqqat: toza margimush zaharli emas, havoda oksidlanganda zaharli birikma hosil bo‘ladi; uch valentli birikmalari besh valentlidan zaharliroq (G‘iyosov, 148). Tipik xato: talliy ≠ margimush; ikkalasida tirnoq chiziqlari bor, lekin sochning to‘kilishi talliyda yetakchi (Romodanovskiy, 406).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Tezkor savol: murda dog‘lari qo‘ng‘ir bo‘lsa, qaysi zahar guruhi gumon qilinadi? Muhokama: nega is gazida qon yorqin qizil, lekin to‘qima kislorodsiz qoladi? Doskada: to‘rt rangli murda dog‘i – zahar juftligini chizing (Iskandarov, 295 bo‘yicha: och qizil – is gazi, qo‘ng‘ir – metgemoglobin hosil qiluvchilar). Tipik xato: gemolitik zahar (sarg‘ish) bilan metgemoglobin hosil qiluvchini (qo‘ng‘ir)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Nega funksional zaharlarda murda tekshiruvida xos o‘zgarish bo‘lmasligi mumkin (G‘iyosov, 136; Xarin, 131)? 2) Tolerantlik va idiosinkraziya farqi nima? Doskada: MNT ga ta’siri bo‘yicha uch guruh sxemasini (falajlovchi, qo‘zg‘atuvchi, so‘ndiruvchi) chizing. Pediatriya uchun: bolalar alkogol va opiyga juda sezgir (Iskandarov, 287); bolalarda qarshilik tizimi to‘liq shakllanmagan (G‘iyosov, 134). Narkotik sinflari: opiatlar, stimulyatorlar, galyutsinogenlar, psixodepressantlar (Romodanovskiy, 387). Tipik xato: tolerantlikni idiosinkraziya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Issiq va nam havoda nega qizib ketish xavfi ortadi? 2) Elektr belgisi qanday ko‘rinadi? Doskada: omil → xos belgi jadvalini chizdiring. Tipik xato: “bokschi” va “kalachik” holatlarini aralashtirish. Diqqat: bu manbada faqat test savollari bor, to‘liq bayon va javoblar kaliti yo‘q. Shuning uchun bandlar test mazmunidan olingan, “uncertain” deb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Manfiy natijani qaysi omillar o‘zgartirishi mumkin? 2) Qanday ma’lumotlar zaharlanish gumonini kuchaytiradi? Doskada: “gumon → ko‘rik → laboratoriya → umumiy xulosa” zanjirini chizdiring. Tipik xato: bitta manfiy tahlilga qarab zaharlanishni rad etish. Eslatma: vaziyat manbadagi ma’lumotlardan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Mustaqil ishlash savollari: 1) Zahar nima uchun nisbiy tushuncha? 2) Zaharlanishda ahamiyatli to‘rt omil guruhini ayting. 3) Diagnostikaning uch bosqichi nimadan iborat? 4) Zaharlar tasnifi va xos belgilarga misol keltiring. 5) Bolalar nega sezgirroq? 6) Laboratoriya natijasi qanday baholanadi? Doskada: zaharlar tasnifi sxemasini chizdiring. Tipik xato: faqat laboratoriya natijasiga tayanib xulosa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№5. Maʻruza: Sud tibbiy toksikologiyasi. Ayrim fizik omillarning organizmga ta’siri.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Zaharlanishlar zo‘raki o‘lim tarkibida mexanik jarohatlar va mexanik asfiksiyadan keyin uchinchi o‘rinda turadi.</a:t>
            </a:r>
          </a:p>
          <a:p>
            <a:pPr>
              <a:spcAft>
                <a:spcPts val="1200"/>
              </a:spcAft>
            </a:pPr>
            <a:r>
              <a:rPr sz="2200">
                <a:solidFill>
                  <a:srgbClr val="1F2937"/>
                </a:solidFill>
                <a:latin typeface="Calibri"/>
              </a:rPr>
              <a:t>▸  Reja: zahar tushunchasi, ta’sir omillari, sud-tibbiy diagnostika, toksikokinetika va toksikodinamika, zaharlarning tasnifi.</a:t>
            </a:r>
          </a:p>
          <a:p>
            <a:pPr>
              <a:spcAft>
                <a:spcPts val="1200"/>
              </a:spcAft>
            </a:pPr>
            <a:r>
              <a:rPr sz="2200">
                <a:solidFill>
                  <a:srgbClr val="1F2937"/>
                </a:solidFill>
                <a:latin typeface="Calibri"/>
              </a:rPr>
              <a:t>▸  Pediatriya uchun muhim: bolalar kattalarga qaraganda zaharga sezgirroq, chunki vazni kichik va qarshilik tizimi to‘liq shakllanmagan.</a:t>
            </a:r>
          </a:p>
          <a:p>
            <a:pPr>
              <a:spcAft>
                <a:spcPts val="1200"/>
              </a:spcAft>
            </a:pPr>
            <a:r>
              <a:rPr sz="2200">
                <a:solidFill>
                  <a:srgbClr val="1F2937"/>
                </a:solidFill>
                <a:latin typeface="Calibri"/>
              </a:rPr>
              <a:t>▸  Maqsad: zaharlanishni kelib chiqish tafsilotiga qarab farqlash: qotillik, o‘z-o‘zini o‘ldirish yoki baxtsiz hodisa.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132-139, 134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ta’sirida sog‘liq buziladigan yoki o‘lim yuz beradigan modda zahar deyiladi.</a:t>
            </a:r>
          </a:p>
          <a:p>
            <a:pPr>
              <a:spcAft>
                <a:spcPts val="1200"/>
              </a:spcAft>
            </a:pPr>
            <a:r>
              <a:rPr sz="2200">
                <a:solidFill>
                  <a:srgbClr val="1F2937"/>
                </a:solidFill>
                <a:latin typeface="Calibri"/>
              </a:rPr>
              <a:t>▸  Mutlaq zahar ham, mutlaq beziyon modda ham yo‘q. Paratsels fikricha, moddani dori yoki zahar qiladigan narsa doza.</a:t>
            </a:r>
          </a:p>
          <a:p>
            <a:pPr>
              <a:spcAft>
                <a:spcPts val="1200"/>
              </a:spcAft>
            </a:pPr>
            <a:r>
              <a:rPr sz="2200">
                <a:solidFill>
                  <a:srgbClr val="1F2937"/>
                </a:solidFill>
                <a:latin typeface="Calibri"/>
              </a:rPr>
              <a:t>▸  Sud tibbiyotida zahar oz miqdorda kirsa ham kimyoviy yoki fizik-kimyoviy xususiyati bilan sog‘liqni buzadi yoki o‘limga olib keladi.</a:t>
            </a:r>
          </a:p>
          <a:p>
            <a:pPr>
              <a:spcAft>
                <a:spcPts val="1200"/>
              </a:spcAft>
            </a:pPr>
            <a:r>
              <a:rPr sz="2200">
                <a:solidFill>
                  <a:srgbClr val="1F2937"/>
                </a:solidFill>
                <a:latin typeface="Calibri"/>
              </a:rPr>
              <a:t>▸  Diqqat: xato qilish xavfi. Bariy sulfat suvda erimaydi, rentgen kontrasti sifatida ishlatiladi; eruvchan bariy xlorid esa kuchli zahar.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133; Iskandarov A.I., Qo‘ldoshev D.R., Sud tibbiyoti, betlar: 284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turlari va sud-tibbiy toksikologiya vazifasi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Toksikologiya zahar va zaharlanishni o‘rganadi. Yo‘nalishlari: sanoat, qishloq xo‘jaligi, harbiy, oziq-ovqat, maishiy va sud-tibbiy toksikologiya.</a:t>
            </a:r>
          </a:p>
          <a:p>
            <a:pPr>
              <a:spcAft>
                <a:spcPts val="1200"/>
              </a:spcAft>
            </a:pPr>
            <a:r>
              <a:rPr sz="2200">
                <a:solidFill>
                  <a:srgbClr val="1F2937"/>
                </a:solidFill>
                <a:latin typeface="Calibri"/>
              </a:rPr>
              <a:t>▸  Boshqa turlar sabablar, malakali yordam va oldini olishga qaratilgan. Sud-tibbiy toksikologiya huquqni muhofaza idoralari vazifalarini hal etadi.</a:t>
            </a:r>
          </a:p>
          <a:p>
            <a:pPr>
              <a:spcAft>
                <a:spcPts val="1200"/>
              </a:spcAft>
            </a:pPr>
            <a:r>
              <a:rPr sz="2200">
                <a:solidFill>
                  <a:srgbClr val="1F2937"/>
                </a:solidFill>
                <a:latin typeface="Calibri"/>
              </a:rPr>
              <a:t>▸  Sud tibbiyoti fan sifatida sud-tibbiy toksikologiyadan boshlab shakllangan.</a:t>
            </a:r>
          </a:p>
          <a:p>
            <a:pPr>
              <a:spcAft>
                <a:spcPts val="1200"/>
              </a:spcAft>
            </a:pPr>
            <a:r>
              <a:rPr sz="2200">
                <a:solidFill>
                  <a:srgbClr val="1F2937"/>
                </a:solidFill>
                <a:latin typeface="Calibri"/>
              </a:rPr>
              <a:t>▸  Zaharlanishlarning ko‘pi baxtsiz hodisa, undan keyin o‘z-o‘zini o‘ldirish; qotillik kamdan-kam. Ba’zi baxtsiz hodisalar yatrogen, ya’ni davolashdagi xato.</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turlari: qotillik, o‘z-o‘zini o‘ldirish, baxtsiz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tarzida sodir bo‘lishi mumkin.</a:t>
            </a:r>
          </a:p>
          <a:p>
            <a:pPr>
              <a:spcAft>
                <a:spcPts val="800"/>
              </a:spcAft>
            </a:pPr>
            <a:r>
              <a:rPr sz="1800">
                <a:solidFill>
                  <a:srgbClr val="1F2937"/>
                </a:solidFill>
                <a:latin typeface="Calibri"/>
              </a:rPr>
              <a:t>▸  Ekspertiza ma’lumotlarida ko‘pchilikni baxtsiz hodisalar tashkil etadi; keyingi o‘rinda o‘z-o‘zini o‘ldirish turadi.</a:t>
            </a:r>
          </a:p>
          <a:p>
            <a:pPr>
              <a:spcAft>
                <a:spcPts val="800"/>
              </a:spcAft>
            </a:pPr>
            <a:r>
              <a:rPr sz="1800">
                <a:solidFill>
                  <a:srgbClr val="1F2937"/>
                </a:solidFill>
                <a:latin typeface="Calibri"/>
              </a:rPr>
              <a:t>▸  Zaharlash yo‘li bilan qotillik kamdan-kam uchraydi. Yatrogen zaharlanish tasodifiy turlardan biri.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55286"/>
                <a:gridCol w="1244229"/>
                <a:gridCol w="2488458"/>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Niyat</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Qotillik</a:t>
                      </a:r>
                    </a:p>
                  </a:txBody>
                  <a:tcPr marL="73152" marR="73152" marT="36576" marB="36576">
                    <a:solidFill>
                      <a:srgbClr val="E8EEF6"/>
                    </a:solidFill>
                  </a:tcPr>
                </a:tc>
                <a:tc>
                  <a:txBody>
                    <a:bodyPr/>
                    <a:lstStyle/>
                    <a:p>
                      <a:r>
                        <a:rPr sz="1200" b="0">
                          <a:solidFill>
                            <a:srgbClr val="1F2937"/>
                          </a:solidFill>
                        </a:rPr>
                        <a:t>Qasddan</a:t>
                      </a:r>
                    </a:p>
                  </a:txBody>
                  <a:tcPr marL="73152" marR="73152" marT="36576" marB="36576">
                    <a:solidFill>
                      <a:srgbClr val="E8EEF6"/>
                    </a:solidFill>
                  </a:tcPr>
                </a:tc>
                <a:tc>
                  <a:txBody>
                    <a:bodyPr/>
                    <a:lstStyle/>
                    <a:p>
                      <a:r>
                        <a:rPr sz="1200" b="0">
                          <a:solidFill>
                            <a:srgbClr val="1F2937"/>
                          </a:solidFill>
                        </a:rPr>
                        <a:t>Kamdan-kam uchraydi</a:t>
                      </a:r>
                    </a:p>
                  </a:txBody>
                  <a:tcPr marL="73152" marR="73152" marT="36576" marB="36576">
                    <a:solidFill>
                      <a:srgbClr val="E8EEF6"/>
                    </a:solidFill>
                  </a:tcPr>
                </a:tc>
              </a:tr>
              <a:tr h="411480">
                <a:tc>
                  <a:txBody>
                    <a:bodyPr/>
                    <a:lstStyle/>
                    <a:p>
                      <a:r>
                        <a:rPr sz="1200" b="0">
                          <a:solidFill>
                            <a:srgbClr val="1F2937"/>
                          </a:solidFill>
                        </a:rPr>
                        <a:t>O‘z-o‘zini o‘ldirish</a:t>
                      </a:r>
                    </a:p>
                  </a:txBody>
                  <a:tcPr marL="73152" marR="73152" marT="36576" marB="36576">
                    <a:solidFill>
                      <a:srgbClr val="FFFFFF"/>
                    </a:solidFill>
                  </a:tcPr>
                </a:tc>
                <a:tc>
                  <a:txBody>
                    <a:bodyPr/>
                    <a:lstStyle/>
                    <a:p>
                      <a:r>
                        <a:rPr sz="1200" b="0">
                          <a:solidFill>
                            <a:srgbClr val="1F2937"/>
                          </a:solidFill>
                        </a:rPr>
                        <a:t>Qasddan</a:t>
                      </a:r>
                    </a:p>
                  </a:txBody>
                  <a:tcPr marL="73152" marR="73152" marT="36576" marB="36576">
                    <a:solidFill>
                      <a:srgbClr val="FFFFFF"/>
                    </a:solidFill>
                  </a:tcPr>
                </a:tc>
                <a:tc>
                  <a:txBody>
                    <a:bodyPr/>
                    <a:lstStyle/>
                    <a:p>
                      <a:r>
                        <a:rPr sz="1200" b="0">
                          <a:solidFill>
                            <a:srgbClr val="1F2937"/>
                          </a:solidFill>
                        </a:rPr>
                        <a:t>Baxtsiz hodisadan keyin ikkinchi</a:t>
                      </a:r>
                    </a:p>
                  </a:txBody>
                  <a:tcPr marL="73152" marR="73152" marT="36576" marB="36576">
                    <a:solidFill>
                      <a:srgbClr val="FFFFFF"/>
                    </a:solidFill>
                  </a:tcPr>
                </a:tc>
              </a:tr>
              <a:tr h="411480">
                <a:tc>
                  <a:txBody>
                    <a:bodyPr/>
                    <a:lstStyle/>
                    <a:p>
                      <a:r>
                        <a:rPr sz="1200" b="0">
                          <a:solidFill>
                            <a:srgbClr val="1F2937"/>
                          </a:solidFill>
                        </a:rPr>
                        <a:t>Baxtsiz hodisa</a:t>
                      </a:r>
                    </a:p>
                  </a:txBody>
                  <a:tcPr marL="73152" marR="73152" marT="36576" marB="36576">
                    <a:solidFill>
                      <a:srgbClr val="E8EEF6"/>
                    </a:solidFill>
                  </a:tcPr>
                </a:tc>
                <a:tc>
                  <a:txBody>
                    <a:bodyPr/>
                    <a:lstStyle/>
                    <a:p>
                      <a:r>
                        <a:rPr sz="1200" b="0">
                          <a:solidFill>
                            <a:srgbClr val="1F2937"/>
                          </a:solidFill>
                        </a:rPr>
                        <a:t>Tasodifan</a:t>
                      </a:r>
                    </a:p>
                  </a:txBody>
                  <a:tcPr marL="73152" marR="73152" marT="36576" marB="36576">
                    <a:solidFill>
                      <a:srgbClr val="E8EEF6"/>
                    </a:solidFill>
                  </a:tcPr>
                </a:tc>
                <a:tc>
                  <a:txBody>
                    <a:bodyPr/>
                    <a:lstStyle/>
                    <a:p>
                      <a:r>
                        <a:rPr sz="1200" b="0">
                          <a:solidFill>
                            <a:srgbClr val="1F2937"/>
                          </a:solidFill>
                        </a:rPr>
                        <a:t>Eng ko‘p uchraydi</a:t>
                      </a:r>
                    </a:p>
                  </a:txBody>
                  <a:tcPr marL="73152" marR="73152" marT="36576" marB="36576">
                    <a:solidFill>
                      <a:srgbClr val="E8EEF6"/>
                    </a:solidFill>
                  </a:tcPr>
                </a:tc>
              </a:tr>
              <a:tr h="411480">
                <a:tc>
                  <a:txBody>
                    <a:bodyPr/>
                    <a:lstStyle/>
                    <a:p>
                      <a:r>
                        <a:rPr sz="1200" b="0">
                          <a:solidFill>
                            <a:srgbClr val="1F2937"/>
                          </a:solidFill>
                        </a:rPr>
                        <a:t>Yatrogen</a:t>
                      </a:r>
                    </a:p>
                  </a:txBody>
                  <a:tcPr marL="73152" marR="73152" marT="36576" marB="36576">
                    <a:solidFill>
                      <a:srgbClr val="FFFFFF"/>
                    </a:solidFill>
                  </a:tcPr>
                </a:tc>
                <a:tc>
                  <a:txBody>
                    <a:bodyPr/>
                    <a:lstStyle/>
                    <a:p>
                      <a:r>
                        <a:rPr sz="1200" b="0">
                          <a:solidFill>
                            <a:srgbClr val="1F2937"/>
                          </a:solidFill>
                        </a:rPr>
                        <a:t>Tasodifan</a:t>
                      </a:r>
                    </a:p>
                  </a:txBody>
                  <a:tcPr marL="73152" marR="73152" marT="36576" marB="36576">
                    <a:solidFill>
                      <a:srgbClr val="FFFFFF"/>
                    </a:solidFill>
                  </a:tcPr>
                </a:tc>
                <a:tc>
                  <a:txBody>
                    <a:bodyPr/>
                    <a:lstStyle/>
                    <a:p>
                      <a:r>
                        <a:rPr sz="1200" b="0">
                          <a:solidFill>
                            <a:srgbClr val="1F2937"/>
                          </a:solidFill>
                        </a:rPr>
                        <a:t>Doza xatosi yoki dori almashishi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mutlaq zahar yoki mutlaq beziyon modda bormi? Javob: yo‘q, zahar nisbiy tushuncha.</a:t>
            </a:r>
          </a:p>
          <a:p>
            <a:pPr>
              <a:spcAft>
                <a:spcPts val="1200"/>
              </a:spcAft>
            </a:pPr>
            <a:r>
              <a:rPr sz="2200">
                <a:solidFill>
                  <a:srgbClr val="1F2937"/>
                </a:solidFill>
                <a:latin typeface="Calibri"/>
              </a:rPr>
              <a:t>▸  Savol 2: Paratsels bo‘yicha moddani doriga yoki zaharga nima aylantiradi? Javob: doza.</a:t>
            </a:r>
          </a:p>
          <a:p>
            <a:pPr>
              <a:spcAft>
                <a:spcPts val="1200"/>
              </a:spcAft>
            </a:pPr>
            <a:r>
              <a:rPr sz="2200">
                <a:solidFill>
                  <a:srgbClr val="1F2937"/>
                </a:solidFill>
                <a:latin typeface="Calibri"/>
              </a:rPr>
              <a:t>▸  Savol 3: yatrogen zaharlanish nima? Javob: tibbiy muolajada doza xatosi yoki bir dori o‘rniga boshqasini qo‘llash.</a:t>
            </a:r>
          </a:p>
          <a:p>
            <a:pPr>
              <a:spcAft>
                <a:spcPts val="1200"/>
              </a:spcAft>
            </a:pPr>
            <a:r>
              <a:rPr sz="2200">
                <a:solidFill>
                  <a:srgbClr val="1F2937"/>
                </a:solidFill>
                <a:latin typeface="Calibri"/>
              </a:rPr>
              <a:t>▸  Diqqat: zaharlanish (sog‘liqning buzilishi) ≠ zahar (modda) ≠ toksikologiya (fan). Bu uch tushunchani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 tasnifi (sabab, joy, kirish yo‘li)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Etiopatogenetik tamoyil zaharlanishni sabab, paydo bo‘lish joyi va zahar kirish yo‘li bo‘yicha ajratadi.</a:t>
            </a:r>
          </a:p>
          <a:p>
            <a:pPr>
              <a:spcAft>
                <a:spcPts val="800"/>
              </a:spcAft>
            </a:pPr>
            <a:r>
              <a:rPr sz="1800">
                <a:solidFill>
                  <a:srgbClr val="1F2937"/>
                </a:solidFill>
                <a:latin typeface="Calibri"/>
              </a:rPr>
              <a:t>▸  Klinik tamoyil kechish, og‘irlik, asorat va oqibatni; nozologik tamoyil zahar nomini hisobga oladi.</a:t>
            </a:r>
          </a:p>
          <a:p>
            <a:pPr>
              <a:spcAft>
                <a:spcPts val="800"/>
              </a:spcAft>
            </a:pPr>
            <a:r>
              <a:rPr sz="1800">
                <a:solidFill>
                  <a:srgbClr val="1F2937"/>
                </a:solidFill>
                <a:latin typeface="Calibri"/>
              </a:rPr>
              <a:t>▸  Kirish yo‘li: peroral — og‘iz, ingalyatsion — nafas yo‘llari, perkutan — teri orqali.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31800"/>
                <a:gridCol w="2257062"/>
                <a:gridCol w="1999112"/>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Turlari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Sabab</a:t>
                      </a:r>
                    </a:p>
                  </a:txBody>
                  <a:tcPr marL="73152" marR="73152" marT="36576" marB="36576">
                    <a:solidFill>
                      <a:srgbClr val="E8EEF6"/>
                    </a:solidFill>
                  </a:tcPr>
                </a:tc>
                <a:tc>
                  <a:txBody>
                    <a:bodyPr/>
                    <a:lstStyle/>
                    <a:p>
                      <a:r>
                        <a:rPr sz="1200" b="0">
                          <a:solidFill>
                            <a:srgbClr val="1F2937"/>
                          </a:solidFill>
                        </a:rPr>
                        <a:t>Tasodifiy / qasddan</a:t>
                      </a:r>
                    </a:p>
                  </a:txBody>
                  <a:tcPr marL="73152" marR="73152" marT="36576" marB="36576">
                    <a:solidFill>
                      <a:srgbClr val="E8EEF6"/>
                    </a:solidFill>
                  </a:tcPr>
                </a:tc>
                <a:tc>
                  <a:txBody>
                    <a:bodyPr/>
                    <a:lstStyle/>
                    <a:p>
                      <a:r>
                        <a:rPr sz="1200" b="0">
                          <a:solidFill>
                            <a:srgbClr val="1F2937"/>
                          </a:solidFill>
                        </a:rPr>
                        <a:t>Dori o‘rniga boshqasini ichish</a:t>
                      </a:r>
                    </a:p>
                  </a:txBody>
                  <a:tcPr marL="73152" marR="73152" marT="36576" marB="36576">
                    <a:solidFill>
                      <a:srgbClr val="E8EEF6"/>
                    </a:solidFill>
                  </a:tcPr>
                </a:tc>
              </a:tr>
              <a:tr h="411480">
                <a:tc>
                  <a:txBody>
                    <a:bodyPr/>
                    <a:lstStyle/>
                    <a:p>
                      <a:r>
                        <a:rPr sz="1200" b="0">
                          <a:solidFill>
                            <a:srgbClr val="1F2937"/>
                          </a:solidFill>
                        </a:rPr>
                        <a:t>Joy</a:t>
                      </a:r>
                    </a:p>
                  </a:txBody>
                  <a:tcPr marL="73152" marR="73152" marT="36576" marB="36576">
                    <a:solidFill>
                      <a:srgbClr val="FFFFFF"/>
                    </a:solidFill>
                  </a:tcPr>
                </a:tc>
                <a:tc>
                  <a:txBody>
                    <a:bodyPr/>
                    <a:lstStyle/>
                    <a:p>
                      <a:r>
                        <a:rPr sz="1200" b="0">
                          <a:solidFill>
                            <a:srgbClr val="1F2937"/>
                          </a:solidFill>
                        </a:rPr>
                        <a:t>Ishlab chiqarish, maishiy, yatrogen</a:t>
                      </a:r>
                    </a:p>
                  </a:txBody>
                  <a:tcPr marL="73152" marR="73152" marT="36576" marB="36576">
                    <a:solidFill>
                      <a:srgbClr val="FFFFFF"/>
                    </a:solidFill>
                  </a:tcPr>
                </a:tc>
                <a:tc>
                  <a:txBody>
                    <a:bodyPr/>
                    <a:lstStyle/>
                    <a:p>
                      <a:r>
                        <a:rPr sz="1200" b="0">
                          <a:solidFill>
                            <a:srgbClr val="1F2937"/>
                          </a:solidFill>
                        </a:rPr>
                        <a:t>Korxonadagi avariya</a:t>
                      </a:r>
                    </a:p>
                  </a:txBody>
                  <a:tcPr marL="73152" marR="73152" marT="36576" marB="36576">
                    <a:solidFill>
                      <a:srgbClr val="FFFFFF"/>
                    </a:solidFill>
                  </a:tcPr>
                </a:tc>
              </a:tr>
              <a:tr h="411480">
                <a:tc>
                  <a:txBody>
                    <a:bodyPr/>
                    <a:lstStyle/>
                    <a:p>
                      <a:r>
                        <a:rPr sz="1200" b="0">
                          <a:solidFill>
                            <a:srgbClr val="1F2937"/>
                          </a:solidFill>
                        </a:rPr>
                        <a:t>Kirish yo‘li</a:t>
                      </a:r>
                    </a:p>
                  </a:txBody>
                  <a:tcPr marL="73152" marR="73152" marT="36576" marB="36576">
                    <a:solidFill>
                      <a:srgbClr val="E8EEF6"/>
                    </a:solidFill>
                  </a:tcPr>
                </a:tc>
                <a:tc>
                  <a:txBody>
                    <a:bodyPr/>
                    <a:lstStyle/>
                    <a:p>
                      <a:r>
                        <a:rPr sz="1200" b="0">
                          <a:solidFill>
                            <a:srgbClr val="1F2937"/>
                          </a:solidFill>
                        </a:rPr>
                        <a:t>Peroral, ingalyatsion, perkutan</a:t>
                      </a:r>
                    </a:p>
                  </a:txBody>
                  <a:tcPr marL="73152" marR="73152" marT="36576" marB="36576">
                    <a:solidFill>
                      <a:srgbClr val="E8EEF6"/>
                    </a:solidFill>
                  </a:tcPr>
                </a:tc>
                <a:tc>
                  <a:txBody>
                    <a:bodyPr/>
                    <a:lstStyle/>
                    <a:p>
                      <a:r>
                        <a:rPr sz="1200" b="0">
                          <a:solidFill>
                            <a:srgbClr val="1F2937"/>
                          </a:solidFill>
                        </a:rPr>
                        <a:t>Og‘iz, nafas yo‘li, teri</a:t>
                      </a:r>
                    </a:p>
                  </a:txBody>
                  <a:tcPr marL="73152" marR="73152" marT="36576" marB="36576">
                    <a:solidFill>
                      <a:srgbClr val="E8EEF6"/>
                    </a:solidFill>
                  </a:tcPr>
                </a:tc>
              </a:tr>
              <a:tr h="411480">
                <a:tc>
                  <a:txBody>
                    <a:bodyPr/>
                    <a:lstStyle/>
                    <a:p>
                      <a:r>
                        <a:rPr sz="1200" b="0">
                          <a:solidFill>
                            <a:srgbClr val="1F2937"/>
                          </a:solidFill>
                        </a:rPr>
                        <a:t>Nozologik</a:t>
                      </a:r>
                    </a:p>
                  </a:txBody>
                  <a:tcPr marL="73152" marR="73152" marT="36576" marB="36576">
                    <a:solidFill>
                      <a:srgbClr val="FFFFFF"/>
                    </a:solidFill>
                  </a:tcPr>
                </a:tc>
                <a:tc>
                  <a:txBody>
                    <a:bodyPr/>
                    <a:lstStyle/>
                    <a:p>
                      <a:r>
                        <a:rPr sz="1200" b="0">
                          <a:solidFill>
                            <a:srgbClr val="1F2937"/>
                          </a:solidFill>
                        </a:rPr>
                        <a:t>Zahar yoki guruh nomi bo‘yicha</a:t>
                      </a:r>
                    </a:p>
                  </a:txBody>
                  <a:tcPr marL="73152" marR="73152" marT="36576" marB="36576">
                    <a:solidFill>
                      <a:srgbClr val="FFFFFF"/>
                    </a:solidFill>
                  </a:tcPr>
                </a:tc>
                <a:tc>
                  <a:txBody>
                    <a:bodyPr/>
                    <a:lstStyle/>
                    <a:p>
                      <a:r>
                        <a:rPr sz="1200" b="0">
                          <a:solidFill>
                            <a:srgbClr val="1F2937"/>
                          </a:solidFill>
                        </a:rPr>
                        <a:t>Metanol, is gazi, uyqu dorilari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Etiopatogenetik tasnif</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vujudga kelishida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shart-sharoit.</a:t>
            </a:r>
          </a:p>
          <a:p>
            <a:pPr>
              <a:spcAft>
                <a:spcPts val="800"/>
              </a:spcAft>
            </a:pPr>
            <a:r>
              <a:rPr sz="1800">
                <a:solidFill>
                  <a:srgbClr val="1F2937"/>
                </a:solidFill>
                <a:latin typeface="Calibri"/>
              </a:rPr>
              <a:t>▸  Baizoldanov omillarni asosiy (zahar va jabrlanuvchi) va qo‘shimcha (muhit, vaziyat) guruhlarga bo‘ladi.</a:t>
            </a:r>
          </a:p>
          <a:p>
            <a:pPr>
              <a:spcAft>
                <a:spcPts val="800"/>
              </a:spcAft>
            </a:pPr>
            <a:r>
              <a:rPr sz="1800">
                <a:solidFill>
                  <a:srgbClr val="1F2937"/>
                </a:solidFill>
                <a:latin typeface="Calibri"/>
              </a:rPr>
              <a:t>▸  Tashqi shart-sharoit faqat ayrim moddalarda muhim: is gazi, alkogol, vodorod sulfid.</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shart-sharoit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oqibati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sxemasi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135; Baizoldanov T. (Байзолданов Т.)., Токсикологическая химия: учебник, betlar: 76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tuzilish xossani belgilaydi: is gazi va karbonat angidrid o‘xshash atomlardan iborat bo‘lsa-da, toksikligi har xil.</a:t>
            </a:r>
          </a:p>
          <a:p>
            <a:pPr>
              <a:spcAft>
                <a:spcPts val="1200"/>
              </a:spcAft>
            </a:pPr>
            <a:r>
              <a:rPr sz="2200">
                <a:solidFill>
                  <a:srgbClr val="1F2937"/>
                </a:solidFill>
                <a:latin typeface="Calibri"/>
              </a:rPr>
              <a:t>▸  Doza va konsentratsiya hal qiladi: 3% sirka kislota bilan sirka essensiyasi ta’sirini taqqoslab bo‘lmaydi.</a:t>
            </a:r>
          </a:p>
          <a:p>
            <a:pPr>
              <a:spcAft>
                <a:spcPts val="1200"/>
              </a:spcAft>
            </a:pPr>
            <a:r>
              <a:rPr sz="2200">
                <a:solidFill>
                  <a:srgbClr val="1F2937"/>
                </a:solidFill>
                <a:latin typeface="Calibri"/>
              </a:rPr>
              <a:t>▸  Gaz suyuqlikdan kuchliroq ta’sir qiladi. Diqqat: bariy sulfat (erimaydi) ≠ bariy xlorid (kuchli zahar).</a:t>
            </a:r>
          </a:p>
          <a:p>
            <a:pPr>
              <a:spcAft>
                <a:spcPts val="1200"/>
              </a:spcAft>
            </a:pPr>
            <a:r>
              <a:rPr sz="2200">
                <a:solidFill>
                  <a:srgbClr val="1F2937"/>
                </a:solidFill>
                <a:latin typeface="Calibri"/>
              </a:rPr>
              <a:t>▸  Saqlash barqarorligi ham muhim. Vexikulum ta’sirni o‘zgartiradi: margimush ishqorda, sianid kislotada kuchayadi; og‘ir metallar to‘planadi.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massasi ta’sirni belgilaydi; dori dozasi 1 kg vaznga hisoblanadi. Bolalar sezgirroq: vazni kichik, qarshilik tizimi to‘liq emas.</a:t>
            </a:r>
          </a:p>
          <a:p>
            <a:pPr>
              <a:spcAft>
                <a:spcPts val="1200"/>
              </a:spcAft>
            </a:pPr>
            <a:r>
              <a:rPr sz="2200">
                <a:solidFill>
                  <a:srgbClr val="1F2937"/>
                </a:solidFill>
                <a:latin typeface="Calibri"/>
              </a:rPr>
              <a:t>▸  Jinsga ko‘ra toksik ta’sirda farq bo‘lmaydi, lekin homiladorlikda ayollar sezgirligi ortadi.</a:t>
            </a:r>
          </a:p>
          <a:p>
            <a:pPr>
              <a:spcAft>
                <a:spcPts val="1200"/>
              </a:spcAft>
            </a:pPr>
            <a:r>
              <a:rPr sz="2200">
                <a:solidFill>
                  <a:srgbClr val="1F2937"/>
                </a:solidFill>
                <a:latin typeface="Calibri"/>
              </a:rPr>
              <a:t>▸  Sog‘lom organizm kuchliroq qarshilik qiladi; yurak, jigar, buyrak kasalligida qarshilik cheklanadi. Oshqozondagi massa so‘rilishni o‘zgartiradi.</a:t>
            </a:r>
          </a:p>
          <a:p>
            <a:pPr>
              <a:spcAft>
                <a:spcPts val="1200"/>
              </a:spcAft>
            </a:pPr>
            <a:r>
              <a:rPr sz="2200">
                <a:solidFill>
                  <a:srgbClr val="1F2937"/>
                </a:solidFill>
                <a:latin typeface="Calibri"/>
              </a:rPr>
              <a:t>▸  Genetika: xolinesteraza past bo‘lsa miorelaksantlar kuchayadi; glyukoza-6-fosfatdegidrogenaza (G6PD) yetishmasa sulfanilamidlarga sezgirlik oshadi. Idiosinkraziya ham genetik.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 zaharga sezgirligi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kattalarga qaraganda zaharga sezgirroq: ularning vazni kichik, umumiy qarshilik tizimi esa hali to‘liq shakllanmagan.</a:t>
            </a:r>
          </a:p>
          <a:p>
            <a:pPr>
              <a:spcAft>
                <a:spcPts val="1200"/>
              </a:spcAft>
            </a:pPr>
            <a:r>
              <a:rPr sz="2200">
                <a:solidFill>
                  <a:srgbClr val="1F2937"/>
                </a:solidFill>
                <a:latin typeface="Calibri"/>
              </a:rPr>
              <a:t>▸  Dori va zahar dozasi bir kilogramm vaznga hisoblanadi. Bir xil miqdor vazni turlicha kishilarga bir xil ta’sir qilmaydi.</a:t>
            </a:r>
          </a:p>
          <a:p>
            <a:pPr>
              <a:spcAft>
                <a:spcPts val="1200"/>
              </a:spcAft>
            </a:pPr>
            <a:r>
              <a:rPr sz="2200">
                <a:solidFill>
                  <a:srgbClr val="1F2937"/>
                </a:solidFill>
                <a:latin typeface="Calibri"/>
              </a:rPr>
              <a:t>▸  Ko‘krak yoshidagi bolalar opiy va alkogolga juda sezgir, strixninga nisbatan kam. Uch yoshli bola kichik qadah aroqdan o‘lgani adabiyotda keltirilgan.</a:t>
            </a:r>
          </a:p>
          <a:p>
            <a:pPr>
              <a:spcAft>
                <a:spcPts val="1200"/>
              </a:spcAft>
            </a:pPr>
            <a:r>
              <a:rPr sz="2200">
                <a:solidFill>
                  <a:srgbClr val="1F2937"/>
                </a:solidFill>
                <a:latin typeface="Calibri"/>
              </a:rPr>
              <a:t>▸  Diqqat: bola dozasi kattalar dozasining oddiy kichraytirilgani emas. Yoshga xos sezgirlik ham hisobga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133-134; Iskandarov A.I., Qo‘ldoshev D.R., Sud tibbiyoti, betlar: 287; Baizoldanov T. (Байзолданов Т.)., Токсикологическая химия: учебник, betlar: 78-79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abstinensiya, idiosinkraziya, narkomaniya va toksikomaniya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Takroriy qabul tolerantlik (o‘rganib qolish) hosil qiladi; giyohvandlikda ruhiy va jismoniy bog‘liqlik qo‘shiladi.</a:t>
            </a:r>
          </a:p>
          <a:p>
            <a:pPr>
              <a:spcAft>
                <a:spcPts val="800"/>
              </a:spcAft>
            </a:pPr>
            <a:r>
              <a:rPr sz="1800">
                <a:solidFill>
                  <a:srgbClr val="1F2937"/>
                </a:solidFill>
                <a:latin typeface="Calibri"/>
              </a:rPr>
              <a:t>▸  Ro‘yxatga kiritilgan modda – narkomaniya; ro‘yxatda yo‘q modda – toksikomaniya.</a:t>
            </a:r>
          </a:p>
          <a:p>
            <a:pPr>
              <a:spcAft>
                <a:spcPts val="800"/>
              </a:spcAft>
            </a:pPr>
            <a:r>
              <a:rPr sz="1800">
                <a:solidFill>
                  <a:srgbClr val="1F2937"/>
                </a:solidFill>
                <a:latin typeface="Calibri"/>
              </a:rPr>
              <a:t>▸  Diqqat: tolerantlik ≠ idiosinkraziya – biri o‘rganib qolish, ikkinchisi o‘ta sezgirlik.</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29753"/>
                <a:gridCol w="2324384"/>
                <a:gridCol w="2033836"/>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Tolerantlik</a:t>
                      </a:r>
                    </a:p>
                  </a:txBody>
                  <a:tcPr marL="73152" marR="73152" marT="36576" marB="36576">
                    <a:solidFill>
                      <a:srgbClr val="E8EEF6"/>
                    </a:solidFill>
                  </a:tcPr>
                </a:tc>
                <a:tc>
                  <a:txBody>
                    <a:bodyPr/>
                    <a:lstStyle/>
                    <a:p>
                      <a:r>
                        <a:rPr sz="1200" b="0">
                          <a:solidFill>
                            <a:srgbClr val="1F2937"/>
                          </a:solidFill>
                        </a:rPr>
                        <a:t>Takroriy ta’sirda o‘rganib qolish</a:t>
                      </a:r>
                    </a:p>
                  </a:txBody>
                  <a:tcPr marL="73152" marR="73152" marT="36576" marB="36576">
                    <a:solidFill>
                      <a:srgbClr val="E8EEF6"/>
                    </a:solidFill>
                  </a:tcPr>
                </a:tc>
                <a:tc>
                  <a:txBody>
                    <a:bodyPr/>
                    <a:lstStyle/>
                    <a:p>
                      <a:r>
                        <a:rPr sz="1200" b="0">
                          <a:solidFill>
                            <a:srgbClr val="1F2937"/>
                          </a:solidFill>
                        </a:rPr>
                        <a:t>Uyqu dorilari, analgetiklar</a:t>
                      </a:r>
                    </a:p>
                  </a:txBody>
                  <a:tcPr marL="73152" marR="73152" marT="36576" marB="36576">
                    <a:solidFill>
                      <a:srgbClr val="E8EEF6"/>
                    </a:solidFill>
                  </a:tcPr>
                </a:tc>
              </a:tr>
              <a:tr h="411480">
                <a:tc>
                  <a:txBody>
                    <a:bodyPr/>
                    <a:lstStyle/>
                    <a:p>
                      <a:r>
                        <a:rPr sz="1200" b="0">
                          <a:solidFill>
                            <a:srgbClr val="1F2937"/>
                          </a:solidFill>
                        </a:rPr>
                        <a:t>Idiosinkraziya</a:t>
                      </a:r>
                    </a:p>
                  </a:txBody>
                  <a:tcPr marL="73152" marR="73152" marT="36576" marB="36576">
                    <a:solidFill>
                      <a:srgbClr val="FFFFFF"/>
                    </a:solidFill>
                  </a:tcPr>
                </a:tc>
                <a:tc>
                  <a:txBody>
                    <a:bodyPr/>
                    <a:lstStyle/>
                    <a:p>
                      <a:r>
                        <a:rPr sz="1200" b="0">
                          <a:solidFill>
                            <a:srgbClr val="1F2937"/>
                          </a:solidFill>
                        </a:rPr>
                        <a:t>Moddaga o‘ta sezgirlik (genetik)</a:t>
                      </a:r>
                    </a:p>
                  </a:txBody>
                  <a:tcPr marL="73152" marR="73152" marT="36576" marB="36576">
                    <a:solidFill>
                      <a:srgbClr val="FFFFFF"/>
                    </a:solidFill>
                  </a:tcPr>
                </a:tc>
                <a:tc>
                  <a:txBody>
                    <a:bodyPr/>
                    <a:lstStyle/>
                    <a:p>
                      <a:r>
                        <a:rPr sz="1200" b="0">
                          <a:solidFill>
                            <a:srgbClr val="1F2937"/>
                          </a:solidFill>
                        </a:rPr>
                        <a:t>Antibiotiklar, xinin, yod, novokain</a:t>
                      </a:r>
                    </a:p>
                  </a:txBody>
                  <a:tcPr marL="73152" marR="73152" marT="36576" marB="36576">
                    <a:solidFill>
                      <a:srgbClr val="FFFFFF"/>
                    </a:solidFill>
                  </a:tcPr>
                </a:tc>
              </a:tr>
              <a:tr h="411480">
                <a:tc>
                  <a:txBody>
                    <a:bodyPr/>
                    <a:lstStyle/>
                    <a:p>
                      <a:r>
                        <a:rPr sz="1200" b="0">
                          <a:solidFill>
                            <a:srgbClr val="1F2937"/>
                          </a:solidFill>
                        </a:rPr>
                        <a:t>Abstinensiya</a:t>
                      </a:r>
                    </a:p>
                  </a:txBody>
                  <a:tcPr marL="73152" marR="73152" marT="36576" marB="36576">
                    <a:solidFill>
                      <a:srgbClr val="E8EEF6"/>
                    </a:solidFill>
                  </a:tcPr>
                </a:tc>
                <a:tc>
                  <a:txBody>
                    <a:bodyPr/>
                    <a:lstStyle/>
                    <a:p>
                      <a:r>
                        <a:rPr sz="1200" b="0">
                          <a:solidFill>
                            <a:srgbClr val="1F2937"/>
                          </a:solidFill>
                        </a:rPr>
                        <a:t>Qabul qilinmaganda yuzaga keladigan sindrom</a:t>
                      </a:r>
                    </a:p>
                  </a:txBody>
                  <a:tcPr marL="73152" marR="73152" marT="36576" marB="36576">
                    <a:solidFill>
                      <a:srgbClr val="E8EEF6"/>
                    </a:solidFill>
                  </a:tcPr>
                </a:tc>
                <a:tc>
                  <a:txBody>
                    <a:bodyPr/>
                    <a:lstStyle/>
                    <a:p>
                      <a:r>
                        <a:rPr sz="1200" b="0">
                          <a:solidFill>
                            <a:srgbClr val="1F2937"/>
                          </a:solidFill>
                        </a:rPr>
                        <a:t>Narkomaniya, toksikomaniyada</a:t>
                      </a:r>
                    </a:p>
                  </a:txBody>
                  <a:tcPr marL="73152" marR="73152" marT="36576" marB="36576">
                    <a:solidFill>
                      <a:srgbClr val="E8EEF6"/>
                    </a:solidFill>
                  </a:tcPr>
                </a:tc>
              </a:tr>
              <a:tr h="411480">
                <a:tc>
                  <a:txBody>
                    <a:bodyPr/>
                    <a:lstStyle/>
                    <a:p>
                      <a:r>
                        <a:rPr sz="1200" b="0">
                          <a:solidFill>
                            <a:srgbClr val="1F2937"/>
                          </a:solidFill>
                        </a:rPr>
                        <a:t>Toksikomaniya</a:t>
                      </a:r>
                    </a:p>
                  </a:txBody>
                  <a:tcPr marL="73152" marR="73152" marT="36576" marB="36576">
                    <a:solidFill>
                      <a:srgbClr val="FFFFFF"/>
                    </a:solidFill>
                  </a:tcPr>
                </a:tc>
                <a:tc>
                  <a:txBody>
                    <a:bodyPr/>
                    <a:lstStyle/>
                    <a:p>
                      <a:r>
                        <a:rPr sz="1200" b="0">
                          <a:solidFill>
                            <a:srgbClr val="1F2937"/>
                          </a:solidFill>
                        </a:rPr>
                        <a:t>Ro‘yxatda yo‘q modda suiste’moli</a:t>
                      </a:r>
                    </a:p>
                  </a:txBody>
                  <a:tcPr marL="73152" marR="73152" marT="36576" marB="36576">
                    <a:solidFill>
                      <a:srgbClr val="FFFFFF"/>
                    </a:solidFill>
                  </a:tcPr>
                </a:tc>
                <a:tc>
                  <a:txBody>
                    <a:bodyPr/>
                    <a:lstStyle/>
                    <a:p>
                      <a:r>
                        <a:rPr sz="1200" b="0">
                          <a:solidFill>
                            <a:srgbClr val="1F2937"/>
                          </a:solidFill>
                        </a:rPr>
                        <a:t>Texnik suyuqlik, maishiy kimyo</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Solishtirma jadval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Baizoldanov T. (Байзолданов Т.)., Токсикологическая химия: учебник, betlar: 60-61; Iskandarov A.I., Qo‘ldoshev D.R., Sud tibbiyoti, betlar: 288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organizmga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teri, og‘iz, nafas yo‘llari, to‘g‘ri ichak yoki in’eksiya orqali kiradi. Qonga qancha tez va to‘liq o‘tsa, ta’sir shuncha kuchli.</a:t>
            </a:r>
          </a:p>
          <a:p>
            <a:pPr>
              <a:spcAft>
                <a:spcPts val="1200"/>
              </a:spcAft>
            </a:pPr>
            <a:r>
              <a:rPr sz="2200">
                <a:solidFill>
                  <a:srgbClr val="1F2937"/>
                </a:solidFill>
                <a:latin typeface="Calibri"/>
              </a:rPr>
              <a:t>▸  Yog‘da yaxshi eriydigan moddalar (masalan, fosfororganik) shikastlanmagan teri orqali ham so‘riladi. Suvda va yog‘da erimaydiganlar faqat mahalliy ta’sir qiladi.</a:t>
            </a:r>
          </a:p>
          <a:p>
            <a:pPr>
              <a:spcAft>
                <a:spcPts val="1200"/>
              </a:spcAft>
            </a:pPr>
            <a:r>
              <a:rPr sz="2200">
                <a:solidFill>
                  <a:srgbClr val="1F2937"/>
                </a:solidFill>
                <a:latin typeface="Calibri"/>
              </a:rPr>
              <a:t>▸  Nafas yo‘llari, to‘g‘ri ichak va qin shilliq qavatidan so‘rilgan modda jigardan o‘tmaydi, shuning uchun kuchliroq ta’sir qiladi.</a:t>
            </a:r>
          </a:p>
          <a:p>
            <a:pPr>
              <a:spcAft>
                <a:spcPts val="1200"/>
              </a:spcAft>
            </a:pPr>
            <a:r>
              <a:rPr sz="2200">
                <a:solidFill>
                  <a:srgbClr val="1F2937"/>
                </a:solidFill>
                <a:latin typeface="Calibri"/>
              </a:rPr>
              <a:t>▸  Zahar platsenta orqali onadan homilaga o‘tishi mumkin. Ingalyatsiyada alveolalarning katta yuzasi tez so‘rilishni ta’minlaydi.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 Baizoldanov T. (Байзолданов Т.)., Токсикологическая химия: учебник, betlar: 63-64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Tashqi muhit va zaharlanish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harorati va namligi baland yopiq muhit is gazi va alkogol bilan zaharlanishga moyillik yaratadi.</a:t>
            </a:r>
          </a:p>
          <a:p>
            <a:pPr>
              <a:spcAft>
                <a:spcPts val="800"/>
              </a:spcAft>
            </a:pPr>
            <a:r>
              <a:rPr sz="1800">
                <a:solidFill>
                  <a:srgbClr val="1F2937"/>
                </a:solidFill>
                <a:latin typeface="Calibri"/>
              </a:rPr>
              <a:t>▸  Ochiq muhit va past harorat ta’sirni susaytiradi; vodorod sulfid cheklangan muhitda (quduqlarda) uchraydi.</a:t>
            </a:r>
          </a:p>
          <a:p>
            <a:pPr>
              <a:spcAft>
                <a:spcPts val="800"/>
              </a:spcAft>
            </a:pPr>
            <a:r>
              <a:rPr sz="1800">
                <a:solidFill>
                  <a:srgbClr val="1F2937"/>
                </a:solidFill>
                <a:latin typeface="Calibri"/>
              </a:rPr>
              <a:t>▸  Davomiyligiga ko‘ra zaharlanish o‘tkir, o‘rtacha o‘tkir va surunkali davrlarga bo‘linadi.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95383"/>
                <a:gridCol w="2052978"/>
                <a:gridCol w="2239612"/>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O‘tkir</a:t>
                      </a:r>
                    </a:p>
                  </a:txBody>
                  <a:tcPr marL="73152" marR="73152" marT="36576" marB="36576">
                    <a:solidFill>
                      <a:srgbClr val="E8EEF6"/>
                    </a:solidFill>
                  </a:tcPr>
                </a:tc>
                <a:tc>
                  <a:txBody>
                    <a:bodyPr/>
                    <a:lstStyle/>
                    <a:p>
                      <a:r>
                        <a:rPr sz="1200" b="0">
                          <a:solidFill>
                            <a:srgbClr val="1F2937"/>
                          </a:solidFill>
                        </a:rPr>
                        <a:t>Daqiqalardan bir sutkagacha</a:t>
                      </a:r>
                    </a:p>
                  </a:txBody>
                  <a:tcPr marL="73152" marR="73152" marT="36576" marB="36576">
                    <a:solidFill>
                      <a:srgbClr val="E8EEF6"/>
                    </a:solidFill>
                  </a:tcPr>
                </a:tc>
                <a:tc>
                  <a:txBody>
                    <a:bodyPr/>
                    <a:lstStyle/>
                    <a:p>
                      <a:r>
                        <a:rPr sz="1200" b="0">
                          <a:solidFill>
                            <a:srgbClr val="1F2937"/>
                          </a:solidFill>
                        </a:rPr>
                        <a:t>Sianid kislotasi, is gazi</a:t>
                      </a:r>
                    </a:p>
                  </a:txBody>
                  <a:tcPr marL="73152" marR="73152" marT="36576" marB="36576">
                    <a:solidFill>
                      <a:srgbClr val="E8EEF6"/>
                    </a:solidFill>
                  </a:tcPr>
                </a:tc>
              </a:tr>
              <a:tr h="411480">
                <a:tc>
                  <a:txBody>
                    <a:bodyPr/>
                    <a:lstStyle/>
                    <a:p>
                      <a:r>
                        <a:rPr sz="1200" b="0">
                          <a:solidFill>
                            <a:srgbClr val="1F2937"/>
                          </a:solidFill>
                        </a:rPr>
                        <a:t>O‘rtacha o‘tkir</a:t>
                      </a:r>
                    </a:p>
                  </a:txBody>
                  <a:tcPr marL="73152" marR="73152" marT="36576" marB="36576">
                    <a:solidFill>
                      <a:srgbClr val="FFFFFF"/>
                    </a:solidFill>
                  </a:tcPr>
                </a:tc>
                <a:tc>
                  <a:txBody>
                    <a:bodyPr/>
                    <a:lstStyle/>
                    <a:p>
                      <a:r>
                        <a:rPr sz="1200" b="0">
                          <a:solidFill>
                            <a:srgbClr val="1F2937"/>
                          </a:solidFill>
                        </a:rPr>
                        <a:t>1-2 haftagacha</a:t>
                      </a:r>
                    </a:p>
                  </a:txBody>
                  <a:tcPr marL="73152" marR="73152" marT="36576" marB="36576">
                    <a:solidFill>
                      <a:srgbClr val="FFFFFF"/>
                    </a:solidFill>
                  </a:tcPr>
                </a:tc>
                <a:tc>
                  <a:txBody>
                    <a:bodyPr/>
                    <a:lstStyle/>
                    <a:p>
                      <a:r>
                        <a:rPr sz="1200" b="0">
                          <a:solidFill>
                            <a:srgbClr val="1F2937"/>
                          </a:solidFill>
                        </a:rPr>
                        <a:t>Simob dixloridi (sulema)</a:t>
                      </a:r>
                    </a:p>
                  </a:txBody>
                  <a:tcPr marL="73152" marR="73152" marT="36576" marB="36576">
                    <a:solidFill>
                      <a:srgbClr val="FFFFFF"/>
                    </a:solidFill>
                  </a:tcPr>
                </a:tc>
              </a:tr>
              <a:tr h="411480">
                <a:tc>
                  <a:txBody>
                    <a:bodyPr/>
                    <a:lstStyle/>
                    <a:p>
                      <a:r>
                        <a:rPr sz="1200" b="0">
                          <a:solidFill>
                            <a:srgbClr val="1F2937"/>
                          </a:solidFill>
                        </a:rPr>
                        <a:t>Surunkali</a:t>
                      </a:r>
                    </a:p>
                  </a:txBody>
                  <a:tcPr marL="73152" marR="73152" marT="36576" marB="36576">
                    <a:solidFill>
                      <a:srgbClr val="E8EEF6"/>
                    </a:solidFill>
                  </a:tcPr>
                </a:tc>
                <a:tc>
                  <a:txBody>
                    <a:bodyPr/>
                    <a:lstStyle/>
                    <a:p>
                      <a:r>
                        <a:rPr sz="1200" b="0">
                          <a:solidFill>
                            <a:srgbClr val="1F2937"/>
                          </a:solidFill>
                        </a:rPr>
                        <a:t>Uzoq muddat, qayta-qayta tushishi</a:t>
                      </a:r>
                    </a:p>
                  </a:txBody>
                  <a:tcPr marL="73152" marR="73152" marT="36576" marB="36576">
                    <a:solidFill>
                      <a:srgbClr val="E8EEF6"/>
                    </a:solidFill>
                  </a:tcPr>
                </a:tc>
                <a:tc>
                  <a:txBody>
                    <a:bodyPr/>
                    <a:lstStyle/>
                    <a:p>
                      <a:r>
                        <a:rPr sz="1200" b="0">
                          <a:solidFill>
                            <a:srgbClr val="1F2937"/>
                          </a:solidFill>
                        </a:rPr>
                        <a:t>Tetraetilqo‘rg‘oshin, yadoximikatlar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davrlari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Iskandarov A.I., Qo‘ldoshev D.R., Sud tibbiyoti, betlar: 289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bolada zaharlanish va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uch yoshli o‘g‘il bola kichik qadahdagi aroqni ichib, halok bo‘lgan.</a:t>
            </a:r>
          </a:p>
          <a:p>
            <a:pPr>
              <a:spcAft>
                <a:spcPts val="1200"/>
              </a:spcAft>
            </a:pPr>
            <a:r>
              <a:rPr sz="2200">
                <a:solidFill>
                  <a:srgbClr val="1F2937"/>
                </a:solidFill>
                <a:latin typeface="Calibri"/>
              </a:rPr>
              <a:t>▸  Vaziyat: 3 yoshli qizcha yiqilgach xushini yo‘qotib, talvasaga tushgan; ichki qon ketishga shubha qilinib, kalla suyagi ochilgan, qon topilmagan.</a:t>
            </a:r>
          </a:p>
          <a:p>
            <a:pPr>
              <a:spcAft>
                <a:spcPts val="1200"/>
              </a:spcAft>
            </a:pPr>
            <a:r>
              <a:rPr sz="2200">
                <a:solidFill>
                  <a:srgbClr val="1F2937"/>
                </a:solidFill>
                <a:latin typeface="Calibri"/>
              </a:rPr>
              <a:t>▸  Tekshiruvda miya bo‘kishi va oshqozonda piramidon topilgan: qizcha yiqilishdan oldin 10 tabletka ichgan.</a:t>
            </a:r>
          </a:p>
          <a:p>
            <a:pPr>
              <a:spcAft>
                <a:spcPts val="1200"/>
              </a:spcAft>
            </a:pPr>
            <a:r>
              <a:rPr sz="2200">
                <a:solidFill>
                  <a:srgbClr val="1F2937"/>
                </a:solidFill>
                <a:latin typeface="Calibri"/>
              </a:rPr>
              <a:t>▸  Savol: bolalar sezgirligini qaysi omillar oshiradi va ikkinchi holatda tashxisda qanday xato yuz bergan?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287, 294; G‘iyosov Z.A., Sud tibbiyoti: darslik, betlar: 134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voqea joyini mutaxassis bilan ko‘rish, ashyoviy dalillar olish, tibbiy hujjatlar bilan tanishish.</a:t>
            </a:r>
          </a:p>
          <a:p>
            <a:pPr>
              <a:spcAft>
                <a:spcPts val="800"/>
              </a:spcAft>
            </a:pPr>
            <a:r>
              <a:rPr sz="1800">
                <a:solidFill>
                  <a:srgbClr val="1F2937"/>
                </a:solidFill>
                <a:latin typeface="Calibri"/>
              </a:rPr>
              <a:t>▸  2-bosqich: murdada teri, murda dog‘lari rangi, hid, in’eksiya izlari va mushak qotishi baholanadi.</a:t>
            </a:r>
          </a:p>
          <a:p>
            <a:pPr>
              <a:spcAft>
                <a:spcPts val="800"/>
              </a:spcAft>
            </a:pPr>
            <a:r>
              <a:rPr sz="1800">
                <a:solidFill>
                  <a:srgbClr val="1F2937"/>
                </a:solidFill>
                <a:latin typeface="Calibri"/>
              </a:rPr>
              <a:t>▸  3-bosqich: gistologik, sud-kimyoviy kabi laboratoriya tekshiruvlari; xulosa ishonchliligini ular belgilaydi.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Voqea joyi, tibbiy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Murdani tashqi va ichki ko‘rish</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tekshiruvlari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bosqichlari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 tekshirishda zaharlanishni ko‘rsatuvchi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dog‘lari rangi zahar turiga ishora qiladi. Gemoliz chaqiruvchi zaharlarda esa teri sarg‘ish tusga kiradi.</a:t>
            </a:r>
          </a:p>
          <a:p>
            <a:pPr>
              <a:spcAft>
                <a:spcPts val="800"/>
              </a:spcAft>
            </a:pPr>
            <a:r>
              <a:rPr sz="1800">
                <a:solidFill>
                  <a:srgbClr val="1F2937"/>
                </a:solidFill>
                <a:latin typeface="Calibri"/>
              </a:rPr>
              <a:t>▸  Qotish strixninda tez va kuchli, kurarada sust. Achchiq bodom hidi sianidni, o‘tkir hid sirkani bildiradi.</a:t>
            </a:r>
          </a:p>
          <a:p>
            <a:pPr>
              <a:spcAft>
                <a:spcPts val="800"/>
              </a:spcAft>
            </a:pPr>
            <a:r>
              <a:rPr sz="1800">
                <a:solidFill>
                  <a:srgbClr val="1F2937"/>
                </a:solidFill>
                <a:latin typeface="Calibri"/>
              </a:rPr>
              <a:t>▸  Diqqat: ko‘p funksional zaharlarda murdada o‘ziga xos belgi bo‘lmasligi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85955"/>
                <a:gridCol w="2602019"/>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Zahar</a:t>
                      </a:r>
                    </a:p>
                  </a:txBody>
                  <a:tcPr marL="73152" marR="73152" marT="36576" marB="36576">
                    <a:solidFill>
                      <a:srgbClr val="0B1F3A"/>
                    </a:solidFill>
                  </a:tcPr>
                </a:tc>
              </a:tr>
              <a:tr h="411480">
                <a:tc>
                  <a:txBody>
                    <a:bodyPr/>
                    <a:lstStyle/>
                    <a:p>
                      <a:r>
                        <a:rPr sz="1300" b="0">
                          <a:solidFill>
                            <a:srgbClr val="1F2937"/>
                          </a:solidFill>
                        </a:rPr>
                        <a:t>Murda dog‘lari pushti</a:t>
                      </a:r>
                    </a:p>
                  </a:txBody>
                  <a:tcPr marL="73152" marR="73152" marT="36576" marB="36576">
                    <a:solidFill>
                      <a:srgbClr val="E8EEF6"/>
                    </a:solidFill>
                  </a:tcPr>
                </a:tc>
                <a:tc>
                  <a:txBody>
                    <a:bodyPr/>
                    <a:lstStyle/>
                    <a:p>
                      <a:r>
                        <a:rPr sz="1300" b="0">
                          <a:solidFill>
                            <a:srgbClr val="1F2937"/>
                          </a:solidFill>
                        </a:rPr>
                        <a:t>Is gazi</a:t>
                      </a:r>
                    </a:p>
                  </a:txBody>
                  <a:tcPr marL="73152" marR="73152" marT="36576" marB="36576">
                    <a:solidFill>
                      <a:srgbClr val="E8EEF6"/>
                    </a:solidFill>
                  </a:tcPr>
                </a:tc>
              </a:tr>
              <a:tr h="411480">
                <a:tc>
                  <a:txBody>
                    <a:bodyPr/>
                    <a:lstStyle/>
                    <a:p>
                      <a:r>
                        <a:rPr sz="1300" b="0">
                          <a:solidFill>
                            <a:srgbClr val="1F2937"/>
                          </a:solidFill>
                        </a:rPr>
                        <a:t>Dog‘lar yorqin olcha rang</a:t>
                      </a:r>
                    </a:p>
                  </a:txBody>
                  <a:tcPr marL="73152" marR="73152" marT="36576" marB="36576">
                    <a:solidFill>
                      <a:srgbClr val="FFFFFF"/>
                    </a:solidFill>
                  </a:tcPr>
                </a:tc>
                <a:tc>
                  <a:txBody>
                    <a:bodyPr/>
                    <a:lstStyle/>
                    <a:p>
                      <a:r>
                        <a:rPr sz="1300" b="0">
                          <a:solidFill>
                            <a:srgbClr val="1F2937"/>
                          </a:solidFill>
                        </a:rPr>
                        <a:t>Sianid kislotasi yoki tuzlari</a:t>
                      </a:r>
                    </a:p>
                  </a:txBody>
                  <a:tcPr marL="73152" marR="73152" marT="36576" marB="36576">
                    <a:solidFill>
                      <a:srgbClr val="FFFFFF"/>
                    </a:solidFill>
                  </a:tcPr>
                </a:tc>
              </a:tr>
              <a:tr h="411480">
                <a:tc>
                  <a:txBody>
                    <a:bodyPr/>
                    <a:lstStyle/>
                    <a:p>
                      <a:r>
                        <a:rPr sz="1300" b="0">
                          <a:solidFill>
                            <a:srgbClr val="1F2937"/>
                          </a:solidFill>
                        </a:rPr>
                        <a:t>Dog‘lar jigar rang, qo‘ng‘ir</a:t>
                      </a:r>
                    </a:p>
                  </a:txBody>
                  <a:tcPr marL="73152" marR="73152" marT="36576" marB="36576">
                    <a:solidFill>
                      <a:srgbClr val="E8EEF6"/>
                    </a:solidFill>
                  </a:tcPr>
                </a:tc>
                <a:tc>
                  <a:txBody>
                    <a:bodyPr/>
                    <a:lstStyle/>
                    <a:p>
                      <a:r>
                        <a:rPr sz="1300" b="0">
                          <a:solidFill>
                            <a:srgbClr val="1F2937"/>
                          </a:solidFill>
                        </a:rPr>
                        <a:t>Metgemoglobin hosil qiluvchilar</a:t>
                      </a:r>
                    </a:p>
                  </a:txBody>
                  <a:tcPr marL="73152" marR="73152" marT="36576" marB="36576">
                    <a:solidFill>
                      <a:srgbClr val="E8EEF6"/>
                    </a:solidFill>
                  </a:tcPr>
                </a:tc>
              </a:tr>
              <a:tr h="411480">
                <a:tc>
                  <a:txBody>
                    <a:bodyPr/>
                    <a:lstStyle/>
                    <a:p>
                      <a:r>
                        <a:rPr sz="1300" b="0">
                          <a:solidFill>
                            <a:srgbClr val="1F2937"/>
                          </a:solidFill>
                        </a:rPr>
                        <a:t>Ko‘z qorachig‘i keskin kengaygan</a:t>
                      </a:r>
                    </a:p>
                  </a:txBody>
                  <a:tcPr marL="73152" marR="73152" marT="36576" marB="36576">
                    <a:solidFill>
                      <a:srgbClr val="FFFFFF"/>
                    </a:solidFill>
                  </a:tcPr>
                </a:tc>
                <a:tc>
                  <a:txBody>
                    <a:bodyPr/>
                    <a:lstStyle/>
                    <a:p>
                      <a:r>
                        <a:rPr sz="1300" b="0">
                          <a:solidFill>
                            <a:srgbClr val="1F2937"/>
                          </a:solidFill>
                        </a:rPr>
                        <a:t>Atropin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va zahar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material 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Laboratoriya tekshiruvlari ichida eng ko‘p sud-kimyoviy tekshiruv o‘tkaziladi. Zahar ma’lum bo‘lsa, namuna “uch nuqta” qoidasi bilan olinadi: zahar kirgan, ta’sir etgan va chiqqan joydan.</a:t>
            </a:r>
          </a:p>
          <a:p>
            <a:pPr>
              <a:spcAft>
                <a:spcPts val="1200"/>
              </a:spcAft>
            </a:pPr>
            <a:r>
              <a:rPr sz="2000">
                <a:solidFill>
                  <a:srgbClr val="1F2937"/>
                </a:solidFill>
                <a:latin typeface="Calibri"/>
              </a:rPr>
              <a:t>▸  Zahar noma’lum bo‘lsa: miyaning 1/3, o‘pkaning 1/4, jigarning 1/3 o‘t qopi bilan, buyrak, oshqozon massasi, ichak, 100–200 ml qon olinadi. Chuqur chirishda 1,5–2,0 kg “o‘rta sinama” olinadi.</a:t>
            </a:r>
          </a:p>
          <a:p>
            <a:pPr>
              <a:spcAft>
                <a:spcPts val="1200"/>
              </a:spcAft>
            </a:pPr>
            <a:r>
              <a:rPr sz="2000">
                <a:solidFill>
                  <a:srgbClr val="1F2937"/>
                </a:solidFill>
                <a:latin typeface="Calibri"/>
              </a:rPr>
              <a:t>▸  Olingan materialni qotiruvchi moddalar bilan, masalan formalin yoki spirt bilan, qotirishga ruxsat berilmaydi.</a:t>
            </a:r>
          </a:p>
          <a:p>
            <a:pPr>
              <a:spcAft>
                <a:spcPts val="1200"/>
              </a:spcAft>
            </a:pPr>
            <a:r>
              <a:rPr sz="2000">
                <a:solidFill>
                  <a:srgbClr val="1F2937"/>
                </a:solidFill>
                <a:latin typeface="Calibri"/>
              </a:rPr>
              <a:t>▸  Gistologik usul gemolitik, og‘ir metall va o‘yuvchi zaharlarda muhim. Botanik usul o‘simlik zaharlarida, biokimyoviy usul xolinesteraza o‘zgarishida qo‘l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 Iskandarov A.I., Qo‘ldoshev D.R., Sud tibbiyoti, betlar: 297, 299-300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Kimyoviy-toksikologik tahlil: xatolar va talqin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Namunani to‘g‘ri saqlang: xonada sutkadan ortiq tursa, qonda 1‰ gacha etanol paydo bo‘ladi.</a:t>
            </a:r>
          </a:p>
          <a:p>
            <a:pPr>
              <a:spcAft>
                <a:spcPts val="800"/>
              </a:spcAft>
            </a:pPr>
            <a:r>
              <a:rPr sz="1800">
                <a:solidFill>
                  <a:srgbClr val="1F2937"/>
                </a:solidFill>
                <a:latin typeface="Calibri"/>
              </a:rPr>
              <a:t>▸  Yolg‘on manfiy: kam doza, sezgirligi past usul. Yolg‘on musbat: oldin davo uchun berilgan dori.</a:t>
            </a:r>
          </a:p>
          <a:p>
            <a:pPr>
              <a:spcAft>
                <a:spcPts val="800"/>
              </a:spcAft>
            </a:pPr>
            <a:r>
              <a:rPr sz="1800">
                <a:solidFill>
                  <a:srgbClr val="1F2937"/>
                </a:solidFill>
                <a:latin typeface="Calibri"/>
              </a:rPr>
              <a:t>▸  Dastlabki sinov sezgir, lekin o‘ziga xos emas: faqat manfiy natijasi ishonchli; musbati yetarli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Ob’ektni qabul qilish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Zaharni ajratish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Aniqlash va miqdorini topish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Natijani talqin qilish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Xulosa tuzish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Tahlil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124, 122, 138-139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ekspertizasida hal etiladigan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Ekspert aniqlaydi: o‘lim zaharlanishdan bo‘lishi mumkinmi, qaysi modda sabab, qanday doza va konsentratsiya, qaysi yo‘l bilan kirgan.</a:t>
            </a:r>
          </a:p>
          <a:p>
            <a:pPr>
              <a:spcAft>
                <a:spcPts val="1200"/>
              </a:spcAft>
            </a:pPr>
            <a:r>
              <a:rPr sz="2200">
                <a:solidFill>
                  <a:srgbClr val="1F2937"/>
                </a:solidFill>
                <a:latin typeface="Calibri"/>
              </a:rPr>
              <a:t>▸  Yana baholanadi: modda o‘limgacha parchalanib yoki chiqib ketishi mumkinmidi, tuproq va suvdan o‘limdan keyin tushmadimi.</a:t>
            </a:r>
          </a:p>
          <a:p>
            <a:pPr>
              <a:spcAft>
                <a:spcPts val="1200"/>
              </a:spcAft>
            </a:pPr>
            <a:r>
              <a:rPr sz="2200">
                <a:solidFill>
                  <a:srgbClr val="1F2937"/>
                </a:solidFill>
                <a:latin typeface="Calibri"/>
              </a:rPr>
              <a:t>▸  Alkogol mastligi, hamroh kasalliklar, sinergizm va dori yoki kimyoviy moddaga individual chidamsizlik ham hisobga olinadi.</a:t>
            </a:r>
          </a:p>
          <a:p>
            <a:pPr>
              <a:spcAft>
                <a:spcPts val="1200"/>
              </a:spcAft>
            </a:pPr>
            <a:r>
              <a:rPr sz="2200">
                <a:solidFill>
                  <a:srgbClr val="1F2937"/>
                </a:solidFill>
                <a:latin typeface="Calibri"/>
              </a:rPr>
              <a:t>▸  Diqqat: topilgan zahar ≠ zaharlanish isboti. Ijobiy natija o‘limdan keyin tushishidan, salbiy natija esa moddaning chiqib ketishidan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131-132, 132, 131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qusish va mastlik niqobi ostidagi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Ko‘chadan kasalxonaga xushsiz yosh erkak keltirildi. Og‘zidan alkogol hidi kelgan, kiyimida qusuq izlari topilgan.</a:t>
            </a:r>
          </a:p>
          <a:p>
            <a:pPr>
              <a:spcAft>
                <a:spcPts val="1200"/>
              </a:spcAft>
            </a:pPr>
            <a:r>
              <a:rPr sz="2200">
                <a:solidFill>
                  <a:srgbClr val="1F2937"/>
                </a:solidFill>
                <a:latin typeface="Calibri"/>
              </a:rPr>
              <a:t>▸  Vrach og‘ir alkogol zaharlanishi deb oshqozonini yuvgan, bezovtaligi uchun krovatga bog‘lab qo‘ygan. Bir necha soatdan so‘ng u vafot etgan.</a:t>
            </a:r>
          </a:p>
          <a:p>
            <a:pPr>
              <a:spcAft>
                <a:spcPts val="1200"/>
              </a:spcAft>
            </a:pPr>
            <a:r>
              <a:rPr sz="2200">
                <a:solidFill>
                  <a:srgbClr val="1F2937"/>
                </a:solidFill>
                <a:latin typeface="Calibri"/>
              </a:rPr>
              <a:t>▸  Murda yorilganda kalla suyagi g‘umbazi singani va epidural gematoma topilgan. Mast holatdagi bosh jarohati o‘z vaqtida aniqlanmagan.</a:t>
            </a:r>
          </a:p>
          <a:p>
            <a:pPr>
              <a:spcAft>
                <a:spcPts val="1200"/>
              </a:spcAft>
            </a:pPr>
            <a:r>
              <a:rPr sz="2200">
                <a:solidFill>
                  <a:srgbClr val="1F2937"/>
                </a:solidFill>
                <a:latin typeface="Calibri"/>
              </a:rPr>
              <a:t>▸  Savol: bitta klinik belgiga tayanib tashxis qo‘yish nega xavfli? Qusish bosh miyaga qon quyilishi yoki ichki bosim oshganda ham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293-294, 294, 293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zaharning kirishi, taqsimlanishi, metabolizmi va organizmdan chiqarilishi.</a:t>
            </a:r>
          </a:p>
          <a:p>
            <a:pPr>
              <a:spcAft>
                <a:spcPts val="800"/>
              </a:spcAft>
            </a:pPr>
            <a:r>
              <a:rPr sz="1800">
                <a:solidFill>
                  <a:srgbClr val="1F2937"/>
                </a:solidFill>
                <a:latin typeface="Calibri"/>
              </a:rPr>
              <a:t>▸  Toksikodinamika: zahar bilan organizmning o‘zaro ta’siri va javob reaksiyalari majmui.</a:t>
            </a:r>
          </a:p>
          <a:p>
            <a:pPr>
              <a:spcAft>
                <a:spcPts val="800"/>
              </a:spcAft>
            </a:pPr>
            <a:r>
              <a:rPr sz="1800">
                <a:solidFill>
                  <a:srgbClr val="1F2937"/>
                </a:solidFill>
                <a:latin typeface="Calibri"/>
              </a:rPr>
              <a:t>▸  Sirka kislotasi: avval kuyish, so‘ng atsidoz tufayli gemoliz, keyin toksik gepatit va nefroz.</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va taqsimlanish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Metabolizm, chiqarilish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kimyoviy kuyish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Keyingi: eritrotsit gemolizi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Metatoksik: gepatit, nefroz</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Zaharning organizmdagi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Biotransformatsiya, to‘planish va chiqarilish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 biotransformatsiyasi asosan jigarda: oksidlanish, qaytarilish, gidroliz, sintez; toksiklik o‘zgaradi.</a:t>
            </a:r>
          </a:p>
          <a:p>
            <a:pPr>
              <a:spcAft>
                <a:spcPts val="800"/>
              </a:spcAft>
            </a:pPr>
            <a:r>
              <a:rPr sz="1800">
                <a:solidFill>
                  <a:srgbClr val="1F2937"/>
                </a:solidFill>
                <a:latin typeface="Calibri"/>
              </a:rPr>
              <a:t>▸  Metanol, etanol, etilenglikol oksidlanganda ancha kuchli toksik metabolitlar hosil bo‘ladi (letal sintez).</a:t>
            </a:r>
          </a:p>
          <a:p>
            <a:pPr>
              <a:spcAft>
                <a:spcPts val="800"/>
              </a:spcAft>
            </a:pPr>
            <a:r>
              <a:rPr sz="1800">
                <a:solidFill>
                  <a:srgbClr val="1F2937"/>
                </a:solidFill>
                <a:latin typeface="Calibri"/>
              </a:rPr>
              <a:t>▸  Narkotiklar va alkogol sut hamda so‘lak bezlari orqali organizmdan chiqariladi.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03884"/>
                <a:gridCol w="2535330"/>
                <a:gridCol w="1448760"/>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To‘planadi</a:t>
                      </a:r>
                    </a:p>
                  </a:txBody>
                  <a:tcPr marL="73152" marR="73152" marT="36576" marB="36576">
                    <a:solidFill>
                      <a:srgbClr val="0B1F3A"/>
                    </a:solidFill>
                  </a:tcPr>
                </a:tc>
                <a:tc>
                  <a:txBody>
                    <a:bodyPr/>
                    <a:lstStyle/>
                    <a:p>
                      <a:r>
                        <a:rPr sz="1300" b="1">
                          <a:solidFill>
                            <a:srgbClr val="FFFFFF"/>
                          </a:solidFill>
                        </a:rPr>
                        <a:t>Chiqadi</a:t>
                      </a:r>
                    </a:p>
                  </a:txBody>
                  <a:tcPr marL="73152" marR="73152" marT="36576" marB="36576">
                    <a:solidFill>
                      <a:srgbClr val="0B1F3A"/>
                    </a:solidFill>
                  </a:tcPr>
                </a:tc>
              </a:tr>
              <a:tr h="411480">
                <a:tc>
                  <a:txBody>
                    <a:bodyPr/>
                    <a:lstStyle/>
                    <a:p>
                      <a:r>
                        <a:rPr sz="1200" b="0">
                          <a:solidFill>
                            <a:srgbClr val="1F2937"/>
                          </a:solidFill>
                        </a:rPr>
                        <a:t>Yog‘da eruvchi</a:t>
                      </a:r>
                    </a:p>
                  </a:txBody>
                  <a:tcPr marL="73152" marR="73152" marT="36576" marB="36576">
                    <a:solidFill>
                      <a:srgbClr val="E8EEF6"/>
                    </a:solidFill>
                  </a:tcPr>
                </a:tc>
                <a:tc>
                  <a:txBody>
                    <a:bodyPr/>
                    <a:lstStyle/>
                    <a:p>
                      <a:r>
                        <a:rPr sz="1200" b="0">
                          <a:solidFill>
                            <a:srgbClr val="1F2937"/>
                          </a:solidFill>
                        </a:rPr>
                        <a:t>Bosh miya, jigar, yog‘ to‘qimasi</a:t>
                      </a:r>
                    </a:p>
                  </a:txBody>
                  <a:tcPr marL="73152" marR="73152" marT="36576" marB="36576">
                    <a:solidFill>
                      <a:srgbClr val="E8EEF6"/>
                    </a:solidFill>
                  </a:tcPr>
                </a:tc>
                <a:tc>
                  <a:txBody>
                    <a:bodyPr/>
                    <a:lstStyle/>
                    <a:p>
                      <a:r>
                        <a:rPr sz="1200" b="0">
                          <a:solidFill>
                            <a:srgbClr val="1F2937"/>
                          </a:solidFill>
                        </a:rPr>
                        <a:t>O‘t bilan</a:t>
                      </a:r>
                    </a:p>
                  </a:txBody>
                  <a:tcPr marL="73152" marR="73152" marT="36576" marB="36576">
                    <a:solidFill>
                      <a:srgbClr val="E8EEF6"/>
                    </a:solidFill>
                  </a:tcPr>
                </a:tc>
              </a:tr>
              <a:tr h="411480">
                <a:tc>
                  <a:txBody>
                    <a:bodyPr/>
                    <a:lstStyle/>
                    <a:p>
                      <a:r>
                        <a:rPr sz="1200" b="0">
                          <a:solidFill>
                            <a:srgbClr val="1F2937"/>
                          </a:solidFill>
                        </a:rPr>
                        <a:t>Suvda eruvchi</a:t>
                      </a:r>
                    </a:p>
                  </a:txBody>
                  <a:tcPr marL="73152" marR="73152" marT="36576" marB="36576">
                    <a:solidFill>
                      <a:srgbClr val="FFFFFF"/>
                    </a:solidFill>
                  </a:tcPr>
                </a:tc>
                <a:tc>
                  <a:txBody>
                    <a:bodyPr/>
                    <a:lstStyle/>
                    <a:p>
                      <a:r>
                        <a:rPr sz="1200" b="0">
                          <a:solidFill>
                            <a:srgbClr val="1F2937"/>
                          </a:solidFill>
                        </a:rPr>
                        <a:t>Mushak, jigar, buyrak</a:t>
                      </a:r>
                    </a:p>
                  </a:txBody>
                  <a:tcPr marL="73152" marR="73152" marT="36576" marB="36576">
                    <a:solidFill>
                      <a:srgbClr val="FFFFFF"/>
                    </a:solidFill>
                  </a:tcPr>
                </a:tc>
                <a:tc>
                  <a:txBody>
                    <a:bodyPr/>
                    <a:lstStyle/>
                    <a:p>
                      <a:r>
                        <a:rPr sz="1200" b="0">
                          <a:solidFill>
                            <a:srgbClr val="1F2937"/>
                          </a:solidFill>
                        </a:rPr>
                        <a:t>Buyrak orqali</a:t>
                      </a:r>
                    </a:p>
                  </a:txBody>
                  <a:tcPr marL="73152" marR="73152" marT="36576" marB="36576">
                    <a:solidFill>
                      <a:srgbClr val="FFFFFF"/>
                    </a:solidFill>
                  </a:tcPr>
                </a:tc>
              </a:tr>
              <a:tr h="411480">
                <a:tc>
                  <a:txBody>
                    <a:bodyPr/>
                    <a:lstStyle/>
                    <a:p>
                      <a:r>
                        <a:rPr sz="1200" b="0">
                          <a:solidFill>
                            <a:srgbClr val="1F2937"/>
                          </a:solidFill>
                        </a:rPr>
                        <a:t>Uchuvchan moddalar</a:t>
                      </a:r>
                    </a:p>
                  </a:txBody>
                  <a:tcPr marL="73152" marR="73152" marT="36576" marB="36576">
                    <a:solidFill>
                      <a:srgbClr val="E8EEF6"/>
                    </a:solidFill>
                  </a:tcPr>
                </a:tc>
                <a:tc>
                  <a:txBody>
                    <a:bodyPr/>
                    <a:lstStyle/>
                    <a:p>
                      <a:r>
                        <a:rPr sz="1200" b="0">
                          <a:solidFill>
                            <a:srgbClr val="1F2937"/>
                          </a:solidFill>
                        </a:rPr>
                        <a:t>—</a:t>
                      </a:r>
                    </a:p>
                  </a:txBody>
                  <a:tcPr marL="73152" marR="73152" marT="36576" marB="36576">
                    <a:solidFill>
                      <a:srgbClr val="E8EEF6"/>
                    </a:solidFill>
                  </a:tcPr>
                </a:tc>
                <a:tc>
                  <a:txBody>
                    <a:bodyPr/>
                    <a:lstStyle/>
                    <a:p>
                      <a:r>
                        <a:rPr sz="1200" b="0">
                          <a:solidFill>
                            <a:srgbClr val="1F2937"/>
                          </a:solidFill>
                        </a:rPr>
                        <a:t>O‘pka orqali</a:t>
                      </a:r>
                    </a:p>
                  </a:txBody>
                  <a:tcPr marL="73152" marR="73152" marT="36576" marB="36576">
                    <a:solidFill>
                      <a:srgbClr val="E8EEF6"/>
                    </a:solidFill>
                  </a:tcPr>
                </a:tc>
              </a:tr>
              <a:tr h="411480">
                <a:tc>
                  <a:txBody>
                    <a:bodyPr/>
                    <a:lstStyle/>
                    <a:p>
                      <a:r>
                        <a:rPr sz="1200" b="0">
                          <a:solidFill>
                            <a:srgbClr val="1F2937"/>
                          </a:solidFill>
                        </a:rPr>
                        <a:t>Og‘ir metallar</a:t>
                      </a:r>
                    </a:p>
                  </a:txBody>
                  <a:tcPr marL="73152" marR="73152" marT="36576" marB="36576">
                    <a:solidFill>
                      <a:srgbClr val="FFFFFF"/>
                    </a:solidFill>
                  </a:tcPr>
                </a:tc>
                <a:tc>
                  <a:txBody>
                    <a:bodyPr/>
                    <a:lstStyle/>
                    <a:p>
                      <a:r>
                        <a:rPr sz="1200" b="0">
                          <a:solidFill>
                            <a:srgbClr val="1F2937"/>
                          </a:solidFill>
                        </a:rPr>
                        <a:t>Margimush, qo‘rg‘oshin: suyak, soch</a:t>
                      </a:r>
                    </a:p>
                  </a:txBody>
                  <a:tcPr marL="73152" marR="73152" marT="36576" marB="36576">
                    <a:solidFill>
                      <a:srgbClr val="FFFFFF"/>
                    </a:solidFill>
                  </a:tcPr>
                </a:tc>
                <a:tc>
                  <a:txBody>
                    <a:bodyPr/>
                    <a:lstStyle/>
                    <a:p>
                      <a:r>
                        <a:rPr sz="1200" b="0">
                          <a:solidFill>
                            <a:srgbClr val="1F2937"/>
                          </a:solidFill>
                        </a:rPr>
                        <a:t>Yo‘g‘on ichak orqali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To‘planish va chiqish yo‘li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137, 137-138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zaharlar kontakt joyida nekroz beradi; umumiylari qonga so‘rilgach ta’sir etadi.</a:t>
            </a:r>
          </a:p>
          <a:p>
            <a:pPr>
              <a:spcAft>
                <a:spcPts val="800"/>
              </a:spcAft>
            </a:pPr>
            <a:r>
              <a:rPr sz="1800">
                <a:solidFill>
                  <a:srgbClr val="1F2937"/>
                </a:solidFill>
                <a:latin typeface="Calibri"/>
              </a:rPr>
              <a:t>▸  Funksional zaharlar markaziy va periferik nerv tizimi faoliyatini buzadi.</a:t>
            </a:r>
          </a:p>
          <a:p>
            <a:pPr>
              <a:spcAft>
                <a:spcPts val="800"/>
              </a:spcAft>
            </a:pPr>
            <a:r>
              <a:rPr sz="1800">
                <a:solidFill>
                  <a:srgbClr val="1F2937"/>
                </a:solidFill>
                <a:latin typeface="Calibri"/>
              </a:rPr>
              <a:t>▸  Diqqat: qon zaharlari gemoglobinga, destruktivlari to‘qima tuzilishiga ta’sir qiladi.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86264"/>
                <a:gridCol w="1143345"/>
                <a:gridCol w="285836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Vakillar</a:t>
                      </a:r>
                    </a:p>
                  </a:txBody>
                  <a:tcPr marL="73152" marR="73152" marT="36576" marB="36576">
                    <a:solidFill>
                      <a:srgbClr val="0B1F3A"/>
                    </a:solidFill>
                  </a:tcPr>
                </a:tc>
              </a:tr>
              <a:tr h="411480">
                <a:tc>
                  <a:txBody>
                    <a:bodyPr/>
                    <a:lstStyle/>
                    <a:p>
                      <a:r>
                        <a:rPr sz="1200" b="0">
                          <a:solidFill>
                            <a:srgbClr val="1F2937"/>
                          </a:solidFill>
                        </a:rPr>
                        <a:t>Mahalliy ta’sir</a:t>
                      </a:r>
                    </a:p>
                  </a:txBody>
                  <a:tcPr marL="73152" marR="73152" marT="36576" marB="36576">
                    <a:solidFill>
                      <a:srgbClr val="E8EEF6"/>
                    </a:solidFill>
                  </a:tcPr>
                </a:tc>
                <a:tc>
                  <a:txBody>
                    <a:bodyPr/>
                    <a:lstStyle/>
                    <a:p>
                      <a:r>
                        <a:rPr sz="1200" b="0">
                          <a:solidFill>
                            <a:srgbClr val="1F2937"/>
                          </a:solidFill>
                        </a:rPr>
                        <a:t>O‘yuvchi</a:t>
                      </a:r>
                    </a:p>
                  </a:txBody>
                  <a:tcPr marL="73152" marR="73152" marT="36576" marB="36576">
                    <a:solidFill>
                      <a:srgbClr val="E8EEF6"/>
                    </a:solidFill>
                  </a:tcPr>
                </a:tc>
                <a:tc>
                  <a:txBody>
                    <a:bodyPr/>
                    <a:lstStyle/>
                    <a:p>
                      <a:r>
                        <a:rPr sz="1200" b="0">
                          <a:solidFill>
                            <a:srgbClr val="1F2937"/>
                          </a:solidFill>
                        </a:rPr>
                        <a:t>Kislotalar, ishqorlar, yod tindirmasi</a:t>
                      </a:r>
                    </a:p>
                  </a:txBody>
                  <a:tcPr marL="73152" marR="73152" marT="36576" marB="36576">
                    <a:solidFill>
                      <a:srgbClr val="E8EEF6"/>
                    </a:solidFill>
                  </a:tcPr>
                </a:tc>
              </a:tr>
              <a:tr h="411480">
                <a:tc>
                  <a:txBody>
                    <a:bodyPr/>
                    <a:lstStyle/>
                    <a:p>
                      <a:r>
                        <a:rPr sz="1200" b="0">
                          <a:solidFill>
                            <a:srgbClr val="1F2937"/>
                          </a:solidFill>
                        </a:rPr>
                        <a:t>Umumiy (rezorbtiv)</a:t>
                      </a:r>
                    </a:p>
                  </a:txBody>
                  <a:tcPr marL="73152" marR="73152" marT="36576" marB="36576">
                    <a:solidFill>
                      <a:srgbClr val="FFFFFF"/>
                    </a:solidFill>
                  </a:tcPr>
                </a:tc>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Simob, qo‘rg‘oshin, margimush, fosfor</a:t>
                      </a:r>
                    </a:p>
                  </a:txBody>
                  <a:tcPr marL="73152" marR="73152" marT="36576" marB="36576">
                    <a:solidFill>
                      <a:srgbClr val="FFFFFF"/>
                    </a:solidFill>
                  </a:tcPr>
                </a:tc>
              </a:tr>
              <a:tr h="411480">
                <a:tc>
                  <a:txBody>
                    <a:bodyPr/>
                    <a:lstStyle/>
                    <a:p>
                      <a:r>
                        <a:rPr sz="1200" b="0">
                          <a:solidFill>
                            <a:srgbClr val="1F2937"/>
                          </a:solidFill>
                        </a:rPr>
                        <a:t>Umumiy (rezorbtiv)</a:t>
                      </a:r>
                    </a:p>
                  </a:txBody>
                  <a:tcPr marL="73152" marR="73152" marT="36576" marB="36576">
                    <a:solidFill>
                      <a:srgbClr val="E8EEF6"/>
                    </a:solidFill>
                  </a:tcPr>
                </a:tc>
                <a:tc>
                  <a:txBody>
                    <a:bodyPr/>
                    <a:lstStyle/>
                    <a:p>
                      <a:r>
                        <a:rPr sz="1200" b="0">
                          <a:solidFill>
                            <a:srgbClr val="1F2937"/>
                          </a:solidFill>
                        </a:rPr>
                        <a:t>Qon (gemotrop)</a:t>
                      </a:r>
                    </a:p>
                  </a:txBody>
                  <a:tcPr marL="73152" marR="73152" marT="36576" marB="36576">
                    <a:solidFill>
                      <a:srgbClr val="E8EEF6"/>
                    </a:solidFill>
                  </a:tcPr>
                </a:tc>
                <a:tc>
                  <a:txBody>
                    <a:bodyPr/>
                    <a:lstStyle/>
                    <a:p>
                      <a:r>
                        <a:rPr sz="1200" b="0">
                          <a:solidFill>
                            <a:srgbClr val="1F2937"/>
                          </a:solidFill>
                        </a:rPr>
                        <a:t>Is gazi, metgemoglobin hosil qiluvchilar</a:t>
                      </a:r>
                    </a:p>
                  </a:txBody>
                  <a:tcPr marL="73152" marR="73152" marT="36576" marB="36576">
                    <a:solidFill>
                      <a:srgbClr val="E8EEF6"/>
                    </a:solidFill>
                  </a:tcPr>
                </a:tc>
              </a:tr>
              <a:tr h="411480">
                <a:tc>
                  <a:txBody>
                    <a:bodyPr/>
                    <a:lstStyle/>
                    <a:p>
                      <a:r>
                        <a:rPr sz="1200" b="0">
                          <a:solidFill>
                            <a:srgbClr val="1F2937"/>
                          </a:solidFill>
                        </a:rPr>
                        <a:t>Umumiy (rezorbtiv)</a:t>
                      </a:r>
                    </a:p>
                  </a:txBody>
                  <a:tcPr marL="73152" marR="73152" marT="36576" marB="36576">
                    <a:solidFill>
                      <a:srgbClr val="FFFFFF"/>
                    </a:solidFill>
                  </a:tcPr>
                </a:tc>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Sianidlar, spirtlar, strixnin, nikotin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(soddalashtirilgan)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 va 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Simob, qo‘rg‘oshin va margimush qaysi guruh zaharlariga kiradi?</a:t>
            </a:r>
          </a:p>
          <a:p>
            <a:pPr>
              <a:spcAft>
                <a:spcPts val="1200"/>
              </a:spcAft>
            </a:pPr>
            <a:r>
              <a:rPr sz="2200">
                <a:solidFill>
                  <a:srgbClr val="1F2937"/>
                </a:solidFill>
                <a:latin typeface="Calibri"/>
              </a:rPr>
              <a:t>▸  Savol 2: Letal sintez nima? Metanol bilan zaharlanishda buni qanday tushuntirasiz?</a:t>
            </a:r>
          </a:p>
          <a:p>
            <a:pPr>
              <a:spcAft>
                <a:spcPts val="1200"/>
              </a:spcAft>
            </a:pPr>
            <a:r>
              <a:rPr sz="2200">
                <a:solidFill>
                  <a:srgbClr val="1F2937"/>
                </a:solidFill>
                <a:latin typeface="Calibri"/>
              </a:rPr>
              <a:t>▸  Savol 3: Metatoksik ta’sir nima? Sirka kislotasi misolida bosqichlarni ayting.</a:t>
            </a:r>
          </a:p>
          <a:p>
            <a:pPr>
              <a:spcAft>
                <a:spcPts val="1200"/>
              </a:spcAft>
            </a:pPr>
            <a:r>
              <a:rPr sz="2200">
                <a:solidFill>
                  <a:srgbClr val="1F2937"/>
                </a:solidFill>
                <a:latin typeface="Calibri"/>
              </a:rPr>
              <a:t>▸  Savol 4: Yog‘da eruvchi moddalar qayerda to‘planadi va qaysi yo‘l bilan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139, 138, 137-138; Ромодановский П.О., Баринов Е.Х., Судебная медицина в схемах и рисунках: учебное пособие, betlar: 375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bilan zaharlanish: mexanizm va klinika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Kislotaning shikastlovchi ta’siri erkin vodorod ionlariga bog‘liq: ular to‘qimani suvsizlantiradi, oqsilni ivitadi va quruq (koagulyatsion) nekroz chaqiradi.</a:t>
            </a:r>
          </a:p>
          <a:p>
            <a:pPr>
              <a:spcAft>
                <a:spcPts val="1200"/>
              </a:spcAft>
            </a:pPr>
            <a:r>
              <a:rPr sz="2000">
                <a:solidFill>
                  <a:srgbClr val="1F2937"/>
                </a:solidFill>
                <a:latin typeface="Calibri"/>
              </a:rPr>
              <a:t>▸  Nekroz joyida quruq, zich, qo‘ng‘ir-qora strup hosil bo‘ladi. Qonga so‘rilganda atsidoz rivojlanadi. Qizilo‘ngach va oshqozonda kuchli og‘riq, qonli qusuq bo‘ladi.</a:t>
            </a:r>
          </a:p>
          <a:p>
            <a:pPr>
              <a:spcAft>
                <a:spcPts val="1200"/>
              </a:spcAft>
            </a:pPr>
            <a:r>
              <a:rPr sz="2000">
                <a:solidFill>
                  <a:srgbClr val="1F2937"/>
                </a:solidFill>
                <a:latin typeface="Calibri"/>
              </a:rPr>
              <a:t>▸  Dastlabki soatlarda o‘lim shok, asfiksiya yoki ichki qon ketishdan bo‘ladi. Kech muddatda pnevmoniya, jigar-buyrak yetishmovchiligi, mediastenit yoki peritonitdan.</a:t>
            </a:r>
          </a:p>
          <a:p>
            <a:pPr>
              <a:spcAft>
                <a:spcPts val="1200"/>
              </a:spcAft>
            </a:pPr>
            <a:r>
              <a:rPr sz="2000">
                <a:solidFill>
                  <a:srgbClr val="1F2937"/>
                </a:solidFill>
                <a:latin typeface="Calibri"/>
              </a:rPr>
              <a:t>▸  Organik kislotalar kuchsiz dissotsiatsiyalanadi, butun molekula bilan yuzaki nekroz beradi. Letal doza konsentratsiyaga bog‘liq: sulfat va nitrat kislotada 5–10 ml.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Turli kislotalarda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Sulfat kislota kuchli: oshqozon devori ko‘proq shikastlanadi, perforatsiya tez-tez kuzatiladi.</a:t>
            </a:r>
          </a:p>
          <a:p>
            <a:pPr>
              <a:spcAft>
                <a:spcPts val="800"/>
              </a:spcAft>
            </a:pPr>
            <a:r>
              <a:rPr sz="1800">
                <a:solidFill>
                  <a:srgbClr val="1F2937"/>
                </a:solidFill>
                <a:latin typeface="Calibri"/>
              </a:rPr>
              <a:t>▸  Xlorid va sirka kislotasi uchuvchan: hiqildoq shilliq qavati va o‘pka shishishi ko‘proq uchraydi.</a:t>
            </a:r>
          </a:p>
          <a:p>
            <a:pPr>
              <a:spcAft>
                <a:spcPts val="800"/>
              </a:spcAft>
            </a:pPr>
            <a:r>
              <a:rPr sz="1800">
                <a:solidFill>
                  <a:srgbClr val="1F2937"/>
                </a:solidFill>
                <a:latin typeface="Calibri"/>
              </a:rPr>
              <a:t>▸  Sirka kislotasida gemoliz kuchli bo‘lgani uchun strup pushti-qizg‘ish tus 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57595"/>
                <a:gridCol w="1982990"/>
                <a:gridCol w="2247389"/>
              </a:tblGrid>
              <a:tr h="411480">
                <a:tc>
                  <a:txBody>
                    <a:bodyPr/>
                    <a:lstStyle/>
                    <a:p>
                      <a:r>
                        <a:rPr sz="1300" b="1">
                          <a:solidFill>
                            <a:srgbClr val="FFFFFF"/>
                          </a:solidFill>
                        </a:rPr>
                        <a:t>Kislota</a:t>
                      </a:r>
                    </a:p>
                  </a:txBody>
                  <a:tcPr marL="73152" marR="73152" marT="36576" marB="36576">
                    <a:solidFill>
                      <a:srgbClr val="0B1F3A"/>
                    </a:solidFill>
                  </a:tcPr>
                </a:tc>
                <a:tc>
                  <a:txBody>
                    <a:bodyPr/>
                    <a:lstStyle/>
                    <a:p>
                      <a:r>
                        <a:rPr sz="1300" b="1">
                          <a:solidFill>
                            <a:srgbClr val="FFFFFF"/>
                          </a:solidFill>
                        </a:rPr>
                        <a:t>Shilliq qavat</a:t>
                      </a:r>
                    </a:p>
                  </a:txBody>
                  <a:tcPr marL="73152" marR="73152" marT="36576" marB="36576">
                    <a:solidFill>
                      <a:srgbClr val="0B1F3A"/>
                    </a:solidFill>
                  </a:tcPr>
                </a:tc>
                <a:tc>
                  <a:txBody>
                    <a:bodyPr/>
                    <a:lstStyle/>
                    <a:p>
                      <a:r>
                        <a:rPr sz="1300" b="1">
                          <a:solidFill>
                            <a:srgbClr val="FFFFFF"/>
                          </a:solidFill>
                        </a:rPr>
                        <a:t>Xos belgi</a:t>
                      </a:r>
                    </a:p>
                  </a:txBody>
                  <a:tcPr marL="73152" marR="73152" marT="36576" marB="36576">
                    <a:solidFill>
                      <a:srgbClr val="0B1F3A"/>
                    </a:solidFill>
                  </a:tcPr>
                </a:tc>
              </a:tr>
              <a:tr h="411480">
                <a:tc>
                  <a:txBody>
                    <a:bodyPr/>
                    <a:lstStyle/>
                    <a:p>
                      <a:r>
                        <a:rPr sz="1200" b="0">
                          <a:solidFill>
                            <a:srgbClr val="1F2937"/>
                          </a:solidFill>
                        </a:rPr>
                        <a:t>Sulfat</a:t>
                      </a:r>
                    </a:p>
                  </a:txBody>
                  <a:tcPr marL="73152" marR="73152" marT="36576" marB="36576">
                    <a:solidFill>
                      <a:srgbClr val="E8EEF6"/>
                    </a:solidFill>
                  </a:tcPr>
                </a:tc>
                <a:tc>
                  <a:txBody>
                    <a:bodyPr/>
                    <a:lstStyle/>
                    <a:p>
                      <a:r>
                        <a:rPr sz="1200" b="0">
                          <a:solidFill>
                            <a:srgbClr val="1F2937"/>
                          </a:solidFill>
                        </a:rPr>
                        <a:t>Qo‘ng‘ir-qora</a:t>
                      </a:r>
                    </a:p>
                  </a:txBody>
                  <a:tcPr marL="73152" marR="73152" marT="36576" marB="36576">
                    <a:solidFill>
                      <a:srgbClr val="E8EEF6"/>
                    </a:solidFill>
                  </a:tcPr>
                </a:tc>
                <a:tc>
                  <a:txBody>
                    <a:bodyPr/>
                    <a:lstStyle/>
                    <a:p>
                      <a:r>
                        <a:rPr sz="1200" b="0">
                          <a:solidFill>
                            <a:srgbClr val="1F2937"/>
                          </a:solidFill>
                        </a:rPr>
                        <a:t>Perforatsiya ko‘proq</a:t>
                      </a:r>
                    </a:p>
                  </a:txBody>
                  <a:tcPr marL="73152" marR="73152" marT="36576" marB="36576">
                    <a:solidFill>
                      <a:srgbClr val="E8EEF6"/>
                    </a:solidFill>
                  </a:tcPr>
                </a:tc>
              </a:tr>
              <a:tr h="411480">
                <a:tc>
                  <a:txBody>
                    <a:bodyPr/>
                    <a:lstStyle/>
                    <a:p>
                      <a:r>
                        <a:rPr sz="1200" b="0">
                          <a:solidFill>
                            <a:srgbClr val="1F2937"/>
                          </a:solidFill>
                        </a:rPr>
                        <a:t>Nitrat</a:t>
                      </a:r>
                    </a:p>
                  </a:txBody>
                  <a:tcPr marL="73152" marR="73152" marT="36576" marB="36576">
                    <a:solidFill>
                      <a:srgbClr val="FFFFFF"/>
                    </a:solidFill>
                  </a:tcPr>
                </a:tc>
                <a:tc>
                  <a:txBody>
                    <a:bodyPr/>
                    <a:lstStyle/>
                    <a:p>
                      <a:r>
                        <a:rPr sz="1200" b="0">
                          <a:solidFill>
                            <a:srgbClr val="1F2937"/>
                          </a:solidFill>
                        </a:rPr>
                        <a:t>Sarg‘ish (konsentratsiya &gt;30%)</a:t>
                      </a:r>
                    </a:p>
                  </a:txBody>
                  <a:tcPr marL="73152" marR="73152" marT="36576" marB="36576">
                    <a:solidFill>
                      <a:srgbClr val="FFFFFF"/>
                    </a:solidFill>
                  </a:tcPr>
                </a:tc>
                <a:tc>
                  <a:txBody>
                    <a:bodyPr/>
                    <a:lstStyle/>
                    <a:p>
                      <a:r>
                        <a:rPr sz="1200" b="0">
                          <a:solidFill>
                            <a:srgbClr val="1F2937"/>
                          </a:solidFill>
                        </a:rPr>
                        <a:t>Azot oksidlarining bo‘g‘uvchi hidi</a:t>
                      </a:r>
                    </a:p>
                  </a:txBody>
                  <a:tcPr marL="73152" marR="73152" marT="36576" marB="36576">
                    <a:solidFill>
                      <a:srgbClr val="FFFFFF"/>
                    </a:solidFill>
                  </a:tcPr>
                </a:tc>
              </a:tr>
              <a:tr h="411480">
                <a:tc>
                  <a:txBody>
                    <a:bodyPr/>
                    <a:lstStyle/>
                    <a:p>
                      <a:r>
                        <a:rPr sz="1200" b="0">
                          <a:solidFill>
                            <a:srgbClr val="1F2937"/>
                          </a:solidFill>
                        </a:rPr>
                        <a:t>Xlorid</a:t>
                      </a:r>
                    </a:p>
                  </a:txBody>
                  <a:tcPr marL="73152" marR="73152" marT="36576" marB="36576">
                    <a:solidFill>
                      <a:srgbClr val="E8EEF6"/>
                    </a:solidFill>
                  </a:tcPr>
                </a:tc>
                <a:tc>
                  <a:txBody>
                    <a:bodyPr/>
                    <a:lstStyle/>
                    <a:p>
                      <a:r>
                        <a:rPr sz="1200" b="0">
                          <a:solidFill>
                            <a:srgbClr val="1F2937"/>
                          </a:solidFill>
                        </a:rPr>
                        <a:t>Qo‘ng‘ir-kulrang</a:t>
                      </a:r>
                    </a:p>
                  </a:txBody>
                  <a:tcPr marL="73152" marR="73152" marT="36576" marB="36576">
                    <a:solidFill>
                      <a:srgbClr val="E8EEF6"/>
                    </a:solidFill>
                  </a:tcPr>
                </a:tc>
                <a:tc>
                  <a:txBody>
                    <a:bodyPr/>
                    <a:lstStyle/>
                    <a:p>
                      <a:r>
                        <a:rPr sz="1200" b="0">
                          <a:solidFill>
                            <a:srgbClr val="1F2937"/>
                          </a:solidFill>
                        </a:rPr>
                        <a:t>Hiqildoq va o‘pka shishishi</a:t>
                      </a:r>
                    </a:p>
                  </a:txBody>
                  <a:tcPr marL="73152" marR="73152" marT="36576" marB="36576">
                    <a:solidFill>
                      <a:srgbClr val="E8EEF6"/>
                    </a:solidFill>
                  </a:tcPr>
                </a:tc>
              </a:tr>
              <a:tr h="411480">
                <a:tc>
                  <a:txBody>
                    <a:bodyPr/>
                    <a:lstStyle/>
                    <a:p>
                      <a:r>
                        <a:rPr sz="1200" b="0">
                          <a:solidFill>
                            <a:srgbClr val="1F2937"/>
                          </a:solidFill>
                        </a:rPr>
                        <a:t>Sirka</a:t>
                      </a:r>
                    </a:p>
                  </a:txBody>
                  <a:tcPr marL="73152" marR="73152" marT="36576" marB="36576">
                    <a:solidFill>
                      <a:srgbClr val="FFFFFF"/>
                    </a:solidFill>
                  </a:tcPr>
                </a:tc>
                <a:tc>
                  <a:txBody>
                    <a:bodyPr/>
                    <a:lstStyle/>
                    <a:p>
                      <a:r>
                        <a:rPr sz="1200" b="0">
                          <a:solidFill>
                            <a:srgbClr val="1F2937"/>
                          </a:solidFill>
                        </a:rPr>
                        <a:t>Pushti-qizg‘ish strup</a:t>
                      </a:r>
                    </a:p>
                  </a:txBody>
                  <a:tcPr marL="73152" marR="73152" marT="36576" marB="36576">
                    <a:solidFill>
                      <a:srgbClr val="FFFFFF"/>
                    </a:solidFill>
                  </a:tcPr>
                </a:tc>
                <a:tc>
                  <a:txBody>
                    <a:bodyPr/>
                    <a:lstStyle/>
                    <a:p>
                      <a:r>
                        <a:rPr sz="1200" b="0">
                          <a:solidFill>
                            <a:srgbClr val="1F2937"/>
                          </a:solidFill>
                        </a:rPr>
                        <a:t>O‘tkir sirkaga xos hid</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 va murda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141-142, 142; Харин Г.М. (Kharin G.M.)., Краткий курс судебной медицины: учебное пособие, betlar: 130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Sirka kislotasi va fenol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Sirka kislotasida mahalliy ta’sirdan tashqari gemolitik ta’sir kuchli: gemoglobinuriyali nefroz o‘tkir buyrak yetishmovchiligiga olib keladi, jigarda nekroz bo‘ladi.</a:t>
            </a:r>
          </a:p>
          <a:p>
            <a:pPr>
              <a:spcAft>
                <a:spcPts val="1200"/>
              </a:spcAft>
            </a:pPr>
            <a:r>
              <a:rPr sz="2000">
                <a:solidFill>
                  <a:srgbClr val="1F2937"/>
                </a:solidFill>
                <a:latin typeface="Calibri"/>
              </a:rPr>
              <a:t>▸  Fenol (karbol kislotasi) butun molekulasi bilan ta’sir etuvchi kuchli nerv-protoplazmatik zahar. Tez orada markaziy nerv tizimi (MNT) shikastlanib, koma rivojlanadi.</a:t>
            </a:r>
          </a:p>
          <a:p>
            <a:pPr>
              <a:spcAft>
                <a:spcPts val="1200"/>
              </a:spcAft>
            </a:pPr>
            <a:r>
              <a:rPr sz="2000">
                <a:solidFill>
                  <a:srgbClr val="1F2937"/>
                </a:solidFill>
                <a:latin typeface="Calibri"/>
              </a:rPr>
              <a:t>▸  Fenol og‘iz, nafas yo‘llari va shikastlanmagan teri orqali kiradi. O‘lim dastlab nafas markazi falajidan, keyin buyrak yoki nafas yetishmovchiligidan bo‘ladi.</a:t>
            </a:r>
          </a:p>
          <a:p>
            <a:pPr>
              <a:spcAft>
                <a:spcPts val="1200"/>
              </a:spcAft>
            </a:pPr>
            <a:r>
              <a:rPr sz="2000">
                <a:solidFill>
                  <a:srgbClr val="1F2937"/>
                </a:solidFill>
                <a:latin typeface="Calibri"/>
              </a:rPr>
              <a:t>▸  Siydik xingidrin hisobiga havoda yashil-jigarrang tusga kiradi. Diqqat: 3% sirka eritmasi ≠ sirka essensiyasi (40–80%), ta’sirini taqqoslab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142, 133, 142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gidroksil ionlari bilan ta’sir etib, oqsillar gidrolizi va yog‘lar sovunlanishini chaqiradi.</a:t>
            </a:r>
          </a:p>
          <a:p>
            <a:pPr>
              <a:spcAft>
                <a:spcPts val="800"/>
              </a:spcAft>
            </a:pPr>
            <a:r>
              <a:rPr sz="1800">
                <a:solidFill>
                  <a:srgbClr val="1F2937"/>
                </a:solidFill>
                <a:latin typeface="Calibri"/>
              </a:rPr>
              <a:t>▸  Kaliy va natriy gidroksidning o‘ldiruvchi dozasi 10-15 g, ammoniy gidroksidniki 25-40 ml.</a:t>
            </a:r>
          </a:p>
          <a:p>
            <a:pPr>
              <a:spcAft>
                <a:spcPts val="800"/>
              </a:spcAft>
            </a:pPr>
            <a:r>
              <a:rPr sz="1800">
                <a:solidFill>
                  <a:srgbClr val="1F2937"/>
                </a:solidFill>
                <a:latin typeface="Calibri"/>
              </a:rPr>
              <a:t>▸  Ammoniy gidroksid (nashatir spirti) mahalliy kuchsizroq, qonga so‘rilgach nafas markazini buzishi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57723"/>
                <a:gridCol w="2072314"/>
                <a:gridCol w="185793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Kislota</a:t>
                      </a:r>
                    </a:p>
                  </a:txBody>
                  <a:tcPr marL="73152" marR="73152" marT="36576" marB="36576">
                    <a:solidFill>
                      <a:srgbClr val="0B1F3A"/>
                    </a:solidFill>
                  </a:tcPr>
                </a:tc>
                <a:tc>
                  <a:txBody>
                    <a:bodyPr/>
                    <a:lstStyle/>
                    <a:p>
                      <a:r>
                        <a:rPr sz="1300" b="1">
                          <a:solidFill>
                            <a:srgbClr val="FFFFFF"/>
                          </a:solidFill>
                        </a:rPr>
                        <a:t>Ishqor</a:t>
                      </a:r>
                    </a:p>
                  </a:txBody>
                  <a:tcPr marL="73152" marR="73152" marT="36576" marB="36576">
                    <a:solidFill>
                      <a:srgbClr val="0B1F3A"/>
                    </a:solidFill>
                  </a:tcPr>
                </a:tc>
              </a:tr>
              <a:tr h="411480">
                <a:tc>
                  <a:txBody>
                    <a:bodyPr/>
                    <a:lstStyle/>
                    <a:p>
                      <a:r>
                        <a:rPr sz="1200" b="0">
                          <a:solidFill>
                            <a:srgbClr val="1F2937"/>
                          </a:solidFill>
                        </a:rPr>
                        <a:t>Ta’sir qiluvchi ion</a:t>
                      </a:r>
                    </a:p>
                  </a:txBody>
                  <a:tcPr marL="73152" marR="73152" marT="36576" marB="36576">
                    <a:solidFill>
                      <a:srgbClr val="E8EEF6"/>
                    </a:solidFill>
                  </a:tcPr>
                </a:tc>
                <a:tc>
                  <a:txBody>
                    <a:bodyPr/>
                    <a:lstStyle/>
                    <a:p>
                      <a:r>
                        <a:rPr sz="1200" b="0">
                          <a:solidFill>
                            <a:srgbClr val="1F2937"/>
                          </a:solidFill>
                        </a:rPr>
                        <a:t>Erkin vodorod ioni</a:t>
                      </a:r>
                    </a:p>
                  </a:txBody>
                  <a:tcPr marL="73152" marR="73152" marT="36576" marB="36576">
                    <a:solidFill>
                      <a:srgbClr val="E8EEF6"/>
                    </a:solidFill>
                  </a:tcPr>
                </a:tc>
                <a:tc>
                  <a:txBody>
                    <a:bodyPr/>
                    <a:lstStyle/>
                    <a:p>
                      <a:r>
                        <a:rPr sz="1200" b="0">
                          <a:solidFill>
                            <a:srgbClr val="1F2937"/>
                          </a:solidFill>
                        </a:rPr>
                        <a:t>Gidroksil ioni</a:t>
                      </a:r>
                    </a:p>
                  </a:txBody>
                  <a:tcPr marL="73152" marR="73152" marT="36576" marB="36576">
                    <a:solidFill>
                      <a:srgbClr val="E8EEF6"/>
                    </a:solidFill>
                  </a:tcPr>
                </a:tc>
              </a:tr>
              <a:tr h="411480">
                <a:tc>
                  <a:txBody>
                    <a:bodyPr/>
                    <a:lstStyle/>
                    <a:p>
                      <a:r>
                        <a:rPr sz="1200" b="0">
                          <a:solidFill>
                            <a:srgbClr val="1F2937"/>
                          </a:solidFill>
                        </a:rPr>
                        <a:t>Nekroz turi</a:t>
                      </a:r>
                    </a:p>
                  </a:txBody>
                  <a:tcPr marL="73152" marR="73152" marT="36576" marB="36576">
                    <a:solidFill>
                      <a:srgbClr val="FFFFFF"/>
                    </a:solidFill>
                  </a:tcPr>
                </a:tc>
                <a:tc>
                  <a:txBody>
                    <a:bodyPr/>
                    <a:lstStyle/>
                    <a:p>
                      <a:r>
                        <a:rPr sz="1200" b="0">
                          <a:solidFill>
                            <a:srgbClr val="1F2937"/>
                          </a:solidFill>
                        </a:rPr>
                        <a:t>Quruq (koagulyatsion)</a:t>
                      </a:r>
                    </a:p>
                  </a:txBody>
                  <a:tcPr marL="73152" marR="73152" marT="36576" marB="36576">
                    <a:solidFill>
                      <a:srgbClr val="FFFFFF"/>
                    </a:solidFill>
                  </a:tcPr>
                </a:tc>
                <a:tc>
                  <a:txBody>
                    <a:bodyPr/>
                    <a:lstStyle/>
                    <a:p>
                      <a:r>
                        <a:rPr sz="1200" b="0">
                          <a:solidFill>
                            <a:srgbClr val="1F2937"/>
                          </a:solidFill>
                        </a:rPr>
                        <a:t>Ho‘l (kollikvatsion)</a:t>
                      </a:r>
                    </a:p>
                  </a:txBody>
                  <a:tcPr marL="73152" marR="73152" marT="36576" marB="36576">
                    <a:solidFill>
                      <a:srgbClr val="FFFFFF"/>
                    </a:solidFill>
                  </a:tcPr>
                </a:tc>
              </a:tr>
              <a:tr h="411480">
                <a:tc>
                  <a:txBody>
                    <a:bodyPr/>
                    <a:lstStyle/>
                    <a:p>
                      <a:r>
                        <a:rPr sz="1200" b="0">
                          <a:solidFill>
                            <a:srgbClr val="1F2937"/>
                          </a:solidFill>
                        </a:rPr>
                        <a:t>Zararlangan joy</a:t>
                      </a:r>
                    </a:p>
                  </a:txBody>
                  <a:tcPr marL="73152" marR="73152" marT="36576" marB="36576">
                    <a:solidFill>
                      <a:srgbClr val="E8EEF6"/>
                    </a:solidFill>
                  </a:tcPr>
                </a:tc>
                <a:tc>
                  <a:txBody>
                    <a:bodyPr/>
                    <a:lstStyle/>
                    <a:p>
                      <a:r>
                        <a:rPr sz="1200" b="0">
                          <a:solidFill>
                            <a:srgbClr val="1F2937"/>
                          </a:solidFill>
                        </a:rPr>
                        <a:t>Quruq, zich strup</a:t>
                      </a:r>
                    </a:p>
                  </a:txBody>
                  <a:tcPr marL="73152" marR="73152" marT="36576" marB="36576">
                    <a:solidFill>
                      <a:srgbClr val="E8EEF6"/>
                    </a:solidFill>
                  </a:tcPr>
                </a:tc>
                <a:tc>
                  <a:txBody>
                    <a:bodyPr/>
                    <a:lstStyle/>
                    <a:p>
                      <a:r>
                        <a:rPr sz="1200" b="0">
                          <a:solidFill>
                            <a:srgbClr val="1F2937"/>
                          </a:solidFill>
                        </a:rPr>
                        <a:t>Yumshoq, sirpanuvchan</a:t>
                      </a:r>
                    </a:p>
                  </a:txBody>
                  <a:tcPr marL="73152" marR="73152" marT="36576" marB="36576">
                    <a:solidFill>
                      <a:srgbClr val="E8EEF6"/>
                    </a:solidFill>
                  </a:tcPr>
                </a:tc>
              </a:tr>
              <a:tr h="411480">
                <a:tc>
                  <a:txBody>
                    <a:bodyPr/>
                    <a:lstStyle/>
                    <a:p>
                      <a:r>
                        <a:rPr sz="1200" b="0">
                          <a:solidFill>
                            <a:srgbClr val="1F2937"/>
                          </a:solidFill>
                        </a:rPr>
                        <a:t>Gematin</a:t>
                      </a:r>
                    </a:p>
                  </a:txBody>
                  <a:tcPr marL="73152" marR="73152" marT="36576" marB="36576">
                    <a:solidFill>
                      <a:srgbClr val="FFFFFF"/>
                    </a:solidFill>
                  </a:tcPr>
                </a:tc>
                <a:tc>
                  <a:txBody>
                    <a:bodyPr/>
                    <a:lstStyle/>
                    <a:p>
                      <a:r>
                        <a:rPr sz="1200" b="0">
                          <a:solidFill>
                            <a:srgbClr val="1F2937"/>
                          </a:solidFill>
                        </a:rPr>
                        <a:t>Nordon gematin, qo‘ng‘ir-qora</a:t>
                      </a:r>
                    </a:p>
                  </a:txBody>
                  <a:tcPr marL="73152" marR="73152" marT="36576" marB="36576">
                    <a:solidFill>
                      <a:srgbClr val="FFFFFF"/>
                    </a:solidFill>
                  </a:tcPr>
                </a:tc>
                <a:tc>
                  <a:txBody>
                    <a:bodyPr/>
                    <a:lstStyle/>
                    <a:p>
                      <a:r>
                        <a:rPr sz="1200" b="0">
                          <a:solidFill>
                            <a:srgbClr val="1F2937"/>
                          </a:solidFill>
                        </a:rPr>
                        <a:t>Ishqoriy gematin, qo‘ng‘ir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 va ishqor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142-143, 142, 143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o‘yuvchi modda ichgan bola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bola noma’lum o‘yuvchi suyuqlik ichgan, og‘iz atrofida oqmalar va qusuq bor. Bolalar kattalarga nisbatan sezgirroq.</a:t>
            </a:r>
          </a:p>
          <a:p>
            <a:pPr>
              <a:spcAft>
                <a:spcPts val="1200"/>
              </a:spcAft>
            </a:pPr>
            <a:r>
              <a:rPr sz="2200">
                <a:solidFill>
                  <a:srgbClr val="1F2937"/>
                </a:solidFill>
                <a:latin typeface="Calibri"/>
              </a:rPr>
              <a:t>▸  Kislotada oqmalar sarg‘ish-kulrang-qo‘ng‘ir, pergamentdek zich bo‘ladi. Lab va og‘iz shilliq qavati zichlashib, kulrang tusga kiradi.</a:t>
            </a:r>
          </a:p>
          <a:p>
            <a:pPr>
              <a:spcAft>
                <a:spcPts val="1200"/>
              </a:spcAft>
            </a:pPr>
            <a:r>
              <a:rPr sz="2200">
                <a:solidFill>
                  <a:srgbClr val="1F2937"/>
                </a:solidFill>
                <a:latin typeface="Calibri"/>
              </a:rPr>
              <a:t>▸  Ishqorda og‘iz atrofida oqma shaklidagi kuyish bo‘ladi. Shilliq qavat shishgan, oshqozon devori yumshoq va oson yirtiladi.</a:t>
            </a:r>
          </a:p>
          <a:p>
            <a:pPr>
              <a:spcAft>
                <a:spcPts val="1200"/>
              </a:spcAft>
            </a:pPr>
            <a:r>
              <a:rPr sz="2200">
                <a:solidFill>
                  <a:srgbClr val="1F2937"/>
                </a:solidFill>
                <a:latin typeface="Calibri"/>
              </a:rPr>
              <a:t>▸  Dastlabki davrda o‘lim: kislotada shok, asfiksiya, ichki qon ketish; ishqorda kuyish shoki, mexanik asfiksiya, o‘tkir yurak yetishmovchiligi.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141, 141, 143, 141, 143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va uning birikmalari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Sulema suvda eriydi, kuchli zahar; kalomel erimaydi, ichakda to‘planganda zaharlaydi.</a:t>
            </a:r>
          </a:p>
          <a:p>
            <a:pPr>
              <a:spcAft>
                <a:spcPts val="800"/>
              </a:spcAft>
            </a:pPr>
            <a:r>
              <a:rPr sz="1800">
                <a:solidFill>
                  <a:srgbClr val="1F2937"/>
                </a:solidFill>
                <a:latin typeface="Calibri"/>
              </a:rPr>
              <a:t>▸  Organik simob (granozan): yashirin davr oylab cho‘ziladi, neyrotoksik ta’sir kuchli, ensefalopatiya rivojlanadi.</a:t>
            </a:r>
          </a:p>
          <a:p>
            <a:pPr>
              <a:spcAft>
                <a:spcPts val="800"/>
              </a:spcAft>
            </a:pPr>
            <a:r>
              <a:rPr sz="1800">
                <a:solidFill>
                  <a:srgbClr val="1F2937"/>
                </a:solidFill>
                <a:latin typeface="Calibri"/>
              </a:rPr>
              <a:t>▸  Simob miya, suyak va buyrakda to‘planadi; murdada o‘n yillardan keyin ham topilishi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Sulema ichga qabul qilinadi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Simob albuminati hosil bo‘ladi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Ichak: “sulema dizenteriyasi”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Buyrak: “sulema buyragi”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buyrak yetishmovchiligi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Sulema zaharlanishi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145-146, 146, 147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Qo‘rg‘oshin, talliy va margimush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Qo‘rg‘oshin: nerv tizimi zarari yaqqol, kamqonlik rivojlanadi, ichak va buyrak zarari kuchsizroq.</a:t>
            </a:r>
          </a:p>
          <a:p>
            <a:pPr>
              <a:spcAft>
                <a:spcPts val="800"/>
              </a:spcAft>
            </a:pPr>
            <a:r>
              <a:rPr sz="1800">
                <a:solidFill>
                  <a:srgbClr val="1F2937"/>
                </a:solidFill>
                <a:latin typeface="Calibri"/>
              </a:rPr>
              <a:t>▸  Tetraetilqo‘rg‘oshin miyada xolinesterazani to‘sib, atsetilxolin to‘planishiga olib keladi.</a:t>
            </a:r>
          </a:p>
          <a:p>
            <a:pPr>
              <a:spcAft>
                <a:spcPts val="800"/>
              </a:spcAft>
            </a:pPr>
            <a:r>
              <a:rPr sz="1800">
                <a:solidFill>
                  <a:srgbClr val="1F2937"/>
                </a:solidFill>
                <a:latin typeface="Calibri"/>
              </a:rPr>
              <a:t>▸  Margimush so‘rilgach fermentlarning sulfgidril guruhlarini to‘sib, modda almashinuvini buzadi.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61450"/>
                <a:gridCol w="2163262"/>
                <a:gridCol w="2163262"/>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Yetakchi belgi</a:t>
                      </a:r>
                    </a:p>
                  </a:txBody>
                  <a:tcPr marL="73152" marR="73152" marT="36576" marB="36576">
                    <a:solidFill>
                      <a:srgbClr val="0B1F3A"/>
                    </a:solidFill>
                  </a:tcPr>
                </a:tc>
                <a:tc>
                  <a:txBody>
                    <a:bodyPr/>
                    <a:lstStyle/>
                    <a:p>
                      <a:r>
                        <a:rPr sz="1300" b="1">
                          <a:solidFill>
                            <a:srgbClr val="FFFFFF"/>
                          </a:solidFill>
                        </a:rPr>
                        <a:t>Aniqlanishi</a:t>
                      </a:r>
                    </a:p>
                  </a:txBody>
                  <a:tcPr marL="73152" marR="73152" marT="36576" marB="36576">
                    <a:solidFill>
                      <a:srgbClr val="0B1F3A"/>
                    </a:solidFill>
                  </a:tcPr>
                </a:tc>
              </a:tr>
              <a:tr h="411480">
                <a:tc>
                  <a:txBody>
                    <a:bodyPr/>
                    <a:lstStyle/>
                    <a:p>
                      <a:r>
                        <a:rPr sz="1200" b="0">
                          <a:solidFill>
                            <a:srgbClr val="1F2937"/>
                          </a:solidFill>
                        </a:rPr>
                        <a:t>Qo‘rg‘oshin</a:t>
                      </a:r>
                    </a:p>
                  </a:txBody>
                  <a:tcPr marL="73152" marR="73152" marT="36576" marB="36576">
                    <a:solidFill>
                      <a:srgbClr val="E8EEF6"/>
                    </a:solidFill>
                  </a:tcPr>
                </a:tc>
                <a:tc>
                  <a:txBody>
                    <a:bodyPr/>
                    <a:lstStyle/>
                    <a:p>
                      <a:r>
                        <a:rPr sz="1200" b="0">
                          <a:solidFill>
                            <a:srgbClr val="1F2937"/>
                          </a:solidFill>
                        </a:rPr>
                        <a:t>Nerv zarari, kamqonlik</a:t>
                      </a:r>
                    </a:p>
                  </a:txBody>
                  <a:tcPr marL="73152" marR="73152" marT="36576" marB="36576">
                    <a:solidFill>
                      <a:srgbClr val="E8EEF6"/>
                    </a:solidFill>
                  </a:tcPr>
                </a:tc>
                <a:tc>
                  <a:txBody>
                    <a:bodyPr/>
                    <a:lstStyle/>
                    <a:p>
                      <a:r>
                        <a:rPr sz="1200" b="0">
                          <a:solidFill>
                            <a:srgbClr val="1F2937"/>
                          </a:solidFill>
                        </a:rPr>
                        <a:t>Eritrotsitda bazofil donadorlik</a:t>
                      </a:r>
                    </a:p>
                  </a:txBody>
                  <a:tcPr marL="73152" marR="73152" marT="36576" marB="36576">
                    <a:solidFill>
                      <a:srgbClr val="E8EEF6"/>
                    </a:solidFill>
                  </a:tcPr>
                </a:tc>
              </a:tr>
              <a:tr h="411480">
                <a:tc>
                  <a:txBody>
                    <a:bodyPr/>
                    <a:lstStyle/>
                    <a:p>
                      <a:r>
                        <a:rPr sz="1200" b="0">
                          <a:solidFill>
                            <a:srgbClr val="1F2937"/>
                          </a:solidFill>
                        </a:rPr>
                        <a:t>Talliy</a:t>
                      </a:r>
                    </a:p>
                  </a:txBody>
                  <a:tcPr marL="73152" marR="73152" marT="36576" marB="36576">
                    <a:solidFill>
                      <a:srgbClr val="FFFFFF"/>
                    </a:solidFill>
                  </a:tcPr>
                </a:tc>
                <a:tc>
                  <a:txBody>
                    <a:bodyPr/>
                    <a:lstStyle/>
                    <a:p>
                      <a:r>
                        <a:rPr sz="1200" b="0">
                          <a:solidFill>
                            <a:srgbClr val="1F2937"/>
                          </a:solidFill>
                        </a:rPr>
                        <a:t>Sochning to‘kilishi, polineyropatiya</a:t>
                      </a:r>
                    </a:p>
                  </a:txBody>
                  <a:tcPr marL="73152" marR="73152" marT="36576" marB="36576">
                    <a:solidFill>
                      <a:srgbClr val="FFFFFF"/>
                    </a:solidFill>
                  </a:tcPr>
                </a:tc>
                <a:tc>
                  <a:txBody>
                    <a:bodyPr/>
                    <a:lstStyle/>
                    <a:p>
                      <a:r>
                        <a:rPr sz="1200" b="0">
                          <a:solidFill>
                            <a:srgbClr val="1F2937"/>
                          </a:solidFill>
                        </a:rPr>
                        <a:t>Tirnoqda oqish ko‘ndalang yo‘llar</a:t>
                      </a:r>
                    </a:p>
                  </a:txBody>
                  <a:tcPr marL="73152" marR="73152" marT="36576" marB="36576">
                    <a:solidFill>
                      <a:srgbClr val="FFFFFF"/>
                    </a:solidFill>
                  </a:tcPr>
                </a:tc>
              </a:tr>
              <a:tr h="411480">
                <a:tc>
                  <a:txBody>
                    <a:bodyPr/>
                    <a:lstStyle/>
                    <a:p>
                      <a:r>
                        <a:rPr sz="1200" b="0">
                          <a:solidFill>
                            <a:srgbClr val="1F2937"/>
                          </a:solidFill>
                        </a:rPr>
                        <a:t>Margimush</a:t>
                      </a:r>
                    </a:p>
                  </a:txBody>
                  <a:tcPr marL="73152" marR="73152" marT="36576" marB="36576">
                    <a:solidFill>
                      <a:srgbClr val="E8EEF6"/>
                    </a:solidFill>
                  </a:tcPr>
                </a:tc>
                <a:tc>
                  <a:txBody>
                    <a:bodyPr/>
                    <a:lstStyle/>
                    <a:p>
                      <a:r>
                        <a:rPr sz="1200" b="0">
                          <a:solidFill>
                            <a:srgbClr val="1F2937"/>
                          </a:solidFill>
                        </a:rPr>
                        <a:t>Oshqozon-ichak va paralitik turlar</a:t>
                      </a:r>
                    </a:p>
                  </a:txBody>
                  <a:tcPr marL="73152" marR="73152" marT="36576" marB="36576">
                    <a:solidFill>
                      <a:srgbClr val="E8EEF6"/>
                    </a:solidFill>
                  </a:tcPr>
                </a:tc>
                <a:tc>
                  <a:txBody>
                    <a:bodyPr/>
                    <a:lstStyle/>
                    <a:p>
                      <a:r>
                        <a:rPr sz="1200" b="0">
                          <a:solidFill>
                            <a:srgbClr val="1F2937"/>
                          </a:solidFill>
                        </a:rPr>
                        <a:t>Soch, tirnoq, suyakda uzoq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Og‘ir metall va metalloid zaharlari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147, 148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 va metgemoglobin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 gazi organik moddalar to‘liq yonmaganda hosil bo‘ladi, rangsiz va hidsiz. Odatda baxtsiz hodisa, ba’zan o‘z-o‘zini o‘ldirish.</a:t>
            </a:r>
          </a:p>
          <a:p>
            <a:pPr>
              <a:spcAft>
                <a:spcPts val="1200"/>
              </a:spcAft>
            </a:pPr>
            <a:r>
              <a:rPr sz="2200">
                <a:solidFill>
                  <a:srgbClr val="1F2937"/>
                </a:solidFill>
                <a:latin typeface="Calibri"/>
              </a:rPr>
              <a:t>▸  Is gazi gemoglobinni bog‘lab karboksigemoglobin hosil qiladi; qon, mushak va murda dog‘lari yorqin qizil tusga kiradi.</a:t>
            </a:r>
          </a:p>
          <a:p>
            <a:pPr>
              <a:spcAft>
                <a:spcPts val="1200"/>
              </a:spcAft>
            </a:pPr>
            <a:r>
              <a:rPr sz="2200">
                <a:solidFill>
                  <a:srgbClr val="1F2937"/>
                </a:solidFill>
                <a:latin typeface="Calibri"/>
              </a:rPr>
              <a:t>▸  Anilin, nitritlar, bertolet tuzi, nitrobenzol metgemoglobin hosil qiladi; u kislorodni biriktirib, to‘qimaga tashiy olmaydi.</a:t>
            </a:r>
          </a:p>
          <a:p>
            <a:pPr>
              <a:spcAft>
                <a:spcPts val="1200"/>
              </a:spcAft>
            </a:pPr>
            <a:r>
              <a:rPr sz="2200">
                <a:solidFill>
                  <a:srgbClr val="1F2937"/>
                </a:solidFill>
                <a:latin typeface="Calibri"/>
              </a:rPr>
              <a:t>▸  Diqqat, eslab qoling: is gazi – pushti, sianid – olcha rang, metgemoglobin – qo‘ng‘ir, gemoliz – sarg‘ish dog‘lar. Ranglarni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 136; Харин Г.М. (Kharin G.M.)., Краткий курс судебной медицины: учебное пособие, betlar: 131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narkotiklar va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Funksional zaharlar markaziy nerv tizimini (MNT) falajlaydi (sianid, fosfororganik birikmalar), qo‘zg‘atadi (strixnin, kokain) yoki so‘ndiradi (etil spirt, barbituratlar).</a:t>
            </a:r>
          </a:p>
          <a:p>
            <a:pPr>
              <a:spcAft>
                <a:spcPts val="1200"/>
              </a:spcAft>
            </a:pPr>
            <a:r>
              <a:rPr sz="2000">
                <a:solidFill>
                  <a:srgbClr val="1F2937"/>
                </a:solidFill>
                <a:latin typeface="Calibri"/>
              </a:rPr>
              <a:t>▸  Sianid sitoxromoksidazani to‘sib, to‘qima nafasini buzadi; fosfororganik birikmalar xolinesterazani to‘sib, nerv qo‘zg‘alishi uzatilishini izdan chiqaradi.</a:t>
            </a:r>
          </a:p>
          <a:p>
            <a:pPr>
              <a:spcAft>
                <a:spcPts val="1200"/>
              </a:spcAft>
            </a:pPr>
            <a:r>
              <a:rPr sz="2000">
                <a:solidFill>
                  <a:srgbClr val="1F2937"/>
                </a:solidFill>
                <a:latin typeface="Calibri"/>
              </a:rPr>
              <a:t>▸  Etanol butun molekulasi bilan narkotik ta’sir qiladi; atsetaldegid va sirka kislota yurakka zarar va atsidoz beradi, nafas markazi falajlanishi mumkin.</a:t>
            </a:r>
          </a:p>
          <a:p>
            <a:pPr>
              <a:spcAft>
                <a:spcPts val="1200"/>
              </a:spcAft>
            </a:pPr>
            <a:r>
              <a:rPr sz="2000">
                <a:solidFill>
                  <a:srgbClr val="1F2937"/>
                </a:solidFill>
                <a:latin typeface="Calibri"/>
              </a:rPr>
              <a:t>▸  Diqqat: o‘rganib qolishda (tolerantlik) doza oshiriladi, idiosinkraziyada esa sezgirlik kuchayadi; qabul to‘xtasa abstinensiya sindromi boshlanadi.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139-140; Iskandarov A.I., Qo‘ldoshev D.R., Sud tibbiyoti, betlar: 291, 287-288; Ромодановский П.О., Баринов Е.Х., Судебная медицина в схемах и рисунках: учебное пособие, betlar: 394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Ayrim fizik omillarning organizmga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namligi oshsa organizm tezroq qiziydi, chunki teri yuzasidan namlikning bug‘lanishi kamayadi. (?)</a:t>
            </a:r>
          </a:p>
          <a:p>
            <a:pPr>
              <a:spcAft>
                <a:spcPts val="800"/>
              </a:spcAft>
            </a:pPr>
            <a:r>
              <a:rPr sz="1800">
                <a:solidFill>
                  <a:srgbClr val="1F2937"/>
                </a:solidFill>
                <a:latin typeface="Calibri"/>
              </a:rPr>
              <a:t>▸  Elektr tokining zarari kuchlanish, tok kuchi, chastota va qarshilikka bog‘liq. (?)</a:t>
            </a:r>
          </a:p>
          <a:p>
            <a:pPr>
              <a:spcAft>
                <a:spcPts val="800"/>
              </a:spcAft>
            </a:pPr>
            <a:r>
              <a:rPr sz="1800">
                <a:solidFill>
                  <a:srgbClr val="1F2937"/>
                </a:solidFill>
                <a:latin typeface="Calibri"/>
              </a:rPr>
              <a:t>▸  Nur energiyasi o‘tkir va surunkali nur kasalligi hamda radiatsion kuyish chaqirishi mumkin. (?)</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Omil</a:t>
                      </a:r>
                    </a:p>
                  </a:txBody>
                  <a:tcPr marL="73152" marR="73152" marT="36576" marB="36576">
                    <a:solidFill>
                      <a:srgbClr val="0B1F3A"/>
                    </a:solidFill>
                  </a:tcPr>
                </a:tc>
                <a:tc>
                  <a:txBody>
                    <a:bodyPr/>
                    <a:lstStyle/>
                    <a:p>
                      <a:r>
                        <a:rPr sz="1400" b="1">
                          <a:solidFill>
                            <a:srgbClr val="FFFFFF"/>
                          </a:solidFill>
                        </a:rPr>
                        <a:t>Belgi (test)</a:t>
                      </a:r>
                    </a:p>
                  </a:txBody>
                  <a:tcPr marL="73152" marR="73152" marT="36576" marB="36576">
                    <a:solidFill>
                      <a:srgbClr val="0B1F3A"/>
                    </a:solidFill>
                  </a:tcPr>
                </a:tc>
              </a:tr>
              <a:tr h="411480">
                <a:tc>
                  <a:txBody>
                    <a:bodyPr/>
                    <a:lstStyle/>
                    <a:p>
                      <a:r>
                        <a:rPr sz="1300" b="0">
                          <a:solidFill>
                            <a:srgbClr val="1F2937"/>
                          </a:solidFill>
                        </a:rPr>
                        <a:t>Yuqori harorat</a:t>
                      </a:r>
                    </a:p>
                  </a:txBody>
                  <a:tcPr marL="73152" marR="73152" marT="36576" marB="36576">
                    <a:solidFill>
                      <a:srgbClr val="E8EEF6"/>
                    </a:solidFill>
                  </a:tcPr>
                </a:tc>
                <a:tc>
                  <a:txBody>
                    <a:bodyPr/>
                    <a:lstStyle/>
                    <a:p>
                      <a:r>
                        <a:rPr sz="1300" b="0">
                          <a:solidFill>
                            <a:srgbClr val="1F2937"/>
                          </a:solidFill>
                        </a:rPr>
                        <a:t>“Bokschi” holati, kuyish shoki</a:t>
                      </a:r>
                    </a:p>
                  </a:txBody>
                  <a:tcPr marL="73152" marR="73152" marT="36576" marB="36576">
                    <a:solidFill>
                      <a:srgbClr val="E8EEF6"/>
                    </a:solidFill>
                  </a:tcPr>
                </a:tc>
              </a:tr>
              <a:tr h="411480">
                <a:tc>
                  <a:txBody>
                    <a:bodyPr/>
                    <a:lstStyle/>
                    <a:p>
                      <a:r>
                        <a:rPr sz="1300" b="0">
                          <a:solidFill>
                            <a:srgbClr val="1F2937"/>
                          </a:solidFill>
                        </a:rPr>
                        <a:t>Past harorat</a:t>
                      </a:r>
                    </a:p>
                  </a:txBody>
                  <a:tcPr marL="73152" marR="73152" marT="36576" marB="36576">
                    <a:solidFill>
                      <a:srgbClr val="FFFFFF"/>
                    </a:solidFill>
                  </a:tcPr>
                </a:tc>
                <a:tc>
                  <a:txBody>
                    <a:bodyPr/>
                    <a:lstStyle/>
                    <a:p>
                      <a:r>
                        <a:rPr sz="1300" b="0">
                          <a:solidFill>
                            <a:srgbClr val="1F2937"/>
                          </a:solidFill>
                        </a:rPr>
                        <a:t>“Kalachik” holati, Vishnevskiy dog‘lari</a:t>
                      </a:r>
                    </a:p>
                  </a:txBody>
                  <a:tcPr marL="73152" marR="73152" marT="36576" marB="36576">
                    <a:solidFill>
                      <a:srgbClr val="FFFFFF"/>
                    </a:solidFill>
                  </a:tcPr>
                </a:tc>
              </a:tr>
              <a:tr h="411480">
                <a:tc>
                  <a:txBody>
                    <a:bodyPr/>
                    <a:lstStyle/>
                    <a:p>
                      <a:r>
                        <a:rPr sz="1300" b="0">
                          <a:solidFill>
                            <a:srgbClr val="1F2937"/>
                          </a:solidFill>
                        </a:rPr>
                        <a:t>Elektr toki</a:t>
                      </a:r>
                    </a:p>
                  </a:txBody>
                  <a:tcPr marL="73152" marR="73152" marT="36576" marB="36576">
                    <a:solidFill>
                      <a:srgbClr val="E8EEF6"/>
                    </a:solidFill>
                  </a:tcPr>
                </a:tc>
                <a:tc>
                  <a:txBody>
                    <a:bodyPr/>
                    <a:lstStyle/>
                    <a:p>
                      <a:r>
                        <a:rPr sz="1300" b="0">
                          <a:solidFill>
                            <a:srgbClr val="1F2937"/>
                          </a:solidFill>
                        </a:rPr>
                        <a:t>Kraterli markaz, valikli chekka</a:t>
                      </a:r>
                    </a:p>
                  </a:txBody>
                  <a:tcPr marL="73152" marR="73152" marT="36576" marB="36576">
                    <a:solidFill>
                      <a:srgbClr val="E8EEF6"/>
                    </a:solidFill>
                  </a:tcPr>
                </a:tc>
              </a:tr>
              <a:tr h="411480">
                <a:tc>
                  <a:txBody>
                    <a:bodyPr/>
                    <a:lstStyle/>
                    <a:p>
                      <a:r>
                        <a:rPr sz="1300" b="0">
                          <a:solidFill>
                            <a:srgbClr val="1F2937"/>
                          </a:solidFill>
                        </a:rPr>
                        <a:t>Barometrik bosim</a:t>
                      </a:r>
                    </a:p>
                  </a:txBody>
                  <a:tcPr marL="73152" marR="73152" marT="36576" marB="36576">
                    <a:solidFill>
                      <a:srgbClr val="FFFFFF"/>
                    </a:solidFill>
                  </a:tcPr>
                </a:tc>
                <a:tc>
                  <a:txBody>
                    <a:bodyPr/>
                    <a:lstStyle/>
                    <a:p>
                      <a:r>
                        <a:rPr sz="1300" b="0">
                          <a:solidFill>
                            <a:srgbClr val="1F2937"/>
                          </a:solidFill>
                        </a:rPr>
                        <a:t>Gaz emboliyasi, quloq pardasi yirtilishi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 va xos belgi (test asosida)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133, 137, 134, 136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yakuniy tezkor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dog‘lar yorqin qizil, laboratoriyada zahar topilmadi. Zaharlanishni inkor etish mumkinmi?</a:t>
            </a:r>
          </a:p>
          <a:p>
            <a:pPr>
              <a:spcAft>
                <a:spcPts val="1200"/>
              </a:spcAft>
            </a:pPr>
            <a:r>
              <a:rPr sz="2200">
                <a:solidFill>
                  <a:srgbClr val="1F2937"/>
                </a:solidFill>
                <a:latin typeface="Calibri"/>
              </a:rPr>
              <a:t>▸  Yo‘q. Manfiy natija zahar o‘limdan oldin organizmdan chiqib ketganini yoki o‘zgarib (biotransformatsiya) ketganini ko‘rsatishi mumkin.</a:t>
            </a:r>
          </a:p>
          <a:p>
            <a:pPr>
              <a:spcAft>
                <a:spcPts val="1200"/>
              </a:spcAft>
            </a:pPr>
            <a:r>
              <a:rPr sz="2200">
                <a:solidFill>
                  <a:srgbClr val="1F2937"/>
                </a:solidFill>
                <a:latin typeface="Calibri"/>
              </a:rPr>
              <a:t>▸  Soxta manfiy natijaga kam doza, sezgirligi past usul, uchuvchan zahar namunasini noto‘g‘ri saqlash yoki namunani suyultirish sabab bo‘ladi.</a:t>
            </a:r>
          </a:p>
          <a:p>
            <a:pPr>
              <a:spcAft>
                <a:spcPts val="1200"/>
              </a:spcAft>
            </a:pPr>
            <a:r>
              <a:rPr sz="2200">
                <a:solidFill>
                  <a:srgbClr val="1F2937"/>
                </a:solidFill>
                <a:latin typeface="Calibri"/>
              </a:rPr>
              <a:t>▸  Tezkor savol: nega sud-kimyoviy natija yagona isbot emas? Xulosa voqea joyi, murda ko‘rigi va klinika bilan birga chiqariladi.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Харин Г.М. (Kharin G.M.)., Краткий курс судебной медицины: учебное пособие, betlar: 131; Baizoldanov T. (Байзолданов Т.)., Токсикологическая химия: учебник, betlar: 122; G‘iyosov Z.A., Sud tibbiyoti: darslik, betlar: 298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doza moddani dori yoki zaharga aylantiradi. Ta’sir zahar, organizm, kirish yo‘li va tashqi sharoitga bog‘liq.</a:t>
            </a:r>
          </a:p>
          <a:p>
            <a:pPr>
              <a:spcAft>
                <a:spcPts val="1200"/>
              </a:spcAft>
            </a:pPr>
            <a:r>
              <a:rPr sz="2200">
                <a:solidFill>
                  <a:srgbClr val="1F2937"/>
                </a:solidFill>
                <a:latin typeface="Calibri"/>
              </a:rPr>
              <a:t>▸  Zaharlanish diagnostikasi uch bosqichli: voqea joyi va hujjatlar, murda tekshiruvi, qo‘shimcha laboratoriya tekshiruvlari.</a:t>
            </a:r>
          </a:p>
          <a:p>
            <a:pPr>
              <a:spcAft>
                <a:spcPts val="1200"/>
              </a:spcAft>
            </a:pPr>
            <a:r>
              <a:rPr sz="2200">
                <a:solidFill>
                  <a:srgbClr val="1F2937"/>
                </a:solidFill>
                <a:latin typeface="Calibri"/>
              </a:rPr>
              <a:t>▸  Zaharlar asosan mahalliy (o‘yuvchi) va umumiy ta’sirli (destruktiv, qon, funksional) guruhlarga bo‘linadi.</a:t>
            </a:r>
          </a:p>
          <a:p>
            <a:pPr>
              <a:spcAft>
                <a:spcPts val="1200"/>
              </a:spcAft>
            </a:pPr>
            <a:r>
              <a:rPr sz="2200">
                <a:solidFill>
                  <a:srgbClr val="1F2937"/>
                </a:solidFill>
                <a:latin typeface="Calibri"/>
              </a:rPr>
              <a:t>▸  Bolalar kattalardan sezgirroq: vazni kichik, umumiy qarshilik tizimi esa to‘liq shakllanmagan.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135-136, 138, 134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Grigoriy Rasputinni kaliy tsianidi bilan zaharlashga urinish (1916-yil dekabr) muvaffaqiyatsiz tugadi. Zahar uzoq vaqt kislorodsiz joyda saqlangan, CO2 bilan birikib potash (K2CO3) ga aylangan va zaharsiz bo‘lib qolgan. Xulosa: zaharning saqlanish muddati va sharoiti uning ta’sirini o‘zgartiradi.</a:t>
            </a:r>
          </a:p>
          <a:p>
            <a:pPr>
              <a:spcAft>
                <a:spcPts val="1200"/>
              </a:spcAft>
            </a:pPr>
            <a:r>
              <a:rPr sz="1800">
                <a:solidFill>
                  <a:srgbClr val="1F2937"/>
                </a:solidFill>
                <a:latin typeface="Calibri"/>
              </a:rPr>
              <a:t>▸  Hodisa tahlili (pediatriya uchun): 3 yoshli qizcha yiqilgandan keyin talvasa va xushsizlik bilan olib kelindi. Ichki qon ketishga shubha qilinib, kalla suyagi ochildi, lekin qon topilmadi. Ichki organlarda piramidon aniqlandi: qizcha yiqilishdan oldin 10 tabletka ichgan edi. Dars: bitta klinik belgiga qarab zaharlanishni tashxislash qiyin, bolalarda zaharlanishni doim o‘ylab ko‘rish kerak.</a:t>
            </a:r>
          </a:p>
          <a:p>
            <a:pPr>
              <a:spcAft>
                <a:spcPts val="1200"/>
              </a:spcAft>
            </a:pPr>
            <a:r>
              <a:rPr sz="1800">
                <a:solidFill>
                  <a:srgbClr val="1F2937"/>
                </a:solidFill>
                <a:latin typeface="Calibri"/>
              </a:rPr>
              <a:t>▸  Atropin yordamida fosh etilgan simulyatsiya: 17 yoshli qizning ko‘z qorachig‘i keskin kengaygan, «miya ko‘rligi» deb gumon qilingan. Yosh vrach to‘shakdan shisha va pipetka topib, suyuqlikni mushukning ko‘ziga tomizgan. Mushukning qorachig‘i kengaygach, atropin ishlatilgani tasdiqlangan. Bu farmakologik tekshiruv usuliga misol.</a:t>
            </a:r>
          </a:p>
          <a:p>
            <a:pPr>
              <a:spcAft>
                <a:spcPts val="1200"/>
              </a:spcAft>
            </a:pPr>
            <a:r>
              <a:rPr sz="1800">
                <a:solidFill>
                  <a:srgbClr val="1F2937"/>
                </a:solidFill>
                <a:latin typeface="Calibri"/>
              </a:rPr>
              <a:t>▸  Eslab qolish usuli «uch nuqta» qoidasi: «Kirdi – Ta’sir qildi – Chiqdi». Toksikologik tekshiruv uchun namuna zahar kirgan joydan, asosan ta’sir etgan joydan va organizmdan chiqqan joydan olinadi. Masalan, og‘iz orqali kirgan zahar uchun: oshqozon ichidagi massa (kirdi), jigar bo‘lagi (ta’sir qildi), buyrak siydik bilan (chiqdi).</a:t>
            </a:r>
          </a:p>
          <a:p>
            <a:pPr>
              <a:spcAft>
                <a:spcPts val="1200"/>
              </a:spcAft>
            </a:pPr>
            <a:r>
              <a:rPr sz="1800">
                <a:solidFill>
                  <a:srgbClr val="1F2937"/>
                </a:solidFill>
                <a:latin typeface="Calibri"/>
              </a:rPr>
              <a:t>▸  Soch zahar «arxivi» vazifasini o‘taydi: giyohvand va dori moddalar sochda metabolizmga uchramaydi. Stanozolol 4-18 hafta qabul qilinib to‘xtatilgach, siydikda topilmagan, lekin sochda bir yildan keyin ham aniqlangan. Kitobda Jon Kits sochida opiatlar 167 yildan keyin topilgani ham qayd etilgan.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toksikologiya boshqa toksikologiya turlaridan nimasi bilan farq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Zaharlanishning oldini olish choralarini ishlab chiqadi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Jabrlanganlarga malakali tibbiy yordam ko‘rsatadi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Huquqni muhofaza etuvchi idoralar vazifalarini hal etadi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Zaharlanish sabablarini faqat ishlab chiqarishda o‘rganadi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Tibbiy muolaja paytida dori dozasi noto‘g‘ri belgilandi va bemor zaharlandi. Bu zaharlanish qaysi turga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Tasodifiy, yatrogen kelib chiqishli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Qasddan, qotillik maqsadidagi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Qasddan, o‘z-o‘zini o‘ldirishdagi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Kasbiy, ishlab chiqarishga xos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Bariy sulfat rentgenda kontrast butqa sifatida ishlatiladi, bariy xlorid esa kuchli zahar. Bu farqni qaysi xususiyat tushuntiradi?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rangi va hidi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Moddaning narxi va saqlanishi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Moddaning kristall shakli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Moddaning suvda eruvchanligi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xil dozadagi zaharli modda bolaga kattalarga qaraganda kuchliroq ta’sir qildi. Bolaning sezgirligi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Vazni katta va hujayralari qarshilikka o‘rganib qolgan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Vazni kichik va umumiy qarshilik tizimi to‘liq shakllanmagan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Oshqozonida massa ko‘p va qon aylanishi sekin kechadi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Jigari katta va zaharni tez to‘playdigan to‘qimasi ko‘p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Zaharli modda nafas yo‘llari orqali kirganda, oshqozon-ichakdan so‘rilganiga nisbatan kuchliroq ta’sir qiladi. Buning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Nafas yo‘llarida zahar qonga juda sekin so‘riladi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yo‘llaridan so‘rilgan zahar suvda erimaydi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Qonga so‘rilgan modda jigar orqali o‘tmaydi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 yo‘llari shilliq qavati zaharni to‘plab turadi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Ishlab chiqarishda zaharli bug‘ni nafas orqali olgan ishchi og‘ir zaharlandi. Nima sababdan nafas yo‘llari orqali kirgan modda oshqozon-ichakdan so‘rilganiga nisbatan kuchliroq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Chunki nafas yo‘llarida zahar suvda erimaydigan holatga o‘tib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Chunki shilliq qavat zaharni oshqozon shirasi bilan zararsizlantiradi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Chunki bunda zahar avval jigarda to‘liq biotransformatsiyaga uchraydi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Chunki zahar jigar orqali o‘tmasdan to‘g‘ridan to‘g‘ri qonga so‘riladi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Maktabgacha yoshdagi bola kattalar uchun xavfsiz hisoblangan miqdordagi moddadan og‘ir zaharlandi. Bolalarning zaharga sezgirligi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 shirasi kuchsiz bo‘lgani uchun zahar bolada so‘rilmay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 jigarida zaharni zararsizlantiruvchi fermentlar ortiqcha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Vazni kichik va umumiy qarshilik ko‘rsatish tizimi to‘liq shakllanmagan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Terisi qalin bo‘lgani sababli zahar bolada faqat mahalliy ta’sir qiladi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Giyohvand moddani uzoq qabul qilgan shaxs uni qabul qila olmagach, unda ruhiy va jismoniy buzilishlar paydo bo‘ldi. Bu holat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Abstinensiya sindromi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Idiosinkraziya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Tolerantlik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Kumulyasiya holati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Zaharlovchi modda ma’lum: u og‘iz orqali qabul qilingan, asosan jigarga ta’sir etgan va siydik orqali chiqqan. “Uch nuqta” qoidasiga ko‘ra toksikologik tekshiruvga qaysi ob’ektlar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oshqozon ichidagi massa va butun o‘pka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 ichidagi massa, jigarning bir qismi va siydik bilan butun buyrak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 miyaning uchdan bir qismi va yurakdagi qon bilan taloq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100-200 ml qon va ingichka ichakning bir metr qismi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Alkogolga tekshirish uchun olingan qon namunasi xona haroratida 1 sutkadan ortiq saqlandi. Tahlilda qanday xato xavfi paydo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Soxta salbiy natija: etanol havo ta’sirida butunlay parchalanadi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Xatolik bo‘lmaydi, chunki antikoagulyant etanol hosil bo‘lishini to‘xtatadi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Soxta ijobiy natija: qonda 1‰ gacha etanol hosil bo‘lishi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Soxta salbiy natija: qondagi barcha etanol eritrotsitlarga o‘tib ketadi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Ko‘mib qo‘yilgan murda ochildi va ichki a’zolarda zahar topildi. Ekspert qaysi savolga javob izlashi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 qanday rangda va hidda bo‘lgan?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 o‘limdan keyin tuproqdan o‘tmaganmi?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Marhumning mastlik darajasi qanday edi?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 qaysi dorixonadan olingan edi?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Yosh erkak xushsiz keltirildi: og‘zidan alkogol hidi keladi, kiyimida qusuq izlari bor. Oshqozoni yuvildi, bir necha soatdan keyin vafot etdi. Sekciyada kalla suyagi g‘umbazi sinishi va epidural gematoma topildi.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Qusish faqat zaharlanishda bo‘ladi, shuning uchun tashxis to‘g‘ri edi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Mastlik bor edi, demak o‘lim albatta alkogoldan sodir bo‘lgan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Oshqozonni yuvish o‘limning bevosita sababi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Qusish bosh jarohatida ham bo‘ladi, shuning uchun sabab boshqa edi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Metil spirti ichgan bemorda dastlab narkotik ta’sir, keyin kardiotoksik, nefrotoksik va neyrotoksik o‘zgarishlar rivojlandi. Keyingi o‘zgarishlar qaysi modda ta’siri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Metabolit — formaldegid</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Metabolit — oksalat kislotasi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Metabolit — atsetaldegid</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Metabolit — sirka kislotasi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Yog‘da yaxshi eruvchi toksik moddalar organizmdan asosan qaysi yo‘l bilan chiqariladi?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Buyrak orqali siydik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O‘pka orqali nafas havosi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O‘t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Yo‘g‘on ichak orqali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Sanoat xodimida simob birikmalaridan zaharlanish aniqlandi: ichki a’zolarda distrofik va nekrotik o‘zgarishlar bor. Zahar sud-tibbiy tasnifda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Asosan mahalliy ta’sir etuvchi zaharlar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Gemotrop (qon) zaharlari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Destruktiv zaharlar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Funksional zaharlar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Kishi natriy gidroksid eritmasini ichgan. Murdada oshqozon devori yumshoq va oson yirtiladi, shilliq qavat kulrang-yashil. Bu o‘zgarishlar qaysi nekroz turiga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Koagulyasion (quruq) nekroz, kislotalarga xos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Kollikvatsion (nam) nekroz, oqsil suyulishi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Gangrenoz nekroz, anaerob infeksiya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Yog‘li nekroz, lipaza fermenti ta’siri bilan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Bolalar o‘yuvchi va boshqa zaharli moddalarga kattalarga qaraganda sezgirroq bo‘ladi. Bu holat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 shirasi kislotaliligi kattalarnikidan ancha yuqoriligi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Jigarda biotransformatsiya tezligi kattalarnikidan ancha yuqoriligi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Teri va shilliq qavatlarning himoya qavati ancha qalinligi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 vazni kichikligi va qarshilik tizimi to‘liq shakllanmaganligi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yo‘g‘on ichakning yuqoriga ko‘tariluvchi qismida difteritik yallig‘lanish va iflos-kulrang tubli yaralar topildi. Buyraklar kattalashgan, po‘stloq qavati qalinlashgan. Qaysi zahar bilan zaharlanish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Sulema (simob dixlorid)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Margimush angidridi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Qo‘rg‘oshin xlorid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Talliy tuzlari bilan zaharlanish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Kimyoviy laboratoriya xodimida ‘Parij yashili’ kabi margimush birikmalari bilan zaharlanishga shubha qilindi. Zahar qonga so‘rilgach, asosiy biokimyoviy ta’siri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Xolinesteraza bloklanib, atsetilxolin to‘planadi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Karboksigemoglobin hosil bo‘lib, kislorod tashilmaydi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Fermentlarning sulfgidril guruhlari bloklanadi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Sitoxromoksidaza uch valentli temirda qotib qoladi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tashqi ko‘rilganda murda dog‘lari jigar rang, qo‘ng‘ir tusda. Bu qaysi guruh zahari bilan zaharlanishga shubha uyg‘otadi?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 gazi hosil qiluvchi moddalar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Metgemoglobin hosil qiluvchi moddalar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Sianid kislotasi tuzlari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Gemoliz chaqiruvchi moddalar bilan zaharlanish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Huquqni muhofaza etuvchi idoralar vazifalarini hal etadi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toksikologiya yo‘nalishlari zaharlanish sabablari, tibbiy yordam va oldini olishga qaratilgan. Sud-tibbiy toksikologiya esa zaharlanish hollarida huquqni muhofaza etuvchi idoralar qo‘ygan vazifalarni hal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Tasodifiy, yatrogen kelib chiqishli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Dori dozasini belgilashdagi xato yoki bir dori o‘rniga boshqasini qo‘llash tasodifiy zaharlanishdir. Bunday holat yatrogen kelib chiqishga ega. Qotillik va o‘z-o‘zini o‘ldirishda zaharlanish qasddan sodir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Moddaning suvda eruvchanligi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Bariy sulfat suvda erimaydi, shuning uchun zaharlamaydi. Bariy xlorid suvda eriydi, shu sababli kuchli zahar hisoblanadi. Toksik ta’sir moddaning eruvchanligi bilan uzviy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Vazni kichik va umumiy qarshilik tizimi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sezgirroq. Bir tomondan vazni kichik, ikkinchi tomondan umumiy qarshilik ko‘rsatish tizimi to‘liq shakllanmagan.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Qonga so‘rilgan modda jigar orqali o‘tmaydi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qavatlaridan so‘rilgan moddalar jigar orqali o‘tmaydi. Shu sababli ular oshqozon va ichakdan so‘rilganlarga nisbatan kuchliroq ta’sir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Chunki zahar jigar orqali o‘tmasdan to‘g‘ridan to‘g‘ri qonga so‘riladi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qavatlaridan so‘rilgan moddalar jigar orqali o‘tmaydi. Shuning uchun ular oshqozon va ichakdan so‘rilgan moddalarga qaraganda kuchliroq ta’sir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Vazni kichik va umumiy qarshilik ko‘rsatish tizimi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sezgirroq. Buning sabablari: vazni kichik va ularda umumiy qarshilik ko‘rsatish tizimi to‘liq shakllanmagan.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Abstinensiya sindromi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Ruhiy va jismoniy bog‘liqlik shakllangan shaxs moddani qabul qilmaganda abstinensiya sindromi kuzatiladi. Narkomaniya va toksikomaniya bunga misol bo‘ladi. Idiosinkraziya esa moddaga o‘ta sezgirlikdir.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Oshqozon ichidagi massa, jigarning bir qismi va siydik bilan butun buyrak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 bo‘yicha ob’ektlar zahar kirgan, asosan ta’sir etgan va organizmdan chiqqan joylardan olinadi. Bu holatda oshqozon ichidagi massa, jigarning bir qismi hamda butun buyrak siydik bilan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Soxta ijobiy natija: qonda 1‰ gacha etanol hosil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xona haroratida 1 sutkadan ortiq saqlansa, unda 1‰ gacha etanol hosil bo‘ladi. Bu soxta ijobiy natijaga olib keladi. Shu sababli teri etanol bilan dezinfeksiya qilinmaydi, namuna esa sovuq joyda saqlanadi.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124-bet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Zahar o‘limdan keyin tuproqdan o‘tmaganmi?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Zaharlanish ekspertizasi savollari ichida zaharli modda tanaga o‘limdan keyin (tuproq, suv va h.k. orqali) tushishi mumkinmi, degan savol bor. Shu sababli kimyoviy tekshiruvda zaharning topilishi har doim zaharlanishni isbotlamaydi.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Харин Г.М. (Kharin G.M.)., Краткий курс судебной медицины: учебное пособие, 131-132-bet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Qusish bosh jarohatida ham bo‘ladi, shuning uchun sabab boshqa edi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Qusish faqat zaharlanishda emas, kalla ichi bosimi oshganda, miya o‘smasida, bosh miyaga qon quyilganda ham kuzatiladi. Mastlik fonida olingan bosh jarohati o‘z vaqtida aniqlanmagan. Bitta klinik belgiga qarab zaharlanishni aytish qiyin.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Iskandarov A.I., Qo‘ldoshev D.R., Sud tibbiyoti, 293-294-bet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Metabolit — formaldegid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Metil spirtining o‘zi dastlab narkotik ta’sir ko‘rsatadi. Keyin vujudga keladigan kardio-, nefro- va neyrotoksik o‘zgarishlar uning metaboliti formaldegid bilan bog‘liq. Oksalat kislotasi etilenglikolning metaboliti, atsetaldegid esa etil spirtiniki.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O‘t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Yog‘da eruvchi moddalar o‘t bilan chiqariladi. Suvda eruvchilar buyrak, uchuvchan moddalar o‘pka, og‘ir metallar yo‘g‘on ichak orqali chiqariladi. Narkotiklar va alkogol sut va so‘lak bezlari orqali ajraladi.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137-138-bet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Destruktiv zaharlar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Simob, qo‘rg‘oshin, rux, margimush, fosfor va ularning birikmalari destruktiv zaharlar hisoblanadi. Ular qonga so‘rilgach, ichki a’zolarda to‘qima strukturasining buzilishiga olib keladi. Bu guruh asosan umumiy (rezorbtiv) ta’sir etuvchi zaharlarga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Kollikvatsion (nam) nekroz, oqsil suyulishi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Ishqorlar gidroksil anionlari bilan ta’sir qiladi. Ular to‘qima oqsillarini suyultirib, ishqor albuminatlarini hosil qiladi. Bu kollikvatsion (nam) nekrozdir. Yog‘lar sovunlanishi tufayli shikastlangan soha yumshoq, shishgan va sirpanuvchan bo‘ladi. Koagulyasion (quruq) nekroz esa kislotalarga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Tana vazni kichikligi va qarshilik tizimi to‘liq shakllanmaganligi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bolalarning sezgirligi bir tomondan vazni kichikligi bilan, ikkinchi tomondan umumiy qarshilik ko‘rsatish tizimining to‘liq shakllanmaganligi bilan izohlanadi. Boshqa variantlar manbada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Sulema (simob dixlorid)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Sulema bilan zaharlanishda yo‘g‘on ichakning yuqoriga ko‘tariluvchi qismida difteritik yallig‘lanish kuzatiladi (“sulema dizenteriyasi”). Buyraklar kattalashadi, po‘stloq qavati qalinlashadi (“sulema buyragi”). Zaharni ajratuvchi a’zolar shikastlanadi.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Fermentlarning sulfgidril guruhlari bloklanadi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Margimush birikmalari qonga so‘rilgach to‘qima fermentlarining sulfgidril guruhlarini bloklaydi. Natijada modda almashinuvi buziladi. Xolinesterazani bloklash fosfororganik birikmalarga, karboksigemoglobin is gaziga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148-bet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Metgemoglobin hosil qiluvchi moddalar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Metgemoglobin hosil qiluvchi moddalar murda dog‘larini jigar rang, qo‘ng‘ir qiladi. Is gazida dog‘lar pushti, sianidlarda yorqin olcha rangda, gemoliz chaqiruvchi zaharlarda sarg‘ish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a:p>
            <a:pPr>
              <a:spcAft>
                <a:spcPts val="12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1-qism, 3-bob: zaharlanishlar tasnifi va toksikokinetika, s.53-119</a:t>
            </a:r>
          </a:p>
          <a:p>
            <a:pPr>
              <a:spcAft>
                <a:spcPts val="12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1-qism, 4-bob: kimyoviy-toksikologik tahlil metodologiyasi, s.120-151</a:t>
            </a:r>
          </a:p>
          <a:p>
            <a:pPr>
              <a:spcAft>
                <a:spcPts val="1200"/>
              </a:spcAft>
            </a:pPr>
            <a:r>
              <a:rPr sz="2000">
                <a:solidFill>
                  <a:srgbClr val="1F2937"/>
                </a:solidFill>
                <a:latin typeface="Calibri"/>
              </a:rPr>
              <a:t>▸  Iskandarov A.I., Qo‘ldoshev D.R. Sud tibbiyoti (tibbiyot instituti talabalari uchun), Toshkent (egasi taqdim etgan; yopiq foydalanish). . XIII-bob. Sud-tibbiy toksikologiya; bet 284-350</a:t>
            </a:r>
          </a:p>
          <a:p>
            <a:pPr>
              <a:spcAft>
                <a:spcPts val="1200"/>
              </a:spcAft>
            </a:pPr>
            <a:r>
              <a:rPr sz="2000">
                <a:solidFill>
                  <a:srgbClr val="1F2937"/>
                </a:solidFill>
                <a:latin typeface="Calibri"/>
              </a:rPr>
              <a:t>▸  Ромодановский П.О., Баринов Е.Х. Судебная медицина в схемах и рисунках: учебное пособие, М.: Проспект (egasi taqdim etgan; yopiq foydalanish). 2017. 5-modul. Zaharlovchi moddalar ta’siridan jarohat va o‘lim; bet 375-407</a:t>
            </a:r>
          </a:p>
          <a:p>
            <a:pPr>
              <a:spcAft>
                <a:spcPts val="1200"/>
              </a:spcAft>
            </a:pPr>
            <a:r>
              <a:rPr sz="2000">
                <a:solidFill>
                  <a:srgbClr val="1F2937"/>
                </a:solidFill>
                <a:latin typeface="Calibri"/>
              </a:rPr>
              <a:t>▸  Харин Г.М. (Kharin G.M.). Краткий курс судебной медицины: учебное пособие, М.: ГЭОТАР-Медиа (egasi taqdim etgan; yopiq foydalanish). 2006. VI bo‘lim, 15-bob. Zaharlar va zaharlanishlar haqida umumiy ma’lumot; test nazorati; bet 129-138</a:t>
            </a:r>
          </a:p>
          <a:p>
            <a:pPr>
              <a:spcAft>
                <a:spcPts val="1200"/>
              </a:spcAft>
            </a:pPr>
            <a:r>
              <a:rPr sz="2000">
                <a:solidFill>
                  <a:srgbClr val="1F2937"/>
                </a:solidFill>
                <a:latin typeface="Calibri"/>
              </a:rPr>
              <a:t>▸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М.: Медицина (egasi taqdim etgan; yopiq foydalanish). 2004. 2-bob. Narkotik intoksikatsiyalarni sud-tibbiy diagnostika qilishning yangi metodologik yondashuvlari (kitob beti 89-124); bet 89-124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