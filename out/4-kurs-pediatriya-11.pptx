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nima uchun pediatr shifokor zaharlanishlarni bilishi kerak? Zaharlanish zo‘raki o‘limda nechanchi o‘rinda? Doskada: zo‘raki o‘lim sabablarining uch pog‘onali tartibini chizing (jarohat, asfiksiya, zaharlanish). Tipik xato: talabalar mavzu nomidagi fizik omillarni ham shu ma’ruzada ko‘riladi deb o‘ylaydi; manbada ular yo‘qligini ayting.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nega bir modda bir holatda dori, boshqasida zahar bo‘ladi? Klinik toksikologiya va sud-tibbiy toksikologiyaning maqsadi qanday farqlanadi? Doskada: ikki ustunli solishtirish (klinik: yordam va oldini olish; sud-tibbiy: huquqni muhofaza idoralari vazifalari). Tipik xato: sud-tibbiy toksikologiyani faqat davolash fani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yatrogen zaharlanish qaysi turga kiradi va nega? Bolalarda dozani belgilashdagi xatoning xavfi nimada? Doskada: jadvalni uchrash tartibi bo‘yicha o‘zingiz to‘ldiring. Tipik xato: yatrogen zaharlanishni qasddan sodir etilgan deb hisoblash; manbada u tasodifiy zaharlanishlar qatorida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bir xil zahar turli odamlarda turlicha ta’sir qiladi? 2) Tashqi sharoit qaysi moddalar uchun muhim? Doskada: markazda «Zaharlanish», atrofida to‘rt omil sxemasini chizdiring. Tipik xato: tashqi sharoit barcha zaharlarga bir xil ta’sir qiladi deb o‘ylash. Aslida u faqat ayrim moddalarda (alkogol, is gazi, vodorod sulfid) muhim.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gaz suyuqdan kuchliroq ta’sir qiladi? 2) Nega jigardan o‘tmagan zahar kuchliroq? Doskada: ikki ustunli ro‘yxat chizdiring: «suvda eruvchi» va «yog‘da eruvchi» moddalar, har biriga misol yozing. Tipik xato: «erimaydigan modda hamisha zararsiz» deb o‘ylash. Aslida u faqat mahalliy ta’sir ko‘rsatishi mumkin.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Bolaning sezgirligini ikki sababi bilan tushuntiring. 2) Pediatr dori dozasini belgilashda qanday xato xavfi bor? Doskada: kattalar va bolalar letal dozalarini yonma-yon yozing (strixnin, klofelin). Tipik xato: bolani «kichraytirilgan kattalar» deb hisoblash va dozani vaznga moslamasdan berish.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nima uchun funksional zaharlarda tibbiy hujjatlar ayniqsa muhim? Murda tekshiruvidan keyin laboratoriya tekshiruvi nega kerak? Doskada: 3 bosqichli zanjirni chizing va har bosqichga 1-2 dalil turini yozing. Tipik xato: talabalar tibbiy hujjatlarni faqat birinchi bosqichda deb unutib, ularning funksional zaharlardagi rolini kam baholaydi.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strixnin va kurare mushak qotishiga qarama-qarshi ta’sir qiladi? Hid yo‘qolib ketishi mumkinligi nimani anglatadi? Doskada: rang-zahar jadvalini talabalar o‘zi to‘ldirsin. Diqqat: xato qilish xavfi – strixnin ≠ kurare (qotish tez va kuchli ≠ sust va kuchsiz). Tipik xato: is gazi (pushti) va sianid (olcha rang) dog‘larini aralashtirish; funksional zaharlarda xos o‘zgarish bo‘lmasligi mumkinligini unutish.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nima uchun og‘iz orqali ichilgan zaharda oshqozon, jigar va buyrak olinadi? “O‘rta sinama” qachon qo‘llanadi? Doskada: kirgan joy – ta’sir joyi – chiqqan joy chizmasini chizing va bitta zahar misolini joylashtiring. Tipik xato: faqat oshqozon massasini olib, ta’sir etgan a’zo (jigar) va chiqqan joy (siydik bilan buyrak) namunasini unutish; o‘rta sinamani oddiy holatlarda ham olish.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Nega rang belgisi yagona dalil bo‘la olmaydi? 2) Nega namuna uch joydan olinadi? Doskada chizish: uch bosqichli zanjir (joy, murda, laboratoriya) va har bosqich yoniga dalil turini yozing. Tipik xato: talabalar murda dog‘i rangiga qarab tashxisni qat’iy deb hisoblaydi, laboratoriya bosqichini unutadi.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metabolit ba’zan asl moddadan xavfliroq? 2) Fosfororganik birikma oksidlanganda va gidrolizga uchraganda toksikligi qanday o‘zgaradi? (oksidlanganda kuchayadi, gidrolizda susayadi). Doskada chizish: kirish, taqsimlanish, metabolizm, chiqarilish zanjiri. Tipik xato: biotransformatsiyani doim zararsizlanish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Birlamchi, keyingi va metatoksik ta’sir nimasi bilan farqlanadi? 2) Zaharning miqdoriy va sifat o‘zgarishi klinik-morfologik jarayonga qanday ta’sir qiladi? Doskada chizish: sirka kislotasi misolida uch bosqichli strelkali sxema. Tipik xato: toksikokinetika va toksikodinamika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nega kislota va ishqor mahalliy, simob esa umumiy zahar hisoblanadi? Qaysi guruhda murdada xos morfologik o‘zgarish kam bo‘ladi? Doskada 4 guruhli jadvalni talabalar bilan birga chizdiring. Tipik xato: mahalliy zahar umumiy reaksiya bermaydi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nega kislotada quruq (koagulyasion) nekroz, ishqorda esa yumshoq (kollikvatsion) nekroz hosil bo‘ladi? Atsidoz qanday asorat beradi? Doskada zanjir chizing: H⁺ ioni → suvsizlanish → oqsil ivishi → quruq nekroz → strup. Tipik xato: letal dozani konsentratsiyaga bog‘lamasdan yodlash.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sirka kislotasida gemoliz qanday asorat beradi? Nitrat kislotada sarg‘ish rang qaysi sharoitda chiqadi? Doskada to‘rt kislotali taqqoslash jadvalini chizdiring. Tipik xato: barcha kislotalarda oshqozon shilliq qavati bir xil rangda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ishqor kislotaga qaraganda chuqurroq kirishi mumkin? 2) Nashatir spirtining mahalliy va umumiy ta’sirini taqqoslang. Doskada: kislota va ishqor nekrozini ikki ustunda chizdiring (ko‘rinishi, konsistensiyasi, rangi). Tipik xato: koagulyasion va kollikvatsion nekrozni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dastlabki soatlarda asfiksiya xavfi bor? 2) Sirka kislotasining rezorbtiv (gemolitik) ta’siri buyrakka qanday ta’sir qiladi? Doskada: o‘lim sabablarini vaqt chizig‘i (dastlabki soatlar — kech muddat) shaklida chizdiring. Tipik xato: o‘limni faqat kuyish bilan bog‘lash, gemolizni unutish.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Nima uchun simob va margimush murdada yillar o‘tgach ham aniqlanadi? 2) Organik va anorganik simob klinikasi qanday farqlanadi? Doskada: jadvalni to‘ldirib, talliyni (gastroenterit, alopetsiya, polineyropatiya) qo‘shimcha qator sifatida yozdiring. Tipik xato: organik simobda ham stomatit va kuchli buyrak zararini kutish.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gemoglobin kislorod tashiy olmay qoladi? 2) Is gazi sitoxrom va mioglobinga ham qanday ta’sir qiladi? Doskada zanjir sxemasini chizdiring. Klinika: bosh og‘rig‘i, quloqda shovqin, ko‘ngil aynishi, yuz qizarishi, puls tezlashishi, so‘ng talvasali koma. Is gazi metabolizmga uchramaydi, o‘pka orqali chiqadi; toza havoda bir necha soatda ketadi. Go‘daklar kattalardan chidamliroq. Tipik xato: is gazini karbonat angidrid bilan aralashtirish; kimyoviy tuzilishi o‘xshash, lekin toksikligi bir xil emas.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bu sinamalar klinikada ham qulay? 2) Nitrit va nitratning farqi nimada? Doskada taqqoslash jadvalini chizdiring. Metgemoglobin hosil qiluvchilar: nitrat va nitrit tuzlari, nitrobenzol, anilin, kaliy xlorat, gidroxinon. Murdada nitrobenzol bilan achchiq bodom hidi, anilin bilan aromatik hid keladi. Metgemoglobin 1-2 kundan so‘ng topilmasligi mumkin; og‘ir holda 5-6 kun aniqlanadi. Tipik xato: sinama natijasini teskari talqin qilish (normal qon qo‘ng‘ir bo‘ladi, is gazli qon o‘zgarmaydi).</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Qaysi omillar qondagi karboksigemoglobin miqdorini pasaytirishi mumkin? 2) Bunday holda tibbiy xodim nimani birinchi bajarishi kerak? Doskada tekshiruv ketma-ketligini (sinama, spektroskopiya, miqdoriy tekshiruv) chizdiring. Talabalar javobida murda dog‘larining pushti rangini qayd etishsin. Tipik xato: qonda karboksigemoglobin topilmasa, is gazini darhol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MNT — markaziy nerv tizimi, doskada yozing. Muhokama: nega qonda kislorod bo‘lsa ham sianidda to‘qima bo‘g‘iladi? Nega kech o‘limda FOB topilmasligi mumkin, lekin xolinesteraza aktivligi past bo‘ladi? Doskada chizing: zahar → ferment → gipoksiya zanjirini. Diqqat, tipik xato: achchiq bodom hidi sianidda tez yo‘qoladi, nitrobenzolda uzoq saqlanadi — ularni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8-10 daqiqa. Muhokama: nega mastlik darajasi qondagi promille bo‘yicha baholanadi? Murdada 5,0 promille va undan ko‘p spirt o‘tkir zaharlanishdan o‘lim sababi hisoblanadi (160-bet). “Alkogol bilan bog‘liq o‘lim” (alcohol related death) — spirt bilvosita moyillik yaratgan o‘limni ham o‘z ichiga oladi (158-bet). Doskada chizing: etanol → atsetaldegid → sirka kislotasi zanjirini. Tipik xato: sinamalar spirt miqdorini emas, faqat borligini ko‘rsatadi.</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nega P hammada bir xil emas (uyqu, koma, jismoniy yuklama, tolerantlik)? Nega namunani imkon qadar erta olish kerak? Doskada chizing: formula elementlari va hisoblash zanjirini. Tipik xato: reduksiya omili r bilan Vidmark konstantasi P ni aralashtirish; r — jins va tana tuzilishiga, P — vaqt birligidagi pasayishga tegishli.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Talabalarga savollarni yopiq kitob bilan so‘rang. Muhokama: 1) Qonda 2,0 promille spirt topilsa, bu qaysi daraja? 2) Qon va siydikdagi spirt miqdorini taqqoslash nimani ko‘rsatadi? Doskaga vaqt o‘qi chizing: rezorbsiya davri (qon ↑), keyin eliminatsiya davri (qon ↓, siydik baland). Tipik xato: eliminatsiya va rezorbsiya davrlarini aralashtirish, mastlik darajasi bilan zaharlanish chegarasini (3,0 promille)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metanolda yashirin davrda ahvol yaxshilangandek ko‘rinadi, lekin xavf saqlanadi? 2) Etil spirti surrogatlariga nimalar kiradi? Doskaga sxema chizing: metanol → formaldegid + chumoli kislotasi → atsidoz. Tipik xato: metil va etil spirtini bir xil xavfli deb o‘ylash. Eslatma: manbada ko‘rish buzilishi matnda etil spirti deb yozilgan, lekin metanol bo‘limiga tegishli ko‘rinadi; shuning uchun band ishonchsiz deb belgilandi, darslikdan aniqlashtiring.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 Muhokama: 1) Nega bolalar strixnin va klofelinga sezgirroq? 2) Atropin va pilokarpin belgilari qanday farqlanadi (qorachiq kengayishi va torayishi)? Doskaga jadvalni ko‘chirib, har qatorga bir belgini o‘zingiz to‘ldirtiring. Tipik xato: bolalar uchun letal dozani kattalarnikidek deb hisoblash (pediatriya uchun alohida ahamiyatli).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Nima uchun alkogol bilan birga olingan sedativ xavfliroq? 2) Bolada klofelin dozasi nega muhim? Doskada: namuna olish ketma-ketligini chizdiring (qon, siydik, oshqozon yuvmasi, qusuq, axlat, idish qoldig‘i). Tipik xato: faqat qon olib, oshqozon yuvma suvi va siydikni unutish. Yana: uyqu dorisi topilishi har doim zaharlanish degani emas, chunki u terapevtik dozada ham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10 daqiqa. Muhokama: 1) Nega DRD tushunchasiga baxtsiz hodisa va qotillik ham kiritilgan? 2) Tolerantlik bilan abstinensiya qanday bog‘liq? Doskada: bog‘liqlik zanjirini chizdiring (qayta qabul, tolerantlik, doza oshishi, abstinensiya). Qo‘shimcha: kannabinoidlarni aniqlash uchun 10 ml qon, 10 ml siydik, 10 ml so‘lak va qo‘l barmoqlaridan yuvma olinadi. Tipik xato: DRD ni faqat «dozadan ortiqcha zaharlanish»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Nega ozginlik yoki tatirovka narkotik iste’molini isbotlamaydi? 2) Qaysi laboratoriya tekshiruvi xulosani tasdiqlaydi? Doskada: 4 guruhli jadvalni talabalar bilan to‘ldirdiring. Tipik xato: turmush tarzi belgilarini qat’iy dalil deb hisoblash; ular faqat voqea tafsiloti, klinik ma’lumot va sud-kimyoviy natija bilan birga baholanadi.</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Nima uchun bu belgilar bilvosita dalil hisoblanadi? 2) Qaysi laboratoriya tekshiruvi xulosani asoslaydi? Doskada: narkotik bilan bog‘liq o‘lim holatlarida murdada topiladigan to‘rt guruh o‘zgarishlarni ro‘yxat qilib chizing. Tipik xato: in’eksiya izlariga qarab narkotik qabul qilinganini qat’iy deb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Nega tashqaridan zahar qo‘shilishi ovqatdan zaharlanish emas? 2) Toksikoinfeksiya va intoksikatsiya nimasi bilan farq qiladi? Doskada: tasnif sxemasini daraxt shaklida chizing. Tipik xato: toksikoinfeksiya (bakteriya bilan ifloslangan mahsulot) va intoksikatsiya (to‘plangan toksin) tushunchalarini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9 daqiqa. Muhokama: 1) Nega botulizm uy konservalarida ko‘p uchraydi? 2) Zaharli qo‘shimchali mahsulotdan zaharlanishda nima uchun epidemiologik tekshiruv ham o‘tkaziladi? Doskada: zaharli o‘simlik – toksin – asosiy ta’sir jadvalini chizing. Tipik xato: blednaya poganka toksinini termik ishlov yoki oshqozon sokida parchalanadi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bir oiladagi bir xil belgilar zaharlanish manbai ovqat ekanini ko‘rsatadi? 2) Qaysi namunalar (ovqat qoldig‘i, qusuq, qon) birinchi olinadi? Doskaga chizish: vaziyatdan tekshiruv turigacha zanjir (belgi, manba, tekshiruv). Tipik xato: guruhiy zaharlanishda faqat sud-kimyoviy tekshiruv bilan cheklanish, epidemiologik va botanik, mikologik tekshiruvlarni unutish.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Zahar topilmasa, zaharlanish yo‘q degan xulosa to‘g‘rimi? 2) Nega namunani tibbiy muassasada imkon qadar tez olish kerak? Doskaga chizish: soxta musbat va soxta manfiy sabablari ikki ustunli sxema. Qo‘shimcha: fermentlarga ta’sir etuvchi moddalarda biokimyoviy tekshiruv o‘tkazilishini ayting (manba, 180-bet). Tipik xato: laboratoriya natijasini yolg‘iz o‘zi hal qiluvchi deb baholash.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Uch bosqichli diagnostika ketma-ketligini o‘z so‘zlaringiz bilan ayting. 2) Zaharlar tasnifining asosiy guruhlari qaysilar? Doskaga chizish: zaharlar tasnifi daraxti (mahalliy va umumiy, uch tarmoq). Uyga vazifa: nazorat savollari 1-10. Tipik xato: destruktiv va funksional zaharlarni aralashtirish, hamda laboratoriya natijasini voqea tafsilotidan alohida baholash.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№5. Maʻruza: Sud tibbiy toksikologiyasi. Ayrim fizik omillarning organizmga ta’siri.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reja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Kimyoviy omillar ta’sirida sog‘liqning buzilishi va o‘lim holatlari sud-tibbiy ekspertiza amaliyotida nisbatan keng uchraydi.</a:t>
            </a:r>
          </a:p>
          <a:p>
            <a:pPr>
              <a:spcAft>
                <a:spcPts val="1200"/>
              </a:spcAft>
            </a:pPr>
            <a:r>
              <a:rPr sz="2200">
                <a:solidFill>
                  <a:srgbClr val="1F2937"/>
                </a:solidFill>
                <a:latin typeface="Calibri"/>
              </a:rPr>
              <a:t>▸  Zo‘raki o‘lim tuzilmasida zaharlanishlar mexanik jarohatlar va mexanik asfiksiyadan keyin uchinchi o‘rinni egallaydi.</a:t>
            </a:r>
          </a:p>
          <a:p>
            <a:pPr>
              <a:spcAft>
                <a:spcPts val="1200"/>
              </a:spcAft>
            </a:pPr>
            <a:r>
              <a:rPr sz="2200">
                <a:solidFill>
                  <a:srgbClr val="1F2937"/>
                </a:solidFill>
                <a:latin typeface="Calibri"/>
              </a:rPr>
              <a:t>▸  Reja: zahar tushunchasi, omillar, diagnostika, toksikokinetika, tasnif, zaharlar guruhlari, ovqatdan zaharlanish va laboratoriya tekshiruvlari.</a:t>
            </a:r>
          </a:p>
          <a:p>
            <a:pPr>
              <a:spcAft>
                <a:spcPts val="1200"/>
              </a:spcAft>
            </a:pPr>
            <a:r>
              <a:rPr sz="2200">
                <a:solidFill>
                  <a:srgbClr val="1F2937"/>
                </a:solidFill>
                <a:latin typeface="Calibri"/>
              </a:rPr>
              <a:t>▸  Eslatma: berilgan manbada fizik omillar bo‘limi yo‘q, shuning uchun bu ma’ruzada faqat sud-tibbiy toksikologiya yoritiladi.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132–181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 zaharlanish va toksikologiya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 nisbiy tushuncha: oz miqdori sog‘liqni buzadigan yoki o‘limga olib keladigan modda. Mutlaq zahar ham, mutlaq beziyon modda ham yo‘q.</a:t>
            </a:r>
          </a:p>
          <a:p>
            <a:pPr>
              <a:spcAft>
                <a:spcPts val="1200"/>
              </a:spcAft>
            </a:pPr>
            <a:r>
              <a:rPr sz="2200">
                <a:solidFill>
                  <a:srgbClr val="1F2937"/>
                </a:solidFill>
                <a:latin typeface="Calibri"/>
              </a:rPr>
              <a:t>▸  Paratselsning iborasi: faqat doza moddani dori yoki zaharga aylantiradi. Oz miqdordagi modda ta’siridagi sog‘liq buzilishi zaharlanish deyiladi.</a:t>
            </a:r>
          </a:p>
          <a:p>
            <a:pPr>
              <a:spcAft>
                <a:spcPts val="1200"/>
              </a:spcAft>
            </a:pPr>
            <a:r>
              <a:rPr sz="2200">
                <a:solidFill>
                  <a:srgbClr val="1F2937"/>
                </a:solidFill>
                <a:latin typeface="Calibri"/>
              </a:rPr>
              <a:t>▸  Toksikologiya yo‘nalishlari: sanoat, qishloq xo‘jaligi, harbiy, oziq-ovqat, maishiy va sud-tibbiy. Sud tibbiyoti fani shundan shakllana boshlagan.</a:t>
            </a:r>
          </a:p>
          <a:p>
            <a:pPr>
              <a:spcAft>
                <a:spcPts val="1200"/>
              </a:spcAft>
            </a:pPr>
            <a:r>
              <a:rPr sz="2200">
                <a:solidFill>
                  <a:srgbClr val="1F2937"/>
                </a:solidFill>
                <a:latin typeface="Calibri"/>
              </a:rPr>
              <a:t>▸  Diqqat: boshqa toksikologiya sabab, yordam va oldini olishni o‘rgansa, sud-tibbiy toksikologiya huquqni muhofaza etuvchi idoralar vazifalarini hal etadi.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 turlari va uchrash tartibi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Ekspertiza ma’lumotlarida aksariyat zaharlanish baxtsiz hodisa; keyingi o‘rinda o‘z-o‘zini o‘ldirish turadi.</a:t>
            </a:r>
          </a:p>
          <a:p>
            <a:pPr>
              <a:spcAft>
                <a:spcPts val="800"/>
              </a:spcAft>
            </a:pPr>
            <a:r>
              <a:rPr sz="1800">
                <a:solidFill>
                  <a:srgbClr val="1F2937"/>
                </a:solidFill>
                <a:latin typeface="Calibri"/>
              </a:rPr>
              <a:t>▸  Zaharlash yo‘li bilan qotillik kamdan-kam holatlarda kuzatiladi.</a:t>
            </a:r>
          </a:p>
          <a:p>
            <a:pPr>
              <a:spcAft>
                <a:spcPts val="800"/>
              </a:spcAft>
            </a:pPr>
            <a:r>
              <a:rPr sz="1800">
                <a:solidFill>
                  <a:srgbClr val="1F2937"/>
                </a:solidFill>
                <a:latin typeface="Calibri"/>
              </a:rPr>
              <a:t>▸  Yatrogen zaharlanish: dori dozasini belgilashda xato yoki bir dori o‘rniga boshqasini qo‘llash.</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602416"/>
                <a:gridCol w="1682537"/>
                <a:gridCol w="2003020"/>
              </a:tblGrid>
              <a:tr h="411480">
                <a:tc>
                  <a:txBody>
                    <a:bodyPr/>
                    <a:lstStyle/>
                    <a:p>
                      <a:r>
                        <a:rPr sz="1300" b="1">
                          <a:solidFill>
                            <a:srgbClr val="FFFFFF"/>
                          </a:solidFill>
                        </a:rPr>
                        <a:t>Turi</a:t>
                      </a:r>
                    </a:p>
                  </a:txBody>
                  <a:tcPr marL="73152" marR="73152" marT="36576" marB="36576">
                    <a:solidFill>
                      <a:srgbClr val="0B1F3A"/>
                    </a:solidFill>
                  </a:tcPr>
                </a:tc>
                <a:tc>
                  <a:txBody>
                    <a:bodyPr/>
                    <a:lstStyle/>
                    <a:p>
                      <a:r>
                        <a:rPr sz="1300" b="1">
                          <a:solidFill>
                            <a:srgbClr val="FFFFFF"/>
                          </a:solidFill>
                        </a:rPr>
                        <a:t>Sodir bo‘lishi</a:t>
                      </a:r>
                    </a:p>
                  </a:txBody>
                  <a:tcPr marL="73152" marR="73152" marT="36576" marB="36576">
                    <a:solidFill>
                      <a:srgbClr val="0B1F3A"/>
                    </a:solidFill>
                  </a:tcPr>
                </a:tc>
                <a:tc>
                  <a:txBody>
                    <a:bodyPr/>
                    <a:lstStyle/>
                    <a:p>
                      <a:r>
                        <a:rPr sz="1300" b="1">
                          <a:solidFill>
                            <a:srgbClr val="FFFFFF"/>
                          </a:solidFill>
                        </a:rPr>
                        <a:t>Uchrashi</a:t>
                      </a:r>
                    </a:p>
                  </a:txBody>
                  <a:tcPr marL="73152" marR="73152" marT="36576" marB="36576">
                    <a:solidFill>
                      <a:srgbClr val="0B1F3A"/>
                    </a:solidFill>
                  </a:tcPr>
                </a:tc>
              </a:tr>
              <a:tr h="411480">
                <a:tc>
                  <a:txBody>
                    <a:bodyPr/>
                    <a:lstStyle/>
                    <a:p>
                      <a:r>
                        <a:rPr sz="1200" b="0">
                          <a:solidFill>
                            <a:srgbClr val="1F2937"/>
                          </a:solidFill>
                        </a:rPr>
                        <a:t>Baxtsiz hodisa</a:t>
                      </a:r>
                    </a:p>
                  </a:txBody>
                  <a:tcPr marL="73152" marR="73152" marT="36576" marB="36576">
                    <a:solidFill>
                      <a:srgbClr val="E8EEF6"/>
                    </a:solidFill>
                  </a:tcPr>
                </a:tc>
                <a:tc>
                  <a:txBody>
                    <a:bodyPr/>
                    <a:lstStyle/>
                    <a:p>
                      <a:r>
                        <a:rPr sz="1200" b="0">
                          <a:solidFill>
                            <a:srgbClr val="1F2937"/>
                          </a:solidFill>
                        </a:rPr>
                        <a:t>Tasodifan</a:t>
                      </a:r>
                    </a:p>
                  </a:txBody>
                  <a:tcPr marL="73152" marR="73152" marT="36576" marB="36576">
                    <a:solidFill>
                      <a:srgbClr val="E8EEF6"/>
                    </a:solidFill>
                  </a:tcPr>
                </a:tc>
                <a:tc>
                  <a:txBody>
                    <a:bodyPr/>
                    <a:lstStyle/>
                    <a:p>
                      <a:r>
                        <a:rPr sz="1200" b="0">
                          <a:solidFill>
                            <a:srgbClr val="1F2937"/>
                          </a:solidFill>
                        </a:rPr>
                        <a:t>Aksariyat holatlar</a:t>
                      </a:r>
                    </a:p>
                  </a:txBody>
                  <a:tcPr marL="73152" marR="73152" marT="36576" marB="36576">
                    <a:solidFill>
                      <a:srgbClr val="E8EEF6"/>
                    </a:solidFill>
                  </a:tcPr>
                </a:tc>
              </a:tr>
              <a:tr h="411480">
                <a:tc>
                  <a:txBody>
                    <a:bodyPr/>
                    <a:lstStyle/>
                    <a:p>
                      <a:r>
                        <a:rPr sz="1200" b="0">
                          <a:solidFill>
                            <a:srgbClr val="1F2937"/>
                          </a:solidFill>
                        </a:rPr>
                        <a:t>O‘z-o‘zini o‘ldirish</a:t>
                      </a:r>
                    </a:p>
                  </a:txBody>
                  <a:tcPr marL="73152" marR="73152" marT="36576" marB="36576">
                    <a:solidFill>
                      <a:srgbClr val="FFFFFF"/>
                    </a:solidFill>
                  </a:tcPr>
                </a:tc>
                <a:tc>
                  <a:txBody>
                    <a:bodyPr/>
                    <a:lstStyle/>
                    <a:p>
                      <a:r>
                        <a:rPr sz="1200" b="0">
                          <a:solidFill>
                            <a:srgbClr val="1F2937"/>
                          </a:solidFill>
                        </a:rPr>
                        <a:t>Qasddan</a:t>
                      </a:r>
                    </a:p>
                  </a:txBody>
                  <a:tcPr marL="73152" marR="73152" marT="36576" marB="36576">
                    <a:solidFill>
                      <a:srgbClr val="FFFFFF"/>
                    </a:solidFill>
                  </a:tcPr>
                </a:tc>
                <a:tc>
                  <a:txBody>
                    <a:bodyPr/>
                    <a:lstStyle/>
                    <a:p>
                      <a:r>
                        <a:rPr sz="1200" b="0">
                          <a:solidFill>
                            <a:srgbClr val="1F2937"/>
                          </a:solidFill>
                        </a:rPr>
                        <a:t>Ikkinchi o‘rinda</a:t>
                      </a:r>
                    </a:p>
                  </a:txBody>
                  <a:tcPr marL="73152" marR="73152" marT="36576" marB="36576">
                    <a:solidFill>
                      <a:srgbClr val="FFFFFF"/>
                    </a:solidFill>
                  </a:tcPr>
                </a:tc>
              </a:tr>
              <a:tr h="411480">
                <a:tc>
                  <a:txBody>
                    <a:bodyPr/>
                    <a:lstStyle/>
                    <a:p>
                      <a:r>
                        <a:rPr sz="1200" b="0">
                          <a:solidFill>
                            <a:srgbClr val="1F2937"/>
                          </a:solidFill>
                        </a:rPr>
                        <a:t>Qotillik</a:t>
                      </a:r>
                    </a:p>
                  </a:txBody>
                  <a:tcPr marL="73152" marR="73152" marT="36576" marB="36576">
                    <a:solidFill>
                      <a:srgbClr val="E8EEF6"/>
                    </a:solidFill>
                  </a:tcPr>
                </a:tc>
                <a:tc>
                  <a:txBody>
                    <a:bodyPr/>
                    <a:lstStyle/>
                    <a:p>
                      <a:r>
                        <a:rPr sz="1200" b="0">
                          <a:solidFill>
                            <a:srgbClr val="1F2937"/>
                          </a:solidFill>
                        </a:rPr>
                        <a:t>Qasddan</a:t>
                      </a:r>
                    </a:p>
                  </a:txBody>
                  <a:tcPr marL="73152" marR="73152" marT="36576" marB="36576">
                    <a:solidFill>
                      <a:srgbClr val="E8EEF6"/>
                    </a:solidFill>
                  </a:tcPr>
                </a:tc>
                <a:tc>
                  <a:txBody>
                    <a:bodyPr/>
                    <a:lstStyle/>
                    <a:p>
                      <a:r>
                        <a:rPr sz="1200" b="0">
                          <a:solidFill>
                            <a:srgbClr val="1F2937"/>
                          </a:solidFill>
                        </a:rPr>
                        <a:t>Kamdan-kam</a:t>
                      </a:r>
                    </a:p>
                  </a:txBody>
                  <a:tcPr marL="73152" marR="73152" marT="36576" marB="36576">
                    <a:solidFill>
                      <a:srgbClr val="E8EEF6"/>
                    </a:solidFill>
                  </a:tcPr>
                </a:tc>
              </a:tr>
              <a:tr h="411480">
                <a:tc>
                  <a:txBody>
                    <a:bodyPr/>
                    <a:lstStyle/>
                    <a:p>
                      <a:r>
                        <a:rPr sz="1200" b="0">
                          <a:solidFill>
                            <a:srgbClr val="1F2937"/>
                          </a:solidFill>
                        </a:rPr>
                        <a:t>Yatrogen</a:t>
                      </a:r>
                    </a:p>
                  </a:txBody>
                  <a:tcPr marL="73152" marR="73152" marT="36576" marB="36576">
                    <a:solidFill>
                      <a:srgbClr val="FFFFFF"/>
                    </a:solidFill>
                  </a:tcPr>
                </a:tc>
                <a:tc>
                  <a:txBody>
                    <a:bodyPr/>
                    <a:lstStyle/>
                    <a:p>
                      <a:r>
                        <a:rPr sz="1200" b="0">
                          <a:solidFill>
                            <a:srgbClr val="1F2937"/>
                          </a:solidFill>
                        </a:rPr>
                        <a:t>Tibbiy xato oqibatida</a:t>
                      </a:r>
                    </a:p>
                  </a:txBody>
                  <a:tcPr marL="73152" marR="73152" marT="36576" marB="36576">
                    <a:solidFill>
                      <a:srgbClr val="FFFFFF"/>
                    </a:solidFill>
                  </a:tcPr>
                </a:tc>
                <a:tc>
                  <a:txBody>
                    <a:bodyPr/>
                    <a:lstStyle/>
                    <a:p>
                      <a:r>
                        <a:rPr sz="1200" b="0">
                          <a:solidFill>
                            <a:srgbClr val="1F2937"/>
                          </a:solidFill>
                        </a:rPr>
                        <a:t>Tasodifiy holatlar ichida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turlari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Zaharlanishga ta’sir etuvchi to‘rt omil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Zaharlanishda to‘rt guruh omil farqlanadi: zahar, organizm, kirish yo‘li va tashqi shart-sharoit.</a:t>
            </a:r>
          </a:p>
          <a:p>
            <a:pPr>
              <a:spcAft>
                <a:spcPts val="800"/>
              </a:spcAft>
            </a:pPr>
            <a:r>
              <a:rPr sz="1800">
                <a:solidFill>
                  <a:srgbClr val="1F2937"/>
                </a:solidFill>
                <a:latin typeface="Calibri"/>
              </a:rPr>
              <a:t>▸  Kimyoviy tuzilish xususiyatni belgilaydi: is gazi va karbonat angidridning toksikligi farqli.</a:t>
            </a:r>
          </a:p>
          <a:p>
            <a:pPr>
              <a:spcAft>
                <a:spcPts val="800"/>
              </a:spcAft>
            </a:pPr>
            <a:r>
              <a:rPr sz="1800">
                <a:solidFill>
                  <a:srgbClr val="1F2937"/>
                </a:solidFill>
                <a:latin typeface="Calibri"/>
              </a:rPr>
              <a:t>▸  Yopiq, issiq va nam muhit alkogol hamda is gazi bilan zaharlanishga moyillik yaratadi.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Zaharlanish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Zaharli modda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Organizm</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Kirish yo‘li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4. Tashqi shart-sharoit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Zaharlanish omillari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132–133, 135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Omillar tafsiloti: zahar, organizm, kirish yo‘li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Zahar: doza va konsentratsiya (3% sirka kislota ≠ sirka essensiyasi), agregat holat, eruvchanlik; vexikulum (zaharni olib kiruvchi muhit) ta’sirni o‘zgartiradi.</a:t>
            </a:r>
          </a:p>
          <a:p>
            <a:pPr>
              <a:spcAft>
                <a:spcPts val="1200"/>
              </a:spcAft>
            </a:pPr>
            <a:r>
              <a:rPr sz="2000">
                <a:solidFill>
                  <a:srgbClr val="1F2937"/>
                </a:solidFill>
                <a:latin typeface="Calibri"/>
              </a:rPr>
              <a:t>▸  Og‘ir metallar organizmda to‘planadi (kumulyatsiya). Organizm: vazn, yosh, kasalliklar, genetika; takroriy qabulda tolerantlik (o‘rganib qolish) rivojlanadi.</a:t>
            </a:r>
          </a:p>
          <a:p>
            <a:pPr>
              <a:spcAft>
                <a:spcPts val="1200"/>
              </a:spcAft>
            </a:pPr>
            <a:r>
              <a:rPr sz="2000">
                <a:solidFill>
                  <a:srgbClr val="1F2937"/>
                </a:solidFill>
                <a:latin typeface="Calibri"/>
              </a:rPr>
              <a:t>▸  Kirish yo‘llari: teri, og‘iz, nafas yo‘li, to‘g‘ri ichak, in’eksiya. Nafas yo‘li, to‘g‘ri ichak va qindan so‘rilgan modda jigardan o‘tmay, kuchliroq ta’sir qiladi.</a:t>
            </a:r>
          </a:p>
          <a:p>
            <a:pPr>
              <a:spcAft>
                <a:spcPts val="1200"/>
              </a:spcAft>
            </a:pPr>
            <a:r>
              <a:rPr sz="2000">
                <a:solidFill>
                  <a:srgbClr val="1F2937"/>
                </a:solidFill>
                <a:latin typeface="Calibri"/>
              </a:rPr>
              <a:t>▸  Diqqat: bariy xlorid suvda eriydi — kuchli zahar; bariy sulfat erimaydi, shuning uchun kontrast butqada ishlatiladi. Yog‘da eruvchi fosfororganik modda teridan ham so‘riladi.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133, 133–134, 134–135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bolada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strixninning letal dozasi kattalarda 0,1–0,3 g, kichik yoshdagi bolalarda esa 0,005 g.</a:t>
            </a:r>
          </a:p>
          <a:p>
            <a:pPr>
              <a:spcAft>
                <a:spcPts val="1200"/>
              </a:spcAft>
            </a:pPr>
            <a:r>
              <a:rPr sz="2200">
                <a:solidFill>
                  <a:srgbClr val="1F2937"/>
                </a:solidFill>
                <a:latin typeface="Calibri"/>
              </a:rPr>
              <a:t>▸  Klofelinning letal dozasi kattalarda 0,005–0,01 g, bolalarda esa 0,004 g va undan kam dozada ham o‘lim bo‘lishi mumkin.</a:t>
            </a:r>
          </a:p>
          <a:p>
            <a:pPr>
              <a:spcAft>
                <a:spcPts val="1200"/>
              </a:spcAft>
            </a:pPr>
            <a:r>
              <a:rPr sz="2200">
                <a:solidFill>
                  <a:srgbClr val="1F2937"/>
                </a:solidFill>
                <a:latin typeface="Calibri"/>
              </a:rPr>
              <a:t>▸  Sabab: bolaning vazni kichik va umumiy qarshilik tizimi to‘liq shakllanmagan.</a:t>
            </a:r>
          </a:p>
          <a:p>
            <a:pPr>
              <a:spcAft>
                <a:spcPts val="1200"/>
              </a:spcAft>
            </a:pPr>
            <a:r>
              <a:rPr sz="2200">
                <a:solidFill>
                  <a:srgbClr val="1F2937"/>
                </a:solidFill>
                <a:latin typeface="Calibri"/>
              </a:rPr>
              <a:t>▸  Savol: nega bolalar kattalarga nisbatan sezgirroq? Dori dozasi nima uchun 1 kg vaznga hisoblanadi?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165, 167, 134, 133–134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Zaharlanishning sud-tibbiy diagnostikasi: 3 bosqich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Birinchi bosqich: hodisa joyi mutaxassis ishtirokida ko‘zdan kechiriladi, ashyoviy dalillar laboratoriyaga olinadi.</a:t>
            </a:r>
          </a:p>
          <a:p>
            <a:pPr>
              <a:spcAft>
                <a:spcPts val="800"/>
              </a:spcAft>
            </a:pPr>
            <a:r>
              <a:rPr sz="1800">
                <a:solidFill>
                  <a:srgbClr val="1F2937"/>
                </a:solidFill>
                <a:latin typeface="Calibri"/>
              </a:rPr>
              <a:t>▸  Funksional zaharlarda tibbiy hujjatlar, klinik tavsif va avvalgi laboratoriya natijalari salmoqli dalil bo‘ladi.</a:t>
            </a:r>
          </a:p>
          <a:p>
            <a:pPr>
              <a:spcAft>
                <a:spcPts val="800"/>
              </a:spcAft>
            </a:pPr>
            <a:r>
              <a:rPr sz="1800">
                <a:solidFill>
                  <a:srgbClr val="1F2937"/>
                </a:solidFill>
                <a:latin typeface="Calibri"/>
              </a:rPr>
              <a:t>▸  Ikkinchi bosqich – murdani tekshirish, uchinchi bosqich – qo‘shimcha laboratoriya tekshiruvlari.</a:t>
            </a:r>
          </a:p>
        </p:txBody>
      </p:sp>
      <p:sp>
        <p:nvSpPr>
          <p:cNvPr id="9" name="Rounded Rectangle 8"/>
          <p:cNvSpPr/>
          <p:nvPr/>
        </p:nvSpPr>
        <p:spPr>
          <a:xfrm>
            <a:off x="6263640" y="1463040"/>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 Hodisa joyi va hujjatlar</a:t>
            </a:r>
          </a:p>
        </p:txBody>
      </p:sp>
      <p:sp>
        <p:nvSpPr>
          <p:cNvPr id="10" name="Down Arrow 9"/>
          <p:cNvSpPr/>
          <p:nvPr/>
        </p:nvSpPr>
        <p:spPr>
          <a:xfrm>
            <a:off x="8770467" y="2258568"/>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532888"/>
            <a:ext cx="5287975" cy="7772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2. Murda tekshiruvi</a:t>
            </a:r>
          </a:p>
        </p:txBody>
      </p:sp>
      <p:sp>
        <p:nvSpPr>
          <p:cNvPr id="12" name="Down Arrow 11"/>
          <p:cNvSpPr/>
          <p:nvPr/>
        </p:nvSpPr>
        <p:spPr>
          <a:xfrm>
            <a:off x="8770467" y="332841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602736"/>
            <a:ext cx="5287975" cy="7772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3. Laboratoriya tekshiruvi</a:t>
            </a:r>
          </a:p>
        </p:txBody>
      </p:sp>
      <p:sp>
        <p:nvSpPr>
          <p:cNvPr id="14" name="TextBox 13"/>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Diagnostika bosqichlari</a:t>
            </a:r>
          </a:p>
        </p:txBody>
      </p:sp>
      <p:sp>
        <p:nvSpPr>
          <p:cNvPr id="15" name="TextBox 14"/>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 135-136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Murda belgilari: dog‘ rangi va hid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Sianidlarda ichki a’zolardan achchiq bodom hidi, sirka kislotasida esa o‘tkir spetsifik hid seziladi.</a:t>
            </a:r>
          </a:p>
          <a:p>
            <a:pPr>
              <a:spcAft>
                <a:spcPts val="800"/>
              </a:spcAft>
            </a:pPr>
            <a:r>
              <a:rPr sz="1800">
                <a:solidFill>
                  <a:srgbClr val="1F2937"/>
                </a:solidFill>
                <a:latin typeface="Calibri"/>
              </a:rPr>
              <a:t>▸  Strixnin va talvasa chaqiruvchi zaharlarda mushak qotishi tez va kuchli rivojlanadi.</a:t>
            </a:r>
          </a:p>
          <a:p>
            <a:pPr>
              <a:spcAft>
                <a:spcPts val="800"/>
              </a:spcAft>
            </a:pPr>
            <a:r>
              <a:rPr sz="1800">
                <a:solidFill>
                  <a:srgbClr val="1F2937"/>
                </a:solidFill>
                <a:latin typeface="Calibri"/>
              </a:rPr>
              <a:t>▸  Xloral gidrat, kurare va miorelaksantlarda aksincha, mushak qotishi sust va kuchsiz bo‘ladi.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3214259"/>
                <a:gridCol w="2073715"/>
              </a:tblGrid>
              <a:tr h="411480">
                <a:tc>
                  <a:txBody>
                    <a:bodyPr/>
                    <a:lstStyle/>
                    <a:p>
                      <a:r>
                        <a:rPr sz="1400" b="1">
                          <a:solidFill>
                            <a:srgbClr val="FFFFFF"/>
                          </a:solidFill>
                        </a:rPr>
                        <a:t>Zahar</a:t>
                      </a:r>
                    </a:p>
                  </a:txBody>
                  <a:tcPr marL="73152" marR="73152" marT="36576" marB="36576">
                    <a:solidFill>
                      <a:srgbClr val="0B1F3A"/>
                    </a:solidFill>
                  </a:tcPr>
                </a:tc>
                <a:tc>
                  <a:txBody>
                    <a:bodyPr/>
                    <a:lstStyle/>
                    <a:p>
                      <a:r>
                        <a:rPr sz="1400" b="1">
                          <a:solidFill>
                            <a:srgbClr val="FFFFFF"/>
                          </a:solidFill>
                        </a:rPr>
                        <a:t>Murda dog‘i</a:t>
                      </a:r>
                    </a:p>
                  </a:txBody>
                  <a:tcPr marL="73152" marR="73152" marT="36576" marB="36576">
                    <a:solidFill>
                      <a:srgbClr val="0B1F3A"/>
                    </a:solidFill>
                  </a:tcPr>
                </a:tc>
              </a:tr>
              <a:tr h="411480">
                <a:tc>
                  <a:txBody>
                    <a:bodyPr/>
                    <a:lstStyle/>
                    <a:p>
                      <a:r>
                        <a:rPr sz="1300" b="0">
                          <a:solidFill>
                            <a:srgbClr val="1F2937"/>
                          </a:solidFill>
                        </a:rPr>
                        <a:t>Is gazi</a:t>
                      </a:r>
                    </a:p>
                  </a:txBody>
                  <a:tcPr marL="73152" marR="73152" marT="36576" marB="36576">
                    <a:solidFill>
                      <a:srgbClr val="E8EEF6"/>
                    </a:solidFill>
                  </a:tcPr>
                </a:tc>
                <a:tc>
                  <a:txBody>
                    <a:bodyPr/>
                    <a:lstStyle/>
                    <a:p>
                      <a:r>
                        <a:rPr sz="1300" b="0">
                          <a:solidFill>
                            <a:srgbClr val="1F2937"/>
                          </a:solidFill>
                        </a:rPr>
                        <a:t>Pushti tusda</a:t>
                      </a:r>
                    </a:p>
                  </a:txBody>
                  <a:tcPr marL="73152" marR="73152" marT="36576" marB="36576">
                    <a:solidFill>
                      <a:srgbClr val="E8EEF6"/>
                    </a:solidFill>
                  </a:tcPr>
                </a:tc>
              </a:tr>
              <a:tr h="411480">
                <a:tc>
                  <a:txBody>
                    <a:bodyPr/>
                    <a:lstStyle/>
                    <a:p>
                      <a:r>
                        <a:rPr sz="1300" b="0">
                          <a:solidFill>
                            <a:srgbClr val="1F2937"/>
                          </a:solidFill>
                        </a:rPr>
                        <a:t>Sianid kislotasi yoki tuzlari</a:t>
                      </a:r>
                    </a:p>
                  </a:txBody>
                  <a:tcPr marL="73152" marR="73152" marT="36576" marB="36576">
                    <a:solidFill>
                      <a:srgbClr val="FFFFFF"/>
                    </a:solidFill>
                  </a:tcPr>
                </a:tc>
                <a:tc>
                  <a:txBody>
                    <a:bodyPr/>
                    <a:lstStyle/>
                    <a:p>
                      <a:r>
                        <a:rPr sz="1300" b="0">
                          <a:solidFill>
                            <a:srgbClr val="1F2937"/>
                          </a:solidFill>
                        </a:rPr>
                        <a:t>Yorqin olcha rang</a:t>
                      </a:r>
                    </a:p>
                  </a:txBody>
                  <a:tcPr marL="73152" marR="73152" marT="36576" marB="36576">
                    <a:solidFill>
                      <a:srgbClr val="FFFFFF"/>
                    </a:solidFill>
                  </a:tcPr>
                </a:tc>
              </a:tr>
              <a:tr h="411480">
                <a:tc>
                  <a:txBody>
                    <a:bodyPr/>
                    <a:lstStyle/>
                    <a:p>
                      <a:r>
                        <a:rPr sz="1300" b="0">
                          <a:solidFill>
                            <a:srgbClr val="1F2937"/>
                          </a:solidFill>
                        </a:rPr>
                        <a:t>Metgemoglobin hosil qiluvchilar</a:t>
                      </a:r>
                    </a:p>
                  </a:txBody>
                  <a:tcPr marL="73152" marR="73152" marT="36576" marB="36576">
                    <a:solidFill>
                      <a:srgbClr val="E8EEF6"/>
                    </a:solidFill>
                  </a:tcPr>
                </a:tc>
                <a:tc>
                  <a:txBody>
                    <a:bodyPr/>
                    <a:lstStyle/>
                    <a:p>
                      <a:r>
                        <a:rPr sz="1300" b="0">
                          <a:solidFill>
                            <a:srgbClr val="1F2937"/>
                          </a:solidFill>
                        </a:rPr>
                        <a:t>Jigar rang, qo‘ng‘ir</a:t>
                      </a:r>
                    </a:p>
                  </a:txBody>
                  <a:tcPr marL="73152" marR="73152" marT="36576" marB="36576">
                    <a:solidFill>
                      <a:srgbClr val="E8EEF6"/>
                    </a:solidFill>
                  </a:tcPr>
                </a:tc>
              </a:tr>
              <a:tr h="411480">
                <a:tc>
                  <a:txBody>
                    <a:bodyPr/>
                    <a:lstStyle/>
                    <a:p>
                      <a:r>
                        <a:rPr sz="1300" b="0">
                          <a:solidFill>
                            <a:srgbClr val="1F2937"/>
                          </a:solidFill>
                        </a:rPr>
                        <a:t>Gemoliz chaqiruvchilar</a:t>
                      </a:r>
                    </a:p>
                  </a:txBody>
                  <a:tcPr marL="73152" marR="73152" marT="36576" marB="36576">
                    <a:solidFill>
                      <a:srgbClr val="FFFFFF"/>
                    </a:solidFill>
                  </a:tcPr>
                </a:tc>
                <a:tc>
                  <a:txBody>
                    <a:bodyPr/>
                    <a:lstStyle/>
                    <a:p>
                      <a:r>
                        <a:rPr sz="1300" b="0">
                          <a:solidFill>
                            <a:srgbClr val="1F2937"/>
                          </a:solidFill>
                        </a:rPr>
                        <a:t>Sargimtir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 va murda dog‘i rangi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“Uch nuqta” qoidasi va material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 ma’lum bo‘lsa, namuna zahar kirgan, asosan ta’sir etgan va chiqqan joylardan olinadi.</a:t>
            </a:r>
          </a:p>
          <a:p>
            <a:pPr>
              <a:spcAft>
                <a:spcPts val="800"/>
              </a:spcAft>
            </a:pPr>
            <a:r>
              <a:rPr sz="1800">
                <a:solidFill>
                  <a:srgbClr val="1F2937"/>
                </a:solidFill>
                <a:latin typeface="Calibri"/>
              </a:rPr>
              <a:t>▸  Zahar noma’lum bo‘lsa, a’zolarning ko‘p qismi olinadi; qon va boshqa namunalar alohida idishlarga solinadi.</a:t>
            </a:r>
          </a:p>
          <a:p>
            <a:pPr>
              <a:spcAft>
                <a:spcPts val="800"/>
              </a:spcAft>
            </a:pPr>
            <a:r>
              <a:rPr sz="1800">
                <a:solidFill>
                  <a:srgbClr val="1F2937"/>
                </a:solidFill>
                <a:latin typeface="Calibri"/>
              </a:rPr>
              <a:t>▸  Chuqur chirishda ko‘krak va qorin a’zolari aralashmasidan 1,5-2,0 kg “o‘rta sinama” olinadi.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961668"/>
                <a:gridCol w="3326306"/>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Material</a:t>
                      </a:r>
                    </a:p>
                  </a:txBody>
                  <a:tcPr marL="73152" marR="73152" marT="36576" marB="36576">
                    <a:solidFill>
                      <a:srgbClr val="0B1F3A"/>
                    </a:solidFill>
                  </a:tcPr>
                </a:tc>
              </a:tr>
              <a:tr h="411480">
                <a:tc>
                  <a:txBody>
                    <a:bodyPr/>
                    <a:lstStyle/>
                    <a:p>
                      <a:r>
                        <a:rPr sz="1300" b="0">
                          <a:solidFill>
                            <a:srgbClr val="1F2937"/>
                          </a:solidFill>
                        </a:rPr>
                        <a:t>Zahar ma’lum (ichilgan)</a:t>
                      </a:r>
                    </a:p>
                  </a:txBody>
                  <a:tcPr marL="73152" marR="73152" marT="36576" marB="36576">
                    <a:solidFill>
                      <a:srgbClr val="E8EEF6"/>
                    </a:solidFill>
                  </a:tcPr>
                </a:tc>
                <a:tc>
                  <a:txBody>
                    <a:bodyPr/>
                    <a:lstStyle/>
                    <a:p>
                      <a:r>
                        <a:rPr sz="1300" b="0">
                          <a:solidFill>
                            <a:srgbClr val="1F2937"/>
                          </a:solidFill>
                        </a:rPr>
                        <a:t>Oshqozon massasi, jigar qismi, buyrak</a:t>
                      </a:r>
                    </a:p>
                  </a:txBody>
                  <a:tcPr marL="73152" marR="73152" marT="36576" marB="36576">
                    <a:solidFill>
                      <a:srgbClr val="E8EEF6"/>
                    </a:solidFill>
                  </a:tcPr>
                </a:tc>
              </a:tr>
              <a:tr h="411480">
                <a:tc>
                  <a:txBody>
                    <a:bodyPr/>
                    <a:lstStyle/>
                    <a:p>
                      <a:r>
                        <a:rPr sz="1300" b="0">
                          <a:solidFill>
                            <a:srgbClr val="1F2937"/>
                          </a:solidFill>
                        </a:rPr>
                        <a:t>Noma’lum: miya, o‘pka</a:t>
                      </a:r>
                    </a:p>
                  </a:txBody>
                  <a:tcPr marL="73152" marR="73152" marT="36576" marB="36576">
                    <a:solidFill>
                      <a:srgbClr val="FFFFFF"/>
                    </a:solidFill>
                  </a:tcPr>
                </a:tc>
                <a:tc>
                  <a:txBody>
                    <a:bodyPr/>
                    <a:lstStyle/>
                    <a:p>
                      <a:r>
                        <a:rPr sz="1300" b="0">
                          <a:solidFill>
                            <a:srgbClr val="1F2937"/>
                          </a:solidFill>
                        </a:rPr>
                        <a:t>Miyaning 1/3, o‘pkaning 1/4 qismi</a:t>
                      </a:r>
                    </a:p>
                  </a:txBody>
                  <a:tcPr marL="73152" marR="73152" marT="36576" marB="36576">
                    <a:solidFill>
                      <a:srgbClr val="FFFFFF"/>
                    </a:solidFill>
                  </a:tcPr>
                </a:tc>
              </a:tr>
              <a:tr h="411480">
                <a:tc>
                  <a:txBody>
                    <a:bodyPr/>
                    <a:lstStyle/>
                    <a:p>
                      <a:r>
                        <a:rPr sz="1300" b="0">
                          <a:solidFill>
                            <a:srgbClr val="1F2937"/>
                          </a:solidFill>
                        </a:rPr>
                        <a:t>Noma’lum: jigar, buyrak</a:t>
                      </a:r>
                    </a:p>
                  </a:txBody>
                  <a:tcPr marL="73152" marR="73152" marT="36576" marB="36576">
                    <a:solidFill>
                      <a:srgbClr val="E8EEF6"/>
                    </a:solidFill>
                  </a:tcPr>
                </a:tc>
                <a:tc>
                  <a:txBody>
                    <a:bodyPr/>
                    <a:lstStyle/>
                    <a:p>
                      <a:r>
                        <a:rPr sz="1300" b="0">
                          <a:solidFill>
                            <a:srgbClr val="1F2937"/>
                          </a:solidFill>
                        </a:rPr>
                        <a:t>Jigarning 1/3 (o‘t bilan), butun buyrak</a:t>
                      </a:r>
                    </a:p>
                  </a:txBody>
                  <a:tcPr marL="73152" marR="73152" marT="36576" marB="36576">
                    <a:solidFill>
                      <a:srgbClr val="E8EEF6"/>
                    </a:solidFill>
                  </a:tcPr>
                </a:tc>
              </a:tr>
              <a:tr h="411480">
                <a:tc>
                  <a:txBody>
                    <a:bodyPr/>
                    <a:lstStyle/>
                    <a:p>
                      <a:r>
                        <a:rPr sz="1300" b="0">
                          <a:solidFill>
                            <a:srgbClr val="1F2937"/>
                          </a:solidFill>
                        </a:rPr>
                        <a:t>Noma’lum: ichak, qon</a:t>
                      </a:r>
                    </a:p>
                  </a:txBody>
                  <a:tcPr marL="73152" marR="73152" marT="36576" marB="36576">
                    <a:solidFill>
                      <a:srgbClr val="FFFFFF"/>
                    </a:solidFill>
                  </a:tcPr>
                </a:tc>
                <a:tc>
                  <a:txBody>
                    <a:bodyPr/>
                    <a:lstStyle/>
                    <a:p>
                      <a:r>
                        <a:rPr sz="1300" b="0">
                          <a:solidFill>
                            <a:srgbClr val="1F2937"/>
                          </a:solidFill>
                        </a:rPr>
                        <a:t>Oshqozon massasi, ichak, qon 100-200 ml</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Namuna olish: zahar noma’lum bo‘lganda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diagnostika va namuna olish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zaharlanishning sud-tibbiy diagnostikasi qaysi uch bosqichdagi dalillarga tayanadi? (Javob: hodisa joyi va hujjatlar; murda tekshiruvi; laboratoriya.)</a:t>
            </a:r>
          </a:p>
          <a:p>
            <a:pPr>
              <a:spcAft>
                <a:spcPts val="1200"/>
              </a:spcAft>
            </a:pPr>
            <a:r>
              <a:rPr sz="2200">
                <a:solidFill>
                  <a:srgbClr val="1F2937"/>
                </a:solidFill>
                <a:latin typeface="Calibri"/>
              </a:rPr>
              <a:t>▸  2-savol: “uch nuqta” qoidasida namuna qaysi joylardan olinadi? (Javob: zahar kirgan, asosan ta’sir etgan va organizmdan chiqqan joylardan.)</a:t>
            </a:r>
          </a:p>
          <a:p>
            <a:pPr>
              <a:spcAft>
                <a:spcPts val="1200"/>
              </a:spcAft>
            </a:pPr>
            <a:r>
              <a:rPr sz="2200">
                <a:solidFill>
                  <a:srgbClr val="1F2937"/>
                </a:solidFill>
                <a:latin typeface="Calibri"/>
              </a:rPr>
              <a:t>▸  3-savol: is gazi, sianid va metgemoglobin hosil qiluvchilarda murda dog‘lari qanday rangda? (Pushti; yorqin olcha rang; jigar-qo‘ng‘ir.)</a:t>
            </a:r>
          </a:p>
          <a:p>
            <a:pPr>
              <a:spcAft>
                <a:spcPts val="1200"/>
              </a:spcAft>
            </a:pPr>
            <a:r>
              <a:rPr sz="2200">
                <a:solidFill>
                  <a:srgbClr val="1F2937"/>
                </a:solidFill>
                <a:latin typeface="Calibri"/>
              </a:rPr>
              <a:t>▸  Diqqat: xato qilish xavfi. Murda dog‘i rangi faqat shubha uyg‘otadi. Funksional zaharlarda esa murdada xos o‘zgarish umuman bo‘lmasligi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135-136, 136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Toksikokinetika va biotransformatsiya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Toksikokinetika — zaharning kirishi, taqsimlanishi, metabolizmi va chiqarilishi majmui.</a:t>
            </a:r>
          </a:p>
          <a:p>
            <a:pPr>
              <a:spcAft>
                <a:spcPts val="800"/>
              </a:spcAft>
            </a:pPr>
            <a:r>
              <a:rPr sz="1800">
                <a:solidFill>
                  <a:srgbClr val="1F2937"/>
                </a:solidFill>
                <a:latin typeface="Calibri"/>
              </a:rPr>
              <a:t>▸  Sifat o‘zgarishi — biotransformatsiya, asosan jigarda; toksiklik ortishi yoki susayishi mumkin.</a:t>
            </a:r>
          </a:p>
          <a:p>
            <a:pPr>
              <a:spcAft>
                <a:spcPts val="800"/>
              </a:spcAft>
            </a:pPr>
            <a:r>
              <a:rPr sz="1800">
                <a:solidFill>
                  <a:srgbClr val="1F2937"/>
                </a:solidFill>
                <a:latin typeface="Calibri"/>
              </a:rPr>
              <a:t>▸  Miqdoriy o‘zgarish — a’zo yoki to‘qimada konsentratsiya o‘zgarishi (masalan, qonda etil spirti).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208680"/>
                <a:gridCol w="1284222"/>
                <a:gridCol w="2795072"/>
              </a:tblGrid>
              <a:tr h="411480">
                <a:tc>
                  <a:txBody>
                    <a:bodyPr/>
                    <a:lstStyle/>
                    <a:p>
                      <a:r>
                        <a:rPr sz="1300" b="1">
                          <a:solidFill>
                            <a:srgbClr val="FFFFFF"/>
                          </a:solidFill>
                        </a:rPr>
                        <a:t>Modda</a:t>
                      </a:r>
                    </a:p>
                  </a:txBody>
                  <a:tcPr marL="73152" marR="73152" marT="36576" marB="36576">
                    <a:solidFill>
                      <a:srgbClr val="0B1F3A"/>
                    </a:solidFill>
                  </a:tcPr>
                </a:tc>
                <a:tc>
                  <a:txBody>
                    <a:bodyPr/>
                    <a:lstStyle/>
                    <a:p>
                      <a:r>
                        <a:rPr sz="1300" b="1">
                          <a:solidFill>
                            <a:srgbClr val="FFFFFF"/>
                          </a:solidFill>
                        </a:rPr>
                        <a:t>Metabolit</a:t>
                      </a:r>
                    </a:p>
                  </a:txBody>
                  <a:tcPr marL="73152" marR="73152" marT="36576" marB="36576">
                    <a:solidFill>
                      <a:srgbClr val="0B1F3A"/>
                    </a:solidFill>
                  </a:tcPr>
                </a:tc>
                <a:tc>
                  <a:txBody>
                    <a:bodyPr/>
                    <a:lstStyle/>
                    <a:p>
                      <a:r>
                        <a:rPr sz="1300" b="1">
                          <a:solidFill>
                            <a:srgbClr val="FFFFFF"/>
                          </a:solidFill>
                        </a:rPr>
                        <a:t>Ta’siri</a:t>
                      </a:r>
                    </a:p>
                  </a:txBody>
                  <a:tcPr marL="73152" marR="73152" marT="36576" marB="36576">
                    <a:solidFill>
                      <a:srgbClr val="0B1F3A"/>
                    </a:solidFill>
                  </a:tcPr>
                </a:tc>
              </a:tr>
              <a:tr h="411480">
                <a:tc>
                  <a:txBody>
                    <a:bodyPr/>
                    <a:lstStyle/>
                    <a:p>
                      <a:r>
                        <a:rPr sz="1200" b="0">
                          <a:solidFill>
                            <a:srgbClr val="1F2937"/>
                          </a:solidFill>
                        </a:rPr>
                        <a:t>Metanol</a:t>
                      </a:r>
                    </a:p>
                  </a:txBody>
                  <a:tcPr marL="73152" marR="73152" marT="36576" marB="36576">
                    <a:solidFill>
                      <a:srgbClr val="E8EEF6"/>
                    </a:solidFill>
                  </a:tcPr>
                </a:tc>
                <a:tc>
                  <a:txBody>
                    <a:bodyPr/>
                    <a:lstStyle/>
                    <a:p>
                      <a:r>
                        <a:rPr sz="1200" b="0">
                          <a:solidFill>
                            <a:srgbClr val="1F2937"/>
                          </a:solidFill>
                        </a:rPr>
                        <a:t>Formaldegid</a:t>
                      </a:r>
                    </a:p>
                  </a:txBody>
                  <a:tcPr marL="73152" marR="73152" marT="36576" marB="36576">
                    <a:solidFill>
                      <a:srgbClr val="E8EEF6"/>
                    </a:solidFill>
                  </a:tcPr>
                </a:tc>
                <a:tc>
                  <a:txBody>
                    <a:bodyPr/>
                    <a:lstStyle/>
                    <a:p>
                      <a:r>
                        <a:rPr sz="1200" b="0">
                          <a:solidFill>
                            <a:srgbClr val="1F2937"/>
                          </a:solidFill>
                        </a:rPr>
                        <a:t>Kardio-, nefro-, neyrotoksik</a:t>
                      </a:r>
                    </a:p>
                  </a:txBody>
                  <a:tcPr marL="73152" marR="73152" marT="36576" marB="36576">
                    <a:solidFill>
                      <a:srgbClr val="E8EEF6"/>
                    </a:solidFill>
                  </a:tcPr>
                </a:tc>
              </a:tr>
              <a:tr h="411480">
                <a:tc>
                  <a:txBody>
                    <a:bodyPr/>
                    <a:lstStyle/>
                    <a:p>
                      <a:r>
                        <a:rPr sz="1200" b="0">
                          <a:solidFill>
                            <a:srgbClr val="1F2937"/>
                          </a:solidFill>
                        </a:rPr>
                        <a:t>Etanol</a:t>
                      </a:r>
                    </a:p>
                  </a:txBody>
                  <a:tcPr marL="73152" marR="73152" marT="36576" marB="36576">
                    <a:solidFill>
                      <a:srgbClr val="FFFFFF"/>
                    </a:solidFill>
                  </a:tcPr>
                </a:tc>
                <a:tc>
                  <a:txBody>
                    <a:bodyPr/>
                    <a:lstStyle/>
                    <a:p>
                      <a:r>
                        <a:rPr sz="1200" b="0">
                          <a:solidFill>
                            <a:srgbClr val="1F2937"/>
                          </a:solidFill>
                        </a:rPr>
                        <a:t>Atsetaldegid</a:t>
                      </a:r>
                    </a:p>
                  </a:txBody>
                  <a:tcPr marL="73152" marR="73152" marT="36576" marB="36576">
                    <a:solidFill>
                      <a:srgbClr val="FFFFFF"/>
                    </a:solidFill>
                  </a:tcPr>
                </a:tc>
                <a:tc>
                  <a:txBody>
                    <a:bodyPr/>
                    <a:lstStyle/>
                    <a:p>
                      <a:r>
                        <a:rPr sz="1200" b="0">
                          <a:solidFill>
                            <a:srgbClr val="1F2937"/>
                          </a:solidFill>
                        </a:rPr>
                        <a:t>Toksikligi kuchli modda hosil bo‘ladi</a:t>
                      </a:r>
                    </a:p>
                  </a:txBody>
                  <a:tcPr marL="73152" marR="73152" marT="36576" marB="36576">
                    <a:solidFill>
                      <a:srgbClr val="FFFFFF"/>
                    </a:solidFill>
                  </a:tcPr>
                </a:tc>
              </a:tr>
              <a:tr h="411480">
                <a:tc>
                  <a:txBody>
                    <a:bodyPr/>
                    <a:lstStyle/>
                    <a:p>
                      <a:r>
                        <a:rPr sz="1200" b="0">
                          <a:solidFill>
                            <a:srgbClr val="1F2937"/>
                          </a:solidFill>
                        </a:rPr>
                        <a:t>Etilenglikol</a:t>
                      </a:r>
                    </a:p>
                  </a:txBody>
                  <a:tcPr marL="73152" marR="73152" marT="36576" marB="36576">
                    <a:solidFill>
                      <a:srgbClr val="E8EEF6"/>
                    </a:solidFill>
                  </a:tcPr>
                </a:tc>
                <a:tc>
                  <a:txBody>
                    <a:bodyPr/>
                    <a:lstStyle/>
                    <a:p>
                      <a:r>
                        <a:rPr sz="1200" b="0">
                          <a:solidFill>
                            <a:srgbClr val="1F2937"/>
                          </a:solidFill>
                        </a:rPr>
                        <a:t>Oksalat kislotasi</a:t>
                      </a:r>
                    </a:p>
                  </a:txBody>
                  <a:tcPr marL="73152" marR="73152" marT="36576" marB="36576">
                    <a:solidFill>
                      <a:srgbClr val="E8EEF6"/>
                    </a:solidFill>
                  </a:tcPr>
                </a:tc>
                <a:tc>
                  <a:txBody>
                    <a:bodyPr/>
                    <a:lstStyle/>
                    <a:p>
                      <a:r>
                        <a:rPr sz="1200" b="0">
                          <a:solidFill>
                            <a:srgbClr val="1F2937"/>
                          </a:solidFill>
                        </a:rPr>
                        <a:t>Gepato- va nefrotoksik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Oksidlanish metabolitlari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136-137, 137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Toksikodinamika: zaharning ta’sir bosqichlari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Toksikodinamika — zahar va organizmning o‘zaro ta’sir mexanizmi, javob reaksiyalari majmui.</a:t>
            </a:r>
          </a:p>
          <a:p>
            <a:pPr>
              <a:spcAft>
                <a:spcPts val="800"/>
              </a:spcAft>
            </a:pPr>
            <a:r>
              <a:rPr sz="1800">
                <a:solidFill>
                  <a:srgbClr val="1F2937"/>
                </a:solidFill>
                <a:latin typeface="Calibri"/>
              </a:rPr>
              <a:t>▸  Ta’sir shartli ravishda birlamchi toksik, keyingi toksik va metatoksik bo‘ladi; misol — sirka kislotasi.</a:t>
            </a:r>
          </a:p>
          <a:p>
            <a:pPr>
              <a:spcAft>
                <a:spcPts val="800"/>
              </a:spcAft>
            </a:pPr>
            <a:r>
              <a:rPr sz="1800">
                <a:solidFill>
                  <a:srgbClr val="1F2937"/>
                </a:solidFill>
                <a:latin typeface="Calibri"/>
              </a:rPr>
              <a:t>▸  Diqqat: toksikokinetika (zahar taqdiri) ≠ toksikodinamika (organizm javobi).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Birlamchi: kimyoviy kuyish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Atsidoz rivojlanadi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Keyingi: eritrotsitlar gemolizi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Vaqt o‘tib: metatoksik ta’sir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Toksik gepatit, toksik nefroz</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Sirka kislotasi: bosqichlar</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 136-138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Zaharlarning sud-tibbiy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Zaharlar shartli ravishda asosan mahalliy va asosan umumiy ta’sir etuvchilarga bo‘linadi.</a:t>
            </a:r>
          </a:p>
          <a:p>
            <a:pPr>
              <a:spcAft>
                <a:spcPts val="800"/>
              </a:spcAft>
            </a:pPr>
            <a:r>
              <a:rPr sz="1800">
                <a:solidFill>
                  <a:srgbClr val="1F2937"/>
                </a:solidFill>
                <a:latin typeface="Calibri"/>
              </a:rPr>
              <a:t>▸  Umumiy ta’sirlilar qonga so‘rilgach ta’sir qiladi, shuning uchun rezorbtiv zaharlar deyiladi.</a:t>
            </a:r>
          </a:p>
          <a:p>
            <a:pPr>
              <a:spcAft>
                <a:spcPts val="800"/>
              </a:spcAft>
            </a:pPr>
            <a:r>
              <a:rPr sz="1800">
                <a:solidFill>
                  <a:srgbClr val="1F2937"/>
                </a:solidFill>
                <a:latin typeface="Calibri"/>
              </a:rPr>
              <a:t>▸  Diqqat: mahalliy ≠ umumiy. Mahalliy zaharlar ham umumiy reaksiya beradi, umumiylarda esa joyli o‘zgarish bo‘lishi mumkin.</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1286264"/>
                <a:gridCol w="2858364"/>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Ta’sir turi</a:t>
                      </a:r>
                    </a:p>
                  </a:txBody>
                  <a:tcPr marL="73152" marR="73152" marT="36576" marB="36576">
                    <a:solidFill>
                      <a:srgbClr val="0B1F3A"/>
                    </a:solidFill>
                  </a:tcPr>
                </a:tc>
                <a:tc>
                  <a:txBody>
                    <a:bodyPr/>
                    <a:lstStyle/>
                    <a:p>
                      <a:r>
                        <a:rPr sz="1300" b="1">
                          <a:solidFill>
                            <a:srgbClr val="FFFFFF"/>
                          </a:solidFill>
                        </a:rPr>
                        <a:t>Misollar</a:t>
                      </a:r>
                    </a:p>
                  </a:txBody>
                  <a:tcPr marL="73152" marR="73152" marT="36576" marB="36576">
                    <a:solidFill>
                      <a:srgbClr val="0B1F3A"/>
                    </a:solidFill>
                  </a:tcPr>
                </a:tc>
              </a:tr>
              <a:tr h="411480">
                <a:tc>
                  <a:txBody>
                    <a:bodyPr/>
                    <a:lstStyle/>
                    <a:p>
                      <a:r>
                        <a:rPr sz="1200" b="0">
                          <a:solidFill>
                            <a:srgbClr val="1F2937"/>
                          </a:solidFill>
                        </a:rPr>
                        <a:t>Mahalliy</a:t>
                      </a:r>
                    </a:p>
                  </a:txBody>
                  <a:tcPr marL="73152" marR="73152" marT="36576" marB="36576">
                    <a:solidFill>
                      <a:srgbClr val="E8EEF6"/>
                    </a:solidFill>
                  </a:tcPr>
                </a:tc>
                <a:tc>
                  <a:txBody>
                    <a:bodyPr/>
                    <a:lstStyle/>
                    <a:p>
                      <a:r>
                        <a:rPr sz="1200" b="0">
                          <a:solidFill>
                            <a:srgbClr val="1F2937"/>
                          </a:solidFill>
                        </a:rPr>
                        <a:t>Joyli nekroz</a:t>
                      </a:r>
                    </a:p>
                  </a:txBody>
                  <a:tcPr marL="73152" marR="73152" marT="36576" marB="36576">
                    <a:solidFill>
                      <a:srgbClr val="E8EEF6"/>
                    </a:solidFill>
                  </a:tcPr>
                </a:tc>
                <a:tc>
                  <a:txBody>
                    <a:bodyPr/>
                    <a:lstStyle/>
                    <a:p>
                      <a:r>
                        <a:rPr sz="1200" b="0">
                          <a:solidFill>
                            <a:srgbClr val="1F2937"/>
                          </a:solidFill>
                        </a:rPr>
                        <a:t>Kislota, ishqor, yod, vodorod peroksid</a:t>
                      </a:r>
                    </a:p>
                  </a:txBody>
                  <a:tcPr marL="73152" marR="73152" marT="36576" marB="36576">
                    <a:solidFill>
                      <a:srgbClr val="E8EEF6"/>
                    </a:solidFill>
                  </a:tcPr>
                </a:tc>
              </a:tr>
              <a:tr h="411480">
                <a:tc>
                  <a:txBody>
                    <a:bodyPr/>
                    <a:lstStyle/>
                    <a:p>
                      <a:r>
                        <a:rPr sz="1200" b="0">
                          <a:solidFill>
                            <a:srgbClr val="1F2937"/>
                          </a:solidFill>
                        </a:rPr>
                        <a:t>Destruktiv</a:t>
                      </a:r>
                    </a:p>
                  </a:txBody>
                  <a:tcPr marL="73152" marR="73152" marT="36576" marB="36576">
                    <a:solidFill>
                      <a:srgbClr val="FFFFFF"/>
                    </a:solidFill>
                  </a:tcPr>
                </a:tc>
                <a:tc>
                  <a:txBody>
                    <a:bodyPr/>
                    <a:lstStyle/>
                    <a:p>
                      <a:r>
                        <a:rPr sz="1200" b="0">
                          <a:solidFill>
                            <a:srgbClr val="1F2937"/>
                          </a:solidFill>
                        </a:rPr>
                        <a:t>Umumiy (rezorbtiv)</a:t>
                      </a:r>
                    </a:p>
                  </a:txBody>
                  <a:tcPr marL="73152" marR="73152" marT="36576" marB="36576">
                    <a:solidFill>
                      <a:srgbClr val="FFFFFF"/>
                    </a:solidFill>
                  </a:tcPr>
                </a:tc>
                <a:tc>
                  <a:txBody>
                    <a:bodyPr/>
                    <a:lstStyle/>
                    <a:p>
                      <a:r>
                        <a:rPr sz="1200" b="0">
                          <a:solidFill>
                            <a:srgbClr val="1F2937"/>
                          </a:solidFill>
                        </a:rPr>
                        <a:t>Simob, qo‘rg‘oshin, rux, margimush</a:t>
                      </a:r>
                    </a:p>
                  </a:txBody>
                  <a:tcPr marL="73152" marR="73152" marT="36576" marB="36576">
                    <a:solidFill>
                      <a:srgbClr val="FFFFFF"/>
                    </a:solidFill>
                  </a:tcPr>
                </a:tc>
              </a:tr>
              <a:tr h="411480">
                <a:tc>
                  <a:txBody>
                    <a:bodyPr/>
                    <a:lstStyle/>
                    <a:p>
                      <a:r>
                        <a:rPr sz="1200" b="0">
                          <a:solidFill>
                            <a:srgbClr val="1F2937"/>
                          </a:solidFill>
                        </a:rPr>
                        <a:t>Gemotrop</a:t>
                      </a:r>
                    </a:p>
                  </a:txBody>
                  <a:tcPr marL="73152" marR="73152" marT="36576" marB="36576">
                    <a:solidFill>
                      <a:srgbClr val="E8EEF6"/>
                    </a:solidFill>
                  </a:tcPr>
                </a:tc>
                <a:tc>
                  <a:txBody>
                    <a:bodyPr/>
                    <a:lstStyle/>
                    <a:p>
                      <a:r>
                        <a:rPr sz="1200" b="0">
                          <a:solidFill>
                            <a:srgbClr val="1F2937"/>
                          </a:solidFill>
                        </a:rPr>
                        <a:t>Umumiy (rezorbtiv)</a:t>
                      </a:r>
                    </a:p>
                  </a:txBody>
                  <a:tcPr marL="73152" marR="73152" marT="36576" marB="36576">
                    <a:solidFill>
                      <a:srgbClr val="E8EEF6"/>
                    </a:solidFill>
                  </a:tcPr>
                </a:tc>
                <a:tc>
                  <a:txBody>
                    <a:bodyPr/>
                    <a:lstStyle/>
                    <a:p>
                      <a:r>
                        <a:rPr sz="1200" b="0">
                          <a:solidFill>
                            <a:srgbClr val="1F2937"/>
                          </a:solidFill>
                        </a:rPr>
                        <a:t>Is gazi, metgemoglobin hosil qiluvchilar</a:t>
                      </a:r>
                    </a:p>
                  </a:txBody>
                  <a:tcPr marL="73152" marR="73152" marT="36576" marB="36576">
                    <a:solidFill>
                      <a:srgbClr val="E8EEF6"/>
                    </a:solidFill>
                  </a:tcPr>
                </a:tc>
              </a:tr>
              <a:tr h="411480">
                <a:tc>
                  <a:txBody>
                    <a:bodyPr/>
                    <a:lstStyle/>
                    <a:p>
                      <a:r>
                        <a:rPr sz="1200" b="0">
                          <a:solidFill>
                            <a:srgbClr val="1F2937"/>
                          </a:solidFill>
                        </a:rPr>
                        <a:t>Funksional</a:t>
                      </a:r>
                    </a:p>
                  </a:txBody>
                  <a:tcPr marL="73152" marR="73152" marT="36576" marB="36576">
                    <a:solidFill>
                      <a:srgbClr val="FFFFFF"/>
                    </a:solidFill>
                  </a:tcPr>
                </a:tc>
                <a:tc>
                  <a:txBody>
                    <a:bodyPr/>
                    <a:lstStyle/>
                    <a:p>
                      <a:r>
                        <a:rPr sz="1200" b="0">
                          <a:solidFill>
                            <a:srgbClr val="1F2937"/>
                          </a:solidFill>
                        </a:rPr>
                        <a:t>Umumiy (rezorbtiv)</a:t>
                      </a:r>
                    </a:p>
                  </a:txBody>
                  <a:tcPr marL="73152" marR="73152" marT="36576" marB="36576">
                    <a:solidFill>
                      <a:srgbClr val="FFFFFF"/>
                    </a:solidFill>
                  </a:tcPr>
                </a:tc>
                <a:tc>
                  <a:txBody>
                    <a:bodyPr/>
                    <a:lstStyle/>
                    <a:p>
                      <a:r>
                        <a:rPr sz="1200" b="0">
                          <a:solidFill>
                            <a:srgbClr val="1F2937"/>
                          </a:solidFill>
                        </a:rPr>
                        <a:t>Sianid, spirt, strixnin, atropin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V.L. Popov tasnifi (1990), soddalashtirilgan</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bilan zaharlanish: mexanizm va klinika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Sirka kislotasi bilan zaharlanish nisbatan ko‘p uchraydi, aksariyat holatda o‘z-o‘zini o‘ldirish usuli. Boshqa kislotalar kam, odatda tasodifan.</a:t>
            </a:r>
          </a:p>
          <a:p>
            <a:pPr>
              <a:spcAft>
                <a:spcPts val="1200"/>
              </a:spcAft>
            </a:pPr>
            <a:r>
              <a:rPr sz="2000">
                <a:solidFill>
                  <a:srgbClr val="1F2937"/>
                </a:solidFill>
                <a:latin typeface="Calibri"/>
              </a:rPr>
              <a:t>▸  Erkin vodorod ionlari to‘qimani suvsizlantirib, oqsilni ivitadi va quruq (koagulyasion) nekroz hosil qiladi. Nekroz joyida qo‘ng‘ir-qora strup paydo bo‘ladi.</a:t>
            </a:r>
          </a:p>
          <a:p>
            <a:pPr>
              <a:spcAft>
                <a:spcPts val="1200"/>
              </a:spcAft>
            </a:pPr>
            <a:r>
              <a:rPr sz="2000">
                <a:solidFill>
                  <a:srgbClr val="1F2937"/>
                </a:solidFill>
                <a:latin typeface="Calibri"/>
              </a:rPr>
              <a:t>▸  Qizilo‘ngach va oshqozonda kuchli og‘riq, qonli qusuq, atsidoz. Dastlab o‘lim sababi shok, asfiksiya, ichki qon ketish; kechda pnevmoniya, jigar-buyrak yetishmovchiligi, mediastenit yoki peritonit.</a:t>
            </a:r>
          </a:p>
          <a:p>
            <a:pPr>
              <a:spcAft>
                <a:spcPts val="1200"/>
              </a:spcAft>
            </a:pPr>
            <a:r>
              <a:rPr sz="2000">
                <a:solidFill>
                  <a:srgbClr val="1F2937"/>
                </a:solidFill>
                <a:latin typeface="Calibri"/>
              </a:rPr>
              <a:t>▸  Letal doza konsentratsiyaga bog‘liq: sulfat va nitrat 5–10 ml, xlorid 15–20 ml, sirka essensiyasi (40–80%) 20–40 ml, karbol kislotasi 10–30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140, 140-141, 141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Kislotalar: murdadagi o‘zgarishlar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Og‘iz atrofida pergamentdek zich sarg‘ish-qo‘ng‘ir oqmalar; shilliq qavat zichlashgan, kulrang.</a:t>
            </a:r>
          </a:p>
          <a:p>
            <a:pPr>
              <a:spcAft>
                <a:spcPts val="800"/>
              </a:spcAft>
            </a:pPr>
            <a:r>
              <a:rPr sz="1800">
                <a:solidFill>
                  <a:srgbClr val="1F2937"/>
                </a:solidFill>
                <a:latin typeface="Calibri"/>
              </a:rPr>
              <a:t>▸  Xlorid va sirka kislotasi uchuvchan, shuning uchun hiqildoq va o‘pka shishi ko‘proq uchraydi.</a:t>
            </a:r>
          </a:p>
          <a:p>
            <a:pPr>
              <a:spcAft>
                <a:spcPts val="800"/>
              </a:spcAft>
            </a:pPr>
            <a:r>
              <a:rPr sz="1800">
                <a:solidFill>
                  <a:srgbClr val="1F2937"/>
                </a:solidFill>
                <a:latin typeface="Calibri"/>
              </a:rPr>
              <a:t>▸  Diqqat: sulfat kislotada perforatsiya ko‘proq; nitratda ksantoprotein reaksiyasi sarg‘ish rang beradi.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50647"/>
                <a:gridCol w="2317202"/>
                <a:gridCol w="2020125"/>
              </a:tblGrid>
              <a:tr h="411480">
                <a:tc>
                  <a:txBody>
                    <a:bodyPr/>
                    <a:lstStyle/>
                    <a:p>
                      <a:r>
                        <a:rPr sz="1300" b="1">
                          <a:solidFill>
                            <a:srgbClr val="FFFFFF"/>
                          </a:solidFill>
                        </a:rPr>
                        <a:t>Kislota</a:t>
                      </a:r>
                    </a:p>
                  </a:txBody>
                  <a:tcPr marL="73152" marR="73152" marT="36576" marB="36576">
                    <a:solidFill>
                      <a:srgbClr val="0B1F3A"/>
                    </a:solidFill>
                  </a:tcPr>
                </a:tc>
                <a:tc>
                  <a:txBody>
                    <a:bodyPr/>
                    <a:lstStyle/>
                    <a:p>
                      <a:r>
                        <a:rPr sz="1300" b="1">
                          <a:solidFill>
                            <a:srgbClr val="FFFFFF"/>
                          </a:solidFill>
                        </a:rPr>
                        <a:t>Shilliq qavat</a:t>
                      </a:r>
                    </a:p>
                  </a:txBody>
                  <a:tcPr marL="73152" marR="73152" marT="36576" marB="36576">
                    <a:solidFill>
                      <a:srgbClr val="0B1F3A"/>
                    </a:solidFill>
                  </a:tcPr>
                </a:tc>
                <a:tc>
                  <a:txBody>
                    <a:bodyPr/>
                    <a:lstStyle/>
                    <a:p>
                      <a:r>
                        <a:rPr sz="1300" b="1">
                          <a:solidFill>
                            <a:srgbClr val="FFFFFF"/>
                          </a:solidFill>
                        </a:rPr>
                        <a:t>Asorat/hid</a:t>
                      </a:r>
                    </a:p>
                  </a:txBody>
                  <a:tcPr marL="73152" marR="73152" marT="36576" marB="36576">
                    <a:solidFill>
                      <a:srgbClr val="0B1F3A"/>
                    </a:solidFill>
                  </a:tcPr>
                </a:tc>
              </a:tr>
              <a:tr h="411480">
                <a:tc>
                  <a:txBody>
                    <a:bodyPr/>
                    <a:lstStyle/>
                    <a:p>
                      <a:r>
                        <a:rPr sz="1200" b="0">
                          <a:solidFill>
                            <a:srgbClr val="1F2937"/>
                          </a:solidFill>
                        </a:rPr>
                        <a:t>Sulfat</a:t>
                      </a:r>
                    </a:p>
                  </a:txBody>
                  <a:tcPr marL="73152" marR="73152" marT="36576" marB="36576">
                    <a:solidFill>
                      <a:srgbClr val="E8EEF6"/>
                    </a:solidFill>
                  </a:tcPr>
                </a:tc>
                <a:tc>
                  <a:txBody>
                    <a:bodyPr/>
                    <a:lstStyle/>
                    <a:p>
                      <a:r>
                        <a:rPr sz="1200" b="0">
                          <a:solidFill>
                            <a:srgbClr val="1F2937"/>
                          </a:solidFill>
                        </a:rPr>
                        <a:t>Qo‘ng‘ir-qora</a:t>
                      </a:r>
                    </a:p>
                  </a:txBody>
                  <a:tcPr marL="73152" marR="73152" marT="36576" marB="36576">
                    <a:solidFill>
                      <a:srgbClr val="E8EEF6"/>
                    </a:solidFill>
                  </a:tcPr>
                </a:tc>
                <a:tc>
                  <a:txBody>
                    <a:bodyPr/>
                    <a:lstStyle/>
                    <a:p>
                      <a:r>
                        <a:rPr sz="1200" b="0">
                          <a:solidFill>
                            <a:srgbClr val="1F2937"/>
                          </a:solidFill>
                        </a:rPr>
                        <a:t>Perforatsiya ko‘proq</a:t>
                      </a:r>
                    </a:p>
                  </a:txBody>
                  <a:tcPr marL="73152" marR="73152" marT="36576" marB="36576">
                    <a:solidFill>
                      <a:srgbClr val="E8EEF6"/>
                    </a:solidFill>
                  </a:tcPr>
                </a:tc>
              </a:tr>
              <a:tr h="411480">
                <a:tc>
                  <a:txBody>
                    <a:bodyPr/>
                    <a:lstStyle/>
                    <a:p>
                      <a:r>
                        <a:rPr sz="1200" b="0">
                          <a:solidFill>
                            <a:srgbClr val="1F2937"/>
                          </a:solidFill>
                        </a:rPr>
                        <a:t>Nitrat</a:t>
                      </a:r>
                    </a:p>
                  </a:txBody>
                  <a:tcPr marL="73152" marR="73152" marT="36576" marB="36576">
                    <a:solidFill>
                      <a:srgbClr val="FFFFFF"/>
                    </a:solidFill>
                  </a:tcPr>
                </a:tc>
                <a:tc>
                  <a:txBody>
                    <a:bodyPr/>
                    <a:lstStyle/>
                    <a:p>
                      <a:r>
                        <a:rPr sz="1200" b="0">
                          <a:solidFill>
                            <a:srgbClr val="1F2937"/>
                          </a:solidFill>
                        </a:rPr>
                        <a:t>Sarg‘ish (&gt;30%), aks holda qo‘ng‘ir-kul</a:t>
                      </a:r>
                    </a:p>
                  </a:txBody>
                  <a:tcPr marL="73152" marR="73152" marT="36576" marB="36576">
                    <a:solidFill>
                      <a:srgbClr val="FFFFFF"/>
                    </a:solidFill>
                  </a:tcPr>
                </a:tc>
                <a:tc>
                  <a:txBody>
                    <a:bodyPr/>
                    <a:lstStyle/>
                    <a:p>
                      <a:r>
                        <a:rPr sz="1200" b="0">
                          <a:solidFill>
                            <a:srgbClr val="1F2937"/>
                          </a:solidFill>
                        </a:rPr>
                        <a:t>Azot oksidi hidi, o‘pka shishi</a:t>
                      </a:r>
                    </a:p>
                  </a:txBody>
                  <a:tcPr marL="73152" marR="73152" marT="36576" marB="36576">
                    <a:solidFill>
                      <a:srgbClr val="FFFFFF"/>
                    </a:solidFill>
                  </a:tcPr>
                </a:tc>
              </a:tr>
              <a:tr h="411480">
                <a:tc>
                  <a:txBody>
                    <a:bodyPr/>
                    <a:lstStyle/>
                    <a:p>
                      <a:r>
                        <a:rPr sz="1200" b="0">
                          <a:solidFill>
                            <a:srgbClr val="1F2937"/>
                          </a:solidFill>
                        </a:rPr>
                        <a:t>Xlorid</a:t>
                      </a:r>
                    </a:p>
                  </a:txBody>
                  <a:tcPr marL="73152" marR="73152" marT="36576" marB="36576">
                    <a:solidFill>
                      <a:srgbClr val="E8EEF6"/>
                    </a:solidFill>
                  </a:tcPr>
                </a:tc>
                <a:tc>
                  <a:txBody>
                    <a:bodyPr/>
                    <a:lstStyle/>
                    <a:p>
                      <a:r>
                        <a:rPr sz="1200" b="0">
                          <a:solidFill>
                            <a:srgbClr val="1F2937"/>
                          </a:solidFill>
                        </a:rPr>
                        <a:t>Qo‘ng‘ir-kul</a:t>
                      </a:r>
                    </a:p>
                  </a:txBody>
                  <a:tcPr marL="73152" marR="73152" marT="36576" marB="36576">
                    <a:solidFill>
                      <a:srgbClr val="E8EEF6"/>
                    </a:solidFill>
                  </a:tcPr>
                </a:tc>
                <a:tc>
                  <a:txBody>
                    <a:bodyPr/>
                    <a:lstStyle/>
                    <a:p>
                      <a:r>
                        <a:rPr sz="1200" b="0">
                          <a:solidFill>
                            <a:srgbClr val="1F2937"/>
                          </a:solidFill>
                        </a:rPr>
                        <a:t>Hiqildoq, o‘pka shishi ko‘proq</a:t>
                      </a:r>
                    </a:p>
                  </a:txBody>
                  <a:tcPr marL="73152" marR="73152" marT="36576" marB="36576">
                    <a:solidFill>
                      <a:srgbClr val="E8EEF6"/>
                    </a:solidFill>
                  </a:tcPr>
                </a:tc>
              </a:tr>
              <a:tr h="411480">
                <a:tc>
                  <a:txBody>
                    <a:bodyPr/>
                    <a:lstStyle/>
                    <a:p>
                      <a:r>
                        <a:rPr sz="1200" b="0">
                          <a:solidFill>
                            <a:srgbClr val="1F2937"/>
                          </a:solidFill>
                        </a:rPr>
                        <a:t>Sirka</a:t>
                      </a:r>
                    </a:p>
                  </a:txBody>
                  <a:tcPr marL="73152" marR="73152" marT="36576" marB="36576">
                    <a:solidFill>
                      <a:srgbClr val="FFFFFF"/>
                    </a:solidFill>
                  </a:tcPr>
                </a:tc>
                <a:tc>
                  <a:txBody>
                    <a:bodyPr/>
                    <a:lstStyle/>
                    <a:p>
                      <a:r>
                        <a:rPr sz="1200" b="0">
                          <a:solidFill>
                            <a:srgbClr val="1F2937"/>
                          </a:solidFill>
                        </a:rPr>
                        <a:t>Rangi ko‘rsatilmagan</a:t>
                      </a:r>
                    </a:p>
                  </a:txBody>
                  <a:tcPr marL="73152" marR="73152" marT="36576" marB="36576">
                    <a:solidFill>
                      <a:srgbClr val="FFFFFF"/>
                    </a:solidFill>
                  </a:tcPr>
                </a:tc>
                <a:tc>
                  <a:txBody>
                    <a:bodyPr/>
                    <a:lstStyle/>
                    <a:p>
                      <a:r>
                        <a:rPr sz="1200" b="0">
                          <a:solidFill>
                            <a:srgbClr val="1F2937"/>
                          </a:solidFill>
                        </a:rPr>
                        <a:t>O‘tkir sirka hidi, gemoliz, nefroz</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Kislotalarni taqqoslash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142, 141-142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Ishqorlar va boshqa o‘yuvchi 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Ishqor to‘qima oqsilini suyultiradi va yog‘ni sovunlaydi. Natijada kollikvatsion nekroz: soha yumshoq, shishgan, sirpanuvchan, tomirdan chiqqan qon ivimaydi.</a:t>
            </a:r>
          </a:p>
          <a:p>
            <a:pPr>
              <a:spcAft>
                <a:spcPts val="1200"/>
              </a:spcAft>
            </a:pPr>
            <a:r>
              <a:rPr sz="2200">
                <a:solidFill>
                  <a:srgbClr val="1F2937"/>
                </a:solidFill>
                <a:latin typeface="Calibri"/>
              </a:rPr>
              <a:t>▸  Diqqat: kislotada quruq koagulyasion nekroz (zich strup), ishqorda esa suyuq kollikvatsion nekroz. Ikkisini adashtirmang.</a:t>
            </a:r>
          </a:p>
          <a:p>
            <a:pPr>
              <a:spcAft>
                <a:spcPts val="1200"/>
              </a:spcAft>
            </a:pPr>
            <a:r>
              <a:rPr sz="2200">
                <a:solidFill>
                  <a:srgbClr val="1F2937"/>
                </a:solidFill>
                <a:latin typeface="Calibri"/>
              </a:rPr>
              <a:t>▸  Nashatir spirtining (ammoniy gidroksid) mahalliy ta’siri kuchsizroq. Qonga so‘rilsa nafas markazini buzadi; ichki a’zolardan ammiak hidi keladi.</a:t>
            </a:r>
          </a:p>
          <a:p>
            <a:pPr>
              <a:spcAft>
                <a:spcPts val="1200"/>
              </a:spcAft>
            </a:pPr>
            <a:r>
              <a:rPr sz="2200">
                <a:solidFill>
                  <a:srgbClr val="1F2937"/>
                </a:solidFill>
                <a:latin typeface="Calibri"/>
              </a:rPr>
              <a:t>▸  Formalinda shilliq qavat fiksatsiyalangan ko‘rinadi. Permanganatda jigarrang-qizgish, yodda qo‘ng‘ir strup. Vodorod peroksidda shilliq qavat oqimtir, ko‘piklangan.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143, 140, 143, 144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sirka essensiyasidan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sirka essensiyasi ichgan shaxsda og‘iz atrofida zich oqmalar, qizilo‘ngach bo‘ylab og‘riq va qon bilan qusish kuzatildi.</a:t>
            </a:r>
          </a:p>
          <a:p>
            <a:pPr>
              <a:spcAft>
                <a:spcPts val="1200"/>
              </a:spcAft>
            </a:pPr>
            <a:r>
              <a:rPr sz="2200">
                <a:solidFill>
                  <a:srgbClr val="1F2937"/>
                </a:solidFill>
                <a:latin typeface="Calibri"/>
              </a:rPr>
              <a:t>▸  Dastlabki o‘lim sababi: ekzotoksik shok yoki hiqildoq shishishidan kelib chiqqan mexanik asfiksiya.</a:t>
            </a:r>
          </a:p>
          <a:p>
            <a:pPr>
              <a:spcAft>
                <a:spcPts val="1200"/>
              </a:spcAft>
            </a:pPr>
            <a:r>
              <a:rPr sz="2200">
                <a:solidFill>
                  <a:srgbClr val="1F2937"/>
                </a:solidFill>
                <a:latin typeface="Calibri"/>
              </a:rPr>
              <a:t>▸  Kech sababi: ichki qon ketish, o‘tkir buyrak yetishmovchiligi, pnevmoniya. Gemoliz gemoglobinuriyali nefrozga olib keladi.</a:t>
            </a:r>
          </a:p>
          <a:p>
            <a:pPr>
              <a:spcAft>
                <a:spcPts val="1200"/>
              </a:spcAft>
            </a:pPr>
            <a:r>
              <a:rPr sz="2200">
                <a:solidFill>
                  <a:srgbClr val="1F2937"/>
                </a:solidFill>
                <a:latin typeface="Calibri"/>
              </a:rPr>
              <a:t>▸  Savol: dastlabki va kech o‘lim sabablarini ayting. Murdada ichki a’zolardan qanday hid kutiladi?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141, 142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Destruktiv zaharlar: simob, qo‘rg‘oshin, margimush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Sulema ichak va buyrakni shikastlaydi; organik simob neyrotoksik, stomatit chaqirmaydi.</a:t>
            </a:r>
          </a:p>
          <a:p>
            <a:pPr>
              <a:spcAft>
                <a:spcPts val="800"/>
              </a:spcAft>
            </a:pPr>
            <a:r>
              <a:rPr sz="1800">
                <a:solidFill>
                  <a:srgbClr val="1F2937"/>
                </a:solidFill>
                <a:latin typeface="Calibri"/>
              </a:rPr>
              <a:t>▸  Qo‘rg‘oshinda nerv tizimi zarari jiddiy; tetraetilqo‘rg‘oshin o‘tkir psixoz va koma beradi.</a:t>
            </a:r>
          </a:p>
          <a:p>
            <a:pPr>
              <a:spcAft>
                <a:spcPts val="800"/>
              </a:spcAft>
            </a:pPr>
            <a:r>
              <a:rPr sz="1800">
                <a:solidFill>
                  <a:srgbClr val="1F2937"/>
                </a:solidFill>
                <a:latin typeface="Calibri"/>
              </a:rPr>
              <a:t>▸  Margimushning oshqozon-ichak turi og‘iz orqali, paralitik turi katta dozada; zahar soch, timoqda to‘planadi.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143345"/>
                <a:gridCol w="1857937"/>
                <a:gridCol w="2286691"/>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Asosiy ta’sir</a:t>
                      </a:r>
                    </a:p>
                  </a:txBody>
                  <a:tcPr marL="73152" marR="73152" marT="36576" marB="36576">
                    <a:solidFill>
                      <a:srgbClr val="0B1F3A"/>
                    </a:solidFill>
                  </a:tcPr>
                </a:tc>
                <a:tc>
                  <a:txBody>
                    <a:bodyPr/>
                    <a:lstStyle/>
                    <a:p>
                      <a:r>
                        <a:rPr sz="1300" b="1">
                          <a:solidFill>
                            <a:srgbClr val="FFFFFF"/>
                          </a:solidFill>
                        </a:rPr>
                        <a:t>Belgi</a:t>
                      </a:r>
                    </a:p>
                  </a:txBody>
                  <a:tcPr marL="73152" marR="73152" marT="36576" marB="36576">
                    <a:solidFill>
                      <a:srgbClr val="0B1F3A"/>
                    </a:solidFill>
                  </a:tcPr>
                </a:tc>
              </a:tr>
              <a:tr h="411480">
                <a:tc>
                  <a:txBody>
                    <a:bodyPr/>
                    <a:lstStyle/>
                    <a:p>
                      <a:r>
                        <a:rPr sz="1200" b="0">
                          <a:solidFill>
                            <a:srgbClr val="1F2937"/>
                          </a:solidFill>
                        </a:rPr>
                        <a:t>Sulema (simob)</a:t>
                      </a:r>
                    </a:p>
                  </a:txBody>
                  <a:tcPr marL="73152" marR="73152" marT="36576" marB="36576">
                    <a:solidFill>
                      <a:srgbClr val="E8EEF6"/>
                    </a:solidFill>
                  </a:tcPr>
                </a:tc>
                <a:tc>
                  <a:txBody>
                    <a:bodyPr/>
                    <a:lstStyle/>
                    <a:p>
                      <a:r>
                        <a:rPr sz="1200" b="0">
                          <a:solidFill>
                            <a:srgbClr val="1F2937"/>
                          </a:solidFill>
                        </a:rPr>
                        <a:t>Ichak va buyrak shikasti</a:t>
                      </a:r>
                    </a:p>
                  </a:txBody>
                  <a:tcPr marL="73152" marR="73152" marT="36576" marB="36576">
                    <a:solidFill>
                      <a:srgbClr val="E8EEF6"/>
                    </a:solidFill>
                  </a:tcPr>
                </a:tc>
                <a:tc>
                  <a:txBody>
                    <a:bodyPr/>
                    <a:lstStyle/>
                    <a:p>
                      <a:r>
                        <a:rPr sz="1200" b="0">
                          <a:solidFill>
                            <a:srgbClr val="1F2937"/>
                          </a:solidFill>
                        </a:rPr>
                        <a:t>“Sulema buyragi”, ichak yaralari</a:t>
                      </a:r>
                    </a:p>
                  </a:txBody>
                  <a:tcPr marL="73152" marR="73152" marT="36576" marB="36576">
                    <a:solidFill>
                      <a:srgbClr val="E8EEF6"/>
                    </a:solidFill>
                  </a:tcPr>
                </a:tc>
              </a:tr>
              <a:tr h="411480">
                <a:tc>
                  <a:txBody>
                    <a:bodyPr/>
                    <a:lstStyle/>
                    <a:p>
                      <a:r>
                        <a:rPr sz="1200" b="0">
                          <a:solidFill>
                            <a:srgbClr val="1F2937"/>
                          </a:solidFill>
                        </a:rPr>
                        <a:t>Organik simob</a:t>
                      </a:r>
                    </a:p>
                  </a:txBody>
                  <a:tcPr marL="73152" marR="73152" marT="36576" marB="36576">
                    <a:solidFill>
                      <a:srgbClr val="FFFFFF"/>
                    </a:solidFill>
                  </a:tcPr>
                </a:tc>
                <a:tc>
                  <a:txBody>
                    <a:bodyPr/>
                    <a:lstStyle/>
                    <a:p>
                      <a:r>
                        <a:rPr sz="1200" b="0">
                          <a:solidFill>
                            <a:srgbClr val="1F2937"/>
                          </a:solidFill>
                        </a:rPr>
                        <a:t>Neyrotoksik, surunkali</a:t>
                      </a:r>
                    </a:p>
                  </a:txBody>
                  <a:tcPr marL="73152" marR="73152" marT="36576" marB="36576">
                    <a:solidFill>
                      <a:srgbClr val="FFFFFF"/>
                    </a:solidFill>
                  </a:tcPr>
                </a:tc>
                <a:tc>
                  <a:txBody>
                    <a:bodyPr/>
                    <a:lstStyle/>
                    <a:p>
                      <a:r>
                        <a:rPr sz="1200" b="0">
                          <a:solidFill>
                            <a:srgbClr val="1F2937"/>
                          </a:solidFill>
                        </a:rPr>
                        <a:t>Ensefalopatiya, stomatit yo‘q</a:t>
                      </a:r>
                    </a:p>
                  </a:txBody>
                  <a:tcPr marL="73152" marR="73152" marT="36576" marB="36576">
                    <a:solidFill>
                      <a:srgbClr val="FFFFFF"/>
                    </a:solidFill>
                  </a:tcPr>
                </a:tc>
              </a:tr>
              <a:tr h="411480">
                <a:tc>
                  <a:txBody>
                    <a:bodyPr/>
                    <a:lstStyle/>
                    <a:p>
                      <a:r>
                        <a:rPr sz="1200" b="0">
                          <a:solidFill>
                            <a:srgbClr val="1F2937"/>
                          </a:solidFill>
                        </a:rPr>
                        <a:t>Qo‘rg‘oshin</a:t>
                      </a:r>
                    </a:p>
                  </a:txBody>
                  <a:tcPr marL="73152" marR="73152" marT="36576" marB="36576">
                    <a:solidFill>
                      <a:srgbClr val="E8EEF6"/>
                    </a:solidFill>
                  </a:tcPr>
                </a:tc>
                <a:tc>
                  <a:txBody>
                    <a:bodyPr/>
                    <a:lstStyle/>
                    <a:p>
                      <a:r>
                        <a:rPr sz="1200" b="0">
                          <a:solidFill>
                            <a:srgbClr val="1F2937"/>
                          </a:solidFill>
                        </a:rPr>
                        <a:t>Nerv tizimi, kamqonlik</a:t>
                      </a:r>
                    </a:p>
                  </a:txBody>
                  <a:tcPr marL="73152" marR="73152" marT="36576" marB="36576">
                    <a:solidFill>
                      <a:srgbClr val="E8EEF6"/>
                    </a:solidFill>
                  </a:tcPr>
                </a:tc>
                <a:tc>
                  <a:txBody>
                    <a:bodyPr/>
                    <a:lstStyle/>
                    <a:p>
                      <a:r>
                        <a:rPr sz="1200" b="0">
                          <a:solidFill>
                            <a:srgbClr val="1F2937"/>
                          </a:solidFill>
                        </a:rPr>
                        <a:t>Ichak, buyrak kuchsizroq</a:t>
                      </a:r>
                    </a:p>
                  </a:txBody>
                  <a:tcPr marL="73152" marR="73152" marT="36576" marB="36576">
                    <a:solidFill>
                      <a:srgbClr val="E8EEF6"/>
                    </a:solidFill>
                  </a:tcPr>
                </a:tc>
              </a:tr>
              <a:tr h="411480">
                <a:tc>
                  <a:txBody>
                    <a:bodyPr/>
                    <a:lstStyle/>
                    <a:p>
                      <a:r>
                        <a:rPr sz="1200" b="0">
                          <a:solidFill>
                            <a:srgbClr val="1F2937"/>
                          </a:solidFill>
                        </a:rPr>
                        <a:t>Margimush</a:t>
                      </a:r>
                    </a:p>
                  </a:txBody>
                  <a:tcPr marL="73152" marR="73152" marT="36576" marB="36576">
                    <a:solidFill>
                      <a:srgbClr val="FFFFFF"/>
                    </a:solidFill>
                  </a:tcPr>
                </a:tc>
                <a:tc>
                  <a:txBody>
                    <a:bodyPr/>
                    <a:lstStyle/>
                    <a:p>
                      <a:r>
                        <a:rPr sz="1200" b="0">
                          <a:solidFill>
                            <a:srgbClr val="1F2937"/>
                          </a:solidFill>
                        </a:rPr>
                        <a:t>Oshqozon-ichak / paralitik</a:t>
                      </a:r>
                    </a:p>
                  </a:txBody>
                  <a:tcPr marL="73152" marR="73152" marT="36576" marB="36576">
                    <a:solidFill>
                      <a:srgbClr val="FFFFFF"/>
                    </a:solidFill>
                  </a:tcPr>
                </a:tc>
                <a:tc>
                  <a:txBody>
                    <a:bodyPr/>
                    <a:lstStyle/>
                    <a:p>
                      <a:r>
                        <a:rPr sz="1200" b="0">
                          <a:solidFill>
                            <a:srgbClr val="1F2937"/>
                          </a:solidFill>
                        </a:rPr>
                        <a:t>Soch, timoqda to‘planadi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Destruktiv zaharlar taqqosi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146, 147, 148, 149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 gazi bilan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Is gazi to‘liq yonmaslikdan hosil bo‘ladi, rangsiz va hidsiz; zaharlanish ko‘pincha baxtsiz hodisa.</a:t>
            </a:r>
          </a:p>
          <a:p>
            <a:pPr>
              <a:spcAft>
                <a:spcPts val="800"/>
              </a:spcAft>
            </a:pPr>
            <a:r>
              <a:rPr sz="1800">
                <a:solidFill>
                  <a:srgbClr val="1F2937"/>
                </a:solidFill>
                <a:latin typeface="Calibri"/>
              </a:rPr>
              <a:t>▸  Karboksigemoglobin 25-30% dan oshganda belgilar chiqadi, 60% dan oshsa nafas markazi falajlanadi.</a:t>
            </a:r>
          </a:p>
          <a:p>
            <a:pPr>
              <a:spcAft>
                <a:spcPts val="800"/>
              </a:spcAft>
            </a:pPr>
            <a:r>
              <a:rPr sz="1800">
                <a:solidFill>
                  <a:srgbClr val="1F2937"/>
                </a:solidFill>
                <a:latin typeface="Calibri"/>
              </a:rPr>
              <a:t>▸  Havoda 1% dan ko‘p bo‘lsa yashinsimon shakl: tez hush yo‘qolib, soniyalarda nafas to‘xtaydi.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Is gazi + gemoglobin</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Karboksigemoglobin (turg‘un)</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Kislorod tashilmaydi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gipoksiyasi (miya)</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Bosh og‘rig‘i, talvasa, koma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Is gazi ta’sir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 gazi tashxisi va metgemoglobin zaharlari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Goppe-Zeyler va Libman sinamasida normal qon qo‘ng‘ir tusga kiradi; karboksigemoglobinli qon rangi o‘zgarmaydi.</a:t>
            </a:r>
          </a:p>
          <a:p>
            <a:pPr>
              <a:spcAft>
                <a:spcPts val="800"/>
              </a:spcAft>
            </a:pPr>
            <a:r>
              <a:rPr sz="1800">
                <a:solidFill>
                  <a:srgbClr val="1F2937"/>
                </a:solidFill>
                <a:latin typeface="Calibri"/>
              </a:rPr>
              <a:t>▸  Natriy gidrosulfit qo‘shilganda ikki yutish yo‘lagi saqlansa, qonda karboksigemoglobin bor.</a:t>
            </a:r>
          </a:p>
          <a:p>
            <a:pPr>
              <a:spcAft>
                <a:spcPts val="800"/>
              </a:spcAft>
            </a:pPr>
            <a:r>
              <a:rPr sz="1800">
                <a:solidFill>
                  <a:srgbClr val="1F2937"/>
                </a:solidFill>
                <a:latin typeface="Calibri"/>
              </a:rPr>
              <a:t>▸  Nitritlar metgemoglobin hosil qiladi; nitratlar kuchsizroq, ular avval ichakda nitritga aylanadi.</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1010062"/>
                <a:gridCol w="1901294"/>
                <a:gridCol w="2376617"/>
              </a:tblGrid>
              <a:tr h="411480">
                <a:tc>
                  <a:txBody>
                    <a:bodyPr/>
                    <a:lstStyle/>
                    <a:p>
                      <a:r>
                        <a:rPr sz="1300" b="1">
                          <a:solidFill>
                            <a:srgbClr val="FFFFFF"/>
                          </a:solidFill>
                        </a:rPr>
                        <a:t>Belgi</a:t>
                      </a:r>
                    </a:p>
                  </a:txBody>
                  <a:tcPr marL="73152" marR="73152" marT="36576" marB="36576">
                    <a:solidFill>
                      <a:srgbClr val="0B1F3A"/>
                    </a:solidFill>
                  </a:tcPr>
                </a:tc>
                <a:tc>
                  <a:txBody>
                    <a:bodyPr/>
                    <a:lstStyle/>
                    <a:p>
                      <a:r>
                        <a:rPr sz="1300" b="1">
                          <a:solidFill>
                            <a:srgbClr val="FFFFFF"/>
                          </a:solidFill>
                        </a:rPr>
                        <a:t>Is gazi</a:t>
                      </a:r>
                    </a:p>
                  </a:txBody>
                  <a:tcPr marL="73152" marR="73152" marT="36576" marB="36576">
                    <a:solidFill>
                      <a:srgbClr val="0B1F3A"/>
                    </a:solidFill>
                  </a:tcPr>
                </a:tc>
                <a:tc>
                  <a:txBody>
                    <a:bodyPr/>
                    <a:lstStyle/>
                    <a:p>
                      <a:r>
                        <a:rPr sz="1300" b="1">
                          <a:solidFill>
                            <a:srgbClr val="FFFFFF"/>
                          </a:solidFill>
                        </a:rPr>
                        <a:t>Metgemoglobin</a:t>
                      </a:r>
                    </a:p>
                  </a:txBody>
                  <a:tcPr marL="73152" marR="73152" marT="36576" marB="36576">
                    <a:solidFill>
                      <a:srgbClr val="0B1F3A"/>
                    </a:solidFill>
                  </a:tcPr>
                </a:tc>
              </a:tr>
              <a:tr h="411480">
                <a:tc>
                  <a:txBody>
                    <a:bodyPr/>
                    <a:lstStyle/>
                    <a:p>
                      <a:r>
                        <a:rPr sz="1200" b="0">
                          <a:solidFill>
                            <a:srgbClr val="1F2937"/>
                          </a:solidFill>
                        </a:rPr>
                        <a:t>Murda dog‘lari</a:t>
                      </a:r>
                    </a:p>
                  </a:txBody>
                  <a:tcPr marL="73152" marR="73152" marT="36576" marB="36576">
                    <a:solidFill>
                      <a:srgbClr val="E8EEF6"/>
                    </a:solidFill>
                  </a:tcPr>
                </a:tc>
                <a:tc>
                  <a:txBody>
                    <a:bodyPr/>
                    <a:lstStyle/>
                    <a:p>
                      <a:r>
                        <a:rPr sz="1200" b="0">
                          <a:solidFill>
                            <a:srgbClr val="1F2937"/>
                          </a:solidFill>
                        </a:rPr>
                        <a:t>Pushti-qizg‘ish</a:t>
                      </a:r>
                    </a:p>
                  </a:txBody>
                  <a:tcPr marL="73152" marR="73152" marT="36576" marB="36576">
                    <a:solidFill>
                      <a:srgbClr val="E8EEF6"/>
                    </a:solidFill>
                  </a:tcPr>
                </a:tc>
                <a:tc>
                  <a:txBody>
                    <a:bodyPr/>
                    <a:lstStyle/>
                    <a:p>
                      <a:r>
                        <a:rPr sz="1200" b="0">
                          <a:solidFill>
                            <a:srgbClr val="1F2937"/>
                          </a:solidFill>
                        </a:rPr>
                        <a:t>Ko‘kimtir-kulrang, qo‘ng‘ir</a:t>
                      </a:r>
                    </a:p>
                  </a:txBody>
                  <a:tcPr marL="73152" marR="73152" marT="36576" marB="36576">
                    <a:solidFill>
                      <a:srgbClr val="E8EEF6"/>
                    </a:solidFill>
                  </a:tcPr>
                </a:tc>
              </a:tr>
              <a:tr h="411480">
                <a:tc>
                  <a:txBody>
                    <a:bodyPr/>
                    <a:lstStyle/>
                    <a:p>
                      <a:r>
                        <a:rPr sz="1200" b="0">
                          <a:solidFill>
                            <a:srgbClr val="1F2937"/>
                          </a:solidFill>
                        </a:rPr>
                        <a:t>Mexanizm</a:t>
                      </a:r>
                    </a:p>
                  </a:txBody>
                  <a:tcPr marL="73152" marR="73152" marT="36576" marB="36576">
                    <a:solidFill>
                      <a:srgbClr val="FFFFFF"/>
                    </a:solidFill>
                  </a:tcPr>
                </a:tc>
                <a:tc>
                  <a:txBody>
                    <a:bodyPr/>
                    <a:lstStyle/>
                    <a:p>
                      <a:r>
                        <a:rPr sz="1200" b="0">
                          <a:solidFill>
                            <a:srgbClr val="1F2937"/>
                          </a:solidFill>
                        </a:rPr>
                        <a:t>Gemoglobin bilan turg‘un birikma</a:t>
                      </a:r>
                    </a:p>
                  </a:txBody>
                  <a:tcPr marL="73152" marR="73152" marT="36576" marB="36576">
                    <a:solidFill>
                      <a:srgbClr val="FFFFFF"/>
                    </a:solidFill>
                  </a:tcPr>
                </a:tc>
                <a:tc>
                  <a:txBody>
                    <a:bodyPr/>
                    <a:lstStyle/>
                    <a:p>
                      <a:r>
                        <a:rPr sz="1200" b="0">
                          <a:solidFill>
                            <a:srgbClr val="1F2937"/>
                          </a:solidFill>
                        </a:rPr>
                        <a:t>Temir uch valentli: kislorod tashilmaydi</a:t>
                      </a:r>
                    </a:p>
                  </a:txBody>
                  <a:tcPr marL="73152" marR="73152" marT="36576" marB="36576">
                    <a:solidFill>
                      <a:srgbClr val="FFFFFF"/>
                    </a:solidFill>
                  </a:tcPr>
                </a:tc>
              </a:tr>
              <a:tr h="411480">
                <a:tc>
                  <a:txBody>
                    <a:bodyPr/>
                    <a:lstStyle/>
                    <a:p>
                      <a:r>
                        <a:rPr sz="1200" b="0">
                          <a:solidFill>
                            <a:srgbClr val="1F2937"/>
                          </a:solidFill>
                        </a:rPr>
                        <a:t>Belgi boshlanishi</a:t>
                      </a:r>
                    </a:p>
                  </a:txBody>
                  <a:tcPr marL="73152" marR="73152" marT="36576" marB="36576">
                    <a:solidFill>
                      <a:srgbClr val="E8EEF6"/>
                    </a:solidFill>
                  </a:tcPr>
                </a:tc>
                <a:tc>
                  <a:txBody>
                    <a:bodyPr/>
                    <a:lstStyle/>
                    <a:p>
                      <a:r>
                        <a:rPr sz="1200" b="0">
                          <a:solidFill>
                            <a:srgbClr val="1F2937"/>
                          </a:solidFill>
                        </a:rPr>
                        <a:t>25-30% dan oshganda</a:t>
                      </a:r>
                    </a:p>
                  </a:txBody>
                  <a:tcPr marL="73152" marR="73152" marT="36576" marB="36576">
                    <a:solidFill>
                      <a:srgbClr val="E8EEF6"/>
                    </a:solidFill>
                  </a:tcPr>
                </a:tc>
                <a:tc>
                  <a:txBody>
                    <a:bodyPr/>
                    <a:lstStyle/>
                    <a:p>
                      <a:r>
                        <a:rPr sz="1200" b="0">
                          <a:solidFill>
                            <a:srgbClr val="1F2937"/>
                          </a:solidFill>
                        </a:rPr>
                        <a:t>30% dan oshganda</a:t>
                      </a:r>
                    </a:p>
                  </a:txBody>
                  <a:tcPr marL="73152" marR="73152" marT="36576" marB="36576">
                    <a:solidFill>
                      <a:srgbClr val="E8EEF6"/>
                    </a:solidFill>
                  </a:tcPr>
                </a:tc>
              </a:tr>
              <a:tr h="411480">
                <a:tc>
                  <a:txBody>
                    <a:bodyPr/>
                    <a:lstStyle/>
                    <a:p>
                      <a:r>
                        <a:rPr sz="1200" b="0">
                          <a:solidFill>
                            <a:srgbClr val="1F2937"/>
                          </a:solidFill>
                        </a:rPr>
                        <a:t>O‘limli daraja</a:t>
                      </a:r>
                    </a:p>
                  </a:txBody>
                  <a:tcPr marL="73152" marR="73152" marT="36576" marB="36576">
                    <a:solidFill>
                      <a:srgbClr val="FFFFFF"/>
                    </a:solidFill>
                  </a:tcPr>
                </a:tc>
                <a:tc>
                  <a:txBody>
                    <a:bodyPr/>
                    <a:lstStyle/>
                    <a:p>
                      <a:r>
                        <a:rPr sz="1200" b="0">
                          <a:solidFill>
                            <a:srgbClr val="1F2937"/>
                          </a:solidFill>
                        </a:rPr>
                        <a:t>60% dan oshganda</a:t>
                      </a:r>
                    </a:p>
                  </a:txBody>
                  <a:tcPr marL="73152" marR="73152" marT="36576" marB="36576">
                    <a:solidFill>
                      <a:srgbClr val="FFFFFF"/>
                    </a:solidFill>
                  </a:tcPr>
                </a:tc>
                <a:tc>
                  <a:txBody>
                    <a:bodyPr/>
                    <a:lstStyle/>
                    <a:p>
                      <a:r>
                        <a:rPr sz="1200" b="0">
                          <a:solidFill>
                            <a:srgbClr val="1F2937"/>
                          </a:solidFill>
                        </a:rPr>
                        <a:t>70% dan oshganda</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Ikki zahar solishtirmasi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151, 152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nosoz pechka va uyquda o‘lim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yaxshi shamollatilmaydigan yopiq xonada nosoz pech ishlagan; odam uyquda o‘lik topildi, murda dog‘lari pushti.</a:t>
            </a:r>
          </a:p>
          <a:p>
            <a:pPr>
              <a:spcAft>
                <a:spcPts val="1200"/>
              </a:spcAft>
            </a:pPr>
            <a:r>
              <a:rPr sz="2200">
                <a:solidFill>
                  <a:srgbClr val="1F2937"/>
                </a:solidFill>
                <a:latin typeface="Calibri"/>
              </a:rPr>
              <a:t>▸  Savol: zaharlanishni tasdiqlash uchun qaysi tezkor sinamalar va qanday tekshiruv o‘tkaziladi?</a:t>
            </a:r>
          </a:p>
          <a:p>
            <a:pPr>
              <a:spcAft>
                <a:spcPts val="1200"/>
              </a:spcAft>
            </a:pPr>
            <a:r>
              <a:rPr sz="2200">
                <a:solidFill>
                  <a:srgbClr val="1F2937"/>
                </a:solidFill>
                <a:latin typeface="Calibri"/>
              </a:rPr>
              <a:t>▸  Javob: Goppe-Zeyler, Libman va spektroskopik sinamalar murakkab jihozsiz o‘tkaziladi; tasdiq uchun karboksigemoglobinning miqdoriy spektrofotometriyasi kerak.</a:t>
            </a:r>
          </a:p>
          <a:p>
            <a:pPr>
              <a:spcAft>
                <a:spcPts val="1200"/>
              </a:spcAft>
            </a:pPr>
            <a:r>
              <a:rPr sz="2200">
                <a:solidFill>
                  <a:srgbClr val="1F2937"/>
                </a:solidFill>
                <a:latin typeface="Calibri"/>
              </a:rPr>
              <a:t>▸  Diqqat: manfiy natija zaharlanishni inkor etmaydi. Tez o‘lim yoki o‘limdan oldin toza havoda bo‘lish miqdorni pasaytiradi, shuning uchun qon imkon qadar erta olinadi.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150-151, 151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MNTni falajlovchi zaharlar: sianid, H₂S, FOB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Sian anioni sitoxromoksidaza temirini bog‘laydi: qonda kislorod bor, ammo to‘qima gipoksiyasi rivojlanadi.</a:t>
            </a:r>
          </a:p>
          <a:p>
            <a:pPr>
              <a:spcAft>
                <a:spcPts val="800"/>
              </a:spcAft>
            </a:pPr>
            <a:r>
              <a:rPr sz="1800">
                <a:solidFill>
                  <a:srgbClr val="1F2937"/>
                </a:solidFill>
                <a:latin typeface="Calibri"/>
              </a:rPr>
              <a:t>▸  Amigdalin (o‘rik, shaftoli danagi mag‘zi) sianid hosil qiladi; antidot — metgemoglobin hosil qiluvchilar.</a:t>
            </a:r>
          </a:p>
          <a:p>
            <a:pPr>
              <a:spcAft>
                <a:spcPts val="800"/>
              </a:spcAft>
            </a:pPr>
            <a:r>
              <a:rPr sz="1800">
                <a:solidFill>
                  <a:srgbClr val="1F2937"/>
                </a:solidFill>
                <a:latin typeface="Calibri"/>
              </a:rPr>
              <a:t>▸  Tashxis: tafsilot, klinika, sud-kimyo; fosfororganik birikmalar (FOB)da xolinesteraza aktivligi ham tekshiriladi.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50647"/>
                <a:gridCol w="2079540"/>
                <a:gridCol w="2257787"/>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Mexanizm</a:t>
                      </a:r>
                    </a:p>
                  </a:txBody>
                  <a:tcPr marL="73152" marR="73152" marT="36576" marB="36576">
                    <a:solidFill>
                      <a:srgbClr val="0B1F3A"/>
                    </a:solidFill>
                  </a:tcPr>
                </a:tc>
                <a:tc>
                  <a:txBody>
                    <a:bodyPr/>
                    <a:lstStyle/>
                    <a:p>
                      <a:r>
                        <a:rPr sz="1300" b="1">
                          <a:solidFill>
                            <a:srgbClr val="FFFFFF"/>
                          </a:solidFill>
                        </a:rPr>
                        <a:t>Murdada belgi</a:t>
                      </a:r>
                    </a:p>
                  </a:txBody>
                  <a:tcPr marL="73152" marR="73152" marT="36576" marB="36576">
                    <a:solidFill>
                      <a:srgbClr val="0B1F3A"/>
                    </a:solidFill>
                  </a:tcPr>
                </a:tc>
              </a:tr>
              <a:tr h="411480">
                <a:tc>
                  <a:txBody>
                    <a:bodyPr/>
                    <a:lstStyle/>
                    <a:p>
                      <a:r>
                        <a:rPr sz="1200" b="0">
                          <a:solidFill>
                            <a:srgbClr val="1F2937"/>
                          </a:solidFill>
                        </a:rPr>
                        <a:t>Sianid</a:t>
                      </a:r>
                    </a:p>
                  </a:txBody>
                  <a:tcPr marL="73152" marR="73152" marT="36576" marB="36576">
                    <a:solidFill>
                      <a:srgbClr val="E8EEF6"/>
                    </a:solidFill>
                  </a:tcPr>
                </a:tc>
                <a:tc>
                  <a:txBody>
                    <a:bodyPr/>
                    <a:lstStyle/>
                    <a:p>
                      <a:r>
                        <a:rPr sz="1200" b="0">
                          <a:solidFill>
                            <a:srgbClr val="1F2937"/>
                          </a:solidFill>
                        </a:rPr>
                        <a:t>Sitoxromoksidaza temirini bog‘laydi</a:t>
                      </a:r>
                    </a:p>
                  </a:txBody>
                  <a:tcPr marL="73152" marR="73152" marT="36576" marB="36576">
                    <a:solidFill>
                      <a:srgbClr val="E8EEF6"/>
                    </a:solidFill>
                  </a:tcPr>
                </a:tc>
                <a:tc>
                  <a:txBody>
                    <a:bodyPr/>
                    <a:lstStyle/>
                    <a:p>
                      <a:r>
                        <a:rPr sz="1200" b="0">
                          <a:solidFill>
                            <a:srgbClr val="1F2937"/>
                          </a:solidFill>
                        </a:rPr>
                        <a:t>Olcha rang dog‘lar, achchiq bodom hidi</a:t>
                      </a:r>
                    </a:p>
                  </a:txBody>
                  <a:tcPr marL="73152" marR="73152" marT="36576" marB="36576">
                    <a:solidFill>
                      <a:srgbClr val="E8EEF6"/>
                    </a:solidFill>
                  </a:tcPr>
                </a:tc>
              </a:tr>
              <a:tr h="411480">
                <a:tc>
                  <a:txBody>
                    <a:bodyPr/>
                    <a:lstStyle/>
                    <a:p>
                      <a:r>
                        <a:rPr sz="1200" b="0">
                          <a:solidFill>
                            <a:srgbClr val="1F2937"/>
                          </a:solidFill>
                        </a:rPr>
                        <a:t>Vodorod sulfid</a:t>
                      </a:r>
                    </a:p>
                  </a:txBody>
                  <a:tcPr marL="73152" marR="73152" marT="36576" marB="36576">
                    <a:solidFill>
                      <a:srgbClr val="FFFFFF"/>
                    </a:solidFill>
                  </a:tcPr>
                </a:tc>
                <a:tc>
                  <a:txBody>
                    <a:bodyPr/>
                    <a:lstStyle/>
                    <a:p>
                      <a:r>
                        <a:rPr sz="1200" b="0">
                          <a:solidFill>
                            <a:srgbClr val="1F2937"/>
                          </a:solidFill>
                        </a:rPr>
                        <a:t>Sitoxrom temirini bog‘laydi</a:t>
                      </a:r>
                    </a:p>
                  </a:txBody>
                  <a:tcPr marL="73152" marR="73152" marT="36576" marB="36576">
                    <a:solidFill>
                      <a:srgbClr val="FFFFFF"/>
                    </a:solidFill>
                  </a:tcPr>
                </a:tc>
                <a:tc>
                  <a:txBody>
                    <a:bodyPr/>
                    <a:lstStyle/>
                    <a:p>
                      <a:r>
                        <a:rPr sz="1200" b="0">
                          <a:solidFill>
                            <a:srgbClr val="1F2937"/>
                          </a:solidFill>
                        </a:rPr>
                        <a:t>Palag‘da tuxum hidi, olcha-qizil qon</a:t>
                      </a:r>
                    </a:p>
                  </a:txBody>
                  <a:tcPr marL="73152" marR="73152" marT="36576" marB="36576">
                    <a:solidFill>
                      <a:srgbClr val="FFFFFF"/>
                    </a:solidFill>
                  </a:tcPr>
                </a:tc>
              </a:tr>
              <a:tr h="411480">
                <a:tc>
                  <a:txBody>
                    <a:bodyPr/>
                    <a:lstStyle/>
                    <a:p>
                      <a:r>
                        <a:rPr sz="1200" b="0">
                          <a:solidFill>
                            <a:srgbClr val="1F2937"/>
                          </a:solidFill>
                        </a:rPr>
                        <a:t>FOB</a:t>
                      </a:r>
                    </a:p>
                  </a:txBody>
                  <a:tcPr marL="73152" marR="73152" marT="36576" marB="36576">
                    <a:solidFill>
                      <a:srgbClr val="E8EEF6"/>
                    </a:solidFill>
                  </a:tcPr>
                </a:tc>
                <a:tc>
                  <a:txBody>
                    <a:bodyPr/>
                    <a:lstStyle/>
                    <a:p>
                      <a:r>
                        <a:rPr sz="1200" b="0">
                          <a:solidFill>
                            <a:srgbClr val="1F2937"/>
                          </a:solidFill>
                        </a:rPr>
                        <a:t>Xolinesterazani so‘ndiradi</a:t>
                      </a:r>
                    </a:p>
                  </a:txBody>
                  <a:tcPr marL="73152" marR="73152" marT="36576" marB="36576">
                    <a:solidFill>
                      <a:srgbClr val="E8EEF6"/>
                    </a:solidFill>
                  </a:tcPr>
                </a:tc>
                <a:tc>
                  <a:txBody>
                    <a:bodyPr/>
                    <a:lstStyle/>
                    <a:p>
                      <a:r>
                        <a:rPr sz="1200" b="0">
                          <a:solidFill>
                            <a:srgbClr val="1F2937"/>
                          </a:solidFill>
                        </a:rPr>
                        <a:t>Qorachiq tor, shilliq ko‘p, qotish tez</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zaharni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153, 153-154, 154-156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Etil spirti: toksikokinetika va mastlik darajalari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Spirt atsetaldegidga, so‘ng sirka kislotasiga oksidlanadi; atsetaldegid “poxmele” belgilarini beradi.</a:t>
            </a:r>
          </a:p>
          <a:p>
            <a:pPr>
              <a:spcAft>
                <a:spcPts val="800"/>
              </a:spcAft>
            </a:pPr>
            <a:r>
              <a:rPr sz="1800">
                <a:solidFill>
                  <a:srgbClr val="1F2937"/>
                </a:solidFill>
                <a:latin typeface="Calibri"/>
              </a:rPr>
              <a:t>▸  Endogen alkogol 0,3–0,4 promillegacha bo‘ladi; rezorbsiya davri 1–2 soat davom etadi.</a:t>
            </a:r>
          </a:p>
          <a:p>
            <a:pPr>
              <a:spcAft>
                <a:spcPts val="800"/>
              </a:spcAft>
            </a:pPr>
            <a:r>
              <a:rPr sz="1800">
                <a:solidFill>
                  <a:srgbClr val="1F2937"/>
                </a:solidFill>
                <a:latin typeface="Calibri"/>
              </a:rPr>
              <a:t>▸  Rappoport sinamasida pushti rang yo‘qoladi; Moxov–Shinkarenko sinamasida sariq rang yashilga o‘tadi.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090594"/>
                <a:gridCol w="3197380"/>
              </a:tblGrid>
              <a:tr h="411480">
                <a:tc>
                  <a:txBody>
                    <a:bodyPr/>
                    <a:lstStyle/>
                    <a:p>
                      <a:r>
                        <a:rPr sz="1400" b="1">
                          <a:solidFill>
                            <a:srgbClr val="FFFFFF"/>
                          </a:solidFill>
                        </a:rPr>
                        <a:t>Promille</a:t>
                      </a:r>
                    </a:p>
                  </a:txBody>
                  <a:tcPr marL="73152" marR="73152" marT="36576" marB="36576">
                    <a:solidFill>
                      <a:srgbClr val="0B1F3A"/>
                    </a:solidFill>
                  </a:tcPr>
                </a:tc>
                <a:tc>
                  <a:txBody>
                    <a:bodyPr/>
                    <a:lstStyle/>
                    <a:p>
                      <a:r>
                        <a:rPr sz="1400" b="1">
                          <a:solidFill>
                            <a:srgbClr val="FFFFFF"/>
                          </a:solidFill>
                        </a:rPr>
                        <a:t>Baho</a:t>
                      </a:r>
                    </a:p>
                  </a:txBody>
                  <a:tcPr marL="73152" marR="73152" marT="36576" marB="36576">
                    <a:solidFill>
                      <a:srgbClr val="0B1F3A"/>
                    </a:solidFill>
                  </a:tcPr>
                </a:tc>
              </a:tr>
              <a:tr h="411480">
                <a:tc>
                  <a:txBody>
                    <a:bodyPr/>
                    <a:lstStyle/>
                    <a:p>
                      <a:r>
                        <a:rPr sz="1300" b="0">
                          <a:solidFill>
                            <a:srgbClr val="1F2937"/>
                          </a:solidFill>
                        </a:rPr>
                        <a:t>0,5 dan 1,5 gacha</a:t>
                      </a:r>
                    </a:p>
                  </a:txBody>
                  <a:tcPr marL="73152" marR="73152" marT="36576" marB="36576">
                    <a:solidFill>
                      <a:srgbClr val="E8EEF6"/>
                    </a:solidFill>
                  </a:tcPr>
                </a:tc>
                <a:tc>
                  <a:txBody>
                    <a:bodyPr/>
                    <a:lstStyle/>
                    <a:p>
                      <a:r>
                        <a:rPr sz="1300" b="0">
                          <a:solidFill>
                            <a:srgbClr val="1F2937"/>
                          </a:solidFill>
                        </a:rPr>
                        <a:t>Yengil mastlik</a:t>
                      </a:r>
                    </a:p>
                  </a:txBody>
                  <a:tcPr marL="73152" marR="73152" marT="36576" marB="36576">
                    <a:solidFill>
                      <a:srgbClr val="E8EEF6"/>
                    </a:solidFill>
                  </a:tcPr>
                </a:tc>
              </a:tr>
              <a:tr h="411480">
                <a:tc>
                  <a:txBody>
                    <a:bodyPr/>
                    <a:lstStyle/>
                    <a:p>
                      <a:r>
                        <a:rPr sz="1300" b="0">
                          <a:solidFill>
                            <a:srgbClr val="1F2937"/>
                          </a:solidFill>
                        </a:rPr>
                        <a:t>1,5 dan 2,5 gacha</a:t>
                      </a:r>
                    </a:p>
                  </a:txBody>
                  <a:tcPr marL="73152" marR="73152" marT="36576" marB="36576">
                    <a:solidFill>
                      <a:srgbClr val="FFFFFF"/>
                    </a:solidFill>
                  </a:tcPr>
                </a:tc>
                <a:tc>
                  <a:txBody>
                    <a:bodyPr/>
                    <a:lstStyle/>
                    <a:p>
                      <a:r>
                        <a:rPr sz="1300" b="0">
                          <a:solidFill>
                            <a:srgbClr val="1F2937"/>
                          </a:solidFill>
                        </a:rPr>
                        <a:t>O‘rta mastlik</a:t>
                      </a:r>
                    </a:p>
                  </a:txBody>
                  <a:tcPr marL="73152" marR="73152" marT="36576" marB="36576">
                    <a:solidFill>
                      <a:srgbClr val="FFFFFF"/>
                    </a:solidFill>
                  </a:tcPr>
                </a:tc>
              </a:tr>
              <a:tr h="411480">
                <a:tc>
                  <a:txBody>
                    <a:bodyPr/>
                    <a:lstStyle/>
                    <a:p>
                      <a:r>
                        <a:rPr sz="1300" b="0">
                          <a:solidFill>
                            <a:srgbClr val="1F2937"/>
                          </a:solidFill>
                        </a:rPr>
                        <a:t>2,5 dan 3,0 gacha</a:t>
                      </a:r>
                    </a:p>
                  </a:txBody>
                  <a:tcPr marL="73152" marR="73152" marT="36576" marB="36576">
                    <a:solidFill>
                      <a:srgbClr val="E8EEF6"/>
                    </a:solidFill>
                  </a:tcPr>
                </a:tc>
                <a:tc>
                  <a:txBody>
                    <a:bodyPr/>
                    <a:lstStyle/>
                    <a:p>
                      <a:r>
                        <a:rPr sz="1300" b="0">
                          <a:solidFill>
                            <a:srgbClr val="1F2937"/>
                          </a:solidFill>
                        </a:rPr>
                        <a:t>Kuchli mastlik</a:t>
                      </a:r>
                    </a:p>
                  </a:txBody>
                  <a:tcPr marL="73152" marR="73152" marT="36576" marB="36576">
                    <a:solidFill>
                      <a:srgbClr val="E8EEF6"/>
                    </a:solidFill>
                  </a:tcPr>
                </a:tc>
              </a:tr>
              <a:tr h="411480">
                <a:tc>
                  <a:txBody>
                    <a:bodyPr/>
                    <a:lstStyle/>
                    <a:p>
                      <a:r>
                        <a:rPr sz="1300" b="0">
                          <a:solidFill>
                            <a:srgbClr val="1F2937"/>
                          </a:solidFill>
                        </a:rPr>
                        <a:t>3,0 dan yuqori</a:t>
                      </a:r>
                    </a:p>
                  </a:txBody>
                  <a:tcPr marL="73152" marR="73152" marT="36576" marB="36576">
                    <a:solidFill>
                      <a:srgbClr val="FFFFFF"/>
                    </a:solidFill>
                  </a:tcPr>
                </a:tc>
                <a:tc>
                  <a:txBody>
                    <a:bodyPr/>
                    <a:lstStyle/>
                    <a:p>
                      <a:r>
                        <a:rPr sz="1300" b="0">
                          <a:solidFill>
                            <a:srgbClr val="1F2937"/>
                          </a:solidFill>
                        </a:rPr>
                        <a:t>Zaharlanish deb baholanadi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Qondagi spirt bo‘yicha baho</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157, 156-157, 158-159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Vidmark-Balyakin formulasi va qon/siydik taqqoslash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A — spirt (100°), R — vazn kg, r — reduksiya omili (erkak 0,68, ayol 0,55), P — Vidmark konstantasi.</a:t>
            </a:r>
          </a:p>
          <a:p>
            <a:pPr>
              <a:spcAft>
                <a:spcPts val="800"/>
              </a:spcAft>
            </a:pPr>
            <a:r>
              <a:rPr sz="1800">
                <a:solidFill>
                  <a:srgbClr val="1F2937"/>
                </a:solidFill>
                <a:latin typeface="Calibri"/>
              </a:rPr>
              <a:t>▸  P: boshida 0,10–0,13, o‘rtacha yuklamada 0,15–0,18, kuchlida 0,20–0,24; noma’lum bo‘lsa 0,13–0,15.</a:t>
            </a:r>
          </a:p>
          <a:p>
            <a:pPr>
              <a:spcAft>
                <a:spcPts val="800"/>
              </a:spcAft>
            </a:pPr>
            <a:r>
              <a:rPr sz="1800">
                <a:solidFill>
                  <a:srgbClr val="1F2937"/>
                </a:solidFill>
                <a:latin typeface="Calibri"/>
              </a:rPr>
              <a:t>▸  Rezorbsiyada qonda spirt siydikdan baland; eliminatsiyada qonda pasayadi, siydikda baland bo‘ladi.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 qondagi spirt (promille)</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 ichgandan namunagacha soat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 Vidmark konstantasi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C + P·T</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 = R·r·(C + P·T)</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Hisoblash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159-160, 159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spirt va promille</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Savol: qonda 0,5–1,5 promille spirt qaysi mastlikka to‘g‘ri keladi? Javob: engil. 1,5–2,5 — o‘rta, 2,5–3,0 — kuchli; 3,0 dan yuqori bo‘lsa zaharlanish deb baholanadi.</a:t>
            </a:r>
          </a:p>
          <a:p>
            <a:pPr>
              <a:spcAft>
                <a:spcPts val="1200"/>
              </a:spcAft>
            </a:pPr>
            <a:r>
              <a:rPr sz="2000">
                <a:solidFill>
                  <a:srgbClr val="1F2937"/>
                </a:solidFill>
                <a:latin typeface="Calibri"/>
              </a:rPr>
              <a:t>▸  Savol: murdadan olingan qonda qancha spirt o‘tkir zaharlanishdan o‘lim sababi sanaladi? Javob: 5,0 promille va undan ortiq.</a:t>
            </a:r>
          </a:p>
          <a:p>
            <a:pPr>
              <a:spcAft>
                <a:spcPts val="1200"/>
              </a:spcAft>
            </a:pPr>
            <a:r>
              <a:rPr sz="2000">
                <a:solidFill>
                  <a:srgbClr val="1F2937"/>
                </a:solidFill>
                <a:latin typeface="Calibri"/>
              </a:rPr>
              <a:t>▸  Savol: Vidmark konstantasi (P) nimani bildiradi? Javob: bir soatda qondagi spirt miqdorining pasayishini. Eliminatsiya boshida 0,10–0,13, o‘rtacha jismoniy yuklamada 0,15–0,18 promille.</a:t>
            </a:r>
          </a:p>
          <a:p>
            <a:pPr>
              <a:spcAft>
                <a:spcPts val="1200"/>
              </a:spcAft>
            </a:pPr>
            <a:r>
              <a:rPr sz="2000">
                <a:solidFill>
                  <a:srgbClr val="1F2937"/>
                </a:solidFill>
                <a:latin typeface="Calibri"/>
              </a:rPr>
              <a:t>▸  Diqqat: rezorbsiya ≠ eliminatsiya. Rezorbsiyada qonda spirt siydikdagidan baland va o‘sib boradi. Eliminatsiyada qonda kamayadi, siydikda baland bo‘ladi.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160, 159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Metanol, etilenglikol va spirt surrogatlari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Metanol rangi, hidi va ta’mi bilan etil spirtiga o‘xshaydi, shuning uchun almashib ichiladi. Letal dozasi 30–100 ml. Bosqichlar: qisqa mastlik, yashirin davr, og‘ir davr. Diqqat: metil spirti ≠ etil spirti.</a:t>
            </a:r>
          </a:p>
          <a:p>
            <a:pPr>
              <a:spcAft>
                <a:spcPts val="1200"/>
              </a:spcAft>
            </a:pPr>
            <a:r>
              <a:rPr sz="2000">
                <a:solidFill>
                  <a:srgbClr val="1F2937"/>
                </a:solidFill>
                <a:latin typeface="Calibri"/>
              </a:rPr>
              <a:t>▸  Metabolitlari (formaldegid, chumoli kislotasi) atsidoz beradi. Ko‘rish buzilib, yo‘qolishi mumkin; murdada epikard ostida plakchasimon qon quyilishlar — Kryukov dog‘lari. (?)</a:t>
            </a:r>
          </a:p>
          <a:p>
            <a:pPr>
              <a:spcAft>
                <a:spcPts val="1200"/>
              </a:spcAft>
            </a:pPr>
            <a:r>
              <a:rPr sz="2000">
                <a:solidFill>
                  <a:srgbClr val="1F2937"/>
                </a:solidFill>
                <a:latin typeface="Calibri"/>
              </a:rPr>
              <a:t>▸  Etilenglikol (antifriz) 4 bosqichda kechadi: mastlik, qisqa yashirin davr, nerv tizimi shikastlanishi, jigar va buyrak shikastlanishi. Letal doza 100–200 ml.</a:t>
            </a:r>
          </a:p>
          <a:p>
            <a:pPr>
              <a:spcAft>
                <a:spcPts val="1200"/>
              </a:spcAft>
            </a:pPr>
            <a:r>
              <a:rPr sz="2000">
                <a:solidFill>
                  <a:srgbClr val="1F2937"/>
                </a:solidFill>
                <a:latin typeface="Calibri"/>
              </a:rPr>
              <a:t>▸  Propil, butil, amil spirtlari koma va nafas markazi falajini beradi; letal doza 300, 200–250 va 20–30 ml. Tetraetilqo‘rg‘oshinning letal dozasi 10–15 ml.</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161, 161-162, 162-163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Uyqu dorilari, strixnin, atropin va boshqalar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Barbituratlar markaziy nerv tizimi (MNT)ni so‘ndiradi; spirt bilan birga ichilsa, ta’siri kuchayib, o‘lim xavfi oshadi.</a:t>
            </a:r>
          </a:p>
          <a:p>
            <a:pPr>
              <a:spcAft>
                <a:spcPts val="800"/>
              </a:spcAft>
            </a:pPr>
            <a:r>
              <a:rPr sz="1800">
                <a:solidFill>
                  <a:srgbClr val="1F2937"/>
                </a:solidFill>
                <a:latin typeface="Calibri"/>
              </a:rPr>
              <a:t>▸  Strixnin orqa miyaning refleks qo‘zg‘aluvchanligini oshiradi; nur yoki tovush ham yangi talvasa xurujini chaqiradi.</a:t>
            </a:r>
          </a:p>
          <a:p>
            <a:pPr>
              <a:spcAft>
                <a:spcPts val="800"/>
              </a:spcAft>
            </a:pPr>
            <a:r>
              <a:rPr sz="1800">
                <a:solidFill>
                  <a:srgbClr val="1F2937"/>
                </a:solidFill>
                <a:latin typeface="Calibri"/>
              </a:rPr>
              <a:t>▸  Pilokarpin (0,06 g): qorachiq torayadi. Paxikarpin — 1,0–2,0 g. Miorelaksant: nafas mushaklari falaji.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23479"/>
                <a:gridCol w="2274397"/>
                <a:gridCol w="1990098"/>
              </a:tblGrid>
              <a:tr h="411480">
                <a:tc>
                  <a:txBody>
                    <a:bodyPr/>
                    <a:lstStyle/>
                    <a:p>
                      <a:r>
                        <a:rPr sz="1300" b="1">
                          <a:solidFill>
                            <a:srgbClr val="FFFFFF"/>
                          </a:solidFill>
                        </a:rPr>
                        <a:t>Zahar</a:t>
                      </a:r>
                    </a:p>
                  </a:txBody>
                  <a:tcPr marL="73152" marR="73152" marT="36576" marB="36576">
                    <a:solidFill>
                      <a:srgbClr val="0B1F3A"/>
                    </a:solidFill>
                  </a:tcPr>
                </a:tc>
                <a:tc>
                  <a:txBody>
                    <a:bodyPr/>
                    <a:lstStyle/>
                    <a:p>
                      <a:r>
                        <a:rPr sz="1300" b="1">
                          <a:solidFill>
                            <a:srgbClr val="FFFFFF"/>
                          </a:solidFill>
                        </a:rPr>
                        <a:t>Asosiy belgi</a:t>
                      </a:r>
                    </a:p>
                  </a:txBody>
                  <a:tcPr marL="73152" marR="73152" marT="36576" marB="36576">
                    <a:solidFill>
                      <a:srgbClr val="0B1F3A"/>
                    </a:solidFill>
                  </a:tcPr>
                </a:tc>
                <a:tc>
                  <a:txBody>
                    <a:bodyPr/>
                    <a:lstStyle/>
                    <a:p>
                      <a:r>
                        <a:rPr sz="1300" b="1">
                          <a:solidFill>
                            <a:srgbClr val="FFFFFF"/>
                          </a:solidFill>
                        </a:rPr>
                        <a:t>Letal doza</a:t>
                      </a:r>
                    </a:p>
                  </a:txBody>
                  <a:tcPr marL="73152" marR="73152" marT="36576" marB="36576">
                    <a:solidFill>
                      <a:srgbClr val="0B1F3A"/>
                    </a:solidFill>
                  </a:tcPr>
                </a:tc>
              </a:tr>
              <a:tr h="411480">
                <a:tc>
                  <a:txBody>
                    <a:bodyPr/>
                    <a:lstStyle/>
                    <a:p>
                      <a:r>
                        <a:rPr sz="1200" b="0">
                          <a:solidFill>
                            <a:srgbClr val="1F2937"/>
                          </a:solidFill>
                        </a:rPr>
                        <a:t>Barbamil, nembutal</a:t>
                      </a:r>
                    </a:p>
                  </a:txBody>
                  <a:tcPr marL="73152" marR="73152" marT="36576" marB="36576">
                    <a:solidFill>
                      <a:srgbClr val="E8EEF6"/>
                    </a:solidFill>
                  </a:tcPr>
                </a:tc>
                <a:tc>
                  <a:txBody>
                    <a:bodyPr/>
                    <a:lstStyle/>
                    <a:p>
                      <a:r>
                        <a:rPr sz="1200" b="0">
                          <a:solidFill>
                            <a:srgbClr val="1F2937"/>
                          </a:solidFill>
                        </a:rPr>
                        <a:t>chuqur uyqu, nafas markazi falaji</a:t>
                      </a:r>
                    </a:p>
                  </a:txBody>
                  <a:tcPr marL="73152" marR="73152" marT="36576" marB="36576">
                    <a:solidFill>
                      <a:srgbClr val="E8EEF6"/>
                    </a:solidFill>
                  </a:tcPr>
                </a:tc>
                <a:tc>
                  <a:txBody>
                    <a:bodyPr/>
                    <a:lstStyle/>
                    <a:p>
                      <a:r>
                        <a:rPr sz="1200" b="0">
                          <a:solidFill>
                            <a:srgbClr val="1F2937"/>
                          </a:solidFill>
                        </a:rPr>
                        <a:t>1,0–2,0 g</a:t>
                      </a:r>
                    </a:p>
                  </a:txBody>
                  <a:tcPr marL="73152" marR="73152" marT="36576" marB="36576">
                    <a:solidFill>
                      <a:srgbClr val="E8EEF6"/>
                    </a:solidFill>
                  </a:tcPr>
                </a:tc>
              </a:tr>
              <a:tr h="411480">
                <a:tc>
                  <a:txBody>
                    <a:bodyPr/>
                    <a:lstStyle/>
                    <a:p>
                      <a:r>
                        <a:rPr sz="1200" b="0">
                          <a:solidFill>
                            <a:srgbClr val="1F2937"/>
                          </a:solidFill>
                        </a:rPr>
                        <a:t>Strixnin</a:t>
                      </a:r>
                    </a:p>
                  </a:txBody>
                  <a:tcPr marL="73152" marR="73152" marT="36576" marB="36576">
                    <a:solidFill>
                      <a:srgbClr val="FFFFFF"/>
                    </a:solidFill>
                  </a:tcPr>
                </a:tc>
                <a:tc>
                  <a:txBody>
                    <a:bodyPr/>
                    <a:lstStyle/>
                    <a:p>
                      <a:r>
                        <a:rPr sz="1200" b="0">
                          <a:solidFill>
                            <a:srgbClr val="1F2937"/>
                          </a:solidFill>
                        </a:rPr>
                        <a:t>tonik talvasa, tana yoysimon (opistotonus)</a:t>
                      </a:r>
                    </a:p>
                  </a:txBody>
                  <a:tcPr marL="73152" marR="73152" marT="36576" marB="36576">
                    <a:solidFill>
                      <a:srgbClr val="FFFFFF"/>
                    </a:solidFill>
                  </a:tcPr>
                </a:tc>
                <a:tc>
                  <a:txBody>
                    <a:bodyPr/>
                    <a:lstStyle/>
                    <a:p>
                      <a:r>
                        <a:rPr sz="1200" b="0">
                          <a:solidFill>
                            <a:srgbClr val="1F2937"/>
                          </a:solidFill>
                        </a:rPr>
                        <a:t>kattalar 0,1–0,3 g; bolalar 0,005 g</a:t>
                      </a:r>
                    </a:p>
                  </a:txBody>
                  <a:tcPr marL="73152" marR="73152" marT="36576" marB="36576">
                    <a:solidFill>
                      <a:srgbClr val="FFFFFF"/>
                    </a:solidFill>
                  </a:tcPr>
                </a:tc>
              </a:tr>
              <a:tr h="411480">
                <a:tc>
                  <a:txBody>
                    <a:bodyPr/>
                    <a:lstStyle/>
                    <a:p>
                      <a:r>
                        <a:rPr sz="1200" b="0">
                          <a:solidFill>
                            <a:srgbClr val="1F2937"/>
                          </a:solidFill>
                        </a:rPr>
                        <a:t>Atropin sulfat</a:t>
                      </a:r>
                    </a:p>
                  </a:txBody>
                  <a:tcPr marL="73152" marR="73152" marT="36576" marB="36576">
                    <a:solidFill>
                      <a:srgbClr val="E8EEF6"/>
                    </a:solidFill>
                  </a:tcPr>
                </a:tc>
                <a:tc>
                  <a:txBody>
                    <a:bodyPr/>
                    <a:lstStyle/>
                    <a:p>
                      <a:r>
                        <a:rPr sz="1200" b="0">
                          <a:solidFill>
                            <a:srgbClr val="1F2937"/>
                          </a:solidFill>
                        </a:rPr>
                        <a:t>qorachiq kengayishi, alahsirash</a:t>
                      </a:r>
                    </a:p>
                  </a:txBody>
                  <a:tcPr marL="73152" marR="73152" marT="36576" marB="36576">
                    <a:solidFill>
                      <a:srgbClr val="E8EEF6"/>
                    </a:solidFill>
                  </a:tcPr>
                </a:tc>
                <a:tc>
                  <a:txBody>
                    <a:bodyPr/>
                    <a:lstStyle/>
                    <a:p>
                      <a:r>
                        <a:rPr sz="1200" b="0">
                          <a:solidFill>
                            <a:srgbClr val="1F2937"/>
                          </a:solidFill>
                        </a:rPr>
                        <a:t>0,1 g (kattalar)</a:t>
                      </a:r>
                    </a:p>
                  </a:txBody>
                  <a:tcPr marL="73152" marR="73152" marT="36576" marB="36576">
                    <a:solidFill>
                      <a:srgbClr val="E8EEF6"/>
                    </a:solidFill>
                  </a:tcPr>
                </a:tc>
              </a:tr>
              <a:tr h="411480">
                <a:tc>
                  <a:txBody>
                    <a:bodyPr/>
                    <a:lstStyle/>
                    <a:p>
                      <a:r>
                        <a:rPr sz="1200" b="0">
                          <a:solidFill>
                            <a:srgbClr val="1F2937"/>
                          </a:solidFill>
                        </a:rPr>
                        <a:t>Klofelin</a:t>
                      </a:r>
                    </a:p>
                  </a:txBody>
                  <a:tcPr marL="73152" marR="73152" marT="36576" marB="36576">
                    <a:solidFill>
                      <a:srgbClr val="FFFFFF"/>
                    </a:solidFill>
                  </a:tcPr>
                </a:tc>
                <a:tc>
                  <a:txBody>
                    <a:bodyPr/>
                    <a:lstStyle/>
                    <a:p>
                      <a:r>
                        <a:rPr sz="1200" b="0">
                          <a:solidFill>
                            <a:srgbClr val="1F2937"/>
                          </a:solidFill>
                        </a:rPr>
                        <a:t>bosim pasayishi, bradikardiya</a:t>
                      </a:r>
                    </a:p>
                  </a:txBody>
                  <a:tcPr marL="73152" marR="73152" marT="36576" marB="36576">
                    <a:solidFill>
                      <a:srgbClr val="FFFFFF"/>
                    </a:solidFill>
                  </a:tcPr>
                </a:tc>
                <a:tc>
                  <a:txBody>
                    <a:bodyPr/>
                    <a:lstStyle/>
                    <a:p>
                      <a:r>
                        <a:rPr sz="1200" b="0">
                          <a:solidFill>
                            <a:srgbClr val="1F2937"/>
                          </a:solidFill>
                        </a:rPr>
                        <a:t>0,005–0,01 g; bolalarda 0,004 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Zaharlar: belgi va letal doza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164, 165, 166-167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alkogol va dorilar aralashganda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mast shaxsning ichimligiga klofelin yoki uyqu dorisi qo‘shilgan. Klofelin odatda turli ichimliklarga qo‘shib beriladi.</a:t>
            </a:r>
          </a:p>
          <a:p>
            <a:pPr>
              <a:spcAft>
                <a:spcPts val="1200"/>
              </a:spcAft>
            </a:pPr>
            <a:r>
              <a:rPr sz="2200">
                <a:solidFill>
                  <a:srgbClr val="1F2937"/>
                </a:solidFill>
                <a:latin typeface="Calibri"/>
              </a:rPr>
              <a:t>▸  Nega xavf oshadi? Uyqu dorilarini mastlik holatida yoki spirtli ichimlik, boshqa sedativ bilan qabul qilish ta’sirni kuchaytiradi va o‘lim xavfini oshiradi.</a:t>
            </a:r>
          </a:p>
          <a:p>
            <a:pPr>
              <a:spcAft>
                <a:spcPts val="1200"/>
              </a:spcAft>
            </a:pPr>
            <a:r>
              <a:rPr sz="2200">
                <a:solidFill>
                  <a:srgbClr val="1F2937"/>
                </a:solidFill>
                <a:latin typeface="Calibri"/>
              </a:rPr>
              <a:t>▸  Klofelinda uyquchanlik, qon bosimining pasayishi, bradikardiya, gipotermiya, hush yo‘qolishi kuzatiladi. Bolalarda 0,004 g va undan kam doza ham o‘limga olib kelishi mumkin.</a:t>
            </a:r>
          </a:p>
          <a:p>
            <a:pPr>
              <a:spcAft>
                <a:spcPts val="1200"/>
              </a:spcAft>
            </a:pPr>
            <a:r>
              <a:rPr sz="2200">
                <a:solidFill>
                  <a:srgbClr val="1F2937"/>
                </a:solidFill>
                <a:latin typeface="Calibri"/>
              </a:rPr>
              <a:t>▸  Namuna: qon, siydik, oshqozon yuvma suvi, qusuq, axlat. Imkon qadar tez olinadi. Uyqu dorisida sifat bilan birga miqdoriy tekshiruv ham zarur.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 164, 164, 180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va psixotrop moddalar. DRD tushunchasi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Opiatlar va nasha sedativ, kokain va amfetaminlar qo‘zg‘atuvchi ta’sir qiladi. «Ekstazi» (metilendioksimetamfetamin, MDMA) amfetamin qatoriga kiradi; spayslarda sintetik kannabinoid bor.</a:t>
            </a:r>
          </a:p>
          <a:p>
            <a:pPr>
              <a:spcAft>
                <a:spcPts val="1200"/>
              </a:spcAft>
            </a:pPr>
            <a:r>
              <a:rPr sz="2200">
                <a:solidFill>
                  <a:srgbClr val="1F2937"/>
                </a:solidFill>
                <a:latin typeface="Calibri"/>
              </a:rPr>
              <a:t>▸  Qayta qabul qilish ruhiy bog‘liqlik va tolerantlikni (dozani oshirish zarurati) keltiradi. Qabul to‘xtatilsa abstinensiya sindromi kuzatiladi.</a:t>
            </a:r>
          </a:p>
          <a:p>
            <a:pPr>
              <a:spcAft>
                <a:spcPts val="1200"/>
              </a:spcAft>
            </a:pPr>
            <a:r>
              <a:rPr sz="2200">
                <a:solidFill>
                  <a:srgbClr val="1F2937"/>
                </a:solidFill>
                <a:latin typeface="Calibri"/>
              </a:rPr>
              <a:t>▸  «Narkotiklar bilan bog‘liq o‘lim» (drug related death, DRD): katta doza, uzoq qabul oqibati, o‘z-o‘zini o‘ldirish, baxtsiz hodisa, qotillik.</a:t>
            </a:r>
          </a:p>
          <a:p>
            <a:pPr>
              <a:spcAft>
                <a:spcPts val="1200"/>
              </a:spcAft>
            </a:pPr>
            <a:r>
              <a:rPr sz="2200">
                <a:solidFill>
                  <a:srgbClr val="1F2937"/>
                </a:solidFill>
                <a:latin typeface="Calibri"/>
              </a:rPr>
              <a:t>▸  Prekursorlar narkotik tayyorlashda ishlatiladi (masalan, atseton, kaliy permanganat). Namuna: 15-20 ml qon va kamida 200 ml siydik.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167, 170, 170, 168, 171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Narkotik iste’molida murda o‘zgarishlarining 4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Siydikda kannabinoidlar 1-3 soatdan keyin topiladi, 24-168 soat davomida; geroin 2-6 soatdan, 24-72 soat.</a:t>
            </a:r>
          </a:p>
          <a:p>
            <a:pPr>
              <a:spcAft>
                <a:spcPts val="800"/>
              </a:spcAft>
            </a:pPr>
            <a:r>
              <a:rPr sz="1800">
                <a:solidFill>
                  <a:srgbClr val="1F2937"/>
                </a:solidFill>
                <a:latin typeface="Calibri"/>
              </a:rPr>
              <a:t>▸  Bu belgilar iste’molni qat’iy isbotlamaydi — bilvosita dalil; sud-kimyoviy natija bilan baholanadi.</a:t>
            </a:r>
          </a:p>
          <a:p>
            <a:pPr>
              <a:spcAft>
                <a:spcPts val="800"/>
              </a:spcAft>
            </a:pPr>
            <a:r>
              <a:rPr sz="1800">
                <a:solidFill>
                  <a:srgbClr val="1F2937"/>
                </a:solidFill>
                <a:latin typeface="Calibri"/>
              </a:rPr>
              <a:t>▸  Diqqat: spetsifik (1-guruh) o‘zgarishlar ≠ amaliyotda topiladigan belgilar; ular ekspertizada ahamiyatsiz.</a:t>
            </a:r>
          </a:p>
        </p:txBody>
      </p:sp>
      <p:graphicFrame>
        <p:nvGraphicFramePr>
          <p:cNvPr id="9" name="Table 8"/>
          <p:cNvGraphicFramePr>
            <a:graphicFrameLocks noGrp="1"/>
          </p:cNvGraphicFramePr>
          <p:nvPr/>
        </p:nvGraphicFramePr>
        <p:xfrm>
          <a:off x="6263640" y="1463040"/>
          <a:ext cx="5287973" cy="2057400"/>
        </p:xfrm>
        <a:graphic>
          <a:graphicData uri="http://schemas.openxmlformats.org/drawingml/2006/table">
            <a:tbl>
              <a:tblPr firstRow="1" bandRow="1">
                <a:tableStyleId>{5C22544A-7EE6-4342-B048-85BDC9FD1C3A}</a:tableStyleId>
              </a:tblPr>
              <a:tblGrid>
                <a:gridCol w="995383"/>
                <a:gridCol w="2488458"/>
                <a:gridCol w="1804132"/>
              </a:tblGrid>
              <a:tr h="411480">
                <a:tc>
                  <a:txBody>
                    <a:bodyPr/>
                    <a:lstStyle/>
                    <a:p>
                      <a:r>
                        <a:rPr sz="1300" b="1">
                          <a:solidFill>
                            <a:srgbClr val="FFFFFF"/>
                          </a:solidFill>
                        </a:rPr>
                        <a:t>Guruh</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Ahamiyati</a:t>
                      </a:r>
                    </a:p>
                  </a:txBody>
                  <a:tcPr marL="73152" marR="73152" marT="36576" marB="36576">
                    <a:solidFill>
                      <a:srgbClr val="0B1F3A"/>
                    </a:solidFill>
                  </a:tcPr>
                </a:tc>
              </a:tr>
              <a:tr h="411480">
                <a:tc>
                  <a:txBody>
                    <a:bodyPr/>
                    <a:lstStyle/>
                    <a:p>
                      <a:r>
                        <a:rPr sz="1200" b="0">
                          <a:solidFill>
                            <a:srgbClr val="1F2937"/>
                          </a:solidFill>
                        </a:rPr>
                        <a:t>1. Spetsifik</a:t>
                      </a:r>
                    </a:p>
                  </a:txBody>
                  <a:tcPr marL="73152" marR="73152" marT="36576" marB="36576">
                    <a:solidFill>
                      <a:srgbClr val="E8EEF6"/>
                    </a:solidFill>
                  </a:tcPr>
                </a:tc>
                <a:tc>
                  <a:txBody>
                    <a:bodyPr/>
                    <a:lstStyle/>
                    <a:p>
                      <a:r>
                        <a:rPr sz="1200" b="0">
                          <a:solidFill>
                            <a:srgbClr val="1F2937"/>
                          </a:solidFill>
                        </a:rPr>
                        <a:t>Neyrokimyoviy, neyrofiziologik o‘zgarish</a:t>
                      </a:r>
                    </a:p>
                  </a:txBody>
                  <a:tcPr marL="73152" marR="73152" marT="36576" marB="36576">
                    <a:solidFill>
                      <a:srgbClr val="E8EEF6"/>
                    </a:solidFill>
                  </a:tcPr>
                </a:tc>
                <a:tc>
                  <a:txBody>
                    <a:bodyPr/>
                    <a:lstStyle/>
                    <a:p>
                      <a:r>
                        <a:rPr sz="1200" b="0">
                          <a:solidFill>
                            <a:srgbClr val="1F2937"/>
                          </a:solidFill>
                        </a:rPr>
                        <a:t>Murakkab usul, qisqa muddat</a:t>
                      </a:r>
                    </a:p>
                  </a:txBody>
                  <a:tcPr marL="73152" marR="73152" marT="36576" marB="36576">
                    <a:solidFill>
                      <a:srgbClr val="E8EEF6"/>
                    </a:solidFill>
                  </a:tcPr>
                </a:tc>
              </a:tr>
              <a:tr h="411480">
                <a:tc>
                  <a:txBody>
                    <a:bodyPr/>
                    <a:lstStyle/>
                    <a:p>
                      <a:r>
                        <a:rPr sz="1200" b="0">
                          <a:solidFill>
                            <a:srgbClr val="1F2937"/>
                          </a:solidFill>
                        </a:rPr>
                        <a:t>2. Qayta qabul</a:t>
                      </a:r>
                    </a:p>
                  </a:txBody>
                  <a:tcPr marL="73152" marR="73152" marT="36576" marB="36576">
                    <a:solidFill>
                      <a:srgbClr val="FFFFFF"/>
                    </a:solidFill>
                  </a:tcPr>
                </a:tc>
                <a:tc>
                  <a:txBody>
                    <a:bodyPr/>
                    <a:lstStyle/>
                    <a:p>
                      <a:r>
                        <a:rPr sz="1200" b="0">
                          <a:solidFill>
                            <a:srgbClr val="1F2937"/>
                          </a:solidFill>
                        </a:rPr>
                        <a:t>In’eksiya izi, chandiq, infeksiya, granulema</a:t>
                      </a:r>
                    </a:p>
                  </a:txBody>
                  <a:tcPr marL="73152" marR="73152" marT="36576" marB="36576">
                    <a:solidFill>
                      <a:srgbClr val="FFFFFF"/>
                    </a:solidFill>
                  </a:tcPr>
                </a:tc>
                <a:tc>
                  <a:txBody>
                    <a:bodyPr/>
                    <a:lstStyle/>
                    <a:p>
                      <a:r>
                        <a:rPr sz="1200" b="0">
                          <a:solidFill>
                            <a:srgbClr val="1F2937"/>
                          </a:solidFill>
                        </a:rPr>
                        <a:t>Kirish yo‘liga bog‘liq</a:t>
                      </a:r>
                    </a:p>
                  </a:txBody>
                  <a:tcPr marL="73152" marR="73152" marT="36576" marB="36576">
                    <a:solidFill>
                      <a:srgbClr val="FFFFFF"/>
                    </a:solidFill>
                  </a:tcPr>
                </a:tc>
              </a:tr>
              <a:tr h="411480">
                <a:tc>
                  <a:txBody>
                    <a:bodyPr/>
                    <a:lstStyle/>
                    <a:p>
                      <a:r>
                        <a:rPr sz="1200" b="0">
                          <a:solidFill>
                            <a:srgbClr val="1F2937"/>
                          </a:solidFill>
                        </a:rPr>
                        <a:t>3. Infeksiyalar</a:t>
                      </a:r>
                    </a:p>
                  </a:txBody>
                  <a:tcPr marL="73152" marR="73152" marT="36576" marB="36576">
                    <a:solidFill>
                      <a:srgbClr val="E8EEF6"/>
                    </a:solidFill>
                  </a:tcPr>
                </a:tc>
                <a:tc>
                  <a:txBody>
                    <a:bodyPr/>
                    <a:lstStyle/>
                    <a:p>
                      <a:r>
                        <a:rPr sz="1200" b="0">
                          <a:solidFill>
                            <a:srgbClr val="1F2937"/>
                          </a:solidFill>
                        </a:rPr>
                        <a:t>OITS (immun tanqisligi), gepatit D, S, V</a:t>
                      </a:r>
                    </a:p>
                  </a:txBody>
                  <a:tcPr marL="73152" marR="73152" marT="36576" marB="36576">
                    <a:solidFill>
                      <a:srgbClr val="E8EEF6"/>
                    </a:solidFill>
                  </a:tcPr>
                </a:tc>
                <a:tc>
                  <a:txBody>
                    <a:bodyPr/>
                    <a:lstStyle/>
                    <a:p>
                      <a:r>
                        <a:rPr sz="1200" b="0">
                          <a:solidFill>
                            <a:srgbClr val="1F2937"/>
                          </a:solidFill>
                        </a:rPr>
                        <a:t>In’eksiya yo‘li bilan bog‘liq</a:t>
                      </a:r>
                    </a:p>
                  </a:txBody>
                  <a:tcPr marL="73152" marR="73152" marT="36576" marB="36576">
                    <a:solidFill>
                      <a:srgbClr val="E8EEF6"/>
                    </a:solidFill>
                  </a:tcPr>
                </a:tc>
              </a:tr>
              <a:tr h="411480">
                <a:tc>
                  <a:txBody>
                    <a:bodyPr/>
                    <a:lstStyle/>
                    <a:p>
                      <a:r>
                        <a:rPr sz="1200" b="0">
                          <a:solidFill>
                            <a:srgbClr val="1F2937"/>
                          </a:solidFill>
                        </a:rPr>
                        <a:t>4. Turmush tarzi</a:t>
                      </a:r>
                    </a:p>
                  </a:txBody>
                  <a:tcPr marL="73152" marR="73152" marT="36576" marB="36576">
                    <a:solidFill>
                      <a:srgbClr val="FFFFFF"/>
                    </a:solidFill>
                  </a:tcPr>
                </a:tc>
                <a:tc>
                  <a:txBody>
                    <a:bodyPr/>
                    <a:lstStyle/>
                    <a:p>
                      <a:r>
                        <a:rPr sz="1200" b="0">
                          <a:solidFill>
                            <a:srgbClr val="1F2937"/>
                          </a:solidFill>
                        </a:rPr>
                        <a:t>Ozginlik, tuberkulez, tatirovka, pedikulez</a:t>
                      </a:r>
                    </a:p>
                  </a:txBody>
                  <a:tcPr marL="73152" marR="73152" marT="36576" marB="36576">
                    <a:solidFill>
                      <a:srgbClr val="FFFFFF"/>
                    </a:solidFill>
                  </a:tcPr>
                </a:tc>
                <a:tc>
                  <a:txBody>
                    <a:bodyPr/>
                    <a:lstStyle/>
                    <a:p>
                      <a:r>
                        <a:rPr sz="1200" b="0">
                          <a:solidFill>
                            <a:srgbClr val="1F2937"/>
                          </a:solidFill>
                        </a:rPr>
                        <a:t>Bilvosita ahamiyat</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Murda o‘zgarishlari guruhlari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171, 172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yosh shaxsda narkotik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yosh shaxs murdasida vena proyeksiyasida turli muddatli mayda yaralar va chandiqlar topilgan.</a:t>
            </a:r>
          </a:p>
          <a:p>
            <a:pPr>
              <a:spcAft>
                <a:spcPts val="1200"/>
              </a:spcAft>
            </a:pPr>
            <a:r>
              <a:rPr sz="2200">
                <a:solidFill>
                  <a:srgbClr val="1F2937"/>
                </a:solidFill>
                <a:latin typeface="Calibri"/>
              </a:rPr>
              <a:t>▸  Anamnezda qorachiqlar torayishi, hansirash va nafas buzilishi bor. Opiatlarda o‘lim nafas olish markazi falajidan bo‘ladi.</a:t>
            </a:r>
          </a:p>
          <a:p>
            <a:pPr>
              <a:spcAft>
                <a:spcPts val="1200"/>
              </a:spcAft>
            </a:pPr>
            <a:r>
              <a:rPr sz="2200">
                <a:solidFill>
                  <a:srgbClr val="1F2937"/>
                </a:solidFill>
                <a:latin typeface="Calibri"/>
              </a:rPr>
              <a:t>▸  Savol: qanday guruh o‘zgarishlar aniqlanadi? Qayta in’eksiya izlari, infeksion asoratlar va turmush tarzi belgilari (ozginlik, tatuirovka).</a:t>
            </a:r>
          </a:p>
          <a:p>
            <a:pPr>
              <a:spcAft>
                <a:spcPts val="1200"/>
              </a:spcAft>
            </a:pPr>
            <a:r>
              <a:rPr sz="2200">
                <a:solidFill>
                  <a:srgbClr val="1F2937"/>
                </a:solidFill>
                <a:latin typeface="Calibri"/>
              </a:rPr>
              <a:t>▸  Diqqat: bu o‘zgarishlar bilvosita dalil. Qat’iy xulosa uchun voqea tafsiloti, klinika va sud-kimyoviy tekshiruv bilan birga baholanadi.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 168-169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Ovqatdan zaharlanish va uning tasnifi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Zahar mahsulot tarkibida bor yoki tayyorlashda hosil bo‘ladi; voqea tafsiloti bo‘yicha baxtsiz hodisa.</a:t>
            </a:r>
          </a:p>
          <a:p>
            <a:pPr>
              <a:spcAft>
                <a:spcPts val="800"/>
              </a:spcAft>
            </a:pPr>
            <a:r>
              <a:rPr sz="1800">
                <a:solidFill>
                  <a:srgbClr val="1F2937"/>
                </a:solidFill>
                <a:latin typeface="Calibri"/>
              </a:rPr>
              <a:t>▸  Tayyor ovqatga tashqaridan zahar qo‘shilsa, bu ovqatdan zaharlanishga kirmaydi.</a:t>
            </a:r>
          </a:p>
          <a:p>
            <a:pPr>
              <a:spcAft>
                <a:spcPts val="800"/>
              </a:spcAft>
            </a:pPr>
            <a:r>
              <a:rPr sz="1800">
                <a:solidFill>
                  <a:srgbClr val="1F2937"/>
                </a:solidFill>
                <a:latin typeface="Calibri"/>
              </a:rPr>
              <a:t>▸  Bakterial: toksikoinfeksiya va intoksikatsiya. Nobakterial: o‘simlik, hayvon, qo‘shimchalar bilan bog‘liq.</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262800"/>
                <a:gridCol w="1341725"/>
                <a:gridCol w="2683450"/>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Kichik tur</a:t>
                      </a:r>
                    </a:p>
                  </a:txBody>
                  <a:tcPr marL="73152" marR="73152" marT="36576" marB="36576">
                    <a:solidFill>
                      <a:srgbClr val="0B1F3A"/>
                    </a:solidFill>
                  </a:tcPr>
                </a:tc>
                <a:tc>
                  <a:txBody>
                    <a:bodyPr/>
                    <a:lstStyle/>
                    <a:p>
                      <a:r>
                        <a:rPr sz="1300" b="1">
                          <a:solidFill>
                            <a:srgbClr val="FFFFFF"/>
                          </a:solidFill>
                        </a:rPr>
                        <a:t>Misol</a:t>
                      </a:r>
                    </a:p>
                  </a:txBody>
                  <a:tcPr marL="73152" marR="73152" marT="36576" marB="36576">
                    <a:solidFill>
                      <a:srgbClr val="0B1F3A"/>
                    </a:solidFill>
                  </a:tcPr>
                </a:tc>
              </a:tr>
              <a:tr h="411480">
                <a:tc>
                  <a:txBody>
                    <a:bodyPr/>
                    <a:lstStyle/>
                    <a:p>
                      <a:r>
                        <a:rPr sz="1200" b="0">
                          <a:solidFill>
                            <a:srgbClr val="1F2937"/>
                          </a:solidFill>
                        </a:rPr>
                        <a:t>Bakterial</a:t>
                      </a:r>
                    </a:p>
                  </a:txBody>
                  <a:tcPr marL="73152" marR="73152" marT="36576" marB="36576">
                    <a:solidFill>
                      <a:srgbClr val="E8EEF6"/>
                    </a:solidFill>
                  </a:tcPr>
                </a:tc>
                <a:tc>
                  <a:txBody>
                    <a:bodyPr/>
                    <a:lstStyle/>
                    <a:p>
                      <a:r>
                        <a:rPr sz="1200" b="0">
                          <a:solidFill>
                            <a:srgbClr val="1F2937"/>
                          </a:solidFill>
                        </a:rPr>
                        <a:t>Toksikoinfeksiya</a:t>
                      </a:r>
                    </a:p>
                  </a:txBody>
                  <a:tcPr marL="73152" marR="73152" marT="36576" marB="36576">
                    <a:solidFill>
                      <a:srgbClr val="E8EEF6"/>
                    </a:solidFill>
                  </a:tcPr>
                </a:tc>
                <a:tc>
                  <a:txBody>
                    <a:bodyPr/>
                    <a:lstStyle/>
                    <a:p>
                      <a:r>
                        <a:rPr sz="1200" b="0">
                          <a:solidFill>
                            <a:srgbClr val="1F2937"/>
                          </a:solidFill>
                        </a:rPr>
                        <a:t>Salmonellalar, ichak tayoqchasi</a:t>
                      </a:r>
                    </a:p>
                  </a:txBody>
                  <a:tcPr marL="73152" marR="73152" marT="36576" marB="36576">
                    <a:solidFill>
                      <a:srgbClr val="E8EEF6"/>
                    </a:solidFill>
                  </a:tcPr>
                </a:tc>
              </a:tr>
              <a:tr h="411480">
                <a:tc>
                  <a:txBody>
                    <a:bodyPr/>
                    <a:lstStyle/>
                    <a:p>
                      <a:r>
                        <a:rPr sz="1200" b="0">
                          <a:solidFill>
                            <a:srgbClr val="1F2937"/>
                          </a:solidFill>
                        </a:rPr>
                        <a:t>Bakterial</a:t>
                      </a:r>
                    </a:p>
                  </a:txBody>
                  <a:tcPr marL="73152" marR="73152" marT="36576" marB="36576">
                    <a:solidFill>
                      <a:srgbClr val="FFFFFF"/>
                    </a:solidFill>
                  </a:tcPr>
                </a:tc>
                <a:tc>
                  <a:txBody>
                    <a:bodyPr/>
                    <a:lstStyle/>
                    <a:p>
                      <a:r>
                        <a:rPr sz="1200" b="0">
                          <a:solidFill>
                            <a:srgbClr val="1F2937"/>
                          </a:solidFill>
                        </a:rPr>
                        <a:t>Intoksikatsiya</a:t>
                      </a:r>
                    </a:p>
                  </a:txBody>
                  <a:tcPr marL="73152" marR="73152" marT="36576" marB="36576">
                    <a:solidFill>
                      <a:srgbClr val="FFFFFF"/>
                    </a:solidFill>
                  </a:tcPr>
                </a:tc>
                <a:tc>
                  <a:txBody>
                    <a:bodyPr/>
                    <a:lstStyle/>
                    <a:p>
                      <a:r>
                        <a:rPr sz="1200" b="0">
                          <a:solidFill>
                            <a:srgbClr val="1F2937"/>
                          </a:solidFill>
                        </a:rPr>
                        <a:t>Botulizm, stafilokok toksini</a:t>
                      </a:r>
                    </a:p>
                  </a:txBody>
                  <a:tcPr marL="73152" marR="73152" marT="36576" marB="36576">
                    <a:solidFill>
                      <a:srgbClr val="FFFFFF"/>
                    </a:solidFill>
                  </a:tcPr>
                </a:tc>
              </a:tr>
              <a:tr h="411480">
                <a:tc>
                  <a:txBody>
                    <a:bodyPr/>
                    <a:lstStyle/>
                    <a:p>
                      <a:r>
                        <a:rPr sz="1200" b="0">
                          <a:solidFill>
                            <a:srgbClr val="1F2937"/>
                          </a:solidFill>
                        </a:rPr>
                        <a:t>Nobakterial</a:t>
                      </a:r>
                    </a:p>
                  </a:txBody>
                  <a:tcPr marL="73152" marR="73152" marT="36576" marB="36576">
                    <a:solidFill>
                      <a:srgbClr val="E8EEF6"/>
                    </a:solidFill>
                  </a:tcPr>
                </a:tc>
                <a:tc>
                  <a:txBody>
                    <a:bodyPr/>
                    <a:lstStyle/>
                    <a:p>
                      <a:r>
                        <a:rPr sz="1200" b="0">
                          <a:solidFill>
                            <a:srgbClr val="1F2937"/>
                          </a:solidFill>
                        </a:rPr>
                        <a:t>O‘simlik / hayvon</a:t>
                      </a:r>
                    </a:p>
                  </a:txBody>
                  <a:tcPr marL="73152" marR="73152" marT="36576" marB="36576">
                    <a:solidFill>
                      <a:srgbClr val="E8EEF6"/>
                    </a:solidFill>
                  </a:tcPr>
                </a:tc>
                <a:tc>
                  <a:txBody>
                    <a:bodyPr/>
                    <a:lstStyle/>
                    <a:p>
                      <a:r>
                        <a:rPr sz="1200" b="0">
                          <a:solidFill>
                            <a:srgbClr val="1F2937"/>
                          </a:solidFill>
                        </a:rPr>
                        <a:t>Qo‘ziqorin, o‘simlik, baliq ikrasi</a:t>
                      </a:r>
                    </a:p>
                  </a:txBody>
                  <a:tcPr marL="73152" marR="73152" marT="36576" marB="36576">
                    <a:solidFill>
                      <a:srgbClr val="E8EEF6"/>
                    </a:solidFill>
                  </a:tcPr>
                </a:tc>
              </a:tr>
              <a:tr h="411480">
                <a:tc>
                  <a:txBody>
                    <a:bodyPr/>
                    <a:lstStyle/>
                    <a:p>
                      <a:r>
                        <a:rPr sz="1200" b="0">
                          <a:solidFill>
                            <a:srgbClr val="1F2937"/>
                          </a:solidFill>
                        </a:rPr>
                        <a:t>Nobakterial</a:t>
                      </a:r>
                    </a:p>
                  </a:txBody>
                  <a:tcPr marL="73152" marR="73152" marT="36576" marB="36576">
                    <a:solidFill>
                      <a:srgbClr val="FFFFFF"/>
                    </a:solidFill>
                  </a:tcPr>
                </a:tc>
                <a:tc>
                  <a:txBody>
                    <a:bodyPr/>
                    <a:lstStyle/>
                    <a:p>
                      <a:r>
                        <a:rPr sz="1200" b="0">
                          <a:solidFill>
                            <a:srgbClr val="1F2937"/>
                          </a:solidFill>
                        </a:rPr>
                        <a:t>Qo‘shimchalar</a:t>
                      </a:r>
                    </a:p>
                  </a:txBody>
                  <a:tcPr marL="73152" marR="73152" marT="36576" marB="36576">
                    <a:solidFill>
                      <a:srgbClr val="FFFFFF"/>
                    </a:solidFill>
                  </a:tcPr>
                </a:tc>
                <a:tc>
                  <a:txBody>
                    <a:bodyPr/>
                    <a:lstStyle/>
                    <a:p>
                      <a:r>
                        <a:rPr sz="1200" b="0">
                          <a:solidFill>
                            <a:srgbClr val="1F2937"/>
                          </a:solidFill>
                        </a:rPr>
                        <a:t>Kimyoviy, begona o‘t, zamburug‘</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Ovqatdan zaharlanish tasnifi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172-173, 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Botulizm, qo‘ziqorinlar va zaharli o‘simliklar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Botulizm uy konservalarida rivojlanadi; yashirin davr qisqa bo‘lsa, kechishi og‘ir. Ko‘rish buziladi, bulbar falaj, nafas falaji o‘limga olib keladi.</a:t>
            </a:r>
          </a:p>
          <a:p>
            <a:pPr>
              <a:spcAft>
                <a:spcPts val="1200"/>
              </a:spcAft>
            </a:pPr>
            <a:r>
              <a:rPr sz="2000">
                <a:solidFill>
                  <a:srgbClr val="1F2937"/>
                </a:solidFill>
                <a:latin typeface="Calibri"/>
              </a:rPr>
              <a:t>▸  Blednaya poganka: amanitotoksin pishirishda parchalanmaydi, belgilar 6-24 soatdan keyin. Strochokda gelvell kislotasi gemoliz va gepatit beradi; muxomorda muskarin bor.</a:t>
            </a:r>
          </a:p>
          <a:p>
            <a:pPr>
              <a:spcAft>
                <a:spcPts val="1200"/>
              </a:spcAft>
            </a:pPr>
            <a:r>
              <a:rPr sz="2000">
                <a:solidFill>
                  <a:srgbClr val="1F2937"/>
                </a:solidFill>
                <a:latin typeface="Calibri"/>
              </a:rPr>
              <a:t>▸  Kurashchida akonitin, zangpoyada koniin, sikutada sikutotoksin, krasavkada atropin bor. Ko‘kargan kartoshkada solanin, danak mag‘izida amigdalin (sianid hosil qiladi).</a:t>
            </a:r>
          </a:p>
          <a:p>
            <a:pPr>
              <a:spcAft>
                <a:spcPts val="1200"/>
              </a:spcAft>
            </a:pPr>
            <a:r>
              <a:rPr sz="2000">
                <a:solidFill>
                  <a:srgbClr val="1F2937"/>
                </a:solidFill>
                <a:latin typeface="Calibri"/>
              </a:rPr>
              <a:t>▸  Baliq ikrasi va tetraodotoksinli baliqlar zaharli. Geliotrop jigar sirroziga, kampircho‘pon ensefalitga olib keladi; guruhiy holatda epidemiologik tekshiruv kerak.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173-174, 175-176, 176-177, 178-179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oilada guruhli zaharlanish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bir oila a’zolarida bir xil belgilar paydo bo‘lgan. Ular uyda tayyorlangan konserva yoki yig‘ilgan qo‘ziqorin yegan.</a:t>
            </a:r>
          </a:p>
          <a:p>
            <a:pPr>
              <a:spcAft>
                <a:spcPts val="1200"/>
              </a:spcAft>
            </a:pPr>
            <a:r>
              <a:rPr sz="2200">
                <a:solidFill>
                  <a:srgbClr val="1F2937"/>
                </a:solidFill>
                <a:latin typeface="Calibri"/>
              </a:rPr>
              <a:t>▸  Zaharli qo‘shimchali mahsulotdan zaharlanish guruhiy bo‘ladi: oila, marosim ishtirokchilari yoki hudud aholisida uchraydi.</a:t>
            </a:r>
          </a:p>
          <a:p>
            <a:pPr>
              <a:spcAft>
                <a:spcPts val="1200"/>
              </a:spcAft>
            </a:pPr>
            <a:r>
              <a:rPr sz="2200">
                <a:solidFill>
                  <a:srgbClr val="1F2937"/>
                </a:solidFill>
                <a:latin typeface="Calibri"/>
              </a:rPr>
              <a:t>▸  Shu sababli klinik, morfologik va sud-kimyoviy tekshiruvlar bilan birga epidemiologik tekshiruv ham o‘tkaziladi.</a:t>
            </a:r>
          </a:p>
          <a:p>
            <a:pPr>
              <a:spcAft>
                <a:spcPts val="1200"/>
              </a:spcAft>
            </a:pPr>
            <a:r>
              <a:rPr sz="2200">
                <a:solidFill>
                  <a:srgbClr val="1F2937"/>
                </a:solidFill>
                <a:latin typeface="Calibri"/>
              </a:rPr>
              <a:t>▸  Savol: qaysi tekshiruvlar kerak? Qo‘ziqorinda mikologik, zaharli o‘simlikda botanik, ovqatdan zaharlanishda bakteriologik va biologik.</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173-174, 179, 180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Laboratoriya tekshiruvlarining ahamiyati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Eng ko‘p sud-kimyoviy va gistologik tekshiruv o‘tkaziladi; gistologiya mikroskopik o‘zgarishlarni aniqlaydi.</a:t>
            </a:r>
          </a:p>
          <a:p>
            <a:pPr>
              <a:spcAft>
                <a:spcPts val="800"/>
              </a:spcAft>
            </a:pPr>
            <a:r>
              <a:rPr sz="1800">
                <a:solidFill>
                  <a:srgbClr val="1F2937"/>
                </a:solidFill>
                <a:latin typeface="Calibri"/>
              </a:rPr>
              <a:t>▸  Soxta musbat: dori, chirish, kasb ta’siri, xato namuna. Soxta manfiy: zahar tez parchalanishi, infuziya, kech tekshiruv.</a:t>
            </a:r>
          </a:p>
          <a:p>
            <a:pPr>
              <a:spcAft>
                <a:spcPts val="800"/>
              </a:spcAft>
            </a:pPr>
            <a:r>
              <a:rPr sz="1800">
                <a:solidFill>
                  <a:srgbClr val="1F2937"/>
                </a:solidFill>
                <a:latin typeface="Calibri"/>
              </a:rPr>
              <a:t>▸  Namuna tezroq olinadi: qon, siydik, yuvma suv, qusuq, axlat. Natija boshqa ma’lumotlar bilan tanqidiy baholanadi.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2754153"/>
                <a:gridCol w="2533821"/>
              </a:tblGrid>
              <a:tr h="411480">
                <a:tc>
                  <a:txBody>
                    <a:bodyPr/>
                    <a:lstStyle/>
                    <a:p>
                      <a:r>
                        <a:rPr sz="1400" b="1">
                          <a:solidFill>
                            <a:srgbClr val="FFFFFF"/>
                          </a:solidFill>
                        </a:rPr>
                        <a:t>Holat</a:t>
                      </a:r>
                    </a:p>
                  </a:txBody>
                  <a:tcPr marL="73152" marR="73152" marT="36576" marB="36576">
                    <a:solidFill>
                      <a:srgbClr val="0B1F3A"/>
                    </a:solidFill>
                  </a:tcPr>
                </a:tc>
                <a:tc>
                  <a:txBody>
                    <a:bodyPr/>
                    <a:lstStyle/>
                    <a:p>
                      <a:r>
                        <a:rPr sz="1400" b="1">
                          <a:solidFill>
                            <a:srgbClr val="FFFFFF"/>
                          </a:solidFill>
                        </a:rPr>
                        <a:t>Tekshiruv</a:t>
                      </a:r>
                    </a:p>
                  </a:txBody>
                  <a:tcPr marL="73152" marR="73152" marT="36576" marB="36576">
                    <a:solidFill>
                      <a:srgbClr val="0B1F3A"/>
                    </a:solidFill>
                  </a:tcPr>
                </a:tc>
              </a:tr>
              <a:tr h="411480">
                <a:tc>
                  <a:txBody>
                    <a:bodyPr/>
                    <a:lstStyle/>
                    <a:p>
                      <a:r>
                        <a:rPr sz="1300" b="0">
                          <a:solidFill>
                            <a:srgbClr val="1F2937"/>
                          </a:solidFill>
                        </a:rPr>
                        <a:t>Metall saqlovchi moddalar</a:t>
                      </a:r>
                    </a:p>
                  </a:txBody>
                  <a:tcPr marL="73152" marR="73152" marT="36576" marB="36576">
                    <a:solidFill>
                      <a:srgbClr val="E8EEF6"/>
                    </a:solidFill>
                  </a:tcPr>
                </a:tc>
                <a:tc>
                  <a:txBody>
                    <a:bodyPr/>
                    <a:lstStyle/>
                    <a:p>
                      <a:r>
                        <a:rPr sz="1300" b="0">
                          <a:solidFill>
                            <a:srgbClr val="1F2937"/>
                          </a:solidFill>
                        </a:rPr>
                        <a:t>Fizik (spektral)</a:t>
                      </a:r>
                    </a:p>
                  </a:txBody>
                  <a:tcPr marL="73152" marR="73152" marT="36576" marB="36576">
                    <a:solidFill>
                      <a:srgbClr val="E8EEF6"/>
                    </a:solidFill>
                  </a:tcPr>
                </a:tc>
              </a:tr>
              <a:tr h="411480">
                <a:tc>
                  <a:txBody>
                    <a:bodyPr/>
                    <a:lstStyle/>
                    <a:p>
                      <a:r>
                        <a:rPr sz="1300" b="0">
                          <a:solidFill>
                            <a:srgbClr val="1F2937"/>
                          </a:solidFill>
                        </a:rPr>
                        <a:t>Biologik aktiv o‘simlik</a:t>
                      </a:r>
                    </a:p>
                  </a:txBody>
                  <a:tcPr marL="73152" marR="73152" marT="36576" marB="36576">
                    <a:solidFill>
                      <a:srgbClr val="FFFFFF"/>
                    </a:solidFill>
                  </a:tcPr>
                </a:tc>
                <a:tc>
                  <a:txBody>
                    <a:bodyPr/>
                    <a:lstStyle/>
                    <a:p>
                      <a:r>
                        <a:rPr sz="1300" b="0">
                          <a:solidFill>
                            <a:srgbClr val="1F2937"/>
                          </a:solidFill>
                        </a:rPr>
                        <a:t>Botanik</a:t>
                      </a:r>
                    </a:p>
                  </a:txBody>
                  <a:tcPr marL="73152" marR="73152" marT="36576" marB="36576">
                    <a:solidFill>
                      <a:srgbClr val="FFFFFF"/>
                    </a:solidFill>
                  </a:tcPr>
                </a:tc>
              </a:tr>
              <a:tr h="411480">
                <a:tc>
                  <a:txBody>
                    <a:bodyPr/>
                    <a:lstStyle/>
                    <a:p>
                      <a:r>
                        <a:rPr sz="1300" b="0">
                          <a:solidFill>
                            <a:srgbClr val="1F2937"/>
                          </a:solidFill>
                        </a:rPr>
                        <a:t>Zaharli qo‘ziqorin</a:t>
                      </a:r>
                    </a:p>
                  </a:txBody>
                  <a:tcPr marL="73152" marR="73152" marT="36576" marB="36576">
                    <a:solidFill>
                      <a:srgbClr val="E8EEF6"/>
                    </a:solidFill>
                  </a:tcPr>
                </a:tc>
                <a:tc>
                  <a:txBody>
                    <a:bodyPr/>
                    <a:lstStyle/>
                    <a:p>
                      <a:r>
                        <a:rPr sz="1300" b="0">
                          <a:solidFill>
                            <a:srgbClr val="1F2937"/>
                          </a:solidFill>
                        </a:rPr>
                        <a:t>Mikologik</a:t>
                      </a:r>
                    </a:p>
                  </a:txBody>
                  <a:tcPr marL="73152" marR="73152" marT="36576" marB="36576">
                    <a:solidFill>
                      <a:srgbClr val="E8EEF6"/>
                    </a:solidFill>
                  </a:tcPr>
                </a:tc>
              </a:tr>
              <a:tr h="411480">
                <a:tc>
                  <a:txBody>
                    <a:bodyPr/>
                    <a:lstStyle/>
                    <a:p>
                      <a:r>
                        <a:rPr sz="1300" b="0">
                          <a:solidFill>
                            <a:srgbClr val="1F2937"/>
                          </a:solidFill>
                        </a:rPr>
                        <a:t>Ovqatdan zaharlanish</a:t>
                      </a:r>
                    </a:p>
                  </a:txBody>
                  <a:tcPr marL="73152" marR="73152" marT="36576" marB="36576">
                    <a:solidFill>
                      <a:srgbClr val="FFFFFF"/>
                    </a:solidFill>
                  </a:tcPr>
                </a:tc>
                <a:tc>
                  <a:txBody>
                    <a:bodyPr/>
                    <a:lstStyle/>
                    <a:p>
                      <a:r>
                        <a:rPr sz="1300" b="0">
                          <a:solidFill>
                            <a:srgbClr val="1F2937"/>
                          </a:solidFill>
                        </a:rPr>
                        <a:t>Bakteriologik, biologik</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Tekshiruv turini tanlash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180, 180-181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Zaharlanishda to‘rt omil ahamiyatli: zahar, organizm, kirish yo‘li, tashqi sharoit. Diagnostika uch bosqichli: hodisa joyi, murda, laboratoriya.</a:t>
            </a:r>
          </a:p>
          <a:p>
            <a:pPr>
              <a:spcAft>
                <a:spcPts val="1200"/>
              </a:spcAft>
            </a:pPr>
            <a:r>
              <a:rPr sz="2200">
                <a:solidFill>
                  <a:srgbClr val="1F2937"/>
                </a:solidFill>
                <a:latin typeface="Calibri"/>
              </a:rPr>
              <a:t>▸  Zaharlar asosan mahalliy va asosan umumiy ta’sir etuvchilarga bo‘linadi. Umumiylar: destruktiv, gemotrop (qon) va funksional zaharlar.</a:t>
            </a:r>
          </a:p>
          <a:p>
            <a:pPr>
              <a:spcAft>
                <a:spcPts val="1200"/>
              </a:spcAft>
            </a:pPr>
            <a:r>
              <a:rPr sz="2200">
                <a:solidFill>
                  <a:srgbClr val="1F2937"/>
                </a:solidFill>
                <a:latin typeface="Calibri"/>
              </a:rPr>
              <a:t>▸  Zaharlanishdan o‘limda etil spirti yetakchi o‘rinda. Kislotalar ichida sirka kislotasi nisbatan ko‘p uchraydi.</a:t>
            </a:r>
          </a:p>
          <a:p>
            <a:pPr>
              <a:spcAft>
                <a:spcPts val="1200"/>
              </a:spcAft>
            </a:pPr>
            <a:r>
              <a:rPr sz="2200">
                <a:solidFill>
                  <a:srgbClr val="1F2937"/>
                </a:solidFill>
                <a:latin typeface="Calibri"/>
              </a:rPr>
              <a:t>▸  Uyga vazifa: bobning nazorat savollariga javob tayyorlash, jumladan zahar tushunchasi, omillar, diagnostika bosqichlari va tasnif.</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G‘iyosov Z.A., Sud tibbiyoti: darslik, betlar: 132, 135-136, 138-139, 158, 140, 181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Paratsels fikricha, moddani doriga ham, zaharga ham aylantiradigan narsa uning dozasi. Mutlaq zahar ham, mutlaqo zararsiz modda ham tabiatda yo‘q. Zahar tushunchasi nisbiy.</a:t>
            </a:r>
          </a:p>
          <a:p>
            <a:pPr>
              <a:spcAft>
                <a:spcPts val="1200"/>
              </a:spcAft>
            </a:pPr>
            <a:r>
              <a:rPr sz="1800">
                <a:solidFill>
                  <a:srgbClr val="1F2937"/>
                </a:solidFill>
                <a:latin typeface="Calibri"/>
              </a:rPr>
              <a:t>▸  Bolalar zaharga sezgirroq: vazni kichik, qarshilik tizimi esa to‘liq shakllanmagan. Strixninning o‘ldiruvchi dozasi kattalarda 0,1–0,3 g, kichik bolalarda atigi 0,005 g.</a:t>
            </a:r>
          </a:p>
          <a:p>
            <a:pPr>
              <a:spcAft>
                <a:spcPts val="1200"/>
              </a:spcAft>
            </a:pPr>
            <a:r>
              <a:rPr sz="1800">
                <a:solidFill>
                  <a:srgbClr val="1F2937"/>
                </a:solidFill>
                <a:latin typeface="Calibri"/>
              </a:rPr>
              <a:t>▸  Eslab qolish usuli – murda dog‘lari rangi: is gazida pushti, sianidda yorqin olcha rang, metgemoglobin hosil qiluvchilarda jigarrang-qo‘ng‘ir, gemoliz chaqiruvchilarda sarg‘ish.</a:t>
            </a:r>
          </a:p>
          <a:p>
            <a:pPr>
              <a:spcAft>
                <a:spcPts val="1200"/>
              </a:spcAft>
            </a:pPr>
            <a:r>
              <a:rPr sz="1800">
                <a:solidFill>
                  <a:srgbClr val="1F2937"/>
                </a:solidFill>
                <a:latin typeface="Calibri"/>
              </a:rPr>
              <a:t>▸  Goppe-Zeyler sinamasida ishqor qo‘shilganda normal qon qo‘ng‘ir-qora bo‘ladi. Karboksigemoglobinli qonning rangi o‘zgarmaydi. Sinama murakkab jihozsiz, klinikada ham o‘tkaziladi.</a:t>
            </a:r>
          </a:p>
          <a:p>
            <a:pPr>
              <a:spcAft>
                <a:spcPts val="1200"/>
              </a:spcAft>
            </a:pPr>
            <a:r>
              <a:rPr sz="1800">
                <a:solidFill>
                  <a:srgbClr val="1F2937"/>
                </a:solidFill>
                <a:latin typeface="Calibri"/>
              </a:rPr>
              <a:t>▸  O‘sib ketgan, ko‘kargan kartoshkada solanin odatdagidan 6–10 barobar ko‘p (0,02–0,03%, normada 0,001–0,003%). Bunda o‘tkir gastroenterit belgilari kuzatiladi.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Paratsels fikricha, moddani dori yoki zaharga aylantiradigan omil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Moddaning rangi va hidi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Moddaning narxi va nomi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Moddaning aniq dozasi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Moddaning saqlanish joyi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3 yoshli bola kattalar qabul qiladigan miqdordagi zaharli modda ta’siriga uchradi. Bolaning og‘irroq zaharlanishiga asosiy sabab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Vazni kichik, qarshilik tizimi to‘liq shakllanmagan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Jigari mutlaqo ishlamaydi, zahar tanada to‘planadi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Jinsiga ko‘ra zaharga sezgirligi har doim yuqori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Zaharning organizmga kirish yo‘li boshqacha bo‘ladi</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dog‘lari yorqin olcha rangda, ichki a’zolardan achchiq bodom hidi keldi. Qaysi zaharlanishga shubha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Is gazi bilan zaharlanishga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Metgemoglobin hosil qiluvchi zaharga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Gemoliz chaqiruvchi zaharga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Sianidlar bilan zaharlanishga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 ichilgan, asosan jigarga ta’sir etgan va siydik bilan chiqadi. “Uch nuqta” qoidasiga ko‘ra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qon va siydik namunalari olinadi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Oshqozon massasi, jigar bo‘lagi, butun buyrak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bosh miya va o‘pka bo‘lagi olinadi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ichak va o‘t qopi namunalari olinadi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Modda to‘g‘ri ichak orqali yuborildi. U nega oshqozondan so‘rilgan moddaga nisbatan kuchliroq ta’sir ko‘rsatadi?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Chunki modda faqat mahalliy ta’sir ko‘rsatadi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Chunki ichak shilliq qavati zaharni to‘xtatib 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Chunki qonga so‘rilgan modda jigardan o‘tmaydi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Chunki zahar teri orqali kirgan bo‘lib hisoblanadi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Og‘iz orqali qabul qilingan zahar asosan jigarga ta’sir etib, siydik bilan chiqadi. “Uch nuqta” qoidasiga ko‘ra murdadan qaysi namunalar olinadi?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Oshqozon massasi va butun jigar, buyraksiz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Bosh miyaning uchdan biri, o‘pkaning to‘rtdan biri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Oshqozon massasi, jigar bo‘lagi, siydikli butun buyrak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100-200 ml qon va bir metr ingichka ichak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Yog‘da yaxshi eriydigan zahar organizmga kirdi. U asosan qaysi to‘qimalarda to‘planadi?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Bosh miya, jigar va yog‘ to‘qimasida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Mushak to‘qimasi, jigar va buyrakda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Suyak va sochlarda, bir joyda yig‘iladi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O‘pka va yo‘g‘on ichak devorida to‘planadi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Sirka kislotasi ichgan bemorda avval og‘iz va qizilo‘ngach kuygan, so‘ng atsidoz tufayli eritrotsitlar gemolizi rivojlandi. Gemoliz qaysi ta’sirga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Birlamchi (mahalliy) toksik ta’sir</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Metatoksik ta’sir (gepatit, nefroz)</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mahalliy kimyoviy ta’sir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Keyingi toksik ta’sir (gemoliz)</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oshqozon shilliq qavati sarg‘ish. Bu ksantoprotein reaksiyasi hisobiga bo‘lib, kislota konsentratsiyasi 30% dan yuqori. Qaysi kislota bilan zaharlanish?</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Sulfat kislota bilan zaharlanish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Nitrat kislota bilan zaharlanish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Xlorid kislota bilan zaharlanish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Sirka kislota bilan zaharlanish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Murdada og‘iz atrofida oqma shaklidagi kuyish izlari, oshqozon devori yumshoq, oson yirtiladi, shilliq qavat kulrang-yashil. Bunda qanday nekroz vujudga kelgan?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Koagulyasion (quruq) nekroz</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Yuzaki nekroz, kuchli yallig‘lanish bilan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Kollikvatsion nekroz, ishqor albuminatlari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Nekroz yo‘q, faqat funksional o‘zgarish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Nosoz pechka bilan isitilgan yopiq xonada o‘lik topildi. Murda dog‘lari, mushaklar va suyuq qon pushti-qizg‘ish. Bu rang qaysi o‘zgarish bilan bog‘liq?</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Metgemoglobin hosil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Nordon gematin hosil bo‘lishi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Karboksigemoglobin hosil bo‘lishi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Ishqoriy gematin hosil bo‘lishi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qoniga 33% li ishqor eritmasi (Goppe-Zeyler sinamasi) qo‘shildi, qonning rangi o‘zgarishsiz qoldi. Bu natija nimadan dalolat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Qonda karboksigemoglobin borligidan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Qonda metgemoglobin borligidan</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Qonda etil spirti borligidan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Qonda sianid borligidan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Metgemoglobin hosil qiluvchi zaharlar bilan zaharlanishda qonda metgemoglobin qanday ko‘rsatkichdan oshganda o‘lim yuz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30% dan oshganda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50% dan oshganda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60% dan oshganda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70% dan oshganda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Tirik shaxsning qonida 2,0 promille etil spirti aniqlandi. Amaldagi qoidalarga ko‘ra bu qaysi holatga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Yengil darajali mastlik</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O‘rta darajali mastlik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Kuchli darajali mastlik</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Zaharlanish holati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Spirtli ichimlik ichgan shaxsdan olingan namunalarda qondagi etil spirti konsentratsiyasi pasaymoqda, siydikdagisi esa baland. Bu qaysi davrga xos?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Rezorbsiya davri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Yashirin davr</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Eliminatsiya davri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Takroriy qabul davri</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Mastlik holatidagi shaxs uyqu dorisini spirtli ichimlik bilan birga qabul qildi. Bu holat qanday xavf tug‘diradi?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Dori ta’siri susayib, zaharlanish xavfi kamayadi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Etil spirti tezroq chiqib, mastlik holati yo‘qoladi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Dori ta’siri kuchayib, o‘lim xavfi ortadi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Dorining terapevtik dozasi ta’sirsiz qoladi</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Murda tekshiruvida vena proyeksiyasi bo‘ylab ko‘plab turli muddatli mayda yaralar va chandiqlar topildi. Bu o‘zgarishlar narkotik iste’molidagi murda o‘zgarishlarining qaysi guruhiga kiradi?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Moddalar uchun xos neyrokimyoviy o‘zgarishlar guruhiga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Turmush tarzi bilan bog‘liq o‘zgarishlar guruhiga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In’eksiya orqali yuqadigan infeksion kasalliklar guruhiga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Yot moddalarning qayta-qayta qabul qilinishi guruhiga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Tayyor ovqat mahsulotiga tashqaridan zaharli modda qo‘shilishi natijasida sog‘liq buzildi. Bu holat qanday baholanadi?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Ovqatdan zaharlanishga kiritilmaydi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Ovqat toksikoinfeksiyasi sifatida baholanadi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Ovqat intoksikatsiyasi sifatida baholanadi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Nobakterial ovqatdan zaharlanish sifatida baholanadi</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Bemor uyda tayyorlangan qo‘ziqorin konservasini iste’mol qilgan. Unda midriaz, ptoz, diplopiya va yutishning qiyinlashishi kuzatildi. Qaysi zaharlanishga shubha qilinadi?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Stafilokok enterotoksinidan ovqat intoksikatsiyasiga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Botulizmga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Salmonellalardan ovqat toksikoinfeksiyasiga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O‘sib ketgan kartoshkadagi solanindan zaharlanishga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Zaharlanish alomatlari bilan kelgan bemorda toksikologik tekshiruvda zahar topilmadi. Qaysi holat buning sababi bo‘lishi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Zaharlanish bo‘lmaganligi isbotlangan bo‘ladi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Sud-kimyoviy tekshiruv zaharni hamisha topadi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Zahar tez parchalangan yoki intensiv infuzion davolash o‘tkazilgan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Zahar faqat murdada aniqlanadigan modda bo‘ladi</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Moddaning aniq dozasi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nisbiy tushuncha: tabiatda mutlaq zahar ham, mutlaq beziyon modda ham yo‘q. Paratsels iborasiga ko‘ra moddani doriga yoki zaharga aylantiradigan narsa uning dozasidir.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132-bet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Vazni kichik, qarshilik tizimi to‘liq shakllanmagan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Bolalar kattalarga nisbatan sezgirroq. Buning sabablari: vazni kichikligi va umumiy qarshilik ko‘rsatish tizimining to‘liq shakllanmaganligi. Zaharning jinsga ko‘ra ta’sirida farq bo‘lmaydi.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134-bet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Sianidlar bilan zaharlanishga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Sianidlarda murda dog‘lari yorqin olcha rangda, ichki a’zolardan achchiq bodom hidi keladi. Is gazida dog‘lar pushti, metgemoglobin hosil qiluvchilarda jigarrang-qo‘ng‘ir, gemolizda sarg‘imtir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Oshqozon massasi, jigar bo‘lagi, butun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qoidasida namuna zahar kirgan, asosan ta’sir etgan va chiqqan joylardan olinadi. Bu holatda oshqozon ichidagi massa, jigarning bir qismi va siydik bilan butun buyrak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Chunki qonga so‘rilgan modda jigardan o‘tmaydi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Nafas yo‘llari, to‘g‘ri ichak va qin shilliq qavatidan so‘rilgan moddalar jigar orqali o‘tmaydi. Shuning uchun ular oshqozon va ichakdan so‘rilganlarga nisbatan kuchliroq ta’sir qiladi.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135-bet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Oshqozon massasi, jigar bo‘lagi, siydikli butun buyrak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“Uch nuqta” qoidasida namuna zahar kirgan, asosan ta’sir etgan va chiqqan joylardan olinadi. Bu holatda oshqozon massasi, jigarning bir qismi va siydik bilan butun buyrak olinadi. Bosh miya, o‘pka, qon va ichak namunalari zahar manbai noma’lum bo‘lganda olinadi.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136-bet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Bosh miya, jigar va yog‘ to‘qimasida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Yog‘da eriydigan moddalar bosh miya, jigar va yog‘ to‘qimasida to‘planadi. Suvda eriydiganlar mushak, jigar va buyrakda to‘planadi. Margimush va qo‘rg‘oshin esa suyak hamda sochda yig‘iladi.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137-bet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Keyingi toksik ta’sir (gemoliz)</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Sirka kislotasida kuyish birlamchi ta’sir hisoblanadi. Atsidoz tufayli eritrotsitlar gemolizi keyingi toksik ta’sirdir. Toksik gepatit va toksik nefroz esa vaqt o‘tgach rivojlanadigan metatoksik ta’sirga kiradi.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138-bet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Nitrat kislota bilan zaharlanish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Nitrat kislota konsentratsiyasi 30% dan katta bo‘lsa, ksantoprotein reaksiyasi tufayli oshqozon shilliq qavati sarg‘ish bo‘ladi. Sulfat kislotada u qo‘ng‘ir-qora, xlorid kislotada qo‘ng‘ir-kul rang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141-bet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Kollikvatsion nekroz, ishqor albuminatlari bilan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Ishqorlar to‘qima oqsillarini suyultirib, ishqor albuminatlarini hosil qiladi, bu kollikvatsion nekrozdir. Koagulyasion (quruq) nekroz kuchli kislotalarga xos. Yuzaki nekroz esa organik kislotalarda uchraydi.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143-bet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Karboksigemoglobin hosil bo‘lishi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 gazi gemoglobin bilan turg‘un karboksigemoglobin hosil qiladi. Karboksigemoglobin va karboksimioglobin pushti-qizg‘ish rangga ega, shuning uchun murda dog‘lari va qon shu tusda bo‘ladi. Metgemoglobin qo‘ng‘ir, ishqoriy va nordon gematin esa qo‘ng‘ir-qora tus beradi.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150-151-bet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Qonda karboksigemoglobin borligidan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Normal qonga ishqor qo‘shilsa, ishqoriy gematin hosil bo‘lib, qon qo‘ng‘ir yoki jigarrang-qora tusga kiradi. Karboksigemoglobin bo‘lsa, qonning rangi o‘zgarmaydi. Bu sinama murakkab jihozsiz bajariladi, lekin dastlabki hisoblanadi, tasdiqlash uchun spektrofotometrik tekshiruv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151-bet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70% dan oshganda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Dastlabki belgilar metgemoglobin 30% dan oshganda paydo bo‘ladi, o‘lim esa 70% dan oshganda yuz beradi. 60% esa karboksigemoglobin uchun xos ko‘rsatkich bo‘lib, uni metgemoglobin bilan adashtirmaslik kerak.</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152-bet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O‘rta darajali mastlik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Qonda 0,5 dan 1,5 promillegacha yengil, 1,5 dan 2,5 promillegacha o‘rta, 2,5 dan 3,0 promillegacha kuchli mastlik deyiladi. 3,0 promilledan yuqorisi zaharlanish hisoblanadi. 2,0 promille 1,5–2,5 oralig‘iga tushadi.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160-bet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Eliminatsiya davri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Eliminatsiya davrida qondagi spirt konsentratsiyasi pasayadi, siydikdagisi esa baland bo‘ladi. Rezorbsiya davrida aksincha, qondagi konsentratsiya siydikdagidan balandroq va ortib boradi. Takroriy qabul siydikda baland bo‘lgan holda qonda oshish bilan namoyon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159-bet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Dori ta’siri kuchayib, o‘lim xavfi ortadi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Uyqu dorilarini mastlik holatida yoki spirtli ichimlik va boshqa sedativ moddalar bilan qabul qilish ularning ta’sirini kuchaytiradi va o‘lim xavfini oshiradi.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164-bet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Yot moddalarning qayta-qayta qabul qilinishi guruhiga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Venalar proyeksiyasidagi yaralar va chandiqlar yot moddalarning qayta-qayta, vena ichiga yuborilishi bilan bog‘liq o‘zgarishlar guruhiga kiradi. Bu guruh modda organizmga kirish yo‘liga bog‘liq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172-bet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Ovqatdan zaharlanishga kiritilmaydi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Ovqatdan zaharlanish deganda omil mahsulot tarkibida bo‘lgan yoki tayyorlash jarayonida hosil bo‘lgan holat tushuniladi. Tayyor ovqatga tashqaridan zahar qo‘shilishi bunga kiritilmaydi.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173-bet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Botulizmga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Botulizm ko‘pincha uyda tayyorlangan konservalar bilan bog‘liq. Unda ko‘rish buzilishi (midriaz, ptoz, diplopiya) va bulbar falajlar (yutish qiyinlashishi, afoniya) kuzatiladi.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174-bet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Zahar tez parchalangan yoki intensiv infuzion davolash o‘tkazilgan</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Zahar tez parchalanganda, intensiv infuzion muolajalarda, vaqt ko‘p o‘tganda, ob’ekt olishda kamchilik bo‘lganda yoki aniqlash usuli ishlab chiqilmaganda zahar topilmasligi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G‘iyosov Z.A., Sud tibbiyoti: darslik, 180-bet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№5. Maʻruza: Sud tibbiy toksikologiyasi. Ayrim fizik omillarning organizmga ta’siri.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G‘iyosov Z.A. Sud tibbiyoti: darslik, Toshkent: Global Books nashriyoti. 2018. Bob 6. Sud-tibbiy toksikologiya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