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Shifokor faqat davolaydimi yoki azobni ham yengillashtiradimi? 2) «Yaxshi o‘lim» nima degani? Doskada: ma’ruza rejasini 5 bo‘limli ro‘yxat qilib chizing. Tipik xato: Venetsiya deklaratsiyasini evtanaziyani ruxsat etuvchi hujjat deb o‘ylash. Manbada u shifokorning azobni yengillashtirish majburiyatini belgilaydi. Eslatma: mavzu nomidagi JTU manbada Jahon tibbiyot assotsiatsiyasi deb berilgan.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Bekon ma’nosidagi evtanaziya bilan bugungi tor ma’no qanday farq qiladi? 2) Nega Bekon talqini palliativ yordamga yaqin? Doskada: «eu + thanatos = yaxshi o‘lim» formulasini yozing. Tipik xato: Bekon o‘ldirishni targ‘ib qilgan deb o‘ylash. Aslida u azobni yengillashtirishni nazarda tutgan.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Resurs tanqisligi odamlarning hayotga munosabatiga qanday ta’sir qilgan? 2) Bu odatlarni bugungi bioetika qanday baholaydi? Doskada: «sabab → odat → natija» zanjirini chizing. Tipik xato: qadimgi odatlarni zamonaviy evtanaziya bilan bir xil deb hisoblash. Ular jamoa tanqisligi sharoitida shakllangan.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jamiyat hayotni “foyda” bilan o‘lchaganda evgenik choralar paydo bo‘ladi? 2) Qadimgi holatlarni bugungi evtanaziyadan nima ajratadi? Doskada chizish: “hayotga funksional qarash → o‘lim madaniyati → evgenik choralar” zanjirini chizing. Tipik xato: talabalar Sparta amaliyotini evtanaziya deb ataydi; bu bolalarni yo‘q qilish edi, azobni yengillashtirish emas.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Qasamyod nega evtanaziyaga qarshi tamoyil sifatida tilga olinadi? 2) Zamondoshlarning qarashi qaysi qadriyatga tayangan? Doskada chizish: ikki ustunli “qarshi / yon bosuvchi” jadvalini o‘zlari chizsin. Tipik xato: Gippokratni qadimgi barcha mutafakkirlar nomidan gapirgan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(3 daq guruhda, 4 daq umumiy muhokama). Muhokama: 1) Qadimgi odatlar sabablari bugun ham mavjudmi? 2) Bugungi tibbiy etika ularga qanday baho beradi? Doskada chizish: ikki ustun, “qadimda” va “bugun”; sabab, jamiyat munosabati va tibbiy etika bo‘yicha taqqoslang. Tipik xato: qadimgi odatni bugungi evtanaziya bilan bir deb olish va jamiyatning tarixiy sharoitini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Koni shartlari ketma-ket emas, birgalikda talab qilinadi deb o‘ylaysiz? 2) Qaysi shart suiiste’molning oldini olishga xizmat qiladi? Doskada: 4 tugunli zanjirni chizdiring. Tipik xato: Koni fikrini amaldagi qonun deb qabul qilish; bu huquqshunosning qarashi, shartlar esa birgalikda zarur.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Cherkov ta’rifida «harakatsizlik» nimani anglatadi? 2) Bemor davolashni rad etganda shifokor nima qilishi kerak? Doskada: ikki hujjatni yil bo‘yicha vaqt chizig‘iga qo‘ying. Tipik xato: davolashni rad etish huquqiga hurmatni evtanaziyaga ruxsat deb tushunish; Diqqat: hurmat ≠ ruxsat.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Qaysi argument sizga kuchliroq tuyuladi va nega? 2) «Sirpanchiq qiyalik» qanday xavfni bildiradi? Doskada: ikki ustunli jadvalni talabalar bilan to‘ldiring. Qo‘shimcha: raqiblarning to‘rtinchi argumenti — evtanaziya tibbiyot fani va amaliyoti rivojiga salbiy ta’sir qiladi. Tipik xato: argumentlarni shaxsiy fikr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«ahvolini yaxshilash» argumenti kim uchun va kim tomonidan baholanadi?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Javoblar: 1) XVII asrda ingliz faylasufi F. Bekon; yunoncha eu – yaxshi, thanatos – o‘lim, ya’ni yengil, oson o‘lim. 2) Zamonaviy palliativ yordamga; mohiyati – o‘limga mahkum odamning azobini yengillashtirish. 3) Faqat faol va passiv evtanaziya (tor ma’no). Muhokama: nega bir atamaning ikki xil talqini chalkashlik tug‘dirishi mumkin? Doskada: ikki ustunli jadval chizing (Bekon – keng; cherkov va JTA – tor). Tipik xato: Bekon ta’rifini JTA ta’rifi bilan bir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Muhim: klinik o‘lim ≠ biologik o‘lim. Birinchisi qaytariluvchan, ikkinchisi qaytarilmas (90-bet).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bu tasnifga medikotanaziya va distanaziya ham kiritilgan? 2) Qaysi turlar ma’lum davrda tor ma’noda hisobga olinmaydi? Doskada: tasnif daraxtini chizing, har tarmoqqa bittadan misol yozing. Tipik xato: passiv evtanaziyani (ortotanaziya) faol evtanaziyaning bir turi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PAS bilan davodan voz kechish huquqining farqi nimada? 2) Nega bunday suitsidda sud-tibbiy ekspertiza vaqtida hayotiy kasalliklar mavjudligi aniqlanadi? Doskada: PAS va davodan voz kechish uchun ikki ustunli taqqoslash jadvalini chizing. Tipik xato: bemorning davodan voz kechishini PAS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 uch shaklda javobgarlik kimda? Tipik xato: PAS ni passiv evtanaziya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Kevorkyan holatini nega «vrach yordamidagi suitsid» (PAS) deymiz? 2) Freyd holatida bemor irodasi va vrach roli qanday? Doskada chizing: «Ixtiyoriy faol evtanaziya → bemor yoki vrach → PAS» zanjiri. Tipik xato: Kevorkyan holatini majburiy evtanaziya bilan aralashtirish; bu yerda bemorning roziligi bor edi.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mustaqil shifokor tasdig‘i talab qilinadi? 2) Vrachning rad etish huquqi axloqiy jihatdan nimani himoya qiladi? Doskada jadvalni chizib, talabalarga bo‘sh kataklarni to‘ldirtiring. Tipik xato: Ispaniyaga «huquq-tartibot xodimlari ishtiroki» shartini, Niderlandiyaga esa «15 kun oralig‘i»ni yozib qo‘yish.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Voqea tahlili: Shipman va Moska holatlarini taqqoslang. Muhokama: 1) Vrachning «rahm» yoki «o‘rin yetishmasligi» dalili bu holatlarni oqlaydimi? 2) Bemor roziligi bo‘lmasa, nima uchun bu qotillik hisoblanadi? Doskada chizing: «Rozilik bor → ixtiyoriy; rozilik yo‘q → majburiy» ikki shoxli sxema. Tipik xato: yaqinlar iltimosini bemor roziligi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negativ evgenikani evtanaziya deb atash axloqan xato? 2) Xalqaro bosim dasturni to‘xtatishda qanday rol o‘ynadi? Doskada: dastur bosqichlarini vaqt chizig‘ida chizdiring. Qo‘shimcha (manbada): taxminan ikki yilda turli ma‘lumotlarga ko‘ra 100 000 dan 275 000 gacha, asosan ruhiy kasallar va rivojlanish nuqsonlilari yo‘qotilgan. Tipik xato: Gitler dasturini ixtiyoriy evtanaziya bilan aralashtirish; bu majburiy qotillik, rozilik yo‘q.</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Bemor yoki qarindosh iltimosi roziligi o‘rnini bosa oladimi? 2) Urush sharoiti baholashni o‘zgartiradimi? Doskada: ikki ustunli jadval chizdiring (rozilik bor / yo‘q) va uch holatni joylashtiring. Tipik xato: “rahm-shafqat niyati” holatni ixtiyoriy qiladi deb o‘ylash. Eslatma: Yudin holatining tafsilotlari manba matnida (OCR) qisman noaniq, shuning uchun uncertain belgilandi.</a:t>
            </a:r>
          </a:p>
          <a:p/>
          <a:p>
            <a:r>
              <a:t>Tekshirish kerak (manbada noaniq):</a:t>
            </a:r>
          </a:p>
          <a:p>
            <a:r>
              <a:t>- Jarroh Yudin hamkasbi, prof. Diterixsni operatsiya qilganda davosiz oshqozon rakini aniqladi. Rafiqasi iltimosiga ko‘ra narkozni oshirishga ko‘rsatma bergan.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Og‘riqni qoldirish uchun katta doza qachon oqlanadi? 2) Nega palliativ terapiya bilimi shifokorni himoya qiladi? Doskada: “maqsad – vosita – natija” zanjirini bevosita va bilvosita turlar uchun yonma-yon chizdiring. Tipik xato: bilvosita faol evtanaziyani ixtiyoriy faol evtanaziya (PAS) bilan aralashtirish. Dozani va niyatni tibbiy hujjatda aks ettirish muhimligini ta‘kidlang.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Nega reanimatsiyani davom ettirish faqat qutqarish umidi bo‘lsa adolatli? 2) Bosh miya o‘limi va sun’iy nafas holatini qanday baholaysiz? Doskaga chizing: ortotanaziya → to‘liq / qisman (ikki shox). Tipik xato: ortotanaziyani faol (aktiv) evtanaziya bilan aralashtirish — bu yerda faol choralardan voz kechiladi, o‘lim dori bilan tezlashtirilmaydi.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Bemor tarixiga NTBR yozib qo‘yish kim javobgarligini o‘zgartiradimi? 2) Nega huquq ortotanaziyani jinoiy deb baholaydi, jamiyat esa ba’zan tushunadi? Doskaga chizing: jadvalni (NTBR / DNR) ko‘chiring. Tipik xato: NTBR va DNR ni bir xil hujjat deb o‘ylash — biri shifr, ikkinchisi taxtacha; ikkalasi ham reanimatsiya qilmaslikni bildiradi.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(Voqea tahlili sifatida ham ishlatish mumkin). Muhokama: 1) Nikson va Mitteran qarorlari bemor irodasining ifodasi sifatida nimasi bilan farq qiladi? 2) Petrarka va Bergman misollari ortotanaziyaga nisbatan qanday ehtiyotkorlikni talab qiladi? Doskaga chizing: ikki ustun — “bemor irodasi” (Nikson, Mitteran, Makkeyn) va “tashxis xatosi” (Petrarka, Bergman). Tipik xato: bemorning ongli irodasini yaqinlarning iltimosi bilan tenglashtirish.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Kaliforniya qonuni amalda ishlamadi? 2) Vasiyat shifokor majburiyatini bekor qiladimi? Doskada: uchta joy bo‘yicha jadvalni chizdiring. Tipik xato: vasiyatni aktiv evtanaziya deb adashtirish; bu passiv evtanaziya (ortotanaziya) doirasidagi istak. Eslatma: kitob 122-betida Finlyandiyadan oldingi ikkinchi mamlakat nomi OCR’da aniq o‘qilmaydi, shuning uchun uni jadvalga kiritmadik.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Navbatni faqat shifokor hal qilishi kerakmi? 2) Qanday mezonlar adolatli? Doskada: zanjirni chizib, har bosqichga bir mezon yozdiring. Tipik xato: saralashni evtanaziya bilan tenglashtirish; bu yerda gap cheklangan resurs bo‘yicha tanlov haqida.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Sakral hayot tushunchasi shifokor qaroriga qanday ta’sir qiladi? 2) Buddizm yondashuvi nega boshqacha? Doskada: ikki ustunli ‘daxlsiz hayot’ va ‘nirvana’ sxemasini chizdiring. Tipik xato: barcha dinlarni bir xil yondashuvli deb hisoblash; buddizm bundan farq qiladi.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Navbatni kim va qaysi mezon bilan belgilashi kerak? 2) Ijtimoiy mavqe (kino yulduzi, tadbirkor) navbatga ta’sir qilishi adolatlimi? Doskaga chizing: ikki ustun — ‘tibbiy ko‘rsatma’ va ‘axloqiy-huquqiy mezon’, har biriga talabalar fikrini yozing. Tipik xato: ijtimoiy qiymatni tibbiy ko‘rsatma bilan aralashtirish; resurs yetishmasligi ham axloqiy savol ekanini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Javoblar: 1) bevosita faol evtanaziya; 2) DNR (do not resuscitate) — reanimatsiya qilinmasin; 3) medikotanaziya (distanaziya ham qonun va axloqqa zid emas deb ta’riflanadi). Muhokama: nega bilvosita faol evtanaziya ‘ehtiyotsizlik orqasida odam o‘ldirish’ deb baholanishi mumkin? Doskaga tasnif daraxtini chizdiring. Tipik xato: passiv evtanaziyani medikotanaziya bilan aralashtirish — birida yordamdan voz kechiladi, ikkinchisida yordam beriladi.</a:t>
            </a:r>
          </a:p>
          <a:p/>
          <a:p>
            <a:r>
              <a:t>Tekshirish kerak (manbada noaniq):</a:t>
            </a:r>
          </a:p>
          <a:p>
            <a:r>
              <a:t>- Eslab qoling: F-P-M-D — Faol, Passiv, Medikotanaziya, Distanaziya. Dastlabki ikkitasi tor ma’noda evtanaziya hisoblanadi.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Hayotni uzaytirish qachon bemor uchun yuk bo‘lib qoladi? 2) Palliativ yordam bilan farqi nimada? Doskaga jadvalni ko‘chirib, ‘maqsad’ qatorini qo‘shishni so‘rang. Tipik xato: distanaziyani majburiy faol evtanaziya yoki ortotanaziya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Palliativ yordam nima uchun faqat dori berish emas? 2) Nima uchun u evtanaziya bilan aralashtirilmasligi kerak? Doskada chizish: ‘Palliativ yordam’ markazda, atrofida uchta shox: tibbiy, ijtimoiy, psixologik. Tipik xato: palliativ yordamni evtanaziyaning yumshoq turi deb o‘ylash yoki uni faqat o‘lish arafasidagi og‘riqsizlantirishga qisqartirish.</a:t>
            </a:r>
          </a:p>
          <a:p/>
          <a:p>
            <a:r>
              <a:t>Tekshirish kerak (manbada noaniq):</a:t>
            </a:r>
          </a:p>
          <a:p>
            <a:r>
              <a:t>- Palliativ yordam davolab bo‘lmaydigan, terminal bosqichdagi bemorga ko‘rsatiladi. Atama lotincha “pallio” so‘zidan olingan (o‘ramoq, tekislamoq).</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JSST evtanaziyani qonunlashtirishni emas, palliativ dasturni taklif qildi? 2) Bemor davodan voz kechsa, shifokor burchi qanday o‘zgaradi? Doskada chizish: ikki ustunli jadval — hujjat va uning talabi. Tipik xato: JSST (tashkilot) bilan JTA (assotsiatsiya) ni, 1989 va 1983 yillarni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Tezkor savol javobi: potensial retsipiyent yoki uning davolovchi shifokori. Muhokama: 1) Nima uchun opioidlarga tibbiy maqsadda kirish imkoni muhim? 2) Nega umumiy amaliyot shifokori palliativ bilimga muhtoj? Doskada chizish: donor shifokori — retsipiyent shifokori o‘rtasida ‘bog‘liqlik yo‘q’ sxemasi. Tipik xato: transplantatsiya uchun funksiyalarni saqlashni evtanaziya yoki hayotni uzaytirish (distanaziya)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Xospis atamasi dastlab nimani anglatgan? 2) Zorza oilasining fojeasi xospis harakatiga qanday ta’sir qildi? Doskada chizish: to‘rt bosqichli vaqt chizig‘i (o‘rta asr — 1842 — 1947 — 1967). Tipik xato: 1842-yildagi Garnye xospisi bilan 1947-yildagi Sonders xospisini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xospisda yordam bepul bo‘lishi tamoyil sifatida belgilangan? 2) Xospis va evtanaziya nima bilan farqlanadi? Doskada chizish: beshta vazifa zanjirini chizing. Tipik xato: xospisni «o‘lim uyi» yoki o‘limni tezlashtiruvchi joy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Sayyor brigadalar umumiy amaliyot shifokoriga qanday yordam beradi? 2) Qaysi hollarda bemor xospisga yotqiziladi? Doskada chizish: uydan xospisga va qaytib uyga yo‘nalishni ko‘rsatuvchi sxema. Tipik xato: 2019-yilgi qaror shaharlari ro‘yxati bilan hududlararo xospislar joylashgan hududlarni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Har bosqichda shifokor qanday so‘z va ohangni tanlashi kerak? 2) Nega shifokor ovozidagi noaniqlik bemor ruhiyatiga zarar etkazishi mumkin? Doskada: olti bosqichli zanjirni chizing (slaydda 5-6-bosqichlar birlashtirilgan, olti bosqichni alohida yozing) va har biriga shifokorning bitta harakatini yozing. Tipik xato: bosqichlar qat’iy ketma-ketlikda va hammada bir xil o‘tadi deb o‘ylash; manbada ular ‘mumkin’ deb berilgan.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Giyosov bo‘yicha olti bosqichli sxema (onkologik bemor) bilan taqqoslang: bu yerda besh bosqich.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savoli: bemorning o‘z sog‘lig‘i haqida bilish huquqi va umidni saqlash talabi o‘rtasida shifokor qanday muvozanat topadi? Qo‘shimcha savol: tashxisni yumshoq atamalar bilan aytish halollik tamoyiliga zid emasmi? Doskada: ikki ustunli ‘nima deyiladi / nimadan qochiladi’ jadvalini chizdiring. Tipik xato: manbadagi tavsiyani ‘bemorga yolg‘on gapirish’ deb tushunish; manbada urg‘u psixologik travmani kamaytirish va umidni qo‘llashga berilgan.</a:t>
            </a:r>
          </a:p>
          <a:p/>
          <a:p>
            <a:r>
              <a:t>Tekshirish kerak (manbada noaniq):</a:t>
            </a:r>
          </a:p>
          <a:p>
            <a:r>
              <a:t>- Asosiy ko‘rsatkich — bemorda umidni saqlash. Huquqiy jihatdan inson o‘z sog‘lig‘i haqida axborot olishi va davolash usulini tanlashi kerak (matn OCRda xira).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JTA evtanaziyani qonunlashtirish o‘rniga palliativ yordamni rivojlantirishni afzal ko‘radi? 2) Medikotanaziya va distanaziyani qanday farqlaysiz? Doskada: evtanaziya tasnifi daraxtini chizdiring. Mustaqil ish uchun savollar: evtanaziya ta’rifi, tasnifi, evgenika bilan bog‘liqligi, bilvosita aktiv evtanaziya, xospis tamoyillari. Tipik xato: ortotanaziyani (passiv) aktiv evtanaziya bilan, distanaziyani medikotanaziya bilan aralashtirish.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Hayotni uzaytirishdagi huquqiy va axloqiy masalalar. Evtanaziya va uning turlari. Palliativ tibbiyot, xospislar, JTU Venetsiya deklaratsiyasi (M8; A6)</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Mavzu: evtanaziya tushunchasi va turlari, palliativ tibbiyot, xospislar. Bular hayot oxiridagi tibbiy yordamning axloqiy va huquqiy tomonlari.</a:t>
            </a:r>
          </a:p>
          <a:p>
            <a:pPr>
              <a:spcAft>
                <a:spcPts val="1200"/>
              </a:spcAft>
            </a:pPr>
            <a:r>
              <a:rPr sz="2200">
                <a:solidFill>
                  <a:srgbClr val="1F2937"/>
                </a:solidFill>
                <a:latin typeface="Calibri"/>
              </a:rPr>
              <a:t>▸  Reja: evtanaziya tarixi va turlari, ularning huquqiy bahosi, dinlarning munosabati, palliativ yordam, xospislar, onkologiyadagi axloqiy muammolar.</a:t>
            </a:r>
          </a:p>
          <a:p>
            <a:pPr>
              <a:spcAft>
                <a:spcPts val="1200"/>
              </a:spcAft>
            </a:pPr>
            <a:r>
              <a:rPr sz="2200">
                <a:solidFill>
                  <a:srgbClr val="1F2937"/>
                </a:solidFill>
                <a:latin typeface="Calibri"/>
              </a:rPr>
              <a:t>▸  Asosiy g‘oya: terminal bosqichda hayotni cho‘zish emas, og‘riq va azobni kamaytirib, qolgan hayot sifatini yaxshilash muhim.</a:t>
            </a:r>
          </a:p>
          <a:p>
            <a:pPr>
              <a:spcAft>
                <a:spcPts val="1200"/>
              </a:spcAft>
            </a:pPr>
            <a:r>
              <a:rPr sz="2200">
                <a:solidFill>
                  <a:srgbClr val="1F2937"/>
                </a:solidFill>
                <a:latin typeface="Calibri"/>
              </a:rPr>
              <a:t>▸  Jahon tibbiyot assotsiatsiyasi 1983 yilda terminal holat bo‘yicha Venetsiya deklaratsiyasini qabul qilgan. U shifokor vazifalarini belgilaydi.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114, 114-130; 196-200, 126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Evtanaziya atamasi va F. Bekon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Atamani XVII asrda ingliz faylasufi F. Bekon taklif qilgan. Grekcha eu — yaxshi, thanatos — o‘lim, ya’ni yengil va oson o‘lim.</a:t>
            </a:r>
          </a:p>
          <a:p>
            <a:pPr>
              <a:spcAft>
                <a:spcPts val="1200"/>
              </a:spcAft>
            </a:pPr>
            <a:r>
              <a:rPr sz="2200">
                <a:solidFill>
                  <a:srgbClr val="1F2937"/>
                </a:solidFill>
                <a:latin typeface="Calibri"/>
              </a:rPr>
              <a:t>▸  Bekon 1623 yilda yozgan: shifokor burchi sog‘liqni tiklash bilan birga kasallik azobini yengillashtirishdir. Umid bo‘lmaganda ham o‘lim sokinroq bo‘lishi kerak.</a:t>
            </a:r>
          </a:p>
          <a:p>
            <a:pPr>
              <a:spcAft>
                <a:spcPts val="1200"/>
              </a:spcAft>
            </a:pPr>
            <a:r>
              <a:rPr sz="2200">
                <a:solidFill>
                  <a:srgbClr val="1F2937"/>
                </a:solidFill>
                <a:latin typeface="Calibri"/>
              </a:rPr>
              <a:t>▸  Bekon talqinidagi evtanaziya hozirgi palliativ yordam tushunchasiga yaqin: mohiyati o‘limga mahkum kishining azobini yengillashtirish.</a:t>
            </a:r>
          </a:p>
          <a:p>
            <a:pPr>
              <a:spcAft>
                <a:spcPts val="1200"/>
              </a:spcAft>
            </a:pPr>
            <a:r>
              <a:rPr sz="2200">
                <a:solidFill>
                  <a:srgbClr val="1F2937"/>
                </a:solidFill>
                <a:latin typeface="Calibri"/>
              </a:rPr>
              <a:t>▸  Diqqat: bugun evtanaziya tor ma’noda tushuniladi, faqat aktiv va passiv turlari. Bu Bekon ma’nosidan farq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114, 125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Qadimda keksa va bemorlarga munosabat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Qadimda ayrim xalqlarda kasallik yoki qarilikdan o‘lish nomaqbul hisoblangan.</a:t>
            </a:r>
          </a:p>
          <a:p>
            <a:pPr>
              <a:spcAft>
                <a:spcPts val="800"/>
              </a:spcAft>
            </a:pPr>
            <a:r>
              <a:rPr sz="1800">
                <a:solidFill>
                  <a:srgbClr val="1F2937"/>
                </a:solidFill>
                <a:latin typeface="Calibri"/>
              </a:rPr>
              <a:t>▸  Qadimiy din va odatlar buni taqiqlamagan, aksincha ma’qullagan.</a:t>
            </a:r>
          </a:p>
          <a:p>
            <a:pPr>
              <a:spcAft>
                <a:spcPts val="800"/>
              </a:spcAft>
            </a:pPr>
            <a:r>
              <a:rPr sz="1800">
                <a:solidFill>
                  <a:srgbClr val="1F2937"/>
                </a:solidFill>
                <a:latin typeface="Calibri"/>
              </a:rPr>
              <a:t>▸  Sabablar: tibbiyot imkoniyati cheklangan va oziq-ovqat kam bo‘lgan.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Qadimgi odatlar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Keos oroli</a:t>
            </a:r>
          </a:p>
          <a:p>
            <a:pPr algn="l">
              <a:spcAft>
                <a:spcPts val="0"/>
              </a:spcAft>
            </a:pPr>
            <a:r>
              <a:rPr sz="1200" b="0">
                <a:solidFill>
                  <a:srgbClr val="1F2937"/>
                </a:solidFill>
                <a:latin typeface="Calibri"/>
              </a:rPr>
              <a:t>Keksalar o‘zini zaharlagan  ·  Zahar (sikuta) ichish</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Yaponiya</a:t>
            </a:r>
          </a:p>
          <a:p>
            <a:pPr algn="l">
              <a:spcAft>
                <a:spcPts val="0"/>
              </a:spcAft>
            </a:pPr>
            <a:r>
              <a:rPr sz="1200" b="0">
                <a:solidFill>
                  <a:srgbClr val="1F2937"/>
                </a:solidFill>
                <a:latin typeface="Calibri"/>
              </a:rPr>
              <a:t>Zaif keksalar tog‘ga olib borilgan  ·  Obasuteyama tog‘i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Eskimoslar</a:t>
            </a:r>
          </a:p>
          <a:p>
            <a:pPr algn="l">
              <a:spcAft>
                <a:spcPts val="0"/>
              </a:spcAft>
            </a:pPr>
            <a:r>
              <a:rPr sz="1200" b="0">
                <a:solidFill>
                  <a:srgbClr val="1F2937"/>
                </a:solidFill>
                <a:latin typeface="Calibri"/>
              </a:rPr>
              <a:t>Keksalar o‘zi tundraga ketgan  ·  Muzlab o‘lish</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Qadimgi odatlar</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Sparta, epidemiyalar va suitsid sabablari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Plutarx yozishicha, Spartada chaqaloqning taqdiri oqsoqollarga bog‘liq bo‘lgan. Ota bolani ularga olib kelgan, ular bolani ko‘zdan kechirgan.</a:t>
            </a:r>
          </a:p>
          <a:p>
            <a:pPr>
              <a:spcAft>
                <a:spcPts val="1200"/>
              </a:spcAft>
            </a:pPr>
            <a:r>
              <a:rPr sz="2200">
                <a:solidFill>
                  <a:srgbClr val="1F2937"/>
                </a:solidFill>
                <a:latin typeface="Calibri"/>
              </a:rPr>
              <a:t>▸  Sog‘lom bola otasiga qaytarilgan. Nimjon va nuqsonli bolalar jarlikka tashlangan, chunki hayoti foydasiz hisoblangan. Bolani vinoda cho‘miltirib sinashgan.</a:t>
            </a:r>
          </a:p>
          <a:p>
            <a:pPr>
              <a:spcAft>
                <a:spcPts val="1200"/>
              </a:spcAft>
            </a:pPr>
            <a:r>
              <a:rPr sz="2200">
                <a:solidFill>
                  <a:srgbClr val="1F2937"/>
                </a:solidFill>
                <a:latin typeface="Calibri"/>
              </a:rPr>
              <a:t>▸  Vabo epidemiyasida o‘lishi muqarrar bemorlar murdalar bilan yoqilgan. Poliomielitga chalingan minglab chaqaloq tiriklayin ko‘milgan yoki qarovsiz qoldirilgan.</a:t>
            </a:r>
          </a:p>
          <a:p>
            <a:pPr>
              <a:spcAft>
                <a:spcPts val="1200"/>
              </a:spcAft>
            </a:pPr>
            <a:r>
              <a:rPr sz="2200">
                <a:solidFill>
                  <a:srgbClr val="1F2937"/>
                </a:solidFill>
                <a:latin typeface="Calibri"/>
              </a:rPr>
              <a:t>▸  Dyurkgeym: qadimda suitsid sabablari orasida qarilik, kasallik yetakchi. Funksional qarash «o‘lim madaniyati» va evgenik choralarni keltirgan.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Gippokrat qasamyodi va zamondoshlar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Gippokrat qasamyodida so‘ralgan o‘lim vositasini bermaslik va unga erishish yo‘lini ko‘rsatmaslik va’da qilingan.</a:t>
            </a:r>
          </a:p>
          <a:p>
            <a:pPr>
              <a:spcAft>
                <a:spcPts val="800"/>
              </a:spcAft>
            </a:pPr>
            <a:r>
              <a:rPr sz="1800">
                <a:solidFill>
                  <a:srgbClr val="1F2937"/>
                </a:solidFill>
                <a:latin typeface="Calibri"/>
              </a:rPr>
              <a:t>▸  Ba’zi zamondoshlari ojiz, umidsiz bemorlar umrining “oson o‘lim” bilan tugashini tabiiy va foydali deb bilgan.</a:t>
            </a:r>
          </a:p>
          <a:p>
            <a:pPr>
              <a:spcAft>
                <a:spcPts val="800"/>
              </a:spcAft>
            </a:pPr>
            <a:r>
              <a:rPr sz="1800">
                <a:solidFill>
                  <a:srgbClr val="1F2937"/>
                </a:solidFill>
                <a:latin typeface="Calibri"/>
              </a:rPr>
              <a:t>▸  Diqqat: xato qilish xavfi! Gippokrat ≠ zamondoshlari. Qadimgi mutafakkirlar bir fikrda bo‘lmagan.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Gippokrat</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So‘ralgan o‘lim vositasini bermayman</a:t>
            </a:r>
          </a:p>
          <a:p>
            <a:pPr algn="l">
              <a:spcAft>
                <a:spcPts val="700"/>
              </a:spcAft>
            </a:pPr>
            <a:r>
              <a:rPr sz="1500" b="1">
                <a:solidFill>
                  <a:srgbClr val="C9A227"/>
                </a:solidFill>
                <a:latin typeface="Calibri"/>
              </a:rPr>
              <a:t>●  </a:t>
            </a:r>
            <a:r>
              <a:rPr sz="1500" b="0">
                <a:solidFill>
                  <a:srgbClr val="1F2937"/>
                </a:solidFill>
                <a:latin typeface="Calibri"/>
              </a:rPr>
              <a:t>Unga erishish yo‘lini ko‘rsatmayman</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Zamondoshlari</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Umidsiz bemorga oson o‘lim foydali</a:t>
            </a:r>
          </a:p>
          <a:p>
            <a:pPr algn="l">
              <a:spcAft>
                <a:spcPts val="700"/>
              </a:spcAft>
            </a:pPr>
            <a:r>
              <a:rPr sz="1500" b="1">
                <a:solidFill>
                  <a:srgbClr val="C9A227"/>
                </a:solidFill>
                <a:latin typeface="Calibri"/>
              </a:rPr>
              <a:t>●  </a:t>
            </a:r>
            <a:r>
              <a:rPr sz="1500" b="0">
                <a:solidFill>
                  <a:srgbClr val="1F2937"/>
                </a:solidFill>
                <a:latin typeface="Calibri"/>
              </a:rPr>
              <a:t>Fikrlar bir xil emas edi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Qadimgi mutafakkirlar bir fikrda emas</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qadimgi odatlar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Keos orolida keksalar zahar (sikuta) ichgan. Yapon qariyalari Obasuteyama tog‘iga olib borilgan. Eskimoslar muzlab o‘lish uchun tundraga ketgan.</a:t>
            </a:r>
          </a:p>
          <a:p>
            <a:pPr>
              <a:spcAft>
                <a:spcPts val="1200"/>
              </a:spcAft>
            </a:pPr>
            <a:r>
              <a:rPr sz="2200">
                <a:solidFill>
                  <a:srgbClr val="1F2937"/>
                </a:solidFill>
                <a:latin typeface="Calibri"/>
              </a:rPr>
              <a:t>▸  Qadimiy dinlar va odatlarda bunday holatlar taqiqlanmagan, balki ma’qullangan. Sabablar: tibbiyot imkoniyatlari cheklangani va oziq-ovqat yetishmasligi.</a:t>
            </a:r>
          </a:p>
          <a:p>
            <a:pPr>
              <a:spcAft>
                <a:spcPts val="1200"/>
              </a:spcAft>
            </a:pPr>
            <a:r>
              <a:rPr sz="2200">
                <a:solidFill>
                  <a:srgbClr val="1F2937"/>
                </a:solidFill>
                <a:latin typeface="Calibri"/>
              </a:rPr>
              <a:t>▸  Bugun evtanaziya ko‘p ko‘rinishlarida tibbiy etikaning asosiy tamoyillariga zid deb baholanadi.</a:t>
            </a:r>
          </a:p>
          <a:p>
            <a:pPr>
              <a:spcAft>
                <a:spcPts val="1200"/>
              </a:spcAft>
            </a:pPr>
            <a:r>
              <a:rPr sz="2200">
                <a:solidFill>
                  <a:srgbClr val="1F2937"/>
                </a:solidFill>
                <a:latin typeface="Calibri"/>
              </a:rPr>
              <a:t>▸  Savol: oziq-ovqat va tibbiy yordam yetarli bo‘lsa, bu odatlarni oqlash mumkinmi? Nima uchun?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114, 115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A.F. Koni: faol evtanaziya shartlari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Rus huquqshunosi A.F. Koni faol evtanaziyani faqat istisno tariqasida, to‘rt shart bo‘lganda mumkin deb hisoblagan.</a:t>
            </a:r>
          </a:p>
          <a:p>
            <a:pPr>
              <a:spcAft>
                <a:spcPts val="800"/>
              </a:spcAft>
            </a:pPr>
            <a:r>
              <a:rPr sz="1800">
                <a:solidFill>
                  <a:srgbClr val="1F2937"/>
                </a:solidFill>
                <a:latin typeface="Calibri"/>
              </a:rPr>
              <a:t>▸  Shartlar: bemorning ongli va qat’iy talabi hamda mavjud usullar bilan azobni yengillatish imkonsizligi.</a:t>
            </a:r>
          </a:p>
          <a:p>
            <a:pPr>
              <a:spcAft>
                <a:spcPts val="800"/>
              </a:spcAft>
            </a:pPr>
            <a:r>
              <a:rPr sz="1800">
                <a:solidFill>
                  <a:srgbClr val="1F2937"/>
                </a:solidFill>
                <a:latin typeface="Calibri"/>
              </a:rPr>
              <a:t>▸  Yana ikki shart: konsilium hayotni saqlab bo‘lmasligini isbotlashi va huquq-tartibot idoralari oldindan ogohlantirilishi.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Bemorning ongli, qat’iy talabi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Mavjud usullar yengillatmaydi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Konsilium: saqlab bo‘lmasligi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Huquq-tartibot ogohlantiriladi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Koni shartlari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Evtanaziya deklaratsiyalari: 1980 va 1987</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Rim katolik cherkovi 1980-yilda «Evtanaziya to‘g‘risida deklaratsiya»ni qabul qilgan.</a:t>
            </a:r>
          </a:p>
          <a:p>
            <a:pPr>
              <a:spcAft>
                <a:spcPts val="800"/>
              </a:spcAft>
            </a:pPr>
            <a:r>
              <a:rPr sz="1800">
                <a:solidFill>
                  <a:srgbClr val="1F2937"/>
                </a:solidFill>
                <a:latin typeface="Calibri"/>
              </a:rPr>
              <a:t>▸  Jahon tibbiyot assotsiatsiyasi (JTA) 1987-yil Madrid assambleyasida shunday deklaratsiya qabul qildi.</a:t>
            </a:r>
          </a:p>
          <a:p>
            <a:pPr>
              <a:spcAft>
                <a:spcPts val="800"/>
              </a:spcAft>
            </a:pPr>
            <a:r>
              <a:rPr sz="1800">
                <a:solidFill>
                  <a:srgbClr val="1F2937"/>
                </a:solidFill>
                <a:latin typeface="Calibri"/>
              </a:rPr>
              <a:t>▸  Terminal bosqichda tabiiy o‘limga to‘sqinlik qilmaslik istagiga hurmat bu qoidadan istisno emas.</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Katolik cherkovi dekl.</a:t>
            </a:r>
          </a:p>
          <a:p>
            <a:pPr algn="l">
              <a:spcAft>
                <a:spcPts val="100"/>
              </a:spcAft>
            </a:pPr>
            <a:r>
              <a:rPr sz="3000" b="1">
                <a:solidFill>
                  <a:srgbClr val="0B1F3A"/>
                </a:solidFill>
                <a:latin typeface="Calibri"/>
              </a:rPr>
              <a:t>1980</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JTA, Madrid dekl.</a:t>
            </a:r>
          </a:p>
          <a:p>
            <a:pPr algn="l">
              <a:spcAft>
                <a:spcPts val="100"/>
              </a:spcAft>
            </a:pPr>
            <a:r>
              <a:rPr sz="3000" b="1">
                <a:solidFill>
                  <a:srgbClr val="0B1F3A"/>
                </a:solidFill>
                <a:latin typeface="Calibri"/>
              </a:rPr>
              <a:t>1987</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Ikki deklaratsiya; Madrid istisnosi: tabiiy o‘limga to‘sqinlik qilmaslik</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Evtanaziya tarafdorlari va raqiblari argumentlari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Tarafdorlar: inson o‘z hayotini davom ettirish yoki to‘xtatish bo‘yicha tanlash huquqiga ega bo‘lishi kerak.</a:t>
            </a:r>
          </a:p>
          <a:p>
            <a:pPr>
              <a:spcAft>
                <a:spcPts val="800"/>
              </a:spcAft>
            </a:pPr>
            <a:r>
              <a:rPr sz="1800">
                <a:solidFill>
                  <a:srgbClr val="1F2937"/>
                </a:solidFill>
                <a:latin typeface="Calibri"/>
              </a:rPr>
              <a:t>▸  Raqiblar: hayot oliy qadriyat va daxlsiz, evtanaziya esa shifokorlik faoliyati mohiyatiga zid.</a:t>
            </a:r>
          </a:p>
          <a:p>
            <a:pPr>
              <a:spcAft>
                <a:spcPts val="800"/>
              </a:spcAft>
            </a:pPr>
            <a:r>
              <a:rPr sz="1800">
                <a:solidFill>
                  <a:srgbClr val="1F2937"/>
                </a:solidFill>
                <a:latin typeface="Calibri"/>
              </a:rPr>
              <a:t>▸  Raqiblar ogohlantiradi: qonunlashtirish suiiste’mol xavfini («sirpanchiq qiyalik») tug‘diradi.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Tarafdorlar</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Hayotni davom ettirish yoki to‘xtatish tanlovi</a:t>
            </a:r>
          </a:p>
          <a:p>
            <a:pPr algn="l">
              <a:spcAft>
                <a:spcPts val="700"/>
              </a:spcAft>
            </a:pPr>
            <a:r>
              <a:rPr sz="1500" b="1">
                <a:solidFill>
                  <a:srgbClr val="C9A227"/>
                </a:solidFill>
                <a:latin typeface="Calibri"/>
              </a:rPr>
              <a:t>●  </a:t>
            </a:r>
            <a:r>
              <a:rPr sz="1500" b="0">
                <a:solidFill>
                  <a:srgbClr val="1F2937"/>
                </a:solidFill>
                <a:latin typeface="Calibri"/>
              </a:rPr>
              <a:t>Yaqinlar azobdan xalos bo‘ladi</a:t>
            </a:r>
          </a:p>
          <a:p>
            <a:pPr algn="l">
              <a:spcAft>
                <a:spcPts val="700"/>
              </a:spcAft>
            </a:pPr>
            <a:r>
              <a:rPr sz="1500" b="1">
                <a:solidFill>
                  <a:srgbClr val="C9A227"/>
                </a:solidFill>
                <a:latin typeface="Calibri"/>
              </a:rPr>
              <a:t>●  </a:t>
            </a:r>
            <a:r>
              <a:rPr sz="1500" b="0">
                <a:solidFill>
                  <a:srgbClr val="1F2937"/>
                </a:solidFill>
                <a:latin typeface="Calibri"/>
              </a:rPr>
              <a:t>Azobda hayot sifati pasayadi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Raqiblar</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Hayot oliy qadriyat va daxlsiz</a:t>
            </a:r>
          </a:p>
          <a:p>
            <a:pPr algn="l">
              <a:spcAft>
                <a:spcPts val="700"/>
              </a:spcAft>
            </a:pPr>
            <a:r>
              <a:rPr sz="1500" b="1">
                <a:solidFill>
                  <a:srgbClr val="C9A227"/>
                </a:solidFill>
                <a:latin typeface="Calibri"/>
              </a:rPr>
              <a:t>●  </a:t>
            </a:r>
            <a:r>
              <a:rPr sz="1500" b="0">
                <a:solidFill>
                  <a:srgbClr val="1F2937"/>
                </a:solidFill>
                <a:latin typeface="Calibri"/>
              </a:rPr>
              <a:t>Shifokorlik mohiyiga zid</a:t>
            </a:r>
          </a:p>
          <a:p>
            <a:pPr algn="l">
              <a:spcAft>
                <a:spcPts val="700"/>
              </a:spcAft>
            </a:pPr>
            <a:r>
              <a:rPr sz="1500" b="1">
                <a:solidFill>
                  <a:srgbClr val="C9A227"/>
                </a:solidFill>
                <a:latin typeface="Calibri"/>
              </a:rPr>
              <a:t>●  </a:t>
            </a:r>
            <a:r>
              <a:rPr sz="1500" b="0">
                <a:solidFill>
                  <a:srgbClr val="1F2937"/>
                </a:solidFill>
                <a:latin typeface="Calibri"/>
              </a:rPr>
              <a:t>Suiiste’mol xavfi: sirpanchiq qiyalik</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Argumentlar</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116, 117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Evtanaziya: «qarshi» va «uchun» mantiqi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«Qarshi» argument: begunohni qasddan o‘ldirish har doim axloqiy yovuzlik; evtanaziya begunoh odamni qasddan o‘ldirish, demak axloqiy yomonlik.</a:t>
            </a:r>
          </a:p>
          <a:p>
            <a:pPr>
              <a:spcAft>
                <a:spcPts val="800"/>
              </a:spcAft>
            </a:pPr>
            <a:r>
              <a:rPr sz="1600">
                <a:solidFill>
                  <a:srgbClr val="1F2937"/>
                </a:solidFill>
                <a:latin typeface="Calibri"/>
              </a:rPr>
              <a:t>▸  «Uchun» argumentning birinchi asosi: ba’zi kishilarning ahvoli shunday, ular yashashdan ko‘ra o‘lgani yaxshiroq (og‘ir og‘riq).</a:t>
            </a:r>
          </a:p>
          <a:p>
            <a:pPr>
              <a:spcAft>
                <a:spcPts val="800"/>
              </a:spcAft>
            </a:pPr>
            <a:r>
              <a:rPr sz="1600">
                <a:solidFill>
                  <a:srgbClr val="1F2937"/>
                </a:solidFill>
                <a:latin typeface="Calibri"/>
              </a:rPr>
              <a:t>▸  Ikkinchi asos: kimningdir ahvolini yaxshilashda yordam berish har doim axloqan joiz.</a:t>
            </a:r>
          </a:p>
          <a:p>
            <a:pPr>
              <a:spcAft>
                <a:spcPts val="800"/>
              </a:spcAft>
            </a:pPr>
            <a:r>
              <a:rPr sz="1600">
                <a:solidFill>
                  <a:srgbClr val="1F2937"/>
                </a:solidFill>
                <a:latin typeface="Calibri"/>
              </a:rPr>
              <a:t>▸  Bu argumentning jiddiy kamchiligi bor: u barcha bemorlar ahvoli haqiqatan yaxshilanishini isbotlamaydi.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Qarshi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Begunohni qasddan o‘ldirish — yovuzlik</a:t>
            </a:r>
          </a:p>
          <a:p>
            <a:pPr algn="l">
              <a:spcAft>
                <a:spcPts val="700"/>
              </a:spcAft>
            </a:pPr>
            <a:r>
              <a:rPr sz="1500" b="1">
                <a:solidFill>
                  <a:srgbClr val="C9A227"/>
                </a:solidFill>
                <a:latin typeface="Calibri"/>
              </a:rPr>
              <a:t>●  </a:t>
            </a:r>
            <a:r>
              <a:rPr sz="1500" b="0">
                <a:solidFill>
                  <a:srgbClr val="1F2937"/>
                </a:solidFill>
                <a:latin typeface="Calibri"/>
              </a:rPr>
              <a:t>Evtanaziya shunday qotillik</a:t>
            </a:r>
          </a:p>
          <a:p>
            <a:pPr algn="l">
              <a:spcAft>
                <a:spcPts val="700"/>
              </a:spcAft>
            </a:pPr>
            <a:r>
              <a:rPr sz="1500" b="1">
                <a:solidFill>
                  <a:srgbClr val="C9A227"/>
                </a:solidFill>
                <a:latin typeface="Calibri"/>
              </a:rPr>
              <a:t>●  </a:t>
            </a:r>
            <a:r>
              <a:rPr sz="1500" b="0">
                <a:solidFill>
                  <a:srgbClr val="1F2937"/>
                </a:solidFill>
                <a:latin typeface="Calibri"/>
              </a:rPr>
              <a:t>Insoniylik va tibbiyot maqsadiga zid</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Uchun</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Ba’zilar uchun o‘lim yaxshiroq</a:t>
            </a:r>
          </a:p>
          <a:p>
            <a:pPr algn="l">
              <a:spcAft>
                <a:spcPts val="700"/>
              </a:spcAft>
            </a:pPr>
            <a:r>
              <a:rPr sz="1500" b="1">
                <a:solidFill>
                  <a:srgbClr val="C9A227"/>
                </a:solidFill>
                <a:latin typeface="Calibri"/>
              </a:rPr>
              <a:t>●  </a:t>
            </a:r>
            <a:r>
              <a:rPr sz="1500" b="0">
                <a:solidFill>
                  <a:srgbClr val="1F2937"/>
                </a:solidFill>
                <a:latin typeface="Calibri"/>
              </a:rPr>
              <a:t>Ahvolni yaxshilashga yordam joiz</a:t>
            </a:r>
          </a:p>
          <a:p>
            <a:pPr algn="l">
              <a:spcAft>
                <a:spcPts val="700"/>
              </a:spcAft>
            </a:pPr>
            <a:r>
              <a:rPr sz="1500" b="1">
                <a:solidFill>
                  <a:srgbClr val="C9A227"/>
                </a:solidFill>
                <a:latin typeface="Calibri"/>
              </a:rPr>
              <a:t>●  </a:t>
            </a:r>
            <a:r>
              <a:rPr sz="1500" b="0">
                <a:solidFill>
                  <a:srgbClr val="1F2937"/>
                </a:solidFill>
                <a:latin typeface="Calibri"/>
              </a:rPr>
              <a:t>Kamchilik: umumlashtirib bo‘lmaydi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Munozara mantiqi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104, 105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va Diqqat: keng va tor ma’no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Diqqat! Bekon ta’rifi keng ma’noda, Katolik cherkovi va JTA hujjatlari esa tor ma’noda: faqat faol va passiv evtanaziya.</a:t>
            </a:r>
          </a:p>
          <a:p>
            <a:pPr>
              <a:spcAft>
                <a:spcPts val="1200"/>
              </a:spcAft>
            </a:pPr>
            <a:r>
              <a:rPr sz="2200">
                <a:solidFill>
                  <a:srgbClr val="1F2937"/>
                </a:solidFill>
                <a:latin typeface="Calibri"/>
              </a:rPr>
              <a:t>▸  Tezkor savol 1: “evtanaziya” atamasini kim, qaysi asrda taklif qilgan va u nimani anglatadi?</a:t>
            </a:r>
          </a:p>
          <a:p>
            <a:pPr>
              <a:spcAft>
                <a:spcPts val="1200"/>
              </a:spcAft>
            </a:pPr>
            <a:r>
              <a:rPr sz="2200">
                <a:solidFill>
                  <a:srgbClr val="1F2937"/>
                </a:solidFill>
                <a:latin typeface="Calibri"/>
              </a:rPr>
              <a:t>▸  Tezkor savol 2: Bekon talqini hozirgi qaysi tushunchaga yaqin va uning mohiyati nimada?</a:t>
            </a:r>
          </a:p>
          <a:p>
            <a:pPr>
              <a:spcAft>
                <a:spcPts val="1200"/>
              </a:spcAft>
            </a:pPr>
            <a:r>
              <a:rPr sz="2200">
                <a:solidFill>
                  <a:srgbClr val="1F2937"/>
                </a:solidFill>
                <a:latin typeface="Calibri"/>
              </a:rPr>
              <a:t>▸  Tezkor savol 3: Katolik cherkovi (1980) va JTA (1987, Madrid) deklaratsiyalarida evtanaziya qanday tushuniladi?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125, 114, 116, 125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Klinik o‘lim va o‘lim mezoni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Klinik o‘lim — hayot va o‘lim chegarasidagi qaytariluvchi terminal holat; u 5–6 daqiqa (ba’zan kamroq) davom etadi.</a:t>
            </a:r>
          </a:p>
          <a:p>
            <a:pPr>
              <a:spcAft>
                <a:spcPts val="800"/>
              </a:spcAft>
            </a:pPr>
            <a:r>
              <a:rPr sz="1600">
                <a:solidFill>
                  <a:srgbClr val="1F2937"/>
                </a:solidFill>
                <a:latin typeface="Calibri"/>
              </a:rPr>
              <a:t>▸  Klinik o‘limning qaytarilishi shifokordan uni shoshilinch yordam talab qiladigan holat sifatida davolashni talab qiladi.</a:t>
            </a:r>
          </a:p>
          <a:p>
            <a:pPr>
              <a:spcAft>
                <a:spcPts val="800"/>
              </a:spcAft>
            </a:pPr>
            <a:r>
              <a:rPr sz="1600">
                <a:solidFill>
                  <a:srgbClr val="1F2937"/>
                </a:solidFill>
                <a:latin typeface="Calibri"/>
              </a:rPr>
              <a:t>▸  Zamonaviy tushunchada o‘lim mezoni — bosh miya nekrozi: miya o‘limida shaxsning avtonomligi va o‘ziga xosligi yo‘qoladi.</a:t>
            </a:r>
          </a:p>
          <a:p>
            <a:pPr>
              <a:spcAft>
                <a:spcPts val="800"/>
              </a:spcAft>
            </a:pPr>
            <a:r>
              <a:rPr sz="1600">
                <a:solidFill>
                  <a:srgbClr val="1F2937"/>
                </a:solidFill>
                <a:latin typeface="Calibri"/>
              </a:rPr>
              <a:t>▸  60–70-yillarda reanimatologiyaning shakllanishi o‘limning an’anaviy mezonlarini o‘zgartirdi va «noaniqlik zonasi»ni (Yudin) ochdi.</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Klinik o‘lim davomi</a:t>
            </a:r>
          </a:p>
          <a:p>
            <a:pPr algn="l">
              <a:spcAft>
                <a:spcPts val="100"/>
              </a:spcAft>
            </a:pPr>
            <a:r>
              <a:rPr sz="3000" b="1">
                <a:solidFill>
                  <a:srgbClr val="0B1F3A"/>
                </a:solidFill>
                <a:latin typeface="Calibri"/>
              </a:rPr>
              <a:t>5–6 daq</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Muxin: o‘pkaga havo</a:t>
            </a:r>
          </a:p>
          <a:p>
            <a:pPr algn="l">
              <a:spcAft>
                <a:spcPts val="100"/>
              </a:spcAft>
            </a:pPr>
            <a:r>
              <a:rPr sz="3000" b="1">
                <a:solidFill>
                  <a:srgbClr val="0B1F3A"/>
                </a:solidFill>
                <a:latin typeface="Calibri"/>
              </a:rPr>
              <a:t>1805</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Reanimatologiya</a:t>
            </a:r>
          </a:p>
          <a:p>
            <a:pPr algn="l">
              <a:spcAft>
                <a:spcPts val="100"/>
              </a:spcAft>
            </a:pPr>
            <a:r>
              <a:rPr sz="3000" b="1">
                <a:solidFill>
                  <a:srgbClr val="0B1F3A"/>
                </a:solidFill>
                <a:latin typeface="Calibri"/>
              </a:rPr>
              <a:t>60–70-yillar</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O‘lim mezoni</a:t>
            </a:r>
          </a:p>
          <a:p>
            <a:pPr algn="l">
              <a:spcAft>
                <a:spcPts val="100"/>
              </a:spcAft>
            </a:pPr>
            <a:r>
              <a:rPr sz="3000" b="1">
                <a:solidFill>
                  <a:srgbClr val="0B1F3A"/>
                </a:solidFill>
                <a:latin typeface="Calibri"/>
              </a:rPr>
              <a:t>miya nekrozi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O‘lim va reanimatsiya: asosiy ko‘rsatkichlar</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88-89, 89, 90-91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Evtanaziya turlari: umumiy ko‘rinish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Keng ma’noda to‘rt tur farqlanadi: faol, passiv (ortotanaziya), medikotanaziya va distanaziya.</a:t>
            </a:r>
          </a:p>
          <a:p>
            <a:pPr>
              <a:spcAft>
                <a:spcPts val="800"/>
              </a:spcAft>
            </a:pPr>
            <a:r>
              <a:rPr sz="1800">
                <a:solidFill>
                  <a:srgbClr val="1F2937"/>
                </a:solidFill>
                <a:latin typeface="Calibri"/>
              </a:rPr>
              <a:t>▸  Faol evtanaziya bevosita (ixtiyoriy yoki majburiy) va bilvosita turlarga bo‘linadi.</a:t>
            </a:r>
          </a:p>
          <a:p>
            <a:pPr>
              <a:spcAft>
                <a:spcPts val="800"/>
              </a:spcAft>
            </a:pPr>
            <a:r>
              <a:rPr sz="1800">
                <a:solidFill>
                  <a:srgbClr val="1F2937"/>
                </a:solidFill>
                <a:latin typeface="Calibri"/>
              </a:rPr>
              <a:t>▸  Passiv evtanaziya (ortotanaziya) to‘liq yoki qisman bo‘lishi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Evtanaziya (keng ma’no)</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Faol: bevosita / bilvosita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Passiv: to‘liq / qisman</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Medikotanaziya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Distanaziya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Keng ma’nodagi tasnif</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117, 117, 120, 125, 120, 125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Faol evtanaziya: ixtiyoriy turi va PAS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Faol evtanaziya – o‘limni tezlashtirish bilan azob-qiynoqni yengillashtirish. Uni “to‘ldirilgan shprits” usuli ham deyiladi.</a:t>
            </a:r>
          </a:p>
          <a:p>
            <a:pPr>
              <a:spcAft>
                <a:spcPts val="1200"/>
              </a:spcAft>
            </a:pPr>
            <a:r>
              <a:rPr sz="2200">
                <a:solidFill>
                  <a:srgbClr val="1F2937"/>
                </a:solidFill>
                <a:latin typeface="Calibri"/>
              </a:rPr>
              <a:t>▸  Ixtiyoriy faol evtanaziya bemor roziligini nazarda tutadi. Bemorning o‘zi bajarsa, huquqan o‘z-o‘zini o‘ldirish deb baholanadi.</a:t>
            </a:r>
          </a:p>
          <a:p>
            <a:pPr>
              <a:spcAft>
                <a:spcPts val="1200"/>
              </a:spcAft>
            </a:pPr>
            <a:r>
              <a:rPr sz="2200">
                <a:solidFill>
                  <a:srgbClr val="1F2937"/>
                </a:solidFill>
                <a:latin typeface="Calibri"/>
              </a:rPr>
              <a:t>▸  Ba’zan suitsid vrach yordamida amalga oshiriladi. Buning uchun PAS (physician assisted suicide – vrach yordamidagi suitsid) atamasi paydo bo‘lgan.</a:t>
            </a:r>
          </a:p>
          <a:p>
            <a:pPr>
              <a:spcAft>
                <a:spcPts val="1200"/>
              </a:spcAft>
            </a:pPr>
            <a:r>
              <a:rPr sz="2200">
                <a:solidFill>
                  <a:srgbClr val="1F2937"/>
                </a:solidFill>
                <a:latin typeface="Calibri"/>
              </a:rPr>
              <a:t>▸  JTA 1992 yilgi bayonoti: PAS etika me’yorlariga zid va qoralanishi zarur. Bemorning tibbiy yordamni rad etish huquqi esa hurmat qilinadi.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117, 117-118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Faol evtanaziyaning uch shakli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Faol evtanaziya («to‘ldirilgan shprits usuli») — o‘limga olib keladigan dori yuborish; evtanaziya faqat qasddan o‘limga olib keladi.</a:t>
            </a:r>
          </a:p>
          <a:p>
            <a:pPr>
              <a:spcAft>
                <a:spcPts val="800"/>
              </a:spcAft>
            </a:pPr>
            <a:r>
              <a:rPr sz="1800">
                <a:solidFill>
                  <a:srgbClr val="1F2937"/>
                </a:solidFill>
                <a:latin typeface="Calibri"/>
              </a:rPr>
              <a:t>▸  1) «Rahmdil qotillik»: shifokor umidsiz bemorning azobini boshqacha bartaraf eta olmasa sodir bo‘ladi.</a:t>
            </a:r>
          </a:p>
          <a:p>
            <a:pPr>
              <a:spcAft>
                <a:spcPts val="800"/>
              </a:spcAft>
            </a:pPr>
            <a:r>
              <a:rPr sz="1800">
                <a:solidFill>
                  <a:srgbClr val="1F2937"/>
                </a:solidFill>
                <a:latin typeface="Calibri"/>
              </a:rPr>
              <a:t>▸  2) Shifokor yordamida o‘z joniga qasd qilish: shifokor davolanmaydigan bemorga hayotini tugatishga yordam beradi.</a:t>
            </a:r>
          </a:p>
          <a:p>
            <a:pPr>
              <a:spcAft>
                <a:spcPts val="800"/>
              </a:spcAft>
            </a:pPr>
            <a:r>
              <a:rPr sz="1800">
                <a:solidFill>
                  <a:srgbClr val="1F2937"/>
                </a:solidFill>
                <a:latin typeface="Calibri"/>
              </a:rPr>
              <a:t>▸  3) Shifokorsiz amalga oshirish mumkin: bemorning o‘zi tegishli qurilmani ishga tushiradi.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Faol evtanaziya</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Rahmdil qotillik</a:t>
            </a:r>
          </a:p>
          <a:p>
            <a:pPr algn="l">
              <a:spcAft>
                <a:spcPts val="0"/>
              </a:spcAft>
            </a:pPr>
            <a:r>
              <a:rPr sz="1200" b="0">
                <a:solidFill>
                  <a:srgbClr val="1F2937"/>
                </a:solidFill>
                <a:latin typeface="Calibri"/>
              </a:rPr>
              <a:t>Shifokor o‘limga olib keladi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Shifokor yordamli suitsid</a:t>
            </a:r>
          </a:p>
          <a:p>
            <a:pPr algn="l">
              <a:spcAft>
                <a:spcPts val="0"/>
              </a:spcAft>
            </a:pPr>
            <a:r>
              <a:rPr sz="1200" b="0">
                <a:solidFill>
                  <a:srgbClr val="1F2937"/>
                </a:solidFill>
                <a:latin typeface="Calibri"/>
              </a:rPr>
              <a:t>Shifokor yordam beradi, bemor o‘zi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Shifokorsiz shakl</a:t>
            </a:r>
          </a:p>
          <a:p>
            <a:pPr algn="l">
              <a:spcAft>
                <a:spcPts val="0"/>
              </a:spcAft>
            </a:pPr>
            <a:r>
              <a:rPr sz="1200" b="0">
                <a:solidFill>
                  <a:srgbClr val="1F2937"/>
                </a:solidFill>
                <a:latin typeface="Calibri"/>
              </a:rPr>
              <a:t>Bemor qurilmani o‘zi ishga soladi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Faol evtanaziya shakllari (Muxamedova, 101-bet)</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101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Kevorkyan va Freyd misollari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Jek Kevorkyan — AQSH Michigan shtatining sobiq patologoanatomi. 1990–1999 yillarda uning yordamida 131 bemor suitsidni amalga oshirgan.</a:t>
            </a:r>
          </a:p>
          <a:p>
            <a:pPr>
              <a:spcAft>
                <a:spcPts val="1200"/>
              </a:spcAft>
            </a:pPr>
            <a:r>
              <a:rPr sz="2200">
                <a:solidFill>
                  <a:srgbClr val="1F2937"/>
                </a:solidFill>
                <a:latin typeface="Calibri"/>
              </a:rPr>
              <a:t>▸  Uni bir necha marta jinoiy javobgarlikka tortishga urinishgan, ammo samarasiz bo‘lgan. Faqat 1999 yilda qotillikda ayblanib, jazoga tortilgan.</a:t>
            </a:r>
          </a:p>
          <a:p>
            <a:pPr>
              <a:spcAft>
                <a:spcPts val="1200"/>
              </a:spcAft>
            </a:pPr>
            <a:r>
              <a:rPr sz="2200">
                <a:solidFill>
                  <a:srgbClr val="1F2937"/>
                </a:solidFill>
                <a:latin typeface="Calibri"/>
              </a:rPr>
              <a:t>▸  1939 yilda Freydga ichak raki tashxisi qo‘yilgan. 21 sentabrda u do‘stidan hayotini to‘xtatishni so‘ragan; ikki kun ikkilanib, doktor Shor morfin bergan.</a:t>
            </a:r>
          </a:p>
          <a:p>
            <a:pPr>
              <a:spcAft>
                <a:spcPts val="1200"/>
              </a:spcAft>
            </a:pPr>
            <a:r>
              <a:rPr sz="2200">
                <a:solidFill>
                  <a:srgbClr val="1F2937"/>
                </a:solidFill>
                <a:latin typeface="Calibri"/>
              </a:rPr>
              <a:t>▸  Baho: JTA 1992 yilgi bayonotiga ko‘ra vrach yordamidagi suitsid axloqqa zid. Bemorning davodan voz kechish huquqi esa hurmat qilinadi.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118, 117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Niderlandiya va Ispaniya qonunlari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Niderlandiya 2000 yilda faol evtanaziyani rasman tan olgan dunyodagi birinchi davlat bo‘ldi.</a:t>
            </a:r>
          </a:p>
          <a:p>
            <a:pPr>
              <a:spcAft>
                <a:spcPts val="800"/>
              </a:spcAft>
            </a:pPr>
            <a:r>
              <a:rPr sz="1800">
                <a:solidFill>
                  <a:srgbClr val="1F2937"/>
                </a:solidFill>
                <a:latin typeface="Calibri"/>
              </a:rPr>
              <a:t>▸  Ispaniya parlamenti evtanaziyani 2021 yilda qonunlashtirdi.</a:t>
            </a:r>
          </a:p>
          <a:p>
            <a:pPr>
              <a:spcAft>
                <a:spcPts val="800"/>
              </a:spcAft>
            </a:pPr>
            <a:r>
              <a:rPr sz="1800">
                <a:solidFill>
                  <a:srgbClr val="1F2937"/>
                </a:solidFill>
                <a:latin typeface="Calibri"/>
              </a:rPr>
              <a:t>▸  Belgiya, Lyuksemburg, Kolumbiya va Amerikaning ayrim shtatlarida ham qonuniylashtirilgan.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Niderlandiya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Bemor irodasi: Sog‘lom aqlda qaror bildiradi</a:t>
            </a:r>
          </a:p>
          <a:p>
            <a:pPr algn="l">
              <a:spcAft>
                <a:spcPts val="700"/>
              </a:spcAft>
            </a:pPr>
            <a:r>
              <a:rPr sz="1500" b="1">
                <a:solidFill>
                  <a:srgbClr val="C9A227"/>
                </a:solidFill>
                <a:latin typeface="Calibri"/>
              </a:rPr>
              <a:t>●  </a:t>
            </a:r>
            <a:r>
              <a:rPr sz="1500" b="0">
                <a:solidFill>
                  <a:srgbClr val="1F2937"/>
                </a:solidFill>
                <a:latin typeface="Calibri"/>
              </a:rPr>
              <a:t>Murojaat: Yaqin qarindoshlar rozi bo‘lishi lozim</a:t>
            </a:r>
          </a:p>
          <a:p>
            <a:pPr algn="l">
              <a:spcAft>
                <a:spcPts val="700"/>
              </a:spcAft>
            </a:pPr>
            <a:r>
              <a:rPr sz="1500" b="1">
                <a:solidFill>
                  <a:srgbClr val="C9A227"/>
                </a:solidFill>
                <a:latin typeface="Calibri"/>
              </a:rPr>
              <a:t>●  </a:t>
            </a:r>
            <a:r>
              <a:rPr sz="1500" b="0">
                <a:solidFill>
                  <a:srgbClr val="1F2937"/>
                </a:solidFill>
                <a:latin typeface="Calibri"/>
              </a:rPr>
              <a:t>Shifokor: Mustaqil shifokor ham tasdiqlaydi</a:t>
            </a:r>
          </a:p>
          <a:p>
            <a:pPr algn="l">
              <a:spcAft>
                <a:spcPts val="700"/>
              </a:spcAft>
            </a:pPr>
            <a:r>
              <a:rPr sz="1500" b="1">
                <a:solidFill>
                  <a:srgbClr val="C9A227"/>
                </a:solidFill>
                <a:latin typeface="Calibri"/>
              </a:rPr>
              <a:t>●  </a:t>
            </a:r>
            <a:r>
              <a:rPr sz="1500" b="0">
                <a:solidFill>
                  <a:srgbClr val="1F2937"/>
                </a:solidFill>
                <a:latin typeface="Calibri"/>
              </a:rPr>
              <a:t>Amalga oshirish: Huquq-tartibot xodimlari ishtirokida</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Ispaniya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Bemor irodasi: 18 yoshdan oshgan, rasman murojaat</a:t>
            </a:r>
          </a:p>
          <a:p>
            <a:pPr algn="l">
              <a:spcAft>
                <a:spcPts val="700"/>
              </a:spcAft>
            </a:pPr>
            <a:r>
              <a:rPr sz="1500" b="1">
                <a:solidFill>
                  <a:srgbClr val="C9A227"/>
                </a:solidFill>
                <a:latin typeface="Calibri"/>
              </a:rPr>
              <a:t>●  </a:t>
            </a:r>
            <a:r>
              <a:rPr sz="1500" b="0">
                <a:solidFill>
                  <a:srgbClr val="1F2937"/>
                </a:solidFill>
                <a:latin typeface="Calibri"/>
              </a:rPr>
              <a:t>Murojaat: 15 kun oralig‘ida ikki marta</a:t>
            </a:r>
          </a:p>
          <a:p>
            <a:pPr algn="l">
              <a:spcAft>
                <a:spcPts val="700"/>
              </a:spcAft>
            </a:pPr>
            <a:r>
              <a:rPr sz="1500" b="1">
                <a:solidFill>
                  <a:srgbClr val="C9A227"/>
                </a:solidFill>
                <a:latin typeface="Calibri"/>
              </a:rPr>
              <a:t>●  </a:t>
            </a:r>
            <a:r>
              <a:rPr sz="1500" b="0">
                <a:solidFill>
                  <a:srgbClr val="1F2937"/>
                </a:solidFill>
                <a:latin typeface="Calibri"/>
              </a:rPr>
              <a:t>Shifokor: Vrach rad etishi mumkin</a:t>
            </a:r>
          </a:p>
          <a:p>
            <a:pPr algn="l">
              <a:spcAft>
                <a:spcPts val="700"/>
              </a:spcAft>
            </a:pPr>
            <a:r>
              <a:rPr sz="1500" b="1">
                <a:solidFill>
                  <a:srgbClr val="C9A227"/>
                </a:solidFill>
                <a:latin typeface="Calibri"/>
              </a:rPr>
              <a:t>●  </a:t>
            </a:r>
            <a:r>
              <a:rPr sz="1500" b="0">
                <a:solidFill>
                  <a:srgbClr val="1F2937"/>
                </a:solidFill>
                <a:latin typeface="Calibri"/>
              </a:rPr>
              <a:t>Amalga oshirish: Vrach yoki bemor o‘zi (yordam bilan)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Ikki qonunning shartlari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Majburiy faol evtanaziya: haqiqiy holatlar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Diqqat: bemor roziligisiz o‘limni tezlashtirish (majburiy faol evtanaziya) ixtiyoriy turdan farq qiladi va huquqda qotillik sifatida baholanadi.</a:t>
            </a:r>
          </a:p>
          <a:p>
            <a:pPr>
              <a:spcAft>
                <a:spcPts val="1200"/>
              </a:spcAft>
            </a:pPr>
            <a:r>
              <a:rPr sz="2000">
                <a:solidFill>
                  <a:srgbClr val="1F2937"/>
                </a:solidFill>
                <a:latin typeface="Calibri"/>
              </a:rPr>
              <a:t>▸  Angliyada vrach Garold Shipman qon olish bahonasida tomirga giyohvand modda yuborib, 300 ga yaqin, asosan keksa ayol o‘limiga sabab bo‘lgan (komissiya, 2000).</a:t>
            </a:r>
          </a:p>
          <a:p>
            <a:pPr>
              <a:spcAft>
                <a:spcPts val="1200"/>
              </a:spcAft>
            </a:pPr>
            <a:r>
              <a:rPr sz="2000">
                <a:solidFill>
                  <a:srgbClr val="1F2937"/>
                </a:solidFill>
                <a:latin typeface="Calibri"/>
              </a:rPr>
              <a:t>▸  2006 yilda Nyu-Jersi shtati sudi feldsher Charlz Kallenni 29 bemorni o‘ldirishda aybdor deb topgan. U bemorlarga rahmi kelib o‘ldirganini aytgan.</a:t>
            </a:r>
          </a:p>
          <a:p>
            <a:pPr>
              <a:spcAft>
                <a:spcPts val="1200"/>
              </a:spcAft>
            </a:pPr>
            <a:r>
              <a:rPr sz="2000">
                <a:solidFill>
                  <a:srgbClr val="1F2937"/>
                </a:solidFill>
                <a:latin typeface="Calibri"/>
              </a:rPr>
              <a:t>▸  COVID-19 davrida Italiyada Karlo Moska o‘rin bo‘shatish uchun ikki og‘ir bemorni o‘ldirgan; Essen klinikasida ham ikki bemorga o‘lim keltiruvchi dori berilgan.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118, 119, 120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Evtanaziya va evgenika: Gitler dasturi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Evgenika — XX asr birinchi yarmida paydo bo‘lgan ilmiy yo‘nalish: inson populyatsiyasi xususiyatlarini yaxshilash.</a:t>
            </a:r>
          </a:p>
          <a:p>
            <a:pPr>
              <a:spcAft>
                <a:spcPts val="800"/>
              </a:spcAft>
            </a:pPr>
            <a:r>
              <a:rPr sz="1800">
                <a:solidFill>
                  <a:srgbClr val="1F2937"/>
                </a:solidFill>
                <a:latin typeface="Calibri"/>
              </a:rPr>
              <a:t>▸  Pozitiv evgenika ijobiy sifatlarni rivojlantiradi; negativ — cheklanganlarni yo‘qotishni targ‘ib qiladi.</a:t>
            </a:r>
          </a:p>
          <a:p>
            <a:pPr>
              <a:spcAft>
                <a:spcPts val="800"/>
              </a:spcAft>
            </a:pPr>
            <a:r>
              <a:rPr sz="1800">
                <a:solidFill>
                  <a:srgbClr val="1F2937"/>
                </a:solidFill>
                <a:latin typeface="Calibri"/>
              </a:rPr>
              <a:t>▸  Gitler 1939 yil 1 sentyabrda “nomaqbul hayot shakllari”ni evtanaziyaga solish haqida buyruq imzoladi.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Bindung va Gohe g‘oyasi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1939: maxfiy buyruq</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Maqsad “irqiy”ga ko‘chdi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1941 avgust: dastur to‘xtatildi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Tribunal: insoniyatga qarshi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Dastur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ixtiyoriy yoki majburiy?</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Qarindoshlar iltimosi bilan bajarilgan faol evtanaziya, bemor irodasini bildira olmasa ham, majburiy evtanaziya deb baholanadi.</a:t>
            </a:r>
          </a:p>
          <a:p>
            <a:pPr>
              <a:spcAft>
                <a:spcPts val="1200"/>
              </a:spcAft>
            </a:pPr>
            <a:r>
              <a:rPr sz="2200">
                <a:solidFill>
                  <a:srgbClr val="1F2937"/>
                </a:solidFill>
                <a:latin typeface="Calibri"/>
              </a:rPr>
              <a:t>▸  Jarroh Yudin hamkasbi, prof. Diterixsni operatsiya qilganda davosiz oshqozon rakini aniqladi. Rafiqasi iltimosiga ko‘ra narkozni oshirishga ko‘rsatma bergan.</a:t>
            </a:r>
          </a:p>
          <a:p>
            <a:pPr>
              <a:spcAft>
                <a:spcPts val="1200"/>
              </a:spcAft>
            </a:pPr>
            <a:r>
              <a:rPr sz="2200">
                <a:solidFill>
                  <a:srgbClr val="1F2937"/>
                </a:solidFill>
                <a:latin typeface="Calibri"/>
              </a:rPr>
              <a:t>▸  Fransiyaning sobiq sog‘liqni saqlash vaziri Bernar Kushner Livan va Vyetnam urushlarida og‘ir yaradorlarga evtanaziya qo‘llaganini tan olgan.</a:t>
            </a:r>
          </a:p>
          <a:p>
            <a:pPr>
              <a:spcAft>
                <a:spcPts val="1200"/>
              </a:spcAft>
            </a:pPr>
            <a:r>
              <a:rPr sz="2200">
                <a:solidFill>
                  <a:srgbClr val="1F2937"/>
                </a:solidFill>
                <a:latin typeface="Calibri"/>
              </a:rPr>
              <a:t>▸  Savol: bemorning o‘z roziligi bor-yo‘qligiga qarab, bu uch holatni tasniflang. Ixtiyoriy faol evtanaziya bemor roziligini nazarda tutadi.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119, 120, 117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Bilvosita faol evtanaziya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Bilvosita faol evtanaziyada azobni yengillatishga qaratilgan harakatlar o‘limga sabab bo‘ladi. Odatda analgetiklar katta dozada beriladi.</a:t>
            </a:r>
          </a:p>
          <a:p>
            <a:pPr>
              <a:spcAft>
                <a:spcPts val="1200"/>
              </a:spcAft>
            </a:pPr>
            <a:r>
              <a:rPr sz="2200">
                <a:solidFill>
                  <a:srgbClr val="1F2937"/>
                </a:solidFill>
                <a:latin typeface="Calibri"/>
              </a:rPr>
              <a:t>▸  Huquqiy baho: “ehtiyotsizlik orqasida odam o‘ldirish” (O‘zR Jinoyat kodeksi) yoki “baxtsiz hodisa”.</a:t>
            </a:r>
          </a:p>
          <a:p>
            <a:pPr>
              <a:spcAft>
                <a:spcPts val="1200"/>
              </a:spcAft>
            </a:pPr>
            <a:r>
              <a:rPr sz="2200">
                <a:solidFill>
                  <a:srgbClr val="1F2937"/>
                </a:solidFill>
                <a:latin typeface="Calibri"/>
              </a:rPr>
              <a:t>▸  Shu sababli bo‘lajak shifokorlar palliativ terapiya tamoyillari va qoidalaridan xabardor bo‘lishi lozim.</a:t>
            </a:r>
          </a:p>
          <a:p>
            <a:pPr>
              <a:spcAft>
                <a:spcPts val="1200"/>
              </a:spcAft>
            </a:pPr>
            <a:r>
              <a:rPr sz="2200">
                <a:solidFill>
                  <a:srgbClr val="1F2937"/>
                </a:solidFill>
                <a:latin typeface="Calibri"/>
              </a:rPr>
              <a:t>▸  Diqqat: bilvosita ≠ bevosita. Bevosita turda maqsad o‘limni tezlashtirish, bilvositada maqsad azobni yengillatish.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120, 125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Passiv evtanaziya (ortotanaziya)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Ortotanaziya to‘liq va qisman bo‘ladi. To‘liq holatda umidsiz, qattiq azobdagi bemorning hayotini saqlovchi choralardan voz kechiladi; qisman — kamroq hajmda.</a:t>
            </a:r>
          </a:p>
          <a:p>
            <a:pPr>
              <a:spcAft>
                <a:spcPts val="1200"/>
              </a:spcAft>
            </a:pPr>
            <a:r>
              <a:rPr sz="2000">
                <a:solidFill>
                  <a:srgbClr val="1F2937"/>
                </a:solidFill>
                <a:latin typeface="Calibri"/>
              </a:rPr>
              <a:t>▸  Konsilium o‘lim faktini qayd etgach, reanimatsiyani davom ettirish zaruriyati qolmaydi. Kurash faqat qutqarish umidi bo‘lsa adolatli (Doletskiy).</a:t>
            </a:r>
          </a:p>
          <a:p>
            <a:pPr>
              <a:spcAft>
                <a:spcPts val="1200"/>
              </a:spcAft>
            </a:pPr>
            <a:r>
              <a:rPr sz="2000">
                <a:solidFill>
                  <a:srgbClr val="1F2937"/>
                </a:solidFill>
                <a:latin typeface="Calibri"/>
              </a:rPr>
              <a:t>▸  Diqqat: bosh miya o‘limida qon aylanishi va nafas sun’iy saqlansa ham, odamni tirik deb bo‘lmaydi. Bu holat yaqinlar uchun ma’nosiz azob manbaiga aylanadi.</a:t>
            </a:r>
          </a:p>
          <a:p>
            <a:pPr>
              <a:spcAft>
                <a:spcPts val="1200"/>
              </a:spcAft>
            </a:pPr>
            <a:r>
              <a:rPr sz="2000">
                <a:solidFill>
                  <a:srgbClr val="1F2937"/>
                </a:solidFill>
                <a:latin typeface="Calibri"/>
              </a:rPr>
              <a:t>▸  Shaxslik xususiyati katta yarim sharlar po‘stlog‘i faoliyati bilan belgilanadi. Miya hujayralari o‘lgach, boshqa a’zolar ishidan ma’no qolmaydi.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120, 121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Ortotanaziyaning huquqiy bahosi: NTBR va DNR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Huquqan ortotanaziya jinoiy harakat sanaladi: Jinoyat kodeksining 116-, 117-moddalari qo‘llanishi mumkin.</a:t>
            </a:r>
          </a:p>
          <a:p>
            <a:pPr>
              <a:spcAft>
                <a:spcPts val="800"/>
              </a:spcAft>
            </a:pPr>
            <a:r>
              <a:rPr sz="1800">
                <a:solidFill>
                  <a:srgbClr val="1F2937"/>
                </a:solidFill>
                <a:latin typeface="Calibri"/>
              </a:rPr>
              <a:t>▸  Baho: “kasbiy vazifani lozim darajada bajarmaslik” yoki “xavfda qoldirish”.</a:t>
            </a:r>
          </a:p>
          <a:p>
            <a:pPr>
              <a:spcAft>
                <a:spcPts val="800"/>
              </a:spcAft>
            </a:pPr>
            <a:r>
              <a:rPr sz="1800">
                <a:solidFill>
                  <a:srgbClr val="1F2937"/>
                </a:solidFill>
                <a:latin typeface="Calibri"/>
              </a:rPr>
              <a:t>▸  Nisden shifoxonasi buyrug‘i: xavfli o‘sma, nafas va buyrak surunkali kasalliklarida reanimatsiya taqiqlangan.</a:t>
            </a:r>
          </a:p>
        </p:txBody>
      </p:sp>
      <p:graphicFrame>
        <p:nvGraphicFramePr>
          <p:cNvPr id="9" name="Table 8"/>
          <p:cNvGraphicFramePr>
            <a:graphicFrameLocks noGrp="1"/>
          </p:cNvGraphicFramePr>
          <p:nvPr/>
        </p:nvGraphicFramePr>
        <p:xfrm>
          <a:off x="6263640" y="1463040"/>
          <a:ext cx="5287974" cy="2606040"/>
        </p:xfrm>
        <a:graphic>
          <a:graphicData uri="http://schemas.openxmlformats.org/drawingml/2006/table">
            <a:tbl>
              <a:tblPr firstRow="1" bandRow="1">
                <a:tableStyleId>{5C22544A-7EE6-4342-B048-85BDC9FD1C3A}</a:tableStyleId>
              </a:tblPr>
              <a:tblGrid>
                <a:gridCol w="1007167"/>
                <a:gridCol w="2352948"/>
                <a:gridCol w="1927859"/>
              </a:tblGrid>
              <a:tr h="868680">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Qayerda</a:t>
                      </a:r>
                    </a:p>
                  </a:txBody>
                  <a:tcPr marL="73152" marR="73152" marT="36576" marB="36576">
                    <a:solidFill>
                      <a:srgbClr val="0B1F3A"/>
                    </a:solidFill>
                  </a:tcPr>
                </a:tc>
                <a:tc>
                  <a:txBody>
                    <a:bodyPr/>
                    <a:lstStyle/>
                    <a:p>
                      <a:r>
                        <a:rPr sz="1600" b="1">
                          <a:solidFill>
                            <a:srgbClr val="FFFFFF"/>
                          </a:solidFill>
                        </a:rPr>
                        <a:t>Ma’nosi</a:t>
                      </a:r>
                    </a:p>
                  </a:txBody>
                  <a:tcPr marL="73152" marR="73152" marT="36576" marB="36576">
                    <a:solidFill>
                      <a:srgbClr val="0B1F3A"/>
                    </a:solidFill>
                  </a:tcPr>
                </a:tc>
              </a:tr>
              <a:tr h="868680">
                <a:tc>
                  <a:txBody>
                    <a:bodyPr/>
                    <a:lstStyle/>
                    <a:p>
                      <a:r>
                        <a:rPr sz="1500" b="0">
                          <a:solidFill>
                            <a:srgbClr val="1F2937"/>
                          </a:solidFill>
                        </a:rPr>
                        <a:t>NTBR</a:t>
                      </a:r>
                    </a:p>
                  </a:txBody>
                  <a:tcPr marL="73152" marR="73152" marT="36576" marB="36576">
                    <a:solidFill>
                      <a:srgbClr val="E8EEF6"/>
                    </a:solidFill>
                  </a:tcPr>
                </a:tc>
                <a:tc>
                  <a:txBody>
                    <a:bodyPr/>
                    <a:lstStyle/>
                    <a:p>
                      <a:r>
                        <a:rPr sz="1500" b="0">
                          <a:solidFill>
                            <a:srgbClr val="1F2937"/>
                          </a:solidFill>
                        </a:rPr>
                        <a:t>Angliya shifoxonasi, kasallik tarixida</a:t>
                      </a:r>
                    </a:p>
                  </a:txBody>
                  <a:tcPr marL="73152" marR="73152" marT="36576" marB="36576">
                    <a:solidFill>
                      <a:srgbClr val="E8EEF6"/>
                    </a:solidFill>
                  </a:tcPr>
                </a:tc>
                <a:tc>
                  <a:txBody>
                    <a:bodyPr/>
                    <a:lstStyle/>
                    <a:p>
                      <a:r>
                        <a:rPr sz="1500" b="0">
                          <a:solidFill>
                            <a:srgbClr val="1F2937"/>
                          </a:solidFill>
                        </a:rPr>
                        <a:t>Reanimatsiyaga molik emas</a:t>
                      </a:r>
                    </a:p>
                  </a:txBody>
                  <a:tcPr marL="73152" marR="73152" marT="36576" marB="36576">
                    <a:solidFill>
                      <a:srgbClr val="E8EEF6"/>
                    </a:solidFill>
                  </a:tcPr>
                </a:tc>
              </a:tr>
              <a:tr h="868680">
                <a:tc>
                  <a:txBody>
                    <a:bodyPr/>
                    <a:lstStyle/>
                    <a:p>
                      <a:r>
                        <a:rPr sz="1500" b="0">
                          <a:solidFill>
                            <a:srgbClr val="1F2937"/>
                          </a:solidFill>
                        </a:rPr>
                        <a:t>DNR</a:t>
                      </a:r>
                    </a:p>
                  </a:txBody>
                  <a:tcPr marL="73152" marR="73152" marT="36576" marB="36576">
                    <a:solidFill>
                      <a:srgbClr val="FFFFFF"/>
                    </a:solidFill>
                  </a:tcPr>
                </a:tc>
                <a:tc>
                  <a:txBody>
                    <a:bodyPr/>
                    <a:lstStyle/>
                    <a:p>
                      <a:r>
                        <a:rPr sz="1500" b="0">
                          <a:solidFill>
                            <a:srgbClr val="1F2937"/>
                          </a:solidFill>
                        </a:rPr>
                        <a:t>AQSh shifoxonalari, karavot taxtachasi</a:t>
                      </a:r>
                    </a:p>
                  </a:txBody>
                  <a:tcPr marL="73152" marR="73152" marT="36576" marB="36576">
                    <a:solidFill>
                      <a:srgbClr val="FFFFFF"/>
                    </a:solidFill>
                  </a:tcPr>
                </a:tc>
                <a:tc>
                  <a:txBody>
                    <a:bodyPr/>
                    <a:lstStyle/>
                    <a:p>
                      <a:r>
                        <a:rPr sz="1500" b="0">
                          <a:solidFill>
                            <a:srgbClr val="1F2937"/>
                          </a:solidFill>
                        </a:rPr>
                        <a:t>Reanimatsiya qilinmasin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NTBR va DNR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Passiv evtanaziya misollari va tashxis xatolari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AQSh sobiq prezidenti Richard Nikson vrachlarga yozma murojaat qilib, irodasini bildira olmay qolsa, hayotini sun’iy uzaytirishni so‘ramagan.</a:t>
            </a:r>
          </a:p>
          <a:p>
            <a:pPr>
              <a:spcAft>
                <a:spcPts val="1200"/>
              </a:spcAft>
            </a:pPr>
            <a:r>
              <a:rPr sz="2200">
                <a:solidFill>
                  <a:srgbClr val="1F2937"/>
                </a:solidFill>
                <a:latin typeface="Calibri"/>
              </a:rPr>
              <a:t>▸  Mitteran vrach maslahati bilan vasiyat tuzib, dorini to‘xtatgan; Makkeyn 2018-yil avgustda vafot etgan, bir necha kun oldin dorini to‘xtatgan.</a:t>
            </a:r>
          </a:p>
          <a:p>
            <a:pPr>
              <a:spcAft>
                <a:spcPts val="1200"/>
              </a:spcAft>
            </a:pPr>
            <a:r>
              <a:rPr sz="2200">
                <a:solidFill>
                  <a:srgbClr val="1F2937"/>
                </a:solidFill>
                <a:latin typeface="Calibri"/>
              </a:rPr>
              <a:t>▸  Petrarka dafnga soatlar qolganda nafas olib, yana 30 yil yashagan; jarroh Bergman «davosiz saraton» deb operatsiyadan voz kechgan, o‘sma xavfsiz chiqqan.</a:t>
            </a:r>
          </a:p>
          <a:p>
            <a:pPr>
              <a:spcAft>
                <a:spcPts val="1200"/>
              </a:spcAft>
            </a:pPr>
            <a:r>
              <a:rPr sz="2200">
                <a:solidFill>
                  <a:srgbClr val="1F2937"/>
                </a:solidFill>
                <a:latin typeface="Calibri"/>
              </a:rPr>
              <a:t>▸  Og‘ir bemorlarda tashxis va prognozda jiddiy xatolar bo‘lishi mumkin — bu evtanaziyaga qarshilarning muhim argumenti.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Qonunlar: Kaliforniya, Indiana, Finlyandiya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Indiana shtatida og‘ir davosiz kasallikda hayotni sun’iy uzaytirmaslik istagi vasiyat shaklida rasmiylashtiriladi.</a:t>
            </a:r>
          </a:p>
          <a:p>
            <a:pPr>
              <a:spcAft>
                <a:spcPts val="800"/>
              </a:spcAft>
            </a:pPr>
            <a:r>
              <a:rPr sz="1800">
                <a:solidFill>
                  <a:srgbClr val="1F2937"/>
                </a:solidFill>
                <a:latin typeface="Calibri"/>
              </a:rPr>
              <a:t>▸  Kaliforniya qonuni (1977) bir marta ham qo‘llanmagan: psixiatr xulosasi va shifokor ishtiroki shart edi.</a:t>
            </a:r>
          </a:p>
          <a:p>
            <a:pPr>
              <a:spcAft>
                <a:spcPts val="800"/>
              </a:spcAft>
            </a:pPr>
            <a:r>
              <a:rPr sz="1800">
                <a:solidFill>
                  <a:srgbClr val="1F2937"/>
                </a:solidFill>
                <a:latin typeface="Calibri"/>
              </a:rPr>
              <a:t>▸  Psixiatrlar assotsiatsiyasi a’zolariga ishtirokni taqiqladi; tibbiyot assotsiatsiyasi ham shifokorlarga man etdi.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Qonunlar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Indiana (AQSh)</a:t>
            </a:r>
          </a:p>
          <a:p>
            <a:pPr algn="l">
              <a:spcAft>
                <a:spcPts val="0"/>
              </a:spcAft>
            </a:pPr>
            <a:r>
              <a:rPr sz="1200" b="0">
                <a:solidFill>
                  <a:srgbClr val="1F2937"/>
                </a:solidFill>
                <a:latin typeface="Calibri"/>
              </a:rPr>
              <a:t>Hayotlik vasiyat  ·  Hayotni sun’iy uzaytirmaslik istagi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Kaliforniya, 1977</a:t>
            </a:r>
          </a:p>
          <a:p>
            <a:pPr algn="l">
              <a:spcAft>
                <a:spcPts val="0"/>
              </a:spcAft>
            </a:pPr>
            <a:r>
              <a:rPr sz="1200" b="0">
                <a:solidFill>
                  <a:srgbClr val="1F2937"/>
                </a:solidFill>
                <a:latin typeface="Calibri"/>
              </a:rPr>
              <a:t>‘O‘lim huquqi’ qonuni  ·  Reanimatsiyani to‘xtatish; qo‘llanmagan</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Finlyandiya</a:t>
            </a:r>
          </a:p>
          <a:p>
            <a:pPr algn="l">
              <a:spcAft>
                <a:spcPts val="0"/>
              </a:spcAft>
            </a:pPr>
            <a:r>
              <a:rPr sz="1200" b="0">
                <a:solidFill>
                  <a:srgbClr val="1F2937"/>
                </a:solidFill>
                <a:latin typeface="Calibri"/>
              </a:rPr>
              <a:t>Passiv evtanaziya  ·  To‘xtatish g‘ayriqonuniy sanalmaydi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Qonunlar solishtirmasi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Resurslar cheklanishi: Pirogov va Sietl qo‘mitasi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Pirogov saralashda umidsiz og‘ir yaradorlarni ajratgan; ularga asosan ruhoniy va hamshira qaragan.</a:t>
            </a:r>
          </a:p>
          <a:p>
            <a:pPr>
              <a:spcAft>
                <a:spcPts val="800"/>
              </a:spcAft>
            </a:pPr>
            <a:r>
              <a:rPr sz="1800">
                <a:solidFill>
                  <a:srgbClr val="1F2937"/>
                </a:solidFill>
                <a:latin typeface="Calibri"/>
              </a:rPr>
              <a:t>▸  Sietldagi ‘Sun’iy buyrak’ markazida gemodializ navbatini shifokor, huquqshunos, din arbobi qo‘mitasi belgilagan.</a:t>
            </a:r>
          </a:p>
          <a:p>
            <a:pPr>
              <a:spcAft>
                <a:spcPts val="800"/>
              </a:spcAft>
            </a:pPr>
            <a:r>
              <a:rPr sz="1800">
                <a:solidFill>
                  <a:srgbClr val="1F2937"/>
                </a:solidFill>
                <a:latin typeface="Calibri"/>
              </a:rPr>
              <a:t>▸  2020 yilda koronavirus (COVID-19) pandemiyasida Texasdagi shifoxonada ‘o‘lim komissiyasi’ tuzilgan.</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Apparat yoki joy yetishmaydi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Kimni birinchi qutqarish?</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Qo‘mita qaror qiladi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Mezon: kim ‘qimmatliroq’?</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Tanlov muammosi zanjiri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123, 123-124, 124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Diniy konfessiyalar va evtanaziya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Islom, xristianlik va yahudiylik aktiv va passiv evtanaziyaga qat’iyan qarshi turadi.</a:t>
            </a:r>
          </a:p>
          <a:p>
            <a:pPr>
              <a:spcAft>
                <a:spcPts val="800"/>
              </a:spcAft>
            </a:pPr>
            <a:r>
              <a:rPr sz="1800">
                <a:solidFill>
                  <a:srgbClr val="1F2937"/>
                </a:solidFill>
                <a:latin typeface="Calibri"/>
              </a:rPr>
              <a:t>▸  Ularda inson hayoti sakral va daxlsiz: bemorning o‘zi ham, shifokor ham unga tajovuz qilishga haqli emas.</a:t>
            </a:r>
          </a:p>
          <a:p>
            <a:pPr>
              <a:spcAft>
                <a:spcPts val="800"/>
              </a:spcAft>
            </a:pPr>
            <a:r>
              <a:rPr sz="1800">
                <a:solidFill>
                  <a:srgbClr val="1F2937"/>
                </a:solidFill>
                <a:latin typeface="Calibri"/>
              </a:rPr>
              <a:t>▸  Buddizmda hayot maqsadi uning tashqarisida — nirvanada; hayotdan voz kechish ‘namunali’ holat sanaladi.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Dinlar va evtanaziya</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Islom, xristian, yahudiy</a:t>
            </a:r>
          </a:p>
          <a:p>
            <a:pPr algn="l">
              <a:spcAft>
                <a:spcPts val="0"/>
              </a:spcAft>
            </a:pPr>
            <a:r>
              <a:rPr sz="1200" b="0">
                <a:solidFill>
                  <a:srgbClr val="1F2937"/>
                </a:solidFill>
                <a:latin typeface="Calibri"/>
              </a:rPr>
              <a:t>Qat’iy qarshi (aktiv va passiv)  ·  Hayot sakral va daxlsiz</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Buddizm</a:t>
            </a:r>
          </a:p>
          <a:p>
            <a:pPr algn="l">
              <a:spcAft>
                <a:spcPts val="0"/>
              </a:spcAft>
            </a:pPr>
            <a:r>
              <a:rPr sz="1200" b="0">
                <a:solidFill>
                  <a:srgbClr val="1F2937"/>
                </a:solidFill>
                <a:latin typeface="Calibri"/>
              </a:rPr>
              <a:t>Boshqacha yondashuv  ·  Maqsad hayotdan tashqarida — nirvana</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Buddizmda suitsid</a:t>
            </a:r>
          </a:p>
          <a:p>
            <a:pPr algn="l">
              <a:spcAft>
                <a:spcPts val="0"/>
              </a:spcAft>
            </a:pPr>
            <a:r>
              <a:rPr sz="1200" b="0">
                <a:solidFill>
                  <a:srgbClr val="1F2937"/>
                </a:solidFill>
                <a:latin typeface="Calibri"/>
              </a:rPr>
              <a:t>Odatiy diniy an’ana sifatida  ·  Usullar davr va oqimga bog‘liq</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Dinlar solishtirmasi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navbat kimga tegishli?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1961-yilda ‘Life’ jurnalidagi maqola Sietldagi ‘Sun’iy buyrak’ markazi haqida bahs uyg‘otdi: yangi apparat kam edi, barcha bemorga yetmasdi.</a:t>
            </a:r>
          </a:p>
          <a:p>
            <a:pPr>
              <a:spcAft>
                <a:spcPts val="1200"/>
              </a:spcAft>
            </a:pPr>
            <a:r>
              <a:rPr sz="2200">
                <a:solidFill>
                  <a:srgbClr val="1F2937"/>
                </a:solidFill>
                <a:latin typeface="Calibri"/>
              </a:rPr>
              <a:t>▸  Odatda muolajaga ko‘rsatmani faqat shifokor belgilaydi. Bu yerda esa shifokor, huquqshunos, psixolog, din va jamoat vakillaridan qo‘mita tuzildi.</a:t>
            </a:r>
          </a:p>
          <a:p>
            <a:pPr>
              <a:spcAft>
                <a:spcPts val="1200"/>
              </a:spcAft>
            </a:pPr>
            <a:r>
              <a:rPr sz="2200">
                <a:solidFill>
                  <a:srgbClr val="1F2937"/>
                </a:solidFill>
                <a:latin typeface="Calibri"/>
              </a:rPr>
              <a:t>▸  Savollar: keksa kino yulduzi yoki o‘spirinmi? Omadli tadbirkor yoki ko‘p bolali uy bekasimi? Mahalliy siyosatchi yoki boy muhojirmi?</a:t>
            </a:r>
          </a:p>
          <a:p>
            <a:pPr>
              <a:spcAft>
                <a:spcPts val="1200"/>
              </a:spcAft>
            </a:pPr>
            <a:r>
              <a:rPr sz="2200">
                <a:solidFill>
                  <a:srgbClr val="1F2937"/>
                </a:solidFill>
                <a:latin typeface="Calibri"/>
              </a:rPr>
              <a:t>▸  Matbuot qo‘mitani ‘ilohiy qo‘mita’ deb atadi. 2020-yilda Texasda COVID-19 (koronavirus infeksiyasi) paytida ham ‘o‘lim komissiyasi’ tuzilgan.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123, 123-124, 124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Diqqat va Eslab qoling</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Diqqat: faol ≠ passiv ≠ medikotanaziya. Faol o‘limni tezlashtiradi, passiv hayotni saqlovchi choralardan voz kechadi, medikotanaziya azobni davolaydi.</a:t>
            </a:r>
          </a:p>
          <a:p>
            <a:pPr>
              <a:spcAft>
                <a:spcPts val="1200"/>
              </a:spcAft>
            </a:pPr>
            <a:r>
              <a:rPr sz="2200">
                <a:solidFill>
                  <a:srgbClr val="1F2937"/>
                </a:solidFill>
                <a:latin typeface="Calibri"/>
              </a:rPr>
              <a:t>▸  Eslab qoling: F-P-M-D — Faol, Passiv, Medikotanaziya, Distanaziya. Dastlabki ikkitasi tor ma’noda evtanaziya hisoblanadi.</a:t>
            </a:r>
          </a:p>
          <a:p>
            <a:pPr>
              <a:spcAft>
                <a:spcPts val="1200"/>
              </a:spcAft>
            </a:pPr>
            <a:r>
              <a:rPr sz="2200">
                <a:solidFill>
                  <a:srgbClr val="1F2937"/>
                </a:solidFill>
                <a:latin typeface="Calibri"/>
              </a:rPr>
              <a:t>▸  Kengroq tasnif: faol (bevosita — ixtiyoriy, majburiy; bilvosita), passiv (to‘liq, qisman), medikotanaziya, distanaziya.</a:t>
            </a:r>
          </a:p>
          <a:p>
            <a:pPr>
              <a:spcAft>
                <a:spcPts val="1200"/>
              </a:spcAft>
            </a:pPr>
            <a:r>
              <a:rPr sz="2200">
                <a:solidFill>
                  <a:srgbClr val="1F2937"/>
                </a:solidFill>
                <a:latin typeface="Calibri"/>
              </a:rPr>
              <a:t>▸  Tezkor savol: 1) Qaysi turda ‘to‘ldirilgan shprits’ usuli bor? 2) DNR nimani bildiradi? 3) Qaysi tur huquqqa zid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117, 120, 124, 125, 117, 121, 124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Medikotanaziya va distanaziya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Medikotanaziya azobni yengillashtiradi; unga yordam bermaslik huquqiy javobgarlikka olib keladi.</a:t>
            </a:r>
          </a:p>
          <a:p>
            <a:pPr>
              <a:spcAft>
                <a:spcPts val="800"/>
              </a:spcAft>
            </a:pPr>
            <a:r>
              <a:rPr sz="1800">
                <a:solidFill>
                  <a:srgbClr val="1F2937"/>
                </a:solidFill>
                <a:latin typeface="Calibri"/>
              </a:rPr>
              <a:t>▸  Distanaziyaning uch dalili: hayot oliy qadriyat; tibbiyot rivojlanadi; ‘umidsiz’ bemor ba’zan tuzaladi.</a:t>
            </a:r>
          </a:p>
          <a:p>
            <a:pPr>
              <a:spcAft>
                <a:spcPts val="800"/>
              </a:spcAft>
            </a:pPr>
            <a:r>
              <a:rPr sz="1800">
                <a:solidFill>
                  <a:srgbClr val="1F2937"/>
                </a:solidFill>
                <a:latin typeface="Calibri"/>
              </a:rPr>
              <a:t>▸  Izzat Sulton ‘Imon’ dramasida davosiz deb topilgan holatning keyin shifo topishi tasvirlanadi.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Medikotanaziya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Mohiyati: Simptomatik yengillashtirish</a:t>
            </a:r>
          </a:p>
          <a:p>
            <a:pPr algn="l">
              <a:spcAft>
                <a:spcPts val="700"/>
              </a:spcAft>
            </a:pPr>
            <a:r>
              <a:rPr sz="1500" b="1">
                <a:solidFill>
                  <a:srgbClr val="C9A227"/>
                </a:solidFill>
                <a:latin typeface="Calibri"/>
              </a:rPr>
              <a:t>●  </a:t>
            </a:r>
            <a:r>
              <a:rPr sz="1500" b="0">
                <a:solidFill>
                  <a:srgbClr val="1F2937"/>
                </a:solidFill>
                <a:latin typeface="Calibri"/>
              </a:rPr>
              <a:t>Usullar: Konservativ, simptomatik davo</a:t>
            </a:r>
          </a:p>
          <a:p>
            <a:pPr algn="l">
              <a:spcAft>
                <a:spcPts val="700"/>
              </a:spcAft>
            </a:pPr>
            <a:r>
              <a:rPr sz="1500" b="1">
                <a:solidFill>
                  <a:srgbClr val="C9A227"/>
                </a:solidFill>
                <a:latin typeface="Calibri"/>
              </a:rPr>
              <a:t>●  </a:t>
            </a:r>
            <a:r>
              <a:rPr sz="1500" b="0">
                <a:solidFill>
                  <a:srgbClr val="1F2937"/>
                </a:solidFill>
                <a:latin typeface="Calibri"/>
              </a:rPr>
              <a:t>Huquqiy holat: Etika va huquqqa zid emas</a:t>
            </a:r>
          </a:p>
          <a:p>
            <a:pPr algn="l">
              <a:spcAft>
                <a:spcPts val="700"/>
              </a:spcAft>
            </a:pPr>
            <a:r>
              <a:rPr sz="1500" b="1">
                <a:solidFill>
                  <a:srgbClr val="C9A227"/>
                </a:solidFill>
                <a:latin typeface="Calibri"/>
              </a:rPr>
              <a:t>●  </a:t>
            </a:r>
            <a:r>
              <a:rPr sz="1500" b="0">
                <a:solidFill>
                  <a:srgbClr val="1F2937"/>
                </a:solidFill>
                <a:latin typeface="Calibri"/>
              </a:rPr>
              <a:t>Muhim nuqta: Rad etish — huquqiy javobgarlik</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Distanaziya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Mohiyati: Hayotni radikal usullar bilan uzaytirish</a:t>
            </a:r>
          </a:p>
          <a:p>
            <a:pPr algn="l">
              <a:spcAft>
                <a:spcPts val="700"/>
              </a:spcAft>
            </a:pPr>
            <a:r>
              <a:rPr sz="1500" b="1">
                <a:solidFill>
                  <a:srgbClr val="C9A227"/>
                </a:solidFill>
                <a:latin typeface="Calibri"/>
              </a:rPr>
              <a:t>●  </a:t>
            </a:r>
            <a:r>
              <a:rPr sz="1500" b="0">
                <a:solidFill>
                  <a:srgbClr val="1F2937"/>
                </a:solidFill>
                <a:latin typeface="Calibri"/>
              </a:rPr>
              <a:t>Usullar: Favqulodda, radikal davolash usullari</a:t>
            </a:r>
          </a:p>
          <a:p>
            <a:pPr algn="l">
              <a:spcAft>
                <a:spcPts val="700"/>
              </a:spcAft>
            </a:pPr>
            <a:r>
              <a:rPr sz="1500" b="1">
                <a:solidFill>
                  <a:srgbClr val="C9A227"/>
                </a:solidFill>
                <a:latin typeface="Calibri"/>
              </a:rPr>
              <a:t>●  </a:t>
            </a:r>
            <a:r>
              <a:rPr sz="1500" b="0">
                <a:solidFill>
                  <a:srgbClr val="1F2937"/>
                </a:solidFill>
                <a:latin typeface="Calibri"/>
              </a:rPr>
              <a:t>Huquqiy holat: Qonun va axloqqa zid kelmaydi</a:t>
            </a:r>
          </a:p>
          <a:p>
            <a:pPr algn="l">
              <a:spcAft>
                <a:spcPts val="700"/>
              </a:spcAft>
            </a:pPr>
            <a:r>
              <a:rPr sz="1500" b="1">
                <a:solidFill>
                  <a:srgbClr val="C9A227"/>
                </a:solidFill>
                <a:latin typeface="Calibri"/>
              </a:rPr>
              <a:t>●  </a:t>
            </a:r>
            <a:r>
              <a:rPr sz="1500" b="0">
                <a:solidFill>
                  <a:srgbClr val="1F2937"/>
                </a:solidFill>
                <a:latin typeface="Calibri"/>
              </a:rPr>
              <a:t>Muhim nuqta: Atamani Savitskiy (1976) kiritgan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Medikotanaziya va distanaziya</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124, 125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Palliativ yordam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Palliativ yordam davolab bo‘lmaydigan, terminal bosqichdagi bemorga ko‘rsatiladi. Atama lotincha “pallio” so‘zidan olingan (o‘ramoq, tekislamoq).</a:t>
            </a:r>
          </a:p>
          <a:p>
            <a:pPr>
              <a:spcAft>
                <a:spcPts val="1200"/>
              </a:spcAft>
            </a:pPr>
            <a:r>
              <a:rPr sz="2200">
                <a:solidFill>
                  <a:srgbClr val="1F2937"/>
                </a:solidFill>
                <a:latin typeface="Calibri"/>
              </a:rPr>
              <a:t>▸  Bu tibbiy, ijtimoiy va psixologik yordam kompleksidir. U og‘riq va boshqa azoblarni yengillatadi, hayot sifatini maksimal yaxshilashga qaratilgan.</a:t>
            </a:r>
          </a:p>
          <a:p>
            <a:pPr>
              <a:spcAft>
                <a:spcPts val="1200"/>
              </a:spcAft>
            </a:pPr>
            <a:r>
              <a:rPr sz="2200">
                <a:solidFill>
                  <a:srgbClr val="1F2937"/>
                </a:solidFill>
                <a:latin typeface="Calibri"/>
              </a:rPr>
              <a:t>▸  Maqsad bemor va uning oilasi uchun eng yaxshi hayot sifatiga erishish. Hayot ta’kidlanadi, o‘lim esa tabiiy jarayon deb qabul qilinadi.</a:t>
            </a:r>
          </a:p>
          <a:p>
            <a:pPr>
              <a:spcAft>
                <a:spcPts val="1200"/>
              </a:spcAft>
            </a:pPr>
            <a:r>
              <a:rPr sz="2200">
                <a:solidFill>
                  <a:srgbClr val="1F2937"/>
                </a:solidFill>
                <a:latin typeface="Calibri"/>
              </a:rPr>
              <a:t>▸  Diqqat: palliativ yordam o‘limni tezlashtirmaydi ham, uzoqlashtirmaydi ham. Shu bilan u o‘limni tezlashtiruvchi faol evtanaziyadan farq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126, 117, 126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JSST 1989 bayonoti va Venetsiya deklaratsiyasi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JSST (Jahon sog‘liqni saqlash tashkiloti) 1989: evtanaziya o‘rniga palliativ dastur rivojlantirilsin.</a:t>
            </a:r>
          </a:p>
          <a:p>
            <a:pPr>
              <a:spcAft>
                <a:spcPts val="800"/>
              </a:spcAft>
            </a:pPr>
            <a:r>
              <a:rPr sz="1800">
                <a:solidFill>
                  <a:srgbClr val="1F2937"/>
                </a:solidFill>
                <a:latin typeface="Calibri"/>
              </a:rPr>
              <a:t>▸  JTA (Jahon tibbiyot assotsiatsiyasi) Venetsiya deklaratsiyasini 1983 yilda qabul qilgan.</a:t>
            </a:r>
          </a:p>
          <a:p>
            <a:pPr>
              <a:spcAft>
                <a:spcPts val="800"/>
              </a:spcAft>
            </a:pPr>
            <a:r>
              <a:rPr sz="1800">
                <a:solidFill>
                  <a:srgbClr val="1F2937"/>
                </a:solidFill>
                <a:latin typeface="Calibri"/>
              </a:rPr>
              <a:t>▸  Shifokor bemor manfaatini ko‘zlab, davosiz kasallikda ham azobni imkon qadar yengillatishi lozim.</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JSST qo‘mitasi</a:t>
            </a:r>
          </a:p>
          <a:p>
            <a:pPr algn="l">
              <a:spcAft>
                <a:spcPts val="100"/>
              </a:spcAft>
            </a:pPr>
            <a:r>
              <a:rPr sz="3000" b="1">
                <a:solidFill>
                  <a:srgbClr val="0B1F3A"/>
                </a:solidFill>
                <a:latin typeface="Calibri"/>
              </a:rPr>
              <a:t>1989</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JTA Venetsiya dekl.</a:t>
            </a:r>
          </a:p>
          <a:p>
            <a:pPr algn="l">
              <a:spcAft>
                <a:spcPts val="100"/>
              </a:spcAft>
            </a:pPr>
            <a:r>
              <a:rPr sz="3000" b="1">
                <a:solidFill>
                  <a:srgbClr val="0B1F3A"/>
                </a:solidFill>
                <a:latin typeface="Calibri"/>
              </a:rPr>
              <a:t>1983</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Palliativ yordam hujjatlari</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Venetsiya deklaratsiyasi: transplantatsiya va opioidlar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Qonun taqiqlamasa, shifokor organ ko‘chirish uchun vafot etganning hayotiy funksiyalarini sun’iy saqlashi mumkin; u retsipiyentga bog‘liq bo‘lmaydi.</a:t>
            </a:r>
          </a:p>
          <a:p>
            <a:pPr>
              <a:spcAft>
                <a:spcPts val="1200"/>
              </a:spcAft>
            </a:pPr>
            <a:r>
              <a:rPr sz="2200">
                <a:solidFill>
                  <a:srgbClr val="1F2937"/>
                </a:solidFill>
                <a:latin typeface="Calibri"/>
              </a:rPr>
              <a:t>▸  JTA 1990 yilgi bayonoti: surunkali og‘riqli, o‘limga mahkum bemorlarga noopioid va opioid analgetiklar berilishi mumkin. Hukumatlar buni ta’minlashi lozim.</a:t>
            </a:r>
          </a:p>
          <a:p>
            <a:pPr>
              <a:spcAft>
                <a:spcPts val="1200"/>
              </a:spcAft>
            </a:pPr>
            <a:r>
              <a:rPr sz="2200">
                <a:solidFill>
                  <a:srgbClr val="1F2937"/>
                </a:solidFill>
                <a:latin typeface="Calibri"/>
              </a:rPr>
              <a:t>▸  Amalda hayoti so‘nayotgan bemorlarga ko‘pincha umumiy amaliyot shifokorlari yordam beradi. Shuning uchun ular palliativ terapiyani bilishi shart.</a:t>
            </a:r>
          </a:p>
          <a:p>
            <a:pPr>
              <a:spcAft>
                <a:spcPts val="1200"/>
              </a:spcAft>
            </a:pPr>
            <a:r>
              <a:rPr sz="2200">
                <a:solidFill>
                  <a:srgbClr val="1F2937"/>
                </a:solidFill>
                <a:latin typeface="Calibri"/>
              </a:rPr>
              <a:t>▸  Tezkor savol: organ olish maqsadida hayotiy funksiyalar saqlanganda, shifokor kimga bog‘liq bo‘lmasligi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127, 126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Xospislar tarixi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O‘rta asrlarda Yevropada charchagan, betob ziyoratchilar dam olib sog‘ayadigan joylar xospis deb atalgan.</a:t>
            </a:r>
          </a:p>
          <a:p>
            <a:pPr>
              <a:spcAft>
                <a:spcPts val="800"/>
              </a:spcAft>
            </a:pPr>
            <a:r>
              <a:rPr sz="1800">
                <a:solidFill>
                  <a:srgbClr val="1F2937"/>
                </a:solidFill>
                <a:latin typeface="Calibri"/>
              </a:rPr>
              <a:t>▸  Sonders xospisida tibbiy muolajalar bilan birga bemorga psixologik yordam ham ko‘rsatilgan.</a:t>
            </a:r>
          </a:p>
          <a:p>
            <a:pPr>
              <a:spcAft>
                <a:spcPts val="800"/>
              </a:spcAft>
            </a:pPr>
            <a:r>
              <a:rPr sz="1800">
                <a:solidFill>
                  <a:srgbClr val="1F2937"/>
                </a:solidFill>
                <a:latin typeface="Calibri"/>
              </a:rPr>
              <a:t>▸  1975-yilda jurnalist Viktor Zorza qizini saratondan yo‘qotdi va AQShda xospislar kampaniyasini o‘tkazdi.</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O‘rta asrlar</a:t>
            </a:r>
          </a:p>
          <a:p>
            <a:pPr algn="l">
              <a:spcAft>
                <a:spcPts val="200"/>
              </a:spcAft>
            </a:pPr>
            <a:r>
              <a:rPr sz="1400" b="0">
                <a:solidFill>
                  <a:srgbClr val="1F2937"/>
                </a:solidFill>
                <a:latin typeface="Calibri"/>
              </a:rPr>
              <a:t>Ziyoratchilar uchun xospislar — Yevropa</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1842-yil</a:t>
            </a:r>
          </a:p>
          <a:p>
            <a:pPr algn="l">
              <a:spcAft>
                <a:spcPts val="200"/>
              </a:spcAft>
            </a:pPr>
            <a:r>
              <a:rPr sz="1400" b="0">
                <a:solidFill>
                  <a:srgbClr val="1F2937"/>
                </a:solidFill>
                <a:latin typeface="Calibri"/>
              </a:rPr>
              <a:t>Saratonli bemorlar uchun birinchi xospis — Lion (Fransiya)</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1947-yil</a:t>
            </a:r>
          </a:p>
          <a:p>
            <a:pPr algn="l">
              <a:spcAft>
                <a:spcPts val="200"/>
              </a:spcAft>
            </a:pPr>
            <a:r>
              <a:rPr sz="1400" b="0">
                <a:solidFill>
                  <a:srgbClr val="1F2937"/>
                </a:solidFill>
                <a:latin typeface="Calibri"/>
              </a:rPr>
              <a:t>Sesiliya Sonders xospisi — London</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1967-yil</a:t>
            </a:r>
          </a:p>
          <a:p>
            <a:pPr algn="l">
              <a:spcAft>
                <a:spcPts val="200"/>
              </a:spcAft>
            </a:pPr>
            <a:r>
              <a:rPr sz="1400" b="0">
                <a:solidFill>
                  <a:srgbClr val="1F2937"/>
                </a:solidFill>
                <a:latin typeface="Calibri"/>
              </a:rPr>
              <a:t>Avliyo Xristofer mehribonlik uyi — London</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Xospislar vaqt chizig‘i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127, 127-128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Xospis tamoyillari va vazifalari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Xospis o‘lim uyi emas: maqsad — oxirgi lahzagacha hayot sifatini ta’minlash.</a:t>
            </a:r>
          </a:p>
          <a:p>
            <a:pPr>
              <a:spcAft>
                <a:spcPts val="800"/>
              </a:spcAft>
            </a:pPr>
            <a:r>
              <a:rPr sz="1800">
                <a:solidFill>
                  <a:srgbClr val="1F2937"/>
                </a:solidFill>
                <a:latin typeface="Calibri"/>
              </a:rPr>
              <a:t>▸  Tug‘ilish kabi o‘lim uchun ham haq olinmaydi: xospislarda yordam bepul ko‘rsatiladi.</a:t>
            </a:r>
          </a:p>
          <a:p>
            <a:pPr>
              <a:spcAft>
                <a:spcPts val="800"/>
              </a:spcAft>
            </a:pPr>
            <a:r>
              <a:rPr sz="1800">
                <a:solidFill>
                  <a:srgbClr val="1F2937"/>
                </a:solidFill>
                <a:latin typeface="Calibri"/>
              </a:rPr>
              <a:t>▸  Diqqat: o‘limni na shoshirish, na sekinlashtirish mumkin. Bu evtanaziyadan tub farqdir.</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Og‘riq va qo‘rquvni kamaytirish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Kuzatuv va simptomatik davo</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Bemorga psixologik yordam</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Yaqinlarga psixologik yordam</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Ruhiy-ijtimoiy moslashtirish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Xospisning asosiy vazifalari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Xospisga yotqizish va O‘zbekistonda xospislar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Yotqizish: uyda davo samarasiz, muolajani uyda bajarib bo‘lmaydi yoki yaqinlarga qisqa dam kerak.</a:t>
            </a:r>
          </a:p>
          <a:p>
            <a:pPr>
              <a:spcAft>
                <a:spcPts val="800"/>
              </a:spcAft>
            </a:pPr>
            <a:r>
              <a:rPr sz="1800">
                <a:solidFill>
                  <a:srgbClr val="1F2937"/>
                </a:solidFill>
                <a:latin typeface="Calibri"/>
              </a:rPr>
              <a:t>▸  Vazirlar Mahkamasining 2019-yilgi qarori onkologik yordam va xospislarni rivojlantirishga qaratilgan.</a:t>
            </a:r>
          </a:p>
          <a:p>
            <a:pPr>
              <a:spcAft>
                <a:spcPts val="800"/>
              </a:spcAft>
            </a:pPr>
            <a:r>
              <a:rPr sz="1800">
                <a:solidFill>
                  <a:srgbClr val="1F2937"/>
                </a:solidFill>
                <a:latin typeface="Calibri"/>
              </a:rPr>
              <a:t>▸  Hududlararo xospislar mustaqil muassasa sifatida stasionar va ambulatoriya sharoitida yordam beradi.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Xospis xizmati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Sayyor brigada</a:t>
            </a:r>
          </a:p>
          <a:p>
            <a:pPr algn="l">
              <a:spcAft>
                <a:spcPts val="0"/>
              </a:spcAft>
            </a:pPr>
            <a:r>
              <a:rPr sz="1200" b="0">
                <a:solidFill>
                  <a:srgbClr val="1F2937"/>
                </a:solidFill>
                <a:latin typeface="Calibri"/>
              </a:rPr>
              <a:t>Uyda yordam, shifokorga maslahat</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Palliativ bo‘lim</a:t>
            </a:r>
          </a:p>
          <a:p>
            <a:pPr algn="l">
              <a:spcAft>
                <a:spcPts val="0"/>
              </a:spcAft>
            </a:pPr>
            <a:r>
              <a:rPr sz="1200" b="0">
                <a:solidFill>
                  <a:srgbClr val="1F2937"/>
                </a:solidFill>
                <a:latin typeface="Calibri"/>
              </a:rPr>
              <a:t>Onkologik muassasalarda; 20 o‘rinli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Xospislar (2019)</a:t>
            </a:r>
          </a:p>
          <a:p>
            <a:pPr algn="l">
              <a:spcAft>
                <a:spcPts val="0"/>
              </a:spcAft>
            </a:pPr>
            <a:r>
              <a:rPr sz="1200" b="0">
                <a:solidFill>
                  <a:srgbClr val="1F2937"/>
                </a:solidFill>
                <a:latin typeface="Calibri"/>
              </a:rPr>
              <a:t>Toshkent, Samarqand, Farg‘ona, Urganch</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Hududlararo xospis</a:t>
            </a:r>
          </a:p>
          <a:p>
            <a:pPr algn="l">
              <a:spcAft>
                <a:spcPts val="0"/>
              </a:spcAft>
            </a:pPr>
            <a:r>
              <a:rPr sz="1200" b="0">
                <a:solidFill>
                  <a:srgbClr val="1F2937"/>
                </a:solidFill>
                <a:latin typeface="Calibri"/>
              </a:rPr>
              <a:t>50 o‘rinli; Toshkentda uslubiy markaz</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O‘zbekistonda xospis xizmati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128, 129, 200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Onkologiyada axloqiy muammolar va bemor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Saraton bemor va oila uchun kuchli stress. Tashxis qo‘yish va davolash qo‘rquv hamda axloqiy muammolar tug‘diradi.</a:t>
            </a:r>
          </a:p>
          <a:p>
            <a:pPr>
              <a:spcAft>
                <a:spcPts val="800"/>
              </a:spcAft>
            </a:pPr>
            <a:r>
              <a:rPr sz="1800">
                <a:solidFill>
                  <a:srgbClr val="1F2937"/>
                </a:solidFill>
                <a:latin typeface="Calibri"/>
              </a:rPr>
              <a:t>▸  Bemor ruhiyati olti bosqichdan o‘tishi mumkin: shokdan to kasallikni qabul qilishgacha.</a:t>
            </a:r>
          </a:p>
          <a:p>
            <a:pPr>
              <a:spcAft>
                <a:spcPts val="800"/>
              </a:spcAft>
            </a:pPr>
            <a:r>
              <a:rPr sz="1800">
                <a:solidFill>
                  <a:srgbClr val="1F2937"/>
                </a:solidFill>
                <a:latin typeface="Calibri"/>
              </a:rPr>
              <a:t>▸  Shifokor bemorni tinchlantiradi, davolanishga ruhan tayyorlaydi va shifoga ishonchni kuchaytiradi.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Shok</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Inkor, chetlashish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Agressiya, sabab izlash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Ruhiy tushkunlik</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5-6. Taqdir bilan kurash, qabul</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Ruhiy javob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196-198, 197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Kübler-Ross: o‘limga yaqin bemorning besh bosqichi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Elizabet Kübler-Ross o‘lik bemorlar bilan suhbatlashib, «O‘lim va o‘lish haqida» kitobini yozgan (1969-yilda AQShda eng ko‘p sotilgan).</a:t>
            </a:r>
          </a:p>
          <a:p>
            <a:pPr>
              <a:spcAft>
                <a:spcPts val="800"/>
              </a:spcAft>
            </a:pPr>
            <a:r>
              <a:rPr sz="1800">
                <a:solidFill>
                  <a:srgbClr val="1F2937"/>
                </a:solidFill>
                <a:latin typeface="Calibri"/>
              </a:rPr>
              <a:t>▸  Uning g‘oyasi: o‘lim bemor o‘tadigan besh bosqich bilan ifodalanadi; so‘nggisi — qabul qilish.</a:t>
            </a:r>
          </a:p>
          <a:p>
            <a:pPr>
              <a:spcAft>
                <a:spcPts val="800"/>
              </a:spcAft>
            </a:pPr>
            <a:r>
              <a:rPr sz="1800">
                <a:solidFill>
                  <a:srgbClr val="1F2937"/>
                </a:solidFill>
                <a:latin typeface="Calibri"/>
              </a:rPr>
              <a:t>▸  Qabul bosqichida bemorning hissiy va ruhiy holati tubdan o‘zgaradi.</a:t>
            </a:r>
          </a:p>
          <a:p>
            <a:pPr>
              <a:spcAft>
                <a:spcPts val="800"/>
              </a:spcAft>
            </a:pPr>
            <a:r>
              <a:rPr sz="1800">
                <a:solidFill>
                  <a:srgbClr val="1F2937"/>
                </a:solidFill>
                <a:latin typeface="Calibri"/>
              </a:rPr>
              <a:t>▸  Shifokor mas’uliyati: bemor hayotining so‘nggi kunlarini qo‘rquv va azobsiz, hurmat bilan o‘tkazishini ta’minlash.</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Rad etish</a:t>
            </a:r>
          </a:p>
          <a:p>
            <a:pPr algn="l">
              <a:spcAft>
                <a:spcPts val="200"/>
              </a:spcAft>
            </a:pPr>
            <a:r>
              <a:rPr sz="1400" b="0">
                <a:solidFill>
                  <a:srgbClr val="1F2937"/>
                </a:solidFill>
                <a:latin typeface="Calibri"/>
              </a:rPr>
              <a:t>«Yo‘q, men emas», «bu saraton emas»</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Norozilik</a:t>
            </a:r>
          </a:p>
          <a:p>
            <a:pPr algn="l">
              <a:spcAft>
                <a:spcPts val="200"/>
              </a:spcAft>
            </a:pPr>
            <a:r>
              <a:rPr sz="1400" b="0">
                <a:solidFill>
                  <a:srgbClr val="1F2937"/>
                </a:solidFill>
                <a:latin typeface="Calibri"/>
              </a:rPr>
              <a:t>«Nega aynan men?»</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Kechiktirish</a:t>
            </a:r>
          </a:p>
          <a:p>
            <a:pPr algn="l">
              <a:spcAft>
                <a:spcPts val="200"/>
              </a:spcAft>
            </a:pPr>
            <a:r>
              <a:rPr sz="1400" b="0">
                <a:solidFill>
                  <a:srgbClr val="1F2937"/>
                </a:solidFill>
                <a:latin typeface="Calibri"/>
              </a:rPr>
              <a:t>«Hozir emas», «yana bir oz»</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Depressiya</a:t>
            </a:r>
          </a:p>
          <a:p>
            <a:pPr algn="l">
              <a:spcAft>
                <a:spcPts val="200"/>
              </a:spcAft>
            </a:pPr>
            <a:r>
              <a:rPr sz="1400" b="0">
                <a:solidFill>
                  <a:srgbClr val="1F2937"/>
                </a:solidFill>
                <a:latin typeface="Calibri"/>
              </a:rPr>
              <a:t>«Ha, men o‘lib ketaman»</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Qabul qilish</a:t>
            </a:r>
          </a:p>
          <a:p>
            <a:pPr algn="l">
              <a:spcAft>
                <a:spcPts val="200"/>
              </a:spcAft>
            </a:pPr>
            <a:r>
              <a:rPr sz="1400" b="0">
                <a:solidFill>
                  <a:srgbClr val="1F2937"/>
                </a:solidFill>
                <a:latin typeface="Calibri"/>
              </a:rPr>
              <a:t>«Bo‘lsin» — ruhiy holat o‘zgaradi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Kübler-Ross bosqichlari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92, 93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onkologik bemorga tashxis bildirish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oshqozon saratonli bemor tashxisni so‘raydi. Shifokor kasallik bosqichi, bemorning yoshi, kasbi va madaniy muhitini hisobga olib, yondashuvni tanlaydi.</a:t>
            </a:r>
          </a:p>
          <a:p>
            <a:pPr>
              <a:spcAft>
                <a:spcPts val="1200"/>
              </a:spcAft>
            </a:pPr>
            <a:r>
              <a:rPr sz="2000">
                <a:solidFill>
                  <a:srgbClr val="1F2937"/>
                </a:solidFill>
                <a:latin typeface="Calibri"/>
              </a:rPr>
              <a:t>▸  Manbaga ko‘ra, shifokor «oshqozon yarasi» yoki «polip» deyishi mumkin; hujjatlarda «organik kasallik» yoziladi, «saraton», «metastaz» so‘zlaridan qochiladi.</a:t>
            </a:r>
          </a:p>
          <a:p>
            <a:pPr>
              <a:spcAft>
                <a:spcPts val="1200"/>
              </a:spcAft>
            </a:pPr>
            <a:r>
              <a:rPr sz="2000">
                <a:solidFill>
                  <a:srgbClr val="1F2937"/>
                </a:solidFill>
                <a:latin typeface="Calibri"/>
              </a:rPr>
              <a:t>▸  Diqqat: bemor huzurida rentgenogramma va maxsus tekshiruv natijalarini muhokama qilmang; tashxisni tasdiqlovchi hujjatlar uning qo‘liga tushmasligi kerak.</a:t>
            </a:r>
          </a:p>
          <a:p>
            <a:pPr>
              <a:spcAft>
                <a:spcPts val="1200"/>
              </a:spcAft>
            </a:pPr>
            <a:r>
              <a:rPr sz="2000">
                <a:solidFill>
                  <a:srgbClr val="1F2937"/>
                </a:solidFill>
                <a:latin typeface="Calibri"/>
              </a:rPr>
              <a:t>▸  Asosiy ko‘rsatkich — bemorda umidni saqlash. Huquqiy jihatdan inson o‘z sog‘lig‘i haqida axborot olishi va davolash usulini tanlashi kerak (matn OCRda xira).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198, 198-199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Evtanaziya turlari: aktiv (bevosita ixtiyoriy va majburiy, bilvosita), passiv (ortotanaziya: to‘liq, qisman), medikotanaziya va distanaziya.</a:t>
            </a:r>
          </a:p>
          <a:p>
            <a:pPr>
              <a:spcAft>
                <a:spcPts val="1200"/>
              </a:spcAft>
            </a:pPr>
            <a:r>
              <a:rPr sz="2200">
                <a:solidFill>
                  <a:srgbClr val="1F2937"/>
                </a:solidFill>
                <a:latin typeface="Calibri"/>
              </a:rPr>
              <a:t>▸  Huquqiy baho: ixtiyoriy aktiv evtanaziya — o‘zini o‘ldirish, majburiy — qotillik; bilvosita — ehtiyotsizlik oqibati; medikotanaziya axloq va huquqqa zid emas.</a:t>
            </a:r>
          </a:p>
          <a:p>
            <a:pPr>
              <a:spcAft>
                <a:spcPts val="1200"/>
              </a:spcAft>
            </a:pPr>
            <a:r>
              <a:rPr sz="2200">
                <a:solidFill>
                  <a:srgbClr val="1F2937"/>
                </a:solidFill>
                <a:latin typeface="Calibri"/>
              </a:rPr>
              <a:t>▸  Palliativ yordam o‘limni na tezlashtiradi, na uzoqlashtiradi. JTA Venetsiya deklaratsiyasi (1983) shifokorga azobni yengillashtirishni yuklaydi.</a:t>
            </a:r>
          </a:p>
          <a:p>
            <a:pPr>
              <a:spcAft>
                <a:spcPts val="1200"/>
              </a:spcAft>
            </a:pPr>
            <a:r>
              <a:rPr sz="2200">
                <a:solidFill>
                  <a:srgbClr val="1F2937"/>
                </a:solidFill>
                <a:latin typeface="Calibri"/>
              </a:rPr>
              <a:t>▸  Xospis — o‘lim uyi emas, hayot sifatini ta’minlaydi; yordam bepul. Mustaqil savol: xospislarning asosiy vazifalari nimadan iborat?</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117; 125, 117-120; 124, 126, 128-130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Fakt: “evtanaziya” atamasini XVII asrda ingliz faylasufi F. Bekon taklif qilgan. Yunoncha eu – yaxshi, thanatos – o‘lim, ya’ni “yengil o‘lim”. Bekon uni o‘lim oldidagi azobni yengillashtirish deb tushungan, shuning uchun uning ta’rifi hozirgi palliativ yordamga yaqin. Bugungi tor ma’noda esa evtanaziya faqat aktiv va passiv turlarni bildiradi.</a:t>
            </a:r>
          </a:p>
          <a:p>
            <a:pPr>
              <a:spcAft>
                <a:spcPts val="1200"/>
              </a:spcAft>
            </a:pPr>
            <a:r>
              <a:rPr sz="1800">
                <a:solidFill>
                  <a:srgbClr val="1F2937"/>
                </a:solidFill>
                <a:latin typeface="Calibri"/>
              </a:rPr>
              <a:t>▸  Eslab qolish usuli: kengroq ma’noda evtanaziyaning 4 turi bor: 1) aktiv (“to‘ldirilgan shprits”), 2) passiv (ortotanaziya), 3) medikotanaziya (simptomatik yengillashtirish), 4) distanaziya (hayotni har qanday yo‘l bilan uzaytirish). Ularni “A–P–M–D” harflari bilan eslab qolish mumkin. Diqqat: medikotanaziya axloq va huquqqa zid emas, aktiv evtanaziya esa mos kelmaydi.</a:t>
            </a:r>
          </a:p>
          <a:p>
            <a:pPr>
              <a:spcAft>
                <a:spcPts val="1200"/>
              </a:spcAft>
            </a:pPr>
            <a:r>
              <a:rPr sz="1800">
                <a:solidFill>
                  <a:srgbClr val="1F2937"/>
                </a:solidFill>
                <a:latin typeface="Calibri"/>
              </a:rPr>
              <a:t>▸  Hodisa tahlili: shoir Petrarka dafn etilishiga bir necha soat qolganda nafas ola boshlagan va yana 30 yil yashagan. Jarroh Ernst Bergman o‘ziga davosiz ichak raki tashxisini qo‘yib, operatsiyadan voz kechgan. Keyinroq tekshiruvda o‘sma xavfsiz ekani aniqlangan. Bu holatlar evtanaziya muxoliflarining asosiy dalilini ko‘rsatadi: tashxis va prognozda jiddiy xatolar bo‘lishi mumkin.</a:t>
            </a:r>
          </a:p>
          <a:p>
            <a:pPr>
              <a:spcAft>
                <a:spcPts val="1200"/>
              </a:spcAft>
            </a:pPr>
            <a:r>
              <a:rPr sz="1800">
                <a:solidFill>
                  <a:srgbClr val="1F2937"/>
                </a:solidFill>
                <a:latin typeface="Calibri"/>
              </a:rPr>
              <a:t>▸  Venetsiya deklaratsiyasi (1983): Jahon tibbiyot assotsiatsiyasi uni terminal holat to‘g‘risida qabul qilgan. Unga ko‘ra shifokor davolab bo‘lmaydigan kasallikda ham bemor manfaatini ko‘zlab azobni imkon qadar yengillashtiradi. Bemor davolashni rad etsa ham, shifokor azobni yengillashtiruvchi dori tayinlashdan ozod bo‘lmaydi. Xato qilish xavfi: davolashni rad etish yordamni to‘xtatish degani emas.</a:t>
            </a:r>
          </a:p>
          <a:p>
            <a:pPr>
              <a:spcAft>
                <a:spcPts val="1200"/>
              </a:spcAft>
            </a:pPr>
            <a:r>
              <a:rPr sz="1800">
                <a:solidFill>
                  <a:srgbClr val="1F2937"/>
                </a:solidFill>
                <a:latin typeface="Calibri"/>
              </a:rPr>
              <a:t>▸  Xospis tarixi: dastlab “hospice” yo‘lda charchagan ziyoratchilar dam olgan mehmonxona bo‘lgan. Saraton bilan og‘riganlar uchun birinchi xospisni 1842 yilda Lionda Jan Garnye ochgan. XX asrda birinchi ixtisoslashgan xospis 1947 yilda Londonda Sesiliya Sonders tomonidan tashkil etilgan. Xospis “o‘lim uyi” emas, u so‘nggi lahzagacha hayot sifatini ta’minlaydi.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Hayotni uzaytirishdagi huquqiy va axloqiy masalalar. Evtanaziya va uning turlari. Palliati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Indiaminov S.I. Bioetika (o‘quv qo‘llanma), Samarqand. 2022. XII bob (hayot oxiri, evtanaziya) va onkologiya, kitob betlari 114-130; 196-201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